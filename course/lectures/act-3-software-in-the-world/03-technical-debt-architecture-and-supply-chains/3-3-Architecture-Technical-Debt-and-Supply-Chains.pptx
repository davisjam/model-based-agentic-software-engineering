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7" r:id="rId1"/>
  </p:sldMasterIdLst>
  <p:notesMasterIdLst>
    <p:notesMasterId r:id="rId30"/>
  </p:notesMasterIdLst>
  <p:sldIdLst>
    <p:sldId id="256" r:id="rId100"/>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 id="273" r:id="rId117"/>
    <p:sldId id="274" r:id="rId118"/>
    <p:sldId id="275" r:id="rId119"/>
    <p:sldId id="276" r:id="rId120"/>
    <p:sldId id="277" r:id="rId121"/>
    <p:sldId id="278" r:id="rId122"/>
    <p:sldId id="279" r:id="rId123"/>
    <p:sldId id="280" r:id="rId124"/>
    <p:sldId id="281" r:id="rId125"/>
    <p:sldId id="282" r:id="rId126"/>
    <p:sldId id="283" r:id="rId127"/>
    <p:sldId id="284" r:id="rId128"/>
    <p:sldId id="285" r:id="rId129"/>
    <p:sldId id="286" r:id="rId130"/>
    <p:sldId id="287" r:id="rId131"/>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521415D9-36F7-43E2-AB2F-B90AF26B5E84}">
      <ns0:sectionLst xmlns:ns0="http://schemas.microsoft.com/office/powerpoint/2010/main">
        <ns0:section name="Opening" id="{C74E12FD-2EFB-4460-BA9C-8620AB76C449}">
          <ns0:sldIdLst>
            <ns0:sldId id="256"/>
            <ns0:sldId id="257"/>
            <ns0:sldId id="258"/>
          </ns0:sldIdLst>
        </ns0:section>
        <ns0:section name="Mud, erosion and debt" id="{FA8143F5-35C2-48DC-91A1-DF45E22CBA0E}">
          <ns0:sldIdLst>
            <ns0:sldId id="259"/>
            <ns0:sldId id="260"/>
            <ns0:sldId id="261"/>
            <ns0:sldId id="262"/>
            <ns0:sldId id="263"/>
          </ns0:sldIdLst>
        </ns0:section>
        <ns0:section name="The architecture we built" id="{B11CC079-FCF2-4DCF-9642-742C610788A5}">
          <ns0:sldIdLst>
            <ns0:sldId id="264"/>
            <ns0:sldId id="265"/>
            <ns0:sldId id="266"/>
            <ns0:sldId id="267"/>
          </ns0:sldIdLst>
        </ns0:section>
        <ns0:section name="Architectural alternatives" id="{59A72A69-EEE5-4512-BB3D-DC5E5EFD5E5A}">
          <ns0:sldIdLst>
            <ns0:sldId id="268"/>
            <ns0:sldId id="269"/>
            <ns0:sldId id="270"/>
            <ns0:sldId id="271"/>
            <ns0:sldId id="272"/>
            <ns0:sldId id="273"/>
            <ns0:sldId id="274"/>
            <ns0:sldId id="275"/>
            <ns0:sldId id="276"/>
          </ns0:sldIdLst>
        </ns0:section>
        <ns0:section name="Software supply chains" id="{EF2FE191-D8E2-45C7-A4FE-5DC08DAC7845}">
          <ns0:sldIdLst>
            <ns0:sldId id="277"/>
            <ns0:sldId id="278"/>
            <ns0:sldId id="279"/>
            <ns0:sldId id="280"/>
            <ns0:sldId id="281"/>
            <ns0:sldId id="282"/>
            <ns0:sldId id="283"/>
            <ns0:sldId id="284"/>
          </ns0:sldIdLst>
        </ns0:section>
        <ns0:section name="Judgment and controls" id="{F2377CB0-F414-41D4-BCB4-20BB68490729}">
          <ns0:sldIdLst>
            <ns0:sldId id="285"/>
            <ns0:sldId id="286"/>
            <ns0:sldId id="287"/>
          </ns0:sldIdLst>
        </ns0:section>
      </ns0: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65"/>
    <p:restoredTop sz="80913"/>
  </p:normalViewPr>
  <p:slideViewPr>
    <p:cSldViewPr snapToGrid="0">
      <p:cViewPr varScale="1">
        <p:scale>
          <a:sx n="100" d="100"/>
          <a:sy n="100" d="100"/>
        </p:scale>
        <p:origin x="1656" y="176"/>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100" Type="http://schemas.openxmlformats.org/officeDocument/2006/relationships/slide" Target="slides/slide1.xml"/><Relationship Id="rId101" Type="http://schemas.openxmlformats.org/officeDocument/2006/relationships/slide" Target="slides/slide2.xml"/><Relationship Id="rId102" Type="http://schemas.openxmlformats.org/officeDocument/2006/relationships/slide" Target="slides/slide3.xml"/><Relationship Id="rId103" Type="http://schemas.openxmlformats.org/officeDocument/2006/relationships/slide" Target="slides/slide4.xml"/><Relationship Id="rId104" Type="http://schemas.openxmlformats.org/officeDocument/2006/relationships/slide" Target="slides/slide5.xml"/><Relationship Id="rId105" Type="http://schemas.openxmlformats.org/officeDocument/2006/relationships/slide" Target="slides/slide6.xml"/><Relationship Id="rId106" Type="http://schemas.openxmlformats.org/officeDocument/2006/relationships/slide" Target="slides/slide7.xml"/><Relationship Id="rId107" Type="http://schemas.openxmlformats.org/officeDocument/2006/relationships/slide" Target="slides/slide8.xml"/><Relationship Id="rId108" Type="http://schemas.openxmlformats.org/officeDocument/2006/relationships/slide" Target="slides/slide9.xml"/><Relationship Id="rId109" Type="http://schemas.openxmlformats.org/officeDocument/2006/relationships/slide" Target="slides/slide10.xml"/><Relationship Id="rId110" Type="http://schemas.openxmlformats.org/officeDocument/2006/relationships/slide" Target="slides/slide11.xml"/><Relationship Id="rId111" Type="http://schemas.openxmlformats.org/officeDocument/2006/relationships/slide" Target="slides/slide12.xml"/><Relationship Id="rId112" Type="http://schemas.openxmlformats.org/officeDocument/2006/relationships/slide" Target="slides/slide13.xml"/><Relationship Id="rId113" Type="http://schemas.openxmlformats.org/officeDocument/2006/relationships/slide" Target="slides/slide14.xml"/><Relationship Id="rId114" Type="http://schemas.openxmlformats.org/officeDocument/2006/relationships/slide" Target="slides/slide15.xml"/><Relationship Id="rId115" Type="http://schemas.openxmlformats.org/officeDocument/2006/relationships/slide" Target="slides/slide16.xml"/><Relationship Id="rId116" Type="http://schemas.openxmlformats.org/officeDocument/2006/relationships/slide" Target="slides/slide17.xml"/><Relationship Id="rId117" Type="http://schemas.openxmlformats.org/officeDocument/2006/relationships/slide" Target="slides/slide18.xml"/><Relationship Id="rId118" Type="http://schemas.openxmlformats.org/officeDocument/2006/relationships/slide" Target="slides/slide19.xml"/><Relationship Id="rId119" Type="http://schemas.openxmlformats.org/officeDocument/2006/relationships/slide" Target="slides/slide20.xml"/><Relationship Id="rId120" Type="http://schemas.openxmlformats.org/officeDocument/2006/relationships/slide" Target="slides/slide21.xml"/><Relationship Id="rId121" Type="http://schemas.openxmlformats.org/officeDocument/2006/relationships/slide" Target="slides/slide22.xml"/><Relationship Id="rId122" Type="http://schemas.openxmlformats.org/officeDocument/2006/relationships/slide" Target="slides/slide23.xml"/><Relationship Id="rId123" Type="http://schemas.openxmlformats.org/officeDocument/2006/relationships/slide" Target="slides/slide24.xml"/><Relationship Id="rId124" Type="http://schemas.openxmlformats.org/officeDocument/2006/relationships/slide" Target="slides/slide25.xml"/><Relationship Id="rId125" Type="http://schemas.openxmlformats.org/officeDocument/2006/relationships/slide" Target="slides/slide26.xml"/><Relationship Id="rId126" Type="http://schemas.openxmlformats.org/officeDocument/2006/relationships/slide" Target="slides/slide27.xml"/><Relationship Id="rId127" Type="http://schemas.openxmlformats.org/officeDocument/2006/relationships/slide" Target="slides/slide28.xml"/><Relationship Id="rId128" Type="http://schemas.openxmlformats.org/officeDocument/2006/relationships/slide" Target="slides/slide29.xml"/><Relationship Id="rId129" Type="http://schemas.openxmlformats.org/officeDocument/2006/relationships/slide" Target="slides/slide30.xml"/><Relationship Id="rId130" Type="http://schemas.openxmlformats.org/officeDocument/2006/relationships/slide" Target="slides/slide31.xml"/><Relationship Id="rId131" Type="http://schemas.openxmlformats.org/officeDocument/2006/relationships/slide" Target="slides/slide32.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Orient: the system works; today asks whether it is worthy of reliance as an evolving engineered system.</a:t>
            </a:r>
          </a:p>
          <a:p/>
          <a:p>
            <a:r>
              <a:t>RECAP, one sentence each: the kickoff gave us Campus Room Reservations; Compute Environments gave it a deployment and release gates; Data Management gave it persistent reservations, a schema with constraints, and the no-overlap invariant enforced in the database. The functional I/O tests pass.</a:t>
            </a:r>
          </a:p>
          <a:p/>
          <a:p>
            <a:r>
              <a:t>THE GOVERNING QUESTION (subtitle): it works, but is it reliable? Define "reliable" carefully: worthy of reliance as an evolving engineered system. Two objects of examination today: the architecture we created, and the dependencies we inherited.</a:t>
            </a:r>
          </a:p>
          <a:p/>
          <a:p>
            <a:r>
              <a:t>DISTINGUISH from the next unit now, so the word does not blur: Performance &amp; Reliability treats reliability in the narrower quantitative operational sense (load, failure rates). Today is the structural half of the question.</a:t>
            </a:r>
          </a:p>
          <a:p/>
          <a:p>
            <a:r>
              <a:t>TRANSITION: the map first.</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A lecture map of five movements; not chronological phases.</a:t>
            </a:r>
          </a:p>
          <a:p/>
          <a:p>
            <a:r>
              <a:t>WALK the five questions in one breath each. The first three interrogate the structure we created; the fourth interrogates the components we inherited; the fifth makes the resulting judgments durable through evidence and controls.</a:t>
            </a:r>
          </a:p>
          <a:p/>
          <a:p>
            <a:r>
              <a:t>SAY: architecture and its patterns get the largest share of the clock; supply chains get a real section, not a teaser. Both halves answer the same question from the cover.</a:t>
            </a:r>
          </a:p>
          <a:p/>
          <a:p>
            <a:r>
              <a:t>The work of the "working implementation" movement happens on the next slide: what the passing tests do and do not establish.</a:t>
            </a:r>
          </a:p>
          <a:p/>
          <a:p>
            <a:r>
              <a:t>Do not linger: the provocation is next.</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4 minutes. A passing I/O specification establishes selected observable properties, not the cost of change or the trustworthiness of inherited dependencies.</a:t>
            </a:r>
          </a:p>
          <a:p/>
          <a:p>
            <a:r>
              <a:t>WALK THE LEFT: the agent-produced service passes its functional I/O tests, and the no-overlap invariant holds under the conditions we specified in Data Management. That is real evidence. It is evidence about selected observable behavior.</a:t>
            </a:r>
          </a:p>
          <a:p/>
          <a:p>
            <a:r>
              <a:t>ANIMATE</a:t>
            </a:r>
          </a:p>
          <a:p/>
          <a:p>
            <a:r>
              <a:t>REVEAL THE REQUEST: laboratory rooms need their own booking policies and approvals, and that policy will change on its own schedule. This is a hypothetical change request, not an implemented fact. Nothing about it is exotic; it is the ordinary fate of working software.</a:t>
            </a:r>
          </a:p>
          <a:p/>
          <a:p>
            <a:r>
              <a:t>WALK THE SKETCH: in the implementation we accepted, handlers call policy, auth, and storage; policy calls storage; everything meets at storage. The sketch is illustrative, not a claim about a real generated repository. Do NOT say agents inherently produce mud; the question is what we KNOW about the structure, which is nothing yet.</a:t>
            </a:r>
          </a:p>
          <a:p/>
          <a:p>
            <a:r>
              <a:t>ASK (footer): which files and obligations must change? What third-party packages does this code rely on? How would we know whether we can trust and update them? Take two or three answers; the honest answer is "we cannot tell from the tests."</a:t>
            </a:r>
          </a:p>
          <a:p/>
          <a:p>
            <a:r>
              <a:t>ENGINEERING POINT: agents regenerate code quickly; engineers still need to know which architectural obligations survive a change, what must be revalidated, and whether changes propagate across boundaries. This is a question, not a verdict.</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1 minutes. Name the first movement: three diagnoses, not synonyms.</a:t>
            </a:r>
          </a:p>
          <a:p/>
          <a:p>
            <a:r>
              <a:t>SAY: before we can judge the architecture we built, we need vocabulary for the ways working software goes wrong structurally. Three terms, often blurred together, that diagnose different conditions and call for different responses.</a:t>
            </a:r>
          </a:p>
          <a:p/>
          <a:p>
            <a:r>
              <a:t>Do not pause for discussion.</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2.5 minutes. Separate three conditions students conflate; each gets a tiny figure, not a prose card.</a:t>
            </a:r>
          </a:p>
          <a:p/>
          <a:p>
            <a:r>
              <a:t>WALK THE THREE: mud is the ABSENCE of discernible boundaries (Foote &amp; Yoder); erosion PRESUPPOSES an intended boundary and names its bypass; debt is an economic claim about EXPECTED FUTURE COST, which may be a prudent trade.</a:t>
            </a:r>
          </a:p>
          <a:p/>
          <a:p>
            <a:r>
              <a:t>The distinctions matter because the responses differ: mud calls for recovering or imposing structure; erosion calls for repairing and then guarding a boundary; debt calls for pricing and scheduling repayment.</a:t>
            </a:r>
          </a:p>
          <a:p/>
          <a:p>
            <a:r>
              <a:t>NON-CLAIMS to state aloud: a monolith is not automatically mud; ugliness is not automatically debt; and a green functional suite establishes none of these conditions absent, because all three are properties of structure and cost, not of observable I/O behavior.</a:t>
            </a:r>
          </a:p>
          <a:p/>
          <a:p>
            <a:r>
              <a:t>SOURCES: Foote &amp; Yoder 1999 (laputan.org/mud); Cunningham 1992 debt metaphor; Kruchten et al. 2012 for debt as theory and practice.</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1.5 minutes. Mud has causes, and they are often rational; the change request is what changes the economics.</a:t>
            </a:r>
          </a:p>
          <a:p/>
          <a:p>
            <a:r>
              <a:t>WALK THE CAUSES (Foote &amp; Yoder): time pressure, exploratory requirements, short expected lifetime. These are not moral failures; they are forces.</a:t>
            </a:r>
          </a:p>
          <a:p/>
          <a:p>
            <a:r>
              <a:t>ASK (right card): must the initial agent-generated service be clean before any user exists? Let the room defend both sides for a moment. The honest answer: unstructured-but-working is often the right first state; Foote and Yoder say as much.</a:t>
            </a:r>
          </a:p>
          <a:p/>
          <a:p>
            <a:r>
              <a:t>THEN LAND IT: the laboratory-approval request changes the economics. Structure is bought because change arrived, not because tidiness is a virtue. Degradation also compounds: Ahmed et al. measured design degradation growing over project lifetimes across OSS projects (one study, a trend, not a law).</a:t>
            </a:r>
          </a:p>
          <a:p/>
          <a:p>
            <a:r>
              <a:t>TRANSITION: if some debt is rational, we need a vocabulary for judging it. Fowler supplies one.</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Fowler separates the intent axis from the judgment axis; the quadrant rehabilitates deliberate prudent debt.</a:t>
            </a:r>
          </a:p>
          <a:p/>
          <a:p>
            <a:r>
              <a:t>WALK THE QUADRANTS with the running example: deliberate-prudent is shipping the laboratory policy hard-coded now with the cost recorded and a repayment plan; deliberate-reckless skips design knowingly; inadvertent-reckless does not know what it does not know; inadvertent-prudent is the interesting one: after building, we understand the domain well enough to see the design we should have had. New knowledge reveals debt nobody chose.</a:t>
            </a:r>
          </a:p>
          <a:p/>
          <a:p>
            <a:r>
              <a:t>The red line: not all ugliness is debt. Debt is a claim about expected future cost. Code you dislike but will never change again costs nothing.</a:t>
            </a:r>
          </a:p>
          <a:p/>
          <a:p>
            <a:r>
              <a:t>SOURCE: Fowler 2009, Technical Debt Quadrant. The quadrant wording on the cards follows his phrasing.</a:t>
            </a:r>
          </a:p>
          <a:p/>
          <a:p>
            <a:r>
              <a:t>TRANSITION: if deliberate debt is a trade, we should be able to price it. Next slide prices one.</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Students price a real shortcut under two horizons; the answer flips with the horizon.</a:t>
            </a:r>
          </a:p>
          <a:p/>
          <a:p>
            <a:r>
              <a:t>SET UP the numbers (McConnell 2008): clean costs 10 staff-days; the shortcut costs 2 now, 0.5 per month in servicing, and 12 to retrofit properly later.</a:t>
            </a:r>
          </a:p>
          <a:p/>
          <a:p>
            <a:r>
              <a:t>ASK the room to compute both futures BEFORE revealing: (A) feature retires at three months; (B) feature operates 24 months and we then retrofit. Give them a minute.</a:t>
            </a:r>
          </a:p>
          <a:p/>
          <a:p>
            <a:r>
              <a:t>ANIMATE</a:t>
            </a:r>
          </a:p>
          <a:p/>
          <a:p>
            <a:r>
              <a:t>REVEAL: A gives 2 + 1.5 = 3.5 against 10: the shortcut wins, and taking it was prudent-deliberate debt. B gives 2 + 12 + 12 = 26 against 10: the clean design wins by a factor of 2.6. Same shortcut, opposite verdicts; only the horizon moved.</a:t>
            </a:r>
          </a:p>
          <a:p/>
          <a:p>
            <a:r>
              <a:t>QUALIFY: the horizon and the steady servicing rate are stated assumptions, not facts; real interest is lumpy. And the agent point: when an agent writes the code, the 10 and the 2 both shrink, but servicing, verification, and integration costs are dominated by humans understanding consequences, so the RATIO moves against shortcuts less than it appears.</a:t>
            </a:r>
          </a:p>
          <a:p/>
          <a:p>
            <a:r>
              <a:t>SOURCE: McConnell 2008 via the ECE 595 Maintenance deck (rebuilt figure, attribution preserved).</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1 minutes. Mark the reversal of direction from Act I: recover a model from the realization.</a:t>
            </a:r>
          </a:p>
          <a:p/>
          <a:p>
            <a:r>
              <a:t>RECALL Act I in one sentence: architecture allocates responsibilities, boundaries, interactions, and coupling; design chooses mechanisms. There we drew the model first and realized it second.</a:t>
            </a:r>
          </a:p>
          <a:p/>
          <a:p>
            <a:r>
              <a:t>TODAY the realization exists first, so the arrow reverses: we recover a model from the code, then measure it, then check whether intended boundaries survived.</a:t>
            </a:r>
          </a:p>
          <a:p/>
          <a:p>
            <a:r>
              <a:t>Do not pause for discussion.</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Reverse Act I: recover one actual-structure model and read the change against it.</a:t>
            </a:r>
          </a:p>
          <a:p/>
          <a:p>
            <a:r>
              <a:t>WALK THE GRAPH once: handlers reach policy, authorization, and persistence directly; policy and authorization reach persistence; persistence owns the database conversation, except that authorization also queries the users table directly at runtime (the dashed edge).</a:t>
            </a:r>
          </a:p>
          <a:p/>
          <a:p>
            <a:r>
              <a:t>DISTINGUISH the couplings out loud: static source dependencies (solid), runtime calls (the dashed query), and shared-data coupling (two modules meeting in the same tables). They fail differently and they are measured differently.</a:t>
            </a:r>
          </a:p>
          <a:p/>
          <a:p>
            <a:r>
              <a:t>PLACE THE CHANGE: the delta sits on booking policy. Read the edges: handlers format policy decisions, and persistence stores policy-shaped rows, so the lab-policy request cannot stay local. That is a structural claim read off a recovered model, before any code is edited.</a:t>
            </a:r>
          </a:p>
          <a:p/>
          <a:p>
            <a:r>
              <a:t>Sources for the conceptual frame: Act I Architecture (boundaries, coupling) and Design (dependency direction). The implementation is an illustrative hypothetical.</a:t>
            </a:r>
          </a:p>
          <a:p/>
          <a:p>
            <a:r>
              <a:t>TRANSITION: reading edges is qualitative. Next: put numbers where a decision needs them.</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Turn the recovered graph into numbers only where a decision consumes them.</a:t>
            </a:r>
          </a:p>
          <a:p/>
          <a:p>
            <a:r>
              <a:t>WALK THE TABLE: fan-out counts what a module depends on; fan-in counts its dependents. Handlers fan out to three modules and nothing depends on them; persistence has fan-in three, so it is load-bearing. The last column is the consequential one: four of five components are touched by one representative policy change.</a:t>
            </a:r>
          </a:p>
          <a:p/>
          <a:p>
            <a:r>
              <a:t>NAME the standard vocabulary once: efferent and afferent coupling, cycles, and change coupling mined from commit history (files that keep changing together are coupled whatever the imports say).</a:t>
            </a:r>
          </a:p>
          <a:p/>
          <a:p>
            <a:r>
              <a:t>THE NON-CLAIM, firmly: these are indicators, not quality scores. High fan-in on persistence is the design working. The Design lecture rule returns as the footer: measure the consequence that could change the decision; a scalar nobody acts on is decoration.</a:t>
            </a:r>
          </a:p>
          <a:p/>
          <a:p>
            <a:r>
              <a:t>SOURCE: Act I Design lecture, metrics slides; the footer line reuses its principle verbatim.</a:t>
            </a:r>
          </a:p>
          <a:p/>
          <a:p>
            <a:r>
              <a:t>TRANSITION: the recovered model also lets us check whether an INTENDED boundary survived. That is erosion, and tests do not catch it.</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Erosion is invisible to functional tests; boundaries hold only if something checks them.</a:t>
            </a:r>
          </a:p>
          <a:p/>
          <a:p>
            <a:r>
              <a:t>WALK THE LEFT: the intended structure routes booking policy through a port, so the store can be substituted without touching policy. This is the Act I Design seam, drawn for our service.</a:t>
            </a:r>
          </a:p>
          <a:p/>
          <a:p>
            <a:r>
              <a:t>ANIMATE</a:t>
            </a:r>
          </a:p>
          <a:p/>
          <a:p>
            <a:r>
              <a:t>REVEAL THE BYPASS: one direct import of store internals, added just this once. Every functional test still passes, because behavior did not change. What changed is a MODAL property: substitution is no longer local. The model says yes, reality says no, and the model is now lying to every future reader.</a:t>
            </a:r>
          </a:p>
          <a:p/>
          <a:p>
            <a:r>
              <a:t>THE REPAIR is not only removing the edge; it is making the boundary checked: an architectural test that fails on a crossing dependency, a dependency lint, an import restriction. Alignment machinery, in the Act III sense: a constraint that governs realization, not a review that happens afterward.</a:t>
            </a:r>
          </a:p>
          <a:p/>
          <a:p>
            <a:r>
              <a:t>SOURCE: the before/after figure follows Act I Design, slide on local workarounds making the architecture false.</a:t>
            </a:r>
          </a:p>
          <a:p/>
          <a:p>
            <a:r>
              <a:t>TRANSITION into Section 3: we can now see and measure structure. Which structures could we have chosen, and against what requirements?</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1 minutes. Open the technical center of the lecture: patterns as choices under requirements.</a:t>
            </a:r>
          </a:p>
          <a:p/>
          <a:p>
            <a:r>
              <a:t>FRAME the section contract: every alternative is evaluated on the SAME reservation service with the SAME stated requirements. No pattern is graded in the abstract.</a:t>
            </a:r>
          </a:p>
          <a:p/>
          <a:p>
            <a:r>
              <a:t>Act I introduced the pattern idea (recurring problem, recurring answers, expectations attached). We do not repeat that catalogue; we apply it to deployment-scale organization.</a:t>
            </a:r>
          </a:p>
          <a:p/>
          <a:p>
            <a:r>
              <a:t>Do not pause for discussion.</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Untangle three orthogonal questions that students collapse into one axis.</a:t>
            </a:r>
          </a:p>
          <a:p/>
          <a:p>
            <a:r>
              <a:t>WALK THE ROWS: interaction and placement (client/server versus a local application); deployable-unit count (monolith versus services); internal organization (the Act I patterns: layers, repository, pipeline, RPC, events, ports and adapters).</a:t>
            </a:r>
          </a:p>
          <a:p/>
          <a:p>
            <a:r>
              <a:t>THE BAND is the payoff and the common exam error: our reservation service is client/server AND a monolith AND can be layered and modular inside. These are independent coordinates, not rungs on a maturity ladder.</a:t>
            </a:r>
          </a:p>
          <a:p/>
          <a:p>
            <a:r>
              <a:t>Keep Act I references light: students have seen the internal-organization patterns; today adds the deployment dimensions and the decision discipline.</a:t>
            </a:r>
          </a:p>
          <a:p/>
          <a:p>
            <a:r>
              <a:t>TRANSITION: take the dimensions one at a time; interaction first.</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2.5 minutes. Client/server is a boundary choice with a bill, not a default.</a:t>
            </a:r>
          </a:p>
          <a:p/>
          <a:p>
            <a:r>
              <a:t>WALK LEFT: the browser reaches the HTTP API across a network edge that is also a trust boundary. Three standing costs: latency on every call, network failure as a normal state, and API compatibility across deployed versions.</a:t>
            </a:r>
          </a:p>
          <a:p/>
          <a:p>
            <a:r>
              <a:t>WALK RIGHT: the same capabilities as one local application. Offline works; updates must visit every machine; and the moment two users share rooms, shared state needs a new answer (Data Management gave us that vocabulary).</a:t>
            </a:r>
          </a:p>
          <a:p/>
          <a:p>
            <a:r>
              <a:t>ASK: where do authorization, secrets, and offline behavior live in each? Expected: server-side auth and secrets in client/server (clients are untrusted); in the local app, secrets sit on user machines and authorization enforcement weakens; offline inverts.</a:t>
            </a:r>
          </a:p>
          <a:p/>
          <a:p>
            <a:r>
              <a:t>This row of the dimension table was settled for our service by the deployment lecture (hundreds of users, central updates), but settled BY REQUIREMENTS, and the lab request does not reopen it.</a:t>
            </a:r>
          </a:p>
          <a:p/>
          <a:p>
            <a:r>
              <a:t>TRANSITION: within the server, how many deployable units?</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Separate modularity from deployment count: a monolith can carry real boundaries.</a:t>
            </a:r>
          </a:p>
          <a:p/>
          <a:p>
            <a:r>
              <a:t>WALK LEFT: one deployable whose insides grew without declared boundaries. This is where mud lives when it lives in a monolith. Note it still works, ships, and scales horizontally by replication.</a:t>
            </a:r>
          </a:p>
          <a:p/>
          <a:p>
            <a:r>
              <a:t>WALK RIGHT: the SAME deployable with four named modules, explicit interface edges, and a declared forbidden edge: HTTP must not import persistence internals. The forbidden edge is exactly what the erosion slide taught us to CHECK rather than hope.</a:t>
            </a:r>
          </a:p>
          <a:p/>
          <a:p>
            <a:r>
              <a:t>NON-CLAIM, twice if needed: monolith is not a synonym for mud, and splitting into services is not the only road to modularity. The modular monolith buys change locality without buying a network.</a:t>
            </a:r>
          </a:p>
          <a:p/>
          <a:p>
            <a:r>
              <a:t>TRANSITION: what if we DO want more than one deployable? Draw the same capabilities with the boundary moved.</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Hold capabilities fixed and move only the boundary; the consequential change is the call becoming a contract.</a:t>
            </a:r>
          </a:p>
          <a:p/>
          <a:p>
            <a:r>
              <a:t>WALK A, B, C briskly; A and B are the previous slide compressed. The new object is C: booking and identity/policy as separately deployed services, each owning its own data.</a:t>
            </a:r>
          </a:p>
          <a:p/>
          <a:p>
            <a:r>
              <a:t>DWELL on the red caption: between B and C, a function call became a NETWORK CONTRACT. It can time out, be retried, be versioned, be down. Ownership also moved: policy data now lives with the policy service, and booking cannot peek at it.</a:t>
            </a:r>
          </a:p>
          <a:p/>
          <a:p>
            <a:r>
              <a:t>ASK: in C, which service enforces no-overlap? Booking owns reservations, so booking. But approvals live across the contract; a confirmed-pending-approval state now spans two services. Park that; the next slide prices it.</a:t>
            </a:r>
          </a:p>
          <a:p/>
          <a:p>
            <a:r>
              <a:t>TRANSITION: C looks clean on a slide. The bill arrives at runtime.</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Price the service split honestly, anchored on the invariant students already own.</a:t>
            </a:r>
          </a:p>
          <a:p/>
          <a:p>
            <a:r>
              <a:t>WALK THE BILL: every cross-service call gains latency and a failure mode; partial failure replaces whole-process failure; observability (tracing) becomes mandatory; data gets owners; transactions across owners are hard; and operations multiply (deploys, versions, on-call).</a:t>
            </a:r>
          </a:p>
          <a:p/>
          <a:p>
            <a:r>
              <a:t>THE INVARIANT is the anchor: in Data Management, one exclusion constraint enforced no-overlap because all writes met in one database. Split booking from approvals and that single point of enforcement is gone; you are choosing among distributed-agreement designs, each with its own failure modes.</a:t>
            </a:r>
          </a:p>
          <a:p/>
          <a:p>
            <a:r>
              <a:t>NON-CLAIM (band): microservices do not automatically scale better or isolate failure; a shared database or a chatty synchronous chain can defeat both. Qualified claims only.</a:t>
            </a:r>
          </a:p>
          <a:p/>
          <a:p>
            <a:r>
              <a:t>SOURCE: Fowler and Lewis 2014. Also fair to say aloud: the pattern earns its costs at organizational scale (independent teams, independent release cadence), which is precisely what our requirements lack.</a:t>
            </a:r>
          </a:p>
          <a:p/>
          <a:p>
            <a:r>
              <a:t>TRANSITION: put the three organizations side by side against named properties.</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One readable table, qualified wording; SOA and granularity framed without inventing categories.</a:t>
            </a:r>
          </a:p>
          <a:p/>
          <a:p>
            <a:r>
              <a:t>WALK TWO ROWS, let them read the rest: failure isolation (shared fate for both monolith forms; partial for services, and only IF designed for, since a synchronous chain re-couples fates) and change locality (the modular monolith already buys bounded change; services re-buy it at network prices).</a:t>
            </a:r>
          </a:p>
          <a:p/>
          <a:p>
            <a:r>
              <a:t>SOA, one breath: service-oriented architecture is the broad contract-first approach dating to the 2000s; microservices are one family within it favoring small, independently deployable services. "Macroservices" is informal shorthand for coarser services, not a standardized category; do not teach it as a fourth column.</a:t>
            </a:r>
          </a:p>
          <a:p/>
          <a:p>
            <a:r>
              <a:t>GRANULARITY rule of thumb: boundaries follow what changes together and who owns it, never LOC counts.</a:t>
            </a:r>
          </a:p>
          <a:p/>
          <a:p>
            <a:r>
              <a:t>NON-CLAIM: every cell is a tendency; a counterexample exists for each. The table is for comparing against requirements, not for crowning a winner.</a:t>
            </a:r>
          </a:p>
          <a:p/>
          <a:p>
            <a:r>
              <a:t>TRANSITION: suppose judgment says restructure. How do we move without breaking what works?</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2.5 minutes. Restructuring is governed change: pin behavior, hold the invariant, move in reversible slices.</a:t>
            </a:r>
          </a:p>
          <a:p/>
          <a:p>
            <a:r>
              <a:t>WALK THE SAFETY NET: characterization tests pin what the system DOES (not what we wish it did); the no-overlap invariant test must stay green through every intermediate state; extract the policy interface before moving code; and the erosion lesson returns: an architectural check holds the new seam from day one.</a:t>
            </a:r>
          </a:p>
          <a:p/>
          <a:p>
            <a:r>
              <a:t>WALK THE STRANGLER: a router sends most traffic down the old path and a slice down the new policy service; slices grow as evidence accumulates. Name the hazards: routing drift (the router config becomes load-bearing), dual-write compatibility while both paths live, and the classic failure: a stalled migration leaves you operating TWO systems indefinitely.</a:t>
            </a:r>
          </a:p>
          <a:p/>
          <a:p>
            <a:r>
              <a:t>SCOPE: IDE-level refactorings (rename, extract) are assumed mechanics from earlier courses; today is about boundary-scale moves. Refactoring is not a synonym for service extraction.</a:t>
            </a:r>
          </a:p>
          <a:p/>
          <a:p>
            <a:r>
              <a:t>SOURCES: Fowler, Strangler Fig Application; Fowler, Refactoring (refactoring.com).</a:t>
            </a:r>
          </a:p>
          <a:p/>
          <a:p>
            <a:r>
              <a:t>TRANSITION: you now have the alternatives, the prices, and the migration discipline. Decide.</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Students make the section’s judgment call against stated requirements, then watch it move under perturbation.</a:t>
            </a:r>
          </a:p>
          <a:p/>
          <a:p>
            <a:r>
              <a:t>RUN IT: two minutes in pairs against the stated requirements, one minute of answers. Grade answers by the argument from requirements, not by the conclusion.</a:t>
            </a:r>
          </a:p>
          <a:p/>
          <a:p>
            <a:r>
              <a:t>EXPECTED CENTER OF MASS: the modular monolith is plausible (change locality for the policy churn, no distribution bill, atomic bookings in one database). It is NOT prescribed; a defended monolith-and-discipline or a defended split is acceptable if it cites the requirements.</a:t>
            </a:r>
          </a:p>
          <a:p/>
          <a:p>
            <a:r>
              <a:t>EVIDENCE answers to fish for: measured change coupling (do policy changes actually spill?), load measurements, team interviews. An answer with no evidence that could change it is taste, not judgment.</a:t>
            </a:r>
          </a:p>
          <a:p/>
          <a:p>
            <a:r>
              <a:t>PERTURB: separate owning teams and a 100x read asymmetry are exactly the forces that make a service boundary start paying (Conway pressure, independent scaling). Watch who flips and make them say which requirement moved them.</a:t>
            </a:r>
          </a:p>
          <a:p/>
          <a:p>
            <a:r>
              <a:t>TRANSITION: everything so far examined code we WROTE. The service also ships code nobody in the room wrote. Section 4.</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1 minutes. Turn the dependency-graph bridge outward: from edges we authored to edges we inherited.</a:t>
            </a:r>
          </a:p>
          <a:p/>
          <a:p>
            <a:r>
              <a:t>FRAME: the recovered internal graph and the external package graph are the same kind of object (nodes, directed edges) with different epistemics: we can read our own code; we INHERIT other people’s, with its maintainers, vulnerabilities, licenses, and build pipelines.</a:t>
            </a:r>
          </a:p>
          <a:p/>
          <a:p>
            <a:r>
              <a:t>Do not treat the two graphs as identical: internal edges are structural coupling; external edges carry versions, licenses, and provenance.</a:t>
            </a:r>
          </a:p>
          <a:p/>
          <a:p>
            <a:r>
              <a:t>Do not pause for discussion.</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2.5 minutes. Direct dependencies are chosen; transitive ones arrive silently and in numbers.</a:t>
            </a:r>
          </a:p>
          <a:p/>
          <a:p>
            <a:r>
              <a:t>WALK THE GRAPH: the app names three direct dependencies. The framework brings an HTTP parser, the parser brings a utility library, the auth library brings crypto. Nobody on the team chose the bottom row, and the bottom row parses untrusted network input.</a:t>
            </a:r>
          </a:p>
          <a:p/>
          <a:p>
            <a:r>
              <a:t>DISTINGUISH the four inheritances: source dependencies compiled in; build-time tools that shape the artifact without shipping; runtime dependencies loaded in production; and external services called at runtime. Each has different failure and trust characteristics.</a:t>
            </a:r>
          </a:p>
          <a:p/>
          <a:p>
            <a:r>
              <a:t>NON-CLAIM (band): the package manifest is not the deployed reality: vendored code, container base images, and system libraries ship without appearing in it.</a:t>
            </a:r>
          </a:p>
          <a:p/>
          <a:p>
            <a:r>
              <a:t>TRANSITION: if we cannot trust the manifest, what inventory CAN we stand on?</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2.5 minutes. Four artifacts students conflate, ordered; the SBOM earns targeted analysis, nothing more.</a:t>
            </a:r>
          </a:p>
          <a:p/>
          <a:p>
            <a:r>
              <a:t>WALK THE TABLE: five fields per component: name, version, a package URL identifier, the declared license, the supplier when known. Small, boring, and exactly what vulnerability and license analysis need to be TARGETED rather than archaeological.</a:t>
            </a:r>
          </a:p>
          <a:p/>
          <a:p>
            <a:r>
              <a:t>WALK THE LADDER: manifest (requested), lockfile (resolved and pinned), dependency graph (relations), SBOM (a shareable inventory of what ships, including things the manifest never saw). Four artifacts, not one.</a:t>
            </a:r>
          </a:p>
          <a:p/>
          <a:p>
            <a:r>
              <a:t>THE NON-CLAIM is the footer: an SBOM records what is known. It does not establish that the code is correct, safe, or even that the listed bytes are the bytes built from the listed source; that last gap is provenance, three slides ahead.</a:t>
            </a:r>
          </a:p>
          <a:p/>
          <a:p>
            <a:r>
              <a:t>SOURCES: SPDX handling-license-info; GitHub SBOM export docs.</a:t>
            </a:r>
          </a:p>
          <a:p/>
          <a:p>
            <a:r>
              <a:t>TRANSITION: inventory in hand, we still have to JUDGE components. Two candidates, one slot.</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Students judge two plausible libraries against requirements; neither column is the planted answer.</a:t>
            </a:r>
          </a:p>
          <a:p/>
          <a:p>
            <a:r>
              <a:t>SET THE SCENE: the lab-policy work needs date and interval rules. Two real-shaped candidates. Walk the rows and make both cases: A is alive (maintainers, cadence, fast patching, signed releases) but drags 12 transitive dependencies; B is tiny and dependency-free but dormant, unsigned, and historically breaks compatibility on minor bumps.</a:t>
            </a:r>
          </a:p>
          <a:p/>
          <a:p>
            <a:r>
              <a:t>ASK for a choice with a reason, then push: "none reported" under vulnerabilities is NOT "none present"; nobody is looking at a dormant library. Patched-in-days is stronger evidence of health than an empty CVE list.</a:t>
            </a:r>
          </a:p>
          <a:p/>
          <a:p>
            <a:r>
              <a:t>DISTINGUISH vulnerability (a defect attackers can use) from malicious substitution or compromise (someone shipping you hostile code); both are supply-chain risks, with different controls.</a:t>
            </a:r>
          </a:p>
          <a:p/>
          <a:p>
            <a:r>
              <a:t>EXPECTED: either answer defended from requirements is acceptable; stars-and-downloads reasoning is the graded-down move (OpenSSF guide says the same).</a:t>
            </a:r>
          </a:p>
          <a:p/>
          <a:p>
            <a:r>
              <a:t>TRANSITION: one row of that table is legal, not technical. It gets its own slide.</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3 minutes. Licenses bind engineering decisions; teach the tiers and kill the two folk myths.</a:t>
            </a:r>
          </a:p>
          <a:p/>
          <a:p>
            <a:r>
              <a:t>WALK THE TIERS: permissive (keep notices; Apache adds a patent grant), weak copyleft (share changes to the library itself; linkage details matter), strong copyleft (distribution of derived work carries the license; AGPL counts network service as the trigger).</a:t>
            </a:r>
          </a:p>
          <a:p/>
          <a:p>
            <a:r>
              <a:t>RUN THE SCENARIO: shipping the reservation server to another university is DISTRIBUTION; running it as a hosted service is NETWORK USE. Our hypothetical date-interval library was LGPL-3.0; which obligations bind in each future? The point is that deployment architecture and license interact.</a:t>
            </a:r>
          </a:p>
          <a:p/>
          <a:p>
            <a:r>
              <a:t>KILL THE MYTHS (red line): GPL does not prohibit commercial use; adopting a copyleft library does not automatically force the entire product open. The true statements are conditional, which is why the caveat line exists. Say "this is technical orientation, not legal advice" out loud.</a:t>
            </a:r>
          </a:p>
          <a:p/>
          <a:p>
            <a:r>
              <a:t>SPDX identifiers are shown because precise naming is itself a control: "GPL" names a family, GPL-3.0-only names an obligation set.</a:t>
            </a:r>
          </a:p>
          <a:p/>
          <a:p>
            <a:r>
              <a:t>TRANSITION: licenses govern what we may ship. Provenance asks whether the bytes are what they claim.</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Separate identity from origin; each mechanism buys a different, narrow guarantee.</a:t>
            </a:r>
          </a:p>
          <a:p/>
          <a:p>
            <a:r>
              <a:t>THE DISTINCTION (left card): the SBOM told us WHAT ships. Provenance asks WHERE the artifact came from and HOW it was built: was this wheel built from the tagged source, by the project’s pipeline, or by whoever got to the registry first?</a:t>
            </a:r>
          </a:p>
          <a:p/>
          <a:p>
            <a:r>
              <a:t>WALK THE TABLE: pinning stops surprise updates; hashes catch tampering in transit; signatures tie the artifact to a key holder; build attestations tie it to a build process; trusted registries reduce typosquatting and registry compromise. Different mechanisms, different risks: that is why "we pin versions" is not a provenance story.</a:t>
            </a:r>
          </a:p>
          <a:p/>
          <a:p>
            <a:r>
              <a:t>THE RED LINE: none of these, alone or together, proves the absence of malicious code; a signed, attested artifact can faithfully deliver a maintainer’s own backdoor. They bound substitution risks.</a:t>
            </a:r>
          </a:p>
          <a:p/>
          <a:p>
            <a:r>
              <a:t>TRANSITION: controls in hand or not, one morning the scanner pages you. Decide.</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A fast, forced decision among five real options, priced by exposure, compatibility, license, and urgency.</a:t>
            </a:r>
          </a:p>
          <a:p/>
          <a:p>
            <a:r>
              <a:t>SET THE SCENE in one breath: the scanner flags the HTTP parser two levels down, critical CVE, upstream dormant. The framework pinned it; you never chose it.</a:t>
            </a:r>
          </a:p>
          <a:p/>
          <a:p>
            <a:r>
              <a:t>RUN THE DECISION as a quick poll: tonight versus next semester. Expected shape: tonight is pin-plus-mitigate (or upgrade if a safe patch exists); next semester is replace or upgrade properly; fork-and-maintain is the honest name for "patch it ourselves," and it is a staffing decision.</a:t>
            </a:r>
          </a:p>
          <a:p/>
          <a:p>
            <a:r>
              <a:t>PUSH on the comparisons: exposure (is the vulnerable path even reachable in our deployment?), compatibility tests as the gating cost, license changes on forks and replacements, and urgency set by exploitability, not severity labels.</a:t>
            </a:r>
          </a:p>
          <a:p/>
          <a:p>
            <a:r>
              <a:t>TRANSITION: we have now made four supply-chain judgments by hand. The last slide of the section makes them durable.</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 minutes. Convert the section’s one-off judgments into standing controls, each with its failure mode named.</a:t>
            </a:r>
          </a:p>
          <a:p/>
          <a:p>
            <a:r>
              <a:t>WALK THE TABLE quickly; the right column is the honest one. Review gates rubber-stamp under deadline; alerts fatigue; license checks go stale and never see vendored code; SBOM generation gets mistaken for assurance; provenance verification depends on trust anchors someone must maintain; pinning without scheduled updates just accumulates drift.</a:t>
            </a:r>
          </a:p>
          <a:p/>
          <a:p>
            <a:r>
              <a:t>THE PRINCIPLE (band): where a supply-chain obligation can be stated mechanically, state it mechanically: in CI, per release, per change. The parallel to the erosion slide is exact: boundaries and obligations hold when something CHECKS them.</a:t>
            </a:r>
          </a:p>
          <a:p/>
          <a:p>
            <a:r>
              <a:t>Each failure mode is a staffing claim, not a tooling claim: the control decays when nobody owns it.</a:t>
            </a:r>
          </a:p>
          <a:p/>
          <a:p>
            <a:r>
              <a:t>TRANSITION: we have examined what we built and what we inherited. Close the loop.</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1 minutes. Open the synthesis: both graphs in one frame, then the Act III loop.</a:t>
            </a:r>
          </a:p>
          <a:p/>
          <a:p>
            <a:r>
              <a:t>SAY: reliable, in this lecture’s sense, means worthy of reliance as an evolving engineered system. We have evidence about structure and inheritance now; this section composes it.</a:t>
            </a:r>
          </a:p>
          <a:p/>
          <a:p>
            <a:r>
              <a:t>Do not pause for discussion.</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2.5 minutes. Compose both graphs with typed edges and read the lab change across them.</a:t>
            </a:r>
          </a:p>
          <a:p/>
          <a:p>
            <a:r>
              <a:t>WALK THE FRAME: internal modules with structural edges on the left; inherited components with package-at-version edges on the right; the database below as a dotted runtime-service edge. Three edge types, three different obligations, labeled, not color-coded alone.</a:t>
            </a:r>
          </a:p>
          <a:p/>
          <a:p>
            <a:r>
              <a:t>READ THE CHANGE: the lab-policy delta lands on booking policy. Internally it crosses into handlers and persistence (the recovered-model lesson). Externally, policy leans on the date-interval library: dormant maintainership blocks the upgrade path, and its LGPL license binds how we may ship: both can constrain an internal change.</a:t>
            </a:r>
          </a:p>
          <a:p/>
          <a:p>
            <a:r>
              <a:t>ASK the footer pair: which expected change crosses an internal boundary? Which inherited edge can block or constrain it? One minute; this is the whole lecture in one picture.</a:t>
            </a:r>
          </a:p>
          <a:p/>
          <a:p>
            <a:r>
              <a:t>NON-CLAIM: the two subgraphs are the same kind of object but not the same thing; internal edges we can refactor, inherited edges we can only select, wrap, or replace.</a:t>
            </a:r>
          </a:p>
          <a:p/>
          <a:p>
            <a:r>
              <a:t>TRANSITION: run the method over it, once, end to end.</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TIMING: 2.5 minutes. Re-walk the Act III loop with every box filled by one of today’s decisions; close the handoff.</a:t>
            </a:r>
          </a:p>
          <a:p/>
          <a:p>
            <a:r>
              <a:t>WALK THE LOOP, same serpentine as the siblings: PROBLEM: passing I/O behavior does not establish reliance. MODEL: the recovered architecture, the dependency graph and SBOM, and the obligations (invariant, licenses). JUDGMENT: the organization choice and the dependency selections. REALIZE: refactor, configure, upgrade. EVIDENCE: change-impact measurements, invariant and characterization tests, vulnerability, license, and provenance checks. ACCEPT/REJECT: the stated obligations hold, or the change is rejected.</a:t>
            </a:r>
          </a:p>
          <a:p/>
          <a:p>
            <a:r>
              <a:t>FEEDBACK (dashed): a rejection can send us back to re-make the judgment, or further back to fix the model; the lower-row arrows never reverse: evidence flows toward the decision.</a:t>
            </a:r>
          </a:p>
          <a:p/>
          <a:p>
            <a:r>
              <a:t>ALIGNMENT runs ALONGSIDE realize and evidence, not after acceptance: dependency rules, architectural checks, CI gates, and release gates constrain what may happen and evaluate what did. Same geometry as Data Management’s closing chart; students should recognize it before reading a word.</a:t>
            </a:r>
          </a:p>
          <a:p/>
          <a:p>
            <a:r>
              <a:t>CLOSE (footer): structure and inheritance examined. The next lecture asks the narrower quantitative question: performance and reliability under load and failure. Do NOT trail into supply chains; that material lived here, today.</a:t>
            </a:r>
          </a:p>
          <a:p/>
          <a:p>
            <a:r>
              <a:t>The cover’s question gets its answer shape: reliable means the obligations are stated, evidenced, and controlled: never a vibe.</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 simple">
  <p:cSld name="Title slide - simple">
    <p:spTree>
      <p:nvGrpSpPr>
        <p:cNvPr id="1" name="Shape 14"/>
        <p:cNvGrpSpPr/>
        <p:nvPr/>
      </p:nvGrpSpPr>
      <p:grpSpPr>
        <a:xfrm>
          <a:off x="0" y="0"/>
          <a:ext cx="0" cy="0"/>
          <a:chOff x="0" y="0"/>
          <a:chExt cx="0" cy="0"/>
        </a:xfrm>
      </p:grpSpPr>
      <p:sp>
        <p:nvSpPr>
          <p:cNvPr id="15" name="Google Shape;15;p2"/>
          <p:cNvSpPr txBox="1">
            <a:spLocks noGrp="1"/>
          </p:cNvSpPr>
          <p:nvPr>
            <p:ph type="subTitle" idx="1"/>
          </p:nvPr>
        </p:nvSpPr>
        <p:spPr>
          <a:xfrm>
            <a:off x="1308100" y="3235325"/>
            <a:ext cx="6400800" cy="1881188"/>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1000"/>
              </a:spcBef>
              <a:spcAft>
                <a:spcPts val="0"/>
              </a:spcAft>
              <a:buSzPts val="1800"/>
              <a:buFont typeface="Times"/>
              <a:buNone/>
              <a:defRPr>
                <a:solidFill>
                  <a:srgbClr val="000000"/>
                </a:solidFill>
                <a:latin typeface="Calibri"/>
                <a:ea typeface="Calibri"/>
                <a:cs typeface="Calibri"/>
                <a:sym typeface="Calibri"/>
              </a:defRPr>
            </a:lvl1pPr>
            <a:lvl2pPr lvl="1" algn="l">
              <a:lnSpc>
                <a:spcPct val="100000"/>
              </a:lnSpc>
              <a:spcBef>
                <a:spcPts val="1000"/>
              </a:spcBef>
              <a:spcAft>
                <a:spcPts val="0"/>
              </a:spcAft>
              <a:buSzPts val="1800"/>
              <a:buChar char="•"/>
              <a:defRPr/>
            </a:lvl2pPr>
            <a:lvl3pPr lvl="2" algn="l">
              <a:lnSpc>
                <a:spcPct val="100000"/>
              </a:lnSpc>
              <a:spcBef>
                <a:spcPts val="1000"/>
              </a:spcBef>
              <a:spcAft>
                <a:spcPts val="0"/>
              </a:spcAft>
              <a:buSzPts val="1800"/>
              <a:buChar char="•"/>
              <a:defRPr/>
            </a:lvl3pPr>
            <a:lvl4pPr lvl="3" algn="l">
              <a:lnSpc>
                <a:spcPct val="100000"/>
              </a:lnSpc>
              <a:spcBef>
                <a:spcPts val="1000"/>
              </a:spcBef>
              <a:spcAft>
                <a:spcPts val="0"/>
              </a:spcAft>
              <a:buSzPts val="1800"/>
              <a:buChar char="•"/>
              <a:defRPr/>
            </a:lvl4pPr>
            <a:lvl5pPr lvl="4" algn="l">
              <a:lnSpc>
                <a:spcPct val="100000"/>
              </a:lnSpc>
              <a:spcBef>
                <a:spcPts val="1000"/>
              </a:spcBef>
              <a:spcAft>
                <a:spcPts val="0"/>
              </a:spcAft>
              <a:buSzPts val="1800"/>
              <a:buChar char="•"/>
              <a:defRPr/>
            </a:lvl5pPr>
            <a:lvl6pPr lvl="5" algn="l">
              <a:lnSpc>
                <a:spcPct val="100000"/>
              </a:lnSpc>
              <a:spcBef>
                <a:spcPts val="1000"/>
              </a:spcBef>
              <a:spcAft>
                <a:spcPts val="0"/>
              </a:spcAft>
              <a:buSzPts val="1800"/>
              <a:buChar char="•"/>
              <a:defRPr/>
            </a:lvl6pPr>
            <a:lvl7pPr lvl="6" algn="l">
              <a:lnSpc>
                <a:spcPct val="100000"/>
              </a:lnSpc>
              <a:spcBef>
                <a:spcPts val="1000"/>
              </a:spcBef>
              <a:spcAft>
                <a:spcPts val="0"/>
              </a:spcAft>
              <a:buSzPts val="1800"/>
              <a:buChar char="•"/>
              <a:defRPr/>
            </a:lvl7pPr>
            <a:lvl8pPr lvl="7" algn="l">
              <a:lnSpc>
                <a:spcPct val="100000"/>
              </a:lnSpc>
              <a:spcBef>
                <a:spcPts val="1000"/>
              </a:spcBef>
              <a:spcAft>
                <a:spcPts val="0"/>
              </a:spcAft>
              <a:buSzPts val="1800"/>
              <a:buChar char="•"/>
              <a:defRPr/>
            </a:lvl8pPr>
            <a:lvl9pPr lvl="8" algn="l">
              <a:lnSpc>
                <a:spcPct val="100000"/>
              </a:lnSpc>
              <a:spcBef>
                <a:spcPts val="1000"/>
              </a:spcBef>
              <a:spcAft>
                <a:spcPts val="0"/>
              </a:spcAft>
              <a:buSzPts val="1800"/>
              <a:buChar char="•"/>
              <a:defRPr/>
            </a:lvl9pPr>
          </a:lstStyle>
          <a:p>
            <a:endParaRPr/>
          </a:p>
        </p:txBody>
      </p:sp>
      <p:sp>
        <p:nvSpPr>
          <p:cNvPr id="16" name="Google Shape;16;p2"/>
          <p:cNvSpPr txBox="1">
            <a:spLocks noGrp="1"/>
          </p:cNvSpPr>
          <p:nvPr>
            <p:ph type="ctrTitle"/>
          </p:nvPr>
        </p:nvSpPr>
        <p:spPr>
          <a:xfrm>
            <a:off x="1127125" y="2078038"/>
            <a:ext cx="7031038" cy="874712"/>
          </a:xfrm>
          <a:prstGeom prst="rect">
            <a:avLst/>
          </a:prstGeom>
          <a:solidFill>
            <a:srgbClr val="FFFFFF"/>
          </a:solidFill>
          <a:ln>
            <a:noFill/>
          </a:ln>
        </p:spPr>
        <p:txBody>
          <a:bodyPr spcFirstLastPara="1" wrap="square" lIns="182875" tIns="182875" rIns="182875" bIns="182875" anchor="ctr" anchorCtr="0">
            <a:normAutofit/>
          </a:bodyPr>
          <a:lstStyle>
            <a:lvl1pPr lvl="0" algn="ctr">
              <a:lnSpc>
                <a:spcPct val="90000"/>
              </a:lnSpc>
              <a:spcBef>
                <a:spcPts val="0"/>
              </a:spcBef>
              <a:spcAft>
                <a:spcPts val="0"/>
              </a:spcAft>
              <a:buClr>
                <a:srgbClr val="000000"/>
              </a:buClr>
              <a:buSzPts val="3600"/>
              <a:buFont typeface="Calibri"/>
              <a:buNone/>
              <a:defRPr sz="3600" cap="none">
                <a:solidFill>
                  <a:srgbClr val="000000"/>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17" name="Google Shape;17;p2"/>
          <p:cNvCxnSpPr/>
          <p:nvPr/>
        </p:nvCxnSpPr>
        <p:spPr>
          <a:xfrm>
            <a:off x="-16760" y="0"/>
            <a:ext cx="9144000" cy="0"/>
          </a:xfrm>
          <a:prstGeom prst="straightConnector1">
            <a:avLst/>
          </a:prstGeom>
          <a:noFill/>
          <a:ln w="38100" cap="flat" cmpd="sng">
            <a:solidFill>
              <a:schemeClr val="accent1"/>
            </a:solidFill>
            <a:prstDash val="solid"/>
            <a:miter lim="8000"/>
            <a:headEnd type="none" w="med" len="med"/>
            <a:tailEnd type="none" w="med" len="med"/>
          </a:ln>
        </p:spPr>
      </p:cxnSp>
      <p:cxnSp>
        <p:nvCxnSpPr>
          <p:cNvPr id="18" name="Google Shape;18;p2"/>
          <p:cNvCxnSpPr/>
          <p:nvPr/>
        </p:nvCxnSpPr>
        <p:spPr>
          <a:xfrm>
            <a:off x="0" y="6858000"/>
            <a:ext cx="9144000" cy="0"/>
          </a:xfrm>
          <a:prstGeom prst="straightConnector1">
            <a:avLst/>
          </a:prstGeom>
          <a:noFill/>
          <a:ln w="38100" cap="flat" cmpd="sng">
            <a:solidFill>
              <a:schemeClr val="accent1"/>
            </a:solidFill>
            <a:prstDash val="solid"/>
            <a:miter lim="8000"/>
            <a:headEnd type="none" w="med" len="med"/>
            <a:tailEnd type="none" w="med" len="med"/>
          </a:ln>
        </p:spPr>
      </p:cxnSp>
      <p:sp>
        <p:nvSpPr>
          <p:cNvPr id="19" name="Google Shape;19;p2"/>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pic>
        <p:nvPicPr>
          <p:cNvPr id="20" name="Google Shape;20;p2"/>
          <p:cNvPicPr preferRelativeResize="0"/>
          <p:nvPr/>
        </p:nvPicPr>
        <p:blipFill rotWithShape="1">
          <a:blip r:embed="rId2">
            <a:alphaModFix/>
          </a:blip>
          <a:srcRect/>
          <a:stretch/>
        </p:blipFill>
        <p:spPr>
          <a:xfrm>
            <a:off x="2097131" y="5715964"/>
            <a:ext cx="5091026" cy="54258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21"/>
        <p:cNvGrpSpPr/>
        <p:nvPr/>
      </p:nvGrpSpPr>
      <p:grpSpPr>
        <a:xfrm>
          <a:off x="0" y="0"/>
          <a:ext cx="0" cy="0"/>
          <a:chOff x="0" y="0"/>
          <a:chExt cx="0" cy="0"/>
        </a:xfrm>
      </p:grpSpPr>
      <p:sp>
        <p:nvSpPr>
          <p:cNvPr id="22" name="Google Shape;22;p3"/>
          <p:cNvSpPr txBox="1">
            <a:spLocks noGrp="1"/>
          </p:cNvSpPr>
          <p:nvPr>
            <p:ph type="body" idx="1"/>
          </p:nvPr>
        </p:nvSpPr>
        <p:spPr>
          <a:xfrm>
            <a:off x="277148" y="1305004"/>
            <a:ext cx="8557768" cy="5166916"/>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1000"/>
              </a:spcBef>
              <a:spcAft>
                <a:spcPts val="0"/>
              </a:spcAft>
              <a:buSzPts val="1800"/>
              <a:buChar char="•"/>
              <a:defRPr/>
            </a:lvl1pPr>
            <a:lvl2pPr marL="914400" lvl="1" indent="-330200" algn="l">
              <a:lnSpc>
                <a:spcPct val="100000"/>
              </a:lnSpc>
              <a:spcBef>
                <a:spcPts val="1000"/>
              </a:spcBef>
              <a:spcAft>
                <a:spcPts val="0"/>
              </a:spcAft>
              <a:buSzPts val="1600"/>
              <a:buChar char="•"/>
              <a:defRPr/>
            </a:lvl2pPr>
            <a:lvl3pPr marL="1371600" lvl="2" indent="-330200" algn="l">
              <a:lnSpc>
                <a:spcPct val="100000"/>
              </a:lnSpc>
              <a:spcBef>
                <a:spcPts val="1000"/>
              </a:spcBef>
              <a:spcAft>
                <a:spcPts val="0"/>
              </a:spcAft>
              <a:buSzPts val="16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23" name="Google Shape;23;p3"/>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4" name="Google Shape;24;p3"/>
          <p:cNvCxnSpPr/>
          <p:nvPr/>
        </p:nvCxnSpPr>
        <p:spPr>
          <a:xfrm>
            <a:off x="277148" y="756603"/>
            <a:ext cx="8557769" cy="0"/>
          </a:xfrm>
          <a:prstGeom prst="straightConnector1">
            <a:avLst/>
          </a:prstGeom>
          <a:noFill/>
          <a:ln w="38100" cap="flat" cmpd="sng">
            <a:solidFill>
              <a:schemeClr val="accent1"/>
            </a:solidFill>
            <a:prstDash val="solid"/>
            <a:miter lim="8000"/>
            <a:headEnd type="none" w="med" len="med"/>
            <a:tailEnd type="none" w="med" len="med"/>
          </a:ln>
        </p:spPr>
      </p:cxnSp>
      <p:sp>
        <p:nvSpPr>
          <p:cNvPr id="25" name="Google Shape;25;p3"/>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p:cSld name="Section">
    <p:spTree>
      <p:nvGrpSpPr>
        <p:cNvPr id="1" name="Shape 26"/>
        <p:cNvGrpSpPr/>
        <p:nvPr/>
      </p:nvGrpSpPr>
      <p:grpSpPr>
        <a:xfrm>
          <a:off x="0" y="0"/>
          <a:ext cx="0" cy="0"/>
          <a:chOff x="0" y="0"/>
          <a:chExt cx="0" cy="0"/>
        </a:xfrm>
      </p:grpSpPr>
      <p:sp>
        <p:nvSpPr>
          <p:cNvPr id="27" name="Google Shape;27;p4"/>
          <p:cNvSpPr txBox="1">
            <a:spLocks noGrp="1"/>
          </p:cNvSpPr>
          <p:nvPr>
            <p:ph type="title"/>
          </p:nvPr>
        </p:nvSpPr>
        <p:spPr>
          <a:xfrm>
            <a:off x="685800" y="2747963"/>
            <a:ext cx="7772400" cy="1362075"/>
          </a:xfrm>
          <a:prstGeom prst="rect">
            <a:avLst/>
          </a:prstGeom>
          <a:solidFill>
            <a:srgbClr val="FFFFFF"/>
          </a:solidFill>
          <a:ln>
            <a:noFill/>
          </a:ln>
        </p:spPr>
        <p:txBody>
          <a:bodyPr spcFirstLastPara="1" wrap="square" lIns="182875" tIns="182875" rIns="182875" bIns="182875" anchor="t" anchorCtr="0">
            <a:normAutofit/>
          </a:bodyPr>
          <a:lstStyle>
            <a:lvl1pPr lvl="0" algn="ctr">
              <a:lnSpc>
                <a:spcPct val="90000"/>
              </a:lnSpc>
              <a:spcBef>
                <a:spcPts val="0"/>
              </a:spcBef>
              <a:spcAft>
                <a:spcPts val="0"/>
              </a:spcAft>
              <a:buClr>
                <a:srgbClr val="262626"/>
              </a:buClr>
              <a:buSzPts val="4000"/>
              <a:buFont typeface="Calibri"/>
              <a:buNone/>
              <a:defRPr sz="40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8" name="Google Shape;28;p4"/>
          <p:cNvCxnSpPr/>
          <p:nvPr/>
        </p:nvCxnSpPr>
        <p:spPr>
          <a:xfrm>
            <a:off x="-57794"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29" name="Google Shape;29;p4"/>
          <p:cNvCxnSpPr/>
          <p:nvPr/>
        </p:nvCxnSpPr>
        <p:spPr>
          <a:xfrm>
            <a:off x="-78517"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30" name="Google Shape;30;p4"/>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uble content">
  <p:cSld name="Double content">
    <p:spTree>
      <p:nvGrpSpPr>
        <p:cNvPr id="1" name="Shape 31"/>
        <p:cNvGrpSpPr/>
        <p:nvPr/>
      </p:nvGrpSpPr>
      <p:grpSpPr>
        <a:xfrm>
          <a:off x="0" y="0"/>
          <a:ext cx="0" cy="0"/>
          <a:chOff x="0" y="0"/>
          <a:chExt cx="0" cy="0"/>
        </a:xfrm>
      </p:grpSpPr>
      <p:sp>
        <p:nvSpPr>
          <p:cNvPr id="32" name="Google Shape;32;p5"/>
          <p:cNvSpPr txBox="1">
            <a:spLocks noGrp="1"/>
          </p:cNvSpPr>
          <p:nvPr>
            <p:ph type="body" idx="1"/>
          </p:nvPr>
        </p:nvSpPr>
        <p:spPr>
          <a:xfrm>
            <a:off x="484369" y="1250205"/>
            <a:ext cx="4038600" cy="452596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406400" algn="l">
              <a:lnSpc>
                <a:spcPct val="100000"/>
              </a:lnSpc>
              <a:spcBef>
                <a:spcPts val="1000"/>
              </a:spcBef>
              <a:spcAft>
                <a:spcPts val="0"/>
              </a:spcAft>
              <a:buSzPts val="2800"/>
              <a:buChar char="•"/>
              <a:defRPr sz="2800"/>
            </a:lvl2pPr>
            <a:lvl3pPr marL="1371600" lvl="2" indent="-381000" algn="l">
              <a:lnSpc>
                <a:spcPct val="100000"/>
              </a:lnSpc>
              <a:spcBef>
                <a:spcPts val="1000"/>
              </a:spcBef>
              <a:spcAft>
                <a:spcPts val="0"/>
              </a:spcAft>
              <a:buSzPts val="2400"/>
              <a:buChar char="•"/>
              <a:defRPr sz="2400"/>
            </a:lvl3pPr>
            <a:lvl4pPr marL="1828800" lvl="3" indent="-355600" algn="l">
              <a:lnSpc>
                <a:spcPct val="100000"/>
              </a:lnSpc>
              <a:spcBef>
                <a:spcPts val="1000"/>
              </a:spcBef>
              <a:spcAft>
                <a:spcPts val="0"/>
              </a:spcAft>
              <a:buSzPts val="2000"/>
              <a:buChar char="•"/>
              <a:defRPr sz="2000"/>
            </a:lvl4pPr>
            <a:lvl5pPr marL="2286000" lvl="4" indent="-355600" algn="l">
              <a:lnSpc>
                <a:spcPct val="100000"/>
              </a:lnSpc>
              <a:spcBef>
                <a:spcPts val="1000"/>
              </a:spcBef>
              <a:spcAft>
                <a:spcPts val="0"/>
              </a:spcAft>
              <a:buSzPts val="2000"/>
              <a:buChar char="•"/>
              <a:defRPr sz="2000"/>
            </a:lvl5pPr>
            <a:lvl6pPr marL="2743200" lvl="5" indent="-342900" algn="l">
              <a:lnSpc>
                <a:spcPct val="100000"/>
              </a:lnSpc>
              <a:spcBef>
                <a:spcPts val="1000"/>
              </a:spcBef>
              <a:spcAft>
                <a:spcPts val="0"/>
              </a:spcAft>
              <a:buSzPts val="1800"/>
              <a:buChar char="•"/>
              <a:defRPr sz="1800"/>
            </a:lvl6pPr>
            <a:lvl7pPr marL="3200400" lvl="6" indent="-342900" algn="l">
              <a:lnSpc>
                <a:spcPct val="100000"/>
              </a:lnSpc>
              <a:spcBef>
                <a:spcPts val="1000"/>
              </a:spcBef>
              <a:spcAft>
                <a:spcPts val="0"/>
              </a:spcAft>
              <a:buSzPts val="1800"/>
              <a:buChar char="•"/>
              <a:defRPr sz="1800"/>
            </a:lvl7pPr>
            <a:lvl8pPr marL="3657600" lvl="7" indent="-342900" algn="l">
              <a:lnSpc>
                <a:spcPct val="100000"/>
              </a:lnSpc>
              <a:spcBef>
                <a:spcPts val="1000"/>
              </a:spcBef>
              <a:spcAft>
                <a:spcPts val="0"/>
              </a:spcAft>
              <a:buSzPts val="1800"/>
              <a:buChar char="•"/>
              <a:defRPr sz="1800"/>
            </a:lvl8pPr>
            <a:lvl9pPr marL="4114800" lvl="8" indent="-342900" algn="l">
              <a:lnSpc>
                <a:spcPct val="100000"/>
              </a:lnSpc>
              <a:spcBef>
                <a:spcPts val="1000"/>
              </a:spcBef>
              <a:spcAft>
                <a:spcPts val="0"/>
              </a:spcAft>
              <a:buSzPts val="1800"/>
              <a:buChar char="•"/>
              <a:defRPr sz="1800"/>
            </a:lvl9pPr>
          </a:lstStyle>
          <a:p>
            <a:endParaRPr/>
          </a:p>
        </p:txBody>
      </p:sp>
      <p:sp>
        <p:nvSpPr>
          <p:cNvPr id="33" name="Google Shape;33;p5"/>
          <p:cNvSpPr txBox="1">
            <a:spLocks noGrp="1"/>
          </p:cNvSpPr>
          <p:nvPr>
            <p:ph type="body" idx="2"/>
          </p:nvPr>
        </p:nvSpPr>
        <p:spPr>
          <a:xfrm>
            <a:off x="4675369" y="1250205"/>
            <a:ext cx="4038600" cy="452596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406400" algn="l">
              <a:lnSpc>
                <a:spcPct val="100000"/>
              </a:lnSpc>
              <a:spcBef>
                <a:spcPts val="1000"/>
              </a:spcBef>
              <a:spcAft>
                <a:spcPts val="0"/>
              </a:spcAft>
              <a:buSzPts val="2800"/>
              <a:buChar char="•"/>
              <a:defRPr sz="2800"/>
            </a:lvl2pPr>
            <a:lvl3pPr marL="1371600" lvl="2" indent="-381000" algn="l">
              <a:lnSpc>
                <a:spcPct val="100000"/>
              </a:lnSpc>
              <a:spcBef>
                <a:spcPts val="1000"/>
              </a:spcBef>
              <a:spcAft>
                <a:spcPts val="0"/>
              </a:spcAft>
              <a:buSzPts val="2400"/>
              <a:buChar char="•"/>
              <a:defRPr sz="2400"/>
            </a:lvl3pPr>
            <a:lvl4pPr marL="1828800" lvl="3" indent="-355600" algn="l">
              <a:lnSpc>
                <a:spcPct val="100000"/>
              </a:lnSpc>
              <a:spcBef>
                <a:spcPts val="1000"/>
              </a:spcBef>
              <a:spcAft>
                <a:spcPts val="0"/>
              </a:spcAft>
              <a:buSzPts val="2000"/>
              <a:buChar char="•"/>
              <a:defRPr sz="2000"/>
            </a:lvl4pPr>
            <a:lvl5pPr marL="2286000" lvl="4" indent="-355600" algn="l">
              <a:lnSpc>
                <a:spcPct val="100000"/>
              </a:lnSpc>
              <a:spcBef>
                <a:spcPts val="1000"/>
              </a:spcBef>
              <a:spcAft>
                <a:spcPts val="0"/>
              </a:spcAft>
              <a:buSzPts val="2000"/>
              <a:buChar char="•"/>
              <a:defRPr sz="2000"/>
            </a:lvl5pPr>
            <a:lvl6pPr marL="2743200" lvl="5" indent="-342900" algn="l">
              <a:lnSpc>
                <a:spcPct val="100000"/>
              </a:lnSpc>
              <a:spcBef>
                <a:spcPts val="1000"/>
              </a:spcBef>
              <a:spcAft>
                <a:spcPts val="0"/>
              </a:spcAft>
              <a:buSzPts val="1800"/>
              <a:buChar char="•"/>
              <a:defRPr sz="1800"/>
            </a:lvl6pPr>
            <a:lvl7pPr marL="3200400" lvl="6" indent="-342900" algn="l">
              <a:lnSpc>
                <a:spcPct val="100000"/>
              </a:lnSpc>
              <a:spcBef>
                <a:spcPts val="1000"/>
              </a:spcBef>
              <a:spcAft>
                <a:spcPts val="0"/>
              </a:spcAft>
              <a:buSzPts val="1800"/>
              <a:buChar char="•"/>
              <a:defRPr sz="1800"/>
            </a:lvl7pPr>
            <a:lvl8pPr marL="3657600" lvl="7" indent="-342900" algn="l">
              <a:lnSpc>
                <a:spcPct val="100000"/>
              </a:lnSpc>
              <a:spcBef>
                <a:spcPts val="1000"/>
              </a:spcBef>
              <a:spcAft>
                <a:spcPts val="0"/>
              </a:spcAft>
              <a:buSzPts val="1800"/>
              <a:buChar char="•"/>
              <a:defRPr sz="1800"/>
            </a:lvl8pPr>
            <a:lvl9pPr marL="4114800" lvl="8" indent="-342900" algn="l">
              <a:lnSpc>
                <a:spcPct val="100000"/>
              </a:lnSpc>
              <a:spcBef>
                <a:spcPts val="1000"/>
              </a:spcBef>
              <a:spcAft>
                <a:spcPts val="0"/>
              </a:spcAft>
              <a:buSzPts val="1800"/>
              <a:buChar char="•"/>
              <a:defRPr sz="1800"/>
            </a:lvl9pPr>
          </a:lstStyle>
          <a:p>
            <a:endParaRPr/>
          </a:p>
        </p:txBody>
      </p:sp>
      <p:cxnSp>
        <p:nvCxnSpPr>
          <p:cNvPr id="34" name="Google Shape;34;p5"/>
          <p:cNvCxnSpPr/>
          <p:nvPr/>
        </p:nvCxnSpPr>
        <p:spPr>
          <a:xfrm>
            <a:off x="277148" y="756603"/>
            <a:ext cx="8577217" cy="0"/>
          </a:xfrm>
          <a:prstGeom prst="straightConnector1">
            <a:avLst/>
          </a:prstGeom>
          <a:noFill/>
          <a:ln w="38100" cap="flat" cmpd="sng">
            <a:solidFill>
              <a:schemeClr val="accent1"/>
            </a:solidFill>
            <a:prstDash val="solid"/>
            <a:miter lim="8000"/>
            <a:headEnd type="none" w="med" len="med"/>
            <a:tailEnd type="none" w="med" len="med"/>
          </a:ln>
        </p:spPr>
      </p:cxnSp>
      <p:sp>
        <p:nvSpPr>
          <p:cNvPr id="35" name="Google Shape;35;p5"/>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uble content - titled">
  <p:cSld name="Double content - titled">
    <p:spTree>
      <p:nvGrpSpPr>
        <p:cNvPr id="1" name="Shape 37"/>
        <p:cNvGrpSpPr/>
        <p:nvPr/>
      </p:nvGrpSpPr>
      <p:grpSpPr>
        <a:xfrm>
          <a:off x="0" y="0"/>
          <a:ext cx="0" cy="0"/>
          <a:chOff x="0" y="0"/>
          <a:chExt cx="0" cy="0"/>
        </a:xfrm>
      </p:grpSpPr>
      <p:sp>
        <p:nvSpPr>
          <p:cNvPr id="38" name="Google Shape;38;p6"/>
          <p:cNvSpPr txBox="1">
            <a:spLocks noGrp="1"/>
          </p:cNvSpPr>
          <p:nvPr>
            <p:ph type="body" idx="1"/>
          </p:nvPr>
        </p:nvSpPr>
        <p:spPr>
          <a:xfrm>
            <a:off x="457200" y="1258655"/>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SzPts val="3200"/>
              <a:buNone/>
              <a:defRPr sz="3200" b="1"/>
            </a:lvl1pPr>
            <a:lvl2pPr marL="914400" lvl="1" indent="-228600" algn="l">
              <a:lnSpc>
                <a:spcPct val="100000"/>
              </a:lnSpc>
              <a:spcBef>
                <a:spcPts val="1000"/>
              </a:spcBef>
              <a:spcAft>
                <a:spcPts val="0"/>
              </a:spcAft>
              <a:buSzPts val="2000"/>
              <a:buNone/>
              <a:defRPr sz="20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39" name="Google Shape;39;p6"/>
          <p:cNvSpPr txBox="1">
            <a:spLocks noGrp="1"/>
          </p:cNvSpPr>
          <p:nvPr>
            <p:ph type="body" idx="2"/>
          </p:nvPr>
        </p:nvSpPr>
        <p:spPr>
          <a:xfrm>
            <a:off x="457200" y="1898417"/>
            <a:ext cx="4040188" cy="3951288"/>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355600" algn="l">
              <a:lnSpc>
                <a:spcPct val="100000"/>
              </a:lnSpc>
              <a:spcBef>
                <a:spcPts val="1000"/>
              </a:spcBef>
              <a:spcAft>
                <a:spcPts val="0"/>
              </a:spcAft>
              <a:buSzPts val="2000"/>
              <a:buChar char="•"/>
              <a:defRPr sz="2000"/>
            </a:lvl2pPr>
            <a:lvl3pPr marL="1371600" lvl="2" indent="-342900" algn="l">
              <a:lnSpc>
                <a:spcPct val="100000"/>
              </a:lnSpc>
              <a:spcBef>
                <a:spcPts val="1000"/>
              </a:spcBef>
              <a:spcAft>
                <a:spcPts val="0"/>
              </a:spcAft>
              <a:buSzPts val="1800"/>
              <a:buChar char="•"/>
              <a:defRPr sz="1800"/>
            </a:lvl3pPr>
            <a:lvl4pPr marL="1828800" lvl="3" indent="-330200" algn="l">
              <a:lnSpc>
                <a:spcPct val="100000"/>
              </a:lnSpc>
              <a:spcBef>
                <a:spcPts val="1000"/>
              </a:spcBef>
              <a:spcAft>
                <a:spcPts val="0"/>
              </a:spcAft>
              <a:buSzPts val="1600"/>
              <a:buChar char="•"/>
              <a:defRPr sz="1600"/>
            </a:lvl4pPr>
            <a:lvl5pPr marL="2286000" lvl="4" indent="-330200" algn="l">
              <a:lnSpc>
                <a:spcPct val="100000"/>
              </a:lnSpc>
              <a:spcBef>
                <a:spcPts val="1000"/>
              </a:spcBef>
              <a:spcAft>
                <a:spcPts val="0"/>
              </a:spcAft>
              <a:buSzPts val="1600"/>
              <a:buChar char="•"/>
              <a:defRPr sz="1600"/>
            </a:lvl5pPr>
            <a:lvl6pPr marL="2743200" lvl="5" indent="-330200" algn="l">
              <a:lnSpc>
                <a:spcPct val="100000"/>
              </a:lnSpc>
              <a:spcBef>
                <a:spcPts val="1000"/>
              </a:spcBef>
              <a:spcAft>
                <a:spcPts val="0"/>
              </a:spcAft>
              <a:buSzPts val="1600"/>
              <a:buChar char="•"/>
              <a:defRPr sz="1600"/>
            </a:lvl6pPr>
            <a:lvl7pPr marL="3200400" lvl="6" indent="-330200" algn="l">
              <a:lnSpc>
                <a:spcPct val="100000"/>
              </a:lnSpc>
              <a:spcBef>
                <a:spcPts val="1000"/>
              </a:spcBef>
              <a:spcAft>
                <a:spcPts val="0"/>
              </a:spcAft>
              <a:buSzPts val="1600"/>
              <a:buChar char="•"/>
              <a:defRPr sz="1600"/>
            </a:lvl7pPr>
            <a:lvl8pPr marL="3657600" lvl="7" indent="-330200" algn="l">
              <a:lnSpc>
                <a:spcPct val="100000"/>
              </a:lnSpc>
              <a:spcBef>
                <a:spcPts val="1000"/>
              </a:spcBef>
              <a:spcAft>
                <a:spcPts val="0"/>
              </a:spcAft>
              <a:buSzPts val="1600"/>
              <a:buChar char="•"/>
              <a:defRPr sz="1600"/>
            </a:lvl8pPr>
            <a:lvl9pPr marL="4114800" lvl="8" indent="-330200" algn="l">
              <a:lnSpc>
                <a:spcPct val="100000"/>
              </a:lnSpc>
              <a:spcBef>
                <a:spcPts val="1000"/>
              </a:spcBef>
              <a:spcAft>
                <a:spcPts val="0"/>
              </a:spcAft>
              <a:buSzPts val="1600"/>
              <a:buChar char="•"/>
              <a:defRPr sz="1600"/>
            </a:lvl9pPr>
          </a:lstStyle>
          <a:p>
            <a:endParaRPr/>
          </a:p>
        </p:txBody>
      </p:sp>
      <p:sp>
        <p:nvSpPr>
          <p:cNvPr id="40" name="Google Shape;40;p6"/>
          <p:cNvSpPr txBox="1">
            <a:spLocks noGrp="1"/>
          </p:cNvSpPr>
          <p:nvPr>
            <p:ph type="body" idx="3"/>
          </p:nvPr>
        </p:nvSpPr>
        <p:spPr>
          <a:xfrm>
            <a:off x="4645025" y="1258655"/>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1000"/>
              </a:spcBef>
              <a:spcAft>
                <a:spcPts val="0"/>
              </a:spcAft>
              <a:buSzPts val="3200"/>
              <a:buNone/>
              <a:defRPr sz="3200" b="1"/>
            </a:lvl1pPr>
            <a:lvl2pPr marL="914400" lvl="1" indent="-228600" algn="l">
              <a:lnSpc>
                <a:spcPct val="100000"/>
              </a:lnSpc>
              <a:spcBef>
                <a:spcPts val="1000"/>
              </a:spcBef>
              <a:spcAft>
                <a:spcPts val="0"/>
              </a:spcAft>
              <a:buSzPts val="2000"/>
              <a:buNone/>
              <a:defRPr sz="2000" b="1"/>
            </a:lvl2pPr>
            <a:lvl3pPr marL="1371600" lvl="2" indent="-228600" algn="l">
              <a:lnSpc>
                <a:spcPct val="100000"/>
              </a:lnSpc>
              <a:spcBef>
                <a:spcPts val="1000"/>
              </a:spcBef>
              <a:spcAft>
                <a:spcPts val="0"/>
              </a:spcAft>
              <a:buSzPts val="1800"/>
              <a:buNone/>
              <a:defRPr sz="1800" b="1"/>
            </a:lvl3pPr>
            <a:lvl4pPr marL="1828800" lvl="3" indent="-228600" algn="l">
              <a:lnSpc>
                <a:spcPct val="100000"/>
              </a:lnSpc>
              <a:spcBef>
                <a:spcPts val="1000"/>
              </a:spcBef>
              <a:spcAft>
                <a:spcPts val="0"/>
              </a:spcAft>
              <a:buSzPts val="1600"/>
              <a:buNone/>
              <a:defRPr sz="1600" b="1"/>
            </a:lvl4pPr>
            <a:lvl5pPr marL="2286000" lvl="4" indent="-228600" algn="l">
              <a:lnSpc>
                <a:spcPct val="100000"/>
              </a:lnSpc>
              <a:spcBef>
                <a:spcPts val="1000"/>
              </a:spcBef>
              <a:spcAft>
                <a:spcPts val="0"/>
              </a:spcAft>
              <a:buSzPts val="1600"/>
              <a:buNone/>
              <a:defRPr sz="1600" b="1"/>
            </a:lvl5pPr>
            <a:lvl6pPr marL="2743200" lvl="5" indent="-228600" algn="l">
              <a:lnSpc>
                <a:spcPct val="100000"/>
              </a:lnSpc>
              <a:spcBef>
                <a:spcPts val="1000"/>
              </a:spcBef>
              <a:spcAft>
                <a:spcPts val="0"/>
              </a:spcAft>
              <a:buSzPts val="1600"/>
              <a:buNone/>
              <a:defRPr sz="1600" b="1"/>
            </a:lvl6pPr>
            <a:lvl7pPr marL="3200400" lvl="6" indent="-228600" algn="l">
              <a:lnSpc>
                <a:spcPct val="100000"/>
              </a:lnSpc>
              <a:spcBef>
                <a:spcPts val="1000"/>
              </a:spcBef>
              <a:spcAft>
                <a:spcPts val="0"/>
              </a:spcAft>
              <a:buSzPts val="1600"/>
              <a:buNone/>
              <a:defRPr sz="1600" b="1"/>
            </a:lvl7pPr>
            <a:lvl8pPr marL="3657600" lvl="7" indent="-228600" algn="l">
              <a:lnSpc>
                <a:spcPct val="100000"/>
              </a:lnSpc>
              <a:spcBef>
                <a:spcPts val="1000"/>
              </a:spcBef>
              <a:spcAft>
                <a:spcPts val="0"/>
              </a:spcAft>
              <a:buSzPts val="1600"/>
              <a:buNone/>
              <a:defRPr sz="1600" b="1"/>
            </a:lvl8pPr>
            <a:lvl9pPr marL="4114800" lvl="8" indent="-228600" algn="l">
              <a:lnSpc>
                <a:spcPct val="100000"/>
              </a:lnSpc>
              <a:spcBef>
                <a:spcPts val="1000"/>
              </a:spcBef>
              <a:spcAft>
                <a:spcPts val="0"/>
              </a:spcAft>
              <a:buSzPts val="1600"/>
              <a:buNone/>
              <a:defRPr sz="1600" b="1"/>
            </a:lvl9pPr>
          </a:lstStyle>
          <a:p>
            <a:endParaRPr/>
          </a:p>
        </p:txBody>
      </p:sp>
      <p:sp>
        <p:nvSpPr>
          <p:cNvPr id="41" name="Google Shape;41;p6"/>
          <p:cNvSpPr txBox="1">
            <a:spLocks noGrp="1"/>
          </p:cNvSpPr>
          <p:nvPr>
            <p:ph type="body" idx="4"/>
          </p:nvPr>
        </p:nvSpPr>
        <p:spPr>
          <a:xfrm>
            <a:off x="4645025" y="1898417"/>
            <a:ext cx="4041775" cy="3951288"/>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1000"/>
              </a:spcBef>
              <a:spcAft>
                <a:spcPts val="0"/>
              </a:spcAft>
              <a:buSzPts val="3200"/>
              <a:buChar char="•"/>
              <a:defRPr sz="3200"/>
            </a:lvl1pPr>
            <a:lvl2pPr marL="914400" lvl="1" indent="-355600" algn="l">
              <a:lnSpc>
                <a:spcPct val="100000"/>
              </a:lnSpc>
              <a:spcBef>
                <a:spcPts val="1000"/>
              </a:spcBef>
              <a:spcAft>
                <a:spcPts val="0"/>
              </a:spcAft>
              <a:buSzPts val="2000"/>
              <a:buChar char="•"/>
              <a:defRPr sz="2000"/>
            </a:lvl2pPr>
            <a:lvl3pPr marL="1371600" lvl="2" indent="-342900" algn="l">
              <a:lnSpc>
                <a:spcPct val="100000"/>
              </a:lnSpc>
              <a:spcBef>
                <a:spcPts val="1000"/>
              </a:spcBef>
              <a:spcAft>
                <a:spcPts val="0"/>
              </a:spcAft>
              <a:buSzPts val="1800"/>
              <a:buChar char="•"/>
              <a:defRPr sz="1800"/>
            </a:lvl3pPr>
            <a:lvl4pPr marL="1828800" lvl="3" indent="-330200" algn="l">
              <a:lnSpc>
                <a:spcPct val="100000"/>
              </a:lnSpc>
              <a:spcBef>
                <a:spcPts val="1000"/>
              </a:spcBef>
              <a:spcAft>
                <a:spcPts val="0"/>
              </a:spcAft>
              <a:buSzPts val="1600"/>
              <a:buChar char="•"/>
              <a:defRPr sz="1600"/>
            </a:lvl4pPr>
            <a:lvl5pPr marL="2286000" lvl="4" indent="-330200" algn="l">
              <a:lnSpc>
                <a:spcPct val="100000"/>
              </a:lnSpc>
              <a:spcBef>
                <a:spcPts val="1000"/>
              </a:spcBef>
              <a:spcAft>
                <a:spcPts val="0"/>
              </a:spcAft>
              <a:buSzPts val="1600"/>
              <a:buChar char="•"/>
              <a:defRPr sz="1600"/>
            </a:lvl5pPr>
            <a:lvl6pPr marL="2743200" lvl="5" indent="-330200" algn="l">
              <a:lnSpc>
                <a:spcPct val="100000"/>
              </a:lnSpc>
              <a:spcBef>
                <a:spcPts val="1000"/>
              </a:spcBef>
              <a:spcAft>
                <a:spcPts val="0"/>
              </a:spcAft>
              <a:buSzPts val="1600"/>
              <a:buChar char="•"/>
              <a:defRPr sz="1600"/>
            </a:lvl6pPr>
            <a:lvl7pPr marL="3200400" lvl="6" indent="-330200" algn="l">
              <a:lnSpc>
                <a:spcPct val="100000"/>
              </a:lnSpc>
              <a:spcBef>
                <a:spcPts val="1000"/>
              </a:spcBef>
              <a:spcAft>
                <a:spcPts val="0"/>
              </a:spcAft>
              <a:buSzPts val="1600"/>
              <a:buChar char="•"/>
              <a:defRPr sz="1600"/>
            </a:lvl7pPr>
            <a:lvl8pPr marL="3657600" lvl="7" indent="-330200" algn="l">
              <a:lnSpc>
                <a:spcPct val="100000"/>
              </a:lnSpc>
              <a:spcBef>
                <a:spcPts val="1000"/>
              </a:spcBef>
              <a:spcAft>
                <a:spcPts val="0"/>
              </a:spcAft>
              <a:buSzPts val="1600"/>
              <a:buChar char="•"/>
              <a:defRPr sz="1600"/>
            </a:lvl8pPr>
            <a:lvl9pPr marL="4114800" lvl="8" indent="-330200" algn="l">
              <a:lnSpc>
                <a:spcPct val="100000"/>
              </a:lnSpc>
              <a:spcBef>
                <a:spcPts val="1000"/>
              </a:spcBef>
              <a:spcAft>
                <a:spcPts val="0"/>
              </a:spcAft>
              <a:buSzPts val="1600"/>
              <a:buChar char="•"/>
              <a:defRPr sz="1600"/>
            </a:lvl9pPr>
          </a:lstStyle>
          <a:p>
            <a:endParaRPr/>
          </a:p>
        </p:txBody>
      </p:sp>
      <p:cxnSp>
        <p:nvCxnSpPr>
          <p:cNvPr id="42" name="Google Shape;42;p6"/>
          <p:cNvCxnSpPr/>
          <p:nvPr/>
        </p:nvCxnSpPr>
        <p:spPr>
          <a:xfrm>
            <a:off x="277148" y="756603"/>
            <a:ext cx="8577217" cy="0"/>
          </a:xfrm>
          <a:prstGeom prst="straightConnector1">
            <a:avLst/>
          </a:prstGeom>
          <a:noFill/>
          <a:ln w="38100" cap="flat" cmpd="sng">
            <a:solidFill>
              <a:schemeClr val="accent1"/>
            </a:solidFill>
            <a:prstDash val="solid"/>
            <a:miter lim="8000"/>
            <a:headEnd type="none" w="med" len="med"/>
            <a:tailEnd type="none" w="med" len="med"/>
          </a:ln>
        </p:spPr>
      </p:cxnSp>
      <p:sp>
        <p:nvSpPr>
          <p:cNvPr id="43" name="Google Shape;43;p6"/>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Just borders">
  <p:cSld name="Just borders">
    <p:spTree>
      <p:nvGrpSpPr>
        <p:cNvPr id="1" name="Shape 45"/>
        <p:cNvGrpSpPr/>
        <p:nvPr/>
      </p:nvGrpSpPr>
      <p:grpSpPr>
        <a:xfrm>
          <a:off x="0" y="0"/>
          <a:ext cx="0" cy="0"/>
          <a:chOff x="0" y="0"/>
          <a:chExt cx="0" cy="0"/>
        </a:xfrm>
      </p:grpSpPr>
      <p:cxnSp>
        <p:nvCxnSpPr>
          <p:cNvPr id="46" name="Google Shape;46;p7"/>
          <p:cNvCxnSpPr/>
          <p:nvPr/>
        </p:nvCxnSpPr>
        <p:spPr>
          <a:xfrm>
            <a:off x="-37071"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47" name="Google Shape;47;p7"/>
          <p:cNvCxnSpPr/>
          <p:nvPr/>
        </p:nvCxnSpPr>
        <p:spPr>
          <a:xfrm>
            <a:off x="-57794"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48" name="Google Shape;48;p7"/>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adrants">
  <p:cSld name="Quadrants">
    <p:spTree>
      <p:nvGrpSpPr>
        <p:cNvPr id="1" name="Shape 49"/>
        <p:cNvGrpSpPr/>
        <p:nvPr/>
      </p:nvGrpSpPr>
      <p:grpSpPr>
        <a:xfrm>
          <a:off x="0" y="0"/>
          <a:ext cx="0" cy="0"/>
          <a:chOff x="0" y="0"/>
          <a:chExt cx="0" cy="0"/>
        </a:xfrm>
      </p:grpSpPr>
      <p:cxnSp>
        <p:nvCxnSpPr>
          <p:cNvPr id="50" name="Google Shape;50;p8"/>
          <p:cNvCxnSpPr/>
          <p:nvPr/>
        </p:nvCxnSpPr>
        <p:spPr>
          <a:xfrm>
            <a:off x="-37071"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51" name="Google Shape;51;p8"/>
          <p:cNvCxnSpPr/>
          <p:nvPr/>
        </p:nvCxnSpPr>
        <p:spPr>
          <a:xfrm>
            <a:off x="-57794"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52" name="Google Shape;52;p8"/>
          <p:cNvSpPr>
            <a:spLocks noGrp="1"/>
          </p:cNvSpPr>
          <p:nvPr>
            <p:ph type="pic" idx="2"/>
          </p:nvPr>
        </p:nvSpPr>
        <p:spPr>
          <a:xfrm>
            <a:off x="877888" y="765140"/>
            <a:ext cx="3137521" cy="2468339"/>
          </a:xfrm>
          <a:prstGeom prst="rect">
            <a:avLst/>
          </a:prstGeom>
          <a:noFill/>
          <a:ln>
            <a:noFill/>
          </a:ln>
        </p:spPr>
        <p:txBody>
          <a:bodyPr/>
          <a:lstStyle/>
          <a:p>
            <a:endParaRPr lang="en-US"/>
          </a:p>
        </p:txBody>
      </p:sp>
      <p:sp>
        <p:nvSpPr>
          <p:cNvPr id="53" name="Google Shape;53;p8"/>
          <p:cNvSpPr>
            <a:spLocks noGrp="1"/>
          </p:cNvSpPr>
          <p:nvPr>
            <p:ph type="pic" idx="3"/>
          </p:nvPr>
        </p:nvSpPr>
        <p:spPr>
          <a:xfrm>
            <a:off x="5204723" y="765140"/>
            <a:ext cx="3137521" cy="2468339"/>
          </a:xfrm>
          <a:prstGeom prst="rect">
            <a:avLst/>
          </a:prstGeom>
          <a:noFill/>
          <a:ln>
            <a:noFill/>
          </a:ln>
        </p:spPr>
        <p:txBody>
          <a:bodyPr/>
          <a:lstStyle/>
          <a:p>
            <a:endParaRPr lang="en-US"/>
          </a:p>
        </p:txBody>
      </p:sp>
      <p:sp>
        <p:nvSpPr>
          <p:cNvPr id="54" name="Google Shape;54;p8"/>
          <p:cNvSpPr>
            <a:spLocks noGrp="1"/>
          </p:cNvSpPr>
          <p:nvPr>
            <p:ph type="pic" idx="4"/>
          </p:nvPr>
        </p:nvSpPr>
        <p:spPr>
          <a:xfrm>
            <a:off x="877887" y="3596647"/>
            <a:ext cx="3137521" cy="2468339"/>
          </a:xfrm>
          <a:prstGeom prst="rect">
            <a:avLst/>
          </a:prstGeom>
          <a:noFill/>
          <a:ln>
            <a:noFill/>
          </a:ln>
        </p:spPr>
        <p:txBody>
          <a:bodyPr/>
          <a:lstStyle/>
          <a:p>
            <a:endParaRPr lang="en-US"/>
          </a:p>
        </p:txBody>
      </p:sp>
      <p:sp>
        <p:nvSpPr>
          <p:cNvPr id="55" name="Google Shape;55;p8"/>
          <p:cNvSpPr>
            <a:spLocks noGrp="1"/>
          </p:cNvSpPr>
          <p:nvPr>
            <p:ph type="pic" idx="5"/>
          </p:nvPr>
        </p:nvSpPr>
        <p:spPr>
          <a:xfrm>
            <a:off x="5204723" y="3616525"/>
            <a:ext cx="3137521" cy="2468339"/>
          </a:xfrm>
          <a:prstGeom prst="rect">
            <a:avLst/>
          </a:prstGeom>
          <a:noFill/>
          <a:ln>
            <a:noFill/>
          </a:ln>
        </p:spPr>
        <p:txBody>
          <a:bodyPr/>
          <a:lstStyle/>
          <a:p>
            <a:endParaRPr lang="en-US"/>
          </a:p>
        </p:txBody>
      </p:sp>
      <p:sp>
        <p:nvSpPr>
          <p:cNvPr id="56" name="Google Shape;56;p8"/>
          <p:cNvSpPr txBox="1">
            <a:spLocks noGrp="1"/>
          </p:cNvSpPr>
          <p:nvPr>
            <p:ph type="body" idx="1"/>
          </p:nvPr>
        </p:nvSpPr>
        <p:spPr>
          <a:xfrm>
            <a:off x="877819" y="213987"/>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7" name="Google Shape;57;p8"/>
          <p:cNvSpPr txBox="1">
            <a:spLocks noGrp="1"/>
          </p:cNvSpPr>
          <p:nvPr>
            <p:ph type="body" idx="6"/>
          </p:nvPr>
        </p:nvSpPr>
        <p:spPr>
          <a:xfrm>
            <a:off x="5205344" y="213987"/>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8" name="Google Shape;58;p8"/>
          <p:cNvSpPr txBox="1">
            <a:spLocks noGrp="1"/>
          </p:cNvSpPr>
          <p:nvPr>
            <p:ph type="body" idx="7"/>
          </p:nvPr>
        </p:nvSpPr>
        <p:spPr>
          <a:xfrm>
            <a:off x="877819" y="6093410"/>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59" name="Google Shape;59;p8"/>
          <p:cNvSpPr txBox="1">
            <a:spLocks noGrp="1"/>
          </p:cNvSpPr>
          <p:nvPr>
            <p:ph type="body" idx="8"/>
          </p:nvPr>
        </p:nvSpPr>
        <p:spPr>
          <a:xfrm>
            <a:off x="5205344" y="6093410"/>
            <a:ext cx="3136900" cy="550603"/>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1000"/>
              </a:spcBef>
              <a:spcAft>
                <a:spcPts val="0"/>
              </a:spcAft>
              <a:buSzPts val="3200"/>
              <a:buNone/>
              <a:defRPr sz="3200"/>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60" name="Google Shape;60;p8"/>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type="picTx">
  <p:cSld name="PICTURE_WITH_CAPTION_TEXT">
    <p:spTree>
      <p:nvGrpSpPr>
        <p:cNvPr id="1" name="Shape 61"/>
        <p:cNvGrpSpPr/>
        <p:nvPr/>
      </p:nvGrpSpPr>
      <p:grpSpPr>
        <a:xfrm>
          <a:off x="0" y="0"/>
          <a:ext cx="0" cy="0"/>
          <a:chOff x="0" y="0"/>
          <a:chExt cx="0" cy="0"/>
        </a:xfrm>
      </p:grpSpPr>
      <p:sp>
        <p:nvSpPr>
          <p:cNvPr id="62" name="Google Shape;62;p9"/>
          <p:cNvSpPr txBox="1">
            <a:spLocks noGrp="1"/>
          </p:cNvSpPr>
          <p:nvPr>
            <p:ph type="title"/>
          </p:nvPr>
        </p:nvSpPr>
        <p:spPr>
          <a:xfrm>
            <a:off x="1792288" y="4800600"/>
            <a:ext cx="5486400" cy="566738"/>
          </a:xfrm>
          <a:prstGeom prst="rect">
            <a:avLst/>
          </a:prstGeom>
          <a:solidFill>
            <a:srgbClr val="FFFFFF"/>
          </a:solidFill>
          <a:ln w="31750" cap="sq" cmpd="sng">
            <a:solidFill>
              <a:srgbClr val="404040"/>
            </a:solidFill>
            <a:prstDash val="solid"/>
            <a:miter lim="8000"/>
            <a:headEnd type="none" w="sm" len="sm"/>
            <a:tailEnd type="none" w="sm" len="sm"/>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000"/>
              <a:buFont typeface="Calibri"/>
              <a:buNone/>
              <a:defRPr sz="2000" b="1">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9"/>
          <p:cNvSpPr>
            <a:spLocks noGrp="1"/>
          </p:cNvSpPr>
          <p:nvPr>
            <p:ph type="pic" idx="2"/>
          </p:nvPr>
        </p:nvSpPr>
        <p:spPr>
          <a:xfrm>
            <a:off x="1792288" y="612775"/>
            <a:ext cx="5486400" cy="4114800"/>
          </a:xfrm>
          <a:prstGeom prst="rect">
            <a:avLst/>
          </a:prstGeom>
          <a:noFill/>
          <a:ln>
            <a:noFill/>
          </a:ln>
        </p:spPr>
        <p:txBody>
          <a:bodyPr/>
          <a:lstStyle/>
          <a:p>
            <a:endParaRPr lang="en-US"/>
          </a:p>
        </p:txBody>
      </p:sp>
      <p:sp>
        <p:nvSpPr>
          <p:cNvPr id="64" name="Google Shape;64;p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400"/>
              <a:buNone/>
              <a:defRPr sz="1400"/>
            </a:lvl1pPr>
            <a:lvl2pPr marL="914400" lvl="1" indent="-228600" algn="l">
              <a:lnSpc>
                <a:spcPct val="100000"/>
              </a:lnSpc>
              <a:spcBef>
                <a:spcPts val="1000"/>
              </a:spcBef>
              <a:spcAft>
                <a:spcPts val="0"/>
              </a:spcAft>
              <a:buSzPts val="1200"/>
              <a:buNone/>
              <a:defRPr sz="1200"/>
            </a:lvl2pPr>
            <a:lvl3pPr marL="1371600" lvl="2" indent="-228600" algn="l">
              <a:lnSpc>
                <a:spcPct val="100000"/>
              </a:lnSpc>
              <a:spcBef>
                <a:spcPts val="1000"/>
              </a:spcBef>
              <a:spcAft>
                <a:spcPts val="0"/>
              </a:spcAft>
              <a:buSzPts val="1000"/>
              <a:buNone/>
              <a:defRPr sz="1000"/>
            </a:lvl3pPr>
            <a:lvl4pPr marL="1828800" lvl="3" indent="-228600" algn="l">
              <a:lnSpc>
                <a:spcPct val="100000"/>
              </a:lnSpc>
              <a:spcBef>
                <a:spcPts val="1000"/>
              </a:spcBef>
              <a:spcAft>
                <a:spcPts val="0"/>
              </a:spcAft>
              <a:buSzPts val="900"/>
              <a:buNone/>
              <a:defRPr sz="900"/>
            </a:lvl4pPr>
            <a:lvl5pPr marL="2286000" lvl="4" indent="-228600" algn="l">
              <a:lnSpc>
                <a:spcPct val="100000"/>
              </a:lnSpc>
              <a:spcBef>
                <a:spcPts val="1000"/>
              </a:spcBef>
              <a:spcAft>
                <a:spcPts val="0"/>
              </a:spcAft>
              <a:buSzPts val="900"/>
              <a:buNone/>
              <a:defRPr sz="900"/>
            </a:lvl5pPr>
            <a:lvl6pPr marL="2743200" lvl="5" indent="-228600" algn="l">
              <a:lnSpc>
                <a:spcPct val="100000"/>
              </a:lnSpc>
              <a:spcBef>
                <a:spcPts val="1000"/>
              </a:spcBef>
              <a:spcAft>
                <a:spcPts val="0"/>
              </a:spcAft>
              <a:buSzPts val="900"/>
              <a:buNone/>
              <a:defRPr sz="900"/>
            </a:lvl6pPr>
            <a:lvl7pPr marL="3200400" lvl="6" indent="-228600" algn="l">
              <a:lnSpc>
                <a:spcPct val="100000"/>
              </a:lnSpc>
              <a:spcBef>
                <a:spcPts val="1000"/>
              </a:spcBef>
              <a:spcAft>
                <a:spcPts val="0"/>
              </a:spcAft>
              <a:buSzPts val="900"/>
              <a:buNone/>
              <a:defRPr sz="900"/>
            </a:lvl7pPr>
            <a:lvl8pPr marL="3657600" lvl="7" indent="-228600" algn="l">
              <a:lnSpc>
                <a:spcPct val="100000"/>
              </a:lnSpc>
              <a:spcBef>
                <a:spcPts val="1000"/>
              </a:spcBef>
              <a:spcAft>
                <a:spcPts val="0"/>
              </a:spcAft>
              <a:buSzPts val="900"/>
              <a:buNone/>
              <a:defRPr sz="900"/>
            </a:lvl8pPr>
            <a:lvl9pPr marL="4114800" lvl="8" indent="-228600" algn="l">
              <a:lnSpc>
                <a:spcPct val="100000"/>
              </a:lnSpc>
              <a:spcBef>
                <a:spcPts val="1000"/>
              </a:spcBef>
              <a:spcAft>
                <a:spcPts val="0"/>
              </a:spcAft>
              <a:buSzPts val="900"/>
              <a:buNone/>
              <a:defRPr sz="900"/>
            </a:lvl9pPr>
          </a:lstStyle>
          <a:p>
            <a:endParaRPr/>
          </a:p>
        </p:txBody>
      </p:sp>
      <p:cxnSp>
        <p:nvCxnSpPr>
          <p:cNvPr id="65" name="Google Shape;65;p9"/>
          <p:cNvCxnSpPr/>
          <p:nvPr/>
        </p:nvCxnSpPr>
        <p:spPr>
          <a:xfrm>
            <a:off x="-37071" y="0"/>
            <a:ext cx="9259587" cy="0"/>
          </a:xfrm>
          <a:prstGeom prst="straightConnector1">
            <a:avLst/>
          </a:prstGeom>
          <a:noFill/>
          <a:ln w="76200" cap="flat" cmpd="sng">
            <a:solidFill>
              <a:schemeClr val="accent1"/>
            </a:solidFill>
            <a:prstDash val="solid"/>
            <a:miter lim="8000"/>
            <a:headEnd type="none" w="med" len="med"/>
            <a:tailEnd type="none" w="med" len="med"/>
          </a:ln>
        </p:spPr>
      </p:cxnSp>
      <p:cxnSp>
        <p:nvCxnSpPr>
          <p:cNvPr id="66" name="Google Shape;66;p9"/>
          <p:cNvCxnSpPr/>
          <p:nvPr/>
        </p:nvCxnSpPr>
        <p:spPr>
          <a:xfrm>
            <a:off x="-57794" y="6858000"/>
            <a:ext cx="9259587" cy="0"/>
          </a:xfrm>
          <a:prstGeom prst="straightConnector1">
            <a:avLst/>
          </a:prstGeom>
          <a:noFill/>
          <a:ln w="76200" cap="flat" cmpd="sng">
            <a:solidFill>
              <a:schemeClr val="accent1"/>
            </a:solidFill>
            <a:prstDash val="solid"/>
            <a:miter lim="8000"/>
            <a:headEnd type="none" w="med" len="med"/>
            <a:tailEnd type="none" w="med" len="med"/>
          </a:ln>
        </p:spPr>
      </p:cxnSp>
      <p:sp>
        <p:nvSpPr>
          <p:cNvPr id="67" name="Google Shape;67;p9"/>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ributions">
  <p:cSld name="Contributions">
    <p:spTree>
      <p:nvGrpSpPr>
        <p:cNvPr id="1" name="Shape 68"/>
        <p:cNvGrpSpPr/>
        <p:nvPr/>
      </p:nvGrpSpPr>
      <p:grpSpPr>
        <a:xfrm>
          <a:off x="0" y="0"/>
          <a:ext cx="0" cy="0"/>
          <a:chOff x="0" y="0"/>
          <a:chExt cx="0" cy="0"/>
        </a:xfrm>
      </p:grpSpPr>
      <p:sp>
        <p:nvSpPr>
          <p:cNvPr id="69" name="Google Shape;69;p10"/>
          <p:cNvSpPr txBox="1">
            <a:spLocks noGrp="1"/>
          </p:cNvSpPr>
          <p:nvPr>
            <p:ph type="body" idx="1"/>
          </p:nvPr>
        </p:nvSpPr>
        <p:spPr>
          <a:xfrm>
            <a:off x="595200" y="1060230"/>
            <a:ext cx="6064017" cy="1838037"/>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520"/>
              </a:spcBef>
              <a:spcAft>
                <a:spcPts val="0"/>
              </a:spcAft>
              <a:buClr>
                <a:srgbClr val="000000"/>
              </a:buClr>
              <a:buSzPts val="3120"/>
              <a:buFont typeface="Calibri"/>
              <a:buNone/>
              <a:defRPr sz="2600" b="0" u="sng"/>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cxnSp>
        <p:nvCxnSpPr>
          <p:cNvPr id="70" name="Google Shape;70;p10"/>
          <p:cNvCxnSpPr/>
          <p:nvPr/>
        </p:nvCxnSpPr>
        <p:spPr>
          <a:xfrm>
            <a:off x="277148" y="756603"/>
            <a:ext cx="8577217" cy="0"/>
          </a:xfrm>
          <a:prstGeom prst="straightConnector1">
            <a:avLst/>
          </a:prstGeom>
          <a:noFill/>
          <a:ln w="38100" cap="flat" cmpd="sng">
            <a:solidFill>
              <a:schemeClr val="accent1"/>
            </a:solidFill>
            <a:prstDash val="solid"/>
            <a:miter lim="8000"/>
            <a:headEnd type="none" w="med" len="med"/>
            <a:tailEnd type="none" w="med" len="med"/>
          </a:ln>
        </p:spPr>
      </p:cxnSp>
      <p:sp>
        <p:nvSpPr>
          <p:cNvPr id="71" name="Google Shape;71;p10"/>
          <p:cNvSpPr>
            <a:spLocks noGrp="1"/>
          </p:cNvSpPr>
          <p:nvPr>
            <p:ph type="pic" idx="2"/>
          </p:nvPr>
        </p:nvSpPr>
        <p:spPr>
          <a:xfrm>
            <a:off x="1761066" y="1749288"/>
            <a:ext cx="1456267" cy="914400"/>
          </a:xfrm>
          <a:prstGeom prst="rect">
            <a:avLst/>
          </a:prstGeom>
          <a:noFill/>
          <a:ln>
            <a:noFill/>
          </a:ln>
        </p:spPr>
        <p:txBody>
          <a:bodyPr/>
          <a:lstStyle/>
          <a:p>
            <a:endParaRPr lang="en-US"/>
          </a:p>
        </p:txBody>
      </p:sp>
      <p:sp>
        <p:nvSpPr>
          <p:cNvPr id="72" name="Google Shape;72;p10"/>
          <p:cNvSpPr>
            <a:spLocks noGrp="1"/>
          </p:cNvSpPr>
          <p:nvPr>
            <p:ph type="pic" idx="3"/>
          </p:nvPr>
        </p:nvSpPr>
        <p:spPr>
          <a:xfrm>
            <a:off x="3843866" y="1749288"/>
            <a:ext cx="1456267" cy="914400"/>
          </a:xfrm>
          <a:prstGeom prst="rect">
            <a:avLst/>
          </a:prstGeom>
          <a:noFill/>
          <a:ln>
            <a:noFill/>
          </a:ln>
        </p:spPr>
        <p:txBody>
          <a:bodyPr/>
          <a:lstStyle/>
          <a:p>
            <a:endParaRPr lang="en-US"/>
          </a:p>
        </p:txBody>
      </p:sp>
      <p:sp>
        <p:nvSpPr>
          <p:cNvPr id="73" name="Google Shape;73;p10"/>
          <p:cNvSpPr txBox="1">
            <a:spLocks noGrp="1"/>
          </p:cNvSpPr>
          <p:nvPr>
            <p:ph type="body" idx="4"/>
          </p:nvPr>
        </p:nvSpPr>
        <p:spPr>
          <a:xfrm>
            <a:off x="595200" y="3129880"/>
            <a:ext cx="6064017" cy="1838037"/>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520"/>
              </a:spcBef>
              <a:spcAft>
                <a:spcPts val="0"/>
              </a:spcAft>
              <a:buClr>
                <a:srgbClr val="000000"/>
              </a:buClr>
              <a:buSzPts val="3120"/>
              <a:buFont typeface="Calibri"/>
              <a:buNone/>
              <a:defRPr sz="2600" b="0" u="sng"/>
            </a:lvl1pPr>
            <a:lvl2pPr marL="914400" lvl="1" indent="-342900" algn="l">
              <a:lnSpc>
                <a:spcPct val="100000"/>
              </a:lnSpc>
              <a:spcBef>
                <a:spcPts val="1000"/>
              </a:spcBef>
              <a:spcAft>
                <a:spcPts val="0"/>
              </a:spcAft>
              <a:buSzPts val="1800"/>
              <a:buChar char="•"/>
              <a:defRPr/>
            </a:lvl2pPr>
            <a:lvl3pPr marL="1371600" lvl="2" indent="-342900" algn="l">
              <a:lnSpc>
                <a:spcPct val="100000"/>
              </a:lnSpc>
              <a:spcBef>
                <a:spcPts val="1000"/>
              </a:spcBef>
              <a:spcAft>
                <a:spcPts val="0"/>
              </a:spcAft>
              <a:buSzPts val="1800"/>
              <a:buChar char="•"/>
              <a:defRPr/>
            </a:lvl3pPr>
            <a:lvl4pPr marL="1828800" lvl="3" indent="-342900" algn="l">
              <a:lnSpc>
                <a:spcPct val="100000"/>
              </a:lnSpc>
              <a:spcBef>
                <a:spcPts val="1000"/>
              </a:spcBef>
              <a:spcAft>
                <a:spcPts val="0"/>
              </a:spcAft>
              <a:buSzPts val="1800"/>
              <a:buChar char="•"/>
              <a:defRPr/>
            </a:lvl4pPr>
            <a:lvl5pPr marL="2286000" lvl="4" indent="-342900" algn="l">
              <a:lnSpc>
                <a:spcPct val="100000"/>
              </a:lnSpc>
              <a:spcBef>
                <a:spcPts val="1000"/>
              </a:spcBef>
              <a:spcAft>
                <a:spcPts val="0"/>
              </a:spcAft>
              <a:buSzPts val="1800"/>
              <a:buChar char="•"/>
              <a:defRPr/>
            </a:lvl5pPr>
            <a:lvl6pPr marL="2743200" lvl="5" indent="-342900" algn="l">
              <a:lnSpc>
                <a:spcPct val="100000"/>
              </a:lnSpc>
              <a:spcBef>
                <a:spcPts val="1000"/>
              </a:spcBef>
              <a:spcAft>
                <a:spcPts val="0"/>
              </a:spcAft>
              <a:buSzPts val="1800"/>
              <a:buChar char="•"/>
              <a:defRPr/>
            </a:lvl6pPr>
            <a:lvl7pPr marL="3200400" lvl="6" indent="-342900" algn="l">
              <a:lnSpc>
                <a:spcPct val="100000"/>
              </a:lnSpc>
              <a:spcBef>
                <a:spcPts val="1000"/>
              </a:spcBef>
              <a:spcAft>
                <a:spcPts val="0"/>
              </a:spcAft>
              <a:buSzPts val="1800"/>
              <a:buChar char="•"/>
              <a:defRPr/>
            </a:lvl7pPr>
            <a:lvl8pPr marL="3657600" lvl="7" indent="-342900" algn="l">
              <a:lnSpc>
                <a:spcPct val="100000"/>
              </a:lnSpc>
              <a:spcBef>
                <a:spcPts val="1000"/>
              </a:spcBef>
              <a:spcAft>
                <a:spcPts val="0"/>
              </a:spcAft>
              <a:buSzPts val="1800"/>
              <a:buChar char="•"/>
              <a:defRPr/>
            </a:lvl8pPr>
            <a:lvl9pPr marL="4114800" lvl="8" indent="-342900" algn="l">
              <a:lnSpc>
                <a:spcPct val="100000"/>
              </a:lnSpc>
              <a:spcBef>
                <a:spcPts val="1000"/>
              </a:spcBef>
              <a:spcAft>
                <a:spcPts val="0"/>
              </a:spcAft>
              <a:buSzPts val="1800"/>
              <a:buChar char="•"/>
              <a:defRPr/>
            </a:lvl9pPr>
          </a:lstStyle>
          <a:p>
            <a:endParaRPr/>
          </a:p>
        </p:txBody>
      </p:sp>
      <p:sp>
        <p:nvSpPr>
          <p:cNvPr id="74" name="Google Shape;74;p10"/>
          <p:cNvSpPr>
            <a:spLocks noGrp="1"/>
          </p:cNvSpPr>
          <p:nvPr>
            <p:ph type="pic" idx="5"/>
          </p:nvPr>
        </p:nvSpPr>
        <p:spPr>
          <a:xfrm>
            <a:off x="1761066" y="3818938"/>
            <a:ext cx="1456267" cy="914400"/>
          </a:xfrm>
          <a:prstGeom prst="rect">
            <a:avLst/>
          </a:prstGeom>
          <a:noFill/>
          <a:ln>
            <a:noFill/>
          </a:ln>
        </p:spPr>
        <p:txBody>
          <a:bodyPr/>
          <a:lstStyle/>
          <a:p>
            <a:endParaRPr lang="en-US"/>
          </a:p>
        </p:txBody>
      </p:sp>
      <p:sp>
        <p:nvSpPr>
          <p:cNvPr id="75" name="Google Shape;75;p10"/>
          <p:cNvSpPr>
            <a:spLocks noGrp="1"/>
          </p:cNvSpPr>
          <p:nvPr>
            <p:ph type="pic" idx="6"/>
          </p:nvPr>
        </p:nvSpPr>
        <p:spPr>
          <a:xfrm>
            <a:off x="3843866" y="3818938"/>
            <a:ext cx="1456267" cy="914400"/>
          </a:xfrm>
          <a:prstGeom prst="rect">
            <a:avLst/>
          </a:prstGeom>
          <a:noFill/>
          <a:ln>
            <a:noFill/>
          </a:ln>
        </p:spPr>
        <p:txBody>
          <a:bodyPr/>
          <a:lstStyle/>
          <a:p>
            <a:endParaRPr lang="en-US"/>
          </a:p>
        </p:txBody>
      </p:sp>
      <p:sp>
        <p:nvSpPr>
          <p:cNvPr id="76" name="Google Shape;76;p10"/>
          <p:cNvSpPr txBox="1">
            <a:spLocks noGrp="1"/>
          </p:cNvSpPr>
          <p:nvPr>
            <p:ph type="title"/>
          </p:nvPr>
        </p:nvSpPr>
        <p:spPr>
          <a:xfrm>
            <a:off x="277148" y="118428"/>
            <a:ext cx="8043862" cy="638175"/>
          </a:xfrm>
          <a:prstGeom prst="rect">
            <a:avLst/>
          </a:prstGeom>
          <a:noFill/>
          <a:ln>
            <a:noFill/>
          </a:ln>
        </p:spPr>
        <p:txBody>
          <a:bodyPr spcFirstLastPara="1" wrap="square" lIns="182875" tIns="182875" rIns="182875" bIns="182875" anchor="ctr" anchorCtr="0">
            <a:normAutofit/>
          </a:bodyPr>
          <a:lstStyle>
            <a:lvl1pPr lvl="0" algn="l">
              <a:lnSpc>
                <a:spcPct val="90000"/>
              </a:lnSpc>
              <a:spcBef>
                <a:spcPts val="0"/>
              </a:spcBef>
              <a:spcAft>
                <a:spcPts val="0"/>
              </a:spcAft>
              <a:buClr>
                <a:srgbClr val="262626"/>
              </a:buClr>
              <a:buSzPts val="2600"/>
              <a:buFont typeface="Calibri"/>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10"/>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defRPr>
            </a:lvl1pPr>
            <a:lvl2pPr marL="0" lvl="1" indent="0" algn="r">
              <a:spcBef>
                <a:spcPts val="0"/>
              </a:spcBef>
              <a:buNone/>
              <a:defRPr sz="1200">
                <a:solidFill>
                  <a:srgbClr val="888888"/>
                </a:solidFill>
              </a:defRPr>
            </a:lvl2pPr>
            <a:lvl3pPr marL="0" lvl="2" indent="0" algn="r">
              <a:spcBef>
                <a:spcPts val="0"/>
              </a:spcBef>
              <a:buNone/>
              <a:defRPr sz="1200">
                <a:solidFill>
                  <a:srgbClr val="888888"/>
                </a:solidFill>
              </a:defRPr>
            </a:lvl3pPr>
            <a:lvl4pPr marL="0" lvl="3" indent="0" algn="r">
              <a:spcBef>
                <a:spcPts val="0"/>
              </a:spcBef>
              <a:buNone/>
              <a:defRPr sz="1200">
                <a:solidFill>
                  <a:srgbClr val="888888"/>
                </a:solidFill>
              </a:defRPr>
            </a:lvl4pPr>
            <a:lvl5pPr marL="0" lvl="4" indent="0" algn="r">
              <a:spcBef>
                <a:spcPts val="0"/>
              </a:spcBef>
              <a:buNone/>
              <a:defRPr sz="1200">
                <a:solidFill>
                  <a:srgbClr val="888888"/>
                </a:solidFill>
              </a:defRPr>
            </a:lvl5pPr>
            <a:lvl6pPr marL="0" lvl="5" indent="0" algn="r">
              <a:spcBef>
                <a:spcPts val="0"/>
              </a:spcBef>
              <a:buNone/>
              <a:defRPr sz="1200">
                <a:solidFill>
                  <a:srgbClr val="888888"/>
                </a:solidFill>
              </a:defRPr>
            </a:lvl6pPr>
            <a:lvl7pPr marL="0" lvl="6" indent="0" algn="r">
              <a:spcBef>
                <a:spcPts val="0"/>
              </a:spcBef>
              <a:buNone/>
              <a:defRPr sz="1200">
                <a:solidFill>
                  <a:srgbClr val="888888"/>
                </a:solidFill>
              </a:defRPr>
            </a:lvl7pPr>
            <a:lvl8pPr marL="0" lvl="7" indent="0" algn="r">
              <a:spcBef>
                <a:spcPts val="0"/>
              </a:spcBef>
              <a:buNone/>
              <a:defRPr sz="1200">
                <a:solidFill>
                  <a:srgbClr val="888888"/>
                </a:solidFill>
              </a:defRPr>
            </a:lvl8pPr>
            <a:lvl9pPr marL="0" lvl="8" indent="0" algn="r">
              <a:spcBef>
                <a:spcPts val="0"/>
              </a:spcBef>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b="0" i="0" u="none" strike="noStrike" cap="none">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606045" y="964692"/>
            <a:ext cx="5937755" cy="1188720"/>
          </a:xfrm>
          <a:prstGeom prst="rect">
            <a:avLst/>
          </a:prstGeom>
          <a:solidFill>
            <a:srgbClr val="FFFFFF"/>
          </a:solidFill>
          <a:ln w="31750" cap="sq" cmpd="sng">
            <a:solidFill>
              <a:srgbClr val="404040"/>
            </a:solidFill>
            <a:prstDash val="solid"/>
            <a:miter lim="8000"/>
            <a:headEnd type="none" w="sm" len="sm"/>
            <a:tailEnd type="none" w="sm" len="sm"/>
          </a:ln>
        </p:spPr>
        <p:txBody>
          <a:bodyPr spcFirstLastPara="1" wrap="square" lIns="182875" tIns="182875" rIns="182875" bIns="182875" anchor="ctr" anchorCtr="0">
            <a:normAutofit/>
          </a:bodyPr>
          <a:lstStyle>
            <a:lvl1pPr marR="0" lvl="0" algn="ctr" rtl="0">
              <a:lnSpc>
                <a:spcPct val="90000"/>
              </a:lnSpc>
              <a:spcBef>
                <a:spcPts val="0"/>
              </a:spcBef>
              <a:spcAft>
                <a:spcPts val="0"/>
              </a:spcAft>
              <a:buClr>
                <a:srgbClr val="262626"/>
              </a:buClr>
              <a:buSzPts val="2600"/>
              <a:buFont typeface="Calibri"/>
              <a:buNone/>
              <a:defRPr sz="2600" b="0" i="0" u="none" strike="noStrike" cap="none">
                <a:solidFill>
                  <a:srgbClr val="262626"/>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606045" y="2638045"/>
            <a:ext cx="5937755" cy="3101983"/>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100000"/>
              </a:lnSpc>
              <a:spcBef>
                <a:spcPts val="1000"/>
              </a:spcBef>
              <a:spcAft>
                <a:spcPts val="0"/>
              </a:spcAft>
              <a:buClr>
                <a:schemeClr val="accent2"/>
              </a:buClr>
              <a:buSzPts val="1800"/>
              <a:buFont typeface="Arial"/>
              <a:buChar char="•"/>
              <a:defRPr sz="1800" b="0" i="0" u="none" strike="noStrike" cap="none">
                <a:solidFill>
                  <a:srgbClr val="262626"/>
                </a:solidFill>
                <a:latin typeface="Calibri"/>
                <a:ea typeface="Calibri"/>
                <a:cs typeface="Calibri"/>
                <a:sym typeface="Calibri"/>
              </a:defRPr>
            </a:lvl1pPr>
            <a:lvl2pPr marL="914400" marR="0" lvl="1"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2pPr>
            <a:lvl3pPr marL="1371600" marR="0" lvl="2"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3pPr>
            <a:lvl4pPr marL="1828800" marR="0" lvl="3"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4pPr>
            <a:lvl5pPr marL="2286000" marR="0" lvl="4" indent="-330200" algn="l" rtl="0">
              <a:lnSpc>
                <a:spcPct val="100000"/>
              </a:lnSpc>
              <a:spcBef>
                <a:spcPts val="1000"/>
              </a:spcBef>
              <a:spcAft>
                <a:spcPts val="0"/>
              </a:spcAft>
              <a:buClr>
                <a:schemeClr val="accent2"/>
              </a:buClr>
              <a:buSzPts val="1600"/>
              <a:buFont typeface="Arial"/>
              <a:buChar char="•"/>
              <a:defRPr sz="1600" b="0" i="0" u="none" strike="noStrike" cap="none">
                <a:solidFill>
                  <a:srgbClr val="262626"/>
                </a:solidFill>
                <a:latin typeface="Calibri"/>
                <a:ea typeface="Calibri"/>
                <a:cs typeface="Calibri"/>
                <a:sym typeface="Calibri"/>
              </a:defRPr>
            </a:lvl5pPr>
            <a:lvl6pPr marL="2743200" marR="0" lvl="5"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1000"/>
              </a:spcBef>
              <a:spcAft>
                <a:spcPts val="0"/>
              </a:spcAft>
              <a:buClr>
                <a:schemeClr val="accent2"/>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pic>
        <p:nvPicPr>
          <p:cNvPr id="12" name="Google Shape;12;p1" descr="A close up of a sign&#10;&#10;Description automatically generated"/>
          <p:cNvPicPr preferRelativeResize="0"/>
          <p:nvPr/>
        </p:nvPicPr>
        <p:blipFill rotWithShape="1">
          <a:blip r:embed="rId11">
            <a:alphaModFix/>
          </a:blip>
          <a:srcRect/>
          <a:stretch/>
        </p:blipFill>
        <p:spPr>
          <a:xfrm>
            <a:off x="8746670" y="6562249"/>
            <a:ext cx="292555" cy="156273"/>
          </a:xfrm>
          <a:prstGeom prst="rect">
            <a:avLst/>
          </a:prstGeom>
          <a:noFill/>
          <a:ln>
            <a:noFill/>
          </a:ln>
        </p:spPr>
      </p:pic>
      <p:sp>
        <p:nvSpPr>
          <p:cNvPr id="13" name="Google Shape;13;p1"/>
          <p:cNvSpPr txBox="1">
            <a:spLocks noGrp="1"/>
          </p:cNvSpPr>
          <p:nvPr>
            <p:ph type="sldNum" idx="12"/>
          </p:nvPr>
        </p:nvSpPr>
        <p:spPr>
          <a:xfrm>
            <a:off x="6457950" y="6356350"/>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400" b="0" i="0" u="none" strike="noStrike" cap="none">
                <a:solidFill>
                  <a:srgbClr val="555960"/>
                </a:solidFill>
                <a:latin typeface="Calibri"/>
                <a:ea typeface="Calibri"/>
                <a:cs typeface="Calibri"/>
                <a:sym typeface="Calibri"/>
              </a:defRPr>
            </a:lvl1pPr>
            <a:lvl2pPr marL="0" marR="0" lvl="1" indent="0" algn="r" rtl="0">
              <a:spcBef>
                <a:spcPts val="0"/>
              </a:spcBef>
              <a:buNone/>
              <a:defRPr sz="1400" b="0" i="0" u="none" strike="noStrike" cap="none">
                <a:solidFill>
                  <a:srgbClr val="555960"/>
                </a:solidFill>
                <a:latin typeface="Calibri"/>
                <a:ea typeface="Calibri"/>
                <a:cs typeface="Calibri"/>
                <a:sym typeface="Calibri"/>
              </a:defRPr>
            </a:lvl2pPr>
            <a:lvl3pPr marL="0" marR="0" lvl="2" indent="0" algn="r" rtl="0">
              <a:spcBef>
                <a:spcPts val="0"/>
              </a:spcBef>
              <a:buNone/>
              <a:defRPr sz="1400" b="0" i="0" u="none" strike="noStrike" cap="none">
                <a:solidFill>
                  <a:srgbClr val="555960"/>
                </a:solidFill>
                <a:latin typeface="Calibri"/>
                <a:ea typeface="Calibri"/>
                <a:cs typeface="Calibri"/>
                <a:sym typeface="Calibri"/>
              </a:defRPr>
            </a:lvl3pPr>
            <a:lvl4pPr marL="0" marR="0" lvl="3" indent="0" algn="r" rtl="0">
              <a:spcBef>
                <a:spcPts val="0"/>
              </a:spcBef>
              <a:buNone/>
              <a:defRPr sz="1400" b="0" i="0" u="none" strike="noStrike" cap="none">
                <a:solidFill>
                  <a:srgbClr val="555960"/>
                </a:solidFill>
                <a:latin typeface="Calibri"/>
                <a:ea typeface="Calibri"/>
                <a:cs typeface="Calibri"/>
                <a:sym typeface="Calibri"/>
              </a:defRPr>
            </a:lvl4pPr>
            <a:lvl5pPr marL="0" marR="0" lvl="4" indent="0" algn="r" rtl="0">
              <a:spcBef>
                <a:spcPts val="0"/>
              </a:spcBef>
              <a:buNone/>
              <a:defRPr sz="1400" b="0" i="0" u="none" strike="noStrike" cap="none">
                <a:solidFill>
                  <a:srgbClr val="555960"/>
                </a:solidFill>
                <a:latin typeface="Calibri"/>
                <a:ea typeface="Calibri"/>
                <a:cs typeface="Calibri"/>
                <a:sym typeface="Calibri"/>
              </a:defRPr>
            </a:lvl5pPr>
            <a:lvl6pPr marL="0" marR="0" lvl="5" indent="0" algn="r" rtl="0">
              <a:spcBef>
                <a:spcPts val="0"/>
              </a:spcBef>
              <a:buNone/>
              <a:defRPr sz="1400" b="0" i="0" u="none" strike="noStrike" cap="none">
                <a:solidFill>
                  <a:srgbClr val="555960"/>
                </a:solidFill>
                <a:latin typeface="Calibri"/>
                <a:ea typeface="Calibri"/>
                <a:cs typeface="Calibri"/>
                <a:sym typeface="Calibri"/>
              </a:defRPr>
            </a:lvl6pPr>
            <a:lvl7pPr marL="0" marR="0" lvl="6" indent="0" algn="r" rtl="0">
              <a:spcBef>
                <a:spcPts val="0"/>
              </a:spcBef>
              <a:buNone/>
              <a:defRPr sz="1400" b="0" i="0" u="none" strike="noStrike" cap="none">
                <a:solidFill>
                  <a:srgbClr val="555960"/>
                </a:solidFill>
                <a:latin typeface="Calibri"/>
                <a:ea typeface="Calibri"/>
                <a:cs typeface="Calibri"/>
                <a:sym typeface="Calibri"/>
              </a:defRPr>
            </a:lvl7pPr>
            <a:lvl8pPr marL="0" marR="0" lvl="7" indent="0" algn="r" rtl="0">
              <a:spcBef>
                <a:spcPts val="0"/>
              </a:spcBef>
              <a:buNone/>
              <a:defRPr sz="1400" b="0" i="0" u="none" strike="noStrike" cap="none">
                <a:solidFill>
                  <a:srgbClr val="555960"/>
                </a:solidFill>
                <a:latin typeface="Calibri"/>
                <a:ea typeface="Calibri"/>
                <a:cs typeface="Calibri"/>
                <a:sym typeface="Calibri"/>
              </a:defRPr>
            </a:lvl8pPr>
            <a:lvl9pPr marL="0" marR="0" lvl="8" indent="0" algn="r" rtl="0">
              <a:spcBef>
                <a:spcPts val="0"/>
              </a:spcBef>
              <a:buNone/>
              <a:defRPr sz="1400" b="0" i="0" u="none" strike="noStrike" cap="none">
                <a:solidFill>
                  <a:srgbClr val="55596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CourseLine"/>
          <p:cNvSpPr/>
          <p:nvPr/>
        </p:nvSpPr>
        <p:spPr>
          <a:xfrm>
            <a:off x="658368" y="576072"/>
            <a:ext cx="7818120" cy="402336"/>
          </a:xfrm>
          <a:prstGeom prst="rect">
            <a:avLst/>
          </a:prstGeom>
          <a:noFill/>
          <a:ln>
            <a:noFill/>
          </a:ln>
          <a:effectLst/>
        </p:spPr>
        <p:txBody>
          <a:bodyPr rtlCol="0" anchor="t" wrap="square"/>
          <a:lstStyle/>
          <a:p>
            <a:pPr algn="ctr">
              <a:spcAft>
                <a:spcPts val="0"/>
              </a:spcAft>
            </a:pPr>
            <a:r>
              <a:rPr sz="2000" b="0">
                <a:solidFill>
                  <a:srgbClr val="5C4826"/>
                </a:solidFill>
                <a:latin typeface="Calibri"/>
              </a:rPr>
              <a:t>S o f t w a r e   E n g i n e e r i n g</a:t>
            </a:r>
          </a:p>
        </p:txBody>
      </p:sp>
      <p:sp>
        <p:nvSpPr>
          <p:cNvPr id="3" name="CourseNumber"/>
          <p:cNvSpPr/>
          <p:nvPr/>
        </p:nvSpPr>
        <p:spPr>
          <a:xfrm>
            <a:off x="658368" y="1014984"/>
            <a:ext cx="7818120" cy="384048"/>
          </a:xfrm>
          <a:prstGeom prst="rect">
            <a:avLst/>
          </a:prstGeom>
          <a:noFill/>
          <a:ln>
            <a:noFill/>
          </a:ln>
          <a:effectLst/>
        </p:spPr>
        <p:txBody>
          <a:bodyPr rtlCol="0" anchor="t" wrap="square"/>
          <a:lstStyle/>
          <a:p>
            <a:pPr algn="ctr">
              <a:spcAft>
                <a:spcPts val="0"/>
              </a:spcAft>
            </a:pPr>
            <a:r>
              <a:rPr sz="2000" b="0">
                <a:solidFill>
                  <a:srgbClr val="555960"/>
                </a:solidFill>
                <a:latin typeface="Calibri"/>
              </a:rPr>
              <a:t>ECE 30861 / CSCI 45000</a:t>
            </a:r>
          </a:p>
        </p:txBody>
      </p:sp>
      <p:sp>
        <p:nvSpPr>
          <p:cNvPr id="4" name="Title"/>
          <p:cNvSpPr>
            <a:spLocks noGrp="1"/>
          </p:cNvSpPr>
          <p:nvPr>
            <p:ph type="ctrTitle"/>
          </p:nvPr>
        </p:nvSpPr>
        <p:spPr>
          <a:xfrm>
            <a:off x="384048" y="1645920"/>
            <a:ext cx="8412480" cy="1417320"/>
          </a:xfrm>
          <a:prstGeom prst="rect">
            <a:avLst/>
          </a:prstGeom>
          <a:noFill/>
          <a:ln>
            <a:noFill/>
          </a:ln>
          <a:effectLst/>
        </p:spPr>
        <p:txBody>
          <a:bodyPr rtlCol="0" anchor="ctr" wrap="square"/>
          <a:lstStyle/>
          <a:p>
            <a:pPr algn="ctr">
              <a:spcAft>
                <a:spcPts val="0"/>
              </a:spcAft>
            </a:pPr>
            <a:r>
              <a:rPr sz="3600" b="1">
                <a:solidFill>
                  <a:srgbClr val="2D2D2D"/>
                </a:solidFill>
                <a:latin typeface="Calibri"/>
              </a:rPr>
              <a:t>Architecture, Technical Debt &amp;</a:t>
            </a:r>
          </a:p>
          <a:p>
            <a:pPr algn="ctr">
              <a:spcAft>
                <a:spcPts val="0"/>
              </a:spcAft>
            </a:pPr>
            <a:r>
              <a:rPr sz="3600" b="1">
                <a:solidFill>
                  <a:srgbClr val="2D2D2D"/>
                </a:solidFill>
                <a:latin typeface="Calibri"/>
              </a:rPr>
              <a:t>Software Supply Chains</a:t>
            </a:r>
          </a:p>
        </p:txBody>
      </p:sp>
      <p:sp>
        <p:nvSpPr>
          <p:cNvPr id="5" name="Subtitle"/>
          <p:cNvSpPr>
            <a:spLocks noGrp="1"/>
          </p:cNvSpPr>
          <p:nvPr>
            <p:ph type="subTitle" idx="1"/>
          </p:nvPr>
        </p:nvSpPr>
        <p:spPr>
          <a:xfrm>
            <a:off x="429768" y="3246120"/>
            <a:ext cx="8284464" cy="548640"/>
          </a:xfrm>
          <a:prstGeom prst="rect">
            <a:avLst/>
          </a:prstGeom>
          <a:noFill/>
          <a:ln>
            <a:noFill/>
          </a:ln>
          <a:effectLst/>
        </p:spPr>
        <p:txBody>
          <a:bodyPr rtlCol="0" anchor="ctr" wrap="square"/>
          <a:lstStyle/>
          <a:p>
            <a:pPr algn="ctr">
              <a:spcAft>
                <a:spcPts val="0"/>
              </a:spcAft>
            </a:pPr>
            <a:r>
              <a:rPr sz="2200" b="0">
                <a:solidFill>
                  <a:srgbClr val="8E6F3E"/>
                </a:solidFill>
                <a:latin typeface="Calibri"/>
              </a:rPr>
              <a:t>It works, but is it reliable?</a:t>
            </a:r>
          </a:p>
        </p:txBody>
      </p:sp>
      <p:sp>
        <p:nvSpPr>
          <p:cNvPr id="6" name="Instructors"/>
          <p:cNvSpPr/>
          <p:nvPr/>
        </p:nvSpPr>
        <p:spPr>
          <a:xfrm>
            <a:off x="740664" y="3794760"/>
            <a:ext cx="7680960" cy="868680"/>
          </a:xfrm>
          <a:prstGeom prst="rect">
            <a:avLst/>
          </a:prstGeom>
          <a:noFill/>
          <a:ln>
            <a:noFill/>
          </a:ln>
          <a:effectLst/>
        </p:spPr>
        <p:txBody>
          <a:bodyPr rtlCol="0" anchor="t" wrap="square"/>
          <a:lstStyle/>
          <a:p>
            <a:pPr algn="ctr">
              <a:spcAft>
                <a:spcPts val="0"/>
              </a:spcAft>
            </a:pPr>
            <a:r>
              <a:rPr sz="2000" b="0">
                <a:solidFill>
                  <a:srgbClr val="2D2D2D"/>
                </a:solidFill>
                <a:latin typeface="Calibri"/>
              </a:rPr>
              <a:t>Prof. James C. Davis</a:t>
            </a:r>
          </a:p>
          <a:p>
            <a:pPr algn="ctr">
              <a:spcAft>
                <a:spcPts val="0"/>
              </a:spcAft>
            </a:pPr>
            <a:r>
              <a:rPr sz="2000" b="0">
                <a:solidFill>
                  <a:srgbClr val="2D2D2D"/>
                </a:solidFill>
                <a:latin typeface="Calibri"/>
              </a:rPr>
              <a:t>Prof. Steve France</a:t>
            </a:r>
          </a:p>
        </p:txBody>
      </p:sp>
      <p:sp>
        <p:nvSpPr>
          <p:cNvPr id="7" name="ActLine"/>
          <p:cNvSpPr/>
          <p:nvPr/>
        </p:nvSpPr>
        <p:spPr>
          <a:xfrm>
            <a:off x="1143000" y="4663440"/>
            <a:ext cx="6858000" cy="384048"/>
          </a:xfrm>
          <a:prstGeom prst="rect">
            <a:avLst/>
          </a:prstGeom>
          <a:noFill/>
          <a:ln>
            <a:noFill/>
          </a:ln>
          <a:effectLst/>
        </p:spPr>
        <p:txBody>
          <a:bodyPr rtlCol="0" anchor="t" wrap="square"/>
          <a:lstStyle/>
          <a:p>
            <a:pPr algn="ctr">
              <a:spcAft>
                <a:spcPts val="0"/>
              </a:spcAft>
            </a:pPr>
            <a:r>
              <a:rPr sz="2000" b="0">
                <a:solidFill>
                  <a:srgbClr val="555960"/>
                </a:solidFill>
                <a:latin typeface="Calibri"/>
              </a:rPr>
              <a:t>Act III: Engineering Software Systems</a:t>
            </a:r>
          </a:p>
        </p:txBody>
      </p:sp>
      <p:sp>
        <p:nvSpPr>
          <p:cNvPr id="8" name="DateLine"/>
          <p:cNvSpPr/>
          <p:nvPr/>
        </p:nvSpPr>
        <p:spPr>
          <a:xfrm>
            <a:off x="1143000" y="5047488"/>
            <a:ext cx="6858000" cy="384048"/>
          </a:xfrm>
          <a:prstGeom prst="rect">
            <a:avLst/>
          </a:prstGeom>
          <a:noFill/>
          <a:ln>
            <a:noFill/>
          </a:ln>
          <a:effectLst/>
        </p:spPr>
        <p:txBody>
          <a:bodyPr rtlCol="0" anchor="t" wrap="square"/>
          <a:lstStyle/>
          <a:p>
            <a:pPr algn="ctr">
              <a:spcAft>
                <a:spcPts val="0"/>
              </a:spcAft>
            </a:pPr>
            <a:r>
              <a:rPr sz="2000" b="0">
                <a:solidFill>
                  <a:srgbClr val="555960"/>
                </a:solidFill>
                <a:latin typeface="Calibri"/>
              </a:rPr>
              <a:t>Tuesday, November 10,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Today: five engineering questions</a:t>
            </a:r>
          </a:p>
        </p:txBody>
      </p:sp>
      <p:sp>
        <p:nvSpPr>
          <p:cNvPr id="3" name="Card"/>
          <p:cNvSpPr/>
          <p:nvPr/>
        </p:nvSpPr>
        <p:spPr>
          <a:xfrm>
            <a:off x="411480" y="1051560"/>
            <a:ext cx="8321040" cy="841248"/>
          </a:xfrm>
          <a:prstGeom prst="rect">
            <a:avLst/>
          </a:prstGeom>
          <a:solidFill>
            <a:srgbClr val="F5F1E8"/>
          </a:solidFill>
          <a:ln>
            <a:noFill/>
          </a:ln>
          <a:effectLst/>
        </p:spPr>
        <p:txBody>
          <a:bodyPr rtlCol="0" anchor="ctr" wrap="square"/>
          <a:lstStyle/>
          <a:p/>
        </p:txBody>
      </p:sp>
      <p:sp>
        <p:nvSpPr>
          <p:cNvPr id="4" name="RowLabel"/>
          <p:cNvSpPr/>
          <p:nvPr/>
        </p:nvSpPr>
        <p:spPr>
          <a:xfrm>
            <a:off x="557784" y="1088136"/>
            <a:ext cx="2788920" cy="768096"/>
          </a:xfrm>
          <a:prstGeom prst="rect">
            <a:avLst/>
          </a:prstGeom>
          <a:noFill/>
          <a:ln>
            <a:noFill/>
          </a:ln>
          <a:effectLst/>
        </p:spPr>
        <p:txBody>
          <a:bodyPr rtlCol="0" anchor="ctr" wrap="square"/>
          <a:lstStyle/>
          <a:p>
            <a:pPr algn="l">
              <a:spcAft>
                <a:spcPts val="0"/>
              </a:spcAft>
            </a:pPr>
            <a:r>
              <a:rPr sz="2200" b="1">
                <a:solidFill>
                  <a:srgbClr val="8E6F3E"/>
                </a:solidFill>
                <a:latin typeface="Calibri"/>
              </a:rPr>
              <a:t>Mud, erosion and debt</a:t>
            </a:r>
          </a:p>
        </p:txBody>
      </p:sp>
      <p:sp>
        <p:nvSpPr>
          <p:cNvPr id="5" name="RowBody"/>
          <p:cNvSpPr/>
          <p:nvPr/>
        </p:nvSpPr>
        <p:spPr>
          <a:xfrm>
            <a:off x="3438144" y="1088136"/>
            <a:ext cx="5166360" cy="768096"/>
          </a:xfrm>
          <a:prstGeom prst="rect">
            <a:avLst/>
          </a:prstGeom>
          <a:noFill/>
          <a:ln>
            <a:noFill/>
          </a:ln>
          <a:effectLst/>
        </p:spPr>
        <p:txBody>
          <a:bodyPr rtlCol="0" anchor="ctr" wrap="square"/>
          <a:lstStyle/>
          <a:p>
            <a:pPr algn="l">
              <a:spcAft>
                <a:spcPts val="0"/>
              </a:spcAft>
            </a:pPr>
            <a:r>
              <a:rPr sz="2000" b="0">
                <a:solidFill>
                  <a:srgbClr val="555960"/>
                </a:solidFill>
                <a:latin typeface="Calibri"/>
              </a:rPr>
              <a:t>Why can a working system become difficult to change?</a:t>
            </a:r>
          </a:p>
        </p:txBody>
      </p:sp>
      <p:sp>
        <p:nvSpPr>
          <p:cNvPr id="6" name="Card"/>
          <p:cNvSpPr/>
          <p:nvPr/>
        </p:nvSpPr>
        <p:spPr>
          <a:xfrm>
            <a:off x="411480" y="2002536"/>
            <a:ext cx="8321040" cy="841248"/>
          </a:xfrm>
          <a:prstGeom prst="rect">
            <a:avLst/>
          </a:prstGeom>
          <a:solidFill>
            <a:srgbClr val="FCFAF6"/>
          </a:solidFill>
          <a:ln>
            <a:noFill/>
          </a:ln>
          <a:effectLst/>
        </p:spPr>
        <p:txBody>
          <a:bodyPr rtlCol="0" anchor="ctr" wrap="square"/>
          <a:lstStyle/>
          <a:p/>
        </p:txBody>
      </p:sp>
      <p:sp>
        <p:nvSpPr>
          <p:cNvPr id="7" name="RowLabel"/>
          <p:cNvSpPr/>
          <p:nvPr/>
        </p:nvSpPr>
        <p:spPr>
          <a:xfrm>
            <a:off x="557784" y="2039112"/>
            <a:ext cx="2788920" cy="768096"/>
          </a:xfrm>
          <a:prstGeom prst="rect">
            <a:avLst/>
          </a:prstGeom>
          <a:noFill/>
          <a:ln>
            <a:noFill/>
          </a:ln>
          <a:effectLst/>
        </p:spPr>
        <p:txBody>
          <a:bodyPr rtlCol="0" anchor="ctr" wrap="square"/>
          <a:lstStyle/>
          <a:p>
            <a:pPr algn="l">
              <a:spcAft>
                <a:spcPts val="0"/>
              </a:spcAft>
            </a:pPr>
            <a:r>
              <a:rPr sz="2200" b="1">
                <a:solidFill>
                  <a:srgbClr val="8E6F3E"/>
                </a:solidFill>
                <a:latin typeface="Calibri"/>
              </a:rPr>
              <a:t>The architecture we built</a:t>
            </a:r>
          </a:p>
        </p:txBody>
      </p:sp>
      <p:sp>
        <p:nvSpPr>
          <p:cNvPr id="8" name="RowBody"/>
          <p:cNvSpPr/>
          <p:nvPr/>
        </p:nvSpPr>
        <p:spPr>
          <a:xfrm>
            <a:off x="3438144" y="2039112"/>
            <a:ext cx="5166360" cy="768096"/>
          </a:xfrm>
          <a:prstGeom prst="rect">
            <a:avLst/>
          </a:prstGeom>
          <a:noFill/>
          <a:ln>
            <a:noFill/>
          </a:ln>
          <a:effectLst/>
        </p:spPr>
        <p:txBody>
          <a:bodyPr rtlCol="0" anchor="ctr" wrap="square"/>
          <a:lstStyle/>
          <a:p>
            <a:pPr algn="l">
              <a:spcAft>
                <a:spcPts val="0"/>
              </a:spcAft>
            </a:pPr>
            <a:r>
              <a:rPr sz="2000" b="0">
                <a:solidFill>
                  <a:srgbClr val="555960"/>
                </a:solidFill>
                <a:latin typeface="Calibri"/>
              </a:rPr>
              <a:t>What structure did the implementation actually take?</a:t>
            </a:r>
          </a:p>
        </p:txBody>
      </p:sp>
      <p:sp>
        <p:nvSpPr>
          <p:cNvPr id="9" name="Card"/>
          <p:cNvSpPr/>
          <p:nvPr/>
        </p:nvSpPr>
        <p:spPr>
          <a:xfrm>
            <a:off x="411480" y="2953512"/>
            <a:ext cx="8321040" cy="841248"/>
          </a:xfrm>
          <a:prstGeom prst="rect">
            <a:avLst/>
          </a:prstGeom>
          <a:solidFill>
            <a:srgbClr val="F5F1E8"/>
          </a:solidFill>
          <a:ln>
            <a:noFill/>
          </a:ln>
          <a:effectLst/>
        </p:spPr>
        <p:txBody>
          <a:bodyPr rtlCol="0" anchor="ctr" wrap="square"/>
          <a:lstStyle/>
          <a:p/>
        </p:txBody>
      </p:sp>
      <p:sp>
        <p:nvSpPr>
          <p:cNvPr id="10" name="RowLabel"/>
          <p:cNvSpPr/>
          <p:nvPr/>
        </p:nvSpPr>
        <p:spPr>
          <a:xfrm>
            <a:off x="557784" y="2990088"/>
            <a:ext cx="2788920" cy="768096"/>
          </a:xfrm>
          <a:prstGeom prst="rect">
            <a:avLst/>
          </a:prstGeom>
          <a:noFill/>
          <a:ln>
            <a:noFill/>
          </a:ln>
          <a:effectLst/>
        </p:spPr>
        <p:txBody>
          <a:bodyPr rtlCol="0" anchor="ctr" wrap="square"/>
          <a:lstStyle/>
          <a:p>
            <a:pPr algn="l">
              <a:spcAft>
                <a:spcPts val="0"/>
              </a:spcAft>
            </a:pPr>
            <a:r>
              <a:rPr sz="2200" b="1">
                <a:solidFill>
                  <a:srgbClr val="8E6F3E"/>
                </a:solidFill>
                <a:latin typeface="Calibri"/>
              </a:rPr>
              <a:t>Architectural alternatives</a:t>
            </a:r>
          </a:p>
        </p:txBody>
      </p:sp>
      <p:sp>
        <p:nvSpPr>
          <p:cNvPr id="11" name="RowBody"/>
          <p:cNvSpPr/>
          <p:nvPr/>
        </p:nvSpPr>
        <p:spPr>
          <a:xfrm>
            <a:off x="3438144" y="2990088"/>
            <a:ext cx="5166360" cy="768096"/>
          </a:xfrm>
          <a:prstGeom prst="rect">
            <a:avLst/>
          </a:prstGeom>
          <a:noFill/>
          <a:ln>
            <a:noFill/>
          </a:ln>
          <a:effectLst/>
        </p:spPr>
        <p:txBody>
          <a:bodyPr rtlCol="0" anchor="ctr" wrap="square"/>
          <a:lstStyle/>
          <a:p>
            <a:pPr algn="l">
              <a:spcAft>
                <a:spcPts val="0"/>
              </a:spcAft>
            </a:pPr>
            <a:r>
              <a:rPr sz="2000" b="0">
                <a:solidFill>
                  <a:srgbClr val="555960"/>
                </a:solidFill>
                <a:latin typeface="Calibri"/>
              </a:rPr>
              <a:t>Which patterns fit our needs, at what cost?</a:t>
            </a:r>
          </a:p>
        </p:txBody>
      </p:sp>
      <p:sp>
        <p:nvSpPr>
          <p:cNvPr id="12" name="Card"/>
          <p:cNvSpPr/>
          <p:nvPr/>
        </p:nvSpPr>
        <p:spPr>
          <a:xfrm>
            <a:off x="411480" y="3904488"/>
            <a:ext cx="8321040" cy="841248"/>
          </a:xfrm>
          <a:prstGeom prst="rect">
            <a:avLst/>
          </a:prstGeom>
          <a:solidFill>
            <a:srgbClr val="FCFAF6"/>
          </a:solidFill>
          <a:ln>
            <a:noFill/>
          </a:ln>
          <a:effectLst/>
        </p:spPr>
        <p:txBody>
          <a:bodyPr rtlCol="0" anchor="ctr" wrap="square"/>
          <a:lstStyle/>
          <a:p/>
        </p:txBody>
      </p:sp>
      <p:sp>
        <p:nvSpPr>
          <p:cNvPr id="13" name="RowLabel"/>
          <p:cNvSpPr/>
          <p:nvPr/>
        </p:nvSpPr>
        <p:spPr>
          <a:xfrm>
            <a:off x="557784" y="3941064"/>
            <a:ext cx="2788920" cy="768096"/>
          </a:xfrm>
          <a:prstGeom prst="rect">
            <a:avLst/>
          </a:prstGeom>
          <a:noFill/>
          <a:ln>
            <a:noFill/>
          </a:ln>
          <a:effectLst/>
        </p:spPr>
        <p:txBody>
          <a:bodyPr rtlCol="0" anchor="ctr" wrap="square"/>
          <a:lstStyle/>
          <a:p>
            <a:pPr algn="l">
              <a:spcAft>
                <a:spcPts val="0"/>
              </a:spcAft>
            </a:pPr>
            <a:r>
              <a:rPr sz="2200" b="1">
                <a:solidFill>
                  <a:srgbClr val="8E6F3E"/>
                </a:solidFill>
                <a:latin typeface="Calibri"/>
              </a:rPr>
              <a:t>Software supply chains</a:t>
            </a:r>
          </a:p>
        </p:txBody>
      </p:sp>
      <p:sp>
        <p:nvSpPr>
          <p:cNvPr id="14" name="RowBody"/>
          <p:cNvSpPr/>
          <p:nvPr/>
        </p:nvSpPr>
        <p:spPr>
          <a:xfrm>
            <a:off x="3438144" y="3941064"/>
            <a:ext cx="5166360" cy="768096"/>
          </a:xfrm>
          <a:prstGeom prst="rect">
            <a:avLst/>
          </a:prstGeom>
          <a:noFill/>
          <a:ln>
            <a:noFill/>
          </a:ln>
          <a:effectLst/>
        </p:spPr>
        <p:txBody>
          <a:bodyPr rtlCol="0" anchor="ctr" wrap="square"/>
          <a:lstStyle/>
          <a:p>
            <a:pPr algn="l">
              <a:spcAft>
                <a:spcPts val="0"/>
              </a:spcAft>
            </a:pPr>
            <a:r>
              <a:rPr sz="2000" b="0">
                <a:solidFill>
                  <a:srgbClr val="555960"/>
                </a:solidFill>
                <a:latin typeface="Calibri"/>
              </a:rPr>
              <a:t>What code and obligations did we inherit?</a:t>
            </a:r>
          </a:p>
        </p:txBody>
      </p:sp>
      <p:sp>
        <p:nvSpPr>
          <p:cNvPr id="15" name="Card"/>
          <p:cNvSpPr/>
          <p:nvPr/>
        </p:nvSpPr>
        <p:spPr>
          <a:xfrm>
            <a:off x="411480" y="4855464"/>
            <a:ext cx="8321040" cy="841248"/>
          </a:xfrm>
          <a:prstGeom prst="rect">
            <a:avLst/>
          </a:prstGeom>
          <a:solidFill>
            <a:srgbClr val="F5F1E8"/>
          </a:solidFill>
          <a:ln>
            <a:noFill/>
          </a:ln>
          <a:effectLst/>
        </p:spPr>
        <p:txBody>
          <a:bodyPr rtlCol="0" anchor="ctr" wrap="square"/>
          <a:lstStyle/>
          <a:p/>
        </p:txBody>
      </p:sp>
      <p:sp>
        <p:nvSpPr>
          <p:cNvPr id="16" name="RowLabel"/>
          <p:cNvSpPr/>
          <p:nvPr/>
        </p:nvSpPr>
        <p:spPr>
          <a:xfrm>
            <a:off x="557784" y="4892040"/>
            <a:ext cx="2788920" cy="768096"/>
          </a:xfrm>
          <a:prstGeom prst="rect">
            <a:avLst/>
          </a:prstGeom>
          <a:noFill/>
          <a:ln>
            <a:noFill/>
          </a:ln>
          <a:effectLst/>
        </p:spPr>
        <p:txBody>
          <a:bodyPr rtlCol="0" anchor="ctr" wrap="square"/>
          <a:lstStyle/>
          <a:p>
            <a:pPr algn="l">
              <a:spcAft>
                <a:spcPts val="0"/>
              </a:spcAft>
            </a:pPr>
            <a:r>
              <a:rPr sz="2200" b="1">
                <a:solidFill>
                  <a:srgbClr val="8E6F3E"/>
                </a:solidFill>
                <a:latin typeface="Calibri"/>
              </a:rPr>
              <a:t>Judgment and controls</a:t>
            </a:r>
          </a:p>
        </p:txBody>
      </p:sp>
      <p:sp>
        <p:nvSpPr>
          <p:cNvPr id="17" name="RowBody"/>
          <p:cNvSpPr/>
          <p:nvPr/>
        </p:nvSpPr>
        <p:spPr>
          <a:xfrm>
            <a:off x="3438144" y="4892040"/>
            <a:ext cx="5166360" cy="768096"/>
          </a:xfrm>
          <a:prstGeom prst="rect">
            <a:avLst/>
          </a:prstGeom>
          <a:noFill/>
          <a:ln>
            <a:noFill/>
          </a:ln>
          <a:effectLst/>
        </p:spPr>
        <p:txBody>
          <a:bodyPr rtlCol="0" anchor="ctr" wrap="square"/>
          <a:lstStyle/>
          <a:p>
            <a:pPr algn="l">
              <a:spcAft>
                <a:spcPts val="0"/>
              </a:spcAft>
            </a:pPr>
            <a:r>
              <a:rPr sz="2000" b="0">
                <a:solidFill>
                  <a:srgbClr val="555960"/>
                </a:solidFill>
                <a:latin typeface="Calibri"/>
              </a:rPr>
              <a:t>What makes the system worthy of reliance?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It works, but is it reliable?</a:t>
            </a:r>
          </a:p>
        </p:txBody>
      </p:sp>
      <p:sp>
        <p:nvSpPr>
          <p:cNvPr id="3" name="Card" descr="The reservation service as shipped: HTTP API over booking rules over persistence, with passing functional I/O tests and the no-overlap invariant holding"/>
          <p:cNvSpPr/>
          <p:nvPr/>
        </p:nvSpPr>
        <p:spPr>
          <a:xfrm>
            <a:off x="411480" y="896112"/>
            <a:ext cx="3931920" cy="2331720"/>
          </a:xfrm>
          <a:prstGeom prst="rect">
            <a:avLst/>
          </a:prstGeom>
          <a:solidFill>
            <a:srgbClr val="F5F1E8"/>
          </a:solidFill>
          <a:ln>
            <a:noFill/>
          </a:ln>
          <a:effectLst/>
        </p:spPr>
        <p:txBody>
          <a:bodyPr rtlCol="0" anchor="ctr" wrap="square"/>
          <a:lstStyle/>
          <a:p/>
        </p:txBody>
      </p:sp>
      <p:sp>
        <p:nvSpPr>
          <p:cNvPr id="4" name="HaveLabel"/>
          <p:cNvSpPr/>
          <p:nvPr/>
        </p:nvSpPr>
        <p:spPr>
          <a:xfrm>
            <a:off x="557784" y="969264"/>
            <a:ext cx="3657600" cy="347472"/>
          </a:xfrm>
          <a:prstGeom prst="rect">
            <a:avLst/>
          </a:prstGeom>
          <a:noFill/>
          <a:ln>
            <a:noFill/>
          </a:ln>
          <a:effectLst/>
        </p:spPr>
        <p:txBody>
          <a:bodyPr rtlCol="0" anchor="t" wrap="square"/>
          <a:lstStyle/>
          <a:p>
            <a:pPr algn="l">
              <a:spcAft>
                <a:spcPts val="0"/>
              </a:spcAft>
            </a:pPr>
            <a:r>
              <a:rPr sz="2000" b="1">
                <a:solidFill>
                  <a:srgbClr val="8E6F3E"/>
                </a:solidFill>
                <a:latin typeface="Calibri"/>
              </a:rPr>
              <a:t>WHAT WE HAVE</a:t>
            </a:r>
          </a:p>
        </p:txBody>
      </p:sp>
      <p:sp>
        <p:nvSpPr>
          <p:cNvPr id="5" name="Stack"/>
          <p:cNvSpPr/>
          <p:nvPr/>
        </p:nvSpPr>
        <p:spPr>
          <a:xfrm>
            <a:off x="640080" y="1371600"/>
            <a:ext cx="1874520" cy="47548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spcAft>
                <a:spcPts val="0"/>
              </a:spcAft>
            </a:pPr>
            <a:r>
              <a:rPr sz="2000" b="1">
                <a:solidFill>
                  <a:srgbClr val="FFFFFF"/>
                </a:solidFill>
                <a:latin typeface="Calibri"/>
              </a:rPr>
              <a:t>HTTP API</a:t>
            </a:r>
          </a:p>
        </p:txBody>
      </p:sp>
      <p:sp>
        <p:nvSpPr>
          <p:cNvPr id="6" name="Stack"/>
          <p:cNvSpPr/>
          <p:nvPr/>
        </p:nvSpPr>
        <p:spPr>
          <a:xfrm>
            <a:off x="640080" y="2029968"/>
            <a:ext cx="1874520" cy="47548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spcAft>
                <a:spcPts val="0"/>
              </a:spcAft>
            </a:pPr>
            <a:r>
              <a:rPr sz="2000" b="1">
                <a:solidFill>
                  <a:srgbClr val="FFFFFF"/>
                </a:solidFill>
                <a:latin typeface="Calibri"/>
              </a:rPr>
              <a:t>BOOKING RULES</a:t>
            </a:r>
          </a:p>
        </p:txBody>
      </p:sp>
      <p:sp>
        <p:nvSpPr>
          <p:cNvPr id="7" name="Stack"/>
          <p:cNvSpPr/>
          <p:nvPr/>
        </p:nvSpPr>
        <p:spPr>
          <a:xfrm>
            <a:off x="640080" y="2688336"/>
            <a:ext cx="1874520" cy="47548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spcAft>
                <a:spcPts val="0"/>
              </a:spcAft>
            </a:pPr>
            <a:r>
              <a:rPr sz="2000" b="1">
                <a:solidFill>
                  <a:srgbClr val="FFFFFF"/>
                </a:solidFill>
                <a:latin typeface="Calibri"/>
              </a:rPr>
              <a:t>PERSISTENCE</a:t>
            </a:r>
          </a:p>
        </p:txBody>
      </p:sp>
      <p:cxnSp>
        <p:nvCxnSpPr>
          <p:cNvPr id="8" name="StackArrow"/>
          <p:cNvCxnSpPr/>
          <p:nvPr/>
        </p:nvCxnSpPr>
        <p:spPr>
          <a:xfrm>
            <a:off x="1577340" y="1847088"/>
            <a:ext cx="0" cy="182880"/>
          </a:xfrm>
          <a:prstGeom prst="line">
            <a:avLst/>
          </a:prstGeom>
          <a:ln w="19050">
            <a:solidFill>
              <a:srgbClr val="8E6F3E"/>
            </a:solidFill>
            <a:tailEnd type="triangle" w="med" len="med"/>
          </a:ln>
        </p:spPr>
      </p:cxnSp>
      <p:cxnSp>
        <p:nvCxnSpPr>
          <p:cNvPr id="9" name="StackArrow"/>
          <p:cNvCxnSpPr/>
          <p:nvPr/>
        </p:nvCxnSpPr>
        <p:spPr>
          <a:xfrm>
            <a:off x="1577340" y="2505456"/>
            <a:ext cx="0" cy="182880"/>
          </a:xfrm>
          <a:prstGeom prst="line">
            <a:avLst/>
          </a:prstGeom>
          <a:ln w="19050">
            <a:solidFill>
              <a:srgbClr val="8E6F3E"/>
            </a:solidFill>
            <a:tailEnd type="triangle" w="med" len="med"/>
          </a:ln>
        </p:spPr>
      </p:cxnSp>
      <p:sp>
        <p:nvSpPr>
          <p:cNvPr id="10" name="Checks"/>
          <p:cNvSpPr/>
          <p:nvPr/>
        </p:nvSpPr>
        <p:spPr>
          <a:xfrm>
            <a:off x="2606040" y="1389888"/>
            <a:ext cx="1691640" cy="1783080"/>
          </a:xfrm>
          <a:prstGeom prst="rect">
            <a:avLst/>
          </a:prstGeom>
          <a:noFill/>
          <a:ln>
            <a:noFill/>
          </a:ln>
          <a:effectLst/>
        </p:spPr>
        <p:txBody>
          <a:bodyPr rtlCol="0" anchor="ctr" wrap="square" lIns="27432" rIns="27432"/>
          <a:lstStyle/>
          <a:p>
            <a:pPr algn="l">
              <a:spcAft>
                <a:spcPts val="0"/>
              </a:spcAft>
            </a:pPr>
            <a:r>
              <a:rPr sz="2000" b="1">
                <a:solidFill>
                  <a:srgbClr val="5C4826"/>
                </a:solidFill>
                <a:latin typeface="Calibri"/>
              </a:rPr>
              <a:t>✓ tests pass</a:t>
            </a:r>
          </a:p>
          <a:p>
            <a:pPr algn="l">
              <a:spcAft>
                <a:spcPts val="0"/>
              </a:spcAft>
            </a:pPr>
            <a:r>
              <a:rPr sz="2000" b="1">
                <a:solidFill>
                  <a:srgbClr val="5C4826"/>
                </a:solidFill>
                <a:latin typeface="Calibri"/>
              </a:rPr>
              <a:t>✓ no overlap</a:t>
            </a:r>
          </a:p>
          <a:p>
            <a:pPr algn="l">
              <a:spcAft>
                <a:spcPts val="0"/>
              </a:spcAft>
            </a:pPr>
            <a:r>
              <a:rPr sz="2000" b="0">
                <a:solidFill>
                  <a:srgbClr val="555960"/>
                </a:solidFill>
                <a:latin typeface="Calibri"/>
              </a:rPr>
              <a:t>as specified</a:t>
            </a:r>
          </a:p>
        </p:txBody>
      </p:sp>
      <p:sp>
        <p:nvSpPr>
          <p:cNvPr id="11" name="NewCard" descr="A new hypothetical change request: laboratory rooms need distinct booking policies and approvals, changing independently of ordinary reservations"/>
          <p:cNvSpPr/>
          <p:nvPr/>
        </p:nvSpPr>
        <p:spPr>
          <a:xfrm>
            <a:off x="4526280" y="896112"/>
            <a:ext cx="4206240" cy="2331720"/>
          </a:xfrm>
          <a:prstGeom prst="rect">
            <a:avLst/>
          </a:prstGeom>
          <a:solidFill>
            <a:srgbClr val="FCFAF6"/>
          </a:solidFill>
          <a:ln>
            <a:noFill/>
          </a:ln>
          <a:effectLst/>
        </p:spPr>
        <p:txBody>
          <a:bodyPr rtlCol="0" anchor="ctr" wrap="square"/>
          <a:lstStyle/>
          <a:p/>
        </p:txBody>
      </p:sp>
      <p:sp>
        <p:nvSpPr>
          <p:cNvPr id="12" name="NewLabel"/>
          <p:cNvSpPr/>
          <p:nvPr/>
        </p:nvSpPr>
        <p:spPr>
          <a:xfrm>
            <a:off x="4672584" y="969264"/>
            <a:ext cx="3913632" cy="347472"/>
          </a:xfrm>
          <a:prstGeom prst="rect">
            <a:avLst/>
          </a:prstGeom>
          <a:noFill/>
          <a:ln>
            <a:noFill/>
          </a:ln>
          <a:effectLst/>
        </p:spPr>
        <p:txBody>
          <a:bodyPr rtlCol="0" anchor="t" wrap="square"/>
          <a:lstStyle/>
          <a:p>
            <a:pPr algn="l">
              <a:spcAft>
                <a:spcPts val="0"/>
              </a:spcAft>
            </a:pPr>
            <a:r>
              <a:rPr sz="2000" b="1">
                <a:solidFill>
                  <a:srgbClr val="8E6F3E"/>
                </a:solidFill>
                <a:latin typeface="Calibri"/>
              </a:rPr>
              <a:t>A NEW REQUEST</a:t>
            </a:r>
          </a:p>
        </p:txBody>
      </p:sp>
      <p:sp>
        <p:nvSpPr>
          <p:cNvPr id="13" name="NewBody"/>
          <p:cNvSpPr/>
          <p:nvPr/>
        </p:nvSpPr>
        <p:spPr>
          <a:xfrm>
            <a:off x="4672584" y="1389888"/>
            <a:ext cx="3913632" cy="1783080"/>
          </a:xfrm>
          <a:prstGeom prst="rect">
            <a:avLst/>
          </a:prstGeom>
          <a:noFill/>
          <a:ln>
            <a:noFill/>
          </a:ln>
          <a:effectLst/>
        </p:spPr>
        <p:txBody>
          <a:bodyPr rtlCol="0" anchor="t" wrap="square"/>
          <a:lstStyle/>
          <a:p>
            <a:pPr algn="l">
              <a:spcAft>
                <a:spcPts val="0"/>
              </a:spcAft>
            </a:pPr>
            <a:r>
              <a:rPr sz="2000" b="1">
                <a:solidFill>
                  <a:srgbClr val="2D2D2D"/>
                </a:solidFill>
                <a:latin typeface="Calibri"/>
              </a:rPr>
              <a:t>Laboratory rooms need their own policies and approvals</a:t>
            </a:r>
          </a:p>
          <a:p>
            <a:pPr algn="l">
              <a:spcAft>
                <a:spcPts val="0"/>
              </a:spcAft>
            </a:pPr>
            <a:r>
              <a:rPr sz="2000" b="0">
                <a:solidFill>
                  <a:srgbClr val="555960"/>
                </a:solidFill>
                <a:latin typeface="Calibri"/>
              </a:rPr>
              <a:t>The policy changes independently of ordinary reservations</a:t>
            </a:r>
          </a:p>
          <a:p>
            <a:pPr algn="l">
              <a:spcAft>
                <a:spcPts val="0"/>
              </a:spcAft>
            </a:pPr>
            <a:r>
              <a:rPr sz="2000" b="0">
                <a:solidFill>
                  <a:srgbClr val="555960"/>
                </a:solidFill>
                <a:latin typeface="Calibri"/>
              </a:rPr>
              <a:t>(hypothetical, not yet implemented)</a:t>
            </a:r>
          </a:p>
        </p:txBody>
      </p:sp>
      <p:sp>
        <p:nvSpPr>
          <p:cNvPr id="14" name="SketchCard" descr="Illustrative sketch of the generated implementation: handlers, policy, auth, and storage modules with entangled dependencies, every module reaching storage directly"/>
          <p:cNvSpPr/>
          <p:nvPr/>
        </p:nvSpPr>
        <p:spPr>
          <a:xfrm>
            <a:off x="411480" y="3383280"/>
            <a:ext cx="8321040" cy="1965960"/>
          </a:xfrm>
          <a:prstGeom prst="rect">
            <a:avLst/>
          </a:prstGeom>
          <a:solidFill>
            <a:srgbClr val="F5F1E8"/>
          </a:solidFill>
          <a:ln>
            <a:noFill/>
          </a:ln>
          <a:effectLst/>
        </p:spPr>
        <p:txBody>
          <a:bodyPr rtlCol="0" anchor="ctr" wrap="square"/>
          <a:lstStyle/>
          <a:p/>
        </p:txBody>
      </p:sp>
      <p:sp>
        <p:nvSpPr>
          <p:cNvPr id="15" name="SketchLabel"/>
          <p:cNvSpPr/>
          <p:nvPr/>
        </p:nvSpPr>
        <p:spPr>
          <a:xfrm>
            <a:off x="557784" y="3438144"/>
            <a:ext cx="804672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INSIDE THE IMPLEMENTATION WE ACCEPTED</a:t>
            </a:r>
            <a:r>
              <a:rPr sz="2000" b="0">
                <a:solidFill>
                  <a:srgbClr val="555960"/>
                </a:solidFill>
                <a:latin typeface="Calibri"/>
              </a:rPr>
              <a:t>   an illustrative sketch</a:t>
            </a:r>
          </a:p>
        </p:txBody>
      </p:sp>
      <p:sp>
        <p:nvSpPr>
          <p:cNvPr id="16" name="ModBox"/>
          <p:cNvSpPr/>
          <p:nvPr/>
        </p:nvSpPr>
        <p:spPr>
          <a:xfrm>
            <a:off x="777240" y="3931920"/>
            <a:ext cx="1554480" cy="475488"/>
          </a:xfrm>
          <a:prstGeom prst="rect">
            <a:avLst/>
          </a:prstGeom>
          <a:solidFill>
            <a:srgbClr val="FCFAF6"/>
          </a:solidFill>
          <a:ln w="19050">
            <a:solidFill>
              <a:srgbClr val="8E6F3E"/>
            </a:solidFill>
          </a:ln>
          <a:effectLst/>
        </p:spPr>
        <p:txBody>
          <a:bodyPr rtlCol="0" anchor="ctr" wrap="square"/>
          <a:lstStyle/>
          <a:p>
            <a:pPr algn="ctr">
              <a:spcAft>
                <a:spcPts val="0"/>
              </a:spcAft>
            </a:pPr>
            <a:r>
              <a:rPr sz="2000" b="0">
                <a:solidFill>
                  <a:srgbClr val="2D2D2D"/>
                </a:solidFill>
                <a:latin typeface="Consolas"/>
              </a:rPr>
              <a:t>handlers</a:t>
            </a:r>
          </a:p>
        </p:txBody>
      </p:sp>
      <p:sp>
        <p:nvSpPr>
          <p:cNvPr id="17" name="ModBox"/>
          <p:cNvSpPr/>
          <p:nvPr/>
        </p:nvSpPr>
        <p:spPr>
          <a:xfrm>
            <a:off x="2788920" y="3931920"/>
            <a:ext cx="1554480" cy="475488"/>
          </a:xfrm>
          <a:prstGeom prst="rect">
            <a:avLst/>
          </a:prstGeom>
          <a:solidFill>
            <a:srgbClr val="FCFAF6"/>
          </a:solidFill>
          <a:ln w="19050">
            <a:solidFill>
              <a:srgbClr val="8E6F3E"/>
            </a:solidFill>
          </a:ln>
          <a:effectLst/>
        </p:spPr>
        <p:txBody>
          <a:bodyPr rtlCol="0" anchor="ctr" wrap="square"/>
          <a:lstStyle/>
          <a:p>
            <a:pPr algn="ctr">
              <a:spcAft>
                <a:spcPts val="0"/>
              </a:spcAft>
            </a:pPr>
            <a:r>
              <a:rPr sz="2000" b="0">
                <a:solidFill>
                  <a:srgbClr val="2D2D2D"/>
                </a:solidFill>
                <a:latin typeface="Consolas"/>
              </a:rPr>
              <a:t>policy</a:t>
            </a:r>
          </a:p>
        </p:txBody>
      </p:sp>
      <p:sp>
        <p:nvSpPr>
          <p:cNvPr id="18" name="ModBox"/>
          <p:cNvSpPr/>
          <p:nvPr/>
        </p:nvSpPr>
        <p:spPr>
          <a:xfrm>
            <a:off x="4800600" y="3931920"/>
            <a:ext cx="1554480" cy="475488"/>
          </a:xfrm>
          <a:prstGeom prst="rect">
            <a:avLst/>
          </a:prstGeom>
          <a:solidFill>
            <a:srgbClr val="FCFAF6"/>
          </a:solidFill>
          <a:ln w="19050">
            <a:solidFill>
              <a:srgbClr val="8E6F3E"/>
            </a:solidFill>
          </a:ln>
          <a:effectLst/>
        </p:spPr>
        <p:txBody>
          <a:bodyPr rtlCol="0" anchor="ctr" wrap="square"/>
          <a:lstStyle/>
          <a:p>
            <a:pPr algn="ctr">
              <a:spcAft>
                <a:spcPts val="0"/>
              </a:spcAft>
            </a:pPr>
            <a:r>
              <a:rPr sz="2000" b="0">
                <a:solidFill>
                  <a:srgbClr val="2D2D2D"/>
                </a:solidFill>
                <a:latin typeface="Consolas"/>
              </a:rPr>
              <a:t>auth</a:t>
            </a:r>
          </a:p>
        </p:txBody>
      </p:sp>
      <p:sp>
        <p:nvSpPr>
          <p:cNvPr id="19" name="ModBox"/>
          <p:cNvSpPr/>
          <p:nvPr/>
        </p:nvSpPr>
        <p:spPr>
          <a:xfrm>
            <a:off x="6812280" y="3931920"/>
            <a:ext cx="1554480" cy="475488"/>
          </a:xfrm>
          <a:prstGeom prst="rect">
            <a:avLst/>
          </a:prstGeom>
          <a:solidFill>
            <a:srgbClr val="FCFAF6"/>
          </a:solidFill>
          <a:ln w="19050">
            <a:solidFill>
              <a:srgbClr val="8E6F3E"/>
            </a:solidFill>
          </a:ln>
          <a:effectLst/>
        </p:spPr>
        <p:txBody>
          <a:bodyPr rtlCol="0" anchor="ctr" wrap="square"/>
          <a:lstStyle/>
          <a:p>
            <a:pPr algn="ctr">
              <a:spcAft>
                <a:spcPts val="0"/>
              </a:spcAft>
            </a:pPr>
            <a:r>
              <a:rPr sz="2000" b="0">
                <a:solidFill>
                  <a:srgbClr val="2D2D2D"/>
                </a:solidFill>
                <a:latin typeface="Consolas"/>
              </a:rPr>
              <a:t>storage</a:t>
            </a:r>
          </a:p>
        </p:txBody>
      </p:sp>
      <p:cxnSp>
        <p:nvCxnSpPr>
          <p:cNvPr id="20" name="ModEdge"/>
          <p:cNvCxnSpPr/>
          <p:nvPr/>
        </p:nvCxnSpPr>
        <p:spPr>
          <a:xfrm>
            <a:off x="2331720" y="4169664"/>
            <a:ext cx="457200" cy="0"/>
          </a:xfrm>
          <a:prstGeom prst="line">
            <a:avLst/>
          </a:prstGeom>
          <a:ln w="19050">
            <a:solidFill>
              <a:srgbClr val="8E6F3E"/>
            </a:solidFill>
            <a:tailEnd type="triangle" w="med" len="med"/>
          </a:ln>
        </p:spPr>
      </p:cxnSp>
      <p:cxnSp>
        <p:nvCxnSpPr>
          <p:cNvPr id="21" name="ModEdge"/>
          <p:cNvCxnSpPr/>
          <p:nvPr/>
        </p:nvCxnSpPr>
        <p:spPr>
          <a:xfrm>
            <a:off x="4343400" y="4169664"/>
            <a:ext cx="457200" cy="0"/>
          </a:xfrm>
          <a:prstGeom prst="line">
            <a:avLst/>
          </a:prstGeom>
          <a:ln w="19050">
            <a:solidFill>
              <a:srgbClr val="8E6F3E"/>
            </a:solidFill>
            <a:tailEnd type="triangle" w="med" len="med"/>
          </a:ln>
        </p:spPr>
      </p:cxnSp>
      <p:cxnSp>
        <p:nvCxnSpPr>
          <p:cNvPr id="22" name="ModEdge"/>
          <p:cNvCxnSpPr/>
          <p:nvPr/>
        </p:nvCxnSpPr>
        <p:spPr>
          <a:xfrm>
            <a:off x="6355080" y="4169664"/>
            <a:ext cx="457200" cy="0"/>
          </a:xfrm>
          <a:prstGeom prst="line">
            <a:avLst/>
          </a:prstGeom>
          <a:ln w="19050">
            <a:solidFill>
              <a:srgbClr val="8E6F3E"/>
            </a:solidFill>
            <a:tailEnd type="triangle" w="med" len="med"/>
          </a:ln>
        </p:spPr>
      </p:cxnSp>
      <p:sp>
        <p:nvSpPr>
          <p:cNvPr id="23" name="ModEdgeU1" descr="policy.py also calls storage.py directly"/>
          <p:cNvSpPr/>
          <p:nvPr/>
        </p:nvSpPr>
        <p:spPr>
          <a:xfrm>
            <a:off x="3566160" y="4407408"/>
            <a:ext cx="4251960" cy="365759"/>
          </a:xfrm>
          <a:custGeom>
            <a:avLst/>
            <a:gdLst/>
            <a:ahLst/>
            <a:cxnLst/>
            <a:rect l="0" t="0" r="0" b="0"/>
            <a:pathLst>
              <a:path w="4251960" h="365759" fill="none">
                <a:moveTo>
                  <a:pt x="0" y="0"/>
                </a:moveTo>
                <a:lnTo>
                  <a:pt x="0" y="365760"/>
                </a:lnTo>
                <a:lnTo>
                  <a:pt x="4251960" y="365760"/>
                </a:lnTo>
                <a:lnTo>
                  <a:pt x="4251960" y="0"/>
                </a:lnTo>
              </a:path>
            </a:pathLst>
          </a:custGeom>
          <a:noFill/>
          <a:ln w="19050">
            <a:solidFill>
              <a:srgbClr val="8E6F3E"/>
            </a:solidFill>
            <a:tailEnd type="triangle" w="med" len="med"/>
          </a:ln>
        </p:spPr>
        <p:txBody>
          <a:bodyPr rtlCol="0" anchor="ctr" wrap="square"/>
          <a:lstStyle/>
          <a:p/>
        </p:txBody>
      </p:sp>
      <p:sp>
        <p:nvSpPr>
          <p:cNvPr id="24" name="ModEdgeU2" descr="handlers.py also calls storage.py directly"/>
          <p:cNvSpPr/>
          <p:nvPr/>
        </p:nvSpPr>
        <p:spPr>
          <a:xfrm>
            <a:off x="1554480" y="4407408"/>
            <a:ext cx="5852159" cy="640079"/>
          </a:xfrm>
          <a:custGeom>
            <a:avLst/>
            <a:gdLst/>
            <a:ahLst/>
            <a:cxnLst/>
            <a:rect l="0" t="0" r="0" b="0"/>
            <a:pathLst>
              <a:path w="5852159" h="640079" fill="none">
                <a:moveTo>
                  <a:pt x="0" y="0"/>
                </a:moveTo>
                <a:lnTo>
                  <a:pt x="0" y="640080"/>
                </a:lnTo>
                <a:lnTo>
                  <a:pt x="5852160" y="640080"/>
                </a:lnTo>
                <a:lnTo>
                  <a:pt x="5852160" y="0"/>
                </a:lnTo>
              </a:path>
            </a:pathLst>
          </a:custGeom>
          <a:noFill/>
          <a:ln w="19050">
            <a:solidFill>
              <a:srgbClr val="8E6F3E"/>
            </a:solidFill>
            <a:tailEnd type="triangle" w="med" len="med"/>
          </a:ln>
        </p:spPr>
        <p:txBody>
          <a:bodyPr rtlCol="0" anchor="ctr" wrap="square"/>
          <a:lstStyle/>
          <a:p/>
        </p:txBody>
      </p:sp>
      <p:sp>
        <p:nvSpPr>
          <p:cNvPr id="25" name="FooterBand"/>
          <p:cNvSpPr/>
          <p:nvPr/>
        </p:nvSpPr>
        <p:spPr>
          <a:xfrm>
            <a:off x="274320" y="5577840"/>
            <a:ext cx="8595360" cy="713232"/>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FooterBandText"/>
          <p:cNvSpPr/>
          <p:nvPr/>
        </p:nvSpPr>
        <p:spPr>
          <a:xfrm>
            <a:off x="384048" y="5596128"/>
            <a:ext cx="8375904" cy="667512"/>
          </a:xfrm>
          <a:prstGeom prst="rect">
            <a:avLst/>
          </a:prstGeom>
          <a:noFill/>
          <a:ln>
            <a:noFill/>
          </a:ln>
          <a:effectLst/>
        </p:spPr>
        <p:txBody>
          <a:bodyPr rtlCol="0" anchor="ctr" wrap="square"/>
          <a:lstStyle/>
          <a:p>
            <a:pPr algn="ctr">
              <a:spcAft>
                <a:spcPts val="0"/>
              </a:spcAft>
            </a:pPr>
            <a:r>
              <a:rPr sz="2000" b="1">
                <a:solidFill>
                  <a:srgbClr val="FFFFFF"/>
                </a:solidFill>
                <a:latin typeface="Calibri"/>
              </a:rPr>
              <a:t>Which files and obligations must change? Which inherited packages can we trust and update?</a:t>
            </a:r>
          </a:p>
        </p:txBody>
      </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1"/>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What can make working software difficult to trust?</a:t>
            </a:r>
          </a:p>
        </p:txBody>
      </p:sp>
      <p:sp>
        <p:nvSpPr>
          <p:cNvPr id="3" name="SectionLabel"/>
          <p:cNvSpPr/>
          <p:nvPr/>
        </p:nvSpPr>
        <p:spPr>
          <a:xfrm>
            <a:off x="640080" y="2240280"/>
            <a:ext cx="7863840" cy="868680"/>
          </a:xfrm>
          <a:prstGeom prst="rect">
            <a:avLst/>
          </a:prstGeom>
          <a:noFill/>
          <a:ln>
            <a:noFill/>
          </a:ln>
          <a:effectLst/>
        </p:spPr>
        <p:txBody>
          <a:bodyPr rtlCol="0" anchor="ctr" wrap="square"/>
          <a:lstStyle/>
          <a:p>
            <a:pPr algn="ctr">
              <a:spcAft>
                <a:spcPts val="0"/>
              </a:spcAft>
            </a:pPr>
            <a:r>
              <a:rPr sz="3600" b="1">
                <a:solidFill>
                  <a:srgbClr val="8E6F3E"/>
                </a:solidFill>
                <a:latin typeface="Calibri"/>
              </a:rPr>
              <a:t>SECTION 1</a:t>
            </a:r>
          </a:p>
        </p:txBody>
      </p:sp>
      <p:sp>
        <p:nvSpPr>
          <p:cNvPr id="4" name="OrientingSentence"/>
          <p:cNvSpPr/>
          <p:nvPr/>
        </p:nvSpPr>
        <p:spPr>
          <a:xfrm>
            <a:off x="914400" y="3474720"/>
            <a:ext cx="7315200" cy="1097280"/>
          </a:xfrm>
          <a:prstGeom prst="rect">
            <a:avLst/>
          </a:prstGeom>
          <a:noFill/>
          <a:ln>
            <a:noFill/>
          </a:ln>
          <a:effectLst/>
        </p:spPr>
        <p:txBody>
          <a:bodyPr rtlCol="0" anchor="t" wrap="square"/>
          <a:lstStyle/>
          <a:p>
            <a:pPr algn="ctr">
              <a:spcAft>
                <a:spcPts val="0"/>
              </a:spcAft>
            </a:pPr>
            <a:r>
              <a:rPr sz="2200" b="0">
                <a:solidFill>
                  <a:srgbClr val="555960"/>
                </a:solidFill>
                <a:latin typeface="Calibri"/>
              </a:rPr>
              <a:t>Mud, erosion, and debt name three different failure shapes. None of them shows up in a green test run.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Mud, erosion, and debt are different diagnoses</a:t>
            </a:r>
          </a:p>
        </p:txBody>
      </p:sp>
      <p:sp>
        <p:nvSpPr>
          <p:cNvPr id="3" name="DiagCard"/>
          <p:cNvSpPr/>
          <p:nvPr/>
        </p:nvSpPr>
        <p:spPr>
          <a:xfrm>
            <a:off x="411480" y="914400"/>
            <a:ext cx="2743200" cy="3566160"/>
          </a:xfrm>
          <a:prstGeom prst="rect">
            <a:avLst/>
          </a:prstGeom>
          <a:solidFill>
            <a:srgbClr val="F5F1E8"/>
          </a:solidFill>
          <a:ln>
            <a:noFill/>
          </a:ln>
          <a:effectLst/>
        </p:spPr>
        <p:txBody>
          <a:bodyPr rtlCol="0" anchor="ctr" wrap="square"/>
          <a:lstStyle/>
          <a:p/>
        </p:txBody>
      </p:sp>
      <p:sp>
        <p:nvSpPr>
          <p:cNvPr id="4" name="DiagHead"/>
          <p:cNvSpPr/>
          <p:nvPr/>
        </p:nvSpPr>
        <p:spPr>
          <a:xfrm>
            <a:off x="539496" y="987552"/>
            <a:ext cx="2487168" cy="640080"/>
          </a:xfrm>
          <a:prstGeom prst="rect">
            <a:avLst/>
          </a:prstGeom>
          <a:noFill/>
          <a:ln>
            <a:noFill/>
          </a:ln>
          <a:effectLst/>
        </p:spPr>
        <p:txBody>
          <a:bodyPr rtlCol="0" anchor="ctr" wrap="square"/>
          <a:lstStyle/>
          <a:p>
            <a:pPr algn="ctr">
              <a:spcAft>
                <a:spcPts val="0"/>
              </a:spcAft>
            </a:pPr>
            <a:r>
              <a:rPr sz="2000" b="1">
                <a:solidFill>
                  <a:srgbClr val="8E6F3E"/>
                </a:solidFill>
                <a:latin typeface="Calibri"/>
              </a:rPr>
              <a:t>BIG BALL OF MUD</a:t>
            </a:r>
          </a:p>
        </p:txBody>
      </p:sp>
      <p:sp>
        <p:nvSpPr>
          <p:cNvPr id="5" name="DiagDef"/>
          <p:cNvSpPr/>
          <p:nvPr/>
        </p:nvSpPr>
        <p:spPr>
          <a:xfrm>
            <a:off x="539496" y="3520440"/>
            <a:ext cx="2487168" cy="914400"/>
          </a:xfrm>
          <a:prstGeom prst="rect">
            <a:avLst/>
          </a:prstGeom>
          <a:noFill/>
          <a:ln>
            <a:noFill/>
          </a:ln>
          <a:effectLst/>
        </p:spPr>
        <p:txBody>
          <a:bodyPr rtlCol="0" anchor="t" wrap="square" lIns="27432" rIns="27432"/>
          <a:lstStyle/>
          <a:p>
            <a:pPr algn="ctr">
              <a:spcAft>
                <a:spcPts val="0"/>
              </a:spcAft>
            </a:pPr>
            <a:r>
              <a:rPr sz="2000" b="0">
                <a:solidFill>
                  <a:srgbClr val="555960"/>
                </a:solidFill>
                <a:latin typeface="Calibri"/>
              </a:rPr>
              <a:t>Weak or indiscernible structural boundaries</a:t>
            </a:r>
          </a:p>
        </p:txBody>
      </p:sp>
      <p:sp>
        <p:nvSpPr>
          <p:cNvPr id="6" name="DiagCard"/>
          <p:cNvSpPr/>
          <p:nvPr/>
        </p:nvSpPr>
        <p:spPr>
          <a:xfrm>
            <a:off x="3200400" y="914400"/>
            <a:ext cx="2743200" cy="3566160"/>
          </a:xfrm>
          <a:prstGeom prst="rect">
            <a:avLst/>
          </a:prstGeom>
          <a:solidFill>
            <a:srgbClr val="F5F1E8"/>
          </a:solidFill>
          <a:ln>
            <a:noFill/>
          </a:ln>
          <a:effectLst/>
        </p:spPr>
        <p:txBody>
          <a:bodyPr rtlCol="0" anchor="ctr" wrap="square"/>
          <a:lstStyle/>
          <a:p/>
        </p:txBody>
      </p:sp>
      <p:sp>
        <p:nvSpPr>
          <p:cNvPr id="7" name="DiagHead"/>
          <p:cNvSpPr/>
          <p:nvPr/>
        </p:nvSpPr>
        <p:spPr>
          <a:xfrm>
            <a:off x="3328416" y="987552"/>
            <a:ext cx="2487168" cy="640080"/>
          </a:xfrm>
          <a:prstGeom prst="rect">
            <a:avLst/>
          </a:prstGeom>
          <a:noFill/>
          <a:ln>
            <a:noFill/>
          </a:ln>
          <a:effectLst/>
        </p:spPr>
        <p:txBody>
          <a:bodyPr rtlCol="0" anchor="ctr" wrap="square"/>
          <a:lstStyle/>
          <a:p>
            <a:pPr algn="ctr">
              <a:spcAft>
                <a:spcPts val="0"/>
              </a:spcAft>
            </a:pPr>
            <a:r>
              <a:rPr sz="2000" b="1">
                <a:solidFill>
                  <a:srgbClr val="8E6F3E"/>
                </a:solidFill>
                <a:latin typeface="Calibri"/>
              </a:rPr>
              <a:t>ARCHITECTURAL EROSION</a:t>
            </a:r>
          </a:p>
        </p:txBody>
      </p:sp>
      <p:sp>
        <p:nvSpPr>
          <p:cNvPr id="8" name="DiagDef"/>
          <p:cNvSpPr/>
          <p:nvPr/>
        </p:nvSpPr>
        <p:spPr>
          <a:xfrm>
            <a:off x="3328416" y="3520440"/>
            <a:ext cx="2487168" cy="914400"/>
          </a:xfrm>
          <a:prstGeom prst="rect">
            <a:avLst/>
          </a:prstGeom>
          <a:noFill/>
          <a:ln>
            <a:noFill/>
          </a:ln>
          <a:effectLst/>
        </p:spPr>
        <p:txBody>
          <a:bodyPr rtlCol="0" anchor="t" wrap="square" lIns="27432" rIns="27432"/>
          <a:lstStyle/>
          <a:p>
            <a:pPr algn="ctr">
              <a:spcAft>
                <a:spcPts val="0"/>
              </a:spcAft>
            </a:pPr>
            <a:r>
              <a:rPr sz="2000" b="0">
                <a:solidFill>
                  <a:srgbClr val="555960"/>
                </a:solidFill>
                <a:latin typeface="Calibri"/>
              </a:rPr>
              <a:t>The implementation bypasses an intended boundary</a:t>
            </a:r>
          </a:p>
        </p:txBody>
      </p:sp>
      <p:sp>
        <p:nvSpPr>
          <p:cNvPr id="9" name="DiagCard"/>
          <p:cNvSpPr/>
          <p:nvPr/>
        </p:nvSpPr>
        <p:spPr>
          <a:xfrm>
            <a:off x="5989320" y="914400"/>
            <a:ext cx="2743200" cy="3566160"/>
          </a:xfrm>
          <a:prstGeom prst="rect">
            <a:avLst/>
          </a:prstGeom>
          <a:solidFill>
            <a:srgbClr val="F5F1E8"/>
          </a:solidFill>
          <a:ln>
            <a:noFill/>
          </a:ln>
          <a:effectLst/>
        </p:spPr>
        <p:txBody>
          <a:bodyPr rtlCol="0" anchor="ctr" wrap="square"/>
          <a:lstStyle/>
          <a:p/>
        </p:txBody>
      </p:sp>
      <p:sp>
        <p:nvSpPr>
          <p:cNvPr id="10" name="DiagHead"/>
          <p:cNvSpPr/>
          <p:nvPr/>
        </p:nvSpPr>
        <p:spPr>
          <a:xfrm>
            <a:off x="6117336" y="987552"/>
            <a:ext cx="2487168" cy="640080"/>
          </a:xfrm>
          <a:prstGeom prst="rect">
            <a:avLst/>
          </a:prstGeom>
          <a:noFill/>
          <a:ln>
            <a:noFill/>
          </a:ln>
          <a:effectLst/>
        </p:spPr>
        <p:txBody>
          <a:bodyPr rtlCol="0" anchor="ctr" wrap="square"/>
          <a:lstStyle/>
          <a:p>
            <a:pPr algn="ctr">
              <a:spcAft>
                <a:spcPts val="0"/>
              </a:spcAft>
            </a:pPr>
            <a:r>
              <a:rPr sz="2000" b="1">
                <a:solidFill>
                  <a:srgbClr val="8E6F3E"/>
                </a:solidFill>
                <a:latin typeface="Calibri"/>
              </a:rPr>
              <a:t>TECHNICAL DEBT</a:t>
            </a:r>
          </a:p>
        </p:txBody>
      </p:sp>
      <p:sp>
        <p:nvSpPr>
          <p:cNvPr id="11" name="DiagDef"/>
          <p:cNvSpPr/>
          <p:nvPr/>
        </p:nvSpPr>
        <p:spPr>
          <a:xfrm>
            <a:off x="6117336" y="3520440"/>
            <a:ext cx="2487168" cy="914400"/>
          </a:xfrm>
          <a:prstGeom prst="rect">
            <a:avLst/>
          </a:prstGeom>
          <a:noFill/>
          <a:ln>
            <a:noFill/>
          </a:ln>
          <a:effectLst/>
        </p:spPr>
        <p:txBody>
          <a:bodyPr rtlCol="0" anchor="t" wrap="square" lIns="27432" rIns="27432"/>
          <a:lstStyle/>
          <a:p>
            <a:pPr algn="ctr">
              <a:spcAft>
                <a:spcPts val="0"/>
              </a:spcAft>
            </a:pPr>
            <a:r>
              <a:rPr sz="2000" b="0">
                <a:solidFill>
                  <a:srgbClr val="555960"/>
                </a:solidFill>
                <a:latin typeface="Calibri"/>
              </a:rPr>
              <a:t>A decision that imposes expected future cost</a:t>
            </a:r>
          </a:p>
        </p:txBody>
      </p:sp>
      <p:sp>
        <p:nvSpPr>
          <p:cNvPr id="12" name="MudBox"/>
          <p:cNvSpPr/>
          <p:nvPr/>
        </p:nvSpPr>
        <p:spPr>
          <a:xfrm>
            <a:off x="731520" y="1783080"/>
            <a:ext cx="566928" cy="365760"/>
          </a:xfrm>
          <a:prstGeom prst="rect">
            <a:avLst/>
          </a:prstGeom>
          <a:solidFill>
            <a:srgbClr val="FCFAF6"/>
          </a:solidFill>
          <a:ln w="15875">
            <a:solidFill>
              <a:srgbClr val="555960"/>
            </a:solidFill>
          </a:ln>
          <a:effectLst/>
        </p:spPr>
        <p:txBody>
          <a:bodyPr rtlCol="0" anchor="t" wrap="square"/>
          <a:lstStyle/>
          <a:p/>
        </p:txBody>
      </p:sp>
      <p:sp>
        <p:nvSpPr>
          <p:cNvPr id="13" name="MudBox"/>
          <p:cNvSpPr/>
          <p:nvPr/>
        </p:nvSpPr>
        <p:spPr>
          <a:xfrm>
            <a:off x="2057400" y="1783080"/>
            <a:ext cx="566928" cy="365760"/>
          </a:xfrm>
          <a:prstGeom prst="rect">
            <a:avLst/>
          </a:prstGeom>
          <a:solidFill>
            <a:srgbClr val="FCFAF6"/>
          </a:solidFill>
          <a:ln w="15875">
            <a:solidFill>
              <a:srgbClr val="555960"/>
            </a:solidFill>
          </a:ln>
          <a:effectLst/>
        </p:spPr>
        <p:txBody>
          <a:bodyPr rtlCol="0" anchor="t" wrap="square"/>
          <a:lstStyle/>
          <a:p/>
        </p:txBody>
      </p:sp>
      <p:sp>
        <p:nvSpPr>
          <p:cNvPr id="14" name="MudBox"/>
          <p:cNvSpPr/>
          <p:nvPr/>
        </p:nvSpPr>
        <p:spPr>
          <a:xfrm>
            <a:off x="1051560" y="2788920"/>
            <a:ext cx="566928" cy="365760"/>
          </a:xfrm>
          <a:prstGeom prst="rect">
            <a:avLst/>
          </a:prstGeom>
          <a:solidFill>
            <a:srgbClr val="FCFAF6"/>
          </a:solidFill>
          <a:ln w="15875">
            <a:solidFill>
              <a:srgbClr val="555960"/>
            </a:solidFill>
          </a:ln>
          <a:effectLst/>
        </p:spPr>
        <p:txBody>
          <a:bodyPr rtlCol="0" anchor="t" wrap="square"/>
          <a:lstStyle/>
          <a:p/>
        </p:txBody>
      </p:sp>
      <p:sp>
        <p:nvSpPr>
          <p:cNvPr id="15" name="MudBox"/>
          <p:cNvSpPr/>
          <p:nvPr/>
        </p:nvSpPr>
        <p:spPr>
          <a:xfrm>
            <a:off x="2240280" y="2697480"/>
            <a:ext cx="566928" cy="365760"/>
          </a:xfrm>
          <a:prstGeom prst="rect">
            <a:avLst/>
          </a:prstGeom>
          <a:solidFill>
            <a:srgbClr val="FCFAF6"/>
          </a:solidFill>
          <a:ln w="15875">
            <a:solidFill>
              <a:srgbClr val="555960"/>
            </a:solidFill>
          </a:ln>
          <a:effectLst/>
        </p:spPr>
        <p:txBody>
          <a:bodyPr rtlCol="0" anchor="t" wrap="square"/>
          <a:lstStyle/>
          <a:p/>
        </p:txBody>
      </p:sp>
      <p:cxnSp>
        <p:nvCxnSpPr>
          <p:cNvPr id="16" name="MudEdge"/>
          <p:cNvCxnSpPr/>
          <p:nvPr/>
        </p:nvCxnSpPr>
        <p:spPr>
          <a:xfrm>
            <a:off x="1298448" y="1965960"/>
            <a:ext cx="941832" cy="914400"/>
          </a:xfrm>
          <a:prstGeom prst="bentConnector3">
            <a:avLst/>
          </a:prstGeom>
          <a:ln w="12700">
            <a:solidFill>
              <a:srgbClr val="555960"/>
            </a:solidFill>
          </a:ln>
        </p:spPr>
      </p:cxnSp>
      <p:cxnSp>
        <p:nvCxnSpPr>
          <p:cNvPr id="17" name="MudEdge"/>
          <p:cNvCxnSpPr/>
          <p:nvPr/>
        </p:nvCxnSpPr>
        <p:spPr>
          <a:xfrm flipH="1">
            <a:off x="1618488" y="2148840"/>
            <a:ext cx="722376" cy="640080"/>
          </a:xfrm>
          <a:prstGeom prst="bentConnector3">
            <a:avLst/>
          </a:prstGeom>
          <a:ln w="12700">
            <a:solidFill>
              <a:srgbClr val="555960"/>
            </a:solidFill>
          </a:ln>
        </p:spPr>
      </p:cxnSp>
      <p:cxnSp>
        <p:nvCxnSpPr>
          <p:cNvPr id="18" name="MudEdge"/>
          <p:cNvCxnSpPr/>
          <p:nvPr/>
        </p:nvCxnSpPr>
        <p:spPr>
          <a:xfrm>
            <a:off x="1014984" y="2148840"/>
            <a:ext cx="1508760" cy="548640"/>
          </a:xfrm>
          <a:prstGeom prst="bentConnector3">
            <a:avLst/>
          </a:prstGeom>
          <a:ln w="12700">
            <a:solidFill>
              <a:srgbClr val="555960"/>
            </a:solidFill>
          </a:ln>
        </p:spPr>
      </p:cxnSp>
      <p:sp>
        <p:nvSpPr>
          <p:cNvPr id="19" name="ErodeBoxA"/>
          <p:cNvSpPr/>
          <p:nvPr/>
        </p:nvSpPr>
        <p:spPr>
          <a:xfrm>
            <a:off x="3273552" y="1965960"/>
            <a:ext cx="1143000" cy="457200"/>
          </a:xfrm>
          <a:prstGeom prst="rect">
            <a:avLst/>
          </a:prstGeom>
          <a:solidFill>
            <a:srgbClr val="FCFAF6"/>
          </a:solidFill>
          <a:ln w="15875">
            <a:solidFill>
              <a:srgbClr val="8E6F3E"/>
            </a:solidFill>
          </a:ln>
          <a:effectLst/>
        </p:spPr>
        <p:txBody>
          <a:bodyPr rtlCol="0" anchor="ctr" wrap="square" lIns="27432" rIns="27432"/>
          <a:lstStyle/>
          <a:p>
            <a:pPr algn="ctr">
              <a:spcAft>
                <a:spcPts val="0"/>
              </a:spcAft>
            </a:pPr>
            <a:r>
              <a:rPr sz="2000" b="0">
                <a:solidFill>
                  <a:srgbClr val="2D2D2D"/>
                </a:solidFill>
                <a:latin typeface="Consolas"/>
              </a:rPr>
              <a:t>policy</a:t>
            </a:r>
          </a:p>
        </p:txBody>
      </p:sp>
      <p:sp>
        <p:nvSpPr>
          <p:cNvPr id="20" name="ErodeBoxB"/>
          <p:cNvSpPr/>
          <p:nvPr/>
        </p:nvSpPr>
        <p:spPr>
          <a:xfrm>
            <a:off x="4645152" y="1965960"/>
            <a:ext cx="1143000" cy="457200"/>
          </a:xfrm>
          <a:prstGeom prst="rect">
            <a:avLst/>
          </a:prstGeom>
          <a:solidFill>
            <a:srgbClr val="FCFAF6"/>
          </a:solidFill>
          <a:ln w="15875">
            <a:solidFill>
              <a:srgbClr val="8E6F3E"/>
            </a:solidFill>
          </a:ln>
          <a:effectLst/>
        </p:spPr>
        <p:txBody>
          <a:bodyPr rtlCol="0" anchor="ctr" wrap="square" lIns="27432" rIns="27432"/>
          <a:lstStyle/>
          <a:p>
            <a:pPr algn="ctr">
              <a:spcAft>
                <a:spcPts val="0"/>
              </a:spcAft>
            </a:pPr>
            <a:r>
              <a:rPr sz="2000" b="0">
                <a:solidFill>
                  <a:srgbClr val="2D2D2D"/>
                </a:solidFill>
                <a:latin typeface="Consolas"/>
              </a:rPr>
              <a:t>store</a:t>
            </a:r>
          </a:p>
        </p:txBody>
      </p:sp>
      <p:cxnSp>
        <p:nvCxnSpPr>
          <p:cNvPr id="21" name="ErodeSeam"/>
          <p:cNvCxnSpPr/>
          <p:nvPr/>
        </p:nvCxnSpPr>
        <p:spPr>
          <a:xfrm>
            <a:off x="4530852" y="1783080"/>
            <a:ext cx="0" cy="1417320"/>
          </a:xfrm>
          <a:prstGeom prst="line">
            <a:avLst/>
          </a:prstGeom>
          <a:ln w="15875">
            <a:solidFill>
              <a:srgbClr val="8E6F3E"/>
            </a:solidFill>
            <a:prstDash val="dash"/>
          </a:ln>
        </p:spPr>
      </p:cxnSp>
      <p:cxnSp>
        <p:nvCxnSpPr>
          <p:cNvPr id="22" name="ErodeCall"/>
          <p:cNvCxnSpPr/>
          <p:nvPr/>
        </p:nvCxnSpPr>
        <p:spPr>
          <a:xfrm>
            <a:off x="4416552" y="2194560"/>
            <a:ext cx="228600" cy="0"/>
          </a:xfrm>
          <a:prstGeom prst="line">
            <a:avLst/>
          </a:prstGeom>
          <a:ln w="15875">
            <a:solidFill>
              <a:srgbClr val="8E6F3E"/>
            </a:solidFill>
            <a:tailEnd type="triangle" w="med" len="med"/>
          </a:ln>
        </p:spPr>
      </p:cxnSp>
      <p:sp>
        <p:nvSpPr>
          <p:cNvPr id="23" name="ErodeBypass" descr="A call that bypasses the intended boundary"/>
          <p:cNvSpPr/>
          <p:nvPr/>
        </p:nvSpPr>
        <p:spPr>
          <a:xfrm>
            <a:off x="3845052" y="2423160"/>
            <a:ext cx="1371600" cy="548640"/>
          </a:xfrm>
          <a:custGeom>
            <a:avLst/>
            <a:gdLst/>
            <a:ahLst/>
            <a:cxnLst/>
            <a:rect l="0" t="0" r="0" b="0"/>
            <a:pathLst>
              <a:path w="1371600" h="548640" fill="none">
                <a:moveTo>
                  <a:pt x="0" y="0"/>
                </a:moveTo>
                <a:lnTo>
                  <a:pt x="0" y="548640"/>
                </a:lnTo>
                <a:lnTo>
                  <a:pt x="1371600" y="548640"/>
                </a:lnTo>
                <a:lnTo>
                  <a:pt x="1371600" y="0"/>
                </a:lnTo>
              </a:path>
            </a:pathLst>
          </a:custGeom>
          <a:noFill/>
          <a:ln w="15875">
            <a:solidFill>
              <a:srgbClr val="C01B1B"/>
            </a:solidFill>
            <a:tailEnd type="triangle" w="med" len="med"/>
          </a:ln>
        </p:spPr>
        <p:txBody>
          <a:bodyPr rtlCol="0" anchor="ctr" wrap="square"/>
          <a:lstStyle/>
          <a:p/>
        </p:txBody>
      </p:sp>
      <p:sp>
        <p:nvSpPr>
          <p:cNvPr id="24" name="DebtBox"/>
          <p:cNvSpPr/>
          <p:nvPr/>
        </p:nvSpPr>
        <p:spPr>
          <a:xfrm>
            <a:off x="6263640" y="1691640"/>
            <a:ext cx="2194560" cy="411480"/>
          </a:xfrm>
          <a:prstGeom prst="rect">
            <a:avLst/>
          </a:prstGeom>
          <a:solidFill>
            <a:srgbClr val="FCFAF6"/>
          </a:solidFill>
          <a:ln w="15875">
            <a:solidFill>
              <a:srgbClr val="8E6F3E"/>
            </a:solidFill>
          </a:ln>
          <a:effectLst/>
        </p:spPr>
        <p:txBody>
          <a:bodyPr rtlCol="0" anchor="ctr" wrap="square"/>
          <a:lstStyle/>
          <a:p>
            <a:pPr algn="ctr">
              <a:spcAft>
                <a:spcPts val="0"/>
              </a:spcAft>
            </a:pPr>
            <a:r>
              <a:rPr sz="2000" b="0">
                <a:solidFill>
                  <a:srgbClr val="2D2D2D"/>
                </a:solidFill>
                <a:latin typeface="Calibri"/>
              </a:rPr>
              <a:t>shortcut today</a:t>
            </a:r>
          </a:p>
        </p:txBody>
      </p:sp>
      <p:sp>
        <p:nvSpPr>
          <p:cNvPr id="25" name="DebtBox"/>
          <p:cNvSpPr/>
          <p:nvPr/>
        </p:nvSpPr>
        <p:spPr>
          <a:xfrm>
            <a:off x="6263640" y="2267712"/>
            <a:ext cx="2194560" cy="621792"/>
          </a:xfrm>
          <a:prstGeom prst="rect">
            <a:avLst/>
          </a:prstGeom>
          <a:solidFill>
            <a:srgbClr val="FCFAF6"/>
          </a:solidFill>
          <a:ln w="15875">
            <a:solidFill>
              <a:srgbClr val="8E6F3E"/>
            </a:solidFill>
          </a:ln>
          <a:effectLst/>
        </p:spPr>
        <p:txBody>
          <a:bodyPr rtlCol="0" anchor="ctr" wrap="square" lIns="27432" rIns="27432"/>
          <a:lstStyle/>
          <a:p>
            <a:pPr algn="ctr">
              <a:spcAft>
                <a:spcPts val="0"/>
              </a:spcAft>
            </a:pPr>
            <a:r>
              <a:rPr sz="2000" b="0">
                <a:solidFill>
                  <a:srgbClr val="2D2D2D"/>
                </a:solidFill>
                <a:latin typeface="Calibri"/>
              </a:rPr>
              <a:t>interest: each change costs more</a:t>
            </a:r>
          </a:p>
        </p:txBody>
      </p:sp>
      <p:sp>
        <p:nvSpPr>
          <p:cNvPr id="26" name="DebtBox"/>
          <p:cNvSpPr/>
          <p:nvPr/>
        </p:nvSpPr>
        <p:spPr>
          <a:xfrm>
            <a:off x="6263640" y="3054096"/>
            <a:ext cx="2194560" cy="411480"/>
          </a:xfrm>
          <a:prstGeom prst="rect">
            <a:avLst/>
          </a:prstGeom>
          <a:solidFill>
            <a:srgbClr val="FCFAF6"/>
          </a:solidFill>
          <a:ln w="15875">
            <a:solidFill>
              <a:srgbClr val="8E6F3E"/>
            </a:solidFill>
          </a:ln>
          <a:effectLst/>
        </p:spPr>
        <p:txBody>
          <a:bodyPr rtlCol="0" anchor="ctr" wrap="square"/>
          <a:lstStyle/>
          <a:p>
            <a:pPr algn="ctr">
              <a:spcAft>
                <a:spcPts val="0"/>
              </a:spcAft>
            </a:pPr>
            <a:r>
              <a:rPr sz="2000" b="0">
                <a:solidFill>
                  <a:srgbClr val="2D2D2D"/>
                </a:solidFill>
                <a:latin typeface="Calibri"/>
              </a:rPr>
              <a:t>repay: retrofit later</a:t>
            </a:r>
          </a:p>
        </p:txBody>
      </p:sp>
      <p:cxnSp>
        <p:nvCxnSpPr>
          <p:cNvPr id="27" name="DebtArrow"/>
          <p:cNvCxnSpPr/>
          <p:nvPr/>
        </p:nvCxnSpPr>
        <p:spPr>
          <a:xfrm>
            <a:off x="7360920" y="2103120"/>
            <a:ext cx="0" cy="164592"/>
          </a:xfrm>
          <a:prstGeom prst="line">
            <a:avLst/>
          </a:prstGeom>
          <a:ln w="19050">
            <a:solidFill>
              <a:srgbClr val="8E6F3E"/>
            </a:solidFill>
            <a:tailEnd type="triangle" w="med" len="med"/>
          </a:ln>
        </p:spPr>
      </p:cxnSp>
      <p:cxnSp>
        <p:nvCxnSpPr>
          <p:cNvPr id="28" name="DebtArrow"/>
          <p:cNvCxnSpPr/>
          <p:nvPr/>
        </p:nvCxnSpPr>
        <p:spPr>
          <a:xfrm>
            <a:off x="7360920" y="2889504"/>
            <a:ext cx="0" cy="164592"/>
          </a:xfrm>
          <a:prstGeom prst="line">
            <a:avLst/>
          </a:prstGeom>
          <a:ln w="19050">
            <a:solidFill>
              <a:srgbClr val="8E6F3E"/>
            </a:solidFill>
            <a:tailEnd type="triangle" w="med" len="med"/>
          </a:ln>
        </p:spPr>
      </p:cxnSp>
      <p:sp>
        <p:nvSpPr>
          <p:cNvPr id="29" name="BandCard"/>
          <p:cNvSpPr/>
          <p:nvPr/>
        </p:nvSpPr>
        <p:spPr>
          <a:xfrm>
            <a:off x="411480" y="4663440"/>
            <a:ext cx="8321040" cy="1005840"/>
          </a:xfrm>
          <a:prstGeom prst="rect">
            <a:avLst/>
          </a:prstGeom>
          <a:solidFill>
            <a:srgbClr val="FCFAF6"/>
          </a:solidFill>
          <a:ln>
            <a:noFill/>
          </a:ln>
          <a:effectLst/>
        </p:spPr>
        <p:txBody>
          <a:bodyPr rtlCol="0" anchor="ctr" wrap="square"/>
          <a:lstStyle/>
          <a:p/>
        </p:txBody>
      </p:sp>
      <p:sp>
        <p:nvSpPr>
          <p:cNvPr id="30" name="BandText"/>
          <p:cNvSpPr/>
          <p:nvPr/>
        </p:nvSpPr>
        <p:spPr>
          <a:xfrm>
            <a:off x="557784" y="4736592"/>
            <a:ext cx="8046720" cy="868680"/>
          </a:xfrm>
          <a:prstGeom prst="rect">
            <a:avLst/>
          </a:prstGeom>
          <a:noFill/>
          <a:ln>
            <a:noFill/>
          </a:ln>
          <a:effectLst/>
        </p:spPr>
        <p:txBody>
          <a:bodyPr rtlCol="0" anchor="t" wrap="square"/>
          <a:lstStyle/>
          <a:p>
            <a:pPr algn="l">
              <a:spcAft>
                <a:spcPts val="0"/>
              </a:spcAft>
            </a:pPr>
            <a:r>
              <a:rPr sz="2000" b="1">
                <a:solidFill>
                  <a:srgbClr val="5C4826"/>
                </a:solidFill>
                <a:latin typeface="Calibri"/>
              </a:rPr>
              <a:t>Different diagnoses, different responses</a:t>
            </a:r>
          </a:p>
          <a:p>
            <a:pPr algn="l">
              <a:spcAft>
                <a:spcPts val="0"/>
              </a:spcAft>
            </a:pPr>
            <a:r>
              <a:rPr sz="2000" b="0">
                <a:solidFill>
                  <a:srgbClr val="555960"/>
                </a:solidFill>
                <a:latin typeface="Calibri"/>
              </a:rPr>
              <a:t>Mud can arise with no intended architecture; debt can be prudent; green functional tests see none of it.</a:t>
            </a:r>
          </a:p>
        </p:txBody>
      </p:sp>
      <p:sp>
        <p:nvSpPr>
          <p:cNvPr id="31" name="Cite"/>
          <p:cNvSpPr/>
          <p:nvPr/>
        </p:nvSpPr>
        <p:spPr>
          <a:xfrm>
            <a:off x="411480" y="5760720"/>
            <a:ext cx="8321040" cy="347472"/>
          </a:xfrm>
          <a:prstGeom prst="rect">
            <a:avLst/>
          </a:prstGeom>
          <a:noFill/>
          <a:ln>
            <a:noFill/>
          </a:ln>
          <a:effectLst/>
        </p:spPr>
        <p:txBody>
          <a:bodyPr rtlCol="0" anchor="t" wrap="square"/>
          <a:lstStyle/>
          <a:p>
            <a:pPr algn="l">
              <a:spcAft>
                <a:spcPts val="0"/>
              </a:spcAft>
            </a:pPr>
            <a:r>
              <a:rPr sz="2000" b="0">
                <a:solidFill>
                  <a:srgbClr val="555960"/>
                </a:solidFill>
                <a:latin typeface="Calibri"/>
              </a:rPr>
              <a:t>Foote &amp; Yoder 1999 · Cunningham 1992 · Kruchten et al. 2012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Why do working systems become mud?</a:t>
            </a:r>
          </a:p>
        </p:txBody>
      </p:sp>
      <p:sp>
        <p:nvSpPr>
          <p:cNvPr id="3" name="CauseCard"/>
          <p:cNvSpPr/>
          <p:nvPr/>
        </p:nvSpPr>
        <p:spPr>
          <a:xfrm>
            <a:off x="411480" y="960120"/>
            <a:ext cx="4023360" cy="1115568"/>
          </a:xfrm>
          <a:prstGeom prst="rect">
            <a:avLst/>
          </a:prstGeom>
          <a:solidFill>
            <a:srgbClr val="F5F1E8"/>
          </a:solidFill>
          <a:ln>
            <a:noFill/>
          </a:ln>
          <a:effectLst/>
        </p:spPr>
        <p:txBody>
          <a:bodyPr rtlCol="0" anchor="ctr" wrap="square"/>
          <a:lstStyle/>
          <a:p/>
        </p:txBody>
      </p:sp>
      <p:sp>
        <p:nvSpPr>
          <p:cNvPr id="4" name="CauseLabel"/>
          <p:cNvSpPr/>
          <p:nvPr/>
        </p:nvSpPr>
        <p:spPr>
          <a:xfrm>
            <a:off x="557784" y="1014984"/>
            <a:ext cx="3749040" cy="384048"/>
          </a:xfrm>
          <a:prstGeom prst="rect">
            <a:avLst/>
          </a:prstGeom>
          <a:noFill/>
          <a:ln>
            <a:noFill/>
          </a:ln>
          <a:effectLst/>
        </p:spPr>
        <p:txBody>
          <a:bodyPr rtlCol="0" anchor="t" wrap="square"/>
          <a:lstStyle/>
          <a:p>
            <a:pPr algn="l">
              <a:spcAft>
                <a:spcPts val="0"/>
              </a:spcAft>
            </a:pPr>
            <a:r>
              <a:rPr sz="2000" b="1">
                <a:solidFill>
                  <a:srgbClr val="8E6F3E"/>
                </a:solidFill>
                <a:latin typeface="Calibri"/>
              </a:rPr>
              <a:t>TIME PRESSURE</a:t>
            </a:r>
          </a:p>
        </p:txBody>
      </p:sp>
      <p:sp>
        <p:nvSpPr>
          <p:cNvPr id="5" name="CauseBody"/>
          <p:cNvSpPr/>
          <p:nvPr/>
        </p:nvSpPr>
        <p:spPr>
          <a:xfrm>
            <a:off x="557784" y="1417320"/>
            <a:ext cx="3749040" cy="621792"/>
          </a:xfrm>
          <a:prstGeom prst="rect">
            <a:avLst/>
          </a:prstGeom>
          <a:noFill/>
          <a:ln>
            <a:noFill/>
          </a:ln>
          <a:effectLst/>
        </p:spPr>
        <p:txBody>
          <a:bodyPr rtlCol="0" anchor="t" wrap="square"/>
          <a:lstStyle/>
          <a:p>
            <a:pPr algn="l">
              <a:spcAft>
                <a:spcPts val="0"/>
              </a:spcAft>
            </a:pPr>
            <a:r>
              <a:rPr sz="2000" b="0">
                <a:solidFill>
                  <a:srgbClr val="555960"/>
                </a:solidFill>
                <a:latin typeface="Calibri"/>
              </a:rPr>
              <a:t>shipping this week beats structuring for next year</a:t>
            </a:r>
          </a:p>
        </p:txBody>
      </p:sp>
      <p:sp>
        <p:nvSpPr>
          <p:cNvPr id="6" name="CauseCard"/>
          <p:cNvSpPr/>
          <p:nvPr/>
        </p:nvSpPr>
        <p:spPr>
          <a:xfrm>
            <a:off x="411480" y="2185416"/>
            <a:ext cx="4023360" cy="1115568"/>
          </a:xfrm>
          <a:prstGeom prst="rect">
            <a:avLst/>
          </a:prstGeom>
          <a:solidFill>
            <a:srgbClr val="F5F1E8"/>
          </a:solidFill>
          <a:ln>
            <a:noFill/>
          </a:ln>
          <a:effectLst/>
        </p:spPr>
        <p:txBody>
          <a:bodyPr rtlCol="0" anchor="ctr" wrap="square"/>
          <a:lstStyle/>
          <a:p/>
        </p:txBody>
      </p:sp>
      <p:sp>
        <p:nvSpPr>
          <p:cNvPr id="7" name="CauseLabel"/>
          <p:cNvSpPr/>
          <p:nvPr/>
        </p:nvSpPr>
        <p:spPr>
          <a:xfrm>
            <a:off x="557784" y="2240280"/>
            <a:ext cx="3749040" cy="384048"/>
          </a:xfrm>
          <a:prstGeom prst="rect">
            <a:avLst/>
          </a:prstGeom>
          <a:noFill/>
          <a:ln>
            <a:noFill/>
          </a:ln>
          <a:effectLst/>
        </p:spPr>
        <p:txBody>
          <a:bodyPr rtlCol="0" anchor="t" wrap="square"/>
          <a:lstStyle/>
          <a:p>
            <a:pPr algn="l">
              <a:spcAft>
                <a:spcPts val="0"/>
              </a:spcAft>
            </a:pPr>
            <a:r>
              <a:rPr sz="2000" b="1">
                <a:solidFill>
                  <a:srgbClr val="8E6F3E"/>
                </a:solidFill>
                <a:latin typeface="Calibri"/>
              </a:rPr>
              <a:t>EXPLORATORY REQUIREMENTS</a:t>
            </a:r>
          </a:p>
        </p:txBody>
      </p:sp>
      <p:sp>
        <p:nvSpPr>
          <p:cNvPr id="8" name="CauseBody"/>
          <p:cNvSpPr/>
          <p:nvPr/>
        </p:nvSpPr>
        <p:spPr>
          <a:xfrm>
            <a:off x="557784" y="2642616"/>
            <a:ext cx="3749040" cy="621792"/>
          </a:xfrm>
          <a:prstGeom prst="rect">
            <a:avLst/>
          </a:prstGeom>
          <a:noFill/>
          <a:ln>
            <a:noFill/>
          </a:ln>
          <a:effectLst/>
        </p:spPr>
        <p:txBody>
          <a:bodyPr rtlCol="0" anchor="t" wrap="square"/>
          <a:lstStyle/>
          <a:p>
            <a:pPr algn="l">
              <a:spcAft>
                <a:spcPts val="0"/>
              </a:spcAft>
            </a:pPr>
            <a:r>
              <a:rPr sz="2000" b="0">
                <a:solidFill>
                  <a:srgbClr val="555960"/>
                </a:solidFill>
                <a:latin typeface="Calibri"/>
              </a:rPr>
              <a:t>the problem is still being discovered while the code ships</a:t>
            </a:r>
          </a:p>
        </p:txBody>
      </p:sp>
      <p:sp>
        <p:nvSpPr>
          <p:cNvPr id="9" name="CauseCard"/>
          <p:cNvSpPr/>
          <p:nvPr/>
        </p:nvSpPr>
        <p:spPr>
          <a:xfrm>
            <a:off x="411480" y="3410712"/>
            <a:ext cx="4023360" cy="1115568"/>
          </a:xfrm>
          <a:prstGeom prst="rect">
            <a:avLst/>
          </a:prstGeom>
          <a:solidFill>
            <a:srgbClr val="F5F1E8"/>
          </a:solidFill>
          <a:ln>
            <a:noFill/>
          </a:ln>
          <a:effectLst/>
        </p:spPr>
        <p:txBody>
          <a:bodyPr rtlCol="0" anchor="ctr" wrap="square"/>
          <a:lstStyle/>
          <a:p/>
        </p:txBody>
      </p:sp>
      <p:sp>
        <p:nvSpPr>
          <p:cNvPr id="10" name="CauseLabel"/>
          <p:cNvSpPr/>
          <p:nvPr/>
        </p:nvSpPr>
        <p:spPr>
          <a:xfrm>
            <a:off x="557784" y="3465576"/>
            <a:ext cx="3749040" cy="384048"/>
          </a:xfrm>
          <a:prstGeom prst="rect">
            <a:avLst/>
          </a:prstGeom>
          <a:noFill/>
          <a:ln>
            <a:noFill/>
          </a:ln>
          <a:effectLst/>
        </p:spPr>
        <p:txBody>
          <a:bodyPr rtlCol="0" anchor="t" wrap="square"/>
          <a:lstStyle/>
          <a:p>
            <a:pPr algn="l">
              <a:spcAft>
                <a:spcPts val="0"/>
              </a:spcAft>
            </a:pPr>
            <a:r>
              <a:rPr sz="2000" b="1">
                <a:solidFill>
                  <a:srgbClr val="8E6F3E"/>
                </a:solidFill>
                <a:latin typeface="Calibri"/>
              </a:rPr>
              <a:t>SHORT EXPECTED LIFETIME</a:t>
            </a:r>
          </a:p>
        </p:txBody>
      </p:sp>
      <p:sp>
        <p:nvSpPr>
          <p:cNvPr id="11" name="CauseBody"/>
          <p:cNvSpPr/>
          <p:nvPr/>
        </p:nvSpPr>
        <p:spPr>
          <a:xfrm>
            <a:off x="557784" y="3867912"/>
            <a:ext cx="3749040" cy="621792"/>
          </a:xfrm>
          <a:prstGeom prst="rect">
            <a:avLst/>
          </a:prstGeom>
          <a:noFill/>
          <a:ln>
            <a:noFill/>
          </a:ln>
          <a:effectLst/>
        </p:spPr>
        <p:txBody>
          <a:bodyPr rtlCol="0" anchor="t" wrap="square"/>
          <a:lstStyle/>
          <a:p>
            <a:pPr algn="l">
              <a:spcAft>
                <a:spcPts val="0"/>
              </a:spcAft>
            </a:pPr>
            <a:r>
              <a:rPr sz="2000" b="0">
                <a:solidFill>
                  <a:srgbClr val="555960"/>
                </a:solidFill>
                <a:latin typeface="Calibri"/>
              </a:rPr>
              <a:t>throwaway code rarely gets thrown away</a:t>
            </a:r>
          </a:p>
        </p:txBody>
      </p:sp>
      <p:sp>
        <p:nvSpPr>
          <p:cNvPr id="12" name="AskCard"/>
          <p:cNvSpPr/>
          <p:nvPr/>
        </p:nvSpPr>
        <p:spPr>
          <a:xfrm>
            <a:off x="4617720" y="960120"/>
            <a:ext cx="4114800" cy="3584448"/>
          </a:xfrm>
          <a:prstGeom prst="rect">
            <a:avLst/>
          </a:prstGeom>
          <a:solidFill>
            <a:srgbClr val="FCFAF6"/>
          </a:solidFill>
          <a:ln>
            <a:noFill/>
          </a:ln>
          <a:effectLst/>
        </p:spPr>
        <p:txBody>
          <a:bodyPr rtlCol="0" anchor="ctr" wrap="square"/>
          <a:lstStyle/>
          <a:p/>
        </p:txBody>
      </p:sp>
      <p:sp>
        <p:nvSpPr>
          <p:cNvPr id="13" name="AskText"/>
          <p:cNvSpPr/>
          <p:nvPr/>
        </p:nvSpPr>
        <p:spPr>
          <a:xfrm>
            <a:off x="4764024" y="1051560"/>
            <a:ext cx="3822192" cy="3401568"/>
          </a:xfrm>
          <a:prstGeom prst="rect">
            <a:avLst/>
          </a:prstGeom>
          <a:noFill/>
          <a:ln>
            <a:noFill/>
          </a:ln>
          <a:effectLst/>
        </p:spPr>
        <p:txBody>
          <a:bodyPr rtlCol="0" anchor="ctr" wrap="square"/>
          <a:lstStyle/>
          <a:p>
            <a:pPr algn="l">
              <a:spcAft>
                <a:spcPts val="0"/>
              </a:spcAft>
            </a:pPr>
            <a:r>
              <a:rPr sz="2000" b="1">
                <a:solidFill>
                  <a:srgbClr val="2D2D2D"/>
                </a:solidFill>
                <a:latin typeface="Calibri"/>
              </a:rPr>
              <a:t>Must the agent-generated reservation service be clean before a single user exists?</a:t>
            </a:r>
          </a:p>
          <a:p>
            <a:pPr algn="l">
              <a:spcAft>
                <a:spcPts val="0"/>
              </a:spcAft>
            </a:pPr>
            <a:r>
              <a:rPr sz="2000" b="0">
                <a:solidFill>
                  <a:srgbClr val="555960"/>
                </a:solidFill>
                <a:latin typeface="Calibri"/>
              </a:rPr>
              <a:t>Foote &amp; Yoder answer no: piecemeal growth is a reasonable response to these forces.</a:t>
            </a:r>
          </a:p>
          <a:p>
            <a:pPr algn="l">
              <a:spcAft>
                <a:spcPts val="0"/>
              </a:spcAft>
            </a:pPr>
            <a:r>
              <a:rPr sz="2000" b="0">
                <a:solidFill>
                  <a:srgbClr val="555960"/>
                </a:solidFill>
                <a:latin typeface="Calibri"/>
              </a:rPr>
              <a:t>Then the laboratory request arrives, and the economics change: structure starts paying rent.</a:t>
            </a:r>
          </a:p>
        </p:txBody>
      </p:sp>
      <p:sp>
        <p:nvSpPr>
          <p:cNvPr id="14" name="Cite"/>
          <p:cNvSpPr/>
          <p:nvPr/>
        </p:nvSpPr>
        <p:spPr>
          <a:xfrm>
            <a:off x="411480" y="4709160"/>
            <a:ext cx="8321040" cy="347472"/>
          </a:xfrm>
          <a:prstGeom prst="rect">
            <a:avLst/>
          </a:prstGeom>
          <a:noFill/>
          <a:ln>
            <a:noFill/>
          </a:ln>
          <a:effectLst/>
        </p:spPr>
        <p:txBody>
          <a:bodyPr rtlCol="0" anchor="t" wrap="square"/>
          <a:lstStyle/>
          <a:p>
            <a:pPr algn="l">
              <a:spcAft>
                <a:spcPts val="0"/>
              </a:spcAft>
            </a:pPr>
            <a:r>
              <a:rPr sz="2000" b="0">
                <a:solidFill>
                  <a:srgbClr val="555960"/>
                </a:solidFill>
                <a:latin typeface="Calibri"/>
              </a:rPr>
              <a:t>Foote &amp; Yoder, Big Ball of Mud (1999), laputan.org/mud</a:t>
            </a:r>
          </a:p>
        </p:txBody>
      </p:sp>
      <p:sp>
        <p:nvSpPr>
          <p:cNvPr id="15"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When does structure start paying for itself?</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Debt varies by deliberation and by prudence</a:t>
            </a:r>
          </a:p>
        </p:txBody>
      </p:sp>
      <p:sp>
        <p:nvSpPr>
          <p:cNvPr id="3" name="ColHead"/>
          <p:cNvSpPr/>
          <p:nvPr/>
        </p:nvSpPr>
        <p:spPr>
          <a:xfrm>
            <a:off x="2194560" y="914400"/>
            <a:ext cx="3108960" cy="365760"/>
          </a:xfrm>
          <a:prstGeom prst="rect">
            <a:avLst/>
          </a:prstGeom>
          <a:noFill/>
          <a:ln>
            <a:noFill/>
          </a:ln>
          <a:effectLst/>
        </p:spPr>
        <p:txBody>
          <a:bodyPr rtlCol="0" anchor="ctr" wrap="square"/>
          <a:lstStyle/>
          <a:p>
            <a:pPr algn="ctr">
              <a:spcAft>
                <a:spcPts val="0"/>
              </a:spcAft>
            </a:pPr>
            <a:r>
              <a:rPr sz="2000" b="1">
                <a:solidFill>
                  <a:srgbClr val="5C4826"/>
                </a:solidFill>
                <a:latin typeface="Calibri"/>
              </a:rPr>
              <a:t>RECKLESS</a:t>
            </a:r>
          </a:p>
        </p:txBody>
      </p:sp>
      <p:sp>
        <p:nvSpPr>
          <p:cNvPr id="4" name="ColHead"/>
          <p:cNvSpPr/>
          <p:nvPr/>
        </p:nvSpPr>
        <p:spPr>
          <a:xfrm>
            <a:off x="5440680" y="914400"/>
            <a:ext cx="3108960" cy="365760"/>
          </a:xfrm>
          <a:prstGeom prst="rect">
            <a:avLst/>
          </a:prstGeom>
          <a:noFill/>
          <a:ln>
            <a:noFill/>
          </a:ln>
          <a:effectLst/>
        </p:spPr>
        <p:txBody>
          <a:bodyPr rtlCol="0" anchor="ctr" wrap="square"/>
          <a:lstStyle/>
          <a:p>
            <a:pPr algn="ctr">
              <a:spcAft>
                <a:spcPts val="0"/>
              </a:spcAft>
            </a:pPr>
            <a:r>
              <a:rPr sz="2000" b="1">
                <a:solidFill>
                  <a:srgbClr val="5C4826"/>
                </a:solidFill>
                <a:latin typeface="Calibri"/>
              </a:rPr>
              <a:t>PRUDENT</a:t>
            </a:r>
          </a:p>
        </p:txBody>
      </p:sp>
      <p:sp>
        <p:nvSpPr>
          <p:cNvPr id="5" name="RowHead"/>
          <p:cNvSpPr/>
          <p:nvPr/>
        </p:nvSpPr>
        <p:spPr>
          <a:xfrm>
            <a:off x="274320" y="1965960"/>
            <a:ext cx="1810512" cy="365760"/>
          </a:xfrm>
          <a:prstGeom prst="rect">
            <a:avLst/>
          </a:prstGeom>
          <a:noFill/>
          <a:ln>
            <a:noFill/>
          </a:ln>
          <a:effectLst/>
        </p:spPr>
        <p:txBody>
          <a:bodyPr rtlCol="0" anchor="ctr" wrap="square" lIns="27432" rIns="27432"/>
          <a:lstStyle/>
          <a:p>
            <a:pPr algn="l">
              <a:spcAft>
                <a:spcPts val="0"/>
              </a:spcAft>
            </a:pPr>
            <a:r>
              <a:rPr sz="2000" b="1">
                <a:solidFill>
                  <a:srgbClr val="5C4826"/>
                </a:solidFill>
                <a:latin typeface="Calibri"/>
              </a:rPr>
              <a:t>DELIBERATE</a:t>
            </a:r>
          </a:p>
        </p:txBody>
      </p:sp>
      <p:sp>
        <p:nvSpPr>
          <p:cNvPr id="6" name="RowHead"/>
          <p:cNvSpPr/>
          <p:nvPr/>
        </p:nvSpPr>
        <p:spPr>
          <a:xfrm>
            <a:off x="274320" y="3657600"/>
            <a:ext cx="1810512" cy="365760"/>
          </a:xfrm>
          <a:prstGeom prst="rect">
            <a:avLst/>
          </a:prstGeom>
          <a:noFill/>
          <a:ln>
            <a:noFill/>
          </a:ln>
          <a:effectLst/>
        </p:spPr>
        <p:txBody>
          <a:bodyPr rtlCol="0" anchor="ctr" wrap="square" lIns="27432" rIns="27432"/>
          <a:lstStyle/>
          <a:p>
            <a:pPr algn="l">
              <a:spcAft>
                <a:spcPts val="0"/>
              </a:spcAft>
            </a:pPr>
            <a:r>
              <a:rPr sz="2000" b="1">
                <a:solidFill>
                  <a:srgbClr val="5C4826"/>
                </a:solidFill>
                <a:latin typeface="Calibri"/>
              </a:rPr>
              <a:t>INADVERTENT</a:t>
            </a:r>
          </a:p>
        </p:txBody>
      </p:sp>
      <p:sp>
        <p:nvSpPr>
          <p:cNvPr id="7" name="QuadCard"/>
          <p:cNvSpPr/>
          <p:nvPr/>
        </p:nvSpPr>
        <p:spPr>
          <a:xfrm>
            <a:off x="2194560" y="1325880"/>
            <a:ext cx="3108960" cy="1600200"/>
          </a:xfrm>
          <a:prstGeom prst="rect">
            <a:avLst/>
          </a:prstGeom>
          <a:solidFill>
            <a:srgbClr val="F5F1E8"/>
          </a:solidFill>
          <a:ln>
            <a:noFill/>
          </a:ln>
          <a:effectLst/>
        </p:spPr>
        <p:txBody>
          <a:bodyPr rtlCol="0" anchor="ctr" wrap="square"/>
          <a:lstStyle/>
          <a:p/>
        </p:txBody>
      </p:sp>
      <p:sp>
        <p:nvSpPr>
          <p:cNvPr id="8" name="QuadText"/>
          <p:cNvSpPr/>
          <p:nvPr/>
        </p:nvSpPr>
        <p:spPr>
          <a:xfrm>
            <a:off x="2322576" y="1417320"/>
            <a:ext cx="2852928" cy="1417320"/>
          </a:xfrm>
          <a:prstGeom prst="rect">
            <a:avLst/>
          </a:prstGeom>
          <a:noFill/>
          <a:ln>
            <a:noFill/>
          </a:ln>
          <a:effectLst/>
        </p:spPr>
        <p:txBody>
          <a:bodyPr rtlCol="0" anchor="ctr" wrap="square"/>
          <a:lstStyle/>
          <a:p>
            <a:pPr algn="l">
              <a:spcAft>
                <a:spcPts val="0"/>
              </a:spcAft>
            </a:pPr>
            <a:r>
              <a:rPr sz="2000" b="1">
                <a:solidFill>
                  <a:srgbClr val="2D2D2D"/>
                </a:solidFill>
                <a:latin typeface="Calibri"/>
              </a:rPr>
              <a:t>"We do not have time for design"</a:t>
            </a:r>
          </a:p>
          <a:p>
            <a:pPr algn="l">
              <a:spcAft>
                <a:spcPts val="0"/>
              </a:spcAft>
            </a:pPr>
            <a:r>
              <a:rPr sz="2000" b="0">
                <a:solidFill>
                  <a:srgbClr val="555960"/>
                </a:solidFill>
                <a:latin typeface="Calibri"/>
              </a:rPr>
              <a:t>the shortcut is chosen, its cost is not</a:t>
            </a:r>
          </a:p>
        </p:txBody>
      </p:sp>
      <p:sp>
        <p:nvSpPr>
          <p:cNvPr id="9" name="QuadCard"/>
          <p:cNvSpPr/>
          <p:nvPr/>
        </p:nvSpPr>
        <p:spPr>
          <a:xfrm>
            <a:off x="5440680" y="1325880"/>
            <a:ext cx="3108960" cy="1600200"/>
          </a:xfrm>
          <a:prstGeom prst="rect">
            <a:avLst/>
          </a:prstGeom>
          <a:solidFill>
            <a:srgbClr val="F5F1E8"/>
          </a:solidFill>
          <a:ln>
            <a:noFill/>
          </a:ln>
          <a:effectLst/>
        </p:spPr>
        <p:txBody>
          <a:bodyPr rtlCol="0" anchor="ctr" wrap="square"/>
          <a:lstStyle/>
          <a:p/>
        </p:txBody>
      </p:sp>
      <p:sp>
        <p:nvSpPr>
          <p:cNvPr id="10" name="QuadText"/>
          <p:cNvSpPr/>
          <p:nvPr/>
        </p:nvSpPr>
        <p:spPr>
          <a:xfrm>
            <a:off x="5568696" y="1417320"/>
            <a:ext cx="2852928" cy="1417320"/>
          </a:xfrm>
          <a:prstGeom prst="rect">
            <a:avLst/>
          </a:prstGeom>
          <a:noFill/>
          <a:ln>
            <a:noFill/>
          </a:ln>
          <a:effectLst/>
        </p:spPr>
        <p:txBody>
          <a:bodyPr rtlCol="0" anchor="ctr" wrap="square"/>
          <a:lstStyle/>
          <a:p>
            <a:pPr algn="l">
              <a:spcAft>
                <a:spcPts val="0"/>
              </a:spcAft>
            </a:pPr>
            <a:r>
              <a:rPr sz="2000" b="1">
                <a:solidFill>
                  <a:srgbClr val="2D2D2D"/>
                </a:solidFill>
                <a:latin typeface="Calibri"/>
              </a:rPr>
              <a:t>"Ship the lab policy hard-coded; record the cost and the plan"</a:t>
            </a:r>
          </a:p>
          <a:p>
            <a:pPr algn="l">
              <a:spcAft>
                <a:spcPts val="0"/>
              </a:spcAft>
            </a:pPr>
            <a:r>
              <a:rPr sz="2000" b="0">
                <a:solidFill>
                  <a:srgbClr val="555960"/>
                </a:solidFill>
                <a:latin typeface="Calibri"/>
              </a:rPr>
              <a:t>a priced, scheduled trade</a:t>
            </a:r>
          </a:p>
        </p:txBody>
      </p:sp>
      <p:sp>
        <p:nvSpPr>
          <p:cNvPr id="11" name="QuadCard"/>
          <p:cNvSpPr/>
          <p:nvPr/>
        </p:nvSpPr>
        <p:spPr>
          <a:xfrm>
            <a:off x="2194560" y="3017520"/>
            <a:ext cx="3108960" cy="1600200"/>
          </a:xfrm>
          <a:prstGeom prst="rect">
            <a:avLst/>
          </a:prstGeom>
          <a:solidFill>
            <a:srgbClr val="F5F1E8"/>
          </a:solidFill>
          <a:ln>
            <a:noFill/>
          </a:ln>
          <a:effectLst/>
        </p:spPr>
        <p:txBody>
          <a:bodyPr rtlCol="0" anchor="ctr" wrap="square"/>
          <a:lstStyle/>
          <a:p/>
        </p:txBody>
      </p:sp>
      <p:sp>
        <p:nvSpPr>
          <p:cNvPr id="12" name="QuadText"/>
          <p:cNvSpPr/>
          <p:nvPr/>
        </p:nvSpPr>
        <p:spPr>
          <a:xfrm>
            <a:off x="2322576" y="3108960"/>
            <a:ext cx="2852928" cy="1417320"/>
          </a:xfrm>
          <a:prstGeom prst="rect">
            <a:avLst/>
          </a:prstGeom>
          <a:noFill/>
          <a:ln>
            <a:noFill/>
          </a:ln>
          <a:effectLst/>
        </p:spPr>
        <p:txBody>
          <a:bodyPr rtlCol="0" anchor="ctr" wrap="square"/>
          <a:lstStyle/>
          <a:p>
            <a:pPr algn="l">
              <a:spcAft>
                <a:spcPts val="0"/>
              </a:spcAft>
            </a:pPr>
            <a:r>
              <a:rPr sz="2000" b="1">
                <a:solidFill>
                  <a:srgbClr val="2D2D2D"/>
                </a:solidFill>
                <a:latin typeface="Calibri"/>
              </a:rPr>
              <a:t>"What is layering?"</a:t>
            </a:r>
          </a:p>
          <a:p>
            <a:pPr algn="l">
              <a:spcAft>
                <a:spcPts val="0"/>
              </a:spcAft>
            </a:pPr>
            <a:r>
              <a:rPr sz="2000" b="0">
                <a:solidFill>
                  <a:srgbClr val="555960"/>
                </a:solidFill>
                <a:latin typeface="Calibri"/>
              </a:rPr>
              <a:t>the mess is invisible to its author</a:t>
            </a:r>
          </a:p>
        </p:txBody>
      </p:sp>
      <p:sp>
        <p:nvSpPr>
          <p:cNvPr id="13" name="QuadCard"/>
          <p:cNvSpPr/>
          <p:nvPr/>
        </p:nvSpPr>
        <p:spPr>
          <a:xfrm>
            <a:off x="5440680" y="3017520"/>
            <a:ext cx="3108960" cy="1600200"/>
          </a:xfrm>
          <a:prstGeom prst="rect">
            <a:avLst/>
          </a:prstGeom>
          <a:solidFill>
            <a:srgbClr val="F5F1E8"/>
          </a:solidFill>
          <a:ln>
            <a:noFill/>
          </a:ln>
          <a:effectLst/>
        </p:spPr>
        <p:txBody>
          <a:bodyPr rtlCol="0" anchor="ctr" wrap="square"/>
          <a:lstStyle/>
          <a:p/>
        </p:txBody>
      </p:sp>
      <p:sp>
        <p:nvSpPr>
          <p:cNvPr id="14" name="QuadText"/>
          <p:cNvSpPr/>
          <p:nvPr/>
        </p:nvSpPr>
        <p:spPr>
          <a:xfrm>
            <a:off x="5568696" y="3108960"/>
            <a:ext cx="2852928" cy="1417320"/>
          </a:xfrm>
          <a:prstGeom prst="rect">
            <a:avLst/>
          </a:prstGeom>
          <a:noFill/>
          <a:ln>
            <a:noFill/>
          </a:ln>
          <a:effectLst/>
        </p:spPr>
        <p:txBody>
          <a:bodyPr rtlCol="0" anchor="ctr" wrap="square"/>
          <a:lstStyle/>
          <a:p>
            <a:pPr algn="l">
              <a:spcAft>
                <a:spcPts val="0"/>
              </a:spcAft>
            </a:pPr>
            <a:r>
              <a:rPr sz="2000" b="1">
                <a:solidFill>
                  <a:srgbClr val="2D2D2D"/>
                </a:solidFill>
                <a:latin typeface="Calibri"/>
              </a:rPr>
              <a:t>"Now we know how policies should have been modeled"</a:t>
            </a:r>
          </a:p>
          <a:p>
            <a:pPr algn="l">
              <a:spcAft>
                <a:spcPts val="0"/>
              </a:spcAft>
            </a:pPr>
            <a:r>
              <a:rPr sz="2000" b="0">
                <a:solidFill>
                  <a:srgbClr val="555960"/>
                </a:solidFill>
                <a:latin typeface="Calibri"/>
              </a:rPr>
              <a:t>learning reveals debt that no one chose</a:t>
            </a:r>
          </a:p>
        </p:txBody>
      </p:sp>
      <p:sp>
        <p:nvSpPr>
          <p:cNvPr id="15" name="BandCard"/>
          <p:cNvSpPr/>
          <p:nvPr/>
        </p:nvSpPr>
        <p:spPr>
          <a:xfrm>
            <a:off x="411480" y="4846320"/>
            <a:ext cx="8321040" cy="777240"/>
          </a:xfrm>
          <a:prstGeom prst="rect">
            <a:avLst/>
          </a:prstGeom>
          <a:solidFill>
            <a:srgbClr val="FCFAF6"/>
          </a:solidFill>
          <a:ln>
            <a:noFill/>
          </a:ln>
          <a:effectLst/>
        </p:spPr>
        <p:txBody>
          <a:bodyPr rtlCol="0" anchor="ctr" wrap="square"/>
          <a:lstStyle/>
          <a:p/>
        </p:txBody>
      </p:sp>
      <p:sp>
        <p:nvSpPr>
          <p:cNvPr id="16" name="BandText"/>
          <p:cNvSpPr/>
          <p:nvPr/>
        </p:nvSpPr>
        <p:spPr>
          <a:xfrm>
            <a:off x="557784" y="4919472"/>
            <a:ext cx="8046720" cy="640080"/>
          </a:xfrm>
          <a:prstGeom prst="rect">
            <a:avLst/>
          </a:prstGeom>
          <a:noFill/>
          <a:ln>
            <a:noFill/>
          </a:ln>
          <a:effectLst/>
        </p:spPr>
        <p:txBody>
          <a:bodyPr rtlCol="0" anchor="ctr" wrap="square"/>
          <a:lstStyle/>
          <a:p>
            <a:pPr algn="l">
              <a:spcAft>
                <a:spcPts val="0"/>
              </a:spcAft>
            </a:pPr>
            <a:r>
              <a:rPr sz="2000" b="1">
                <a:solidFill>
                  <a:srgbClr val="C01B1B"/>
                </a:solidFill>
                <a:latin typeface="Calibri"/>
              </a:rPr>
              <a:t>Not all ugliness is debt</a:t>
            </a:r>
            <a:r>
              <a:rPr sz="2000" b="0">
                <a:solidFill>
                  <a:srgbClr val="555960"/>
                </a:solidFill>
                <a:latin typeface="Calibri"/>
              </a:rPr>
              <a:t>   debt is expected future cost, not offended taste</a:t>
            </a:r>
          </a:p>
        </p:txBody>
      </p:sp>
      <p:sp>
        <p:nvSpPr>
          <p:cNvPr id="17" name="Cite"/>
          <p:cNvSpPr/>
          <p:nvPr/>
        </p:nvSpPr>
        <p:spPr>
          <a:xfrm>
            <a:off x="411480" y="5742432"/>
            <a:ext cx="8321040" cy="347472"/>
          </a:xfrm>
          <a:prstGeom prst="rect">
            <a:avLst/>
          </a:prstGeom>
          <a:noFill/>
          <a:ln>
            <a:noFill/>
          </a:ln>
          <a:effectLst/>
        </p:spPr>
        <p:txBody>
          <a:bodyPr rtlCol="0" anchor="t" wrap="square"/>
          <a:lstStyle/>
          <a:p>
            <a:pPr algn="l">
              <a:spcAft>
                <a:spcPts val="0"/>
              </a:spcAft>
            </a:pPr>
            <a:r>
              <a:rPr sz="2000" b="0">
                <a:solidFill>
                  <a:srgbClr val="555960"/>
                </a:solidFill>
                <a:latin typeface="Calibri"/>
              </a:rPr>
              <a:t>Fowler (2009), Technical Debt Quadrant, martinfowler.com/bliki/TechnicalDebtQuadrant.html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Price the shortcut before you take it</a:t>
            </a:r>
          </a:p>
        </p:txBody>
      </p:sp>
      <p:sp>
        <p:nvSpPr>
          <p:cNvPr id="3" name="ChoiceCard"/>
          <p:cNvSpPr/>
          <p:nvPr/>
        </p:nvSpPr>
        <p:spPr>
          <a:xfrm>
            <a:off x="411480" y="914400"/>
            <a:ext cx="4023360" cy="2651760"/>
          </a:xfrm>
          <a:prstGeom prst="rect">
            <a:avLst/>
          </a:prstGeom>
          <a:solidFill>
            <a:srgbClr val="F5F1E8"/>
          </a:solidFill>
          <a:ln>
            <a:noFill/>
          </a:ln>
          <a:effectLst/>
        </p:spPr>
        <p:txBody>
          <a:bodyPr rtlCol="0" anchor="ctr" wrap="square"/>
          <a:lstStyle/>
          <a:p/>
        </p:txBody>
      </p:sp>
      <p:sp>
        <p:nvSpPr>
          <p:cNvPr id="4" name="ChoiceLabel"/>
          <p:cNvSpPr/>
          <p:nvPr/>
        </p:nvSpPr>
        <p:spPr>
          <a:xfrm>
            <a:off x="557784" y="987552"/>
            <a:ext cx="374904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THE CHOICE</a:t>
            </a:r>
          </a:p>
        </p:txBody>
      </p:sp>
      <p:sp>
        <p:nvSpPr>
          <p:cNvPr id="5" name="ChoiceBody"/>
          <p:cNvSpPr/>
          <p:nvPr/>
        </p:nvSpPr>
        <p:spPr>
          <a:xfrm>
            <a:off x="557784" y="1389888"/>
            <a:ext cx="3749040" cy="2103120"/>
          </a:xfrm>
          <a:prstGeom prst="rect">
            <a:avLst/>
          </a:prstGeom>
          <a:noFill/>
          <a:ln>
            <a:noFill/>
          </a:ln>
          <a:effectLst/>
        </p:spPr>
        <p:txBody>
          <a:bodyPr rtlCol="0" anchor="ctr" wrap="square"/>
          <a:lstStyle/>
          <a:p>
            <a:pPr algn="l">
              <a:spcAft>
                <a:spcPts val="0"/>
              </a:spcAft>
            </a:pPr>
            <a:r>
              <a:rPr sz="2000" b="1">
                <a:solidFill>
                  <a:srgbClr val="2D2D2D"/>
                </a:solidFill>
                <a:latin typeface="Calibri"/>
              </a:rPr>
              <a:t>Clean design: 10 staff-days</a:t>
            </a:r>
          </a:p>
          <a:p>
            <a:pPr algn="l">
              <a:spcAft>
                <a:spcPts val="0"/>
              </a:spcAft>
            </a:pPr>
            <a:r>
              <a:rPr sz="2000" b="1">
                <a:solidFill>
                  <a:srgbClr val="2D2D2D"/>
                </a:solidFill>
                <a:latin typeface="Calibri"/>
              </a:rPr>
              <a:t>Shortcut: 2 staff-days now</a:t>
            </a:r>
          </a:p>
          <a:p>
            <a:pPr algn="l">
              <a:spcAft>
                <a:spcPts val="0"/>
              </a:spcAft>
            </a:pPr>
            <a:r>
              <a:rPr sz="2000" b="0">
                <a:solidFill>
                  <a:srgbClr val="555960"/>
                </a:solidFill>
                <a:latin typeface="Calibri"/>
              </a:rPr>
              <a:t>+ 0.5 staff-day per month servicing</a:t>
            </a:r>
          </a:p>
          <a:p>
            <a:pPr algn="l">
              <a:spcAft>
                <a:spcPts val="0"/>
              </a:spcAft>
            </a:pPr>
            <a:r>
              <a:rPr sz="2000" b="0">
                <a:solidFill>
                  <a:srgbClr val="555960"/>
                </a:solidFill>
                <a:latin typeface="Calibri"/>
              </a:rPr>
              <a:t>+ 12 staff-days to retrofit later</a:t>
            </a:r>
          </a:p>
        </p:txBody>
      </p:sp>
      <p:sp>
        <p:nvSpPr>
          <p:cNvPr id="6" name="FutureCard"/>
          <p:cNvSpPr/>
          <p:nvPr/>
        </p:nvSpPr>
        <p:spPr>
          <a:xfrm>
            <a:off x="4617720" y="914400"/>
            <a:ext cx="4114800" cy="2651760"/>
          </a:xfrm>
          <a:prstGeom prst="rect">
            <a:avLst/>
          </a:prstGeom>
          <a:solidFill>
            <a:srgbClr val="FCFAF6"/>
          </a:solidFill>
          <a:ln>
            <a:noFill/>
          </a:ln>
          <a:effectLst/>
        </p:spPr>
        <p:txBody>
          <a:bodyPr rtlCol="0" anchor="ctr" wrap="square"/>
          <a:lstStyle/>
          <a:p/>
        </p:txBody>
      </p:sp>
      <p:sp>
        <p:nvSpPr>
          <p:cNvPr id="7" name="FutureLabel"/>
          <p:cNvSpPr/>
          <p:nvPr/>
        </p:nvSpPr>
        <p:spPr>
          <a:xfrm>
            <a:off x="4764024" y="987552"/>
            <a:ext cx="384048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TWO FUTURES: COMPUTE BOTH</a:t>
            </a:r>
          </a:p>
        </p:txBody>
      </p:sp>
      <p:sp>
        <p:nvSpPr>
          <p:cNvPr id="8" name="FutureBody"/>
          <p:cNvSpPr/>
          <p:nvPr/>
        </p:nvSpPr>
        <p:spPr>
          <a:xfrm>
            <a:off x="4764024" y="1389888"/>
            <a:ext cx="3840480" cy="713232"/>
          </a:xfrm>
          <a:prstGeom prst="rect">
            <a:avLst/>
          </a:prstGeom>
          <a:noFill/>
          <a:ln>
            <a:noFill/>
          </a:ln>
          <a:effectLst/>
        </p:spPr>
        <p:txBody>
          <a:bodyPr rtlCol="0" anchor="t" wrap="square"/>
          <a:lstStyle/>
          <a:p>
            <a:pPr algn="l">
              <a:spcAft>
                <a:spcPts val="0"/>
              </a:spcAft>
            </a:pPr>
            <a:r>
              <a:rPr sz="2000" b="0">
                <a:solidFill>
                  <a:srgbClr val="2D2D2D"/>
                </a:solidFill>
                <a:latin typeface="Calibri"/>
              </a:rPr>
              <a:t>A: retire it at 3 months</a:t>
            </a:r>
          </a:p>
          <a:p>
            <a:pPr algn="l">
              <a:spcAft>
                <a:spcPts val="0"/>
              </a:spcAft>
            </a:pPr>
            <a:r>
              <a:rPr sz="2000" b="0">
                <a:solidFill>
                  <a:srgbClr val="2D2D2D"/>
                </a:solidFill>
                <a:latin typeface="Calibri"/>
              </a:rPr>
              <a:t>B: run 24 months, retrofit</a:t>
            </a:r>
          </a:p>
        </p:txBody>
      </p:sp>
      <p:sp>
        <p:nvSpPr>
          <p:cNvPr id="9" name="Answer"/>
          <p:cNvSpPr/>
          <p:nvPr/>
        </p:nvSpPr>
        <p:spPr>
          <a:xfrm>
            <a:off x="4764024" y="2176272"/>
            <a:ext cx="3840480" cy="640080"/>
          </a:xfrm>
          <a:prstGeom prst="rect">
            <a:avLst/>
          </a:prstGeom>
          <a:noFill/>
          <a:ln>
            <a:noFill/>
          </a:ln>
          <a:effectLst/>
        </p:spPr>
        <p:txBody>
          <a:bodyPr rtlCol="0" anchor="t" wrap="square"/>
          <a:lstStyle/>
          <a:p>
            <a:pPr algn="l">
              <a:spcAft>
                <a:spcPts val="0"/>
              </a:spcAft>
            </a:pPr>
            <a:r>
              <a:rPr sz="2000" b="0">
                <a:solidFill>
                  <a:srgbClr val="2D2D2D"/>
                </a:solidFill>
                <a:latin typeface="Calibri"/>
              </a:rPr>
              <a:t>A: 2 + 1.5 = 3.5 vs 10</a:t>
            </a:r>
          </a:p>
          <a:p>
            <a:pPr algn="l">
              <a:spcAft>
                <a:spcPts val="0"/>
              </a:spcAft>
            </a:pPr>
            <a:r>
              <a:rPr sz="2000" b="1">
                <a:solidFill>
                  <a:srgbClr val="5C4826"/>
                </a:solidFill>
                <a:latin typeface="Calibri"/>
              </a:rPr>
              <a:t>the shortcut wins</a:t>
            </a:r>
          </a:p>
        </p:txBody>
      </p:sp>
      <p:sp>
        <p:nvSpPr>
          <p:cNvPr id="10" name="Answer"/>
          <p:cNvSpPr/>
          <p:nvPr/>
        </p:nvSpPr>
        <p:spPr>
          <a:xfrm>
            <a:off x="4764024" y="2852928"/>
            <a:ext cx="3840480" cy="640080"/>
          </a:xfrm>
          <a:prstGeom prst="rect">
            <a:avLst/>
          </a:prstGeom>
          <a:noFill/>
          <a:ln>
            <a:noFill/>
          </a:ln>
          <a:effectLst/>
        </p:spPr>
        <p:txBody>
          <a:bodyPr rtlCol="0" anchor="t" wrap="square"/>
          <a:lstStyle/>
          <a:p>
            <a:pPr algn="l">
              <a:spcAft>
                <a:spcPts val="0"/>
              </a:spcAft>
            </a:pPr>
            <a:r>
              <a:rPr sz="2000" b="0">
                <a:solidFill>
                  <a:srgbClr val="2D2D2D"/>
                </a:solidFill>
                <a:latin typeface="Calibri"/>
              </a:rPr>
              <a:t>B: 2 + 12 + 12 = 26 vs 10</a:t>
            </a:r>
          </a:p>
          <a:p>
            <a:pPr algn="l">
              <a:spcAft>
                <a:spcPts val="0"/>
              </a:spcAft>
            </a:pPr>
            <a:r>
              <a:rPr sz="2000" b="1">
                <a:solidFill>
                  <a:srgbClr val="C01B1B"/>
                </a:solidFill>
                <a:latin typeface="Calibri"/>
              </a:rPr>
              <a:t>the clean design wins</a:t>
            </a:r>
          </a:p>
        </p:txBody>
      </p:sp>
      <p:sp>
        <p:nvSpPr>
          <p:cNvPr id="11" name="BandCard"/>
          <p:cNvSpPr/>
          <p:nvPr/>
        </p:nvSpPr>
        <p:spPr>
          <a:xfrm>
            <a:off x="411480" y="3749040"/>
            <a:ext cx="8321040" cy="1207008"/>
          </a:xfrm>
          <a:prstGeom prst="rect">
            <a:avLst/>
          </a:prstGeom>
          <a:solidFill>
            <a:srgbClr val="F5F1E8"/>
          </a:solidFill>
          <a:ln>
            <a:noFill/>
          </a:ln>
          <a:effectLst/>
        </p:spPr>
        <p:txBody>
          <a:bodyPr rtlCol="0" anchor="ctr" wrap="square"/>
          <a:lstStyle/>
          <a:p/>
        </p:txBody>
      </p:sp>
      <p:sp>
        <p:nvSpPr>
          <p:cNvPr id="12" name="BandText"/>
          <p:cNvSpPr/>
          <p:nvPr/>
        </p:nvSpPr>
        <p:spPr>
          <a:xfrm>
            <a:off x="557784" y="3822192"/>
            <a:ext cx="8046720" cy="1078992"/>
          </a:xfrm>
          <a:prstGeom prst="rect">
            <a:avLst/>
          </a:prstGeom>
          <a:noFill/>
          <a:ln>
            <a:noFill/>
          </a:ln>
          <a:effectLst/>
        </p:spPr>
        <p:txBody>
          <a:bodyPr rtlCol="0" anchor="t" wrap="square"/>
          <a:lstStyle/>
          <a:p>
            <a:pPr algn="l">
              <a:spcAft>
                <a:spcPts val="0"/>
              </a:spcAft>
            </a:pPr>
            <a:r>
              <a:rPr sz="2000" b="1">
                <a:solidFill>
                  <a:srgbClr val="5C4826"/>
                </a:solidFill>
                <a:latin typeface="Calibri"/>
              </a:rPr>
              <a:t>The horizon and the servicing rate are assumptions; state them</a:t>
            </a:r>
          </a:p>
          <a:p>
            <a:pPr algn="l">
              <a:spcAft>
                <a:spcPts val="0"/>
              </a:spcAft>
            </a:pPr>
            <a:r>
              <a:rPr sz="2000" b="0">
                <a:solidFill>
                  <a:srgbClr val="555960"/>
                </a:solidFill>
                <a:latin typeface="Calibri"/>
              </a:rPr>
              <a:t>Agentic implementation lowers the build cost; verification, integration, and maintenance do not shrink proportionately.</a:t>
            </a:r>
          </a:p>
        </p:txBody>
      </p:sp>
      <p:sp>
        <p:nvSpPr>
          <p:cNvPr id="13" name="Cite"/>
          <p:cNvSpPr/>
          <p:nvPr/>
        </p:nvSpPr>
        <p:spPr>
          <a:xfrm>
            <a:off x="411480" y="5102352"/>
            <a:ext cx="8321040" cy="347472"/>
          </a:xfrm>
          <a:prstGeom prst="rect">
            <a:avLst/>
          </a:prstGeom>
          <a:noFill/>
          <a:ln>
            <a:noFill/>
          </a:ln>
          <a:effectLst/>
        </p:spPr>
        <p:txBody>
          <a:bodyPr rtlCol="0" anchor="t" wrap="square"/>
          <a:lstStyle/>
          <a:p>
            <a:pPr algn="l">
              <a:spcAft>
                <a:spcPts val="0"/>
              </a:spcAft>
            </a:pPr>
            <a:r>
              <a:rPr sz="2000" b="0">
                <a:solidFill>
                  <a:srgbClr val="555960"/>
                </a:solidFill>
                <a:latin typeface="Calibri"/>
              </a:rPr>
              <a:t>Figures: McConnell (2008), Managing Technical Debt, via ECE 595 Maintenance</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9"/>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What architecture did we actually build?</a:t>
            </a:r>
          </a:p>
        </p:txBody>
      </p:sp>
      <p:sp>
        <p:nvSpPr>
          <p:cNvPr id="3" name="SectionLabel"/>
          <p:cNvSpPr/>
          <p:nvPr/>
        </p:nvSpPr>
        <p:spPr>
          <a:xfrm>
            <a:off x="640080" y="2240280"/>
            <a:ext cx="7863840" cy="868680"/>
          </a:xfrm>
          <a:prstGeom prst="rect">
            <a:avLst/>
          </a:prstGeom>
          <a:noFill/>
          <a:ln>
            <a:noFill/>
          </a:ln>
          <a:effectLst/>
        </p:spPr>
        <p:txBody>
          <a:bodyPr rtlCol="0" anchor="ctr" wrap="square"/>
          <a:lstStyle/>
          <a:p>
            <a:pPr algn="ctr">
              <a:spcAft>
                <a:spcPts val="0"/>
              </a:spcAft>
            </a:pPr>
            <a:r>
              <a:rPr sz="3600" b="1">
                <a:solidFill>
                  <a:srgbClr val="8E6F3E"/>
                </a:solidFill>
                <a:latin typeface="Calibri"/>
              </a:rPr>
              <a:t>SECTION 2</a:t>
            </a:r>
          </a:p>
        </p:txBody>
      </p:sp>
      <p:sp>
        <p:nvSpPr>
          <p:cNvPr id="4" name="OrientingSentence"/>
          <p:cNvSpPr/>
          <p:nvPr/>
        </p:nvSpPr>
        <p:spPr>
          <a:xfrm>
            <a:off x="914400" y="3474720"/>
            <a:ext cx="7315200" cy="1097280"/>
          </a:xfrm>
          <a:prstGeom prst="rect">
            <a:avLst/>
          </a:prstGeom>
          <a:noFill/>
          <a:ln>
            <a:noFill/>
          </a:ln>
          <a:effectLst/>
        </p:spPr>
        <p:txBody>
          <a:bodyPr rtlCol="0" anchor="t" wrap="square"/>
          <a:lstStyle/>
          <a:p>
            <a:pPr algn="ctr">
              <a:spcAft>
                <a:spcPts val="0"/>
              </a:spcAft>
            </a:pPr>
            <a:r>
              <a:rPr sz="2200" b="0">
                <a:solidFill>
                  <a:srgbClr val="555960"/>
                </a:solidFill>
                <a:latin typeface="Calibri"/>
              </a:rPr>
              <a:t>Act I chose structure before building. A generated system asks us to work backward: recover the structure from what was built.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Recover the structure from the realization</a:t>
            </a:r>
          </a:p>
        </p:txBody>
      </p:sp>
      <p:sp>
        <p:nvSpPr>
          <p:cNvPr id="3" name="DirChip"/>
          <p:cNvSpPr/>
          <p:nvPr/>
        </p:nvSpPr>
        <p:spPr>
          <a:xfrm>
            <a:off x="411480" y="841248"/>
            <a:ext cx="4023360" cy="402336"/>
          </a:xfrm>
          <a:prstGeom prst="rect">
            <a:avLst/>
          </a:prstGeom>
          <a:solidFill>
            <a:srgbClr val="FCFAF6"/>
          </a:solidFill>
          <a:ln>
            <a:noFill/>
          </a:ln>
          <a:effectLst/>
        </p:spPr>
        <p:txBody>
          <a:bodyPr rtlCol="0" anchor="ctr" wrap="square"/>
          <a:lstStyle/>
          <a:p>
            <a:pPr algn="l">
              <a:spcAft>
                <a:spcPts val="0"/>
              </a:spcAft>
            </a:pPr>
            <a:r>
              <a:rPr sz="2000" b="1">
                <a:solidFill>
                  <a:srgbClr val="8E6F3E"/>
                </a:solidFill>
                <a:latin typeface="Calibri"/>
              </a:rPr>
              <a:t>ACT I   </a:t>
            </a:r>
            <a:r>
              <a:rPr sz="2000" b="0">
                <a:solidFill>
                  <a:srgbClr val="555960"/>
                </a:solidFill>
                <a:latin typeface="Calibri"/>
              </a:rPr>
              <a:t>intended model → code</a:t>
            </a:r>
          </a:p>
        </p:txBody>
      </p:sp>
      <p:sp>
        <p:nvSpPr>
          <p:cNvPr id="4" name="DirChip"/>
          <p:cNvSpPr/>
          <p:nvPr/>
        </p:nvSpPr>
        <p:spPr>
          <a:xfrm>
            <a:off x="4617720" y="841248"/>
            <a:ext cx="4114800" cy="402336"/>
          </a:xfrm>
          <a:prstGeom prst="rect">
            <a:avLst/>
          </a:prstGeom>
          <a:solidFill>
            <a:srgbClr val="FCFAF6"/>
          </a:solidFill>
          <a:ln>
            <a:noFill/>
          </a:ln>
          <a:effectLst/>
        </p:spPr>
        <p:txBody>
          <a:bodyPr rtlCol="0" anchor="ctr" wrap="square"/>
          <a:lstStyle/>
          <a:p>
            <a:pPr algn="l">
              <a:spcAft>
                <a:spcPts val="0"/>
              </a:spcAft>
            </a:pPr>
            <a:r>
              <a:rPr sz="2000" b="1">
                <a:solidFill>
                  <a:srgbClr val="8E6F3E"/>
                </a:solidFill>
                <a:latin typeface="Calibri"/>
              </a:rPr>
              <a:t>TODAY   </a:t>
            </a:r>
            <a:r>
              <a:rPr sz="2000" b="0">
                <a:solidFill>
                  <a:srgbClr val="555960"/>
                </a:solidFill>
                <a:latin typeface="Calibri"/>
              </a:rPr>
              <a:t>code → recovered model</a:t>
            </a:r>
          </a:p>
        </p:txBody>
      </p:sp>
      <p:sp>
        <p:nvSpPr>
          <p:cNvPr id="5" name="Node" descr="Recovered module graph: handlers depend on policy, authorization, and persistence directly; policy and authorization depend on persistence; persistence talks to the database; authorization also queries the database directly at runtime"/>
          <p:cNvSpPr/>
          <p:nvPr/>
        </p:nvSpPr>
        <p:spPr>
          <a:xfrm>
            <a:off x="640080" y="1600200"/>
            <a:ext cx="201168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HTTP HANDLERS</a:t>
            </a:r>
          </a:p>
        </p:txBody>
      </p:sp>
      <p:sp>
        <p:nvSpPr>
          <p:cNvPr id="6" name="Node" descr="Booking policy carries the laboratory change request"/>
          <p:cNvSpPr/>
          <p:nvPr/>
        </p:nvSpPr>
        <p:spPr>
          <a:xfrm>
            <a:off x="3566160" y="1600200"/>
            <a:ext cx="201168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BOOKING POLICY</a:t>
            </a:r>
          </a:p>
          <a:p>
            <a:pPr algn="ctr">
              <a:spcAft>
                <a:spcPts val="0"/>
              </a:spcAft>
            </a:pPr>
            <a:r>
              <a:rPr sz="2000" b="0">
                <a:solidFill>
                  <a:srgbClr val="FFFFFF"/>
                </a:solidFill>
                <a:latin typeface="Calibri"/>
              </a:rPr>
              <a:t>Δ lab policy</a:t>
            </a:r>
          </a:p>
        </p:txBody>
      </p:sp>
      <p:sp>
        <p:nvSpPr>
          <p:cNvPr id="7" name="Node"/>
          <p:cNvSpPr/>
          <p:nvPr/>
        </p:nvSpPr>
        <p:spPr>
          <a:xfrm>
            <a:off x="640080" y="2926080"/>
            <a:ext cx="201168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AUTHORIZATION</a:t>
            </a:r>
          </a:p>
        </p:txBody>
      </p:sp>
      <p:sp>
        <p:nvSpPr>
          <p:cNvPr id="8" name="Node"/>
          <p:cNvSpPr/>
          <p:nvPr/>
        </p:nvSpPr>
        <p:spPr>
          <a:xfrm>
            <a:off x="3566160" y="2926080"/>
            <a:ext cx="201168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PERSISTENCE</a:t>
            </a:r>
          </a:p>
        </p:txBody>
      </p:sp>
      <p:sp>
        <p:nvSpPr>
          <p:cNvPr id="9" name="Node"/>
          <p:cNvSpPr/>
          <p:nvPr/>
        </p:nvSpPr>
        <p:spPr>
          <a:xfrm>
            <a:off x="3566160" y="4251960"/>
            <a:ext cx="2011680" cy="685800"/>
          </a:xfrm>
          <a:prstGeom prst="rect">
            <a:avLst/>
          </a:prstGeom>
          <a:solidFill>
            <a:srgbClr val="5C4826"/>
          </a:solidFill>
          <a:ln>
            <a:noFill/>
          </a:ln>
          <a:effectLst/>
        </p:spPr>
        <p:txBody>
          <a:bodyPr rtlCol="0" anchor="ctr" wrap="square"/>
          <a:lstStyle/>
          <a:p>
            <a:pPr algn="ctr">
              <a:spcAft>
                <a:spcPts val="0"/>
              </a:spcAft>
            </a:pPr>
            <a:r>
              <a:rPr sz="2000" b="1">
                <a:solidFill>
                  <a:srgbClr val="FFFFFF"/>
                </a:solidFill>
                <a:latin typeface="Calibri"/>
              </a:rPr>
              <a:t>DATABASE</a:t>
            </a:r>
          </a:p>
        </p:txBody>
      </p:sp>
      <p:cxnSp>
        <p:nvCxnSpPr>
          <p:cNvPr id="10" name="EdgeHP"/>
          <p:cNvCxnSpPr/>
          <p:nvPr/>
        </p:nvCxnSpPr>
        <p:spPr>
          <a:xfrm>
            <a:off x="2651760" y="1783080"/>
            <a:ext cx="914400" cy="0"/>
          </a:xfrm>
          <a:prstGeom prst="line">
            <a:avLst/>
          </a:prstGeom>
          <a:ln w="19050">
            <a:solidFill>
              <a:srgbClr val="8E6F3E"/>
            </a:solidFill>
            <a:tailEnd type="triangle" w="med" len="med"/>
          </a:ln>
        </p:spPr>
      </p:cxnSp>
      <p:cxnSp>
        <p:nvCxnSpPr>
          <p:cNvPr id="11" name="EdgeHA"/>
          <p:cNvCxnSpPr/>
          <p:nvPr/>
        </p:nvCxnSpPr>
        <p:spPr>
          <a:xfrm>
            <a:off x="1645920" y="2286000"/>
            <a:ext cx="0" cy="640080"/>
          </a:xfrm>
          <a:prstGeom prst="line">
            <a:avLst/>
          </a:prstGeom>
          <a:ln w="19050">
            <a:solidFill>
              <a:srgbClr val="8E6F3E"/>
            </a:solidFill>
            <a:tailEnd type="triangle" w="med" len="med"/>
          </a:ln>
        </p:spPr>
      </p:cxnSp>
      <p:cxnSp>
        <p:nvCxnSpPr>
          <p:cNvPr id="12" name="EdgeHPers"/>
          <p:cNvCxnSpPr/>
          <p:nvPr/>
        </p:nvCxnSpPr>
        <p:spPr>
          <a:xfrm>
            <a:off x="2651760" y="2103120"/>
            <a:ext cx="914400" cy="1005840"/>
          </a:xfrm>
          <a:prstGeom prst="bentConnector3">
            <a:avLst/>
          </a:prstGeom>
          <a:ln w="19050">
            <a:solidFill>
              <a:srgbClr val="8E6F3E"/>
            </a:solidFill>
            <a:tailEnd type="triangle" w="med" len="med"/>
          </a:ln>
        </p:spPr>
      </p:cxnSp>
      <p:cxnSp>
        <p:nvCxnSpPr>
          <p:cNvPr id="13" name="EdgePPers"/>
          <p:cNvCxnSpPr/>
          <p:nvPr/>
        </p:nvCxnSpPr>
        <p:spPr>
          <a:xfrm>
            <a:off x="4572000" y="2286000"/>
            <a:ext cx="0" cy="640080"/>
          </a:xfrm>
          <a:prstGeom prst="line">
            <a:avLst/>
          </a:prstGeom>
          <a:ln w="19050">
            <a:solidFill>
              <a:srgbClr val="8E6F3E"/>
            </a:solidFill>
            <a:tailEnd type="triangle" w="med" len="med"/>
          </a:ln>
        </p:spPr>
      </p:cxnSp>
      <p:cxnSp>
        <p:nvCxnSpPr>
          <p:cNvPr id="14" name="EdgeAPers"/>
          <p:cNvCxnSpPr/>
          <p:nvPr/>
        </p:nvCxnSpPr>
        <p:spPr>
          <a:xfrm>
            <a:off x="2651760" y="3268980"/>
            <a:ext cx="914400" cy="0"/>
          </a:xfrm>
          <a:prstGeom prst="line">
            <a:avLst/>
          </a:prstGeom>
          <a:ln w="19050">
            <a:solidFill>
              <a:srgbClr val="8E6F3E"/>
            </a:solidFill>
            <a:tailEnd type="triangle" w="med" len="med"/>
          </a:ln>
        </p:spPr>
      </p:cxnSp>
      <p:cxnSp>
        <p:nvCxnSpPr>
          <p:cNvPr id="15" name="EdgePersDb"/>
          <p:cNvCxnSpPr/>
          <p:nvPr/>
        </p:nvCxnSpPr>
        <p:spPr>
          <a:xfrm>
            <a:off x="4572000" y="3611880"/>
            <a:ext cx="0" cy="640080"/>
          </a:xfrm>
          <a:prstGeom prst="line">
            <a:avLst/>
          </a:prstGeom>
          <a:ln w="19050">
            <a:solidFill>
              <a:srgbClr val="8E6F3E"/>
            </a:solidFill>
            <a:tailEnd type="triangle" w="med" len="med"/>
          </a:ln>
        </p:spPr>
      </p:cxnSp>
      <p:sp>
        <p:nvSpPr>
          <p:cNvPr id="16" name="EdgeADb" descr="authorization queries the users table directly at runtime"/>
          <p:cNvSpPr/>
          <p:nvPr/>
        </p:nvSpPr>
        <p:spPr>
          <a:xfrm>
            <a:off x="1645920" y="3611880"/>
            <a:ext cx="1920239" cy="982980"/>
          </a:xfrm>
          <a:custGeom>
            <a:avLst/>
            <a:gdLst/>
            <a:ahLst/>
            <a:cxnLst/>
            <a:rect l="0" t="0" r="0" b="0"/>
            <a:pathLst>
              <a:path w="1920239" h="982980" fill="none">
                <a:moveTo>
                  <a:pt x="0" y="0"/>
                </a:moveTo>
                <a:lnTo>
                  <a:pt x="0" y="982980"/>
                </a:lnTo>
                <a:lnTo>
                  <a:pt x="1920240" y="982980"/>
                </a:lnTo>
              </a:path>
            </a:pathLst>
          </a:custGeom>
          <a:noFill/>
          <a:ln w="19050">
            <a:solidFill>
              <a:srgbClr val="8E6F3E"/>
            </a:solidFill>
            <a:prstDash val="dash"/>
            <a:tailEnd type="triangle" w="med" len="med"/>
          </a:ln>
        </p:spPr>
        <p:txBody>
          <a:bodyPr rtlCol="0" anchor="ctr" wrap="square"/>
          <a:lstStyle/>
          <a:p/>
        </p:txBody>
      </p:sp>
      <p:sp>
        <p:nvSpPr>
          <p:cNvPr id="17" name="LegendCard"/>
          <p:cNvSpPr/>
          <p:nvPr/>
        </p:nvSpPr>
        <p:spPr>
          <a:xfrm>
            <a:off x="6355080" y="1600200"/>
            <a:ext cx="2377440" cy="2194560"/>
          </a:xfrm>
          <a:prstGeom prst="rect">
            <a:avLst/>
          </a:prstGeom>
          <a:solidFill>
            <a:srgbClr val="F5F1E8"/>
          </a:solidFill>
          <a:ln>
            <a:noFill/>
          </a:ln>
          <a:effectLst/>
        </p:spPr>
        <p:txBody>
          <a:bodyPr rtlCol="0" anchor="ctr" wrap="square"/>
          <a:lstStyle/>
          <a:p/>
        </p:txBody>
      </p:sp>
      <p:sp>
        <p:nvSpPr>
          <p:cNvPr id="18" name="LegendText"/>
          <p:cNvSpPr/>
          <p:nvPr/>
        </p:nvSpPr>
        <p:spPr>
          <a:xfrm>
            <a:off x="6483096" y="1691640"/>
            <a:ext cx="2121408" cy="2011680"/>
          </a:xfrm>
          <a:prstGeom prst="rect">
            <a:avLst/>
          </a:prstGeom>
          <a:noFill/>
          <a:ln>
            <a:noFill/>
          </a:ln>
          <a:effectLst/>
        </p:spPr>
        <p:txBody>
          <a:bodyPr rtlCol="0" anchor="t" wrap="square" lIns="27432" rIns="27432"/>
          <a:lstStyle/>
          <a:p>
            <a:pPr algn="l">
              <a:spcAft>
                <a:spcPts val="0"/>
              </a:spcAft>
            </a:pPr>
            <a:r>
              <a:rPr sz="2000" b="1">
                <a:solidFill>
                  <a:srgbClr val="8E6F3E"/>
                </a:solidFill>
                <a:latin typeface="Calibri"/>
              </a:rPr>
              <a:t>LEGEND</a:t>
            </a:r>
          </a:p>
          <a:p>
            <a:pPr algn="l">
              <a:spcAft>
                <a:spcPts val="0"/>
              </a:spcAft>
            </a:pPr>
            <a:r>
              <a:rPr sz="2000" b="0">
                <a:solidFill>
                  <a:srgbClr val="555960"/>
                </a:solidFill>
                <a:latin typeface="Calibri"/>
              </a:rPr>
              <a:t>solid: source dependency</a:t>
            </a:r>
          </a:p>
          <a:p>
            <a:pPr algn="l">
              <a:spcAft>
                <a:spcPts val="0"/>
              </a:spcAft>
            </a:pPr>
            <a:r>
              <a:rPr sz="2000" b="0">
                <a:solidFill>
                  <a:srgbClr val="555960"/>
                </a:solidFill>
                <a:latin typeface="Calibri"/>
              </a:rPr>
              <a:t>dashed: runtime query</a:t>
            </a:r>
          </a:p>
          <a:p>
            <a:pPr algn="l">
              <a:spcAft>
                <a:spcPts val="0"/>
              </a:spcAft>
            </a:pPr>
            <a:r>
              <a:rPr sz="2000" b="0">
                <a:solidFill>
                  <a:srgbClr val="555960"/>
                </a:solidFill>
                <a:latin typeface="Calibri"/>
              </a:rPr>
              <a:t>Δ: the lab request</a:t>
            </a:r>
          </a:p>
        </p:txBody>
      </p:sp>
      <p:sp>
        <p:nvSpPr>
          <p:cNvPr id="19" name="ReadCard"/>
          <p:cNvSpPr/>
          <p:nvPr/>
        </p:nvSpPr>
        <p:spPr>
          <a:xfrm>
            <a:off x="6355080" y="3931920"/>
            <a:ext cx="2377440" cy="1417320"/>
          </a:xfrm>
          <a:prstGeom prst="rect">
            <a:avLst/>
          </a:prstGeom>
          <a:solidFill>
            <a:srgbClr val="FCFAF6"/>
          </a:solidFill>
          <a:ln>
            <a:noFill/>
          </a:ln>
          <a:effectLst/>
        </p:spPr>
        <p:txBody>
          <a:bodyPr rtlCol="0" anchor="ctr" wrap="square"/>
          <a:lstStyle/>
          <a:p/>
        </p:txBody>
      </p:sp>
      <p:sp>
        <p:nvSpPr>
          <p:cNvPr id="20" name="ReadText"/>
          <p:cNvSpPr/>
          <p:nvPr/>
        </p:nvSpPr>
        <p:spPr>
          <a:xfrm>
            <a:off x="6483096" y="4023360"/>
            <a:ext cx="2121408" cy="1234440"/>
          </a:xfrm>
          <a:prstGeom prst="rect">
            <a:avLst/>
          </a:prstGeom>
          <a:noFill/>
          <a:ln>
            <a:noFill/>
          </a:ln>
          <a:effectLst/>
        </p:spPr>
        <p:txBody>
          <a:bodyPr rtlCol="0" anchor="t" wrap="square" lIns="27432" rIns="27432"/>
          <a:lstStyle/>
          <a:p>
            <a:pPr algn="l">
              <a:spcAft>
                <a:spcPts val="0"/>
              </a:spcAft>
            </a:pPr>
            <a:r>
              <a:rPr sz="2000" b="1">
                <a:solidFill>
                  <a:srgbClr val="8E6F3E"/>
                </a:solidFill>
                <a:latin typeface="Calibri"/>
              </a:rPr>
              <a:t>WHAT IT SHOWS</a:t>
            </a:r>
          </a:p>
          <a:p>
            <a:pPr algn="l">
              <a:spcAft>
                <a:spcPts val="0"/>
              </a:spcAft>
            </a:pPr>
            <a:r>
              <a:rPr sz="2000" b="0">
                <a:solidFill>
                  <a:srgbClr val="555960"/>
                </a:solidFill>
                <a:latin typeface="Calibri"/>
              </a:rPr>
              <a:t>handlers and persistence know policy internals</a:t>
            </a:r>
          </a:p>
        </p:txBody>
      </p:sp>
      <p:sp>
        <p:nvSpPr>
          <p:cNvPr id="21" name="HypoLabel"/>
          <p:cNvSpPr/>
          <p:nvPr/>
        </p:nvSpPr>
        <p:spPr>
          <a:xfrm>
            <a:off x="411480" y="5120640"/>
            <a:ext cx="5669280" cy="365760"/>
          </a:xfrm>
          <a:prstGeom prst="rect">
            <a:avLst/>
          </a:prstGeom>
          <a:noFill/>
          <a:ln>
            <a:noFill/>
          </a:ln>
          <a:effectLst/>
        </p:spPr>
        <p:txBody>
          <a:bodyPr rtlCol="0" anchor="t" wrap="square"/>
          <a:lstStyle/>
          <a:p>
            <a:pPr algn="l">
              <a:spcAft>
                <a:spcPts val="0"/>
              </a:spcAft>
            </a:pPr>
            <a:r>
              <a:rPr sz="2000" b="0">
                <a:solidFill>
                  <a:srgbClr val="555960"/>
                </a:solidFill>
                <a:latin typeface="Calibri"/>
              </a:rPr>
              <a:t>Illustrative hypothetical implementation, not an observed codebase</a:t>
            </a:r>
          </a:p>
        </p:txBody>
      </p:sp>
      <p:sp>
        <p:nvSpPr>
          <p:cNvPr id="22"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Static coupling, runtime calls, and shared data are three different couplings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Measure what the change decision depends on</a:t>
            </a:r>
          </a:p>
        </p:txBody>
      </p:sp>
      <p:graphicFrame>
        <p:nvGraphicFramePr>
          <p:cNvPr id="3" name="MetricsTable" descr="Fan-in and fan-out for each module of the recovered graph; four of five components are touched by the laboratory policy change"/>
          <p:cNvGraphicFramePr/>
          <p:nvPr/>
        </p:nvGraphicFramePr>
        <p:xfrm>
          <a:off x="411480" y="960120"/>
          <a:ext cx="5394960" cy="2852928"/>
        </p:xfrm>
        <a:graphic>
          <a:graphicData uri="http://schemas.openxmlformats.org/drawingml/2006/table">
            <a:tbl>
              <a:tblPr firstRow="0" bandRow="0">
                <a:tableStyleId>{5C22544A-7EE6-4342-B048-85BDC9FD1C3A}</a:tableStyleId>
              </a:tblPr>
              <a:tblGrid>
                <a:gridCol w="2011680"/>
                <a:gridCol w="1051560"/>
                <a:gridCol w="1051560"/>
                <a:gridCol w="1280160"/>
              </a:tblGrid>
              <a:tr h="475488">
                <a:tc>
                  <a:txBody>
                    <a:bodyPr wrap="square"/>
                    <a:lstStyle/>
                    <a:p>
                      <a:r>
                        <a:rPr sz="2000" b="1">
                          <a:solidFill>
                            <a:srgbClr val="FFFFFF"/>
                          </a:solidFill>
                          <a:latin typeface="Calibri"/>
                        </a:rPr>
                        <a:t>module</a:t>
                      </a:r>
                    </a:p>
                  </a:txBody>
                  <a:tcPr marL="91440" marR="91440" marT="36576" marB="36576" anchor="ctr">
                    <a:solidFill>
                      <a:srgbClr val="8E6F3E"/>
                    </a:solidFill>
                  </a:tcPr>
                </a:tc>
                <a:tc>
                  <a:txBody>
                    <a:bodyPr wrap="square"/>
                    <a:lstStyle/>
                    <a:p>
                      <a:r>
                        <a:rPr sz="2000" b="1">
                          <a:solidFill>
                            <a:srgbClr val="FFFFFF"/>
                          </a:solidFill>
                          <a:latin typeface="Calibri"/>
                        </a:rPr>
                        <a:t>fan-out</a:t>
                      </a:r>
                    </a:p>
                  </a:txBody>
                  <a:tcPr marL="91440" marR="91440" marT="36576" marB="36576" anchor="ctr">
                    <a:solidFill>
                      <a:srgbClr val="8E6F3E"/>
                    </a:solidFill>
                  </a:tcPr>
                </a:tc>
                <a:tc>
                  <a:txBody>
                    <a:bodyPr wrap="square"/>
                    <a:lstStyle/>
                    <a:p>
                      <a:r>
                        <a:rPr sz="2000" b="1">
                          <a:solidFill>
                            <a:srgbClr val="FFFFFF"/>
                          </a:solidFill>
                          <a:latin typeface="Calibri"/>
                        </a:rPr>
                        <a:t>fan-in</a:t>
                      </a:r>
                    </a:p>
                  </a:txBody>
                  <a:tcPr marL="91440" marR="91440" marT="36576" marB="36576" anchor="ctr">
                    <a:solidFill>
                      <a:srgbClr val="8E6F3E"/>
                    </a:solidFill>
                  </a:tcPr>
                </a:tc>
                <a:tc>
                  <a:txBody>
                    <a:bodyPr wrap="square"/>
                    <a:lstStyle/>
                    <a:p>
                      <a:r>
                        <a:rPr sz="2000" b="1">
                          <a:solidFill>
                            <a:srgbClr val="FFFFFF"/>
                          </a:solidFill>
                          <a:latin typeface="Calibri"/>
                        </a:rPr>
                        <a:t>touched?</a:t>
                      </a:r>
                    </a:p>
                  </a:txBody>
                  <a:tcPr marL="91440" marR="91440" marT="36576" marB="36576" anchor="ctr">
                    <a:solidFill>
                      <a:srgbClr val="8E6F3E"/>
                    </a:solidFill>
                  </a:tcPr>
                </a:tc>
              </a:tr>
              <a:tr h="475488">
                <a:tc>
                  <a:txBody>
                    <a:bodyPr wrap="square"/>
                    <a:lstStyle/>
                    <a:p>
                      <a:r>
                        <a:rPr sz="2000" b="1">
                          <a:solidFill>
                            <a:srgbClr val="8E6F3E"/>
                          </a:solidFill>
                          <a:latin typeface="Calibri"/>
                        </a:rPr>
                        <a:t>handlers</a:t>
                      </a:r>
                    </a:p>
                  </a:txBody>
                  <a:tcPr marL="91440" marR="91440" marT="36576" marB="36576" anchor="ctr">
                    <a:solidFill>
                      <a:srgbClr val="F5F1E8"/>
                    </a:solidFill>
                  </a:tcPr>
                </a:tc>
                <a:tc>
                  <a:txBody>
                    <a:bodyPr wrap="square"/>
                    <a:lstStyle/>
                    <a:p>
                      <a:r>
                        <a:rPr sz="2000" b="0">
                          <a:solidFill>
                            <a:srgbClr val="2D2D2D"/>
                          </a:solidFill>
                          <a:latin typeface="Calibri"/>
                        </a:rPr>
                        <a:t>3</a:t>
                      </a:r>
                    </a:p>
                  </a:txBody>
                  <a:tcPr marL="91440" marR="91440" marT="36576" marB="36576" anchor="ctr">
                    <a:solidFill>
                      <a:srgbClr val="F5F1E8"/>
                    </a:solidFill>
                  </a:tcPr>
                </a:tc>
                <a:tc>
                  <a:txBody>
                    <a:bodyPr wrap="square"/>
                    <a:lstStyle/>
                    <a:p>
                      <a:r>
                        <a:rPr sz="2000" b="0">
                          <a:solidFill>
                            <a:srgbClr val="2D2D2D"/>
                          </a:solidFill>
                          <a:latin typeface="Calibri"/>
                        </a:rPr>
                        <a:t>0</a:t>
                      </a:r>
                    </a:p>
                  </a:txBody>
                  <a:tcPr marL="91440" marR="91440" marT="36576" marB="36576" anchor="ctr">
                    <a:solidFill>
                      <a:srgbClr val="F5F1E8"/>
                    </a:solidFill>
                  </a:tcPr>
                </a:tc>
                <a:tc>
                  <a:txBody>
                    <a:bodyPr wrap="square"/>
                    <a:lstStyle/>
                    <a:p>
                      <a:r>
                        <a:rPr sz="2000" b="0">
                          <a:solidFill>
                            <a:srgbClr val="2D2D2D"/>
                          </a:solidFill>
                          <a:latin typeface="Calibri"/>
                        </a:rPr>
                        <a:t>yes</a:t>
                      </a:r>
                    </a:p>
                  </a:txBody>
                  <a:tcPr marL="91440" marR="91440" marT="36576" marB="36576" anchor="ctr">
                    <a:solidFill>
                      <a:srgbClr val="F5F1E8"/>
                    </a:solidFill>
                  </a:tcPr>
                </a:tc>
              </a:tr>
              <a:tr h="475488">
                <a:tc>
                  <a:txBody>
                    <a:bodyPr wrap="square"/>
                    <a:lstStyle/>
                    <a:p>
                      <a:r>
                        <a:rPr sz="2000" b="1">
                          <a:solidFill>
                            <a:srgbClr val="8E6F3E"/>
                          </a:solidFill>
                          <a:latin typeface="Calibri"/>
                        </a:rPr>
                        <a:t>policy</a:t>
                      </a:r>
                    </a:p>
                  </a:txBody>
                  <a:tcPr marL="91440" marR="91440" marT="36576" marB="36576" anchor="ctr">
                    <a:solidFill>
                      <a:srgbClr val="FCFAF6"/>
                    </a:solidFill>
                  </a:tcPr>
                </a:tc>
                <a:tc>
                  <a:txBody>
                    <a:bodyPr wrap="square"/>
                    <a:lstStyle/>
                    <a:p>
                      <a:r>
                        <a:rPr sz="2000" b="0">
                          <a:solidFill>
                            <a:srgbClr val="2D2D2D"/>
                          </a:solidFill>
                          <a:latin typeface="Calibri"/>
                        </a:rPr>
                        <a:t>1</a:t>
                      </a:r>
                    </a:p>
                  </a:txBody>
                  <a:tcPr marL="91440" marR="91440" marT="36576" marB="36576" anchor="ctr">
                    <a:solidFill>
                      <a:srgbClr val="FCFAF6"/>
                    </a:solidFill>
                  </a:tcPr>
                </a:tc>
                <a:tc>
                  <a:txBody>
                    <a:bodyPr wrap="square"/>
                    <a:lstStyle/>
                    <a:p>
                      <a:r>
                        <a:rPr sz="2000" b="0">
                          <a:solidFill>
                            <a:srgbClr val="2D2D2D"/>
                          </a:solidFill>
                          <a:latin typeface="Calibri"/>
                        </a:rPr>
                        <a:t>1</a:t>
                      </a:r>
                    </a:p>
                  </a:txBody>
                  <a:tcPr marL="91440" marR="91440" marT="36576" marB="36576" anchor="ctr">
                    <a:solidFill>
                      <a:srgbClr val="FCFAF6"/>
                    </a:solidFill>
                  </a:tcPr>
                </a:tc>
                <a:tc>
                  <a:txBody>
                    <a:bodyPr wrap="square"/>
                    <a:lstStyle/>
                    <a:p>
                      <a:r>
                        <a:rPr sz="2000" b="1">
                          <a:solidFill>
                            <a:srgbClr val="C01B1B"/>
                          </a:solidFill>
                          <a:latin typeface="Calibri"/>
                        </a:rPr>
                        <a:t>yes Δ</a:t>
                      </a:r>
                    </a:p>
                  </a:txBody>
                  <a:tcPr marL="91440" marR="91440" marT="36576" marB="36576" anchor="ctr">
                    <a:solidFill>
                      <a:srgbClr val="FCFAF6"/>
                    </a:solidFill>
                  </a:tcPr>
                </a:tc>
              </a:tr>
              <a:tr h="475488">
                <a:tc>
                  <a:txBody>
                    <a:bodyPr wrap="square"/>
                    <a:lstStyle/>
                    <a:p>
                      <a:r>
                        <a:rPr sz="2000" b="1">
                          <a:solidFill>
                            <a:srgbClr val="8E6F3E"/>
                          </a:solidFill>
                          <a:latin typeface="Calibri"/>
                        </a:rPr>
                        <a:t>authorization</a:t>
                      </a:r>
                    </a:p>
                  </a:txBody>
                  <a:tcPr marL="91440" marR="91440" marT="36576" marB="36576" anchor="ctr">
                    <a:solidFill>
                      <a:srgbClr val="F5F1E8"/>
                    </a:solidFill>
                  </a:tcPr>
                </a:tc>
                <a:tc>
                  <a:txBody>
                    <a:bodyPr wrap="square"/>
                    <a:lstStyle/>
                    <a:p>
                      <a:r>
                        <a:rPr sz="2000" b="0">
                          <a:solidFill>
                            <a:srgbClr val="2D2D2D"/>
                          </a:solidFill>
                          <a:latin typeface="Calibri"/>
                        </a:rPr>
                        <a:t>2</a:t>
                      </a:r>
                    </a:p>
                  </a:txBody>
                  <a:tcPr marL="91440" marR="91440" marT="36576" marB="36576" anchor="ctr">
                    <a:solidFill>
                      <a:srgbClr val="F5F1E8"/>
                    </a:solidFill>
                  </a:tcPr>
                </a:tc>
                <a:tc>
                  <a:txBody>
                    <a:bodyPr wrap="square"/>
                    <a:lstStyle/>
                    <a:p>
                      <a:r>
                        <a:rPr sz="2000" b="0">
                          <a:solidFill>
                            <a:srgbClr val="2D2D2D"/>
                          </a:solidFill>
                          <a:latin typeface="Calibri"/>
                        </a:rPr>
                        <a:t>1</a:t>
                      </a:r>
                    </a:p>
                  </a:txBody>
                  <a:tcPr marL="91440" marR="91440" marT="36576" marB="36576" anchor="ctr">
                    <a:solidFill>
                      <a:srgbClr val="F5F1E8"/>
                    </a:solidFill>
                  </a:tcPr>
                </a:tc>
                <a:tc>
                  <a:txBody>
                    <a:bodyPr wrap="square"/>
                    <a:lstStyle/>
                    <a:p>
                      <a:r>
                        <a:rPr sz="2000" b="0">
                          <a:solidFill>
                            <a:srgbClr val="2D2D2D"/>
                          </a:solidFill>
                          <a:latin typeface="Calibri"/>
                        </a:rPr>
                        <a:t>no</a:t>
                      </a:r>
                    </a:p>
                  </a:txBody>
                  <a:tcPr marL="91440" marR="91440" marT="36576" marB="36576" anchor="ctr">
                    <a:solidFill>
                      <a:srgbClr val="F5F1E8"/>
                    </a:solidFill>
                  </a:tcPr>
                </a:tc>
              </a:tr>
              <a:tr h="475488">
                <a:tc>
                  <a:txBody>
                    <a:bodyPr wrap="square"/>
                    <a:lstStyle/>
                    <a:p>
                      <a:r>
                        <a:rPr sz="2000" b="1">
                          <a:solidFill>
                            <a:srgbClr val="8E6F3E"/>
                          </a:solidFill>
                          <a:latin typeface="Calibri"/>
                        </a:rPr>
                        <a:t>persistence</a:t>
                      </a:r>
                    </a:p>
                  </a:txBody>
                  <a:tcPr marL="91440" marR="91440" marT="36576" marB="36576" anchor="ctr">
                    <a:solidFill>
                      <a:srgbClr val="FCFAF6"/>
                    </a:solidFill>
                  </a:tcPr>
                </a:tc>
                <a:tc>
                  <a:txBody>
                    <a:bodyPr wrap="square"/>
                    <a:lstStyle/>
                    <a:p>
                      <a:r>
                        <a:rPr sz="2000" b="0">
                          <a:solidFill>
                            <a:srgbClr val="2D2D2D"/>
                          </a:solidFill>
                          <a:latin typeface="Calibri"/>
                        </a:rPr>
                        <a:t>1</a:t>
                      </a:r>
                    </a:p>
                  </a:txBody>
                  <a:tcPr marL="91440" marR="91440" marT="36576" marB="36576" anchor="ctr">
                    <a:solidFill>
                      <a:srgbClr val="FCFAF6"/>
                    </a:solidFill>
                  </a:tcPr>
                </a:tc>
                <a:tc>
                  <a:txBody>
                    <a:bodyPr wrap="square"/>
                    <a:lstStyle/>
                    <a:p>
                      <a:r>
                        <a:rPr sz="2000" b="0">
                          <a:solidFill>
                            <a:srgbClr val="2D2D2D"/>
                          </a:solidFill>
                          <a:latin typeface="Calibri"/>
                        </a:rPr>
                        <a:t>3</a:t>
                      </a:r>
                    </a:p>
                  </a:txBody>
                  <a:tcPr marL="91440" marR="91440" marT="36576" marB="36576" anchor="ctr">
                    <a:solidFill>
                      <a:srgbClr val="FCFAF6"/>
                    </a:solidFill>
                  </a:tcPr>
                </a:tc>
                <a:tc>
                  <a:txBody>
                    <a:bodyPr wrap="square"/>
                    <a:lstStyle/>
                    <a:p>
                      <a:r>
                        <a:rPr sz="2000" b="0">
                          <a:solidFill>
                            <a:srgbClr val="2D2D2D"/>
                          </a:solidFill>
                          <a:latin typeface="Calibri"/>
                        </a:rPr>
                        <a:t>yes</a:t>
                      </a:r>
                    </a:p>
                  </a:txBody>
                  <a:tcPr marL="91440" marR="91440" marT="36576" marB="36576" anchor="ctr">
                    <a:solidFill>
                      <a:srgbClr val="FCFAF6"/>
                    </a:solidFill>
                  </a:tcPr>
                </a:tc>
              </a:tr>
              <a:tr h="475488">
                <a:tc>
                  <a:txBody>
                    <a:bodyPr wrap="square"/>
                    <a:lstStyle/>
                    <a:p>
                      <a:r>
                        <a:rPr sz="2000" b="1">
                          <a:solidFill>
                            <a:srgbClr val="8E6F3E"/>
                          </a:solidFill>
                          <a:latin typeface="Calibri"/>
                        </a:rPr>
                        <a:t>database</a:t>
                      </a:r>
                    </a:p>
                  </a:txBody>
                  <a:tcPr marL="91440" marR="91440" marT="36576" marB="36576" anchor="ctr">
                    <a:solidFill>
                      <a:srgbClr val="F5F1E8"/>
                    </a:solidFill>
                  </a:tcPr>
                </a:tc>
                <a:tc>
                  <a:txBody>
                    <a:bodyPr wrap="square"/>
                    <a:lstStyle/>
                    <a:p>
                      <a:r>
                        <a:rPr sz="2000" b="0">
                          <a:solidFill>
                            <a:srgbClr val="2D2D2D"/>
                          </a:solidFill>
                          <a:latin typeface="Calibri"/>
                        </a:rPr>
                        <a:t>0</a:t>
                      </a:r>
                    </a:p>
                  </a:txBody>
                  <a:tcPr marL="91440" marR="91440" marT="36576" marB="36576" anchor="ctr">
                    <a:solidFill>
                      <a:srgbClr val="F5F1E8"/>
                    </a:solidFill>
                  </a:tcPr>
                </a:tc>
                <a:tc>
                  <a:txBody>
                    <a:bodyPr wrap="square"/>
                    <a:lstStyle/>
                    <a:p>
                      <a:r>
                        <a:rPr sz="2000" b="0">
                          <a:solidFill>
                            <a:srgbClr val="2D2D2D"/>
                          </a:solidFill>
                          <a:latin typeface="Calibri"/>
                        </a:rPr>
                        <a:t>2</a:t>
                      </a:r>
                    </a:p>
                  </a:txBody>
                  <a:tcPr marL="91440" marR="91440" marT="36576" marB="36576" anchor="ctr">
                    <a:solidFill>
                      <a:srgbClr val="F5F1E8"/>
                    </a:solidFill>
                  </a:tcPr>
                </a:tc>
                <a:tc>
                  <a:txBody>
                    <a:bodyPr wrap="square"/>
                    <a:lstStyle/>
                    <a:p>
                      <a:r>
                        <a:rPr sz="2000" b="0">
                          <a:solidFill>
                            <a:srgbClr val="2D2D2D"/>
                          </a:solidFill>
                          <a:latin typeface="Calibri"/>
                        </a:rPr>
                        <a:t>schema</a:t>
                      </a:r>
                    </a:p>
                  </a:txBody>
                  <a:tcPr marL="91440" marR="91440" marT="36576" marB="36576" anchor="ctr">
                    <a:solidFill>
                      <a:srgbClr val="F5F1E8"/>
                    </a:solidFill>
                  </a:tcPr>
                </a:tc>
              </a:tr>
            </a:tbl>
          </a:graphicData>
        </a:graphic>
      </p:graphicFrame>
      <p:sp>
        <p:nvSpPr>
          <p:cNvPr id="4" name="TableCaption"/>
          <p:cNvSpPr/>
          <p:nvPr/>
        </p:nvSpPr>
        <p:spPr>
          <a:xfrm>
            <a:off x="411480" y="3977640"/>
            <a:ext cx="5394960" cy="411480"/>
          </a:xfrm>
          <a:prstGeom prst="rect">
            <a:avLst/>
          </a:prstGeom>
          <a:noFill/>
          <a:ln>
            <a:noFill/>
          </a:ln>
          <a:effectLst/>
        </p:spPr>
        <p:txBody>
          <a:bodyPr rtlCol="0" anchor="t" wrap="square"/>
          <a:lstStyle/>
          <a:p>
            <a:pPr algn="l">
              <a:spcAft>
                <a:spcPts val="0"/>
              </a:spcAft>
            </a:pPr>
            <a:r>
              <a:rPr sz="2000" b="1">
                <a:solidFill>
                  <a:srgbClr val="5C4826"/>
                </a:solidFill>
                <a:latin typeface="Calibri"/>
              </a:rPr>
              <a:t>4 of 5 components touched by one policy change</a:t>
            </a:r>
          </a:p>
        </p:txBody>
      </p:sp>
      <p:sp>
        <p:nvSpPr>
          <p:cNvPr id="5" name="IndCard"/>
          <p:cNvSpPr/>
          <p:nvPr/>
        </p:nvSpPr>
        <p:spPr>
          <a:xfrm>
            <a:off x="5989320" y="960120"/>
            <a:ext cx="2743200" cy="3429000"/>
          </a:xfrm>
          <a:prstGeom prst="rect">
            <a:avLst/>
          </a:prstGeom>
          <a:solidFill>
            <a:srgbClr val="F5F1E8"/>
          </a:solidFill>
          <a:ln>
            <a:noFill/>
          </a:ln>
          <a:effectLst/>
        </p:spPr>
        <p:txBody>
          <a:bodyPr rtlCol="0" anchor="ctr" wrap="square"/>
          <a:lstStyle/>
          <a:p/>
        </p:txBody>
      </p:sp>
      <p:sp>
        <p:nvSpPr>
          <p:cNvPr id="6" name="IndText"/>
          <p:cNvSpPr/>
          <p:nvPr/>
        </p:nvSpPr>
        <p:spPr>
          <a:xfrm>
            <a:off x="6117336" y="1051560"/>
            <a:ext cx="2487168" cy="3246120"/>
          </a:xfrm>
          <a:prstGeom prst="rect">
            <a:avLst/>
          </a:prstGeom>
          <a:noFill/>
          <a:ln>
            <a:noFill/>
          </a:ln>
          <a:effectLst/>
        </p:spPr>
        <p:txBody>
          <a:bodyPr rtlCol="0" anchor="t" wrap="square"/>
          <a:lstStyle/>
          <a:p>
            <a:pPr algn="l">
              <a:spcAft>
                <a:spcPts val="0"/>
              </a:spcAft>
            </a:pPr>
            <a:r>
              <a:rPr sz="2000" b="1">
                <a:solidFill>
                  <a:srgbClr val="8E6F3E"/>
                </a:solidFill>
                <a:latin typeface="Calibri"/>
              </a:rPr>
              <a:t>ALSO WORTH MEASURING</a:t>
            </a:r>
          </a:p>
          <a:p>
            <a:pPr algn="l">
              <a:spcAft>
                <a:spcPts val="0"/>
              </a:spcAft>
            </a:pPr>
            <a:r>
              <a:rPr sz="2000" b="0">
                <a:solidFill>
                  <a:srgbClr val="555960"/>
                </a:solidFill>
                <a:latin typeface="Calibri"/>
              </a:rPr>
              <a:t>afferent / efferent coupling</a:t>
            </a:r>
          </a:p>
          <a:p>
            <a:pPr algn="l">
              <a:spcAft>
                <a:spcPts val="0"/>
              </a:spcAft>
            </a:pPr>
            <a:r>
              <a:rPr sz="2000" b="0">
                <a:solidFill>
                  <a:srgbClr val="555960"/>
                </a:solidFill>
                <a:latin typeface="Calibri"/>
              </a:rPr>
              <a:t>dependency cycles</a:t>
            </a:r>
          </a:p>
          <a:p>
            <a:pPr algn="l">
              <a:spcAft>
                <a:spcPts val="0"/>
              </a:spcAft>
            </a:pPr>
            <a:r>
              <a:rPr sz="2000" b="0">
                <a:solidFill>
                  <a:srgbClr val="555960"/>
                </a:solidFill>
                <a:latin typeface="Calibri"/>
              </a:rPr>
              <a:t>change coupling: files that change together in commit history</a:t>
            </a:r>
          </a:p>
        </p:txBody>
      </p:sp>
      <p:sp>
        <p:nvSpPr>
          <p:cNvPr id="7" name="BandCard"/>
          <p:cNvSpPr/>
          <p:nvPr/>
        </p:nvSpPr>
        <p:spPr>
          <a:xfrm>
            <a:off x="411480" y="4572000"/>
            <a:ext cx="8321040" cy="914400"/>
          </a:xfrm>
          <a:prstGeom prst="rect">
            <a:avLst/>
          </a:prstGeom>
          <a:solidFill>
            <a:srgbClr val="FCFAF6"/>
          </a:solidFill>
          <a:ln>
            <a:noFill/>
          </a:ln>
          <a:effectLst/>
        </p:spPr>
        <p:txBody>
          <a:bodyPr rtlCol="0" anchor="ctr" wrap="square"/>
          <a:lstStyle/>
          <a:p/>
        </p:txBody>
      </p:sp>
      <p:sp>
        <p:nvSpPr>
          <p:cNvPr id="8" name="BandText"/>
          <p:cNvSpPr/>
          <p:nvPr/>
        </p:nvSpPr>
        <p:spPr>
          <a:xfrm>
            <a:off x="557784" y="4645152"/>
            <a:ext cx="8046720" cy="777240"/>
          </a:xfrm>
          <a:prstGeom prst="rect">
            <a:avLst/>
          </a:prstGeom>
          <a:noFill/>
          <a:ln>
            <a:noFill/>
          </a:ln>
          <a:effectLst/>
        </p:spPr>
        <p:txBody>
          <a:bodyPr rtlCol="0" anchor="t" wrap="square"/>
          <a:lstStyle/>
          <a:p>
            <a:pPr algn="l">
              <a:spcAft>
                <a:spcPts val="0"/>
              </a:spcAft>
            </a:pPr>
            <a:r>
              <a:rPr sz="2000" b="1">
                <a:solidFill>
                  <a:srgbClr val="C01B1B"/>
                </a:solidFill>
                <a:latin typeface="Calibri"/>
              </a:rPr>
              <a:t>Indicators, not context-free quality scores</a:t>
            </a:r>
          </a:p>
          <a:p>
            <a:pPr algn="l">
              <a:spcAft>
                <a:spcPts val="0"/>
              </a:spcAft>
            </a:pPr>
            <a:r>
              <a:rPr sz="2000" b="0">
                <a:solidFill>
                  <a:srgbClr val="555960"/>
                </a:solidFill>
                <a:latin typeface="Calibri"/>
              </a:rPr>
              <a:t>A high fan-in persistence module may be exactly right; the number informs a decision, it does not make one.</a:t>
            </a:r>
          </a:p>
        </p:txBody>
      </p:sp>
      <p:sp>
        <p:nvSpPr>
          <p:cNvPr id="9"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Measure the consequence that could change the decision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Erosion survives a green test suite</a:t>
            </a:r>
          </a:p>
        </p:txBody>
      </p:sp>
      <p:sp>
        <p:nvSpPr>
          <p:cNvPr id="3" name="PanelLabel"/>
          <p:cNvSpPr/>
          <p:nvPr/>
        </p:nvSpPr>
        <p:spPr>
          <a:xfrm>
            <a:off x="411480" y="868680"/>
            <a:ext cx="402336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INTENDED</a:t>
            </a:r>
          </a:p>
        </p:txBody>
      </p:sp>
      <p:sp>
        <p:nvSpPr>
          <p:cNvPr id="4" name="IntCard" descr="Intended structure: booking policy reaches persistence only through a port; substitution is local"/>
          <p:cNvSpPr/>
          <p:nvPr/>
        </p:nvSpPr>
        <p:spPr>
          <a:xfrm>
            <a:off x="411480" y="1261872"/>
            <a:ext cx="4023360" cy="1783080"/>
          </a:xfrm>
          <a:prstGeom prst="rect">
            <a:avLst/>
          </a:prstGeom>
          <a:solidFill>
            <a:srgbClr val="F5F1E8"/>
          </a:solidFill>
          <a:ln>
            <a:noFill/>
          </a:ln>
          <a:effectLst/>
        </p:spPr>
        <p:txBody>
          <a:bodyPr rtlCol="0" anchor="ctr" wrap="square"/>
          <a:lstStyle/>
          <a:p/>
        </p:txBody>
      </p:sp>
      <p:sp>
        <p:nvSpPr>
          <p:cNvPr id="5" name="IntA"/>
          <p:cNvSpPr/>
          <p:nvPr/>
        </p:nvSpPr>
        <p:spPr>
          <a:xfrm>
            <a:off x="640080" y="1783080"/>
            <a:ext cx="123444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BOOKING POLICY</a:t>
            </a:r>
          </a:p>
        </p:txBody>
      </p:sp>
      <p:sp>
        <p:nvSpPr>
          <p:cNvPr id="6" name="IntPort"/>
          <p:cNvSpPr/>
          <p:nvPr/>
        </p:nvSpPr>
        <p:spPr>
          <a:xfrm>
            <a:off x="2194560" y="1783080"/>
            <a:ext cx="822960" cy="548640"/>
          </a:xfrm>
          <a:prstGeom prst="rect">
            <a:avLst/>
          </a:prstGeom>
          <a:solidFill>
            <a:srgbClr val="FCFAF6"/>
          </a:solidFill>
          <a:ln w="19050">
            <a:solidFill>
              <a:srgbClr val="8E6F3E"/>
            </a:solidFill>
            <a:prstDash val="dash"/>
          </a:ln>
          <a:effectLst/>
        </p:spPr>
        <p:txBody>
          <a:bodyPr rtlCol="0" anchor="ctr" wrap="square"/>
          <a:lstStyle/>
          <a:p>
            <a:pPr algn="ctr">
              <a:spcAft>
                <a:spcPts val="0"/>
              </a:spcAft>
            </a:pPr>
            <a:r>
              <a:rPr sz="2000" b="1">
                <a:solidFill>
                  <a:srgbClr val="2D2D2D"/>
                </a:solidFill>
                <a:latin typeface="Calibri"/>
              </a:rPr>
              <a:t>PORT</a:t>
            </a:r>
          </a:p>
        </p:txBody>
      </p:sp>
      <p:sp>
        <p:nvSpPr>
          <p:cNvPr id="7" name="IntB"/>
          <p:cNvSpPr/>
          <p:nvPr/>
        </p:nvSpPr>
        <p:spPr>
          <a:xfrm>
            <a:off x="3337560" y="1783080"/>
            <a:ext cx="96012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STORE</a:t>
            </a:r>
          </a:p>
        </p:txBody>
      </p:sp>
      <p:cxnSp>
        <p:nvCxnSpPr>
          <p:cNvPr id="8" name="IntEdge"/>
          <p:cNvCxnSpPr/>
          <p:nvPr/>
        </p:nvCxnSpPr>
        <p:spPr>
          <a:xfrm>
            <a:off x="1874520" y="2057400"/>
            <a:ext cx="320040" cy="0"/>
          </a:xfrm>
          <a:prstGeom prst="line">
            <a:avLst/>
          </a:prstGeom>
          <a:ln w="19050">
            <a:solidFill>
              <a:srgbClr val="8E6F3E"/>
            </a:solidFill>
            <a:tailEnd type="triangle" w="med" len="med"/>
          </a:ln>
        </p:spPr>
      </p:cxnSp>
      <p:cxnSp>
        <p:nvCxnSpPr>
          <p:cNvPr id="9" name="IntEdge"/>
          <p:cNvCxnSpPr/>
          <p:nvPr/>
        </p:nvCxnSpPr>
        <p:spPr>
          <a:xfrm>
            <a:off x="3017520" y="2057400"/>
            <a:ext cx="320040" cy="0"/>
          </a:xfrm>
          <a:prstGeom prst="line">
            <a:avLst/>
          </a:prstGeom>
          <a:ln w="19050">
            <a:solidFill>
              <a:srgbClr val="8E6F3E"/>
            </a:solidFill>
            <a:tailEnd type="triangle" w="med" len="med"/>
          </a:ln>
        </p:spPr>
      </p:cxnSp>
      <p:sp>
        <p:nvSpPr>
          <p:cNvPr id="10" name="IntCap"/>
          <p:cNvSpPr/>
          <p:nvPr/>
        </p:nvSpPr>
        <p:spPr>
          <a:xfrm>
            <a:off x="557784" y="2468880"/>
            <a:ext cx="3749040" cy="502920"/>
          </a:xfrm>
          <a:prstGeom prst="rect">
            <a:avLst/>
          </a:prstGeom>
          <a:noFill/>
          <a:ln>
            <a:noFill/>
          </a:ln>
          <a:effectLst/>
        </p:spPr>
        <p:txBody>
          <a:bodyPr rtlCol="0" anchor="t" wrap="square"/>
          <a:lstStyle/>
          <a:p>
            <a:pPr algn="l">
              <a:spcAft>
                <a:spcPts val="0"/>
              </a:spcAft>
            </a:pPr>
            <a:r>
              <a:rPr sz="2000" b="0">
                <a:solidFill>
                  <a:srgbClr val="555960"/>
                </a:solidFill>
                <a:latin typeface="Calibri"/>
              </a:rPr>
              <a:t>no dependency crosses the seam; substitution is local</a:t>
            </a:r>
          </a:p>
        </p:txBody>
      </p:sp>
      <p:sp>
        <p:nvSpPr>
          <p:cNvPr id="11" name="PanelLabel"/>
          <p:cNvSpPr/>
          <p:nvPr/>
        </p:nvSpPr>
        <p:spPr>
          <a:xfrm>
            <a:off x="4617720" y="868680"/>
            <a:ext cx="411480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AS BUILT</a:t>
            </a:r>
          </a:p>
        </p:txBody>
      </p:sp>
      <p:sp>
        <p:nvSpPr>
          <p:cNvPr id="12" name="BuiltCard" descr="As built: the same port exists, but booking policy also imports persistence internals directly, bypassing the seam"/>
          <p:cNvSpPr/>
          <p:nvPr/>
        </p:nvSpPr>
        <p:spPr>
          <a:xfrm>
            <a:off x="4617720" y="1261872"/>
            <a:ext cx="4114800" cy="1783080"/>
          </a:xfrm>
          <a:prstGeom prst="rect">
            <a:avLst/>
          </a:prstGeom>
          <a:solidFill>
            <a:srgbClr val="F5F1E8"/>
          </a:solidFill>
          <a:ln>
            <a:noFill/>
          </a:ln>
          <a:effectLst/>
        </p:spPr>
        <p:txBody>
          <a:bodyPr rtlCol="0" anchor="ctr" wrap="square"/>
          <a:lstStyle/>
          <a:p/>
        </p:txBody>
      </p:sp>
      <p:sp>
        <p:nvSpPr>
          <p:cNvPr id="13" name="BltA"/>
          <p:cNvSpPr/>
          <p:nvPr/>
        </p:nvSpPr>
        <p:spPr>
          <a:xfrm>
            <a:off x="4846320" y="1783080"/>
            <a:ext cx="123444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BOOKING POLICY</a:t>
            </a:r>
          </a:p>
        </p:txBody>
      </p:sp>
      <p:sp>
        <p:nvSpPr>
          <p:cNvPr id="14" name="BltPort"/>
          <p:cNvSpPr/>
          <p:nvPr/>
        </p:nvSpPr>
        <p:spPr>
          <a:xfrm>
            <a:off x="6400800" y="1783080"/>
            <a:ext cx="822960" cy="548640"/>
          </a:xfrm>
          <a:prstGeom prst="rect">
            <a:avLst/>
          </a:prstGeom>
          <a:solidFill>
            <a:srgbClr val="FCFAF6"/>
          </a:solidFill>
          <a:ln w="19050">
            <a:solidFill>
              <a:srgbClr val="8E6F3E"/>
            </a:solidFill>
            <a:prstDash val="dash"/>
          </a:ln>
          <a:effectLst/>
        </p:spPr>
        <p:txBody>
          <a:bodyPr rtlCol="0" anchor="ctr" wrap="square"/>
          <a:lstStyle/>
          <a:p>
            <a:pPr algn="ctr">
              <a:spcAft>
                <a:spcPts val="0"/>
              </a:spcAft>
            </a:pPr>
            <a:r>
              <a:rPr sz="2000" b="1">
                <a:solidFill>
                  <a:srgbClr val="2D2D2D"/>
                </a:solidFill>
                <a:latin typeface="Calibri"/>
              </a:rPr>
              <a:t>PORT</a:t>
            </a:r>
          </a:p>
        </p:txBody>
      </p:sp>
      <p:sp>
        <p:nvSpPr>
          <p:cNvPr id="15" name="BltB"/>
          <p:cNvSpPr/>
          <p:nvPr/>
        </p:nvSpPr>
        <p:spPr>
          <a:xfrm>
            <a:off x="7543800" y="1783080"/>
            <a:ext cx="96012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STORE</a:t>
            </a:r>
          </a:p>
        </p:txBody>
      </p:sp>
      <p:cxnSp>
        <p:nvCxnSpPr>
          <p:cNvPr id="16" name="BltEdge"/>
          <p:cNvCxnSpPr/>
          <p:nvPr/>
        </p:nvCxnSpPr>
        <p:spPr>
          <a:xfrm>
            <a:off x="6080760" y="2057400"/>
            <a:ext cx="320040" cy="0"/>
          </a:xfrm>
          <a:prstGeom prst="line">
            <a:avLst/>
          </a:prstGeom>
          <a:ln w="19050">
            <a:solidFill>
              <a:srgbClr val="8E6F3E"/>
            </a:solidFill>
            <a:tailEnd type="triangle" w="med" len="med"/>
          </a:ln>
        </p:spPr>
      </p:cxnSp>
      <p:cxnSp>
        <p:nvCxnSpPr>
          <p:cNvPr id="17" name="BltEdge"/>
          <p:cNvCxnSpPr/>
          <p:nvPr/>
        </p:nvCxnSpPr>
        <p:spPr>
          <a:xfrm>
            <a:off x="7223760" y="2057400"/>
            <a:ext cx="320040" cy="0"/>
          </a:xfrm>
          <a:prstGeom prst="line">
            <a:avLst/>
          </a:prstGeom>
          <a:ln w="19050">
            <a:solidFill>
              <a:srgbClr val="8E6F3E"/>
            </a:solidFill>
            <a:tailEnd type="triangle" w="med" len="med"/>
          </a:ln>
        </p:spPr>
      </p:cxnSp>
      <p:sp>
        <p:nvSpPr>
          <p:cNvPr id="18" name="BypassEdge" descr="a direct import of store internals, added just this once"/>
          <p:cNvSpPr/>
          <p:nvPr/>
        </p:nvSpPr>
        <p:spPr>
          <a:xfrm>
            <a:off x="5458968" y="2331720"/>
            <a:ext cx="2560320" cy="457200"/>
          </a:xfrm>
          <a:custGeom>
            <a:avLst/>
            <a:gdLst/>
            <a:ahLst/>
            <a:cxnLst/>
            <a:rect l="0" t="0" r="0" b="0"/>
            <a:pathLst>
              <a:path w="2560320" h="457200" fill="none">
                <a:moveTo>
                  <a:pt x="0" y="0"/>
                </a:moveTo>
                <a:lnTo>
                  <a:pt x="0" y="457200"/>
                </a:lnTo>
                <a:lnTo>
                  <a:pt x="2560320" y="457200"/>
                </a:lnTo>
                <a:lnTo>
                  <a:pt x="2560320" y="0"/>
                </a:lnTo>
              </a:path>
            </a:pathLst>
          </a:custGeom>
          <a:noFill/>
          <a:ln w="19050">
            <a:solidFill>
              <a:srgbClr val="C01B1B"/>
            </a:solidFill>
            <a:tailEnd type="triangle" w="med" len="med"/>
          </a:ln>
        </p:spPr>
        <p:txBody>
          <a:bodyPr rtlCol="0" anchor="ctr" wrap="square"/>
          <a:lstStyle/>
          <a:p/>
        </p:txBody>
      </p:sp>
      <p:sp>
        <p:nvSpPr>
          <p:cNvPr id="19" name="BltCap"/>
          <p:cNvSpPr/>
          <p:nvPr/>
        </p:nvSpPr>
        <p:spPr>
          <a:xfrm>
            <a:off x="4764024" y="2788920"/>
            <a:ext cx="3840480" cy="256032"/>
          </a:xfrm>
          <a:prstGeom prst="rect">
            <a:avLst/>
          </a:prstGeom>
          <a:noFill/>
          <a:ln>
            <a:noFill/>
          </a:ln>
          <a:effectLst/>
        </p:spPr>
        <p:txBody>
          <a:bodyPr rtlCol="0" anchor="ctr" wrap="square"/>
          <a:lstStyle/>
          <a:p>
            <a:pPr algn="ctr">
              <a:spcAft>
                <a:spcPts val="0"/>
              </a:spcAft>
            </a:pPr>
            <a:r>
              <a:rPr sz="2000" b="1">
                <a:solidFill>
                  <a:srgbClr val="C01B1B"/>
                </a:solidFill>
                <a:latin typeface="Calibri"/>
              </a:rPr>
              <a:t>"just this once"</a:t>
            </a:r>
          </a:p>
        </p:txBody>
      </p:sp>
      <p:sp>
        <p:nvSpPr>
          <p:cNvPr id="20" name="VerdictCard"/>
          <p:cNvSpPr/>
          <p:nvPr/>
        </p:nvSpPr>
        <p:spPr>
          <a:xfrm>
            <a:off x="411480" y="3291840"/>
            <a:ext cx="8321040" cy="685800"/>
          </a:xfrm>
          <a:prstGeom prst="rect">
            <a:avLst/>
          </a:prstGeom>
          <a:solidFill>
            <a:srgbClr val="FCFAF6"/>
          </a:solidFill>
          <a:ln>
            <a:noFill/>
          </a:ln>
          <a:effectLst/>
        </p:spPr>
        <p:txBody>
          <a:bodyPr rtlCol="0" anchor="ctr" wrap="square"/>
          <a:lstStyle/>
          <a:p/>
        </p:txBody>
      </p:sp>
      <p:sp>
        <p:nvSpPr>
          <p:cNvPr id="21" name="VerdictText"/>
          <p:cNvSpPr/>
          <p:nvPr/>
        </p:nvSpPr>
        <p:spPr>
          <a:xfrm>
            <a:off x="557784" y="3364992"/>
            <a:ext cx="8046720" cy="548640"/>
          </a:xfrm>
          <a:prstGeom prst="rect">
            <a:avLst/>
          </a:prstGeom>
          <a:noFill/>
          <a:ln>
            <a:noFill/>
          </a:ln>
          <a:effectLst/>
        </p:spPr>
        <p:txBody>
          <a:bodyPr rtlCol="0" anchor="ctr" wrap="square"/>
          <a:lstStyle/>
          <a:p>
            <a:pPr algn="ctr">
              <a:spcAft>
                <a:spcPts val="0"/>
              </a:spcAft>
            </a:pPr>
            <a:r>
              <a:rPr sz="2000" b="1">
                <a:solidFill>
                  <a:srgbClr val="2D2D2D"/>
                </a:solidFill>
                <a:latin typeface="Calibri"/>
              </a:rPr>
              <a:t>feature works ✓      tests pass ✓      architecture remains true ✗</a:t>
            </a:r>
          </a:p>
        </p:txBody>
      </p:sp>
      <p:sp>
        <p:nvSpPr>
          <p:cNvPr id="22" name="CtrlCard"/>
          <p:cNvSpPr/>
          <p:nvPr/>
        </p:nvSpPr>
        <p:spPr>
          <a:xfrm>
            <a:off x="411480" y="4160520"/>
            <a:ext cx="8321040" cy="1188720"/>
          </a:xfrm>
          <a:prstGeom prst="rect">
            <a:avLst/>
          </a:prstGeom>
          <a:solidFill>
            <a:srgbClr val="F5F1E8"/>
          </a:solidFill>
          <a:ln>
            <a:noFill/>
          </a:ln>
          <a:effectLst/>
        </p:spPr>
        <p:txBody>
          <a:bodyPr rtlCol="0" anchor="ctr" wrap="square"/>
          <a:lstStyle/>
          <a:p/>
        </p:txBody>
      </p:sp>
      <p:sp>
        <p:nvSpPr>
          <p:cNvPr id="23" name="CtrlText"/>
          <p:cNvSpPr/>
          <p:nvPr/>
        </p:nvSpPr>
        <p:spPr>
          <a:xfrm>
            <a:off x="557784" y="4233672"/>
            <a:ext cx="8046720" cy="1051560"/>
          </a:xfrm>
          <a:prstGeom prst="rect">
            <a:avLst/>
          </a:prstGeom>
          <a:noFill/>
          <a:ln>
            <a:noFill/>
          </a:ln>
          <a:effectLst/>
        </p:spPr>
        <p:txBody>
          <a:bodyPr rtlCol="0" anchor="t" wrap="square"/>
          <a:lstStyle/>
          <a:p>
            <a:pPr algn="l">
              <a:spcAft>
                <a:spcPts val="0"/>
              </a:spcAft>
            </a:pPr>
            <a:r>
              <a:rPr sz="2000" b="1">
                <a:solidFill>
                  <a:srgbClr val="8E6F3E"/>
                </a:solidFill>
                <a:latin typeface="Calibri"/>
              </a:rPr>
              <a:t>ALIGNMENT CONTROLS FOR BOUNDARIES</a:t>
            </a:r>
          </a:p>
          <a:p>
            <a:pPr algn="l">
              <a:spcAft>
                <a:spcPts val="0"/>
              </a:spcAft>
            </a:pPr>
            <a:r>
              <a:rPr sz="2000" b="0">
                <a:solidFill>
                  <a:srgbClr val="555960"/>
                </a:solidFill>
                <a:latin typeface="Calibri"/>
              </a:rPr>
              <a:t>architectural tests · dependency lints · import restrictions: the boundary becomes a checked obligation, not a convention</a:t>
            </a:r>
          </a:p>
        </p:txBody>
      </p:sp>
      <p:sp>
        <p:nvSpPr>
          <p:cNvPr id="24"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Functional tests check behavior; only architectural checks guard structure</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nodeType="clickEffect">
                                  <p:stCondLst>
                                    <p:cond delay="0"/>
                                  </p:stCondLst>
                                  <p:childTnLst>
                                    <p:set>
                                      <p:cBhvr>
                                        <p:cTn id="4" dur="1" fill="hold">
                                          <p:stCondLst>
                                            <p:cond delay="0"/>
                                          </p:stCondLst>
                                        </p:cTn>
                                        <p:tgtEl>
                                          <p:spTgt spid="18"/>
                                        </p:tgtEl>
                                        <p:attrNameLst>
                                          <p:attrName>style.visibility</p:attrName>
                                        </p:attrNameLst>
                                      </p:cBhvr>
                                      <p:to>
                                        <p:strVal val="visible"/>
                                      </p:to>
                                    </p:set>
                                  </p:childTnLst>
                                </p:cTn>
                              </p:par>
                              <p:par>
                                <p:cTn id="5" presetID="1" presetClass="entr" presetSubtype="0" fill="hold" nodeType="with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Which architectural patterns fit our problem?</a:t>
            </a:r>
          </a:p>
        </p:txBody>
      </p:sp>
      <p:sp>
        <p:nvSpPr>
          <p:cNvPr id="3" name="SectionLabel"/>
          <p:cNvSpPr/>
          <p:nvPr/>
        </p:nvSpPr>
        <p:spPr>
          <a:xfrm>
            <a:off x="640080" y="2240280"/>
            <a:ext cx="7863840" cy="868680"/>
          </a:xfrm>
          <a:prstGeom prst="rect">
            <a:avLst/>
          </a:prstGeom>
          <a:noFill/>
          <a:ln>
            <a:noFill/>
          </a:ln>
          <a:effectLst/>
        </p:spPr>
        <p:txBody>
          <a:bodyPr rtlCol="0" anchor="ctr" wrap="square"/>
          <a:lstStyle/>
          <a:p>
            <a:pPr algn="ctr">
              <a:spcAft>
                <a:spcPts val="0"/>
              </a:spcAft>
            </a:pPr>
            <a:r>
              <a:rPr sz="3600" b="1">
                <a:solidFill>
                  <a:srgbClr val="8E6F3E"/>
                </a:solidFill>
                <a:latin typeface="Calibri"/>
              </a:rPr>
              <a:t>SECTION 3</a:t>
            </a:r>
          </a:p>
        </p:txBody>
      </p:sp>
      <p:sp>
        <p:nvSpPr>
          <p:cNvPr id="4" name="OrientingSentence"/>
          <p:cNvSpPr/>
          <p:nvPr/>
        </p:nvSpPr>
        <p:spPr>
          <a:xfrm>
            <a:off x="914400" y="3474720"/>
            <a:ext cx="7315200" cy="1097280"/>
          </a:xfrm>
          <a:prstGeom prst="rect">
            <a:avLst/>
          </a:prstGeom>
          <a:noFill/>
          <a:ln>
            <a:noFill/>
          </a:ln>
          <a:effectLst/>
        </p:spPr>
        <p:txBody>
          <a:bodyPr rtlCol="0" anchor="t" wrap="square"/>
          <a:lstStyle/>
          <a:p>
            <a:pPr algn="ctr">
              <a:spcAft>
                <a:spcPts val="0"/>
              </a:spcAft>
            </a:pPr>
            <a:r>
              <a:rPr sz="2200" b="0">
                <a:solidFill>
                  <a:srgbClr val="555960"/>
                </a:solidFill>
                <a:latin typeface="Calibri"/>
              </a:rPr>
              <a:t>The same service and the same requirements, held against each alternative. A pattern is a choice with expected consequences, not a ranking.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Separate the dimensions before comparing patterns</a:t>
            </a:r>
          </a:p>
        </p:txBody>
      </p:sp>
      <p:sp>
        <p:nvSpPr>
          <p:cNvPr id="3" name="DimCard"/>
          <p:cNvSpPr/>
          <p:nvPr/>
        </p:nvSpPr>
        <p:spPr>
          <a:xfrm>
            <a:off x="411480" y="1005840"/>
            <a:ext cx="8321040" cy="1143000"/>
          </a:xfrm>
          <a:prstGeom prst="rect">
            <a:avLst/>
          </a:prstGeom>
          <a:solidFill>
            <a:srgbClr val="F5F1E8"/>
          </a:solidFill>
          <a:ln>
            <a:noFill/>
          </a:ln>
          <a:effectLst/>
        </p:spPr>
        <p:txBody>
          <a:bodyPr rtlCol="0" anchor="ctr" wrap="square"/>
          <a:lstStyle/>
          <a:p/>
        </p:txBody>
      </p:sp>
      <p:sp>
        <p:nvSpPr>
          <p:cNvPr id="4" name="DimLabel"/>
          <p:cNvSpPr/>
          <p:nvPr/>
        </p:nvSpPr>
        <p:spPr>
          <a:xfrm>
            <a:off x="557784" y="1069848"/>
            <a:ext cx="2926080" cy="1005840"/>
          </a:xfrm>
          <a:prstGeom prst="rect">
            <a:avLst/>
          </a:prstGeom>
          <a:noFill/>
          <a:ln>
            <a:noFill/>
          </a:ln>
          <a:effectLst/>
        </p:spPr>
        <p:txBody>
          <a:bodyPr rtlCol="0" anchor="ctr" wrap="square"/>
          <a:lstStyle/>
          <a:p>
            <a:pPr algn="l">
              <a:spcAft>
                <a:spcPts val="0"/>
              </a:spcAft>
            </a:pPr>
            <a:r>
              <a:rPr sz="2000" b="1">
                <a:solidFill>
                  <a:srgbClr val="8E6F3E"/>
                </a:solidFill>
                <a:latin typeface="Calibri"/>
              </a:rPr>
              <a:t>WHO INTERACTS WITH WHOM</a:t>
            </a:r>
          </a:p>
        </p:txBody>
      </p:sp>
      <p:sp>
        <p:nvSpPr>
          <p:cNvPr id="5" name="DimBody"/>
          <p:cNvSpPr/>
          <p:nvPr/>
        </p:nvSpPr>
        <p:spPr>
          <a:xfrm>
            <a:off x="3611880" y="1069848"/>
            <a:ext cx="4983480" cy="1005840"/>
          </a:xfrm>
          <a:prstGeom prst="rect">
            <a:avLst/>
          </a:prstGeom>
          <a:noFill/>
          <a:ln>
            <a:noFill/>
          </a:ln>
          <a:effectLst/>
        </p:spPr>
        <p:txBody>
          <a:bodyPr rtlCol="0" anchor="ctr" wrap="square"/>
          <a:lstStyle/>
          <a:p>
            <a:pPr algn="l">
              <a:spcAft>
                <a:spcPts val="0"/>
              </a:spcAft>
            </a:pPr>
            <a:r>
              <a:rPr sz="2000" b="0">
                <a:solidFill>
                  <a:srgbClr val="555960"/>
                </a:solidFill>
                <a:latin typeface="Calibri"/>
              </a:rPr>
              <a:t>Client/server names an interaction and deployment relationship between user and service</a:t>
            </a:r>
          </a:p>
        </p:txBody>
      </p:sp>
      <p:sp>
        <p:nvSpPr>
          <p:cNvPr id="6" name="DimCard"/>
          <p:cNvSpPr/>
          <p:nvPr/>
        </p:nvSpPr>
        <p:spPr>
          <a:xfrm>
            <a:off x="411480" y="2286000"/>
            <a:ext cx="8321040" cy="1143000"/>
          </a:xfrm>
          <a:prstGeom prst="rect">
            <a:avLst/>
          </a:prstGeom>
          <a:solidFill>
            <a:srgbClr val="FCFAF6"/>
          </a:solidFill>
          <a:ln>
            <a:noFill/>
          </a:ln>
          <a:effectLst/>
        </p:spPr>
        <p:txBody>
          <a:bodyPr rtlCol="0" anchor="ctr" wrap="square"/>
          <a:lstStyle/>
          <a:p/>
        </p:txBody>
      </p:sp>
      <p:sp>
        <p:nvSpPr>
          <p:cNvPr id="7" name="DimLabel"/>
          <p:cNvSpPr/>
          <p:nvPr/>
        </p:nvSpPr>
        <p:spPr>
          <a:xfrm>
            <a:off x="557784" y="2350008"/>
            <a:ext cx="2926080" cy="1005840"/>
          </a:xfrm>
          <a:prstGeom prst="rect">
            <a:avLst/>
          </a:prstGeom>
          <a:noFill/>
          <a:ln>
            <a:noFill/>
          </a:ln>
          <a:effectLst/>
        </p:spPr>
        <p:txBody>
          <a:bodyPr rtlCol="0" anchor="ctr" wrap="square"/>
          <a:lstStyle/>
          <a:p>
            <a:pPr algn="l">
              <a:spcAft>
                <a:spcPts val="0"/>
              </a:spcAft>
            </a:pPr>
            <a:r>
              <a:rPr sz="2000" b="1">
                <a:solidFill>
                  <a:srgbClr val="8E6F3E"/>
                </a:solidFill>
                <a:latin typeface="Calibri"/>
              </a:rPr>
              <a:t>HOW MANY DEPLOYABLE UNITS</a:t>
            </a:r>
          </a:p>
        </p:txBody>
      </p:sp>
      <p:sp>
        <p:nvSpPr>
          <p:cNvPr id="8" name="DimBody"/>
          <p:cNvSpPr/>
          <p:nvPr/>
        </p:nvSpPr>
        <p:spPr>
          <a:xfrm>
            <a:off x="3611880" y="2350008"/>
            <a:ext cx="4983480" cy="1005840"/>
          </a:xfrm>
          <a:prstGeom prst="rect">
            <a:avLst/>
          </a:prstGeom>
          <a:noFill/>
          <a:ln>
            <a:noFill/>
          </a:ln>
          <a:effectLst/>
        </p:spPr>
        <p:txBody>
          <a:bodyPr rtlCol="0" anchor="ctr" wrap="square"/>
          <a:lstStyle/>
          <a:p>
            <a:pPr algn="l">
              <a:spcAft>
                <a:spcPts val="0"/>
              </a:spcAft>
            </a:pPr>
            <a:r>
              <a:rPr sz="2000" b="0">
                <a:solidFill>
                  <a:srgbClr val="555960"/>
                </a:solidFill>
                <a:latin typeface="Calibri"/>
              </a:rPr>
              <a:t>Monolith versus services counts independently deployable server units</a:t>
            </a:r>
          </a:p>
        </p:txBody>
      </p:sp>
      <p:sp>
        <p:nvSpPr>
          <p:cNvPr id="9" name="DimCard"/>
          <p:cNvSpPr/>
          <p:nvPr/>
        </p:nvSpPr>
        <p:spPr>
          <a:xfrm>
            <a:off x="411480" y="3566160"/>
            <a:ext cx="8321040" cy="1143000"/>
          </a:xfrm>
          <a:prstGeom prst="rect">
            <a:avLst/>
          </a:prstGeom>
          <a:solidFill>
            <a:srgbClr val="F5F1E8"/>
          </a:solidFill>
          <a:ln>
            <a:noFill/>
          </a:ln>
          <a:effectLst/>
        </p:spPr>
        <p:txBody>
          <a:bodyPr rtlCol="0" anchor="ctr" wrap="square"/>
          <a:lstStyle/>
          <a:p/>
        </p:txBody>
      </p:sp>
      <p:sp>
        <p:nvSpPr>
          <p:cNvPr id="10" name="DimLabel"/>
          <p:cNvSpPr/>
          <p:nvPr/>
        </p:nvSpPr>
        <p:spPr>
          <a:xfrm>
            <a:off x="557784" y="3630168"/>
            <a:ext cx="2926080" cy="1005840"/>
          </a:xfrm>
          <a:prstGeom prst="rect">
            <a:avLst/>
          </a:prstGeom>
          <a:noFill/>
          <a:ln>
            <a:noFill/>
          </a:ln>
          <a:effectLst/>
        </p:spPr>
        <p:txBody>
          <a:bodyPr rtlCol="0" anchor="ctr" wrap="square"/>
          <a:lstStyle/>
          <a:p>
            <a:pPr algn="l">
              <a:spcAft>
                <a:spcPts val="0"/>
              </a:spcAft>
            </a:pPr>
            <a:r>
              <a:rPr sz="2000" b="1">
                <a:solidFill>
                  <a:srgbClr val="8E6F3E"/>
                </a:solidFill>
                <a:latin typeface="Calibri"/>
              </a:rPr>
              <a:t>HOW IS THE INSIDE ORGANIZED</a:t>
            </a:r>
          </a:p>
        </p:txBody>
      </p:sp>
      <p:sp>
        <p:nvSpPr>
          <p:cNvPr id="11" name="DimBody"/>
          <p:cNvSpPr/>
          <p:nvPr/>
        </p:nvSpPr>
        <p:spPr>
          <a:xfrm>
            <a:off x="3611880" y="3630168"/>
            <a:ext cx="4983480" cy="1005840"/>
          </a:xfrm>
          <a:prstGeom prst="rect">
            <a:avLst/>
          </a:prstGeom>
          <a:noFill/>
          <a:ln>
            <a:noFill/>
          </a:ln>
          <a:effectLst/>
        </p:spPr>
        <p:txBody>
          <a:bodyPr rtlCol="0" anchor="ctr" wrap="square"/>
          <a:lstStyle/>
          <a:p>
            <a:pPr algn="l">
              <a:spcAft>
                <a:spcPts val="0"/>
              </a:spcAft>
            </a:pPr>
            <a:r>
              <a:rPr sz="2000" b="0">
                <a:solidFill>
                  <a:srgbClr val="555960"/>
                </a:solidFill>
                <a:latin typeface="Calibri"/>
              </a:rPr>
              <a:t>Layering, repository and pipeline, RPC and events, ports and adapters (Act I’s catalogue)</a:t>
            </a:r>
          </a:p>
        </p:txBody>
      </p:sp>
      <p:sp>
        <p:nvSpPr>
          <p:cNvPr id="12" name="BandCard"/>
          <p:cNvSpPr/>
          <p:nvPr/>
        </p:nvSpPr>
        <p:spPr>
          <a:xfrm>
            <a:off x="411480" y="4892040"/>
            <a:ext cx="8321040" cy="731520"/>
          </a:xfrm>
          <a:prstGeom prst="rect">
            <a:avLst/>
          </a:prstGeom>
          <a:solidFill>
            <a:srgbClr val="F5F1E8"/>
          </a:solidFill>
          <a:ln>
            <a:noFill/>
          </a:ln>
          <a:effectLst/>
        </p:spPr>
        <p:txBody>
          <a:bodyPr rtlCol="0" anchor="ctr" wrap="square"/>
          <a:lstStyle/>
          <a:p/>
        </p:txBody>
      </p:sp>
      <p:sp>
        <p:nvSpPr>
          <p:cNvPr id="13" name="BandText"/>
          <p:cNvSpPr/>
          <p:nvPr/>
        </p:nvSpPr>
        <p:spPr>
          <a:xfrm>
            <a:off x="557784" y="4965192"/>
            <a:ext cx="8046720" cy="594360"/>
          </a:xfrm>
          <a:prstGeom prst="rect">
            <a:avLst/>
          </a:prstGeom>
          <a:noFill/>
          <a:ln>
            <a:noFill/>
          </a:ln>
          <a:effectLst/>
        </p:spPr>
        <p:txBody>
          <a:bodyPr rtlCol="0" anchor="ctr" wrap="square"/>
          <a:lstStyle/>
          <a:p>
            <a:pPr algn="ctr">
              <a:spcAft>
                <a:spcPts val="0"/>
              </a:spcAft>
            </a:pPr>
            <a:r>
              <a:rPr sz="2000" b="1">
                <a:solidFill>
                  <a:srgbClr val="5C4826"/>
                </a:solidFill>
                <a:latin typeface="Calibri"/>
              </a:rPr>
              <a:t>A monolith can be client/server, layered, and modular at the same time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Where should the reservation logic meet its users?</a:t>
            </a:r>
          </a:p>
        </p:txBody>
      </p:sp>
      <p:sp>
        <p:nvSpPr>
          <p:cNvPr id="3" name="PanelLabel"/>
          <p:cNvSpPr/>
          <p:nvPr/>
        </p:nvSpPr>
        <p:spPr>
          <a:xfrm>
            <a:off x="411480" y="868680"/>
            <a:ext cx="402336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CLIENT / SERVER</a:t>
            </a:r>
          </a:p>
        </p:txBody>
      </p:sp>
      <p:sp>
        <p:nvSpPr>
          <p:cNvPr id="4" name="CsCard" descr="Client/server: a browser reaches the HTTP API across a network and trust boundary; latency, network failure, and API compatibility live on that edge"/>
          <p:cNvSpPr/>
          <p:nvPr/>
        </p:nvSpPr>
        <p:spPr>
          <a:xfrm>
            <a:off x="411480" y="1261872"/>
            <a:ext cx="4023360" cy="2834640"/>
          </a:xfrm>
          <a:prstGeom prst="rect">
            <a:avLst/>
          </a:prstGeom>
          <a:solidFill>
            <a:srgbClr val="F5F1E8"/>
          </a:solidFill>
          <a:ln>
            <a:noFill/>
          </a:ln>
          <a:effectLst/>
        </p:spPr>
        <p:txBody>
          <a:bodyPr rtlCol="0" anchor="ctr" wrap="square"/>
          <a:lstStyle/>
          <a:p/>
        </p:txBody>
      </p:sp>
      <p:sp>
        <p:nvSpPr>
          <p:cNvPr id="5" name="CsBrowser"/>
          <p:cNvSpPr/>
          <p:nvPr/>
        </p:nvSpPr>
        <p:spPr>
          <a:xfrm>
            <a:off x="685800" y="1463040"/>
            <a:ext cx="146304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BROWSER</a:t>
            </a:r>
          </a:p>
        </p:txBody>
      </p:sp>
      <p:sp>
        <p:nvSpPr>
          <p:cNvPr id="6" name="CsApi"/>
          <p:cNvSpPr/>
          <p:nvPr/>
        </p:nvSpPr>
        <p:spPr>
          <a:xfrm>
            <a:off x="2743200" y="1463040"/>
            <a:ext cx="146304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HTTP API</a:t>
            </a:r>
          </a:p>
        </p:txBody>
      </p:sp>
      <p:cxnSp>
        <p:nvCxnSpPr>
          <p:cNvPr id="7" name="CsEdge"/>
          <p:cNvCxnSpPr/>
          <p:nvPr/>
        </p:nvCxnSpPr>
        <p:spPr>
          <a:xfrm>
            <a:off x="2148840" y="1737360"/>
            <a:ext cx="594360" cy="0"/>
          </a:xfrm>
          <a:prstGeom prst="line">
            <a:avLst/>
          </a:prstGeom>
          <a:ln w="19050">
            <a:solidFill>
              <a:srgbClr val="8E6F3E"/>
            </a:solidFill>
            <a:headEnd type="triangle" w="med" len="med"/>
            <a:tailEnd type="triangle" w="med" len="med"/>
          </a:ln>
        </p:spPr>
      </p:cxnSp>
      <p:cxnSp>
        <p:nvCxnSpPr>
          <p:cNvPr id="8" name="CsBoundary"/>
          <p:cNvCxnSpPr/>
          <p:nvPr/>
        </p:nvCxnSpPr>
        <p:spPr>
          <a:xfrm>
            <a:off x="2446020" y="1325880"/>
            <a:ext cx="0" cy="1188720"/>
          </a:xfrm>
          <a:prstGeom prst="line">
            <a:avLst/>
          </a:prstGeom>
          <a:ln w="19050">
            <a:solidFill>
              <a:srgbClr val="5C4826"/>
            </a:solidFill>
            <a:prstDash val="dash"/>
          </a:ln>
        </p:spPr>
      </p:cxnSp>
      <p:sp>
        <p:nvSpPr>
          <p:cNvPr id="9" name="CsBoundaryLabel"/>
          <p:cNvSpPr/>
          <p:nvPr/>
        </p:nvSpPr>
        <p:spPr>
          <a:xfrm>
            <a:off x="685800" y="2240280"/>
            <a:ext cx="3520440" cy="365760"/>
          </a:xfrm>
          <a:prstGeom prst="rect">
            <a:avLst/>
          </a:prstGeom>
          <a:noFill/>
          <a:ln>
            <a:noFill/>
          </a:ln>
          <a:effectLst/>
        </p:spPr>
        <p:txBody>
          <a:bodyPr rtlCol="0" anchor="ctr" wrap="square"/>
          <a:lstStyle/>
          <a:p>
            <a:pPr algn="ctr">
              <a:spcAft>
                <a:spcPts val="0"/>
              </a:spcAft>
            </a:pPr>
            <a:r>
              <a:rPr sz="2000" b="1">
                <a:solidFill>
                  <a:srgbClr val="5C4826"/>
                </a:solidFill>
                <a:latin typeface="Calibri"/>
              </a:rPr>
              <a:t>network · trust boundary</a:t>
            </a:r>
          </a:p>
        </p:txBody>
      </p:sp>
      <p:sp>
        <p:nvSpPr>
          <p:cNvPr id="10" name="CsCosts"/>
          <p:cNvSpPr/>
          <p:nvPr/>
        </p:nvSpPr>
        <p:spPr>
          <a:xfrm>
            <a:off x="685800" y="2697480"/>
            <a:ext cx="3520440" cy="1280160"/>
          </a:xfrm>
          <a:prstGeom prst="rect">
            <a:avLst/>
          </a:prstGeom>
          <a:noFill/>
          <a:ln>
            <a:noFill/>
          </a:ln>
          <a:effectLst/>
        </p:spPr>
        <p:txBody>
          <a:bodyPr rtlCol="0" anchor="t" wrap="square"/>
          <a:lstStyle/>
          <a:p>
            <a:pPr algn="l">
              <a:spcAft>
                <a:spcPts val="0"/>
              </a:spcAft>
            </a:pPr>
            <a:r>
              <a:rPr sz="2000" b="0">
                <a:solidFill>
                  <a:srgbClr val="555960"/>
                </a:solidFill>
                <a:latin typeface="Calibri"/>
              </a:rPr>
              <a:t>latency on every call</a:t>
            </a:r>
          </a:p>
          <a:p>
            <a:pPr algn="l">
              <a:spcAft>
                <a:spcPts val="0"/>
              </a:spcAft>
            </a:pPr>
            <a:r>
              <a:rPr sz="2000" b="0">
                <a:solidFill>
                  <a:srgbClr val="555960"/>
                </a:solidFill>
                <a:latin typeface="Calibri"/>
              </a:rPr>
              <a:t>network failure is a normal state</a:t>
            </a:r>
          </a:p>
          <a:p>
            <a:pPr algn="l">
              <a:spcAft>
                <a:spcPts val="0"/>
              </a:spcAft>
            </a:pPr>
            <a:r>
              <a:rPr sz="2000" b="0">
                <a:solidFill>
                  <a:srgbClr val="555960"/>
                </a:solidFill>
                <a:latin typeface="Calibri"/>
              </a:rPr>
              <a:t>API compatibility across versions</a:t>
            </a:r>
          </a:p>
        </p:txBody>
      </p:sp>
      <p:sp>
        <p:nvSpPr>
          <p:cNvPr id="11" name="PanelLabel"/>
          <p:cNvSpPr/>
          <p:nvPr/>
        </p:nvSpPr>
        <p:spPr>
          <a:xfrm>
            <a:off x="4617720" y="868680"/>
            <a:ext cx="411480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LOCAL APPLICATION</a:t>
            </a:r>
          </a:p>
        </p:txBody>
      </p:sp>
      <p:sp>
        <p:nvSpPr>
          <p:cNvPr id="12" name="LocCard" descr="Local desktop application: user interface, booking rules, and stored data on one machine; offline works; updates reach each machine separately"/>
          <p:cNvSpPr/>
          <p:nvPr/>
        </p:nvSpPr>
        <p:spPr>
          <a:xfrm>
            <a:off x="4617720" y="1261872"/>
            <a:ext cx="4114800" cy="2834640"/>
          </a:xfrm>
          <a:prstGeom prst="rect">
            <a:avLst/>
          </a:prstGeom>
          <a:solidFill>
            <a:srgbClr val="FCFAF6"/>
          </a:solidFill>
          <a:ln>
            <a:noFill/>
          </a:ln>
          <a:effectLst/>
        </p:spPr>
        <p:txBody>
          <a:bodyPr rtlCol="0" anchor="ctr" wrap="square"/>
          <a:lstStyle/>
          <a:p/>
        </p:txBody>
      </p:sp>
      <p:sp>
        <p:nvSpPr>
          <p:cNvPr id="13" name="LocBox"/>
          <p:cNvSpPr/>
          <p:nvPr/>
        </p:nvSpPr>
        <p:spPr>
          <a:xfrm>
            <a:off x="4892040" y="1463040"/>
            <a:ext cx="3566160" cy="868680"/>
          </a:xfrm>
          <a:prstGeom prst="rect">
            <a:avLst/>
          </a:prstGeom>
          <a:solidFill>
            <a:srgbClr val="F5F1E8"/>
          </a:solidFill>
          <a:ln w="19050">
            <a:solidFill>
              <a:srgbClr val="8E6F3E"/>
            </a:solidFill>
          </a:ln>
          <a:effectLst/>
        </p:spPr>
        <p:txBody>
          <a:bodyPr rtlCol="0" anchor="ctr" wrap="square"/>
          <a:lstStyle/>
          <a:p>
            <a:pPr algn="ctr">
              <a:spcAft>
                <a:spcPts val="0"/>
              </a:spcAft>
            </a:pPr>
            <a:r>
              <a:rPr sz="2000" b="1">
                <a:solidFill>
                  <a:srgbClr val="2D2D2D"/>
                </a:solidFill>
                <a:latin typeface="Calibri"/>
              </a:rPr>
              <a:t>ONE MACHINE</a:t>
            </a:r>
          </a:p>
          <a:p>
            <a:pPr algn="ctr">
              <a:spcAft>
                <a:spcPts val="0"/>
              </a:spcAft>
            </a:pPr>
            <a:r>
              <a:rPr sz="2000" b="0">
                <a:solidFill>
                  <a:srgbClr val="555960"/>
                </a:solidFill>
                <a:latin typeface="Calibri"/>
              </a:rPr>
              <a:t>UI + booking rules + local data</a:t>
            </a:r>
          </a:p>
        </p:txBody>
      </p:sp>
      <p:sp>
        <p:nvSpPr>
          <p:cNvPr id="14" name="LocCosts"/>
          <p:cNvSpPr/>
          <p:nvPr/>
        </p:nvSpPr>
        <p:spPr>
          <a:xfrm>
            <a:off x="4892040" y="2697480"/>
            <a:ext cx="3566160" cy="1280160"/>
          </a:xfrm>
          <a:prstGeom prst="rect">
            <a:avLst/>
          </a:prstGeom>
          <a:noFill/>
          <a:ln>
            <a:noFill/>
          </a:ln>
          <a:effectLst/>
        </p:spPr>
        <p:txBody>
          <a:bodyPr rtlCol="0" anchor="t" wrap="square"/>
          <a:lstStyle/>
          <a:p>
            <a:pPr algn="l">
              <a:spcAft>
                <a:spcPts val="0"/>
              </a:spcAft>
            </a:pPr>
            <a:r>
              <a:rPr sz="2000" b="0">
                <a:solidFill>
                  <a:srgbClr val="555960"/>
                </a:solidFill>
                <a:latin typeface="Calibri"/>
              </a:rPr>
              <a:t>offline keeps working</a:t>
            </a:r>
          </a:p>
          <a:p>
            <a:pPr algn="l">
              <a:spcAft>
                <a:spcPts val="0"/>
              </a:spcAft>
            </a:pPr>
            <a:r>
              <a:rPr sz="2000" b="0">
                <a:solidFill>
                  <a:srgbClr val="555960"/>
                </a:solidFill>
                <a:latin typeface="Calibri"/>
              </a:rPr>
              <a:t>updates visit every machine</a:t>
            </a:r>
          </a:p>
          <a:p>
            <a:pPr algn="l">
              <a:spcAft>
                <a:spcPts val="0"/>
              </a:spcAft>
            </a:pPr>
            <a:r>
              <a:rPr sz="2000" b="0">
                <a:solidFill>
                  <a:srgbClr val="555960"/>
                </a:solidFill>
                <a:latin typeface="Calibri"/>
              </a:rPr>
              <a:t>shared state needs a new answer</a:t>
            </a:r>
          </a:p>
        </p:txBody>
      </p:sp>
      <p:sp>
        <p:nvSpPr>
          <p:cNvPr id="15" name="AskCard"/>
          <p:cNvSpPr/>
          <p:nvPr/>
        </p:nvSpPr>
        <p:spPr>
          <a:xfrm>
            <a:off x="411480" y="4343400"/>
            <a:ext cx="8321040" cy="960120"/>
          </a:xfrm>
          <a:prstGeom prst="rect">
            <a:avLst/>
          </a:prstGeom>
          <a:solidFill>
            <a:srgbClr val="F5F1E8"/>
          </a:solidFill>
          <a:ln>
            <a:noFill/>
          </a:ln>
          <a:effectLst/>
        </p:spPr>
        <p:txBody>
          <a:bodyPr rtlCol="0" anchor="ctr" wrap="square"/>
          <a:lstStyle/>
          <a:p/>
        </p:txBody>
      </p:sp>
      <p:sp>
        <p:nvSpPr>
          <p:cNvPr id="16" name="AskText"/>
          <p:cNvSpPr/>
          <p:nvPr/>
        </p:nvSpPr>
        <p:spPr>
          <a:xfrm>
            <a:off x="557784" y="4416552"/>
            <a:ext cx="8046720" cy="822960"/>
          </a:xfrm>
          <a:prstGeom prst="rect">
            <a:avLst/>
          </a:prstGeom>
          <a:noFill/>
          <a:ln>
            <a:noFill/>
          </a:ln>
          <a:effectLst/>
        </p:spPr>
        <p:txBody>
          <a:bodyPr rtlCol="0" anchor="t" wrap="square"/>
          <a:lstStyle/>
          <a:p>
            <a:pPr algn="l">
              <a:spcAft>
                <a:spcPts val="0"/>
              </a:spcAft>
            </a:pPr>
            <a:r>
              <a:rPr sz="2000" b="1">
                <a:solidFill>
                  <a:srgbClr val="2D2D2D"/>
                </a:solidFill>
                <a:latin typeface="Calibri"/>
              </a:rPr>
              <a:t>Where should authorization, secrets, and offline behavior live?</a:t>
            </a:r>
          </a:p>
          <a:p>
            <a:pPr algn="l">
              <a:spcAft>
                <a:spcPts val="0"/>
              </a:spcAft>
            </a:pPr>
            <a:r>
              <a:rPr sz="2000" b="0">
                <a:solidFill>
                  <a:srgbClr val="555960"/>
                </a:solidFill>
                <a:latin typeface="Calibri"/>
              </a:rPr>
              <a:t>Each answer moves with the boundary; none of them is free.</a:t>
            </a:r>
          </a:p>
        </p:txBody>
      </p:sp>
      <p:sp>
        <p:nvSpPr>
          <p:cNvPr id="17"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The boundary placement decides which failures are yours to engineer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A monolith is one deployable, not one blob</a:t>
            </a:r>
          </a:p>
        </p:txBody>
      </p:sp>
      <p:sp>
        <p:nvSpPr>
          <p:cNvPr id="3" name="PanelLabel"/>
          <p:cNvSpPr/>
          <p:nvPr/>
        </p:nvSpPr>
        <p:spPr>
          <a:xfrm>
            <a:off x="411480" y="868680"/>
            <a:ext cx="402336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UNSTRUCTURED MONOLITH</a:t>
            </a:r>
          </a:p>
        </p:txBody>
      </p:sp>
      <p:sp>
        <p:nvSpPr>
          <p:cNvPr id="4" name="UmCard" descr="Unstructured monolith: one deployable unit whose internal parts depend on each other without declared boundaries"/>
          <p:cNvSpPr/>
          <p:nvPr/>
        </p:nvSpPr>
        <p:spPr>
          <a:xfrm>
            <a:off x="411480" y="1261872"/>
            <a:ext cx="4023360" cy="2971800"/>
          </a:xfrm>
          <a:prstGeom prst="rect">
            <a:avLst/>
          </a:prstGeom>
          <a:solidFill>
            <a:srgbClr val="F5F1E8"/>
          </a:solidFill>
          <a:ln>
            <a:noFill/>
          </a:ln>
          <a:effectLst/>
        </p:spPr>
        <p:txBody>
          <a:bodyPr rtlCol="0" anchor="ctr" wrap="square"/>
          <a:lstStyle/>
          <a:p/>
        </p:txBody>
      </p:sp>
      <p:sp>
        <p:nvSpPr>
          <p:cNvPr id="5" name="UmOuter"/>
          <p:cNvSpPr/>
          <p:nvPr/>
        </p:nvSpPr>
        <p:spPr>
          <a:xfrm>
            <a:off x="640080" y="1444752"/>
            <a:ext cx="3566160" cy="2560320"/>
          </a:xfrm>
          <a:prstGeom prst="rect">
            <a:avLst/>
          </a:prstGeom>
          <a:solidFill>
            <a:srgbClr val="FCFAF6"/>
          </a:solidFill>
          <a:ln w="19050">
            <a:solidFill>
              <a:srgbClr val="8E6F3E"/>
            </a:solidFill>
          </a:ln>
          <a:effectLst/>
        </p:spPr>
        <p:txBody>
          <a:bodyPr rtlCol="0" anchor="t" wrap="square"/>
          <a:lstStyle/>
          <a:p/>
        </p:txBody>
      </p:sp>
      <p:sp>
        <p:nvSpPr>
          <p:cNvPr id="6" name="UmBox"/>
          <p:cNvSpPr/>
          <p:nvPr/>
        </p:nvSpPr>
        <p:spPr>
          <a:xfrm>
            <a:off x="914400" y="1691640"/>
            <a:ext cx="914400" cy="411480"/>
          </a:xfrm>
          <a:prstGeom prst="rect">
            <a:avLst/>
          </a:prstGeom>
          <a:solidFill>
            <a:srgbClr val="F5F1E8"/>
          </a:solidFill>
          <a:ln w="15875">
            <a:solidFill>
              <a:srgbClr val="555960"/>
            </a:solidFill>
          </a:ln>
          <a:effectLst/>
        </p:spPr>
        <p:txBody>
          <a:bodyPr rtlCol="0" anchor="t" wrap="square"/>
          <a:lstStyle/>
          <a:p/>
        </p:txBody>
      </p:sp>
      <p:sp>
        <p:nvSpPr>
          <p:cNvPr id="7" name="UmBox"/>
          <p:cNvSpPr/>
          <p:nvPr/>
        </p:nvSpPr>
        <p:spPr>
          <a:xfrm>
            <a:off x="2606040" y="1691640"/>
            <a:ext cx="914400" cy="411480"/>
          </a:xfrm>
          <a:prstGeom prst="rect">
            <a:avLst/>
          </a:prstGeom>
          <a:solidFill>
            <a:srgbClr val="F5F1E8"/>
          </a:solidFill>
          <a:ln w="15875">
            <a:solidFill>
              <a:srgbClr val="555960"/>
            </a:solidFill>
          </a:ln>
          <a:effectLst/>
        </p:spPr>
        <p:txBody>
          <a:bodyPr rtlCol="0" anchor="t" wrap="square"/>
          <a:lstStyle/>
          <a:p/>
        </p:txBody>
      </p:sp>
      <p:sp>
        <p:nvSpPr>
          <p:cNvPr id="8" name="UmBox"/>
          <p:cNvSpPr/>
          <p:nvPr/>
        </p:nvSpPr>
        <p:spPr>
          <a:xfrm>
            <a:off x="1143000" y="3154680"/>
            <a:ext cx="914400" cy="411480"/>
          </a:xfrm>
          <a:prstGeom prst="rect">
            <a:avLst/>
          </a:prstGeom>
          <a:solidFill>
            <a:srgbClr val="F5F1E8"/>
          </a:solidFill>
          <a:ln w="15875">
            <a:solidFill>
              <a:srgbClr val="555960"/>
            </a:solidFill>
          </a:ln>
          <a:effectLst/>
        </p:spPr>
        <p:txBody>
          <a:bodyPr rtlCol="0" anchor="t" wrap="square"/>
          <a:lstStyle/>
          <a:p/>
        </p:txBody>
      </p:sp>
      <p:sp>
        <p:nvSpPr>
          <p:cNvPr id="9" name="UmBox"/>
          <p:cNvSpPr/>
          <p:nvPr/>
        </p:nvSpPr>
        <p:spPr>
          <a:xfrm>
            <a:off x="2697480" y="3017520"/>
            <a:ext cx="914400" cy="411480"/>
          </a:xfrm>
          <a:prstGeom prst="rect">
            <a:avLst/>
          </a:prstGeom>
          <a:solidFill>
            <a:srgbClr val="F5F1E8"/>
          </a:solidFill>
          <a:ln w="15875">
            <a:solidFill>
              <a:srgbClr val="555960"/>
            </a:solidFill>
          </a:ln>
          <a:effectLst/>
        </p:spPr>
        <p:txBody>
          <a:bodyPr rtlCol="0" anchor="t" wrap="square"/>
          <a:lstStyle/>
          <a:p/>
        </p:txBody>
      </p:sp>
      <p:cxnSp>
        <p:nvCxnSpPr>
          <p:cNvPr id="10" name="UmEdge"/>
          <p:cNvCxnSpPr/>
          <p:nvPr/>
        </p:nvCxnSpPr>
        <p:spPr>
          <a:xfrm>
            <a:off x="1828800" y="1874520"/>
            <a:ext cx="777240" cy="45720"/>
          </a:xfrm>
          <a:prstGeom prst="bentConnector3">
            <a:avLst/>
          </a:prstGeom>
          <a:ln w="12700">
            <a:solidFill>
              <a:srgbClr val="555960"/>
            </a:solidFill>
          </a:ln>
        </p:spPr>
      </p:cxnSp>
      <p:cxnSp>
        <p:nvCxnSpPr>
          <p:cNvPr id="11" name="UmEdge"/>
          <p:cNvCxnSpPr/>
          <p:nvPr/>
        </p:nvCxnSpPr>
        <p:spPr>
          <a:xfrm>
            <a:off x="1417320" y="2103120"/>
            <a:ext cx="1600200" cy="914400"/>
          </a:xfrm>
          <a:prstGeom prst="bentConnector3">
            <a:avLst/>
          </a:prstGeom>
          <a:ln w="12700">
            <a:solidFill>
              <a:srgbClr val="555960"/>
            </a:solidFill>
          </a:ln>
        </p:spPr>
      </p:cxnSp>
      <p:cxnSp>
        <p:nvCxnSpPr>
          <p:cNvPr id="12" name="UmEdge"/>
          <p:cNvCxnSpPr/>
          <p:nvPr/>
        </p:nvCxnSpPr>
        <p:spPr>
          <a:xfrm flipV="1">
            <a:off x="2057400" y="2103120"/>
            <a:ext cx="1005840" cy="1234440"/>
          </a:xfrm>
          <a:prstGeom prst="bentConnector3">
            <a:avLst/>
          </a:prstGeom>
          <a:ln w="12700">
            <a:solidFill>
              <a:srgbClr val="555960"/>
            </a:solidFill>
          </a:ln>
        </p:spPr>
      </p:cxnSp>
      <p:cxnSp>
        <p:nvCxnSpPr>
          <p:cNvPr id="13" name="UmEdge"/>
          <p:cNvCxnSpPr/>
          <p:nvPr/>
        </p:nvCxnSpPr>
        <p:spPr>
          <a:xfrm flipV="1">
            <a:off x="1371600" y="2084832"/>
            <a:ext cx="1280160" cy="1069848"/>
          </a:xfrm>
          <a:prstGeom prst="bentConnector3">
            <a:avLst/>
          </a:prstGeom>
          <a:ln w="12700">
            <a:solidFill>
              <a:srgbClr val="555960"/>
            </a:solidFill>
          </a:ln>
        </p:spPr>
      </p:cxnSp>
      <p:sp>
        <p:nvSpPr>
          <p:cNvPr id="14" name="PanelLabel"/>
          <p:cNvSpPr/>
          <p:nvPr/>
        </p:nvSpPr>
        <p:spPr>
          <a:xfrm>
            <a:off x="4617720" y="868680"/>
            <a:ext cx="411480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MODULAR MONOLITH</a:t>
            </a:r>
          </a:p>
        </p:txBody>
      </p:sp>
      <p:sp>
        <p:nvSpPr>
          <p:cNvPr id="15" name="MmCard" descr="Modular monolith: the same single deployable with four named modules, explicit interface edges, and a forbidden dependency marked"/>
          <p:cNvSpPr/>
          <p:nvPr/>
        </p:nvSpPr>
        <p:spPr>
          <a:xfrm>
            <a:off x="4617720" y="1261872"/>
            <a:ext cx="4114800" cy="2971800"/>
          </a:xfrm>
          <a:prstGeom prst="rect">
            <a:avLst/>
          </a:prstGeom>
          <a:solidFill>
            <a:srgbClr val="F5F1E8"/>
          </a:solidFill>
          <a:ln>
            <a:noFill/>
          </a:ln>
          <a:effectLst/>
        </p:spPr>
        <p:txBody>
          <a:bodyPr rtlCol="0" anchor="ctr" wrap="square"/>
          <a:lstStyle/>
          <a:p/>
        </p:txBody>
      </p:sp>
      <p:sp>
        <p:nvSpPr>
          <p:cNvPr id="16" name="MmOuter"/>
          <p:cNvSpPr/>
          <p:nvPr/>
        </p:nvSpPr>
        <p:spPr>
          <a:xfrm>
            <a:off x="4846320" y="1444752"/>
            <a:ext cx="3657600" cy="2560320"/>
          </a:xfrm>
          <a:prstGeom prst="rect">
            <a:avLst/>
          </a:prstGeom>
          <a:solidFill>
            <a:srgbClr val="FCFAF6"/>
          </a:solidFill>
          <a:ln w="19050">
            <a:solidFill>
              <a:srgbClr val="8E6F3E"/>
            </a:solidFill>
          </a:ln>
          <a:effectLst/>
        </p:spPr>
        <p:txBody>
          <a:bodyPr rtlCol="0" anchor="t" wrap="square"/>
          <a:lstStyle/>
          <a:p/>
        </p:txBody>
      </p:sp>
      <p:sp>
        <p:nvSpPr>
          <p:cNvPr id="17" name="MmBox"/>
          <p:cNvSpPr/>
          <p:nvPr/>
        </p:nvSpPr>
        <p:spPr>
          <a:xfrm>
            <a:off x="5074920" y="1645920"/>
            <a:ext cx="1463040" cy="47548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HTTP</a:t>
            </a:r>
          </a:p>
        </p:txBody>
      </p:sp>
      <p:sp>
        <p:nvSpPr>
          <p:cNvPr id="18" name="MmBox"/>
          <p:cNvSpPr/>
          <p:nvPr/>
        </p:nvSpPr>
        <p:spPr>
          <a:xfrm>
            <a:off x="6812280" y="1645920"/>
            <a:ext cx="1463040" cy="47548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POLICY</a:t>
            </a:r>
          </a:p>
        </p:txBody>
      </p:sp>
      <p:sp>
        <p:nvSpPr>
          <p:cNvPr id="19" name="MmBox"/>
          <p:cNvSpPr/>
          <p:nvPr/>
        </p:nvSpPr>
        <p:spPr>
          <a:xfrm>
            <a:off x="5074920" y="3246120"/>
            <a:ext cx="1463040" cy="47548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AUTH</a:t>
            </a:r>
          </a:p>
        </p:txBody>
      </p:sp>
      <p:sp>
        <p:nvSpPr>
          <p:cNvPr id="20" name="MmBox"/>
          <p:cNvSpPr/>
          <p:nvPr/>
        </p:nvSpPr>
        <p:spPr>
          <a:xfrm>
            <a:off x="6812280" y="3246120"/>
            <a:ext cx="1463040" cy="47548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STORE</a:t>
            </a:r>
          </a:p>
        </p:txBody>
      </p:sp>
      <p:cxnSp>
        <p:nvCxnSpPr>
          <p:cNvPr id="21" name="MmEdge"/>
          <p:cNvCxnSpPr/>
          <p:nvPr/>
        </p:nvCxnSpPr>
        <p:spPr>
          <a:xfrm>
            <a:off x="6537960" y="1883664"/>
            <a:ext cx="274320" cy="0"/>
          </a:xfrm>
          <a:prstGeom prst="line">
            <a:avLst/>
          </a:prstGeom>
          <a:ln w="19050">
            <a:solidFill>
              <a:srgbClr val="8E6F3E"/>
            </a:solidFill>
            <a:tailEnd type="triangle" w="med" len="med"/>
          </a:ln>
        </p:spPr>
      </p:cxnSp>
      <p:cxnSp>
        <p:nvCxnSpPr>
          <p:cNvPr id="22" name="MmEdge"/>
          <p:cNvCxnSpPr/>
          <p:nvPr/>
        </p:nvCxnSpPr>
        <p:spPr>
          <a:xfrm>
            <a:off x="5440680" y="2121408"/>
            <a:ext cx="0" cy="1124712"/>
          </a:xfrm>
          <a:prstGeom prst="line">
            <a:avLst/>
          </a:prstGeom>
          <a:ln w="19050">
            <a:solidFill>
              <a:srgbClr val="8E6F3E"/>
            </a:solidFill>
            <a:tailEnd type="triangle" w="med" len="med"/>
          </a:ln>
        </p:spPr>
      </p:cxnSp>
      <p:cxnSp>
        <p:nvCxnSpPr>
          <p:cNvPr id="23" name="MmEdge"/>
          <p:cNvCxnSpPr/>
          <p:nvPr/>
        </p:nvCxnSpPr>
        <p:spPr>
          <a:xfrm>
            <a:off x="7909560" y="2121408"/>
            <a:ext cx="0" cy="1124712"/>
          </a:xfrm>
          <a:prstGeom prst="line">
            <a:avLst/>
          </a:prstGeom>
          <a:ln w="19050">
            <a:solidFill>
              <a:srgbClr val="8E6F3E"/>
            </a:solidFill>
            <a:tailEnd type="triangle" w="med" len="med"/>
          </a:ln>
        </p:spPr>
      </p:cxnSp>
      <p:cxnSp>
        <p:nvCxnSpPr>
          <p:cNvPr id="24" name="MmEdge"/>
          <p:cNvCxnSpPr/>
          <p:nvPr/>
        </p:nvCxnSpPr>
        <p:spPr>
          <a:xfrm>
            <a:off x="6537960" y="3483864"/>
            <a:ext cx="274320" cy="0"/>
          </a:xfrm>
          <a:prstGeom prst="line">
            <a:avLst/>
          </a:prstGeom>
          <a:ln w="19050">
            <a:solidFill>
              <a:srgbClr val="8E6F3E"/>
            </a:solidFill>
            <a:tailEnd type="triangle" w="med" len="med"/>
          </a:ln>
        </p:spPr>
      </p:cxnSp>
      <p:sp>
        <p:nvSpPr>
          <p:cNvPr id="25" name="MmForbid" descr="Declared forbidden dependency: HTTP handlers must not import store internals"/>
          <p:cNvSpPr/>
          <p:nvPr/>
        </p:nvSpPr>
        <p:spPr>
          <a:xfrm>
            <a:off x="5760720" y="2450592"/>
            <a:ext cx="1783080" cy="502920"/>
          </a:xfrm>
          <a:prstGeom prst="rect">
            <a:avLst/>
          </a:prstGeom>
          <a:noFill/>
          <a:ln>
            <a:noFill/>
          </a:ln>
          <a:effectLst/>
        </p:spPr>
        <p:txBody>
          <a:bodyPr rtlCol="0" anchor="ctr" wrap="square" lIns="27432" rIns="27432"/>
          <a:lstStyle/>
          <a:p>
            <a:pPr algn="ctr">
              <a:spcAft>
                <a:spcPts val="0"/>
              </a:spcAft>
            </a:pPr>
            <a:r>
              <a:rPr sz="2000" b="1">
                <a:solidFill>
                  <a:srgbClr val="C01B1B"/>
                </a:solidFill>
                <a:latin typeface="Calibri"/>
              </a:rPr>
              <a:t>✗ HTTP → STORE internals</a:t>
            </a:r>
          </a:p>
        </p:txBody>
      </p:sp>
      <p:sp>
        <p:nvSpPr>
          <p:cNvPr id="26" name="BandCard"/>
          <p:cNvSpPr/>
          <p:nvPr/>
        </p:nvSpPr>
        <p:spPr>
          <a:xfrm>
            <a:off x="411480" y="4480560"/>
            <a:ext cx="8321040" cy="868680"/>
          </a:xfrm>
          <a:prstGeom prst="rect">
            <a:avLst/>
          </a:prstGeom>
          <a:solidFill>
            <a:srgbClr val="FCFAF6"/>
          </a:solidFill>
          <a:ln>
            <a:noFill/>
          </a:ln>
          <a:effectLst/>
        </p:spPr>
        <p:txBody>
          <a:bodyPr rtlCol="0" anchor="ctr" wrap="square"/>
          <a:lstStyle/>
          <a:p/>
        </p:txBody>
      </p:sp>
      <p:sp>
        <p:nvSpPr>
          <p:cNvPr id="27" name="BandText"/>
          <p:cNvSpPr/>
          <p:nvPr/>
        </p:nvSpPr>
        <p:spPr>
          <a:xfrm>
            <a:off x="557784" y="4553712"/>
            <a:ext cx="8046720" cy="731520"/>
          </a:xfrm>
          <a:prstGeom prst="rect">
            <a:avLst/>
          </a:prstGeom>
          <a:noFill/>
          <a:ln>
            <a:noFill/>
          </a:ln>
          <a:effectLst/>
        </p:spPr>
        <p:txBody>
          <a:bodyPr rtlCol="0" anchor="t" wrap="square"/>
          <a:lstStyle/>
          <a:p>
            <a:pPr algn="l">
              <a:spcAft>
                <a:spcPts val="0"/>
              </a:spcAft>
            </a:pPr>
            <a:r>
              <a:rPr sz="2000" b="1">
                <a:solidFill>
                  <a:srgbClr val="5C4826"/>
                </a:solidFill>
                <a:latin typeface="Calibri"/>
              </a:rPr>
              <a:t>Both are ONE deployable unit; both can be replicated behind a load balancer</a:t>
            </a:r>
          </a:p>
          <a:p>
            <a:pPr algn="l">
              <a:spcAft>
                <a:spcPts val="0"/>
              </a:spcAft>
            </a:pPr>
            <a:r>
              <a:rPr sz="2000" b="0">
                <a:solidFill>
                  <a:srgbClr val="555960"/>
                </a:solidFill>
                <a:latin typeface="Calibri"/>
              </a:rPr>
              <a:t>The right panel adds declared interfaces and forbidden edges, not more deployables.</a:t>
            </a:r>
          </a:p>
        </p:txBody>
      </p:sp>
      <p:sp>
        <p:nvSpPr>
          <p:cNvPr id="28"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Modularity is a property of boundaries, not of deployment count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Same capabilities, three deployment boundaries</a:t>
            </a:r>
          </a:p>
        </p:txBody>
      </p:sp>
      <p:sp>
        <p:nvSpPr>
          <p:cNvPr id="3" name="PanelLabel"/>
          <p:cNvSpPr/>
          <p:nvPr/>
        </p:nvSpPr>
        <p:spPr>
          <a:xfrm>
            <a:off x="411480" y="868680"/>
            <a:ext cx="274320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A · UNSTRUCTURED</a:t>
            </a:r>
          </a:p>
        </p:txBody>
      </p:sp>
      <p:sp>
        <p:nvSpPr>
          <p:cNvPr id="4" name="PanelLabel"/>
          <p:cNvSpPr/>
          <p:nvPr/>
        </p:nvSpPr>
        <p:spPr>
          <a:xfrm>
            <a:off x="3200400" y="868680"/>
            <a:ext cx="274320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B · MODULAR MONOLITH</a:t>
            </a:r>
          </a:p>
        </p:txBody>
      </p:sp>
      <p:sp>
        <p:nvSpPr>
          <p:cNvPr id="5" name="PanelLabel"/>
          <p:cNvSpPr/>
          <p:nvPr/>
        </p:nvSpPr>
        <p:spPr>
          <a:xfrm>
            <a:off x="5989320" y="868680"/>
            <a:ext cx="274320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C · TWO SERVICES</a:t>
            </a:r>
          </a:p>
        </p:txBody>
      </p:sp>
      <p:sp>
        <p:nvSpPr>
          <p:cNvPr id="6" name="PanelA" descr="Panel A: one deployable unit with tangled internals"/>
          <p:cNvSpPr/>
          <p:nvPr/>
        </p:nvSpPr>
        <p:spPr>
          <a:xfrm>
            <a:off x="411480" y="1261872"/>
            <a:ext cx="2743200" cy="3108960"/>
          </a:xfrm>
          <a:prstGeom prst="rect">
            <a:avLst/>
          </a:prstGeom>
          <a:solidFill>
            <a:srgbClr val="F5F1E8"/>
          </a:solidFill>
          <a:ln>
            <a:noFill/>
          </a:ln>
          <a:effectLst/>
        </p:spPr>
        <p:txBody>
          <a:bodyPr rtlCol="0" anchor="ctr" wrap="square"/>
          <a:lstStyle/>
          <a:p/>
        </p:txBody>
      </p:sp>
      <p:sp>
        <p:nvSpPr>
          <p:cNvPr id="7" name="AOuter"/>
          <p:cNvSpPr/>
          <p:nvPr/>
        </p:nvSpPr>
        <p:spPr>
          <a:xfrm>
            <a:off x="640080" y="1463040"/>
            <a:ext cx="2286000" cy="2103120"/>
          </a:xfrm>
          <a:prstGeom prst="rect">
            <a:avLst/>
          </a:prstGeom>
          <a:solidFill>
            <a:srgbClr val="FCFAF6"/>
          </a:solidFill>
          <a:ln w="19050">
            <a:solidFill>
              <a:srgbClr val="8E6F3E"/>
            </a:solidFill>
          </a:ln>
          <a:effectLst/>
        </p:spPr>
        <p:txBody>
          <a:bodyPr rtlCol="0" anchor="t" wrap="square"/>
          <a:lstStyle/>
          <a:p/>
        </p:txBody>
      </p:sp>
      <p:sp>
        <p:nvSpPr>
          <p:cNvPr id="8" name="ABox"/>
          <p:cNvSpPr/>
          <p:nvPr/>
        </p:nvSpPr>
        <p:spPr>
          <a:xfrm>
            <a:off x="868680" y="1691640"/>
            <a:ext cx="731520" cy="384048"/>
          </a:xfrm>
          <a:prstGeom prst="rect">
            <a:avLst/>
          </a:prstGeom>
          <a:solidFill>
            <a:srgbClr val="F5F1E8"/>
          </a:solidFill>
          <a:ln w="15875">
            <a:solidFill>
              <a:srgbClr val="555960"/>
            </a:solidFill>
          </a:ln>
          <a:effectLst/>
        </p:spPr>
        <p:txBody>
          <a:bodyPr rtlCol="0" anchor="t" wrap="square"/>
          <a:lstStyle/>
          <a:p/>
        </p:txBody>
      </p:sp>
      <p:sp>
        <p:nvSpPr>
          <p:cNvPr id="9" name="ABox"/>
          <p:cNvSpPr/>
          <p:nvPr/>
        </p:nvSpPr>
        <p:spPr>
          <a:xfrm>
            <a:off x="2011680" y="1737360"/>
            <a:ext cx="731520" cy="384048"/>
          </a:xfrm>
          <a:prstGeom prst="rect">
            <a:avLst/>
          </a:prstGeom>
          <a:solidFill>
            <a:srgbClr val="F5F1E8"/>
          </a:solidFill>
          <a:ln w="15875">
            <a:solidFill>
              <a:srgbClr val="555960"/>
            </a:solidFill>
          </a:ln>
          <a:effectLst/>
        </p:spPr>
        <p:txBody>
          <a:bodyPr rtlCol="0" anchor="t" wrap="square"/>
          <a:lstStyle/>
          <a:p/>
        </p:txBody>
      </p:sp>
      <p:sp>
        <p:nvSpPr>
          <p:cNvPr id="10" name="ABox"/>
          <p:cNvSpPr/>
          <p:nvPr/>
        </p:nvSpPr>
        <p:spPr>
          <a:xfrm>
            <a:off x="914400" y="2926080"/>
            <a:ext cx="731520" cy="384048"/>
          </a:xfrm>
          <a:prstGeom prst="rect">
            <a:avLst/>
          </a:prstGeom>
          <a:solidFill>
            <a:srgbClr val="F5F1E8"/>
          </a:solidFill>
          <a:ln w="15875">
            <a:solidFill>
              <a:srgbClr val="555960"/>
            </a:solidFill>
          </a:ln>
          <a:effectLst/>
        </p:spPr>
        <p:txBody>
          <a:bodyPr rtlCol="0" anchor="t" wrap="square"/>
          <a:lstStyle/>
          <a:p/>
        </p:txBody>
      </p:sp>
      <p:sp>
        <p:nvSpPr>
          <p:cNvPr id="11" name="ABox"/>
          <p:cNvSpPr/>
          <p:nvPr/>
        </p:nvSpPr>
        <p:spPr>
          <a:xfrm>
            <a:off x="2057400" y="2834640"/>
            <a:ext cx="731520" cy="384048"/>
          </a:xfrm>
          <a:prstGeom prst="rect">
            <a:avLst/>
          </a:prstGeom>
          <a:solidFill>
            <a:srgbClr val="F5F1E8"/>
          </a:solidFill>
          <a:ln w="15875">
            <a:solidFill>
              <a:srgbClr val="555960"/>
            </a:solidFill>
          </a:ln>
          <a:effectLst/>
        </p:spPr>
        <p:txBody>
          <a:bodyPr rtlCol="0" anchor="t" wrap="square"/>
          <a:lstStyle/>
          <a:p/>
        </p:txBody>
      </p:sp>
      <p:cxnSp>
        <p:nvCxnSpPr>
          <p:cNvPr id="12" name="AEdge"/>
          <p:cNvCxnSpPr/>
          <p:nvPr/>
        </p:nvCxnSpPr>
        <p:spPr>
          <a:xfrm>
            <a:off x="1600200" y="1874520"/>
            <a:ext cx="411480" cy="45720"/>
          </a:xfrm>
          <a:prstGeom prst="bentConnector3">
            <a:avLst/>
          </a:prstGeom>
          <a:ln w="12700">
            <a:solidFill>
              <a:srgbClr val="555960"/>
            </a:solidFill>
          </a:ln>
        </p:spPr>
      </p:cxnSp>
      <p:cxnSp>
        <p:nvCxnSpPr>
          <p:cNvPr id="13" name="AEdge"/>
          <p:cNvCxnSpPr/>
          <p:nvPr/>
        </p:nvCxnSpPr>
        <p:spPr>
          <a:xfrm>
            <a:off x="1234440" y="2075688"/>
            <a:ext cx="1188720" cy="758952"/>
          </a:xfrm>
          <a:prstGeom prst="bentConnector3">
            <a:avLst/>
          </a:prstGeom>
          <a:ln w="12700">
            <a:solidFill>
              <a:srgbClr val="555960"/>
            </a:solidFill>
          </a:ln>
        </p:spPr>
      </p:cxnSp>
      <p:cxnSp>
        <p:nvCxnSpPr>
          <p:cNvPr id="14" name="AEdge"/>
          <p:cNvCxnSpPr/>
          <p:nvPr/>
        </p:nvCxnSpPr>
        <p:spPr>
          <a:xfrm flipV="1">
            <a:off x="1645920" y="2121408"/>
            <a:ext cx="731520" cy="987552"/>
          </a:xfrm>
          <a:prstGeom prst="bentConnector3">
            <a:avLst/>
          </a:prstGeom>
          <a:ln w="12700">
            <a:solidFill>
              <a:srgbClr val="555960"/>
            </a:solidFill>
          </a:ln>
        </p:spPr>
      </p:cxnSp>
      <p:sp>
        <p:nvSpPr>
          <p:cNvPr id="15" name="ACap"/>
          <p:cNvSpPr/>
          <p:nvPr/>
        </p:nvSpPr>
        <p:spPr>
          <a:xfrm>
            <a:off x="640080" y="3611880"/>
            <a:ext cx="2377440" cy="731520"/>
          </a:xfrm>
          <a:prstGeom prst="rect">
            <a:avLst/>
          </a:prstGeom>
          <a:noFill/>
          <a:ln>
            <a:noFill/>
          </a:ln>
          <a:effectLst/>
        </p:spPr>
        <p:txBody>
          <a:bodyPr rtlCol="0" anchor="t" wrap="square"/>
          <a:lstStyle/>
          <a:p>
            <a:pPr algn="l">
              <a:spcAft>
                <a:spcPts val="0"/>
              </a:spcAft>
            </a:pPr>
            <a:r>
              <a:rPr sz="2000" b="0">
                <a:solidFill>
                  <a:srgbClr val="555960"/>
                </a:solidFill>
                <a:latin typeface="Calibri"/>
              </a:rPr>
              <a:t>in-process calls, no declared seams</a:t>
            </a:r>
          </a:p>
        </p:txBody>
      </p:sp>
      <p:sp>
        <p:nvSpPr>
          <p:cNvPr id="16" name="PanelB" descr="Panel B: one deployable unit with four named modules and local calls across declared interfaces"/>
          <p:cNvSpPr/>
          <p:nvPr/>
        </p:nvSpPr>
        <p:spPr>
          <a:xfrm>
            <a:off x="3200400" y="1261872"/>
            <a:ext cx="2743200" cy="3108960"/>
          </a:xfrm>
          <a:prstGeom prst="rect">
            <a:avLst/>
          </a:prstGeom>
          <a:solidFill>
            <a:srgbClr val="F5F1E8"/>
          </a:solidFill>
          <a:ln>
            <a:noFill/>
          </a:ln>
          <a:effectLst/>
        </p:spPr>
        <p:txBody>
          <a:bodyPr rtlCol="0" anchor="ctr" wrap="square"/>
          <a:lstStyle/>
          <a:p/>
        </p:txBody>
      </p:sp>
      <p:sp>
        <p:nvSpPr>
          <p:cNvPr id="17" name="BOuter"/>
          <p:cNvSpPr/>
          <p:nvPr/>
        </p:nvSpPr>
        <p:spPr>
          <a:xfrm>
            <a:off x="3429000" y="1463040"/>
            <a:ext cx="2286000" cy="2103120"/>
          </a:xfrm>
          <a:prstGeom prst="rect">
            <a:avLst/>
          </a:prstGeom>
          <a:solidFill>
            <a:srgbClr val="FCFAF6"/>
          </a:solidFill>
          <a:ln w="19050">
            <a:solidFill>
              <a:srgbClr val="8E6F3E"/>
            </a:solidFill>
          </a:ln>
          <a:effectLst/>
        </p:spPr>
        <p:txBody>
          <a:bodyPr rtlCol="0" anchor="t" wrap="square"/>
          <a:lstStyle/>
          <a:p/>
        </p:txBody>
      </p:sp>
      <p:sp>
        <p:nvSpPr>
          <p:cNvPr id="18" name="BBox"/>
          <p:cNvSpPr/>
          <p:nvPr/>
        </p:nvSpPr>
        <p:spPr>
          <a:xfrm>
            <a:off x="3566160" y="1645920"/>
            <a:ext cx="1005840" cy="3840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spcAft>
                <a:spcPts val="0"/>
              </a:spcAft>
            </a:pPr>
            <a:r>
              <a:rPr sz="2000" b="1">
                <a:solidFill>
                  <a:srgbClr val="FFFFFF"/>
                </a:solidFill>
                <a:latin typeface="Calibri"/>
              </a:rPr>
              <a:t>HTTP</a:t>
            </a:r>
          </a:p>
        </p:txBody>
      </p:sp>
      <p:sp>
        <p:nvSpPr>
          <p:cNvPr id="19" name="BBox"/>
          <p:cNvSpPr/>
          <p:nvPr/>
        </p:nvSpPr>
        <p:spPr>
          <a:xfrm>
            <a:off x="4709160" y="1645920"/>
            <a:ext cx="1005840" cy="3840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spcAft>
                <a:spcPts val="0"/>
              </a:spcAft>
            </a:pPr>
            <a:r>
              <a:rPr sz="2000" b="1">
                <a:solidFill>
                  <a:srgbClr val="FFFFFF"/>
                </a:solidFill>
                <a:latin typeface="Calibri"/>
              </a:rPr>
              <a:t>POLICY</a:t>
            </a:r>
          </a:p>
        </p:txBody>
      </p:sp>
      <p:sp>
        <p:nvSpPr>
          <p:cNvPr id="20" name="BBox"/>
          <p:cNvSpPr/>
          <p:nvPr/>
        </p:nvSpPr>
        <p:spPr>
          <a:xfrm>
            <a:off x="3566160" y="2834640"/>
            <a:ext cx="1005840" cy="3840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spcAft>
                <a:spcPts val="0"/>
              </a:spcAft>
            </a:pPr>
            <a:r>
              <a:rPr sz="2000" b="1">
                <a:solidFill>
                  <a:srgbClr val="FFFFFF"/>
                </a:solidFill>
                <a:latin typeface="Calibri"/>
              </a:rPr>
              <a:t>AUTH</a:t>
            </a:r>
          </a:p>
        </p:txBody>
      </p:sp>
      <p:sp>
        <p:nvSpPr>
          <p:cNvPr id="21" name="BBox"/>
          <p:cNvSpPr/>
          <p:nvPr/>
        </p:nvSpPr>
        <p:spPr>
          <a:xfrm>
            <a:off x="4709160" y="2834640"/>
            <a:ext cx="1005840" cy="3840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a:lstStyle/>
          <a:p>
            <a:pPr algn="ctr">
              <a:spcAft>
                <a:spcPts val="0"/>
              </a:spcAft>
            </a:pPr>
            <a:r>
              <a:rPr sz="2000" b="1">
                <a:solidFill>
                  <a:srgbClr val="FFFFFF"/>
                </a:solidFill>
                <a:latin typeface="Calibri"/>
              </a:rPr>
              <a:t>STORE</a:t>
            </a:r>
          </a:p>
        </p:txBody>
      </p:sp>
      <p:cxnSp>
        <p:nvCxnSpPr>
          <p:cNvPr id="22" name="BEdge"/>
          <p:cNvCxnSpPr/>
          <p:nvPr/>
        </p:nvCxnSpPr>
        <p:spPr>
          <a:xfrm>
            <a:off x="4572000" y="1837944"/>
            <a:ext cx="137160" cy="0"/>
          </a:xfrm>
          <a:prstGeom prst="line">
            <a:avLst/>
          </a:prstGeom>
          <a:ln w="19050">
            <a:solidFill>
              <a:srgbClr val="8E6F3E"/>
            </a:solidFill>
            <a:tailEnd type="triangle" w="med" len="med"/>
          </a:ln>
        </p:spPr>
      </p:cxnSp>
      <p:cxnSp>
        <p:nvCxnSpPr>
          <p:cNvPr id="23" name="BEdge"/>
          <p:cNvCxnSpPr/>
          <p:nvPr/>
        </p:nvCxnSpPr>
        <p:spPr>
          <a:xfrm>
            <a:off x="4069080" y="2029968"/>
            <a:ext cx="0" cy="804672"/>
          </a:xfrm>
          <a:prstGeom prst="line">
            <a:avLst/>
          </a:prstGeom>
          <a:ln w="19050">
            <a:solidFill>
              <a:srgbClr val="8E6F3E"/>
            </a:solidFill>
            <a:tailEnd type="triangle" w="med" len="med"/>
          </a:ln>
        </p:spPr>
      </p:cxnSp>
      <p:cxnSp>
        <p:nvCxnSpPr>
          <p:cNvPr id="24" name="BEdge"/>
          <p:cNvCxnSpPr/>
          <p:nvPr/>
        </p:nvCxnSpPr>
        <p:spPr>
          <a:xfrm>
            <a:off x="5212080" y="2029968"/>
            <a:ext cx="0" cy="804672"/>
          </a:xfrm>
          <a:prstGeom prst="line">
            <a:avLst/>
          </a:prstGeom>
          <a:ln w="19050">
            <a:solidFill>
              <a:srgbClr val="8E6F3E"/>
            </a:solidFill>
            <a:tailEnd type="triangle" w="med" len="med"/>
          </a:ln>
        </p:spPr>
      </p:cxnSp>
      <p:sp>
        <p:nvSpPr>
          <p:cNvPr id="25" name="BCap"/>
          <p:cNvSpPr/>
          <p:nvPr/>
        </p:nvSpPr>
        <p:spPr>
          <a:xfrm>
            <a:off x="3429000" y="3611880"/>
            <a:ext cx="2377440" cy="731520"/>
          </a:xfrm>
          <a:prstGeom prst="rect">
            <a:avLst/>
          </a:prstGeom>
          <a:noFill/>
          <a:ln>
            <a:noFill/>
          </a:ln>
          <a:effectLst/>
        </p:spPr>
        <p:txBody>
          <a:bodyPr rtlCol="0" anchor="t" wrap="square"/>
          <a:lstStyle/>
          <a:p>
            <a:pPr algn="l">
              <a:spcAft>
                <a:spcPts val="0"/>
              </a:spcAft>
            </a:pPr>
            <a:r>
              <a:rPr sz="2000" b="0">
                <a:solidFill>
                  <a:srgbClr val="555960"/>
                </a:solidFill>
                <a:latin typeface="Calibri"/>
              </a:rPr>
              <a:t>local call across a declared interface</a:t>
            </a:r>
          </a:p>
        </p:txBody>
      </p:sp>
      <p:sp>
        <p:nvSpPr>
          <p:cNvPr id="26" name="PanelC" descr="Panel C: booking and identity/policy as separately deployed services, each owning its data, joined by a network contract"/>
          <p:cNvSpPr/>
          <p:nvPr/>
        </p:nvSpPr>
        <p:spPr>
          <a:xfrm>
            <a:off x="5989320" y="1261872"/>
            <a:ext cx="2743200" cy="3108960"/>
          </a:xfrm>
          <a:prstGeom prst="rect">
            <a:avLst/>
          </a:prstGeom>
          <a:solidFill>
            <a:srgbClr val="F5F1E8"/>
          </a:solidFill>
          <a:ln>
            <a:noFill/>
          </a:ln>
          <a:effectLst/>
        </p:spPr>
        <p:txBody>
          <a:bodyPr rtlCol="0" anchor="ctr" wrap="square"/>
          <a:lstStyle/>
          <a:p/>
        </p:txBody>
      </p:sp>
      <p:sp>
        <p:nvSpPr>
          <p:cNvPr id="27" name="CSvc"/>
          <p:cNvSpPr/>
          <p:nvPr/>
        </p:nvSpPr>
        <p:spPr>
          <a:xfrm>
            <a:off x="6217920" y="1508760"/>
            <a:ext cx="228600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BOOKING SERVICE</a:t>
            </a:r>
          </a:p>
          <a:p>
            <a:pPr algn="ctr">
              <a:spcAft>
                <a:spcPts val="0"/>
              </a:spcAft>
            </a:pPr>
            <a:r>
              <a:rPr sz="2000" b="0">
                <a:solidFill>
                  <a:srgbClr val="FFFFFF"/>
                </a:solidFill>
                <a:latin typeface="Calibri"/>
              </a:rPr>
              <a:t>owns reservations</a:t>
            </a:r>
          </a:p>
        </p:txBody>
      </p:sp>
      <p:sp>
        <p:nvSpPr>
          <p:cNvPr id="28" name="CSvc"/>
          <p:cNvSpPr/>
          <p:nvPr/>
        </p:nvSpPr>
        <p:spPr>
          <a:xfrm>
            <a:off x="6217920" y="2880360"/>
            <a:ext cx="2286000" cy="7315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IDENTITY &amp; POLICY</a:t>
            </a:r>
          </a:p>
          <a:p>
            <a:pPr algn="ctr">
              <a:spcAft>
                <a:spcPts val="0"/>
              </a:spcAft>
            </a:pPr>
            <a:r>
              <a:rPr sz="2000" b="0">
                <a:solidFill>
                  <a:srgbClr val="FFFFFF"/>
                </a:solidFill>
                <a:latin typeface="Calibri"/>
              </a:rPr>
              <a:t>owns users, policies</a:t>
            </a:r>
          </a:p>
        </p:txBody>
      </p:sp>
      <p:cxnSp>
        <p:nvCxnSpPr>
          <p:cNvPr id="29" name="CEdge"/>
          <p:cNvCxnSpPr/>
          <p:nvPr/>
        </p:nvCxnSpPr>
        <p:spPr>
          <a:xfrm>
            <a:off x="7360920" y="2240280"/>
            <a:ext cx="0" cy="640080"/>
          </a:xfrm>
          <a:prstGeom prst="line">
            <a:avLst/>
          </a:prstGeom>
          <a:ln w="19050">
            <a:solidFill>
              <a:srgbClr val="8E6F3E"/>
            </a:solidFill>
            <a:headEnd type="triangle" w="med" len="med"/>
            <a:tailEnd type="triangle" w="med" len="med"/>
          </a:ln>
        </p:spPr>
      </p:cxnSp>
      <p:sp>
        <p:nvSpPr>
          <p:cNvPr id="30" name="CCap"/>
          <p:cNvSpPr/>
          <p:nvPr/>
        </p:nvSpPr>
        <p:spPr>
          <a:xfrm>
            <a:off x="6217920" y="3611880"/>
            <a:ext cx="2377440" cy="731520"/>
          </a:xfrm>
          <a:prstGeom prst="rect">
            <a:avLst/>
          </a:prstGeom>
          <a:noFill/>
          <a:ln>
            <a:noFill/>
          </a:ln>
          <a:effectLst/>
        </p:spPr>
        <p:txBody>
          <a:bodyPr rtlCol="0" anchor="t" wrap="square"/>
          <a:lstStyle/>
          <a:p>
            <a:pPr algn="l">
              <a:spcAft>
                <a:spcPts val="0"/>
              </a:spcAft>
            </a:pPr>
            <a:r>
              <a:rPr sz="2000" b="1">
                <a:solidFill>
                  <a:srgbClr val="C01B1B"/>
                </a:solidFill>
                <a:latin typeface="Calibri"/>
              </a:rPr>
              <a:t>the local call is now a network contract</a:t>
            </a:r>
          </a:p>
        </p:txBody>
      </p:sp>
      <p:sp>
        <p:nvSpPr>
          <p:cNvPr id="31" name="BandCard"/>
          <p:cNvSpPr/>
          <p:nvPr/>
        </p:nvSpPr>
        <p:spPr>
          <a:xfrm>
            <a:off x="411480" y="4526280"/>
            <a:ext cx="8321040" cy="822960"/>
          </a:xfrm>
          <a:prstGeom prst="rect">
            <a:avLst/>
          </a:prstGeom>
          <a:solidFill>
            <a:srgbClr val="FCFAF6"/>
          </a:solidFill>
          <a:ln>
            <a:noFill/>
          </a:ln>
          <a:effectLst/>
        </p:spPr>
        <p:txBody>
          <a:bodyPr rtlCol="0" anchor="ctr" wrap="square"/>
          <a:lstStyle/>
          <a:p/>
        </p:txBody>
      </p:sp>
      <p:sp>
        <p:nvSpPr>
          <p:cNvPr id="32" name="BandText"/>
          <p:cNvSpPr/>
          <p:nvPr/>
        </p:nvSpPr>
        <p:spPr>
          <a:xfrm>
            <a:off x="557784" y="4599432"/>
            <a:ext cx="8046720" cy="685800"/>
          </a:xfrm>
          <a:prstGeom prst="rect">
            <a:avLst/>
          </a:prstGeom>
          <a:noFill/>
          <a:ln>
            <a:noFill/>
          </a:ln>
          <a:effectLst/>
        </p:spPr>
        <p:txBody>
          <a:bodyPr rtlCol="0" anchor="ctr" wrap="square"/>
          <a:lstStyle/>
          <a:p>
            <a:pPr algn="ctr">
              <a:spcAft>
                <a:spcPts val="0"/>
              </a:spcAft>
            </a:pPr>
            <a:r>
              <a:rPr sz="2000" b="1">
                <a:solidFill>
                  <a:srgbClr val="5C4826"/>
                </a:solidFill>
                <a:latin typeface="Calibri"/>
              </a:rPr>
              <a:t>Same capabilities each time; what moved is the boundary and who owns the data</a:t>
            </a:r>
          </a:p>
        </p:txBody>
      </p:sp>
      <p:sp>
        <p:nvSpPr>
          <p:cNvPr id="33"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Every boundary you draw becomes a contract someone must keep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A service split sends a distributed-systems bill</a:t>
            </a:r>
          </a:p>
        </p:txBody>
      </p:sp>
      <p:sp>
        <p:nvSpPr>
          <p:cNvPr id="3" name="BillCard"/>
          <p:cNvSpPr/>
          <p:nvPr/>
        </p:nvSpPr>
        <p:spPr>
          <a:xfrm>
            <a:off x="411480" y="914400"/>
            <a:ext cx="4023360" cy="3474720"/>
          </a:xfrm>
          <a:prstGeom prst="rect">
            <a:avLst/>
          </a:prstGeom>
          <a:solidFill>
            <a:srgbClr val="F5F1E8"/>
          </a:solidFill>
          <a:ln>
            <a:noFill/>
          </a:ln>
          <a:effectLst/>
        </p:spPr>
        <p:txBody>
          <a:bodyPr rtlCol="0" anchor="ctr" wrap="square"/>
          <a:lstStyle/>
          <a:p/>
        </p:txBody>
      </p:sp>
      <p:sp>
        <p:nvSpPr>
          <p:cNvPr id="4" name="BillLabel"/>
          <p:cNvSpPr/>
          <p:nvPr/>
        </p:nvSpPr>
        <p:spPr>
          <a:xfrm>
            <a:off x="557784" y="987552"/>
            <a:ext cx="374904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THE BILL</a:t>
            </a:r>
          </a:p>
        </p:txBody>
      </p:sp>
      <p:sp>
        <p:nvSpPr>
          <p:cNvPr id="5" name="BillBody"/>
          <p:cNvSpPr/>
          <p:nvPr/>
        </p:nvSpPr>
        <p:spPr>
          <a:xfrm>
            <a:off x="557784" y="1389888"/>
            <a:ext cx="3749040" cy="2926080"/>
          </a:xfrm>
          <a:prstGeom prst="rect">
            <a:avLst/>
          </a:prstGeom>
          <a:noFill/>
          <a:ln>
            <a:noFill/>
          </a:ln>
          <a:effectLst/>
        </p:spPr>
        <p:txBody>
          <a:bodyPr rtlCol="0" anchor="t" wrap="square"/>
          <a:lstStyle/>
          <a:p>
            <a:pPr algn="l">
              <a:spcAft>
                <a:spcPts val="0"/>
              </a:spcAft>
            </a:pPr>
            <a:r>
              <a:rPr sz="2000" b="0">
                <a:solidFill>
                  <a:srgbClr val="555960"/>
                </a:solidFill>
                <a:latin typeface="Calibri"/>
              </a:rPr>
              <a:t>latency on every cross-service call</a:t>
            </a:r>
          </a:p>
          <a:p>
            <a:pPr algn="l">
              <a:spcAft>
                <a:spcPts val="0"/>
              </a:spcAft>
            </a:pPr>
            <a:r>
              <a:rPr sz="2000" b="0">
                <a:solidFill>
                  <a:srgbClr val="555960"/>
                </a:solidFill>
                <a:latin typeface="Calibri"/>
              </a:rPr>
              <a:t>partial failure: one side is down</a:t>
            </a:r>
          </a:p>
          <a:p>
            <a:pPr algn="l">
              <a:spcAft>
                <a:spcPts val="0"/>
              </a:spcAft>
            </a:pPr>
            <a:r>
              <a:rPr sz="2000" b="0">
                <a:solidFill>
                  <a:srgbClr val="555960"/>
                </a:solidFill>
                <a:latin typeface="Calibri"/>
              </a:rPr>
              <a:t>retries, timeouts, tracing</a:t>
            </a:r>
          </a:p>
          <a:p>
            <a:pPr algn="l">
              <a:spcAft>
                <a:spcPts val="0"/>
              </a:spcAft>
            </a:pPr>
            <a:r>
              <a:rPr sz="2000" b="0">
                <a:solidFill>
                  <a:srgbClr val="555960"/>
                </a:solidFill>
                <a:latin typeface="Calibri"/>
              </a:rPr>
              <a:t>data ownership and duplication</a:t>
            </a:r>
          </a:p>
          <a:p>
            <a:pPr algn="l">
              <a:spcAft>
                <a:spcPts val="0"/>
              </a:spcAft>
            </a:pPr>
            <a:r>
              <a:rPr sz="2000" b="0">
                <a:solidFill>
                  <a:srgbClr val="555960"/>
                </a:solidFill>
                <a:latin typeface="Calibri"/>
              </a:rPr>
              <a:t>transactions across services</a:t>
            </a:r>
          </a:p>
          <a:p>
            <a:pPr algn="l">
              <a:spcAft>
                <a:spcPts val="0"/>
              </a:spcAft>
            </a:pPr>
            <a:r>
              <a:rPr sz="2000" b="0">
                <a:solidFill>
                  <a:srgbClr val="555960"/>
                </a:solidFill>
                <a:latin typeface="Calibri"/>
              </a:rPr>
              <a:t>operational burden: N deploys, N pagers</a:t>
            </a:r>
          </a:p>
        </p:txBody>
      </p:sp>
      <p:sp>
        <p:nvSpPr>
          <p:cNvPr id="6" name="InvCard" descr="The no-overlap invariant becomes harder to enforce when reservation writes no longer meet in one database"/>
          <p:cNvSpPr/>
          <p:nvPr/>
        </p:nvSpPr>
        <p:spPr>
          <a:xfrm>
            <a:off x="4617720" y="914400"/>
            <a:ext cx="4114800" cy="3474720"/>
          </a:xfrm>
          <a:prstGeom prst="rect">
            <a:avLst/>
          </a:prstGeom>
          <a:solidFill>
            <a:srgbClr val="FCFAF6"/>
          </a:solidFill>
          <a:ln>
            <a:noFill/>
          </a:ln>
          <a:effectLst/>
        </p:spPr>
        <p:txBody>
          <a:bodyPr rtlCol="0" anchor="ctr" wrap="square"/>
          <a:lstStyle/>
          <a:p/>
        </p:txBody>
      </p:sp>
      <p:sp>
        <p:nvSpPr>
          <p:cNvPr id="7" name="InvLabel"/>
          <p:cNvSpPr/>
          <p:nvPr/>
        </p:nvSpPr>
        <p:spPr>
          <a:xfrm>
            <a:off x="4764024" y="987552"/>
            <a:ext cx="384048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OUR INVARIANT, REVISITED</a:t>
            </a:r>
          </a:p>
        </p:txBody>
      </p:sp>
      <p:sp>
        <p:nvSpPr>
          <p:cNvPr id="8" name="InvBody"/>
          <p:cNvSpPr/>
          <p:nvPr/>
        </p:nvSpPr>
        <p:spPr>
          <a:xfrm>
            <a:off x="4764024" y="1389888"/>
            <a:ext cx="3840480" cy="2926080"/>
          </a:xfrm>
          <a:prstGeom prst="rect">
            <a:avLst/>
          </a:prstGeom>
          <a:noFill/>
          <a:ln>
            <a:noFill/>
          </a:ln>
          <a:effectLst/>
        </p:spPr>
        <p:txBody>
          <a:bodyPr rtlCol="0" anchor="t" wrap="square"/>
          <a:lstStyle/>
          <a:p>
            <a:pPr algn="l">
              <a:spcAft>
                <a:spcPts val="0"/>
              </a:spcAft>
            </a:pPr>
            <a:r>
              <a:rPr sz="2000" b="1">
                <a:solidFill>
                  <a:srgbClr val="2D2D2D"/>
                </a:solidFill>
                <a:latin typeface="Calibri"/>
              </a:rPr>
              <a:t>No overlapping confirmed reservations per room</a:t>
            </a:r>
          </a:p>
          <a:p>
            <a:pPr algn="l">
              <a:spcAft>
                <a:spcPts val="0"/>
              </a:spcAft>
            </a:pPr>
            <a:r>
              <a:rPr sz="2000" b="0">
                <a:solidFill>
                  <a:srgbClr val="555960"/>
                </a:solidFill>
                <a:latin typeface="Calibri"/>
              </a:rPr>
              <a:t>Data Management enforced it with one exclusion constraint, because every write met in one database.</a:t>
            </a:r>
          </a:p>
          <a:p>
            <a:pPr algn="l">
              <a:spcAft>
                <a:spcPts val="0"/>
              </a:spcAft>
            </a:pPr>
            <a:r>
              <a:rPr sz="2000" b="0">
                <a:solidFill>
                  <a:srgbClr val="555960"/>
                </a:solidFill>
                <a:latin typeface="Calibri"/>
              </a:rPr>
              <a:t>Fragment reservations or approvals across services, and the invariant becomes a distributed agreement problem.</a:t>
            </a:r>
          </a:p>
        </p:txBody>
      </p:sp>
      <p:sp>
        <p:nvSpPr>
          <p:cNvPr id="9" name="BandCard"/>
          <p:cNvSpPr/>
          <p:nvPr/>
        </p:nvSpPr>
        <p:spPr>
          <a:xfrm>
            <a:off x="411480" y="4526280"/>
            <a:ext cx="8321040" cy="914400"/>
          </a:xfrm>
          <a:prstGeom prst="rect">
            <a:avLst/>
          </a:prstGeom>
          <a:solidFill>
            <a:srgbClr val="F5F1E8"/>
          </a:solidFill>
          <a:ln>
            <a:noFill/>
          </a:ln>
          <a:effectLst/>
        </p:spPr>
        <p:txBody>
          <a:bodyPr rtlCol="0" anchor="ctr" wrap="square"/>
          <a:lstStyle/>
          <a:p/>
        </p:txBody>
      </p:sp>
      <p:sp>
        <p:nvSpPr>
          <p:cNvPr id="10" name="BandText"/>
          <p:cNvSpPr/>
          <p:nvPr/>
        </p:nvSpPr>
        <p:spPr>
          <a:xfrm>
            <a:off x="557784" y="4599432"/>
            <a:ext cx="8046720" cy="804672"/>
          </a:xfrm>
          <a:prstGeom prst="rect">
            <a:avLst/>
          </a:prstGeom>
          <a:noFill/>
          <a:ln>
            <a:noFill/>
          </a:ln>
          <a:effectLst/>
        </p:spPr>
        <p:txBody>
          <a:bodyPr rtlCol="0" anchor="t" wrap="square"/>
          <a:lstStyle/>
          <a:p>
            <a:pPr algn="l">
              <a:spcAft>
                <a:spcPts val="0"/>
              </a:spcAft>
            </a:pPr>
            <a:r>
              <a:rPr sz="2000" b="1">
                <a:solidFill>
                  <a:srgbClr val="C01B1B"/>
                </a:solidFill>
                <a:latin typeface="Calibri"/>
              </a:rPr>
              <a:t>Microservices do not automatically scale better or isolate failure</a:t>
            </a:r>
          </a:p>
          <a:p>
            <a:pPr algn="l">
              <a:spcAft>
                <a:spcPts val="0"/>
              </a:spcAft>
            </a:pPr>
            <a:r>
              <a:rPr sz="2000" b="0">
                <a:solidFill>
                  <a:srgbClr val="555960"/>
                </a:solidFill>
                <a:latin typeface="Calibri"/>
              </a:rPr>
              <a:t>They relocate costs; whether that pays depends on requirements and team.</a:t>
            </a:r>
          </a:p>
        </p:txBody>
      </p:sp>
      <p:sp>
        <p:nvSpPr>
          <p:cNvPr id="11" name="Cite"/>
          <p:cNvSpPr/>
          <p:nvPr/>
        </p:nvSpPr>
        <p:spPr>
          <a:xfrm>
            <a:off x="411480" y="5559552"/>
            <a:ext cx="8321040" cy="320040"/>
          </a:xfrm>
          <a:prstGeom prst="rect">
            <a:avLst/>
          </a:prstGeom>
          <a:noFill/>
          <a:ln>
            <a:noFill/>
          </a:ln>
          <a:effectLst/>
        </p:spPr>
        <p:txBody>
          <a:bodyPr rtlCol="0" anchor="t" wrap="square"/>
          <a:lstStyle/>
          <a:p>
            <a:pPr algn="l">
              <a:spcAft>
                <a:spcPts val="0"/>
              </a:spcAft>
            </a:pPr>
            <a:r>
              <a:rPr sz="2000" b="0">
                <a:solidFill>
                  <a:srgbClr val="555960"/>
                </a:solidFill>
                <a:latin typeface="Calibri"/>
              </a:rPr>
              <a:t>Fowler &amp; Lewis (2014), martinfowler.com/articles/microservices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Compare the patterns against named properties</a:t>
            </a:r>
          </a:p>
        </p:txBody>
      </p:sp>
      <p:graphicFrame>
        <p:nvGraphicFramePr>
          <p:cNvPr id="3" name="CompareTable" descr="Comparison of monolith, modular monolith, and microservices across deployment independence, data ownership, calls, operational cost, failure isolation, and change locality"/>
          <p:cNvGraphicFramePr/>
          <p:nvPr/>
        </p:nvGraphicFramePr>
        <p:xfrm>
          <a:off x="411480" y="914400"/>
          <a:ext cx="8321040" cy="3200400"/>
        </p:xfrm>
        <a:graphic>
          <a:graphicData uri="http://schemas.openxmlformats.org/drawingml/2006/table">
            <a:tbl>
              <a:tblPr firstRow="0" bandRow="0">
                <a:tableStyleId>{5C22544A-7EE6-4342-B048-85BDC9FD1C3A}</a:tableStyleId>
              </a:tblPr>
              <a:tblGrid>
                <a:gridCol w="2560320"/>
                <a:gridCol w="1920240"/>
                <a:gridCol w="1920240"/>
                <a:gridCol w="1920240"/>
              </a:tblGrid>
              <a:tr h="457200">
                <a:tc>
                  <a:txBody>
                    <a:bodyPr wrap="square"/>
                    <a:lstStyle/>
                    <a:p>
                      <a:r>
                        <a:rPr sz="2000" b="1">
                          <a:solidFill>
                            <a:srgbClr val="FFFFFF"/>
                          </a:solidFill>
                          <a:latin typeface="Calibri"/>
                        </a:rPr>
                        <a:t>property</a:t>
                      </a:r>
                    </a:p>
                  </a:txBody>
                  <a:tcPr marL="91440" marR="91440" marT="36576" marB="36576" anchor="ctr">
                    <a:solidFill>
                      <a:srgbClr val="8E6F3E"/>
                    </a:solidFill>
                  </a:tcPr>
                </a:tc>
                <a:tc>
                  <a:txBody>
                    <a:bodyPr wrap="square"/>
                    <a:lstStyle/>
                    <a:p>
                      <a:r>
                        <a:rPr sz="2000" b="1">
                          <a:solidFill>
                            <a:srgbClr val="FFFFFF"/>
                          </a:solidFill>
                          <a:latin typeface="Calibri"/>
                        </a:rPr>
                        <a:t>monolith</a:t>
                      </a:r>
                    </a:p>
                  </a:txBody>
                  <a:tcPr marL="91440" marR="91440" marT="36576" marB="36576" anchor="ctr">
                    <a:solidFill>
                      <a:srgbClr val="8E6F3E"/>
                    </a:solidFill>
                  </a:tcPr>
                </a:tc>
                <a:tc>
                  <a:txBody>
                    <a:bodyPr wrap="square"/>
                    <a:lstStyle/>
                    <a:p>
                      <a:r>
                        <a:rPr sz="2000" b="1">
                          <a:solidFill>
                            <a:srgbClr val="FFFFFF"/>
                          </a:solidFill>
                          <a:latin typeface="Calibri"/>
                        </a:rPr>
                        <a:t>modular monolith</a:t>
                      </a:r>
                    </a:p>
                  </a:txBody>
                  <a:tcPr marL="91440" marR="91440" marT="36576" marB="36576" anchor="ctr">
                    <a:solidFill>
                      <a:srgbClr val="8E6F3E"/>
                    </a:solidFill>
                  </a:tcPr>
                </a:tc>
                <a:tc>
                  <a:txBody>
                    <a:bodyPr wrap="square"/>
                    <a:lstStyle/>
                    <a:p>
                      <a:r>
                        <a:rPr sz="2000" b="1">
                          <a:solidFill>
                            <a:srgbClr val="FFFFFF"/>
                          </a:solidFill>
                          <a:latin typeface="Calibri"/>
                        </a:rPr>
                        <a:t>microservices</a:t>
                      </a:r>
                    </a:p>
                  </a:txBody>
                  <a:tcPr marL="91440" marR="91440" marT="36576" marB="36576" anchor="ctr">
                    <a:solidFill>
                      <a:srgbClr val="8E6F3E"/>
                    </a:solidFill>
                  </a:tcPr>
                </a:tc>
              </a:tr>
              <a:tr h="457200">
                <a:tc>
                  <a:txBody>
                    <a:bodyPr wrap="square"/>
                    <a:lstStyle/>
                    <a:p>
                      <a:r>
                        <a:rPr sz="2000" b="1">
                          <a:solidFill>
                            <a:srgbClr val="8E6F3E"/>
                          </a:solidFill>
                          <a:latin typeface="Calibri"/>
                        </a:rPr>
                        <a:t>independence</a:t>
                      </a:r>
                    </a:p>
                  </a:txBody>
                  <a:tcPr marL="91440" marR="91440" marT="36576" marB="36576" anchor="ctr">
                    <a:solidFill>
                      <a:srgbClr val="F5F1E8"/>
                    </a:solidFill>
                  </a:tcPr>
                </a:tc>
                <a:tc>
                  <a:txBody>
                    <a:bodyPr wrap="square"/>
                    <a:lstStyle/>
                    <a:p>
                      <a:r>
                        <a:rPr sz="2000" b="0">
                          <a:solidFill>
                            <a:srgbClr val="2D2D2D"/>
                          </a:solidFill>
                          <a:latin typeface="Calibri"/>
                        </a:rPr>
                        <a:t>one unit</a:t>
                      </a:r>
                    </a:p>
                  </a:txBody>
                  <a:tcPr marL="91440" marR="91440" marT="36576" marB="36576" anchor="ctr">
                    <a:solidFill>
                      <a:srgbClr val="F5F1E8"/>
                    </a:solidFill>
                  </a:tcPr>
                </a:tc>
                <a:tc>
                  <a:txBody>
                    <a:bodyPr wrap="square"/>
                    <a:lstStyle/>
                    <a:p>
                      <a:r>
                        <a:rPr sz="2000" b="0">
                          <a:solidFill>
                            <a:srgbClr val="2D2D2D"/>
                          </a:solidFill>
                          <a:latin typeface="Calibri"/>
                        </a:rPr>
                        <a:t>one unit</a:t>
                      </a:r>
                    </a:p>
                  </a:txBody>
                  <a:tcPr marL="91440" marR="91440" marT="36576" marB="36576" anchor="ctr">
                    <a:solidFill>
                      <a:srgbClr val="F5F1E8"/>
                    </a:solidFill>
                  </a:tcPr>
                </a:tc>
                <a:tc>
                  <a:txBody>
                    <a:bodyPr wrap="square"/>
                    <a:lstStyle/>
                    <a:p>
                      <a:r>
                        <a:rPr sz="2000" b="0">
                          <a:solidFill>
                            <a:srgbClr val="2D2D2D"/>
                          </a:solidFill>
                          <a:latin typeface="Calibri"/>
                        </a:rPr>
                        <a:t>per service</a:t>
                      </a:r>
                    </a:p>
                  </a:txBody>
                  <a:tcPr marL="91440" marR="91440" marT="36576" marB="36576" anchor="ctr">
                    <a:solidFill>
                      <a:srgbClr val="F5F1E8"/>
                    </a:solidFill>
                  </a:tcPr>
                </a:tc>
              </a:tr>
              <a:tr h="457200">
                <a:tc>
                  <a:txBody>
                    <a:bodyPr wrap="square"/>
                    <a:lstStyle/>
                    <a:p>
                      <a:r>
                        <a:rPr sz="2000" b="1">
                          <a:solidFill>
                            <a:srgbClr val="8E6F3E"/>
                          </a:solidFill>
                          <a:latin typeface="Calibri"/>
                        </a:rPr>
                        <a:t>data ownership</a:t>
                      </a:r>
                    </a:p>
                  </a:txBody>
                  <a:tcPr marL="91440" marR="91440" marT="36576" marB="36576" anchor="ctr">
                    <a:solidFill>
                      <a:srgbClr val="FCFAF6"/>
                    </a:solidFill>
                  </a:tcPr>
                </a:tc>
                <a:tc>
                  <a:txBody>
                    <a:bodyPr wrap="square"/>
                    <a:lstStyle/>
                    <a:p>
                      <a:r>
                        <a:rPr sz="2000" b="0">
                          <a:solidFill>
                            <a:srgbClr val="2D2D2D"/>
                          </a:solidFill>
                          <a:latin typeface="Calibri"/>
                        </a:rPr>
                        <a:t>one database</a:t>
                      </a:r>
                    </a:p>
                  </a:txBody>
                  <a:tcPr marL="91440" marR="91440" marT="36576" marB="36576" anchor="ctr">
                    <a:solidFill>
                      <a:srgbClr val="FCFAF6"/>
                    </a:solidFill>
                  </a:tcPr>
                </a:tc>
                <a:tc>
                  <a:txBody>
                    <a:bodyPr wrap="square"/>
                    <a:lstStyle/>
                    <a:p>
                      <a:r>
                        <a:rPr sz="2000" b="0">
                          <a:solidFill>
                            <a:srgbClr val="2D2D2D"/>
                          </a:solidFill>
                          <a:latin typeface="Calibri"/>
                        </a:rPr>
                        <a:t>owned modules</a:t>
                      </a:r>
                    </a:p>
                  </a:txBody>
                  <a:tcPr marL="91440" marR="91440" marT="36576" marB="36576" anchor="ctr">
                    <a:solidFill>
                      <a:srgbClr val="FCFAF6"/>
                    </a:solidFill>
                  </a:tcPr>
                </a:tc>
                <a:tc>
                  <a:txBody>
                    <a:bodyPr wrap="square"/>
                    <a:lstStyle/>
                    <a:p>
                      <a:r>
                        <a:rPr sz="2000" b="0">
                          <a:solidFill>
                            <a:srgbClr val="2D2D2D"/>
                          </a:solidFill>
                          <a:latin typeface="Calibri"/>
                        </a:rPr>
                        <a:t>per service</a:t>
                      </a:r>
                    </a:p>
                  </a:txBody>
                  <a:tcPr marL="91440" marR="91440" marT="36576" marB="36576" anchor="ctr">
                    <a:solidFill>
                      <a:srgbClr val="FCFAF6"/>
                    </a:solidFill>
                  </a:tcPr>
                </a:tc>
              </a:tr>
              <a:tr h="457200">
                <a:tc>
                  <a:txBody>
                    <a:bodyPr wrap="square"/>
                    <a:lstStyle/>
                    <a:p>
                      <a:r>
                        <a:rPr sz="2000" b="1">
                          <a:solidFill>
                            <a:srgbClr val="8E6F3E"/>
                          </a:solidFill>
                          <a:latin typeface="Calibri"/>
                        </a:rPr>
                        <a:t>calls</a:t>
                      </a:r>
                    </a:p>
                  </a:txBody>
                  <a:tcPr marL="91440" marR="91440" marT="36576" marB="36576" anchor="ctr">
                    <a:solidFill>
                      <a:srgbClr val="F5F1E8"/>
                    </a:solidFill>
                  </a:tcPr>
                </a:tc>
                <a:tc>
                  <a:txBody>
                    <a:bodyPr wrap="square"/>
                    <a:lstStyle/>
                    <a:p>
                      <a:r>
                        <a:rPr sz="2000" b="0">
                          <a:solidFill>
                            <a:srgbClr val="2D2D2D"/>
                          </a:solidFill>
                          <a:latin typeface="Calibri"/>
                        </a:rPr>
                        <a:t>in-process</a:t>
                      </a:r>
                    </a:p>
                  </a:txBody>
                  <a:tcPr marL="91440" marR="91440" marT="36576" marB="36576" anchor="ctr">
                    <a:solidFill>
                      <a:srgbClr val="F5F1E8"/>
                    </a:solidFill>
                  </a:tcPr>
                </a:tc>
                <a:tc>
                  <a:txBody>
                    <a:bodyPr wrap="square"/>
                    <a:lstStyle/>
                    <a:p>
                      <a:r>
                        <a:rPr sz="2000" b="0">
                          <a:solidFill>
                            <a:srgbClr val="2D2D2D"/>
                          </a:solidFill>
                          <a:latin typeface="Calibri"/>
                        </a:rPr>
                        <a:t>via interfaces</a:t>
                      </a:r>
                    </a:p>
                  </a:txBody>
                  <a:tcPr marL="91440" marR="91440" marT="36576" marB="36576" anchor="ctr">
                    <a:solidFill>
                      <a:srgbClr val="F5F1E8"/>
                    </a:solidFill>
                  </a:tcPr>
                </a:tc>
                <a:tc>
                  <a:txBody>
                    <a:bodyPr wrap="square"/>
                    <a:lstStyle/>
                    <a:p>
                      <a:r>
                        <a:rPr sz="2000" b="0">
                          <a:solidFill>
                            <a:srgbClr val="2D2D2D"/>
                          </a:solidFill>
                          <a:latin typeface="Calibri"/>
                        </a:rPr>
                        <a:t>network</a:t>
                      </a:r>
                    </a:p>
                  </a:txBody>
                  <a:tcPr marL="91440" marR="91440" marT="36576" marB="36576" anchor="ctr">
                    <a:solidFill>
                      <a:srgbClr val="F5F1E8"/>
                    </a:solidFill>
                  </a:tcPr>
                </a:tc>
              </a:tr>
              <a:tr h="457200">
                <a:tc>
                  <a:txBody>
                    <a:bodyPr wrap="square"/>
                    <a:lstStyle/>
                    <a:p>
                      <a:r>
                        <a:rPr sz="2000" b="1">
                          <a:solidFill>
                            <a:srgbClr val="8E6F3E"/>
                          </a:solidFill>
                          <a:latin typeface="Calibri"/>
                        </a:rPr>
                        <a:t>operations</a:t>
                      </a:r>
                    </a:p>
                  </a:txBody>
                  <a:tcPr marL="91440" marR="91440" marT="36576" marB="36576" anchor="ctr">
                    <a:solidFill>
                      <a:srgbClr val="FCFAF6"/>
                    </a:solidFill>
                  </a:tcPr>
                </a:tc>
                <a:tc>
                  <a:txBody>
                    <a:bodyPr wrap="square"/>
                    <a:lstStyle/>
                    <a:p>
                      <a:r>
                        <a:rPr sz="2000" b="0">
                          <a:solidFill>
                            <a:srgbClr val="2D2D2D"/>
                          </a:solidFill>
                          <a:latin typeface="Calibri"/>
                        </a:rPr>
                        <a:t>one deploy</a:t>
                      </a:r>
                    </a:p>
                  </a:txBody>
                  <a:tcPr marL="91440" marR="91440" marT="36576" marB="36576" anchor="ctr">
                    <a:solidFill>
                      <a:srgbClr val="FCFAF6"/>
                    </a:solidFill>
                  </a:tcPr>
                </a:tc>
                <a:tc>
                  <a:txBody>
                    <a:bodyPr wrap="square"/>
                    <a:lstStyle/>
                    <a:p>
                      <a:r>
                        <a:rPr sz="2000" b="0">
                          <a:solidFill>
                            <a:srgbClr val="2D2D2D"/>
                          </a:solidFill>
                          <a:latin typeface="Calibri"/>
                        </a:rPr>
                        <a:t>one deploy</a:t>
                      </a:r>
                    </a:p>
                  </a:txBody>
                  <a:tcPr marL="91440" marR="91440" marT="36576" marB="36576" anchor="ctr">
                    <a:solidFill>
                      <a:srgbClr val="FCFAF6"/>
                    </a:solidFill>
                  </a:tcPr>
                </a:tc>
                <a:tc>
                  <a:txBody>
                    <a:bodyPr wrap="square"/>
                    <a:lstStyle/>
                    <a:p>
                      <a:r>
                        <a:rPr sz="2000" b="0">
                          <a:solidFill>
                            <a:srgbClr val="2D2D2D"/>
                          </a:solidFill>
                          <a:latin typeface="Calibri"/>
                        </a:rPr>
                        <a:t>many deploys</a:t>
                      </a:r>
                    </a:p>
                  </a:txBody>
                  <a:tcPr marL="91440" marR="91440" marT="36576" marB="36576" anchor="ctr">
                    <a:solidFill>
                      <a:srgbClr val="FCFAF6"/>
                    </a:solidFill>
                  </a:tcPr>
                </a:tc>
              </a:tr>
              <a:tr h="457200">
                <a:tc>
                  <a:txBody>
                    <a:bodyPr wrap="square"/>
                    <a:lstStyle/>
                    <a:p>
                      <a:r>
                        <a:rPr sz="2000" b="1">
                          <a:solidFill>
                            <a:srgbClr val="8E6F3E"/>
                          </a:solidFill>
                          <a:latin typeface="Calibri"/>
                        </a:rPr>
                        <a:t>failure isolation</a:t>
                      </a:r>
                    </a:p>
                  </a:txBody>
                  <a:tcPr marL="91440" marR="91440" marT="36576" marB="36576" anchor="ctr">
                    <a:solidFill>
                      <a:srgbClr val="F5F1E8"/>
                    </a:solidFill>
                  </a:tcPr>
                </a:tc>
                <a:tc>
                  <a:txBody>
                    <a:bodyPr wrap="square"/>
                    <a:lstStyle/>
                    <a:p>
                      <a:r>
                        <a:rPr sz="2000" b="0">
                          <a:solidFill>
                            <a:srgbClr val="2D2D2D"/>
                          </a:solidFill>
                          <a:latin typeface="Calibri"/>
                        </a:rPr>
                        <a:t>shared fate</a:t>
                      </a:r>
                    </a:p>
                  </a:txBody>
                  <a:tcPr marL="91440" marR="91440" marT="36576" marB="36576" anchor="ctr">
                    <a:solidFill>
                      <a:srgbClr val="F5F1E8"/>
                    </a:solidFill>
                  </a:tcPr>
                </a:tc>
                <a:tc>
                  <a:txBody>
                    <a:bodyPr wrap="square"/>
                    <a:lstStyle/>
                    <a:p>
                      <a:r>
                        <a:rPr sz="2000" b="0">
                          <a:solidFill>
                            <a:srgbClr val="2D2D2D"/>
                          </a:solidFill>
                          <a:latin typeface="Calibri"/>
                        </a:rPr>
                        <a:t>shared fate</a:t>
                      </a:r>
                    </a:p>
                  </a:txBody>
                  <a:tcPr marL="91440" marR="91440" marT="36576" marB="36576" anchor="ctr">
                    <a:solidFill>
                      <a:srgbClr val="F5F1E8"/>
                    </a:solidFill>
                  </a:tcPr>
                </a:tc>
                <a:tc>
                  <a:txBody>
                    <a:bodyPr wrap="square"/>
                    <a:lstStyle/>
                    <a:p>
                      <a:r>
                        <a:rPr sz="2000" b="0">
                          <a:solidFill>
                            <a:srgbClr val="2D2D2D"/>
                          </a:solidFill>
                          <a:latin typeface="Calibri"/>
                        </a:rPr>
                        <a:t>if designed</a:t>
                      </a:r>
                    </a:p>
                  </a:txBody>
                  <a:tcPr marL="91440" marR="91440" marT="36576" marB="36576" anchor="ctr">
                    <a:solidFill>
                      <a:srgbClr val="F5F1E8"/>
                    </a:solidFill>
                  </a:tcPr>
                </a:tc>
              </a:tr>
              <a:tr h="457200">
                <a:tc>
                  <a:txBody>
                    <a:bodyPr wrap="square"/>
                    <a:lstStyle/>
                    <a:p>
                      <a:r>
                        <a:rPr sz="2000" b="1">
                          <a:solidFill>
                            <a:srgbClr val="8E6F3E"/>
                          </a:solidFill>
                          <a:latin typeface="Calibri"/>
                        </a:rPr>
                        <a:t>change locality</a:t>
                      </a:r>
                    </a:p>
                  </a:txBody>
                  <a:tcPr marL="91440" marR="91440" marT="36576" marB="36576" anchor="ctr">
                    <a:solidFill>
                      <a:srgbClr val="FCFAF6"/>
                    </a:solidFill>
                  </a:tcPr>
                </a:tc>
                <a:tc>
                  <a:txBody>
                    <a:bodyPr wrap="square"/>
                    <a:lstStyle/>
                    <a:p>
                      <a:r>
                        <a:rPr sz="2000" b="0">
                          <a:solidFill>
                            <a:srgbClr val="2D2D2D"/>
                          </a:solidFill>
                          <a:latin typeface="Calibri"/>
                        </a:rPr>
                        <a:t>unbounded</a:t>
                      </a:r>
                    </a:p>
                  </a:txBody>
                  <a:tcPr marL="91440" marR="91440" marT="36576" marB="36576" anchor="ctr">
                    <a:solidFill>
                      <a:srgbClr val="FCFAF6"/>
                    </a:solidFill>
                  </a:tcPr>
                </a:tc>
                <a:tc>
                  <a:txBody>
                    <a:bodyPr wrap="square"/>
                    <a:lstStyle/>
                    <a:p>
                      <a:r>
                        <a:rPr sz="2000" b="0">
                          <a:solidFill>
                            <a:srgbClr val="2D2D2D"/>
                          </a:solidFill>
                          <a:latin typeface="Calibri"/>
                        </a:rPr>
                        <a:t>module seams</a:t>
                      </a:r>
                    </a:p>
                  </a:txBody>
                  <a:tcPr marL="91440" marR="91440" marT="36576" marB="36576" anchor="ctr">
                    <a:solidFill>
                      <a:srgbClr val="FCFAF6"/>
                    </a:solidFill>
                  </a:tcPr>
                </a:tc>
                <a:tc>
                  <a:txBody>
                    <a:bodyPr wrap="square"/>
                    <a:lstStyle/>
                    <a:p>
                      <a:r>
                        <a:rPr sz="2000" b="0">
                          <a:solidFill>
                            <a:srgbClr val="2D2D2D"/>
                          </a:solidFill>
                          <a:latin typeface="Calibri"/>
                        </a:rPr>
                        <a:t>service seams</a:t>
                      </a:r>
                    </a:p>
                  </a:txBody>
                  <a:tcPr marL="91440" marR="91440" marT="36576" marB="36576" anchor="ctr">
                    <a:solidFill>
                      <a:srgbClr val="FCFAF6"/>
                    </a:solidFill>
                  </a:tcPr>
                </a:tc>
              </a:tr>
            </a:tbl>
          </a:graphicData>
        </a:graphic>
      </p:graphicFrame>
      <p:sp>
        <p:nvSpPr>
          <p:cNvPr id="4" name="SoaCard"/>
          <p:cNvSpPr/>
          <p:nvPr/>
        </p:nvSpPr>
        <p:spPr>
          <a:xfrm>
            <a:off x="411480" y="4434840"/>
            <a:ext cx="8321040" cy="1234440"/>
          </a:xfrm>
          <a:prstGeom prst="rect">
            <a:avLst/>
          </a:prstGeom>
          <a:solidFill>
            <a:srgbClr val="FCFAF6"/>
          </a:solidFill>
          <a:ln>
            <a:noFill/>
          </a:ln>
          <a:effectLst/>
        </p:spPr>
        <p:txBody>
          <a:bodyPr rtlCol="0" anchor="ctr" wrap="square"/>
          <a:lstStyle/>
          <a:p/>
        </p:txBody>
      </p:sp>
      <p:sp>
        <p:nvSpPr>
          <p:cNvPr id="5" name="SoaText"/>
          <p:cNvSpPr/>
          <p:nvPr/>
        </p:nvSpPr>
        <p:spPr>
          <a:xfrm>
            <a:off x="557784" y="4507992"/>
            <a:ext cx="8046720" cy="1115568"/>
          </a:xfrm>
          <a:prstGeom prst="rect">
            <a:avLst/>
          </a:prstGeom>
          <a:noFill/>
          <a:ln>
            <a:noFill/>
          </a:ln>
          <a:effectLst/>
        </p:spPr>
        <p:txBody>
          <a:bodyPr rtlCol="0" anchor="t" wrap="square"/>
          <a:lstStyle/>
          <a:p>
            <a:pPr algn="l">
              <a:spcAft>
                <a:spcPts val="0"/>
              </a:spcAft>
            </a:pPr>
            <a:r>
              <a:rPr sz="2000" b="1">
                <a:solidFill>
                  <a:srgbClr val="5C4826"/>
                </a:solidFill>
                <a:latin typeface="Calibri"/>
              </a:rPr>
              <a:t>SOA names the service-contract approach; microservices are one family within it</a:t>
            </a:r>
          </a:p>
          <a:p>
            <a:pPr algn="l">
              <a:spcAft>
                <a:spcPts val="0"/>
              </a:spcAft>
            </a:pPr>
            <a:r>
              <a:rPr sz="2000" b="0">
                <a:solidFill>
                  <a:srgbClr val="555960"/>
                </a:solidFill>
                <a:latin typeface="Calibri"/>
              </a:rPr>
              <a:t>Granularity follows change and ownership boundaries, not lines of code. Claims above are tendencies, not laws.</a:t>
            </a:r>
          </a:p>
        </p:txBody>
      </p:sp>
      <p:sp>
        <p:nvSpPr>
          <p:cNvPr id="6"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No column dominates; requirements pick the column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Restructure behind a safety net, migrate in slices</a:t>
            </a:r>
          </a:p>
        </p:txBody>
      </p:sp>
      <p:sp>
        <p:nvSpPr>
          <p:cNvPr id="3" name="NetCard"/>
          <p:cNvSpPr/>
          <p:nvPr/>
        </p:nvSpPr>
        <p:spPr>
          <a:xfrm>
            <a:off x="411480" y="914400"/>
            <a:ext cx="4023360" cy="3657600"/>
          </a:xfrm>
          <a:prstGeom prst="rect">
            <a:avLst/>
          </a:prstGeom>
          <a:solidFill>
            <a:srgbClr val="F5F1E8"/>
          </a:solidFill>
          <a:ln>
            <a:noFill/>
          </a:ln>
          <a:effectLst/>
        </p:spPr>
        <p:txBody>
          <a:bodyPr rtlCol="0" anchor="ctr" wrap="square"/>
          <a:lstStyle/>
          <a:p/>
        </p:txBody>
      </p:sp>
      <p:sp>
        <p:nvSpPr>
          <p:cNvPr id="4" name="NetLabel"/>
          <p:cNvSpPr/>
          <p:nvPr/>
        </p:nvSpPr>
        <p:spPr>
          <a:xfrm>
            <a:off x="557784" y="987552"/>
            <a:ext cx="374904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BEFORE MOVING A BOUNDARY</a:t>
            </a:r>
          </a:p>
        </p:txBody>
      </p:sp>
      <p:sp>
        <p:nvSpPr>
          <p:cNvPr id="5" name="NetBody"/>
          <p:cNvSpPr/>
          <p:nvPr/>
        </p:nvSpPr>
        <p:spPr>
          <a:xfrm>
            <a:off x="557784" y="1389888"/>
            <a:ext cx="3749040" cy="3108960"/>
          </a:xfrm>
          <a:prstGeom prst="rect">
            <a:avLst/>
          </a:prstGeom>
          <a:noFill/>
          <a:ln>
            <a:noFill/>
          </a:ln>
          <a:effectLst/>
        </p:spPr>
        <p:txBody>
          <a:bodyPr rtlCol="0" anchor="t" wrap="square"/>
          <a:lstStyle/>
          <a:p>
            <a:pPr algn="l">
              <a:spcAft>
                <a:spcPts val="0"/>
              </a:spcAft>
            </a:pPr>
            <a:r>
              <a:rPr sz="2000" b="0">
                <a:solidFill>
                  <a:srgbClr val="555960"/>
                </a:solidFill>
                <a:latin typeface="Calibri"/>
              </a:rPr>
              <a:t>characterization tests pin current behavior</a:t>
            </a:r>
          </a:p>
          <a:p>
            <a:pPr algn="l">
              <a:spcAft>
                <a:spcPts val="0"/>
              </a:spcAft>
            </a:pPr>
            <a:r>
              <a:rPr sz="2000" b="0">
                <a:solidFill>
                  <a:srgbClr val="555960"/>
                </a:solidFill>
                <a:latin typeface="Calibri"/>
              </a:rPr>
              <a:t>invariant tests: no-overlap stays enforced throughout</a:t>
            </a:r>
          </a:p>
          <a:p>
            <a:pPr algn="l">
              <a:spcAft>
                <a:spcPts val="0"/>
              </a:spcAft>
            </a:pPr>
            <a:r>
              <a:rPr sz="2000" b="0">
                <a:solidFill>
                  <a:srgbClr val="555960"/>
                </a:solidFill>
                <a:latin typeface="Calibri"/>
              </a:rPr>
              <a:t>extract the policy interface first</a:t>
            </a:r>
          </a:p>
          <a:p>
            <a:pPr algn="l">
              <a:spcAft>
                <a:spcPts val="0"/>
              </a:spcAft>
            </a:pPr>
            <a:r>
              <a:rPr sz="2000" b="0">
                <a:solidFill>
                  <a:srgbClr val="555960"/>
                </a:solidFill>
                <a:latin typeface="Calibri"/>
              </a:rPr>
              <a:t>architectural check holds the new seam</a:t>
            </a:r>
          </a:p>
        </p:txBody>
      </p:sp>
      <p:sp>
        <p:nvSpPr>
          <p:cNvPr id="6" name="StrCard" descr="Strangler migration: a router sends most traffic to the old monolith and a growing slice to the new policy service"/>
          <p:cNvSpPr/>
          <p:nvPr/>
        </p:nvSpPr>
        <p:spPr>
          <a:xfrm>
            <a:off x="4617720" y="914400"/>
            <a:ext cx="4114800" cy="3657600"/>
          </a:xfrm>
          <a:prstGeom prst="rect">
            <a:avLst/>
          </a:prstGeom>
          <a:solidFill>
            <a:srgbClr val="FCFAF6"/>
          </a:solidFill>
          <a:ln>
            <a:noFill/>
          </a:ln>
          <a:effectLst/>
        </p:spPr>
        <p:txBody>
          <a:bodyPr rtlCol="0" anchor="ctr" wrap="square"/>
          <a:lstStyle/>
          <a:p/>
        </p:txBody>
      </p:sp>
      <p:sp>
        <p:nvSpPr>
          <p:cNvPr id="7" name="StrLabel"/>
          <p:cNvSpPr/>
          <p:nvPr/>
        </p:nvSpPr>
        <p:spPr>
          <a:xfrm>
            <a:off x="4764024" y="987552"/>
            <a:ext cx="384048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STRANGLER MIGRATION</a:t>
            </a:r>
          </a:p>
        </p:txBody>
      </p:sp>
      <p:sp>
        <p:nvSpPr>
          <p:cNvPr id="8" name="StrRouter"/>
          <p:cNvSpPr/>
          <p:nvPr/>
        </p:nvSpPr>
        <p:spPr>
          <a:xfrm>
            <a:off x="5989320" y="1463040"/>
            <a:ext cx="137160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ROUTER</a:t>
            </a:r>
          </a:p>
        </p:txBody>
      </p:sp>
      <p:sp>
        <p:nvSpPr>
          <p:cNvPr id="9" name="StrOld"/>
          <p:cNvSpPr/>
          <p:nvPr/>
        </p:nvSpPr>
        <p:spPr>
          <a:xfrm>
            <a:off x="4892040" y="2560320"/>
            <a:ext cx="1645920" cy="685800"/>
          </a:xfrm>
          <a:prstGeom prst="rect">
            <a:avLst/>
          </a:prstGeom>
          <a:solidFill>
            <a:srgbClr val="5C4826"/>
          </a:solidFill>
          <a:ln>
            <a:noFill/>
          </a:ln>
          <a:effectLst/>
        </p:spPr>
        <p:txBody>
          <a:bodyPr rtlCol="0" anchor="ctr" wrap="square"/>
          <a:lstStyle/>
          <a:p>
            <a:pPr algn="ctr">
              <a:spcAft>
                <a:spcPts val="0"/>
              </a:spcAft>
            </a:pPr>
            <a:r>
              <a:rPr sz="2000" b="1">
                <a:solidFill>
                  <a:srgbClr val="FFFFFF"/>
                </a:solidFill>
                <a:latin typeface="Calibri"/>
              </a:rPr>
              <a:t>OLD PATH</a:t>
            </a:r>
          </a:p>
          <a:p>
            <a:pPr algn="ctr">
              <a:spcAft>
                <a:spcPts val="0"/>
              </a:spcAft>
            </a:pPr>
            <a:r>
              <a:rPr sz="2000" b="0">
                <a:solidFill>
                  <a:srgbClr val="FFFFFF"/>
                </a:solidFill>
                <a:latin typeface="Calibri"/>
              </a:rPr>
              <a:t>monolith</a:t>
            </a:r>
          </a:p>
        </p:txBody>
      </p:sp>
      <p:sp>
        <p:nvSpPr>
          <p:cNvPr id="10" name="StrNew"/>
          <p:cNvSpPr/>
          <p:nvPr/>
        </p:nvSpPr>
        <p:spPr>
          <a:xfrm>
            <a:off x="6812280" y="2560320"/>
            <a:ext cx="164592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NEW PATH</a:t>
            </a:r>
          </a:p>
          <a:p>
            <a:pPr algn="ctr">
              <a:spcAft>
                <a:spcPts val="0"/>
              </a:spcAft>
            </a:pPr>
            <a:r>
              <a:rPr sz="2000" b="0">
                <a:solidFill>
                  <a:srgbClr val="FFFFFF"/>
                </a:solidFill>
                <a:latin typeface="Calibri"/>
              </a:rPr>
              <a:t>policy service</a:t>
            </a:r>
          </a:p>
        </p:txBody>
      </p:sp>
      <p:cxnSp>
        <p:nvCxnSpPr>
          <p:cNvPr id="11" name="StrEdgeL"/>
          <p:cNvCxnSpPr/>
          <p:nvPr/>
        </p:nvCxnSpPr>
        <p:spPr>
          <a:xfrm flipH="1">
            <a:off x="5715000" y="1965960"/>
            <a:ext cx="594360" cy="594360"/>
          </a:xfrm>
          <a:prstGeom prst="bentConnector3">
            <a:avLst/>
          </a:prstGeom>
          <a:ln w="19050">
            <a:solidFill>
              <a:srgbClr val="8E6F3E"/>
            </a:solidFill>
            <a:tailEnd type="triangle" w="med" len="med"/>
          </a:ln>
        </p:spPr>
      </p:cxnSp>
      <p:cxnSp>
        <p:nvCxnSpPr>
          <p:cNvPr id="12" name="StrEdgeR"/>
          <p:cNvCxnSpPr/>
          <p:nvPr/>
        </p:nvCxnSpPr>
        <p:spPr>
          <a:xfrm>
            <a:off x="7040880" y="1965960"/>
            <a:ext cx="594360" cy="594360"/>
          </a:xfrm>
          <a:prstGeom prst="bentConnector3">
            <a:avLst/>
          </a:prstGeom>
          <a:ln w="19050">
            <a:solidFill>
              <a:srgbClr val="8E6F3E"/>
            </a:solidFill>
            <a:tailEnd type="triangle" w="med" len="med"/>
          </a:ln>
        </p:spPr>
      </p:cxnSp>
      <p:sp>
        <p:nvSpPr>
          <p:cNvPr id="13" name="StrCap"/>
          <p:cNvSpPr/>
          <p:nvPr/>
        </p:nvSpPr>
        <p:spPr>
          <a:xfrm>
            <a:off x="4764024" y="3383280"/>
            <a:ext cx="3840480" cy="1143000"/>
          </a:xfrm>
          <a:prstGeom prst="rect">
            <a:avLst/>
          </a:prstGeom>
          <a:noFill/>
          <a:ln>
            <a:noFill/>
          </a:ln>
          <a:effectLst/>
        </p:spPr>
        <p:txBody>
          <a:bodyPr rtlCol="0" anchor="t" wrap="square"/>
          <a:lstStyle/>
          <a:p>
            <a:pPr algn="l">
              <a:spcAft>
                <a:spcPts val="0"/>
              </a:spcAft>
            </a:pPr>
            <a:r>
              <a:rPr sz="2000" b="0">
                <a:solidFill>
                  <a:srgbClr val="555960"/>
                </a:solidFill>
                <a:latin typeface="Calibri"/>
              </a:rPr>
              <a:t>traffic moves in slices; each slice is reversible</a:t>
            </a:r>
          </a:p>
          <a:p>
            <a:pPr algn="l">
              <a:spcAft>
                <a:spcPts val="0"/>
              </a:spcAft>
            </a:pPr>
            <a:r>
              <a:rPr sz="2000" b="0">
                <a:solidFill>
                  <a:srgbClr val="555960"/>
                </a:solidFill>
                <a:latin typeface="Calibri"/>
              </a:rPr>
              <a:t>hazards: routing drift, dual writes, a stalled migration is two systems</a:t>
            </a:r>
          </a:p>
        </p:txBody>
      </p:sp>
      <p:sp>
        <p:nvSpPr>
          <p:cNvPr id="14" name="Cite"/>
          <p:cNvSpPr/>
          <p:nvPr/>
        </p:nvSpPr>
        <p:spPr>
          <a:xfrm>
            <a:off x="411480" y="4709160"/>
            <a:ext cx="8321040" cy="640080"/>
          </a:xfrm>
          <a:prstGeom prst="rect">
            <a:avLst/>
          </a:prstGeom>
          <a:noFill/>
          <a:ln>
            <a:noFill/>
          </a:ln>
          <a:effectLst/>
        </p:spPr>
        <p:txBody>
          <a:bodyPr rtlCol="0" anchor="t" wrap="square"/>
          <a:lstStyle/>
          <a:p>
            <a:pPr algn="l">
              <a:spcAft>
                <a:spcPts val="0"/>
              </a:spcAft>
            </a:pPr>
            <a:r>
              <a:rPr sz="2000" b="0">
                <a:solidFill>
                  <a:srgbClr val="555960"/>
                </a:solidFill>
                <a:latin typeface="Calibri"/>
              </a:rPr>
              <a:t>Fowler, Strangler Fig Application · Fowler, Refactoring (martinfowler.com)</a:t>
            </a:r>
          </a:p>
        </p:txBody>
      </p:sp>
      <p:sp>
        <p:nvSpPr>
          <p:cNvPr id="15"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Restructuring is an engineering activity with its own evidence obligations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Exercise: organize the reservation service</a:t>
            </a:r>
          </a:p>
        </p:txBody>
      </p:sp>
      <p:sp>
        <p:nvSpPr>
          <p:cNvPr id="3" name="ReqCard"/>
          <p:cNvSpPr/>
          <p:nvPr/>
        </p:nvSpPr>
        <p:spPr>
          <a:xfrm>
            <a:off x="411480" y="914400"/>
            <a:ext cx="8321040" cy="1234440"/>
          </a:xfrm>
          <a:prstGeom prst="rect">
            <a:avLst/>
          </a:prstGeom>
          <a:solidFill>
            <a:srgbClr val="F5F1E8"/>
          </a:solidFill>
          <a:ln>
            <a:noFill/>
          </a:ln>
          <a:effectLst/>
        </p:spPr>
        <p:txBody>
          <a:bodyPr rtlCol="0" anchor="ctr" wrap="square"/>
          <a:lstStyle/>
          <a:p/>
        </p:txBody>
      </p:sp>
      <p:sp>
        <p:nvSpPr>
          <p:cNvPr id="4" name="ReqLabel"/>
          <p:cNvSpPr/>
          <p:nvPr/>
        </p:nvSpPr>
        <p:spPr>
          <a:xfrm>
            <a:off x="557784" y="987552"/>
            <a:ext cx="804672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REQUIREMENTS</a:t>
            </a:r>
          </a:p>
        </p:txBody>
      </p:sp>
      <p:sp>
        <p:nvSpPr>
          <p:cNvPr id="5" name="ReqBody"/>
          <p:cNvSpPr/>
          <p:nvPr/>
        </p:nvSpPr>
        <p:spPr>
          <a:xfrm>
            <a:off x="557784" y="1371600"/>
            <a:ext cx="8046720" cy="731520"/>
          </a:xfrm>
          <a:prstGeom prst="rect">
            <a:avLst/>
          </a:prstGeom>
          <a:noFill/>
          <a:ln>
            <a:noFill/>
          </a:ln>
          <a:effectLst/>
        </p:spPr>
        <p:txBody>
          <a:bodyPr rtlCol="0" anchor="t" wrap="square"/>
          <a:lstStyle/>
          <a:p>
            <a:pPr algn="l">
              <a:spcAft>
                <a:spcPts val="0"/>
              </a:spcAft>
            </a:pPr>
            <a:r>
              <a:rPr sz="2000" b="0">
                <a:solidFill>
                  <a:srgbClr val="2D2D2D"/>
                </a:solidFill>
                <a:latin typeface="Calibri"/>
              </a:rPr>
              <a:t>a team of four · hundreds of users · several policy changes per semester · bookings stay atomic · no requirement for independent deployment</a:t>
            </a:r>
          </a:p>
        </p:txBody>
      </p:sp>
      <p:sp>
        <p:nvSpPr>
          <p:cNvPr id="6" name="TaskCard"/>
          <p:cNvSpPr/>
          <p:nvPr/>
        </p:nvSpPr>
        <p:spPr>
          <a:xfrm>
            <a:off x="411480" y="2331720"/>
            <a:ext cx="4023360" cy="2377440"/>
          </a:xfrm>
          <a:prstGeom prst="rect">
            <a:avLst/>
          </a:prstGeom>
          <a:solidFill>
            <a:srgbClr val="FCFAF6"/>
          </a:solidFill>
          <a:ln>
            <a:noFill/>
          </a:ln>
          <a:effectLst/>
        </p:spPr>
        <p:txBody>
          <a:bodyPr rtlCol="0" anchor="ctr" wrap="square"/>
          <a:lstStyle/>
          <a:p/>
        </p:txBody>
      </p:sp>
      <p:sp>
        <p:nvSpPr>
          <p:cNvPr id="7" name="TaskLabel"/>
          <p:cNvSpPr/>
          <p:nvPr/>
        </p:nvSpPr>
        <p:spPr>
          <a:xfrm>
            <a:off x="557784" y="2404872"/>
            <a:ext cx="374904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YOUR TASK, IN PAIRS</a:t>
            </a:r>
          </a:p>
        </p:txBody>
      </p:sp>
      <p:sp>
        <p:nvSpPr>
          <p:cNvPr id="8" name="TaskBody"/>
          <p:cNvSpPr/>
          <p:nvPr/>
        </p:nvSpPr>
        <p:spPr>
          <a:xfrm>
            <a:off x="557784" y="2788920"/>
            <a:ext cx="3749040" cy="1828800"/>
          </a:xfrm>
          <a:prstGeom prst="rect">
            <a:avLst/>
          </a:prstGeom>
          <a:noFill/>
          <a:ln>
            <a:noFill/>
          </a:ln>
          <a:effectLst/>
        </p:spPr>
        <p:txBody>
          <a:bodyPr rtlCol="0" anchor="t" wrap="square"/>
          <a:lstStyle/>
          <a:p>
            <a:pPr algn="l">
              <a:spcAft>
                <a:spcPts val="0"/>
              </a:spcAft>
            </a:pPr>
            <a:r>
              <a:rPr sz="2000" b="0">
                <a:solidFill>
                  <a:srgbClr val="2D2D2D"/>
                </a:solidFill>
                <a:latin typeface="Calibri"/>
              </a:rPr>
              <a:t>choose: monolith, modular monolith, or services</a:t>
            </a:r>
          </a:p>
          <a:p>
            <a:pPr algn="l">
              <a:spcAft>
                <a:spcPts val="0"/>
              </a:spcAft>
            </a:pPr>
            <a:r>
              <a:rPr sz="2000" b="0">
                <a:solidFill>
                  <a:srgbClr val="2D2D2D"/>
                </a:solidFill>
                <a:latin typeface="Calibri"/>
              </a:rPr>
              <a:t>justify the tradeoffs against the requirements</a:t>
            </a:r>
          </a:p>
          <a:p>
            <a:pPr algn="l">
              <a:spcAft>
                <a:spcPts val="0"/>
              </a:spcAft>
            </a:pPr>
            <a:r>
              <a:rPr sz="2000" b="0">
                <a:solidFill>
                  <a:srgbClr val="2D2D2D"/>
                </a:solidFill>
                <a:latin typeface="Calibri"/>
              </a:rPr>
              <a:t>name the evidence that would change your choice</a:t>
            </a:r>
          </a:p>
        </p:txBody>
      </p:sp>
      <p:sp>
        <p:nvSpPr>
          <p:cNvPr id="9" name="CfCard"/>
          <p:cNvSpPr/>
          <p:nvPr/>
        </p:nvSpPr>
        <p:spPr>
          <a:xfrm>
            <a:off x="4617720" y="2331720"/>
            <a:ext cx="4114800" cy="2377440"/>
          </a:xfrm>
          <a:prstGeom prst="rect">
            <a:avLst/>
          </a:prstGeom>
          <a:solidFill>
            <a:srgbClr val="FCFAF6"/>
          </a:solidFill>
          <a:ln>
            <a:noFill/>
          </a:ln>
          <a:effectLst/>
        </p:spPr>
        <p:txBody>
          <a:bodyPr rtlCol="0" anchor="ctr" wrap="square"/>
          <a:lstStyle/>
          <a:p/>
        </p:txBody>
      </p:sp>
      <p:sp>
        <p:nvSpPr>
          <p:cNvPr id="10" name="CfLabel"/>
          <p:cNvSpPr/>
          <p:nvPr/>
        </p:nvSpPr>
        <p:spPr>
          <a:xfrm>
            <a:off x="4764024" y="2404872"/>
            <a:ext cx="3840480" cy="365760"/>
          </a:xfrm>
          <a:prstGeom prst="rect">
            <a:avLst/>
          </a:prstGeom>
          <a:noFill/>
          <a:ln>
            <a:noFill/>
          </a:ln>
          <a:effectLst/>
        </p:spPr>
        <p:txBody>
          <a:bodyPr rtlCol="0" anchor="t" wrap="square"/>
          <a:lstStyle/>
          <a:p>
            <a:pPr algn="l">
              <a:spcAft>
                <a:spcPts val="0"/>
              </a:spcAft>
            </a:pPr>
            <a:r>
              <a:rPr sz="2000" b="1">
                <a:solidFill>
                  <a:srgbClr val="8E6F3E"/>
                </a:solidFill>
                <a:latin typeface="Calibri"/>
              </a:rPr>
              <a:t>THEN PERTURB</a:t>
            </a:r>
          </a:p>
        </p:txBody>
      </p:sp>
      <p:sp>
        <p:nvSpPr>
          <p:cNvPr id="11" name="CfBody"/>
          <p:cNvSpPr/>
          <p:nvPr/>
        </p:nvSpPr>
        <p:spPr>
          <a:xfrm>
            <a:off x="4764024" y="2788920"/>
            <a:ext cx="3840480" cy="1828800"/>
          </a:xfrm>
          <a:prstGeom prst="rect">
            <a:avLst/>
          </a:prstGeom>
          <a:noFill/>
          <a:ln>
            <a:noFill/>
          </a:ln>
          <a:effectLst/>
        </p:spPr>
        <p:txBody>
          <a:bodyPr rtlCol="0" anchor="t" wrap="square"/>
          <a:lstStyle/>
          <a:p>
            <a:pPr algn="l">
              <a:spcAft>
                <a:spcPts val="0"/>
              </a:spcAft>
            </a:pPr>
            <a:r>
              <a:rPr sz="2000" b="0">
                <a:solidFill>
                  <a:srgbClr val="2D2D2D"/>
                </a:solidFill>
                <a:latin typeface="Calibri"/>
              </a:rPr>
              <a:t>two separate owning teams</a:t>
            </a:r>
          </a:p>
          <a:p>
            <a:pPr algn="l">
              <a:spcAft>
                <a:spcPts val="0"/>
              </a:spcAft>
            </a:pPr>
            <a:r>
              <a:rPr sz="2000" b="0">
                <a:solidFill>
                  <a:srgbClr val="2D2D2D"/>
                </a:solidFill>
                <a:latin typeface="Calibri"/>
              </a:rPr>
              <a:t>policy reads 100x the booking load</a:t>
            </a:r>
          </a:p>
          <a:p>
            <a:pPr algn="l">
              <a:spcAft>
                <a:spcPts val="0"/>
              </a:spcAft>
            </a:pPr>
            <a:r>
              <a:rPr sz="2000" b="0">
                <a:solidFill>
                  <a:srgbClr val="555960"/>
                </a:solidFill>
                <a:latin typeface="Calibri"/>
              </a:rPr>
              <a:t>which answers change, and why?</a:t>
            </a:r>
          </a:p>
        </p:txBody>
      </p:sp>
      <p:sp>
        <p:nvSpPr>
          <p:cNvPr id="12"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Which organization, under these requirements? Defend the tradeoff.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What did we inherit from dependencies?</a:t>
            </a:r>
          </a:p>
        </p:txBody>
      </p:sp>
      <p:sp>
        <p:nvSpPr>
          <p:cNvPr id="3" name="SectionLabel"/>
          <p:cNvSpPr/>
          <p:nvPr/>
        </p:nvSpPr>
        <p:spPr>
          <a:xfrm>
            <a:off x="640080" y="2240280"/>
            <a:ext cx="7863840" cy="868680"/>
          </a:xfrm>
          <a:prstGeom prst="rect">
            <a:avLst/>
          </a:prstGeom>
          <a:noFill/>
          <a:ln>
            <a:noFill/>
          </a:ln>
          <a:effectLst/>
        </p:spPr>
        <p:txBody>
          <a:bodyPr rtlCol="0" anchor="ctr" wrap="square"/>
          <a:lstStyle/>
          <a:p>
            <a:pPr algn="ctr">
              <a:spcAft>
                <a:spcPts val="0"/>
              </a:spcAft>
            </a:pPr>
            <a:r>
              <a:rPr sz="3600" b="1">
                <a:solidFill>
                  <a:srgbClr val="8E6F3E"/>
                </a:solidFill>
                <a:latin typeface="Calibri"/>
              </a:rPr>
              <a:t>SECTION 4</a:t>
            </a:r>
          </a:p>
        </p:txBody>
      </p:sp>
      <p:sp>
        <p:nvSpPr>
          <p:cNvPr id="4" name="OrientingSentence"/>
          <p:cNvSpPr/>
          <p:nvPr/>
        </p:nvSpPr>
        <p:spPr>
          <a:xfrm>
            <a:off x="914400" y="3474720"/>
            <a:ext cx="7315200" cy="1097280"/>
          </a:xfrm>
          <a:prstGeom prst="rect">
            <a:avLst/>
          </a:prstGeom>
          <a:noFill/>
          <a:ln>
            <a:noFill/>
          </a:ln>
          <a:effectLst/>
        </p:spPr>
        <p:txBody>
          <a:bodyPr rtlCol="0" anchor="t" wrap="square"/>
          <a:lstStyle/>
          <a:p>
            <a:pPr algn="ctr">
              <a:spcAft>
                <a:spcPts val="0"/>
              </a:spcAft>
            </a:pPr>
            <a:r>
              <a:rPr sz="2200" b="0">
                <a:solidFill>
                  <a:srgbClr val="555960"/>
                </a:solidFill>
                <a:latin typeface="Calibri"/>
              </a:rPr>
              <a:t>The internal graph we wrote; the external graph arrived with one import statement. Reliance requires examining both.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One import brings a graph, not a package</a:t>
            </a:r>
          </a:p>
        </p:txBody>
      </p:sp>
      <p:sp>
        <p:nvSpPr>
          <p:cNvPr id="3" name="DepApp" descr="Dependency graph: the app imports a web framework, an auth library, and a date-interval library; the framework brings an HTTP parser, which brings a utility library; the auth library brings a crypto library"/>
          <p:cNvSpPr/>
          <p:nvPr/>
        </p:nvSpPr>
        <p:spPr>
          <a:xfrm>
            <a:off x="3566160" y="868680"/>
            <a:ext cx="201168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RESERVATION APP</a:t>
            </a:r>
          </a:p>
        </p:txBody>
      </p:sp>
      <p:sp>
        <p:nvSpPr>
          <p:cNvPr id="4" name="DepDirect"/>
          <p:cNvSpPr/>
          <p:nvPr/>
        </p:nvSpPr>
        <p:spPr>
          <a:xfrm>
            <a:off x="777240" y="1874520"/>
            <a:ext cx="2011680" cy="548640"/>
          </a:xfrm>
          <a:prstGeom prst="rect">
            <a:avLst/>
          </a:prstGeom>
          <a:solidFill>
            <a:srgbClr val="F5F1E8"/>
          </a:solidFill>
          <a:ln w="19050">
            <a:solidFill>
              <a:srgbClr val="8E6F3E"/>
            </a:solidFill>
          </a:ln>
          <a:effectLst/>
        </p:spPr>
        <p:txBody>
          <a:bodyPr rtlCol="0" anchor="ctr" wrap="square"/>
          <a:lstStyle/>
          <a:p>
            <a:pPr algn="ctr">
              <a:spcAft>
                <a:spcPts val="0"/>
              </a:spcAft>
            </a:pPr>
            <a:r>
              <a:rPr sz="2000" b="1">
                <a:solidFill>
                  <a:srgbClr val="2D2D2D"/>
                </a:solidFill>
                <a:latin typeface="Calibri"/>
              </a:rPr>
              <a:t>WEB FRAMEWORK</a:t>
            </a:r>
          </a:p>
        </p:txBody>
      </p:sp>
      <p:sp>
        <p:nvSpPr>
          <p:cNvPr id="5" name="DepDirect"/>
          <p:cNvSpPr/>
          <p:nvPr/>
        </p:nvSpPr>
        <p:spPr>
          <a:xfrm>
            <a:off x="3566160" y="1874520"/>
            <a:ext cx="2011680" cy="548640"/>
          </a:xfrm>
          <a:prstGeom prst="rect">
            <a:avLst/>
          </a:prstGeom>
          <a:solidFill>
            <a:srgbClr val="F5F1E8"/>
          </a:solidFill>
          <a:ln w="19050">
            <a:solidFill>
              <a:srgbClr val="8E6F3E"/>
            </a:solidFill>
          </a:ln>
          <a:effectLst/>
        </p:spPr>
        <p:txBody>
          <a:bodyPr rtlCol="0" anchor="ctr" wrap="square"/>
          <a:lstStyle/>
          <a:p>
            <a:pPr algn="ctr">
              <a:spcAft>
                <a:spcPts val="0"/>
              </a:spcAft>
            </a:pPr>
            <a:r>
              <a:rPr sz="2000" b="1">
                <a:solidFill>
                  <a:srgbClr val="2D2D2D"/>
                </a:solidFill>
                <a:latin typeface="Calibri"/>
              </a:rPr>
              <a:t>AUTH LIBRARY</a:t>
            </a:r>
          </a:p>
        </p:txBody>
      </p:sp>
      <p:sp>
        <p:nvSpPr>
          <p:cNvPr id="6" name="DepDirect"/>
          <p:cNvSpPr/>
          <p:nvPr/>
        </p:nvSpPr>
        <p:spPr>
          <a:xfrm>
            <a:off x="6355080" y="1874520"/>
            <a:ext cx="2011680" cy="548640"/>
          </a:xfrm>
          <a:prstGeom prst="rect">
            <a:avLst/>
          </a:prstGeom>
          <a:solidFill>
            <a:srgbClr val="F5F1E8"/>
          </a:solidFill>
          <a:ln w="19050">
            <a:solidFill>
              <a:srgbClr val="8E6F3E"/>
            </a:solidFill>
          </a:ln>
          <a:effectLst/>
        </p:spPr>
        <p:txBody>
          <a:bodyPr rtlCol="0" anchor="ctr" wrap="square"/>
          <a:lstStyle/>
          <a:p>
            <a:pPr algn="ctr">
              <a:spcAft>
                <a:spcPts val="0"/>
              </a:spcAft>
            </a:pPr>
            <a:r>
              <a:rPr sz="2000" b="1">
                <a:solidFill>
                  <a:srgbClr val="2D2D2D"/>
                </a:solidFill>
                <a:latin typeface="Calibri"/>
              </a:rPr>
              <a:t>DATE / INTERVAL LIB</a:t>
            </a:r>
          </a:p>
        </p:txBody>
      </p:sp>
      <p:sp>
        <p:nvSpPr>
          <p:cNvPr id="7" name="DepEdgeL" descr="the app imports the web framework"/>
          <p:cNvSpPr/>
          <p:nvPr/>
        </p:nvSpPr>
        <p:spPr>
          <a:xfrm>
            <a:off x="1783080" y="1417320"/>
            <a:ext cx="2057400" cy="457199"/>
          </a:xfrm>
          <a:custGeom>
            <a:avLst/>
            <a:gdLst/>
            <a:ahLst/>
            <a:cxnLst/>
            <a:rect l="0" t="0" r="0" b="0"/>
            <a:pathLst>
              <a:path w="2057400" h="457199" fill="none">
                <a:moveTo>
                  <a:pt x="2057400" y="0"/>
                </a:moveTo>
                <a:lnTo>
                  <a:pt x="2057400" y="228600"/>
                </a:lnTo>
                <a:lnTo>
                  <a:pt x="0" y="228600"/>
                </a:lnTo>
                <a:lnTo>
                  <a:pt x="0" y="457200"/>
                </a:lnTo>
              </a:path>
            </a:pathLst>
          </a:custGeom>
          <a:noFill/>
          <a:ln w="19050">
            <a:solidFill>
              <a:srgbClr val="8E6F3E"/>
            </a:solidFill>
            <a:tailEnd type="triangle" w="med" len="med"/>
          </a:ln>
        </p:spPr>
        <p:txBody>
          <a:bodyPr rtlCol="0" anchor="ctr" wrap="square"/>
          <a:lstStyle/>
          <a:p/>
        </p:txBody>
      </p:sp>
      <p:cxnSp>
        <p:nvCxnSpPr>
          <p:cNvPr id="8" name="DepEdge"/>
          <p:cNvCxnSpPr/>
          <p:nvPr/>
        </p:nvCxnSpPr>
        <p:spPr>
          <a:xfrm>
            <a:off x="4572000" y="1417320"/>
            <a:ext cx="0" cy="457200"/>
          </a:xfrm>
          <a:prstGeom prst="line">
            <a:avLst/>
          </a:prstGeom>
          <a:ln w="19050">
            <a:solidFill>
              <a:srgbClr val="8E6F3E"/>
            </a:solidFill>
            <a:tailEnd type="triangle" w="med" len="med"/>
          </a:ln>
        </p:spPr>
      </p:cxnSp>
      <p:sp>
        <p:nvSpPr>
          <p:cNvPr id="9" name="DepEdgeR" descr="the app imports the date-interval library"/>
          <p:cNvSpPr/>
          <p:nvPr/>
        </p:nvSpPr>
        <p:spPr>
          <a:xfrm>
            <a:off x="5303520" y="1417320"/>
            <a:ext cx="2057400" cy="457199"/>
          </a:xfrm>
          <a:custGeom>
            <a:avLst/>
            <a:gdLst/>
            <a:ahLst/>
            <a:cxnLst/>
            <a:rect l="0" t="0" r="0" b="0"/>
            <a:pathLst>
              <a:path w="2057400" h="457199" fill="none">
                <a:moveTo>
                  <a:pt x="0" y="0"/>
                </a:moveTo>
                <a:lnTo>
                  <a:pt x="0" y="228600"/>
                </a:lnTo>
                <a:lnTo>
                  <a:pt x="2057400" y="228600"/>
                </a:lnTo>
                <a:lnTo>
                  <a:pt x="2057400" y="457200"/>
                </a:lnTo>
              </a:path>
            </a:pathLst>
          </a:custGeom>
          <a:noFill/>
          <a:ln w="19050">
            <a:solidFill>
              <a:srgbClr val="8E6F3E"/>
            </a:solidFill>
            <a:tailEnd type="triangle" w="med" len="med"/>
          </a:ln>
        </p:spPr>
        <p:txBody>
          <a:bodyPr rtlCol="0" anchor="ctr" wrap="square"/>
          <a:lstStyle/>
          <a:p/>
        </p:txBody>
      </p:sp>
      <p:sp>
        <p:nvSpPr>
          <p:cNvPr id="10" name="DepTrans"/>
          <p:cNvSpPr/>
          <p:nvPr/>
        </p:nvSpPr>
        <p:spPr>
          <a:xfrm>
            <a:off x="777240" y="2880360"/>
            <a:ext cx="2011680" cy="548640"/>
          </a:xfrm>
          <a:prstGeom prst="rect">
            <a:avLst/>
          </a:prstGeom>
          <a:solidFill>
            <a:srgbClr val="FCFAF6"/>
          </a:solidFill>
          <a:ln w="15875">
            <a:solidFill>
              <a:srgbClr val="555960"/>
            </a:solidFill>
          </a:ln>
          <a:effectLst/>
        </p:spPr>
        <p:txBody>
          <a:bodyPr rtlCol="0" anchor="ctr" wrap="square"/>
          <a:lstStyle/>
          <a:p>
            <a:pPr algn="ctr">
              <a:spcAft>
                <a:spcPts val="0"/>
              </a:spcAft>
            </a:pPr>
            <a:r>
              <a:rPr sz="2000" b="1">
                <a:solidFill>
                  <a:srgbClr val="2D2D2D"/>
                </a:solidFill>
                <a:latin typeface="Calibri"/>
              </a:rPr>
              <a:t>HTTP PARSER</a:t>
            </a:r>
          </a:p>
        </p:txBody>
      </p:sp>
      <p:sp>
        <p:nvSpPr>
          <p:cNvPr id="11" name="DepTrans"/>
          <p:cNvSpPr/>
          <p:nvPr/>
        </p:nvSpPr>
        <p:spPr>
          <a:xfrm>
            <a:off x="3566160" y="2880360"/>
            <a:ext cx="2011680" cy="548640"/>
          </a:xfrm>
          <a:prstGeom prst="rect">
            <a:avLst/>
          </a:prstGeom>
          <a:solidFill>
            <a:srgbClr val="FCFAF6"/>
          </a:solidFill>
          <a:ln w="15875">
            <a:solidFill>
              <a:srgbClr val="555960"/>
            </a:solidFill>
          </a:ln>
          <a:effectLst/>
        </p:spPr>
        <p:txBody>
          <a:bodyPr rtlCol="0" anchor="ctr" wrap="square"/>
          <a:lstStyle/>
          <a:p>
            <a:pPr algn="ctr">
              <a:spcAft>
                <a:spcPts val="0"/>
              </a:spcAft>
            </a:pPr>
            <a:r>
              <a:rPr sz="2000" b="1">
                <a:solidFill>
                  <a:srgbClr val="2D2D2D"/>
                </a:solidFill>
                <a:latin typeface="Calibri"/>
              </a:rPr>
              <a:t>CRYPTO LIB</a:t>
            </a:r>
          </a:p>
        </p:txBody>
      </p:sp>
      <p:sp>
        <p:nvSpPr>
          <p:cNvPr id="12" name="DepTrans"/>
          <p:cNvSpPr/>
          <p:nvPr/>
        </p:nvSpPr>
        <p:spPr>
          <a:xfrm>
            <a:off x="777240" y="3886200"/>
            <a:ext cx="2011680" cy="548640"/>
          </a:xfrm>
          <a:prstGeom prst="rect">
            <a:avLst/>
          </a:prstGeom>
          <a:solidFill>
            <a:srgbClr val="FCFAF6"/>
          </a:solidFill>
          <a:ln w="15875">
            <a:solidFill>
              <a:srgbClr val="555960"/>
            </a:solidFill>
          </a:ln>
          <a:effectLst/>
        </p:spPr>
        <p:txBody>
          <a:bodyPr rtlCol="0" anchor="ctr" wrap="square"/>
          <a:lstStyle/>
          <a:p>
            <a:pPr algn="ctr">
              <a:spcAft>
                <a:spcPts val="0"/>
              </a:spcAft>
            </a:pPr>
            <a:r>
              <a:rPr sz="2000" b="1">
                <a:solidFill>
                  <a:srgbClr val="2D2D2D"/>
                </a:solidFill>
                <a:latin typeface="Calibri"/>
              </a:rPr>
              <a:t>UTILITY LIB</a:t>
            </a:r>
          </a:p>
        </p:txBody>
      </p:sp>
      <p:cxnSp>
        <p:nvCxnSpPr>
          <p:cNvPr id="13" name="DepEdge"/>
          <p:cNvCxnSpPr/>
          <p:nvPr/>
        </p:nvCxnSpPr>
        <p:spPr>
          <a:xfrm>
            <a:off x="1783080" y="2423160"/>
            <a:ext cx="0" cy="457200"/>
          </a:xfrm>
          <a:prstGeom prst="line">
            <a:avLst/>
          </a:prstGeom>
          <a:ln w="19050">
            <a:solidFill>
              <a:srgbClr val="8E6F3E"/>
            </a:solidFill>
            <a:tailEnd type="triangle" w="med" len="med"/>
          </a:ln>
        </p:spPr>
      </p:cxnSp>
      <p:cxnSp>
        <p:nvCxnSpPr>
          <p:cNvPr id="14" name="DepEdge"/>
          <p:cNvCxnSpPr/>
          <p:nvPr/>
        </p:nvCxnSpPr>
        <p:spPr>
          <a:xfrm>
            <a:off x="4572000" y="2423160"/>
            <a:ext cx="0" cy="457200"/>
          </a:xfrm>
          <a:prstGeom prst="line">
            <a:avLst/>
          </a:prstGeom>
          <a:ln w="19050">
            <a:solidFill>
              <a:srgbClr val="8E6F3E"/>
            </a:solidFill>
            <a:tailEnd type="triangle" w="med" len="med"/>
          </a:ln>
        </p:spPr>
      </p:cxnSp>
      <p:cxnSp>
        <p:nvCxnSpPr>
          <p:cNvPr id="15" name="DepEdge"/>
          <p:cNvCxnSpPr/>
          <p:nvPr/>
        </p:nvCxnSpPr>
        <p:spPr>
          <a:xfrm>
            <a:off x="1783080" y="3429000"/>
            <a:ext cx="0" cy="457200"/>
          </a:xfrm>
          <a:prstGeom prst="line">
            <a:avLst/>
          </a:prstGeom>
          <a:ln w="19050">
            <a:solidFill>
              <a:srgbClr val="8E6F3E"/>
            </a:solidFill>
            <a:tailEnd type="triangle" w="med" len="med"/>
          </a:ln>
        </p:spPr>
      </p:cxnSp>
      <p:sp>
        <p:nvSpPr>
          <p:cNvPr id="16" name="KindChip"/>
          <p:cNvSpPr/>
          <p:nvPr/>
        </p:nvSpPr>
        <p:spPr>
          <a:xfrm>
            <a:off x="3566160" y="3611880"/>
            <a:ext cx="5166360" cy="502920"/>
          </a:xfrm>
          <a:prstGeom prst="rect">
            <a:avLst/>
          </a:prstGeom>
          <a:noFill/>
          <a:ln>
            <a:noFill/>
          </a:ln>
          <a:effectLst/>
        </p:spPr>
        <p:txBody>
          <a:bodyPr rtlCol="0" anchor="ctr" wrap="square"/>
          <a:lstStyle/>
          <a:p>
            <a:pPr algn="l">
              <a:spcAft>
                <a:spcPts val="0"/>
              </a:spcAft>
            </a:pPr>
            <a:r>
              <a:rPr sz="2000" b="1">
                <a:solidFill>
                  <a:srgbClr val="8E6F3E"/>
                </a:solidFill>
                <a:latin typeface="Calibri"/>
              </a:rPr>
              <a:t>DIRECT</a:t>
            </a:r>
            <a:r>
              <a:rPr sz="2000" b="0">
                <a:solidFill>
                  <a:srgbClr val="555960"/>
                </a:solidFill>
                <a:latin typeface="Calibri"/>
              </a:rPr>
              <a:t>  chosen      </a:t>
            </a:r>
            <a:r>
              <a:rPr sz="2000" b="1">
                <a:solidFill>
                  <a:srgbClr val="555960"/>
                </a:solidFill>
                <a:latin typeface="Calibri"/>
              </a:rPr>
              <a:t>TRANSITIVE</a:t>
            </a:r>
            <a:r>
              <a:rPr sz="2000" b="0">
                <a:solidFill>
                  <a:srgbClr val="555960"/>
                </a:solidFill>
                <a:latin typeface="Calibri"/>
              </a:rPr>
              <a:t>  inherited</a:t>
            </a:r>
          </a:p>
        </p:txBody>
      </p:sp>
      <p:sp>
        <p:nvSpPr>
          <p:cNvPr id="17" name="KindCard"/>
          <p:cNvSpPr/>
          <p:nvPr/>
        </p:nvSpPr>
        <p:spPr>
          <a:xfrm>
            <a:off x="3566160" y="4206240"/>
            <a:ext cx="5166360" cy="914400"/>
          </a:xfrm>
          <a:prstGeom prst="rect">
            <a:avLst/>
          </a:prstGeom>
          <a:solidFill>
            <a:srgbClr val="F5F1E8"/>
          </a:solidFill>
          <a:ln>
            <a:noFill/>
          </a:ln>
          <a:effectLst/>
        </p:spPr>
        <p:txBody>
          <a:bodyPr rtlCol="0" anchor="ctr" wrap="square"/>
          <a:lstStyle/>
          <a:p/>
        </p:txBody>
      </p:sp>
      <p:sp>
        <p:nvSpPr>
          <p:cNvPr id="18" name="KindText"/>
          <p:cNvSpPr/>
          <p:nvPr/>
        </p:nvSpPr>
        <p:spPr>
          <a:xfrm>
            <a:off x="3694176" y="4261104"/>
            <a:ext cx="4937760" cy="822960"/>
          </a:xfrm>
          <a:prstGeom prst="rect">
            <a:avLst/>
          </a:prstGeom>
          <a:noFill/>
          <a:ln>
            <a:noFill/>
          </a:ln>
          <a:effectLst/>
        </p:spPr>
        <p:txBody>
          <a:bodyPr rtlCol="0" anchor="t" wrap="square"/>
          <a:lstStyle/>
          <a:p>
            <a:pPr algn="l">
              <a:spcAft>
                <a:spcPts val="0"/>
              </a:spcAft>
            </a:pPr>
            <a:r>
              <a:rPr sz="2000" b="1">
                <a:solidFill>
                  <a:srgbClr val="5C4826"/>
                </a:solidFill>
                <a:latin typeface="Calibri"/>
              </a:rPr>
              <a:t>Four different inheritances</a:t>
            </a:r>
          </a:p>
          <a:p>
            <a:pPr algn="l">
              <a:spcAft>
                <a:spcPts val="0"/>
              </a:spcAft>
            </a:pPr>
            <a:r>
              <a:rPr sz="2000" b="0">
                <a:solidFill>
                  <a:srgbClr val="555960"/>
                </a:solidFill>
                <a:latin typeface="Calibri"/>
              </a:rPr>
              <a:t>source dependencies · build-time tools · runtime dependencies · external services</a:t>
            </a:r>
          </a:p>
        </p:txBody>
      </p:sp>
      <p:sp>
        <p:nvSpPr>
          <p:cNvPr id="19" name="NcCard"/>
          <p:cNvSpPr/>
          <p:nvPr/>
        </p:nvSpPr>
        <p:spPr>
          <a:xfrm>
            <a:off x="411480" y="5212080"/>
            <a:ext cx="8321040" cy="822960"/>
          </a:xfrm>
          <a:prstGeom prst="rect">
            <a:avLst/>
          </a:prstGeom>
          <a:solidFill>
            <a:srgbClr val="FCFAF6"/>
          </a:solidFill>
          <a:ln>
            <a:noFill/>
          </a:ln>
          <a:effectLst/>
        </p:spPr>
        <p:txBody>
          <a:bodyPr rtlCol="0" anchor="ctr" wrap="square"/>
          <a:lstStyle/>
          <a:p/>
        </p:txBody>
      </p:sp>
      <p:sp>
        <p:nvSpPr>
          <p:cNvPr id="20" name="NcText"/>
          <p:cNvSpPr/>
          <p:nvPr/>
        </p:nvSpPr>
        <p:spPr>
          <a:xfrm>
            <a:off x="557784" y="5266944"/>
            <a:ext cx="8046720" cy="731520"/>
          </a:xfrm>
          <a:prstGeom prst="rect">
            <a:avLst/>
          </a:prstGeom>
          <a:noFill/>
          <a:ln>
            <a:noFill/>
          </a:ln>
          <a:effectLst/>
        </p:spPr>
        <p:txBody>
          <a:bodyPr rtlCol="0" anchor="t" wrap="square"/>
          <a:lstStyle/>
          <a:p>
            <a:pPr algn="l">
              <a:spcAft>
                <a:spcPts val="0"/>
              </a:spcAft>
            </a:pPr>
            <a:r>
              <a:rPr sz="2000" b="1">
                <a:solidFill>
                  <a:srgbClr val="C01B1B"/>
                </a:solidFill>
                <a:latin typeface="Calibri"/>
              </a:rPr>
              <a:t>The manifest does not capture everything deployed</a:t>
            </a:r>
          </a:p>
          <a:p>
            <a:pPr algn="l">
              <a:spcAft>
                <a:spcPts val="0"/>
              </a:spcAft>
            </a:pPr>
            <a:r>
              <a:rPr sz="2000" b="0">
                <a:solidFill>
                  <a:srgbClr val="555960"/>
                </a:solidFill>
                <a:latin typeface="Calibri"/>
              </a:rPr>
              <a:t>vendored code, base images, and system libraries ship too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An SBOM is an inventory, not a verdict</a:t>
            </a:r>
          </a:p>
        </p:txBody>
      </p:sp>
      <p:graphicFrame>
        <p:nvGraphicFramePr>
          <p:cNvPr id="3" name="SbomTable" descr="A tiny SPDX-style inventory: component, version, package identifier, declared license, supplier"/>
          <p:cNvGraphicFramePr/>
          <p:nvPr/>
        </p:nvGraphicFramePr>
        <p:xfrm>
          <a:off x="411480" y="914400"/>
          <a:ext cx="8321040" cy="1901952"/>
        </p:xfrm>
        <a:graphic>
          <a:graphicData uri="http://schemas.openxmlformats.org/drawingml/2006/table">
            <a:tbl>
              <a:tblPr firstRow="0" bandRow="0">
                <a:tableStyleId>{5C22544A-7EE6-4342-B048-85BDC9FD1C3A}</a:tableStyleId>
              </a:tblPr>
              <a:tblGrid>
                <a:gridCol w="1463040"/>
                <a:gridCol w="1143000"/>
                <a:gridCol w="2697480"/>
                <a:gridCol w="1508760"/>
                <a:gridCol w="1508760"/>
              </a:tblGrid>
              <a:tr h="475488">
                <a:tc>
                  <a:txBody>
                    <a:bodyPr wrap="square"/>
                    <a:lstStyle/>
                    <a:p>
                      <a:r>
                        <a:rPr sz="2000" b="1">
                          <a:solidFill>
                            <a:srgbClr val="FFFFFF"/>
                          </a:solidFill>
                          <a:latin typeface="Calibri"/>
                        </a:rPr>
                        <a:t>component</a:t>
                      </a:r>
                    </a:p>
                  </a:txBody>
                  <a:tcPr marL="91440" marR="91440" marT="36576" marB="36576" anchor="ctr">
                    <a:solidFill>
                      <a:srgbClr val="8E6F3E"/>
                    </a:solidFill>
                  </a:tcPr>
                </a:tc>
                <a:tc>
                  <a:txBody>
                    <a:bodyPr wrap="square"/>
                    <a:lstStyle/>
                    <a:p>
                      <a:r>
                        <a:rPr sz="2000" b="1">
                          <a:solidFill>
                            <a:srgbClr val="FFFFFF"/>
                          </a:solidFill>
                          <a:latin typeface="Calibri"/>
                        </a:rPr>
                        <a:t>version</a:t>
                      </a:r>
                    </a:p>
                  </a:txBody>
                  <a:tcPr marL="91440" marR="91440" marT="36576" marB="36576" anchor="ctr">
                    <a:solidFill>
                      <a:srgbClr val="8E6F3E"/>
                    </a:solidFill>
                  </a:tcPr>
                </a:tc>
                <a:tc>
                  <a:txBody>
                    <a:bodyPr wrap="square"/>
                    <a:lstStyle/>
                    <a:p>
                      <a:r>
                        <a:rPr sz="2000" b="1">
                          <a:solidFill>
                            <a:srgbClr val="FFFFFF"/>
                          </a:solidFill>
                          <a:latin typeface="Calibri"/>
                        </a:rPr>
                        <a:t>identifier</a:t>
                      </a:r>
                    </a:p>
                  </a:txBody>
                  <a:tcPr marL="91440" marR="91440" marT="36576" marB="36576" anchor="ctr">
                    <a:solidFill>
                      <a:srgbClr val="8E6F3E"/>
                    </a:solidFill>
                  </a:tcPr>
                </a:tc>
                <a:tc>
                  <a:txBody>
                    <a:bodyPr wrap="square"/>
                    <a:lstStyle/>
                    <a:p>
                      <a:r>
                        <a:rPr sz="2000" b="1">
                          <a:solidFill>
                            <a:srgbClr val="FFFFFF"/>
                          </a:solidFill>
                          <a:latin typeface="Calibri"/>
                        </a:rPr>
                        <a:t>license</a:t>
                      </a:r>
                    </a:p>
                  </a:txBody>
                  <a:tcPr marL="91440" marR="91440" marT="36576" marB="36576" anchor="ctr">
                    <a:solidFill>
                      <a:srgbClr val="8E6F3E"/>
                    </a:solidFill>
                  </a:tcPr>
                </a:tc>
                <a:tc>
                  <a:txBody>
                    <a:bodyPr wrap="square"/>
                    <a:lstStyle/>
                    <a:p>
                      <a:r>
                        <a:rPr sz="2000" b="1">
                          <a:solidFill>
                            <a:srgbClr val="FFFFFF"/>
                          </a:solidFill>
                          <a:latin typeface="Calibri"/>
                        </a:rPr>
                        <a:t>supplier</a:t>
                      </a:r>
                    </a:p>
                  </a:txBody>
                  <a:tcPr marL="91440" marR="91440" marT="36576" marB="36576" anchor="ctr">
                    <a:solidFill>
                      <a:srgbClr val="8E6F3E"/>
                    </a:solidFill>
                  </a:tcPr>
                </a:tc>
              </a:tr>
              <a:tr h="475488">
                <a:tc>
                  <a:txBody>
                    <a:bodyPr wrap="square"/>
                    <a:lstStyle/>
                    <a:p>
                      <a:r>
                        <a:rPr sz="2000" b="1">
                          <a:solidFill>
                            <a:srgbClr val="8E6F3E"/>
                          </a:solidFill>
                          <a:latin typeface="Calibri"/>
                        </a:rPr>
                        <a:t>framework</a:t>
                      </a:r>
                    </a:p>
                  </a:txBody>
                  <a:tcPr marL="91440" marR="91440" marT="36576" marB="36576" anchor="ctr">
                    <a:solidFill>
                      <a:srgbClr val="F5F1E8"/>
                    </a:solidFill>
                  </a:tcPr>
                </a:tc>
                <a:tc>
                  <a:txBody>
                    <a:bodyPr wrap="square"/>
                    <a:lstStyle/>
                    <a:p>
                      <a:r>
                        <a:rPr sz="2000" b="0">
                          <a:solidFill>
                            <a:srgbClr val="2D2D2D"/>
                          </a:solidFill>
                          <a:latin typeface="Calibri"/>
                        </a:rPr>
                        <a:t>4.2.1</a:t>
                      </a:r>
                    </a:p>
                  </a:txBody>
                  <a:tcPr marL="91440" marR="91440" marT="36576" marB="36576" anchor="ctr">
                    <a:solidFill>
                      <a:srgbClr val="F5F1E8"/>
                    </a:solidFill>
                  </a:tcPr>
                </a:tc>
                <a:tc>
                  <a:txBody>
                    <a:bodyPr wrap="square"/>
                    <a:lstStyle/>
                    <a:p>
                      <a:r>
                        <a:rPr sz="2000" b="0">
                          <a:solidFill>
                            <a:srgbClr val="2D2D2D"/>
                          </a:solidFill>
                          <a:latin typeface="Calibri"/>
                        </a:rPr>
                        <a:t>pkg:pypi/wfrm@4.2.1</a:t>
                      </a:r>
                    </a:p>
                  </a:txBody>
                  <a:tcPr marL="91440" marR="91440" marT="36576" marB="36576" anchor="ctr">
                    <a:solidFill>
                      <a:srgbClr val="F5F1E8"/>
                    </a:solidFill>
                  </a:tcPr>
                </a:tc>
                <a:tc>
                  <a:txBody>
                    <a:bodyPr wrap="square"/>
                    <a:lstStyle/>
                    <a:p>
                      <a:r>
                        <a:rPr sz="2000" b="0">
                          <a:solidFill>
                            <a:srgbClr val="2D2D2D"/>
                          </a:solidFill>
                          <a:latin typeface="Calibri"/>
                        </a:rPr>
                        <a:t>MIT</a:t>
                      </a:r>
                    </a:p>
                  </a:txBody>
                  <a:tcPr marL="91440" marR="91440" marT="36576" marB="36576" anchor="ctr">
                    <a:solidFill>
                      <a:srgbClr val="F5F1E8"/>
                    </a:solidFill>
                  </a:tcPr>
                </a:tc>
                <a:tc>
                  <a:txBody>
                    <a:bodyPr wrap="square"/>
                    <a:lstStyle/>
                    <a:p>
                      <a:r>
                        <a:rPr sz="2000" b="0">
                          <a:solidFill>
                            <a:srgbClr val="2D2D2D"/>
                          </a:solidFill>
                          <a:latin typeface="Calibri"/>
                        </a:rPr>
                        <a:t>WFrm org</a:t>
                      </a:r>
                    </a:p>
                  </a:txBody>
                  <a:tcPr marL="91440" marR="91440" marT="36576" marB="36576" anchor="ctr">
                    <a:solidFill>
                      <a:srgbClr val="F5F1E8"/>
                    </a:solidFill>
                  </a:tcPr>
                </a:tc>
              </a:tr>
              <a:tr h="475488">
                <a:tc>
                  <a:txBody>
                    <a:bodyPr wrap="square"/>
                    <a:lstStyle/>
                    <a:p>
                      <a:r>
                        <a:rPr sz="2000" b="1">
                          <a:solidFill>
                            <a:srgbClr val="8E6F3E"/>
                          </a:solidFill>
                          <a:latin typeface="Calibri"/>
                        </a:rPr>
                        <a:t>parser</a:t>
                      </a:r>
                    </a:p>
                  </a:txBody>
                  <a:tcPr marL="91440" marR="91440" marT="36576" marB="36576" anchor="ctr">
                    <a:solidFill>
                      <a:srgbClr val="FCFAF6"/>
                    </a:solidFill>
                  </a:tcPr>
                </a:tc>
                <a:tc>
                  <a:txBody>
                    <a:bodyPr wrap="square"/>
                    <a:lstStyle/>
                    <a:p>
                      <a:r>
                        <a:rPr sz="2000" b="0">
                          <a:solidFill>
                            <a:srgbClr val="2D2D2D"/>
                          </a:solidFill>
                          <a:latin typeface="Calibri"/>
                        </a:rPr>
                        <a:t>1.8.0</a:t>
                      </a:r>
                    </a:p>
                  </a:txBody>
                  <a:tcPr marL="91440" marR="91440" marT="36576" marB="36576" anchor="ctr">
                    <a:solidFill>
                      <a:srgbClr val="FCFAF6"/>
                    </a:solidFill>
                  </a:tcPr>
                </a:tc>
                <a:tc>
                  <a:txBody>
                    <a:bodyPr wrap="square"/>
                    <a:lstStyle/>
                    <a:p>
                      <a:r>
                        <a:rPr sz="2000" b="0">
                          <a:solidFill>
                            <a:srgbClr val="2D2D2D"/>
                          </a:solidFill>
                          <a:latin typeface="Calibri"/>
                        </a:rPr>
                        <a:t>pkg:pypi/hpar@1.8.0</a:t>
                      </a:r>
                    </a:p>
                  </a:txBody>
                  <a:tcPr marL="91440" marR="91440" marT="36576" marB="36576" anchor="ctr">
                    <a:solidFill>
                      <a:srgbClr val="FCFAF6"/>
                    </a:solidFill>
                  </a:tcPr>
                </a:tc>
                <a:tc>
                  <a:txBody>
                    <a:bodyPr wrap="square"/>
                    <a:lstStyle/>
                    <a:p>
                      <a:r>
                        <a:rPr sz="2000" b="0">
                          <a:solidFill>
                            <a:srgbClr val="2D2D2D"/>
                          </a:solidFill>
                          <a:latin typeface="Calibri"/>
                        </a:rPr>
                        <a:t>Apache-2.0</a:t>
                      </a:r>
                    </a:p>
                  </a:txBody>
                  <a:tcPr marL="91440" marR="91440" marT="36576" marB="36576" anchor="ctr">
                    <a:solidFill>
                      <a:srgbClr val="FCFAF6"/>
                    </a:solidFill>
                  </a:tcPr>
                </a:tc>
                <a:tc>
                  <a:txBody>
                    <a:bodyPr wrap="square"/>
                    <a:lstStyle/>
                    <a:p>
                      <a:r>
                        <a:rPr sz="2000" b="0">
                          <a:solidFill>
                            <a:srgbClr val="2D2D2D"/>
                          </a:solidFill>
                          <a:latin typeface="Calibri"/>
                        </a:rPr>
                        <a:t>1 person</a:t>
                      </a:r>
                    </a:p>
                  </a:txBody>
                  <a:tcPr marL="91440" marR="91440" marT="36576" marB="36576" anchor="ctr">
                    <a:solidFill>
                      <a:srgbClr val="FCFAF6"/>
                    </a:solidFill>
                  </a:tcPr>
                </a:tc>
              </a:tr>
              <a:tr h="475488">
                <a:tc>
                  <a:txBody>
                    <a:bodyPr wrap="square"/>
                    <a:lstStyle/>
                    <a:p>
                      <a:r>
                        <a:rPr sz="2000" b="1">
                          <a:solidFill>
                            <a:srgbClr val="8E6F3E"/>
                          </a:solidFill>
                          <a:latin typeface="Calibri"/>
                        </a:rPr>
                        <a:t>date-lib</a:t>
                      </a:r>
                    </a:p>
                  </a:txBody>
                  <a:tcPr marL="91440" marR="91440" marT="36576" marB="36576" anchor="ctr">
                    <a:solidFill>
                      <a:srgbClr val="F5F1E8"/>
                    </a:solidFill>
                  </a:tcPr>
                </a:tc>
                <a:tc>
                  <a:txBody>
                    <a:bodyPr wrap="square"/>
                    <a:lstStyle/>
                    <a:p>
                      <a:r>
                        <a:rPr sz="2000" b="0">
                          <a:solidFill>
                            <a:srgbClr val="2D2D2D"/>
                          </a:solidFill>
                          <a:latin typeface="Calibri"/>
                        </a:rPr>
                        <a:t>2.0.4</a:t>
                      </a:r>
                    </a:p>
                  </a:txBody>
                  <a:tcPr marL="91440" marR="91440" marT="36576" marB="36576" anchor="ctr">
                    <a:solidFill>
                      <a:srgbClr val="F5F1E8"/>
                    </a:solidFill>
                  </a:tcPr>
                </a:tc>
                <a:tc>
                  <a:txBody>
                    <a:bodyPr wrap="square"/>
                    <a:lstStyle/>
                    <a:p>
                      <a:r>
                        <a:rPr sz="2000" b="0">
                          <a:solidFill>
                            <a:srgbClr val="2D2D2D"/>
                          </a:solidFill>
                          <a:latin typeface="Calibri"/>
                        </a:rPr>
                        <a:t>pkg:pypi/dint@2.0.4</a:t>
                      </a:r>
                    </a:p>
                  </a:txBody>
                  <a:tcPr marL="91440" marR="91440" marT="36576" marB="36576" anchor="ctr">
                    <a:solidFill>
                      <a:srgbClr val="F5F1E8"/>
                    </a:solidFill>
                  </a:tcPr>
                </a:tc>
                <a:tc>
                  <a:txBody>
                    <a:bodyPr wrap="square"/>
                    <a:lstStyle/>
                    <a:p>
                      <a:r>
                        <a:rPr sz="2000" b="0">
                          <a:solidFill>
                            <a:srgbClr val="2D2D2D"/>
                          </a:solidFill>
                          <a:latin typeface="Calibri"/>
                        </a:rPr>
                        <a:t>LGPL-3.0</a:t>
                      </a:r>
                    </a:p>
                  </a:txBody>
                  <a:tcPr marL="91440" marR="91440" marT="36576" marB="36576" anchor="ctr">
                    <a:solidFill>
                      <a:srgbClr val="F5F1E8"/>
                    </a:solidFill>
                  </a:tcPr>
                </a:tc>
                <a:tc>
                  <a:txBody>
                    <a:bodyPr wrap="square"/>
                    <a:lstStyle/>
                    <a:p>
                      <a:r>
                        <a:rPr sz="2000" b="0">
                          <a:solidFill>
                            <a:srgbClr val="2D2D2D"/>
                          </a:solidFill>
                          <a:latin typeface="Calibri"/>
                        </a:rPr>
                        <a:t>community</a:t>
                      </a:r>
                    </a:p>
                  </a:txBody>
                  <a:tcPr marL="91440" marR="91440" marT="36576" marB="36576" anchor="ctr">
                    <a:solidFill>
                      <a:srgbClr val="F5F1E8"/>
                    </a:solidFill>
                  </a:tcPr>
                </a:tc>
              </a:tr>
            </a:tbl>
          </a:graphicData>
        </a:graphic>
      </p:graphicFrame>
      <p:sp>
        <p:nvSpPr>
          <p:cNvPr id="4" name="SbomCaption"/>
          <p:cNvSpPr/>
          <p:nvPr/>
        </p:nvSpPr>
        <p:spPr>
          <a:xfrm>
            <a:off x="411480" y="2944368"/>
            <a:ext cx="8321040" cy="329184"/>
          </a:xfrm>
          <a:prstGeom prst="rect">
            <a:avLst/>
          </a:prstGeom>
          <a:noFill/>
          <a:ln>
            <a:noFill/>
          </a:ln>
          <a:effectLst/>
        </p:spPr>
        <p:txBody>
          <a:bodyPr rtlCol="0" anchor="t" wrap="square"/>
          <a:lstStyle/>
          <a:p>
            <a:pPr algn="l">
              <a:spcAft>
                <a:spcPts val="0"/>
              </a:spcAft>
            </a:pPr>
            <a:r>
              <a:rPr sz="2000" b="0">
                <a:solidFill>
                  <a:srgbClr val="555960"/>
                </a:solidFill>
                <a:latin typeface="Calibri"/>
              </a:rPr>
              <a:t>SPDX-style records; identifiers are package URLs</a:t>
            </a:r>
          </a:p>
        </p:txBody>
      </p:sp>
      <p:sp>
        <p:nvSpPr>
          <p:cNvPr id="5" name="LadderCard"/>
          <p:cNvSpPr/>
          <p:nvPr/>
        </p:nvSpPr>
        <p:spPr>
          <a:xfrm>
            <a:off x="411480" y="3346704"/>
            <a:ext cx="8321040" cy="502920"/>
          </a:xfrm>
          <a:prstGeom prst="rect">
            <a:avLst/>
          </a:prstGeom>
          <a:solidFill>
            <a:srgbClr val="F5F1E8"/>
          </a:solidFill>
          <a:ln>
            <a:noFill/>
          </a:ln>
          <a:effectLst/>
        </p:spPr>
        <p:txBody>
          <a:bodyPr rtlCol="0" anchor="ctr" wrap="square"/>
          <a:lstStyle/>
          <a:p/>
        </p:txBody>
      </p:sp>
      <p:sp>
        <p:nvSpPr>
          <p:cNvPr id="6" name="LadderLabel"/>
          <p:cNvSpPr/>
          <p:nvPr/>
        </p:nvSpPr>
        <p:spPr>
          <a:xfrm>
            <a:off x="557784" y="3374136"/>
            <a:ext cx="2788920" cy="448056"/>
          </a:xfrm>
          <a:prstGeom prst="rect">
            <a:avLst/>
          </a:prstGeom>
          <a:noFill/>
          <a:ln>
            <a:noFill/>
          </a:ln>
          <a:effectLst/>
        </p:spPr>
        <p:txBody>
          <a:bodyPr rtlCol="0" anchor="ctr" wrap="square"/>
          <a:lstStyle/>
          <a:p>
            <a:pPr algn="l">
              <a:spcAft>
                <a:spcPts val="0"/>
              </a:spcAft>
            </a:pPr>
            <a:r>
              <a:rPr sz="2000" b="1">
                <a:solidFill>
                  <a:srgbClr val="8E6F3E"/>
                </a:solidFill>
                <a:latin typeface="Calibri"/>
              </a:rPr>
              <a:t>MANIFEST</a:t>
            </a:r>
          </a:p>
        </p:txBody>
      </p:sp>
      <p:sp>
        <p:nvSpPr>
          <p:cNvPr id="7" name="LadderBody"/>
          <p:cNvSpPr/>
          <p:nvPr/>
        </p:nvSpPr>
        <p:spPr>
          <a:xfrm>
            <a:off x="3438144" y="3374136"/>
            <a:ext cx="5166360" cy="448056"/>
          </a:xfrm>
          <a:prstGeom prst="rect">
            <a:avLst/>
          </a:prstGeom>
          <a:noFill/>
          <a:ln>
            <a:noFill/>
          </a:ln>
          <a:effectLst/>
        </p:spPr>
        <p:txBody>
          <a:bodyPr rtlCol="0" anchor="ctr" wrap="square"/>
          <a:lstStyle/>
          <a:p>
            <a:pPr algn="l">
              <a:spcAft>
                <a:spcPts val="0"/>
              </a:spcAft>
            </a:pPr>
            <a:r>
              <a:rPr sz="2000" b="0">
                <a:solidFill>
                  <a:srgbClr val="555960"/>
                </a:solidFill>
                <a:latin typeface="Calibri"/>
              </a:rPr>
              <a:t>what you asked for</a:t>
            </a:r>
          </a:p>
        </p:txBody>
      </p:sp>
      <p:sp>
        <p:nvSpPr>
          <p:cNvPr id="8" name="LadderCard"/>
          <p:cNvSpPr/>
          <p:nvPr/>
        </p:nvSpPr>
        <p:spPr>
          <a:xfrm>
            <a:off x="411480" y="3895344"/>
            <a:ext cx="8321040" cy="502920"/>
          </a:xfrm>
          <a:prstGeom prst="rect">
            <a:avLst/>
          </a:prstGeom>
          <a:solidFill>
            <a:srgbClr val="FCFAF6"/>
          </a:solidFill>
          <a:ln>
            <a:noFill/>
          </a:ln>
          <a:effectLst/>
        </p:spPr>
        <p:txBody>
          <a:bodyPr rtlCol="0" anchor="ctr" wrap="square"/>
          <a:lstStyle/>
          <a:p/>
        </p:txBody>
      </p:sp>
      <p:sp>
        <p:nvSpPr>
          <p:cNvPr id="9" name="LadderLabel"/>
          <p:cNvSpPr/>
          <p:nvPr/>
        </p:nvSpPr>
        <p:spPr>
          <a:xfrm>
            <a:off x="557784" y="3922776"/>
            <a:ext cx="2788920" cy="448056"/>
          </a:xfrm>
          <a:prstGeom prst="rect">
            <a:avLst/>
          </a:prstGeom>
          <a:noFill/>
          <a:ln>
            <a:noFill/>
          </a:ln>
          <a:effectLst/>
        </p:spPr>
        <p:txBody>
          <a:bodyPr rtlCol="0" anchor="ctr" wrap="square"/>
          <a:lstStyle/>
          <a:p>
            <a:pPr algn="l">
              <a:spcAft>
                <a:spcPts val="0"/>
              </a:spcAft>
            </a:pPr>
            <a:r>
              <a:rPr sz="2000" b="1">
                <a:solidFill>
                  <a:srgbClr val="8E6F3E"/>
                </a:solidFill>
                <a:latin typeface="Calibri"/>
              </a:rPr>
              <a:t>LOCKFILE</a:t>
            </a:r>
          </a:p>
        </p:txBody>
      </p:sp>
      <p:sp>
        <p:nvSpPr>
          <p:cNvPr id="10" name="LadderBody"/>
          <p:cNvSpPr/>
          <p:nvPr/>
        </p:nvSpPr>
        <p:spPr>
          <a:xfrm>
            <a:off x="3438144" y="3922776"/>
            <a:ext cx="5166360" cy="448056"/>
          </a:xfrm>
          <a:prstGeom prst="rect">
            <a:avLst/>
          </a:prstGeom>
          <a:noFill/>
          <a:ln>
            <a:noFill/>
          </a:ln>
          <a:effectLst/>
        </p:spPr>
        <p:txBody>
          <a:bodyPr rtlCol="0" anchor="ctr" wrap="square"/>
          <a:lstStyle/>
          <a:p>
            <a:pPr algn="l">
              <a:spcAft>
                <a:spcPts val="0"/>
              </a:spcAft>
            </a:pPr>
            <a:r>
              <a:rPr sz="2000" b="0">
                <a:solidFill>
                  <a:srgbClr val="555960"/>
                </a:solidFill>
                <a:latin typeface="Calibri"/>
              </a:rPr>
              <a:t>what was resolved, pinned</a:t>
            </a:r>
          </a:p>
        </p:txBody>
      </p:sp>
      <p:sp>
        <p:nvSpPr>
          <p:cNvPr id="11" name="LadderCard"/>
          <p:cNvSpPr/>
          <p:nvPr/>
        </p:nvSpPr>
        <p:spPr>
          <a:xfrm>
            <a:off x="411480" y="4443984"/>
            <a:ext cx="8321040" cy="502920"/>
          </a:xfrm>
          <a:prstGeom prst="rect">
            <a:avLst/>
          </a:prstGeom>
          <a:solidFill>
            <a:srgbClr val="F5F1E8"/>
          </a:solidFill>
          <a:ln>
            <a:noFill/>
          </a:ln>
          <a:effectLst/>
        </p:spPr>
        <p:txBody>
          <a:bodyPr rtlCol="0" anchor="ctr" wrap="square"/>
          <a:lstStyle/>
          <a:p/>
        </p:txBody>
      </p:sp>
      <p:sp>
        <p:nvSpPr>
          <p:cNvPr id="12" name="LadderLabel"/>
          <p:cNvSpPr/>
          <p:nvPr/>
        </p:nvSpPr>
        <p:spPr>
          <a:xfrm>
            <a:off x="557784" y="4471416"/>
            <a:ext cx="2788920" cy="448056"/>
          </a:xfrm>
          <a:prstGeom prst="rect">
            <a:avLst/>
          </a:prstGeom>
          <a:noFill/>
          <a:ln>
            <a:noFill/>
          </a:ln>
          <a:effectLst/>
        </p:spPr>
        <p:txBody>
          <a:bodyPr rtlCol="0" anchor="ctr" wrap="square"/>
          <a:lstStyle/>
          <a:p>
            <a:pPr algn="l">
              <a:spcAft>
                <a:spcPts val="0"/>
              </a:spcAft>
            </a:pPr>
            <a:r>
              <a:rPr sz="2000" b="1">
                <a:solidFill>
                  <a:srgbClr val="8E6F3E"/>
                </a:solidFill>
                <a:latin typeface="Calibri"/>
              </a:rPr>
              <a:t>DEPENDENCY GRAPH</a:t>
            </a:r>
          </a:p>
        </p:txBody>
      </p:sp>
      <p:sp>
        <p:nvSpPr>
          <p:cNvPr id="13" name="LadderBody"/>
          <p:cNvSpPr/>
          <p:nvPr/>
        </p:nvSpPr>
        <p:spPr>
          <a:xfrm>
            <a:off x="3438144" y="4471416"/>
            <a:ext cx="5166360" cy="448056"/>
          </a:xfrm>
          <a:prstGeom prst="rect">
            <a:avLst/>
          </a:prstGeom>
          <a:noFill/>
          <a:ln>
            <a:noFill/>
          </a:ln>
          <a:effectLst/>
        </p:spPr>
        <p:txBody>
          <a:bodyPr rtlCol="0" anchor="ctr" wrap="square"/>
          <a:lstStyle/>
          <a:p>
            <a:pPr algn="l">
              <a:spcAft>
                <a:spcPts val="0"/>
              </a:spcAft>
            </a:pPr>
            <a:r>
              <a:rPr sz="2000" b="0">
                <a:solidFill>
                  <a:srgbClr val="555960"/>
                </a:solidFill>
                <a:latin typeface="Calibri"/>
              </a:rPr>
              <a:t>what depends on what</a:t>
            </a:r>
          </a:p>
        </p:txBody>
      </p:sp>
      <p:sp>
        <p:nvSpPr>
          <p:cNvPr id="14" name="LadderCard"/>
          <p:cNvSpPr/>
          <p:nvPr/>
        </p:nvSpPr>
        <p:spPr>
          <a:xfrm>
            <a:off x="411480" y="4992624"/>
            <a:ext cx="8321040" cy="502920"/>
          </a:xfrm>
          <a:prstGeom prst="rect">
            <a:avLst/>
          </a:prstGeom>
          <a:solidFill>
            <a:srgbClr val="FCFAF6"/>
          </a:solidFill>
          <a:ln>
            <a:noFill/>
          </a:ln>
          <a:effectLst/>
        </p:spPr>
        <p:txBody>
          <a:bodyPr rtlCol="0" anchor="ctr" wrap="square"/>
          <a:lstStyle/>
          <a:p/>
        </p:txBody>
      </p:sp>
      <p:sp>
        <p:nvSpPr>
          <p:cNvPr id="15" name="LadderLabel"/>
          <p:cNvSpPr/>
          <p:nvPr/>
        </p:nvSpPr>
        <p:spPr>
          <a:xfrm>
            <a:off x="557784" y="5020056"/>
            <a:ext cx="2788920" cy="448056"/>
          </a:xfrm>
          <a:prstGeom prst="rect">
            <a:avLst/>
          </a:prstGeom>
          <a:noFill/>
          <a:ln>
            <a:noFill/>
          </a:ln>
          <a:effectLst/>
        </p:spPr>
        <p:txBody>
          <a:bodyPr rtlCol="0" anchor="ctr" wrap="square"/>
          <a:lstStyle/>
          <a:p>
            <a:pPr algn="l">
              <a:spcAft>
                <a:spcPts val="0"/>
              </a:spcAft>
            </a:pPr>
            <a:r>
              <a:rPr sz="2000" b="1">
                <a:solidFill>
                  <a:srgbClr val="8E6F3E"/>
                </a:solidFill>
                <a:latin typeface="Calibri"/>
              </a:rPr>
              <a:t>SBOM</a:t>
            </a:r>
          </a:p>
        </p:txBody>
      </p:sp>
      <p:sp>
        <p:nvSpPr>
          <p:cNvPr id="16" name="LadderBody"/>
          <p:cNvSpPr/>
          <p:nvPr/>
        </p:nvSpPr>
        <p:spPr>
          <a:xfrm>
            <a:off x="3438144" y="5020056"/>
            <a:ext cx="5166360" cy="448056"/>
          </a:xfrm>
          <a:prstGeom prst="rect">
            <a:avLst/>
          </a:prstGeom>
          <a:noFill/>
          <a:ln>
            <a:noFill/>
          </a:ln>
          <a:effectLst/>
        </p:spPr>
        <p:txBody>
          <a:bodyPr rtlCol="0" anchor="ctr" wrap="square"/>
          <a:lstStyle/>
          <a:p>
            <a:pPr algn="l">
              <a:spcAft>
                <a:spcPts val="0"/>
              </a:spcAft>
            </a:pPr>
            <a:r>
              <a:rPr sz="2000" b="0">
                <a:solidFill>
                  <a:srgbClr val="555960"/>
                </a:solidFill>
                <a:latin typeface="Calibri"/>
              </a:rPr>
              <a:t>shareable inventory of what ships</a:t>
            </a:r>
          </a:p>
        </p:txBody>
      </p:sp>
      <p:sp>
        <p:nvSpPr>
          <p:cNvPr id="17" name="Cite"/>
          <p:cNvSpPr/>
          <p:nvPr/>
        </p:nvSpPr>
        <p:spPr>
          <a:xfrm>
            <a:off x="411480" y="5559552"/>
            <a:ext cx="8321040" cy="301752"/>
          </a:xfrm>
          <a:prstGeom prst="rect">
            <a:avLst/>
          </a:prstGeom>
          <a:noFill/>
          <a:ln>
            <a:noFill/>
          </a:ln>
          <a:effectLst/>
        </p:spPr>
        <p:txBody>
          <a:bodyPr rtlCol="0" anchor="t" wrap="square"/>
          <a:lstStyle/>
          <a:p>
            <a:pPr algn="l">
              <a:spcAft>
                <a:spcPts val="0"/>
              </a:spcAft>
            </a:pPr>
            <a:r>
              <a:rPr sz="2000" b="0">
                <a:solidFill>
                  <a:srgbClr val="555960"/>
                </a:solidFill>
                <a:latin typeface="Calibri"/>
              </a:rPr>
              <a:t>SPDX, spdx.dev · GitHub, export dependencies as SBOM</a:t>
            </a:r>
          </a:p>
        </p:txBody>
      </p:sp>
      <p:sp>
        <p:nvSpPr>
          <p:cNvPr id="18"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An SBOM records what is known, not whether it is safe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Choose the dependency your requirements can trust</a:t>
            </a:r>
          </a:p>
        </p:txBody>
      </p:sp>
      <p:graphicFrame>
        <p:nvGraphicFramePr>
          <p:cNvPr id="3" name="LibTable" descr="Two candidate date-interval libraries compared on maintainership, cadence, vulnerabilities, compatibility, provenance, transitive dependencies, and replacement cost"/>
          <p:cNvGraphicFramePr/>
          <p:nvPr/>
        </p:nvGraphicFramePr>
        <p:xfrm>
          <a:off x="411480" y="914400"/>
          <a:ext cx="8321040" cy="3657600"/>
        </p:xfrm>
        <a:graphic>
          <a:graphicData uri="http://schemas.openxmlformats.org/drawingml/2006/table">
            <a:tbl>
              <a:tblPr firstRow="0" bandRow="0">
                <a:tableStyleId>{5C22544A-7EE6-4342-B048-85BDC9FD1C3A}</a:tableStyleId>
              </a:tblPr>
              <a:tblGrid>
                <a:gridCol w="2377440"/>
                <a:gridCol w="2971800"/>
                <a:gridCol w="2971800"/>
              </a:tblGrid>
              <a:tr h="457200">
                <a:tc>
                  <a:txBody>
                    <a:bodyPr wrap="square"/>
                    <a:lstStyle/>
                    <a:p>
                      <a:r>
                        <a:rPr sz="2000" b="1">
                          <a:solidFill>
                            <a:srgbClr val="FFFFFF"/>
                          </a:solidFill>
                          <a:latin typeface="Calibri"/>
                        </a:rPr>
                        <a:t>criterion</a:t>
                      </a:r>
                    </a:p>
                  </a:txBody>
                  <a:tcPr marL="91440" marR="91440" marT="36576" marB="36576" anchor="ctr">
                    <a:solidFill>
                      <a:srgbClr val="8E6F3E"/>
                    </a:solidFill>
                  </a:tcPr>
                </a:tc>
                <a:tc>
                  <a:txBody>
                    <a:bodyPr wrap="square"/>
                    <a:lstStyle/>
                    <a:p>
                      <a:r>
                        <a:rPr sz="2000" b="1">
                          <a:solidFill>
                            <a:srgbClr val="FFFFFF"/>
                          </a:solidFill>
                          <a:latin typeface="Calibri"/>
                        </a:rPr>
                        <a:t>LIB A: intervals</a:t>
                      </a:r>
                    </a:p>
                  </a:txBody>
                  <a:tcPr marL="91440" marR="91440" marT="36576" marB="36576" anchor="ctr">
                    <a:solidFill>
                      <a:srgbClr val="8E6F3E"/>
                    </a:solidFill>
                  </a:tcPr>
                </a:tc>
                <a:tc>
                  <a:txBody>
                    <a:bodyPr wrap="square"/>
                    <a:lstStyle/>
                    <a:p>
                      <a:r>
                        <a:rPr sz="2000" b="1">
                          <a:solidFill>
                            <a:srgbClr val="FFFFFF"/>
                          </a:solidFill>
                          <a:latin typeface="Calibri"/>
                        </a:rPr>
                        <a:t>LIB B: when-lib</a:t>
                      </a:r>
                    </a:p>
                  </a:txBody>
                  <a:tcPr marL="91440" marR="91440" marT="36576" marB="36576" anchor="ctr">
                    <a:solidFill>
                      <a:srgbClr val="8E6F3E"/>
                    </a:solidFill>
                  </a:tcPr>
                </a:tc>
              </a:tr>
              <a:tr h="457200">
                <a:tc>
                  <a:txBody>
                    <a:bodyPr wrap="square"/>
                    <a:lstStyle/>
                    <a:p>
                      <a:r>
                        <a:rPr sz="2000" b="1">
                          <a:solidFill>
                            <a:srgbClr val="8E6F3E"/>
                          </a:solidFill>
                          <a:latin typeface="Calibri"/>
                        </a:rPr>
                        <a:t>maintainers</a:t>
                      </a:r>
                    </a:p>
                  </a:txBody>
                  <a:tcPr marL="91440" marR="91440" marT="36576" marB="36576" anchor="ctr">
                    <a:solidFill>
                      <a:srgbClr val="F5F1E8"/>
                    </a:solidFill>
                  </a:tcPr>
                </a:tc>
                <a:tc>
                  <a:txBody>
                    <a:bodyPr wrap="square"/>
                    <a:lstStyle/>
                    <a:p>
                      <a:r>
                        <a:rPr sz="2000" b="0">
                          <a:solidFill>
                            <a:srgbClr val="2D2D2D"/>
                          </a:solidFill>
                          <a:latin typeface="Calibri"/>
                        </a:rPr>
                        <a:t>6 active, org-backed</a:t>
                      </a:r>
                    </a:p>
                  </a:txBody>
                  <a:tcPr marL="91440" marR="91440" marT="36576" marB="36576" anchor="ctr">
                    <a:solidFill>
                      <a:srgbClr val="F5F1E8"/>
                    </a:solidFill>
                  </a:tcPr>
                </a:tc>
                <a:tc>
                  <a:txBody>
                    <a:bodyPr wrap="square"/>
                    <a:lstStyle/>
                    <a:p>
                      <a:r>
                        <a:rPr sz="2000" b="0">
                          <a:solidFill>
                            <a:srgbClr val="2D2D2D"/>
                          </a:solidFill>
                          <a:latin typeface="Calibri"/>
                        </a:rPr>
                        <a:t>1, dormant 26 months</a:t>
                      </a:r>
                    </a:p>
                  </a:txBody>
                  <a:tcPr marL="91440" marR="91440" marT="36576" marB="36576" anchor="ctr">
                    <a:solidFill>
                      <a:srgbClr val="F5F1E8"/>
                    </a:solidFill>
                  </a:tcPr>
                </a:tc>
              </a:tr>
              <a:tr h="457200">
                <a:tc>
                  <a:txBody>
                    <a:bodyPr wrap="square"/>
                    <a:lstStyle/>
                    <a:p>
                      <a:r>
                        <a:rPr sz="2000" b="1">
                          <a:solidFill>
                            <a:srgbClr val="8E6F3E"/>
                          </a:solidFill>
                          <a:latin typeface="Calibri"/>
                        </a:rPr>
                        <a:t>release cadence</a:t>
                      </a:r>
                    </a:p>
                  </a:txBody>
                  <a:tcPr marL="91440" marR="91440" marT="36576" marB="36576" anchor="ctr">
                    <a:solidFill>
                      <a:srgbClr val="FCFAF6"/>
                    </a:solidFill>
                  </a:tcPr>
                </a:tc>
                <a:tc>
                  <a:txBody>
                    <a:bodyPr wrap="square"/>
                    <a:lstStyle/>
                    <a:p>
                      <a:r>
                        <a:rPr sz="2000" b="0">
                          <a:solidFill>
                            <a:srgbClr val="2D2D2D"/>
                          </a:solidFill>
                          <a:latin typeface="Calibri"/>
                        </a:rPr>
                        <a:t>monthly</a:t>
                      </a:r>
                    </a:p>
                  </a:txBody>
                  <a:tcPr marL="91440" marR="91440" marT="36576" marB="36576" anchor="ctr">
                    <a:solidFill>
                      <a:srgbClr val="FCFAF6"/>
                    </a:solidFill>
                  </a:tcPr>
                </a:tc>
                <a:tc>
                  <a:txBody>
                    <a:bodyPr wrap="square"/>
                    <a:lstStyle/>
                    <a:p>
                      <a:r>
                        <a:rPr sz="2000" b="0">
                          <a:solidFill>
                            <a:srgbClr val="2D2D2D"/>
                          </a:solidFill>
                          <a:latin typeface="Calibri"/>
                        </a:rPr>
                        <a:t>last release 2 years ago</a:t>
                      </a:r>
                    </a:p>
                  </a:txBody>
                  <a:tcPr marL="91440" marR="91440" marT="36576" marB="36576" anchor="ctr">
                    <a:solidFill>
                      <a:srgbClr val="FCFAF6"/>
                    </a:solidFill>
                  </a:tcPr>
                </a:tc>
              </a:tr>
              <a:tr h="457200">
                <a:tc>
                  <a:txBody>
                    <a:bodyPr wrap="square"/>
                    <a:lstStyle/>
                    <a:p>
                      <a:r>
                        <a:rPr sz="2000" b="1">
                          <a:solidFill>
                            <a:srgbClr val="8E6F3E"/>
                          </a:solidFill>
                          <a:latin typeface="Calibri"/>
                        </a:rPr>
                        <a:t>vulnerabilities</a:t>
                      </a:r>
                    </a:p>
                  </a:txBody>
                  <a:tcPr marL="91440" marR="91440" marT="36576" marB="36576" anchor="ctr">
                    <a:solidFill>
                      <a:srgbClr val="F5F1E8"/>
                    </a:solidFill>
                  </a:tcPr>
                </a:tc>
                <a:tc>
                  <a:txBody>
                    <a:bodyPr wrap="square"/>
                    <a:lstStyle/>
                    <a:p>
                      <a:r>
                        <a:rPr sz="2000" b="0">
                          <a:solidFill>
                            <a:srgbClr val="2D2D2D"/>
                          </a:solidFill>
                          <a:latin typeface="Calibri"/>
                        </a:rPr>
                        <a:t>2 CVEs, patched in days</a:t>
                      </a:r>
                    </a:p>
                  </a:txBody>
                  <a:tcPr marL="91440" marR="91440" marT="36576" marB="36576" anchor="ctr">
                    <a:solidFill>
                      <a:srgbClr val="F5F1E8"/>
                    </a:solidFill>
                  </a:tcPr>
                </a:tc>
                <a:tc>
                  <a:txBody>
                    <a:bodyPr wrap="square"/>
                    <a:lstStyle/>
                    <a:p>
                      <a:r>
                        <a:rPr sz="2000" b="0">
                          <a:solidFill>
                            <a:srgbClr val="2D2D2D"/>
                          </a:solidFill>
                          <a:latin typeface="Calibri"/>
                        </a:rPr>
                        <a:t>none reported</a:t>
                      </a:r>
                    </a:p>
                  </a:txBody>
                  <a:tcPr marL="91440" marR="91440" marT="36576" marB="36576" anchor="ctr">
                    <a:solidFill>
                      <a:srgbClr val="F5F1E8"/>
                    </a:solidFill>
                  </a:tcPr>
                </a:tc>
              </a:tr>
              <a:tr h="457200">
                <a:tc>
                  <a:txBody>
                    <a:bodyPr wrap="square"/>
                    <a:lstStyle/>
                    <a:p>
                      <a:r>
                        <a:rPr sz="2000" b="1">
                          <a:solidFill>
                            <a:srgbClr val="8E6F3E"/>
                          </a:solidFill>
                          <a:latin typeface="Calibri"/>
                        </a:rPr>
                        <a:t>compatibility</a:t>
                      </a:r>
                    </a:p>
                  </a:txBody>
                  <a:tcPr marL="91440" marR="91440" marT="36576" marB="36576" anchor="ctr">
                    <a:solidFill>
                      <a:srgbClr val="FCFAF6"/>
                    </a:solidFill>
                  </a:tcPr>
                </a:tc>
                <a:tc>
                  <a:txBody>
                    <a:bodyPr wrap="square"/>
                    <a:lstStyle/>
                    <a:p>
                      <a:r>
                        <a:rPr sz="2000" b="0">
                          <a:solidFill>
                            <a:srgbClr val="2D2D2D"/>
                          </a:solidFill>
                          <a:latin typeface="Calibri"/>
                        </a:rPr>
                        <a:t>semver, deprecations</a:t>
                      </a:r>
                    </a:p>
                  </a:txBody>
                  <a:tcPr marL="91440" marR="91440" marT="36576" marB="36576" anchor="ctr">
                    <a:solidFill>
                      <a:srgbClr val="FCFAF6"/>
                    </a:solidFill>
                  </a:tcPr>
                </a:tc>
                <a:tc>
                  <a:txBody>
                    <a:bodyPr wrap="square"/>
                    <a:lstStyle/>
                    <a:p>
                      <a:r>
                        <a:rPr sz="2000" b="0">
                          <a:solidFill>
                            <a:srgbClr val="2D2D2D"/>
                          </a:solidFill>
                          <a:latin typeface="Calibri"/>
                        </a:rPr>
                        <a:t>breaking minor bumps</a:t>
                      </a:r>
                    </a:p>
                  </a:txBody>
                  <a:tcPr marL="91440" marR="91440" marT="36576" marB="36576" anchor="ctr">
                    <a:solidFill>
                      <a:srgbClr val="FCFAF6"/>
                    </a:solidFill>
                  </a:tcPr>
                </a:tc>
              </a:tr>
              <a:tr h="457200">
                <a:tc>
                  <a:txBody>
                    <a:bodyPr wrap="square"/>
                    <a:lstStyle/>
                    <a:p>
                      <a:r>
                        <a:rPr sz="2000" b="1">
                          <a:solidFill>
                            <a:srgbClr val="8E6F3E"/>
                          </a:solidFill>
                          <a:latin typeface="Calibri"/>
                        </a:rPr>
                        <a:t>provenance</a:t>
                      </a:r>
                    </a:p>
                  </a:txBody>
                  <a:tcPr marL="91440" marR="91440" marT="36576" marB="36576" anchor="ctr">
                    <a:solidFill>
                      <a:srgbClr val="F5F1E8"/>
                    </a:solidFill>
                  </a:tcPr>
                </a:tc>
                <a:tc>
                  <a:txBody>
                    <a:bodyPr wrap="square"/>
                    <a:lstStyle/>
                    <a:p>
                      <a:r>
                        <a:rPr sz="2000" b="0">
                          <a:solidFill>
                            <a:srgbClr val="2D2D2D"/>
                          </a:solidFill>
                          <a:latin typeface="Calibri"/>
                        </a:rPr>
                        <a:t>signed releases</a:t>
                      </a:r>
                    </a:p>
                  </a:txBody>
                  <a:tcPr marL="91440" marR="91440" marT="36576" marB="36576" anchor="ctr">
                    <a:solidFill>
                      <a:srgbClr val="F5F1E8"/>
                    </a:solidFill>
                  </a:tcPr>
                </a:tc>
                <a:tc>
                  <a:txBody>
                    <a:bodyPr wrap="square"/>
                    <a:lstStyle/>
                    <a:p>
                      <a:r>
                        <a:rPr sz="2000" b="0">
                          <a:solidFill>
                            <a:srgbClr val="2D2D2D"/>
                          </a:solidFill>
                          <a:latin typeface="Calibri"/>
                        </a:rPr>
                        <a:t>unsigned tarballs</a:t>
                      </a:r>
                    </a:p>
                  </a:txBody>
                  <a:tcPr marL="91440" marR="91440" marT="36576" marB="36576" anchor="ctr">
                    <a:solidFill>
                      <a:srgbClr val="F5F1E8"/>
                    </a:solidFill>
                  </a:tcPr>
                </a:tc>
              </a:tr>
              <a:tr h="457200">
                <a:tc>
                  <a:txBody>
                    <a:bodyPr wrap="square"/>
                    <a:lstStyle/>
                    <a:p>
                      <a:r>
                        <a:rPr sz="2000" b="1">
                          <a:solidFill>
                            <a:srgbClr val="8E6F3E"/>
                          </a:solidFill>
                          <a:latin typeface="Calibri"/>
                        </a:rPr>
                        <a:t>transitive deps</a:t>
                      </a:r>
                    </a:p>
                  </a:txBody>
                  <a:tcPr marL="91440" marR="91440" marT="36576" marB="36576" anchor="ctr">
                    <a:solidFill>
                      <a:srgbClr val="FCFAF6"/>
                    </a:solidFill>
                  </a:tcPr>
                </a:tc>
                <a:tc>
                  <a:txBody>
                    <a:bodyPr wrap="square"/>
                    <a:lstStyle/>
                    <a:p>
                      <a:r>
                        <a:rPr sz="2000" b="0">
                          <a:solidFill>
                            <a:srgbClr val="2D2D2D"/>
                          </a:solidFill>
                          <a:latin typeface="Calibri"/>
                        </a:rPr>
                        <a:t>12</a:t>
                      </a:r>
                    </a:p>
                  </a:txBody>
                  <a:tcPr marL="91440" marR="91440" marT="36576" marB="36576" anchor="ctr">
                    <a:solidFill>
                      <a:srgbClr val="FCFAF6"/>
                    </a:solidFill>
                  </a:tcPr>
                </a:tc>
                <a:tc>
                  <a:txBody>
                    <a:bodyPr wrap="square"/>
                    <a:lstStyle/>
                    <a:p>
                      <a:r>
                        <a:rPr sz="2000" b="0">
                          <a:solidFill>
                            <a:srgbClr val="2D2D2D"/>
                          </a:solidFill>
                          <a:latin typeface="Calibri"/>
                        </a:rPr>
                        <a:t>0</a:t>
                      </a:r>
                    </a:p>
                  </a:txBody>
                  <a:tcPr marL="91440" marR="91440" marT="36576" marB="36576" anchor="ctr">
                    <a:solidFill>
                      <a:srgbClr val="FCFAF6"/>
                    </a:solidFill>
                  </a:tcPr>
                </a:tc>
              </a:tr>
              <a:tr h="457200">
                <a:tc>
                  <a:txBody>
                    <a:bodyPr wrap="square"/>
                    <a:lstStyle/>
                    <a:p>
                      <a:r>
                        <a:rPr sz="2000" b="1">
                          <a:solidFill>
                            <a:srgbClr val="8E6F3E"/>
                          </a:solidFill>
                          <a:latin typeface="Calibri"/>
                        </a:rPr>
                        <a:t>replacement cost</a:t>
                      </a:r>
                    </a:p>
                  </a:txBody>
                  <a:tcPr marL="91440" marR="91440" marT="36576" marB="36576" anchor="ctr">
                    <a:solidFill>
                      <a:srgbClr val="F5F1E8"/>
                    </a:solidFill>
                  </a:tcPr>
                </a:tc>
                <a:tc>
                  <a:txBody>
                    <a:bodyPr wrap="square"/>
                    <a:lstStyle/>
                    <a:p>
                      <a:r>
                        <a:rPr sz="2000" b="0">
                          <a:solidFill>
                            <a:srgbClr val="2D2D2D"/>
                          </a:solidFill>
                          <a:latin typeface="Calibri"/>
                        </a:rPr>
                        <a:t>moderate, common API</a:t>
                      </a:r>
                    </a:p>
                  </a:txBody>
                  <a:tcPr marL="91440" marR="91440" marT="36576" marB="36576" anchor="ctr">
                    <a:solidFill>
                      <a:srgbClr val="F5F1E8"/>
                    </a:solidFill>
                  </a:tcPr>
                </a:tc>
                <a:tc>
                  <a:txBody>
                    <a:bodyPr wrap="square"/>
                    <a:lstStyle/>
                    <a:p>
                      <a:r>
                        <a:rPr sz="2000" b="0">
                          <a:solidFill>
                            <a:srgbClr val="2D2D2D"/>
                          </a:solidFill>
                          <a:latin typeface="Calibri"/>
                        </a:rPr>
                        <a:t>low, 400 lines</a:t>
                      </a:r>
                    </a:p>
                  </a:txBody>
                  <a:tcPr marL="91440" marR="91440" marT="36576" marB="36576" anchor="ctr">
                    <a:solidFill>
                      <a:srgbClr val="F5F1E8"/>
                    </a:solidFill>
                  </a:tcPr>
                </a:tc>
              </a:tr>
            </a:tbl>
          </a:graphicData>
        </a:graphic>
      </p:graphicFrame>
      <p:sp>
        <p:nvSpPr>
          <p:cNvPr id="4" name="NcCard"/>
          <p:cNvSpPr/>
          <p:nvPr/>
        </p:nvSpPr>
        <p:spPr>
          <a:xfrm>
            <a:off x="411480" y="4681728"/>
            <a:ext cx="8321040" cy="950976"/>
          </a:xfrm>
          <a:prstGeom prst="rect">
            <a:avLst/>
          </a:prstGeom>
          <a:solidFill>
            <a:srgbClr val="FCFAF6"/>
          </a:solidFill>
          <a:ln>
            <a:noFill/>
          </a:ln>
          <a:effectLst/>
        </p:spPr>
        <p:txBody>
          <a:bodyPr rtlCol="0" anchor="ctr" wrap="square"/>
          <a:lstStyle/>
          <a:p/>
        </p:txBody>
      </p:sp>
      <p:sp>
        <p:nvSpPr>
          <p:cNvPr id="5" name="NcText"/>
          <p:cNvSpPr/>
          <p:nvPr/>
        </p:nvSpPr>
        <p:spPr>
          <a:xfrm>
            <a:off x="557784" y="4736592"/>
            <a:ext cx="8046720" cy="859536"/>
          </a:xfrm>
          <a:prstGeom prst="rect">
            <a:avLst/>
          </a:prstGeom>
          <a:noFill/>
          <a:ln>
            <a:noFill/>
          </a:ln>
          <a:effectLst/>
        </p:spPr>
        <p:txBody>
          <a:bodyPr rtlCol="0" anchor="t" wrap="square"/>
          <a:lstStyle/>
          <a:p>
            <a:pPr algn="l">
              <a:spcAft>
                <a:spcPts val="0"/>
              </a:spcAft>
            </a:pPr>
            <a:r>
              <a:rPr sz="2000" b="1">
                <a:solidFill>
                  <a:srgbClr val="C01B1B"/>
                </a:solidFill>
                <a:latin typeface="Calibri"/>
              </a:rPr>
              <a:t>Downloads and stars are weak evidence · a CVE record is not evidence of malicious compromise</a:t>
            </a:r>
          </a:p>
          <a:p>
            <a:pPr algn="l">
              <a:spcAft>
                <a:spcPts val="0"/>
              </a:spcAft>
            </a:pPr>
            <a:r>
              <a:rPr sz="2000" b="0">
                <a:solidFill>
                  <a:srgbClr val="555960"/>
                </a:solidFill>
                <a:latin typeface="Calibri"/>
              </a:rPr>
              <a:t>OpenSSF, Concise Guide for Evaluating Open Source Software</a:t>
            </a:r>
          </a:p>
        </p:txBody>
      </p:sp>
      <p:sp>
        <p:nvSpPr>
          <p:cNvPr id="6" name="FooterBand"/>
          <p:cNvSpPr/>
          <p:nvPr/>
        </p:nvSpPr>
        <p:spPr>
          <a:xfrm>
            <a:off x="274320" y="5733288"/>
            <a:ext cx="8595360" cy="621792"/>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FooterBandText"/>
          <p:cNvSpPr/>
          <p:nvPr/>
        </p:nvSpPr>
        <p:spPr>
          <a:xfrm>
            <a:off x="384048" y="5751576"/>
            <a:ext cx="8375904" cy="576072"/>
          </a:xfrm>
          <a:prstGeom prst="rect">
            <a:avLst/>
          </a:prstGeom>
          <a:noFill/>
          <a:ln>
            <a:noFill/>
          </a:ln>
          <a:effectLst/>
        </p:spPr>
        <p:txBody>
          <a:bodyPr rtlCol="0" anchor="ctr" wrap="square"/>
          <a:lstStyle/>
          <a:p>
            <a:pPr algn="ctr">
              <a:spcAft>
                <a:spcPts val="0"/>
              </a:spcAft>
            </a:pPr>
            <a:r>
              <a:rPr sz="2000" b="1">
                <a:solidFill>
                  <a:srgbClr val="FFFFFF"/>
                </a:solidFill>
                <a:latin typeface="Calibri"/>
              </a:rPr>
              <a:t>Which do you adopt for the lab-policy date rules, and what would change your mind?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A license is an engineering constraint you inherited</a:t>
            </a:r>
          </a:p>
        </p:txBody>
      </p:sp>
      <p:sp>
        <p:nvSpPr>
          <p:cNvPr id="3" name="LicCard"/>
          <p:cNvSpPr/>
          <p:nvPr/>
        </p:nvSpPr>
        <p:spPr>
          <a:xfrm>
            <a:off x="411480" y="914400"/>
            <a:ext cx="8321040" cy="987552"/>
          </a:xfrm>
          <a:prstGeom prst="rect">
            <a:avLst/>
          </a:prstGeom>
          <a:solidFill>
            <a:srgbClr val="F5F1E8"/>
          </a:solidFill>
          <a:ln>
            <a:noFill/>
          </a:ln>
          <a:effectLst/>
        </p:spPr>
        <p:txBody>
          <a:bodyPr rtlCol="0" anchor="ctr" wrap="square"/>
          <a:lstStyle/>
          <a:p/>
        </p:txBody>
      </p:sp>
      <p:sp>
        <p:nvSpPr>
          <p:cNvPr id="4" name="LicLabel"/>
          <p:cNvSpPr/>
          <p:nvPr/>
        </p:nvSpPr>
        <p:spPr>
          <a:xfrm>
            <a:off x="557784" y="969264"/>
            <a:ext cx="2468880" cy="877824"/>
          </a:xfrm>
          <a:prstGeom prst="rect">
            <a:avLst/>
          </a:prstGeom>
          <a:noFill/>
          <a:ln>
            <a:noFill/>
          </a:ln>
          <a:effectLst/>
        </p:spPr>
        <p:txBody>
          <a:bodyPr rtlCol="0" anchor="ctr" wrap="square"/>
          <a:lstStyle/>
          <a:p>
            <a:pPr algn="l">
              <a:spcAft>
                <a:spcPts val="0"/>
              </a:spcAft>
            </a:pPr>
            <a:r>
              <a:rPr sz="2000" b="1">
                <a:solidFill>
                  <a:srgbClr val="8E6F3E"/>
                </a:solidFill>
                <a:latin typeface="Calibri"/>
              </a:rPr>
              <a:t>PERMISSIVE</a:t>
            </a:r>
          </a:p>
          <a:p>
            <a:pPr algn="l">
              <a:spcAft>
                <a:spcPts val="0"/>
              </a:spcAft>
            </a:pPr>
            <a:r>
              <a:rPr sz="2000" b="0">
                <a:solidFill>
                  <a:srgbClr val="5C4826"/>
                </a:solidFill>
                <a:latin typeface="Consolas"/>
              </a:rPr>
              <a:t>MIT · Apache-2.0</a:t>
            </a:r>
          </a:p>
        </p:txBody>
      </p:sp>
      <p:sp>
        <p:nvSpPr>
          <p:cNvPr id="5" name="LicBody"/>
          <p:cNvSpPr/>
          <p:nvPr/>
        </p:nvSpPr>
        <p:spPr>
          <a:xfrm>
            <a:off x="3154680" y="969264"/>
            <a:ext cx="5440680" cy="877824"/>
          </a:xfrm>
          <a:prstGeom prst="rect">
            <a:avLst/>
          </a:prstGeom>
          <a:noFill/>
          <a:ln>
            <a:noFill/>
          </a:ln>
          <a:effectLst/>
        </p:spPr>
        <p:txBody>
          <a:bodyPr rtlCol="0" anchor="ctr" wrap="square"/>
          <a:lstStyle/>
          <a:p>
            <a:pPr algn="l">
              <a:spcAft>
                <a:spcPts val="0"/>
              </a:spcAft>
            </a:pPr>
            <a:r>
              <a:rPr sz="2000" b="0">
                <a:solidFill>
                  <a:srgbClr val="555960"/>
                </a:solidFill>
                <a:latin typeface="Calibri"/>
              </a:rPr>
              <a:t>keep notices; Apache-2.0 adds an express patent grant</a:t>
            </a:r>
          </a:p>
        </p:txBody>
      </p:sp>
      <p:sp>
        <p:nvSpPr>
          <p:cNvPr id="6" name="LicCard"/>
          <p:cNvSpPr/>
          <p:nvPr/>
        </p:nvSpPr>
        <p:spPr>
          <a:xfrm>
            <a:off x="411480" y="2011680"/>
            <a:ext cx="8321040" cy="987552"/>
          </a:xfrm>
          <a:prstGeom prst="rect">
            <a:avLst/>
          </a:prstGeom>
          <a:solidFill>
            <a:srgbClr val="FCFAF6"/>
          </a:solidFill>
          <a:ln>
            <a:noFill/>
          </a:ln>
          <a:effectLst/>
        </p:spPr>
        <p:txBody>
          <a:bodyPr rtlCol="0" anchor="ctr" wrap="square"/>
          <a:lstStyle/>
          <a:p/>
        </p:txBody>
      </p:sp>
      <p:sp>
        <p:nvSpPr>
          <p:cNvPr id="7" name="LicLabel"/>
          <p:cNvSpPr/>
          <p:nvPr/>
        </p:nvSpPr>
        <p:spPr>
          <a:xfrm>
            <a:off x="557784" y="2066544"/>
            <a:ext cx="2468880" cy="877824"/>
          </a:xfrm>
          <a:prstGeom prst="rect">
            <a:avLst/>
          </a:prstGeom>
          <a:noFill/>
          <a:ln>
            <a:noFill/>
          </a:ln>
          <a:effectLst/>
        </p:spPr>
        <p:txBody>
          <a:bodyPr rtlCol="0" anchor="ctr" wrap="square"/>
          <a:lstStyle/>
          <a:p>
            <a:pPr algn="l">
              <a:spcAft>
                <a:spcPts val="0"/>
              </a:spcAft>
            </a:pPr>
            <a:r>
              <a:rPr sz="2000" b="1">
                <a:solidFill>
                  <a:srgbClr val="8E6F3E"/>
                </a:solidFill>
                <a:latin typeface="Calibri"/>
              </a:rPr>
              <a:t>WEAK COPYLEFT</a:t>
            </a:r>
          </a:p>
          <a:p>
            <a:pPr algn="l">
              <a:spcAft>
                <a:spcPts val="0"/>
              </a:spcAft>
            </a:pPr>
            <a:r>
              <a:rPr sz="2000" b="0">
                <a:solidFill>
                  <a:srgbClr val="5C4826"/>
                </a:solidFill>
                <a:latin typeface="Consolas"/>
              </a:rPr>
              <a:t>LGPL-3.0 · MPL-2.0</a:t>
            </a:r>
          </a:p>
        </p:txBody>
      </p:sp>
      <p:sp>
        <p:nvSpPr>
          <p:cNvPr id="8" name="LicBody"/>
          <p:cNvSpPr/>
          <p:nvPr/>
        </p:nvSpPr>
        <p:spPr>
          <a:xfrm>
            <a:off x="3154680" y="2066544"/>
            <a:ext cx="5440680" cy="877824"/>
          </a:xfrm>
          <a:prstGeom prst="rect">
            <a:avLst/>
          </a:prstGeom>
          <a:noFill/>
          <a:ln>
            <a:noFill/>
          </a:ln>
          <a:effectLst/>
        </p:spPr>
        <p:txBody>
          <a:bodyPr rtlCol="0" anchor="ctr" wrap="square"/>
          <a:lstStyle/>
          <a:p>
            <a:pPr algn="l">
              <a:spcAft>
                <a:spcPts val="0"/>
              </a:spcAft>
            </a:pPr>
            <a:r>
              <a:rPr sz="2000" b="0">
                <a:solidFill>
                  <a:srgbClr val="555960"/>
                </a:solidFill>
                <a:latin typeface="Calibri"/>
              </a:rPr>
              <a:t>changes to the library itself must be shared; obligations hinge on how you link and modify</a:t>
            </a:r>
          </a:p>
        </p:txBody>
      </p:sp>
      <p:sp>
        <p:nvSpPr>
          <p:cNvPr id="9" name="LicCard"/>
          <p:cNvSpPr/>
          <p:nvPr/>
        </p:nvSpPr>
        <p:spPr>
          <a:xfrm>
            <a:off x="411480" y="3108960"/>
            <a:ext cx="8321040" cy="987552"/>
          </a:xfrm>
          <a:prstGeom prst="rect">
            <a:avLst/>
          </a:prstGeom>
          <a:solidFill>
            <a:srgbClr val="F5F1E8"/>
          </a:solidFill>
          <a:ln>
            <a:noFill/>
          </a:ln>
          <a:effectLst/>
        </p:spPr>
        <p:txBody>
          <a:bodyPr rtlCol="0" anchor="ctr" wrap="square"/>
          <a:lstStyle/>
          <a:p/>
        </p:txBody>
      </p:sp>
      <p:sp>
        <p:nvSpPr>
          <p:cNvPr id="10" name="LicLabel"/>
          <p:cNvSpPr/>
          <p:nvPr/>
        </p:nvSpPr>
        <p:spPr>
          <a:xfrm>
            <a:off x="557784" y="3163824"/>
            <a:ext cx="2468880" cy="877824"/>
          </a:xfrm>
          <a:prstGeom prst="rect">
            <a:avLst/>
          </a:prstGeom>
          <a:noFill/>
          <a:ln>
            <a:noFill/>
          </a:ln>
          <a:effectLst/>
        </p:spPr>
        <p:txBody>
          <a:bodyPr rtlCol="0" anchor="ctr" wrap="square"/>
          <a:lstStyle/>
          <a:p>
            <a:pPr algn="l">
              <a:spcAft>
                <a:spcPts val="0"/>
              </a:spcAft>
            </a:pPr>
            <a:r>
              <a:rPr sz="2000" b="1">
                <a:solidFill>
                  <a:srgbClr val="8E6F3E"/>
                </a:solidFill>
                <a:latin typeface="Calibri"/>
              </a:rPr>
              <a:t>STRONG COPYLEFT</a:t>
            </a:r>
          </a:p>
          <a:p>
            <a:pPr algn="l">
              <a:spcAft>
                <a:spcPts val="0"/>
              </a:spcAft>
            </a:pPr>
            <a:r>
              <a:rPr sz="2000" b="0">
                <a:solidFill>
                  <a:srgbClr val="5C4826"/>
                </a:solidFill>
                <a:latin typeface="Consolas"/>
              </a:rPr>
              <a:t>GPL-3.0 · AGPL-3.0</a:t>
            </a:r>
          </a:p>
        </p:txBody>
      </p:sp>
      <p:sp>
        <p:nvSpPr>
          <p:cNvPr id="11" name="LicBody"/>
          <p:cNvSpPr/>
          <p:nvPr/>
        </p:nvSpPr>
        <p:spPr>
          <a:xfrm>
            <a:off x="3154680" y="3163824"/>
            <a:ext cx="5440680" cy="877824"/>
          </a:xfrm>
          <a:prstGeom prst="rect">
            <a:avLst/>
          </a:prstGeom>
          <a:noFill/>
          <a:ln>
            <a:noFill/>
          </a:ln>
          <a:effectLst/>
        </p:spPr>
        <p:txBody>
          <a:bodyPr rtlCol="0" anchor="ctr" wrap="square"/>
          <a:lstStyle/>
          <a:p>
            <a:pPr algn="l">
              <a:spcAft>
                <a:spcPts val="0"/>
              </a:spcAft>
            </a:pPr>
            <a:r>
              <a:rPr sz="2000" b="0">
                <a:solidFill>
                  <a:srgbClr val="555960"/>
                </a:solidFill>
                <a:latin typeface="Calibri"/>
              </a:rPr>
              <a:t>distributing a derived work requires source under the same license; AGPL extends the duty to network service</a:t>
            </a:r>
          </a:p>
        </p:txBody>
      </p:sp>
      <p:sp>
        <p:nvSpPr>
          <p:cNvPr id="12" name="ScenCard"/>
          <p:cNvSpPr/>
          <p:nvPr/>
        </p:nvSpPr>
        <p:spPr>
          <a:xfrm>
            <a:off x="411480" y="4187952"/>
            <a:ext cx="8321040" cy="896112"/>
          </a:xfrm>
          <a:prstGeom prst="rect">
            <a:avLst/>
          </a:prstGeom>
          <a:solidFill>
            <a:srgbClr val="F5F1E8"/>
          </a:solidFill>
          <a:ln>
            <a:noFill/>
          </a:ln>
          <a:effectLst/>
        </p:spPr>
        <p:txBody>
          <a:bodyPr rtlCol="0" anchor="ctr" wrap="square"/>
          <a:lstStyle/>
          <a:p/>
        </p:txBody>
      </p:sp>
      <p:sp>
        <p:nvSpPr>
          <p:cNvPr id="13" name="ScenText"/>
          <p:cNvSpPr/>
          <p:nvPr/>
        </p:nvSpPr>
        <p:spPr>
          <a:xfrm>
            <a:off x="557784" y="4242816"/>
            <a:ext cx="8046720" cy="804672"/>
          </a:xfrm>
          <a:prstGeom prst="rect">
            <a:avLst/>
          </a:prstGeom>
          <a:noFill/>
          <a:ln>
            <a:noFill/>
          </a:ln>
          <a:effectLst/>
        </p:spPr>
        <p:txBody>
          <a:bodyPr rtlCol="0" anchor="t" wrap="square"/>
          <a:lstStyle/>
          <a:p>
            <a:pPr algn="l">
              <a:spcAft>
                <a:spcPts val="0"/>
              </a:spcAft>
            </a:pPr>
            <a:r>
              <a:rPr sz="2000" b="1">
                <a:solidFill>
                  <a:srgbClr val="2D2D2D"/>
                </a:solidFill>
                <a:latin typeface="Calibri"/>
              </a:rPr>
              <a:t>Hypothetical: ship the server to another university, or run it as a hosted service?</a:t>
            </a:r>
          </a:p>
          <a:p>
            <a:pPr algn="l">
              <a:spcAft>
                <a:spcPts val="0"/>
              </a:spcAft>
            </a:pPr>
            <a:r>
              <a:rPr sz="2000" b="0">
                <a:solidFill>
                  <a:srgbClr val="555960"/>
                </a:solidFill>
                <a:latin typeface="Calibri"/>
              </a:rPr>
              <a:t>Distribution and network use trigger different obligations</a:t>
            </a:r>
          </a:p>
        </p:txBody>
      </p:sp>
      <p:sp>
        <p:nvSpPr>
          <p:cNvPr id="14" name="NcCard"/>
          <p:cNvSpPr/>
          <p:nvPr/>
        </p:nvSpPr>
        <p:spPr>
          <a:xfrm>
            <a:off x="411480" y="5175504"/>
            <a:ext cx="8321040" cy="1133856"/>
          </a:xfrm>
          <a:prstGeom prst="rect">
            <a:avLst/>
          </a:prstGeom>
          <a:solidFill>
            <a:srgbClr val="FCFAF6"/>
          </a:solidFill>
          <a:ln>
            <a:noFill/>
          </a:ln>
          <a:effectLst/>
        </p:spPr>
        <p:txBody>
          <a:bodyPr rtlCol="0" anchor="ctr" wrap="square"/>
          <a:lstStyle/>
          <a:p/>
        </p:txBody>
      </p:sp>
      <p:sp>
        <p:nvSpPr>
          <p:cNvPr id="15" name="NcText"/>
          <p:cNvSpPr/>
          <p:nvPr/>
        </p:nvSpPr>
        <p:spPr>
          <a:xfrm>
            <a:off x="557784" y="5230368"/>
            <a:ext cx="8046720" cy="1042416"/>
          </a:xfrm>
          <a:prstGeom prst="rect">
            <a:avLst/>
          </a:prstGeom>
          <a:noFill/>
          <a:ln>
            <a:noFill/>
          </a:ln>
          <a:effectLst/>
        </p:spPr>
        <p:txBody>
          <a:bodyPr rtlCol="0" anchor="t" wrap="square"/>
          <a:lstStyle/>
          <a:p>
            <a:pPr algn="l">
              <a:spcAft>
                <a:spcPts val="0"/>
              </a:spcAft>
            </a:pPr>
            <a:r>
              <a:rPr sz="2000" b="1">
                <a:solidFill>
                  <a:srgbClr val="C01B1B"/>
                </a:solidFill>
                <a:latin typeface="Calibri"/>
              </a:rPr>
              <a:t>GPL does not forbid commercial use · copyleft does not automatically open your whole product</a:t>
            </a:r>
          </a:p>
          <a:p>
            <a:pPr algn="l">
              <a:spcAft>
                <a:spcPts val="0"/>
              </a:spcAft>
            </a:pPr>
            <a:r>
              <a:rPr sz="2000" b="0">
                <a:solidFill>
                  <a:srgbClr val="555960"/>
                </a:solidFill>
                <a:latin typeface="Calibri"/>
              </a:rPr>
              <a:t>Obligations turn on the precise license, linkage, modification, distribution, and network use. Orientation, not legal advice.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Provenance asks how the artifact reached you</a:t>
            </a:r>
          </a:p>
        </p:txBody>
      </p:sp>
      <p:sp>
        <p:nvSpPr>
          <p:cNvPr id="3" name="QCard"/>
          <p:cNvSpPr/>
          <p:nvPr/>
        </p:nvSpPr>
        <p:spPr>
          <a:xfrm>
            <a:off x="411480" y="914400"/>
            <a:ext cx="3017520" cy="3246120"/>
          </a:xfrm>
          <a:prstGeom prst="rect">
            <a:avLst/>
          </a:prstGeom>
          <a:solidFill>
            <a:srgbClr val="F5F1E8"/>
          </a:solidFill>
          <a:ln>
            <a:noFill/>
          </a:ln>
          <a:effectLst/>
        </p:spPr>
        <p:txBody>
          <a:bodyPr rtlCol="0" anchor="ctr" wrap="square"/>
          <a:lstStyle/>
          <a:p/>
        </p:txBody>
      </p:sp>
      <p:sp>
        <p:nvSpPr>
          <p:cNvPr id="4" name="QText"/>
          <p:cNvSpPr/>
          <p:nvPr/>
        </p:nvSpPr>
        <p:spPr>
          <a:xfrm>
            <a:off x="557784" y="1005840"/>
            <a:ext cx="2743200" cy="3063240"/>
          </a:xfrm>
          <a:prstGeom prst="rect">
            <a:avLst/>
          </a:prstGeom>
          <a:noFill/>
          <a:ln>
            <a:noFill/>
          </a:ln>
          <a:effectLst/>
        </p:spPr>
        <p:txBody>
          <a:bodyPr rtlCol="0" anchor="t" wrap="square"/>
          <a:lstStyle/>
          <a:p>
            <a:pPr algn="l">
              <a:spcAft>
                <a:spcPts val="0"/>
              </a:spcAft>
            </a:pPr>
            <a:r>
              <a:rPr sz="2000" b="1">
                <a:solidFill>
                  <a:srgbClr val="8E6F3E"/>
                </a:solidFill>
                <a:latin typeface="Calibri"/>
              </a:rPr>
              <a:t>TWO QUESTIONS</a:t>
            </a:r>
          </a:p>
          <a:p>
            <a:pPr algn="l">
              <a:spcAft>
                <a:spcPts val="0"/>
              </a:spcAft>
            </a:pPr>
            <a:r>
              <a:rPr sz="2000" b="1">
                <a:solidFill>
                  <a:srgbClr val="2D2D2D"/>
                </a:solidFill>
                <a:latin typeface="Calibri"/>
              </a:rPr>
              <a:t>WHAT is this component?</a:t>
            </a:r>
          </a:p>
          <a:p>
            <a:pPr algn="l">
              <a:spcAft>
                <a:spcPts val="0"/>
              </a:spcAft>
            </a:pPr>
            <a:r>
              <a:rPr sz="2000" b="0">
                <a:solidFill>
                  <a:srgbClr val="555960"/>
                </a:solidFill>
                <a:latin typeface="Calibri"/>
              </a:rPr>
              <a:t>the SBOM answers this</a:t>
            </a:r>
          </a:p>
          <a:p>
            <a:pPr algn="l">
              <a:spcAft>
                <a:spcPts val="0"/>
              </a:spcAft>
            </a:pPr>
            <a:r>
              <a:rPr sz="2000" b="1">
                <a:solidFill>
                  <a:srgbClr val="2D2D2D"/>
                </a:solidFill>
                <a:latin typeface="Calibri"/>
              </a:rPr>
              <a:t>WHERE did this artifact come from, and HOW was it built?</a:t>
            </a:r>
          </a:p>
          <a:p>
            <a:pPr algn="l">
              <a:spcAft>
                <a:spcPts val="0"/>
              </a:spcAft>
            </a:pPr>
            <a:r>
              <a:rPr sz="2000" b="0">
                <a:solidFill>
                  <a:srgbClr val="555960"/>
                </a:solidFill>
                <a:latin typeface="Calibri"/>
              </a:rPr>
              <a:t>provenance answers this</a:t>
            </a:r>
          </a:p>
        </p:txBody>
      </p:sp>
      <p:graphicFrame>
        <p:nvGraphicFramePr>
          <p:cNvPr id="5" name="ProvTable" descr="Provenance mechanisms and the distinct risk each addresses: pinning, hashes, signatures, build attestations, trusted registries"/>
          <p:cNvGraphicFramePr/>
          <p:nvPr/>
        </p:nvGraphicFramePr>
        <p:xfrm>
          <a:off x="3657600" y="914400"/>
          <a:ext cx="5074920" cy="3236976"/>
        </p:xfrm>
        <a:graphic>
          <a:graphicData uri="http://schemas.openxmlformats.org/drawingml/2006/table">
            <a:tbl>
              <a:tblPr firstRow="0" bandRow="0">
                <a:tableStyleId>{5C22544A-7EE6-4342-B048-85BDC9FD1C3A}</a:tableStyleId>
              </a:tblPr>
              <a:tblGrid>
                <a:gridCol w="2240280"/>
                <a:gridCol w="2834640"/>
              </a:tblGrid>
              <a:tr h="539496">
                <a:tc>
                  <a:txBody>
                    <a:bodyPr wrap="square"/>
                    <a:lstStyle/>
                    <a:p>
                      <a:r>
                        <a:rPr sz="2000" b="1">
                          <a:solidFill>
                            <a:srgbClr val="FFFFFF"/>
                          </a:solidFill>
                          <a:latin typeface="Calibri"/>
                        </a:rPr>
                        <a:t>mechanism</a:t>
                      </a:r>
                    </a:p>
                  </a:txBody>
                  <a:tcPr marL="91440" marR="91440" marT="36576" marB="36576" anchor="ctr">
                    <a:solidFill>
                      <a:srgbClr val="8E6F3E"/>
                    </a:solidFill>
                  </a:tcPr>
                </a:tc>
                <a:tc>
                  <a:txBody>
                    <a:bodyPr wrap="square"/>
                    <a:lstStyle/>
                    <a:p>
                      <a:r>
                        <a:rPr sz="2000" b="1">
                          <a:solidFill>
                            <a:srgbClr val="FFFFFF"/>
                          </a:solidFill>
                          <a:latin typeface="Calibri"/>
                        </a:rPr>
                        <a:t>risk it addresses</a:t>
                      </a:r>
                    </a:p>
                  </a:txBody>
                  <a:tcPr marL="91440" marR="91440" marT="36576" marB="36576" anchor="ctr">
                    <a:solidFill>
                      <a:srgbClr val="8E6F3E"/>
                    </a:solidFill>
                  </a:tcPr>
                </a:tc>
              </a:tr>
              <a:tr h="539496">
                <a:tc>
                  <a:txBody>
                    <a:bodyPr wrap="square"/>
                    <a:lstStyle/>
                    <a:p>
                      <a:r>
                        <a:rPr sz="2000" b="1">
                          <a:solidFill>
                            <a:srgbClr val="8E6F3E"/>
                          </a:solidFill>
                          <a:latin typeface="Calibri"/>
                        </a:rPr>
                        <a:t>pinned version</a:t>
                      </a:r>
                    </a:p>
                  </a:txBody>
                  <a:tcPr marL="91440" marR="91440" marT="36576" marB="36576" anchor="ctr">
                    <a:solidFill>
                      <a:srgbClr val="F5F1E8"/>
                    </a:solidFill>
                  </a:tcPr>
                </a:tc>
                <a:tc>
                  <a:txBody>
                    <a:bodyPr wrap="square"/>
                    <a:lstStyle/>
                    <a:p>
                      <a:r>
                        <a:rPr sz="2000" b="0">
                          <a:solidFill>
                            <a:srgbClr val="2D2D2D"/>
                          </a:solidFill>
                          <a:latin typeface="Calibri"/>
                        </a:rPr>
                        <a:t>surprise updates</a:t>
                      </a:r>
                    </a:p>
                  </a:txBody>
                  <a:tcPr marL="91440" marR="91440" marT="36576" marB="36576" anchor="ctr">
                    <a:solidFill>
                      <a:srgbClr val="F5F1E8"/>
                    </a:solidFill>
                  </a:tcPr>
                </a:tc>
              </a:tr>
              <a:tr h="539496">
                <a:tc>
                  <a:txBody>
                    <a:bodyPr wrap="square"/>
                    <a:lstStyle/>
                    <a:p>
                      <a:r>
                        <a:rPr sz="2000" b="1">
                          <a:solidFill>
                            <a:srgbClr val="8E6F3E"/>
                          </a:solidFill>
                          <a:latin typeface="Calibri"/>
                        </a:rPr>
                        <a:t>hash check</a:t>
                      </a:r>
                    </a:p>
                  </a:txBody>
                  <a:tcPr marL="91440" marR="91440" marT="36576" marB="36576" anchor="ctr">
                    <a:solidFill>
                      <a:srgbClr val="FCFAF6"/>
                    </a:solidFill>
                  </a:tcPr>
                </a:tc>
                <a:tc>
                  <a:txBody>
                    <a:bodyPr wrap="square"/>
                    <a:lstStyle/>
                    <a:p>
                      <a:r>
                        <a:rPr sz="2000" b="0">
                          <a:solidFill>
                            <a:srgbClr val="2D2D2D"/>
                          </a:solidFill>
                          <a:latin typeface="Calibri"/>
                        </a:rPr>
                        <a:t>tampering in transit</a:t>
                      </a:r>
                    </a:p>
                  </a:txBody>
                  <a:tcPr marL="91440" marR="91440" marT="36576" marB="36576" anchor="ctr">
                    <a:solidFill>
                      <a:srgbClr val="FCFAF6"/>
                    </a:solidFill>
                  </a:tcPr>
                </a:tc>
              </a:tr>
              <a:tr h="539496">
                <a:tc>
                  <a:txBody>
                    <a:bodyPr wrap="square"/>
                    <a:lstStyle/>
                    <a:p>
                      <a:r>
                        <a:rPr sz="2000" b="1">
                          <a:solidFill>
                            <a:srgbClr val="8E6F3E"/>
                          </a:solidFill>
                          <a:latin typeface="Calibri"/>
                        </a:rPr>
                        <a:t>signature</a:t>
                      </a:r>
                    </a:p>
                  </a:txBody>
                  <a:tcPr marL="91440" marR="91440" marT="36576" marB="36576" anchor="ctr">
                    <a:solidFill>
                      <a:srgbClr val="F5F1E8"/>
                    </a:solidFill>
                  </a:tcPr>
                </a:tc>
                <a:tc>
                  <a:txBody>
                    <a:bodyPr wrap="square"/>
                    <a:lstStyle/>
                    <a:p>
                      <a:r>
                        <a:rPr sz="2000" b="0">
                          <a:solidFill>
                            <a:srgbClr val="2D2D2D"/>
                          </a:solidFill>
                          <a:latin typeface="Calibri"/>
                        </a:rPr>
                        <a:t>substitution by a stranger</a:t>
                      </a:r>
                    </a:p>
                  </a:txBody>
                  <a:tcPr marL="91440" marR="91440" marT="36576" marB="36576" anchor="ctr">
                    <a:solidFill>
                      <a:srgbClr val="F5F1E8"/>
                    </a:solidFill>
                  </a:tcPr>
                </a:tc>
              </a:tr>
              <a:tr h="539496">
                <a:tc>
                  <a:txBody>
                    <a:bodyPr wrap="square"/>
                    <a:lstStyle/>
                    <a:p>
                      <a:r>
                        <a:rPr sz="2000" b="1">
                          <a:solidFill>
                            <a:srgbClr val="8E6F3E"/>
                          </a:solidFill>
                          <a:latin typeface="Calibri"/>
                        </a:rPr>
                        <a:t>build attestation</a:t>
                      </a:r>
                    </a:p>
                  </a:txBody>
                  <a:tcPr marL="91440" marR="91440" marT="36576" marB="36576" anchor="ctr">
                    <a:solidFill>
                      <a:srgbClr val="FCFAF6"/>
                    </a:solidFill>
                  </a:tcPr>
                </a:tc>
                <a:tc>
                  <a:txBody>
                    <a:bodyPr wrap="square"/>
                    <a:lstStyle/>
                    <a:p>
                      <a:r>
                        <a:rPr sz="2000" b="0">
                          <a:solidFill>
                            <a:srgbClr val="2D2D2D"/>
                          </a:solidFill>
                          <a:latin typeface="Calibri"/>
                        </a:rPr>
                        <a:t>a tampered pipeline</a:t>
                      </a:r>
                    </a:p>
                  </a:txBody>
                  <a:tcPr marL="91440" marR="91440" marT="36576" marB="36576" anchor="ctr">
                    <a:solidFill>
                      <a:srgbClr val="FCFAF6"/>
                    </a:solidFill>
                  </a:tcPr>
                </a:tc>
              </a:tr>
              <a:tr h="539496">
                <a:tc>
                  <a:txBody>
                    <a:bodyPr wrap="square"/>
                    <a:lstStyle/>
                    <a:p>
                      <a:r>
                        <a:rPr sz="2000" b="1">
                          <a:solidFill>
                            <a:srgbClr val="8E6F3E"/>
                          </a:solidFill>
                          <a:latin typeface="Calibri"/>
                        </a:rPr>
                        <a:t>trusted registry</a:t>
                      </a:r>
                    </a:p>
                  </a:txBody>
                  <a:tcPr marL="91440" marR="91440" marT="36576" marB="36576" anchor="ctr">
                    <a:solidFill>
                      <a:srgbClr val="F5F1E8"/>
                    </a:solidFill>
                  </a:tcPr>
                </a:tc>
                <a:tc>
                  <a:txBody>
                    <a:bodyPr wrap="square"/>
                    <a:lstStyle/>
                    <a:p>
                      <a:r>
                        <a:rPr sz="2000" b="0">
                          <a:solidFill>
                            <a:srgbClr val="2D2D2D"/>
                          </a:solidFill>
                          <a:latin typeface="Calibri"/>
                        </a:rPr>
                        <a:t>registry compromise</a:t>
                      </a:r>
                    </a:p>
                  </a:txBody>
                  <a:tcPr marL="91440" marR="91440" marT="36576" marB="36576" anchor="ctr">
                    <a:solidFill>
                      <a:srgbClr val="F5F1E8"/>
                    </a:solidFill>
                  </a:tcPr>
                </a:tc>
              </a:tr>
            </a:tbl>
          </a:graphicData>
        </a:graphic>
      </p:graphicFrame>
      <p:sp>
        <p:nvSpPr>
          <p:cNvPr id="6" name="NcCard"/>
          <p:cNvSpPr/>
          <p:nvPr/>
        </p:nvSpPr>
        <p:spPr>
          <a:xfrm>
            <a:off x="411480" y="4389120"/>
            <a:ext cx="8321040" cy="822960"/>
          </a:xfrm>
          <a:prstGeom prst="rect">
            <a:avLst/>
          </a:prstGeom>
          <a:solidFill>
            <a:srgbClr val="FCFAF6"/>
          </a:solidFill>
          <a:ln>
            <a:noFill/>
          </a:ln>
          <a:effectLst/>
        </p:spPr>
        <p:txBody>
          <a:bodyPr rtlCol="0" anchor="ctr" wrap="square"/>
          <a:lstStyle/>
          <a:p/>
        </p:txBody>
      </p:sp>
      <p:sp>
        <p:nvSpPr>
          <p:cNvPr id="7" name="NcText"/>
          <p:cNvSpPr/>
          <p:nvPr/>
        </p:nvSpPr>
        <p:spPr>
          <a:xfrm>
            <a:off x="557784" y="4443984"/>
            <a:ext cx="8046720" cy="731520"/>
          </a:xfrm>
          <a:prstGeom prst="rect">
            <a:avLst/>
          </a:prstGeom>
          <a:noFill/>
          <a:ln>
            <a:noFill/>
          </a:ln>
          <a:effectLst/>
        </p:spPr>
        <p:txBody>
          <a:bodyPr rtlCol="0" anchor="t" wrap="square"/>
          <a:lstStyle/>
          <a:p>
            <a:pPr algn="l">
              <a:spcAft>
                <a:spcPts val="0"/>
              </a:spcAft>
            </a:pPr>
            <a:r>
              <a:rPr sz="2000" b="1">
                <a:solidFill>
                  <a:srgbClr val="C01B1B"/>
                </a:solidFill>
                <a:latin typeface="Calibri"/>
              </a:rPr>
              <a:t>No mechanism here establishes absence of malicious code</a:t>
            </a:r>
          </a:p>
          <a:p>
            <a:pPr algn="l">
              <a:spcAft>
                <a:spcPts val="0"/>
              </a:spcAft>
            </a:pPr>
            <a:r>
              <a:rPr sz="2000" b="0">
                <a:solidFill>
                  <a:srgbClr val="555960"/>
                </a:solidFill>
                <a:latin typeface="Calibri"/>
              </a:rPr>
              <a:t>Each bounds a different substitution or tampering risk; together they narrow, never close, the gap.</a:t>
            </a:r>
          </a:p>
        </p:txBody>
      </p:sp>
      <p:sp>
        <p:nvSpPr>
          <p:cNvPr id="8"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Version says what; provenance says where from and how built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A vulnerable transitive dependency forces a decision</a:t>
            </a:r>
          </a:p>
        </p:txBody>
      </p:sp>
      <p:sp>
        <p:nvSpPr>
          <p:cNvPr id="3" name="ScenCard"/>
          <p:cNvSpPr/>
          <p:nvPr/>
        </p:nvSpPr>
        <p:spPr>
          <a:xfrm>
            <a:off x="411480" y="868680"/>
            <a:ext cx="8321040" cy="640080"/>
          </a:xfrm>
          <a:prstGeom prst="rect">
            <a:avLst/>
          </a:prstGeom>
          <a:solidFill>
            <a:srgbClr val="F5F1E8"/>
          </a:solidFill>
          <a:ln>
            <a:noFill/>
          </a:ln>
          <a:effectLst/>
        </p:spPr>
        <p:txBody>
          <a:bodyPr rtlCol="0" anchor="ctr" wrap="square"/>
          <a:lstStyle/>
          <a:p/>
        </p:txBody>
      </p:sp>
      <p:sp>
        <p:nvSpPr>
          <p:cNvPr id="4" name="ScenText"/>
          <p:cNvSpPr/>
          <p:nvPr/>
        </p:nvSpPr>
        <p:spPr>
          <a:xfrm>
            <a:off x="557784" y="914400"/>
            <a:ext cx="8046720" cy="548640"/>
          </a:xfrm>
          <a:prstGeom prst="rect">
            <a:avLst/>
          </a:prstGeom>
          <a:noFill/>
          <a:ln>
            <a:noFill/>
          </a:ln>
          <a:effectLst/>
        </p:spPr>
        <p:txBody>
          <a:bodyPr rtlCol="0" anchor="ctr" wrap="square"/>
          <a:lstStyle/>
          <a:p>
            <a:pPr algn="ctr">
              <a:spcAft>
                <a:spcPts val="0"/>
              </a:spcAft>
            </a:pPr>
            <a:r>
              <a:rPr sz="2000" b="1">
                <a:solidFill>
                  <a:srgbClr val="2D2D2D"/>
                </a:solidFill>
                <a:latin typeface="Calibri"/>
              </a:rPr>
              <a:t>The HTTP parser, two levels down, has a critical CVE; upstream is unmaintained</a:t>
            </a:r>
          </a:p>
        </p:txBody>
      </p:sp>
      <p:sp>
        <p:nvSpPr>
          <p:cNvPr id="5" name="OptCard"/>
          <p:cNvSpPr/>
          <p:nvPr/>
        </p:nvSpPr>
        <p:spPr>
          <a:xfrm>
            <a:off x="411480" y="1645920"/>
            <a:ext cx="8321040" cy="640080"/>
          </a:xfrm>
          <a:prstGeom prst="rect">
            <a:avLst/>
          </a:prstGeom>
          <a:solidFill>
            <a:srgbClr val="FCFAF6"/>
          </a:solidFill>
          <a:ln>
            <a:noFill/>
          </a:ln>
          <a:effectLst/>
        </p:spPr>
        <p:txBody>
          <a:bodyPr rtlCol="0" anchor="ctr" wrap="square"/>
          <a:lstStyle/>
          <a:p/>
        </p:txBody>
      </p:sp>
      <p:sp>
        <p:nvSpPr>
          <p:cNvPr id="6" name="OptLabel"/>
          <p:cNvSpPr/>
          <p:nvPr/>
        </p:nvSpPr>
        <p:spPr>
          <a:xfrm>
            <a:off x="557784" y="1682496"/>
            <a:ext cx="2331720" cy="566928"/>
          </a:xfrm>
          <a:prstGeom prst="rect">
            <a:avLst/>
          </a:prstGeom>
          <a:noFill/>
          <a:ln>
            <a:noFill/>
          </a:ln>
          <a:effectLst/>
        </p:spPr>
        <p:txBody>
          <a:bodyPr rtlCol="0" anchor="ctr" wrap="square"/>
          <a:lstStyle/>
          <a:p>
            <a:pPr algn="l">
              <a:spcAft>
                <a:spcPts val="0"/>
              </a:spcAft>
            </a:pPr>
            <a:r>
              <a:rPr sz="2000" b="1">
                <a:solidFill>
                  <a:srgbClr val="8E6F3E"/>
                </a:solidFill>
                <a:latin typeface="Calibri"/>
              </a:rPr>
              <a:t>UPGRADE</a:t>
            </a:r>
          </a:p>
        </p:txBody>
      </p:sp>
      <p:sp>
        <p:nvSpPr>
          <p:cNvPr id="7" name="OptBody"/>
          <p:cNvSpPr/>
          <p:nvPr/>
        </p:nvSpPr>
        <p:spPr>
          <a:xfrm>
            <a:off x="3017520" y="1682496"/>
            <a:ext cx="5577840" cy="566928"/>
          </a:xfrm>
          <a:prstGeom prst="rect">
            <a:avLst/>
          </a:prstGeom>
          <a:noFill/>
          <a:ln>
            <a:noFill/>
          </a:ln>
          <a:effectLst/>
        </p:spPr>
        <p:txBody>
          <a:bodyPr rtlCol="0" anchor="ctr" wrap="square"/>
          <a:lstStyle/>
          <a:p>
            <a:pPr algn="l">
              <a:spcAft>
                <a:spcPts val="0"/>
              </a:spcAft>
            </a:pPr>
            <a:r>
              <a:rPr sz="2000" b="0">
                <a:solidFill>
                  <a:srgbClr val="555960"/>
                </a:solidFill>
                <a:latin typeface="Calibri"/>
              </a:rPr>
              <a:t>a patched fork or major version exists; pay the compatibility testing</a:t>
            </a:r>
          </a:p>
        </p:txBody>
      </p:sp>
      <p:sp>
        <p:nvSpPr>
          <p:cNvPr id="8" name="OptCard"/>
          <p:cNvSpPr/>
          <p:nvPr/>
        </p:nvSpPr>
        <p:spPr>
          <a:xfrm>
            <a:off x="411480" y="2395728"/>
            <a:ext cx="8321040" cy="640080"/>
          </a:xfrm>
          <a:prstGeom prst="rect">
            <a:avLst/>
          </a:prstGeom>
          <a:solidFill>
            <a:srgbClr val="F5F1E8"/>
          </a:solidFill>
          <a:ln>
            <a:noFill/>
          </a:ln>
          <a:effectLst/>
        </p:spPr>
        <p:txBody>
          <a:bodyPr rtlCol="0" anchor="ctr" wrap="square"/>
          <a:lstStyle/>
          <a:p/>
        </p:txBody>
      </p:sp>
      <p:sp>
        <p:nvSpPr>
          <p:cNvPr id="9" name="OptLabel"/>
          <p:cNvSpPr/>
          <p:nvPr/>
        </p:nvSpPr>
        <p:spPr>
          <a:xfrm>
            <a:off x="557784" y="2432304"/>
            <a:ext cx="2331720" cy="566928"/>
          </a:xfrm>
          <a:prstGeom prst="rect">
            <a:avLst/>
          </a:prstGeom>
          <a:noFill/>
          <a:ln>
            <a:noFill/>
          </a:ln>
          <a:effectLst/>
        </p:spPr>
        <p:txBody>
          <a:bodyPr rtlCol="0" anchor="ctr" wrap="square"/>
          <a:lstStyle/>
          <a:p>
            <a:pPr algn="l">
              <a:spcAft>
                <a:spcPts val="0"/>
              </a:spcAft>
            </a:pPr>
            <a:r>
              <a:rPr sz="2000" b="1">
                <a:solidFill>
                  <a:srgbClr val="8E6F3E"/>
                </a:solidFill>
                <a:latin typeface="Calibri"/>
              </a:rPr>
              <a:t>PIN + MITIGATE</a:t>
            </a:r>
          </a:p>
        </p:txBody>
      </p:sp>
      <p:sp>
        <p:nvSpPr>
          <p:cNvPr id="10" name="OptBody"/>
          <p:cNvSpPr/>
          <p:nvPr/>
        </p:nvSpPr>
        <p:spPr>
          <a:xfrm>
            <a:off x="3017520" y="2432304"/>
            <a:ext cx="5577840" cy="566928"/>
          </a:xfrm>
          <a:prstGeom prst="rect">
            <a:avLst/>
          </a:prstGeom>
          <a:noFill/>
          <a:ln>
            <a:noFill/>
          </a:ln>
          <a:effectLst/>
        </p:spPr>
        <p:txBody>
          <a:bodyPr rtlCol="0" anchor="ctr" wrap="square"/>
          <a:lstStyle/>
          <a:p>
            <a:pPr algn="l">
              <a:spcAft>
                <a:spcPts val="0"/>
              </a:spcAft>
            </a:pPr>
            <a:r>
              <a:rPr sz="2000" b="0">
                <a:solidFill>
                  <a:srgbClr val="555960"/>
                </a:solidFill>
                <a:latin typeface="Calibri"/>
              </a:rPr>
              <a:t>temporary; document the exposure window and the compensating control</a:t>
            </a:r>
          </a:p>
        </p:txBody>
      </p:sp>
      <p:sp>
        <p:nvSpPr>
          <p:cNvPr id="11" name="OptCard"/>
          <p:cNvSpPr/>
          <p:nvPr/>
        </p:nvSpPr>
        <p:spPr>
          <a:xfrm>
            <a:off x="411480" y="3145536"/>
            <a:ext cx="8321040" cy="640080"/>
          </a:xfrm>
          <a:prstGeom prst="rect">
            <a:avLst/>
          </a:prstGeom>
          <a:solidFill>
            <a:srgbClr val="FCFAF6"/>
          </a:solidFill>
          <a:ln>
            <a:noFill/>
          </a:ln>
          <a:effectLst/>
        </p:spPr>
        <p:txBody>
          <a:bodyPr rtlCol="0" anchor="ctr" wrap="square"/>
          <a:lstStyle/>
          <a:p/>
        </p:txBody>
      </p:sp>
      <p:sp>
        <p:nvSpPr>
          <p:cNvPr id="12" name="OptLabel"/>
          <p:cNvSpPr/>
          <p:nvPr/>
        </p:nvSpPr>
        <p:spPr>
          <a:xfrm>
            <a:off x="557784" y="3182112"/>
            <a:ext cx="2331720" cy="566928"/>
          </a:xfrm>
          <a:prstGeom prst="rect">
            <a:avLst/>
          </a:prstGeom>
          <a:noFill/>
          <a:ln>
            <a:noFill/>
          </a:ln>
          <a:effectLst/>
        </p:spPr>
        <p:txBody>
          <a:bodyPr rtlCol="0" anchor="ctr" wrap="square"/>
          <a:lstStyle/>
          <a:p>
            <a:pPr algn="l">
              <a:spcAft>
                <a:spcPts val="0"/>
              </a:spcAft>
            </a:pPr>
            <a:r>
              <a:rPr sz="2000" b="1">
                <a:solidFill>
                  <a:srgbClr val="8E6F3E"/>
                </a:solidFill>
                <a:latin typeface="Calibri"/>
              </a:rPr>
              <a:t>REPLACE</a:t>
            </a:r>
          </a:p>
        </p:txBody>
      </p:sp>
      <p:sp>
        <p:nvSpPr>
          <p:cNvPr id="13" name="OptBody"/>
          <p:cNvSpPr/>
          <p:nvPr/>
        </p:nvSpPr>
        <p:spPr>
          <a:xfrm>
            <a:off x="3017520" y="3182112"/>
            <a:ext cx="5577840" cy="566928"/>
          </a:xfrm>
          <a:prstGeom prst="rect">
            <a:avLst/>
          </a:prstGeom>
          <a:noFill/>
          <a:ln>
            <a:noFill/>
          </a:ln>
          <a:effectLst/>
        </p:spPr>
        <p:txBody>
          <a:bodyPr rtlCol="0" anchor="ctr" wrap="square"/>
          <a:lstStyle/>
          <a:p>
            <a:pPr algn="l">
              <a:spcAft>
                <a:spcPts val="0"/>
              </a:spcAft>
            </a:pPr>
            <a:r>
              <a:rPr sz="2000" b="0">
                <a:solidFill>
                  <a:srgbClr val="555960"/>
                </a:solidFill>
                <a:latin typeface="Calibri"/>
              </a:rPr>
              <a:t>swap the parser, or the framework that chose it; pay the migration</a:t>
            </a:r>
          </a:p>
        </p:txBody>
      </p:sp>
      <p:sp>
        <p:nvSpPr>
          <p:cNvPr id="14" name="OptCard"/>
          <p:cNvSpPr/>
          <p:nvPr/>
        </p:nvSpPr>
        <p:spPr>
          <a:xfrm>
            <a:off x="411480" y="3895344"/>
            <a:ext cx="8321040" cy="640080"/>
          </a:xfrm>
          <a:prstGeom prst="rect">
            <a:avLst/>
          </a:prstGeom>
          <a:solidFill>
            <a:srgbClr val="F5F1E8"/>
          </a:solidFill>
          <a:ln>
            <a:noFill/>
          </a:ln>
          <a:effectLst/>
        </p:spPr>
        <p:txBody>
          <a:bodyPr rtlCol="0" anchor="ctr" wrap="square"/>
          <a:lstStyle/>
          <a:p/>
        </p:txBody>
      </p:sp>
      <p:sp>
        <p:nvSpPr>
          <p:cNvPr id="15" name="OptLabel"/>
          <p:cNvSpPr/>
          <p:nvPr/>
        </p:nvSpPr>
        <p:spPr>
          <a:xfrm>
            <a:off x="557784" y="3931920"/>
            <a:ext cx="2331720" cy="566928"/>
          </a:xfrm>
          <a:prstGeom prst="rect">
            <a:avLst/>
          </a:prstGeom>
          <a:noFill/>
          <a:ln>
            <a:noFill/>
          </a:ln>
          <a:effectLst/>
        </p:spPr>
        <p:txBody>
          <a:bodyPr rtlCol="0" anchor="ctr" wrap="square"/>
          <a:lstStyle/>
          <a:p>
            <a:pPr algn="l">
              <a:spcAft>
                <a:spcPts val="0"/>
              </a:spcAft>
            </a:pPr>
            <a:r>
              <a:rPr sz="2000" b="1">
                <a:solidFill>
                  <a:srgbClr val="8E6F3E"/>
                </a:solidFill>
                <a:latin typeface="Calibri"/>
              </a:rPr>
              <a:t>REMOVE</a:t>
            </a:r>
          </a:p>
        </p:txBody>
      </p:sp>
      <p:sp>
        <p:nvSpPr>
          <p:cNvPr id="16" name="OptBody"/>
          <p:cNvSpPr/>
          <p:nvPr/>
        </p:nvSpPr>
        <p:spPr>
          <a:xfrm>
            <a:off x="3017520" y="3931920"/>
            <a:ext cx="5577840" cy="566928"/>
          </a:xfrm>
          <a:prstGeom prst="rect">
            <a:avLst/>
          </a:prstGeom>
          <a:noFill/>
          <a:ln>
            <a:noFill/>
          </a:ln>
          <a:effectLst/>
        </p:spPr>
        <p:txBody>
          <a:bodyPr rtlCol="0" anchor="ctr" wrap="square"/>
          <a:lstStyle/>
          <a:p>
            <a:pPr algn="l">
              <a:spcAft>
                <a:spcPts val="0"/>
              </a:spcAft>
            </a:pPr>
            <a:r>
              <a:rPr sz="2000" b="0">
                <a:solidFill>
                  <a:srgbClr val="555960"/>
                </a:solidFill>
                <a:latin typeface="Calibri"/>
              </a:rPr>
              <a:t>is the feature that pulls it in even needed?</a:t>
            </a:r>
          </a:p>
        </p:txBody>
      </p:sp>
      <p:sp>
        <p:nvSpPr>
          <p:cNvPr id="17" name="OptCard"/>
          <p:cNvSpPr/>
          <p:nvPr/>
        </p:nvSpPr>
        <p:spPr>
          <a:xfrm>
            <a:off x="411480" y="4645152"/>
            <a:ext cx="8321040" cy="640080"/>
          </a:xfrm>
          <a:prstGeom prst="rect">
            <a:avLst/>
          </a:prstGeom>
          <a:solidFill>
            <a:srgbClr val="FCFAF6"/>
          </a:solidFill>
          <a:ln>
            <a:noFill/>
          </a:ln>
          <a:effectLst/>
        </p:spPr>
        <p:txBody>
          <a:bodyPr rtlCol="0" anchor="ctr" wrap="square"/>
          <a:lstStyle/>
          <a:p/>
        </p:txBody>
      </p:sp>
      <p:sp>
        <p:nvSpPr>
          <p:cNvPr id="18" name="OptLabel"/>
          <p:cNvSpPr/>
          <p:nvPr/>
        </p:nvSpPr>
        <p:spPr>
          <a:xfrm>
            <a:off x="557784" y="4681728"/>
            <a:ext cx="2331720" cy="566928"/>
          </a:xfrm>
          <a:prstGeom prst="rect">
            <a:avLst/>
          </a:prstGeom>
          <a:noFill/>
          <a:ln>
            <a:noFill/>
          </a:ln>
          <a:effectLst/>
        </p:spPr>
        <p:txBody>
          <a:bodyPr rtlCol="0" anchor="ctr" wrap="square"/>
          <a:lstStyle/>
          <a:p>
            <a:pPr algn="l">
              <a:spcAft>
                <a:spcPts val="0"/>
              </a:spcAft>
            </a:pPr>
            <a:r>
              <a:rPr sz="2000" b="1">
                <a:solidFill>
                  <a:srgbClr val="8E6F3E"/>
                </a:solidFill>
                <a:latin typeface="Calibri"/>
              </a:rPr>
              <a:t>FORK + MAINTAIN</a:t>
            </a:r>
          </a:p>
        </p:txBody>
      </p:sp>
      <p:sp>
        <p:nvSpPr>
          <p:cNvPr id="19" name="OptBody"/>
          <p:cNvSpPr/>
          <p:nvPr/>
        </p:nvSpPr>
        <p:spPr>
          <a:xfrm>
            <a:off x="3017520" y="4681728"/>
            <a:ext cx="5577840" cy="566928"/>
          </a:xfrm>
          <a:prstGeom prst="rect">
            <a:avLst/>
          </a:prstGeom>
          <a:noFill/>
          <a:ln>
            <a:noFill/>
          </a:ln>
          <a:effectLst/>
        </p:spPr>
        <p:txBody>
          <a:bodyPr rtlCol="0" anchor="ctr" wrap="square"/>
          <a:lstStyle/>
          <a:p>
            <a:pPr algn="l">
              <a:spcAft>
                <a:spcPts val="0"/>
              </a:spcAft>
            </a:pPr>
            <a:r>
              <a:rPr sz="2000" b="0">
                <a:solidFill>
                  <a:srgbClr val="555960"/>
                </a:solidFill>
                <a:latin typeface="Calibri"/>
              </a:rPr>
              <a:t>you own a parser now; staff it or admit you did not</a:t>
            </a:r>
          </a:p>
        </p:txBody>
      </p:sp>
      <p:sp>
        <p:nvSpPr>
          <p:cNvPr id="20"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Which do you choose tonight, and which by next semester?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Controls make supply-chain obligations durable</a:t>
            </a:r>
          </a:p>
        </p:txBody>
      </p:sp>
      <p:sp>
        <p:nvSpPr>
          <p:cNvPr id="3" name="ColHead"/>
          <p:cNvSpPr/>
          <p:nvPr/>
        </p:nvSpPr>
        <p:spPr>
          <a:xfrm>
            <a:off x="557784" y="841248"/>
            <a:ext cx="2148840" cy="292608"/>
          </a:xfrm>
          <a:prstGeom prst="rect">
            <a:avLst/>
          </a:prstGeom>
          <a:noFill/>
          <a:ln>
            <a:noFill/>
          </a:ln>
          <a:effectLst/>
        </p:spPr>
        <p:txBody>
          <a:bodyPr rtlCol="0" anchor="t" wrap="square"/>
          <a:lstStyle/>
          <a:p>
            <a:pPr algn="l">
              <a:spcAft>
                <a:spcPts val="0"/>
              </a:spcAft>
            </a:pPr>
            <a:r>
              <a:rPr sz="2000" b="1">
                <a:solidFill>
                  <a:srgbClr val="5C4826"/>
                </a:solidFill>
                <a:latin typeface="Calibri"/>
              </a:rPr>
              <a:t>CONTROL</a:t>
            </a:r>
          </a:p>
        </p:txBody>
      </p:sp>
      <p:sp>
        <p:nvSpPr>
          <p:cNvPr id="4" name="ColHead"/>
          <p:cNvSpPr/>
          <p:nvPr/>
        </p:nvSpPr>
        <p:spPr>
          <a:xfrm>
            <a:off x="2852928" y="841248"/>
            <a:ext cx="2971800" cy="292608"/>
          </a:xfrm>
          <a:prstGeom prst="rect">
            <a:avLst/>
          </a:prstGeom>
          <a:noFill/>
          <a:ln>
            <a:noFill/>
          </a:ln>
          <a:effectLst/>
        </p:spPr>
        <p:txBody>
          <a:bodyPr rtlCol="0" anchor="t" wrap="square"/>
          <a:lstStyle/>
          <a:p>
            <a:pPr algn="l">
              <a:spcAft>
                <a:spcPts val="0"/>
              </a:spcAft>
            </a:pPr>
            <a:r>
              <a:rPr sz="2000" b="1">
                <a:solidFill>
                  <a:srgbClr val="5C4826"/>
                </a:solidFill>
                <a:latin typeface="Calibri"/>
              </a:rPr>
              <a:t>WHAT IT HOLDS</a:t>
            </a:r>
          </a:p>
        </p:txBody>
      </p:sp>
      <p:sp>
        <p:nvSpPr>
          <p:cNvPr id="5" name="ColHead"/>
          <p:cNvSpPr/>
          <p:nvPr/>
        </p:nvSpPr>
        <p:spPr>
          <a:xfrm>
            <a:off x="5961888" y="841248"/>
            <a:ext cx="2651760" cy="292608"/>
          </a:xfrm>
          <a:prstGeom prst="rect">
            <a:avLst/>
          </a:prstGeom>
          <a:noFill/>
          <a:ln>
            <a:noFill/>
          </a:ln>
          <a:effectLst/>
        </p:spPr>
        <p:txBody>
          <a:bodyPr rtlCol="0" anchor="t" wrap="square"/>
          <a:lstStyle/>
          <a:p>
            <a:pPr algn="l">
              <a:spcAft>
                <a:spcPts val="0"/>
              </a:spcAft>
            </a:pPr>
            <a:r>
              <a:rPr sz="2000" b="1">
                <a:solidFill>
                  <a:srgbClr val="5C4826"/>
                </a:solidFill>
                <a:latin typeface="Calibri"/>
              </a:rPr>
              <a:t>HOW IT FAILS</a:t>
            </a:r>
          </a:p>
        </p:txBody>
      </p:sp>
      <p:sp>
        <p:nvSpPr>
          <p:cNvPr id="6" name="CtrlCard" descr="Six supply-chain controls, the obligation each holds, and the characteristic failure mode of each"/>
          <p:cNvSpPr/>
          <p:nvPr/>
        </p:nvSpPr>
        <p:spPr>
          <a:xfrm>
            <a:off x="411480" y="1188720"/>
            <a:ext cx="8321040" cy="694944"/>
          </a:xfrm>
          <a:prstGeom prst="rect">
            <a:avLst/>
          </a:prstGeom>
          <a:solidFill>
            <a:srgbClr val="F5F1E8"/>
          </a:solidFill>
          <a:ln>
            <a:noFill/>
          </a:ln>
          <a:effectLst/>
        </p:spPr>
        <p:txBody>
          <a:bodyPr rtlCol="0" anchor="ctr" wrap="square"/>
          <a:lstStyle/>
          <a:p/>
        </p:txBody>
      </p:sp>
      <p:sp>
        <p:nvSpPr>
          <p:cNvPr id="7" name="CtrlName"/>
          <p:cNvSpPr/>
          <p:nvPr/>
        </p:nvSpPr>
        <p:spPr>
          <a:xfrm>
            <a:off x="557784" y="1225296"/>
            <a:ext cx="2148840" cy="621792"/>
          </a:xfrm>
          <a:prstGeom prst="rect">
            <a:avLst/>
          </a:prstGeom>
          <a:noFill/>
          <a:ln>
            <a:noFill/>
          </a:ln>
          <a:effectLst/>
        </p:spPr>
        <p:txBody>
          <a:bodyPr rtlCol="0" anchor="ctr" wrap="square" lIns="27432" rIns="27432"/>
          <a:lstStyle/>
          <a:p>
            <a:pPr algn="l">
              <a:spcAft>
                <a:spcPts val="0"/>
              </a:spcAft>
            </a:pPr>
            <a:r>
              <a:rPr sz="2000" b="1">
                <a:solidFill>
                  <a:srgbClr val="8E6F3E"/>
                </a:solidFill>
                <a:latin typeface="Calibri"/>
              </a:rPr>
              <a:t>dependency review gate</a:t>
            </a:r>
          </a:p>
        </p:txBody>
      </p:sp>
      <p:sp>
        <p:nvSpPr>
          <p:cNvPr id="8" name="CtrlHolds"/>
          <p:cNvSpPr/>
          <p:nvPr/>
        </p:nvSpPr>
        <p:spPr>
          <a:xfrm>
            <a:off x="2852928" y="1225296"/>
            <a:ext cx="2971800" cy="621792"/>
          </a:xfrm>
          <a:prstGeom prst="rect">
            <a:avLst/>
          </a:prstGeom>
          <a:noFill/>
          <a:ln>
            <a:noFill/>
          </a:ln>
          <a:effectLst/>
        </p:spPr>
        <p:txBody>
          <a:bodyPr rtlCol="0" anchor="ctr" wrap="square" lIns="27432" rIns="27432"/>
          <a:lstStyle/>
          <a:p>
            <a:pPr algn="l">
              <a:spcAft>
                <a:spcPts val="0"/>
              </a:spcAft>
            </a:pPr>
            <a:r>
              <a:rPr sz="2000" b="0">
                <a:solidFill>
                  <a:srgbClr val="2D2D2D"/>
                </a:solidFill>
                <a:latin typeface="Calibri"/>
              </a:rPr>
              <a:t>a new dependency needs a recorded rationale</a:t>
            </a:r>
          </a:p>
        </p:txBody>
      </p:sp>
      <p:sp>
        <p:nvSpPr>
          <p:cNvPr id="9" name="CtrlFails"/>
          <p:cNvSpPr/>
          <p:nvPr/>
        </p:nvSpPr>
        <p:spPr>
          <a:xfrm>
            <a:off x="5961888" y="1225296"/>
            <a:ext cx="2651760" cy="621792"/>
          </a:xfrm>
          <a:prstGeom prst="rect">
            <a:avLst/>
          </a:prstGeom>
          <a:noFill/>
          <a:ln>
            <a:noFill/>
          </a:ln>
          <a:effectLst/>
        </p:spPr>
        <p:txBody>
          <a:bodyPr rtlCol="0" anchor="ctr" wrap="square" lIns="27432" rIns="27432"/>
          <a:lstStyle/>
          <a:p>
            <a:pPr algn="l">
              <a:spcAft>
                <a:spcPts val="0"/>
              </a:spcAft>
            </a:pPr>
            <a:r>
              <a:rPr sz="2000" b="0">
                <a:solidFill>
                  <a:srgbClr val="555960"/>
                </a:solidFill>
                <a:latin typeface="Calibri"/>
              </a:rPr>
              <a:t>rubber-stamping</a:t>
            </a:r>
          </a:p>
        </p:txBody>
      </p:sp>
      <p:sp>
        <p:nvSpPr>
          <p:cNvPr id="10" name="CtrlCard"/>
          <p:cNvSpPr/>
          <p:nvPr/>
        </p:nvSpPr>
        <p:spPr>
          <a:xfrm>
            <a:off x="411480" y="1956816"/>
            <a:ext cx="8321040" cy="694944"/>
          </a:xfrm>
          <a:prstGeom prst="rect">
            <a:avLst/>
          </a:prstGeom>
          <a:solidFill>
            <a:srgbClr val="FCFAF6"/>
          </a:solidFill>
          <a:ln>
            <a:noFill/>
          </a:ln>
          <a:effectLst/>
        </p:spPr>
        <p:txBody>
          <a:bodyPr rtlCol="0" anchor="ctr" wrap="square"/>
          <a:lstStyle/>
          <a:p/>
        </p:txBody>
      </p:sp>
      <p:sp>
        <p:nvSpPr>
          <p:cNvPr id="11" name="CtrlName"/>
          <p:cNvSpPr/>
          <p:nvPr/>
        </p:nvSpPr>
        <p:spPr>
          <a:xfrm>
            <a:off x="557784" y="1993392"/>
            <a:ext cx="2148840" cy="621792"/>
          </a:xfrm>
          <a:prstGeom prst="rect">
            <a:avLst/>
          </a:prstGeom>
          <a:noFill/>
          <a:ln>
            <a:noFill/>
          </a:ln>
          <a:effectLst/>
        </p:spPr>
        <p:txBody>
          <a:bodyPr rtlCol="0" anchor="ctr" wrap="square" lIns="27432" rIns="27432"/>
          <a:lstStyle/>
          <a:p>
            <a:pPr algn="l">
              <a:spcAft>
                <a:spcPts val="0"/>
              </a:spcAft>
            </a:pPr>
            <a:r>
              <a:rPr sz="2000" b="1">
                <a:solidFill>
                  <a:srgbClr val="8E6F3E"/>
                </a:solidFill>
                <a:latin typeface="Calibri"/>
              </a:rPr>
              <a:t>vulnerability alerts</a:t>
            </a:r>
          </a:p>
        </p:txBody>
      </p:sp>
      <p:sp>
        <p:nvSpPr>
          <p:cNvPr id="12" name="CtrlHolds"/>
          <p:cNvSpPr/>
          <p:nvPr/>
        </p:nvSpPr>
        <p:spPr>
          <a:xfrm>
            <a:off x="2852928" y="1993392"/>
            <a:ext cx="2971800" cy="621792"/>
          </a:xfrm>
          <a:prstGeom prst="rect">
            <a:avLst/>
          </a:prstGeom>
          <a:noFill/>
          <a:ln>
            <a:noFill/>
          </a:ln>
          <a:effectLst/>
        </p:spPr>
        <p:txBody>
          <a:bodyPr rtlCol="0" anchor="ctr" wrap="square" lIns="27432" rIns="27432"/>
          <a:lstStyle/>
          <a:p>
            <a:pPr algn="l">
              <a:spcAft>
                <a:spcPts val="0"/>
              </a:spcAft>
            </a:pPr>
            <a:r>
              <a:rPr sz="2000" b="0">
                <a:solidFill>
                  <a:srgbClr val="2D2D2D"/>
                </a:solidFill>
                <a:latin typeface="Calibri"/>
              </a:rPr>
              <a:t>scan manifests and lockfiles continuously</a:t>
            </a:r>
          </a:p>
        </p:txBody>
      </p:sp>
      <p:sp>
        <p:nvSpPr>
          <p:cNvPr id="13" name="CtrlFails"/>
          <p:cNvSpPr/>
          <p:nvPr/>
        </p:nvSpPr>
        <p:spPr>
          <a:xfrm>
            <a:off x="5961888" y="1993392"/>
            <a:ext cx="2651760" cy="621792"/>
          </a:xfrm>
          <a:prstGeom prst="rect">
            <a:avLst/>
          </a:prstGeom>
          <a:noFill/>
          <a:ln>
            <a:noFill/>
          </a:ln>
          <a:effectLst/>
        </p:spPr>
        <p:txBody>
          <a:bodyPr rtlCol="0" anchor="ctr" wrap="square" lIns="27432" rIns="27432"/>
          <a:lstStyle/>
          <a:p>
            <a:pPr algn="l">
              <a:spcAft>
                <a:spcPts val="0"/>
              </a:spcAft>
            </a:pPr>
            <a:r>
              <a:rPr sz="2000" b="0">
                <a:solidFill>
                  <a:srgbClr val="555960"/>
                </a:solidFill>
                <a:latin typeface="Calibri"/>
              </a:rPr>
              <a:t>alert fatigue; unpinned reality</a:t>
            </a:r>
          </a:p>
        </p:txBody>
      </p:sp>
      <p:sp>
        <p:nvSpPr>
          <p:cNvPr id="14" name="CtrlCard"/>
          <p:cNvSpPr/>
          <p:nvPr/>
        </p:nvSpPr>
        <p:spPr>
          <a:xfrm>
            <a:off x="411480" y="2724912"/>
            <a:ext cx="8321040" cy="694944"/>
          </a:xfrm>
          <a:prstGeom prst="rect">
            <a:avLst/>
          </a:prstGeom>
          <a:solidFill>
            <a:srgbClr val="F5F1E8"/>
          </a:solidFill>
          <a:ln>
            <a:noFill/>
          </a:ln>
          <a:effectLst/>
        </p:spPr>
        <p:txBody>
          <a:bodyPr rtlCol="0" anchor="ctr" wrap="square"/>
          <a:lstStyle/>
          <a:p/>
        </p:txBody>
      </p:sp>
      <p:sp>
        <p:nvSpPr>
          <p:cNvPr id="15" name="CtrlName"/>
          <p:cNvSpPr/>
          <p:nvPr/>
        </p:nvSpPr>
        <p:spPr>
          <a:xfrm>
            <a:off x="557784" y="2761488"/>
            <a:ext cx="2148840" cy="621792"/>
          </a:xfrm>
          <a:prstGeom prst="rect">
            <a:avLst/>
          </a:prstGeom>
          <a:noFill/>
          <a:ln>
            <a:noFill/>
          </a:ln>
          <a:effectLst/>
        </p:spPr>
        <p:txBody>
          <a:bodyPr rtlCol="0" anchor="ctr" wrap="square" lIns="27432" rIns="27432"/>
          <a:lstStyle/>
          <a:p>
            <a:pPr algn="l">
              <a:spcAft>
                <a:spcPts val="0"/>
              </a:spcAft>
            </a:pPr>
            <a:r>
              <a:rPr sz="2000" b="1">
                <a:solidFill>
                  <a:srgbClr val="8E6F3E"/>
                </a:solidFill>
                <a:latin typeface="Calibri"/>
              </a:rPr>
              <a:t>license policy check</a:t>
            </a:r>
          </a:p>
        </p:txBody>
      </p:sp>
      <p:sp>
        <p:nvSpPr>
          <p:cNvPr id="16" name="CtrlHolds"/>
          <p:cNvSpPr/>
          <p:nvPr/>
        </p:nvSpPr>
        <p:spPr>
          <a:xfrm>
            <a:off x="2852928" y="2761488"/>
            <a:ext cx="2971800" cy="621792"/>
          </a:xfrm>
          <a:prstGeom prst="rect">
            <a:avLst/>
          </a:prstGeom>
          <a:noFill/>
          <a:ln>
            <a:noFill/>
          </a:ln>
          <a:effectLst/>
        </p:spPr>
        <p:txBody>
          <a:bodyPr rtlCol="0" anchor="ctr" wrap="square" lIns="27432" rIns="27432"/>
          <a:lstStyle/>
          <a:p>
            <a:pPr algn="l">
              <a:spcAft>
                <a:spcPts val="0"/>
              </a:spcAft>
            </a:pPr>
            <a:r>
              <a:rPr sz="2000" b="0">
                <a:solidFill>
                  <a:srgbClr val="2D2D2D"/>
                </a:solidFill>
                <a:latin typeface="Calibri"/>
              </a:rPr>
              <a:t>an allowed-license list enforced in CI</a:t>
            </a:r>
          </a:p>
        </p:txBody>
      </p:sp>
      <p:sp>
        <p:nvSpPr>
          <p:cNvPr id="17" name="CtrlFails"/>
          <p:cNvSpPr/>
          <p:nvPr/>
        </p:nvSpPr>
        <p:spPr>
          <a:xfrm>
            <a:off x="5961888" y="2761488"/>
            <a:ext cx="2651760" cy="621792"/>
          </a:xfrm>
          <a:prstGeom prst="rect">
            <a:avLst/>
          </a:prstGeom>
          <a:noFill/>
          <a:ln>
            <a:noFill/>
          </a:ln>
          <a:effectLst/>
        </p:spPr>
        <p:txBody>
          <a:bodyPr rtlCol="0" anchor="ctr" wrap="square" lIns="27432" rIns="27432"/>
          <a:lstStyle/>
          <a:p>
            <a:pPr algn="l">
              <a:spcAft>
                <a:spcPts val="0"/>
              </a:spcAft>
            </a:pPr>
            <a:r>
              <a:rPr sz="2000" b="0">
                <a:solidFill>
                  <a:srgbClr val="555960"/>
                </a:solidFill>
                <a:latin typeface="Calibri"/>
              </a:rPr>
              <a:t>stale policy; vendored code unseen</a:t>
            </a:r>
          </a:p>
        </p:txBody>
      </p:sp>
      <p:sp>
        <p:nvSpPr>
          <p:cNvPr id="18" name="CtrlCard"/>
          <p:cNvSpPr/>
          <p:nvPr/>
        </p:nvSpPr>
        <p:spPr>
          <a:xfrm>
            <a:off x="411480" y="3493008"/>
            <a:ext cx="8321040" cy="694944"/>
          </a:xfrm>
          <a:prstGeom prst="rect">
            <a:avLst/>
          </a:prstGeom>
          <a:solidFill>
            <a:srgbClr val="FCFAF6"/>
          </a:solidFill>
          <a:ln>
            <a:noFill/>
          </a:ln>
          <a:effectLst/>
        </p:spPr>
        <p:txBody>
          <a:bodyPr rtlCol="0" anchor="ctr" wrap="square"/>
          <a:lstStyle/>
          <a:p/>
        </p:txBody>
      </p:sp>
      <p:sp>
        <p:nvSpPr>
          <p:cNvPr id="19" name="CtrlName"/>
          <p:cNvSpPr/>
          <p:nvPr/>
        </p:nvSpPr>
        <p:spPr>
          <a:xfrm>
            <a:off x="557784" y="3529584"/>
            <a:ext cx="2148840" cy="621792"/>
          </a:xfrm>
          <a:prstGeom prst="rect">
            <a:avLst/>
          </a:prstGeom>
          <a:noFill/>
          <a:ln>
            <a:noFill/>
          </a:ln>
          <a:effectLst/>
        </p:spPr>
        <p:txBody>
          <a:bodyPr rtlCol="0" anchor="ctr" wrap="square" lIns="27432" rIns="27432"/>
          <a:lstStyle/>
          <a:p>
            <a:pPr algn="l">
              <a:spcAft>
                <a:spcPts val="0"/>
              </a:spcAft>
            </a:pPr>
            <a:r>
              <a:rPr sz="2000" b="1">
                <a:solidFill>
                  <a:srgbClr val="8E6F3E"/>
                </a:solidFill>
                <a:latin typeface="Calibri"/>
              </a:rPr>
              <a:t>SBOM per release</a:t>
            </a:r>
          </a:p>
        </p:txBody>
      </p:sp>
      <p:sp>
        <p:nvSpPr>
          <p:cNvPr id="20" name="CtrlHolds"/>
          <p:cNvSpPr/>
          <p:nvPr/>
        </p:nvSpPr>
        <p:spPr>
          <a:xfrm>
            <a:off x="2852928" y="3529584"/>
            <a:ext cx="2971800" cy="621792"/>
          </a:xfrm>
          <a:prstGeom prst="rect">
            <a:avLst/>
          </a:prstGeom>
          <a:noFill/>
          <a:ln>
            <a:noFill/>
          </a:ln>
          <a:effectLst/>
        </p:spPr>
        <p:txBody>
          <a:bodyPr rtlCol="0" anchor="ctr" wrap="square" lIns="27432" rIns="27432"/>
          <a:lstStyle/>
          <a:p>
            <a:pPr algn="l">
              <a:spcAft>
                <a:spcPts val="0"/>
              </a:spcAft>
            </a:pPr>
            <a:r>
              <a:rPr sz="2000" b="0">
                <a:solidFill>
                  <a:srgbClr val="2D2D2D"/>
                </a:solidFill>
                <a:latin typeface="Calibri"/>
              </a:rPr>
              <a:t>generate the inventory at build time</a:t>
            </a:r>
          </a:p>
        </p:txBody>
      </p:sp>
      <p:sp>
        <p:nvSpPr>
          <p:cNvPr id="21" name="CtrlFails"/>
          <p:cNvSpPr/>
          <p:nvPr/>
        </p:nvSpPr>
        <p:spPr>
          <a:xfrm>
            <a:off x="5961888" y="3529584"/>
            <a:ext cx="2651760" cy="621792"/>
          </a:xfrm>
          <a:prstGeom prst="rect">
            <a:avLst/>
          </a:prstGeom>
          <a:noFill/>
          <a:ln>
            <a:noFill/>
          </a:ln>
          <a:effectLst/>
        </p:spPr>
        <p:txBody>
          <a:bodyPr rtlCol="0" anchor="ctr" wrap="square" lIns="27432" rIns="27432"/>
          <a:lstStyle/>
          <a:p>
            <a:pPr algn="l">
              <a:spcAft>
                <a:spcPts val="0"/>
              </a:spcAft>
            </a:pPr>
            <a:r>
              <a:rPr sz="2000" b="0">
                <a:solidFill>
                  <a:srgbClr val="555960"/>
                </a:solidFill>
                <a:latin typeface="Calibri"/>
              </a:rPr>
              <a:t>inventory mistaken for assurance</a:t>
            </a:r>
          </a:p>
        </p:txBody>
      </p:sp>
      <p:sp>
        <p:nvSpPr>
          <p:cNvPr id="22" name="CtrlCard"/>
          <p:cNvSpPr/>
          <p:nvPr/>
        </p:nvSpPr>
        <p:spPr>
          <a:xfrm>
            <a:off x="411480" y="4261104"/>
            <a:ext cx="8321040" cy="694944"/>
          </a:xfrm>
          <a:prstGeom prst="rect">
            <a:avLst/>
          </a:prstGeom>
          <a:solidFill>
            <a:srgbClr val="F5F1E8"/>
          </a:solidFill>
          <a:ln>
            <a:noFill/>
          </a:ln>
          <a:effectLst/>
        </p:spPr>
        <p:txBody>
          <a:bodyPr rtlCol="0" anchor="ctr" wrap="square"/>
          <a:lstStyle/>
          <a:p/>
        </p:txBody>
      </p:sp>
      <p:sp>
        <p:nvSpPr>
          <p:cNvPr id="23" name="CtrlName"/>
          <p:cNvSpPr/>
          <p:nvPr/>
        </p:nvSpPr>
        <p:spPr>
          <a:xfrm>
            <a:off x="557784" y="4297680"/>
            <a:ext cx="2148840" cy="621792"/>
          </a:xfrm>
          <a:prstGeom prst="rect">
            <a:avLst/>
          </a:prstGeom>
          <a:noFill/>
          <a:ln>
            <a:noFill/>
          </a:ln>
          <a:effectLst/>
        </p:spPr>
        <p:txBody>
          <a:bodyPr rtlCol="0" anchor="ctr" wrap="square" lIns="27432" rIns="27432"/>
          <a:lstStyle/>
          <a:p>
            <a:pPr algn="l">
              <a:spcAft>
                <a:spcPts val="0"/>
              </a:spcAft>
            </a:pPr>
            <a:r>
              <a:rPr sz="2000" b="1">
                <a:solidFill>
                  <a:srgbClr val="8E6F3E"/>
                </a:solidFill>
                <a:latin typeface="Calibri"/>
              </a:rPr>
              <a:t>provenance verification</a:t>
            </a:r>
          </a:p>
        </p:txBody>
      </p:sp>
      <p:sp>
        <p:nvSpPr>
          <p:cNvPr id="24" name="CtrlHolds"/>
          <p:cNvSpPr/>
          <p:nvPr/>
        </p:nvSpPr>
        <p:spPr>
          <a:xfrm>
            <a:off x="2852928" y="4297680"/>
            <a:ext cx="2971800" cy="621792"/>
          </a:xfrm>
          <a:prstGeom prst="rect">
            <a:avLst/>
          </a:prstGeom>
          <a:noFill/>
          <a:ln>
            <a:noFill/>
          </a:ln>
          <a:effectLst/>
        </p:spPr>
        <p:txBody>
          <a:bodyPr rtlCol="0" anchor="ctr" wrap="square" lIns="27432" rIns="27432"/>
          <a:lstStyle/>
          <a:p>
            <a:pPr algn="l">
              <a:spcAft>
                <a:spcPts val="0"/>
              </a:spcAft>
            </a:pPr>
            <a:r>
              <a:rPr sz="2000" b="0">
                <a:solidFill>
                  <a:srgbClr val="2D2D2D"/>
                </a:solidFill>
                <a:latin typeface="Calibri"/>
              </a:rPr>
              <a:t>verify signatures and attestations</a:t>
            </a:r>
          </a:p>
        </p:txBody>
      </p:sp>
      <p:sp>
        <p:nvSpPr>
          <p:cNvPr id="25" name="CtrlFails"/>
          <p:cNvSpPr/>
          <p:nvPr/>
        </p:nvSpPr>
        <p:spPr>
          <a:xfrm>
            <a:off x="5961888" y="4297680"/>
            <a:ext cx="2651760" cy="621792"/>
          </a:xfrm>
          <a:prstGeom prst="rect">
            <a:avLst/>
          </a:prstGeom>
          <a:noFill/>
          <a:ln>
            <a:noFill/>
          </a:ln>
          <a:effectLst/>
        </p:spPr>
        <p:txBody>
          <a:bodyPr rtlCol="0" anchor="ctr" wrap="square" lIns="27432" rIns="27432"/>
          <a:lstStyle/>
          <a:p>
            <a:pPr algn="l">
              <a:spcAft>
                <a:spcPts val="0"/>
              </a:spcAft>
            </a:pPr>
            <a:r>
              <a:rPr sz="2000" b="0">
                <a:solidFill>
                  <a:srgbClr val="555960"/>
                </a:solidFill>
                <a:latin typeface="Calibri"/>
              </a:rPr>
              <a:t>unmaintained trust anchors</a:t>
            </a:r>
          </a:p>
        </p:txBody>
      </p:sp>
      <p:sp>
        <p:nvSpPr>
          <p:cNvPr id="26" name="CtrlCard"/>
          <p:cNvSpPr/>
          <p:nvPr/>
        </p:nvSpPr>
        <p:spPr>
          <a:xfrm>
            <a:off x="411480" y="5029200"/>
            <a:ext cx="8321040" cy="694944"/>
          </a:xfrm>
          <a:prstGeom prst="rect">
            <a:avLst/>
          </a:prstGeom>
          <a:solidFill>
            <a:srgbClr val="FCFAF6"/>
          </a:solidFill>
          <a:ln>
            <a:noFill/>
          </a:ln>
          <a:effectLst/>
        </p:spPr>
        <p:txBody>
          <a:bodyPr rtlCol="0" anchor="ctr" wrap="square"/>
          <a:lstStyle/>
          <a:p/>
        </p:txBody>
      </p:sp>
      <p:sp>
        <p:nvSpPr>
          <p:cNvPr id="27" name="CtrlName"/>
          <p:cNvSpPr/>
          <p:nvPr/>
        </p:nvSpPr>
        <p:spPr>
          <a:xfrm>
            <a:off x="557784" y="5065776"/>
            <a:ext cx="2148840" cy="621792"/>
          </a:xfrm>
          <a:prstGeom prst="rect">
            <a:avLst/>
          </a:prstGeom>
          <a:noFill/>
          <a:ln>
            <a:noFill/>
          </a:ln>
          <a:effectLst/>
        </p:spPr>
        <p:txBody>
          <a:bodyPr rtlCol="0" anchor="ctr" wrap="square" lIns="27432" rIns="27432"/>
          <a:lstStyle/>
          <a:p>
            <a:pPr algn="l">
              <a:spcAft>
                <a:spcPts val="0"/>
              </a:spcAft>
            </a:pPr>
            <a:r>
              <a:rPr sz="2000" b="1">
                <a:solidFill>
                  <a:srgbClr val="8E6F3E"/>
                </a:solidFill>
                <a:latin typeface="Calibri"/>
              </a:rPr>
              <a:t>pin + planned updates</a:t>
            </a:r>
          </a:p>
        </p:txBody>
      </p:sp>
      <p:sp>
        <p:nvSpPr>
          <p:cNvPr id="28" name="CtrlHolds"/>
          <p:cNvSpPr/>
          <p:nvPr/>
        </p:nvSpPr>
        <p:spPr>
          <a:xfrm>
            <a:off x="2852928" y="5065776"/>
            <a:ext cx="2971800" cy="621792"/>
          </a:xfrm>
          <a:prstGeom prst="rect">
            <a:avLst/>
          </a:prstGeom>
          <a:noFill/>
          <a:ln>
            <a:noFill/>
          </a:ln>
          <a:effectLst/>
        </p:spPr>
        <p:txBody>
          <a:bodyPr rtlCol="0" anchor="ctr" wrap="square" lIns="27432" rIns="27432"/>
          <a:lstStyle/>
          <a:p>
            <a:pPr algn="l">
              <a:spcAft>
                <a:spcPts val="0"/>
              </a:spcAft>
            </a:pPr>
            <a:r>
              <a:rPr sz="2000" b="0">
                <a:solidFill>
                  <a:srgbClr val="2D2D2D"/>
                </a:solidFill>
                <a:latin typeface="Calibri"/>
              </a:rPr>
              <a:t>pin everything; schedule the updates</a:t>
            </a:r>
          </a:p>
        </p:txBody>
      </p:sp>
      <p:sp>
        <p:nvSpPr>
          <p:cNvPr id="29" name="CtrlFails"/>
          <p:cNvSpPr/>
          <p:nvPr/>
        </p:nvSpPr>
        <p:spPr>
          <a:xfrm>
            <a:off x="5961888" y="5065776"/>
            <a:ext cx="2651760" cy="621792"/>
          </a:xfrm>
          <a:prstGeom prst="rect">
            <a:avLst/>
          </a:prstGeom>
          <a:noFill/>
          <a:ln>
            <a:noFill/>
          </a:ln>
          <a:effectLst/>
        </p:spPr>
        <p:txBody>
          <a:bodyPr rtlCol="0" anchor="ctr" wrap="square" lIns="27432" rIns="27432"/>
          <a:lstStyle/>
          <a:p>
            <a:pPr algn="l">
              <a:spcAft>
                <a:spcPts val="0"/>
              </a:spcAft>
            </a:pPr>
            <a:r>
              <a:rPr sz="2000" b="0">
                <a:solidFill>
                  <a:srgbClr val="555960"/>
                </a:solidFill>
                <a:latin typeface="Calibri"/>
              </a:rPr>
              <a:t>pinned forever, drift accumulates</a:t>
            </a:r>
          </a:p>
        </p:txBody>
      </p:sp>
      <p:sp>
        <p:nvSpPr>
          <p:cNvPr id="30" name="FooterBand"/>
          <p:cNvSpPr/>
          <p:nvPr/>
        </p:nvSpPr>
        <p:spPr>
          <a:xfrm>
            <a:off x="274320" y="5879592"/>
            <a:ext cx="8595360" cy="50292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FooterBandText"/>
          <p:cNvSpPr/>
          <p:nvPr/>
        </p:nvSpPr>
        <p:spPr>
          <a:xfrm>
            <a:off x="384048" y="5897880"/>
            <a:ext cx="8375904" cy="457200"/>
          </a:xfrm>
          <a:prstGeom prst="rect">
            <a:avLst/>
          </a:prstGeom>
          <a:noFill/>
          <a:ln>
            <a:noFill/>
          </a:ln>
          <a:effectLst/>
        </p:spPr>
        <p:txBody>
          <a:bodyPr rtlCol="0" anchor="ctr" wrap="square"/>
          <a:lstStyle/>
          <a:p>
            <a:pPr algn="ctr">
              <a:spcAft>
                <a:spcPts val="0"/>
              </a:spcAft>
            </a:pPr>
            <a:r>
              <a:rPr sz="2000" b="1">
                <a:solidFill>
                  <a:srgbClr val="FFFFFF"/>
                </a:solidFill>
                <a:latin typeface="Calibri"/>
              </a:rPr>
              <a:t>A judgment made once becomes a control enforced every time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What makes the system worthy of reliance?</a:t>
            </a:r>
          </a:p>
        </p:txBody>
      </p:sp>
      <p:sp>
        <p:nvSpPr>
          <p:cNvPr id="3" name="SectionLabel"/>
          <p:cNvSpPr/>
          <p:nvPr/>
        </p:nvSpPr>
        <p:spPr>
          <a:xfrm>
            <a:off x="640080" y="2240280"/>
            <a:ext cx="7863840" cy="868680"/>
          </a:xfrm>
          <a:prstGeom prst="rect">
            <a:avLst/>
          </a:prstGeom>
          <a:noFill/>
          <a:ln>
            <a:noFill/>
          </a:ln>
          <a:effectLst/>
        </p:spPr>
        <p:txBody>
          <a:bodyPr rtlCol="0" anchor="ctr" wrap="square"/>
          <a:lstStyle/>
          <a:p>
            <a:pPr algn="ctr">
              <a:spcAft>
                <a:spcPts val="0"/>
              </a:spcAft>
            </a:pPr>
            <a:r>
              <a:rPr sz="3600" b="1">
                <a:solidFill>
                  <a:srgbClr val="8E6F3E"/>
                </a:solidFill>
                <a:latin typeface="Calibri"/>
              </a:rPr>
              <a:t>SECTION 5</a:t>
            </a:r>
          </a:p>
        </p:txBody>
      </p:sp>
      <p:sp>
        <p:nvSpPr>
          <p:cNvPr id="4" name="OrientingSentence"/>
          <p:cNvSpPr/>
          <p:nvPr/>
        </p:nvSpPr>
        <p:spPr>
          <a:xfrm>
            <a:off x="914400" y="3474720"/>
            <a:ext cx="7315200" cy="1097280"/>
          </a:xfrm>
          <a:prstGeom prst="rect">
            <a:avLst/>
          </a:prstGeom>
          <a:noFill/>
          <a:ln>
            <a:noFill/>
          </a:ln>
          <a:effectLst/>
        </p:spPr>
        <p:txBody>
          <a:bodyPr rtlCol="0" anchor="t" wrap="square"/>
          <a:lstStyle/>
          <a:p>
            <a:pPr algn="ctr">
              <a:spcAft>
                <a:spcPts val="0"/>
              </a:spcAft>
            </a:pPr>
            <a:r>
              <a:rPr sz="2200" b="0">
                <a:solidFill>
                  <a:srgbClr val="555960"/>
                </a:solidFill>
                <a:latin typeface="Calibri"/>
              </a:rPr>
              <a:t>One picture of what we built and what we inherited, then the method that turns examination into standing obligations.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One system, two graphs, one reliance question</a:t>
            </a:r>
          </a:p>
        </p:txBody>
      </p:sp>
      <p:sp>
        <p:nvSpPr>
          <p:cNvPr id="3" name="IntContainer" descr="Internal subgraph: handlers, booking policy with the lab change, persistence, joined by structural coupling edges; persistence reaches the database as a runtime service"/>
          <p:cNvSpPr/>
          <p:nvPr/>
        </p:nvSpPr>
        <p:spPr>
          <a:xfrm>
            <a:off x="411480" y="914400"/>
            <a:ext cx="3931920" cy="3246120"/>
          </a:xfrm>
          <a:prstGeom prst="rect">
            <a:avLst/>
          </a:prstGeom>
          <a:solidFill>
            <a:srgbClr val="FCFAF6"/>
          </a:solidFill>
          <a:ln w="19050">
            <a:solidFill>
              <a:srgbClr val="8E6F3E"/>
            </a:solidFill>
          </a:ln>
          <a:effectLst/>
        </p:spPr>
        <p:txBody>
          <a:bodyPr rtlCol="0" anchor="t" wrap="square"/>
          <a:lstStyle/>
          <a:p>
            <a:pPr algn="l">
              <a:spcAft>
                <a:spcPts val="0"/>
              </a:spcAft>
            </a:pPr>
            <a:r>
              <a:rPr sz="2000" b="1">
                <a:solidFill>
                  <a:srgbClr val="8E6F3E"/>
                </a:solidFill>
                <a:latin typeface="Calibri"/>
              </a:rPr>
              <a:t>INTERNAL STRUCTURE</a:t>
            </a:r>
          </a:p>
        </p:txBody>
      </p:sp>
      <p:sp>
        <p:nvSpPr>
          <p:cNvPr id="4" name="InhContainer" descr="Inherited subgraph: web framework at a pinned version bringing an HTTP parser, and the date-interval library used by booking policy"/>
          <p:cNvSpPr/>
          <p:nvPr/>
        </p:nvSpPr>
        <p:spPr>
          <a:xfrm>
            <a:off x="4800600" y="914400"/>
            <a:ext cx="3931920" cy="3246120"/>
          </a:xfrm>
          <a:prstGeom prst="rect">
            <a:avLst/>
          </a:prstGeom>
          <a:solidFill>
            <a:srgbClr val="FCFAF6"/>
          </a:solidFill>
          <a:ln w="19050">
            <a:solidFill>
              <a:srgbClr val="555960"/>
            </a:solidFill>
          </a:ln>
          <a:effectLst/>
        </p:spPr>
        <p:txBody>
          <a:bodyPr rtlCol="0" anchor="t" wrap="square"/>
          <a:lstStyle/>
          <a:p>
            <a:pPr algn="l">
              <a:spcAft>
                <a:spcPts val="0"/>
              </a:spcAft>
            </a:pPr>
            <a:r>
              <a:rPr sz="2000" b="1">
                <a:solidFill>
                  <a:srgbClr val="8E6F3E"/>
                </a:solidFill>
                <a:latin typeface="Calibri"/>
              </a:rPr>
              <a:t>INHERITED COMPONENTS</a:t>
            </a:r>
          </a:p>
        </p:txBody>
      </p:sp>
      <p:sp>
        <p:nvSpPr>
          <p:cNvPr id="5" name="IntNode"/>
          <p:cNvSpPr/>
          <p:nvPr/>
        </p:nvSpPr>
        <p:spPr>
          <a:xfrm>
            <a:off x="777240" y="1417320"/>
            <a:ext cx="237744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HANDLERS</a:t>
            </a:r>
          </a:p>
        </p:txBody>
      </p:sp>
      <p:sp>
        <p:nvSpPr>
          <p:cNvPr id="6" name="IntNode" descr="Booking policy, carrying the laboratory policy change request"/>
          <p:cNvSpPr/>
          <p:nvPr/>
        </p:nvSpPr>
        <p:spPr>
          <a:xfrm>
            <a:off x="777240" y="2286000"/>
            <a:ext cx="237744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BOOKING POLICY</a:t>
            </a:r>
          </a:p>
          <a:p>
            <a:pPr algn="ctr">
              <a:spcAft>
                <a:spcPts val="0"/>
              </a:spcAft>
            </a:pPr>
            <a:r>
              <a:rPr sz="2000" b="0">
                <a:solidFill>
                  <a:srgbClr val="FFFFFF"/>
                </a:solidFill>
                <a:latin typeface="Calibri"/>
              </a:rPr>
              <a:t>Δ lab policy</a:t>
            </a:r>
          </a:p>
        </p:txBody>
      </p:sp>
      <p:sp>
        <p:nvSpPr>
          <p:cNvPr id="7" name="IntNode"/>
          <p:cNvSpPr/>
          <p:nvPr/>
        </p:nvSpPr>
        <p:spPr>
          <a:xfrm>
            <a:off x="777240" y="3291840"/>
            <a:ext cx="2377440" cy="5486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PERSISTENCE</a:t>
            </a:r>
          </a:p>
        </p:txBody>
      </p:sp>
      <p:cxnSp>
        <p:nvCxnSpPr>
          <p:cNvPr id="8" name="IntEdge"/>
          <p:cNvCxnSpPr/>
          <p:nvPr/>
        </p:nvCxnSpPr>
        <p:spPr>
          <a:xfrm>
            <a:off x="1965960" y="1965960"/>
            <a:ext cx="0" cy="320040"/>
          </a:xfrm>
          <a:prstGeom prst="line">
            <a:avLst/>
          </a:prstGeom>
          <a:ln w="19050">
            <a:solidFill>
              <a:srgbClr val="8E6F3E"/>
            </a:solidFill>
            <a:tailEnd type="triangle" w="med" len="med"/>
          </a:ln>
        </p:spPr>
      </p:cxnSp>
      <p:cxnSp>
        <p:nvCxnSpPr>
          <p:cNvPr id="9" name="IntEdge"/>
          <p:cNvCxnSpPr/>
          <p:nvPr/>
        </p:nvCxnSpPr>
        <p:spPr>
          <a:xfrm>
            <a:off x="1965960" y="2971800"/>
            <a:ext cx="0" cy="320040"/>
          </a:xfrm>
          <a:prstGeom prst="line">
            <a:avLst/>
          </a:prstGeom>
          <a:ln w="19050">
            <a:solidFill>
              <a:srgbClr val="8E6F3E"/>
            </a:solidFill>
            <a:tailEnd type="triangle" w="med" len="med"/>
          </a:ln>
        </p:spPr>
      </p:cxnSp>
      <p:sp>
        <p:nvSpPr>
          <p:cNvPr id="10" name="InhNode"/>
          <p:cNvSpPr/>
          <p:nvPr/>
        </p:nvSpPr>
        <p:spPr>
          <a:xfrm>
            <a:off x="5074920" y="1417320"/>
            <a:ext cx="2286000" cy="548640"/>
          </a:xfrm>
          <a:prstGeom prst="rect">
            <a:avLst/>
          </a:prstGeom>
          <a:solidFill>
            <a:srgbClr val="F5F1E8"/>
          </a:solidFill>
          <a:ln w="15875">
            <a:solidFill>
              <a:srgbClr val="555960"/>
            </a:solidFill>
          </a:ln>
          <a:effectLst/>
        </p:spPr>
        <p:txBody>
          <a:bodyPr rtlCol="0" anchor="ctr" wrap="square" lIns="27432" rIns="27432"/>
          <a:lstStyle/>
          <a:p>
            <a:pPr algn="ctr">
              <a:spcAft>
                <a:spcPts val="0"/>
              </a:spcAft>
            </a:pPr>
            <a:r>
              <a:rPr sz="2000" b="1">
                <a:solidFill>
                  <a:srgbClr val="2D2D2D"/>
                </a:solidFill>
                <a:latin typeface="Calibri"/>
              </a:rPr>
              <a:t>WEB FRAMEWORK</a:t>
            </a:r>
          </a:p>
        </p:txBody>
      </p:sp>
      <p:sp>
        <p:nvSpPr>
          <p:cNvPr id="11" name="InhNode"/>
          <p:cNvSpPr/>
          <p:nvPr/>
        </p:nvSpPr>
        <p:spPr>
          <a:xfrm>
            <a:off x="5074920" y="2423160"/>
            <a:ext cx="2286000" cy="548640"/>
          </a:xfrm>
          <a:prstGeom prst="rect">
            <a:avLst/>
          </a:prstGeom>
          <a:solidFill>
            <a:srgbClr val="F5F1E8"/>
          </a:solidFill>
          <a:ln w="15875">
            <a:solidFill>
              <a:srgbClr val="555960"/>
            </a:solidFill>
          </a:ln>
          <a:effectLst/>
        </p:spPr>
        <p:txBody>
          <a:bodyPr rtlCol="0" anchor="ctr" wrap="square" lIns="27432" rIns="27432"/>
          <a:lstStyle/>
          <a:p>
            <a:pPr algn="ctr">
              <a:spcAft>
                <a:spcPts val="0"/>
              </a:spcAft>
            </a:pPr>
            <a:r>
              <a:rPr sz="2000" b="1">
                <a:solidFill>
                  <a:srgbClr val="2D2D2D"/>
                </a:solidFill>
                <a:latin typeface="Calibri"/>
              </a:rPr>
              <a:t>DATE LIB (LGPL)</a:t>
            </a:r>
          </a:p>
        </p:txBody>
      </p:sp>
      <p:sp>
        <p:nvSpPr>
          <p:cNvPr id="12" name="InhNode"/>
          <p:cNvSpPr/>
          <p:nvPr/>
        </p:nvSpPr>
        <p:spPr>
          <a:xfrm>
            <a:off x="6400800" y="3291840"/>
            <a:ext cx="2103120" cy="548640"/>
          </a:xfrm>
          <a:prstGeom prst="rect">
            <a:avLst/>
          </a:prstGeom>
          <a:solidFill>
            <a:srgbClr val="F5F1E8"/>
          </a:solidFill>
          <a:ln w="15875">
            <a:solidFill>
              <a:srgbClr val="555960"/>
            </a:solidFill>
          </a:ln>
          <a:effectLst/>
        </p:spPr>
        <p:txBody>
          <a:bodyPr rtlCol="0" anchor="ctr" wrap="square" lIns="27432" rIns="27432"/>
          <a:lstStyle/>
          <a:p>
            <a:pPr algn="ctr">
              <a:spcAft>
                <a:spcPts val="0"/>
              </a:spcAft>
            </a:pPr>
            <a:r>
              <a:rPr sz="2000" b="1">
                <a:solidFill>
                  <a:srgbClr val="2D2D2D"/>
                </a:solidFill>
                <a:latin typeface="Calibri"/>
              </a:rPr>
              <a:t>HTTP PARSER</a:t>
            </a:r>
          </a:p>
        </p:txBody>
      </p:sp>
      <p:sp>
        <p:nvSpPr>
          <p:cNvPr id="13" name="InhEdge" descr="the web framework brings the HTTP parser transitively"/>
          <p:cNvSpPr/>
          <p:nvPr/>
        </p:nvSpPr>
        <p:spPr>
          <a:xfrm>
            <a:off x="7360920" y="1691640"/>
            <a:ext cx="640079" cy="1600200"/>
          </a:xfrm>
          <a:custGeom>
            <a:avLst/>
            <a:gdLst/>
            <a:ahLst/>
            <a:cxnLst/>
            <a:rect l="0" t="0" r="0" b="0"/>
            <a:pathLst>
              <a:path w="640079" h="1600200" fill="none">
                <a:moveTo>
                  <a:pt x="0" y="0"/>
                </a:moveTo>
                <a:lnTo>
                  <a:pt x="640080" y="0"/>
                </a:lnTo>
                <a:lnTo>
                  <a:pt x="640080" y="1600200"/>
                </a:lnTo>
              </a:path>
            </a:pathLst>
          </a:custGeom>
          <a:noFill/>
          <a:ln w="19050">
            <a:solidFill>
              <a:srgbClr val="555960"/>
            </a:solidFill>
            <a:prstDash val="dash"/>
            <a:tailEnd type="triangle" w="med" len="med"/>
          </a:ln>
        </p:spPr>
        <p:txBody>
          <a:bodyPr rtlCol="0" anchor="ctr" wrap="square"/>
          <a:lstStyle/>
          <a:p/>
        </p:txBody>
      </p:sp>
      <p:cxnSp>
        <p:nvCxnSpPr>
          <p:cNvPr id="14" name="CrossEdge"/>
          <p:cNvCxnSpPr/>
          <p:nvPr/>
        </p:nvCxnSpPr>
        <p:spPr>
          <a:xfrm>
            <a:off x="3154680" y="1691640"/>
            <a:ext cx="1920240" cy="0"/>
          </a:xfrm>
          <a:prstGeom prst="line">
            <a:avLst/>
          </a:prstGeom>
          <a:ln w="19050">
            <a:solidFill>
              <a:srgbClr val="555960"/>
            </a:solidFill>
            <a:prstDash val="dash"/>
            <a:tailEnd type="triangle" w="med" len="med"/>
          </a:ln>
        </p:spPr>
      </p:cxnSp>
      <p:cxnSp>
        <p:nvCxnSpPr>
          <p:cNvPr id="15" name="CrossEdge2"/>
          <p:cNvCxnSpPr/>
          <p:nvPr/>
        </p:nvCxnSpPr>
        <p:spPr>
          <a:xfrm>
            <a:off x="3154680" y="2697480"/>
            <a:ext cx="1920240" cy="0"/>
          </a:xfrm>
          <a:prstGeom prst="line">
            <a:avLst/>
          </a:prstGeom>
          <a:ln w="19050">
            <a:solidFill>
              <a:srgbClr val="555960"/>
            </a:solidFill>
            <a:prstDash val="dash"/>
            <a:tailEnd type="triangle" w="med" len="med"/>
          </a:ln>
        </p:spPr>
      </p:cxnSp>
      <p:sp>
        <p:nvSpPr>
          <p:cNvPr id="16" name="DbNode"/>
          <p:cNvSpPr/>
          <p:nvPr/>
        </p:nvSpPr>
        <p:spPr>
          <a:xfrm>
            <a:off x="777240" y="4526280"/>
            <a:ext cx="2377440" cy="502920"/>
          </a:xfrm>
          <a:prstGeom prst="rect">
            <a:avLst/>
          </a:prstGeom>
          <a:solidFill>
            <a:srgbClr val="5C4826"/>
          </a:solidFill>
          <a:ln>
            <a:noFill/>
          </a:ln>
          <a:effectLst/>
        </p:spPr>
        <p:txBody>
          <a:bodyPr rtlCol="0" anchor="ctr" wrap="square"/>
          <a:lstStyle/>
          <a:p>
            <a:pPr algn="ctr">
              <a:spcAft>
                <a:spcPts val="0"/>
              </a:spcAft>
            </a:pPr>
            <a:r>
              <a:rPr sz="2000" b="1">
                <a:solidFill>
                  <a:srgbClr val="FFFFFF"/>
                </a:solidFill>
                <a:latin typeface="Calibri"/>
              </a:rPr>
              <a:t>DATABASE</a:t>
            </a:r>
          </a:p>
        </p:txBody>
      </p:sp>
      <p:cxnSp>
        <p:nvCxnSpPr>
          <p:cNvPr id="17" name="RtEdge"/>
          <p:cNvCxnSpPr/>
          <p:nvPr/>
        </p:nvCxnSpPr>
        <p:spPr>
          <a:xfrm>
            <a:off x="1965960" y="3840480"/>
            <a:ext cx="0" cy="685800"/>
          </a:xfrm>
          <a:prstGeom prst="line">
            <a:avLst/>
          </a:prstGeom>
          <a:ln w="19050">
            <a:solidFill>
              <a:srgbClr val="5C4826"/>
            </a:solidFill>
            <a:prstDash val="sysDot"/>
            <a:tailEnd type="triangle" w="med" len="med"/>
          </a:ln>
        </p:spPr>
      </p:cxnSp>
      <p:sp>
        <p:nvSpPr>
          <p:cNvPr id="18" name="Legend"/>
          <p:cNvSpPr/>
          <p:nvPr/>
        </p:nvSpPr>
        <p:spPr>
          <a:xfrm>
            <a:off x="3337560" y="4480560"/>
            <a:ext cx="5394960" cy="594360"/>
          </a:xfrm>
          <a:prstGeom prst="rect">
            <a:avLst/>
          </a:prstGeom>
          <a:noFill/>
          <a:ln>
            <a:noFill/>
          </a:ln>
          <a:effectLst/>
        </p:spPr>
        <p:txBody>
          <a:bodyPr rtlCol="0" anchor="ctr" wrap="square"/>
          <a:lstStyle/>
          <a:p>
            <a:pPr algn="l">
              <a:spcAft>
                <a:spcPts val="0"/>
              </a:spcAft>
            </a:pPr>
            <a:r>
              <a:rPr sz="2000" b="0">
                <a:solidFill>
                  <a:srgbClr val="555960"/>
                </a:solidFill>
                <a:latin typeface="Calibri"/>
              </a:rPr>
              <a:t>solid: structural coupling   ·   dashed: package at a pinned version   ·   dotted: runtime service</a:t>
            </a:r>
          </a:p>
        </p:txBody>
      </p:sp>
      <p:sp>
        <p:nvSpPr>
          <p:cNvPr id="19" name="FooterBand"/>
          <p:cNvSpPr/>
          <p:nvPr/>
        </p:nvSpPr>
        <p:spPr>
          <a:xfrm>
            <a:off x="274320" y="5513832"/>
            <a:ext cx="859536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FooterBandText"/>
          <p:cNvSpPr/>
          <p:nvPr/>
        </p:nvSpPr>
        <p:spPr>
          <a:xfrm>
            <a:off x="384048" y="5532120"/>
            <a:ext cx="8375904" cy="777240"/>
          </a:xfrm>
          <a:prstGeom prst="rect">
            <a:avLst/>
          </a:prstGeom>
          <a:noFill/>
          <a:ln>
            <a:noFill/>
          </a:ln>
          <a:effectLst/>
        </p:spPr>
        <p:txBody>
          <a:bodyPr rtlCol="0" anchor="ctr" wrap="square"/>
          <a:lstStyle/>
          <a:p>
            <a:pPr algn="ctr">
              <a:spcAft>
                <a:spcPts val="0"/>
              </a:spcAft>
            </a:pPr>
            <a:r>
              <a:rPr sz="2000" b="1">
                <a:solidFill>
                  <a:srgbClr val="FFFFFF"/>
                </a:solidFill>
                <a:latin typeface="Calibri"/>
              </a:rPr>
              <a:t>Which change crosses an internal boundary, and which inherited edge constrains it?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p:cNvSpPr>
            <a:spLocks noGrp="1"/>
          </p:cNvSpPr>
          <p:nvPr>
            <p:ph type="title"/>
          </p:nvPr>
        </p:nvSpPr>
        <p:spPr>
          <a:xfrm>
            <a:off x="274320" y="128016"/>
            <a:ext cx="8595360" cy="594360"/>
          </a:xfrm>
          <a:prstGeom prst="rect">
            <a:avLst/>
          </a:prstGeom>
          <a:noFill/>
          <a:ln>
            <a:noFill/>
          </a:ln>
          <a:effectLst/>
        </p:spPr>
        <p:txBody>
          <a:bodyPr rtlCol="0" anchor="ctr" wrap="square"/>
          <a:lstStyle/>
          <a:p>
            <a:pPr algn="l">
              <a:spcAft>
                <a:spcPts val="0"/>
              </a:spcAft>
            </a:pPr>
            <a:r>
              <a:rPr sz="2400" b="0">
                <a:solidFill>
                  <a:srgbClr val="2D2D2D"/>
                </a:solidFill>
                <a:latin typeface="Calibri"/>
              </a:rPr>
              <a:t>The reliability question through the Act III method</a:t>
            </a:r>
          </a:p>
        </p:txBody>
      </p:sp>
      <p:sp>
        <p:nvSpPr>
          <p:cNvPr id="3" name="Method" descr="Act III method step Problem: passing I/O tests is not yet reliance"/>
          <p:cNvSpPr/>
          <p:nvPr/>
        </p:nvSpPr>
        <p:spPr>
          <a:xfrm>
            <a:off x="411480" y="914400"/>
            <a:ext cx="2468880" cy="12984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Problem</a:t>
            </a:r>
          </a:p>
          <a:p>
            <a:pPr algn="ctr">
              <a:spcAft>
                <a:spcPts val="0"/>
              </a:spcAft>
            </a:pPr>
            <a:r>
              <a:rPr sz="2000" b="0">
                <a:solidFill>
                  <a:srgbClr val="FFFFFF"/>
                </a:solidFill>
                <a:latin typeface="Calibri"/>
              </a:rPr>
              <a:t>passing I/O tests is not yet reliance</a:t>
            </a:r>
          </a:p>
        </p:txBody>
      </p:sp>
      <p:sp>
        <p:nvSpPr>
          <p:cNvPr id="4" name="Method" descr="Act III method step Model: recovered structure, dependencies, obligations"/>
          <p:cNvSpPr/>
          <p:nvPr/>
        </p:nvSpPr>
        <p:spPr>
          <a:xfrm>
            <a:off x="3337560" y="914400"/>
            <a:ext cx="2468880" cy="12984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Model</a:t>
            </a:r>
          </a:p>
          <a:p>
            <a:pPr algn="ctr">
              <a:spcAft>
                <a:spcPts val="0"/>
              </a:spcAft>
            </a:pPr>
            <a:r>
              <a:rPr sz="2000" b="0">
                <a:solidFill>
                  <a:srgbClr val="FFFFFF"/>
                </a:solidFill>
                <a:latin typeface="Calibri"/>
              </a:rPr>
              <a:t>recovered structure, dependencies, obligations</a:t>
            </a:r>
          </a:p>
        </p:txBody>
      </p:sp>
      <p:sp>
        <p:nvSpPr>
          <p:cNvPr id="5" name="Method" descr="Act III method step Judgment: organization and dependency selection"/>
          <p:cNvSpPr/>
          <p:nvPr/>
        </p:nvSpPr>
        <p:spPr>
          <a:xfrm>
            <a:off x="6263640" y="914400"/>
            <a:ext cx="2468880" cy="12984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Judgment</a:t>
            </a:r>
          </a:p>
          <a:p>
            <a:pPr algn="ctr">
              <a:spcAft>
                <a:spcPts val="0"/>
              </a:spcAft>
            </a:pPr>
            <a:r>
              <a:rPr sz="2000" b="0">
                <a:solidFill>
                  <a:srgbClr val="FFFFFF"/>
                </a:solidFill>
                <a:latin typeface="Calibri"/>
              </a:rPr>
              <a:t>organization and dependency selection</a:t>
            </a:r>
          </a:p>
        </p:txBody>
      </p:sp>
      <p:sp>
        <p:nvSpPr>
          <p:cNvPr id="6" name="Method" descr="Act III method step Accept / reject: the stated obligations hold"/>
          <p:cNvSpPr/>
          <p:nvPr/>
        </p:nvSpPr>
        <p:spPr>
          <a:xfrm>
            <a:off x="411480" y="3246120"/>
            <a:ext cx="2468880" cy="12984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Accept / reject</a:t>
            </a:r>
          </a:p>
          <a:p>
            <a:pPr algn="ctr">
              <a:spcAft>
                <a:spcPts val="0"/>
              </a:spcAft>
            </a:pPr>
            <a:r>
              <a:rPr sz="2000" b="0">
                <a:solidFill>
                  <a:srgbClr val="FFFFFF"/>
                </a:solidFill>
                <a:latin typeface="Calibri"/>
              </a:rPr>
              <a:t>the stated obligations hold</a:t>
            </a:r>
          </a:p>
        </p:txBody>
      </p:sp>
      <p:sp>
        <p:nvSpPr>
          <p:cNvPr id="7" name="Method" descr="Act III method step Evidence: change impact, invariant tests, supply-chain checks"/>
          <p:cNvSpPr/>
          <p:nvPr/>
        </p:nvSpPr>
        <p:spPr>
          <a:xfrm>
            <a:off x="3337560" y="3246120"/>
            <a:ext cx="2468880" cy="12984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Evidence</a:t>
            </a:r>
          </a:p>
          <a:p>
            <a:pPr algn="ctr">
              <a:spcAft>
                <a:spcPts val="0"/>
              </a:spcAft>
            </a:pPr>
            <a:r>
              <a:rPr sz="2000" b="0">
                <a:solidFill>
                  <a:srgbClr val="FFFFFF"/>
                </a:solidFill>
                <a:latin typeface="Calibri"/>
              </a:rPr>
              <a:t>change impact, invariant tests, supply-chain checks</a:t>
            </a:r>
          </a:p>
        </p:txBody>
      </p:sp>
      <p:sp>
        <p:nvSpPr>
          <p:cNvPr id="8" name="Method" descr="Act III method step Realize: refactor, configure, upgrade"/>
          <p:cNvSpPr/>
          <p:nvPr/>
        </p:nvSpPr>
        <p:spPr>
          <a:xfrm>
            <a:off x="6263640" y="3246120"/>
            <a:ext cx="2468880" cy="129844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0"/>
              </a:spcAft>
            </a:pPr>
            <a:r>
              <a:rPr sz="2000" b="1">
                <a:solidFill>
                  <a:srgbClr val="FFFFFF"/>
                </a:solidFill>
                <a:latin typeface="Calibri"/>
              </a:rPr>
              <a:t>Realize</a:t>
            </a:r>
          </a:p>
          <a:p>
            <a:pPr algn="ctr">
              <a:spcAft>
                <a:spcPts val="0"/>
              </a:spcAft>
            </a:pPr>
            <a:r>
              <a:rPr sz="2000" b="0">
                <a:solidFill>
                  <a:srgbClr val="FFFFFF"/>
                </a:solidFill>
                <a:latin typeface="Calibri"/>
              </a:rPr>
              <a:t>refactor, configure, upgrade</a:t>
            </a:r>
          </a:p>
        </p:txBody>
      </p:sp>
      <p:sp>
        <p:nvSpPr>
          <p:cNvPr id="9" name="Arrow"/>
          <p:cNvSpPr/>
          <p:nvPr/>
        </p:nvSpPr>
        <p:spPr>
          <a:xfrm>
            <a:off x="2907792" y="1463040"/>
            <a:ext cx="402336" cy="201168"/>
          </a:xfrm>
          <a:prstGeom prst="righ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Arrow"/>
          <p:cNvSpPr/>
          <p:nvPr/>
        </p:nvSpPr>
        <p:spPr>
          <a:xfrm>
            <a:off x="5833872" y="1463040"/>
            <a:ext cx="402336" cy="201168"/>
          </a:xfrm>
          <a:prstGeom prst="righ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Arrow" descr="Judgment flows down to Realize"/>
          <p:cNvSpPr/>
          <p:nvPr/>
        </p:nvSpPr>
        <p:spPr>
          <a:xfrm>
            <a:off x="7315200" y="2212848"/>
            <a:ext cx="365760" cy="1033272"/>
          </a:xfrm>
          <a:prstGeom prst="down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Arrow"/>
          <p:cNvSpPr/>
          <p:nvPr/>
        </p:nvSpPr>
        <p:spPr>
          <a:xfrm>
            <a:off x="5833872" y="3794760"/>
            <a:ext cx="402336" cy="201168"/>
          </a:xfrm>
          <a:prstGeom prst="lef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3" name="Arrow"/>
          <p:cNvSpPr/>
          <p:nvPr/>
        </p:nvSpPr>
        <p:spPr>
          <a:xfrm>
            <a:off x="2907792" y="3794760"/>
            <a:ext cx="402336" cy="201168"/>
          </a:xfrm>
          <a:prstGeom prst="leftArrow">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FeedbackModel" descr="Feedback from accept/reject to the model: rethink the model"/>
          <p:cNvSpPr/>
          <p:nvPr/>
        </p:nvSpPr>
        <p:spPr>
          <a:xfrm>
            <a:off x="1417320" y="2212848"/>
            <a:ext cx="2788920" cy="1033271"/>
          </a:xfrm>
          <a:custGeom>
            <a:avLst/>
            <a:gdLst/>
            <a:ahLst/>
            <a:cxnLst/>
            <a:rect l="0" t="0" r="0" b="0"/>
            <a:pathLst>
              <a:path w="2788920" h="1033271" fill="none">
                <a:moveTo>
                  <a:pt x="0" y="1033272"/>
                </a:moveTo>
                <a:lnTo>
                  <a:pt x="0" y="237744"/>
                </a:lnTo>
                <a:lnTo>
                  <a:pt x="2788920" y="237744"/>
                </a:lnTo>
                <a:lnTo>
                  <a:pt x="2788920" y="0"/>
                </a:lnTo>
              </a:path>
            </a:pathLst>
          </a:custGeom>
          <a:noFill/>
          <a:ln w="15875">
            <a:solidFill>
              <a:srgbClr val="8E6F3E"/>
            </a:solidFill>
            <a:prstDash val="dash"/>
            <a:tailEnd type="triangle" w="med" len="med"/>
          </a:ln>
        </p:spPr>
        <p:txBody>
          <a:bodyPr rtlCol="0" anchor="ctr" wrap="square"/>
          <a:lstStyle/>
          <a:p/>
        </p:txBody>
      </p:sp>
      <p:sp>
        <p:nvSpPr>
          <p:cNvPr id="15" name="FeedbackJudgment" descr="Feedback from accept/reject to the judgment: re-make the judgment"/>
          <p:cNvSpPr/>
          <p:nvPr/>
        </p:nvSpPr>
        <p:spPr>
          <a:xfrm>
            <a:off x="2148840" y="2212848"/>
            <a:ext cx="4983479" cy="1033271"/>
          </a:xfrm>
          <a:custGeom>
            <a:avLst/>
            <a:gdLst/>
            <a:ahLst/>
            <a:cxnLst/>
            <a:rect l="0" t="0" r="0" b="0"/>
            <a:pathLst>
              <a:path w="4983479" h="1033271" fill="none">
                <a:moveTo>
                  <a:pt x="0" y="1033272"/>
                </a:moveTo>
                <a:lnTo>
                  <a:pt x="0" y="841248"/>
                </a:lnTo>
                <a:lnTo>
                  <a:pt x="4983480" y="841248"/>
                </a:lnTo>
                <a:lnTo>
                  <a:pt x="4983480" y="0"/>
                </a:lnTo>
              </a:path>
            </a:pathLst>
          </a:custGeom>
          <a:noFill/>
          <a:ln w="15875">
            <a:solidFill>
              <a:srgbClr val="8E6F3E"/>
            </a:solidFill>
            <a:prstDash val="dash"/>
            <a:tailEnd type="triangle" w="med" len="med"/>
          </a:ln>
        </p:spPr>
        <p:txBody>
          <a:bodyPr rtlCol="0" anchor="ctr" wrap="square"/>
          <a:lstStyle/>
          <a:p/>
        </p:txBody>
      </p:sp>
      <p:sp>
        <p:nvSpPr>
          <p:cNvPr id="16" name="FeedbackLabel"/>
          <p:cNvSpPr/>
          <p:nvPr/>
        </p:nvSpPr>
        <p:spPr>
          <a:xfrm>
            <a:off x="4434840" y="2523744"/>
            <a:ext cx="2468880" cy="475488"/>
          </a:xfrm>
          <a:prstGeom prst="rect">
            <a:avLst/>
          </a:prstGeom>
          <a:noFill/>
          <a:ln>
            <a:noFill/>
          </a:ln>
          <a:effectLst/>
        </p:spPr>
        <p:txBody>
          <a:bodyPr rtlCol="0" anchor="ctr" wrap="square" lIns="27432" rIns="27432"/>
          <a:lstStyle/>
          <a:p>
            <a:pPr algn="ctr">
              <a:spcAft>
                <a:spcPts val="0"/>
              </a:spcAft>
            </a:pPr>
            <a:r>
              <a:rPr sz="2000" b="0">
                <a:solidFill>
                  <a:srgbClr val="555960"/>
                </a:solidFill>
                <a:latin typeface="Calibri"/>
              </a:rPr>
              <a:t>revise the model or the judgment</a:t>
            </a:r>
          </a:p>
        </p:txBody>
      </p:sp>
      <p:cxnSp>
        <p:nvCxnSpPr>
          <p:cNvPr id="17" name="AlignLink"/>
          <p:cNvCxnSpPr/>
          <p:nvPr/>
        </p:nvCxnSpPr>
        <p:spPr>
          <a:xfrm>
            <a:off x="4572000" y="4544568"/>
            <a:ext cx="0" cy="128016"/>
          </a:xfrm>
          <a:prstGeom prst="line">
            <a:avLst/>
          </a:prstGeom>
          <a:ln w="25400">
            <a:solidFill>
              <a:srgbClr val="8E6F3E"/>
            </a:solidFill>
          </a:ln>
        </p:spPr>
      </p:cxnSp>
      <p:cxnSp>
        <p:nvCxnSpPr>
          <p:cNvPr id="18" name="AlignLink"/>
          <p:cNvCxnSpPr/>
          <p:nvPr/>
        </p:nvCxnSpPr>
        <p:spPr>
          <a:xfrm>
            <a:off x="7498080" y="4544568"/>
            <a:ext cx="0" cy="128016"/>
          </a:xfrm>
          <a:prstGeom prst="line">
            <a:avLst/>
          </a:prstGeom>
          <a:ln w="25400">
            <a:solidFill>
              <a:srgbClr val="8E6F3E"/>
            </a:solidFill>
          </a:ln>
        </p:spPr>
      </p:cxnSp>
      <p:sp>
        <p:nvSpPr>
          <p:cNvPr id="19" name="AlignBand"/>
          <p:cNvSpPr/>
          <p:nvPr/>
        </p:nvSpPr>
        <p:spPr>
          <a:xfrm>
            <a:off x="411480" y="4672584"/>
            <a:ext cx="8321040" cy="713232"/>
          </a:xfrm>
          <a:prstGeom prst="rect">
            <a:avLst/>
          </a:prstGeom>
          <a:solidFill>
            <a:srgbClr val="FCFAF6"/>
          </a:solidFill>
          <a:ln>
            <a:noFill/>
          </a:ln>
          <a:effectLst/>
        </p:spPr>
        <p:txBody>
          <a:bodyPr rtlCol="0" anchor="ctr" wrap="square"/>
          <a:lstStyle/>
          <a:p/>
        </p:txBody>
      </p:sp>
      <p:sp>
        <p:nvSpPr>
          <p:cNvPr id="20" name="AlignText"/>
          <p:cNvSpPr/>
          <p:nvPr/>
        </p:nvSpPr>
        <p:spPr>
          <a:xfrm>
            <a:off x="557784" y="4727448"/>
            <a:ext cx="8046720" cy="621792"/>
          </a:xfrm>
          <a:prstGeom prst="rect">
            <a:avLst/>
          </a:prstGeom>
          <a:noFill/>
          <a:ln>
            <a:noFill/>
          </a:ln>
          <a:effectLst/>
        </p:spPr>
        <p:txBody>
          <a:bodyPr rtlCol="0" anchor="ctr" wrap="square"/>
          <a:lstStyle/>
          <a:p>
            <a:pPr algn="l">
              <a:spcAft>
                <a:spcPts val="0"/>
              </a:spcAft>
            </a:pPr>
            <a:r>
              <a:rPr sz="2000" b="1">
                <a:solidFill>
                  <a:srgbClr val="8E6F3E"/>
                </a:solidFill>
                <a:latin typeface="Calibri"/>
              </a:rPr>
              <a:t>ALIGNMENT, alongside realization and evidence: </a:t>
            </a:r>
            <a:r>
              <a:rPr sz="2000" b="0">
                <a:solidFill>
                  <a:srgbClr val="555960"/>
                </a:solidFill>
                <a:latin typeface="Calibri"/>
              </a:rPr>
              <a:t>dependency rules, architectural checks, CI gates, release gates</a:t>
            </a:r>
          </a:p>
        </p:txBody>
      </p:sp>
      <p:sp>
        <p:nvSpPr>
          <p:cNvPr id="21" name="FooterBand"/>
          <p:cNvSpPr/>
          <p:nvPr/>
        </p:nvSpPr>
        <p:spPr>
          <a:xfrm>
            <a:off x="274320" y="5513832"/>
            <a:ext cx="859536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FooterBandText"/>
          <p:cNvSpPr/>
          <p:nvPr/>
        </p:nvSpPr>
        <p:spPr>
          <a:xfrm>
            <a:off x="384048" y="5532120"/>
            <a:ext cx="8375904" cy="777240"/>
          </a:xfrm>
          <a:prstGeom prst="rect">
            <a:avLst/>
          </a:prstGeom>
          <a:noFill/>
          <a:ln>
            <a:noFill/>
          </a:ln>
          <a:effectLst/>
        </p:spPr>
        <p:txBody>
          <a:bodyPr rtlCol="0" anchor="ctr" wrap="square"/>
          <a:lstStyle/>
          <a:p>
            <a:pPr algn="ctr">
              <a:spcAft>
                <a:spcPts val="0"/>
              </a:spcAft>
            </a:pPr>
            <a:r>
              <a:rPr sz="2000" b="1">
                <a:solidFill>
                  <a:srgbClr val="FFFFFF"/>
                </a:solidFill>
                <a:latin typeface="Calibri"/>
              </a:rPr>
              <a:t>The structure and the inherited components have been examined.</a:t>
            </a:r>
          </a:p>
          <a:p>
            <a:pPr algn="ctr">
              <a:spcAft>
                <a:spcPts val="0"/>
              </a:spcAft>
            </a:pPr>
            <a:r>
              <a:rPr sz="2000" b="1">
                <a:solidFill>
                  <a:srgbClr val="FFFFFF"/>
                </a:solidFill>
                <a:latin typeface="Calibri"/>
              </a:rPr>
              <a:t>Next: does the system meet quantitative demands under load and failure?</a:t>
            </a:r>
          </a:p>
        </p:txBody>
      </p:sp>
    </p:spTree>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On-screen Show (4:3)</PresentationFormat>
  <Paragraphs>0</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Times</vt:lpstr>
      <vt:lpstr>Arial</vt:lpstr>
      <vt:lpstr>Calibri</vt:lpstr>
      <vt:lpstr>Purdue1</vt:lpstr>
      <vt:lpstr>Architecture, Technical Debt &amp; Software Supply Chains</vt:lpstr>
      <vt:lpstr>Today: five engineering questions</vt:lpstr>
      <vt:lpstr>It works, but is it reliable?</vt:lpstr>
      <vt:lpstr>What can make working software difficult to trust?</vt:lpstr>
      <vt:lpstr>Mud, erosion, and debt are different diagnoses</vt:lpstr>
      <vt:lpstr>Why do working systems become mud?</vt:lpstr>
      <vt:lpstr>Debt varies by deliberation and by prudence</vt:lpstr>
      <vt:lpstr>Price the shortcut before you take it</vt:lpstr>
      <vt:lpstr>What architecture did we actually build?</vt:lpstr>
      <vt:lpstr>Recover the structure from the realization</vt:lpstr>
      <vt:lpstr>Measure what the change decision depends on</vt:lpstr>
      <vt:lpstr>Erosion survives a green test suite</vt:lpstr>
      <vt:lpstr>Which architectural patterns fit our problem?</vt:lpstr>
      <vt:lpstr>Separate the dimensions before comparing patterns</vt:lpstr>
      <vt:lpstr>Where should the reservation logic meet its users?</vt:lpstr>
      <vt:lpstr>A monolith is one deployable, not one blob</vt:lpstr>
      <vt:lpstr>Same capabilities, three deployment boundaries</vt:lpstr>
      <vt:lpstr>A service split sends a distributed-systems bill</vt:lpstr>
      <vt:lpstr>Compare the patterns against named properties</vt:lpstr>
      <vt:lpstr>Restructure behind a safety net, migrate in slices</vt:lpstr>
      <vt:lpstr>Exercise: organize the reservation service</vt:lpstr>
      <vt:lpstr>What did we inherit from dependencies?</vt:lpstr>
      <vt:lpstr>One import brings a graph, not a package</vt:lpstr>
      <vt:lpstr>An SBOM is an inventory, not a verdict</vt:lpstr>
      <vt:lpstr>Choose the dependency your requirements can trust</vt:lpstr>
      <vt:lpstr>A license is an engineering constraint you inherited</vt:lpstr>
      <vt:lpstr>Provenance asks how the artifact reached you</vt:lpstr>
      <vt:lpstr>A vulnerable transitive dependency forces a decision</vt:lpstr>
      <vt:lpstr>Controls make supply-chain obligations durable</vt:lpstr>
      <vt:lpstr>What makes the system worthy of reliance?</vt:lpstr>
      <vt:lpstr>One system, two graphs, one reliance question</vt:lpstr>
      <vt:lpstr>The reliability question through the Act III method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Architecture, Technical Debt &amp; Software Supply Chains</dc:title>
  <dc:creator>ECE 30861 / CSCI 45000</dc:creator>
  <dcterms:modified xsi:type="dcterms:W3CDTF">2026-10-29T00:00:00Z</dcterms:modified>
</cp:coreProperties>
</file>