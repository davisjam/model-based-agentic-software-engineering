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0"/>
  </p:notesMasterIdLst>
  <p:sldIdLst>
    <p:sldId id="256" r:id="rId100"/>
    <p:sldId id="257" r:id="rId101"/>
    <p:sldId id="258" r:id="rId102"/>
    <p:sldId id="288" r:id="rId39"/>
    <p:sldId id="259" r:id="rId103"/>
    <p:sldId id="260" r:id="rId104"/>
    <p:sldId id="261" r:id="rId105"/>
    <p:sldId id="262" r:id="rId106"/>
    <p:sldId id="265" r:id="rId109"/>
    <p:sldId id="266" r:id="rId110"/>
    <p:sldId id="267" r:id="rId111"/>
    <p:sldId id="272" r:id="rId116"/>
    <p:sldId id="273" r:id="rId117"/>
    <p:sldId id="263" r:id="rId107"/>
    <p:sldId id="276" r:id="rId120"/>
    <p:sldId id="277" r:id="rId121"/>
    <p:sldId id="278" r:id="rId122"/>
    <p:sldId id="279" r:id="rId123"/>
    <p:sldId id="280" r:id="rId124"/>
    <p:sldId id="281" r:id="rId125"/>
    <p:sldId id="282" r:id="rId126"/>
    <p:sldId id="283" r:id="rId127"/>
    <p:sldId id="285" r:id="rId129"/>
    <p:sldId id="275" r:id="rId119"/>
    <p:sldId id="284" r:id="rId128"/>
    <p:sldId id="286" r:id="rId130"/>
    <p:sldId id="287" r:id="rId13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521415D9-36F7-43E2-AB2F-B90AF26B5E84}">
      <ns0:sectionLst xmlns:ns0="http://schemas.microsoft.com/office/powerpoint/2010/main">
        <ns0:section name="Opening" id="{2ABA4393-7EC6-490A-84CE-426198F2CFC1}">
          <ns0:sldIdLst>
            <ns0:sldId id="256"/>
            <ns0:sldId id="257"/>
            <ns0:sldId id="258"/>
            <ns0:sldId id="288"/>
          </ns0:sldIdLst>
        </ns0:section>
        <ns0:section name="What structure did we build, and what will it cost to change?" id="{4964CCBA-909F-4226-9E1B-E8417909C23E}">
          <ns0:sldIdLst>
            <ns0:sldId id="259"/>
            <ns0:sldId id="260"/>
            <ns0:sldId id="261"/>
            <ns0:sldId id="262"/>
            <ns0:sldId id="265"/>
            <ns0:sldId id="266"/>
            <ns0:sldId id="267"/>
            <ns0:sldId id="272"/>
            <ns0:sldId id="273"/>
            <ns0:sldId id="263"/>
            <ns0:sldId id="276"/>
          </ns0:sldIdLst>
        </ns0:section>
        <ns0:section name="What components and obligations did we inherit?" id="{0E3E55DE-55E9-4670-A403-F037B024D9ED}">
          <ns0:sldIdLst>
            <ns0:sldId id="277"/>
            <ns0:sldId id="278"/>
            <ns0:sldId id="279"/>
            <ns0:sldId id="280"/>
            <ns0:sldId id="281"/>
            <ns0:sldId id="282"/>
            <ns0:sldId id="283"/>
          </ns0:sldIdLst>
        </ns0:section>
        <ns0:section name="What evidence and controls justify continued reliance?" id="{6237A54F-13CA-4FC5-B9A0-CD59B627FE64}">
          <ns0:sldIdLst>
            <ns0:sldId id="285"/>
            <ns0:sldId id="275"/>
            <ns0:sldId id="284"/>
            <ns0:sldId id="286"/>
            <ns0:sldId id="287"/>
          </ns0:sldIdLst>
        </ns0:section>
      </ns0: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5"/>
    <p:restoredTop sz="80913"/>
  </p:normalViewPr>
  <p:slideViewPr>
    <p:cSldViewPr snapToGrid="0">
      <p:cViewPr varScale="1">
        <p:scale>
          <a:sx n="100" d="100"/>
          <a:sy n="100" d="100"/>
        </p:scale>
        <p:origin x="1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9" Type="http://schemas.openxmlformats.org/officeDocument/2006/relationships/slide" Target="slides/slide33.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6" Type="http://schemas.openxmlformats.org/officeDocument/2006/relationships/slide" Target="slides/slide17.xml"/><Relationship Id="rId117" Type="http://schemas.openxmlformats.org/officeDocument/2006/relationships/slide" Target="slides/slide18.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Orient: the system works; today asks what we inherited by accepting it.</a:t>
            </a:r>
          </a:p>
          <a:p/>
          <a:p>
            <a:r>
              <a:t>RECAP, one sentence each: the kickoff gave us Campus Room Reservations; Compute Environments gave it a deployment and release gates; Data Management gave it persistent reservations, a schema with constraints, and the no-overlap invariant enforced in the database. The functional I/O tests pass.</a:t>
            </a:r>
          </a:p>
          <a:p/>
          <a:p>
            <a:r>
              <a:t>THE TITLE: (Agentic) Technical Debt. The parentheses are deliberate: technical debt, architecture, and dependency risk are old problems; agents change their economics. A coding agent produced the working implementation cheaply, and cheap implementation changes the cost of taking on debt AND of repaying it; that thread runs through the debt pricing, the restructuring decision, and the inherited-dependency judgments.</a:t>
            </a:r>
          </a:p>
          <a:p/>
          <a:p>
            <a:r>
              <a:t>THE SUBTITLE: it works. What did we inherit? Accepting a working implementation means inheriting two things we may not yet understand: an internal structure we did not design in detail, and an external dependency graph we did not choose. Today is about maintainability, evolvability, and inherited obligations.</a:t>
            </a:r>
          </a:p>
          <a:p/>
          <a:p>
            <a:r>
              <a:t>DISTINGUISH from the next unit now: Performance and Reliability asks whether behavior satisfies quantitative requirements under load and failure. Today is the structural half: can we understand and change what we accepted?</a:t>
            </a:r>
          </a:p>
          <a:p/>
          <a:p>
            <a:r>
              <a:t>TRANSITION: the map first.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A lecture map of three questions; two movements plus a closing judgment.</a:t>
            </a:r>
          </a:p>
          <a:p/>
          <a:p>
            <a:r>
              <a:t>WALK the three questions in one breath each. The first interrogates the structure we created: what shape did the implementation take, and what will changing it cost? The second interrogates the components we inherited: packages, licenses, provenance. The third makes the resulting judgments durable through evidence and controls.</a:t>
            </a:r>
          </a:p>
          <a:p/>
          <a:p>
            <a:r>
              <a:t>SAY: the distinctive Act III activity today is evaluating an implementation that already exists. We are not choosing an architecture on a blank page; we are deciding whether to keep, restructure, or replace one we accepted.</a:t>
            </a:r>
          </a:p>
          <a:p/>
          <a:p>
            <a:r>
              <a:t>Do not linger: the provocation is next.</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 A passing I/O specification establishes selected observable properties, not the cost of change or the trustworthiness of inherited dependencies.</a:t>
            </a:r>
          </a:p>
          <a:p/>
          <a:p>
            <a:r>
              <a:t>WALK THE LEFT: the agent-produced service passes its functional I/O tests, and the no-overlap invariant holds under the conditions we specified in Data Management. That is real evidence. It is evidence about selected observable behavior.</a:t>
            </a:r>
          </a:p>
          <a:p/>
          <a:p>
            <a:r>
              <a:t>ANIMATE</a:t>
            </a:r>
          </a:p>
          <a:p/>
          <a:p>
            <a:r>
              <a:t>REVEAL THE REQUEST: laboratory rooms need their own booking policies and approvals, and that policy will change on its own schedule. This is a hypothetical change request, not an implemented fact. Nothing about it is exotic; it is the ordinary fate of working software.</a:t>
            </a:r>
          </a:p>
          <a:p/>
          <a:p>
            <a:r>
              <a:t>WALK THE SKETCH and NAME THE DISTINCTION: inside the accepted implementation sits an INTERNAL architecture (handlers call policy, auth, and storage; everything meets at storage), and alongside it an EXTERNAL dependency graph (the packages those modules import) that we did not draw at all. The sketch is illustrative, not a claim about a real generated repository. Do NOT say agents inherently produce mud; the question is what we KNOW about either graph, which is nothing yet.</a:t>
            </a:r>
          </a:p>
          <a:p/>
          <a:p>
            <a:r>
              <a:t>ASK (footer): which modules must change? What third-party packages does this code rely on? How would we know whether we can trust and update them? Take two or three answers; the honest answer is "we cannot tell from the tests."</a:t>
            </a:r>
          </a:p>
          <a:p/>
          <a:p>
            <a:r>
              <a:t>ENGINEERING POINT: agents regenerate code quickly; engineers still need to know which architectural obligations survive a change, what must be revalidated, and whether changes propagate across boundaries. This is a question, not a verdict.</a:t>
            </a:r>
          </a:p>
          <a:p/>
          <a:p>
            <a:r>
              <a:t>TRANSITION: hold that picture; the next slide names its two halves.</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Name the first movement and the reversal it rests on.</a:t>
            </a:r>
          </a:p>
          <a:p/>
          <a:p>
            <a:r>
              <a:t>SAY: Act I drew the model first and realized it second. Today the realization exists first, so the arrow reverses: we name the failure shapes working software takes (mud, erosion, debt), recover the structure from the code, measure it, and then decide whether restructuring is worth its cost.</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Separate three conditions students conflate; each gets a tiny figure, not a prose card.</a:t>
            </a:r>
          </a:p>
          <a:p/>
          <a:p>
            <a:r>
              <a:t>WALK THE THREE: mud is the ABSENCE of discernible boundaries (Foote &amp; Yoder); erosion PRESUPPOSES an intended boundary and names its bypass; debt is an economic claim about EXPECTED FUTURE COST, which may be a prudent trade.</a:t>
            </a:r>
          </a:p>
          <a:p/>
          <a:p>
            <a:r>
              <a:t>SAY EXPLICITLY: architectural erosion presupposes an intended architecture that is being violated; a big ball of mud need not: mud can arise where no coherent architecture was ever intended. That asymmetry is why the diagnoses call for different responses.</a:t>
            </a:r>
          </a:p>
          <a:p/>
          <a:p>
            <a:r>
              <a:t>The distinctions matter because the responses differ: mud calls for recovering or imposing structure; erosion calls for repairing and then guarding a boundary; debt calls for pricing and scheduling repayment.</a:t>
            </a:r>
          </a:p>
          <a:p/>
          <a:p>
            <a:r>
              <a:t>NON-CLAIMS to state aloud: a monolith is not automatically mud; ugliness is not automatically debt; and a green functional suite establishes none of these conditions absent, because all three are properties of structure and cost, not of observable I/O behavior.</a:t>
            </a:r>
          </a:p>
          <a:p/>
          <a:p>
            <a:r>
              <a:t>SOURCES: Foote &amp; Yoder 1999 (laputan.org/mud); Cunningham 1992 debt metaphor; Kruchten et al. 2012 for debt as theory and practice.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1.5 minutes. Mud has causes, and they are often rational; the change request is what changes the economics.</a:t>
            </a:r>
          </a:p>
          <a:p/>
          <a:p>
            <a:r>
              <a:t>WALK THE CAUSES (Foote &amp; Yoder): time pressure, exploratory requirements, short expected lifetime. These are not moral failures; they are forces.</a:t>
            </a:r>
          </a:p>
          <a:p/>
          <a:p>
            <a:r>
              <a:t>ASK (right card): must the initial agent-generated service be clean before any user exists? Let the room defend both sides for a moment. The honest answer: unstructured-but-working is often the right first state; Foote and Yoder say as much.</a:t>
            </a:r>
          </a:p>
          <a:p/>
          <a:p>
            <a:r>
              <a:t>THEN LAND IT: the laboratory-approval request changes the economics. Structure is bought because change arrived, not because tidiness is a virtue. Degradation also compounds: Ahmed et al. measured design degradation growing over project lifetimes across OSS projects (one study, a trend, not a law).</a:t>
            </a:r>
          </a:p>
          <a:p/>
          <a:p>
            <a:r>
              <a:t>TRANSITION: if some debt is rational, we need a vocabulary for judging it. Fowler supplies one.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Fowler separates the intent axis from the judgment axis; the quadrant rehabilitates deliberate prudent debt.</a:t>
            </a:r>
          </a:p>
          <a:p/>
          <a:p>
            <a:r>
              <a:t>WALK THE QUADRANTS with the running example: deliberate-prudent is shipping the laboratory policy hard-coded now with the cost recorded and a repayment plan; deliberate-reckless skips design knowingly; inadvertent-reckless does not know what it does not know; inadvertent-prudent is the interesting one: after building, we understand the domain well enough to see the design we should have had. New knowledge reveals debt nobody chose.</a:t>
            </a:r>
          </a:p>
          <a:p/>
          <a:p>
            <a:r>
              <a:t>The red line: not all ugliness is debt. Debt is a claim about expected future cost. Code you dislike but will never change again costs nothing.</a:t>
            </a:r>
          </a:p>
          <a:p/>
          <a:p>
            <a:r>
              <a:t>SOURCE: Fowler 2009, Technical Debt Quadrant. The quadrant wording on the cards follows his phrasing.</a:t>
            </a:r>
          </a:p>
          <a:p/>
          <a:p>
            <a:r>
              <a:t>TRANSITION: judging our own debt requires seeing the structure we actually built. Next: recover it.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Students price a real shortcut under two horizons; the answer flips with the horizon.</a:t>
            </a:r>
          </a:p>
          <a:p/>
          <a:p>
            <a:r>
              <a:t>SET UP the numbers (McConnell 2008): clean costs 10 staff-days; the shortcut costs 2 now, 0.5 per month in servicing, and 12 to retrofit properly later.</a:t>
            </a:r>
          </a:p>
          <a:p/>
          <a:p>
            <a:r>
              <a:t>ASK the room to compute both futures BEFORE revealing: (A) feature retires at three months; (B) feature operates 24 months and we then retrofit. Give them a minute.</a:t>
            </a:r>
          </a:p>
          <a:p/>
          <a:p>
            <a:r>
              <a:t>ANIMATE</a:t>
            </a:r>
          </a:p>
          <a:p/>
          <a:p>
            <a:r>
              <a:t>REVEAL: A gives 2 + 1.5 = 3.5 against 10: the shortcut wins, and taking it was prudent-deliberate debt. B gives 2 + 12 + 12 = 26 against 10: the clean design wins by a factor of 2.6. Same shortcut, opposite verdicts; only the horizon moved.</a:t>
            </a:r>
          </a:p>
          <a:p/>
          <a:p>
            <a:r>
              <a:t>QUALIFY: the horizon and the steady servicing rate are stated assumptions, not facts; real interest is lumpy. THE AGENT POINT, carefully: agentic development changes the economics; implementation becomes cheaper, but future maintenance costs need not decline proportionally, because servicing, verification, and integration are dominated by humans understanding consequences. Two edges to name: agents may make it cheaper to RETIRE debt (a mechanical refactor is cheap to dispatch), and they also make it easier to ACCUMULATE debt faster than engineers recognize it.</a:t>
            </a:r>
          </a:p>
          <a:p/>
          <a:p>
            <a:r>
              <a:t>SOURCE: McConnell 2008 via the ECE 595 Maintenance deck (rebuilt figure, attribution preserved).</a:t>
            </a:r>
          </a:p>
          <a:p/>
          <a:p>
            <a:r>
              <a:t>TRANSITION: you now have the structures, the bill, and the pricing discipline. Decide for OUR system.</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Reverse Act I: recover one actual-structure model and read the change against it.</a:t>
            </a:r>
          </a:p>
          <a:p/>
          <a:p>
            <a:r>
              <a:t>DWELL ON THE CHIPS FIRST: Act I went intended model to code; today goes code to recovered model. This reversal is the distinctive activity of the whole first movement: the implementation exists, and the model is evidence we construct about it.</a:t>
            </a:r>
          </a:p>
          <a:p/>
          <a:p>
            <a:r>
              <a:t>WALK THE GRAPH once: handlers reach policy, authorization, and persistence directly; policy and authorization reach persistence; persistence owns the database conversation, except that authorization also queries the users table directly at runtime (the dashed edge).</a:t>
            </a:r>
          </a:p>
          <a:p/>
          <a:p>
            <a:r>
              <a:t>DISTINGUISH the couplings out loud: static source dependencies (solid), runtime calls (the dashed query), and shared-data coupling (two modules meeting in the same tables). They fail differently and they are measured differently.</a:t>
            </a:r>
          </a:p>
          <a:p/>
          <a:p>
            <a:r>
              <a:t>PLACE THE CHANGE: the delta sits on booking policy. Read the edges: handlers format policy decisions, and persistence stores policy-shaped rows, so the lab-policy request cannot stay local. That is a structural claim read off a recovered model, before any code is edited.</a:t>
            </a:r>
          </a:p>
          <a:p/>
          <a:p>
            <a:r>
              <a:t>Sources for the conceptual frame: Act I Architecture (boundaries, coupling) and Design (dependency direction). The implementation is an illustrative hypothetical.</a:t>
            </a:r>
          </a:p>
          <a:p/>
          <a:p>
            <a:r>
              <a:t>TRANSITION: reading edges is qualitative. Next: put numbers where a decision needs them.</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Turn the recovered graph into numbers only where a decision consumes them.</a:t>
            </a:r>
          </a:p>
          <a:p/>
          <a:p>
            <a:r>
              <a:t>WALK THE TABLE: fan-out counts what a module depends on; fan-in counts its dependents. Handlers fan out to three modules and nothing depends on them; persistence has fan-in three, so it is load-bearing. The last column is the consequential one, and it distinguishes MUST from MAY: policy must change, because the request lands there; handlers, persistence, and the database schema may be affected, because they format, store, and shape policy decisions. Say aloud that the schema is counted as a component here: Data Management taught us the database is part of the design.</a:t>
            </a:r>
          </a:p>
          <a:p/>
          <a:p>
            <a:r>
              <a:t>NAME the standard vocabulary once: efferent and afferent coupling, cycles, and change coupling mined from commit history (files that keep changing together are coupled whatever the imports say).</a:t>
            </a:r>
          </a:p>
          <a:p/>
          <a:p>
            <a:r>
              <a:t>THE NON-CLAIM, firmly: these are indicators, not quality scores. High fan-in on persistence is the design working. A MAY is a prediction read off the recovered model; an implementation probe or the commit history confirms or refutes it. The Design lecture rule returns as the footer: measure the consequence that could change the decision; a scalar nobody acts on is decoration.</a:t>
            </a:r>
          </a:p>
          <a:p/>
          <a:p>
            <a:r>
              <a:t>SOURCE: Act I Design lecture, metrics slides; the footer line reuses its principle verbatim.</a:t>
            </a:r>
          </a:p>
          <a:p/>
          <a:p>
            <a:r>
              <a:t>TRANSITION: the recovered model also lets us check whether an INTENDED boundary survived. That is erosion, and tests do not catch it.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Erosion is invisible to functional tests; boundaries hold only if something checks them.</a:t>
            </a:r>
          </a:p>
          <a:p/>
          <a:p>
            <a:r>
              <a:t>WALK THE LEFT: the intended structure routes booking policy through a port, so the store can be substituted without touching policy. This is the Act I Design seam, drawn for our service.</a:t>
            </a:r>
          </a:p>
          <a:p/>
          <a:p>
            <a:r>
              <a:t>ANIMATE</a:t>
            </a:r>
          </a:p>
          <a:p/>
          <a:p>
            <a:r>
              <a:t>REVEAL THE BYPASS: one direct import of store internals, added just this once. Every functional test still passes, because behavior did not change. What changed is a MODAL property: substitution is no longer local. The model says yes, reality says no, and the model is now lying to every future reader.</a:t>
            </a:r>
          </a:p>
          <a:p/>
          <a:p>
            <a:r>
              <a:t>THE REPAIR is not only removing the edge; it is making the boundary checked: an architectural test that fails on a crossing dependency, a dependency lint, an import restriction. Alignment machinery, in the Act III sense: a constraint that governs realization, not a review that happens afterward.</a:t>
            </a:r>
          </a:p>
          <a:p/>
          <a:p>
            <a:r>
              <a:t>SOURCE: the before/after figure follows Act I Design, slide on local workarounds making the architecture false.</a:t>
            </a:r>
          </a:p>
          <a:p/>
          <a:p>
            <a:r>
              <a:t>TRANSITION: we can now see and measure the structure we have. Next: the deployment-scale shapes it could take, and what each one costs.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4.5 minutes. Kill the monolith-equals-blob misconception, then hold capabilities fixed and move only the deployment boundary.</a:t>
            </a:r>
          </a:p>
          <a:p/>
          <a:p>
            <a:r>
              <a:t>WALK A: one deployable whose insides grew without declared boundaries. This is where mud lives when it lives in a monolith. Note it still works, ships, and scales horizontally by replication.</a:t>
            </a:r>
          </a:p>
          <a:p/>
          <a:p>
            <a:r>
              <a:t>WALK B: the SAME deployable with named modules, explicit interface edges, and a declared forbidden edge: HTTP must not import persistence internals. The forbidden edge is exactly what the erosion slide taught us to CHECK rather than hope. A and B are BOTH one deployable unit, and both can be replicated; the difference is declared interfaces, not deployment count.</a:t>
            </a:r>
          </a:p>
          <a:p/>
          <a:p>
            <a:r>
              <a:t>NON-CLAIM, twice if needed: monolith is not a synonym for mud, and splitting into services is not the only road to modularity. The modular monolith buys change locality without buying a network.</a:t>
            </a:r>
          </a:p>
          <a:p/>
          <a:p>
            <a:r>
              <a:t>WALK C: booking and identity/policy as separately deployed services, each owning its own data. DWELL on the red caption: between B and C, a function call became a NETWORK CONTRACT. It can time out, be retried, be versioned, be down. Ownership also moved: policy data now lives with the policy service, and booking cannot peek at it.</a:t>
            </a:r>
          </a:p>
          <a:p/>
          <a:p>
            <a:r>
              <a:t>ASK: in C, which service enforces no-overlap? Booking owns reservations, so booking. But approvals live across the contract; a confirmed-pending-approval state now spans two services. Park that; the next slide prices it.</a:t>
            </a:r>
          </a:p>
          <a:p/>
          <a:p>
            <a:r>
              <a:t>TRANSITION: C looks clean on a slide. The bill arrives at runtime.</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Price the service split honestly, anchored on the invariant students already own.</a:t>
            </a:r>
          </a:p>
          <a:p/>
          <a:p>
            <a:r>
              <a:t>WALK THE BILL: every cross-service call gains latency and a failure mode; partial failure replaces whole-process failure; observability (tracing) becomes mandatory; data gets owners; transactions across owners are hard; and operations multiply (deploys, versions, on-call).</a:t>
            </a:r>
          </a:p>
          <a:p/>
          <a:p>
            <a:r>
              <a:t>THE INVARIANT is the anchor: in Data Management, one exclusion constraint enforced no-overlap because all writes met in one database. Split booking from approvals and that single point of enforcement is gone; you are choosing among distributed-agreement designs, each with its own failure modes.</a:t>
            </a:r>
          </a:p>
          <a:p/>
          <a:p>
            <a:r>
              <a:t>NON-CLAIM (band): microservices do not automatically scale better or isolate failure; a shared database or a chatty synchronous chain can defeat both. Qualified claims only.</a:t>
            </a:r>
          </a:p>
          <a:p/>
          <a:p>
            <a:r>
              <a:t>SOURCE: Fowler and Lewis 2014. Also fair to say aloud: the pattern earns its costs at organizational scale (independent teams, independent release cadence), which is precisely what our requirements lack.</a:t>
            </a:r>
          </a:p>
          <a:p/>
          <a:p>
            <a:r>
              <a:t>TRANSITION: that bill is one side of an economic comparison. Price the trade in general.</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The conceptual spine of the lecture, stated before any analysis: one system, two graphs, neither yet understood.</a:t>
            </a:r>
          </a:p>
          <a:p/>
          <a:p>
            <a:r>
              <a:t>NAME THE TWO GRAPHS: the internal architecture is the structure of the code we accepted: modules and the dependencies among them. The external dependency graph is the components we inherited: packages at versions, with maintainers, licenses, and build pipelines attached. Same kind of object (nodes and directed edges), different epistemics: the internal graph we can refactor; the inherited graph we can only select, wrap, or replace.</a:t>
            </a:r>
          </a:p>
          <a:p/>
          <a:p>
            <a:r>
              <a:t>STATE THE SPINE and promise to return to this exact picture at the end: we begin with two graphs we do not yet understand. We recover the internal graph. We examine the inherited graph. We decide which obligations require controls.</a:t>
            </a:r>
          </a:p>
          <a:p/>
          <a:p>
            <a:r>
              <a:t>POINT AT THE DELTA: the lab-policy change must land somewhere in the left graph, and it may be constrained by edges in the right one. Neither claim can be evaluated yet; that is the day's work.</a:t>
            </a:r>
          </a:p>
          <a:p/>
          <a:p>
            <a:r>
              <a:t>TRANSITION: first movement, the internal graph. Question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Restructuring is governed change: pin behavior, hold the invariant, move in reversible slices.</a:t>
            </a:r>
          </a:p>
          <a:p/>
          <a:p>
            <a:r>
              <a:t>WALK THE SAFETY NET: characterization tests pin what the system DOES (not what we wish it did); the no-overlap invariant test must stay green through every intermediate state; extract the policy interface before moving code; and the erosion lesson returns: an architectural check holds the new seam from day one.</a:t>
            </a:r>
          </a:p>
          <a:p/>
          <a:p>
            <a:r>
              <a:t>WALK THE STRANGLER: a router sends most traffic down the old path and a slice down the new policy service; slices grow as evidence accumulates. Name the hazards: routing drift (the router config becomes load-bearing), dual-write compatibility while both paths live, and the classic failure: a stalled migration leaves you operating TWO systems indefinitely.</a:t>
            </a:r>
          </a:p>
          <a:p/>
          <a:p>
            <a:r>
              <a:t>SCOPE: IDE-level refactorings (rename, extract) are assumed mechanics from earlier courses; today is about boundary-scale moves. Refactoring is not a synonym for service extraction. If the exercise's answer was "restructure," THIS is what that answer obligates you to.</a:t>
            </a:r>
          </a:p>
          <a:p/>
          <a:p>
            <a:r>
              <a:t>SOURCES: Fowler, Strangler Fig Application; Fowler, Refactoring (refactoring.com).</a:t>
            </a:r>
          </a:p>
          <a:p/>
          <a:p>
            <a:r>
              <a:t>TRANSITION: the same move for inherited obligations: convert one-off judgments into standing controls.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5 minutes. The movement's judgment call, made against an implementation that already exists: not which architecture to pick, but whether restructuring is justified.</a:t>
            </a:r>
          </a:p>
          <a:p/>
          <a:p>
            <a:r>
              <a:t>SET THE SCENE: your agent produced a working reservation service with weak internal boundaries, and the laboratory-policy change now touches four of five components (the measurement slide's table). More policy changes arrive every semester.</a:t>
            </a:r>
          </a:p>
          <a:p/>
          <a:p>
            <a:r>
              <a:t>RUN IT: two to three minutes in pairs, two minutes of answers. The choice: retain the current structure, refactor into a modular monolith, or extract services. Grade answers by the argument from expected change and by the evidence offered, not by the conclusion.</a:t>
            </a:r>
          </a:p>
          <a:p/>
          <a:p>
            <a:r>
              <a:t>EXPECTED CENTER OF MASS: refactoring toward a modular monolith is plausible (change locality for the policy churn, no distribution bill, atomic bookings in one database). Retain-with-discipline is defensible if the policy churn is doubted; extraction needs organizational forces we have not stated. Any answer must name EVIDENCE that would justify the restructuring cost: measured change coupling (do policy changes actually spill?), what the last policy change cost, characterization-test coverage before anything moves.</a:t>
            </a:r>
          </a:p>
          <a:p/>
          <a:p>
            <a:r>
              <a:t>PERTURB: if only one more policy change is ever expected, retaining wins (the pricing slide's horizon flip). If a second owning team takes over approvals, a service boundary starts paying (Conway pressure, independent deployment). Watch who flips and make them say which force moved them.</a:t>
            </a:r>
          </a:p>
          <a:p/>
          <a:p>
            <a:r>
              <a:t>TRANSITION: everything so far examined code we WROTE. The service also ships code nobody in the room wrote. Question 2.</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Turn the dependency-graph bridge outward: from edges we authored to edges we inherited.</a:t>
            </a:r>
          </a:p>
          <a:p/>
          <a:p>
            <a:r>
              <a:t>FRAME: the recovered internal graph and the external package graph are the same kind of object (nodes, directed edges) with different epistemics: we can read our own code; we INHERIT other people's, with its maintainers, vulnerabilities, licenses, and build pipelines.</a:t>
            </a:r>
          </a:p>
          <a:p/>
          <a:p>
            <a:r>
              <a:t>Do not treat the two graphs as identical: internal edges are structural coupling; external edges carry versions, licenses, and provenance.</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Direct dependencies are chosen; transitive ones arrive silently and in numbers.</a:t>
            </a:r>
          </a:p>
          <a:p/>
          <a:p>
            <a:r>
              <a:t>WALK THE GRAPH: the app names three direct dependencies. The framework brings an HTTP parser, the parser brings a utility library, the auth library brings crypto. Nobody on the team chose the bottom row, and the bottom row parses untrusted network input.</a:t>
            </a:r>
          </a:p>
          <a:p/>
          <a:p>
            <a:r>
              <a:t>DISTINGUISH the four inheritances: source dependencies compiled in; build-time tools that shape the artifact without shipping; runtime dependencies loaded in production; and external services called at runtime. Each has different failure and trust characteristics.</a:t>
            </a:r>
          </a:p>
          <a:p/>
          <a:p>
            <a:r>
              <a:t>NON-CLAIM (band): the package manifest is not the deployed reality: vendored code, container base images, and system libraries ship without appearing in it.</a:t>
            </a:r>
          </a:p>
          <a:p/>
          <a:p>
            <a:r>
              <a:t>TRANSITION: if we cannot trust the manifest, what inventory CAN we stand on?</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Four artifacts students conflate, ordered; the SBOM earns targeted analysis, nothing more.</a:t>
            </a:r>
          </a:p>
          <a:p/>
          <a:p>
            <a:r>
              <a:t>WALK THE TABLE: five fields per component: name, version, a package URL identifier, the declared license, the supplier when known. Small, boring, and exactly what vulnerability and license analysis need to be TARGETED rather than archaeological.</a:t>
            </a:r>
          </a:p>
          <a:p/>
          <a:p>
            <a:r>
              <a:t>WALK THE LADDER: manifest (requested), lockfile (resolved and pinned), dependency graph (relations), SBOM (a GENERATED, shareable inventory of what ships, including things the manifest never saw). Four artifacts, not one.</a:t>
            </a:r>
          </a:p>
          <a:p/>
          <a:p>
            <a:r>
              <a:t>QUALIFY, per the review: an SBOM is a generated inventory, not necessarily a complete inventory of what ships; it is only as complete as the generator's view of the build. Vendored code, base images, and system libraries can still escape it (previous slide).</a:t>
            </a:r>
          </a:p>
          <a:p/>
          <a:p>
            <a:r>
              <a:t>THE NON-CLAIM is the footer: an SBOM records what is known. It does not establish that the code is correct, safe, or even that the listed bytes are the bytes built from the listed source; that last gap is provenance, three slides ahead.</a:t>
            </a:r>
          </a:p>
          <a:p/>
          <a:p>
            <a:r>
              <a:t>SOURCES: SPDX handling-license-info; GitHub SBOM export docs.</a:t>
            </a:r>
          </a:p>
          <a:p/>
          <a:p>
            <a:r>
              <a:t>TRANSITION: inventory in hand, we still have to JUDGE components. Two candidates, one slot.</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Students judge two plausible libraries against requirements; neither column is the planted answer.</a:t>
            </a:r>
          </a:p>
          <a:p/>
          <a:p>
            <a:r>
              <a:t>SET THE SCENE: the lab-policy work needs date and interval rules. Two real-shaped candidates. Walk the rows and make both cases: A is alive (maintainers, cadence, fast patching, signed releases) but drags 12 transitive dependencies; B is tiny and dependency-free but dormant, unsigned, and historically breaks compatibility on minor bumps.</a:t>
            </a:r>
          </a:p>
          <a:p/>
          <a:p>
            <a:r>
              <a:t>ASK for a choice with a reason, then push: "none reported" under vulnerabilities is NOT "none present"; nobody is looking at a dormant library. Patched-in-days is stronger evidence of health than an empty CVE list.</a:t>
            </a:r>
          </a:p>
          <a:p/>
          <a:p>
            <a:r>
              <a:t>DISTINGUISH vulnerability (a defect attackers can use) from malicious substitution or compromise (someone shipping you hostile code); both are supply-chain risks, with different controls.</a:t>
            </a:r>
          </a:p>
          <a:p/>
          <a:p>
            <a:r>
              <a:t>EXPECTED: either answer defended from requirements is acceptable; stars-and-downloads reasoning is the graded-down move (OpenSSF guide says the same).</a:t>
            </a:r>
          </a:p>
          <a:p/>
          <a:p>
            <a:r>
              <a:t>TRANSITION: one row of that table is legal, not technical. It gets its own slide.</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Licenses bind engineering decisions; teach the tiers and kill the two folk myths.</a:t>
            </a:r>
          </a:p>
          <a:p/>
          <a:p>
            <a:r>
              <a:t>WALK THE TIERS: permissive (keep notices; Apache adds a patent grant), weak copyleft (share changes to the library itself; linkage details matter), strong copyleft (distribution of derived work carries the license; AGPL counts network service as the trigger).</a:t>
            </a:r>
          </a:p>
          <a:p/>
          <a:p>
            <a:r>
              <a:t>RUN THE SCENARIO: shipping the reservation server to another university is DISTRIBUTION; running it as a hosted service is NETWORK USE. Our hypothetical date-interval library was LGPL-3.0; which obligations bind in each future? The point is that deployment architecture and license interact.</a:t>
            </a:r>
          </a:p>
          <a:p/>
          <a:p>
            <a:r>
              <a:t>KILL THE MYTHS (red line): GPL does not prohibit commercial use; adopting a copyleft library does not automatically force the entire product open. The true statements are conditional, which is why the caveat line exists. Say "this is technical orientation, not legal advice" out loud.</a:t>
            </a:r>
          </a:p>
          <a:p/>
          <a:p>
            <a:r>
              <a:t>SPDX identifiers are shown because precise naming is itself a control: "GPL" names a family, GPL-3.0-only names an obligation set.</a:t>
            </a:r>
          </a:p>
          <a:p/>
          <a:p>
            <a:r>
              <a:t>TRANSITION: licenses govern what we may ship. Provenance asks whether the bytes are what they claim.</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Separate identity from origin, then read every mechanism as a conditional assurance.</a:t>
            </a:r>
          </a:p>
          <a:p/>
          <a:p>
            <a:r>
              <a:t>THE DISTINCTION (left card): the SBOM told us WHAT ships. Provenance asks WHERE the artifact came from and HOW it was built: was this wheel built from the tagged source, by the project's pipeline, or by whoever got to the registry first?</a:t>
            </a:r>
          </a:p>
          <a:p/>
          <a:p>
            <a:r>
              <a:t>WALK THE TABLE, two columns per row: the assurance each mechanism PROVIDES, and the assumption that assurance RESTS ON. Pinning assures no surprise updates, assuming the pinned bytes were right in the first place. Hashes assure the bytes match the record, assuming the recorded hash is authentic. Signatures assure that a key holder endorsed the artifact, assuming identities and keys are uncompromised. Attestations tie the artifact to a described build, assuming the attesting pipeline is honest.</a:t>
            </a:r>
          </a:p>
          <a:p/>
          <a:p>
            <a:r>
              <a:t>DWELL ON THE LAST ROW: a trusted registry narrows substitution paths (typosquatting, look-alike packages), but it is itself a trust dependency; it establishes no protection against its own compromise. No mechanism on this slide discharges trust; each one relocates it to a named assumption, and naming the assumption is what makes it auditable.</a:t>
            </a:r>
          </a:p>
          <a:p/>
          <a:p>
            <a:r>
              <a:t>THE RED LINE: none of these, alone or together, proves the absence of malicious code; a signed, attested artifact can faithfully deliver a maintainer's own backdoor. They bound substitution risks.</a:t>
            </a:r>
          </a:p>
          <a:p/>
          <a:p>
            <a:r>
              <a:t>TRANSITION: controls in hand or not, one morning the scanner pages you. Decide.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A fast, forced decision among five real options, priced by exposure, compatibility, license, and urgency.</a:t>
            </a:r>
          </a:p>
          <a:p/>
          <a:p>
            <a:r>
              <a:t>SET THE SCENE in one breath: the scanner flags the HTTP parser two levels down, critical CVE, upstream dormant. The framework pinned it; you never chose it.</a:t>
            </a:r>
          </a:p>
          <a:p/>
          <a:p>
            <a:r>
              <a:t>RUN THE DECISION as a quick poll: tonight versus next semester. Expected shape: tonight is pin-plus-mitigate (or upgrade if a safe patch exists); next semester is replace or upgrade properly; fork-and-maintain is the honest name for "patch it ourselves," and it is a staffing decision.</a:t>
            </a:r>
          </a:p>
          <a:p/>
          <a:p>
            <a:r>
              <a:t>PUSH on the comparisons: exposure (is the vulnerable path even reachable in our deployment?), compatibility tests as the gating cost, license changes on forks and replacements, and urgency set by exploitability, not severity labels.</a:t>
            </a:r>
          </a:p>
          <a:p/>
          <a:p>
            <a:r>
              <a:t>TRANSITION: we have now made four supply-chain judgments by hand. Question 3 asks what makes such judgments durable.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Convert the section's one-off judgments into standing controls, each with its failure mode named.</a:t>
            </a:r>
          </a:p>
          <a:p/>
          <a:p>
            <a:r>
              <a:t>WALK THE TABLE quickly; the right column is the honest one. Review gates rubber-stamp under deadline; alerts fatigue; license checks go stale and never see vendored code; SBOM generation gets mistaken for assurance; provenance verification depends on trust anchors someone must maintain; pinning without scheduled updates just accumulates drift.</a:t>
            </a:r>
          </a:p>
          <a:p/>
          <a:p>
            <a:r>
              <a:t>THE PRINCIPLE (band): where a supply-chain obligation can be stated mechanically, state it mechanically: in CI, per release, per change. The parallel to the erosion slide is exact: boundaries and obligations hold when something CHECKS them.</a:t>
            </a:r>
          </a:p>
          <a:p/>
          <a:p>
            <a:r>
              <a:t>Each failure mode is a staffing claim, not a tooling claim: the control decays when nobody owns it.</a:t>
            </a:r>
          </a:p>
          <a:p/>
          <a:p>
            <a:r>
              <a:t>TRANSITION: we have examined what we built and what we inherited. Close the loop.</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Open the closing movement: evidence and controls for both graphs.</a:t>
            </a:r>
          </a:p>
          <a:p/>
          <a:p>
            <a:r>
              <a:t>SAY: we have judged the structure and the inheritance. Neither judgment survives on its own: restructuring needs a safety net of evidence, inherited obligations need standing controls, and both graphs need to be read together. This section supplies all three.</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3.5 minutes. Compose both graphs with typed edges and read the lab change across them.</a:t>
            </a:r>
          </a:p>
          <a:p/>
          <a:p>
            <a:r>
              <a:t>CALL BACK to the opening: this is the same two-graph picture from the start of the lecture, now readable. There we could not say what either graph contained; now every edge names an obligation.</a:t>
            </a:r>
          </a:p>
          <a:p/>
          <a:p>
            <a:r>
              <a:t>WALK THE FRAME: internal modules with structural edges on the left; inherited components with package-at-version edges on the right; the database below as a dotted runtime-service edge. Three edge types, three different obligations, labeled, not color-coded alone.</a:t>
            </a:r>
          </a:p>
          <a:p/>
          <a:p>
            <a:r>
              <a:t>READ THE CHANGE: the lab-policy delta lands on booking policy. Internally it crosses into handlers and persistence (the recovered-model lesson). Externally, policy leans on the date-interval library: dormant maintainership blocks the upgrade path, and its LGPL license binds how we may ship: both can constrain an internal change.</a:t>
            </a:r>
          </a:p>
          <a:p/>
          <a:p>
            <a:r>
              <a:t>ASK the footer pair: which expected change crosses an internal boundary? Which inherited edge can block or constrain it? One minute; this is the whole lecture in one picture.</a:t>
            </a:r>
          </a:p>
          <a:p/>
          <a:p>
            <a:r>
              <a:t>NON-CLAIM: the two subgraphs are the same kind of object but not the same thing; internal edges we can refactor, inherited edges we can only select, wrap, or replace.</a:t>
            </a:r>
          </a:p>
          <a:p/>
          <a:p>
            <a:r>
              <a:t>TRANSITION: run the method over it, once, end to end.</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Re-walk the Act III loop with every box filled by one of today's decisions; close the handoff.</a:t>
            </a:r>
          </a:p>
          <a:p/>
          <a:p>
            <a:r>
              <a:t>WALK THE LOOP, same serpentine as the siblings: PROBLEM: passing I/O behavior does not establish reliance. MODEL: the recovered architecture, the dependency graph and SBOM, and the obligations (invariant, licenses). JUDGMENT: the organization choice and the dependency selections. REALIZE: refactor, configure, upgrade. EVIDENCE: change-impact measurements, invariant and characterization tests, vulnerability, license, and provenance checks. ACCEPT/REJECT: the stated obligations hold, or the change is rejected.</a:t>
            </a:r>
          </a:p>
          <a:p/>
          <a:p>
            <a:r>
              <a:t>FEEDBACK (dashed): a rejection can send us back to re-make the judgment, or further back to fix the model; the lower-row arrows never reverse: evidence flows toward the decision.</a:t>
            </a:r>
          </a:p>
          <a:p/>
          <a:p>
            <a:r>
              <a:t>ALIGNMENT runs ALONGSIDE realize and evidence, not after acceptance: dependency rules, architectural checks, CI gates, and release gates constrain what may happen and evaluate what did. Same geometry as Data Management's closing chart; students should recognize it before reading a word.</a:t>
            </a:r>
          </a:p>
          <a:p/>
          <a:p>
            <a:r>
              <a:t>CLOSE (footer, say it as written): we have examined the system's structure and dependencies. Next we ask whether its behavior satisfies quantitative requirements under load and failure. Do NOT trail into dependency material; it lived here, today.</a:t>
            </a:r>
          </a:p>
          <a:p/>
          <a:p>
            <a:r>
              <a:t>The cover's question gets its answer shape: we inherited a structure and a set of obligations; reliance is justified when both are stated, evidenced, and controlled: never a vibe.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 simple">
  <p:cSld name="Title slide - simple">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1308100" y="3235325"/>
            <a:ext cx="6400800" cy="1881188"/>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1800"/>
              <a:buFont typeface="Times"/>
              <a:buNone/>
              <a:defRPr>
                <a:solidFill>
                  <a:srgbClr val="000000"/>
                </a:solidFill>
                <a:latin typeface="Calibri"/>
                <a:ea typeface="Calibri"/>
                <a:cs typeface="Calibri"/>
                <a:sym typeface="Calibri"/>
              </a:defRPr>
            </a:lvl1pPr>
            <a:lvl2pPr lvl="1" algn="l">
              <a:lnSpc>
                <a:spcPct val="100000"/>
              </a:lnSpc>
              <a:spcBef>
                <a:spcPts val="1000"/>
              </a:spcBef>
              <a:spcAft>
                <a:spcPts val="0"/>
              </a:spcAft>
              <a:buSzPts val="1800"/>
              <a:buChar char="•"/>
              <a:defRPr/>
            </a:lvl2pPr>
            <a:lvl3pPr lvl="2" algn="l">
              <a:lnSpc>
                <a:spcPct val="100000"/>
              </a:lnSpc>
              <a:spcBef>
                <a:spcPts val="1000"/>
              </a:spcBef>
              <a:spcAft>
                <a:spcPts val="0"/>
              </a:spcAft>
              <a:buSzPts val="1800"/>
              <a:buChar char="•"/>
              <a:defRPr/>
            </a:lvl3pPr>
            <a:lvl4pPr lvl="3" algn="l">
              <a:lnSpc>
                <a:spcPct val="100000"/>
              </a:lnSpc>
              <a:spcBef>
                <a:spcPts val="1000"/>
              </a:spcBef>
              <a:spcAft>
                <a:spcPts val="0"/>
              </a:spcAft>
              <a:buSzPts val="1800"/>
              <a:buChar char="•"/>
              <a:defRPr/>
            </a:lvl4pPr>
            <a:lvl5pPr lvl="4" algn="l">
              <a:lnSpc>
                <a:spcPct val="100000"/>
              </a:lnSpc>
              <a:spcBef>
                <a:spcPts val="1000"/>
              </a:spcBef>
              <a:spcAft>
                <a:spcPts val="0"/>
              </a:spcAft>
              <a:buSzPts val="1800"/>
              <a:buChar char="•"/>
              <a:defRPr/>
            </a:lvl5pPr>
            <a:lvl6pPr lvl="5" algn="l">
              <a:lnSpc>
                <a:spcPct val="100000"/>
              </a:lnSpc>
              <a:spcBef>
                <a:spcPts val="1000"/>
              </a:spcBef>
              <a:spcAft>
                <a:spcPts val="0"/>
              </a:spcAft>
              <a:buSzPts val="1800"/>
              <a:buChar char="•"/>
              <a:defRPr/>
            </a:lvl6pPr>
            <a:lvl7pPr lvl="6" algn="l">
              <a:lnSpc>
                <a:spcPct val="100000"/>
              </a:lnSpc>
              <a:spcBef>
                <a:spcPts val="1000"/>
              </a:spcBef>
              <a:spcAft>
                <a:spcPts val="0"/>
              </a:spcAft>
              <a:buSzPts val="1800"/>
              <a:buChar char="•"/>
              <a:defRPr/>
            </a:lvl7pPr>
            <a:lvl8pPr lvl="7" algn="l">
              <a:lnSpc>
                <a:spcPct val="100000"/>
              </a:lnSpc>
              <a:spcBef>
                <a:spcPts val="1000"/>
              </a:spcBef>
              <a:spcAft>
                <a:spcPts val="0"/>
              </a:spcAft>
              <a:buSzPts val="1800"/>
              <a:buChar char="•"/>
              <a:defRPr/>
            </a:lvl8pPr>
            <a:lvl9pPr lvl="8" algn="l">
              <a:lnSpc>
                <a:spcPct val="100000"/>
              </a:lnSpc>
              <a:spcBef>
                <a:spcPts val="1000"/>
              </a:spcBef>
              <a:spcAft>
                <a:spcPts val="0"/>
              </a:spcAft>
              <a:buSzPts val="1800"/>
              <a:buChar char="•"/>
              <a:defRPr/>
            </a:lvl9pPr>
          </a:lstStyle>
          <a:p>
            <a:endParaRPr/>
          </a:p>
        </p:txBody>
      </p:sp>
      <p:sp>
        <p:nvSpPr>
          <p:cNvPr id="16" name="Google Shape;16;p2"/>
          <p:cNvSpPr txBox="1">
            <a:spLocks noGrp="1"/>
          </p:cNvSpPr>
          <p:nvPr>
            <p:ph type="ctrTitle"/>
          </p:nvPr>
        </p:nvSpPr>
        <p:spPr>
          <a:xfrm>
            <a:off x="1127125" y="2078038"/>
            <a:ext cx="7031038" cy="874712"/>
          </a:xfrm>
          <a:prstGeom prst="rect">
            <a:avLst/>
          </a:prstGeom>
          <a:solidFill>
            <a:srgbClr val="FFFFFF"/>
          </a:solidFill>
          <a:ln>
            <a:noFill/>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000000"/>
              </a:buClr>
              <a:buSzPts val="3600"/>
              <a:buFont typeface="Calibri"/>
              <a:buNone/>
              <a:defRPr sz="3600" cap="none">
                <a:solidFill>
                  <a:srgbClr val="0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7" name="Google Shape;17;p2"/>
          <p:cNvCxnSpPr/>
          <p:nvPr/>
        </p:nvCxnSpPr>
        <p:spPr>
          <a:xfrm>
            <a:off x="-16760" y="0"/>
            <a:ext cx="9144000" cy="0"/>
          </a:xfrm>
          <a:prstGeom prst="straightConnector1">
            <a:avLst/>
          </a:prstGeom>
          <a:noFill/>
          <a:ln w="38100" cap="flat" cmpd="sng">
            <a:solidFill>
              <a:schemeClr val="accent1"/>
            </a:solidFill>
            <a:prstDash val="solid"/>
            <a:miter lim="8000"/>
            <a:headEnd type="none" w="med" len="med"/>
            <a:tailEnd type="none" w="med" len="med"/>
          </a:ln>
        </p:spPr>
      </p:cxnSp>
      <p:cxnSp>
        <p:nvCxnSpPr>
          <p:cNvPr id="18" name="Google Shape;18;p2"/>
          <p:cNvCxnSpPr/>
          <p:nvPr/>
        </p:nvCxnSpPr>
        <p:spPr>
          <a:xfrm>
            <a:off x="0" y="6858000"/>
            <a:ext cx="9144000" cy="0"/>
          </a:xfrm>
          <a:prstGeom prst="straightConnector1">
            <a:avLst/>
          </a:prstGeom>
          <a:noFill/>
          <a:ln w="38100" cap="flat" cmpd="sng">
            <a:solidFill>
              <a:schemeClr val="accent1"/>
            </a:solidFill>
            <a:prstDash val="solid"/>
            <a:miter lim="8000"/>
            <a:headEnd type="none" w="med" len="med"/>
            <a:tailEnd type="none" w="med" len="med"/>
          </a:ln>
        </p:spPr>
      </p:cxnSp>
      <p:sp>
        <p:nvSpPr>
          <p:cNvPr id="19" name="Google Shape;19;p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pic>
        <p:nvPicPr>
          <p:cNvPr id="20" name="Google Shape;20;p2"/>
          <p:cNvPicPr preferRelativeResize="0"/>
          <p:nvPr/>
        </p:nvPicPr>
        <p:blipFill rotWithShape="1">
          <a:blip r:embed="rId2">
            <a:alphaModFix/>
          </a:blip>
          <a:srcRect/>
          <a:stretch/>
        </p:blipFill>
        <p:spPr>
          <a:xfrm>
            <a:off x="2097131" y="5715964"/>
            <a:ext cx="5091026" cy="5425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21"/>
        <p:cNvGrpSpPr/>
        <p:nvPr/>
      </p:nvGrpSpPr>
      <p:grpSpPr>
        <a:xfrm>
          <a:off x="0" y="0"/>
          <a:ext cx="0" cy="0"/>
          <a:chOff x="0" y="0"/>
          <a:chExt cx="0" cy="0"/>
        </a:xfrm>
      </p:grpSpPr>
      <p:sp>
        <p:nvSpPr>
          <p:cNvPr id="22" name="Google Shape;22;p3"/>
          <p:cNvSpPr txBox="1">
            <a:spLocks noGrp="1"/>
          </p:cNvSpPr>
          <p:nvPr>
            <p:ph type="body" idx="1"/>
          </p:nvPr>
        </p:nvSpPr>
        <p:spPr>
          <a:xfrm>
            <a:off x="277148" y="1305004"/>
            <a:ext cx="8557768" cy="516691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30200" algn="l">
              <a:lnSpc>
                <a:spcPct val="100000"/>
              </a:lnSpc>
              <a:spcBef>
                <a:spcPts val="1000"/>
              </a:spcBef>
              <a:spcAft>
                <a:spcPts val="0"/>
              </a:spcAft>
              <a:buSzPts val="1600"/>
              <a:buChar char="•"/>
              <a:defRPr/>
            </a:lvl2pPr>
            <a:lvl3pPr marL="1371600" lvl="2" indent="-330200" algn="l">
              <a:lnSpc>
                <a:spcPct val="100000"/>
              </a:lnSpc>
              <a:spcBef>
                <a:spcPts val="1000"/>
              </a:spcBef>
              <a:spcAft>
                <a:spcPts val="0"/>
              </a:spcAft>
              <a:buSzPts val="16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23" name="Google Shape;23;p3"/>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4" name="Google Shape;24;p3"/>
          <p:cNvCxnSpPr/>
          <p:nvPr/>
        </p:nvCxnSpPr>
        <p:spPr>
          <a:xfrm>
            <a:off x="277148" y="756603"/>
            <a:ext cx="8557769" cy="0"/>
          </a:xfrm>
          <a:prstGeom prst="straightConnector1">
            <a:avLst/>
          </a:prstGeom>
          <a:noFill/>
          <a:ln w="38100" cap="flat" cmpd="sng">
            <a:solidFill>
              <a:schemeClr val="accent1"/>
            </a:solidFill>
            <a:prstDash val="solid"/>
            <a:miter lim="8000"/>
            <a:headEnd type="none" w="med" len="med"/>
            <a:tailEnd type="none" w="med" len="med"/>
          </a:ln>
        </p:spPr>
      </p:cxnSp>
      <p:sp>
        <p:nvSpPr>
          <p:cNvPr id="25" name="Google Shape;25;p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685800" y="2747963"/>
            <a:ext cx="7772400" cy="1362075"/>
          </a:xfrm>
          <a:prstGeom prst="rect">
            <a:avLst/>
          </a:prstGeom>
          <a:solidFill>
            <a:srgbClr val="FFFFFF"/>
          </a:solidFill>
          <a:ln>
            <a:noFill/>
          </a:ln>
        </p:spPr>
        <p:txBody>
          <a:bodyPr spcFirstLastPara="1" wrap="square" lIns="182875" tIns="182875" rIns="182875" bIns="182875" anchor="t" anchorCtr="0">
            <a:normAutofit/>
          </a:bodyPr>
          <a:lstStyle>
            <a:lvl1pPr lvl="0" algn="ctr">
              <a:lnSpc>
                <a:spcPct val="90000"/>
              </a:lnSpc>
              <a:spcBef>
                <a:spcPts val="0"/>
              </a:spcBef>
              <a:spcAft>
                <a:spcPts val="0"/>
              </a:spcAft>
              <a:buClr>
                <a:srgbClr val="262626"/>
              </a:buClr>
              <a:buSzPts val="4000"/>
              <a:buFont typeface="Calibri"/>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8" name="Google Shape;28;p4"/>
          <p:cNvCxnSpPr/>
          <p:nvPr/>
        </p:nvCxnSpPr>
        <p:spPr>
          <a:xfrm>
            <a:off x="-57794"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29" name="Google Shape;29;p4"/>
          <p:cNvCxnSpPr/>
          <p:nvPr/>
        </p:nvCxnSpPr>
        <p:spPr>
          <a:xfrm>
            <a:off x="-78517"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30" name="Google Shape;30;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ntent">
  <p:cSld name="Double content">
    <p:spTree>
      <p:nvGrpSpPr>
        <p:cNvPr id="1" name="Shape 31"/>
        <p:cNvGrpSpPr/>
        <p:nvPr/>
      </p:nvGrpSpPr>
      <p:grpSpPr>
        <a:xfrm>
          <a:off x="0" y="0"/>
          <a:ext cx="0" cy="0"/>
          <a:chOff x="0" y="0"/>
          <a:chExt cx="0" cy="0"/>
        </a:xfrm>
      </p:grpSpPr>
      <p:sp>
        <p:nvSpPr>
          <p:cNvPr id="32" name="Google Shape;32;p5"/>
          <p:cNvSpPr txBox="1">
            <a:spLocks noGrp="1"/>
          </p:cNvSpPr>
          <p:nvPr>
            <p:ph type="body" idx="1"/>
          </p:nvPr>
        </p:nvSpPr>
        <p:spPr>
          <a:xfrm>
            <a:off x="484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sp>
        <p:nvSpPr>
          <p:cNvPr id="33" name="Google Shape;33;p5"/>
          <p:cNvSpPr txBox="1">
            <a:spLocks noGrp="1"/>
          </p:cNvSpPr>
          <p:nvPr>
            <p:ph type="body" idx="2"/>
          </p:nvPr>
        </p:nvSpPr>
        <p:spPr>
          <a:xfrm>
            <a:off x="4675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cxnSp>
        <p:nvCxnSpPr>
          <p:cNvPr id="34" name="Google Shape;34;p5"/>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35" name="Google Shape;35;p5"/>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uble content - titled">
  <p:cSld name="Double content - titled">
    <p:spTree>
      <p:nvGrpSpPr>
        <p:cNvPr id="1" name="Shape 37"/>
        <p:cNvGrpSpPr/>
        <p:nvPr/>
      </p:nvGrpSpPr>
      <p:grpSpPr>
        <a:xfrm>
          <a:off x="0" y="0"/>
          <a:ext cx="0" cy="0"/>
          <a:chOff x="0" y="0"/>
          <a:chExt cx="0" cy="0"/>
        </a:xfrm>
      </p:grpSpPr>
      <p:sp>
        <p:nvSpPr>
          <p:cNvPr id="38" name="Google Shape;38;p6"/>
          <p:cNvSpPr txBox="1">
            <a:spLocks noGrp="1"/>
          </p:cNvSpPr>
          <p:nvPr>
            <p:ph type="body" idx="1"/>
          </p:nvPr>
        </p:nvSpPr>
        <p:spPr>
          <a:xfrm>
            <a:off x="457200" y="1258655"/>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39" name="Google Shape;39;p6"/>
          <p:cNvSpPr txBox="1">
            <a:spLocks noGrp="1"/>
          </p:cNvSpPr>
          <p:nvPr>
            <p:ph type="body" idx="2"/>
          </p:nvPr>
        </p:nvSpPr>
        <p:spPr>
          <a:xfrm>
            <a:off x="457200" y="1898417"/>
            <a:ext cx="4040188"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40" name="Google Shape;40;p6"/>
          <p:cNvSpPr txBox="1">
            <a:spLocks noGrp="1"/>
          </p:cNvSpPr>
          <p:nvPr>
            <p:ph type="body" idx="3"/>
          </p:nvPr>
        </p:nvSpPr>
        <p:spPr>
          <a:xfrm>
            <a:off x="4645025" y="1258655"/>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1" name="Google Shape;41;p6"/>
          <p:cNvSpPr txBox="1">
            <a:spLocks noGrp="1"/>
          </p:cNvSpPr>
          <p:nvPr>
            <p:ph type="body" idx="4"/>
          </p:nvPr>
        </p:nvSpPr>
        <p:spPr>
          <a:xfrm>
            <a:off x="4645025" y="1898417"/>
            <a:ext cx="4041775"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cxnSp>
        <p:nvCxnSpPr>
          <p:cNvPr id="42" name="Google Shape;42;p6"/>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43" name="Google Shape;43;p6"/>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Just borders">
  <p:cSld name="Just borders">
    <p:spTree>
      <p:nvGrpSpPr>
        <p:cNvPr id="1" name="Shape 45"/>
        <p:cNvGrpSpPr/>
        <p:nvPr/>
      </p:nvGrpSpPr>
      <p:grpSpPr>
        <a:xfrm>
          <a:off x="0" y="0"/>
          <a:ext cx="0" cy="0"/>
          <a:chOff x="0" y="0"/>
          <a:chExt cx="0" cy="0"/>
        </a:xfrm>
      </p:grpSpPr>
      <p:cxnSp>
        <p:nvCxnSpPr>
          <p:cNvPr id="46" name="Google Shape;46;p7"/>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47" name="Google Shape;47;p7"/>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48" name="Google Shape;48;p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adrants">
  <p:cSld name="Quadrants">
    <p:spTree>
      <p:nvGrpSpPr>
        <p:cNvPr id="1" name="Shape 49"/>
        <p:cNvGrpSpPr/>
        <p:nvPr/>
      </p:nvGrpSpPr>
      <p:grpSpPr>
        <a:xfrm>
          <a:off x="0" y="0"/>
          <a:ext cx="0" cy="0"/>
          <a:chOff x="0" y="0"/>
          <a:chExt cx="0" cy="0"/>
        </a:xfrm>
      </p:grpSpPr>
      <p:cxnSp>
        <p:nvCxnSpPr>
          <p:cNvPr id="50" name="Google Shape;50;p8"/>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51" name="Google Shape;51;p8"/>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52" name="Google Shape;52;p8"/>
          <p:cNvSpPr>
            <a:spLocks noGrp="1"/>
          </p:cNvSpPr>
          <p:nvPr>
            <p:ph type="pic" idx="2"/>
          </p:nvPr>
        </p:nvSpPr>
        <p:spPr>
          <a:xfrm>
            <a:off x="877888" y="765140"/>
            <a:ext cx="3137521" cy="2468339"/>
          </a:xfrm>
          <a:prstGeom prst="rect">
            <a:avLst/>
          </a:prstGeom>
          <a:noFill/>
          <a:ln>
            <a:noFill/>
          </a:ln>
        </p:spPr>
        <p:txBody>
          <a:bodyPr/>
          <a:lstStyle/>
          <a:p>
            <a:endParaRPr lang="en-US"/>
          </a:p>
        </p:txBody>
      </p:sp>
      <p:sp>
        <p:nvSpPr>
          <p:cNvPr id="53" name="Google Shape;53;p8"/>
          <p:cNvSpPr>
            <a:spLocks noGrp="1"/>
          </p:cNvSpPr>
          <p:nvPr>
            <p:ph type="pic" idx="3"/>
          </p:nvPr>
        </p:nvSpPr>
        <p:spPr>
          <a:xfrm>
            <a:off x="5204723" y="765140"/>
            <a:ext cx="3137521" cy="2468339"/>
          </a:xfrm>
          <a:prstGeom prst="rect">
            <a:avLst/>
          </a:prstGeom>
          <a:noFill/>
          <a:ln>
            <a:noFill/>
          </a:ln>
        </p:spPr>
        <p:txBody>
          <a:bodyPr/>
          <a:lstStyle/>
          <a:p>
            <a:endParaRPr lang="en-US"/>
          </a:p>
        </p:txBody>
      </p:sp>
      <p:sp>
        <p:nvSpPr>
          <p:cNvPr id="54" name="Google Shape;54;p8"/>
          <p:cNvSpPr>
            <a:spLocks noGrp="1"/>
          </p:cNvSpPr>
          <p:nvPr>
            <p:ph type="pic" idx="4"/>
          </p:nvPr>
        </p:nvSpPr>
        <p:spPr>
          <a:xfrm>
            <a:off x="877887" y="3596647"/>
            <a:ext cx="3137521" cy="2468339"/>
          </a:xfrm>
          <a:prstGeom prst="rect">
            <a:avLst/>
          </a:prstGeom>
          <a:noFill/>
          <a:ln>
            <a:noFill/>
          </a:ln>
        </p:spPr>
        <p:txBody>
          <a:bodyPr/>
          <a:lstStyle/>
          <a:p>
            <a:endParaRPr lang="en-US"/>
          </a:p>
        </p:txBody>
      </p:sp>
      <p:sp>
        <p:nvSpPr>
          <p:cNvPr id="55" name="Google Shape;55;p8"/>
          <p:cNvSpPr>
            <a:spLocks noGrp="1"/>
          </p:cNvSpPr>
          <p:nvPr>
            <p:ph type="pic" idx="5"/>
          </p:nvPr>
        </p:nvSpPr>
        <p:spPr>
          <a:xfrm>
            <a:off x="5204723" y="3616525"/>
            <a:ext cx="3137521" cy="2468339"/>
          </a:xfrm>
          <a:prstGeom prst="rect">
            <a:avLst/>
          </a:prstGeom>
          <a:noFill/>
          <a:ln>
            <a:noFill/>
          </a:ln>
        </p:spPr>
        <p:txBody>
          <a:bodyPr/>
          <a:lstStyle/>
          <a:p>
            <a:endParaRPr lang="en-US"/>
          </a:p>
        </p:txBody>
      </p:sp>
      <p:sp>
        <p:nvSpPr>
          <p:cNvPr id="56" name="Google Shape;56;p8"/>
          <p:cNvSpPr txBox="1">
            <a:spLocks noGrp="1"/>
          </p:cNvSpPr>
          <p:nvPr>
            <p:ph type="body" idx="1"/>
          </p:nvPr>
        </p:nvSpPr>
        <p:spPr>
          <a:xfrm>
            <a:off x="877819"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7" name="Google Shape;57;p8"/>
          <p:cNvSpPr txBox="1">
            <a:spLocks noGrp="1"/>
          </p:cNvSpPr>
          <p:nvPr>
            <p:ph type="body" idx="6"/>
          </p:nvPr>
        </p:nvSpPr>
        <p:spPr>
          <a:xfrm>
            <a:off x="5205344"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8" name="Google Shape;58;p8"/>
          <p:cNvSpPr txBox="1">
            <a:spLocks noGrp="1"/>
          </p:cNvSpPr>
          <p:nvPr>
            <p:ph type="body" idx="7"/>
          </p:nvPr>
        </p:nvSpPr>
        <p:spPr>
          <a:xfrm>
            <a:off x="877819"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9" name="Google Shape;59;p8"/>
          <p:cNvSpPr txBox="1">
            <a:spLocks noGrp="1"/>
          </p:cNvSpPr>
          <p:nvPr>
            <p:ph type="body" idx="8"/>
          </p:nvPr>
        </p:nvSpPr>
        <p:spPr>
          <a:xfrm>
            <a:off x="5205344"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0" name="Google Shape;60;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type="picTx">
  <p:cSld name="PICTURE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792288" y="4800600"/>
            <a:ext cx="5486400" cy="566738"/>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000"/>
              <a:buFont typeface="Calibri"/>
              <a:buNone/>
              <a:defRPr sz="20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cxnSp>
        <p:nvCxnSpPr>
          <p:cNvPr id="65" name="Google Shape;65;p9"/>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66" name="Google Shape;66;p9"/>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67" name="Google Shape;67;p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ributions">
  <p:cSld name="Contribution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595200" y="106023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cxnSp>
        <p:nvCxnSpPr>
          <p:cNvPr id="70" name="Google Shape;70;p10"/>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71" name="Google Shape;71;p10"/>
          <p:cNvSpPr>
            <a:spLocks noGrp="1"/>
          </p:cNvSpPr>
          <p:nvPr>
            <p:ph type="pic" idx="2"/>
          </p:nvPr>
        </p:nvSpPr>
        <p:spPr>
          <a:xfrm>
            <a:off x="1761066" y="1749288"/>
            <a:ext cx="1456267" cy="914400"/>
          </a:xfrm>
          <a:prstGeom prst="rect">
            <a:avLst/>
          </a:prstGeom>
          <a:noFill/>
          <a:ln>
            <a:noFill/>
          </a:ln>
        </p:spPr>
        <p:txBody>
          <a:bodyPr/>
          <a:lstStyle/>
          <a:p>
            <a:endParaRPr lang="en-US"/>
          </a:p>
        </p:txBody>
      </p:sp>
      <p:sp>
        <p:nvSpPr>
          <p:cNvPr id="72" name="Google Shape;72;p10"/>
          <p:cNvSpPr>
            <a:spLocks noGrp="1"/>
          </p:cNvSpPr>
          <p:nvPr>
            <p:ph type="pic" idx="3"/>
          </p:nvPr>
        </p:nvSpPr>
        <p:spPr>
          <a:xfrm>
            <a:off x="3843866" y="1749288"/>
            <a:ext cx="1456267" cy="914400"/>
          </a:xfrm>
          <a:prstGeom prst="rect">
            <a:avLst/>
          </a:prstGeom>
          <a:noFill/>
          <a:ln>
            <a:noFill/>
          </a:ln>
        </p:spPr>
        <p:txBody>
          <a:bodyPr/>
          <a:lstStyle/>
          <a:p>
            <a:endParaRPr lang="en-US"/>
          </a:p>
        </p:txBody>
      </p:sp>
      <p:sp>
        <p:nvSpPr>
          <p:cNvPr id="73" name="Google Shape;73;p10"/>
          <p:cNvSpPr txBox="1">
            <a:spLocks noGrp="1"/>
          </p:cNvSpPr>
          <p:nvPr>
            <p:ph type="body" idx="4"/>
          </p:nvPr>
        </p:nvSpPr>
        <p:spPr>
          <a:xfrm>
            <a:off x="595200" y="312988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4" name="Google Shape;74;p10"/>
          <p:cNvSpPr>
            <a:spLocks noGrp="1"/>
          </p:cNvSpPr>
          <p:nvPr>
            <p:ph type="pic" idx="5"/>
          </p:nvPr>
        </p:nvSpPr>
        <p:spPr>
          <a:xfrm>
            <a:off x="1761066" y="3818938"/>
            <a:ext cx="1456267" cy="914400"/>
          </a:xfrm>
          <a:prstGeom prst="rect">
            <a:avLst/>
          </a:prstGeom>
          <a:noFill/>
          <a:ln>
            <a:noFill/>
          </a:ln>
        </p:spPr>
        <p:txBody>
          <a:bodyPr/>
          <a:lstStyle/>
          <a:p>
            <a:endParaRPr lang="en-US"/>
          </a:p>
        </p:txBody>
      </p:sp>
      <p:sp>
        <p:nvSpPr>
          <p:cNvPr id="75" name="Google Shape;75;p10"/>
          <p:cNvSpPr>
            <a:spLocks noGrp="1"/>
          </p:cNvSpPr>
          <p:nvPr>
            <p:ph type="pic" idx="6"/>
          </p:nvPr>
        </p:nvSpPr>
        <p:spPr>
          <a:xfrm>
            <a:off x="3843866" y="3818938"/>
            <a:ext cx="1456267" cy="914400"/>
          </a:xfrm>
          <a:prstGeom prst="rect">
            <a:avLst/>
          </a:prstGeom>
          <a:noFill/>
          <a:ln>
            <a:noFill/>
          </a:ln>
        </p:spPr>
        <p:txBody>
          <a:bodyPr/>
          <a:lstStyle/>
          <a:p>
            <a:endParaRPr lang="en-US"/>
          </a:p>
        </p:txBody>
      </p:sp>
      <p:sp>
        <p:nvSpPr>
          <p:cNvPr id="76" name="Google Shape;76;p10"/>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06045" y="964692"/>
            <a:ext cx="5937755" cy="1188720"/>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600"/>
              <a:buFont typeface="Calibri"/>
              <a:buNone/>
              <a:defRPr sz="2600" b="0" i="0" u="none" strike="noStrike" cap="none">
                <a:solidFill>
                  <a:srgbClr val="26262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06045" y="2638045"/>
            <a:ext cx="5937755"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Calibri"/>
                <a:ea typeface="Calibri"/>
                <a:cs typeface="Calibri"/>
                <a:sym typeface="Calibri"/>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12" name="Google Shape;12;p1" descr="A close up of a sign&#10;&#10;Description automatically generated"/>
          <p:cNvPicPr preferRelativeResize="0"/>
          <p:nvPr/>
        </p:nvPicPr>
        <p:blipFill rotWithShape="1">
          <a:blip r:embed="rId11">
            <a:alphaModFix/>
          </a:blip>
          <a:srcRect/>
          <a:stretch/>
        </p:blipFill>
        <p:spPr>
          <a:xfrm>
            <a:off x="8746670" y="6562249"/>
            <a:ext cx="292555" cy="156273"/>
          </a:xfrm>
          <a:prstGeom prst="rect">
            <a:avLst/>
          </a:prstGeom>
          <a:noFill/>
          <a:ln>
            <a:noFill/>
          </a:ln>
        </p:spPr>
      </p:pic>
      <p:sp>
        <p:nvSpPr>
          <p:cNvPr id="13" name="Google Shape;13;p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555960"/>
                </a:solidFill>
                <a:latin typeface="Calibri"/>
                <a:ea typeface="Calibri"/>
                <a:cs typeface="Calibri"/>
                <a:sym typeface="Calibri"/>
              </a:defRPr>
            </a:lvl1pPr>
            <a:lvl2pPr marL="0" marR="0" lvl="1" indent="0" algn="r" rtl="0">
              <a:spcBef>
                <a:spcPts val="0"/>
              </a:spcBef>
              <a:buNone/>
              <a:defRPr sz="1400" b="0" i="0" u="none" strike="noStrike" cap="none">
                <a:solidFill>
                  <a:srgbClr val="555960"/>
                </a:solidFill>
                <a:latin typeface="Calibri"/>
                <a:ea typeface="Calibri"/>
                <a:cs typeface="Calibri"/>
                <a:sym typeface="Calibri"/>
              </a:defRPr>
            </a:lvl2pPr>
            <a:lvl3pPr marL="0" marR="0" lvl="2" indent="0" algn="r" rtl="0">
              <a:spcBef>
                <a:spcPts val="0"/>
              </a:spcBef>
              <a:buNone/>
              <a:defRPr sz="1400" b="0" i="0" u="none" strike="noStrike" cap="none">
                <a:solidFill>
                  <a:srgbClr val="555960"/>
                </a:solidFill>
                <a:latin typeface="Calibri"/>
                <a:ea typeface="Calibri"/>
                <a:cs typeface="Calibri"/>
                <a:sym typeface="Calibri"/>
              </a:defRPr>
            </a:lvl3pPr>
            <a:lvl4pPr marL="0" marR="0" lvl="3" indent="0" algn="r" rtl="0">
              <a:spcBef>
                <a:spcPts val="0"/>
              </a:spcBef>
              <a:buNone/>
              <a:defRPr sz="1400" b="0" i="0" u="none" strike="noStrike" cap="none">
                <a:solidFill>
                  <a:srgbClr val="555960"/>
                </a:solidFill>
                <a:latin typeface="Calibri"/>
                <a:ea typeface="Calibri"/>
                <a:cs typeface="Calibri"/>
                <a:sym typeface="Calibri"/>
              </a:defRPr>
            </a:lvl4pPr>
            <a:lvl5pPr marL="0" marR="0" lvl="4" indent="0" algn="r" rtl="0">
              <a:spcBef>
                <a:spcPts val="0"/>
              </a:spcBef>
              <a:buNone/>
              <a:defRPr sz="1400" b="0" i="0" u="none" strike="noStrike" cap="none">
                <a:solidFill>
                  <a:srgbClr val="555960"/>
                </a:solidFill>
                <a:latin typeface="Calibri"/>
                <a:ea typeface="Calibri"/>
                <a:cs typeface="Calibri"/>
                <a:sym typeface="Calibri"/>
              </a:defRPr>
            </a:lvl5pPr>
            <a:lvl6pPr marL="0" marR="0" lvl="5" indent="0" algn="r" rtl="0">
              <a:spcBef>
                <a:spcPts val="0"/>
              </a:spcBef>
              <a:buNone/>
              <a:defRPr sz="1400" b="0" i="0" u="none" strike="noStrike" cap="none">
                <a:solidFill>
                  <a:srgbClr val="555960"/>
                </a:solidFill>
                <a:latin typeface="Calibri"/>
                <a:ea typeface="Calibri"/>
                <a:cs typeface="Calibri"/>
                <a:sym typeface="Calibri"/>
              </a:defRPr>
            </a:lvl6pPr>
            <a:lvl7pPr marL="0" marR="0" lvl="6" indent="0" algn="r" rtl="0">
              <a:spcBef>
                <a:spcPts val="0"/>
              </a:spcBef>
              <a:buNone/>
              <a:defRPr sz="1400" b="0" i="0" u="none" strike="noStrike" cap="none">
                <a:solidFill>
                  <a:srgbClr val="555960"/>
                </a:solidFill>
                <a:latin typeface="Calibri"/>
                <a:ea typeface="Calibri"/>
                <a:cs typeface="Calibri"/>
                <a:sym typeface="Calibri"/>
              </a:defRPr>
            </a:lvl7pPr>
            <a:lvl8pPr marL="0" marR="0" lvl="7" indent="0" algn="r" rtl="0">
              <a:spcBef>
                <a:spcPts val="0"/>
              </a:spcBef>
              <a:buNone/>
              <a:defRPr sz="1400" b="0" i="0" u="none" strike="noStrike" cap="none">
                <a:solidFill>
                  <a:srgbClr val="555960"/>
                </a:solidFill>
                <a:latin typeface="Calibri"/>
                <a:ea typeface="Calibri"/>
                <a:cs typeface="Calibri"/>
                <a:sym typeface="Calibri"/>
              </a:defRPr>
            </a:lvl8pPr>
            <a:lvl9pPr marL="0" marR="0" lvl="8" indent="0" algn="r" rtl="0">
              <a:spcBef>
                <a:spcPts val="0"/>
              </a:spcBef>
              <a:buNone/>
              <a:defRPr sz="1400" b="0" i="0" u="none" strike="noStrike" cap="none">
                <a:solidFill>
                  <a:srgbClr val="55596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CourseLine"/>
          <p:cNvSpPr/>
          <p:nvPr/>
        </p:nvSpPr>
        <p:spPr>
          <a:xfrm>
            <a:off x="658368" y="576072"/>
            <a:ext cx="7818120" cy="402336"/>
          </a:xfrm>
          <a:prstGeom prst="rect">
            <a:avLst/>
          </a:prstGeom>
          <a:noFill/>
          <a:ln>
            <a:noFill/>
          </a:ln>
          <a:effectLst/>
        </p:spPr>
        <p:txBody>
          <a:bodyPr rtlCol="0" anchor="t" wrap="square"/>
          <a:lstStyle/>
          <a:p>
            <a:pPr algn="ctr">
              <a:spcAft>
                <a:spcPts val="0"/>
              </a:spcAft>
            </a:pPr>
            <a:r>
              <a:rPr sz="2000" b="0">
                <a:solidFill>
                  <a:srgbClr val="5C4826"/>
                </a:solidFill>
                <a:latin typeface="Calibri"/>
              </a:rPr>
              <a:t>S o f t w a r e   E n g i n e e r i n g</a:t>
            </a:r>
          </a:p>
        </p:txBody>
      </p:sp>
      <p:sp>
        <p:nvSpPr>
          <p:cNvPr id="3" name="CourseNumber"/>
          <p:cNvSpPr/>
          <p:nvPr/>
        </p:nvSpPr>
        <p:spPr>
          <a:xfrm>
            <a:off x="658368" y="1014984"/>
            <a:ext cx="781812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ECE 30861 / CSCI 45000</a:t>
            </a:r>
          </a:p>
        </p:txBody>
      </p:sp>
      <p:sp>
        <p:nvSpPr>
          <p:cNvPr id="4" name="Title"/>
          <p:cNvSpPr>
            <a:spLocks noGrp="1"/>
          </p:cNvSpPr>
          <p:nvPr>
            <p:ph type="ctrTitle"/>
          </p:nvPr>
        </p:nvSpPr>
        <p:spPr>
          <a:xfrm>
            <a:off x="384048" y="1645920"/>
            <a:ext cx="8412480" cy="1417320"/>
          </a:xfrm>
          <a:prstGeom prst="rect">
            <a:avLst/>
          </a:prstGeom>
          <a:noFill/>
          <a:ln>
            <a:noFill/>
          </a:ln>
          <a:effectLst/>
        </p:spPr>
        <p:txBody>
          <a:bodyPr rtlCol="0" anchor="ctr" wrap="square"/>
          <a:lstStyle/>
          <a:p>
            <a:pPr algn="ctr">
              <a:spcAft>
                <a:spcPts val="0"/>
              </a:spcAft>
            </a:pPr>
            <a:r>
              <a:rPr sz="3600" b="1">
                <a:solidFill>
                  <a:srgbClr val="2D2D2D"/>
                </a:solidFill>
                <a:latin typeface="Calibri"/>
              </a:rPr>
              <a:t>(Agentic) Technical Debt:</a:t>
            </a:r>
          </a:p>
          <a:p>
            <a:pPr algn="ctr">
              <a:spcAft>
                <a:spcPts val="0"/>
              </a:spcAft>
            </a:pPr>
            <a:r>
              <a:rPr sz="3600" b="1">
                <a:solidFill>
                  <a:srgbClr val="2D2D2D"/>
                </a:solidFill>
                <a:latin typeface="Calibri"/>
              </a:rPr>
              <a:t>Architecture and Dependencies</a:t>
            </a:r>
          </a:p>
        </p:txBody>
      </p:sp>
      <p:sp>
        <p:nvSpPr>
          <p:cNvPr id="5" name="Subtitle"/>
          <p:cNvSpPr>
            <a:spLocks noGrp="1"/>
          </p:cNvSpPr>
          <p:nvPr>
            <p:ph type="subTitle" idx="1"/>
          </p:nvPr>
        </p:nvSpPr>
        <p:spPr>
          <a:xfrm>
            <a:off x="429768" y="3246120"/>
            <a:ext cx="8284464" cy="548640"/>
          </a:xfrm>
          <a:prstGeom prst="rect">
            <a:avLst/>
          </a:prstGeom>
          <a:noFill/>
          <a:ln>
            <a:noFill/>
          </a:ln>
          <a:effectLst/>
        </p:spPr>
        <p:txBody>
          <a:bodyPr rtlCol="0" anchor="ctr" wrap="square"/>
          <a:lstStyle/>
          <a:p>
            <a:pPr algn="ctr">
              <a:spcAft>
                <a:spcPts val="0"/>
              </a:spcAft>
            </a:pPr>
            <a:r>
              <a:rPr sz="2200" b="0">
                <a:solidFill>
                  <a:srgbClr val="8E6F3E"/>
                </a:solidFill>
                <a:latin typeface="Calibri"/>
              </a:rPr>
              <a:t>It works. What did we inherit?</a:t>
            </a:r>
          </a:p>
        </p:txBody>
      </p:sp>
      <p:sp>
        <p:nvSpPr>
          <p:cNvPr id="6" name="Instructors"/>
          <p:cNvSpPr/>
          <p:nvPr/>
        </p:nvSpPr>
        <p:spPr>
          <a:xfrm>
            <a:off x="740664" y="3794760"/>
            <a:ext cx="7680960" cy="868680"/>
          </a:xfrm>
          <a:prstGeom prst="rect">
            <a:avLst/>
          </a:prstGeom>
          <a:noFill/>
          <a:ln>
            <a:noFill/>
          </a:ln>
          <a:effectLst/>
        </p:spPr>
        <p:txBody>
          <a:bodyPr rtlCol="0" anchor="t" wrap="square"/>
          <a:lstStyle/>
          <a:p>
            <a:pPr algn="ctr">
              <a:spcAft>
                <a:spcPts val="0"/>
              </a:spcAft>
            </a:pPr>
            <a:r>
              <a:rPr sz="2000" b="0">
                <a:solidFill>
                  <a:srgbClr val="2D2D2D"/>
                </a:solidFill>
                <a:latin typeface="Calibri"/>
              </a:rPr>
              <a:t>Prof. James C. Davis</a:t>
            </a:r>
          </a:p>
          <a:p>
            <a:pPr algn="ctr">
              <a:spcAft>
                <a:spcPts val="0"/>
              </a:spcAft>
            </a:pPr>
            <a:r>
              <a:rPr sz="2000" b="0">
                <a:solidFill>
                  <a:srgbClr val="2D2D2D"/>
                </a:solidFill>
                <a:latin typeface="Calibri"/>
              </a:rPr>
              <a:t>Prof. Steve France</a:t>
            </a:r>
          </a:p>
        </p:txBody>
      </p:sp>
      <p:sp>
        <p:nvSpPr>
          <p:cNvPr id="7" name="ActLine"/>
          <p:cNvSpPr/>
          <p:nvPr/>
        </p:nvSpPr>
        <p:spPr>
          <a:xfrm>
            <a:off x="1143000" y="4663440"/>
            <a:ext cx="685800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Act III: Engineering Software Systems</a:t>
            </a:r>
          </a:p>
        </p:txBody>
      </p:sp>
      <p:sp>
        <p:nvSpPr>
          <p:cNvPr id="8" name="DateLine"/>
          <p:cNvSpPr/>
          <p:nvPr/>
        </p:nvSpPr>
        <p:spPr>
          <a:xfrm>
            <a:off x="1143000" y="5047488"/>
            <a:ext cx="685800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Tuesday, November 10,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Today: three engineering questions</a:t>
            </a:r>
          </a:p>
        </p:txBody>
      </p:sp>
      <p:sp>
        <p:nvSpPr>
          <p:cNvPr id="3" name="Card"/>
          <p:cNvSpPr/>
          <p:nvPr/>
        </p:nvSpPr>
        <p:spPr>
          <a:xfrm>
            <a:off x="411480" y="1371600"/>
            <a:ext cx="8321040" cy="1005840"/>
          </a:xfrm>
          <a:prstGeom prst="rect">
            <a:avLst/>
          </a:prstGeom>
          <a:solidFill>
            <a:srgbClr val="F5F1E8"/>
          </a:solidFill>
          <a:ln>
            <a:noFill/>
          </a:ln>
          <a:effectLst/>
        </p:spPr>
        <p:txBody>
          <a:bodyPr rtlCol="0" anchor="ctr" wrap="square"/>
          <a:lstStyle/>
          <a:p/>
        </p:txBody>
      </p:sp>
      <p:sp>
        <p:nvSpPr>
          <p:cNvPr id="4" name="RowLabel"/>
          <p:cNvSpPr/>
          <p:nvPr/>
        </p:nvSpPr>
        <p:spPr>
          <a:xfrm>
            <a:off x="557784" y="1417320"/>
            <a:ext cx="2788920" cy="914400"/>
          </a:xfrm>
          <a:prstGeom prst="rect">
            <a:avLst/>
          </a:prstGeom>
          <a:noFill/>
          <a:ln>
            <a:noFill/>
          </a:ln>
          <a:effectLst/>
        </p:spPr>
        <p:txBody>
          <a:bodyPr rtlCol="0" anchor="ctr" wrap="square"/>
          <a:lstStyle/>
          <a:p>
            <a:pPr algn="l">
              <a:spcAft>
                <a:spcPts val="0"/>
              </a:spcAft>
            </a:pPr>
            <a:r>
              <a:rPr sz="2200" b="1">
                <a:solidFill>
                  <a:srgbClr val="8E6F3E"/>
                </a:solidFill>
                <a:latin typeface="Calibri"/>
              </a:rPr>
              <a:t>The structure we built</a:t>
            </a:r>
          </a:p>
        </p:txBody>
      </p:sp>
      <p:sp>
        <p:nvSpPr>
          <p:cNvPr id="5" name="RowBody"/>
          <p:cNvSpPr/>
          <p:nvPr/>
        </p:nvSpPr>
        <p:spPr>
          <a:xfrm>
            <a:off x="3438144" y="1417320"/>
            <a:ext cx="5166360" cy="914400"/>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structure did we build, and what will it cost to change?</a:t>
            </a:r>
          </a:p>
        </p:txBody>
      </p:sp>
      <p:sp>
        <p:nvSpPr>
          <p:cNvPr id="6" name="Card"/>
          <p:cNvSpPr/>
          <p:nvPr/>
        </p:nvSpPr>
        <p:spPr>
          <a:xfrm>
            <a:off x="411480" y="2788920"/>
            <a:ext cx="8321040" cy="1005840"/>
          </a:xfrm>
          <a:prstGeom prst="rect">
            <a:avLst/>
          </a:prstGeom>
          <a:solidFill>
            <a:srgbClr val="FCFAF6"/>
          </a:solidFill>
          <a:ln>
            <a:noFill/>
          </a:ln>
          <a:effectLst/>
        </p:spPr>
        <p:txBody>
          <a:bodyPr rtlCol="0" anchor="ctr" wrap="square"/>
          <a:lstStyle/>
          <a:p/>
        </p:txBody>
      </p:sp>
      <p:sp>
        <p:nvSpPr>
          <p:cNvPr id="7" name="RowLabel"/>
          <p:cNvSpPr/>
          <p:nvPr/>
        </p:nvSpPr>
        <p:spPr>
          <a:xfrm>
            <a:off x="557784" y="2834639"/>
            <a:ext cx="2788920" cy="914400"/>
          </a:xfrm>
          <a:prstGeom prst="rect">
            <a:avLst/>
          </a:prstGeom>
          <a:noFill/>
          <a:ln>
            <a:noFill/>
          </a:ln>
          <a:effectLst/>
        </p:spPr>
        <p:txBody>
          <a:bodyPr rtlCol="0" anchor="ctr" wrap="square"/>
          <a:lstStyle/>
          <a:p>
            <a:pPr algn="l">
              <a:spcAft>
                <a:spcPts val="0"/>
              </a:spcAft>
            </a:pPr>
            <a:r>
              <a:rPr sz="2200" b="1">
                <a:solidFill>
                  <a:srgbClr val="8E6F3E"/>
                </a:solidFill>
                <a:latin typeface="Calibri"/>
              </a:rPr>
              <a:t>The components we inherited</a:t>
            </a:r>
          </a:p>
        </p:txBody>
      </p:sp>
      <p:sp>
        <p:nvSpPr>
          <p:cNvPr id="8" name="RowBody"/>
          <p:cNvSpPr/>
          <p:nvPr/>
        </p:nvSpPr>
        <p:spPr>
          <a:xfrm>
            <a:off x="3438144" y="2834639"/>
            <a:ext cx="5166360" cy="914400"/>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components and obligations did we inherit?</a:t>
            </a:r>
          </a:p>
        </p:txBody>
      </p:sp>
      <p:sp>
        <p:nvSpPr>
          <p:cNvPr id="9" name="Card"/>
          <p:cNvSpPr/>
          <p:nvPr/>
        </p:nvSpPr>
        <p:spPr>
          <a:xfrm>
            <a:off x="411480" y="4206240"/>
            <a:ext cx="8321040" cy="1005840"/>
          </a:xfrm>
          <a:prstGeom prst="rect">
            <a:avLst/>
          </a:prstGeom>
          <a:solidFill>
            <a:srgbClr val="F5F1E8"/>
          </a:solidFill>
          <a:ln>
            <a:noFill/>
          </a:ln>
          <a:effectLst/>
        </p:spPr>
        <p:txBody>
          <a:bodyPr rtlCol="0" anchor="ctr" wrap="square"/>
          <a:lstStyle/>
          <a:p/>
        </p:txBody>
      </p:sp>
      <p:sp>
        <p:nvSpPr>
          <p:cNvPr id="10" name="RowLabel"/>
          <p:cNvSpPr/>
          <p:nvPr/>
        </p:nvSpPr>
        <p:spPr>
          <a:xfrm>
            <a:off x="557784" y="4251959"/>
            <a:ext cx="2788920" cy="914400"/>
          </a:xfrm>
          <a:prstGeom prst="rect">
            <a:avLst/>
          </a:prstGeom>
          <a:noFill/>
          <a:ln>
            <a:noFill/>
          </a:ln>
          <a:effectLst/>
        </p:spPr>
        <p:txBody>
          <a:bodyPr rtlCol="0" anchor="ctr" wrap="square"/>
          <a:lstStyle/>
          <a:p>
            <a:pPr algn="l">
              <a:spcAft>
                <a:spcPts val="0"/>
              </a:spcAft>
            </a:pPr>
            <a:r>
              <a:rPr sz="2200" b="1">
                <a:solidFill>
                  <a:srgbClr val="8E6F3E"/>
                </a:solidFill>
                <a:latin typeface="Calibri"/>
              </a:rPr>
              <a:t>Evidence and controls</a:t>
            </a:r>
          </a:p>
        </p:txBody>
      </p:sp>
      <p:sp>
        <p:nvSpPr>
          <p:cNvPr id="11" name="RowBody"/>
          <p:cNvSpPr/>
          <p:nvPr/>
        </p:nvSpPr>
        <p:spPr>
          <a:xfrm>
            <a:off x="3438144" y="4251959"/>
            <a:ext cx="5166360" cy="914400"/>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evidence and controls justify continued reliance?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It works. What did we inherit?</a:t>
            </a:r>
          </a:p>
        </p:txBody>
      </p:sp>
      <p:sp>
        <p:nvSpPr>
          <p:cNvPr id="3" name="Card" descr="The reservation service as shipped: HTTP API over booking rules over persistence, with passing functional I/O tests and the no-overlap invariant holding"/>
          <p:cNvSpPr/>
          <p:nvPr/>
        </p:nvSpPr>
        <p:spPr>
          <a:xfrm>
            <a:off x="411480" y="896112"/>
            <a:ext cx="3931920" cy="2331720"/>
          </a:xfrm>
          <a:prstGeom prst="rect">
            <a:avLst/>
          </a:prstGeom>
          <a:solidFill>
            <a:srgbClr val="F5F1E8"/>
          </a:solidFill>
          <a:ln>
            <a:noFill/>
          </a:ln>
          <a:effectLst/>
        </p:spPr>
        <p:txBody>
          <a:bodyPr rtlCol="0" anchor="ctr" wrap="square"/>
          <a:lstStyle/>
          <a:p/>
        </p:txBody>
      </p:sp>
      <p:sp>
        <p:nvSpPr>
          <p:cNvPr id="4" name="HaveLabel"/>
          <p:cNvSpPr/>
          <p:nvPr/>
        </p:nvSpPr>
        <p:spPr>
          <a:xfrm>
            <a:off x="557784" y="969264"/>
            <a:ext cx="3657600" cy="347472"/>
          </a:xfrm>
          <a:prstGeom prst="rect">
            <a:avLst/>
          </a:prstGeom>
          <a:noFill/>
          <a:ln>
            <a:noFill/>
          </a:ln>
          <a:effectLst/>
        </p:spPr>
        <p:txBody>
          <a:bodyPr rtlCol="0" anchor="t" wrap="square"/>
          <a:lstStyle/>
          <a:p>
            <a:pPr algn="l">
              <a:spcAft>
                <a:spcPts val="0"/>
              </a:spcAft>
            </a:pPr>
            <a:r>
              <a:rPr sz="2000" b="1">
                <a:solidFill>
                  <a:srgbClr val="8E6F3E"/>
                </a:solidFill>
                <a:latin typeface="Calibri"/>
              </a:rPr>
              <a:t>WHAT WE HAVE</a:t>
            </a:r>
          </a:p>
        </p:txBody>
      </p:sp>
      <p:sp>
        <p:nvSpPr>
          <p:cNvPr id="5" name="Stack"/>
          <p:cNvSpPr/>
          <p:nvPr/>
        </p:nvSpPr>
        <p:spPr>
          <a:xfrm>
            <a:off x="640080" y="1371600"/>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HTTP API</a:t>
            </a:r>
          </a:p>
        </p:txBody>
      </p:sp>
      <p:sp>
        <p:nvSpPr>
          <p:cNvPr id="6" name="Stack"/>
          <p:cNvSpPr/>
          <p:nvPr/>
        </p:nvSpPr>
        <p:spPr>
          <a:xfrm>
            <a:off x="640080" y="2029968"/>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BOOKING RULES</a:t>
            </a:r>
          </a:p>
        </p:txBody>
      </p:sp>
      <p:sp>
        <p:nvSpPr>
          <p:cNvPr id="7" name="Stack"/>
          <p:cNvSpPr/>
          <p:nvPr/>
        </p:nvSpPr>
        <p:spPr>
          <a:xfrm>
            <a:off x="640080" y="2688336"/>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PERSISTENCE</a:t>
            </a:r>
          </a:p>
        </p:txBody>
      </p:sp>
      <p:cxnSp>
        <p:nvCxnSpPr>
          <p:cNvPr id="8" name="StackArrow"/>
          <p:cNvCxnSpPr/>
          <p:nvPr/>
        </p:nvCxnSpPr>
        <p:spPr>
          <a:xfrm>
            <a:off x="1577340" y="1847088"/>
            <a:ext cx="0" cy="182880"/>
          </a:xfrm>
          <a:prstGeom prst="line">
            <a:avLst/>
          </a:prstGeom>
          <a:ln w="19050">
            <a:solidFill>
              <a:srgbClr val="8E6F3E"/>
            </a:solidFill>
            <a:tailEnd type="triangle" w="med" len="med"/>
          </a:ln>
        </p:spPr>
      </p:cxnSp>
      <p:cxnSp>
        <p:nvCxnSpPr>
          <p:cNvPr id="9" name="StackArrow"/>
          <p:cNvCxnSpPr/>
          <p:nvPr/>
        </p:nvCxnSpPr>
        <p:spPr>
          <a:xfrm>
            <a:off x="1577340" y="2505456"/>
            <a:ext cx="0" cy="182880"/>
          </a:xfrm>
          <a:prstGeom prst="line">
            <a:avLst/>
          </a:prstGeom>
          <a:ln w="19050">
            <a:solidFill>
              <a:srgbClr val="8E6F3E"/>
            </a:solidFill>
            <a:tailEnd type="triangle" w="med" len="med"/>
          </a:ln>
        </p:spPr>
      </p:cxnSp>
      <p:sp>
        <p:nvSpPr>
          <p:cNvPr id="10" name="Checks"/>
          <p:cNvSpPr/>
          <p:nvPr/>
        </p:nvSpPr>
        <p:spPr>
          <a:xfrm>
            <a:off x="2606040" y="1389888"/>
            <a:ext cx="1691640" cy="178308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 tests pass</a:t>
            </a:r>
          </a:p>
          <a:p>
            <a:pPr algn="l">
              <a:spcAft>
                <a:spcPts val="0"/>
              </a:spcAft>
            </a:pPr>
            <a:r>
              <a:rPr sz="2000" b="1">
                <a:solidFill>
                  <a:srgbClr val="5C4826"/>
                </a:solidFill>
                <a:latin typeface="Calibri"/>
              </a:rPr>
              <a:t>✓ no overlap</a:t>
            </a:r>
          </a:p>
          <a:p>
            <a:pPr algn="l">
              <a:spcAft>
                <a:spcPts val="0"/>
              </a:spcAft>
            </a:pPr>
            <a:r>
              <a:rPr sz="2000" b="0">
                <a:solidFill>
                  <a:srgbClr val="555960"/>
                </a:solidFill>
                <a:latin typeface="Calibri"/>
              </a:rPr>
              <a:t>as specified</a:t>
            </a:r>
          </a:p>
        </p:txBody>
      </p:sp>
      <p:sp>
        <p:nvSpPr>
          <p:cNvPr id="11" name="NewCard" descr="A new hypothetical change request: laboratory rooms need distinct booking policies and approvals, changing independently of ordinary reservations"/>
          <p:cNvSpPr/>
          <p:nvPr/>
        </p:nvSpPr>
        <p:spPr>
          <a:xfrm>
            <a:off x="4526280" y="896112"/>
            <a:ext cx="4206240" cy="2331720"/>
          </a:xfrm>
          <a:prstGeom prst="rect">
            <a:avLst/>
          </a:prstGeom>
          <a:solidFill>
            <a:srgbClr val="FCFAF6"/>
          </a:solidFill>
          <a:ln>
            <a:noFill/>
          </a:ln>
          <a:effectLst/>
        </p:spPr>
        <p:txBody>
          <a:bodyPr rtlCol="0" anchor="ctr" wrap="square"/>
          <a:lstStyle/>
          <a:p/>
        </p:txBody>
      </p:sp>
      <p:sp>
        <p:nvSpPr>
          <p:cNvPr id="12" name="NewLabel"/>
          <p:cNvSpPr/>
          <p:nvPr/>
        </p:nvSpPr>
        <p:spPr>
          <a:xfrm>
            <a:off x="4672584" y="969264"/>
            <a:ext cx="3913632" cy="347472"/>
          </a:xfrm>
          <a:prstGeom prst="rect">
            <a:avLst/>
          </a:prstGeom>
          <a:noFill/>
          <a:ln>
            <a:noFill/>
          </a:ln>
          <a:effectLst/>
        </p:spPr>
        <p:txBody>
          <a:bodyPr rtlCol="0" anchor="t" wrap="square"/>
          <a:lstStyle/>
          <a:p>
            <a:pPr algn="l">
              <a:spcAft>
                <a:spcPts val="0"/>
              </a:spcAft>
            </a:pPr>
            <a:r>
              <a:rPr sz="2000" b="1">
                <a:solidFill>
                  <a:srgbClr val="8E6F3E"/>
                </a:solidFill>
                <a:latin typeface="Calibri"/>
              </a:rPr>
              <a:t>A NEW REQUEST</a:t>
            </a:r>
          </a:p>
        </p:txBody>
      </p:sp>
      <p:sp>
        <p:nvSpPr>
          <p:cNvPr id="13" name="NewBody"/>
          <p:cNvSpPr/>
          <p:nvPr/>
        </p:nvSpPr>
        <p:spPr>
          <a:xfrm>
            <a:off x="4672584" y="1389888"/>
            <a:ext cx="3913632" cy="1783080"/>
          </a:xfrm>
          <a:prstGeom prst="rect">
            <a:avLst/>
          </a:prstGeom>
          <a:noFill/>
          <a:ln>
            <a:noFill/>
          </a:ln>
          <a:effectLst/>
        </p:spPr>
        <p:txBody>
          <a:bodyPr rtlCol="0" anchor="t" wrap="square"/>
          <a:lstStyle/>
          <a:p>
            <a:pPr algn="l">
              <a:spcAft>
                <a:spcPts val="0"/>
              </a:spcAft>
            </a:pPr>
            <a:r>
              <a:rPr sz="2000" b="1">
                <a:solidFill>
                  <a:srgbClr val="2D2D2D"/>
                </a:solidFill>
                <a:latin typeface="Calibri"/>
              </a:rPr>
              <a:t>Laboratory rooms need their own policies and approvals</a:t>
            </a:r>
          </a:p>
          <a:p>
            <a:pPr algn="l">
              <a:spcAft>
                <a:spcPts val="0"/>
              </a:spcAft>
            </a:pPr>
            <a:r>
              <a:rPr sz="2000" b="0">
                <a:solidFill>
                  <a:srgbClr val="555960"/>
                </a:solidFill>
                <a:latin typeface="Calibri"/>
              </a:rPr>
              <a:t>The policy changes independently of ordinary reservations</a:t>
            </a:r>
          </a:p>
          <a:p>
            <a:pPr algn="l">
              <a:spcAft>
                <a:spcPts val="0"/>
              </a:spcAft>
            </a:pPr>
            <a:r>
              <a:rPr sz="2000" b="0">
                <a:solidFill>
                  <a:srgbClr val="555960"/>
                </a:solidFill>
                <a:latin typeface="Calibri"/>
              </a:rPr>
              <a:t>(not yet implemented)</a:t>
            </a:r>
          </a:p>
        </p:txBody>
      </p:sp>
      <p:sp>
        <p:nvSpPr>
          <p:cNvPr id="14" name="SketchCard" descr="Illustrative sketch of the internal architecture of the generated implementation: handlers, policy, auth, and storage modules with entangled dependencies, every module reaching storage directly"/>
          <p:cNvSpPr/>
          <p:nvPr/>
        </p:nvSpPr>
        <p:spPr>
          <a:xfrm>
            <a:off x="411480" y="3383280"/>
            <a:ext cx="8321040" cy="1965960"/>
          </a:xfrm>
          <a:prstGeom prst="rect">
            <a:avLst/>
          </a:prstGeom>
          <a:solidFill>
            <a:srgbClr val="F5F1E8"/>
          </a:solidFill>
          <a:ln>
            <a:noFill/>
          </a:ln>
          <a:effectLst/>
        </p:spPr>
        <p:txBody>
          <a:bodyPr rtlCol="0" anchor="ctr" wrap="square"/>
          <a:lstStyle/>
          <a:p/>
        </p:txBody>
      </p:sp>
      <p:sp>
        <p:nvSpPr>
          <p:cNvPr id="15" name="SketchLabel"/>
          <p:cNvSpPr/>
          <p:nvPr/>
        </p:nvSpPr>
        <p:spPr>
          <a:xfrm>
            <a:off x="557784" y="3438144"/>
            <a:ext cx="804672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INTERNAL ARCHITECTURE WE ACCEPTED</a:t>
            </a:r>
            <a:r>
              <a:rPr sz="2000" b="0">
                <a:solidFill>
                  <a:srgbClr val="555960"/>
                </a:solidFill>
                <a:latin typeface="Calibri"/>
              </a:rPr>
              <a:t>   an illustrative sketch</a:t>
            </a:r>
          </a:p>
        </p:txBody>
      </p:sp>
      <p:sp>
        <p:nvSpPr>
          <p:cNvPr id="16" name="ModBox"/>
          <p:cNvSpPr/>
          <p:nvPr/>
        </p:nvSpPr>
        <p:spPr>
          <a:xfrm>
            <a:off x="77724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handlers</a:t>
            </a:r>
          </a:p>
        </p:txBody>
      </p:sp>
      <p:sp>
        <p:nvSpPr>
          <p:cNvPr id="17" name="ModBox"/>
          <p:cNvSpPr/>
          <p:nvPr/>
        </p:nvSpPr>
        <p:spPr>
          <a:xfrm>
            <a:off x="278892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policy</a:t>
            </a:r>
          </a:p>
        </p:txBody>
      </p:sp>
      <p:sp>
        <p:nvSpPr>
          <p:cNvPr id="18" name="ModBox"/>
          <p:cNvSpPr/>
          <p:nvPr/>
        </p:nvSpPr>
        <p:spPr>
          <a:xfrm>
            <a:off x="480060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auth</a:t>
            </a:r>
          </a:p>
        </p:txBody>
      </p:sp>
      <p:sp>
        <p:nvSpPr>
          <p:cNvPr id="19" name="ModBox"/>
          <p:cNvSpPr/>
          <p:nvPr/>
        </p:nvSpPr>
        <p:spPr>
          <a:xfrm>
            <a:off x="681228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storage</a:t>
            </a:r>
          </a:p>
        </p:txBody>
      </p:sp>
      <p:cxnSp>
        <p:nvCxnSpPr>
          <p:cNvPr id="20" name="ModEdge"/>
          <p:cNvCxnSpPr/>
          <p:nvPr/>
        </p:nvCxnSpPr>
        <p:spPr>
          <a:xfrm>
            <a:off x="2331720" y="4169664"/>
            <a:ext cx="457200" cy="0"/>
          </a:xfrm>
          <a:prstGeom prst="line">
            <a:avLst/>
          </a:prstGeom>
          <a:ln w="19050">
            <a:solidFill>
              <a:srgbClr val="8E6F3E"/>
            </a:solidFill>
            <a:tailEnd type="triangle" w="med" len="med"/>
          </a:ln>
        </p:spPr>
      </p:cxnSp>
      <p:cxnSp>
        <p:nvCxnSpPr>
          <p:cNvPr id="21" name="ModEdge"/>
          <p:cNvCxnSpPr/>
          <p:nvPr/>
        </p:nvCxnSpPr>
        <p:spPr>
          <a:xfrm>
            <a:off x="4343400" y="4169664"/>
            <a:ext cx="457200" cy="0"/>
          </a:xfrm>
          <a:prstGeom prst="line">
            <a:avLst/>
          </a:prstGeom>
          <a:ln w="19050">
            <a:solidFill>
              <a:srgbClr val="8E6F3E"/>
            </a:solidFill>
            <a:tailEnd type="triangle" w="med" len="med"/>
          </a:ln>
        </p:spPr>
      </p:cxnSp>
      <p:cxnSp>
        <p:nvCxnSpPr>
          <p:cNvPr id="22" name="ModEdge"/>
          <p:cNvCxnSpPr/>
          <p:nvPr/>
        </p:nvCxnSpPr>
        <p:spPr>
          <a:xfrm>
            <a:off x="6355080" y="4169664"/>
            <a:ext cx="457200" cy="0"/>
          </a:xfrm>
          <a:prstGeom prst="line">
            <a:avLst/>
          </a:prstGeom>
          <a:ln w="19050">
            <a:solidFill>
              <a:srgbClr val="8E6F3E"/>
            </a:solidFill>
            <a:tailEnd type="triangle" w="med" len="med"/>
          </a:ln>
        </p:spPr>
      </p:cxnSp>
      <p:sp>
        <p:nvSpPr>
          <p:cNvPr id="23" name="ModEdgeU1" descr="policy.py also calls storage.py directly"/>
          <p:cNvSpPr/>
          <p:nvPr/>
        </p:nvSpPr>
        <p:spPr>
          <a:xfrm>
            <a:off x="3566160" y="4407408"/>
            <a:ext cx="4251960" cy="365759"/>
          </a:xfrm>
          <a:custGeom>
            <a:avLst/>
            <a:gdLst/>
            <a:ahLst/>
            <a:cxnLst/>
            <a:rect l="0" t="0" r="0" b="0"/>
            <a:pathLst>
              <a:path w="4251960" h="365759" fill="none">
                <a:moveTo>
                  <a:pt x="0" y="0"/>
                </a:moveTo>
                <a:lnTo>
                  <a:pt x="0" y="365760"/>
                </a:lnTo>
                <a:lnTo>
                  <a:pt x="4251960" y="365760"/>
                </a:lnTo>
                <a:lnTo>
                  <a:pt x="4251960" y="0"/>
                </a:lnTo>
              </a:path>
            </a:pathLst>
          </a:custGeom>
          <a:noFill/>
          <a:ln w="19050">
            <a:solidFill>
              <a:srgbClr val="8E6F3E"/>
            </a:solidFill>
            <a:tailEnd type="triangle" w="med" len="med"/>
          </a:ln>
        </p:spPr>
        <p:txBody>
          <a:bodyPr rtlCol="0" anchor="ctr" wrap="square"/>
          <a:lstStyle/>
          <a:p/>
        </p:txBody>
      </p:sp>
      <p:sp>
        <p:nvSpPr>
          <p:cNvPr id="24" name="ModEdgeU2" descr="handlers.py also calls storage.py directly"/>
          <p:cNvSpPr/>
          <p:nvPr/>
        </p:nvSpPr>
        <p:spPr>
          <a:xfrm>
            <a:off x="1554480" y="4407408"/>
            <a:ext cx="5852159" cy="640079"/>
          </a:xfrm>
          <a:custGeom>
            <a:avLst/>
            <a:gdLst/>
            <a:ahLst/>
            <a:cxnLst/>
            <a:rect l="0" t="0" r="0" b="0"/>
            <a:pathLst>
              <a:path w="5852159" h="640079" fill="none">
                <a:moveTo>
                  <a:pt x="0" y="0"/>
                </a:moveTo>
                <a:lnTo>
                  <a:pt x="0" y="640080"/>
                </a:lnTo>
                <a:lnTo>
                  <a:pt x="5852160" y="640080"/>
                </a:lnTo>
                <a:lnTo>
                  <a:pt x="5852160" y="0"/>
                </a:lnTo>
              </a:path>
            </a:pathLst>
          </a:custGeom>
          <a:noFill/>
          <a:ln w="19050">
            <a:solidFill>
              <a:srgbClr val="8E6F3E"/>
            </a:solidFill>
            <a:tailEnd type="triangle" w="med" len="med"/>
          </a:ln>
        </p:spPr>
        <p:txBody>
          <a:bodyPr rtlCol="0" anchor="ctr" wrap="square"/>
          <a:lstStyle/>
          <a:p/>
        </p:txBody>
      </p:sp>
      <p:sp>
        <p:nvSpPr>
          <p:cNvPr id="25" name="FooterBand"/>
          <p:cNvSpPr/>
          <p:nvPr/>
        </p:nvSpPr>
        <p:spPr>
          <a:xfrm>
            <a:off x="274320" y="5577840"/>
            <a:ext cx="8595360" cy="71323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FooterBandText"/>
          <p:cNvSpPr/>
          <p:nvPr/>
        </p:nvSpPr>
        <p:spPr>
          <a:xfrm>
            <a:off x="384048" y="5596128"/>
            <a:ext cx="8375904" cy="667512"/>
          </a:xfrm>
          <a:prstGeom prst="rect">
            <a:avLst/>
          </a:prstGeom>
          <a:noFill/>
          <a:ln>
            <a:noFill/>
          </a:ln>
          <a:effectLst/>
        </p:spPr>
        <p:txBody>
          <a:bodyPr rtlCol="0" anchor="ctr" wrap="square"/>
          <a:lstStyle/>
          <a:p>
            <a:pPr algn="ctr">
              <a:spcAft>
                <a:spcPts val="0"/>
              </a:spcAft>
            </a:pPr>
            <a:r>
              <a:rPr sz="2000" b="1">
                <a:solidFill>
                  <a:srgbClr val="FFFFFF"/>
                </a:solidFill>
                <a:latin typeface="Calibri"/>
              </a:rPr>
              <a:t>Inside: which modules must change? Outside: which inherited packages can we trust and update?</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structure did we build, and what will it cost to change?</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QUESTION 1</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Act I drew the model first and built second. Here the build came first: name the failure shapes, recover the structure, price the restructuring.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Mud, erosion, and debt are different diagnoses</a:t>
            </a:r>
          </a:p>
        </p:txBody>
      </p:sp>
      <p:sp>
        <p:nvSpPr>
          <p:cNvPr id="3" name="DiagCard"/>
          <p:cNvSpPr/>
          <p:nvPr/>
        </p:nvSpPr>
        <p:spPr>
          <a:xfrm>
            <a:off x="411480" y="914400"/>
            <a:ext cx="2743200" cy="3566160"/>
          </a:xfrm>
          <a:prstGeom prst="rect">
            <a:avLst/>
          </a:prstGeom>
          <a:solidFill>
            <a:srgbClr val="F5F1E8"/>
          </a:solidFill>
          <a:ln>
            <a:noFill/>
          </a:ln>
          <a:effectLst/>
        </p:spPr>
        <p:txBody>
          <a:bodyPr rtlCol="0" anchor="ctr" wrap="square"/>
          <a:lstStyle/>
          <a:p/>
        </p:txBody>
      </p:sp>
      <p:sp>
        <p:nvSpPr>
          <p:cNvPr id="4" name="DiagHead"/>
          <p:cNvSpPr/>
          <p:nvPr/>
        </p:nvSpPr>
        <p:spPr>
          <a:xfrm>
            <a:off x="53949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BIG BALL OF MUD</a:t>
            </a:r>
          </a:p>
        </p:txBody>
      </p:sp>
      <p:sp>
        <p:nvSpPr>
          <p:cNvPr id="5" name="DiagDef"/>
          <p:cNvSpPr/>
          <p:nvPr/>
        </p:nvSpPr>
        <p:spPr>
          <a:xfrm>
            <a:off x="53949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Weak or indiscernible structural boundaries</a:t>
            </a:r>
          </a:p>
        </p:txBody>
      </p:sp>
      <p:sp>
        <p:nvSpPr>
          <p:cNvPr id="6" name="DiagCard"/>
          <p:cNvSpPr/>
          <p:nvPr/>
        </p:nvSpPr>
        <p:spPr>
          <a:xfrm>
            <a:off x="3200400" y="914400"/>
            <a:ext cx="2743200" cy="3566160"/>
          </a:xfrm>
          <a:prstGeom prst="rect">
            <a:avLst/>
          </a:prstGeom>
          <a:solidFill>
            <a:srgbClr val="F5F1E8"/>
          </a:solidFill>
          <a:ln>
            <a:noFill/>
          </a:ln>
          <a:effectLst/>
        </p:spPr>
        <p:txBody>
          <a:bodyPr rtlCol="0" anchor="ctr" wrap="square"/>
          <a:lstStyle/>
          <a:p/>
        </p:txBody>
      </p:sp>
      <p:sp>
        <p:nvSpPr>
          <p:cNvPr id="7" name="DiagHead"/>
          <p:cNvSpPr/>
          <p:nvPr/>
        </p:nvSpPr>
        <p:spPr>
          <a:xfrm>
            <a:off x="332841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ARCHITECTURAL EROSION</a:t>
            </a:r>
          </a:p>
        </p:txBody>
      </p:sp>
      <p:sp>
        <p:nvSpPr>
          <p:cNvPr id="8" name="DiagDef"/>
          <p:cNvSpPr/>
          <p:nvPr/>
        </p:nvSpPr>
        <p:spPr>
          <a:xfrm>
            <a:off x="332841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The implementation bypasses an intended boundary</a:t>
            </a:r>
          </a:p>
        </p:txBody>
      </p:sp>
      <p:sp>
        <p:nvSpPr>
          <p:cNvPr id="9" name="DiagCard"/>
          <p:cNvSpPr/>
          <p:nvPr/>
        </p:nvSpPr>
        <p:spPr>
          <a:xfrm>
            <a:off x="5989320" y="914400"/>
            <a:ext cx="2743200" cy="3566160"/>
          </a:xfrm>
          <a:prstGeom prst="rect">
            <a:avLst/>
          </a:prstGeom>
          <a:solidFill>
            <a:srgbClr val="F5F1E8"/>
          </a:solidFill>
          <a:ln>
            <a:noFill/>
          </a:ln>
          <a:effectLst/>
        </p:spPr>
        <p:txBody>
          <a:bodyPr rtlCol="0" anchor="ctr" wrap="square"/>
          <a:lstStyle/>
          <a:p/>
        </p:txBody>
      </p:sp>
      <p:sp>
        <p:nvSpPr>
          <p:cNvPr id="10" name="DiagHead"/>
          <p:cNvSpPr/>
          <p:nvPr/>
        </p:nvSpPr>
        <p:spPr>
          <a:xfrm>
            <a:off x="611733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TECHNICAL DEBT</a:t>
            </a:r>
          </a:p>
        </p:txBody>
      </p:sp>
      <p:sp>
        <p:nvSpPr>
          <p:cNvPr id="11" name="DiagDef"/>
          <p:cNvSpPr/>
          <p:nvPr/>
        </p:nvSpPr>
        <p:spPr>
          <a:xfrm>
            <a:off x="611733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A decision that imposes expected future cost</a:t>
            </a:r>
          </a:p>
        </p:txBody>
      </p:sp>
      <p:sp>
        <p:nvSpPr>
          <p:cNvPr id="12" name="MudBox"/>
          <p:cNvSpPr/>
          <p:nvPr/>
        </p:nvSpPr>
        <p:spPr>
          <a:xfrm>
            <a:off x="731520" y="1783080"/>
            <a:ext cx="566928" cy="365760"/>
          </a:xfrm>
          <a:prstGeom prst="rect">
            <a:avLst/>
          </a:prstGeom>
          <a:solidFill>
            <a:srgbClr val="FCFAF6"/>
          </a:solidFill>
          <a:ln w="15875">
            <a:solidFill>
              <a:srgbClr val="555960"/>
            </a:solidFill>
          </a:ln>
          <a:effectLst/>
        </p:spPr>
        <p:txBody>
          <a:bodyPr rtlCol="0" anchor="t" wrap="square"/>
          <a:lstStyle/>
          <a:p/>
        </p:txBody>
      </p:sp>
      <p:sp>
        <p:nvSpPr>
          <p:cNvPr id="13" name="MudBox"/>
          <p:cNvSpPr/>
          <p:nvPr/>
        </p:nvSpPr>
        <p:spPr>
          <a:xfrm>
            <a:off x="2057400" y="1783080"/>
            <a:ext cx="566928" cy="365760"/>
          </a:xfrm>
          <a:prstGeom prst="rect">
            <a:avLst/>
          </a:prstGeom>
          <a:solidFill>
            <a:srgbClr val="FCFAF6"/>
          </a:solidFill>
          <a:ln w="15875">
            <a:solidFill>
              <a:srgbClr val="555960"/>
            </a:solidFill>
          </a:ln>
          <a:effectLst/>
        </p:spPr>
        <p:txBody>
          <a:bodyPr rtlCol="0" anchor="t" wrap="square"/>
          <a:lstStyle/>
          <a:p/>
        </p:txBody>
      </p:sp>
      <p:sp>
        <p:nvSpPr>
          <p:cNvPr id="14" name="MudBox"/>
          <p:cNvSpPr/>
          <p:nvPr/>
        </p:nvSpPr>
        <p:spPr>
          <a:xfrm>
            <a:off x="1051560" y="2788920"/>
            <a:ext cx="566928" cy="365760"/>
          </a:xfrm>
          <a:prstGeom prst="rect">
            <a:avLst/>
          </a:prstGeom>
          <a:solidFill>
            <a:srgbClr val="FCFAF6"/>
          </a:solidFill>
          <a:ln w="15875">
            <a:solidFill>
              <a:srgbClr val="555960"/>
            </a:solidFill>
          </a:ln>
          <a:effectLst/>
        </p:spPr>
        <p:txBody>
          <a:bodyPr rtlCol="0" anchor="t" wrap="square"/>
          <a:lstStyle/>
          <a:p/>
        </p:txBody>
      </p:sp>
      <p:sp>
        <p:nvSpPr>
          <p:cNvPr id="15" name="MudBox"/>
          <p:cNvSpPr/>
          <p:nvPr/>
        </p:nvSpPr>
        <p:spPr>
          <a:xfrm>
            <a:off x="2240280" y="2697480"/>
            <a:ext cx="566928" cy="365760"/>
          </a:xfrm>
          <a:prstGeom prst="rect">
            <a:avLst/>
          </a:prstGeom>
          <a:solidFill>
            <a:srgbClr val="FCFAF6"/>
          </a:solidFill>
          <a:ln w="15875">
            <a:solidFill>
              <a:srgbClr val="555960"/>
            </a:solidFill>
          </a:ln>
          <a:effectLst/>
        </p:spPr>
        <p:txBody>
          <a:bodyPr rtlCol="0" anchor="t" wrap="square"/>
          <a:lstStyle/>
          <a:p/>
        </p:txBody>
      </p:sp>
      <p:cxnSp>
        <p:nvCxnSpPr>
          <p:cNvPr id="16" name="MudEdge"/>
          <p:cNvCxnSpPr/>
          <p:nvPr/>
        </p:nvCxnSpPr>
        <p:spPr>
          <a:xfrm>
            <a:off x="1298448" y="1965960"/>
            <a:ext cx="941832" cy="914400"/>
          </a:xfrm>
          <a:prstGeom prst="bentConnector3">
            <a:avLst/>
          </a:prstGeom>
          <a:ln w="12700">
            <a:solidFill>
              <a:srgbClr val="555960"/>
            </a:solidFill>
          </a:ln>
        </p:spPr>
      </p:cxnSp>
      <p:cxnSp>
        <p:nvCxnSpPr>
          <p:cNvPr id="17" name="MudEdge"/>
          <p:cNvCxnSpPr/>
          <p:nvPr/>
        </p:nvCxnSpPr>
        <p:spPr>
          <a:xfrm flipH="1">
            <a:off x="1618488" y="2148840"/>
            <a:ext cx="722376" cy="640080"/>
          </a:xfrm>
          <a:prstGeom prst="bentConnector3">
            <a:avLst/>
          </a:prstGeom>
          <a:ln w="12700">
            <a:solidFill>
              <a:srgbClr val="555960"/>
            </a:solidFill>
          </a:ln>
        </p:spPr>
      </p:cxnSp>
      <p:cxnSp>
        <p:nvCxnSpPr>
          <p:cNvPr id="18" name="MudEdge"/>
          <p:cNvCxnSpPr/>
          <p:nvPr/>
        </p:nvCxnSpPr>
        <p:spPr>
          <a:xfrm>
            <a:off x="1014984" y="2148840"/>
            <a:ext cx="1508760" cy="548640"/>
          </a:xfrm>
          <a:prstGeom prst="bentConnector3">
            <a:avLst/>
          </a:prstGeom>
          <a:ln w="12700">
            <a:solidFill>
              <a:srgbClr val="555960"/>
            </a:solidFill>
          </a:ln>
        </p:spPr>
      </p:cxnSp>
      <p:sp>
        <p:nvSpPr>
          <p:cNvPr id="19" name="ErodeBoxA"/>
          <p:cNvSpPr/>
          <p:nvPr/>
        </p:nvSpPr>
        <p:spPr>
          <a:xfrm>
            <a:off x="3273552" y="1965960"/>
            <a:ext cx="1143000" cy="457200"/>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onsolas"/>
              </a:rPr>
              <a:t>policy</a:t>
            </a:r>
          </a:p>
        </p:txBody>
      </p:sp>
      <p:sp>
        <p:nvSpPr>
          <p:cNvPr id="20" name="ErodeBoxB"/>
          <p:cNvSpPr/>
          <p:nvPr/>
        </p:nvSpPr>
        <p:spPr>
          <a:xfrm>
            <a:off x="4645152" y="1965960"/>
            <a:ext cx="1143000" cy="457200"/>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onsolas"/>
              </a:rPr>
              <a:t>store</a:t>
            </a:r>
          </a:p>
        </p:txBody>
      </p:sp>
      <p:cxnSp>
        <p:nvCxnSpPr>
          <p:cNvPr id="21" name="ErodeSeam"/>
          <p:cNvCxnSpPr/>
          <p:nvPr/>
        </p:nvCxnSpPr>
        <p:spPr>
          <a:xfrm>
            <a:off x="4530852" y="1783080"/>
            <a:ext cx="0" cy="1417320"/>
          </a:xfrm>
          <a:prstGeom prst="line">
            <a:avLst/>
          </a:prstGeom>
          <a:ln w="15875">
            <a:solidFill>
              <a:srgbClr val="8E6F3E"/>
            </a:solidFill>
            <a:prstDash val="dash"/>
          </a:ln>
        </p:spPr>
      </p:cxnSp>
      <p:cxnSp>
        <p:nvCxnSpPr>
          <p:cNvPr id="22" name="ErodeCall"/>
          <p:cNvCxnSpPr/>
          <p:nvPr/>
        </p:nvCxnSpPr>
        <p:spPr>
          <a:xfrm>
            <a:off x="4416552" y="2194560"/>
            <a:ext cx="228600" cy="0"/>
          </a:xfrm>
          <a:prstGeom prst="line">
            <a:avLst/>
          </a:prstGeom>
          <a:ln w="15875">
            <a:solidFill>
              <a:srgbClr val="8E6F3E"/>
            </a:solidFill>
            <a:tailEnd type="triangle" w="med" len="med"/>
          </a:ln>
        </p:spPr>
      </p:cxnSp>
      <p:sp>
        <p:nvSpPr>
          <p:cNvPr id="23" name="ErodeBypass" descr="A call that bypasses the intended boundary"/>
          <p:cNvSpPr/>
          <p:nvPr/>
        </p:nvSpPr>
        <p:spPr>
          <a:xfrm>
            <a:off x="3845052" y="2423160"/>
            <a:ext cx="1371600" cy="548640"/>
          </a:xfrm>
          <a:custGeom>
            <a:avLst/>
            <a:gdLst/>
            <a:ahLst/>
            <a:cxnLst/>
            <a:rect l="0" t="0" r="0" b="0"/>
            <a:pathLst>
              <a:path w="1371600" h="548640" fill="none">
                <a:moveTo>
                  <a:pt x="0" y="0"/>
                </a:moveTo>
                <a:lnTo>
                  <a:pt x="0" y="548640"/>
                </a:lnTo>
                <a:lnTo>
                  <a:pt x="1371600" y="548640"/>
                </a:lnTo>
                <a:lnTo>
                  <a:pt x="1371600" y="0"/>
                </a:lnTo>
              </a:path>
            </a:pathLst>
          </a:custGeom>
          <a:noFill/>
          <a:ln w="15875">
            <a:solidFill>
              <a:srgbClr val="C01B1B"/>
            </a:solidFill>
            <a:tailEnd type="triangle" w="med" len="med"/>
          </a:ln>
        </p:spPr>
        <p:txBody>
          <a:bodyPr rtlCol="0" anchor="ctr" wrap="square"/>
          <a:lstStyle/>
          <a:p/>
        </p:txBody>
      </p:sp>
      <p:sp>
        <p:nvSpPr>
          <p:cNvPr id="24" name="DebtBox"/>
          <p:cNvSpPr/>
          <p:nvPr/>
        </p:nvSpPr>
        <p:spPr>
          <a:xfrm>
            <a:off x="6263640" y="1691640"/>
            <a:ext cx="2194560" cy="411480"/>
          </a:xfrm>
          <a:prstGeom prst="rect">
            <a:avLst/>
          </a:prstGeom>
          <a:solidFill>
            <a:srgbClr val="FCFAF6"/>
          </a:solidFill>
          <a:ln w="15875">
            <a:solidFill>
              <a:srgbClr val="8E6F3E"/>
            </a:solidFill>
          </a:ln>
          <a:effectLst/>
        </p:spPr>
        <p:txBody>
          <a:bodyPr rtlCol="0" anchor="ctr" wrap="square"/>
          <a:lstStyle/>
          <a:p>
            <a:pPr algn="ctr">
              <a:spcAft>
                <a:spcPts val="0"/>
              </a:spcAft>
            </a:pPr>
            <a:r>
              <a:rPr sz="2000" b="0">
                <a:solidFill>
                  <a:srgbClr val="2D2D2D"/>
                </a:solidFill>
                <a:latin typeface="Calibri"/>
              </a:rPr>
              <a:t>shortcut today</a:t>
            </a:r>
          </a:p>
        </p:txBody>
      </p:sp>
      <p:sp>
        <p:nvSpPr>
          <p:cNvPr id="25" name="DebtBox"/>
          <p:cNvSpPr/>
          <p:nvPr/>
        </p:nvSpPr>
        <p:spPr>
          <a:xfrm>
            <a:off x="6263640" y="2267712"/>
            <a:ext cx="2194560" cy="621792"/>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alibri"/>
              </a:rPr>
              <a:t>interest: each change costs more</a:t>
            </a:r>
          </a:p>
        </p:txBody>
      </p:sp>
      <p:sp>
        <p:nvSpPr>
          <p:cNvPr id="26" name="DebtBox"/>
          <p:cNvSpPr/>
          <p:nvPr/>
        </p:nvSpPr>
        <p:spPr>
          <a:xfrm>
            <a:off x="6263640" y="3054096"/>
            <a:ext cx="2194560" cy="411480"/>
          </a:xfrm>
          <a:prstGeom prst="rect">
            <a:avLst/>
          </a:prstGeom>
          <a:solidFill>
            <a:srgbClr val="FCFAF6"/>
          </a:solidFill>
          <a:ln w="15875">
            <a:solidFill>
              <a:srgbClr val="8E6F3E"/>
            </a:solidFill>
          </a:ln>
          <a:effectLst/>
        </p:spPr>
        <p:txBody>
          <a:bodyPr rtlCol="0" anchor="ctr" wrap="square"/>
          <a:lstStyle/>
          <a:p>
            <a:pPr algn="ctr">
              <a:spcAft>
                <a:spcPts val="0"/>
              </a:spcAft>
            </a:pPr>
            <a:r>
              <a:rPr sz="2000" b="0">
                <a:solidFill>
                  <a:srgbClr val="2D2D2D"/>
                </a:solidFill>
                <a:latin typeface="Calibri"/>
              </a:rPr>
              <a:t>repay: retrofit later</a:t>
            </a:r>
          </a:p>
        </p:txBody>
      </p:sp>
      <p:cxnSp>
        <p:nvCxnSpPr>
          <p:cNvPr id="27" name="DebtArrow"/>
          <p:cNvCxnSpPr/>
          <p:nvPr/>
        </p:nvCxnSpPr>
        <p:spPr>
          <a:xfrm>
            <a:off x="7360920" y="2103120"/>
            <a:ext cx="0" cy="164592"/>
          </a:xfrm>
          <a:prstGeom prst="line">
            <a:avLst/>
          </a:prstGeom>
          <a:ln w="19050">
            <a:solidFill>
              <a:srgbClr val="8E6F3E"/>
            </a:solidFill>
            <a:tailEnd type="triangle" w="med" len="med"/>
          </a:ln>
        </p:spPr>
      </p:cxnSp>
      <p:cxnSp>
        <p:nvCxnSpPr>
          <p:cNvPr id="28" name="DebtArrow"/>
          <p:cNvCxnSpPr/>
          <p:nvPr/>
        </p:nvCxnSpPr>
        <p:spPr>
          <a:xfrm>
            <a:off x="7360920" y="2889504"/>
            <a:ext cx="0" cy="164592"/>
          </a:xfrm>
          <a:prstGeom prst="line">
            <a:avLst/>
          </a:prstGeom>
          <a:ln w="19050">
            <a:solidFill>
              <a:srgbClr val="8E6F3E"/>
            </a:solidFill>
            <a:tailEnd type="triangle" w="med" len="med"/>
          </a:ln>
        </p:spPr>
      </p:cxnSp>
      <p:sp>
        <p:nvSpPr>
          <p:cNvPr id="29" name="BandCard"/>
          <p:cNvSpPr/>
          <p:nvPr/>
        </p:nvSpPr>
        <p:spPr>
          <a:xfrm>
            <a:off x="411480" y="4645152"/>
            <a:ext cx="8321040" cy="1097280"/>
          </a:xfrm>
          <a:prstGeom prst="rect">
            <a:avLst/>
          </a:prstGeom>
          <a:solidFill>
            <a:srgbClr val="FCFAF6"/>
          </a:solidFill>
          <a:ln>
            <a:noFill/>
          </a:ln>
          <a:effectLst/>
        </p:spPr>
        <p:txBody>
          <a:bodyPr rtlCol="0" anchor="ctr" wrap="square"/>
          <a:lstStyle/>
          <a:p/>
        </p:txBody>
      </p:sp>
      <p:sp>
        <p:nvSpPr>
          <p:cNvPr id="30" name="BandText"/>
          <p:cNvSpPr/>
          <p:nvPr/>
        </p:nvSpPr>
        <p:spPr>
          <a:xfrm>
            <a:off x="557784" y="4718304"/>
            <a:ext cx="8046720" cy="969264"/>
          </a:xfrm>
          <a:prstGeom prst="rect">
            <a:avLst/>
          </a:prstGeom>
          <a:noFill/>
          <a:ln>
            <a:noFill/>
          </a:ln>
          <a:effectLst/>
        </p:spPr>
        <p:txBody>
          <a:bodyPr rtlCol="0" anchor="t" wrap="square"/>
          <a:lstStyle/>
          <a:p>
            <a:pPr algn="l">
              <a:spcAft>
                <a:spcPts val="0"/>
              </a:spcAft>
            </a:pPr>
            <a:r>
              <a:rPr sz="2000" b="1">
                <a:solidFill>
                  <a:srgbClr val="5C4826"/>
                </a:solidFill>
                <a:latin typeface="Calibri"/>
              </a:rPr>
              <a:t>Different diagnoses, different responses</a:t>
            </a:r>
          </a:p>
          <a:p>
            <a:pPr algn="l">
              <a:spcAft>
                <a:spcPts val="0"/>
              </a:spcAft>
            </a:pPr>
            <a:r>
              <a:rPr sz="2000" b="0">
                <a:solidFill>
                  <a:srgbClr val="555960"/>
                </a:solidFill>
                <a:latin typeface="Calibri"/>
              </a:rPr>
              <a:t>Mud can arise with no intended architecture; debt can be prudent; green functional tests see none of it.</a:t>
            </a:r>
          </a:p>
        </p:txBody>
      </p:sp>
      <p:sp>
        <p:nvSpPr>
          <p:cNvPr id="31" name="Cite"/>
          <p:cNvSpPr/>
          <p:nvPr/>
        </p:nvSpPr>
        <p:spPr>
          <a:xfrm>
            <a:off x="411480" y="5815584"/>
            <a:ext cx="8321040" cy="329184"/>
          </a:xfrm>
          <a:prstGeom prst="rect">
            <a:avLst/>
          </a:prstGeom>
          <a:noFill/>
          <a:ln>
            <a:noFill/>
          </a:ln>
          <a:effectLst/>
        </p:spPr>
        <p:txBody>
          <a:bodyPr rtlCol="0" anchor="t" wrap="square"/>
          <a:lstStyle/>
          <a:p>
            <a:pPr algn="l">
              <a:spcAft>
                <a:spcPts val="0"/>
              </a:spcAft>
            </a:pPr>
            <a:r>
              <a:rPr sz="2000" b="0">
                <a:solidFill>
                  <a:srgbClr val="555960"/>
                </a:solidFill>
                <a:latin typeface="Calibri"/>
              </a:rPr>
              <a:t>Foote &amp; Yoder 1999 · Cunningham 1992 · Kruchten et al. 2012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Why do working systems become mud?</a:t>
            </a:r>
          </a:p>
        </p:txBody>
      </p:sp>
      <p:sp>
        <p:nvSpPr>
          <p:cNvPr id="3" name="CauseCard"/>
          <p:cNvSpPr/>
          <p:nvPr/>
        </p:nvSpPr>
        <p:spPr>
          <a:xfrm>
            <a:off x="411480" y="960120"/>
            <a:ext cx="4023360" cy="1115568"/>
          </a:xfrm>
          <a:prstGeom prst="rect">
            <a:avLst/>
          </a:prstGeom>
          <a:solidFill>
            <a:srgbClr val="F5F1E8"/>
          </a:solidFill>
          <a:ln>
            <a:noFill/>
          </a:ln>
          <a:effectLst/>
        </p:spPr>
        <p:txBody>
          <a:bodyPr rtlCol="0" anchor="ctr" wrap="square"/>
          <a:lstStyle/>
          <a:p/>
        </p:txBody>
      </p:sp>
      <p:sp>
        <p:nvSpPr>
          <p:cNvPr id="4" name="CauseLabel"/>
          <p:cNvSpPr/>
          <p:nvPr/>
        </p:nvSpPr>
        <p:spPr>
          <a:xfrm>
            <a:off x="557784" y="1014984"/>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TIME PRESSURE</a:t>
            </a:r>
          </a:p>
        </p:txBody>
      </p:sp>
      <p:sp>
        <p:nvSpPr>
          <p:cNvPr id="5" name="CauseBody"/>
          <p:cNvSpPr/>
          <p:nvPr/>
        </p:nvSpPr>
        <p:spPr>
          <a:xfrm>
            <a:off x="557784" y="1417320"/>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shipping this week beats structuring for next year</a:t>
            </a:r>
          </a:p>
        </p:txBody>
      </p:sp>
      <p:sp>
        <p:nvSpPr>
          <p:cNvPr id="6" name="CauseCard"/>
          <p:cNvSpPr/>
          <p:nvPr/>
        </p:nvSpPr>
        <p:spPr>
          <a:xfrm>
            <a:off x="411480" y="2185416"/>
            <a:ext cx="4023360" cy="1115568"/>
          </a:xfrm>
          <a:prstGeom prst="rect">
            <a:avLst/>
          </a:prstGeom>
          <a:solidFill>
            <a:srgbClr val="F5F1E8"/>
          </a:solidFill>
          <a:ln>
            <a:noFill/>
          </a:ln>
          <a:effectLst/>
        </p:spPr>
        <p:txBody>
          <a:bodyPr rtlCol="0" anchor="ctr" wrap="square"/>
          <a:lstStyle/>
          <a:p/>
        </p:txBody>
      </p:sp>
      <p:sp>
        <p:nvSpPr>
          <p:cNvPr id="7" name="CauseLabel"/>
          <p:cNvSpPr/>
          <p:nvPr/>
        </p:nvSpPr>
        <p:spPr>
          <a:xfrm>
            <a:off x="557784" y="2240280"/>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EXPLORATORY REQUIREMENTS</a:t>
            </a:r>
          </a:p>
        </p:txBody>
      </p:sp>
      <p:sp>
        <p:nvSpPr>
          <p:cNvPr id="8" name="CauseBody"/>
          <p:cNvSpPr/>
          <p:nvPr/>
        </p:nvSpPr>
        <p:spPr>
          <a:xfrm>
            <a:off x="557784" y="2642616"/>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the problem is still being discovered while the code ships</a:t>
            </a:r>
          </a:p>
        </p:txBody>
      </p:sp>
      <p:sp>
        <p:nvSpPr>
          <p:cNvPr id="9" name="CauseCard"/>
          <p:cNvSpPr/>
          <p:nvPr/>
        </p:nvSpPr>
        <p:spPr>
          <a:xfrm>
            <a:off x="411480" y="3410712"/>
            <a:ext cx="4023360" cy="1115568"/>
          </a:xfrm>
          <a:prstGeom prst="rect">
            <a:avLst/>
          </a:prstGeom>
          <a:solidFill>
            <a:srgbClr val="F5F1E8"/>
          </a:solidFill>
          <a:ln>
            <a:noFill/>
          </a:ln>
          <a:effectLst/>
        </p:spPr>
        <p:txBody>
          <a:bodyPr rtlCol="0" anchor="ctr" wrap="square"/>
          <a:lstStyle/>
          <a:p/>
        </p:txBody>
      </p:sp>
      <p:sp>
        <p:nvSpPr>
          <p:cNvPr id="10" name="CauseLabel"/>
          <p:cNvSpPr/>
          <p:nvPr/>
        </p:nvSpPr>
        <p:spPr>
          <a:xfrm>
            <a:off x="557784" y="3465576"/>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SHORT EXPECTED LIFETIME</a:t>
            </a:r>
          </a:p>
        </p:txBody>
      </p:sp>
      <p:sp>
        <p:nvSpPr>
          <p:cNvPr id="11" name="CauseBody"/>
          <p:cNvSpPr/>
          <p:nvPr/>
        </p:nvSpPr>
        <p:spPr>
          <a:xfrm>
            <a:off x="557784" y="3867912"/>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throwaway code rarely gets thrown away</a:t>
            </a:r>
          </a:p>
        </p:txBody>
      </p:sp>
      <p:sp>
        <p:nvSpPr>
          <p:cNvPr id="12" name="AskCard"/>
          <p:cNvSpPr/>
          <p:nvPr/>
        </p:nvSpPr>
        <p:spPr>
          <a:xfrm>
            <a:off x="4617720" y="960120"/>
            <a:ext cx="4114800" cy="3584448"/>
          </a:xfrm>
          <a:prstGeom prst="rect">
            <a:avLst/>
          </a:prstGeom>
          <a:solidFill>
            <a:srgbClr val="FCFAF6"/>
          </a:solidFill>
          <a:ln>
            <a:noFill/>
          </a:ln>
          <a:effectLst/>
        </p:spPr>
        <p:txBody>
          <a:bodyPr rtlCol="0" anchor="ctr" wrap="square"/>
          <a:lstStyle/>
          <a:p/>
        </p:txBody>
      </p:sp>
      <p:sp>
        <p:nvSpPr>
          <p:cNvPr id="13" name="AskText"/>
          <p:cNvSpPr/>
          <p:nvPr/>
        </p:nvSpPr>
        <p:spPr>
          <a:xfrm>
            <a:off x="4764024" y="1051560"/>
            <a:ext cx="3822192" cy="3401568"/>
          </a:xfrm>
          <a:prstGeom prst="rect">
            <a:avLst/>
          </a:prstGeom>
          <a:noFill/>
          <a:ln>
            <a:noFill/>
          </a:ln>
          <a:effectLst/>
        </p:spPr>
        <p:txBody>
          <a:bodyPr rtlCol="0" anchor="ctr" wrap="square"/>
          <a:lstStyle/>
          <a:p>
            <a:pPr algn="l">
              <a:spcAft>
                <a:spcPts val="0"/>
              </a:spcAft>
            </a:pPr>
            <a:r>
              <a:rPr sz="2000" b="1">
                <a:solidFill>
                  <a:srgbClr val="2D2D2D"/>
                </a:solidFill>
                <a:latin typeface="Calibri"/>
              </a:rPr>
              <a:t>Must the agent-generated reservation service be clean before a single user exists?</a:t>
            </a:r>
          </a:p>
          <a:p>
            <a:pPr algn="l">
              <a:spcAft>
                <a:spcPts val="0"/>
              </a:spcAft>
            </a:pPr>
            <a:r>
              <a:rPr sz="2000" b="0">
                <a:solidFill>
                  <a:srgbClr val="555960"/>
                </a:solidFill>
                <a:latin typeface="Calibri"/>
              </a:rPr>
              <a:t>Foote &amp; Yoder answer no: piecemeal growth is a reasonable response to these forces.</a:t>
            </a:r>
          </a:p>
          <a:p>
            <a:pPr algn="l">
              <a:spcAft>
                <a:spcPts val="0"/>
              </a:spcAft>
            </a:pPr>
            <a:r>
              <a:rPr sz="2000" b="0">
                <a:solidFill>
                  <a:srgbClr val="555960"/>
                </a:solidFill>
                <a:latin typeface="Calibri"/>
              </a:rPr>
              <a:t>Then the laboratory request arrives, and the economics change: structure starts paying rent.</a:t>
            </a:r>
          </a:p>
        </p:txBody>
      </p:sp>
      <p:sp>
        <p:nvSpPr>
          <p:cNvPr id="14" name="Cite"/>
          <p:cNvSpPr/>
          <p:nvPr/>
        </p:nvSpPr>
        <p:spPr>
          <a:xfrm>
            <a:off x="411480" y="4709160"/>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Foote &amp; Yoder, Big Ball of Mud (1999), laputan.org/mud</a:t>
            </a:r>
          </a:p>
        </p:txBody>
      </p:sp>
      <p:sp>
        <p:nvSpPr>
          <p:cNvPr id="15"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When does structure start paying for itself?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Debt varies by deliberation and by prudence</a:t>
            </a:r>
          </a:p>
        </p:txBody>
      </p:sp>
      <p:sp>
        <p:nvSpPr>
          <p:cNvPr id="3" name="ColHead"/>
          <p:cNvSpPr/>
          <p:nvPr/>
        </p:nvSpPr>
        <p:spPr>
          <a:xfrm>
            <a:off x="2194560" y="914400"/>
            <a:ext cx="3108960" cy="365760"/>
          </a:xfrm>
          <a:prstGeom prst="rect">
            <a:avLst/>
          </a:prstGeom>
          <a:noFill/>
          <a:ln>
            <a:noFill/>
          </a:ln>
          <a:effectLst/>
        </p:spPr>
        <p:txBody>
          <a:bodyPr rtlCol="0" anchor="ctr" wrap="square"/>
          <a:lstStyle/>
          <a:p>
            <a:pPr algn="ctr">
              <a:spcAft>
                <a:spcPts val="0"/>
              </a:spcAft>
            </a:pPr>
            <a:r>
              <a:rPr sz="2000" b="1">
                <a:solidFill>
                  <a:srgbClr val="5C4826"/>
                </a:solidFill>
                <a:latin typeface="Calibri"/>
              </a:rPr>
              <a:t>RECKLESS</a:t>
            </a:r>
          </a:p>
        </p:txBody>
      </p:sp>
      <p:sp>
        <p:nvSpPr>
          <p:cNvPr id="4" name="ColHead"/>
          <p:cNvSpPr/>
          <p:nvPr/>
        </p:nvSpPr>
        <p:spPr>
          <a:xfrm>
            <a:off x="5440680" y="914400"/>
            <a:ext cx="3108960" cy="365760"/>
          </a:xfrm>
          <a:prstGeom prst="rect">
            <a:avLst/>
          </a:prstGeom>
          <a:noFill/>
          <a:ln>
            <a:noFill/>
          </a:ln>
          <a:effectLst/>
        </p:spPr>
        <p:txBody>
          <a:bodyPr rtlCol="0" anchor="ctr" wrap="square"/>
          <a:lstStyle/>
          <a:p>
            <a:pPr algn="ctr">
              <a:spcAft>
                <a:spcPts val="0"/>
              </a:spcAft>
            </a:pPr>
            <a:r>
              <a:rPr sz="2000" b="1">
                <a:solidFill>
                  <a:srgbClr val="5C4826"/>
                </a:solidFill>
                <a:latin typeface="Calibri"/>
              </a:rPr>
              <a:t>PRUDENT</a:t>
            </a:r>
          </a:p>
        </p:txBody>
      </p:sp>
      <p:sp>
        <p:nvSpPr>
          <p:cNvPr id="5" name="RowHead"/>
          <p:cNvSpPr/>
          <p:nvPr/>
        </p:nvSpPr>
        <p:spPr>
          <a:xfrm>
            <a:off x="274320" y="1965960"/>
            <a:ext cx="1810512" cy="36576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DELIBERATE</a:t>
            </a:r>
          </a:p>
        </p:txBody>
      </p:sp>
      <p:sp>
        <p:nvSpPr>
          <p:cNvPr id="6" name="RowHead"/>
          <p:cNvSpPr/>
          <p:nvPr/>
        </p:nvSpPr>
        <p:spPr>
          <a:xfrm>
            <a:off x="274320" y="3657600"/>
            <a:ext cx="1810512" cy="36576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INADVERTENT</a:t>
            </a:r>
          </a:p>
        </p:txBody>
      </p:sp>
      <p:sp>
        <p:nvSpPr>
          <p:cNvPr id="7" name="QuadCard"/>
          <p:cNvSpPr/>
          <p:nvPr/>
        </p:nvSpPr>
        <p:spPr>
          <a:xfrm>
            <a:off x="2194560" y="1325880"/>
            <a:ext cx="3108960" cy="1600200"/>
          </a:xfrm>
          <a:prstGeom prst="rect">
            <a:avLst/>
          </a:prstGeom>
          <a:solidFill>
            <a:srgbClr val="F5F1E8"/>
          </a:solidFill>
          <a:ln>
            <a:noFill/>
          </a:ln>
          <a:effectLst/>
        </p:spPr>
        <p:txBody>
          <a:bodyPr rtlCol="0" anchor="ctr" wrap="square"/>
          <a:lstStyle/>
          <a:p/>
        </p:txBody>
      </p:sp>
      <p:sp>
        <p:nvSpPr>
          <p:cNvPr id="8" name="QuadText"/>
          <p:cNvSpPr/>
          <p:nvPr/>
        </p:nvSpPr>
        <p:spPr>
          <a:xfrm>
            <a:off x="2322576" y="141732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"We do not have time for design"</a:t>
            </a:r>
          </a:p>
          <a:p>
            <a:pPr algn="l">
              <a:spcAft>
                <a:spcPts val="0"/>
              </a:spcAft>
            </a:pPr>
            <a:r>
              <a:rPr sz="2000" b="0">
                <a:solidFill>
                  <a:srgbClr val="555960"/>
                </a:solidFill>
                <a:latin typeface="Calibri"/>
              </a:rPr>
              <a:t>the shortcut is chosen, its cost is not</a:t>
            </a:r>
          </a:p>
        </p:txBody>
      </p:sp>
      <p:sp>
        <p:nvSpPr>
          <p:cNvPr id="9" name="QuadCard"/>
          <p:cNvSpPr/>
          <p:nvPr/>
        </p:nvSpPr>
        <p:spPr>
          <a:xfrm>
            <a:off x="5440680" y="1325880"/>
            <a:ext cx="3108960" cy="1600200"/>
          </a:xfrm>
          <a:prstGeom prst="rect">
            <a:avLst/>
          </a:prstGeom>
          <a:solidFill>
            <a:srgbClr val="F5F1E8"/>
          </a:solidFill>
          <a:ln>
            <a:noFill/>
          </a:ln>
          <a:effectLst/>
        </p:spPr>
        <p:txBody>
          <a:bodyPr rtlCol="0" anchor="ctr" wrap="square"/>
          <a:lstStyle/>
          <a:p/>
        </p:txBody>
      </p:sp>
      <p:sp>
        <p:nvSpPr>
          <p:cNvPr id="10" name="QuadText"/>
          <p:cNvSpPr/>
          <p:nvPr/>
        </p:nvSpPr>
        <p:spPr>
          <a:xfrm>
            <a:off x="5568696" y="141732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"Ship the lab policy hard-coded; record the cost and the plan"</a:t>
            </a:r>
          </a:p>
          <a:p>
            <a:pPr algn="l">
              <a:spcAft>
                <a:spcPts val="0"/>
              </a:spcAft>
            </a:pPr>
            <a:r>
              <a:rPr sz="2000" b="0">
                <a:solidFill>
                  <a:srgbClr val="555960"/>
                </a:solidFill>
                <a:latin typeface="Calibri"/>
              </a:rPr>
              <a:t>a priced, scheduled trade</a:t>
            </a:r>
          </a:p>
        </p:txBody>
      </p:sp>
      <p:sp>
        <p:nvSpPr>
          <p:cNvPr id="11" name="QuadCard"/>
          <p:cNvSpPr/>
          <p:nvPr/>
        </p:nvSpPr>
        <p:spPr>
          <a:xfrm>
            <a:off x="2194560" y="3017520"/>
            <a:ext cx="3108960" cy="1600200"/>
          </a:xfrm>
          <a:prstGeom prst="rect">
            <a:avLst/>
          </a:prstGeom>
          <a:solidFill>
            <a:srgbClr val="F5F1E8"/>
          </a:solidFill>
          <a:ln>
            <a:noFill/>
          </a:ln>
          <a:effectLst/>
        </p:spPr>
        <p:txBody>
          <a:bodyPr rtlCol="0" anchor="ctr" wrap="square"/>
          <a:lstStyle/>
          <a:p/>
        </p:txBody>
      </p:sp>
      <p:sp>
        <p:nvSpPr>
          <p:cNvPr id="12" name="QuadText"/>
          <p:cNvSpPr/>
          <p:nvPr/>
        </p:nvSpPr>
        <p:spPr>
          <a:xfrm>
            <a:off x="2322576" y="310896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"What is layering?"</a:t>
            </a:r>
          </a:p>
          <a:p>
            <a:pPr algn="l">
              <a:spcAft>
                <a:spcPts val="0"/>
              </a:spcAft>
            </a:pPr>
            <a:r>
              <a:rPr sz="2000" b="0">
                <a:solidFill>
                  <a:srgbClr val="555960"/>
                </a:solidFill>
                <a:latin typeface="Calibri"/>
              </a:rPr>
              <a:t>the mess is invisible to its author</a:t>
            </a:r>
          </a:p>
        </p:txBody>
      </p:sp>
      <p:sp>
        <p:nvSpPr>
          <p:cNvPr id="13" name="QuadCard"/>
          <p:cNvSpPr/>
          <p:nvPr/>
        </p:nvSpPr>
        <p:spPr>
          <a:xfrm>
            <a:off x="5440680" y="3017520"/>
            <a:ext cx="3108960" cy="1600200"/>
          </a:xfrm>
          <a:prstGeom prst="rect">
            <a:avLst/>
          </a:prstGeom>
          <a:solidFill>
            <a:srgbClr val="F5F1E8"/>
          </a:solidFill>
          <a:ln>
            <a:noFill/>
          </a:ln>
          <a:effectLst/>
        </p:spPr>
        <p:txBody>
          <a:bodyPr rtlCol="0" anchor="ctr" wrap="square"/>
          <a:lstStyle/>
          <a:p/>
        </p:txBody>
      </p:sp>
      <p:sp>
        <p:nvSpPr>
          <p:cNvPr id="14" name="QuadText"/>
          <p:cNvSpPr/>
          <p:nvPr/>
        </p:nvSpPr>
        <p:spPr>
          <a:xfrm>
            <a:off x="5568696" y="310896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"Now we know how policies should have been modeled"</a:t>
            </a:r>
          </a:p>
          <a:p>
            <a:pPr algn="l">
              <a:spcAft>
                <a:spcPts val="0"/>
              </a:spcAft>
            </a:pPr>
            <a:r>
              <a:rPr sz="2000" b="0">
                <a:solidFill>
                  <a:srgbClr val="555960"/>
                </a:solidFill>
                <a:latin typeface="Calibri"/>
              </a:rPr>
              <a:t>learning reveals debt that no one chose</a:t>
            </a:r>
          </a:p>
        </p:txBody>
      </p:sp>
      <p:sp>
        <p:nvSpPr>
          <p:cNvPr id="15" name="BandCard"/>
          <p:cNvSpPr/>
          <p:nvPr/>
        </p:nvSpPr>
        <p:spPr>
          <a:xfrm>
            <a:off x="411480" y="4846320"/>
            <a:ext cx="8321040" cy="777240"/>
          </a:xfrm>
          <a:prstGeom prst="rect">
            <a:avLst/>
          </a:prstGeom>
          <a:solidFill>
            <a:srgbClr val="FCFAF6"/>
          </a:solidFill>
          <a:ln>
            <a:noFill/>
          </a:ln>
          <a:effectLst/>
        </p:spPr>
        <p:txBody>
          <a:bodyPr rtlCol="0" anchor="ctr" wrap="square"/>
          <a:lstStyle/>
          <a:p/>
        </p:txBody>
      </p:sp>
      <p:sp>
        <p:nvSpPr>
          <p:cNvPr id="16" name="BandText"/>
          <p:cNvSpPr/>
          <p:nvPr/>
        </p:nvSpPr>
        <p:spPr>
          <a:xfrm>
            <a:off x="557784" y="4919472"/>
            <a:ext cx="8046720" cy="640080"/>
          </a:xfrm>
          <a:prstGeom prst="rect">
            <a:avLst/>
          </a:prstGeom>
          <a:noFill/>
          <a:ln>
            <a:noFill/>
          </a:ln>
          <a:effectLst/>
        </p:spPr>
        <p:txBody>
          <a:bodyPr rtlCol="0" anchor="ctr" wrap="square"/>
          <a:lstStyle/>
          <a:p>
            <a:pPr algn="l">
              <a:spcAft>
                <a:spcPts val="0"/>
              </a:spcAft>
            </a:pPr>
            <a:r>
              <a:rPr sz="2000" b="1">
                <a:solidFill>
                  <a:srgbClr val="C01B1B"/>
                </a:solidFill>
                <a:latin typeface="Calibri"/>
              </a:rPr>
              <a:t>Not all ugliness is debt</a:t>
            </a:r>
            <a:r>
              <a:rPr sz="2000" b="0">
                <a:solidFill>
                  <a:srgbClr val="555960"/>
                </a:solidFill>
                <a:latin typeface="Calibri"/>
              </a:rPr>
              <a:t>   debt is expected future cost, not offended taste</a:t>
            </a:r>
          </a:p>
        </p:txBody>
      </p:sp>
      <p:sp>
        <p:nvSpPr>
          <p:cNvPr id="17" name="Cite"/>
          <p:cNvSpPr/>
          <p:nvPr/>
        </p:nvSpPr>
        <p:spPr>
          <a:xfrm>
            <a:off x="411480" y="5742432"/>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(2009), Technical Debt Quadrant, martinfowler.com/bliki/TechnicalDebtQuadrant.html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Price the shortcut before you take it</a:t>
            </a:r>
          </a:p>
        </p:txBody>
      </p:sp>
      <p:sp>
        <p:nvSpPr>
          <p:cNvPr id="3" name="ChoiceCard"/>
          <p:cNvSpPr/>
          <p:nvPr/>
        </p:nvSpPr>
        <p:spPr>
          <a:xfrm>
            <a:off x="411480" y="914400"/>
            <a:ext cx="4023360" cy="2651760"/>
          </a:xfrm>
          <a:prstGeom prst="rect">
            <a:avLst/>
          </a:prstGeom>
          <a:solidFill>
            <a:srgbClr val="F5F1E8"/>
          </a:solidFill>
          <a:ln>
            <a:noFill/>
          </a:ln>
          <a:effectLst/>
        </p:spPr>
        <p:txBody>
          <a:bodyPr rtlCol="0" anchor="ctr" wrap="square"/>
          <a:lstStyle/>
          <a:p/>
        </p:txBody>
      </p:sp>
      <p:sp>
        <p:nvSpPr>
          <p:cNvPr id="4" name="Choice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CHOICE</a:t>
            </a:r>
          </a:p>
        </p:txBody>
      </p:sp>
      <p:sp>
        <p:nvSpPr>
          <p:cNvPr id="5" name="ChoiceBody"/>
          <p:cNvSpPr/>
          <p:nvPr/>
        </p:nvSpPr>
        <p:spPr>
          <a:xfrm>
            <a:off x="557784" y="1389888"/>
            <a:ext cx="3749040" cy="2103120"/>
          </a:xfrm>
          <a:prstGeom prst="rect">
            <a:avLst/>
          </a:prstGeom>
          <a:noFill/>
          <a:ln>
            <a:noFill/>
          </a:ln>
          <a:effectLst/>
        </p:spPr>
        <p:txBody>
          <a:bodyPr rtlCol="0" anchor="ctr" wrap="square"/>
          <a:lstStyle/>
          <a:p>
            <a:pPr algn="l">
              <a:spcAft>
                <a:spcPts val="0"/>
              </a:spcAft>
            </a:pPr>
            <a:r>
              <a:rPr sz="2000" b="1">
                <a:solidFill>
                  <a:srgbClr val="2D2D2D"/>
                </a:solidFill>
                <a:latin typeface="Calibri"/>
              </a:rPr>
              <a:t>Clean design: 10 staff-days</a:t>
            </a:r>
          </a:p>
          <a:p>
            <a:pPr algn="l">
              <a:spcAft>
                <a:spcPts val="0"/>
              </a:spcAft>
            </a:pPr>
            <a:r>
              <a:rPr sz="2000" b="1">
                <a:solidFill>
                  <a:srgbClr val="2D2D2D"/>
                </a:solidFill>
                <a:latin typeface="Calibri"/>
              </a:rPr>
              <a:t>Shortcut: 2 staff-days now</a:t>
            </a:r>
          </a:p>
          <a:p>
            <a:pPr algn="l">
              <a:spcAft>
                <a:spcPts val="0"/>
              </a:spcAft>
            </a:pPr>
            <a:r>
              <a:rPr sz="2000" b="0">
                <a:solidFill>
                  <a:srgbClr val="555960"/>
                </a:solidFill>
                <a:latin typeface="Calibri"/>
              </a:rPr>
              <a:t>+ 0.5 staff-day per month servicing</a:t>
            </a:r>
          </a:p>
          <a:p>
            <a:pPr algn="l">
              <a:spcAft>
                <a:spcPts val="0"/>
              </a:spcAft>
            </a:pPr>
            <a:r>
              <a:rPr sz="2000" b="0">
                <a:solidFill>
                  <a:srgbClr val="555960"/>
                </a:solidFill>
                <a:latin typeface="Calibri"/>
              </a:rPr>
              <a:t>+ 12 staff-days to retrofit later</a:t>
            </a:r>
          </a:p>
        </p:txBody>
      </p:sp>
      <p:sp>
        <p:nvSpPr>
          <p:cNvPr id="6" name="FutureCard"/>
          <p:cNvSpPr/>
          <p:nvPr/>
        </p:nvSpPr>
        <p:spPr>
          <a:xfrm>
            <a:off x="4617720" y="914400"/>
            <a:ext cx="4114800" cy="2651760"/>
          </a:xfrm>
          <a:prstGeom prst="rect">
            <a:avLst/>
          </a:prstGeom>
          <a:solidFill>
            <a:srgbClr val="FCFAF6"/>
          </a:solidFill>
          <a:ln>
            <a:noFill/>
          </a:ln>
          <a:effectLst/>
        </p:spPr>
        <p:txBody>
          <a:bodyPr rtlCol="0" anchor="ctr" wrap="square"/>
          <a:lstStyle/>
          <a:p/>
        </p:txBody>
      </p:sp>
      <p:sp>
        <p:nvSpPr>
          <p:cNvPr id="7" name="Future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TWO FUTURES: COMPUTE BOTH</a:t>
            </a:r>
          </a:p>
        </p:txBody>
      </p:sp>
      <p:sp>
        <p:nvSpPr>
          <p:cNvPr id="8" name="FutureBody"/>
          <p:cNvSpPr/>
          <p:nvPr/>
        </p:nvSpPr>
        <p:spPr>
          <a:xfrm>
            <a:off x="4764024" y="1389888"/>
            <a:ext cx="3840480" cy="713232"/>
          </a:xfrm>
          <a:prstGeom prst="rect">
            <a:avLst/>
          </a:prstGeom>
          <a:noFill/>
          <a:ln>
            <a:noFill/>
          </a:ln>
          <a:effectLst/>
        </p:spPr>
        <p:txBody>
          <a:bodyPr rtlCol="0" anchor="t" wrap="square"/>
          <a:lstStyle/>
          <a:p>
            <a:pPr algn="l">
              <a:spcAft>
                <a:spcPts val="0"/>
              </a:spcAft>
            </a:pPr>
            <a:r>
              <a:rPr sz="2000" b="0">
                <a:solidFill>
                  <a:srgbClr val="2D2D2D"/>
                </a:solidFill>
                <a:latin typeface="Calibri"/>
              </a:rPr>
              <a:t>A: retire it at 3 months</a:t>
            </a:r>
          </a:p>
          <a:p>
            <a:pPr algn="l">
              <a:spcAft>
                <a:spcPts val="0"/>
              </a:spcAft>
            </a:pPr>
            <a:r>
              <a:rPr sz="2000" b="0">
                <a:solidFill>
                  <a:srgbClr val="2D2D2D"/>
                </a:solidFill>
                <a:latin typeface="Calibri"/>
              </a:rPr>
              <a:t>B: run 24 months, retrofit</a:t>
            </a:r>
          </a:p>
        </p:txBody>
      </p:sp>
      <p:sp>
        <p:nvSpPr>
          <p:cNvPr id="9" name="Answer"/>
          <p:cNvSpPr/>
          <p:nvPr/>
        </p:nvSpPr>
        <p:spPr>
          <a:xfrm>
            <a:off x="4764024" y="2176272"/>
            <a:ext cx="3840480" cy="640080"/>
          </a:xfrm>
          <a:prstGeom prst="rect">
            <a:avLst/>
          </a:prstGeom>
          <a:noFill/>
          <a:ln>
            <a:noFill/>
          </a:ln>
          <a:effectLst/>
        </p:spPr>
        <p:txBody>
          <a:bodyPr rtlCol="0" anchor="t" wrap="square"/>
          <a:lstStyle/>
          <a:p>
            <a:pPr algn="l">
              <a:spcAft>
                <a:spcPts val="0"/>
              </a:spcAft>
            </a:pPr>
            <a:r>
              <a:rPr sz="2000" b="0">
                <a:solidFill>
                  <a:srgbClr val="2D2D2D"/>
                </a:solidFill>
                <a:latin typeface="Calibri"/>
              </a:rPr>
              <a:t>A: 2 + 1.5 = 3.5 vs 10</a:t>
            </a:r>
          </a:p>
          <a:p>
            <a:pPr algn="l">
              <a:spcAft>
                <a:spcPts val="0"/>
              </a:spcAft>
            </a:pPr>
            <a:r>
              <a:rPr sz="2000" b="1">
                <a:solidFill>
                  <a:srgbClr val="5C4826"/>
                </a:solidFill>
                <a:latin typeface="Calibri"/>
              </a:rPr>
              <a:t>the shortcut wins</a:t>
            </a:r>
          </a:p>
        </p:txBody>
      </p:sp>
      <p:sp>
        <p:nvSpPr>
          <p:cNvPr id="10" name="Answer"/>
          <p:cNvSpPr/>
          <p:nvPr/>
        </p:nvSpPr>
        <p:spPr>
          <a:xfrm>
            <a:off x="4764024" y="2852928"/>
            <a:ext cx="3840480" cy="640080"/>
          </a:xfrm>
          <a:prstGeom prst="rect">
            <a:avLst/>
          </a:prstGeom>
          <a:noFill/>
          <a:ln>
            <a:noFill/>
          </a:ln>
          <a:effectLst/>
        </p:spPr>
        <p:txBody>
          <a:bodyPr rtlCol="0" anchor="t" wrap="square"/>
          <a:lstStyle/>
          <a:p>
            <a:pPr algn="l">
              <a:spcAft>
                <a:spcPts val="0"/>
              </a:spcAft>
            </a:pPr>
            <a:r>
              <a:rPr sz="2000" b="0">
                <a:solidFill>
                  <a:srgbClr val="2D2D2D"/>
                </a:solidFill>
                <a:latin typeface="Calibri"/>
              </a:rPr>
              <a:t>B: 2 + 12 + 12 = 26 vs 10</a:t>
            </a:r>
          </a:p>
          <a:p>
            <a:pPr algn="l">
              <a:spcAft>
                <a:spcPts val="0"/>
              </a:spcAft>
            </a:pPr>
            <a:r>
              <a:rPr sz="2000" b="1">
                <a:solidFill>
                  <a:srgbClr val="C01B1B"/>
                </a:solidFill>
                <a:latin typeface="Calibri"/>
              </a:rPr>
              <a:t>the clean design wins</a:t>
            </a:r>
          </a:p>
        </p:txBody>
      </p:sp>
      <p:sp>
        <p:nvSpPr>
          <p:cNvPr id="11" name="BandCard"/>
          <p:cNvSpPr/>
          <p:nvPr/>
        </p:nvSpPr>
        <p:spPr>
          <a:xfrm>
            <a:off x="411480" y="3703320"/>
            <a:ext cx="8321040" cy="1600200"/>
          </a:xfrm>
          <a:prstGeom prst="rect">
            <a:avLst/>
          </a:prstGeom>
          <a:solidFill>
            <a:srgbClr val="F5F1E8"/>
          </a:solidFill>
          <a:ln>
            <a:noFill/>
          </a:ln>
          <a:effectLst/>
        </p:spPr>
        <p:txBody>
          <a:bodyPr rtlCol="0" anchor="ctr" wrap="square"/>
          <a:lstStyle/>
          <a:p/>
        </p:txBody>
      </p:sp>
      <p:sp>
        <p:nvSpPr>
          <p:cNvPr id="12" name="BandText"/>
          <p:cNvSpPr/>
          <p:nvPr/>
        </p:nvSpPr>
        <p:spPr>
          <a:xfrm>
            <a:off x="557784" y="3776472"/>
            <a:ext cx="8046720" cy="1463040"/>
          </a:xfrm>
          <a:prstGeom prst="rect">
            <a:avLst/>
          </a:prstGeom>
          <a:noFill/>
          <a:ln>
            <a:noFill/>
          </a:ln>
          <a:effectLst/>
        </p:spPr>
        <p:txBody>
          <a:bodyPr rtlCol="0" anchor="t" wrap="square"/>
          <a:lstStyle/>
          <a:p>
            <a:pPr algn="l">
              <a:spcAft>
                <a:spcPts val="0"/>
              </a:spcAft>
            </a:pPr>
            <a:r>
              <a:rPr sz="2000" b="1">
                <a:solidFill>
                  <a:srgbClr val="5C4826"/>
                </a:solidFill>
                <a:latin typeface="Calibri"/>
              </a:rPr>
              <a:t>Agentic development changes the economics: implementation becomes cheaper, but future maintenance costs need not decline proportionally</a:t>
            </a:r>
          </a:p>
          <a:p>
            <a:pPr algn="l">
              <a:spcAft>
                <a:spcPts val="0"/>
              </a:spcAft>
            </a:pPr>
            <a:r>
              <a:rPr sz="2000" b="0">
                <a:solidFill>
                  <a:srgbClr val="555960"/>
                </a:solidFill>
                <a:latin typeface="Calibri"/>
              </a:rPr>
              <a:t>The horizon and the servicing rate are assumptions; state them, or the comparison is theater.</a:t>
            </a:r>
          </a:p>
        </p:txBody>
      </p:sp>
      <p:sp>
        <p:nvSpPr>
          <p:cNvPr id="13" name="Cite"/>
          <p:cNvSpPr/>
          <p:nvPr/>
        </p:nvSpPr>
        <p:spPr>
          <a:xfrm>
            <a:off x="411480" y="5394960"/>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Figures: McConnell (2008), Managing Technical Debt, via ECE 595 Maintenance</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Recover the structure from the realization</a:t>
            </a:r>
          </a:p>
        </p:txBody>
      </p:sp>
      <p:sp>
        <p:nvSpPr>
          <p:cNvPr id="3" name="DirChip"/>
          <p:cNvSpPr/>
          <p:nvPr/>
        </p:nvSpPr>
        <p:spPr>
          <a:xfrm>
            <a:off x="411480" y="841248"/>
            <a:ext cx="4023360" cy="402336"/>
          </a:xfrm>
          <a:prstGeom prst="rect">
            <a:avLst/>
          </a:prstGeom>
          <a:solidFill>
            <a:srgbClr val="FCFAF6"/>
          </a:solidFill>
          <a:ln>
            <a:noFill/>
          </a:ln>
          <a:effectLst/>
        </p:spPr>
        <p:txBody>
          <a:bodyPr rtlCol="0" anchor="ctr" wrap="square"/>
          <a:lstStyle/>
          <a:p>
            <a:pPr algn="l">
              <a:spcAft>
                <a:spcPts val="0"/>
              </a:spcAft>
            </a:pPr>
            <a:r>
              <a:rPr sz="2000" b="1">
                <a:solidFill>
                  <a:srgbClr val="8E6F3E"/>
                </a:solidFill>
                <a:latin typeface="Calibri"/>
              </a:rPr>
              <a:t>ACT I   </a:t>
            </a:r>
            <a:r>
              <a:rPr sz="2000" b="0">
                <a:solidFill>
                  <a:srgbClr val="555960"/>
                </a:solidFill>
                <a:latin typeface="Calibri"/>
              </a:rPr>
              <a:t>intended model → code</a:t>
            </a:r>
          </a:p>
        </p:txBody>
      </p:sp>
      <p:sp>
        <p:nvSpPr>
          <p:cNvPr id="4" name="DirChip"/>
          <p:cNvSpPr/>
          <p:nvPr/>
        </p:nvSpPr>
        <p:spPr>
          <a:xfrm>
            <a:off x="4617720" y="841248"/>
            <a:ext cx="4114800" cy="402336"/>
          </a:xfrm>
          <a:prstGeom prst="rect">
            <a:avLst/>
          </a:prstGeom>
          <a:solidFill>
            <a:srgbClr val="FCFAF6"/>
          </a:solidFill>
          <a:ln>
            <a:noFill/>
          </a:ln>
          <a:effectLst/>
        </p:spPr>
        <p:txBody>
          <a:bodyPr rtlCol="0" anchor="ctr" wrap="square"/>
          <a:lstStyle/>
          <a:p>
            <a:pPr algn="l">
              <a:spcAft>
                <a:spcPts val="0"/>
              </a:spcAft>
            </a:pPr>
            <a:r>
              <a:rPr sz="2000" b="1">
                <a:solidFill>
                  <a:srgbClr val="8E6F3E"/>
                </a:solidFill>
                <a:latin typeface="Calibri"/>
              </a:rPr>
              <a:t>TODAY   </a:t>
            </a:r>
            <a:r>
              <a:rPr sz="2000" b="1">
                <a:solidFill>
                  <a:srgbClr val="5C4826"/>
                </a:solidFill>
                <a:latin typeface="Calibri"/>
              </a:rPr>
              <a:t>code → recovered model</a:t>
            </a:r>
          </a:p>
        </p:txBody>
      </p:sp>
      <p:sp>
        <p:nvSpPr>
          <p:cNvPr id="5" name="Node" descr="Recovered module graph: handlers depend on policy, authorization, and persistence directly; policy and authorization depend on persistence; persistence talks to the database; authorization also queries the database directly at runtime"/>
          <p:cNvSpPr/>
          <p:nvPr/>
        </p:nvSpPr>
        <p:spPr>
          <a:xfrm>
            <a:off x="640080" y="160020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HTTP HANDLERS</a:t>
            </a:r>
          </a:p>
        </p:txBody>
      </p:sp>
      <p:sp>
        <p:nvSpPr>
          <p:cNvPr id="6" name="Node" descr="Booking policy carries the laboratory change request"/>
          <p:cNvSpPr/>
          <p:nvPr/>
        </p:nvSpPr>
        <p:spPr>
          <a:xfrm>
            <a:off x="3566160" y="160020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a:p>
            <a:pPr algn="ctr">
              <a:spcAft>
                <a:spcPts val="0"/>
              </a:spcAft>
            </a:pPr>
            <a:r>
              <a:rPr sz="2000" b="0">
                <a:solidFill>
                  <a:srgbClr val="FFFFFF"/>
                </a:solidFill>
                <a:latin typeface="Calibri"/>
              </a:rPr>
              <a:t>Δ lab policy</a:t>
            </a:r>
          </a:p>
        </p:txBody>
      </p:sp>
      <p:sp>
        <p:nvSpPr>
          <p:cNvPr id="7" name="Node"/>
          <p:cNvSpPr/>
          <p:nvPr/>
        </p:nvSpPr>
        <p:spPr>
          <a:xfrm>
            <a:off x="640080" y="292608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AUTHORIZATION</a:t>
            </a:r>
          </a:p>
        </p:txBody>
      </p:sp>
      <p:sp>
        <p:nvSpPr>
          <p:cNvPr id="8" name="Node"/>
          <p:cNvSpPr/>
          <p:nvPr/>
        </p:nvSpPr>
        <p:spPr>
          <a:xfrm>
            <a:off x="3566160" y="292608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PERSISTENCE</a:t>
            </a:r>
          </a:p>
        </p:txBody>
      </p:sp>
      <p:sp>
        <p:nvSpPr>
          <p:cNvPr id="9" name="Node"/>
          <p:cNvSpPr/>
          <p:nvPr/>
        </p:nvSpPr>
        <p:spPr>
          <a:xfrm>
            <a:off x="3566160" y="4251960"/>
            <a:ext cx="2011680" cy="68580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DATABASE</a:t>
            </a:r>
          </a:p>
        </p:txBody>
      </p:sp>
      <p:cxnSp>
        <p:nvCxnSpPr>
          <p:cNvPr id="10" name="EdgeHP"/>
          <p:cNvCxnSpPr/>
          <p:nvPr/>
        </p:nvCxnSpPr>
        <p:spPr>
          <a:xfrm>
            <a:off x="2651760" y="1783080"/>
            <a:ext cx="914400" cy="0"/>
          </a:xfrm>
          <a:prstGeom prst="line">
            <a:avLst/>
          </a:prstGeom>
          <a:ln w="19050">
            <a:solidFill>
              <a:srgbClr val="8E6F3E"/>
            </a:solidFill>
            <a:tailEnd type="triangle" w="med" len="med"/>
          </a:ln>
        </p:spPr>
      </p:cxnSp>
      <p:cxnSp>
        <p:nvCxnSpPr>
          <p:cNvPr id="11" name="EdgeHA"/>
          <p:cNvCxnSpPr/>
          <p:nvPr/>
        </p:nvCxnSpPr>
        <p:spPr>
          <a:xfrm>
            <a:off x="1645920" y="2286000"/>
            <a:ext cx="0" cy="640080"/>
          </a:xfrm>
          <a:prstGeom prst="line">
            <a:avLst/>
          </a:prstGeom>
          <a:ln w="19050">
            <a:solidFill>
              <a:srgbClr val="8E6F3E"/>
            </a:solidFill>
            <a:tailEnd type="triangle" w="med" len="med"/>
          </a:ln>
        </p:spPr>
      </p:cxnSp>
      <p:cxnSp>
        <p:nvCxnSpPr>
          <p:cNvPr id="12" name="EdgeHPers"/>
          <p:cNvCxnSpPr/>
          <p:nvPr/>
        </p:nvCxnSpPr>
        <p:spPr>
          <a:xfrm>
            <a:off x="2651760" y="2103120"/>
            <a:ext cx="914400" cy="1298448"/>
          </a:xfrm>
          <a:prstGeom prst="bentConnector3">
            <a:avLst/>
          </a:prstGeom>
          <a:ln w="19050">
            <a:solidFill>
              <a:srgbClr val="8E6F3E"/>
            </a:solidFill>
            <a:tailEnd type="triangle" w="med" len="med"/>
          </a:ln>
        </p:spPr>
      </p:cxnSp>
      <p:cxnSp>
        <p:nvCxnSpPr>
          <p:cNvPr id="13" name="EdgePPers"/>
          <p:cNvCxnSpPr/>
          <p:nvPr/>
        </p:nvCxnSpPr>
        <p:spPr>
          <a:xfrm>
            <a:off x="4572000" y="2286000"/>
            <a:ext cx="0" cy="640080"/>
          </a:xfrm>
          <a:prstGeom prst="line">
            <a:avLst/>
          </a:prstGeom>
          <a:ln w="19050">
            <a:solidFill>
              <a:srgbClr val="8E6F3E"/>
            </a:solidFill>
            <a:tailEnd type="triangle" w="med" len="med"/>
          </a:ln>
        </p:spPr>
      </p:cxnSp>
      <p:cxnSp>
        <p:nvCxnSpPr>
          <p:cNvPr id="14" name="EdgeAPers"/>
          <p:cNvCxnSpPr/>
          <p:nvPr/>
        </p:nvCxnSpPr>
        <p:spPr>
          <a:xfrm>
            <a:off x="2651760" y="3268980"/>
            <a:ext cx="914400" cy="0"/>
          </a:xfrm>
          <a:prstGeom prst="line">
            <a:avLst/>
          </a:prstGeom>
          <a:ln w="19050">
            <a:solidFill>
              <a:srgbClr val="8E6F3E"/>
            </a:solidFill>
            <a:tailEnd type="triangle" w="med" len="med"/>
          </a:ln>
        </p:spPr>
      </p:cxnSp>
      <p:cxnSp>
        <p:nvCxnSpPr>
          <p:cNvPr id="15" name="EdgePersDb"/>
          <p:cNvCxnSpPr/>
          <p:nvPr/>
        </p:nvCxnSpPr>
        <p:spPr>
          <a:xfrm>
            <a:off x="4572000" y="3611880"/>
            <a:ext cx="0" cy="640080"/>
          </a:xfrm>
          <a:prstGeom prst="line">
            <a:avLst/>
          </a:prstGeom>
          <a:ln w="19050">
            <a:solidFill>
              <a:srgbClr val="8E6F3E"/>
            </a:solidFill>
            <a:tailEnd type="triangle" w="med" len="med"/>
          </a:ln>
        </p:spPr>
      </p:cxnSp>
      <p:sp>
        <p:nvSpPr>
          <p:cNvPr id="16" name="EdgeADb" descr="authorization queries the users table directly at runtime"/>
          <p:cNvSpPr/>
          <p:nvPr/>
        </p:nvSpPr>
        <p:spPr>
          <a:xfrm>
            <a:off x="1645920" y="3611880"/>
            <a:ext cx="1920239" cy="982980"/>
          </a:xfrm>
          <a:custGeom>
            <a:avLst/>
            <a:gdLst/>
            <a:ahLst/>
            <a:cxnLst/>
            <a:rect l="0" t="0" r="0" b="0"/>
            <a:pathLst>
              <a:path w="1920239" h="982980" fill="none">
                <a:moveTo>
                  <a:pt x="0" y="0"/>
                </a:moveTo>
                <a:lnTo>
                  <a:pt x="0" y="982980"/>
                </a:lnTo>
                <a:lnTo>
                  <a:pt x="1920240" y="982980"/>
                </a:lnTo>
              </a:path>
            </a:pathLst>
          </a:custGeom>
          <a:noFill/>
          <a:ln w="19050">
            <a:solidFill>
              <a:srgbClr val="8E6F3E"/>
            </a:solidFill>
            <a:prstDash val="dash"/>
            <a:tailEnd type="triangle" w="med" len="med"/>
          </a:ln>
        </p:spPr>
        <p:txBody>
          <a:bodyPr rtlCol="0" anchor="ctr" wrap="square"/>
          <a:lstStyle/>
          <a:p/>
        </p:txBody>
      </p:sp>
      <p:sp>
        <p:nvSpPr>
          <p:cNvPr id="17" name="LegendCard"/>
          <p:cNvSpPr/>
          <p:nvPr/>
        </p:nvSpPr>
        <p:spPr>
          <a:xfrm>
            <a:off x="6355080" y="1600200"/>
            <a:ext cx="2377440" cy="2194560"/>
          </a:xfrm>
          <a:prstGeom prst="rect">
            <a:avLst/>
          </a:prstGeom>
          <a:solidFill>
            <a:srgbClr val="F5F1E8"/>
          </a:solidFill>
          <a:ln>
            <a:noFill/>
          </a:ln>
          <a:effectLst/>
        </p:spPr>
        <p:txBody>
          <a:bodyPr rtlCol="0" anchor="ctr" wrap="square"/>
          <a:lstStyle/>
          <a:p/>
        </p:txBody>
      </p:sp>
      <p:sp>
        <p:nvSpPr>
          <p:cNvPr id="18" name="LegendText"/>
          <p:cNvSpPr/>
          <p:nvPr/>
        </p:nvSpPr>
        <p:spPr>
          <a:xfrm>
            <a:off x="6483096" y="1691640"/>
            <a:ext cx="2121408" cy="2011680"/>
          </a:xfrm>
          <a:prstGeom prst="rect">
            <a:avLst/>
          </a:prstGeom>
          <a:noFill/>
          <a:ln>
            <a:noFill/>
          </a:ln>
          <a:effectLst/>
        </p:spPr>
        <p:txBody>
          <a:bodyPr rtlCol="0" anchor="t" wrap="square" lIns="27432" rIns="27432"/>
          <a:lstStyle/>
          <a:p>
            <a:pPr algn="l">
              <a:spcAft>
                <a:spcPts val="0"/>
              </a:spcAft>
            </a:pPr>
            <a:r>
              <a:rPr sz="2000" b="1">
                <a:solidFill>
                  <a:srgbClr val="8E6F3E"/>
                </a:solidFill>
                <a:latin typeface="Calibri"/>
              </a:rPr>
              <a:t>LEGEND</a:t>
            </a:r>
          </a:p>
          <a:p>
            <a:pPr algn="l">
              <a:spcAft>
                <a:spcPts val="0"/>
              </a:spcAft>
            </a:pPr>
            <a:r>
              <a:rPr sz="2000" b="0">
                <a:solidFill>
                  <a:srgbClr val="555960"/>
                </a:solidFill>
                <a:latin typeface="Calibri"/>
              </a:rPr>
              <a:t>solid: source dependency</a:t>
            </a:r>
          </a:p>
          <a:p>
            <a:pPr algn="l">
              <a:spcAft>
                <a:spcPts val="0"/>
              </a:spcAft>
            </a:pPr>
            <a:r>
              <a:rPr sz="2000" b="0">
                <a:solidFill>
                  <a:srgbClr val="555960"/>
                </a:solidFill>
                <a:latin typeface="Calibri"/>
              </a:rPr>
              <a:t>dashed: runtime query</a:t>
            </a:r>
          </a:p>
          <a:p>
            <a:pPr algn="l">
              <a:spcAft>
                <a:spcPts val="0"/>
              </a:spcAft>
            </a:pPr>
            <a:r>
              <a:rPr sz="2000" b="0">
                <a:solidFill>
                  <a:srgbClr val="555960"/>
                </a:solidFill>
                <a:latin typeface="Calibri"/>
              </a:rPr>
              <a:t>Δ: the lab request</a:t>
            </a:r>
          </a:p>
        </p:txBody>
      </p:sp>
      <p:sp>
        <p:nvSpPr>
          <p:cNvPr id="19" name="ReadCard"/>
          <p:cNvSpPr/>
          <p:nvPr/>
        </p:nvSpPr>
        <p:spPr>
          <a:xfrm>
            <a:off x="6355080" y="3931920"/>
            <a:ext cx="2377440" cy="1417320"/>
          </a:xfrm>
          <a:prstGeom prst="rect">
            <a:avLst/>
          </a:prstGeom>
          <a:solidFill>
            <a:srgbClr val="FCFAF6"/>
          </a:solidFill>
          <a:ln>
            <a:noFill/>
          </a:ln>
          <a:effectLst/>
        </p:spPr>
        <p:txBody>
          <a:bodyPr rtlCol="0" anchor="ctr" wrap="square"/>
          <a:lstStyle/>
          <a:p/>
        </p:txBody>
      </p:sp>
      <p:sp>
        <p:nvSpPr>
          <p:cNvPr id="20" name="ReadText"/>
          <p:cNvSpPr/>
          <p:nvPr/>
        </p:nvSpPr>
        <p:spPr>
          <a:xfrm>
            <a:off x="6483096" y="4023360"/>
            <a:ext cx="2121408" cy="1234440"/>
          </a:xfrm>
          <a:prstGeom prst="rect">
            <a:avLst/>
          </a:prstGeom>
          <a:noFill/>
          <a:ln>
            <a:noFill/>
          </a:ln>
          <a:effectLst/>
        </p:spPr>
        <p:txBody>
          <a:bodyPr rtlCol="0" anchor="t" wrap="square" lIns="27432" rIns="27432"/>
          <a:lstStyle/>
          <a:p>
            <a:pPr algn="l">
              <a:spcAft>
                <a:spcPts val="0"/>
              </a:spcAft>
            </a:pPr>
            <a:r>
              <a:rPr sz="2000" b="1">
                <a:solidFill>
                  <a:srgbClr val="8E6F3E"/>
                </a:solidFill>
                <a:latin typeface="Calibri"/>
              </a:rPr>
              <a:t>WHAT IT SHOWS</a:t>
            </a:r>
          </a:p>
          <a:p>
            <a:pPr algn="l">
              <a:spcAft>
                <a:spcPts val="0"/>
              </a:spcAft>
            </a:pPr>
            <a:r>
              <a:rPr sz="2000" b="0">
                <a:solidFill>
                  <a:srgbClr val="555960"/>
                </a:solidFill>
                <a:latin typeface="Calibri"/>
              </a:rPr>
              <a:t>handlers and persistence know policy internals</a:t>
            </a:r>
          </a:p>
        </p:txBody>
      </p:sp>
      <p:sp>
        <p:nvSpPr>
          <p:cNvPr id="21" name="HypoLabel"/>
          <p:cNvSpPr/>
          <p:nvPr/>
        </p:nvSpPr>
        <p:spPr>
          <a:xfrm>
            <a:off x="411480" y="5120640"/>
            <a:ext cx="5669280" cy="365760"/>
          </a:xfrm>
          <a:prstGeom prst="rect">
            <a:avLst/>
          </a:prstGeom>
          <a:noFill/>
          <a:ln>
            <a:noFill/>
          </a:ln>
          <a:effectLst/>
        </p:spPr>
        <p:txBody>
          <a:bodyPr rtlCol="0" anchor="t" wrap="square"/>
          <a:lstStyle/>
          <a:p>
            <a:pPr algn="l">
              <a:spcAft>
                <a:spcPts val="0"/>
              </a:spcAft>
            </a:pPr>
            <a:r>
              <a:rPr sz="2000" b="0">
                <a:solidFill>
                  <a:srgbClr val="555960"/>
                </a:solidFill>
                <a:latin typeface="Calibri"/>
              </a:rPr>
              <a:t>Illustrative hypothetical implementation, not an observed codebase</a:t>
            </a:r>
          </a:p>
        </p:txBody>
      </p:sp>
      <p:sp>
        <p:nvSpPr>
          <p:cNvPr id="22"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Static coupling, runtime calls, and shared data are three different couplings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Measure what the change decision depends on</a:t>
            </a:r>
          </a:p>
        </p:txBody>
      </p:sp>
      <p:graphicFrame>
        <p:nvGraphicFramePr>
          <p:cNvPr id="3" name="MetricsTable" descr="Fan-in and fan-out for each module of the recovered graph; policy must change, and handlers, persistence, and the database schema may be affected by the laboratory policy change"/>
          <p:cNvGraphicFramePr/>
          <p:nvPr/>
        </p:nvGraphicFramePr>
        <p:xfrm>
          <a:off x="411480" y="960120"/>
          <a:ext cx="5394960" cy="2852928"/>
        </p:xfrm>
        <a:graphic>
          <a:graphicData uri="http://schemas.openxmlformats.org/drawingml/2006/table">
            <a:tbl>
              <a:tblPr firstRow="0" bandRow="0">
                <a:tableStyleId>{5C22544A-7EE6-4342-B048-85BDC9FD1C3A}</a:tableStyleId>
              </a:tblPr>
              <a:tblGrid>
                <a:gridCol w="1965960"/>
                <a:gridCol w="1143000"/>
                <a:gridCol w="1143000"/>
                <a:gridCol w="1143000"/>
              </a:tblGrid>
              <a:tr h="475488">
                <a:tc>
                  <a:txBody>
                    <a:bodyPr wrap="square"/>
                    <a:lstStyle/>
                    <a:p>
                      <a:r>
                        <a:rPr sz="2000" b="1">
                          <a:solidFill>
                            <a:srgbClr val="FFFFFF"/>
                          </a:solidFill>
                          <a:latin typeface="Calibri"/>
                        </a:rPr>
                        <a:t>module</a:t>
                      </a:r>
                    </a:p>
                  </a:txBody>
                  <a:tcPr marL="91440" marR="91440" marT="36576" marB="36576" anchor="ctr">
                    <a:solidFill>
                      <a:srgbClr val="8E6F3E"/>
                    </a:solidFill>
                  </a:tcPr>
                </a:tc>
                <a:tc>
                  <a:txBody>
                    <a:bodyPr wrap="square"/>
                    <a:lstStyle/>
                    <a:p>
                      <a:r>
                        <a:rPr sz="2000" b="1">
                          <a:solidFill>
                            <a:srgbClr val="FFFFFF"/>
                          </a:solidFill>
                          <a:latin typeface="Calibri"/>
                        </a:rPr>
                        <a:t>fan-out</a:t>
                      </a:r>
                    </a:p>
                  </a:txBody>
                  <a:tcPr marL="91440" marR="91440" marT="36576" marB="36576" anchor="ctr">
                    <a:solidFill>
                      <a:srgbClr val="8E6F3E"/>
                    </a:solidFill>
                  </a:tcPr>
                </a:tc>
                <a:tc>
                  <a:txBody>
                    <a:bodyPr wrap="square"/>
                    <a:lstStyle/>
                    <a:p>
                      <a:r>
                        <a:rPr sz="2000" b="1">
                          <a:solidFill>
                            <a:srgbClr val="FFFFFF"/>
                          </a:solidFill>
                          <a:latin typeface="Calibri"/>
                        </a:rPr>
                        <a:t>fan-in</a:t>
                      </a:r>
                    </a:p>
                  </a:txBody>
                  <a:tcPr marL="91440" marR="91440" marT="36576" marB="36576" anchor="ctr">
                    <a:solidFill>
                      <a:srgbClr val="8E6F3E"/>
                    </a:solidFill>
                  </a:tcPr>
                </a:tc>
                <a:tc>
                  <a:txBody>
                    <a:bodyPr wrap="square"/>
                    <a:lstStyle/>
                    <a:p>
                      <a:r>
                        <a:rPr sz="2000" b="1">
                          <a:solidFill>
                            <a:srgbClr val="FFFFFF"/>
                          </a:solidFill>
                          <a:latin typeface="Calibri"/>
                        </a:rPr>
                        <a:t>change?</a:t>
                      </a:r>
                    </a:p>
                  </a:txBody>
                  <a:tcPr marL="91440" marR="91440" marT="36576" marB="36576" anchor="ctr">
                    <a:solidFill>
                      <a:srgbClr val="8E6F3E"/>
                    </a:solidFill>
                  </a:tcPr>
                </a:tc>
              </a:tr>
              <a:tr h="475488">
                <a:tc>
                  <a:txBody>
                    <a:bodyPr wrap="square"/>
                    <a:lstStyle/>
                    <a:p>
                      <a:r>
                        <a:rPr sz="2000" b="1">
                          <a:solidFill>
                            <a:srgbClr val="8E6F3E"/>
                          </a:solidFill>
                          <a:latin typeface="Calibri"/>
                        </a:rPr>
                        <a:t>handlers</a:t>
                      </a:r>
                    </a:p>
                  </a:txBody>
                  <a:tcPr marL="91440" marR="91440" marT="36576" marB="36576" anchor="ctr">
                    <a:solidFill>
                      <a:srgbClr val="F5F1E8"/>
                    </a:solidFill>
                  </a:tcPr>
                </a:tc>
                <a:tc>
                  <a:txBody>
                    <a:bodyPr wrap="square"/>
                    <a:lstStyle/>
                    <a:p>
                      <a:r>
                        <a:rPr sz="2000" b="0">
                          <a:solidFill>
                            <a:srgbClr val="2D2D2D"/>
                          </a:solidFill>
                          <a:latin typeface="Calibri"/>
                        </a:rPr>
                        <a:t>3</a:t>
                      </a:r>
                    </a:p>
                  </a:txBody>
                  <a:tcPr marL="91440" marR="91440" marT="36576" marB="36576" anchor="ctr">
                    <a:solidFill>
                      <a:srgbClr val="F5F1E8"/>
                    </a:solidFill>
                  </a:tcPr>
                </a:tc>
                <a:tc>
                  <a:txBody>
                    <a:bodyPr wrap="square"/>
                    <a:lstStyle/>
                    <a:p>
                      <a:r>
                        <a:rPr sz="2000" b="0">
                          <a:solidFill>
                            <a:srgbClr val="2D2D2D"/>
                          </a:solidFill>
                          <a:latin typeface="Calibri"/>
                        </a:rPr>
                        <a:t>0</a:t>
                      </a:r>
                    </a:p>
                  </a:txBody>
                  <a:tcPr marL="91440" marR="91440" marT="36576" marB="36576" anchor="ctr">
                    <a:solidFill>
                      <a:srgbClr val="F5F1E8"/>
                    </a:solidFill>
                  </a:tcPr>
                </a:tc>
                <a:tc>
                  <a:txBody>
                    <a:bodyPr wrap="square"/>
                    <a:lstStyle/>
                    <a:p>
                      <a:r>
                        <a:rPr sz="2000" b="0">
                          <a:solidFill>
                            <a:srgbClr val="2D2D2D"/>
                          </a:solidFill>
                          <a:latin typeface="Calibri"/>
                        </a:rPr>
                        <a:t>may</a:t>
                      </a:r>
                    </a:p>
                  </a:txBody>
                  <a:tcPr marL="91440" marR="91440" marT="36576" marB="36576" anchor="ctr">
                    <a:solidFill>
                      <a:srgbClr val="F5F1E8"/>
                    </a:solidFill>
                  </a:tcPr>
                </a:tc>
              </a:tr>
              <a:tr h="475488">
                <a:tc>
                  <a:txBody>
                    <a:bodyPr wrap="square"/>
                    <a:lstStyle/>
                    <a:p>
                      <a:r>
                        <a:rPr sz="2000" b="1">
                          <a:solidFill>
                            <a:srgbClr val="8E6F3E"/>
                          </a:solidFill>
                          <a:latin typeface="Calibri"/>
                        </a:rPr>
                        <a:t>policy</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1">
                          <a:solidFill>
                            <a:srgbClr val="C01B1B"/>
                          </a:solidFill>
                          <a:latin typeface="Calibri"/>
                        </a:rPr>
                        <a:t>must Δ</a:t>
                      </a:r>
                    </a:p>
                  </a:txBody>
                  <a:tcPr marL="91440" marR="91440" marT="36576" marB="36576" anchor="ctr">
                    <a:solidFill>
                      <a:srgbClr val="FCFAF6"/>
                    </a:solidFill>
                  </a:tcPr>
                </a:tc>
              </a:tr>
              <a:tr h="475488">
                <a:tc>
                  <a:txBody>
                    <a:bodyPr wrap="square"/>
                    <a:lstStyle/>
                    <a:p>
                      <a:r>
                        <a:rPr sz="2000" b="1">
                          <a:solidFill>
                            <a:srgbClr val="8E6F3E"/>
                          </a:solidFill>
                          <a:latin typeface="Calibri"/>
                        </a:rPr>
                        <a:t>authorization</a:t>
                      </a:r>
                    </a:p>
                  </a:txBody>
                  <a:tcPr marL="91440" marR="91440" marT="36576" marB="36576" anchor="ctr">
                    <a:solidFill>
                      <a:srgbClr val="F5F1E8"/>
                    </a:solidFill>
                  </a:tcPr>
                </a:tc>
                <a:tc>
                  <a:txBody>
                    <a:bodyPr wrap="square"/>
                    <a:lstStyle/>
                    <a:p>
                      <a:r>
                        <a:rPr sz="2000" b="0">
                          <a:solidFill>
                            <a:srgbClr val="2D2D2D"/>
                          </a:solidFill>
                          <a:latin typeface="Calibri"/>
                        </a:rPr>
                        <a:t>2</a:t>
                      </a:r>
                    </a:p>
                  </a:txBody>
                  <a:tcPr marL="91440" marR="91440" marT="36576" marB="36576" anchor="ctr">
                    <a:solidFill>
                      <a:srgbClr val="F5F1E8"/>
                    </a:solidFill>
                  </a:tcPr>
                </a:tc>
                <a:tc>
                  <a:txBody>
                    <a:bodyPr wrap="square"/>
                    <a:lstStyle/>
                    <a:p>
                      <a:r>
                        <a:rPr sz="2000" b="0">
                          <a:solidFill>
                            <a:srgbClr val="2D2D2D"/>
                          </a:solidFill>
                          <a:latin typeface="Calibri"/>
                        </a:rPr>
                        <a:t>1</a:t>
                      </a:r>
                    </a:p>
                  </a:txBody>
                  <a:tcPr marL="91440" marR="91440" marT="36576" marB="36576" anchor="ctr">
                    <a:solidFill>
                      <a:srgbClr val="F5F1E8"/>
                    </a:solidFill>
                  </a:tcPr>
                </a:tc>
                <a:tc>
                  <a:txBody>
                    <a:bodyPr wrap="square"/>
                    <a:lstStyle/>
                    <a:p>
                      <a:r>
                        <a:rPr sz="2000" b="0">
                          <a:solidFill>
                            <a:srgbClr val="2D2D2D"/>
                          </a:solidFill>
                          <a:latin typeface="Calibri"/>
                        </a:rPr>
                        <a:t>no</a:t>
                      </a:r>
                    </a:p>
                  </a:txBody>
                  <a:tcPr marL="91440" marR="91440" marT="36576" marB="36576" anchor="ctr">
                    <a:solidFill>
                      <a:srgbClr val="F5F1E8"/>
                    </a:solidFill>
                  </a:tcPr>
                </a:tc>
              </a:tr>
              <a:tr h="475488">
                <a:tc>
                  <a:txBody>
                    <a:bodyPr wrap="square"/>
                    <a:lstStyle/>
                    <a:p>
                      <a:r>
                        <a:rPr sz="2000" b="1">
                          <a:solidFill>
                            <a:srgbClr val="8E6F3E"/>
                          </a:solidFill>
                          <a:latin typeface="Calibri"/>
                        </a:rPr>
                        <a:t>persistence</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0">
                          <a:solidFill>
                            <a:srgbClr val="2D2D2D"/>
                          </a:solidFill>
                          <a:latin typeface="Calibri"/>
                        </a:rPr>
                        <a:t>3</a:t>
                      </a:r>
                    </a:p>
                  </a:txBody>
                  <a:tcPr marL="91440" marR="91440" marT="36576" marB="36576" anchor="ctr">
                    <a:solidFill>
                      <a:srgbClr val="FCFAF6"/>
                    </a:solidFill>
                  </a:tcPr>
                </a:tc>
                <a:tc>
                  <a:txBody>
                    <a:bodyPr wrap="square"/>
                    <a:lstStyle/>
                    <a:p>
                      <a:r>
                        <a:rPr sz="2000" b="0">
                          <a:solidFill>
                            <a:srgbClr val="2D2D2D"/>
                          </a:solidFill>
                          <a:latin typeface="Calibri"/>
                        </a:rPr>
                        <a:t>may</a:t>
                      </a:r>
                    </a:p>
                  </a:txBody>
                  <a:tcPr marL="91440" marR="91440" marT="36576" marB="36576" anchor="ctr">
                    <a:solidFill>
                      <a:srgbClr val="FCFAF6"/>
                    </a:solidFill>
                  </a:tcPr>
                </a:tc>
              </a:tr>
              <a:tr h="475488">
                <a:tc>
                  <a:txBody>
                    <a:bodyPr wrap="square"/>
                    <a:lstStyle/>
                    <a:p>
                      <a:r>
                        <a:rPr sz="2000" b="1">
                          <a:solidFill>
                            <a:srgbClr val="8E6F3E"/>
                          </a:solidFill>
                          <a:latin typeface="Calibri"/>
                        </a:rPr>
                        <a:t>database</a:t>
                      </a:r>
                    </a:p>
                  </a:txBody>
                  <a:tcPr marL="91440" marR="91440" marT="36576" marB="36576" anchor="ctr">
                    <a:solidFill>
                      <a:srgbClr val="F5F1E8"/>
                    </a:solidFill>
                  </a:tcPr>
                </a:tc>
                <a:tc>
                  <a:txBody>
                    <a:bodyPr wrap="square"/>
                    <a:lstStyle/>
                    <a:p>
                      <a:r>
                        <a:rPr sz="2000" b="0">
                          <a:solidFill>
                            <a:srgbClr val="2D2D2D"/>
                          </a:solidFill>
                          <a:latin typeface="Calibri"/>
                        </a:rPr>
                        <a:t>0</a:t>
                      </a:r>
                    </a:p>
                  </a:txBody>
                  <a:tcPr marL="91440" marR="91440" marT="36576" marB="36576" anchor="ctr">
                    <a:solidFill>
                      <a:srgbClr val="F5F1E8"/>
                    </a:solidFill>
                  </a:tcPr>
                </a:tc>
                <a:tc>
                  <a:txBody>
                    <a:bodyPr wrap="square"/>
                    <a:lstStyle/>
                    <a:p>
                      <a:r>
                        <a:rPr sz="2000" b="0">
                          <a:solidFill>
                            <a:srgbClr val="2D2D2D"/>
                          </a:solidFill>
                          <a:latin typeface="Calibri"/>
                        </a:rPr>
                        <a:t>2</a:t>
                      </a:r>
                    </a:p>
                  </a:txBody>
                  <a:tcPr marL="91440" marR="91440" marT="36576" marB="36576" anchor="ctr">
                    <a:solidFill>
                      <a:srgbClr val="F5F1E8"/>
                    </a:solidFill>
                  </a:tcPr>
                </a:tc>
                <a:tc>
                  <a:txBody>
                    <a:bodyPr wrap="square"/>
                    <a:lstStyle/>
                    <a:p>
                      <a:r>
                        <a:rPr sz="2000" b="0">
                          <a:solidFill>
                            <a:srgbClr val="2D2D2D"/>
                          </a:solidFill>
                          <a:latin typeface="Calibri"/>
                        </a:rPr>
                        <a:t>may</a:t>
                      </a:r>
                    </a:p>
                  </a:txBody>
                  <a:tcPr marL="91440" marR="91440" marT="36576" marB="36576" anchor="ctr">
                    <a:solidFill>
                      <a:srgbClr val="F5F1E8"/>
                    </a:solidFill>
                  </a:tcPr>
                </a:tc>
              </a:tr>
            </a:tbl>
          </a:graphicData>
        </a:graphic>
      </p:graphicFrame>
      <p:sp>
        <p:nvSpPr>
          <p:cNvPr id="4" name="TableCaption"/>
          <p:cNvSpPr/>
          <p:nvPr/>
        </p:nvSpPr>
        <p:spPr>
          <a:xfrm>
            <a:off x="411480" y="3858768"/>
            <a:ext cx="5394960" cy="603504"/>
          </a:xfrm>
          <a:prstGeom prst="rect">
            <a:avLst/>
          </a:prstGeom>
          <a:noFill/>
          <a:ln>
            <a:noFill/>
          </a:ln>
          <a:effectLst/>
        </p:spPr>
        <p:txBody>
          <a:bodyPr rtlCol="0" anchor="t" wrap="square"/>
          <a:lstStyle/>
          <a:p>
            <a:pPr algn="l">
              <a:spcAft>
                <a:spcPts val="0"/>
              </a:spcAft>
            </a:pPr>
            <a:r>
              <a:rPr sz="2000" b="1">
                <a:solidFill>
                  <a:srgbClr val="5C4826"/>
                </a:solidFill>
                <a:latin typeface="Calibri"/>
              </a:rPr>
              <a:t>policy must change; handlers, persistence, and the database schema may follow</a:t>
            </a:r>
          </a:p>
        </p:txBody>
      </p:sp>
      <p:sp>
        <p:nvSpPr>
          <p:cNvPr id="5" name="IndCard"/>
          <p:cNvSpPr/>
          <p:nvPr/>
        </p:nvSpPr>
        <p:spPr>
          <a:xfrm>
            <a:off x="5989320" y="960120"/>
            <a:ext cx="2743200" cy="3429000"/>
          </a:xfrm>
          <a:prstGeom prst="rect">
            <a:avLst/>
          </a:prstGeom>
          <a:solidFill>
            <a:srgbClr val="F5F1E8"/>
          </a:solidFill>
          <a:ln>
            <a:noFill/>
          </a:ln>
          <a:effectLst/>
        </p:spPr>
        <p:txBody>
          <a:bodyPr rtlCol="0" anchor="ctr" wrap="square"/>
          <a:lstStyle/>
          <a:p/>
        </p:txBody>
      </p:sp>
      <p:sp>
        <p:nvSpPr>
          <p:cNvPr id="6" name="IndText"/>
          <p:cNvSpPr/>
          <p:nvPr/>
        </p:nvSpPr>
        <p:spPr>
          <a:xfrm>
            <a:off x="6117336" y="1051560"/>
            <a:ext cx="2487168" cy="3246120"/>
          </a:xfrm>
          <a:prstGeom prst="rect">
            <a:avLst/>
          </a:prstGeom>
          <a:noFill/>
          <a:ln>
            <a:noFill/>
          </a:ln>
          <a:effectLst/>
        </p:spPr>
        <p:txBody>
          <a:bodyPr rtlCol="0" anchor="t" wrap="square"/>
          <a:lstStyle/>
          <a:p>
            <a:pPr algn="l">
              <a:spcAft>
                <a:spcPts val="0"/>
              </a:spcAft>
            </a:pPr>
            <a:r>
              <a:rPr sz="2000" b="1">
                <a:solidFill>
                  <a:srgbClr val="8E6F3E"/>
                </a:solidFill>
                <a:latin typeface="Calibri"/>
              </a:rPr>
              <a:t>ALSO WORTH MEASURING</a:t>
            </a:r>
          </a:p>
          <a:p>
            <a:pPr algn="l">
              <a:spcAft>
                <a:spcPts val="0"/>
              </a:spcAft>
            </a:pPr>
            <a:r>
              <a:rPr sz="2000" b="0">
                <a:solidFill>
                  <a:srgbClr val="555960"/>
                </a:solidFill>
                <a:latin typeface="Calibri"/>
              </a:rPr>
              <a:t>afferent / efferent coupling</a:t>
            </a:r>
          </a:p>
          <a:p>
            <a:pPr algn="l">
              <a:spcAft>
                <a:spcPts val="0"/>
              </a:spcAft>
            </a:pPr>
            <a:r>
              <a:rPr sz="2000" b="0">
                <a:solidFill>
                  <a:srgbClr val="555960"/>
                </a:solidFill>
                <a:latin typeface="Calibri"/>
              </a:rPr>
              <a:t>dependency cycles</a:t>
            </a:r>
          </a:p>
          <a:p>
            <a:pPr algn="l">
              <a:spcAft>
                <a:spcPts val="0"/>
              </a:spcAft>
            </a:pPr>
            <a:r>
              <a:rPr sz="2000" b="0">
                <a:solidFill>
                  <a:srgbClr val="555960"/>
                </a:solidFill>
                <a:latin typeface="Calibri"/>
              </a:rPr>
              <a:t>change coupling: files that change together in commit history</a:t>
            </a:r>
          </a:p>
        </p:txBody>
      </p:sp>
      <p:sp>
        <p:nvSpPr>
          <p:cNvPr id="7" name="BandCard"/>
          <p:cNvSpPr/>
          <p:nvPr/>
        </p:nvSpPr>
        <p:spPr>
          <a:xfrm>
            <a:off x="411480" y="4572000"/>
            <a:ext cx="8321040" cy="1115568"/>
          </a:xfrm>
          <a:prstGeom prst="rect">
            <a:avLst/>
          </a:prstGeom>
          <a:solidFill>
            <a:srgbClr val="FCFAF6"/>
          </a:solidFill>
          <a:ln>
            <a:noFill/>
          </a:ln>
          <a:effectLst/>
        </p:spPr>
        <p:txBody>
          <a:bodyPr rtlCol="0" anchor="ctr" wrap="square"/>
          <a:lstStyle/>
          <a:p/>
        </p:txBody>
      </p:sp>
      <p:sp>
        <p:nvSpPr>
          <p:cNvPr id="8" name="BandText"/>
          <p:cNvSpPr/>
          <p:nvPr/>
        </p:nvSpPr>
        <p:spPr>
          <a:xfrm>
            <a:off x="557784" y="4645152"/>
            <a:ext cx="8046720" cy="1005840"/>
          </a:xfrm>
          <a:prstGeom prst="rect">
            <a:avLst/>
          </a:prstGeom>
          <a:noFill/>
          <a:ln>
            <a:noFill/>
          </a:ln>
          <a:effectLst/>
        </p:spPr>
        <p:txBody>
          <a:bodyPr rtlCol="0" anchor="t" wrap="square"/>
          <a:lstStyle/>
          <a:p>
            <a:pPr algn="l">
              <a:spcAft>
                <a:spcPts val="0"/>
              </a:spcAft>
            </a:pPr>
            <a:r>
              <a:rPr sz="2000" b="1">
                <a:solidFill>
                  <a:srgbClr val="C01B1B"/>
                </a:solidFill>
                <a:latin typeface="Calibri"/>
              </a:rPr>
              <a:t>Indicators, not context-free quality scores</a:t>
            </a:r>
          </a:p>
          <a:p>
            <a:pPr algn="l">
              <a:spcAft>
                <a:spcPts val="0"/>
              </a:spcAft>
            </a:pPr>
            <a:r>
              <a:rPr sz="2000" b="0">
                <a:solidFill>
                  <a:srgbClr val="555960"/>
                </a:solidFill>
                <a:latin typeface="Calibri"/>
              </a:rPr>
              <a:t>A high fan-in persistence module may be exactly right; the number informs a decision, it does not make one.</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Measure the consequence that could change the decision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Erosion survives a green test suite</a:t>
            </a:r>
          </a:p>
        </p:txBody>
      </p:sp>
      <p:sp>
        <p:nvSpPr>
          <p:cNvPr id="3" name="PanelLabel"/>
          <p:cNvSpPr/>
          <p:nvPr/>
        </p:nvSpPr>
        <p:spPr>
          <a:xfrm>
            <a:off x="411480" y="868680"/>
            <a:ext cx="402336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INTENDED</a:t>
            </a:r>
          </a:p>
        </p:txBody>
      </p:sp>
      <p:sp>
        <p:nvSpPr>
          <p:cNvPr id="4" name="IntCard" descr="Intended structure: booking policy reaches persistence only through a port; substitution is local"/>
          <p:cNvSpPr/>
          <p:nvPr/>
        </p:nvSpPr>
        <p:spPr>
          <a:xfrm>
            <a:off x="411480" y="1261872"/>
            <a:ext cx="4023360" cy="1783080"/>
          </a:xfrm>
          <a:prstGeom prst="rect">
            <a:avLst/>
          </a:prstGeom>
          <a:solidFill>
            <a:srgbClr val="F5F1E8"/>
          </a:solidFill>
          <a:ln>
            <a:noFill/>
          </a:ln>
          <a:effectLst/>
        </p:spPr>
        <p:txBody>
          <a:bodyPr rtlCol="0" anchor="ctr" wrap="square"/>
          <a:lstStyle/>
          <a:p/>
        </p:txBody>
      </p:sp>
      <p:sp>
        <p:nvSpPr>
          <p:cNvPr id="5" name="IntA"/>
          <p:cNvSpPr/>
          <p:nvPr/>
        </p:nvSpPr>
        <p:spPr>
          <a:xfrm>
            <a:off x="640080" y="1783080"/>
            <a:ext cx="1234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p:txBody>
      </p:sp>
      <p:sp>
        <p:nvSpPr>
          <p:cNvPr id="6" name="IntPort"/>
          <p:cNvSpPr/>
          <p:nvPr/>
        </p:nvSpPr>
        <p:spPr>
          <a:xfrm>
            <a:off x="2194560" y="1783080"/>
            <a:ext cx="822960" cy="548640"/>
          </a:xfrm>
          <a:prstGeom prst="rect">
            <a:avLst/>
          </a:prstGeom>
          <a:solidFill>
            <a:srgbClr val="FCFAF6"/>
          </a:solidFill>
          <a:ln w="19050">
            <a:solidFill>
              <a:srgbClr val="8E6F3E"/>
            </a:solidFill>
            <a:prstDash val="dash"/>
          </a:ln>
          <a:effectLst/>
        </p:spPr>
        <p:txBody>
          <a:bodyPr rtlCol="0" anchor="ctr" wrap="square"/>
          <a:lstStyle/>
          <a:p>
            <a:pPr algn="ctr">
              <a:spcAft>
                <a:spcPts val="0"/>
              </a:spcAft>
            </a:pPr>
            <a:r>
              <a:rPr sz="2000" b="1">
                <a:solidFill>
                  <a:srgbClr val="2D2D2D"/>
                </a:solidFill>
                <a:latin typeface="Calibri"/>
              </a:rPr>
              <a:t>PORT</a:t>
            </a:r>
          </a:p>
        </p:txBody>
      </p:sp>
      <p:sp>
        <p:nvSpPr>
          <p:cNvPr id="7" name="IntB"/>
          <p:cNvSpPr/>
          <p:nvPr/>
        </p:nvSpPr>
        <p:spPr>
          <a:xfrm>
            <a:off x="3337560" y="1783080"/>
            <a:ext cx="9601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a:t>
            </a:r>
          </a:p>
        </p:txBody>
      </p:sp>
      <p:cxnSp>
        <p:nvCxnSpPr>
          <p:cNvPr id="8" name="IntEdge"/>
          <p:cNvCxnSpPr/>
          <p:nvPr/>
        </p:nvCxnSpPr>
        <p:spPr>
          <a:xfrm>
            <a:off x="1874520" y="2057400"/>
            <a:ext cx="320040" cy="0"/>
          </a:xfrm>
          <a:prstGeom prst="line">
            <a:avLst/>
          </a:prstGeom>
          <a:ln w="19050">
            <a:solidFill>
              <a:srgbClr val="8E6F3E"/>
            </a:solidFill>
            <a:tailEnd type="triangle" w="med" len="med"/>
          </a:ln>
        </p:spPr>
      </p:cxnSp>
      <p:cxnSp>
        <p:nvCxnSpPr>
          <p:cNvPr id="9" name="IntEdge"/>
          <p:cNvCxnSpPr/>
          <p:nvPr/>
        </p:nvCxnSpPr>
        <p:spPr>
          <a:xfrm>
            <a:off x="3017520" y="2057400"/>
            <a:ext cx="320040" cy="0"/>
          </a:xfrm>
          <a:prstGeom prst="line">
            <a:avLst/>
          </a:prstGeom>
          <a:ln w="19050">
            <a:solidFill>
              <a:srgbClr val="8E6F3E"/>
            </a:solidFill>
            <a:tailEnd type="triangle" w="med" len="med"/>
          </a:ln>
        </p:spPr>
      </p:cxnSp>
      <p:sp>
        <p:nvSpPr>
          <p:cNvPr id="10" name="IntCap"/>
          <p:cNvSpPr/>
          <p:nvPr/>
        </p:nvSpPr>
        <p:spPr>
          <a:xfrm>
            <a:off x="557784" y="2395728"/>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no dependency crosses the seam; substitution is local</a:t>
            </a:r>
          </a:p>
        </p:txBody>
      </p:sp>
      <p:sp>
        <p:nvSpPr>
          <p:cNvPr id="11" name="PanelLabel"/>
          <p:cNvSpPr/>
          <p:nvPr/>
        </p:nvSpPr>
        <p:spPr>
          <a:xfrm>
            <a:off x="4617720" y="868680"/>
            <a:ext cx="41148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AS BUILT</a:t>
            </a:r>
          </a:p>
        </p:txBody>
      </p:sp>
      <p:sp>
        <p:nvSpPr>
          <p:cNvPr id="12" name="BuiltCard" descr="As built: the same port exists, but booking policy also imports persistence internals directly, bypassing the seam"/>
          <p:cNvSpPr/>
          <p:nvPr/>
        </p:nvSpPr>
        <p:spPr>
          <a:xfrm>
            <a:off x="4617720" y="1261872"/>
            <a:ext cx="4114800" cy="1783080"/>
          </a:xfrm>
          <a:prstGeom prst="rect">
            <a:avLst/>
          </a:prstGeom>
          <a:solidFill>
            <a:srgbClr val="F5F1E8"/>
          </a:solidFill>
          <a:ln>
            <a:noFill/>
          </a:ln>
          <a:effectLst/>
        </p:spPr>
        <p:txBody>
          <a:bodyPr rtlCol="0" anchor="ctr" wrap="square"/>
          <a:lstStyle/>
          <a:p/>
        </p:txBody>
      </p:sp>
      <p:sp>
        <p:nvSpPr>
          <p:cNvPr id="13" name="BltA"/>
          <p:cNvSpPr/>
          <p:nvPr/>
        </p:nvSpPr>
        <p:spPr>
          <a:xfrm>
            <a:off x="4846320" y="1783080"/>
            <a:ext cx="1234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p:txBody>
      </p:sp>
      <p:sp>
        <p:nvSpPr>
          <p:cNvPr id="14" name="BltPort"/>
          <p:cNvSpPr/>
          <p:nvPr/>
        </p:nvSpPr>
        <p:spPr>
          <a:xfrm>
            <a:off x="6400800" y="1783080"/>
            <a:ext cx="822960" cy="548640"/>
          </a:xfrm>
          <a:prstGeom prst="rect">
            <a:avLst/>
          </a:prstGeom>
          <a:solidFill>
            <a:srgbClr val="FCFAF6"/>
          </a:solidFill>
          <a:ln w="19050">
            <a:solidFill>
              <a:srgbClr val="8E6F3E"/>
            </a:solidFill>
            <a:prstDash val="dash"/>
          </a:ln>
          <a:effectLst/>
        </p:spPr>
        <p:txBody>
          <a:bodyPr rtlCol="0" anchor="ctr" wrap="square"/>
          <a:lstStyle/>
          <a:p>
            <a:pPr algn="ctr">
              <a:spcAft>
                <a:spcPts val="0"/>
              </a:spcAft>
            </a:pPr>
            <a:r>
              <a:rPr sz="2000" b="1">
                <a:solidFill>
                  <a:srgbClr val="2D2D2D"/>
                </a:solidFill>
                <a:latin typeface="Calibri"/>
              </a:rPr>
              <a:t>PORT</a:t>
            </a:r>
          </a:p>
        </p:txBody>
      </p:sp>
      <p:sp>
        <p:nvSpPr>
          <p:cNvPr id="15" name="BltB"/>
          <p:cNvSpPr/>
          <p:nvPr/>
        </p:nvSpPr>
        <p:spPr>
          <a:xfrm>
            <a:off x="7543800" y="1783080"/>
            <a:ext cx="9601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a:t>
            </a:r>
          </a:p>
        </p:txBody>
      </p:sp>
      <p:cxnSp>
        <p:nvCxnSpPr>
          <p:cNvPr id="16" name="BltEdge"/>
          <p:cNvCxnSpPr/>
          <p:nvPr/>
        </p:nvCxnSpPr>
        <p:spPr>
          <a:xfrm>
            <a:off x="6080760" y="2057400"/>
            <a:ext cx="320040" cy="0"/>
          </a:xfrm>
          <a:prstGeom prst="line">
            <a:avLst/>
          </a:prstGeom>
          <a:ln w="19050">
            <a:solidFill>
              <a:srgbClr val="8E6F3E"/>
            </a:solidFill>
            <a:tailEnd type="triangle" w="med" len="med"/>
          </a:ln>
        </p:spPr>
      </p:cxnSp>
      <p:cxnSp>
        <p:nvCxnSpPr>
          <p:cNvPr id="17" name="BltEdge"/>
          <p:cNvCxnSpPr/>
          <p:nvPr/>
        </p:nvCxnSpPr>
        <p:spPr>
          <a:xfrm>
            <a:off x="7223760" y="2057400"/>
            <a:ext cx="320040" cy="0"/>
          </a:xfrm>
          <a:prstGeom prst="line">
            <a:avLst/>
          </a:prstGeom>
          <a:ln w="19050">
            <a:solidFill>
              <a:srgbClr val="8E6F3E"/>
            </a:solidFill>
            <a:tailEnd type="triangle" w="med" len="med"/>
          </a:ln>
        </p:spPr>
      </p:cxnSp>
      <p:sp>
        <p:nvSpPr>
          <p:cNvPr id="18" name="BypassEdge" descr="a direct import of store internals, added just this once"/>
          <p:cNvSpPr/>
          <p:nvPr/>
        </p:nvSpPr>
        <p:spPr>
          <a:xfrm>
            <a:off x="5458968" y="2331720"/>
            <a:ext cx="2560320" cy="457200"/>
          </a:xfrm>
          <a:custGeom>
            <a:avLst/>
            <a:gdLst/>
            <a:ahLst/>
            <a:cxnLst/>
            <a:rect l="0" t="0" r="0" b="0"/>
            <a:pathLst>
              <a:path w="2560320" h="457200" fill="none">
                <a:moveTo>
                  <a:pt x="0" y="0"/>
                </a:moveTo>
                <a:lnTo>
                  <a:pt x="0" y="457200"/>
                </a:lnTo>
                <a:lnTo>
                  <a:pt x="2560320" y="457200"/>
                </a:lnTo>
                <a:lnTo>
                  <a:pt x="2560320" y="0"/>
                </a:lnTo>
              </a:path>
            </a:pathLst>
          </a:custGeom>
          <a:noFill/>
          <a:ln w="19050">
            <a:solidFill>
              <a:srgbClr val="C01B1B"/>
            </a:solidFill>
            <a:tailEnd type="triangle" w="med" len="med"/>
          </a:ln>
        </p:spPr>
        <p:txBody>
          <a:bodyPr rtlCol="0" anchor="ctr" wrap="square"/>
          <a:lstStyle/>
          <a:p/>
        </p:txBody>
      </p:sp>
      <p:sp>
        <p:nvSpPr>
          <p:cNvPr id="19" name="BltCap"/>
          <p:cNvSpPr/>
          <p:nvPr/>
        </p:nvSpPr>
        <p:spPr>
          <a:xfrm>
            <a:off x="4764024" y="2788920"/>
            <a:ext cx="3840480" cy="256032"/>
          </a:xfrm>
          <a:prstGeom prst="rect">
            <a:avLst/>
          </a:prstGeom>
          <a:noFill/>
          <a:ln>
            <a:noFill/>
          </a:ln>
          <a:effectLst/>
        </p:spPr>
        <p:txBody>
          <a:bodyPr rtlCol="0" anchor="ctr" wrap="square"/>
          <a:lstStyle/>
          <a:p>
            <a:pPr algn="ctr">
              <a:spcAft>
                <a:spcPts val="0"/>
              </a:spcAft>
            </a:pPr>
            <a:r>
              <a:rPr sz="2000" b="1">
                <a:solidFill>
                  <a:srgbClr val="C01B1B"/>
                </a:solidFill>
                <a:latin typeface="Calibri"/>
              </a:rPr>
              <a:t>"just this once"</a:t>
            </a:r>
          </a:p>
        </p:txBody>
      </p:sp>
      <p:sp>
        <p:nvSpPr>
          <p:cNvPr id="20" name="VerdictCard"/>
          <p:cNvSpPr/>
          <p:nvPr/>
        </p:nvSpPr>
        <p:spPr>
          <a:xfrm>
            <a:off x="411480" y="3291840"/>
            <a:ext cx="8321040" cy="685800"/>
          </a:xfrm>
          <a:prstGeom prst="rect">
            <a:avLst/>
          </a:prstGeom>
          <a:solidFill>
            <a:srgbClr val="FCFAF6"/>
          </a:solidFill>
          <a:ln>
            <a:noFill/>
          </a:ln>
          <a:effectLst/>
        </p:spPr>
        <p:txBody>
          <a:bodyPr rtlCol="0" anchor="ctr" wrap="square"/>
          <a:lstStyle/>
          <a:p/>
        </p:txBody>
      </p:sp>
      <p:sp>
        <p:nvSpPr>
          <p:cNvPr id="21" name="VerdictText"/>
          <p:cNvSpPr/>
          <p:nvPr/>
        </p:nvSpPr>
        <p:spPr>
          <a:xfrm>
            <a:off x="557784" y="3364992"/>
            <a:ext cx="8046720" cy="548640"/>
          </a:xfrm>
          <a:prstGeom prst="rect">
            <a:avLst/>
          </a:prstGeom>
          <a:noFill/>
          <a:ln>
            <a:noFill/>
          </a:ln>
          <a:effectLst/>
        </p:spPr>
        <p:txBody>
          <a:bodyPr rtlCol="0" anchor="ctr" wrap="square"/>
          <a:lstStyle/>
          <a:p>
            <a:pPr algn="ctr">
              <a:spcAft>
                <a:spcPts val="0"/>
              </a:spcAft>
            </a:pPr>
            <a:r>
              <a:rPr sz="2000" b="1">
                <a:solidFill>
                  <a:srgbClr val="2D2D2D"/>
                </a:solidFill>
                <a:latin typeface="Calibri"/>
              </a:rPr>
              <a:t>feature works ✓      tests pass ✓      architecture remains true ✗</a:t>
            </a:r>
          </a:p>
        </p:txBody>
      </p:sp>
      <p:sp>
        <p:nvSpPr>
          <p:cNvPr id="22" name="CtrlCard"/>
          <p:cNvSpPr/>
          <p:nvPr/>
        </p:nvSpPr>
        <p:spPr>
          <a:xfrm>
            <a:off x="411480" y="4160520"/>
            <a:ext cx="8321040" cy="1188720"/>
          </a:xfrm>
          <a:prstGeom prst="rect">
            <a:avLst/>
          </a:prstGeom>
          <a:solidFill>
            <a:srgbClr val="F5F1E8"/>
          </a:solidFill>
          <a:ln>
            <a:noFill/>
          </a:ln>
          <a:effectLst/>
        </p:spPr>
        <p:txBody>
          <a:bodyPr rtlCol="0" anchor="ctr" wrap="square"/>
          <a:lstStyle/>
          <a:p/>
        </p:txBody>
      </p:sp>
      <p:sp>
        <p:nvSpPr>
          <p:cNvPr id="23" name="CtrlText"/>
          <p:cNvSpPr/>
          <p:nvPr/>
        </p:nvSpPr>
        <p:spPr>
          <a:xfrm>
            <a:off x="557784" y="4233672"/>
            <a:ext cx="8046720" cy="1051560"/>
          </a:xfrm>
          <a:prstGeom prst="rect">
            <a:avLst/>
          </a:prstGeom>
          <a:noFill/>
          <a:ln>
            <a:noFill/>
          </a:ln>
          <a:effectLst/>
        </p:spPr>
        <p:txBody>
          <a:bodyPr rtlCol="0" anchor="t" wrap="square"/>
          <a:lstStyle/>
          <a:p>
            <a:pPr algn="l">
              <a:spcAft>
                <a:spcPts val="0"/>
              </a:spcAft>
            </a:pPr>
            <a:r>
              <a:rPr sz="2000" b="1">
                <a:solidFill>
                  <a:srgbClr val="8E6F3E"/>
                </a:solidFill>
                <a:latin typeface="Calibri"/>
              </a:rPr>
              <a:t>ALIGNMENT CONTROLS FOR BOUNDARIES</a:t>
            </a:r>
          </a:p>
          <a:p>
            <a:pPr algn="l">
              <a:spcAft>
                <a:spcPts val="0"/>
              </a:spcAft>
            </a:pPr>
            <a:r>
              <a:rPr sz="2000" b="0">
                <a:solidFill>
                  <a:srgbClr val="555960"/>
                </a:solidFill>
                <a:latin typeface="Calibri"/>
              </a:rPr>
              <a:t>architectural tests · dependency lints · import restrictions: the boundary becomes a checked obligation, not a convention</a:t>
            </a:r>
          </a:p>
        </p:txBody>
      </p:sp>
      <p:sp>
        <p:nvSpPr>
          <p:cNvPr id="24"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Functional tests check behavior; only architectural checks guard structure</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monolith is one deployable, not one blob</a:t>
            </a:r>
          </a:p>
        </p:txBody>
      </p:sp>
      <p:sp>
        <p:nvSpPr>
          <p:cNvPr id="3" name="PanelLabel"/>
          <p:cNvSpPr/>
          <p:nvPr/>
        </p:nvSpPr>
        <p:spPr>
          <a:xfrm>
            <a:off x="41148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A · UNSTRUCTURED</a:t>
            </a:r>
          </a:p>
        </p:txBody>
      </p:sp>
      <p:sp>
        <p:nvSpPr>
          <p:cNvPr id="4" name="PanelLabel"/>
          <p:cNvSpPr/>
          <p:nvPr/>
        </p:nvSpPr>
        <p:spPr>
          <a:xfrm>
            <a:off x="320040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B · MODULAR</a:t>
            </a:r>
          </a:p>
        </p:txBody>
      </p:sp>
      <p:sp>
        <p:nvSpPr>
          <p:cNvPr id="5" name="PanelLabel"/>
          <p:cNvSpPr/>
          <p:nvPr/>
        </p:nvSpPr>
        <p:spPr>
          <a:xfrm>
            <a:off x="598932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C · TWO SERVICES</a:t>
            </a:r>
          </a:p>
        </p:txBody>
      </p:sp>
      <p:sp>
        <p:nvSpPr>
          <p:cNvPr id="6" name="PanelA" descr="Panel A: one deployable unit with tangled internals"/>
          <p:cNvSpPr/>
          <p:nvPr/>
        </p:nvSpPr>
        <p:spPr>
          <a:xfrm>
            <a:off x="411480" y="1261872"/>
            <a:ext cx="2743200" cy="3108960"/>
          </a:xfrm>
          <a:prstGeom prst="rect">
            <a:avLst/>
          </a:prstGeom>
          <a:solidFill>
            <a:srgbClr val="F5F1E8"/>
          </a:solidFill>
          <a:ln>
            <a:noFill/>
          </a:ln>
          <a:effectLst/>
        </p:spPr>
        <p:txBody>
          <a:bodyPr rtlCol="0" anchor="ctr" wrap="square"/>
          <a:lstStyle/>
          <a:p/>
        </p:txBody>
      </p:sp>
      <p:sp>
        <p:nvSpPr>
          <p:cNvPr id="7" name="AOuter"/>
          <p:cNvSpPr/>
          <p:nvPr/>
        </p:nvSpPr>
        <p:spPr>
          <a:xfrm>
            <a:off x="640080" y="1463040"/>
            <a:ext cx="2286000" cy="2103120"/>
          </a:xfrm>
          <a:prstGeom prst="rect">
            <a:avLst/>
          </a:prstGeom>
          <a:solidFill>
            <a:srgbClr val="FCFAF6"/>
          </a:solidFill>
          <a:ln w="19050">
            <a:solidFill>
              <a:srgbClr val="8E6F3E"/>
            </a:solidFill>
          </a:ln>
          <a:effectLst/>
        </p:spPr>
        <p:txBody>
          <a:bodyPr rtlCol="0" anchor="t" wrap="square"/>
          <a:lstStyle/>
          <a:p/>
        </p:txBody>
      </p:sp>
      <p:sp>
        <p:nvSpPr>
          <p:cNvPr id="8" name="ABox"/>
          <p:cNvSpPr/>
          <p:nvPr/>
        </p:nvSpPr>
        <p:spPr>
          <a:xfrm>
            <a:off x="868680" y="1691640"/>
            <a:ext cx="731520" cy="384048"/>
          </a:xfrm>
          <a:prstGeom prst="rect">
            <a:avLst/>
          </a:prstGeom>
          <a:solidFill>
            <a:srgbClr val="F5F1E8"/>
          </a:solidFill>
          <a:ln w="15875">
            <a:solidFill>
              <a:srgbClr val="555960"/>
            </a:solidFill>
          </a:ln>
          <a:effectLst/>
        </p:spPr>
        <p:txBody>
          <a:bodyPr rtlCol="0" anchor="t" wrap="square"/>
          <a:lstStyle/>
          <a:p/>
        </p:txBody>
      </p:sp>
      <p:sp>
        <p:nvSpPr>
          <p:cNvPr id="9" name="ABox"/>
          <p:cNvSpPr/>
          <p:nvPr/>
        </p:nvSpPr>
        <p:spPr>
          <a:xfrm>
            <a:off x="2011680" y="1737360"/>
            <a:ext cx="731520" cy="384048"/>
          </a:xfrm>
          <a:prstGeom prst="rect">
            <a:avLst/>
          </a:prstGeom>
          <a:solidFill>
            <a:srgbClr val="F5F1E8"/>
          </a:solidFill>
          <a:ln w="15875">
            <a:solidFill>
              <a:srgbClr val="555960"/>
            </a:solidFill>
          </a:ln>
          <a:effectLst/>
        </p:spPr>
        <p:txBody>
          <a:bodyPr rtlCol="0" anchor="t" wrap="square"/>
          <a:lstStyle/>
          <a:p/>
        </p:txBody>
      </p:sp>
      <p:sp>
        <p:nvSpPr>
          <p:cNvPr id="10" name="ABox"/>
          <p:cNvSpPr/>
          <p:nvPr/>
        </p:nvSpPr>
        <p:spPr>
          <a:xfrm>
            <a:off x="914400" y="2926080"/>
            <a:ext cx="731520" cy="384048"/>
          </a:xfrm>
          <a:prstGeom prst="rect">
            <a:avLst/>
          </a:prstGeom>
          <a:solidFill>
            <a:srgbClr val="F5F1E8"/>
          </a:solidFill>
          <a:ln w="15875">
            <a:solidFill>
              <a:srgbClr val="555960"/>
            </a:solidFill>
          </a:ln>
          <a:effectLst/>
        </p:spPr>
        <p:txBody>
          <a:bodyPr rtlCol="0" anchor="t" wrap="square"/>
          <a:lstStyle/>
          <a:p/>
        </p:txBody>
      </p:sp>
      <p:sp>
        <p:nvSpPr>
          <p:cNvPr id="11" name="ABox"/>
          <p:cNvSpPr/>
          <p:nvPr/>
        </p:nvSpPr>
        <p:spPr>
          <a:xfrm>
            <a:off x="2057400" y="2834640"/>
            <a:ext cx="731520" cy="384048"/>
          </a:xfrm>
          <a:prstGeom prst="rect">
            <a:avLst/>
          </a:prstGeom>
          <a:solidFill>
            <a:srgbClr val="F5F1E8"/>
          </a:solidFill>
          <a:ln w="15875">
            <a:solidFill>
              <a:srgbClr val="555960"/>
            </a:solidFill>
          </a:ln>
          <a:effectLst/>
        </p:spPr>
        <p:txBody>
          <a:bodyPr rtlCol="0" anchor="t" wrap="square"/>
          <a:lstStyle/>
          <a:p/>
        </p:txBody>
      </p:sp>
      <p:cxnSp>
        <p:nvCxnSpPr>
          <p:cNvPr id="12" name="AEdge"/>
          <p:cNvCxnSpPr/>
          <p:nvPr/>
        </p:nvCxnSpPr>
        <p:spPr>
          <a:xfrm>
            <a:off x="1600200" y="1874520"/>
            <a:ext cx="411480" cy="45720"/>
          </a:xfrm>
          <a:prstGeom prst="bentConnector3">
            <a:avLst/>
          </a:prstGeom>
          <a:ln w="12700">
            <a:solidFill>
              <a:srgbClr val="555960"/>
            </a:solidFill>
          </a:ln>
        </p:spPr>
      </p:cxnSp>
      <p:cxnSp>
        <p:nvCxnSpPr>
          <p:cNvPr id="13" name="AEdge"/>
          <p:cNvCxnSpPr/>
          <p:nvPr/>
        </p:nvCxnSpPr>
        <p:spPr>
          <a:xfrm>
            <a:off x="1234440" y="2075688"/>
            <a:ext cx="1188720" cy="758952"/>
          </a:xfrm>
          <a:prstGeom prst="bentConnector3">
            <a:avLst/>
          </a:prstGeom>
          <a:ln w="12700">
            <a:solidFill>
              <a:srgbClr val="555960"/>
            </a:solidFill>
          </a:ln>
        </p:spPr>
      </p:cxnSp>
      <p:cxnSp>
        <p:nvCxnSpPr>
          <p:cNvPr id="14" name="AEdge"/>
          <p:cNvCxnSpPr/>
          <p:nvPr/>
        </p:nvCxnSpPr>
        <p:spPr>
          <a:xfrm flipV="1">
            <a:off x="1645920" y="2121408"/>
            <a:ext cx="731520" cy="987552"/>
          </a:xfrm>
          <a:prstGeom prst="bentConnector3">
            <a:avLst/>
          </a:prstGeom>
          <a:ln w="12700">
            <a:solidFill>
              <a:srgbClr val="555960"/>
            </a:solidFill>
          </a:ln>
        </p:spPr>
      </p:cxnSp>
      <p:sp>
        <p:nvSpPr>
          <p:cNvPr id="15" name="ACap"/>
          <p:cNvSpPr/>
          <p:nvPr/>
        </p:nvSpPr>
        <p:spPr>
          <a:xfrm>
            <a:off x="640080" y="3611880"/>
            <a:ext cx="2377440" cy="731520"/>
          </a:xfrm>
          <a:prstGeom prst="rect">
            <a:avLst/>
          </a:prstGeom>
          <a:noFill/>
          <a:ln>
            <a:noFill/>
          </a:ln>
          <a:effectLst/>
        </p:spPr>
        <p:txBody>
          <a:bodyPr rtlCol="0" anchor="t" wrap="square"/>
          <a:lstStyle/>
          <a:p>
            <a:pPr algn="l">
              <a:spcAft>
                <a:spcPts val="0"/>
              </a:spcAft>
            </a:pPr>
            <a:r>
              <a:rPr sz="2000" b="0">
                <a:solidFill>
                  <a:srgbClr val="555960"/>
                </a:solidFill>
                <a:latin typeface="Calibri"/>
              </a:rPr>
              <a:t>in-process calls, no declared seams</a:t>
            </a:r>
          </a:p>
        </p:txBody>
      </p:sp>
      <p:sp>
        <p:nvSpPr>
          <p:cNvPr id="16" name="PanelB" descr="Panel B: one deployable unit with four named modules and local calls across declared interfaces"/>
          <p:cNvSpPr/>
          <p:nvPr/>
        </p:nvSpPr>
        <p:spPr>
          <a:xfrm>
            <a:off x="3200400" y="1261872"/>
            <a:ext cx="2743200" cy="3108960"/>
          </a:xfrm>
          <a:prstGeom prst="rect">
            <a:avLst/>
          </a:prstGeom>
          <a:solidFill>
            <a:srgbClr val="F5F1E8"/>
          </a:solidFill>
          <a:ln>
            <a:noFill/>
          </a:ln>
          <a:effectLst/>
        </p:spPr>
        <p:txBody>
          <a:bodyPr rtlCol="0" anchor="ctr" wrap="square"/>
          <a:lstStyle/>
          <a:p/>
        </p:txBody>
      </p:sp>
      <p:sp>
        <p:nvSpPr>
          <p:cNvPr id="17" name="BOuter"/>
          <p:cNvSpPr/>
          <p:nvPr/>
        </p:nvSpPr>
        <p:spPr>
          <a:xfrm>
            <a:off x="3429000" y="1463040"/>
            <a:ext cx="2286000" cy="2103120"/>
          </a:xfrm>
          <a:prstGeom prst="rect">
            <a:avLst/>
          </a:prstGeom>
          <a:solidFill>
            <a:srgbClr val="FCFAF6"/>
          </a:solidFill>
          <a:ln w="19050">
            <a:solidFill>
              <a:srgbClr val="8E6F3E"/>
            </a:solidFill>
          </a:ln>
          <a:effectLst/>
        </p:spPr>
        <p:txBody>
          <a:bodyPr rtlCol="0" anchor="t" wrap="square"/>
          <a:lstStyle/>
          <a:p/>
        </p:txBody>
      </p:sp>
      <p:sp>
        <p:nvSpPr>
          <p:cNvPr id="18" name="BBox"/>
          <p:cNvSpPr/>
          <p:nvPr/>
        </p:nvSpPr>
        <p:spPr>
          <a:xfrm>
            <a:off x="3566160" y="164592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HTTP</a:t>
            </a:r>
          </a:p>
        </p:txBody>
      </p:sp>
      <p:sp>
        <p:nvSpPr>
          <p:cNvPr id="19" name="BBox"/>
          <p:cNvSpPr/>
          <p:nvPr/>
        </p:nvSpPr>
        <p:spPr>
          <a:xfrm>
            <a:off x="4709160" y="164592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POLICY</a:t>
            </a:r>
          </a:p>
        </p:txBody>
      </p:sp>
      <p:sp>
        <p:nvSpPr>
          <p:cNvPr id="20" name="BBox"/>
          <p:cNvSpPr/>
          <p:nvPr/>
        </p:nvSpPr>
        <p:spPr>
          <a:xfrm>
            <a:off x="3566160" y="283464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AUTH</a:t>
            </a:r>
          </a:p>
        </p:txBody>
      </p:sp>
      <p:sp>
        <p:nvSpPr>
          <p:cNvPr id="21" name="BBox"/>
          <p:cNvSpPr/>
          <p:nvPr/>
        </p:nvSpPr>
        <p:spPr>
          <a:xfrm>
            <a:off x="4709160" y="283464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STORE</a:t>
            </a:r>
          </a:p>
        </p:txBody>
      </p:sp>
      <p:cxnSp>
        <p:nvCxnSpPr>
          <p:cNvPr id="22" name="BEdge"/>
          <p:cNvCxnSpPr/>
          <p:nvPr/>
        </p:nvCxnSpPr>
        <p:spPr>
          <a:xfrm>
            <a:off x="4572000" y="1837944"/>
            <a:ext cx="137160" cy="0"/>
          </a:xfrm>
          <a:prstGeom prst="line">
            <a:avLst/>
          </a:prstGeom>
          <a:ln w="19050">
            <a:solidFill>
              <a:srgbClr val="8E6F3E"/>
            </a:solidFill>
            <a:tailEnd type="triangle" w="med" len="med"/>
          </a:ln>
        </p:spPr>
      </p:cxnSp>
      <p:cxnSp>
        <p:nvCxnSpPr>
          <p:cNvPr id="23" name="BEdge"/>
          <p:cNvCxnSpPr/>
          <p:nvPr/>
        </p:nvCxnSpPr>
        <p:spPr>
          <a:xfrm>
            <a:off x="4069080" y="2029968"/>
            <a:ext cx="0" cy="804672"/>
          </a:xfrm>
          <a:prstGeom prst="line">
            <a:avLst/>
          </a:prstGeom>
          <a:ln w="19050">
            <a:solidFill>
              <a:srgbClr val="8E6F3E"/>
            </a:solidFill>
            <a:tailEnd type="triangle" w="med" len="med"/>
          </a:ln>
        </p:spPr>
      </p:cxnSp>
      <p:cxnSp>
        <p:nvCxnSpPr>
          <p:cNvPr id="24" name="BEdge"/>
          <p:cNvCxnSpPr/>
          <p:nvPr/>
        </p:nvCxnSpPr>
        <p:spPr>
          <a:xfrm>
            <a:off x="5212080" y="2029968"/>
            <a:ext cx="0" cy="804672"/>
          </a:xfrm>
          <a:prstGeom prst="line">
            <a:avLst/>
          </a:prstGeom>
          <a:ln w="19050">
            <a:solidFill>
              <a:srgbClr val="8E6F3E"/>
            </a:solidFill>
            <a:tailEnd type="triangle" w="med" len="med"/>
          </a:ln>
        </p:spPr>
      </p:cxnSp>
      <p:sp>
        <p:nvSpPr>
          <p:cNvPr id="25" name="BCap"/>
          <p:cNvSpPr/>
          <p:nvPr/>
        </p:nvSpPr>
        <p:spPr>
          <a:xfrm>
            <a:off x="3429000" y="3611880"/>
            <a:ext cx="2377440" cy="731520"/>
          </a:xfrm>
          <a:prstGeom prst="rect">
            <a:avLst/>
          </a:prstGeom>
          <a:noFill/>
          <a:ln>
            <a:noFill/>
          </a:ln>
          <a:effectLst/>
        </p:spPr>
        <p:txBody>
          <a:bodyPr rtlCol="0" anchor="t" wrap="square"/>
          <a:lstStyle/>
          <a:p>
            <a:pPr algn="l">
              <a:spcAft>
                <a:spcPts val="0"/>
              </a:spcAft>
            </a:pPr>
            <a:r>
              <a:rPr sz="2000" b="0">
                <a:solidFill>
                  <a:srgbClr val="555960"/>
                </a:solidFill>
                <a:latin typeface="Calibri"/>
              </a:rPr>
              <a:t>local call across a declared interface</a:t>
            </a:r>
          </a:p>
        </p:txBody>
      </p:sp>
      <p:sp>
        <p:nvSpPr>
          <p:cNvPr id="26" name="PanelC" descr="Panel C: booking and identity/policy as separately deployed services, each owning its data, joined by a network contract"/>
          <p:cNvSpPr/>
          <p:nvPr/>
        </p:nvSpPr>
        <p:spPr>
          <a:xfrm>
            <a:off x="5989320" y="1261872"/>
            <a:ext cx="2743200" cy="3108960"/>
          </a:xfrm>
          <a:prstGeom prst="rect">
            <a:avLst/>
          </a:prstGeom>
          <a:solidFill>
            <a:srgbClr val="F5F1E8"/>
          </a:solidFill>
          <a:ln>
            <a:noFill/>
          </a:ln>
          <a:effectLst/>
        </p:spPr>
        <p:txBody>
          <a:bodyPr rtlCol="0" anchor="ctr" wrap="square"/>
          <a:lstStyle/>
          <a:p/>
        </p:txBody>
      </p:sp>
      <p:sp>
        <p:nvSpPr>
          <p:cNvPr id="27" name="CSvc"/>
          <p:cNvSpPr/>
          <p:nvPr/>
        </p:nvSpPr>
        <p:spPr>
          <a:xfrm>
            <a:off x="6217920" y="1508760"/>
            <a:ext cx="22860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SERVICE</a:t>
            </a:r>
          </a:p>
          <a:p>
            <a:pPr algn="ctr">
              <a:spcAft>
                <a:spcPts val="0"/>
              </a:spcAft>
            </a:pPr>
            <a:r>
              <a:rPr sz="2000" b="0">
                <a:solidFill>
                  <a:srgbClr val="FFFFFF"/>
                </a:solidFill>
                <a:latin typeface="Calibri"/>
              </a:rPr>
              <a:t>owns reservations</a:t>
            </a:r>
          </a:p>
        </p:txBody>
      </p:sp>
      <p:sp>
        <p:nvSpPr>
          <p:cNvPr id="28" name="CSvc"/>
          <p:cNvSpPr/>
          <p:nvPr/>
        </p:nvSpPr>
        <p:spPr>
          <a:xfrm>
            <a:off x="6217920" y="2880360"/>
            <a:ext cx="22860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IDENTITY &amp; POLICY</a:t>
            </a:r>
          </a:p>
          <a:p>
            <a:pPr algn="ctr">
              <a:spcAft>
                <a:spcPts val="0"/>
              </a:spcAft>
            </a:pPr>
            <a:r>
              <a:rPr sz="2000" b="0">
                <a:solidFill>
                  <a:srgbClr val="FFFFFF"/>
                </a:solidFill>
                <a:latin typeface="Calibri"/>
              </a:rPr>
              <a:t>owns users, policies</a:t>
            </a:r>
          </a:p>
        </p:txBody>
      </p:sp>
      <p:cxnSp>
        <p:nvCxnSpPr>
          <p:cNvPr id="29" name="CEdge"/>
          <p:cNvCxnSpPr/>
          <p:nvPr/>
        </p:nvCxnSpPr>
        <p:spPr>
          <a:xfrm>
            <a:off x="7360920" y="2240280"/>
            <a:ext cx="0" cy="640080"/>
          </a:xfrm>
          <a:prstGeom prst="line">
            <a:avLst/>
          </a:prstGeom>
          <a:ln w="19050">
            <a:solidFill>
              <a:srgbClr val="8E6F3E"/>
            </a:solidFill>
            <a:headEnd type="triangle" w="med" len="med"/>
            <a:tailEnd type="triangle" w="med" len="med"/>
          </a:ln>
        </p:spPr>
      </p:cxnSp>
      <p:sp>
        <p:nvSpPr>
          <p:cNvPr id="30" name="CCap"/>
          <p:cNvSpPr/>
          <p:nvPr/>
        </p:nvSpPr>
        <p:spPr>
          <a:xfrm>
            <a:off x="6217920" y="3611880"/>
            <a:ext cx="2377440" cy="731520"/>
          </a:xfrm>
          <a:prstGeom prst="rect">
            <a:avLst/>
          </a:prstGeom>
          <a:noFill/>
          <a:ln>
            <a:noFill/>
          </a:ln>
          <a:effectLst/>
        </p:spPr>
        <p:txBody>
          <a:bodyPr rtlCol="0" anchor="t" wrap="square"/>
          <a:lstStyle/>
          <a:p>
            <a:pPr algn="l">
              <a:spcAft>
                <a:spcPts val="0"/>
              </a:spcAft>
            </a:pPr>
            <a:r>
              <a:rPr sz="2000" b="1">
                <a:solidFill>
                  <a:srgbClr val="C01B1B"/>
                </a:solidFill>
                <a:latin typeface="Calibri"/>
              </a:rPr>
              <a:t>the local call is now a network contract</a:t>
            </a:r>
          </a:p>
        </p:txBody>
      </p:sp>
      <p:sp>
        <p:nvSpPr>
          <p:cNvPr id="31" name="BandCard"/>
          <p:cNvSpPr/>
          <p:nvPr/>
        </p:nvSpPr>
        <p:spPr>
          <a:xfrm>
            <a:off x="411480" y="4480560"/>
            <a:ext cx="8321040" cy="1298448"/>
          </a:xfrm>
          <a:prstGeom prst="rect">
            <a:avLst/>
          </a:prstGeom>
          <a:solidFill>
            <a:srgbClr val="FCFAF6"/>
          </a:solidFill>
          <a:ln>
            <a:noFill/>
          </a:ln>
          <a:effectLst/>
        </p:spPr>
        <p:txBody>
          <a:bodyPr rtlCol="0" anchor="ctr" wrap="square"/>
          <a:lstStyle/>
          <a:p/>
        </p:txBody>
      </p:sp>
      <p:sp>
        <p:nvSpPr>
          <p:cNvPr id="32" name="BandText"/>
          <p:cNvSpPr/>
          <p:nvPr/>
        </p:nvSpPr>
        <p:spPr>
          <a:xfrm>
            <a:off x="557784" y="4553712"/>
            <a:ext cx="8046720" cy="1170432"/>
          </a:xfrm>
          <a:prstGeom prst="rect">
            <a:avLst/>
          </a:prstGeom>
          <a:noFill/>
          <a:ln>
            <a:noFill/>
          </a:ln>
          <a:effectLst/>
        </p:spPr>
        <p:txBody>
          <a:bodyPr rtlCol="0" anchor="ctr" wrap="square"/>
          <a:lstStyle/>
          <a:p>
            <a:pPr algn="l">
              <a:spcAft>
                <a:spcPts val="0"/>
              </a:spcAft>
            </a:pPr>
            <a:r>
              <a:rPr sz="2000" b="1">
                <a:solidFill>
                  <a:srgbClr val="5C4826"/>
                </a:solidFill>
                <a:latin typeface="Calibri"/>
              </a:rPr>
              <a:t>A and B are each one deployable; the difference is declared interfaces and forbidden edges</a:t>
            </a:r>
          </a:p>
          <a:p>
            <a:pPr algn="l">
              <a:spcAft>
                <a:spcPts val="0"/>
              </a:spcAft>
            </a:pPr>
            <a:r>
              <a:rPr sz="2000" b="0">
                <a:solidFill>
                  <a:srgbClr val="555960"/>
                </a:solidFill>
                <a:latin typeface="Calibri"/>
              </a:rPr>
              <a:t>Between B and C a local call became a network contract, and the data gained an owner.</a:t>
            </a:r>
          </a:p>
        </p:txBody>
      </p:sp>
      <p:sp>
        <p:nvSpPr>
          <p:cNvPr id="33"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Every boundary you draw becomes a contract someone must keep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service split sends a distributed-systems bill</a:t>
            </a:r>
          </a:p>
        </p:txBody>
      </p:sp>
      <p:sp>
        <p:nvSpPr>
          <p:cNvPr id="3" name="BillCard"/>
          <p:cNvSpPr/>
          <p:nvPr/>
        </p:nvSpPr>
        <p:spPr>
          <a:xfrm>
            <a:off x="411480" y="914400"/>
            <a:ext cx="4023360" cy="3474720"/>
          </a:xfrm>
          <a:prstGeom prst="rect">
            <a:avLst/>
          </a:prstGeom>
          <a:solidFill>
            <a:srgbClr val="F5F1E8"/>
          </a:solidFill>
          <a:ln>
            <a:noFill/>
          </a:ln>
          <a:effectLst/>
        </p:spPr>
        <p:txBody>
          <a:bodyPr rtlCol="0" anchor="ctr" wrap="square"/>
          <a:lstStyle/>
          <a:p/>
        </p:txBody>
      </p:sp>
      <p:sp>
        <p:nvSpPr>
          <p:cNvPr id="4" name="Bill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BILL</a:t>
            </a:r>
          </a:p>
        </p:txBody>
      </p:sp>
      <p:sp>
        <p:nvSpPr>
          <p:cNvPr id="5" name="BillBody"/>
          <p:cNvSpPr/>
          <p:nvPr/>
        </p:nvSpPr>
        <p:spPr>
          <a:xfrm>
            <a:off x="557784" y="1389888"/>
            <a:ext cx="3749040" cy="2926080"/>
          </a:xfrm>
          <a:prstGeom prst="rect">
            <a:avLst/>
          </a:prstGeom>
          <a:noFill/>
          <a:ln>
            <a:noFill/>
          </a:ln>
          <a:effectLst/>
        </p:spPr>
        <p:txBody>
          <a:bodyPr rtlCol="0" anchor="t" wrap="square"/>
          <a:lstStyle/>
          <a:p>
            <a:pPr algn="l">
              <a:spcAft>
                <a:spcPts val="0"/>
              </a:spcAft>
            </a:pPr>
            <a:r>
              <a:rPr sz="2000" b="0">
                <a:solidFill>
                  <a:srgbClr val="555960"/>
                </a:solidFill>
                <a:latin typeface="Calibri"/>
              </a:rPr>
              <a:t>latency on every cross-service call</a:t>
            </a:r>
          </a:p>
          <a:p>
            <a:pPr algn="l">
              <a:spcAft>
                <a:spcPts val="0"/>
              </a:spcAft>
            </a:pPr>
            <a:r>
              <a:rPr sz="2000" b="0">
                <a:solidFill>
                  <a:srgbClr val="555960"/>
                </a:solidFill>
                <a:latin typeface="Calibri"/>
              </a:rPr>
              <a:t>partial failure: one side is down</a:t>
            </a:r>
          </a:p>
          <a:p>
            <a:pPr algn="l">
              <a:spcAft>
                <a:spcPts val="0"/>
              </a:spcAft>
            </a:pPr>
            <a:r>
              <a:rPr sz="2000" b="0">
                <a:solidFill>
                  <a:srgbClr val="555960"/>
                </a:solidFill>
                <a:latin typeface="Calibri"/>
              </a:rPr>
              <a:t>retries, timeouts, tracing</a:t>
            </a:r>
          </a:p>
          <a:p>
            <a:pPr algn="l">
              <a:spcAft>
                <a:spcPts val="0"/>
              </a:spcAft>
            </a:pPr>
            <a:r>
              <a:rPr sz="2000" b="0">
                <a:solidFill>
                  <a:srgbClr val="555960"/>
                </a:solidFill>
                <a:latin typeface="Calibri"/>
              </a:rPr>
              <a:t>data ownership and duplication</a:t>
            </a:r>
          </a:p>
          <a:p>
            <a:pPr algn="l">
              <a:spcAft>
                <a:spcPts val="0"/>
              </a:spcAft>
            </a:pPr>
            <a:r>
              <a:rPr sz="2000" b="0">
                <a:solidFill>
                  <a:srgbClr val="555960"/>
                </a:solidFill>
                <a:latin typeface="Calibri"/>
              </a:rPr>
              <a:t>transactions across services</a:t>
            </a:r>
          </a:p>
          <a:p>
            <a:pPr algn="l">
              <a:spcAft>
                <a:spcPts val="0"/>
              </a:spcAft>
            </a:pPr>
            <a:r>
              <a:rPr sz="2000" b="0">
                <a:solidFill>
                  <a:srgbClr val="555960"/>
                </a:solidFill>
                <a:latin typeface="Calibri"/>
              </a:rPr>
              <a:t>operational burden: N deploys, N pagers</a:t>
            </a:r>
          </a:p>
        </p:txBody>
      </p:sp>
      <p:sp>
        <p:nvSpPr>
          <p:cNvPr id="6" name="InvCard" descr="The no-overlap invariant becomes harder to enforce when reservation writes no longer meet in one database"/>
          <p:cNvSpPr/>
          <p:nvPr/>
        </p:nvSpPr>
        <p:spPr>
          <a:xfrm>
            <a:off x="4617720" y="914400"/>
            <a:ext cx="4114800" cy="3474720"/>
          </a:xfrm>
          <a:prstGeom prst="rect">
            <a:avLst/>
          </a:prstGeom>
          <a:solidFill>
            <a:srgbClr val="FCFAF6"/>
          </a:solidFill>
          <a:ln>
            <a:noFill/>
          </a:ln>
          <a:effectLst/>
        </p:spPr>
        <p:txBody>
          <a:bodyPr rtlCol="0" anchor="ctr" wrap="square"/>
          <a:lstStyle/>
          <a:p/>
        </p:txBody>
      </p:sp>
      <p:sp>
        <p:nvSpPr>
          <p:cNvPr id="7" name="Inv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OUR INVARIANT, REVISITED</a:t>
            </a:r>
          </a:p>
        </p:txBody>
      </p:sp>
      <p:sp>
        <p:nvSpPr>
          <p:cNvPr id="8" name="InvBody"/>
          <p:cNvSpPr/>
          <p:nvPr/>
        </p:nvSpPr>
        <p:spPr>
          <a:xfrm>
            <a:off x="4764024" y="1389888"/>
            <a:ext cx="3840480" cy="2926080"/>
          </a:xfrm>
          <a:prstGeom prst="rect">
            <a:avLst/>
          </a:prstGeom>
          <a:noFill/>
          <a:ln>
            <a:noFill/>
          </a:ln>
          <a:effectLst/>
        </p:spPr>
        <p:txBody>
          <a:bodyPr rtlCol="0" anchor="t" wrap="square"/>
          <a:lstStyle/>
          <a:p>
            <a:pPr algn="l">
              <a:spcAft>
                <a:spcPts val="0"/>
              </a:spcAft>
            </a:pPr>
            <a:r>
              <a:rPr sz="2000" b="1">
                <a:solidFill>
                  <a:srgbClr val="2D2D2D"/>
                </a:solidFill>
                <a:latin typeface="Calibri"/>
              </a:rPr>
              <a:t>No overlapping confirmed reservations per room</a:t>
            </a:r>
          </a:p>
          <a:p>
            <a:pPr algn="l">
              <a:spcAft>
                <a:spcPts val="0"/>
              </a:spcAft>
            </a:pPr>
            <a:r>
              <a:rPr sz="2000" b="0">
                <a:solidFill>
                  <a:srgbClr val="555960"/>
                </a:solidFill>
                <a:latin typeface="Calibri"/>
              </a:rPr>
              <a:t>Data Management enforced it with one exclusion constraint, because every write met in one database.</a:t>
            </a:r>
          </a:p>
          <a:p>
            <a:pPr algn="l">
              <a:spcAft>
                <a:spcPts val="0"/>
              </a:spcAft>
            </a:pPr>
            <a:r>
              <a:rPr sz="2000" b="0">
                <a:solidFill>
                  <a:srgbClr val="555960"/>
                </a:solidFill>
                <a:latin typeface="Calibri"/>
              </a:rPr>
              <a:t>Fragment reservations or approvals across services, and the invariant becomes a distributed agreement problem.</a:t>
            </a:r>
          </a:p>
        </p:txBody>
      </p:sp>
      <p:sp>
        <p:nvSpPr>
          <p:cNvPr id="9" name="BandCard"/>
          <p:cNvSpPr/>
          <p:nvPr/>
        </p:nvSpPr>
        <p:spPr>
          <a:xfrm>
            <a:off x="411480" y="4526280"/>
            <a:ext cx="8321040" cy="914400"/>
          </a:xfrm>
          <a:prstGeom prst="rect">
            <a:avLst/>
          </a:prstGeom>
          <a:solidFill>
            <a:srgbClr val="F5F1E8"/>
          </a:solidFill>
          <a:ln>
            <a:noFill/>
          </a:ln>
          <a:effectLst/>
        </p:spPr>
        <p:txBody>
          <a:bodyPr rtlCol="0" anchor="ctr" wrap="square"/>
          <a:lstStyle/>
          <a:p/>
        </p:txBody>
      </p:sp>
      <p:sp>
        <p:nvSpPr>
          <p:cNvPr id="10" name="BandText"/>
          <p:cNvSpPr/>
          <p:nvPr/>
        </p:nvSpPr>
        <p:spPr>
          <a:xfrm>
            <a:off x="557784" y="4599432"/>
            <a:ext cx="8046720" cy="804672"/>
          </a:xfrm>
          <a:prstGeom prst="rect">
            <a:avLst/>
          </a:prstGeom>
          <a:noFill/>
          <a:ln>
            <a:noFill/>
          </a:ln>
          <a:effectLst/>
        </p:spPr>
        <p:txBody>
          <a:bodyPr rtlCol="0" anchor="t" wrap="square"/>
          <a:lstStyle/>
          <a:p>
            <a:pPr algn="l">
              <a:spcAft>
                <a:spcPts val="0"/>
              </a:spcAft>
            </a:pPr>
            <a:r>
              <a:rPr sz="2000" b="1">
                <a:solidFill>
                  <a:srgbClr val="C01B1B"/>
                </a:solidFill>
                <a:latin typeface="Calibri"/>
              </a:rPr>
              <a:t>Microservices do not automatically scale better or isolate failure</a:t>
            </a:r>
          </a:p>
          <a:p>
            <a:pPr algn="l">
              <a:spcAft>
                <a:spcPts val="0"/>
              </a:spcAft>
            </a:pPr>
            <a:r>
              <a:rPr sz="2000" b="0">
                <a:solidFill>
                  <a:srgbClr val="555960"/>
                </a:solidFill>
                <a:latin typeface="Calibri"/>
              </a:rPr>
              <a:t>They relocate costs; whether that pays depends on requirements and team.</a:t>
            </a:r>
          </a:p>
        </p:txBody>
      </p:sp>
      <p:sp>
        <p:nvSpPr>
          <p:cNvPr id="11" name="Cite"/>
          <p:cNvSpPr/>
          <p:nvPr/>
        </p:nvSpPr>
        <p:spPr>
          <a:xfrm>
            <a:off x="411480" y="5559552"/>
            <a:ext cx="8321040" cy="320040"/>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&amp; Lewis (2014), martinfowler.com/articles/microservices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Restructure behind a safety net, migrate in slices</a:t>
            </a:r>
          </a:p>
        </p:txBody>
      </p:sp>
      <p:sp>
        <p:nvSpPr>
          <p:cNvPr id="3" name="NetCard"/>
          <p:cNvSpPr/>
          <p:nvPr/>
        </p:nvSpPr>
        <p:spPr>
          <a:xfrm>
            <a:off x="411480" y="914400"/>
            <a:ext cx="4023360" cy="3657600"/>
          </a:xfrm>
          <a:prstGeom prst="rect">
            <a:avLst/>
          </a:prstGeom>
          <a:solidFill>
            <a:srgbClr val="F5F1E8"/>
          </a:solidFill>
          <a:ln>
            <a:noFill/>
          </a:ln>
          <a:effectLst/>
        </p:spPr>
        <p:txBody>
          <a:bodyPr rtlCol="0" anchor="ctr" wrap="square"/>
          <a:lstStyle/>
          <a:p/>
        </p:txBody>
      </p:sp>
      <p:sp>
        <p:nvSpPr>
          <p:cNvPr id="4" name="Net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BEFORE MOVING A BOUNDARY</a:t>
            </a:r>
          </a:p>
        </p:txBody>
      </p:sp>
      <p:sp>
        <p:nvSpPr>
          <p:cNvPr id="5" name="NetBody"/>
          <p:cNvSpPr/>
          <p:nvPr/>
        </p:nvSpPr>
        <p:spPr>
          <a:xfrm>
            <a:off x="557784" y="1389888"/>
            <a:ext cx="3749040" cy="3108960"/>
          </a:xfrm>
          <a:prstGeom prst="rect">
            <a:avLst/>
          </a:prstGeom>
          <a:noFill/>
          <a:ln>
            <a:noFill/>
          </a:ln>
          <a:effectLst/>
        </p:spPr>
        <p:txBody>
          <a:bodyPr rtlCol="0" anchor="t" wrap="square"/>
          <a:lstStyle/>
          <a:p>
            <a:pPr algn="l">
              <a:spcAft>
                <a:spcPts val="0"/>
              </a:spcAft>
            </a:pPr>
            <a:r>
              <a:rPr sz="2000" b="0">
                <a:solidFill>
                  <a:srgbClr val="555960"/>
                </a:solidFill>
                <a:latin typeface="Calibri"/>
              </a:rPr>
              <a:t>characterization tests pin current behavior</a:t>
            </a:r>
          </a:p>
          <a:p>
            <a:pPr algn="l">
              <a:spcAft>
                <a:spcPts val="0"/>
              </a:spcAft>
            </a:pPr>
            <a:r>
              <a:rPr sz="2000" b="0">
                <a:solidFill>
                  <a:srgbClr val="555960"/>
                </a:solidFill>
                <a:latin typeface="Calibri"/>
              </a:rPr>
              <a:t>invariant tests: no-overlap stays enforced throughout</a:t>
            </a:r>
          </a:p>
          <a:p>
            <a:pPr algn="l">
              <a:spcAft>
                <a:spcPts val="0"/>
              </a:spcAft>
            </a:pPr>
            <a:r>
              <a:rPr sz="2000" b="0">
                <a:solidFill>
                  <a:srgbClr val="555960"/>
                </a:solidFill>
                <a:latin typeface="Calibri"/>
              </a:rPr>
              <a:t>extract the policy interface first</a:t>
            </a:r>
          </a:p>
          <a:p>
            <a:pPr algn="l">
              <a:spcAft>
                <a:spcPts val="0"/>
              </a:spcAft>
            </a:pPr>
            <a:r>
              <a:rPr sz="2000" b="0">
                <a:solidFill>
                  <a:srgbClr val="555960"/>
                </a:solidFill>
                <a:latin typeface="Calibri"/>
              </a:rPr>
              <a:t>architectural check holds the new seam</a:t>
            </a:r>
          </a:p>
        </p:txBody>
      </p:sp>
      <p:sp>
        <p:nvSpPr>
          <p:cNvPr id="6" name="StrCard" descr="Strangler migration: a router sends most traffic to the old monolith and a growing slice to the new policy service"/>
          <p:cNvSpPr/>
          <p:nvPr/>
        </p:nvSpPr>
        <p:spPr>
          <a:xfrm>
            <a:off x="4617720" y="914400"/>
            <a:ext cx="4114800" cy="3657600"/>
          </a:xfrm>
          <a:prstGeom prst="rect">
            <a:avLst/>
          </a:prstGeom>
          <a:solidFill>
            <a:srgbClr val="FCFAF6"/>
          </a:solidFill>
          <a:ln>
            <a:noFill/>
          </a:ln>
          <a:effectLst/>
        </p:spPr>
        <p:txBody>
          <a:bodyPr rtlCol="0" anchor="ctr" wrap="square"/>
          <a:lstStyle/>
          <a:p/>
        </p:txBody>
      </p:sp>
      <p:sp>
        <p:nvSpPr>
          <p:cNvPr id="7" name="Str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STRANGLER MIGRATION</a:t>
            </a:r>
          </a:p>
        </p:txBody>
      </p:sp>
      <p:sp>
        <p:nvSpPr>
          <p:cNvPr id="8" name="StrRouter"/>
          <p:cNvSpPr/>
          <p:nvPr/>
        </p:nvSpPr>
        <p:spPr>
          <a:xfrm>
            <a:off x="5989320" y="1463040"/>
            <a:ext cx="137160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ROUTER</a:t>
            </a:r>
          </a:p>
        </p:txBody>
      </p:sp>
      <p:sp>
        <p:nvSpPr>
          <p:cNvPr id="9" name="StrOld"/>
          <p:cNvSpPr/>
          <p:nvPr/>
        </p:nvSpPr>
        <p:spPr>
          <a:xfrm>
            <a:off x="4892040" y="2560320"/>
            <a:ext cx="1645920" cy="68580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OLD PATH</a:t>
            </a:r>
          </a:p>
          <a:p>
            <a:pPr algn="ctr">
              <a:spcAft>
                <a:spcPts val="0"/>
              </a:spcAft>
            </a:pPr>
            <a:r>
              <a:rPr sz="2000" b="0">
                <a:solidFill>
                  <a:srgbClr val="FFFFFF"/>
                </a:solidFill>
                <a:latin typeface="Calibri"/>
              </a:rPr>
              <a:t>monolith</a:t>
            </a:r>
          </a:p>
        </p:txBody>
      </p:sp>
      <p:sp>
        <p:nvSpPr>
          <p:cNvPr id="10" name="StrNew"/>
          <p:cNvSpPr/>
          <p:nvPr/>
        </p:nvSpPr>
        <p:spPr>
          <a:xfrm>
            <a:off x="6812280" y="2560320"/>
            <a:ext cx="164592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NEW PATH</a:t>
            </a:r>
          </a:p>
          <a:p>
            <a:pPr algn="ctr">
              <a:spcAft>
                <a:spcPts val="0"/>
              </a:spcAft>
            </a:pPr>
            <a:r>
              <a:rPr sz="2000" b="0">
                <a:solidFill>
                  <a:srgbClr val="FFFFFF"/>
                </a:solidFill>
                <a:latin typeface="Calibri"/>
              </a:rPr>
              <a:t>policy service</a:t>
            </a:r>
          </a:p>
        </p:txBody>
      </p:sp>
      <p:cxnSp>
        <p:nvCxnSpPr>
          <p:cNvPr id="11" name="StrEdgeL"/>
          <p:cNvCxnSpPr/>
          <p:nvPr/>
        </p:nvCxnSpPr>
        <p:spPr>
          <a:xfrm flipH="1">
            <a:off x="5715000" y="1965960"/>
            <a:ext cx="594360" cy="594360"/>
          </a:xfrm>
          <a:prstGeom prst="bentConnector3">
            <a:avLst/>
          </a:prstGeom>
          <a:ln w="19050">
            <a:solidFill>
              <a:srgbClr val="8E6F3E"/>
            </a:solidFill>
            <a:tailEnd type="triangle" w="med" len="med"/>
          </a:ln>
        </p:spPr>
      </p:cxnSp>
      <p:cxnSp>
        <p:nvCxnSpPr>
          <p:cNvPr id="12" name="StrEdgeR"/>
          <p:cNvCxnSpPr/>
          <p:nvPr/>
        </p:nvCxnSpPr>
        <p:spPr>
          <a:xfrm>
            <a:off x="7040880" y="1965960"/>
            <a:ext cx="594360" cy="594360"/>
          </a:xfrm>
          <a:prstGeom prst="bentConnector3">
            <a:avLst/>
          </a:prstGeom>
          <a:ln w="19050">
            <a:solidFill>
              <a:srgbClr val="8E6F3E"/>
            </a:solidFill>
            <a:tailEnd type="triangle" w="med" len="med"/>
          </a:ln>
        </p:spPr>
      </p:cxnSp>
      <p:sp>
        <p:nvSpPr>
          <p:cNvPr id="13" name="StrCap"/>
          <p:cNvSpPr/>
          <p:nvPr/>
        </p:nvSpPr>
        <p:spPr>
          <a:xfrm>
            <a:off x="4764024" y="3383280"/>
            <a:ext cx="3840480" cy="1143000"/>
          </a:xfrm>
          <a:prstGeom prst="rect">
            <a:avLst/>
          </a:prstGeom>
          <a:noFill/>
          <a:ln>
            <a:noFill/>
          </a:ln>
          <a:effectLst/>
        </p:spPr>
        <p:txBody>
          <a:bodyPr rtlCol="0" anchor="t" wrap="square"/>
          <a:lstStyle/>
          <a:p>
            <a:pPr algn="l">
              <a:spcAft>
                <a:spcPts val="0"/>
              </a:spcAft>
            </a:pPr>
            <a:r>
              <a:rPr sz="2000" b="0">
                <a:solidFill>
                  <a:srgbClr val="555960"/>
                </a:solidFill>
                <a:latin typeface="Calibri"/>
              </a:rPr>
              <a:t>traffic moves in slices; each slice is reversible</a:t>
            </a:r>
          </a:p>
          <a:p>
            <a:pPr algn="l">
              <a:spcAft>
                <a:spcPts val="0"/>
              </a:spcAft>
            </a:pPr>
            <a:r>
              <a:rPr sz="2000" b="0">
                <a:solidFill>
                  <a:srgbClr val="555960"/>
                </a:solidFill>
                <a:latin typeface="Calibri"/>
              </a:rPr>
              <a:t>hazards: routing drift, dual writes, a stalled migration is two systems</a:t>
            </a:r>
          </a:p>
        </p:txBody>
      </p:sp>
      <p:sp>
        <p:nvSpPr>
          <p:cNvPr id="14" name="Cite"/>
          <p:cNvSpPr/>
          <p:nvPr/>
        </p:nvSpPr>
        <p:spPr>
          <a:xfrm>
            <a:off x="411480" y="4709160"/>
            <a:ext cx="8321040" cy="640080"/>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Strangler Fig Application · Fowler, Refactoring (martinfowler.com)</a:t>
            </a:r>
          </a:p>
        </p:txBody>
      </p:sp>
      <p:sp>
        <p:nvSpPr>
          <p:cNvPr id="15"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Restructuring is an engineering activity with its own evidence obligations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Exercise: restructure the reservation service?</a:t>
            </a:r>
          </a:p>
        </p:txBody>
      </p:sp>
      <p:sp>
        <p:nvSpPr>
          <p:cNvPr id="3" name="ReqCard"/>
          <p:cNvSpPr/>
          <p:nvPr/>
        </p:nvSpPr>
        <p:spPr>
          <a:xfrm>
            <a:off x="411480" y="914400"/>
            <a:ext cx="8321040" cy="1463040"/>
          </a:xfrm>
          <a:prstGeom prst="rect">
            <a:avLst/>
          </a:prstGeom>
          <a:solidFill>
            <a:srgbClr val="F5F1E8"/>
          </a:solidFill>
          <a:ln>
            <a:noFill/>
          </a:ln>
          <a:effectLst/>
        </p:spPr>
        <p:txBody>
          <a:bodyPr rtlCol="0" anchor="ctr" wrap="square"/>
          <a:lstStyle/>
          <a:p/>
        </p:txBody>
      </p:sp>
      <p:sp>
        <p:nvSpPr>
          <p:cNvPr id="4" name="ReqLabel"/>
          <p:cNvSpPr/>
          <p:nvPr/>
        </p:nvSpPr>
        <p:spPr>
          <a:xfrm>
            <a:off x="557784" y="987552"/>
            <a:ext cx="804672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SITUATION</a:t>
            </a:r>
          </a:p>
        </p:txBody>
      </p:sp>
      <p:sp>
        <p:nvSpPr>
          <p:cNvPr id="5" name="ReqBody"/>
          <p:cNvSpPr/>
          <p:nvPr/>
        </p:nvSpPr>
        <p:spPr>
          <a:xfrm>
            <a:off x="557784" y="1371600"/>
            <a:ext cx="8046720" cy="960120"/>
          </a:xfrm>
          <a:prstGeom prst="rect">
            <a:avLst/>
          </a:prstGeom>
          <a:noFill/>
          <a:ln>
            <a:noFill/>
          </a:ln>
          <a:effectLst/>
        </p:spPr>
        <p:txBody>
          <a:bodyPr rtlCol="0" anchor="t" wrap="square"/>
          <a:lstStyle/>
          <a:p>
            <a:pPr algn="l">
              <a:spcAft>
                <a:spcPts val="0"/>
              </a:spcAft>
            </a:pPr>
            <a:r>
              <a:rPr sz="2000" b="0">
                <a:solidFill>
                  <a:srgbClr val="2D2D2D"/>
                </a:solidFill>
                <a:latin typeface="Calibri"/>
              </a:rPr>
              <a:t>your agent produced a working reservation service with weak internal boundaries · the lab-policy change now touches four of five components · more policy changes arrive each semester</a:t>
            </a:r>
          </a:p>
        </p:txBody>
      </p:sp>
      <p:sp>
        <p:nvSpPr>
          <p:cNvPr id="6" name="TaskCard"/>
          <p:cNvSpPr/>
          <p:nvPr/>
        </p:nvSpPr>
        <p:spPr>
          <a:xfrm>
            <a:off x="411480" y="2560320"/>
            <a:ext cx="4023360" cy="2560320"/>
          </a:xfrm>
          <a:prstGeom prst="rect">
            <a:avLst/>
          </a:prstGeom>
          <a:solidFill>
            <a:srgbClr val="FCFAF6"/>
          </a:solidFill>
          <a:ln>
            <a:noFill/>
          </a:ln>
          <a:effectLst/>
        </p:spPr>
        <p:txBody>
          <a:bodyPr rtlCol="0" anchor="ctr" wrap="square"/>
          <a:lstStyle/>
          <a:p/>
        </p:txBody>
      </p:sp>
      <p:sp>
        <p:nvSpPr>
          <p:cNvPr id="7" name="TaskLabel"/>
          <p:cNvSpPr/>
          <p:nvPr/>
        </p:nvSpPr>
        <p:spPr>
          <a:xfrm>
            <a:off x="557784" y="263347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YOUR TASK, IN PAIRS</a:t>
            </a:r>
          </a:p>
        </p:txBody>
      </p:sp>
      <p:sp>
        <p:nvSpPr>
          <p:cNvPr id="8" name="TaskBody"/>
          <p:cNvSpPr/>
          <p:nvPr/>
        </p:nvSpPr>
        <p:spPr>
          <a:xfrm>
            <a:off x="557784" y="3017520"/>
            <a:ext cx="3749040" cy="2011680"/>
          </a:xfrm>
          <a:prstGeom prst="rect">
            <a:avLst/>
          </a:prstGeom>
          <a:noFill/>
          <a:ln>
            <a:noFill/>
          </a:ln>
          <a:effectLst/>
        </p:spPr>
        <p:txBody>
          <a:bodyPr rtlCol="0" anchor="t" wrap="square"/>
          <a:lstStyle/>
          <a:p>
            <a:pPr algn="l">
              <a:spcAft>
                <a:spcPts val="0"/>
              </a:spcAft>
            </a:pPr>
            <a:r>
              <a:rPr sz="2000" b="0">
                <a:solidFill>
                  <a:srgbClr val="2D2D2D"/>
                </a:solidFill>
                <a:latin typeface="Calibri"/>
              </a:rPr>
              <a:t>retain the current structure, refactor to a modular monolith, or extract services?</a:t>
            </a:r>
          </a:p>
          <a:p>
            <a:pPr algn="l">
              <a:spcAft>
                <a:spcPts val="0"/>
              </a:spcAft>
            </a:pPr>
            <a:r>
              <a:rPr sz="2000" b="0">
                <a:solidFill>
                  <a:srgbClr val="2D2D2D"/>
                </a:solidFill>
                <a:latin typeface="Calibri"/>
              </a:rPr>
              <a:t>argue from the expected changes</a:t>
            </a:r>
          </a:p>
          <a:p>
            <a:pPr algn="l">
              <a:spcAft>
                <a:spcPts val="0"/>
              </a:spcAft>
            </a:pPr>
            <a:r>
              <a:rPr sz="2000" b="0">
                <a:solidFill>
                  <a:srgbClr val="2D2D2D"/>
                </a:solidFill>
                <a:latin typeface="Calibri"/>
              </a:rPr>
              <a:t>name the evidence that would justify the restructuring cost</a:t>
            </a:r>
          </a:p>
        </p:txBody>
      </p:sp>
      <p:sp>
        <p:nvSpPr>
          <p:cNvPr id="9" name="CfCard"/>
          <p:cNvSpPr/>
          <p:nvPr/>
        </p:nvSpPr>
        <p:spPr>
          <a:xfrm>
            <a:off x="4617720" y="2560320"/>
            <a:ext cx="4114800" cy="2560320"/>
          </a:xfrm>
          <a:prstGeom prst="rect">
            <a:avLst/>
          </a:prstGeom>
          <a:solidFill>
            <a:srgbClr val="FCFAF6"/>
          </a:solidFill>
          <a:ln>
            <a:noFill/>
          </a:ln>
          <a:effectLst/>
        </p:spPr>
        <p:txBody>
          <a:bodyPr rtlCol="0" anchor="ctr" wrap="square"/>
          <a:lstStyle/>
          <a:p/>
        </p:txBody>
      </p:sp>
      <p:sp>
        <p:nvSpPr>
          <p:cNvPr id="10" name="CfLabel"/>
          <p:cNvSpPr/>
          <p:nvPr/>
        </p:nvSpPr>
        <p:spPr>
          <a:xfrm>
            <a:off x="4764024" y="263347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THEN PERTURB</a:t>
            </a:r>
          </a:p>
        </p:txBody>
      </p:sp>
      <p:sp>
        <p:nvSpPr>
          <p:cNvPr id="11" name="CfBody"/>
          <p:cNvSpPr/>
          <p:nvPr/>
        </p:nvSpPr>
        <p:spPr>
          <a:xfrm>
            <a:off x="4764024" y="3017520"/>
            <a:ext cx="3840480" cy="2011680"/>
          </a:xfrm>
          <a:prstGeom prst="rect">
            <a:avLst/>
          </a:prstGeom>
          <a:noFill/>
          <a:ln>
            <a:noFill/>
          </a:ln>
          <a:effectLst/>
        </p:spPr>
        <p:txBody>
          <a:bodyPr rtlCol="0" anchor="t" wrap="square"/>
          <a:lstStyle/>
          <a:p>
            <a:pPr algn="l">
              <a:spcAft>
                <a:spcPts val="0"/>
              </a:spcAft>
            </a:pPr>
            <a:r>
              <a:rPr sz="2000" b="0">
                <a:solidFill>
                  <a:srgbClr val="2D2D2D"/>
                </a:solidFill>
                <a:latin typeface="Calibri"/>
              </a:rPr>
              <a:t>only one more policy change is ever expected</a:t>
            </a:r>
          </a:p>
          <a:p>
            <a:pPr algn="l">
              <a:spcAft>
                <a:spcPts val="0"/>
              </a:spcAft>
            </a:pPr>
            <a:r>
              <a:rPr sz="2000" b="0">
                <a:solidFill>
                  <a:srgbClr val="2D2D2D"/>
                </a:solidFill>
                <a:latin typeface="Calibri"/>
              </a:rPr>
              <a:t>a second owning team takes over approvals</a:t>
            </a:r>
          </a:p>
          <a:p>
            <a:pPr algn="l">
              <a:spcAft>
                <a:spcPts val="0"/>
              </a:spcAft>
            </a:pPr>
            <a:r>
              <a:rPr sz="2000" b="0">
                <a:solidFill>
                  <a:srgbClr val="555960"/>
                </a:solidFill>
                <a:latin typeface="Calibri"/>
              </a:rPr>
              <a:t>which answers change, and why?</a:t>
            </a:r>
          </a:p>
        </p:txBody>
      </p:sp>
      <p:sp>
        <p:nvSpPr>
          <p:cNvPr id="12"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Retain, refactor, or extract? Name the evidence that justifies the cost.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components and obligations did we inherit?</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QUESTION 2</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The internal graph we wrote; the external graph arrived with one import statement. Reliance requires examining both.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One import brings a graph, not a package</a:t>
            </a:r>
          </a:p>
        </p:txBody>
      </p:sp>
      <p:sp>
        <p:nvSpPr>
          <p:cNvPr id="3" name="DepApp" descr="Dependency graph: the app imports a web framework, an auth library, and a date-interval library; the framework brings an HTTP parser, which brings a utility library; the auth library brings a crypto library"/>
          <p:cNvSpPr/>
          <p:nvPr/>
        </p:nvSpPr>
        <p:spPr>
          <a:xfrm>
            <a:off x="3566160" y="868680"/>
            <a:ext cx="20116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RESERVATION APP</a:t>
            </a:r>
          </a:p>
        </p:txBody>
      </p:sp>
      <p:sp>
        <p:nvSpPr>
          <p:cNvPr id="4" name="DepDirect"/>
          <p:cNvSpPr/>
          <p:nvPr/>
        </p:nvSpPr>
        <p:spPr>
          <a:xfrm>
            <a:off x="77724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WEB FRAMEWORK</a:t>
            </a:r>
          </a:p>
        </p:txBody>
      </p:sp>
      <p:sp>
        <p:nvSpPr>
          <p:cNvPr id="5" name="DepDirect"/>
          <p:cNvSpPr/>
          <p:nvPr/>
        </p:nvSpPr>
        <p:spPr>
          <a:xfrm>
            <a:off x="356616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AUTH LIBRARY</a:t>
            </a:r>
          </a:p>
        </p:txBody>
      </p:sp>
      <p:sp>
        <p:nvSpPr>
          <p:cNvPr id="6" name="DepDirect"/>
          <p:cNvSpPr/>
          <p:nvPr/>
        </p:nvSpPr>
        <p:spPr>
          <a:xfrm>
            <a:off x="635508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DATE / INTERVAL LIB</a:t>
            </a:r>
          </a:p>
        </p:txBody>
      </p:sp>
      <p:sp>
        <p:nvSpPr>
          <p:cNvPr id="7" name="DepEdgeL" descr="the app imports the web framework"/>
          <p:cNvSpPr/>
          <p:nvPr/>
        </p:nvSpPr>
        <p:spPr>
          <a:xfrm>
            <a:off x="1783080" y="1417320"/>
            <a:ext cx="2057400" cy="457199"/>
          </a:xfrm>
          <a:custGeom>
            <a:avLst/>
            <a:gdLst/>
            <a:ahLst/>
            <a:cxnLst/>
            <a:rect l="0" t="0" r="0" b="0"/>
            <a:pathLst>
              <a:path w="2057400" h="457199" fill="none">
                <a:moveTo>
                  <a:pt x="2057400" y="0"/>
                </a:moveTo>
                <a:lnTo>
                  <a:pt x="2057400" y="228600"/>
                </a:lnTo>
                <a:lnTo>
                  <a:pt x="0" y="228600"/>
                </a:lnTo>
                <a:lnTo>
                  <a:pt x="0" y="457200"/>
                </a:lnTo>
              </a:path>
            </a:pathLst>
          </a:custGeom>
          <a:noFill/>
          <a:ln w="19050">
            <a:solidFill>
              <a:srgbClr val="8E6F3E"/>
            </a:solidFill>
            <a:tailEnd type="triangle" w="med" len="med"/>
          </a:ln>
        </p:spPr>
        <p:txBody>
          <a:bodyPr rtlCol="0" anchor="ctr" wrap="square"/>
          <a:lstStyle/>
          <a:p/>
        </p:txBody>
      </p:sp>
      <p:cxnSp>
        <p:nvCxnSpPr>
          <p:cNvPr id="8" name="DepEdge"/>
          <p:cNvCxnSpPr/>
          <p:nvPr/>
        </p:nvCxnSpPr>
        <p:spPr>
          <a:xfrm>
            <a:off x="4572000" y="1417320"/>
            <a:ext cx="0" cy="457200"/>
          </a:xfrm>
          <a:prstGeom prst="line">
            <a:avLst/>
          </a:prstGeom>
          <a:ln w="19050">
            <a:solidFill>
              <a:srgbClr val="8E6F3E"/>
            </a:solidFill>
            <a:tailEnd type="triangle" w="med" len="med"/>
          </a:ln>
        </p:spPr>
      </p:cxnSp>
      <p:sp>
        <p:nvSpPr>
          <p:cNvPr id="9" name="DepEdgeR" descr="the app imports the date-interval library"/>
          <p:cNvSpPr/>
          <p:nvPr/>
        </p:nvSpPr>
        <p:spPr>
          <a:xfrm>
            <a:off x="5303520" y="1417320"/>
            <a:ext cx="2057400" cy="457199"/>
          </a:xfrm>
          <a:custGeom>
            <a:avLst/>
            <a:gdLst/>
            <a:ahLst/>
            <a:cxnLst/>
            <a:rect l="0" t="0" r="0" b="0"/>
            <a:pathLst>
              <a:path w="2057400" h="457199" fill="none">
                <a:moveTo>
                  <a:pt x="0" y="0"/>
                </a:moveTo>
                <a:lnTo>
                  <a:pt x="0" y="228600"/>
                </a:lnTo>
                <a:lnTo>
                  <a:pt x="2057400" y="228600"/>
                </a:lnTo>
                <a:lnTo>
                  <a:pt x="2057400" y="457200"/>
                </a:lnTo>
              </a:path>
            </a:pathLst>
          </a:custGeom>
          <a:noFill/>
          <a:ln w="19050">
            <a:solidFill>
              <a:srgbClr val="8E6F3E"/>
            </a:solidFill>
            <a:tailEnd type="triangle" w="med" len="med"/>
          </a:ln>
        </p:spPr>
        <p:txBody>
          <a:bodyPr rtlCol="0" anchor="ctr" wrap="square"/>
          <a:lstStyle/>
          <a:p/>
        </p:txBody>
      </p:sp>
      <p:sp>
        <p:nvSpPr>
          <p:cNvPr id="10" name="DepTrans"/>
          <p:cNvSpPr/>
          <p:nvPr/>
        </p:nvSpPr>
        <p:spPr>
          <a:xfrm>
            <a:off x="777240" y="288036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HTTP PARSER</a:t>
            </a:r>
          </a:p>
        </p:txBody>
      </p:sp>
      <p:sp>
        <p:nvSpPr>
          <p:cNvPr id="11" name="DepTrans"/>
          <p:cNvSpPr/>
          <p:nvPr/>
        </p:nvSpPr>
        <p:spPr>
          <a:xfrm>
            <a:off x="3566160" y="288036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CRYPTO LIB</a:t>
            </a:r>
          </a:p>
        </p:txBody>
      </p:sp>
      <p:sp>
        <p:nvSpPr>
          <p:cNvPr id="12" name="DepTrans"/>
          <p:cNvSpPr/>
          <p:nvPr/>
        </p:nvSpPr>
        <p:spPr>
          <a:xfrm>
            <a:off x="777240" y="388620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UTILITY LIB</a:t>
            </a:r>
          </a:p>
        </p:txBody>
      </p:sp>
      <p:cxnSp>
        <p:nvCxnSpPr>
          <p:cNvPr id="13" name="DepEdge"/>
          <p:cNvCxnSpPr/>
          <p:nvPr/>
        </p:nvCxnSpPr>
        <p:spPr>
          <a:xfrm>
            <a:off x="1783080" y="2423160"/>
            <a:ext cx="0" cy="457200"/>
          </a:xfrm>
          <a:prstGeom prst="line">
            <a:avLst/>
          </a:prstGeom>
          <a:ln w="19050">
            <a:solidFill>
              <a:srgbClr val="8E6F3E"/>
            </a:solidFill>
            <a:tailEnd type="triangle" w="med" len="med"/>
          </a:ln>
        </p:spPr>
      </p:cxnSp>
      <p:cxnSp>
        <p:nvCxnSpPr>
          <p:cNvPr id="14" name="DepEdge"/>
          <p:cNvCxnSpPr/>
          <p:nvPr/>
        </p:nvCxnSpPr>
        <p:spPr>
          <a:xfrm>
            <a:off x="4572000" y="2423160"/>
            <a:ext cx="0" cy="457200"/>
          </a:xfrm>
          <a:prstGeom prst="line">
            <a:avLst/>
          </a:prstGeom>
          <a:ln w="19050">
            <a:solidFill>
              <a:srgbClr val="8E6F3E"/>
            </a:solidFill>
            <a:tailEnd type="triangle" w="med" len="med"/>
          </a:ln>
        </p:spPr>
      </p:cxnSp>
      <p:cxnSp>
        <p:nvCxnSpPr>
          <p:cNvPr id="15" name="DepEdge"/>
          <p:cNvCxnSpPr/>
          <p:nvPr/>
        </p:nvCxnSpPr>
        <p:spPr>
          <a:xfrm>
            <a:off x="1783080" y="3429000"/>
            <a:ext cx="0" cy="457200"/>
          </a:xfrm>
          <a:prstGeom prst="line">
            <a:avLst/>
          </a:prstGeom>
          <a:ln w="19050">
            <a:solidFill>
              <a:srgbClr val="8E6F3E"/>
            </a:solidFill>
            <a:tailEnd type="triangle" w="med" len="med"/>
          </a:ln>
        </p:spPr>
      </p:cxnSp>
      <p:sp>
        <p:nvSpPr>
          <p:cNvPr id="16" name="KindChip"/>
          <p:cNvSpPr/>
          <p:nvPr/>
        </p:nvSpPr>
        <p:spPr>
          <a:xfrm>
            <a:off x="3566160" y="3611880"/>
            <a:ext cx="5166360" cy="502920"/>
          </a:xfrm>
          <a:prstGeom prst="rect">
            <a:avLst/>
          </a:prstGeom>
          <a:noFill/>
          <a:ln>
            <a:noFill/>
          </a:ln>
          <a:effectLst/>
        </p:spPr>
        <p:txBody>
          <a:bodyPr rtlCol="0" anchor="ctr" wrap="square"/>
          <a:lstStyle/>
          <a:p>
            <a:pPr algn="l">
              <a:spcAft>
                <a:spcPts val="0"/>
              </a:spcAft>
            </a:pPr>
            <a:r>
              <a:rPr sz="2000" b="1">
                <a:solidFill>
                  <a:srgbClr val="8E6F3E"/>
                </a:solidFill>
                <a:latin typeface="Calibri"/>
              </a:rPr>
              <a:t>DIRECT</a:t>
            </a:r>
            <a:r>
              <a:rPr sz="2000" b="0">
                <a:solidFill>
                  <a:srgbClr val="555960"/>
                </a:solidFill>
                <a:latin typeface="Calibri"/>
              </a:rPr>
              <a:t>  chosen      </a:t>
            </a:r>
            <a:r>
              <a:rPr sz="2000" b="1">
                <a:solidFill>
                  <a:srgbClr val="555960"/>
                </a:solidFill>
                <a:latin typeface="Calibri"/>
              </a:rPr>
              <a:t>TRANSITIVE</a:t>
            </a:r>
            <a:r>
              <a:rPr sz="2000" b="0">
                <a:solidFill>
                  <a:srgbClr val="555960"/>
                </a:solidFill>
                <a:latin typeface="Calibri"/>
              </a:rPr>
              <a:t>  inherited</a:t>
            </a:r>
          </a:p>
        </p:txBody>
      </p:sp>
      <p:sp>
        <p:nvSpPr>
          <p:cNvPr id="17" name="KindCard"/>
          <p:cNvSpPr/>
          <p:nvPr/>
        </p:nvSpPr>
        <p:spPr>
          <a:xfrm>
            <a:off x="3566160" y="4206240"/>
            <a:ext cx="5166360" cy="1042416"/>
          </a:xfrm>
          <a:prstGeom prst="rect">
            <a:avLst/>
          </a:prstGeom>
          <a:solidFill>
            <a:srgbClr val="F5F1E8"/>
          </a:solidFill>
          <a:ln>
            <a:noFill/>
          </a:ln>
          <a:effectLst/>
        </p:spPr>
        <p:txBody>
          <a:bodyPr rtlCol="0" anchor="ctr" wrap="square"/>
          <a:lstStyle/>
          <a:p/>
        </p:txBody>
      </p:sp>
      <p:sp>
        <p:nvSpPr>
          <p:cNvPr id="18" name="KindText"/>
          <p:cNvSpPr/>
          <p:nvPr/>
        </p:nvSpPr>
        <p:spPr>
          <a:xfrm>
            <a:off x="3694176" y="4261104"/>
            <a:ext cx="4937760" cy="950976"/>
          </a:xfrm>
          <a:prstGeom prst="rect">
            <a:avLst/>
          </a:prstGeom>
          <a:noFill/>
          <a:ln>
            <a:noFill/>
          </a:ln>
          <a:effectLst/>
        </p:spPr>
        <p:txBody>
          <a:bodyPr rtlCol="0" anchor="t" wrap="square"/>
          <a:lstStyle/>
          <a:p>
            <a:pPr algn="l">
              <a:spcAft>
                <a:spcPts val="0"/>
              </a:spcAft>
            </a:pPr>
            <a:r>
              <a:rPr sz="2000" b="1">
                <a:solidFill>
                  <a:srgbClr val="5C4826"/>
                </a:solidFill>
                <a:latin typeface="Calibri"/>
              </a:rPr>
              <a:t>Four different inheritances</a:t>
            </a:r>
          </a:p>
          <a:p>
            <a:pPr algn="l">
              <a:spcAft>
                <a:spcPts val="0"/>
              </a:spcAft>
            </a:pPr>
            <a:r>
              <a:rPr sz="2000" b="0">
                <a:solidFill>
                  <a:srgbClr val="555960"/>
                </a:solidFill>
                <a:latin typeface="Calibri"/>
              </a:rPr>
              <a:t>source dependencies · build-time tools · runtime dependencies · external services</a:t>
            </a:r>
          </a:p>
        </p:txBody>
      </p:sp>
      <p:sp>
        <p:nvSpPr>
          <p:cNvPr id="19" name="NcCard"/>
          <p:cNvSpPr/>
          <p:nvPr/>
        </p:nvSpPr>
        <p:spPr>
          <a:xfrm>
            <a:off x="411480" y="5376672"/>
            <a:ext cx="8321040" cy="841248"/>
          </a:xfrm>
          <a:prstGeom prst="rect">
            <a:avLst/>
          </a:prstGeom>
          <a:solidFill>
            <a:srgbClr val="FCFAF6"/>
          </a:solidFill>
          <a:ln>
            <a:noFill/>
          </a:ln>
          <a:effectLst/>
        </p:spPr>
        <p:txBody>
          <a:bodyPr rtlCol="0" anchor="ctr" wrap="square"/>
          <a:lstStyle/>
          <a:p/>
        </p:txBody>
      </p:sp>
      <p:sp>
        <p:nvSpPr>
          <p:cNvPr id="20" name="NcText"/>
          <p:cNvSpPr/>
          <p:nvPr/>
        </p:nvSpPr>
        <p:spPr>
          <a:xfrm>
            <a:off x="557784" y="5431536"/>
            <a:ext cx="8046720" cy="749808"/>
          </a:xfrm>
          <a:prstGeom prst="rect">
            <a:avLst/>
          </a:prstGeom>
          <a:noFill/>
          <a:ln>
            <a:noFill/>
          </a:ln>
          <a:effectLst/>
        </p:spPr>
        <p:txBody>
          <a:bodyPr rtlCol="0" anchor="t" wrap="square"/>
          <a:lstStyle/>
          <a:p>
            <a:pPr algn="l">
              <a:spcAft>
                <a:spcPts val="0"/>
              </a:spcAft>
            </a:pPr>
            <a:r>
              <a:rPr sz="2000" b="1">
                <a:solidFill>
                  <a:srgbClr val="C01B1B"/>
                </a:solidFill>
                <a:latin typeface="Calibri"/>
              </a:rPr>
              <a:t>The manifest does not capture everything deployed</a:t>
            </a:r>
          </a:p>
          <a:p>
            <a:pPr algn="l">
              <a:spcAft>
                <a:spcPts val="0"/>
              </a:spcAft>
            </a:pPr>
            <a:r>
              <a:rPr sz="2000" b="0">
                <a:solidFill>
                  <a:srgbClr val="555960"/>
                </a:solidFill>
                <a:latin typeface="Calibri"/>
              </a:rPr>
              <a:t>vendored code, base images, and system libraries ship too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An SBOM is an inventory, not a verdict</a:t>
            </a:r>
          </a:p>
        </p:txBody>
      </p:sp>
      <p:graphicFrame>
        <p:nvGraphicFramePr>
          <p:cNvPr id="3" name="SbomTable" descr="A tiny SPDX-style inventory: component, version, package identifier, declared license, supplier"/>
          <p:cNvGraphicFramePr/>
          <p:nvPr/>
        </p:nvGraphicFramePr>
        <p:xfrm>
          <a:off x="411480" y="914400"/>
          <a:ext cx="8321040" cy="1901952"/>
        </p:xfrm>
        <a:graphic>
          <a:graphicData uri="http://schemas.openxmlformats.org/drawingml/2006/table">
            <a:tbl>
              <a:tblPr firstRow="0" bandRow="0">
                <a:tableStyleId>{5C22544A-7EE6-4342-B048-85BDC9FD1C3A}</a:tableStyleId>
              </a:tblPr>
              <a:tblGrid>
                <a:gridCol w="1463040"/>
                <a:gridCol w="1143000"/>
                <a:gridCol w="2697480"/>
                <a:gridCol w="1508760"/>
                <a:gridCol w="1508760"/>
              </a:tblGrid>
              <a:tr h="475488">
                <a:tc>
                  <a:txBody>
                    <a:bodyPr wrap="square"/>
                    <a:lstStyle/>
                    <a:p>
                      <a:r>
                        <a:rPr sz="2000" b="1">
                          <a:solidFill>
                            <a:srgbClr val="FFFFFF"/>
                          </a:solidFill>
                          <a:latin typeface="Calibri"/>
                        </a:rPr>
                        <a:t>component</a:t>
                      </a:r>
                    </a:p>
                  </a:txBody>
                  <a:tcPr marL="91440" marR="91440" marT="36576" marB="36576" anchor="ctr">
                    <a:solidFill>
                      <a:srgbClr val="8E6F3E"/>
                    </a:solidFill>
                  </a:tcPr>
                </a:tc>
                <a:tc>
                  <a:txBody>
                    <a:bodyPr wrap="square"/>
                    <a:lstStyle/>
                    <a:p>
                      <a:r>
                        <a:rPr sz="2000" b="1">
                          <a:solidFill>
                            <a:srgbClr val="FFFFFF"/>
                          </a:solidFill>
                          <a:latin typeface="Calibri"/>
                        </a:rPr>
                        <a:t>version</a:t>
                      </a:r>
                    </a:p>
                  </a:txBody>
                  <a:tcPr marL="91440" marR="91440" marT="36576" marB="36576" anchor="ctr">
                    <a:solidFill>
                      <a:srgbClr val="8E6F3E"/>
                    </a:solidFill>
                  </a:tcPr>
                </a:tc>
                <a:tc>
                  <a:txBody>
                    <a:bodyPr wrap="square"/>
                    <a:lstStyle/>
                    <a:p>
                      <a:r>
                        <a:rPr sz="2000" b="1">
                          <a:solidFill>
                            <a:srgbClr val="FFFFFF"/>
                          </a:solidFill>
                          <a:latin typeface="Calibri"/>
                        </a:rPr>
                        <a:t>identifier</a:t>
                      </a:r>
                    </a:p>
                  </a:txBody>
                  <a:tcPr marL="91440" marR="91440" marT="36576" marB="36576" anchor="ctr">
                    <a:solidFill>
                      <a:srgbClr val="8E6F3E"/>
                    </a:solidFill>
                  </a:tcPr>
                </a:tc>
                <a:tc>
                  <a:txBody>
                    <a:bodyPr wrap="square"/>
                    <a:lstStyle/>
                    <a:p>
                      <a:r>
                        <a:rPr sz="2000" b="1">
                          <a:solidFill>
                            <a:srgbClr val="FFFFFF"/>
                          </a:solidFill>
                          <a:latin typeface="Calibri"/>
                        </a:rPr>
                        <a:t>license</a:t>
                      </a:r>
                    </a:p>
                  </a:txBody>
                  <a:tcPr marL="91440" marR="91440" marT="36576" marB="36576" anchor="ctr">
                    <a:solidFill>
                      <a:srgbClr val="8E6F3E"/>
                    </a:solidFill>
                  </a:tcPr>
                </a:tc>
                <a:tc>
                  <a:txBody>
                    <a:bodyPr wrap="square"/>
                    <a:lstStyle/>
                    <a:p>
                      <a:r>
                        <a:rPr sz="2000" b="1">
                          <a:solidFill>
                            <a:srgbClr val="FFFFFF"/>
                          </a:solidFill>
                          <a:latin typeface="Calibri"/>
                        </a:rPr>
                        <a:t>supplier</a:t>
                      </a:r>
                    </a:p>
                  </a:txBody>
                  <a:tcPr marL="91440" marR="91440" marT="36576" marB="36576" anchor="ctr">
                    <a:solidFill>
                      <a:srgbClr val="8E6F3E"/>
                    </a:solidFill>
                  </a:tcPr>
                </a:tc>
              </a:tr>
              <a:tr h="475488">
                <a:tc>
                  <a:txBody>
                    <a:bodyPr wrap="square"/>
                    <a:lstStyle/>
                    <a:p>
                      <a:r>
                        <a:rPr sz="2000" b="1">
                          <a:solidFill>
                            <a:srgbClr val="8E6F3E"/>
                          </a:solidFill>
                          <a:latin typeface="Calibri"/>
                        </a:rPr>
                        <a:t>framework</a:t>
                      </a:r>
                    </a:p>
                  </a:txBody>
                  <a:tcPr marL="91440" marR="91440" marT="36576" marB="36576" anchor="ctr">
                    <a:solidFill>
                      <a:srgbClr val="F5F1E8"/>
                    </a:solidFill>
                  </a:tcPr>
                </a:tc>
                <a:tc>
                  <a:txBody>
                    <a:bodyPr wrap="square"/>
                    <a:lstStyle/>
                    <a:p>
                      <a:r>
                        <a:rPr sz="2000" b="0">
                          <a:solidFill>
                            <a:srgbClr val="2D2D2D"/>
                          </a:solidFill>
                          <a:latin typeface="Calibri"/>
                        </a:rPr>
                        <a:t>4.2.1</a:t>
                      </a:r>
                    </a:p>
                  </a:txBody>
                  <a:tcPr marL="91440" marR="91440" marT="36576" marB="36576" anchor="ctr">
                    <a:solidFill>
                      <a:srgbClr val="F5F1E8"/>
                    </a:solidFill>
                  </a:tcPr>
                </a:tc>
                <a:tc>
                  <a:txBody>
                    <a:bodyPr wrap="square"/>
                    <a:lstStyle/>
                    <a:p>
                      <a:r>
                        <a:rPr sz="2000" b="0">
                          <a:solidFill>
                            <a:srgbClr val="2D2D2D"/>
                          </a:solidFill>
                          <a:latin typeface="Calibri"/>
                        </a:rPr>
                        <a:t>pkg:pypi/wfrm@4.2.1</a:t>
                      </a:r>
                    </a:p>
                  </a:txBody>
                  <a:tcPr marL="91440" marR="91440" marT="36576" marB="36576" anchor="ctr">
                    <a:solidFill>
                      <a:srgbClr val="F5F1E8"/>
                    </a:solidFill>
                  </a:tcPr>
                </a:tc>
                <a:tc>
                  <a:txBody>
                    <a:bodyPr wrap="square"/>
                    <a:lstStyle/>
                    <a:p>
                      <a:r>
                        <a:rPr sz="2000" b="0">
                          <a:solidFill>
                            <a:srgbClr val="2D2D2D"/>
                          </a:solidFill>
                          <a:latin typeface="Calibri"/>
                        </a:rPr>
                        <a:t>MIT</a:t>
                      </a:r>
                    </a:p>
                  </a:txBody>
                  <a:tcPr marL="91440" marR="91440" marT="36576" marB="36576" anchor="ctr">
                    <a:solidFill>
                      <a:srgbClr val="F5F1E8"/>
                    </a:solidFill>
                  </a:tcPr>
                </a:tc>
                <a:tc>
                  <a:txBody>
                    <a:bodyPr wrap="square"/>
                    <a:lstStyle/>
                    <a:p>
                      <a:r>
                        <a:rPr sz="2000" b="0">
                          <a:solidFill>
                            <a:srgbClr val="2D2D2D"/>
                          </a:solidFill>
                          <a:latin typeface="Calibri"/>
                        </a:rPr>
                        <a:t>WFrm org</a:t>
                      </a:r>
                    </a:p>
                  </a:txBody>
                  <a:tcPr marL="91440" marR="91440" marT="36576" marB="36576" anchor="ctr">
                    <a:solidFill>
                      <a:srgbClr val="F5F1E8"/>
                    </a:solidFill>
                  </a:tcPr>
                </a:tc>
              </a:tr>
              <a:tr h="475488">
                <a:tc>
                  <a:txBody>
                    <a:bodyPr wrap="square"/>
                    <a:lstStyle/>
                    <a:p>
                      <a:r>
                        <a:rPr sz="2000" b="1">
                          <a:solidFill>
                            <a:srgbClr val="8E6F3E"/>
                          </a:solidFill>
                          <a:latin typeface="Calibri"/>
                        </a:rPr>
                        <a:t>parser</a:t>
                      </a:r>
                    </a:p>
                  </a:txBody>
                  <a:tcPr marL="91440" marR="91440" marT="36576" marB="36576" anchor="ctr">
                    <a:solidFill>
                      <a:srgbClr val="FCFAF6"/>
                    </a:solidFill>
                  </a:tcPr>
                </a:tc>
                <a:tc>
                  <a:txBody>
                    <a:bodyPr wrap="square"/>
                    <a:lstStyle/>
                    <a:p>
                      <a:r>
                        <a:rPr sz="2000" b="0">
                          <a:solidFill>
                            <a:srgbClr val="2D2D2D"/>
                          </a:solidFill>
                          <a:latin typeface="Calibri"/>
                        </a:rPr>
                        <a:t>1.8.0</a:t>
                      </a:r>
                    </a:p>
                  </a:txBody>
                  <a:tcPr marL="91440" marR="91440" marT="36576" marB="36576" anchor="ctr">
                    <a:solidFill>
                      <a:srgbClr val="FCFAF6"/>
                    </a:solidFill>
                  </a:tcPr>
                </a:tc>
                <a:tc>
                  <a:txBody>
                    <a:bodyPr wrap="square"/>
                    <a:lstStyle/>
                    <a:p>
                      <a:r>
                        <a:rPr sz="2000" b="0">
                          <a:solidFill>
                            <a:srgbClr val="2D2D2D"/>
                          </a:solidFill>
                          <a:latin typeface="Calibri"/>
                        </a:rPr>
                        <a:t>pkg:pypi/hpar@1.8.0</a:t>
                      </a:r>
                    </a:p>
                  </a:txBody>
                  <a:tcPr marL="91440" marR="91440" marT="36576" marB="36576" anchor="ctr">
                    <a:solidFill>
                      <a:srgbClr val="FCFAF6"/>
                    </a:solidFill>
                  </a:tcPr>
                </a:tc>
                <a:tc>
                  <a:txBody>
                    <a:bodyPr wrap="square"/>
                    <a:lstStyle/>
                    <a:p>
                      <a:r>
                        <a:rPr sz="2000" b="0">
                          <a:solidFill>
                            <a:srgbClr val="2D2D2D"/>
                          </a:solidFill>
                          <a:latin typeface="Calibri"/>
                        </a:rPr>
                        <a:t>Apache-2.0</a:t>
                      </a:r>
                    </a:p>
                  </a:txBody>
                  <a:tcPr marL="91440" marR="91440" marT="36576" marB="36576" anchor="ctr">
                    <a:solidFill>
                      <a:srgbClr val="FCFAF6"/>
                    </a:solidFill>
                  </a:tcPr>
                </a:tc>
                <a:tc>
                  <a:txBody>
                    <a:bodyPr wrap="square"/>
                    <a:lstStyle/>
                    <a:p>
                      <a:r>
                        <a:rPr sz="2000" b="0">
                          <a:solidFill>
                            <a:srgbClr val="2D2D2D"/>
                          </a:solidFill>
                          <a:latin typeface="Calibri"/>
                        </a:rPr>
                        <a:t>1 person</a:t>
                      </a:r>
                    </a:p>
                  </a:txBody>
                  <a:tcPr marL="91440" marR="91440" marT="36576" marB="36576" anchor="ctr">
                    <a:solidFill>
                      <a:srgbClr val="FCFAF6"/>
                    </a:solidFill>
                  </a:tcPr>
                </a:tc>
              </a:tr>
              <a:tr h="475488">
                <a:tc>
                  <a:txBody>
                    <a:bodyPr wrap="square"/>
                    <a:lstStyle/>
                    <a:p>
                      <a:r>
                        <a:rPr sz="2000" b="1">
                          <a:solidFill>
                            <a:srgbClr val="8E6F3E"/>
                          </a:solidFill>
                          <a:latin typeface="Calibri"/>
                        </a:rPr>
                        <a:t>date-lib</a:t>
                      </a:r>
                    </a:p>
                  </a:txBody>
                  <a:tcPr marL="91440" marR="91440" marT="36576" marB="36576" anchor="ctr">
                    <a:solidFill>
                      <a:srgbClr val="F5F1E8"/>
                    </a:solidFill>
                  </a:tcPr>
                </a:tc>
                <a:tc>
                  <a:txBody>
                    <a:bodyPr wrap="square"/>
                    <a:lstStyle/>
                    <a:p>
                      <a:r>
                        <a:rPr sz="2000" b="0">
                          <a:solidFill>
                            <a:srgbClr val="2D2D2D"/>
                          </a:solidFill>
                          <a:latin typeface="Calibri"/>
                        </a:rPr>
                        <a:t>2.0.4</a:t>
                      </a:r>
                    </a:p>
                  </a:txBody>
                  <a:tcPr marL="91440" marR="91440" marT="36576" marB="36576" anchor="ctr">
                    <a:solidFill>
                      <a:srgbClr val="F5F1E8"/>
                    </a:solidFill>
                  </a:tcPr>
                </a:tc>
                <a:tc>
                  <a:txBody>
                    <a:bodyPr wrap="square"/>
                    <a:lstStyle/>
                    <a:p>
                      <a:r>
                        <a:rPr sz="2000" b="0">
                          <a:solidFill>
                            <a:srgbClr val="2D2D2D"/>
                          </a:solidFill>
                          <a:latin typeface="Calibri"/>
                        </a:rPr>
                        <a:t>pkg:pypi/dint@2.0.4</a:t>
                      </a:r>
                    </a:p>
                  </a:txBody>
                  <a:tcPr marL="91440" marR="91440" marT="36576" marB="36576" anchor="ctr">
                    <a:solidFill>
                      <a:srgbClr val="F5F1E8"/>
                    </a:solidFill>
                  </a:tcPr>
                </a:tc>
                <a:tc>
                  <a:txBody>
                    <a:bodyPr wrap="square"/>
                    <a:lstStyle/>
                    <a:p>
                      <a:r>
                        <a:rPr sz="2000" b="0">
                          <a:solidFill>
                            <a:srgbClr val="2D2D2D"/>
                          </a:solidFill>
                          <a:latin typeface="Calibri"/>
                        </a:rPr>
                        <a:t>LGPL-3.0</a:t>
                      </a:r>
                    </a:p>
                  </a:txBody>
                  <a:tcPr marL="91440" marR="91440" marT="36576" marB="36576" anchor="ctr">
                    <a:solidFill>
                      <a:srgbClr val="F5F1E8"/>
                    </a:solidFill>
                  </a:tcPr>
                </a:tc>
                <a:tc>
                  <a:txBody>
                    <a:bodyPr wrap="square"/>
                    <a:lstStyle/>
                    <a:p>
                      <a:r>
                        <a:rPr sz="2000" b="0">
                          <a:solidFill>
                            <a:srgbClr val="2D2D2D"/>
                          </a:solidFill>
                          <a:latin typeface="Calibri"/>
                        </a:rPr>
                        <a:t>community</a:t>
                      </a:r>
                    </a:p>
                  </a:txBody>
                  <a:tcPr marL="91440" marR="91440" marT="36576" marB="36576" anchor="ctr">
                    <a:solidFill>
                      <a:srgbClr val="F5F1E8"/>
                    </a:solidFill>
                  </a:tcPr>
                </a:tc>
              </a:tr>
            </a:tbl>
          </a:graphicData>
        </a:graphic>
      </p:graphicFrame>
      <p:sp>
        <p:nvSpPr>
          <p:cNvPr id="4" name="SbomCaption"/>
          <p:cNvSpPr/>
          <p:nvPr/>
        </p:nvSpPr>
        <p:spPr>
          <a:xfrm>
            <a:off x="411480" y="2871216"/>
            <a:ext cx="8321040" cy="310896"/>
          </a:xfrm>
          <a:prstGeom prst="rect">
            <a:avLst/>
          </a:prstGeom>
          <a:noFill/>
          <a:ln>
            <a:noFill/>
          </a:ln>
          <a:effectLst/>
        </p:spPr>
        <p:txBody>
          <a:bodyPr rtlCol="0" anchor="t" wrap="square"/>
          <a:lstStyle/>
          <a:p>
            <a:pPr algn="l">
              <a:spcAft>
                <a:spcPts val="0"/>
              </a:spcAft>
            </a:pPr>
            <a:r>
              <a:rPr sz="2000" b="0">
                <a:solidFill>
                  <a:srgbClr val="555960"/>
                </a:solidFill>
                <a:latin typeface="Calibri"/>
              </a:rPr>
              <a:t>SPDX-style records; identifiers are package URLs</a:t>
            </a:r>
          </a:p>
        </p:txBody>
      </p:sp>
      <p:sp>
        <p:nvSpPr>
          <p:cNvPr id="5" name="LadderCard"/>
          <p:cNvSpPr/>
          <p:nvPr/>
        </p:nvSpPr>
        <p:spPr>
          <a:xfrm>
            <a:off x="411480" y="3200400"/>
            <a:ext cx="8321040" cy="475488"/>
          </a:xfrm>
          <a:prstGeom prst="rect">
            <a:avLst/>
          </a:prstGeom>
          <a:solidFill>
            <a:srgbClr val="F5F1E8"/>
          </a:solidFill>
          <a:ln>
            <a:noFill/>
          </a:ln>
          <a:effectLst/>
        </p:spPr>
        <p:txBody>
          <a:bodyPr rtlCol="0" anchor="ctr" wrap="square"/>
          <a:lstStyle/>
          <a:p/>
        </p:txBody>
      </p:sp>
      <p:sp>
        <p:nvSpPr>
          <p:cNvPr id="6" name="LadderLabel"/>
          <p:cNvSpPr/>
          <p:nvPr/>
        </p:nvSpPr>
        <p:spPr>
          <a:xfrm>
            <a:off x="557784" y="3227832"/>
            <a:ext cx="2788920" cy="420624"/>
          </a:xfrm>
          <a:prstGeom prst="rect">
            <a:avLst/>
          </a:prstGeom>
          <a:noFill/>
          <a:ln>
            <a:noFill/>
          </a:ln>
          <a:effectLst/>
        </p:spPr>
        <p:txBody>
          <a:bodyPr rtlCol="0" anchor="ctr" wrap="square"/>
          <a:lstStyle/>
          <a:p>
            <a:pPr algn="l">
              <a:spcAft>
                <a:spcPts val="0"/>
              </a:spcAft>
            </a:pPr>
            <a:r>
              <a:rPr sz="2000" b="1">
                <a:solidFill>
                  <a:srgbClr val="8E6F3E"/>
                </a:solidFill>
                <a:latin typeface="Calibri"/>
              </a:rPr>
              <a:t>MANIFEST</a:t>
            </a:r>
          </a:p>
        </p:txBody>
      </p:sp>
      <p:sp>
        <p:nvSpPr>
          <p:cNvPr id="7" name="LadderBody"/>
          <p:cNvSpPr/>
          <p:nvPr/>
        </p:nvSpPr>
        <p:spPr>
          <a:xfrm>
            <a:off x="3438144" y="3227832"/>
            <a:ext cx="5166360" cy="420624"/>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you asked for</a:t>
            </a:r>
          </a:p>
        </p:txBody>
      </p:sp>
      <p:sp>
        <p:nvSpPr>
          <p:cNvPr id="8" name="LadderCard"/>
          <p:cNvSpPr/>
          <p:nvPr/>
        </p:nvSpPr>
        <p:spPr>
          <a:xfrm>
            <a:off x="411480" y="3694176"/>
            <a:ext cx="8321040" cy="475488"/>
          </a:xfrm>
          <a:prstGeom prst="rect">
            <a:avLst/>
          </a:prstGeom>
          <a:solidFill>
            <a:srgbClr val="FCFAF6"/>
          </a:solidFill>
          <a:ln>
            <a:noFill/>
          </a:ln>
          <a:effectLst/>
        </p:spPr>
        <p:txBody>
          <a:bodyPr rtlCol="0" anchor="ctr" wrap="square"/>
          <a:lstStyle/>
          <a:p/>
        </p:txBody>
      </p:sp>
      <p:sp>
        <p:nvSpPr>
          <p:cNvPr id="9" name="LadderLabel"/>
          <p:cNvSpPr/>
          <p:nvPr/>
        </p:nvSpPr>
        <p:spPr>
          <a:xfrm>
            <a:off x="557784" y="3721608"/>
            <a:ext cx="2788920" cy="420624"/>
          </a:xfrm>
          <a:prstGeom prst="rect">
            <a:avLst/>
          </a:prstGeom>
          <a:noFill/>
          <a:ln>
            <a:noFill/>
          </a:ln>
          <a:effectLst/>
        </p:spPr>
        <p:txBody>
          <a:bodyPr rtlCol="0" anchor="ctr" wrap="square"/>
          <a:lstStyle/>
          <a:p>
            <a:pPr algn="l">
              <a:spcAft>
                <a:spcPts val="0"/>
              </a:spcAft>
            </a:pPr>
            <a:r>
              <a:rPr sz="2000" b="1">
                <a:solidFill>
                  <a:srgbClr val="8E6F3E"/>
                </a:solidFill>
                <a:latin typeface="Calibri"/>
              </a:rPr>
              <a:t>LOCKFILE</a:t>
            </a:r>
          </a:p>
        </p:txBody>
      </p:sp>
      <p:sp>
        <p:nvSpPr>
          <p:cNvPr id="10" name="LadderBody"/>
          <p:cNvSpPr/>
          <p:nvPr/>
        </p:nvSpPr>
        <p:spPr>
          <a:xfrm>
            <a:off x="3438144" y="3721608"/>
            <a:ext cx="5166360" cy="420624"/>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was resolved, pinned</a:t>
            </a:r>
          </a:p>
        </p:txBody>
      </p:sp>
      <p:sp>
        <p:nvSpPr>
          <p:cNvPr id="11" name="LadderCard"/>
          <p:cNvSpPr/>
          <p:nvPr/>
        </p:nvSpPr>
        <p:spPr>
          <a:xfrm>
            <a:off x="411480" y="4187952"/>
            <a:ext cx="8321040" cy="475488"/>
          </a:xfrm>
          <a:prstGeom prst="rect">
            <a:avLst/>
          </a:prstGeom>
          <a:solidFill>
            <a:srgbClr val="F5F1E8"/>
          </a:solidFill>
          <a:ln>
            <a:noFill/>
          </a:ln>
          <a:effectLst/>
        </p:spPr>
        <p:txBody>
          <a:bodyPr rtlCol="0" anchor="ctr" wrap="square"/>
          <a:lstStyle/>
          <a:p/>
        </p:txBody>
      </p:sp>
      <p:sp>
        <p:nvSpPr>
          <p:cNvPr id="12" name="LadderLabel"/>
          <p:cNvSpPr/>
          <p:nvPr/>
        </p:nvSpPr>
        <p:spPr>
          <a:xfrm>
            <a:off x="557784" y="4215384"/>
            <a:ext cx="2788920" cy="420624"/>
          </a:xfrm>
          <a:prstGeom prst="rect">
            <a:avLst/>
          </a:prstGeom>
          <a:noFill/>
          <a:ln>
            <a:noFill/>
          </a:ln>
          <a:effectLst/>
        </p:spPr>
        <p:txBody>
          <a:bodyPr rtlCol="0" anchor="ctr" wrap="square"/>
          <a:lstStyle/>
          <a:p>
            <a:pPr algn="l">
              <a:spcAft>
                <a:spcPts val="0"/>
              </a:spcAft>
            </a:pPr>
            <a:r>
              <a:rPr sz="2000" b="1">
                <a:solidFill>
                  <a:srgbClr val="8E6F3E"/>
                </a:solidFill>
                <a:latin typeface="Calibri"/>
              </a:rPr>
              <a:t>DEPENDENCY GRAPH</a:t>
            </a:r>
          </a:p>
        </p:txBody>
      </p:sp>
      <p:sp>
        <p:nvSpPr>
          <p:cNvPr id="13" name="LadderBody"/>
          <p:cNvSpPr/>
          <p:nvPr/>
        </p:nvSpPr>
        <p:spPr>
          <a:xfrm>
            <a:off x="3438144" y="4215384"/>
            <a:ext cx="5166360" cy="420624"/>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depends on what</a:t>
            </a:r>
          </a:p>
        </p:txBody>
      </p:sp>
      <p:sp>
        <p:nvSpPr>
          <p:cNvPr id="14" name="LadderCard"/>
          <p:cNvSpPr/>
          <p:nvPr/>
        </p:nvSpPr>
        <p:spPr>
          <a:xfrm>
            <a:off x="411480" y="4681728"/>
            <a:ext cx="8321040" cy="475488"/>
          </a:xfrm>
          <a:prstGeom prst="rect">
            <a:avLst/>
          </a:prstGeom>
          <a:solidFill>
            <a:srgbClr val="FCFAF6"/>
          </a:solidFill>
          <a:ln>
            <a:noFill/>
          </a:ln>
          <a:effectLst/>
        </p:spPr>
        <p:txBody>
          <a:bodyPr rtlCol="0" anchor="ctr" wrap="square"/>
          <a:lstStyle/>
          <a:p/>
        </p:txBody>
      </p:sp>
      <p:sp>
        <p:nvSpPr>
          <p:cNvPr id="15" name="LadderLabel"/>
          <p:cNvSpPr/>
          <p:nvPr/>
        </p:nvSpPr>
        <p:spPr>
          <a:xfrm>
            <a:off x="557784" y="4709160"/>
            <a:ext cx="2788920" cy="420624"/>
          </a:xfrm>
          <a:prstGeom prst="rect">
            <a:avLst/>
          </a:prstGeom>
          <a:noFill/>
          <a:ln>
            <a:noFill/>
          </a:ln>
          <a:effectLst/>
        </p:spPr>
        <p:txBody>
          <a:bodyPr rtlCol="0" anchor="ctr" wrap="square"/>
          <a:lstStyle/>
          <a:p>
            <a:pPr algn="l">
              <a:spcAft>
                <a:spcPts val="0"/>
              </a:spcAft>
            </a:pPr>
            <a:r>
              <a:rPr sz="2000" b="1">
                <a:solidFill>
                  <a:srgbClr val="8E6F3E"/>
                </a:solidFill>
                <a:latin typeface="Calibri"/>
              </a:rPr>
              <a:t>SBOM</a:t>
            </a:r>
          </a:p>
        </p:txBody>
      </p:sp>
      <p:sp>
        <p:nvSpPr>
          <p:cNvPr id="16" name="LadderBody"/>
          <p:cNvSpPr/>
          <p:nvPr/>
        </p:nvSpPr>
        <p:spPr>
          <a:xfrm>
            <a:off x="3438144" y="4709160"/>
            <a:ext cx="5166360" cy="420624"/>
          </a:xfrm>
          <a:prstGeom prst="rect">
            <a:avLst/>
          </a:prstGeom>
          <a:noFill/>
          <a:ln>
            <a:noFill/>
          </a:ln>
          <a:effectLst/>
        </p:spPr>
        <p:txBody>
          <a:bodyPr rtlCol="0" anchor="ctr" wrap="square"/>
          <a:lstStyle/>
          <a:p>
            <a:pPr algn="l">
              <a:spcAft>
                <a:spcPts val="0"/>
              </a:spcAft>
            </a:pPr>
            <a:r>
              <a:rPr sz="2000" b="0">
                <a:solidFill>
                  <a:srgbClr val="555960"/>
                </a:solidFill>
                <a:latin typeface="Calibri"/>
              </a:rPr>
              <a:t>generated inventory of what ships</a:t>
            </a:r>
          </a:p>
        </p:txBody>
      </p:sp>
      <p:sp>
        <p:nvSpPr>
          <p:cNvPr id="17" name="Cite"/>
          <p:cNvSpPr/>
          <p:nvPr/>
        </p:nvSpPr>
        <p:spPr>
          <a:xfrm>
            <a:off x="411480" y="5248656"/>
            <a:ext cx="8321040" cy="292608"/>
          </a:xfrm>
          <a:prstGeom prst="rect">
            <a:avLst/>
          </a:prstGeom>
          <a:noFill/>
          <a:ln>
            <a:noFill/>
          </a:ln>
          <a:effectLst/>
        </p:spPr>
        <p:txBody>
          <a:bodyPr rtlCol="0" anchor="t" wrap="square"/>
          <a:lstStyle/>
          <a:p>
            <a:pPr algn="l">
              <a:spcAft>
                <a:spcPts val="0"/>
              </a:spcAft>
            </a:pPr>
            <a:r>
              <a:rPr sz="2000" b="0">
                <a:solidFill>
                  <a:srgbClr val="555960"/>
                </a:solidFill>
                <a:latin typeface="Calibri"/>
              </a:rPr>
              <a:t>SPDX, spdx.dev · GitHub, export dependencies as SBOM</a:t>
            </a:r>
          </a:p>
        </p:txBody>
      </p:sp>
      <p:sp>
        <p:nvSpPr>
          <p:cNvPr id="18" name="FooterBand"/>
          <p:cNvSpPr/>
          <p:nvPr/>
        </p:nvSpPr>
        <p:spPr>
          <a:xfrm>
            <a:off x="274320" y="5669280"/>
            <a:ext cx="8595360" cy="71323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FooterBandText"/>
          <p:cNvSpPr/>
          <p:nvPr/>
        </p:nvSpPr>
        <p:spPr>
          <a:xfrm>
            <a:off x="384048" y="5687568"/>
            <a:ext cx="8375904" cy="658368"/>
          </a:xfrm>
          <a:prstGeom prst="rect">
            <a:avLst/>
          </a:prstGeom>
          <a:noFill/>
          <a:ln>
            <a:noFill/>
          </a:ln>
          <a:effectLst/>
        </p:spPr>
        <p:txBody>
          <a:bodyPr rtlCol="0" anchor="ctr" wrap="square"/>
          <a:lstStyle/>
          <a:p>
            <a:pPr algn="ctr">
              <a:spcAft>
                <a:spcPts val="0"/>
              </a:spcAft>
            </a:pPr>
            <a:r>
              <a:rPr sz="2000" b="1">
                <a:solidFill>
                  <a:srgbClr val="FFFFFF"/>
                </a:solidFill>
                <a:latin typeface="Calibri"/>
              </a:rPr>
              <a:t>An SBOM is a generated inventory, not necessarily a complete one; it records what is known, not whether it is safe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Choose the dependency your requirements can trust</a:t>
            </a:r>
          </a:p>
        </p:txBody>
      </p:sp>
      <p:graphicFrame>
        <p:nvGraphicFramePr>
          <p:cNvPr id="3" name="LibTable" descr="Two candidate date-interval libraries compared on maintainership, cadence, vulnerabilities, compatibility, provenance, transitive dependencies, and replacement cost"/>
          <p:cNvGraphicFramePr/>
          <p:nvPr/>
        </p:nvGraphicFramePr>
        <p:xfrm>
          <a:off x="411480" y="914400"/>
          <a:ext cx="8321040" cy="3657600"/>
        </p:xfrm>
        <a:graphic>
          <a:graphicData uri="http://schemas.openxmlformats.org/drawingml/2006/table">
            <a:tbl>
              <a:tblPr firstRow="0" bandRow="0">
                <a:tableStyleId>{5C22544A-7EE6-4342-B048-85BDC9FD1C3A}</a:tableStyleId>
              </a:tblPr>
              <a:tblGrid>
                <a:gridCol w="2377440"/>
                <a:gridCol w="2971800"/>
                <a:gridCol w="2971800"/>
              </a:tblGrid>
              <a:tr h="457200">
                <a:tc>
                  <a:txBody>
                    <a:bodyPr wrap="square"/>
                    <a:lstStyle/>
                    <a:p>
                      <a:r>
                        <a:rPr sz="2000" b="1">
                          <a:solidFill>
                            <a:srgbClr val="FFFFFF"/>
                          </a:solidFill>
                          <a:latin typeface="Calibri"/>
                        </a:rPr>
                        <a:t>criterion</a:t>
                      </a:r>
                    </a:p>
                  </a:txBody>
                  <a:tcPr marL="91440" marR="91440" marT="36576" marB="36576" anchor="ctr">
                    <a:solidFill>
                      <a:srgbClr val="8E6F3E"/>
                    </a:solidFill>
                  </a:tcPr>
                </a:tc>
                <a:tc>
                  <a:txBody>
                    <a:bodyPr wrap="square"/>
                    <a:lstStyle/>
                    <a:p>
                      <a:r>
                        <a:rPr sz="2000" b="1">
                          <a:solidFill>
                            <a:srgbClr val="FFFFFF"/>
                          </a:solidFill>
                          <a:latin typeface="Calibri"/>
                        </a:rPr>
                        <a:t>LIB A: intervals</a:t>
                      </a:r>
                    </a:p>
                  </a:txBody>
                  <a:tcPr marL="91440" marR="91440" marT="36576" marB="36576" anchor="ctr">
                    <a:solidFill>
                      <a:srgbClr val="8E6F3E"/>
                    </a:solidFill>
                  </a:tcPr>
                </a:tc>
                <a:tc>
                  <a:txBody>
                    <a:bodyPr wrap="square"/>
                    <a:lstStyle/>
                    <a:p>
                      <a:r>
                        <a:rPr sz="2000" b="1">
                          <a:solidFill>
                            <a:srgbClr val="FFFFFF"/>
                          </a:solidFill>
                          <a:latin typeface="Calibri"/>
                        </a:rPr>
                        <a:t>LIB B: when-lib</a:t>
                      </a:r>
                    </a:p>
                  </a:txBody>
                  <a:tcPr marL="91440" marR="91440" marT="36576" marB="36576" anchor="ctr">
                    <a:solidFill>
                      <a:srgbClr val="8E6F3E"/>
                    </a:solidFill>
                  </a:tcPr>
                </a:tc>
              </a:tr>
              <a:tr h="457200">
                <a:tc>
                  <a:txBody>
                    <a:bodyPr wrap="square"/>
                    <a:lstStyle/>
                    <a:p>
                      <a:r>
                        <a:rPr sz="2000" b="1">
                          <a:solidFill>
                            <a:srgbClr val="8E6F3E"/>
                          </a:solidFill>
                          <a:latin typeface="Calibri"/>
                        </a:rPr>
                        <a:t>maintainers</a:t>
                      </a:r>
                    </a:p>
                  </a:txBody>
                  <a:tcPr marL="91440" marR="91440" marT="36576" marB="36576" anchor="ctr">
                    <a:solidFill>
                      <a:srgbClr val="F5F1E8"/>
                    </a:solidFill>
                  </a:tcPr>
                </a:tc>
                <a:tc>
                  <a:txBody>
                    <a:bodyPr wrap="square"/>
                    <a:lstStyle/>
                    <a:p>
                      <a:r>
                        <a:rPr sz="2000" b="0">
                          <a:solidFill>
                            <a:srgbClr val="2D2D2D"/>
                          </a:solidFill>
                          <a:latin typeface="Calibri"/>
                        </a:rPr>
                        <a:t>6 active, org-backed</a:t>
                      </a:r>
                    </a:p>
                  </a:txBody>
                  <a:tcPr marL="91440" marR="91440" marT="36576" marB="36576" anchor="ctr">
                    <a:solidFill>
                      <a:srgbClr val="F5F1E8"/>
                    </a:solidFill>
                  </a:tcPr>
                </a:tc>
                <a:tc>
                  <a:txBody>
                    <a:bodyPr wrap="square"/>
                    <a:lstStyle/>
                    <a:p>
                      <a:r>
                        <a:rPr sz="2000" b="0">
                          <a:solidFill>
                            <a:srgbClr val="2D2D2D"/>
                          </a:solidFill>
                          <a:latin typeface="Calibri"/>
                        </a:rPr>
                        <a:t>1, dormant 26 months</a:t>
                      </a:r>
                    </a:p>
                  </a:txBody>
                  <a:tcPr marL="91440" marR="91440" marT="36576" marB="36576" anchor="ctr">
                    <a:solidFill>
                      <a:srgbClr val="F5F1E8"/>
                    </a:solidFill>
                  </a:tcPr>
                </a:tc>
              </a:tr>
              <a:tr h="457200">
                <a:tc>
                  <a:txBody>
                    <a:bodyPr wrap="square"/>
                    <a:lstStyle/>
                    <a:p>
                      <a:r>
                        <a:rPr sz="2000" b="1">
                          <a:solidFill>
                            <a:srgbClr val="8E6F3E"/>
                          </a:solidFill>
                          <a:latin typeface="Calibri"/>
                        </a:rPr>
                        <a:t>release cadence</a:t>
                      </a:r>
                    </a:p>
                  </a:txBody>
                  <a:tcPr marL="91440" marR="91440" marT="36576" marB="36576" anchor="ctr">
                    <a:solidFill>
                      <a:srgbClr val="FCFAF6"/>
                    </a:solidFill>
                  </a:tcPr>
                </a:tc>
                <a:tc>
                  <a:txBody>
                    <a:bodyPr wrap="square"/>
                    <a:lstStyle/>
                    <a:p>
                      <a:r>
                        <a:rPr sz="2000" b="0">
                          <a:solidFill>
                            <a:srgbClr val="2D2D2D"/>
                          </a:solidFill>
                          <a:latin typeface="Calibri"/>
                        </a:rPr>
                        <a:t>monthly</a:t>
                      </a:r>
                    </a:p>
                  </a:txBody>
                  <a:tcPr marL="91440" marR="91440" marT="36576" marB="36576" anchor="ctr">
                    <a:solidFill>
                      <a:srgbClr val="FCFAF6"/>
                    </a:solidFill>
                  </a:tcPr>
                </a:tc>
                <a:tc>
                  <a:txBody>
                    <a:bodyPr wrap="square"/>
                    <a:lstStyle/>
                    <a:p>
                      <a:r>
                        <a:rPr sz="2000" b="0">
                          <a:solidFill>
                            <a:srgbClr val="2D2D2D"/>
                          </a:solidFill>
                          <a:latin typeface="Calibri"/>
                        </a:rPr>
                        <a:t>last release 2 years ago</a:t>
                      </a:r>
                    </a:p>
                  </a:txBody>
                  <a:tcPr marL="91440" marR="91440" marT="36576" marB="36576" anchor="ctr">
                    <a:solidFill>
                      <a:srgbClr val="FCFAF6"/>
                    </a:solidFill>
                  </a:tcPr>
                </a:tc>
              </a:tr>
              <a:tr h="457200">
                <a:tc>
                  <a:txBody>
                    <a:bodyPr wrap="square"/>
                    <a:lstStyle/>
                    <a:p>
                      <a:r>
                        <a:rPr sz="2000" b="1">
                          <a:solidFill>
                            <a:srgbClr val="8E6F3E"/>
                          </a:solidFill>
                          <a:latin typeface="Calibri"/>
                        </a:rPr>
                        <a:t>vulnerabilities</a:t>
                      </a:r>
                    </a:p>
                  </a:txBody>
                  <a:tcPr marL="91440" marR="91440" marT="36576" marB="36576" anchor="ctr">
                    <a:solidFill>
                      <a:srgbClr val="F5F1E8"/>
                    </a:solidFill>
                  </a:tcPr>
                </a:tc>
                <a:tc>
                  <a:txBody>
                    <a:bodyPr wrap="square"/>
                    <a:lstStyle/>
                    <a:p>
                      <a:r>
                        <a:rPr sz="2000" b="0">
                          <a:solidFill>
                            <a:srgbClr val="2D2D2D"/>
                          </a:solidFill>
                          <a:latin typeface="Calibri"/>
                        </a:rPr>
                        <a:t>2 CVEs, patched in days</a:t>
                      </a:r>
                    </a:p>
                  </a:txBody>
                  <a:tcPr marL="91440" marR="91440" marT="36576" marB="36576" anchor="ctr">
                    <a:solidFill>
                      <a:srgbClr val="F5F1E8"/>
                    </a:solidFill>
                  </a:tcPr>
                </a:tc>
                <a:tc>
                  <a:txBody>
                    <a:bodyPr wrap="square"/>
                    <a:lstStyle/>
                    <a:p>
                      <a:r>
                        <a:rPr sz="2000" b="0">
                          <a:solidFill>
                            <a:srgbClr val="2D2D2D"/>
                          </a:solidFill>
                          <a:latin typeface="Calibri"/>
                        </a:rPr>
                        <a:t>none reported</a:t>
                      </a:r>
                    </a:p>
                  </a:txBody>
                  <a:tcPr marL="91440" marR="91440" marT="36576" marB="36576" anchor="ctr">
                    <a:solidFill>
                      <a:srgbClr val="F5F1E8"/>
                    </a:solidFill>
                  </a:tcPr>
                </a:tc>
              </a:tr>
              <a:tr h="457200">
                <a:tc>
                  <a:txBody>
                    <a:bodyPr wrap="square"/>
                    <a:lstStyle/>
                    <a:p>
                      <a:r>
                        <a:rPr sz="2000" b="1">
                          <a:solidFill>
                            <a:srgbClr val="8E6F3E"/>
                          </a:solidFill>
                          <a:latin typeface="Calibri"/>
                        </a:rPr>
                        <a:t>compatibility</a:t>
                      </a:r>
                    </a:p>
                  </a:txBody>
                  <a:tcPr marL="91440" marR="91440" marT="36576" marB="36576" anchor="ctr">
                    <a:solidFill>
                      <a:srgbClr val="FCFAF6"/>
                    </a:solidFill>
                  </a:tcPr>
                </a:tc>
                <a:tc>
                  <a:txBody>
                    <a:bodyPr wrap="square"/>
                    <a:lstStyle/>
                    <a:p>
                      <a:r>
                        <a:rPr sz="2000" b="0">
                          <a:solidFill>
                            <a:srgbClr val="2D2D2D"/>
                          </a:solidFill>
                          <a:latin typeface="Calibri"/>
                        </a:rPr>
                        <a:t>semver, deprecations</a:t>
                      </a:r>
                    </a:p>
                  </a:txBody>
                  <a:tcPr marL="91440" marR="91440" marT="36576" marB="36576" anchor="ctr">
                    <a:solidFill>
                      <a:srgbClr val="FCFAF6"/>
                    </a:solidFill>
                  </a:tcPr>
                </a:tc>
                <a:tc>
                  <a:txBody>
                    <a:bodyPr wrap="square"/>
                    <a:lstStyle/>
                    <a:p>
                      <a:r>
                        <a:rPr sz="2000" b="0">
                          <a:solidFill>
                            <a:srgbClr val="2D2D2D"/>
                          </a:solidFill>
                          <a:latin typeface="Calibri"/>
                        </a:rPr>
                        <a:t>breaking minor bumps</a:t>
                      </a:r>
                    </a:p>
                  </a:txBody>
                  <a:tcPr marL="91440" marR="91440" marT="36576" marB="36576" anchor="ctr">
                    <a:solidFill>
                      <a:srgbClr val="FCFAF6"/>
                    </a:solidFill>
                  </a:tcPr>
                </a:tc>
              </a:tr>
              <a:tr h="457200">
                <a:tc>
                  <a:txBody>
                    <a:bodyPr wrap="square"/>
                    <a:lstStyle/>
                    <a:p>
                      <a:r>
                        <a:rPr sz="2000" b="1">
                          <a:solidFill>
                            <a:srgbClr val="8E6F3E"/>
                          </a:solidFill>
                          <a:latin typeface="Calibri"/>
                        </a:rPr>
                        <a:t>provenance</a:t>
                      </a:r>
                    </a:p>
                  </a:txBody>
                  <a:tcPr marL="91440" marR="91440" marT="36576" marB="36576" anchor="ctr">
                    <a:solidFill>
                      <a:srgbClr val="F5F1E8"/>
                    </a:solidFill>
                  </a:tcPr>
                </a:tc>
                <a:tc>
                  <a:txBody>
                    <a:bodyPr wrap="square"/>
                    <a:lstStyle/>
                    <a:p>
                      <a:r>
                        <a:rPr sz="2000" b="0">
                          <a:solidFill>
                            <a:srgbClr val="2D2D2D"/>
                          </a:solidFill>
                          <a:latin typeface="Calibri"/>
                        </a:rPr>
                        <a:t>signed releases</a:t>
                      </a:r>
                    </a:p>
                  </a:txBody>
                  <a:tcPr marL="91440" marR="91440" marT="36576" marB="36576" anchor="ctr">
                    <a:solidFill>
                      <a:srgbClr val="F5F1E8"/>
                    </a:solidFill>
                  </a:tcPr>
                </a:tc>
                <a:tc>
                  <a:txBody>
                    <a:bodyPr wrap="square"/>
                    <a:lstStyle/>
                    <a:p>
                      <a:r>
                        <a:rPr sz="2000" b="0">
                          <a:solidFill>
                            <a:srgbClr val="2D2D2D"/>
                          </a:solidFill>
                          <a:latin typeface="Calibri"/>
                        </a:rPr>
                        <a:t>unsigned tarballs</a:t>
                      </a:r>
                    </a:p>
                  </a:txBody>
                  <a:tcPr marL="91440" marR="91440" marT="36576" marB="36576" anchor="ctr">
                    <a:solidFill>
                      <a:srgbClr val="F5F1E8"/>
                    </a:solidFill>
                  </a:tcPr>
                </a:tc>
              </a:tr>
              <a:tr h="457200">
                <a:tc>
                  <a:txBody>
                    <a:bodyPr wrap="square"/>
                    <a:lstStyle/>
                    <a:p>
                      <a:r>
                        <a:rPr sz="2000" b="1">
                          <a:solidFill>
                            <a:srgbClr val="8E6F3E"/>
                          </a:solidFill>
                          <a:latin typeface="Calibri"/>
                        </a:rPr>
                        <a:t>transitive deps</a:t>
                      </a:r>
                    </a:p>
                  </a:txBody>
                  <a:tcPr marL="91440" marR="91440" marT="36576" marB="36576" anchor="ctr">
                    <a:solidFill>
                      <a:srgbClr val="FCFAF6"/>
                    </a:solidFill>
                  </a:tcPr>
                </a:tc>
                <a:tc>
                  <a:txBody>
                    <a:bodyPr wrap="square"/>
                    <a:lstStyle/>
                    <a:p>
                      <a:r>
                        <a:rPr sz="2000" b="0">
                          <a:solidFill>
                            <a:srgbClr val="2D2D2D"/>
                          </a:solidFill>
                          <a:latin typeface="Calibri"/>
                        </a:rPr>
                        <a:t>12</a:t>
                      </a:r>
                    </a:p>
                  </a:txBody>
                  <a:tcPr marL="91440" marR="91440" marT="36576" marB="36576" anchor="ctr">
                    <a:solidFill>
                      <a:srgbClr val="FCFAF6"/>
                    </a:solidFill>
                  </a:tcPr>
                </a:tc>
                <a:tc>
                  <a:txBody>
                    <a:bodyPr wrap="square"/>
                    <a:lstStyle/>
                    <a:p>
                      <a:r>
                        <a:rPr sz="2000" b="0">
                          <a:solidFill>
                            <a:srgbClr val="2D2D2D"/>
                          </a:solidFill>
                          <a:latin typeface="Calibri"/>
                        </a:rPr>
                        <a:t>0</a:t>
                      </a:r>
                    </a:p>
                  </a:txBody>
                  <a:tcPr marL="91440" marR="91440" marT="36576" marB="36576" anchor="ctr">
                    <a:solidFill>
                      <a:srgbClr val="FCFAF6"/>
                    </a:solidFill>
                  </a:tcPr>
                </a:tc>
              </a:tr>
              <a:tr h="457200">
                <a:tc>
                  <a:txBody>
                    <a:bodyPr wrap="square"/>
                    <a:lstStyle/>
                    <a:p>
                      <a:r>
                        <a:rPr sz="2000" b="1">
                          <a:solidFill>
                            <a:srgbClr val="8E6F3E"/>
                          </a:solidFill>
                          <a:latin typeface="Calibri"/>
                        </a:rPr>
                        <a:t>replacement cost</a:t>
                      </a:r>
                    </a:p>
                  </a:txBody>
                  <a:tcPr marL="91440" marR="91440" marT="36576" marB="36576" anchor="ctr">
                    <a:solidFill>
                      <a:srgbClr val="F5F1E8"/>
                    </a:solidFill>
                  </a:tcPr>
                </a:tc>
                <a:tc>
                  <a:txBody>
                    <a:bodyPr wrap="square"/>
                    <a:lstStyle/>
                    <a:p>
                      <a:r>
                        <a:rPr sz="2000" b="0">
                          <a:solidFill>
                            <a:srgbClr val="2D2D2D"/>
                          </a:solidFill>
                          <a:latin typeface="Calibri"/>
                        </a:rPr>
                        <a:t>moderate, common API</a:t>
                      </a:r>
                    </a:p>
                  </a:txBody>
                  <a:tcPr marL="91440" marR="91440" marT="36576" marB="36576" anchor="ctr">
                    <a:solidFill>
                      <a:srgbClr val="F5F1E8"/>
                    </a:solidFill>
                  </a:tcPr>
                </a:tc>
                <a:tc>
                  <a:txBody>
                    <a:bodyPr wrap="square"/>
                    <a:lstStyle/>
                    <a:p>
                      <a:r>
                        <a:rPr sz="2000" b="0">
                          <a:solidFill>
                            <a:srgbClr val="2D2D2D"/>
                          </a:solidFill>
                          <a:latin typeface="Calibri"/>
                        </a:rPr>
                        <a:t>low, 400 lines</a:t>
                      </a:r>
                    </a:p>
                  </a:txBody>
                  <a:tcPr marL="91440" marR="91440" marT="36576" marB="36576" anchor="ctr">
                    <a:solidFill>
                      <a:srgbClr val="F5F1E8"/>
                    </a:solidFill>
                  </a:tcPr>
                </a:tc>
              </a:tr>
            </a:tbl>
          </a:graphicData>
        </a:graphic>
      </p:graphicFrame>
      <p:sp>
        <p:nvSpPr>
          <p:cNvPr id="4" name="NcCard"/>
          <p:cNvSpPr/>
          <p:nvPr/>
        </p:nvSpPr>
        <p:spPr>
          <a:xfrm>
            <a:off x="411480" y="4645152"/>
            <a:ext cx="8321040" cy="1005840"/>
          </a:xfrm>
          <a:prstGeom prst="rect">
            <a:avLst/>
          </a:prstGeom>
          <a:solidFill>
            <a:srgbClr val="FCFAF6"/>
          </a:solidFill>
          <a:ln>
            <a:noFill/>
          </a:ln>
          <a:effectLst/>
        </p:spPr>
        <p:txBody>
          <a:bodyPr rtlCol="0" anchor="ctr" wrap="square"/>
          <a:lstStyle/>
          <a:p/>
        </p:txBody>
      </p:sp>
      <p:sp>
        <p:nvSpPr>
          <p:cNvPr id="5" name="NcText"/>
          <p:cNvSpPr/>
          <p:nvPr/>
        </p:nvSpPr>
        <p:spPr>
          <a:xfrm>
            <a:off x="557784" y="4700016"/>
            <a:ext cx="8046720" cy="914400"/>
          </a:xfrm>
          <a:prstGeom prst="rect">
            <a:avLst/>
          </a:prstGeom>
          <a:noFill/>
          <a:ln>
            <a:noFill/>
          </a:ln>
          <a:effectLst/>
        </p:spPr>
        <p:txBody>
          <a:bodyPr rtlCol="0" anchor="t" wrap="square"/>
          <a:lstStyle/>
          <a:p>
            <a:pPr algn="l">
              <a:spcAft>
                <a:spcPts val="0"/>
              </a:spcAft>
            </a:pPr>
            <a:r>
              <a:rPr sz="2000" b="1">
                <a:solidFill>
                  <a:srgbClr val="C01B1B"/>
                </a:solidFill>
                <a:latin typeface="Calibri"/>
              </a:rPr>
              <a:t>Stars are weak evidence · a CVE record is not evidence of malicious compromise</a:t>
            </a:r>
          </a:p>
          <a:p>
            <a:pPr algn="l">
              <a:spcAft>
                <a:spcPts val="0"/>
              </a:spcAft>
            </a:pPr>
            <a:r>
              <a:rPr sz="2000" b="0">
                <a:solidFill>
                  <a:srgbClr val="555960"/>
                </a:solidFill>
                <a:latin typeface="Calibri"/>
              </a:rPr>
              <a:t>OpenSSF, Concise Guide for Evaluating Open Source Software</a:t>
            </a:r>
          </a:p>
        </p:txBody>
      </p:sp>
      <p:sp>
        <p:nvSpPr>
          <p:cNvPr id="6" name="FooterBand"/>
          <p:cNvSpPr/>
          <p:nvPr/>
        </p:nvSpPr>
        <p:spPr>
          <a:xfrm>
            <a:off x="274320" y="5760720"/>
            <a:ext cx="859536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FooterBandText"/>
          <p:cNvSpPr/>
          <p:nvPr/>
        </p:nvSpPr>
        <p:spPr>
          <a:xfrm>
            <a:off x="384048" y="5779008"/>
            <a:ext cx="8375904" cy="5486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do you adopt for the lab-policy date rules, and what would change your mind?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license is an engineering constraint you inherited</a:t>
            </a:r>
          </a:p>
        </p:txBody>
      </p:sp>
      <p:sp>
        <p:nvSpPr>
          <p:cNvPr id="3" name="LicCard"/>
          <p:cNvSpPr/>
          <p:nvPr/>
        </p:nvSpPr>
        <p:spPr>
          <a:xfrm>
            <a:off x="411480" y="914400"/>
            <a:ext cx="8321040" cy="987552"/>
          </a:xfrm>
          <a:prstGeom prst="rect">
            <a:avLst/>
          </a:prstGeom>
          <a:solidFill>
            <a:srgbClr val="F5F1E8"/>
          </a:solidFill>
          <a:ln>
            <a:noFill/>
          </a:ln>
          <a:effectLst/>
        </p:spPr>
        <p:txBody>
          <a:bodyPr rtlCol="0" anchor="ctr" wrap="square"/>
          <a:lstStyle/>
          <a:p/>
        </p:txBody>
      </p:sp>
      <p:sp>
        <p:nvSpPr>
          <p:cNvPr id="4" name="LicLabel"/>
          <p:cNvSpPr/>
          <p:nvPr/>
        </p:nvSpPr>
        <p:spPr>
          <a:xfrm>
            <a:off x="557784" y="96926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PERMISSIVE</a:t>
            </a:r>
          </a:p>
          <a:p>
            <a:pPr algn="l">
              <a:spcAft>
                <a:spcPts val="0"/>
              </a:spcAft>
            </a:pPr>
            <a:r>
              <a:rPr sz="2000" b="0">
                <a:solidFill>
                  <a:srgbClr val="5C4826"/>
                </a:solidFill>
                <a:latin typeface="Consolas"/>
              </a:rPr>
              <a:t>MIT · Apache-2.0</a:t>
            </a:r>
          </a:p>
        </p:txBody>
      </p:sp>
      <p:sp>
        <p:nvSpPr>
          <p:cNvPr id="5" name="LicBody"/>
          <p:cNvSpPr/>
          <p:nvPr/>
        </p:nvSpPr>
        <p:spPr>
          <a:xfrm>
            <a:off x="3154680" y="96926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keep notices; Apache-2.0 adds an express patent grant</a:t>
            </a:r>
          </a:p>
        </p:txBody>
      </p:sp>
      <p:sp>
        <p:nvSpPr>
          <p:cNvPr id="6" name="LicCard"/>
          <p:cNvSpPr/>
          <p:nvPr/>
        </p:nvSpPr>
        <p:spPr>
          <a:xfrm>
            <a:off x="411480" y="2011680"/>
            <a:ext cx="8321040" cy="987552"/>
          </a:xfrm>
          <a:prstGeom prst="rect">
            <a:avLst/>
          </a:prstGeom>
          <a:solidFill>
            <a:srgbClr val="FCFAF6"/>
          </a:solidFill>
          <a:ln>
            <a:noFill/>
          </a:ln>
          <a:effectLst/>
        </p:spPr>
        <p:txBody>
          <a:bodyPr rtlCol="0" anchor="ctr" wrap="square"/>
          <a:lstStyle/>
          <a:p/>
        </p:txBody>
      </p:sp>
      <p:sp>
        <p:nvSpPr>
          <p:cNvPr id="7" name="LicLabel"/>
          <p:cNvSpPr/>
          <p:nvPr/>
        </p:nvSpPr>
        <p:spPr>
          <a:xfrm>
            <a:off x="557784" y="206654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WEAK COPYLEFT</a:t>
            </a:r>
          </a:p>
          <a:p>
            <a:pPr algn="l">
              <a:spcAft>
                <a:spcPts val="0"/>
              </a:spcAft>
            </a:pPr>
            <a:r>
              <a:rPr sz="2000" b="0">
                <a:solidFill>
                  <a:srgbClr val="5C4826"/>
                </a:solidFill>
                <a:latin typeface="Consolas"/>
              </a:rPr>
              <a:t>LGPL-3.0 · MPL-2.0</a:t>
            </a:r>
          </a:p>
        </p:txBody>
      </p:sp>
      <p:sp>
        <p:nvSpPr>
          <p:cNvPr id="8" name="LicBody"/>
          <p:cNvSpPr/>
          <p:nvPr/>
        </p:nvSpPr>
        <p:spPr>
          <a:xfrm>
            <a:off x="3154680" y="206654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changes to the library itself must be shared; obligations hinge on how you link and modify</a:t>
            </a:r>
          </a:p>
        </p:txBody>
      </p:sp>
      <p:sp>
        <p:nvSpPr>
          <p:cNvPr id="9" name="LicCard"/>
          <p:cNvSpPr/>
          <p:nvPr/>
        </p:nvSpPr>
        <p:spPr>
          <a:xfrm>
            <a:off x="411480" y="3108960"/>
            <a:ext cx="8321040" cy="987552"/>
          </a:xfrm>
          <a:prstGeom prst="rect">
            <a:avLst/>
          </a:prstGeom>
          <a:solidFill>
            <a:srgbClr val="F5F1E8"/>
          </a:solidFill>
          <a:ln>
            <a:noFill/>
          </a:ln>
          <a:effectLst/>
        </p:spPr>
        <p:txBody>
          <a:bodyPr rtlCol="0" anchor="ctr" wrap="square"/>
          <a:lstStyle/>
          <a:p/>
        </p:txBody>
      </p:sp>
      <p:sp>
        <p:nvSpPr>
          <p:cNvPr id="10" name="LicLabel"/>
          <p:cNvSpPr/>
          <p:nvPr/>
        </p:nvSpPr>
        <p:spPr>
          <a:xfrm>
            <a:off x="557784" y="316382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STRONG COPYLEFT</a:t>
            </a:r>
          </a:p>
          <a:p>
            <a:pPr algn="l">
              <a:spcAft>
                <a:spcPts val="0"/>
              </a:spcAft>
            </a:pPr>
            <a:r>
              <a:rPr sz="2000" b="0">
                <a:solidFill>
                  <a:srgbClr val="5C4826"/>
                </a:solidFill>
                <a:latin typeface="Consolas"/>
              </a:rPr>
              <a:t>GPL-3.0 · AGPL-3.0</a:t>
            </a:r>
          </a:p>
        </p:txBody>
      </p:sp>
      <p:sp>
        <p:nvSpPr>
          <p:cNvPr id="11" name="LicBody"/>
          <p:cNvSpPr/>
          <p:nvPr/>
        </p:nvSpPr>
        <p:spPr>
          <a:xfrm>
            <a:off x="3154680" y="316382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distributing a derived work requires source under the same license; AGPL extends the duty to network service</a:t>
            </a:r>
          </a:p>
        </p:txBody>
      </p:sp>
      <p:sp>
        <p:nvSpPr>
          <p:cNvPr id="12" name="ScenCard"/>
          <p:cNvSpPr/>
          <p:nvPr/>
        </p:nvSpPr>
        <p:spPr>
          <a:xfrm>
            <a:off x="411480" y="4169664"/>
            <a:ext cx="8321040" cy="731520"/>
          </a:xfrm>
          <a:prstGeom prst="rect">
            <a:avLst/>
          </a:prstGeom>
          <a:solidFill>
            <a:srgbClr val="F5F1E8"/>
          </a:solidFill>
          <a:ln>
            <a:noFill/>
          </a:ln>
          <a:effectLst/>
        </p:spPr>
        <p:txBody>
          <a:bodyPr rtlCol="0" anchor="ctr" wrap="square"/>
          <a:lstStyle/>
          <a:p/>
        </p:txBody>
      </p:sp>
      <p:sp>
        <p:nvSpPr>
          <p:cNvPr id="13" name="ScenText"/>
          <p:cNvSpPr/>
          <p:nvPr/>
        </p:nvSpPr>
        <p:spPr>
          <a:xfrm>
            <a:off x="557784" y="4215384"/>
            <a:ext cx="8046720" cy="658368"/>
          </a:xfrm>
          <a:prstGeom prst="rect">
            <a:avLst/>
          </a:prstGeom>
          <a:noFill/>
          <a:ln>
            <a:noFill/>
          </a:ln>
          <a:effectLst/>
        </p:spPr>
        <p:txBody>
          <a:bodyPr rtlCol="0" anchor="t" wrap="square"/>
          <a:lstStyle/>
          <a:p>
            <a:pPr algn="l">
              <a:spcAft>
                <a:spcPts val="0"/>
              </a:spcAft>
            </a:pPr>
            <a:r>
              <a:rPr sz="2000" b="1">
                <a:solidFill>
                  <a:srgbClr val="2D2D2D"/>
                </a:solidFill>
                <a:latin typeface="Calibri"/>
              </a:rPr>
              <a:t>Ship it to another campus, or host it as a service?</a:t>
            </a:r>
          </a:p>
          <a:p>
            <a:pPr algn="l">
              <a:spcAft>
                <a:spcPts val="0"/>
              </a:spcAft>
            </a:pPr>
            <a:r>
              <a:rPr sz="2000" b="0">
                <a:solidFill>
                  <a:srgbClr val="555960"/>
                </a:solidFill>
                <a:latin typeface="Calibri"/>
              </a:rPr>
              <a:t>Distribution and network use trigger different obligations</a:t>
            </a:r>
          </a:p>
        </p:txBody>
      </p:sp>
      <p:sp>
        <p:nvSpPr>
          <p:cNvPr id="14" name="NcCard"/>
          <p:cNvSpPr/>
          <p:nvPr/>
        </p:nvSpPr>
        <p:spPr>
          <a:xfrm>
            <a:off x="411480" y="4974336"/>
            <a:ext cx="8321040" cy="1335024"/>
          </a:xfrm>
          <a:prstGeom prst="rect">
            <a:avLst/>
          </a:prstGeom>
          <a:solidFill>
            <a:srgbClr val="FCFAF6"/>
          </a:solidFill>
          <a:ln>
            <a:noFill/>
          </a:ln>
          <a:effectLst/>
        </p:spPr>
        <p:txBody>
          <a:bodyPr rtlCol="0" anchor="ctr" wrap="square"/>
          <a:lstStyle/>
          <a:p/>
        </p:txBody>
      </p:sp>
      <p:sp>
        <p:nvSpPr>
          <p:cNvPr id="15" name="NcText"/>
          <p:cNvSpPr/>
          <p:nvPr/>
        </p:nvSpPr>
        <p:spPr>
          <a:xfrm>
            <a:off x="557784" y="5029200"/>
            <a:ext cx="8046720" cy="1243584"/>
          </a:xfrm>
          <a:prstGeom prst="rect">
            <a:avLst/>
          </a:prstGeom>
          <a:noFill/>
          <a:ln>
            <a:noFill/>
          </a:ln>
          <a:effectLst/>
        </p:spPr>
        <p:txBody>
          <a:bodyPr rtlCol="0" anchor="t" wrap="square"/>
          <a:lstStyle/>
          <a:p>
            <a:pPr algn="l">
              <a:spcAft>
                <a:spcPts val="0"/>
              </a:spcAft>
            </a:pPr>
            <a:r>
              <a:rPr sz="2000" b="1">
                <a:solidFill>
                  <a:srgbClr val="C01B1B"/>
                </a:solidFill>
                <a:latin typeface="Calibri"/>
              </a:rPr>
              <a:t>GPL does not forbid commercial use · copyleft does not automatically open your whole product</a:t>
            </a:r>
          </a:p>
          <a:p>
            <a:pPr algn="l">
              <a:spcAft>
                <a:spcPts val="0"/>
              </a:spcAft>
            </a:pPr>
            <a:r>
              <a:rPr sz="2000" b="0">
                <a:solidFill>
                  <a:srgbClr val="555960"/>
                </a:solidFill>
                <a:latin typeface="Calibri"/>
              </a:rPr>
              <a:t>Obligations turn on the precise license, linkage, modification, distribution, and network use. Orientation, not legal advice.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Provenance asks how the artifact reached you</a:t>
            </a:r>
          </a:p>
        </p:txBody>
      </p:sp>
      <p:sp>
        <p:nvSpPr>
          <p:cNvPr id="3" name="QCard"/>
          <p:cNvSpPr/>
          <p:nvPr/>
        </p:nvSpPr>
        <p:spPr>
          <a:xfrm>
            <a:off x="411480" y="914400"/>
            <a:ext cx="2514600" cy="3520440"/>
          </a:xfrm>
          <a:prstGeom prst="rect">
            <a:avLst/>
          </a:prstGeom>
          <a:solidFill>
            <a:srgbClr val="F5F1E8"/>
          </a:solidFill>
          <a:ln>
            <a:noFill/>
          </a:ln>
          <a:effectLst/>
        </p:spPr>
        <p:txBody>
          <a:bodyPr rtlCol="0" anchor="ctr" wrap="square"/>
          <a:lstStyle/>
          <a:p/>
        </p:txBody>
      </p:sp>
      <p:sp>
        <p:nvSpPr>
          <p:cNvPr id="4" name="QText"/>
          <p:cNvSpPr/>
          <p:nvPr/>
        </p:nvSpPr>
        <p:spPr>
          <a:xfrm>
            <a:off x="557784" y="1005840"/>
            <a:ext cx="2240280" cy="3337560"/>
          </a:xfrm>
          <a:prstGeom prst="rect">
            <a:avLst/>
          </a:prstGeom>
          <a:noFill/>
          <a:ln>
            <a:noFill/>
          </a:ln>
          <a:effectLst/>
        </p:spPr>
        <p:txBody>
          <a:bodyPr rtlCol="0" anchor="t" wrap="square"/>
          <a:lstStyle/>
          <a:p>
            <a:pPr algn="l">
              <a:spcAft>
                <a:spcPts val="0"/>
              </a:spcAft>
            </a:pPr>
            <a:r>
              <a:rPr sz="2000" b="1">
                <a:solidFill>
                  <a:srgbClr val="8E6F3E"/>
                </a:solidFill>
                <a:latin typeface="Calibri"/>
              </a:rPr>
              <a:t>TWO QUESTIONS</a:t>
            </a:r>
          </a:p>
          <a:p>
            <a:pPr algn="l">
              <a:spcAft>
                <a:spcPts val="0"/>
              </a:spcAft>
            </a:pPr>
            <a:r>
              <a:rPr sz="2000" b="1">
                <a:solidFill>
                  <a:srgbClr val="2D2D2D"/>
                </a:solidFill>
                <a:latin typeface="Calibri"/>
              </a:rPr>
              <a:t>WHAT is this component?</a:t>
            </a:r>
          </a:p>
          <a:p>
            <a:pPr algn="l">
              <a:spcAft>
                <a:spcPts val="0"/>
              </a:spcAft>
            </a:pPr>
            <a:r>
              <a:rPr sz="2000" b="0">
                <a:solidFill>
                  <a:srgbClr val="555960"/>
                </a:solidFill>
                <a:latin typeface="Calibri"/>
              </a:rPr>
              <a:t>the SBOM answers this</a:t>
            </a:r>
          </a:p>
          <a:p>
            <a:pPr algn="l">
              <a:spcAft>
                <a:spcPts val="0"/>
              </a:spcAft>
            </a:pPr>
            <a:r>
              <a:rPr sz="2000" b="1">
                <a:solidFill>
                  <a:srgbClr val="2D2D2D"/>
                </a:solidFill>
                <a:latin typeface="Calibri"/>
              </a:rPr>
              <a:t>WHERE did this artifact come from, and HOW was it built?</a:t>
            </a:r>
          </a:p>
          <a:p>
            <a:pPr algn="l">
              <a:spcAft>
                <a:spcPts val="0"/>
              </a:spcAft>
            </a:pPr>
            <a:r>
              <a:rPr sz="2000" b="0">
                <a:solidFill>
                  <a:srgbClr val="555960"/>
                </a:solidFill>
                <a:latin typeface="Calibri"/>
              </a:rPr>
              <a:t>provenance answers this</a:t>
            </a:r>
          </a:p>
        </p:txBody>
      </p:sp>
      <p:graphicFrame>
        <p:nvGraphicFramePr>
          <p:cNvPr id="5" name="ProvTable" descr="Provenance mechanisms, the assurance each provides, and the assumption that assurance rests on: pinning, hashes, signatures, build attestations, trusted registries"/>
          <p:cNvGraphicFramePr/>
          <p:nvPr/>
        </p:nvGraphicFramePr>
        <p:xfrm>
          <a:off x="3017520" y="914400"/>
          <a:ext cx="5623560" cy="3236976"/>
        </p:xfrm>
        <a:graphic>
          <a:graphicData uri="http://schemas.openxmlformats.org/drawingml/2006/table">
            <a:tbl>
              <a:tblPr firstRow="0" bandRow="0">
                <a:tableStyleId>{5C22544A-7EE6-4342-B048-85BDC9FD1C3A}</a:tableStyleId>
              </a:tblPr>
              <a:tblGrid>
                <a:gridCol w="1691640"/>
                <a:gridCol w="1874519"/>
                <a:gridCol w="2057400"/>
              </a:tblGrid>
              <a:tr h="539496">
                <a:tc>
                  <a:txBody>
                    <a:bodyPr wrap="square"/>
                    <a:lstStyle/>
                    <a:p>
                      <a:r>
                        <a:rPr sz="2000" b="1">
                          <a:solidFill>
                            <a:srgbClr val="FFFFFF"/>
                          </a:solidFill>
                          <a:latin typeface="Calibri"/>
                        </a:rPr>
                        <a:t>mechanism</a:t>
                      </a:r>
                    </a:p>
                  </a:txBody>
                  <a:tcPr marL="91440" marR="91440" marT="18288" marB="18288" anchor="ctr">
                    <a:solidFill>
                      <a:srgbClr val="8E6F3E"/>
                    </a:solidFill>
                  </a:tcPr>
                </a:tc>
                <a:tc>
                  <a:txBody>
                    <a:bodyPr wrap="square"/>
                    <a:lstStyle/>
                    <a:p>
                      <a:r>
                        <a:rPr sz="2000" b="1">
                          <a:solidFill>
                            <a:srgbClr val="FFFFFF"/>
                          </a:solidFill>
                          <a:latin typeface="Calibri"/>
                        </a:rPr>
                        <a:t>assurance provided</a:t>
                      </a:r>
                    </a:p>
                  </a:txBody>
                  <a:tcPr marL="91440" marR="91440" marT="18288" marB="18288" anchor="ctr">
                    <a:solidFill>
                      <a:srgbClr val="8E6F3E"/>
                    </a:solidFill>
                  </a:tcPr>
                </a:tc>
                <a:tc>
                  <a:txBody>
                    <a:bodyPr wrap="square"/>
                    <a:lstStyle/>
                    <a:p>
                      <a:r>
                        <a:rPr sz="2000" b="1">
                          <a:solidFill>
                            <a:srgbClr val="FFFFFF"/>
                          </a:solidFill>
                          <a:latin typeface="Calibri"/>
                        </a:rPr>
                        <a:t>assumption it rests on</a:t>
                      </a:r>
                    </a:p>
                  </a:txBody>
                  <a:tcPr marL="91440" marR="91440" marT="18288" marB="18288" anchor="ctr">
                    <a:solidFill>
                      <a:srgbClr val="8E6F3E"/>
                    </a:solidFill>
                  </a:tcPr>
                </a:tc>
              </a:tr>
              <a:tr h="539496">
                <a:tc>
                  <a:txBody>
                    <a:bodyPr wrap="square"/>
                    <a:lstStyle/>
                    <a:p>
                      <a:r>
                        <a:rPr sz="2000" b="1">
                          <a:solidFill>
                            <a:srgbClr val="8E6F3E"/>
                          </a:solidFill>
                          <a:latin typeface="Calibri"/>
                        </a:rPr>
                        <a:t>pinned version</a:t>
                      </a:r>
                    </a:p>
                  </a:txBody>
                  <a:tcPr marL="91440" marR="91440" marT="18288" marB="18288" anchor="ctr">
                    <a:solidFill>
                      <a:srgbClr val="F5F1E8"/>
                    </a:solidFill>
                  </a:tcPr>
                </a:tc>
                <a:tc>
                  <a:txBody>
                    <a:bodyPr wrap="square"/>
                    <a:lstStyle/>
                    <a:p>
                      <a:r>
                        <a:rPr sz="2000" b="0">
                          <a:solidFill>
                            <a:srgbClr val="2D2D2D"/>
                          </a:solidFill>
                          <a:latin typeface="Calibri"/>
                        </a:rPr>
                        <a:t>no surprise updates</a:t>
                      </a:r>
                    </a:p>
                  </a:txBody>
                  <a:tcPr marL="91440" marR="91440" marT="18288" marB="18288" anchor="ctr">
                    <a:solidFill>
                      <a:srgbClr val="F5F1E8"/>
                    </a:solidFill>
                  </a:tcPr>
                </a:tc>
                <a:tc>
                  <a:txBody>
                    <a:bodyPr wrap="square"/>
                    <a:lstStyle/>
                    <a:p>
                      <a:r>
                        <a:rPr sz="2000" b="0">
                          <a:solidFill>
                            <a:srgbClr val="2D2D2D"/>
                          </a:solidFill>
                          <a:latin typeface="Calibri"/>
                        </a:rPr>
                        <a:t>the pinned bytes were right</a:t>
                      </a:r>
                    </a:p>
                  </a:txBody>
                  <a:tcPr marL="91440" marR="91440" marT="18288" marB="18288" anchor="ctr">
                    <a:solidFill>
                      <a:srgbClr val="F5F1E8"/>
                    </a:solidFill>
                  </a:tcPr>
                </a:tc>
              </a:tr>
              <a:tr h="539496">
                <a:tc>
                  <a:txBody>
                    <a:bodyPr wrap="square"/>
                    <a:lstStyle/>
                    <a:p>
                      <a:r>
                        <a:rPr sz="2000" b="1">
                          <a:solidFill>
                            <a:srgbClr val="8E6F3E"/>
                          </a:solidFill>
                          <a:latin typeface="Calibri"/>
                        </a:rPr>
                        <a:t>hash check</a:t>
                      </a:r>
                    </a:p>
                  </a:txBody>
                  <a:tcPr marL="91440" marR="91440" marT="18288" marB="18288" anchor="ctr">
                    <a:solidFill>
                      <a:srgbClr val="FCFAF6"/>
                    </a:solidFill>
                  </a:tcPr>
                </a:tc>
                <a:tc>
                  <a:txBody>
                    <a:bodyPr wrap="square"/>
                    <a:lstStyle/>
                    <a:p>
                      <a:r>
                        <a:rPr sz="2000" b="0">
                          <a:solidFill>
                            <a:srgbClr val="2D2D2D"/>
                          </a:solidFill>
                          <a:latin typeface="Calibri"/>
                        </a:rPr>
                        <a:t>bytes match the record</a:t>
                      </a:r>
                    </a:p>
                  </a:txBody>
                  <a:tcPr marL="91440" marR="91440" marT="18288" marB="18288" anchor="ctr">
                    <a:solidFill>
                      <a:srgbClr val="FCFAF6"/>
                    </a:solidFill>
                  </a:tcPr>
                </a:tc>
                <a:tc>
                  <a:txBody>
                    <a:bodyPr wrap="square"/>
                    <a:lstStyle/>
                    <a:p>
                      <a:r>
                        <a:rPr sz="2000" b="0">
                          <a:solidFill>
                            <a:srgbClr val="2D2D2D"/>
                          </a:solidFill>
                          <a:latin typeface="Calibri"/>
                        </a:rPr>
                        <a:t>the recorded hash is authentic</a:t>
                      </a:r>
                    </a:p>
                  </a:txBody>
                  <a:tcPr marL="91440" marR="91440" marT="18288" marB="18288" anchor="ctr">
                    <a:solidFill>
                      <a:srgbClr val="FCFAF6"/>
                    </a:solidFill>
                  </a:tcPr>
                </a:tc>
              </a:tr>
              <a:tr h="539496">
                <a:tc>
                  <a:txBody>
                    <a:bodyPr wrap="square"/>
                    <a:lstStyle/>
                    <a:p>
                      <a:r>
                        <a:rPr sz="2000" b="1">
                          <a:solidFill>
                            <a:srgbClr val="8E6F3E"/>
                          </a:solidFill>
                          <a:latin typeface="Calibri"/>
                        </a:rPr>
                        <a:t>signature</a:t>
                      </a:r>
                    </a:p>
                  </a:txBody>
                  <a:tcPr marL="91440" marR="91440" marT="18288" marB="18288" anchor="ctr">
                    <a:solidFill>
                      <a:srgbClr val="F5F1E8"/>
                    </a:solidFill>
                  </a:tcPr>
                </a:tc>
                <a:tc>
                  <a:txBody>
                    <a:bodyPr wrap="square"/>
                    <a:lstStyle/>
                    <a:p>
                      <a:r>
                        <a:rPr sz="2000" b="0">
                          <a:solidFill>
                            <a:srgbClr val="2D2D2D"/>
                          </a:solidFill>
                          <a:latin typeface="Calibri"/>
                        </a:rPr>
                        <a:t>a key holder endorsed it</a:t>
                      </a:r>
                    </a:p>
                  </a:txBody>
                  <a:tcPr marL="91440" marR="91440" marT="18288" marB="18288" anchor="ctr">
                    <a:solidFill>
                      <a:srgbClr val="F5F1E8"/>
                    </a:solidFill>
                  </a:tcPr>
                </a:tc>
                <a:tc>
                  <a:txBody>
                    <a:bodyPr wrap="square"/>
                    <a:lstStyle/>
                    <a:p>
                      <a:r>
                        <a:rPr sz="2000" b="0">
                          <a:solidFill>
                            <a:srgbClr val="2D2D2D"/>
                          </a:solidFill>
                          <a:latin typeface="Calibri"/>
                        </a:rPr>
                        <a:t>the signing key and identity</a:t>
                      </a:r>
                    </a:p>
                  </a:txBody>
                  <a:tcPr marL="91440" marR="91440" marT="18288" marB="18288" anchor="ctr">
                    <a:solidFill>
                      <a:srgbClr val="F5F1E8"/>
                    </a:solidFill>
                  </a:tcPr>
                </a:tc>
              </a:tr>
              <a:tr h="539496">
                <a:tc>
                  <a:txBody>
                    <a:bodyPr wrap="square"/>
                    <a:lstStyle/>
                    <a:p>
                      <a:r>
                        <a:rPr sz="2000" b="1">
                          <a:solidFill>
                            <a:srgbClr val="8E6F3E"/>
                          </a:solidFill>
                          <a:latin typeface="Calibri"/>
                        </a:rPr>
                        <a:t>build attestation</a:t>
                      </a:r>
                    </a:p>
                  </a:txBody>
                  <a:tcPr marL="91440" marR="91440" marT="18288" marB="18288" anchor="ctr">
                    <a:solidFill>
                      <a:srgbClr val="FCFAF6"/>
                    </a:solidFill>
                  </a:tcPr>
                </a:tc>
                <a:tc>
                  <a:txBody>
                    <a:bodyPr wrap="square"/>
                    <a:lstStyle/>
                    <a:p>
                      <a:r>
                        <a:rPr sz="2000" b="0">
                          <a:solidFill>
                            <a:srgbClr val="2D2D2D"/>
                          </a:solidFill>
                          <a:latin typeface="Calibri"/>
                        </a:rPr>
                        <a:t>built as described</a:t>
                      </a:r>
                    </a:p>
                  </a:txBody>
                  <a:tcPr marL="91440" marR="91440" marT="18288" marB="18288" anchor="ctr">
                    <a:solidFill>
                      <a:srgbClr val="FCFAF6"/>
                    </a:solidFill>
                  </a:tcPr>
                </a:tc>
                <a:tc>
                  <a:txBody>
                    <a:bodyPr wrap="square"/>
                    <a:lstStyle/>
                    <a:p>
                      <a:r>
                        <a:rPr sz="2000" b="0">
                          <a:solidFill>
                            <a:srgbClr val="2D2D2D"/>
                          </a:solidFill>
                          <a:latin typeface="Calibri"/>
                        </a:rPr>
                        <a:t>the attesting pipeline is honest</a:t>
                      </a:r>
                    </a:p>
                  </a:txBody>
                  <a:tcPr marL="91440" marR="91440" marT="18288" marB="18288" anchor="ctr">
                    <a:solidFill>
                      <a:srgbClr val="FCFAF6"/>
                    </a:solidFill>
                  </a:tcPr>
                </a:tc>
              </a:tr>
              <a:tr h="539496">
                <a:tc>
                  <a:txBody>
                    <a:bodyPr wrap="square"/>
                    <a:lstStyle/>
                    <a:p>
                      <a:r>
                        <a:rPr sz="2000" b="1">
                          <a:solidFill>
                            <a:srgbClr val="8E6F3E"/>
                          </a:solidFill>
                          <a:latin typeface="Calibri"/>
                        </a:rPr>
                        <a:t>trusted registry</a:t>
                      </a:r>
                    </a:p>
                  </a:txBody>
                  <a:tcPr marL="91440" marR="91440" marT="18288" marB="18288" anchor="ctr">
                    <a:solidFill>
                      <a:srgbClr val="F5F1E8"/>
                    </a:solidFill>
                  </a:tcPr>
                </a:tc>
                <a:tc>
                  <a:txBody>
                    <a:bodyPr wrap="square"/>
                    <a:lstStyle/>
                    <a:p>
                      <a:r>
                        <a:rPr sz="2000" b="0">
                          <a:solidFill>
                            <a:srgbClr val="2D2D2D"/>
                          </a:solidFill>
                          <a:latin typeface="Calibri"/>
                        </a:rPr>
                        <a:t>substitution is harder</a:t>
                      </a:r>
                    </a:p>
                  </a:txBody>
                  <a:tcPr marL="91440" marR="91440" marT="18288" marB="18288" anchor="ctr">
                    <a:solidFill>
                      <a:srgbClr val="F5F1E8"/>
                    </a:solidFill>
                  </a:tcPr>
                </a:tc>
                <a:tc>
                  <a:txBody>
                    <a:bodyPr wrap="square"/>
                    <a:lstStyle/>
                    <a:p>
                      <a:r>
                        <a:rPr sz="2000" b="0">
                          <a:solidFill>
                            <a:srgbClr val="2D2D2D"/>
                          </a:solidFill>
                          <a:latin typeface="Calibri"/>
                        </a:rPr>
                        <a:t>the registry's own integrity</a:t>
                      </a:r>
                    </a:p>
                  </a:txBody>
                  <a:tcPr marL="91440" marR="91440" marT="18288" marB="18288" anchor="ctr">
                    <a:solidFill>
                      <a:srgbClr val="F5F1E8"/>
                    </a:solidFill>
                  </a:tcPr>
                </a:tc>
              </a:tr>
            </a:tbl>
          </a:graphicData>
        </a:graphic>
      </p:graphicFrame>
      <p:sp>
        <p:nvSpPr>
          <p:cNvPr id="6" name="NcCard"/>
          <p:cNvSpPr/>
          <p:nvPr/>
        </p:nvSpPr>
        <p:spPr>
          <a:xfrm>
            <a:off x="411480" y="5074920"/>
            <a:ext cx="8321040" cy="713232"/>
          </a:xfrm>
          <a:prstGeom prst="rect">
            <a:avLst/>
          </a:prstGeom>
          <a:solidFill>
            <a:srgbClr val="FCFAF6"/>
          </a:solidFill>
          <a:ln>
            <a:noFill/>
          </a:ln>
          <a:effectLst/>
        </p:spPr>
        <p:txBody>
          <a:bodyPr rtlCol="0" anchor="ctr" wrap="square"/>
          <a:lstStyle/>
          <a:p/>
        </p:txBody>
      </p:sp>
      <p:sp>
        <p:nvSpPr>
          <p:cNvPr id="7" name="NcText"/>
          <p:cNvSpPr/>
          <p:nvPr/>
        </p:nvSpPr>
        <p:spPr>
          <a:xfrm>
            <a:off x="557784" y="5120640"/>
            <a:ext cx="8046720" cy="621792"/>
          </a:xfrm>
          <a:prstGeom prst="rect">
            <a:avLst/>
          </a:prstGeom>
          <a:noFill/>
          <a:ln>
            <a:noFill/>
          </a:ln>
          <a:effectLst/>
        </p:spPr>
        <p:txBody>
          <a:bodyPr rtlCol="0" anchor="t" wrap="square"/>
          <a:lstStyle/>
          <a:p>
            <a:pPr algn="l">
              <a:spcAft>
                <a:spcPts val="0"/>
              </a:spcAft>
            </a:pPr>
            <a:r>
              <a:rPr sz="2000" b="1">
                <a:solidFill>
                  <a:srgbClr val="C01B1B"/>
                </a:solidFill>
                <a:latin typeface="Calibri"/>
              </a:rPr>
              <a:t>A trusted registry is itself a trust dependency; it does not protect against its own compromise</a:t>
            </a:r>
          </a:p>
        </p:txBody>
      </p:sp>
      <p:sp>
        <p:nvSpPr>
          <p:cNvPr id="8"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Version says what; provenance says where from and how built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vulnerable transitive dependency forces a decision</a:t>
            </a:r>
          </a:p>
        </p:txBody>
      </p:sp>
      <p:sp>
        <p:nvSpPr>
          <p:cNvPr id="3" name="ScenCard"/>
          <p:cNvSpPr/>
          <p:nvPr/>
        </p:nvSpPr>
        <p:spPr>
          <a:xfrm>
            <a:off x="411480" y="868680"/>
            <a:ext cx="8321040" cy="640080"/>
          </a:xfrm>
          <a:prstGeom prst="rect">
            <a:avLst/>
          </a:prstGeom>
          <a:solidFill>
            <a:srgbClr val="F5F1E8"/>
          </a:solidFill>
          <a:ln>
            <a:noFill/>
          </a:ln>
          <a:effectLst/>
        </p:spPr>
        <p:txBody>
          <a:bodyPr rtlCol="0" anchor="ctr" wrap="square"/>
          <a:lstStyle/>
          <a:p/>
        </p:txBody>
      </p:sp>
      <p:sp>
        <p:nvSpPr>
          <p:cNvPr id="4" name="ScenText"/>
          <p:cNvSpPr/>
          <p:nvPr/>
        </p:nvSpPr>
        <p:spPr>
          <a:xfrm>
            <a:off x="557784" y="914400"/>
            <a:ext cx="8046720" cy="548640"/>
          </a:xfrm>
          <a:prstGeom prst="rect">
            <a:avLst/>
          </a:prstGeom>
          <a:noFill/>
          <a:ln>
            <a:noFill/>
          </a:ln>
          <a:effectLst/>
        </p:spPr>
        <p:txBody>
          <a:bodyPr rtlCol="0" anchor="ctr" wrap="square"/>
          <a:lstStyle/>
          <a:p>
            <a:pPr algn="ctr">
              <a:spcAft>
                <a:spcPts val="0"/>
              </a:spcAft>
            </a:pPr>
            <a:r>
              <a:rPr sz="2000" b="1">
                <a:solidFill>
                  <a:srgbClr val="2D2D2D"/>
                </a:solidFill>
                <a:latin typeface="Calibri"/>
              </a:rPr>
              <a:t>The HTTP parser, two levels down, has a critical CVE; upstream is unmaintained</a:t>
            </a:r>
          </a:p>
        </p:txBody>
      </p:sp>
      <p:sp>
        <p:nvSpPr>
          <p:cNvPr id="5" name="OptCard"/>
          <p:cNvSpPr/>
          <p:nvPr/>
        </p:nvSpPr>
        <p:spPr>
          <a:xfrm>
            <a:off x="411480" y="1645920"/>
            <a:ext cx="8321040" cy="640080"/>
          </a:xfrm>
          <a:prstGeom prst="rect">
            <a:avLst/>
          </a:prstGeom>
          <a:solidFill>
            <a:srgbClr val="FCFAF6"/>
          </a:solidFill>
          <a:ln>
            <a:noFill/>
          </a:ln>
          <a:effectLst/>
        </p:spPr>
        <p:txBody>
          <a:bodyPr rtlCol="0" anchor="ctr" wrap="square"/>
          <a:lstStyle/>
          <a:p/>
        </p:txBody>
      </p:sp>
      <p:sp>
        <p:nvSpPr>
          <p:cNvPr id="6" name="OptLabel"/>
          <p:cNvSpPr/>
          <p:nvPr/>
        </p:nvSpPr>
        <p:spPr>
          <a:xfrm>
            <a:off x="557784" y="1682496"/>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UPGRADE</a:t>
            </a:r>
          </a:p>
        </p:txBody>
      </p:sp>
      <p:sp>
        <p:nvSpPr>
          <p:cNvPr id="7" name="OptBody"/>
          <p:cNvSpPr/>
          <p:nvPr/>
        </p:nvSpPr>
        <p:spPr>
          <a:xfrm>
            <a:off x="3017520" y="1682496"/>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a patched fork or major version exists; pay the compatibility testing</a:t>
            </a:r>
          </a:p>
        </p:txBody>
      </p:sp>
      <p:sp>
        <p:nvSpPr>
          <p:cNvPr id="8" name="OptCard"/>
          <p:cNvSpPr/>
          <p:nvPr/>
        </p:nvSpPr>
        <p:spPr>
          <a:xfrm>
            <a:off x="411480" y="2395728"/>
            <a:ext cx="8321040" cy="640080"/>
          </a:xfrm>
          <a:prstGeom prst="rect">
            <a:avLst/>
          </a:prstGeom>
          <a:solidFill>
            <a:srgbClr val="F5F1E8"/>
          </a:solidFill>
          <a:ln>
            <a:noFill/>
          </a:ln>
          <a:effectLst/>
        </p:spPr>
        <p:txBody>
          <a:bodyPr rtlCol="0" anchor="ctr" wrap="square"/>
          <a:lstStyle/>
          <a:p/>
        </p:txBody>
      </p:sp>
      <p:sp>
        <p:nvSpPr>
          <p:cNvPr id="9" name="OptLabel"/>
          <p:cNvSpPr/>
          <p:nvPr/>
        </p:nvSpPr>
        <p:spPr>
          <a:xfrm>
            <a:off x="557784" y="2432304"/>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PIN + MITIGATE</a:t>
            </a:r>
          </a:p>
        </p:txBody>
      </p:sp>
      <p:sp>
        <p:nvSpPr>
          <p:cNvPr id="10" name="OptBody"/>
          <p:cNvSpPr/>
          <p:nvPr/>
        </p:nvSpPr>
        <p:spPr>
          <a:xfrm>
            <a:off x="3017520" y="2432304"/>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temporary; document the exposure window and the compensating control</a:t>
            </a:r>
          </a:p>
        </p:txBody>
      </p:sp>
      <p:sp>
        <p:nvSpPr>
          <p:cNvPr id="11" name="OptCard"/>
          <p:cNvSpPr/>
          <p:nvPr/>
        </p:nvSpPr>
        <p:spPr>
          <a:xfrm>
            <a:off x="411480" y="3145536"/>
            <a:ext cx="8321040" cy="640080"/>
          </a:xfrm>
          <a:prstGeom prst="rect">
            <a:avLst/>
          </a:prstGeom>
          <a:solidFill>
            <a:srgbClr val="FCFAF6"/>
          </a:solidFill>
          <a:ln>
            <a:noFill/>
          </a:ln>
          <a:effectLst/>
        </p:spPr>
        <p:txBody>
          <a:bodyPr rtlCol="0" anchor="ctr" wrap="square"/>
          <a:lstStyle/>
          <a:p/>
        </p:txBody>
      </p:sp>
      <p:sp>
        <p:nvSpPr>
          <p:cNvPr id="12" name="OptLabel"/>
          <p:cNvSpPr/>
          <p:nvPr/>
        </p:nvSpPr>
        <p:spPr>
          <a:xfrm>
            <a:off x="557784" y="3182112"/>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REPLACE</a:t>
            </a:r>
          </a:p>
        </p:txBody>
      </p:sp>
      <p:sp>
        <p:nvSpPr>
          <p:cNvPr id="13" name="OptBody"/>
          <p:cNvSpPr/>
          <p:nvPr/>
        </p:nvSpPr>
        <p:spPr>
          <a:xfrm>
            <a:off x="3017520" y="3182112"/>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swap the parser, or the framework that chose it; pay the migration</a:t>
            </a:r>
          </a:p>
        </p:txBody>
      </p:sp>
      <p:sp>
        <p:nvSpPr>
          <p:cNvPr id="14" name="OptCard"/>
          <p:cNvSpPr/>
          <p:nvPr/>
        </p:nvSpPr>
        <p:spPr>
          <a:xfrm>
            <a:off x="411480" y="3895344"/>
            <a:ext cx="8321040" cy="640080"/>
          </a:xfrm>
          <a:prstGeom prst="rect">
            <a:avLst/>
          </a:prstGeom>
          <a:solidFill>
            <a:srgbClr val="F5F1E8"/>
          </a:solidFill>
          <a:ln>
            <a:noFill/>
          </a:ln>
          <a:effectLst/>
        </p:spPr>
        <p:txBody>
          <a:bodyPr rtlCol="0" anchor="ctr" wrap="square"/>
          <a:lstStyle/>
          <a:p/>
        </p:txBody>
      </p:sp>
      <p:sp>
        <p:nvSpPr>
          <p:cNvPr id="15" name="OptLabel"/>
          <p:cNvSpPr/>
          <p:nvPr/>
        </p:nvSpPr>
        <p:spPr>
          <a:xfrm>
            <a:off x="557784" y="3931920"/>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REMOVE</a:t>
            </a:r>
          </a:p>
        </p:txBody>
      </p:sp>
      <p:sp>
        <p:nvSpPr>
          <p:cNvPr id="16" name="OptBody"/>
          <p:cNvSpPr/>
          <p:nvPr/>
        </p:nvSpPr>
        <p:spPr>
          <a:xfrm>
            <a:off x="3017520" y="3931920"/>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is the feature that pulls it in even needed?</a:t>
            </a:r>
          </a:p>
        </p:txBody>
      </p:sp>
      <p:sp>
        <p:nvSpPr>
          <p:cNvPr id="17" name="OptCard"/>
          <p:cNvSpPr/>
          <p:nvPr/>
        </p:nvSpPr>
        <p:spPr>
          <a:xfrm>
            <a:off x="411480" y="4645152"/>
            <a:ext cx="8321040" cy="640080"/>
          </a:xfrm>
          <a:prstGeom prst="rect">
            <a:avLst/>
          </a:prstGeom>
          <a:solidFill>
            <a:srgbClr val="FCFAF6"/>
          </a:solidFill>
          <a:ln>
            <a:noFill/>
          </a:ln>
          <a:effectLst/>
        </p:spPr>
        <p:txBody>
          <a:bodyPr rtlCol="0" anchor="ctr" wrap="square"/>
          <a:lstStyle/>
          <a:p/>
        </p:txBody>
      </p:sp>
      <p:sp>
        <p:nvSpPr>
          <p:cNvPr id="18" name="OptLabel"/>
          <p:cNvSpPr/>
          <p:nvPr/>
        </p:nvSpPr>
        <p:spPr>
          <a:xfrm>
            <a:off x="557784" y="4681728"/>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FORK + MAINTAIN</a:t>
            </a:r>
          </a:p>
        </p:txBody>
      </p:sp>
      <p:sp>
        <p:nvSpPr>
          <p:cNvPr id="19" name="OptBody"/>
          <p:cNvSpPr/>
          <p:nvPr/>
        </p:nvSpPr>
        <p:spPr>
          <a:xfrm>
            <a:off x="3017520" y="4681728"/>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you own a parser now; staff it or admit you did not</a:t>
            </a:r>
          </a:p>
        </p:txBody>
      </p:sp>
      <p:sp>
        <p:nvSpPr>
          <p:cNvPr id="20"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do you choose tonight, and which by next semester?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Controls make supply-chain obligations durable</a:t>
            </a:r>
          </a:p>
        </p:txBody>
      </p:sp>
      <p:sp>
        <p:nvSpPr>
          <p:cNvPr id="3" name="ColHead"/>
          <p:cNvSpPr/>
          <p:nvPr/>
        </p:nvSpPr>
        <p:spPr>
          <a:xfrm>
            <a:off x="557784" y="841248"/>
            <a:ext cx="214884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CONTROL</a:t>
            </a:r>
          </a:p>
        </p:txBody>
      </p:sp>
      <p:sp>
        <p:nvSpPr>
          <p:cNvPr id="4" name="ColHead"/>
          <p:cNvSpPr/>
          <p:nvPr/>
        </p:nvSpPr>
        <p:spPr>
          <a:xfrm>
            <a:off x="2852928" y="841248"/>
            <a:ext cx="297180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WHAT IT HOLDS</a:t>
            </a:r>
          </a:p>
        </p:txBody>
      </p:sp>
      <p:sp>
        <p:nvSpPr>
          <p:cNvPr id="5" name="ColHead"/>
          <p:cNvSpPr/>
          <p:nvPr/>
        </p:nvSpPr>
        <p:spPr>
          <a:xfrm>
            <a:off x="5961888" y="841248"/>
            <a:ext cx="265176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HOW IT FAILS</a:t>
            </a:r>
          </a:p>
        </p:txBody>
      </p:sp>
      <p:sp>
        <p:nvSpPr>
          <p:cNvPr id="6" name="CtrlCard" descr="Six supply-chain controls, the obligation each holds, and the characteristic failure mode of each"/>
          <p:cNvSpPr/>
          <p:nvPr/>
        </p:nvSpPr>
        <p:spPr>
          <a:xfrm>
            <a:off x="411480" y="1188720"/>
            <a:ext cx="8321040" cy="694944"/>
          </a:xfrm>
          <a:prstGeom prst="rect">
            <a:avLst/>
          </a:prstGeom>
          <a:solidFill>
            <a:srgbClr val="F5F1E8"/>
          </a:solidFill>
          <a:ln>
            <a:noFill/>
          </a:ln>
          <a:effectLst/>
        </p:spPr>
        <p:txBody>
          <a:bodyPr rtlCol="0" anchor="ctr" wrap="square"/>
          <a:lstStyle/>
          <a:p/>
        </p:txBody>
      </p:sp>
      <p:sp>
        <p:nvSpPr>
          <p:cNvPr id="7" name="CtrlName"/>
          <p:cNvSpPr/>
          <p:nvPr/>
        </p:nvSpPr>
        <p:spPr>
          <a:xfrm>
            <a:off x="557784" y="1225296"/>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dependency review gate</a:t>
            </a:r>
          </a:p>
        </p:txBody>
      </p:sp>
      <p:sp>
        <p:nvSpPr>
          <p:cNvPr id="8" name="CtrlHolds"/>
          <p:cNvSpPr/>
          <p:nvPr/>
        </p:nvSpPr>
        <p:spPr>
          <a:xfrm>
            <a:off x="2852928" y="1225296"/>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a new dependency needs a recorded rationale</a:t>
            </a:r>
          </a:p>
        </p:txBody>
      </p:sp>
      <p:sp>
        <p:nvSpPr>
          <p:cNvPr id="9" name="CtrlFails"/>
          <p:cNvSpPr/>
          <p:nvPr/>
        </p:nvSpPr>
        <p:spPr>
          <a:xfrm>
            <a:off x="5961888" y="1225296"/>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rubber-stamping</a:t>
            </a:r>
          </a:p>
        </p:txBody>
      </p:sp>
      <p:sp>
        <p:nvSpPr>
          <p:cNvPr id="10" name="CtrlCard"/>
          <p:cNvSpPr/>
          <p:nvPr/>
        </p:nvSpPr>
        <p:spPr>
          <a:xfrm>
            <a:off x="411480" y="1956816"/>
            <a:ext cx="8321040" cy="694944"/>
          </a:xfrm>
          <a:prstGeom prst="rect">
            <a:avLst/>
          </a:prstGeom>
          <a:solidFill>
            <a:srgbClr val="FCFAF6"/>
          </a:solidFill>
          <a:ln>
            <a:noFill/>
          </a:ln>
          <a:effectLst/>
        </p:spPr>
        <p:txBody>
          <a:bodyPr rtlCol="0" anchor="ctr" wrap="square"/>
          <a:lstStyle/>
          <a:p/>
        </p:txBody>
      </p:sp>
      <p:sp>
        <p:nvSpPr>
          <p:cNvPr id="11" name="CtrlName"/>
          <p:cNvSpPr/>
          <p:nvPr/>
        </p:nvSpPr>
        <p:spPr>
          <a:xfrm>
            <a:off x="557784" y="1993392"/>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vulnerability alerts</a:t>
            </a:r>
          </a:p>
        </p:txBody>
      </p:sp>
      <p:sp>
        <p:nvSpPr>
          <p:cNvPr id="12" name="CtrlHolds"/>
          <p:cNvSpPr/>
          <p:nvPr/>
        </p:nvSpPr>
        <p:spPr>
          <a:xfrm>
            <a:off x="2852928" y="1993392"/>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scan manifests and lockfiles continuously</a:t>
            </a:r>
          </a:p>
        </p:txBody>
      </p:sp>
      <p:sp>
        <p:nvSpPr>
          <p:cNvPr id="13" name="CtrlFails"/>
          <p:cNvSpPr/>
          <p:nvPr/>
        </p:nvSpPr>
        <p:spPr>
          <a:xfrm>
            <a:off x="5961888" y="1993392"/>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alert fatigue; unpinned reality</a:t>
            </a:r>
          </a:p>
        </p:txBody>
      </p:sp>
      <p:sp>
        <p:nvSpPr>
          <p:cNvPr id="14" name="CtrlCard"/>
          <p:cNvSpPr/>
          <p:nvPr/>
        </p:nvSpPr>
        <p:spPr>
          <a:xfrm>
            <a:off x="411480" y="2724912"/>
            <a:ext cx="8321040" cy="694944"/>
          </a:xfrm>
          <a:prstGeom prst="rect">
            <a:avLst/>
          </a:prstGeom>
          <a:solidFill>
            <a:srgbClr val="F5F1E8"/>
          </a:solidFill>
          <a:ln>
            <a:noFill/>
          </a:ln>
          <a:effectLst/>
        </p:spPr>
        <p:txBody>
          <a:bodyPr rtlCol="0" anchor="ctr" wrap="square"/>
          <a:lstStyle/>
          <a:p/>
        </p:txBody>
      </p:sp>
      <p:sp>
        <p:nvSpPr>
          <p:cNvPr id="15" name="CtrlName"/>
          <p:cNvSpPr/>
          <p:nvPr/>
        </p:nvSpPr>
        <p:spPr>
          <a:xfrm>
            <a:off x="557784" y="2761488"/>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license policy check</a:t>
            </a:r>
          </a:p>
        </p:txBody>
      </p:sp>
      <p:sp>
        <p:nvSpPr>
          <p:cNvPr id="16" name="CtrlHolds"/>
          <p:cNvSpPr/>
          <p:nvPr/>
        </p:nvSpPr>
        <p:spPr>
          <a:xfrm>
            <a:off x="2852928" y="2761488"/>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an allowed-license list enforced in CI</a:t>
            </a:r>
          </a:p>
        </p:txBody>
      </p:sp>
      <p:sp>
        <p:nvSpPr>
          <p:cNvPr id="17" name="CtrlFails"/>
          <p:cNvSpPr/>
          <p:nvPr/>
        </p:nvSpPr>
        <p:spPr>
          <a:xfrm>
            <a:off x="5961888" y="2761488"/>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stale policy; vendored code unseen</a:t>
            </a:r>
          </a:p>
        </p:txBody>
      </p:sp>
      <p:sp>
        <p:nvSpPr>
          <p:cNvPr id="18" name="CtrlCard"/>
          <p:cNvSpPr/>
          <p:nvPr/>
        </p:nvSpPr>
        <p:spPr>
          <a:xfrm>
            <a:off x="411480" y="3493008"/>
            <a:ext cx="8321040" cy="694944"/>
          </a:xfrm>
          <a:prstGeom prst="rect">
            <a:avLst/>
          </a:prstGeom>
          <a:solidFill>
            <a:srgbClr val="FCFAF6"/>
          </a:solidFill>
          <a:ln>
            <a:noFill/>
          </a:ln>
          <a:effectLst/>
        </p:spPr>
        <p:txBody>
          <a:bodyPr rtlCol="0" anchor="ctr" wrap="square"/>
          <a:lstStyle/>
          <a:p/>
        </p:txBody>
      </p:sp>
      <p:sp>
        <p:nvSpPr>
          <p:cNvPr id="19" name="CtrlName"/>
          <p:cNvSpPr/>
          <p:nvPr/>
        </p:nvSpPr>
        <p:spPr>
          <a:xfrm>
            <a:off x="557784" y="3529584"/>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SBOM per release</a:t>
            </a:r>
          </a:p>
        </p:txBody>
      </p:sp>
      <p:sp>
        <p:nvSpPr>
          <p:cNvPr id="20" name="CtrlHolds"/>
          <p:cNvSpPr/>
          <p:nvPr/>
        </p:nvSpPr>
        <p:spPr>
          <a:xfrm>
            <a:off x="2852928" y="3529584"/>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generate the inventory at build time</a:t>
            </a:r>
          </a:p>
        </p:txBody>
      </p:sp>
      <p:sp>
        <p:nvSpPr>
          <p:cNvPr id="21" name="CtrlFails"/>
          <p:cNvSpPr/>
          <p:nvPr/>
        </p:nvSpPr>
        <p:spPr>
          <a:xfrm>
            <a:off x="5961888" y="3529584"/>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inventory mistaken for assurance</a:t>
            </a:r>
          </a:p>
        </p:txBody>
      </p:sp>
      <p:sp>
        <p:nvSpPr>
          <p:cNvPr id="22" name="CtrlCard"/>
          <p:cNvSpPr/>
          <p:nvPr/>
        </p:nvSpPr>
        <p:spPr>
          <a:xfrm>
            <a:off x="411480" y="4261104"/>
            <a:ext cx="8321040" cy="694944"/>
          </a:xfrm>
          <a:prstGeom prst="rect">
            <a:avLst/>
          </a:prstGeom>
          <a:solidFill>
            <a:srgbClr val="F5F1E8"/>
          </a:solidFill>
          <a:ln>
            <a:noFill/>
          </a:ln>
          <a:effectLst/>
        </p:spPr>
        <p:txBody>
          <a:bodyPr rtlCol="0" anchor="ctr" wrap="square"/>
          <a:lstStyle/>
          <a:p/>
        </p:txBody>
      </p:sp>
      <p:sp>
        <p:nvSpPr>
          <p:cNvPr id="23" name="CtrlName"/>
          <p:cNvSpPr/>
          <p:nvPr/>
        </p:nvSpPr>
        <p:spPr>
          <a:xfrm>
            <a:off x="557784" y="4297680"/>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provenance verification</a:t>
            </a:r>
          </a:p>
        </p:txBody>
      </p:sp>
      <p:sp>
        <p:nvSpPr>
          <p:cNvPr id="24" name="CtrlHolds"/>
          <p:cNvSpPr/>
          <p:nvPr/>
        </p:nvSpPr>
        <p:spPr>
          <a:xfrm>
            <a:off x="2852928" y="4297680"/>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verify signatures and attestations</a:t>
            </a:r>
          </a:p>
        </p:txBody>
      </p:sp>
      <p:sp>
        <p:nvSpPr>
          <p:cNvPr id="25" name="CtrlFails"/>
          <p:cNvSpPr/>
          <p:nvPr/>
        </p:nvSpPr>
        <p:spPr>
          <a:xfrm>
            <a:off x="5961888" y="4297680"/>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unmaintained trust anchors</a:t>
            </a:r>
          </a:p>
        </p:txBody>
      </p:sp>
      <p:sp>
        <p:nvSpPr>
          <p:cNvPr id="26" name="CtrlCard"/>
          <p:cNvSpPr/>
          <p:nvPr/>
        </p:nvSpPr>
        <p:spPr>
          <a:xfrm>
            <a:off x="411480" y="5029200"/>
            <a:ext cx="8321040" cy="694944"/>
          </a:xfrm>
          <a:prstGeom prst="rect">
            <a:avLst/>
          </a:prstGeom>
          <a:solidFill>
            <a:srgbClr val="FCFAF6"/>
          </a:solidFill>
          <a:ln>
            <a:noFill/>
          </a:ln>
          <a:effectLst/>
        </p:spPr>
        <p:txBody>
          <a:bodyPr rtlCol="0" anchor="ctr" wrap="square"/>
          <a:lstStyle/>
          <a:p/>
        </p:txBody>
      </p:sp>
      <p:sp>
        <p:nvSpPr>
          <p:cNvPr id="27" name="CtrlName"/>
          <p:cNvSpPr/>
          <p:nvPr/>
        </p:nvSpPr>
        <p:spPr>
          <a:xfrm>
            <a:off x="557784" y="5065776"/>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pin + planned updates</a:t>
            </a:r>
          </a:p>
        </p:txBody>
      </p:sp>
      <p:sp>
        <p:nvSpPr>
          <p:cNvPr id="28" name="CtrlHolds"/>
          <p:cNvSpPr/>
          <p:nvPr/>
        </p:nvSpPr>
        <p:spPr>
          <a:xfrm>
            <a:off x="2852928" y="5065776"/>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pin everything; schedule the updates</a:t>
            </a:r>
          </a:p>
        </p:txBody>
      </p:sp>
      <p:sp>
        <p:nvSpPr>
          <p:cNvPr id="29" name="CtrlFails"/>
          <p:cNvSpPr/>
          <p:nvPr/>
        </p:nvSpPr>
        <p:spPr>
          <a:xfrm>
            <a:off x="5961888" y="5065776"/>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pinned forever, drift accumulates</a:t>
            </a:r>
          </a:p>
        </p:txBody>
      </p:sp>
      <p:sp>
        <p:nvSpPr>
          <p:cNvPr id="30"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A judgment made once becomes a control enforced every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evidence and controls justify continued reliance?</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QUESTION 3</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Judgments decay unless something holds them: a safety net for restructuring, standing controls for inherited obligations, one picture of both graphs.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One system, two graphs, one reliance question</a:t>
            </a:r>
          </a:p>
        </p:txBody>
      </p:sp>
      <p:sp>
        <p:nvSpPr>
          <p:cNvPr id="3" name="IntContainer" descr="Internal subgraph: handlers, booking policy with the lab change, persistence, joined by structural coupling edges; persistence reaches the database as a runtime service"/>
          <p:cNvSpPr/>
          <p:nvPr/>
        </p:nvSpPr>
        <p:spPr>
          <a:xfrm>
            <a:off x="411480" y="914400"/>
            <a:ext cx="3931920" cy="3246120"/>
          </a:xfrm>
          <a:prstGeom prst="rect">
            <a:avLst/>
          </a:prstGeom>
          <a:solidFill>
            <a:srgbClr val="FCFAF6"/>
          </a:solidFill>
          <a:ln w="19050">
            <a:solidFill>
              <a:srgbClr val="8E6F3E"/>
            </a:solidFill>
          </a:ln>
          <a:effectLst/>
        </p:spPr>
        <p:txBody>
          <a:bodyPr rtlCol="0" anchor="t" wrap="square"/>
          <a:lstStyle/>
          <a:p>
            <a:pPr algn="l">
              <a:spcAft>
                <a:spcPts val="0"/>
              </a:spcAft>
            </a:pPr>
            <a:r>
              <a:rPr sz="2000" b="1">
                <a:solidFill>
                  <a:srgbClr val="8E6F3E"/>
                </a:solidFill>
                <a:latin typeface="Calibri"/>
              </a:rPr>
              <a:t>INTERNAL STRUCTURE</a:t>
            </a:r>
          </a:p>
        </p:txBody>
      </p:sp>
      <p:sp>
        <p:nvSpPr>
          <p:cNvPr id="4" name="InhContainer" descr="Inherited subgraph: web framework at a pinned version bringing an HTTP parser, and the date-interval library used by booking policy"/>
          <p:cNvSpPr/>
          <p:nvPr/>
        </p:nvSpPr>
        <p:spPr>
          <a:xfrm>
            <a:off x="4800600" y="914400"/>
            <a:ext cx="3931920" cy="3246120"/>
          </a:xfrm>
          <a:prstGeom prst="rect">
            <a:avLst/>
          </a:prstGeom>
          <a:solidFill>
            <a:srgbClr val="FCFAF6"/>
          </a:solidFill>
          <a:ln w="19050">
            <a:solidFill>
              <a:srgbClr val="555960"/>
            </a:solidFill>
          </a:ln>
          <a:effectLst/>
        </p:spPr>
        <p:txBody>
          <a:bodyPr rtlCol="0" anchor="t" wrap="square"/>
          <a:lstStyle/>
          <a:p>
            <a:pPr algn="l">
              <a:spcAft>
                <a:spcPts val="0"/>
              </a:spcAft>
            </a:pPr>
            <a:r>
              <a:rPr sz="2000" b="1">
                <a:solidFill>
                  <a:srgbClr val="8E6F3E"/>
                </a:solidFill>
                <a:latin typeface="Calibri"/>
              </a:rPr>
              <a:t>INHERITED COMPONENTS</a:t>
            </a:r>
          </a:p>
        </p:txBody>
      </p:sp>
      <p:sp>
        <p:nvSpPr>
          <p:cNvPr id="5" name="IntNode"/>
          <p:cNvSpPr/>
          <p:nvPr/>
        </p:nvSpPr>
        <p:spPr>
          <a:xfrm>
            <a:off x="777240" y="141732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HANDLERS</a:t>
            </a:r>
          </a:p>
        </p:txBody>
      </p:sp>
      <p:sp>
        <p:nvSpPr>
          <p:cNvPr id="6" name="IntNode" descr="Booking policy, carrying the laboratory policy change request"/>
          <p:cNvSpPr/>
          <p:nvPr/>
        </p:nvSpPr>
        <p:spPr>
          <a:xfrm>
            <a:off x="777240" y="228600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a:p>
            <a:pPr algn="ctr">
              <a:spcAft>
                <a:spcPts val="0"/>
              </a:spcAft>
            </a:pPr>
            <a:r>
              <a:rPr sz="2000" b="0">
                <a:solidFill>
                  <a:srgbClr val="FFFFFF"/>
                </a:solidFill>
                <a:latin typeface="Calibri"/>
              </a:rPr>
              <a:t>Δ lab policy</a:t>
            </a:r>
          </a:p>
        </p:txBody>
      </p:sp>
      <p:sp>
        <p:nvSpPr>
          <p:cNvPr id="7" name="IntNode"/>
          <p:cNvSpPr/>
          <p:nvPr/>
        </p:nvSpPr>
        <p:spPr>
          <a:xfrm>
            <a:off x="777240" y="329184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PERSISTENCE</a:t>
            </a:r>
          </a:p>
        </p:txBody>
      </p:sp>
      <p:cxnSp>
        <p:nvCxnSpPr>
          <p:cNvPr id="8" name="IntEdge"/>
          <p:cNvCxnSpPr/>
          <p:nvPr/>
        </p:nvCxnSpPr>
        <p:spPr>
          <a:xfrm>
            <a:off x="1965960" y="1965960"/>
            <a:ext cx="0" cy="320040"/>
          </a:xfrm>
          <a:prstGeom prst="line">
            <a:avLst/>
          </a:prstGeom>
          <a:ln w="19050">
            <a:solidFill>
              <a:srgbClr val="8E6F3E"/>
            </a:solidFill>
            <a:tailEnd type="triangle" w="med" len="med"/>
          </a:ln>
        </p:spPr>
      </p:cxnSp>
      <p:cxnSp>
        <p:nvCxnSpPr>
          <p:cNvPr id="9" name="IntEdge"/>
          <p:cNvCxnSpPr/>
          <p:nvPr/>
        </p:nvCxnSpPr>
        <p:spPr>
          <a:xfrm>
            <a:off x="1965960" y="2971800"/>
            <a:ext cx="0" cy="320040"/>
          </a:xfrm>
          <a:prstGeom prst="line">
            <a:avLst/>
          </a:prstGeom>
          <a:ln w="19050">
            <a:solidFill>
              <a:srgbClr val="8E6F3E"/>
            </a:solidFill>
            <a:tailEnd type="triangle" w="med" len="med"/>
          </a:ln>
        </p:spPr>
      </p:cxnSp>
      <p:sp>
        <p:nvSpPr>
          <p:cNvPr id="10" name="InhNode"/>
          <p:cNvSpPr/>
          <p:nvPr/>
        </p:nvSpPr>
        <p:spPr>
          <a:xfrm>
            <a:off x="5074920" y="141732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WEB FRAMEWORK</a:t>
            </a:r>
          </a:p>
        </p:txBody>
      </p:sp>
      <p:sp>
        <p:nvSpPr>
          <p:cNvPr id="11" name="InhNode"/>
          <p:cNvSpPr/>
          <p:nvPr/>
        </p:nvSpPr>
        <p:spPr>
          <a:xfrm>
            <a:off x="5074920" y="242316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DATE LIB (LGPL)</a:t>
            </a:r>
          </a:p>
        </p:txBody>
      </p:sp>
      <p:sp>
        <p:nvSpPr>
          <p:cNvPr id="12" name="InhNode"/>
          <p:cNvSpPr/>
          <p:nvPr/>
        </p:nvSpPr>
        <p:spPr>
          <a:xfrm>
            <a:off x="6400800" y="3291840"/>
            <a:ext cx="210312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HTTP PARSER</a:t>
            </a:r>
          </a:p>
        </p:txBody>
      </p:sp>
      <p:sp>
        <p:nvSpPr>
          <p:cNvPr id="13" name="InhEdge" descr="the web framework brings the HTTP parser transitively"/>
          <p:cNvSpPr/>
          <p:nvPr/>
        </p:nvSpPr>
        <p:spPr>
          <a:xfrm>
            <a:off x="7360920" y="1691640"/>
            <a:ext cx="640079" cy="1600200"/>
          </a:xfrm>
          <a:custGeom>
            <a:avLst/>
            <a:gdLst/>
            <a:ahLst/>
            <a:cxnLst/>
            <a:rect l="0" t="0" r="0" b="0"/>
            <a:pathLst>
              <a:path w="640079" h="1600200" fill="none">
                <a:moveTo>
                  <a:pt x="0" y="0"/>
                </a:moveTo>
                <a:lnTo>
                  <a:pt x="640080" y="0"/>
                </a:lnTo>
                <a:lnTo>
                  <a:pt x="640080" y="1600200"/>
                </a:lnTo>
              </a:path>
            </a:pathLst>
          </a:custGeom>
          <a:noFill/>
          <a:ln w="19050">
            <a:solidFill>
              <a:srgbClr val="555960"/>
            </a:solidFill>
            <a:prstDash val="dash"/>
            <a:tailEnd type="triangle" w="med" len="med"/>
          </a:ln>
        </p:spPr>
        <p:txBody>
          <a:bodyPr rtlCol="0" anchor="ctr" wrap="square"/>
          <a:lstStyle/>
          <a:p/>
        </p:txBody>
      </p:sp>
      <p:cxnSp>
        <p:nvCxnSpPr>
          <p:cNvPr id="14" name="CrossEdge"/>
          <p:cNvCxnSpPr/>
          <p:nvPr/>
        </p:nvCxnSpPr>
        <p:spPr>
          <a:xfrm>
            <a:off x="3154680" y="1691640"/>
            <a:ext cx="1920240" cy="0"/>
          </a:xfrm>
          <a:prstGeom prst="line">
            <a:avLst/>
          </a:prstGeom>
          <a:ln w="19050">
            <a:solidFill>
              <a:srgbClr val="555960"/>
            </a:solidFill>
            <a:prstDash val="dash"/>
            <a:tailEnd type="triangle" w="med" len="med"/>
          </a:ln>
        </p:spPr>
      </p:cxnSp>
      <p:cxnSp>
        <p:nvCxnSpPr>
          <p:cNvPr id="15" name="CrossEdge2"/>
          <p:cNvCxnSpPr/>
          <p:nvPr/>
        </p:nvCxnSpPr>
        <p:spPr>
          <a:xfrm>
            <a:off x="3154680" y="2697480"/>
            <a:ext cx="1920240" cy="0"/>
          </a:xfrm>
          <a:prstGeom prst="line">
            <a:avLst/>
          </a:prstGeom>
          <a:ln w="19050">
            <a:solidFill>
              <a:srgbClr val="555960"/>
            </a:solidFill>
            <a:prstDash val="dash"/>
            <a:tailEnd type="triangle" w="med" len="med"/>
          </a:ln>
        </p:spPr>
      </p:cxnSp>
      <p:sp>
        <p:nvSpPr>
          <p:cNvPr id="16" name="DbNode"/>
          <p:cNvSpPr/>
          <p:nvPr/>
        </p:nvSpPr>
        <p:spPr>
          <a:xfrm>
            <a:off x="777240" y="4526280"/>
            <a:ext cx="2377440" cy="50292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DATABASE</a:t>
            </a:r>
          </a:p>
        </p:txBody>
      </p:sp>
      <p:cxnSp>
        <p:nvCxnSpPr>
          <p:cNvPr id="17" name="RtEdge"/>
          <p:cNvCxnSpPr/>
          <p:nvPr/>
        </p:nvCxnSpPr>
        <p:spPr>
          <a:xfrm>
            <a:off x="1965960" y="3840480"/>
            <a:ext cx="0" cy="685800"/>
          </a:xfrm>
          <a:prstGeom prst="line">
            <a:avLst/>
          </a:prstGeom>
          <a:ln w="19050">
            <a:solidFill>
              <a:srgbClr val="5C4826"/>
            </a:solidFill>
            <a:prstDash val="sysDot"/>
            <a:tailEnd type="triangle" w="med" len="med"/>
          </a:ln>
        </p:spPr>
      </p:cxnSp>
      <p:sp>
        <p:nvSpPr>
          <p:cNvPr id="18" name="Legend"/>
          <p:cNvSpPr/>
          <p:nvPr/>
        </p:nvSpPr>
        <p:spPr>
          <a:xfrm>
            <a:off x="3337560" y="4480560"/>
            <a:ext cx="5394960" cy="594360"/>
          </a:xfrm>
          <a:prstGeom prst="rect">
            <a:avLst/>
          </a:prstGeom>
          <a:noFill/>
          <a:ln>
            <a:noFill/>
          </a:ln>
          <a:effectLst/>
        </p:spPr>
        <p:txBody>
          <a:bodyPr rtlCol="0" anchor="ctr" wrap="square"/>
          <a:lstStyle/>
          <a:p>
            <a:pPr algn="l">
              <a:spcAft>
                <a:spcPts val="0"/>
              </a:spcAft>
            </a:pPr>
            <a:r>
              <a:rPr sz="2000" b="0">
                <a:solidFill>
                  <a:srgbClr val="555960"/>
                </a:solidFill>
                <a:latin typeface="Calibri"/>
              </a:rPr>
              <a:t>solid: structural coupling   ·   dashed: package at a pinned version   ·   dotted: runtime service</a:t>
            </a:r>
          </a:p>
        </p:txBody>
      </p:sp>
      <p:sp>
        <p:nvSpPr>
          <p:cNvPr id="19" name="FooterBand"/>
          <p:cNvSpPr/>
          <p:nvPr/>
        </p:nvSpPr>
        <p:spPr>
          <a:xfrm>
            <a:off x="274320" y="5513832"/>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FooterBandText"/>
          <p:cNvSpPr/>
          <p:nvPr/>
        </p:nvSpPr>
        <p:spPr>
          <a:xfrm>
            <a:off x="384048" y="5532120"/>
            <a:ext cx="8375904" cy="7772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change crosses an internal boundary, and which inherited edge constrains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The reliance question through the Act III method</a:t>
            </a:r>
          </a:p>
        </p:txBody>
      </p:sp>
      <p:sp>
        <p:nvSpPr>
          <p:cNvPr id="3" name="Method" descr="Act III method step Problem: passing I/O tests is not yet reliance"/>
          <p:cNvSpPr/>
          <p:nvPr/>
        </p:nvSpPr>
        <p:spPr>
          <a:xfrm>
            <a:off x="41148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Problem</a:t>
            </a:r>
          </a:p>
          <a:p>
            <a:pPr algn="ctr">
              <a:spcAft>
                <a:spcPts val="0"/>
              </a:spcAft>
            </a:pPr>
            <a:r>
              <a:rPr sz="2000" b="0">
                <a:solidFill>
                  <a:srgbClr val="FFFFFF"/>
                </a:solidFill>
                <a:latin typeface="Calibri"/>
              </a:rPr>
              <a:t>passing I/O tests is not yet reliance</a:t>
            </a:r>
          </a:p>
        </p:txBody>
      </p:sp>
      <p:sp>
        <p:nvSpPr>
          <p:cNvPr id="4" name="Method" descr="Act III method step Model: recovered structure, dependencies, obligations"/>
          <p:cNvSpPr/>
          <p:nvPr/>
        </p:nvSpPr>
        <p:spPr>
          <a:xfrm>
            <a:off x="333756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Model</a:t>
            </a:r>
          </a:p>
          <a:p>
            <a:pPr algn="ctr">
              <a:spcAft>
                <a:spcPts val="0"/>
              </a:spcAft>
            </a:pPr>
            <a:r>
              <a:rPr sz="2000" b="0">
                <a:solidFill>
                  <a:srgbClr val="FFFFFF"/>
                </a:solidFill>
                <a:latin typeface="Calibri"/>
              </a:rPr>
              <a:t>recovered structure, dependencies, obligations</a:t>
            </a:r>
          </a:p>
        </p:txBody>
      </p:sp>
      <p:sp>
        <p:nvSpPr>
          <p:cNvPr id="5" name="Method" descr="Act III method step Judgment: organization and dependency selection"/>
          <p:cNvSpPr/>
          <p:nvPr/>
        </p:nvSpPr>
        <p:spPr>
          <a:xfrm>
            <a:off x="626364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Judgment</a:t>
            </a:r>
          </a:p>
          <a:p>
            <a:pPr algn="ctr">
              <a:spcAft>
                <a:spcPts val="0"/>
              </a:spcAft>
            </a:pPr>
            <a:r>
              <a:rPr sz="2000" b="0">
                <a:solidFill>
                  <a:srgbClr val="FFFFFF"/>
                </a:solidFill>
                <a:latin typeface="Calibri"/>
              </a:rPr>
              <a:t>organization and dependency selection</a:t>
            </a:r>
          </a:p>
        </p:txBody>
      </p:sp>
      <p:sp>
        <p:nvSpPr>
          <p:cNvPr id="6" name="Method" descr="Act III method step Accept / reject: the stated obligations hold"/>
          <p:cNvSpPr/>
          <p:nvPr/>
        </p:nvSpPr>
        <p:spPr>
          <a:xfrm>
            <a:off x="41148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Accept / reject</a:t>
            </a:r>
          </a:p>
          <a:p>
            <a:pPr algn="ctr">
              <a:spcAft>
                <a:spcPts val="0"/>
              </a:spcAft>
            </a:pPr>
            <a:r>
              <a:rPr sz="2000" b="0">
                <a:solidFill>
                  <a:srgbClr val="FFFFFF"/>
                </a:solidFill>
                <a:latin typeface="Calibri"/>
              </a:rPr>
              <a:t>the stated obligations hold</a:t>
            </a:r>
          </a:p>
        </p:txBody>
      </p:sp>
      <p:sp>
        <p:nvSpPr>
          <p:cNvPr id="7" name="Method" descr="Act III method step Evidence: change impact, invariant tests, supply-chain checks"/>
          <p:cNvSpPr/>
          <p:nvPr/>
        </p:nvSpPr>
        <p:spPr>
          <a:xfrm>
            <a:off x="333756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Evidence</a:t>
            </a:r>
          </a:p>
          <a:p>
            <a:pPr algn="ctr">
              <a:spcAft>
                <a:spcPts val="0"/>
              </a:spcAft>
            </a:pPr>
            <a:r>
              <a:rPr sz="2000" b="0">
                <a:solidFill>
                  <a:srgbClr val="FFFFFF"/>
                </a:solidFill>
                <a:latin typeface="Calibri"/>
              </a:rPr>
              <a:t>change impact, invariant tests, supply-chain checks</a:t>
            </a:r>
          </a:p>
        </p:txBody>
      </p:sp>
      <p:sp>
        <p:nvSpPr>
          <p:cNvPr id="8" name="Method" descr="Act III method step Realize: refactor, configure, upgrade"/>
          <p:cNvSpPr/>
          <p:nvPr/>
        </p:nvSpPr>
        <p:spPr>
          <a:xfrm>
            <a:off x="626364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Realize</a:t>
            </a:r>
          </a:p>
          <a:p>
            <a:pPr algn="ctr">
              <a:spcAft>
                <a:spcPts val="0"/>
              </a:spcAft>
            </a:pPr>
            <a:r>
              <a:rPr sz="2000" b="0">
                <a:solidFill>
                  <a:srgbClr val="FFFFFF"/>
                </a:solidFill>
                <a:latin typeface="Calibri"/>
              </a:rPr>
              <a:t>refactor, configure, upgrade</a:t>
            </a:r>
          </a:p>
        </p:txBody>
      </p:sp>
      <p:sp>
        <p:nvSpPr>
          <p:cNvPr id="9" name="Arrow"/>
          <p:cNvSpPr/>
          <p:nvPr/>
        </p:nvSpPr>
        <p:spPr>
          <a:xfrm>
            <a:off x="2907792" y="1463040"/>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Arrow"/>
          <p:cNvSpPr/>
          <p:nvPr/>
        </p:nvSpPr>
        <p:spPr>
          <a:xfrm>
            <a:off x="5833872" y="1463040"/>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Arrow" descr="Judgment flows down to Realize"/>
          <p:cNvSpPr/>
          <p:nvPr/>
        </p:nvSpPr>
        <p:spPr>
          <a:xfrm>
            <a:off x="7315200" y="2212848"/>
            <a:ext cx="365760" cy="1033272"/>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Arrow"/>
          <p:cNvSpPr/>
          <p:nvPr/>
        </p:nvSpPr>
        <p:spPr>
          <a:xfrm>
            <a:off x="5833872" y="3794760"/>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Arrow"/>
          <p:cNvSpPr/>
          <p:nvPr/>
        </p:nvSpPr>
        <p:spPr>
          <a:xfrm>
            <a:off x="2907792" y="3794760"/>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FeedbackModel" descr="Feedback from accept/reject to the model: rethink the model"/>
          <p:cNvSpPr/>
          <p:nvPr/>
        </p:nvSpPr>
        <p:spPr>
          <a:xfrm>
            <a:off x="1417320" y="2212848"/>
            <a:ext cx="2788920" cy="1033271"/>
          </a:xfrm>
          <a:custGeom>
            <a:avLst/>
            <a:gdLst/>
            <a:ahLst/>
            <a:cxnLst/>
            <a:rect l="0" t="0" r="0" b="0"/>
            <a:pathLst>
              <a:path w="2788920" h="1033271" fill="none">
                <a:moveTo>
                  <a:pt x="0" y="1033272"/>
                </a:moveTo>
                <a:lnTo>
                  <a:pt x="0" y="237744"/>
                </a:lnTo>
                <a:lnTo>
                  <a:pt x="2788920" y="237744"/>
                </a:lnTo>
                <a:lnTo>
                  <a:pt x="2788920" y="0"/>
                </a:lnTo>
              </a:path>
            </a:pathLst>
          </a:custGeom>
          <a:noFill/>
          <a:ln w="15875">
            <a:solidFill>
              <a:srgbClr val="8E6F3E"/>
            </a:solidFill>
            <a:prstDash val="dash"/>
            <a:tailEnd type="triangle" w="med" len="med"/>
          </a:ln>
        </p:spPr>
        <p:txBody>
          <a:bodyPr rtlCol="0" anchor="ctr" wrap="square"/>
          <a:lstStyle/>
          <a:p/>
        </p:txBody>
      </p:sp>
      <p:sp>
        <p:nvSpPr>
          <p:cNvPr id="15" name="FeedbackJudgment" descr="Feedback from accept/reject to the judgment: re-make the judgment"/>
          <p:cNvSpPr/>
          <p:nvPr/>
        </p:nvSpPr>
        <p:spPr>
          <a:xfrm>
            <a:off x="2148840" y="2212848"/>
            <a:ext cx="4983479" cy="1033271"/>
          </a:xfrm>
          <a:custGeom>
            <a:avLst/>
            <a:gdLst/>
            <a:ahLst/>
            <a:cxnLst/>
            <a:rect l="0" t="0" r="0" b="0"/>
            <a:pathLst>
              <a:path w="4983479" h="1033271" fill="none">
                <a:moveTo>
                  <a:pt x="0" y="1033272"/>
                </a:moveTo>
                <a:lnTo>
                  <a:pt x="0" y="932688"/>
                </a:lnTo>
                <a:lnTo>
                  <a:pt x="4983480" y="932688"/>
                </a:lnTo>
                <a:lnTo>
                  <a:pt x="4983480" y="0"/>
                </a:lnTo>
              </a:path>
            </a:pathLst>
          </a:custGeom>
          <a:noFill/>
          <a:ln w="15875">
            <a:solidFill>
              <a:srgbClr val="8E6F3E"/>
            </a:solidFill>
            <a:prstDash val="dash"/>
            <a:tailEnd type="triangle" w="med" len="med"/>
          </a:ln>
        </p:spPr>
        <p:txBody>
          <a:bodyPr rtlCol="0" anchor="ctr" wrap="square"/>
          <a:lstStyle/>
          <a:p/>
        </p:txBody>
      </p:sp>
      <p:sp>
        <p:nvSpPr>
          <p:cNvPr id="16" name="FeedbackLabel"/>
          <p:cNvSpPr/>
          <p:nvPr/>
        </p:nvSpPr>
        <p:spPr>
          <a:xfrm>
            <a:off x="4434840" y="2542032"/>
            <a:ext cx="2468880" cy="512064"/>
          </a:xfrm>
          <a:prstGeom prst="rect">
            <a:avLst/>
          </a:prstGeom>
          <a:noFill/>
          <a:ln>
            <a:noFill/>
          </a:ln>
          <a:effectLst/>
        </p:spPr>
        <p:txBody>
          <a:bodyPr rtlCol="0" anchor="ctr" wrap="square" lIns="27432" rIns="27432"/>
          <a:lstStyle/>
          <a:p>
            <a:pPr algn="ctr">
              <a:spcAft>
                <a:spcPts val="0"/>
              </a:spcAft>
            </a:pPr>
            <a:r>
              <a:rPr sz="2000" b="0">
                <a:solidFill>
                  <a:srgbClr val="555960"/>
                </a:solidFill>
                <a:latin typeface="Calibri"/>
              </a:rPr>
              <a:t>revise the model or the judgment</a:t>
            </a:r>
          </a:p>
        </p:txBody>
      </p:sp>
      <p:cxnSp>
        <p:nvCxnSpPr>
          <p:cNvPr id="17" name="AlignLink"/>
          <p:cNvCxnSpPr/>
          <p:nvPr/>
        </p:nvCxnSpPr>
        <p:spPr>
          <a:xfrm>
            <a:off x="4572000" y="4544568"/>
            <a:ext cx="0" cy="128016"/>
          </a:xfrm>
          <a:prstGeom prst="line">
            <a:avLst/>
          </a:prstGeom>
          <a:ln w="25400">
            <a:solidFill>
              <a:srgbClr val="8E6F3E"/>
            </a:solidFill>
          </a:ln>
        </p:spPr>
      </p:cxnSp>
      <p:cxnSp>
        <p:nvCxnSpPr>
          <p:cNvPr id="18" name="AlignLink"/>
          <p:cNvCxnSpPr/>
          <p:nvPr/>
        </p:nvCxnSpPr>
        <p:spPr>
          <a:xfrm>
            <a:off x="7498080" y="4544568"/>
            <a:ext cx="0" cy="128016"/>
          </a:xfrm>
          <a:prstGeom prst="line">
            <a:avLst/>
          </a:prstGeom>
          <a:ln w="25400">
            <a:solidFill>
              <a:srgbClr val="8E6F3E"/>
            </a:solidFill>
          </a:ln>
        </p:spPr>
      </p:cxnSp>
      <p:sp>
        <p:nvSpPr>
          <p:cNvPr id="19" name="AlignBand"/>
          <p:cNvSpPr/>
          <p:nvPr/>
        </p:nvSpPr>
        <p:spPr>
          <a:xfrm>
            <a:off x="411480" y="4672584"/>
            <a:ext cx="8321040" cy="713232"/>
          </a:xfrm>
          <a:prstGeom prst="rect">
            <a:avLst/>
          </a:prstGeom>
          <a:solidFill>
            <a:srgbClr val="FCFAF6"/>
          </a:solidFill>
          <a:ln>
            <a:noFill/>
          </a:ln>
          <a:effectLst/>
        </p:spPr>
        <p:txBody>
          <a:bodyPr rtlCol="0" anchor="ctr" wrap="square"/>
          <a:lstStyle/>
          <a:p/>
        </p:txBody>
      </p:sp>
      <p:sp>
        <p:nvSpPr>
          <p:cNvPr id="20" name="AlignText"/>
          <p:cNvSpPr/>
          <p:nvPr/>
        </p:nvSpPr>
        <p:spPr>
          <a:xfrm>
            <a:off x="557784" y="4727448"/>
            <a:ext cx="8046720" cy="621792"/>
          </a:xfrm>
          <a:prstGeom prst="rect">
            <a:avLst/>
          </a:prstGeom>
          <a:noFill/>
          <a:ln>
            <a:noFill/>
          </a:ln>
          <a:effectLst/>
        </p:spPr>
        <p:txBody>
          <a:bodyPr rtlCol="0" anchor="ctr" wrap="square"/>
          <a:lstStyle/>
          <a:p>
            <a:pPr algn="l">
              <a:spcAft>
                <a:spcPts val="0"/>
              </a:spcAft>
            </a:pPr>
            <a:r>
              <a:rPr sz="2000" b="1">
                <a:solidFill>
                  <a:srgbClr val="8E6F3E"/>
                </a:solidFill>
                <a:latin typeface="Calibri"/>
              </a:rPr>
              <a:t>ALIGNMENT, alongside realization and evidence: </a:t>
            </a:r>
            <a:r>
              <a:rPr sz="2000" b="0">
                <a:solidFill>
                  <a:srgbClr val="555960"/>
                </a:solidFill>
                <a:latin typeface="Calibri"/>
              </a:rPr>
              <a:t>dependency rules, architectural checks, CI gates, release gates</a:t>
            </a:r>
          </a:p>
        </p:txBody>
      </p:sp>
      <p:sp>
        <p:nvSpPr>
          <p:cNvPr id="21" name="FooterBand"/>
          <p:cNvSpPr/>
          <p:nvPr/>
        </p:nvSpPr>
        <p:spPr>
          <a:xfrm>
            <a:off x="274320" y="5513832"/>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FooterBandText"/>
          <p:cNvSpPr/>
          <p:nvPr/>
        </p:nvSpPr>
        <p:spPr>
          <a:xfrm>
            <a:off x="384048" y="5532120"/>
            <a:ext cx="8375904" cy="7772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We have examined the system's structure and dependencies.</a:t>
            </a:r>
          </a:p>
          <a:p>
            <a:pPr algn="ctr">
              <a:spcAft>
                <a:spcPts val="0"/>
              </a:spcAft>
            </a:pPr>
            <a:r>
              <a:rPr sz="2000" b="1">
                <a:solidFill>
                  <a:srgbClr val="FFFFFF"/>
                </a:solidFill>
                <a:latin typeface="Calibri"/>
              </a:rPr>
              <a:t>Next we ask whether its behavior satisfies quantitative requirements under load and failure.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Two graphs we do not yet understand</a:t>
            </a:r>
          </a:p>
        </p:txBody>
      </p:sp>
      <p:sp>
        <p:nvSpPr>
          <p:cNvPr id="3" name="IntContainer" descr="Internal subgraph: handlers, booking policy with the lab change, persistence, joined by structural coupling edges; persistence reaches the database as a runtime service"/>
          <p:cNvSpPr/>
          <p:nvPr/>
        </p:nvSpPr>
        <p:spPr>
          <a:xfrm>
            <a:off x="411480" y="914400"/>
            <a:ext cx="3931920" cy="3246120"/>
          </a:xfrm>
          <a:prstGeom prst="rect">
            <a:avLst/>
          </a:prstGeom>
          <a:solidFill>
            <a:srgbClr val="FCFAF6"/>
          </a:solidFill>
          <a:ln w="19050">
            <a:solidFill>
              <a:srgbClr val="8E6F3E"/>
            </a:solidFill>
          </a:ln>
          <a:effectLst/>
        </p:spPr>
        <p:txBody>
          <a:bodyPr rtlCol="0" anchor="t" wrap="square"/>
          <a:lstStyle/>
          <a:p>
            <a:pPr algn="l">
              <a:spcAft>
                <a:spcPts val="0"/>
              </a:spcAft>
            </a:pPr>
            <a:r>
              <a:rPr sz="2000" b="1">
                <a:solidFill>
                  <a:srgbClr val="8E6F3E"/>
                </a:solidFill>
                <a:latin typeface="Calibri"/>
              </a:rPr>
              <a:t>INTERNAL ARCHITECTURE</a:t>
            </a:r>
          </a:p>
        </p:txBody>
      </p:sp>
      <p:sp>
        <p:nvSpPr>
          <p:cNvPr id="4" name="InhContainer" descr="Inherited subgraph: web framework at a pinned version bringing an HTTP parser, and the date-interval library used by booking policy"/>
          <p:cNvSpPr/>
          <p:nvPr/>
        </p:nvSpPr>
        <p:spPr>
          <a:xfrm>
            <a:off x="4800600" y="914400"/>
            <a:ext cx="3931920" cy="3246120"/>
          </a:xfrm>
          <a:prstGeom prst="rect">
            <a:avLst/>
          </a:prstGeom>
          <a:solidFill>
            <a:srgbClr val="FCFAF6"/>
          </a:solidFill>
          <a:ln w="19050">
            <a:solidFill>
              <a:srgbClr val="555960"/>
            </a:solidFill>
          </a:ln>
          <a:effectLst/>
        </p:spPr>
        <p:txBody>
          <a:bodyPr rtlCol="0" anchor="t" wrap="square"/>
          <a:lstStyle/>
          <a:p>
            <a:pPr algn="l">
              <a:spcAft>
                <a:spcPts val="0"/>
              </a:spcAft>
            </a:pPr>
            <a:r>
              <a:rPr sz="2000" b="1">
                <a:solidFill>
                  <a:srgbClr val="8E6F3E"/>
                </a:solidFill>
                <a:latin typeface="Calibri"/>
              </a:rPr>
              <a:t>EXTERNAL DEPENDENCIES</a:t>
            </a:r>
          </a:p>
        </p:txBody>
      </p:sp>
      <p:sp>
        <p:nvSpPr>
          <p:cNvPr id="5" name="IntNode"/>
          <p:cNvSpPr/>
          <p:nvPr/>
        </p:nvSpPr>
        <p:spPr>
          <a:xfrm>
            <a:off x="777240" y="141732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HANDLERS</a:t>
            </a:r>
          </a:p>
        </p:txBody>
      </p:sp>
      <p:sp>
        <p:nvSpPr>
          <p:cNvPr id="6" name="IntNode" descr="Booking policy, carrying the laboratory policy change request"/>
          <p:cNvSpPr/>
          <p:nvPr/>
        </p:nvSpPr>
        <p:spPr>
          <a:xfrm>
            <a:off x="777240" y="228600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a:p>
            <a:pPr algn="ctr">
              <a:spcAft>
                <a:spcPts val="0"/>
              </a:spcAft>
            </a:pPr>
            <a:r>
              <a:rPr sz="2000" b="0">
                <a:solidFill>
                  <a:srgbClr val="FFFFFF"/>
                </a:solidFill>
                <a:latin typeface="Calibri"/>
              </a:rPr>
              <a:t>Δ lab policy</a:t>
            </a:r>
          </a:p>
        </p:txBody>
      </p:sp>
      <p:sp>
        <p:nvSpPr>
          <p:cNvPr id="7" name="IntNode"/>
          <p:cNvSpPr/>
          <p:nvPr/>
        </p:nvSpPr>
        <p:spPr>
          <a:xfrm>
            <a:off x="777240" y="329184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PERSISTENCE</a:t>
            </a:r>
          </a:p>
        </p:txBody>
      </p:sp>
      <p:cxnSp>
        <p:nvCxnSpPr>
          <p:cNvPr id="8" name="IntEdge"/>
          <p:cNvCxnSpPr/>
          <p:nvPr/>
        </p:nvCxnSpPr>
        <p:spPr>
          <a:xfrm>
            <a:off x="1965960" y="1965960"/>
            <a:ext cx="0" cy="320040"/>
          </a:xfrm>
          <a:prstGeom prst="line">
            <a:avLst/>
          </a:prstGeom>
          <a:ln w="19050">
            <a:solidFill>
              <a:srgbClr val="8E6F3E"/>
            </a:solidFill>
            <a:tailEnd type="triangle" w="med" len="med"/>
          </a:ln>
        </p:spPr>
      </p:cxnSp>
      <p:cxnSp>
        <p:nvCxnSpPr>
          <p:cNvPr id="9" name="IntEdge"/>
          <p:cNvCxnSpPr/>
          <p:nvPr/>
        </p:nvCxnSpPr>
        <p:spPr>
          <a:xfrm>
            <a:off x="1965960" y="2971800"/>
            <a:ext cx="0" cy="320040"/>
          </a:xfrm>
          <a:prstGeom prst="line">
            <a:avLst/>
          </a:prstGeom>
          <a:ln w="19050">
            <a:solidFill>
              <a:srgbClr val="8E6F3E"/>
            </a:solidFill>
            <a:tailEnd type="triangle" w="med" len="med"/>
          </a:ln>
        </p:spPr>
      </p:cxnSp>
      <p:sp>
        <p:nvSpPr>
          <p:cNvPr id="10" name="InhNode"/>
          <p:cNvSpPr/>
          <p:nvPr/>
        </p:nvSpPr>
        <p:spPr>
          <a:xfrm>
            <a:off x="5074920" y="141732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WEB FRAMEWORK</a:t>
            </a:r>
          </a:p>
        </p:txBody>
      </p:sp>
      <p:sp>
        <p:nvSpPr>
          <p:cNvPr id="11" name="InhNode"/>
          <p:cNvSpPr/>
          <p:nvPr/>
        </p:nvSpPr>
        <p:spPr>
          <a:xfrm>
            <a:off x="5074920" y="242316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DATE LIB</a:t>
            </a:r>
          </a:p>
        </p:txBody>
      </p:sp>
      <p:sp>
        <p:nvSpPr>
          <p:cNvPr id="12" name="InhNode"/>
          <p:cNvSpPr/>
          <p:nvPr/>
        </p:nvSpPr>
        <p:spPr>
          <a:xfrm>
            <a:off x="6400800" y="3291840"/>
            <a:ext cx="210312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HTTP PARSER</a:t>
            </a:r>
          </a:p>
        </p:txBody>
      </p:sp>
      <p:sp>
        <p:nvSpPr>
          <p:cNvPr id="13" name="InhEdge" descr="the web framework brings the HTTP parser transitively"/>
          <p:cNvSpPr/>
          <p:nvPr/>
        </p:nvSpPr>
        <p:spPr>
          <a:xfrm>
            <a:off x="7360920" y="1691640"/>
            <a:ext cx="640079" cy="1600200"/>
          </a:xfrm>
          <a:custGeom>
            <a:avLst/>
            <a:gdLst/>
            <a:ahLst/>
            <a:cxnLst/>
            <a:rect l="0" t="0" r="0" b="0"/>
            <a:pathLst>
              <a:path w="640079" h="1600200" fill="none">
                <a:moveTo>
                  <a:pt x="0" y="0"/>
                </a:moveTo>
                <a:lnTo>
                  <a:pt x="640080" y="0"/>
                </a:lnTo>
                <a:lnTo>
                  <a:pt x="640080" y="1600200"/>
                </a:lnTo>
              </a:path>
            </a:pathLst>
          </a:custGeom>
          <a:noFill/>
          <a:ln w="19050">
            <a:solidFill>
              <a:srgbClr val="555960"/>
            </a:solidFill>
            <a:prstDash val="dash"/>
            <a:tailEnd type="triangle" w="med" len="med"/>
          </a:ln>
        </p:spPr>
        <p:txBody>
          <a:bodyPr rtlCol="0" anchor="ctr" wrap="square"/>
          <a:lstStyle/>
          <a:p/>
        </p:txBody>
      </p:sp>
      <p:cxnSp>
        <p:nvCxnSpPr>
          <p:cNvPr id="14" name="CrossEdge"/>
          <p:cNvCxnSpPr/>
          <p:nvPr/>
        </p:nvCxnSpPr>
        <p:spPr>
          <a:xfrm>
            <a:off x="3154680" y="1691640"/>
            <a:ext cx="1920240" cy="0"/>
          </a:xfrm>
          <a:prstGeom prst="line">
            <a:avLst/>
          </a:prstGeom>
          <a:ln w="19050">
            <a:solidFill>
              <a:srgbClr val="555960"/>
            </a:solidFill>
            <a:prstDash val="dash"/>
            <a:tailEnd type="triangle" w="med" len="med"/>
          </a:ln>
        </p:spPr>
      </p:cxnSp>
      <p:cxnSp>
        <p:nvCxnSpPr>
          <p:cNvPr id="15" name="CrossEdge2"/>
          <p:cNvCxnSpPr/>
          <p:nvPr/>
        </p:nvCxnSpPr>
        <p:spPr>
          <a:xfrm>
            <a:off x="3154680" y="2697480"/>
            <a:ext cx="1920240" cy="0"/>
          </a:xfrm>
          <a:prstGeom prst="line">
            <a:avLst/>
          </a:prstGeom>
          <a:ln w="19050">
            <a:solidFill>
              <a:srgbClr val="555960"/>
            </a:solidFill>
            <a:prstDash val="dash"/>
            <a:tailEnd type="triangle" w="med" len="med"/>
          </a:ln>
        </p:spPr>
      </p:cxnSp>
      <p:sp>
        <p:nvSpPr>
          <p:cNvPr id="16" name="DbNode"/>
          <p:cNvSpPr/>
          <p:nvPr/>
        </p:nvSpPr>
        <p:spPr>
          <a:xfrm>
            <a:off x="777240" y="4526280"/>
            <a:ext cx="2377440" cy="50292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DATABASE</a:t>
            </a:r>
          </a:p>
        </p:txBody>
      </p:sp>
      <p:cxnSp>
        <p:nvCxnSpPr>
          <p:cNvPr id="17" name="RtEdge"/>
          <p:cNvCxnSpPr/>
          <p:nvPr/>
        </p:nvCxnSpPr>
        <p:spPr>
          <a:xfrm>
            <a:off x="1965960" y="3840480"/>
            <a:ext cx="0" cy="685800"/>
          </a:xfrm>
          <a:prstGeom prst="line">
            <a:avLst/>
          </a:prstGeom>
          <a:ln w="19050">
            <a:solidFill>
              <a:srgbClr val="5C4826"/>
            </a:solidFill>
            <a:prstDash val="sysDot"/>
            <a:tailEnd type="triangle" w="med" len="med"/>
          </a:ln>
        </p:spPr>
      </p:cxnSp>
      <p:sp>
        <p:nvSpPr>
          <p:cNvPr id="18" name="Legend"/>
          <p:cNvSpPr/>
          <p:nvPr/>
        </p:nvSpPr>
        <p:spPr>
          <a:xfrm>
            <a:off x="3337560" y="4480560"/>
            <a:ext cx="5394960" cy="594360"/>
          </a:xfrm>
          <a:prstGeom prst="rect">
            <a:avLst/>
          </a:prstGeom>
          <a:noFill/>
          <a:ln>
            <a:noFill/>
          </a:ln>
          <a:effectLst/>
        </p:spPr>
        <p:txBody>
          <a:bodyPr rtlCol="0" anchor="ctr" wrap="square"/>
          <a:lstStyle/>
          <a:p>
            <a:pPr algn="l">
              <a:spcAft>
                <a:spcPts val="0"/>
              </a:spcAft>
            </a:pPr>
            <a:r>
              <a:rPr sz="2000" b="0">
                <a:solidFill>
                  <a:srgbClr val="555960"/>
                </a:solidFill>
                <a:latin typeface="Calibri"/>
              </a:rPr>
              <a:t>solid: structural coupling   ·   dashed: package at a pinned version   ·   dotted: runtime service</a:t>
            </a:r>
          </a:p>
        </p:txBody>
      </p:sp>
      <p:sp>
        <p:nvSpPr>
          <p:cNvPr id="19" name="FooterBand"/>
          <p:cNvSpPr/>
          <p:nvPr/>
        </p:nvSpPr>
        <p:spPr>
          <a:xfrm>
            <a:off x="274320" y="5513832"/>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FooterBandText"/>
          <p:cNvSpPr/>
          <p:nvPr/>
        </p:nvSpPr>
        <p:spPr>
          <a:xfrm>
            <a:off x="384048" y="5532120"/>
            <a:ext cx="8375904" cy="7772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Recover the internal graph, examine the inherited graph, decide which obligations need controls</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Times</vt:lpstr>
      <vt:lpstr>Arial</vt:lpstr>
      <vt:lpstr>Calibri</vt:lpstr>
      <vt:lpstr>Purdue1</vt:lpstr>
      <vt:lpstr>(Agentic) Technical Debt: Architecture and Dependencies</vt:lpstr>
      <vt:lpstr>Today: three engineering questions</vt:lpstr>
      <vt:lpstr>It works. What did we inherit?</vt:lpstr>
      <vt:lpstr>Two graphs we do not yet understand</vt:lpstr>
      <vt:lpstr>What structure did we build, and what will it cost to change?</vt:lpstr>
      <vt:lpstr>Mud, erosion, and debt are different diagnoses</vt:lpstr>
      <vt:lpstr>Why do working systems become mud?</vt:lpstr>
      <vt:lpstr>Debt varies by deliberation and by prudence</vt:lpstr>
      <vt:lpstr>Recover the structure from the realization</vt:lpstr>
      <vt:lpstr>Measure what the change decision depends on</vt:lpstr>
      <vt:lpstr>Erosion survives a green test suite</vt:lpstr>
      <vt:lpstr>A monolith is one deployable, not one blob</vt:lpstr>
      <vt:lpstr>A service split sends a distributed-systems bill</vt:lpstr>
      <vt:lpstr>Price the shortcut before you take it</vt:lpstr>
      <vt:lpstr>Exercise: restructure the reservation service?</vt:lpstr>
      <vt:lpstr>What components and obligations did we inherit?</vt:lpstr>
      <vt:lpstr>One import brings a graph, not a package</vt:lpstr>
      <vt:lpstr>An SBOM is an inventory, not a verdict</vt:lpstr>
      <vt:lpstr>Choose the dependency your requirements can trust</vt:lpstr>
      <vt:lpstr>A license is an engineering constraint you inherited</vt:lpstr>
      <vt:lpstr>Provenance asks how the artifact reached you</vt:lpstr>
      <vt:lpstr>A vulnerable transitive dependency forces a decision</vt:lpstr>
      <vt:lpstr>What evidence and controls justify continued reliance?</vt:lpstr>
      <vt:lpstr>Restructure behind a safety net, migrate in slices</vt:lpstr>
      <vt:lpstr>Controls make supply-chain obligations durable</vt:lpstr>
      <vt:lpstr>One system, two graphs, one reliance question</vt:lpstr>
      <vt:lpstr>The reliance question through the Act III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Technical Debt: Architecture and Dependencies</dc:title>
  <dc:creator>ECE 30861 / CSCI 45000</dc:creator>
  <dcterms:modified xsi:type="dcterms:W3CDTF">2026-10-29T00:00:00Z</dcterms:modified>
</cp:coreProperties>
</file>