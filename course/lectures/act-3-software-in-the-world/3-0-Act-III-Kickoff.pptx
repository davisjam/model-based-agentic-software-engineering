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production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TWO FEEDBACK PATHS: a LOCAL revision returns to Realize (the implementation was defective; try again). An ENGINEERING revision returns to the Model, and the judgment is re-made (the model or the decision itself was inadequate).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CLOSING SLIDE OF THE KICKOFF — it hands off to the Compute Environments &amp; Deployment lecture, which opens exactly here.</a:t>
            </a:r>
          </a:p>
          <a:p>
            <a:r>
              <a:t>SAY: the reservation service has been running somewhere all along — a developer's laptop, which quietly supplied a processor, RAM, a network interface, an OS and libraries, and a filesystem, each matching something the application requires. Nobody chose that environment; it was just there.</a:t>
            </a:r>
          </a:p>
          <a:p>
            <a:r>
              <a:t>ENGINEERING POINT: "it runs" is always "it runs SOMEWHERE". The somewhere has been implicit. Deployment engineering begins by making it explicit — and then choosing it.</a:t>
            </a:r>
          </a:p>
          <a:p>
            <a:r>
              <a:t>HANDOFF (the bottom band): end on the question, and leave it open. The deployment lecture's first substantive slide answers it; do not start answering it here.</a:t>
            </a:r>
          </a:p>
          <a:p>
            <a:r>
              <a:t>OUTLINE NOTE: this deck's act-level outline is slide 3 (the six engineering concerns); as a 10-minute opener it carries no separate agenda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188720"/>
            <a:ext cx="8695944" cy="246888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069080"/>
            <a:ext cx="274320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5C4826"/>
                </a:solidFill>
              </a:rPr>
              <a:t>ACT I</a:t>
            </a:r>
          </a:p>
          <a:p>
            <a:pPr algn="ctr">
              <a:spcBef>
                <a:spcPts val="400"/>
              </a:spcBef>
            </a:pPr>
            <a:r>
              <a:rPr sz="2400" b="0" i="0" dirty="0">
                <a:solidFill>
                  <a:srgbClr val="5C4826"/>
                </a:solidFill>
              </a:rPr>
              <a:t>Foundations</a:t>
            </a:r>
          </a:p>
        </p:txBody>
      </p:sp>
      <p:sp>
        <p:nvSpPr>
          <p:cNvPr id="1005" name="Card"/>
          <p:cNvSpPr/>
          <p:nvPr/>
        </p:nvSpPr>
        <p:spPr>
          <a:xfrm>
            <a:off x="3200400" y="4069080"/>
            <a:ext cx="2743200" cy="14173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5C4826"/>
                </a:solidFill>
              </a:rPr>
              <a:t>ACT II</a:t>
            </a:r>
          </a:p>
          <a:p>
            <a:pPr algn="ctr">
              <a:spcBef>
                <a:spcPts val="400"/>
              </a:spcBef>
            </a:pPr>
            <a:r>
              <a:rPr sz="2400" b="0" i="0" dirty="0">
                <a:solidFill>
                  <a:srgbClr val="5C4826"/>
                </a:solidFill>
              </a:rPr>
              <a:t>Engineering with Agents</a:t>
            </a:r>
          </a:p>
        </p:txBody>
      </p:sp>
      <p:sp>
        <p:nvSpPr>
          <p:cNvPr id="1006" name="Block"/>
          <p:cNvSpPr/>
          <p:nvPr/>
        </p:nvSpPr>
        <p:spPr>
          <a:xfrm>
            <a:off x="6126480" y="4069080"/>
            <a:ext cx="2743200" cy="14173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400" b="1" i="0" dirty="0">
                <a:solidFill>
                  <a:srgbClr val="FFFFFF"/>
                </a:solidFill>
              </a:rPr>
              <a:t>ACT III</a:t>
            </a:r>
          </a:p>
          <a:p>
            <a:pPr algn="ctr">
              <a:spcBef>
                <a:spcPts val="400"/>
              </a:spcBef>
            </a:pPr>
            <a:r>
              <a:rPr sz="2400" b="0" i="0" dirty="0">
                <a:solidFill>
                  <a:srgbClr val="FFFFFF"/>
                </a:solidFill>
              </a:rPr>
              <a:t>Engineering Software Systems</a:t>
            </a:r>
          </a:p>
        </p:txBody>
      </p:sp>
      <p:cxnSp>
        <p:nvCxnSpPr>
          <p:cNvPr id="1007" name="Connector"/>
          <p:cNvCxnSpPr/>
          <p:nvPr/>
        </p:nvCxnSpPr>
        <p:spPr>
          <a:xfrm>
            <a:off x="3035808" y="4777740"/>
            <a:ext cx="146304"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61888" y="4777740"/>
            <a:ext cx="146304"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101" name="ServiceBoundary"/>
          <p:cNvSpPr/>
          <p:nvPr/>
        </p:nvSpPr>
        <p:spPr>
          <a:xfrm>
            <a:off x="329184" y="1874519"/>
            <a:ext cx="2816352" cy="3383280"/>
          </a:xfrm>
          <a:prstGeom prst="rect">
            <a:avLst/>
          </a:prstGeom>
          <a:solidFill>
            <a:srgbClr val="F5F1E8"/>
          </a:solidFill>
          <a:ln w="12700">
            <a:solidFill>
              <a:srgbClr val="C9B991"/>
            </a:solidFill>
          </a:ln>
        </p:spPr>
        <p:txBody>
          <a:bodyPr wrap="square" rtlCol="0"/>
          <a:lstStyle/>
          <a:p/>
        </p:txBody>
      </p:sp>
      <p:sp>
        <p:nvSpPr>
          <p:cNvPr id="1002" name="Block"/>
          <p:cNvSpPr/>
          <p:nvPr/>
        </p:nvSpPr>
        <p:spPr>
          <a:xfrm>
            <a:off x="457200" y="1051560"/>
            <a:ext cx="25603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102" name="ServiceLabel"/>
          <p:cNvSpPr/>
          <p:nvPr/>
        </p:nvSpPr>
        <p:spPr>
          <a:xfrm>
            <a:off x="420624" y="1938528"/>
            <a:ext cx="2633472" cy="347472"/>
          </a:xfrm>
          <a:prstGeom prst="rect">
            <a:avLst/>
          </a:prstGeom>
          <a:noFill/>
          <a:ln>
            <a:noFill/>
          </a:ln>
        </p:spPr>
        <p:txBody>
          <a:bodyPr wrap="square" lIns="27432" tIns="11430" rIns="27432" bIns="11430" rtlCol="0" anchor="ctr"/>
          <a:lstStyle/>
          <a:p>
            <a:pPr algn="ctr"/>
            <a:r>
              <a:rPr sz="2000" b="1" i="0" dirty="0">
                <a:solidFill>
                  <a:srgbClr val="5C4826"/>
                </a:solidFill>
              </a:rPr>
              <a:t>RESERVATION SERVICE</a:t>
            </a:r>
          </a:p>
        </p:txBody>
      </p:sp>
      <p:sp>
        <p:nvSpPr>
          <p:cNvPr id="1003" name="Block"/>
          <p:cNvSpPr/>
          <p:nvPr/>
        </p:nvSpPr>
        <p:spPr>
          <a:xfrm>
            <a:off x="557784" y="2395728"/>
            <a:ext cx="2359152"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737360" y="16002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557784" y="3236976"/>
            <a:ext cx="2359152"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737360" y="303580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557784" y="4078224"/>
            <a:ext cx="2359152"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737360" y="387705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production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This is the teaching order, not the order the concerns arrive. Security shapes architecture from the start; operations shape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Accept/</a:t>
              </a:r>
            </a:p>
            <a:p>
              <a:pPr algn="ctr"/>
              <a:r>
                <a:rPr sz="22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ALIGNMENT</a:t>
              </a:r>
            </a:p>
            <a:p>
              <a:pPr algn="ctr"/>
              <a:r>
                <a:rPr sz="22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255264"/>
              <a:ext cx="440740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We will use this method throughout Act III</a:t>
            </a:r>
          </a:p>
        </p:txBody>
      </p:sp>
      <p:sp>
        <p:nvSpPr>
          <p:cNvPr id="1101" name="Local revision path"/>
          <p:cNvSpPr/>
          <p:nvPr/>
        </p:nvSpPr>
        <p:spPr>
          <a:xfrm>
            <a:off x="5303520" y="1783080"/>
            <a:ext cx="1197864" cy="365760"/>
          </a:xfrm>
          <a:custGeom>
            <a:avLst/>
            <a:gdLst/>
            <a:ahLst/>
            <a:cxnLst/>
            <a:pathLst>
              <a:path w="1197864" h="365760" fill="none">
                <a:moveTo>
                  <a:pt x="1197864" y="365760"/>
                </a:moveTo>
                <a:lnTo>
                  <a:pt x="1197864" y="0"/>
                </a:lnTo>
                <a:lnTo>
                  <a:pt x="0" y="0"/>
                </a:lnTo>
                <a:lnTo>
                  <a:pt x="0" y="365760"/>
                </a:lnTo>
              </a:path>
            </a:pathLst>
          </a:custGeom>
          <a:noFill/>
          <a:ln w="19050">
            <a:solidFill>
              <a:srgbClr val="555960"/>
            </a:solidFill>
            <a:tailEnd type="triangle"/>
          </a:ln>
        </p:spPr>
        <p:txBody>
          <a:bodyPr wrap="square" rtlCol="0"/>
          <a:lstStyle/>
          <a:p/>
        </p:txBody>
      </p:sp>
      <p:sp>
        <p:nvSpPr>
          <p:cNvPr id="1102" name="Engineering revision path"/>
          <p:cNvSpPr/>
          <p:nvPr/>
        </p:nvSpPr>
        <p:spPr>
          <a:xfrm>
            <a:off x="2395728" y="1298448"/>
            <a:ext cx="4617720" cy="850392"/>
          </a:xfrm>
          <a:custGeom>
            <a:avLst/>
            <a:gdLst/>
            <a:ahLst/>
            <a:cxnLst/>
            <a:pathLst>
              <a:path w="4617720" h="850392" fill="none">
                <a:moveTo>
                  <a:pt x="4617720" y="850392"/>
                </a:moveTo>
                <a:lnTo>
                  <a:pt x="4617720" y="0"/>
                </a:lnTo>
                <a:lnTo>
                  <a:pt x="0" y="0"/>
                </a:lnTo>
                <a:lnTo>
                  <a:pt x="0" y="850392"/>
                </a:lnTo>
              </a:path>
            </a:pathLst>
          </a:custGeom>
          <a:noFill/>
          <a:ln w="19050">
            <a:solidFill>
              <a:srgbClr val="8E6F3E"/>
            </a:solidFill>
            <a:tailEnd type="triangle"/>
          </a:ln>
        </p:spPr>
        <p:txBody>
          <a:bodyPr wrap="square" rtlCol="0"/>
          <a:lstStyle/>
          <a:p/>
        </p:txBody>
      </p:sp>
      <p:sp>
        <p:nvSpPr>
          <p:cNvPr id="1103" name="Engineering revision label"/>
          <p:cNvSpPr/>
          <p:nvPr/>
        </p:nvSpPr>
        <p:spPr>
          <a:xfrm>
            <a:off x="868680" y="841248"/>
            <a:ext cx="7680960" cy="347472"/>
          </a:xfrm>
          <a:prstGeom prst="rect">
            <a:avLst/>
          </a:prstGeom>
          <a:noFill/>
          <a:ln>
            <a:noFill/>
          </a:ln>
        </p:spPr>
        <p:txBody>
          <a:bodyPr wrap="square" lIns="27432" tIns="11430" rIns="27432" bIns="11430" rtlCol="0" anchor="ctr"/>
          <a:lstStyle/>
          <a:p>
            <a:pPr algn="ctr"/>
            <a:r>
              <a:rPr sz="2000" b="1" i="0" dirty="0">
                <a:solidFill>
                  <a:srgbClr val="8E6F3E"/>
                </a:solidFill>
              </a:rPr>
              <a:t>ENGINEERING REVISION: rethink the model or the judgment</a:t>
            </a:r>
          </a:p>
        </p:txBody>
      </p:sp>
      <p:sp>
        <p:nvSpPr>
          <p:cNvPr id="1104" name="Local revision label"/>
          <p:cNvSpPr/>
          <p:nvPr/>
        </p:nvSpPr>
        <p:spPr>
          <a:xfrm>
            <a:off x="2560320" y="1371600"/>
            <a:ext cx="3886200" cy="329184"/>
          </a:xfrm>
          <a:prstGeom prst="rect">
            <a:avLst/>
          </a:prstGeom>
          <a:noFill/>
          <a:ln>
            <a:noFill/>
          </a:ln>
        </p:spPr>
        <p:txBody>
          <a:bodyPr wrap="square" lIns="27432" tIns="11430" rIns="27432" bIns="11430" rtlCol="0" anchor="ctr"/>
          <a:lstStyle/>
          <a:p>
            <a:pPr algn="r"/>
            <a:r>
              <a:rPr sz="2000" b="1" i="0" dirty="0">
                <a:solidFill>
                  <a:srgbClr val="555960"/>
                </a:solidFill>
              </a:rPr>
              <a:t>LOCAL REVISION: fix the realization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896112"/>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TOPIC</a:t>
            </a:r>
          </a:p>
        </p:txBody>
      </p:sp>
      <p:sp>
        <p:nvSpPr>
          <p:cNvPr id="1003" name="Label"/>
          <p:cNvSpPr/>
          <p:nvPr/>
        </p:nvSpPr>
        <p:spPr>
          <a:xfrm>
            <a:off x="2240280" y="896112"/>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MODEL</a:t>
            </a:r>
          </a:p>
        </p:txBody>
      </p:sp>
      <p:sp>
        <p:nvSpPr>
          <p:cNvPr id="1004" name="Label"/>
          <p:cNvSpPr/>
          <p:nvPr/>
        </p:nvSpPr>
        <p:spPr>
          <a:xfrm>
            <a:off x="5349240" y="896112"/>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JUDGMENT</a:t>
            </a:r>
          </a:p>
        </p:txBody>
      </p:sp>
      <p:sp>
        <p:nvSpPr>
          <p:cNvPr id="1005" name="Block"/>
          <p:cNvSpPr/>
          <p:nvPr/>
        </p:nvSpPr>
        <p:spPr>
          <a:xfrm>
            <a:off x="320040" y="1316736"/>
            <a:ext cx="17830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Deployment</a:t>
            </a:r>
          </a:p>
        </p:txBody>
      </p:sp>
      <p:sp>
        <p:nvSpPr>
          <p:cNvPr id="1006" name="Card"/>
          <p:cNvSpPr/>
          <p:nvPr/>
        </p:nvSpPr>
        <p:spPr>
          <a:xfrm>
            <a:off x="2240280" y="13167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deployment topology</a:t>
            </a:r>
          </a:p>
        </p:txBody>
      </p:sp>
      <p:sp>
        <p:nvSpPr>
          <p:cNvPr id="1007" name="Label"/>
          <p:cNvSpPr/>
          <p:nvPr/>
        </p:nvSpPr>
        <p:spPr>
          <a:xfrm>
            <a:off x="5349240" y="13167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Where should it run?</a:t>
            </a:r>
          </a:p>
        </p:txBody>
      </p:sp>
      <p:sp>
        <p:nvSpPr>
          <p:cNvPr id="1008" name="Card"/>
          <p:cNvSpPr/>
          <p:nvPr/>
        </p:nvSpPr>
        <p:spPr>
          <a:xfrm>
            <a:off x="320040" y="204825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Data</a:t>
            </a:r>
          </a:p>
        </p:txBody>
      </p:sp>
      <p:sp>
        <p:nvSpPr>
          <p:cNvPr id="1009" name="Card"/>
          <p:cNvSpPr/>
          <p:nvPr/>
        </p:nvSpPr>
        <p:spPr>
          <a:xfrm>
            <a:off x="2240280" y="204825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data schema and invariants</a:t>
            </a:r>
          </a:p>
        </p:txBody>
      </p:sp>
      <p:sp>
        <p:nvSpPr>
          <p:cNvPr id="1010" name="Label"/>
          <p:cNvSpPr/>
          <p:nvPr/>
        </p:nvSpPr>
        <p:spPr>
          <a:xfrm>
            <a:off x="5349240" y="204825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representation and guarantees do we need?</a:t>
            </a:r>
          </a:p>
        </p:txBody>
      </p:sp>
      <p:sp>
        <p:nvSpPr>
          <p:cNvPr id="1011" name="Card"/>
          <p:cNvSpPr/>
          <p:nvPr/>
        </p:nvSpPr>
        <p:spPr>
          <a:xfrm>
            <a:off x="320040" y="277977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Architecture</a:t>
            </a:r>
          </a:p>
        </p:txBody>
      </p:sp>
      <p:sp>
        <p:nvSpPr>
          <p:cNvPr id="1012" name="Card"/>
          <p:cNvSpPr/>
          <p:nvPr/>
        </p:nvSpPr>
        <p:spPr>
          <a:xfrm>
            <a:off x="2240280" y="277977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dependency graph</a:t>
            </a:r>
          </a:p>
        </p:txBody>
      </p:sp>
      <p:sp>
        <p:nvSpPr>
          <p:cNvPr id="1013" name="Label"/>
          <p:cNvSpPr/>
          <p:nvPr/>
        </p:nvSpPr>
        <p:spPr>
          <a:xfrm>
            <a:off x="5349240" y="277977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boundaries should we preserve or change?</a:t>
            </a:r>
          </a:p>
        </p:txBody>
      </p:sp>
      <p:sp>
        <p:nvSpPr>
          <p:cNvPr id="1014" name="Card"/>
          <p:cNvSpPr/>
          <p:nvPr/>
        </p:nvSpPr>
        <p:spPr>
          <a:xfrm>
            <a:off x="320040" y="351129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Performance</a:t>
            </a:r>
          </a:p>
        </p:txBody>
      </p:sp>
      <p:sp>
        <p:nvSpPr>
          <p:cNvPr id="1015" name="Card"/>
          <p:cNvSpPr/>
          <p:nvPr/>
        </p:nvSpPr>
        <p:spPr>
          <a:xfrm>
            <a:off x="2240280" y="351129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load model</a:t>
            </a:r>
          </a:p>
        </p:txBody>
      </p:sp>
      <p:sp>
        <p:nvSpPr>
          <p:cNvPr id="1016" name="Label"/>
          <p:cNvSpPr/>
          <p:nvPr/>
        </p:nvSpPr>
        <p:spPr>
          <a:xfrm>
            <a:off x="5349240" y="351129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change will improve performance?</a:t>
            </a:r>
          </a:p>
        </p:txBody>
      </p:sp>
      <p:sp>
        <p:nvSpPr>
          <p:cNvPr id="1017" name="Card"/>
          <p:cNvSpPr/>
          <p:nvPr/>
        </p:nvSpPr>
        <p:spPr>
          <a:xfrm>
            <a:off x="320040" y="424281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Security</a:t>
            </a:r>
          </a:p>
        </p:txBody>
      </p:sp>
      <p:sp>
        <p:nvSpPr>
          <p:cNvPr id="1018" name="Card"/>
          <p:cNvSpPr/>
          <p:nvPr/>
        </p:nvSpPr>
        <p:spPr>
          <a:xfrm>
            <a:off x="2240280" y="424281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threat model</a:t>
            </a:r>
          </a:p>
        </p:txBody>
      </p:sp>
      <p:sp>
        <p:nvSpPr>
          <p:cNvPr id="1019" name="Label"/>
          <p:cNvSpPr/>
          <p:nvPr/>
        </p:nvSpPr>
        <p:spPr>
          <a:xfrm>
            <a:off x="5349240" y="424281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Who is the adversary?</a:t>
            </a:r>
          </a:p>
        </p:txBody>
      </p:sp>
      <p:sp>
        <p:nvSpPr>
          <p:cNvPr id="1020" name="Card"/>
          <p:cNvSpPr/>
          <p:nvPr/>
        </p:nvSpPr>
        <p:spPr>
          <a:xfrm>
            <a:off x="320040" y="497433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Operations</a:t>
            </a:r>
          </a:p>
        </p:txBody>
      </p:sp>
      <p:sp>
        <p:nvSpPr>
          <p:cNvPr id="1021" name="Card"/>
          <p:cNvSpPr/>
          <p:nvPr/>
        </p:nvSpPr>
        <p:spPr>
          <a:xfrm>
            <a:off x="2240280" y="49743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service objectives</a:t>
            </a:r>
          </a:p>
        </p:txBody>
      </p:sp>
      <p:sp>
        <p:nvSpPr>
          <p:cNvPr id="1022" name="Label"/>
          <p:cNvSpPr/>
          <p:nvPr/>
        </p:nvSpPr>
        <p:spPr>
          <a:xfrm>
            <a:off x="5349240" y="49743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Is it healthy right now?</a:t>
            </a:r>
          </a:p>
        </p:txBody>
      </p:sp>
      <p:sp>
        <p:nvSpPr>
          <p:cNvPr id="1023" name="Label"/>
          <p:cNvSpPr/>
          <p:nvPr/>
        </p:nvSpPr>
        <p:spPr>
          <a:xfrm>
            <a:off x="365760" y="576072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822960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193852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76148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65960" y="259689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58444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65960" y="34198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40740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65960" y="424281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154680" y="1417320"/>
            <a:ext cx="2880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application requires</a:t>
            </a:r>
          </a:p>
        </p:txBody>
      </p:sp>
      <p:sp>
        <p:nvSpPr>
          <p:cNvPr id="1012" name="Card"/>
          <p:cNvSpPr/>
          <p:nvPr/>
        </p:nvSpPr>
        <p:spPr>
          <a:xfrm>
            <a:off x="3429000" y="2011680"/>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 time</a:t>
            </a:r>
          </a:p>
        </p:txBody>
      </p:sp>
      <p:sp>
        <p:nvSpPr>
          <p:cNvPr id="1013" name="Card"/>
          <p:cNvSpPr/>
          <p:nvPr/>
        </p:nvSpPr>
        <p:spPr>
          <a:xfrm>
            <a:off x="3429000" y="2633472"/>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29000" y="3255264"/>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access</a:t>
            </a:r>
          </a:p>
        </p:txBody>
      </p:sp>
      <p:sp>
        <p:nvSpPr>
          <p:cNvPr id="1015" name="Card"/>
          <p:cNvSpPr/>
          <p:nvPr/>
        </p:nvSpPr>
        <p:spPr>
          <a:xfrm>
            <a:off x="3429000" y="3877056"/>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runtime dependencies</a:t>
            </a:r>
          </a:p>
        </p:txBody>
      </p:sp>
      <p:sp>
        <p:nvSpPr>
          <p:cNvPr id="1016" name="Card"/>
          <p:cNvSpPr/>
          <p:nvPr/>
        </p:nvSpPr>
        <p:spPr>
          <a:xfrm>
            <a:off x="3429000" y="4498848"/>
            <a:ext cx="233172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temporary storage</a:t>
            </a:r>
          </a:p>
        </p:txBody>
      </p:sp>
      <p:sp>
        <p:nvSpPr>
          <p:cNvPr id="1106" name="ProvidesLabel"/>
          <p:cNvSpPr/>
          <p:nvPr/>
        </p:nvSpPr>
        <p:spPr>
          <a:xfrm>
            <a:off x="6144768" y="1417320"/>
            <a:ext cx="2267712"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laptop provides</a:t>
            </a:r>
          </a:p>
        </p:txBody>
      </p:sp>
      <p:sp>
        <p:nvSpPr>
          <p:cNvPr id="1101" name="Card"/>
          <p:cNvSpPr/>
          <p:nvPr/>
        </p:nvSpPr>
        <p:spPr>
          <a:xfrm>
            <a:off x="6144768" y="2011680"/>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processor</a:t>
            </a:r>
          </a:p>
        </p:txBody>
      </p:sp>
      <p:cxnSp>
        <p:nvCxnSpPr>
          <p:cNvPr id="1107" name="PairLink"/>
          <p:cNvCxnSpPr/>
          <p:nvPr/>
        </p:nvCxnSpPr>
        <p:spPr>
          <a:xfrm>
            <a:off x="5797296" y="2249424"/>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2" name="Card"/>
          <p:cNvSpPr/>
          <p:nvPr/>
        </p:nvSpPr>
        <p:spPr>
          <a:xfrm>
            <a:off x="6144768" y="2633472"/>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RAM</a:t>
            </a:r>
          </a:p>
        </p:txBody>
      </p:sp>
      <p:cxnSp>
        <p:nvCxnSpPr>
          <p:cNvPr id="1108" name="PairLink"/>
          <p:cNvCxnSpPr/>
          <p:nvPr/>
        </p:nvCxnSpPr>
        <p:spPr>
          <a:xfrm>
            <a:off x="5797296" y="2871216"/>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3" name="Card"/>
          <p:cNvSpPr/>
          <p:nvPr/>
        </p:nvSpPr>
        <p:spPr>
          <a:xfrm>
            <a:off x="6144768" y="3255264"/>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interface</a:t>
            </a:r>
          </a:p>
        </p:txBody>
      </p:sp>
      <p:cxnSp>
        <p:nvCxnSpPr>
          <p:cNvPr id="1109" name="PairLink"/>
          <p:cNvCxnSpPr/>
          <p:nvPr/>
        </p:nvCxnSpPr>
        <p:spPr>
          <a:xfrm>
            <a:off x="5797296" y="3493008"/>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4" name="Card"/>
          <p:cNvSpPr/>
          <p:nvPr/>
        </p:nvSpPr>
        <p:spPr>
          <a:xfrm>
            <a:off x="6144768" y="3877056"/>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and libraries</a:t>
            </a:r>
          </a:p>
        </p:txBody>
      </p:sp>
      <p:cxnSp>
        <p:nvCxnSpPr>
          <p:cNvPr id="1110" name="PairLink"/>
          <p:cNvCxnSpPr/>
          <p:nvPr/>
        </p:nvCxnSpPr>
        <p:spPr>
          <a:xfrm>
            <a:off x="5797296" y="4114800"/>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05" name="Card"/>
          <p:cNvSpPr/>
          <p:nvPr/>
        </p:nvSpPr>
        <p:spPr>
          <a:xfrm>
            <a:off x="6144768" y="4498848"/>
            <a:ext cx="2267712"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filesystem</a:t>
            </a:r>
          </a:p>
        </p:txBody>
      </p:sp>
      <p:cxnSp>
        <p:nvCxnSpPr>
          <p:cNvPr id="1111" name="PairLink"/>
          <p:cNvCxnSpPr/>
          <p:nvPr/>
        </p:nvCxnSpPr>
        <p:spPr>
          <a:xfrm>
            <a:off x="5797296" y="4736592"/>
            <a:ext cx="310896" cy="0"/>
          </a:xfrm>
          <a:prstGeom prst="line">
            <a:avLst/>
          </a:prstGeom>
          <a:ln w="19050">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1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Where should this application execute?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