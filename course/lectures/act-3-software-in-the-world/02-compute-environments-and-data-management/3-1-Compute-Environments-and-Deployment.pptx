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17" autoAdjust="0"/>
    <p:restoredTop sz="81233"/>
  </p:normalViewPr>
  <p:slideViewPr>
    <p:cSldViewPr snapToGrid="0" snapToObjects="1">
      <p:cViewPr varScale="1">
        <p:scale>
          <a:sx n="97" d="100"/>
          <a:sy n="97" d="100"/>
        </p:scale>
        <p:origin x="23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France" userId="b43bac2f-065f-4dab-8869-567f51c0338e" providerId="ADAL" clId="{32976B86-9A01-5E05-BDB2-234D6247B540}"/>
    <pc:docChg chg="undo custSel modSld">
      <pc:chgData name="Steve France" userId="b43bac2f-065f-4dab-8869-567f51c0338e" providerId="ADAL" clId="{32976B86-9A01-5E05-BDB2-234D6247B540}" dt="2026-10-15T14:20:40.611" v="129" actId="20577"/>
      <pc:docMkLst>
        <pc:docMk/>
      </pc:docMkLst>
      <pc:sldChg chg="modSp mod modAnim">
        <pc:chgData name="Steve France" userId="b43bac2f-065f-4dab-8869-567f51c0338e" providerId="ADAL" clId="{32976B86-9A01-5E05-BDB2-234D6247B540}" dt="2026-10-15T14:10:08.744" v="51"/>
        <pc:sldMkLst>
          <pc:docMk/>
          <pc:sldMk cId="0" sldId="275"/>
        </pc:sldMkLst>
        <pc:spChg chg="mod">
          <ac:chgData name="Steve France" userId="b43bac2f-065f-4dab-8869-567f51c0338e" providerId="ADAL" clId="{32976B86-9A01-5E05-BDB2-234D6247B540}" dt="2026-10-15T14:08:31.677" v="39" actId="14100"/>
          <ac:spMkLst>
            <pc:docMk/>
            <pc:sldMk cId="0" sldId="275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2.940" v="47" actId="1076"/>
          <ac:spMkLst>
            <pc:docMk/>
            <pc:sldMk cId="0" sldId="275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07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2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2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29.907" v="45" actId="14100"/>
          <ac:spMkLst>
            <pc:docMk/>
            <pc:sldMk cId="0" sldId="275"/>
            <ac:spMk id="930" creationId="{00000000-0000-0000-0000-000000000000}"/>
          </ac:spMkLst>
        </pc:spChg>
        <pc:cxnChg chg="mod">
          <ac:chgData name="Steve France" userId="b43bac2f-065f-4dab-8869-567f51c0338e" providerId="ADAL" clId="{32976B86-9A01-5E05-BDB2-234D6247B540}" dt="2026-10-15T14:09:53.165" v="49" actId="14100"/>
          <ac:cxnSpMkLst>
            <pc:docMk/>
            <pc:sldMk cId="0" sldId="275"/>
            <ac:cxnSpMk id="906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9:48.534" v="48" actId="1076"/>
          <ac:cxnSpMkLst>
            <pc:docMk/>
            <pc:sldMk cId="0" sldId="275"/>
            <ac:cxnSpMk id="908" creationId="{00000000-0000-0000-0000-000000000000}"/>
          </ac:cxnSpMkLst>
        </pc:cxnChg>
      </pc:sldChg>
      <pc:sldChg chg="modSp mod modAnim">
        <pc:chgData name="Steve France" userId="b43bac2f-065f-4dab-8869-567f51c0338e" providerId="ADAL" clId="{32976B86-9A01-5E05-BDB2-234D6247B540}" dt="2026-10-15T14:08:12.337" v="38"/>
        <pc:sldMkLst>
          <pc:docMk/>
          <pc:sldMk cId="0" sldId="276"/>
        </pc:sldMkLst>
        <pc:spChg chg="mod">
          <ac:chgData name="Steve France" userId="b43bac2f-065f-4dab-8869-567f51c0338e" providerId="ADAL" clId="{32976B86-9A01-5E05-BDB2-234D6247B540}" dt="2026-10-15T14:07:57.288" v="37" actId="20577"/>
          <ac:spMkLst>
            <pc:docMk/>
            <pc:sldMk cId="0" sldId="276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48.828" v="35" actId="20577"/>
          <ac:spMkLst>
            <pc:docMk/>
            <pc:sldMk cId="0" sldId="276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39.318" v="33" actId="20577"/>
          <ac:spMkLst>
            <pc:docMk/>
            <pc:sldMk cId="0" sldId="276"/>
            <ac:spMk id="90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16.270" v="27" actId="1076"/>
          <ac:spMkLst>
            <pc:docMk/>
            <pc:sldMk cId="0" sldId="276"/>
            <ac:spMk id="906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20.989" v="28" actId="1076"/>
          <ac:spMkLst>
            <pc:docMk/>
            <pc:sldMk cId="0" sldId="276"/>
            <ac:spMk id="908" creationId="{00000000-0000-0000-0000-000000000000}"/>
          </ac:spMkLst>
        </pc:spChg>
        <pc:cxnChg chg="mod">
          <ac:chgData name="Steve France" userId="b43bac2f-065f-4dab-8869-567f51c0338e" providerId="ADAL" clId="{32976B86-9A01-5E05-BDB2-234D6247B540}" dt="2026-10-15T14:07:33.589" v="32" actId="14100"/>
          <ac:cxnSpMkLst>
            <pc:docMk/>
            <pc:sldMk cId="0" sldId="276"/>
            <ac:cxnSpMk id="930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30.637" v="31" actId="14100"/>
          <ac:cxnSpMkLst>
            <pc:docMk/>
            <pc:sldMk cId="0" sldId="276"/>
            <ac:cxnSpMk id="931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27.453" v="30" actId="14100"/>
          <ac:cxnSpMkLst>
            <pc:docMk/>
            <pc:sldMk cId="0" sldId="276"/>
            <ac:cxnSpMk id="932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24.894" v="29" actId="14100"/>
          <ac:cxnSpMkLst>
            <pc:docMk/>
            <pc:sldMk cId="0" sldId="276"/>
            <ac:cxnSpMk id="933" creationId="{00000000-0000-0000-0000-000000000000}"/>
          </ac:cxnSpMkLst>
        </pc:cxnChg>
      </pc:sldChg>
      <pc:sldChg chg="modSp mod">
        <pc:chgData name="Steve France" userId="b43bac2f-065f-4dab-8869-567f51c0338e" providerId="ADAL" clId="{32976B86-9A01-5E05-BDB2-234D6247B540}" dt="2026-10-15T14:10:19.764" v="54" actId="20577"/>
        <pc:sldMkLst>
          <pc:docMk/>
          <pc:sldMk cId="0" sldId="280"/>
        </pc:sldMkLst>
        <pc:spChg chg="mod">
          <ac:chgData name="Steve France" userId="b43bac2f-065f-4dab-8869-567f51c0338e" providerId="ADAL" clId="{32976B86-9A01-5E05-BDB2-234D6247B540}" dt="2026-10-15T14:10:19.764" v="54" actId="20577"/>
          <ac:spMkLst>
            <pc:docMk/>
            <pc:sldMk cId="0" sldId="280"/>
            <ac:spMk id="902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0:46.093" v="60" actId="1076"/>
        <pc:sldMkLst>
          <pc:docMk/>
          <pc:sldMk cId="0" sldId="282"/>
        </pc:sldMkLst>
        <pc:spChg chg="mod">
          <ac:chgData name="Steve France" userId="b43bac2f-065f-4dab-8869-567f51c0338e" providerId="ADAL" clId="{32976B86-9A01-5E05-BDB2-234D6247B540}" dt="2026-10-15T14:10:36.700" v="57" actId="1076"/>
          <ac:spMkLst>
            <pc:docMk/>
            <pc:sldMk cId="0" sldId="282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0:46.093" v="60" actId="1076"/>
          <ac:spMkLst>
            <pc:docMk/>
            <pc:sldMk cId="0" sldId="282"/>
            <ac:spMk id="902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1:15.733" v="69" actId="20577"/>
        <pc:sldMkLst>
          <pc:docMk/>
          <pc:sldMk cId="0" sldId="284"/>
        </pc:sldMkLst>
        <pc:spChg chg="mod">
          <ac:chgData name="Steve France" userId="b43bac2f-065f-4dab-8869-567f51c0338e" providerId="ADAL" clId="{32976B86-9A01-5E05-BDB2-234D6247B540}" dt="2026-10-15T14:11:09.597" v="66" actId="20577"/>
          <ac:spMkLst>
            <pc:docMk/>
            <pc:sldMk cId="0" sldId="284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12.513" v="68" actId="20577"/>
          <ac:spMkLst>
            <pc:docMk/>
            <pc:sldMk cId="0" sldId="284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02.397" v="62" actId="20577"/>
          <ac:spMkLst>
            <pc:docMk/>
            <pc:sldMk cId="0" sldId="284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06.268" v="64" actId="20577"/>
          <ac:spMkLst>
            <pc:docMk/>
            <pc:sldMk cId="0" sldId="284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15.733" v="69" actId="20577"/>
          <ac:spMkLst>
            <pc:docMk/>
            <pc:sldMk cId="0" sldId="284"/>
            <ac:spMk id="903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4:01.356" v="88" actId="14100"/>
        <pc:sldMkLst>
          <pc:docMk/>
          <pc:sldMk cId="0" sldId="285"/>
        </pc:sldMkLst>
        <pc:spChg chg="mod">
          <ac:chgData name="Steve France" userId="b43bac2f-065f-4dab-8869-567f51c0338e" providerId="ADAL" clId="{32976B86-9A01-5E05-BDB2-234D6247B540}" dt="2026-10-15T14:13:48.440" v="86" actId="20577"/>
          <ac:spMkLst>
            <pc:docMk/>
            <pc:sldMk cId="0" sldId="285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3:31.669" v="80" actId="113"/>
          <ac:spMkLst>
            <pc:docMk/>
            <pc:sldMk cId="0" sldId="285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3:40.972" v="82" actId="113"/>
          <ac:spMkLst>
            <pc:docMk/>
            <pc:sldMk cId="0" sldId="285"/>
            <ac:spMk id="90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4:01.356" v="88" actId="14100"/>
          <ac:spMkLst>
            <pc:docMk/>
            <pc:sldMk cId="0" sldId="285"/>
            <ac:spMk id="907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6:48.673" v="96" actId="20577"/>
        <pc:sldMkLst>
          <pc:docMk/>
          <pc:sldMk cId="0" sldId="286"/>
        </pc:sldMkLst>
        <pc:spChg chg="mod">
          <ac:chgData name="Steve France" userId="b43bac2f-065f-4dab-8869-567f51c0338e" providerId="ADAL" clId="{32976B86-9A01-5E05-BDB2-234D6247B540}" dt="2026-10-15T14:16:48.673" v="96" actId="20577"/>
          <ac:spMkLst>
            <pc:docMk/>
            <pc:sldMk cId="0" sldId="286"/>
            <ac:spMk id="902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20.912" v="114" actId="478"/>
        <pc:sldMkLst>
          <pc:docMk/>
          <pc:sldMk cId="0" sldId="288"/>
        </pc:sldMkLst>
        <pc:spChg chg="add mod">
          <ac:chgData name="Steve France" userId="b43bac2f-065f-4dab-8869-567f51c0338e" providerId="ADAL" clId="{32976B86-9A01-5E05-BDB2-234D6247B540}" dt="2026-10-15T14:18:55.711" v="108"/>
          <ac:spMkLst>
            <pc:docMk/>
            <pc:sldMk cId="0" sldId="288"/>
            <ac:spMk id="9" creationId="{09908E59-84CC-9647-89B0-785360C06A87}"/>
          </ac:spMkLst>
        </pc:spChg>
        <pc:spChg chg="add mod">
          <ac:chgData name="Steve France" userId="b43bac2f-065f-4dab-8869-567f51c0338e" providerId="ADAL" clId="{32976B86-9A01-5E05-BDB2-234D6247B540}" dt="2026-10-15T14:19:17.510" v="113" actId="20577"/>
          <ac:spMkLst>
            <pc:docMk/>
            <pc:sldMk cId="0" sldId="288"/>
            <ac:spMk id="10" creationId="{59ACB01E-0DA3-4436-B112-9FD586B45DE7}"/>
          </ac:spMkLst>
        </pc:spChg>
        <pc:spChg chg="del mod">
          <ac:chgData name="Steve France" userId="b43bac2f-065f-4dab-8869-567f51c0338e" providerId="ADAL" clId="{32976B86-9A01-5E05-BDB2-234D6247B540}" dt="2026-10-15T14:19:20.912" v="114" actId="478"/>
          <ac:spMkLst>
            <pc:docMk/>
            <pc:sldMk cId="0" sldId="288"/>
            <ac:spMk id="913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42.586" v="120" actId="14100"/>
        <pc:sldMkLst>
          <pc:docMk/>
          <pc:sldMk cId="0" sldId="289"/>
        </pc:sldMkLst>
        <pc:spChg chg="del mod">
          <ac:chgData name="Steve France" userId="b43bac2f-065f-4dab-8869-567f51c0338e" providerId="ADAL" clId="{32976B86-9A01-5E05-BDB2-234D6247B540}" dt="2026-10-15T14:19:38.855" v="119" actId="478"/>
          <ac:spMkLst>
            <pc:docMk/>
            <pc:sldMk cId="0" sldId="289"/>
            <ac:spMk id="2" creationId="{A01D4652-4B3B-10DE-B286-362A6003B509}"/>
          </ac:spMkLst>
        </pc:spChg>
        <pc:spChg chg="mod">
          <ac:chgData name="Steve France" userId="b43bac2f-065f-4dab-8869-567f51c0338e" providerId="ADAL" clId="{32976B86-9A01-5E05-BDB2-234D6247B540}" dt="2026-10-15T14:12:35.262" v="73" actId="122"/>
          <ac:spMkLst>
            <pc:docMk/>
            <pc:sldMk cId="0" sldId="289"/>
            <ac:spMk id="4" creationId="{00000000-0000-0000-0000-000000000000}"/>
          </ac:spMkLst>
        </pc:spChg>
        <pc:spChg chg="add mod">
          <ac:chgData name="Steve France" userId="b43bac2f-065f-4dab-8869-567f51c0338e" providerId="ADAL" clId="{32976B86-9A01-5E05-BDB2-234D6247B540}" dt="2026-10-15T14:19:42.586" v="120" actId="14100"/>
          <ac:spMkLst>
            <pc:docMk/>
            <pc:sldMk cId="0" sldId="289"/>
            <ac:spMk id="5" creationId="{91831ADA-8EDC-A3A7-6BAD-CC927399FDFC}"/>
          </ac:spMkLst>
        </pc:spChg>
      </pc:sldChg>
      <pc:sldChg chg="modSp mod modAnim">
        <pc:chgData name="Steve France" userId="b43bac2f-065f-4dab-8869-567f51c0338e" providerId="ADAL" clId="{32976B86-9A01-5E05-BDB2-234D6247B540}" dt="2026-10-15T14:06:47.552" v="21"/>
        <pc:sldMkLst>
          <pc:docMk/>
          <pc:sldMk cId="0" sldId="295"/>
        </pc:sldMkLst>
        <pc:spChg chg="mod">
          <ac:chgData name="Steve France" userId="b43bac2f-065f-4dab-8869-567f51c0338e" providerId="ADAL" clId="{32976B86-9A01-5E05-BDB2-234D6247B540}" dt="2026-10-15T14:05:45.973" v="12" actId="1076"/>
          <ac:spMkLst>
            <pc:docMk/>
            <pc:sldMk cId="0" sldId="295"/>
            <ac:spMk id="907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42.132" v="19" actId="1076"/>
          <ac:spMkLst>
            <pc:docMk/>
            <pc:sldMk cId="0" sldId="295"/>
            <ac:spMk id="908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24.798" v="14" actId="1076"/>
          <ac:spMkLst>
            <pc:docMk/>
            <pc:sldMk cId="0" sldId="295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31.163" v="16" actId="1076"/>
          <ac:spMkLst>
            <pc:docMk/>
            <pc:sldMk cId="0" sldId="295"/>
            <ac:spMk id="910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8:21.183" v="102" actId="478"/>
        <pc:sldMkLst>
          <pc:docMk/>
          <pc:sldMk cId="0" sldId="297"/>
        </pc:sldMkLst>
        <pc:spChg chg="add mod">
          <ac:chgData name="Steve France" userId="b43bac2f-065f-4dab-8869-567f51c0338e" providerId="ADAL" clId="{32976B86-9A01-5E05-BDB2-234D6247B540}" dt="2026-10-15T14:18:16.984" v="101" actId="20577"/>
          <ac:spMkLst>
            <pc:docMk/>
            <pc:sldMk cId="0" sldId="297"/>
            <ac:spMk id="2" creationId="{FD8455BC-70BE-F9BE-1EFA-EF74DBF9EA1F}"/>
          </ac:spMkLst>
        </pc:spChg>
        <pc:spChg chg="del mod">
          <ac:chgData name="Steve France" userId="b43bac2f-065f-4dab-8869-567f51c0338e" providerId="ADAL" clId="{32976B86-9A01-5E05-BDB2-234D6247B540}" dt="2026-10-15T14:18:21.183" v="102" actId="478"/>
          <ac:spMkLst>
            <pc:docMk/>
            <pc:sldMk cId="0" sldId="297"/>
            <ac:spMk id="913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50.626" v="121" actId="14100"/>
        <pc:sldMkLst>
          <pc:docMk/>
          <pc:sldMk cId="0" sldId="298"/>
        </pc:sldMkLst>
        <pc:spChg chg="add mod">
          <ac:chgData name="Steve France" userId="b43bac2f-065f-4dab-8869-567f51c0338e" providerId="ADAL" clId="{32976B86-9A01-5E05-BDB2-234D6247B540}" dt="2026-10-15T14:19:50.626" v="121" actId="14100"/>
          <ac:spMkLst>
            <pc:docMk/>
            <pc:sldMk cId="0" sldId="298"/>
            <ac:spMk id="2" creationId="{70A60551-974B-6C1D-5520-F61391E9415F}"/>
          </ac:spMkLst>
        </pc:spChg>
        <pc:spChg chg="mod">
          <ac:chgData name="Steve France" userId="b43bac2f-065f-4dab-8869-567f51c0338e" providerId="ADAL" clId="{32976B86-9A01-5E05-BDB2-234D6247B540}" dt="2026-10-15T14:12:56.492" v="77" actId="20577"/>
          <ac:spMkLst>
            <pc:docMk/>
            <pc:sldMk cId="0" sldId="298"/>
            <ac:spMk id="90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2:51.661" v="76" actId="20577"/>
          <ac:spMkLst>
            <pc:docMk/>
            <pc:sldMk cId="0" sldId="298"/>
            <ac:spMk id="907" creationId="{00000000-0000-0000-0000-000000000000}"/>
          </ac:spMkLst>
        </pc:spChg>
        <pc:spChg chg="del mod">
          <ac:chgData name="Steve France" userId="b43bac2f-065f-4dab-8869-567f51c0338e" providerId="ADAL" clId="{32976B86-9A01-5E05-BDB2-234D6247B540}" dt="2026-10-15T14:18:50.508" v="107" actId="478"/>
          <ac:spMkLst>
            <pc:docMk/>
            <pc:sldMk cId="0" sldId="298"/>
            <ac:spMk id="913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04:55.413" v="5" actId="1076"/>
        <pc:sldMkLst>
          <pc:docMk/>
          <pc:sldMk cId="0" sldId="300"/>
        </pc:sldMkLst>
        <pc:spChg chg="mod">
          <ac:chgData name="Steve France" userId="b43bac2f-065f-4dab-8869-567f51c0338e" providerId="ADAL" clId="{32976B86-9A01-5E05-BDB2-234D6247B540}" dt="2026-10-15T14:04:55.413" v="5" actId="1076"/>
          <ac:spMkLst>
            <pc:docMk/>
            <pc:sldMk cId="0" sldId="300"/>
            <ac:spMk id="901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20:40.611" v="129" actId="20577"/>
        <pc:sldMkLst>
          <pc:docMk/>
          <pc:sldMk cId="0" sldId="301"/>
        </pc:sldMkLst>
        <pc:spChg chg="mod">
          <ac:chgData name="Steve France" userId="b43bac2f-065f-4dab-8869-567f51c0338e" providerId="ADAL" clId="{32976B86-9A01-5E05-BDB2-234D6247B540}" dt="2026-10-15T14:20:33.847" v="126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29.689" v="125" actId="2057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18.036" v="122" actId="20577"/>
          <ac:spMkLst>
            <pc:docMk/>
            <pc:sldMk cId="0" sldId="301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40.611" v="129" actId="20577"/>
          <ac:spMkLst>
            <pc:docMk/>
            <pc:sldMk cId="0" sldId="301"/>
            <ac:spMk id="910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36.514" v="127" actId="20577"/>
          <ac:spMkLst>
            <pc:docMk/>
            <pc:sldMk cId="0" sldId="301"/>
            <ac:spMk id="91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37.654" v="128" actId="20577"/>
          <ac:spMkLst>
            <pc:docMk/>
            <pc:sldMk cId="0" sldId="301"/>
            <ac:spMk id="91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55.500" v="70" actId="20577"/>
          <ac:spMkLst>
            <pc:docMk/>
            <pc:sldMk cId="0" sldId="301"/>
            <ac:spMk id="91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10/22/26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minute. COVER AND MODULE OUTLINE in one breath; the clock belongs to deployment.</a:t>
            </a:r>
          </a:p>
          <a:p>
            <a:r>
              <a:t>ORIENTATION, one sentence each: the Act III kickoff (its own short deck) introduced the engineering method and the running example, Campus Room Reservations: an HTTP API over reservation logic with in-memory state, three capabilities, and deliberately no persistent database, no authentication, no cloud deployment. It closed on the question this lecture answers: where does the application run?</a:t>
            </a:r>
          </a:p>
          <a:p>
            <a:r>
              <a:t>THE ENGINEERING QUESTION (the italic line): where does software execute, and how do we ensure it runs acceptably there? CI/CD and release management enter later as mechanisms for moving an implementation into an acceptable execution environment, not as the organizing idea.</a:t>
            </a:r>
          </a:p>
          <a:p>
            <a:r>
              <a:t>MODULE OUTLINE (the card): execution environments; deployment models and configuration; CI/CD; release management; a worked deployment of the reservation service.</a:t>
            </a:r>
          </a:p>
          <a:p>
            <a:r>
              <a:t>TRANSITION: start where the kickoff left off. What does this application require from whatever it runs 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CENTRAL MODEL OF THE SECTION — requirements vs. capabilities.</a:t>
            </a:r>
          </a:p>
          <a:p>
            <a:r>
              <a:t>DRAW THE DISTINCTION: the application REQUIRES (CPU and memory, an OS and runtime, storage, network and device interfaces); the environment SUPPLIES. Two lists, one acceptability condition — the footer states it.</a:t>
            </a:r>
          </a:p>
          <a:p>
            <a:r>
              <a:t>ASK: the reservation service "requires an OS" — which one? EXPECTED: nobody knows; the laptop's. That is the point: unstated requirements are still requirements, discovered at the worst time.</a:t>
            </a:r>
          </a:p>
          <a:p>
            <a:r>
              <a:t>ENGINEERING POINT: deployment failures are usually a requirement the environment silently does not satisfy — a missing runtime version, too little memory, no network route. The model makes the match checkable BEFORE the attempt (this is the Alignment arrow into Realize from the kickoff flowchart).</a:t>
            </a:r>
          </a:p>
          <a:p>
            <a:r>
              <a:t>NON-CLAIM: do not claim the list of four requirement classes is complete — e.g., clock accuracy, locale, GPUs. The model names the classes that matter for THIS service.</a:t>
            </a:r>
          </a:p>
          <a:p>
            <a:r>
              <a:t>TRANSITION: environments differ in what they supply — and in what they impose.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CLOUD IS ONE ROW, NOT THE HEADLINE.</a:t>
            </a:r>
          </a:p>
          <a:p>
            <a:r>
              <a:t>WALK TWO ROWS and let students read the rest: embedded (the environment is fixed at design time — you fit the hardware or you don't ship) and cloud (resources are elastic but everything rides on the network and on services you do not operate).</a:t>
            </a:r>
          </a:p>
          <a:p>
            <a:r>
              <a:t>ASK: is the cloud the default execution environment? EXPECTED: many students assume yes. Push back with the rows: a pacemaker, a point-of-sale terminal, a flight computer, a campus lab machine. Cloud is one execution environment among several — the requirements decide.</a:t>
            </a:r>
          </a:p>
          <a:p>
            <a:r>
              <a:t>NON-CLAIM (the italic line): the categories are not mutually exclusive. A mobile app leans on cloud services; embedded systems talk to remote servers. The table classifies CONSTRAINTS, not products.</a:t>
            </a:r>
          </a:p>
          <a:p>
            <a:r>
              <a:t>TRANSITION: within a host, there is a second question — what MECHANISM runs the code: a bare process, a container, a virtual machine?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 minutes. THE TECHNICAL CORE OF THE SECTION — get the kernel distinction right.</a:t>
            </a:r>
          </a:p>
          <a:p>
            <a:r>
              <a:t>WALK THE LAYERS left to right: a process executes under an operating system; a container isolates processes while SHARING the host kernel (the runtime provides namespaces and limits, not a second OS); a VM virtualizes a machine, so it carries its own guest OS above a hypervisor.</a:t>
            </a:r>
          </a:p>
          <a:p>
            <a:r>
              <a:t>ASK: is a container a small VM? EXPECTED: many say yes. The corrective is the middle column: there is exactly one kernel in it. Isolation is weaker than a VM's, startup is faster, images are smaller — all consequences of that one fact.</a:t>
            </a:r>
          </a:p>
          <a:p>
            <a:r>
              <a:t>SECOND DISTINCTION (the italic line): embedded and mobile are deployment TARGETS; containers and VMs are execution MECHANISMS. They occupy different dimensions of the deployment model — a server target can run any of the three mechanisms.</a:t>
            </a:r>
          </a:p>
          <a:p>
            <a:r>
              <a:t>NON-CLAIM: do not imply containers guarantee reproducibility — that claim is examined two sections from now. And this is not a Docker tutorial; no tooling today.</a:t>
            </a:r>
          </a:p>
          <a:p>
            <a:r>
              <a:t>TRANSITION: mechanism chosen or not, components must be ARRANGED somewhere. That arrangement is the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A UML DEPLOYMENT DIAGRAM IN MINIATURE — without turning this into UML instruction.</a:t>
            </a:r>
          </a:p>
          <a:p>
            <a:r>
              <a:t>THE NOTATION (the legend row): a NODE is an execution host — a physical or virtual place where software runs; a COMPONENT is the software deployed onto it. Communication paths (HTTPS) cross environmental boundaries — the user's device is not ours.</a:t>
            </a:r>
          </a:p>
          <a:p>
            <a:r>
              <a:t>ASK: which of these boxes is hardware, and which is software? EXPECTED confusion between "app server" (a node — could be a VM, could be metal) and "reservation service" (a component). That confusion is exactly why the diagram distinguishes them.</a:t>
            </a:r>
          </a:p>
          <a:p>
            <a:r>
              <a:t>CANONICAL-EXAMPLE DISCIPLINE (the italic line): the storage node is dashed because it is the PROPOSED production shape. The service still keeps reservations in memory — no persistent database yet. Data Management (next lecture) earns that node; we do not silently add it today.</a:t>
            </a:r>
          </a:p>
          <a:p>
            <a:r>
              <a:t>TRANSITION: three nodes imply a choice someone must make — where does the middle one actually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 JUDGMENT SLIDE — the model distinguishes alternatives; requirements pick one.</a:t>
            </a:r>
          </a:p>
          <a:p>
            <a:r>
              <a:t>THE THREE OPTIONS for the reservation service: a local desktop application; a self-hosted server; a managed cloud service. The grid compares availability, who operates it, resource control, cost shape, and how updates reach users.</a:t>
            </a:r>
          </a:p>
          <a:p>
            <a:r>
              <a:t>ASK (the footer): which would you choose? Take two or three answers WITH their reasons. EXPECTED: most pick managed cloud; a good minority pick self-hosted for control or cost. Then change the requirements aloud: "the building loses internet during exam week" (local wins), "one department, forty users, existing server closet" (self-hosted is fine), "every campus in the state" (managed service).</a:t>
            </a:r>
          </a:p>
          <a:p>
            <a:r>
              <a:t>ENGINEERING POINT (the bold line): cloud hosting is not automatically preferable. The judgment is driven by requirements the model makes explicit — availability, operation, control, cost, updates.</a:t>
            </a:r>
          </a:p>
          <a:p>
            <a:r>
              <a:t>NON-CLAIM: this grid is qualitative. Real decisions also price migration risk and staff expertise — Act III returns to those.</a:t>
            </a:r>
          </a:p>
          <a:p>
            <a:r>
              <a:t>TRANSITION: whatever we choose, the choice rests on assumptions. Write them down — that is the deployment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 minutes. THE MODEL SLIDE OF THE LECTURE. This is the REVISED two-part deployment model, and the reason for the split belongs in your delivery: the left panel describes a system's deployed STATE (execution environment, resources, topology, configuration); the right panel describes the PROCESS that changes that state (build, validate, release, observe, recover). Keeping them separate prevents the classic conflation of a deployment diagram with a CI/CD workflow.</a:t>
            </a:r>
          </a:p>
          <a:p>
            <a:r>
              <a:t>WALK THE LEFT PANEL as the reservation service's initial assumptions, read off the kickoff: one Python process on one laptop; a small footprint; a browser talking to a service on a single node; no configuration at all, because every default is hard-coded.</a:t>
            </a:r>
          </a:p>
          <a:p>
            <a:r>
              <a:t>EXERCISE (2 of the 4 minutes): propose a production environment, say a managed server with 300 student users, and ask WHICH assumptions change and which survive. Expected: execution and topology change; the resource assumption mostly survives; the configuration assumption collapses first, which sets up the configuration slide.</a:t>
            </a:r>
          </a:p>
          <a:p>
            <a:r>
              <a:t>CONNECT TO ACT II: Modeling represents the intended deployed system (left). Alignment governs transitions into that state (right, with its gates). Failure-Aware Engineering improves both from what deployment teaches.</a:t>
            </a:r>
          </a:p>
          <a:p>
            <a:r>
              <a:t>TRANSITION: the process panel starts with BUILD, and build has its own environment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DISTINCTION CI/CD WILL DEPEND ON.</a:t>
            </a:r>
          </a:p>
          <a:p>
            <a:r>
              <a:t>WALK THE CHAIN: source enters a BUILD environment and leaves as a deployable artifact; the artifact later meets a RUNTIME environment. Two different environments, and the artifact silently carries assumptions from the first into the second.</a:t>
            </a:r>
          </a:p>
          <a:p>
            <a:r>
              <a:t>ASK: what exactly does "it builds on my machine" establish? EXPECTED: that the build environment satisfies the build-time requirements. It says nothing about the runtime environment.</a:t>
            </a:r>
          </a:p>
          <a:p>
            <a:r>
              <a:t>THE FAILURE LIST (left card): missing dependencies, a different runtime version, different configuration, absent resources. Each is a requirement the destination fails to supply; this is the slide-7 acceptability condition applied twice, once per environment.</a:t>
            </a:r>
          </a:p>
          <a:p>
            <a:r>
              <a:t>NON-CLAIM: do not say pinning the build environment fixes runtime mismatches. The two environments fail independently; reproducibility (two slides ahead) addresses variation, not equivalence.</a:t>
            </a:r>
          </a:p>
          <a:p>
            <a:r>
              <a:t>TRANSITION: one class of destination assumption is so common it gets its own slide: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CONFIGURATION COMPLETES THE DEPLOYED-SYSTEM MODEL.</a:t>
            </a:r>
          </a:p>
          <a:p>
            <a:r>
              <a:t>THE CONCRETE EXAMPLE (use it, it is the canonical one): when the reservation service gains a database, it needs a connection string. That string names ONE environment. Hard-code it and the artifact can only ever deploy there; supply it as deployment configuration and the same artifact deploys anywhere the model allows.</a:t>
            </a:r>
          </a:p>
          <a:p>
            <a:r>
              <a:t>WALK THE CARD: configuration values, environment variables, secrets, endpoints of external services. All are part of the deployed system's state; none are part of the artifact.</a:t>
            </a:r>
          </a:p>
          <a:p>
            <a:r>
              <a:t>ASK: same artifact plus different configuration: is that the same system? EXPECTED disagreement, which is the point. Behavior differs; the deployment model is what accounts for the difference.</a:t>
            </a:r>
          </a:p>
          <a:p>
            <a:r>
              <a:t>NON-CLAIM: configuration does not have to mean environment variables specifically; files, secret stores and platform services all serve. The engineering point is only that the model must include it.</a:t>
            </a:r>
          </a:p>
          <a:p>
            <a:r>
              <a:t>TRANSITION: if environments and configuration vary this much, what keeps two deployments alike at all? Reproducibility, engineered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ADAPTED from the CI/CD source deck's reproducibility slide (infrastructure as code and ephemeral clean environments); expanded with declared, pinned dependencies.</a:t>
            </a:r>
          </a:p>
          <a:p>
            <a:r>
              <a:t>WHY IT MATTERS: if a test fails on one machine and passes on another, you cannot tell whether the code broke or the environment drifted. Reproducibility is what makes a verdict attributable to the change.</a:t>
            </a:r>
          </a:p>
          <a:p>
            <a:r>
              <a:t>WALK THE THREE PRACTICES: declare the dependency set and pin versions so the build's inputs are explicit; rebuild in a fresh, ephemeral environment so yesterday's state cannot leak into today's verdict; express the infrastructure as code so the environment is versioned, diffed and reviewed like any other change.</a:t>
            </a:r>
          </a:p>
          <a:p>
            <a:r>
              <a:t>THE CAVEAT CARD IS THE HONEST HALF, read it aloud: external services still vary, dependencies mutate behind version ranges, and some builds are nondeterministic. These practices reduce variation between environments; they do not eliminate it.</a:t>
            </a:r>
          </a:p>
          <a:p>
            <a:r>
              <a:t>NON-CLAIM (the author checks this one): containers do not guarantee reproducibility either. An image pins much of the filesystem; it pins neither external services nor build-time nondeterminism.</a:t>
            </a:r>
          </a:p>
          <a:p>
            <a:r>
              <a:t>TRANSITION: reproducible builds and declared environments make automation trustworthy. That automation is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Header"/>
          <p:cNvSpPr/>
          <p:nvPr/>
        </p:nvSpPr>
        <p:spPr>
          <a:xfrm>
            <a:off x="438912" y="384048"/>
            <a:ext cx="8266176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000000"/>
                </a:solidFill>
              </a:rPr>
              <a:t>Software Engineering</a:t>
            </a:r>
          </a:p>
          <a:p>
            <a:pPr algn="ctr"/>
            <a:r>
              <a:rPr sz="2000" b="0" i="0" dirty="0">
                <a:solidFill>
                  <a:srgbClr val="000000"/>
                </a:solidFill>
              </a:rPr>
              <a:t>ECE 30861 / CSCI 45000</a:t>
            </a:r>
          </a:p>
        </p:txBody>
      </p:sp>
      <p:sp>
        <p:nvSpPr>
          <p:cNvPr id="1003" name="TitleBlock"/>
          <p:cNvSpPr txBox="1"/>
          <p:nvPr/>
        </p:nvSpPr>
        <p:spPr>
          <a:xfrm>
            <a:off x="219456" y="1417320"/>
            <a:ext cx="8695944" cy="2651760"/>
          </a:xfrm>
          <a:prstGeom prst="rect">
            <a:avLst/>
          </a:prstGeom>
          <a:noFill/>
        </p:spPr>
        <p:txBody>
          <a:bodyPr wrap="square" lIns="27432" tIns="22860" rIns="27432" bIns="22860" anchor="ctr">
            <a:spAutoFit/>
          </a:bodyPr>
          <a:lstStyle/>
          <a:p>
            <a:pPr algn="ctr"/>
            <a:r>
              <a:rPr sz="4000" b="1" i="0" dirty="0">
                <a:solidFill>
                  <a:srgbClr val="000000"/>
                </a:solidFill>
              </a:rPr>
              <a:t>Compute Environments &amp; Deployment</a:t>
            </a:r>
          </a:p>
          <a:p>
            <a:pPr algn="ctr">
              <a:spcBef>
                <a:spcPts val="1400"/>
              </a:spcBef>
            </a:pPr>
            <a:r>
              <a:rPr sz="2000" b="0" i="1" dirty="0">
                <a:solidFill>
                  <a:srgbClr val="000000"/>
                </a:solidFill>
              </a:rPr>
              <a:t>Where does software execute, and how do we ensure that it runs acceptably there?</a:t>
            </a:r>
          </a:p>
          <a:p>
            <a:pPr algn="ctr">
              <a:spcBef>
                <a:spcPts val="1400"/>
              </a:spcBef>
            </a:pPr>
            <a:r>
              <a:rPr sz="2000" b="0" i="0" dirty="0">
                <a:solidFill>
                  <a:srgbClr val="000000"/>
                </a:solidFill>
              </a:rPr>
              <a:t>Act III, Engineering Software Systems</a:t>
            </a:r>
          </a:p>
          <a:p>
            <a:pPr algn="ctr">
              <a:spcBef>
                <a:spcPts val="1000"/>
              </a:spcBef>
            </a:pPr>
            <a:r>
              <a:rPr sz="2000" b="0" i="0" dirty="0">
                <a:solidFill>
                  <a:srgbClr val="000000"/>
                </a:solidFill>
              </a:rPr>
              <a:t>Prof. James C. Davis · Prof. Steve France</a:t>
            </a:r>
          </a:p>
        </p:txBody>
      </p:sp>
      <p:sp>
        <p:nvSpPr>
          <p:cNvPr id="1004" name="OutlineCard"/>
          <p:cNvSpPr/>
          <p:nvPr/>
        </p:nvSpPr>
        <p:spPr>
          <a:xfrm>
            <a:off x="365760" y="4389120"/>
            <a:ext cx="841248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Today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execution environments · deployment models and configuration · CI/CD · release management · a worked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An application depends on an execution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411480" y="1051560"/>
            <a:ext cx="8321040" cy="3977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594360" y="1170432"/>
            <a:ext cx="356616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EXECUTION ENVIRONMENT</a:t>
            </a:r>
          </a:p>
        </p:txBody>
      </p:sp>
      <p:sp>
        <p:nvSpPr>
          <p:cNvPr id="1004" name="Label"/>
          <p:cNvSpPr/>
          <p:nvPr/>
        </p:nvSpPr>
        <p:spPr>
          <a:xfrm>
            <a:off x="4251960" y="1170432"/>
            <a:ext cx="3383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supplies capabilities</a:t>
            </a:r>
          </a:p>
        </p:txBody>
      </p:sp>
      <p:sp>
        <p:nvSpPr>
          <p:cNvPr id="1005" name="Block"/>
          <p:cNvSpPr/>
          <p:nvPr/>
        </p:nvSpPr>
        <p:spPr>
          <a:xfrm>
            <a:off x="868680" y="1691640"/>
            <a:ext cx="7406640" cy="1600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APPLICATION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FFFFFF"/>
                </a:solidFill>
              </a:rPr>
              <a:t>requires: CPU &amp; memory · OS &amp; runtime · storage · network &amp; devices</a:t>
            </a:r>
          </a:p>
        </p:txBody>
      </p:sp>
      <p:sp>
        <p:nvSpPr>
          <p:cNvPr id="1006" name="Card"/>
          <p:cNvSpPr/>
          <p:nvPr/>
        </p:nvSpPr>
        <p:spPr>
          <a:xfrm>
            <a:off x="868680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cores &amp; RAM</a:t>
            </a:r>
          </a:p>
        </p:txBody>
      </p:sp>
      <p:cxnSp>
        <p:nvCxnSpPr>
          <p:cNvPr id="1007" name="Connector"/>
          <p:cNvCxnSpPr/>
          <p:nvPr/>
        </p:nvCxnSpPr>
        <p:spPr>
          <a:xfrm>
            <a:off x="1714500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8" name="Card"/>
          <p:cNvSpPr/>
          <p:nvPr/>
        </p:nvSpPr>
        <p:spPr>
          <a:xfrm>
            <a:off x="2770632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OS &amp; runtime</a:t>
            </a:r>
          </a:p>
        </p:txBody>
      </p:sp>
      <p:cxnSp>
        <p:nvCxnSpPr>
          <p:cNvPr id="1009" name="Connector"/>
          <p:cNvCxnSpPr/>
          <p:nvPr/>
        </p:nvCxnSpPr>
        <p:spPr>
          <a:xfrm>
            <a:off x="3616452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Card"/>
          <p:cNvSpPr/>
          <p:nvPr/>
        </p:nvSpPr>
        <p:spPr>
          <a:xfrm>
            <a:off x="4672584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disk &amp; files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5518404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Card"/>
          <p:cNvSpPr/>
          <p:nvPr/>
        </p:nvSpPr>
        <p:spPr>
          <a:xfrm>
            <a:off x="6574536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network &amp; devices</a:t>
            </a:r>
          </a:p>
        </p:txBody>
      </p:sp>
      <p:cxnSp>
        <p:nvCxnSpPr>
          <p:cNvPr id="1013" name="Connector"/>
          <p:cNvCxnSpPr/>
          <p:nvPr/>
        </p:nvCxnSpPr>
        <p:spPr>
          <a:xfrm>
            <a:off x="7420356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4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 deployment is acceptable only if the environment</a:t>
            </a:r>
          </a:p>
          <a:p>
            <a:pPr algn="ctr">
              <a:spcBef>
                <a:spcPts val="300"/>
              </a:spcBef>
            </a:pPr>
            <a:r>
              <a:rPr sz="2000" b="1" i="0" dirty="0">
                <a:solidFill>
                  <a:srgbClr val="FFFFFF"/>
                </a:solidFill>
              </a:rPr>
              <a:t>satisfies the application's requirements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Different environments impose different constraints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65760" y="1051560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EMBEDDED</a:t>
            </a:r>
          </a:p>
        </p:txBody>
      </p:sp>
      <p:sp>
        <p:nvSpPr>
          <p:cNvPr id="1003" name="Label"/>
          <p:cNvSpPr/>
          <p:nvPr/>
        </p:nvSpPr>
        <p:spPr>
          <a:xfrm>
            <a:off x="2240280" y="1069848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fixed hardware, hard resource limits, real-time deadlines</a:t>
            </a:r>
          </a:p>
        </p:txBody>
      </p:sp>
      <p:sp>
        <p:nvSpPr>
          <p:cNvPr id="1004" name="Block"/>
          <p:cNvSpPr/>
          <p:nvPr/>
        </p:nvSpPr>
        <p:spPr>
          <a:xfrm>
            <a:off x="365760" y="1847088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MOBILE</a:t>
            </a:r>
          </a:p>
        </p:txBody>
      </p:sp>
      <p:sp>
        <p:nvSpPr>
          <p:cNvPr id="1005" name="Label"/>
          <p:cNvSpPr/>
          <p:nvPr/>
        </p:nvSpPr>
        <p:spPr>
          <a:xfrm>
            <a:off x="2240280" y="1865376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battery, intermittent connectivity, OS-managed lifecycle</a:t>
            </a:r>
          </a:p>
        </p:txBody>
      </p:sp>
      <p:sp>
        <p:nvSpPr>
          <p:cNvPr id="1006" name="Block"/>
          <p:cNvSpPr/>
          <p:nvPr/>
        </p:nvSpPr>
        <p:spPr>
          <a:xfrm>
            <a:off x="365760" y="2642616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DESKTOP</a:t>
            </a:r>
          </a:p>
        </p:txBody>
      </p:sp>
      <p:sp>
        <p:nvSpPr>
          <p:cNvPr id="1007" name="Label"/>
          <p:cNvSpPr/>
          <p:nvPr/>
        </p:nvSpPr>
        <p:spPr>
          <a:xfrm>
            <a:off x="2240280" y="2660904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local configuration, OS compatibility, user-run installation</a:t>
            </a:r>
          </a:p>
        </p:txBody>
      </p:sp>
      <p:sp>
        <p:nvSpPr>
          <p:cNvPr id="1008" name="Block"/>
          <p:cNvSpPr/>
          <p:nvPr/>
        </p:nvSpPr>
        <p:spPr>
          <a:xfrm>
            <a:off x="365760" y="3438144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009" name="Label"/>
          <p:cNvSpPr/>
          <p:nvPr/>
        </p:nvSpPr>
        <p:spPr>
          <a:xfrm>
            <a:off x="2240280" y="3456432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availability, many concurrent users, remote administration</a:t>
            </a:r>
          </a:p>
        </p:txBody>
      </p:sp>
      <p:sp>
        <p:nvSpPr>
          <p:cNvPr id="1010" name="Block"/>
          <p:cNvSpPr/>
          <p:nvPr/>
        </p:nvSpPr>
        <p:spPr>
          <a:xfrm>
            <a:off x="365760" y="4233672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CLOUD</a:t>
            </a:r>
          </a:p>
        </p:txBody>
      </p:sp>
      <p:sp>
        <p:nvSpPr>
          <p:cNvPr id="1011" name="Label"/>
          <p:cNvSpPr/>
          <p:nvPr/>
        </p:nvSpPr>
        <p:spPr>
          <a:xfrm>
            <a:off x="2240280" y="4251960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elastic resources, managed services, network dependence</a:t>
            </a:r>
          </a:p>
        </p:txBody>
      </p:sp>
      <p:sp>
        <p:nvSpPr>
          <p:cNvPr id="1012" name="Label"/>
          <p:cNvSpPr/>
          <p:nvPr/>
        </p:nvSpPr>
        <p:spPr>
          <a:xfrm>
            <a:off x="365760" y="5047488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The rows combine: a mobile app may lean on cloud services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Processes, containers, and virtual machines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Label"/>
          <p:cNvSpPr/>
          <p:nvPr/>
        </p:nvSpPr>
        <p:spPr>
          <a:xfrm>
            <a:off x="27432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PROCESS</a:t>
            </a:r>
          </a:p>
        </p:txBody>
      </p:sp>
      <p:sp>
        <p:nvSpPr>
          <p:cNvPr id="1003" name="Label"/>
          <p:cNvSpPr/>
          <p:nvPr/>
        </p:nvSpPr>
        <p:spPr>
          <a:xfrm>
            <a:off x="320040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CONTAINER</a:t>
            </a:r>
          </a:p>
        </p:txBody>
      </p:sp>
      <p:sp>
        <p:nvSpPr>
          <p:cNvPr id="1004" name="Label"/>
          <p:cNvSpPr/>
          <p:nvPr/>
        </p:nvSpPr>
        <p:spPr>
          <a:xfrm>
            <a:off x="612648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VIRTUAL MACHINE</a:t>
            </a:r>
          </a:p>
        </p:txBody>
      </p:sp>
      <p:sp>
        <p:nvSpPr>
          <p:cNvPr id="1005" name="Block"/>
          <p:cNvSpPr/>
          <p:nvPr/>
        </p:nvSpPr>
        <p:spPr>
          <a:xfrm>
            <a:off x="411480" y="2148840"/>
            <a:ext cx="246888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 process</a:t>
            </a:r>
          </a:p>
        </p:txBody>
      </p:sp>
      <p:sp>
        <p:nvSpPr>
          <p:cNvPr id="1006" name="Card"/>
          <p:cNvSpPr/>
          <p:nvPr/>
        </p:nvSpPr>
        <p:spPr>
          <a:xfrm>
            <a:off x="41148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host OS</a:t>
            </a:r>
          </a:p>
        </p:txBody>
      </p:sp>
      <p:sp>
        <p:nvSpPr>
          <p:cNvPr id="1007" name="Card"/>
          <p:cNvSpPr/>
          <p:nvPr/>
        </p:nvSpPr>
        <p:spPr>
          <a:xfrm>
            <a:off x="41148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08" name="Block"/>
          <p:cNvSpPr/>
          <p:nvPr/>
        </p:nvSpPr>
        <p:spPr>
          <a:xfrm>
            <a:off x="3337560" y="1508760"/>
            <a:ext cx="1170432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</a:t>
            </a:r>
          </a:p>
        </p:txBody>
      </p:sp>
      <p:sp>
        <p:nvSpPr>
          <p:cNvPr id="1009" name="Block"/>
          <p:cNvSpPr/>
          <p:nvPr/>
        </p:nvSpPr>
        <p:spPr>
          <a:xfrm>
            <a:off x="4636008" y="1508760"/>
            <a:ext cx="1170432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</a:t>
            </a:r>
          </a:p>
        </p:txBody>
      </p:sp>
      <p:sp>
        <p:nvSpPr>
          <p:cNvPr id="1010" name="Card"/>
          <p:cNvSpPr/>
          <p:nvPr/>
        </p:nvSpPr>
        <p:spPr>
          <a:xfrm>
            <a:off x="3337560" y="214884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container runtime</a:t>
            </a:r>
          </a:p>
        </p:txBody>
      </p:sp>
      <p:sp>
        <p:nvSpPr>
          <p:cNvPr id="1011" name="Card"/>
          <p:cNvSpPr/>
          <p:nvPr/>
        </p:nvSpPr>
        <p:spPr>
          <a:xfrm>
            <a:off x="333756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shared kernel</a:t>
            </a:r>
          </a:p>
        </p:txBody>
      </p:sp>
      <p:sp>
        <p:nvSpPr>
          <p:cNvPr id="1012" name="Card"/>
          <p:cNvSpPr/>
          <p:nvPr/>
        </p:nvSpPr>
        <p:spPr>
          <a:xfrm>
            <a:off x="333756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13" name="Block"/>
          <p:cNvSpPr/>
          <p:nvPr/>
        </p:nvSpPr>
        <p:spPr>
          <a:xfrm>
            <a:off x="6263640" y="1508760"/>
            <a:ext cx="246888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 process</a:t>
            </a:r>
          </a:p>
        </p:txBody>
      </p:sp>
      <p:sp>
        <p:nvSpPr>
          <p:cNvPr id="1014" name="Card"/>
          <p:cNvSpPr/>
          <p:nvPr/>
        </p:nvSpPr>
        <p:spPr>
          <a:xfrm>
            <a:off x="6263640" y="214884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guest OS</a:t>
            </a:r>
          </a:p>
        </p:txBody>
      </p:sp>
      <p:sp>
        <p:nvSpPr>
          <p:cNvPr id="1015" name="Card"/>
          <p:cNvSpPr/>
          <p:nvPr/>
        </p:nvSpPr>
        <p:spPr>
          <a:xfrm>
            <a:off x="626364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hypervisor</a:t>
            </a:r>
          </a:p>
        </p:txBody>
      </p:sp>
      <p:sp>
        <p:nvSpPr>
          <p:cNvPr id="1016" name="Card"/>
          <p:cNvSpPr/>
          <p:nvPr/>
        </p:nvSpPr>
        <p:spPr>
          <a:xfrm>
            <a:off x="626364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17" name="Label"/>
          <p:cNvSpPr/>
          <p:nvPr/>
        </p:nvSpPr>
        <p:spPr>
          <a:xfrm>
            <a:off x="365760" y="411480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container shares the host kernel. It is not a miniature VM.</a:t>
            </a:r>
          </a:p>
        </p:txBody>
      </p:sp>
      <p:sp>
        <p:nvSpPr>
          <p:cNvPr id="1018" name="Label"/>
          <p:cNvSpPr/>
          <p:nvPr/>
        </p:nvSpPr>
        <p:spPr>
          <a:xfrm>
            <a:off x="365760" y="4809744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Targets (embedded, mobile, desktop, server, cloud) and mechanisms (process, container, VM) are different dimensions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Deployment topology for the reservation service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4114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4572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USER DEVICE</a:t>
            </a:r>
          </a:p>
        </p:txBody>
      </p:sp>
      <p:sp>
        <p:nvSpPr>
          <p:cNvPr id="1004" name="Block"/>
          <p:cNvSpPr/>
          <p:nvPr/>
        </p:nvSpPr>
        <p:spPr>
          <a:xfrm>
            <a:off x="6858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1005" name="Slab"/>
          <p:cNvSpPr/>
          <p:nvPr/>
        </p:nvSpPr>
        <p:spPr>
          <a:xfrm>
            <a:off x="33832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6" name="Label"/>
          <p:cNvSpPr/>
          <p:nvPr/>
        </p:nvSpPr>
        <p:spPr>
          <a:xfrm>
            <a:off x="34290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APP SERVER</a:t>
            </a:r>
          </a:p>
        </p:txBody>
      </p:sp>
      <p:sp>
        <p:nvSpPr>
          <p:cNvPr id="1007" name="Block"/>
          <p:cNvSpPr/>
          <p:nvPr/>
        </p:nvSpPr>
        <p:spPr>
          <a:xfrm>
            <a:off x="36576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reservation service</a:t>
            </a:r>
          </a:p>
        </p:txBody>
      </p:sp>
      <p:sp>
        <p:nvSpPr>
          <p:cNvPr id="1008" name="Slab"/>
          <p:cNvSpPr/>
          <p:nvPr/>
        </p:nvSpPr>
        <p:spPr>
          <a:xfrm>
            <a:off x="63550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9" name="Label"/>
          <p:cNvSpPr/>
          <p:nvPr/>
        </p:nvSpPr>
        <p:spPr>
          <a:xfrm>
            <a:off x="64008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STORAGE NODE</a:t>
            </a:r>
          </a:p>
        </p:txBody>
      </p:sp>
      <p:sp>
        <p:nvSpPr>
          <p:cNvPr id="1010" name="Block"/>
          <p:cNvSpPr/>
          <p:nvPr/>
        </p:nvSpPr>
        <p:spPr>
          <a:xfrm>
            <a:off x="66294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database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2816352" y="2697480"/>
            <a:ext cx="5486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"/>
          <p:cNvCxnSpPr/>
          <p:nvPr/>
        </p:nvCxnSpPr>
        <p:spPr>
          <a:xfrm>
            <a:off x="5788152" y="2697480"/>
            <a:ext cx="5486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3" name="Label"/>
          <p:cNvSpPr/>
          <p:nvPr/>
        </p:nvSpPr>
        <p:spPr>
          <a:xfrm>
            <a:off x="2505456" y="2231136"/>
            <a:ext cx="11704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HTTPS</a:t>
            </a:r>
          </a:p>
        </p:txBody>
      </p:sp>
      <p:sp>
        <p:nvSpPr>
          <p:cNvPr id="1014" name="Card"/>
          <p:cNvSpPr/>
          <p:nvPr/>
        </p:nvSpPr>
        <p:spPr>
          <a:xfrm>
            <a:off x="411480" y="3977640"/>
            <a:ext cx="10058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node</a:t>
            </a:r>
          </a:p>
        </p:txBody>
      </p:sp>
      <p:sp>
        <p:nvSpPr>
          <p:cNvPr id="1015" name="Label"/>
          <p:cNvSpPr/>
          <p:nvPr/>
        </p:nvSpPr>
        <p:spPr>
          <a:xfrm>
            <a:off x="1554480" y="4023360"/>
            <a:ext cx="2743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where software runs</a:t>
            </a:r>
          </a:p>
        </p:txBody>
      </p:sp>
      <p:sp>
        <p:nvSpPr>
          <p:cNvPr id="1016" name="Block"/>
          <p:cNvSpPr/>
          <p:nvPr/>
        </p:nvSpPr>
        <p:spPr>
          <a:xfrm>
            <a:off x="4434840" y="3977640"/>
            <a:ext cx="155448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1017" name="Label"/>
          <p:cNvSpPr/>
          <p:nvPr/>
        </p:nvSpPr>
        <p:spPr>
          <a:xfrm>
            <a:off x="6126480" y="4023360"/>
            <a:ext cx="2651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what runs there</a:t>
            </a:r>
          </a:p>
        </p:txBody>
      </p:sp>
      <p:sp>
        <p:nvSpPr>
          <p:cNvPr id="1018" name="Label"/>
          <p:cNvSpPr/>
          <p:nvPr/>
        </p:nvSpPr>
        <p:spPr>
          <a:xfrm>
            <a:off x="411480" y="4617720"/>
            <a:ext cx="83210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The storage node is proposed, not yet built. Today the service keeps reservations in memory.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Choosing an execution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2103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Local desktop app</a:t>
            </a:r>
          </a:p>
        </p:txBody>
      </p:sp>
      <p:sp>
        <p:nvSpPr>
          <p:cNvPr id="1003" name="Block"/>
          <p:cNvSpPr/>
          <p:nvPr/>
        </p:nvSpPr>
        <p:spPr>
          <a:xfrm>
            <a:off x="4389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Self-hosted server</a:t>
            </a:r>
          </a:p>
        </p:txBody>
      </p:sp>
      <p:sp>
        <p:nvSpPr>
          <p:cNvPr id="1004" name="Block"/>
          <p:cNvSpPr/>
          <p:nvPr/>
        </p:nvSpPr>
        <p:spPr>
          <a:xfrm>
            <a:off x="6675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Managed cloud service</a:t>
            </a:r>
          </a:p>
        </p:txBody>
      </p:sp>
      <p:sp>
        <p:nvSpPr>
          <p:cNvPr id="1005" name="Label"/>
          <p:cNvSpPr/>
          <p:nvPr/>
        </p:nvSpPr>
        <p:spPr>
          <a:xfrm>
            <a:off x="274320" y="1856232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006" name="Card"/>
          <p:cNvSpPr/>
          <p:nvPr/>
        </p:nvSpPr>
        <p:spPr>
          <a:xfrm>
            <a:off x="2103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one PC</a:t>
            </a:r>
          </a:p>
        </p:txBody>
      </p:sp>
      <p:sp>
        <p:nvSpPr>
          <p:cNvPr id="1007" name="Card"/>
          <p:cNvSpPr/>
          <p:nvPr/>
        </p:nvSpPr>
        <p:spPr>
          <a:xfrm>
            <a:off x="4389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your uptime</a:t>
            </a:r>
          </a:p>
        </p:txBody>
      </p:sp>
      <p:sp>
        <p:nvSpPr>
          <p:cNvPr id="1008" name="Card"/>
          <p:cNvSpPr/>
          <p:nvPr/>
        </p:nvSpPr>
        <p:spPr>
          <a:xfrm>
            <a:off x="6675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provider SLA</a:t>
            </a:r>
          </a:p>
        </p:txBody>
      </p:sp>
      <p:sp>
        <p:nvSpPr>
          <p:cNvPr id="1009" name="Label"/>
          <p:cNvSpPr/>
          <p:nvPr/>
        </p:nvSpPr>
        <p:spPr>
          <a:xfrm>
            <a:off x="274320" y="2478024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operated by</a:t>
            </a:r>
          </a:p>
        </p:txBody>
      </p:sp>
      <p:sp>
        <p:nvSpPr>
          <p:cNvPr id="1010" name="Card"/>
          <p:cNvSpPr/>
          <p:nvPr/>
        </p:nvSpPr>
        <p:spPr>
          <a:xfrm>
            <a:off x="2103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each user</a:t>
            </a:r>
          </a:p>
        </p:txBody>
      </p:sp>
      <p:sp>
        <p:nvSpPr>
          <p:cNvPr id="1011" name="Card"/>
          <p:cNvSpPr/>
          <p:nvPr/>
        </p:nvSpPr>
        <p:spPr>
          <a:xfrm>
            <a:off x="4389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your team</a:t>
            </a:r>
          </a:p>
        </p:txBody>
      </p:sp>
      <p:sp>
        <p:nvSpPr>
          <p:cNvPr id="1012" name="Card"/>
          <p:cNvSpPr/>
          <p:nvPr/>
        </p:nvSpPr>
        <p:spPr>
          <a:xfrm>
            <a:off x="6675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provider + you</a:t>
            </a:r>
          </a:p>
        </p:txBody>
      </p:sp>
      <p:sp>
        <p:nvSpPr>
          <p:cNvPr id="1013" name="Label"/>
          <p:cNvSpPr/>
          <p:nvPr/>
        </p:nvSpPr>
        <p:spPr>
          <a:xfrm>
            <a:off x="274320" y="3099816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control</a:t>
            </a:r>
          </a:p>
        </p:txBody>
      </p:sp>
      <p:sp>
        <p:nvSpPr>
          <p:cNvPr id="1014" name="Card"/>
          <p:cNvSpPr/>
          <p:nvPr/>
        </p:nvSpPr>
        <p:spPr>
          <a:xfrm>
            <a:off x="2103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full but fixed</a:t>
            </a:r>
          </a:p>
        </p:txBody>
      </p:sp>
      <p:sp>
        <p:nvSpPr>
          <p:cNvPr id="1015" name="Card"/>
          <p:cNvSpPr/>
          <p:nvPr/>
        </p:nvSpPr>
        <p:spPr>
          <a:xfrm>
            <a:off x="4389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full</a:t>
            </a:r>
          </a:p>
        </p:txBody>
      </p:sp>
      <p:sp>
        <p:nvSpPr>
          <p:cNvPr id="1016" name="Card"/>
          <p:cNvSpPr/>
          <p:nvPr/>
        </p:nvSpPr>
        <p:spPr>
          <a:xfrm>
            <a:off x="6675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limited</a:t>
            </a:r>
          </a:p>
        </p:txBody>
      </p:sp>
      <p:sp>
        <p:nvSpPr>
          <p:cNvPr id="1017" name="Label"/>
          <p:cNvSpPr/>
          <p:nvPr/>
        </p:nvSpPr>
        <p:spPr>
          <a:xfrm>
            <a:off x="274320" y="3721608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018" name="Card"/>
          <p:cNvSpPr/>
          <p:nvPr/>
        </p:nvSpPr>
        <p:spPr>
          <a:xfrm>
            <a:off x="2103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 once</a:t>
            </a:r>
          </a:p>
        </p:txBody>
      </p:sp>
      <p:sp>
        <p:nvSpPr>
          <p:cNvPr id="1019" name="Card"/>
          <p:cNvSpPr/>
          <p:nvPr/>
        </p:nvSpPr>
        <p:spPr>
          <a:xfrm>
            <a:off x="4389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ops staff</a:t>
            </a:r>
          </a:p>
        </p:txBody>
      </p:sp>
      <p:sp>
        <p:nvSpPr>
          <p:cNvPr id="1020" name="Card"/>
          <p:cNvSpPr/>
          <p:nvPr/>
        </p:nvSpPr>
        <p:spPr>
          <a:xfrm>
            <a:off x="6675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pay per use</a:t>
            </a:r>
          </a:p>
        </p:txBody>
      </p:sp>
      <p:sp>
        <p:nvSpPr>
          <p:cNvPr id="1021" name="Label"/>
          <p:cNvSpPr/>
          <p:nvPr/>
        </p:nvSpPr>
        <p:spPr>
          <a:xfrm>
            <a:off x="274320" y="4343400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updates</a:t>
            </a:r>
          </a:p>
        </p:txBody>
      </p:sp>
      <p:sp>
        <p:nvSpPr>
          <p:cNvPr id="1022" name="Card"/>
          <p:cNvSpPr/>
          <p:nvPr/>
        </p:nvSpPr>
        <p:spPr>
          <a:xfrm>
            <a:off x="2103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user reinstalls</a:t>
            </a:r>
          </a:p>
        </p:txBody>
      </p:sp>
      <p:sp>
        <p:nvSpPr>
          <p:cNvPr id="1023" name="Card"/>
          <p:cNvSpPr/>
          <p:nvPr/>
        </p:nvSpPr>
        <p:spPr>
          <a:xfrm>
            <a:off x="4389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deploy yourself</a:t>
            </a:r>
          </a:p>
        </p:txBody>
      </p:sp>
      <p:sp>
        <p:nvSpPr>
          <p:cNvPr id="1024" name="Card"/>
          <p:cNvSpPr/>
          <p:nvPr/>
        </p:nvSpPr>
        <p:spPr>
          <a:xfrm>
            <a:off x="6675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central deploy</a:t>
            </a:r>
          </a:p>
        </p:txBody>
      </p:sp>
      <p:sp>
        <p:nvSpPr>
          <p:cNvPr id="1025" name="Label"/>
          <p:cNvSpPr/>
          <p:nvPr/>
        </p:nvSpPr>
        <p:spPr>
          <a:xfrm>
            <a:off x="365760" y="484632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Requirements decide. Cloud is not automatically preferable.</a:t>
            </a:r>
          </a:p>
        </p:txBody>
      </p:sp>
      <p:sp>
        <p:nvSpPr>
          <p:cNvPr id="1026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Which would you choose for the reservation service?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 deployment model represents assumptions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20040" y="1005840"/>
            <a:ext cx="5440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DEPLOYED SYSTEM</a:t>
            </a:r>
            <a:r>
              <a:rPr sz="2000" b="0" i="1" dirty="0">
                <a:solidFill>
                  <a:srgbClr val="FFFFFF"/>
                </a:solidFill>
              </a:rPr>
              <a:t>  (a state)</a:t>
            </a:r>
          </a:p>
        </p:txBody>
      </p:sp>
      <p:sp>
        <p:nvSpPr>
          <p:cNvPr id="1003" name="Card"/>
          <p:cNvSpPr/>
          <p:nvPr/>
        </p:nvSpPr>
        <p:spPr>
          <a:xfrm>
            <a:off x="320040" y="1737360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004" name="Label"/>
          <p:cNvSpPr/>
          <p:nvPr/>
        </p:nvSpPr>
        <p:spPr>
          <a:xfrm>
            <a:off x="2423160" y="1737360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one Python process, one laptop</a:t>
            </a:r>
          </a:p>
        </p:txBody>
      </p:sp>
      <p:sp>
        <p:nvSpPr>
          <p:cNvPr id="1005" name="Card"/>
          <p:cNvSpPr/>
          <p:nvPr/>
        </p:nvSpPr>
        <p:spPr>
          <a:xfrm>
            <a:off x="320040" y="2487168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Resources</a:t>
            </a:r>
          </a:p>
        </p:txBody>
      </p:sp>
      <p:sp>
        <p:nvSpPr>
          <p:cNvPr id="1006" name="Label"/>
          <p:cNvSpPr/>
          <p:nvPr/>
        </p:nvSpPr>
        <p:spPr>
          <a:xfrm>
            <a:off x="2423160" y="2487168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small CPU and memory footprint</a:t>
            </a:r>
          </a:p>
        </p:txBody>
      </p:sp>
      <p:sp>
        <p:nvSpPr>
          <p:cNvPr id="1007" name="Card"/>
          <p:cNvSpPr/>
          <p:nvPr/>
        </p:nvSpPr>
        <p:spPr>
          <a:xfrm>
            <a:off x="320040" y="3236976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Topology</a:t>
            </a:r>
          </a:p>
        </p:txBody>
      </p:sp>
      <p:sp>
        <p:nvSpPr>
          <p:cNvPr id="1008" name="Label"/>
          <p:cNvSpPr/>
          <p:nvPr/>
        </p:nvSpPr>
        <p:spPr>
          <a:xfrm>
            <a:off x="2423160" y="3236976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browser to service, one node</a:t>
            </a:r>
          </a:p>
        </p:txBody>
      </p:sp>
      <p:sp>
        <p:nvSpPr>
          <p:cNvPr id="1009" name="Card"/>
          <p:cNvSpPr/>
          <p:nvPr/>
        </p:nvSpPr>
        <p:spPr>
          <a:xfrm>
            <a:off x="320040" y="3986784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1010" name="Label"/>
          <p:cNvSpPr/>
          <p:nvPr/>
        </p:nvSpPr>
        <p:spPr>
          <a:xfrm>
            <a:off x="2423160" y="3986784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none; defaults are hard-coded</a:t>
            </a:r>
          </a:p>
        </p:txBody>
      </p:sp>
      <p:sp>
        <p:nvSpPr>
          <p:cNvPr id="1011" name="Block"/>
          <p:cNvSpPr/>
          <p:nvPr/>
        </p:nvSpPr>
        <p:spPr>
          <a:xfrm>
            <a:off x="5989320" y="1005840"/>
            <a:ext cx="2880360" cy="9601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DEPLOYMENT PROCESS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(a change)</a:t>
            </a:r>
          </a:p>
        </p:txBody>
      </p:sp>
      <p:sp>
        <p:nvSpPr>
          <p:cNvPr id="1012" name="Card"/>
          <p:cNvSpPr/>
          <p:nvPr/>
        </p:nvSpPr>
        <p:spPr>
          <a:xfrm>
            <a:off x="6355080" y="2148840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BUILD</a:t>
            </a:r>
          </a:p>
        </p:txBody>
      </p:sp>
      <p:sp>
        <p:nvSpPr>
          <p:cNvPr id="1013" name="Card"/>
          <p:cNvSpPr/>
          <p:nvPr/>
        </p:nvSpPr>
        <p:spPr>
          <a:xfrm>
            <a:off x="6355080" y="2752344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VALIDATE</a:t>
            </a:r>
          </a:p>
        </p:txBody>
      </p:sp>
      <p:cxnSp>
        <p:nvCxnSpPr>
          <p:cNvPr id="1014" name="Connector"/>
          <p:cNvCxnSpPr/>
          <p:nvPr/>
        </p:nvCxnSpPr>
        <p:spPr>
          <a:xfrm>
            <a:off x="7424928" y="2587752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5" name="Card"/>
          <p:cNvSpPr/>
          <p:nvPr/>
        </p:nvSpPr>
        <p:spPr>
          <a:xfrm>
            <a:off x="6355080" y="3355848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RELEASE</a:t>
            </a:r>
          </a:p>
        </p:txBody>
      </p:sp>
      <p:cxnSp>
        <p:nvCxnSpPr>
          <p:cNvPr id="1016" name="Connector"/>
          <p:cNvCxnSpPr/>
          <p:nvPr/>
        </p:nvCxnSpPr>
        <p:spPr>
          <a:xfrm>
            <a:off x="7424928" y="3191256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Card"/>
          <p:cNvSpPr/>
          <p:nvPr/>
        </p:nvSpPr>
        <p:spPr>
          <a:xfrm>
            <a:off x="6355080" y="3959352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OBSERVE</a:t>
            </a:r>
          </a:p>
        </p:txBody>
      </p:sp>
      <p:cxnSp>
        <p:nvCxnSpPr>
          <p:cNvPr id="1018" name="Connector"/>
          <p:cNvCxnSpPr/>
          <p:nvPr/>
        </p:nvCxnSpPr>
        <p:spPr>
          <a:xfrm>
            <a:off x="7424928" y="3794760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9" name="Card"/>
          <p:cNvSpPr/>
          <p:nvPr/>
        </p:nvSpPr>
        <p:spPr>
          <a:xfrm>
            <a:off x="6355080" y="4562856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RECOVER</a:t>
            </a:r>
          </a:p>
        </p:txBody>
      </p:sp>
      <p:cxnSp>
        <p:nvCxnSpPr>
          <p:cNvPr id="1020" name="Connector"/>
          <p:cNvCxnSpPr/>
          <p:nvPr/>
        </p:nvCxnSpPr>
        <p:spPr>
          <a:xfrm>
            <a:off x="7424928" y="4398264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1" name="Label"/>
          <p:cNvSpPr/>
          <p:nvPr/>
        </p:nvSpPr>
        <p:spPr>
          <a:xfrm>
            <a:off x="365760" y="507492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The system is a state; the process changes that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Build environment versus runtime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84048" y="1371600"/>
            <a:ext cx="18745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1003" name="Card"/>
          <p:cNvSpPr/>
          <p:nvPr/>
        </p:nvSpPr>
        <p:spPr>
          <a:xfrm>
            <a:off x="2551176" y="1371600"/>
            <a:ext cx="187452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BUILD ENVIRONMENT</a:t>
            </a:r>
          </a:p>
        </p:txBody>
      </p:sp>
      <p:cxnSp>
        <p:nvCxnSpPr>
          <p:cNvPr id="1004" name="Connector"/>
          <p:cNvCxnSpPr/>
          <p:nvPr/>
        </p:nvCxnSpPr>
        <p:spPr>
          <a:xfrm>
            <a:off x="2276856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Block"/>
          <p:cNvSpPr/>
          <p:nvPr/>
        </p:nvSpPr>
        <p:spPr>
          <a:xfrm>
            <a:off x="4718304" y="1371600"/>
            <a:ext cx="18745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DEPLOYABLE ARTIFACT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4443984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7" name="Card"/>
          <p:cNvSpPr/>
          <p:nvPr/>
        </p:nvSpPr>
        <p:spPr>
          <a:xfrm>
            <a:off x="6885432" y="1371600"/>
            <a:ext cx="187452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RUNTIME ENVIRONMENT</a:t>
            </a:r>
          </a:p>
        </p:txBody>
      </p:sp>
      <p:cxnSp>
        <p:nvCxnSpPr>
          <p:cNvPr id="1008" name="Connector"/>
          <p:cNvCxnSpPr/>
          <p:nvPr/>
        </p:nvCxnSpPr>
        <p:spPr>
          <a:xfrm>
            <a:off x="6611112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Label"/>
          <p:cNvSpPr/>
          <p:nvPr/>
        </p:nvSpPr>
        <p:spPr>
          <a:xfrm>
            <a:off x="4206240" y="2331720"/>
            <a:ext cx="4480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the artifact carries assumptions about its destination</a:t>
            </a:r>
          </a:p>
        </p:txBody>
      </p:sp>
      <p:sp>
        <p:nvSpPr>
          <p:cNvPr id="1010" name="Card"/>
          <p:cNvSpPr/>
          <p:nvPr/>
        </p:nvSpPr>
        <p:spPr>
          <a:xfrm>
            <a:off x="384048" y="3200400"/>
            <a:ext cx="452628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Why it fails over there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missing dependencies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different runtime version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different configuration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absent resources</a:t>
            </a:r>
          </a:p>
        </p:txBody>
      </p:sp>
      <p:sp>
        <p:nvSpPr>
          <p:cNvPr id="1011" name="Card"/>
          <p:cNvSpPr/>
          <p:nvPr/>
        </p:nvSpPr>
        <p:spPr>
          <a:xfrm>
            <a:off x="5212080" y="3200400"/>
            <a:ext cx="361188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“Works on my machine”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a claim about one environment,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tested nowhere else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Configuration is part of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APPLICATION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the same artifact</a:t>
            </a:r>
          </a:p>
        </p:txBody>
      </p:sp>
      <p:sp>
        <p:nvSpPr>
          <p:cNvPr id="1003" name="Card"/>
          <p:cNvSpPr/>
          <p:nvPr/>
        </p:nvSpPr>
        <p:spPr>
          <a:xfrm>
            <a:off x="3931920" y="1188720"/>
            <a:ext cx="4754880" cy="2148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CONFIGURATION, supplied at deployment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database connection string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secrets and API keys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feature settings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external service endpoints</a:t>
            </a:r>
          </a:p>
        </p:txBody>
      </p:sp>
      <p:cxnSp>
        <p:nvCxnSpPr>
          <p:cNvPr id="1004" name="Connector"/>
          <p:cNvCxnSpPr/>
          <p:nvPr/>
        </p:nvCxnSpPr>
        <p:spPr>
          <a:xfrm flipH="1">
            <a:off x="3035808" y="2423160"/>
            <a:ext cx="87782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Label"/>
          <p:cNvSpPr/>
          <p:nvPr/>
        </p:nvSpPr>
        <p:spPr>
          <a:xfrm>
            <a:off x="365760" y="3200400"/>
            <a:ext cx="3291840" cy="12984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hard-coding the connection string bakes one environment into the artifact</a:t>
            </a:r>
          </a:p>
        </p:txBody>
      </p:sp>
      <p:sp>
        <p:nvSpPr>
          <p:cNvPr id="1006" name="Label"/>
          <p:cNvSpPr/>
          <p:nvPr/>
        </p:nvSpPr>
        <p:spPr>
          <a:xfrm>
            <a:off x="365760" y="452628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deployment model that omits configuration cannot reproduce the system's behavior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Reproducibility is an engineering property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DECLARE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dependencies and versions, pinned in the repository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REBUILD CLEAN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a fresh, ephemeral environment for every run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INFRASTRUCTURE AS CODE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the environment itself, versioned and reviewable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29184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Given the same source and configuration, the pipeline should produce the same result</a:t>
            </a:r>
          </a:p>
        </p:txBody>
      </p:sp>
      <p:sp>
        <p:nvSpPr>
          <p:cNvPr id="1006" name="Card"/>
          <p:cNvSpPr/>
          <p:nvPr/>
        </p:nvSpPr>
        <p:spPr>
          <a:xfrm>
            <a:off x="365760" y="4114800"/>
            <a:ext cx="845820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Still not guaranteed:</a:t>
            </a:r>
          </a:p>
          <a:p>
            <a:pPr algn="ctr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external services, mutable dependencies, nondeterministic builds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8643</TotalTime>
  <Words>13080</Words>
  <Application>Microsoft Macintosh PowerPoint</Application>
  <PresentationFormat>On-screen Show (4:3)</PresentationFormat>
  <Paragraphs>689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Times</vt:lpstr>
      <vt:lpstr>Purdue1</vt:lpstr>
      <vt:lpstr>PowerPoint Presentation</vt:lpstr>
      <vt:lpstr>July 19, 2024</vt:lpstr>
      <vt:lpstr>A security update triggers system crashes</vt:lpstr>
      <vt:lpstr>Cause: a missing input causes an out-of-bounds read</vt:lpstr>
      <vt:lpstr>Explanation 1: A component-level failure</vt:lpstr>
      <vt:lpstr>What would you change?</vt:lpstr>
      <vt:lpstr>How did the update reach production?</vt:lpstr>
      <vt:lpstr>Explanation 2: The Swiss cheese model</vt:lpstr>
      <vt:lpstr>The investigation identifies weaknesses</vt:lpstr>
      <vt:lpstr>What should change?</vt:lpstr>
      <vt:lpstr>What does the evidence establish?</vt:lpstr>
      <vt:lpstr>One defective update. Many sectors.</vt:lpstr>
      <vt:lpstr>What system are we investigating?</vt:lpstr>
      <vt:lpstr>Explanation 3: Safety depends on control</vt:lpstr>
      <vt:lpstr>Who controlled the update?</vt:lpstr>
      <vt:lpstr>The vendor is not the whole system</vt:lpstr>
      <vt:lpstr>Many computers do not imply independent failure</vt:lpstr>
      <vt:lpstr>How can critical services survive a shared failure?</vt:lpstr>
      <vt:lpstr>Who can impose a system-wide constraint?</vt:lpstr>
      <vt:lpstr>What did each model let us change?</vt:lpstr>
      <vt:lpstr>A postmortem is an argument</vt:lpstr>
      <vt:lpstr>Reflection changes the engineer</vt:lpstr>
      <vt:lpstr>Where will the next engineer encounter the lesson?</vt:lpstr>
      <vt:lpstr>Different lessons require different authorities</vt:lpstr>
      <vt:lpstr>How would we know the system is safer?</vt:lpstr>
      <vt:lpstr>Could we have anticipated this failure?</vt:lpstr>
      <vt:lpstr>Apply FMEA to an unfamiliar system</vt:lpstr>
      <vt:lpstr>What actually happened? July 2, 2019</vt:lpstr>
      <vt:lpstr>Diagnose the Cloudflare outage</vt:lpstr>
      <vt:lpstr>Failure should change future engineering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537</cp:revision>
  <dcterms:created xsi:type="dcterms:W3CDTF">2020-02-21T23:00:33Z</dcterms:created>
  <dcterms:modified xsi:type="dcterms:W3CDTF">2026-10-22T11:27:38Z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