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7" r:id="rId1"/>
  </p:sldMasterIdLst>
  <p:notesMasterIdLst>
    <p:notesMasterId r:id="rId30"/>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365"/>
    <p:restoredTop sz="80913"/>
  </p:normalViewPr>
  <p:slideViewPr>
    <p:cSldViewPr snapToGrid="0">
      <p:cViewPr varScale="1">
        <p:scale>
          <a:sx n="100" d="100"/>
          <a:sy n="100" d="100"/>
        </p:scale>
        <p:origin x="165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1 minute.</a:t>
            </a:r>
          </a:p>
          <a:p/>
          <a:p>
            <a:r>
              <a:t>Tuesday deployed the reservation service: HTTP API, reservation logic, in-memory state. Today the state gets a real home. The governing question on the slide is the arc for 75 minutes: represent (data models, schemas), retrieve (queries, plans), preserve (durability, transactions, migrations).</a:t>
            </a:r>
          </a:p>
          <a:p/>
          <a:p>
            <a:r>
              <a:t>Frame the posture up front: today is about a DESIGN SPACE — choices about representation, semantics, interfaces, concurrency, and scale. SQL, NoSQL, ORMs, indexes, and transactions are mechanisms within that space, not the subject. This is not an SQL tutorial.</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Run it as three quick questions. (1) We kill -9 the service: what did users lose? (2) Load grows and we add a second replica, as Tuesday's topology allowed: what goes wrong? (Each replica has its own dict.) (3) Two students click Reserve on room 117 at the same moment: what do both requests see?</a:t>
            </a:r>
          </a:p>
          <a:p/>
          <a:p>
            <a:r>
              <a:t>Students will collapse all three into "use a database." Push on SEPARABILITY — that is the slide's point: an embedded database like SQLite gives durability and transactions with no server and no sharing; a distributed key-value store gives scalable sharing with a very different transaction model; a cache gives fast sharing with no persistence at all. The three requirements select machinery independently.</a:t>
            </a:r>
          </a:p>
          <a:p/>
          <a:p>
            <a:r>
              <a:t>Do not let "database" mean "SQL server" yet — next slide names the component abstractly.</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Ask for databases students have used that are not a SQL server: SQLite inside every phone app, Redis, MongoDB, Firebase, even a Git repository. The point: "database" names a component you delegate state to, with an engineering contract — not a language and not a vendor aisle.</a:t>
            </a:r>
          </a:p>
          <a:p/>
          <a:p>
            <a:r>
              <a:t>The bottom card recalls the separability from the previous slide with concrete machinery. None of these is "not a real database"; each occupies a different point in the space we are about to draw.</a:t>
            </a:r>
          </a:p>
          <a:p/>
          <a:p>
            <a:r>
              <a:t>Next slide makes "the contract" precise: five dimensions that organize the rest of the lecture.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This is the lecture's central visual; everything that follows lives somewhere on it. Walk each row as an engineering QUESTION, not a feature list. When relational vs NoSQL, ORMs, query plans, or transactions come up later, return here and point at the row they occupy.</a:t>
            </a:r>
          </a:p>
          <a:p/>
          <a:p>
            <a:r>
              <a:t>The footer line is the model's point: requirements belong to the APPLICATION; guarantees belong to the DATABASE. Keeping those separate is what lets "NoSQL" be a set of points in this space rather than a rival camp — and what makes "does the database enforce my invariant?" a question with a precise answer rather than a vibe.</a:t>
            </a:r>
          </a:p>
          <a:p/>
          <a:p>
            <a:r>
              <a:t>Operations (backup, recovery, migration, administration) is a real sixth dimension; we defer it to the Operations &amp; SRE unit rather than pretending it fits today.</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One pass, one sentence per family, always the same facts: rooms, users, reservations.</a:t>
            </a:r>
          </a:p>
          <a:p/>
          <a:p>
            <a:r>
              <a:t>DO NOT claim capability walls. A document database CAN represent relationships (references across documents); a relational database CAN store JSON (jsonb columns). The real differences are NATIVE representation and common usage — what the system makes easy, indexed, and idiomatic. Teaching these as absolute capabilities is the second named non-claim of this lecture.</a:t>
            </a:r>
          </a:p>
          <a:p/>
          <a:p>
            <a:r>
              <a:t>Foreshadow: "easy vs harder" is about to matter — our invariant is a cross-row rule.</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 crossed-out line is folk wisdom students arrive with; name it and reject it explicitly — it is not a defensible engineering rule. "NoSQL" is not a single consistency model: Spanner-class relational systems are distributed and horizontally scalable; several document and key-value systems offer strong consistency and multi-document transactions. The engineering move is the previous slide's footer: compare GUARANTEES against REQUIREMENTS, per system, per dimension.</a:t>
            </a:r>
          </a:p>
          <a:p/>
          <a:p>
            <a:r>
              <a:t>We now commit to a relational first implementation — not because relational is "the default answer," but because our requirements (left card) select it. Later slides compare NoSQL alternatives against those same requirements.</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These four questions make the Semantics and Concurrency rows of the abstract model operational. The answers differ WITHIN camps, not just between them: two relational engines at their default isolation levels answer question 3 differently, and so do two NoSQL systems. That is why the label ("SQL," "NoSQL") tells you less than the documentation's guarantees section.</a:t>
            </a:r>
          </a:p>
          <a:p/>
          <a:p>
            <a:r>
              <a:t>Question 3 is the lecture's destination — hold it up now, promise it gets 20 minutes later. Question 4 foreshadows the three-fixes slide: in some systems the invariant can live IN the database; in others it must live in application discipline.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Quick poll, not a worksheet: for each system, pick a data model, a consistency posture, and a scaling posture — one minute of neighbor discussion, then take answers.</a:t>
            </a:r>
          </a:p>
          <a:p/>
          <a:p>
            <a:r>
              <a:t>Expected: A → relational, strong isolation available, single primary, indexes for ad-hoc queries. B → partitioned key-value / wide-column, relaxed consistency, write-optimized, partition by device id; no cross-row invariant exists, so nothing is lost by relaxing it.</a:t>
            </a:r>
          </a:p>
          <a:p/>
          <a:p>
            <a:r>
              <a:t>The teaching point: B is not "worse engineering" than A — its requirements genuinely do not need what A must pay for. Resist any student framing of A as legacy and B as modern.</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Act II's modeling discipline, applied: an ER model selects which facts exist and how they relate. One user makes many reservations; one room hosts many reservations; the reservation is the relationship made into an entity.</a:t>
            </a:r>
          </a:p>
          <a:p/>
          <a:p>
            <a:r>
              <a:t>Point at the bolded attributes: starts_at, ends_at, status are there BECAUSE the invariant needs them — a model earns its attributes from the obligations it must support, not from an urge to record everything.</a:t>
            </a:r>
          </a:p>
          <a:p/>
          <a:p>
            <a:r>
              <a:t>Ask: could we model this as ROOM embedding a list of reservations? Yes — that is the document shape from slide 5; the invariant then lives inside one document, which will matter later. The relational shape makes the reservation a first-class row.</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Walk the DDL top to bottom: every line is an obligation the DATABASE now enforces no matter which code path writes — a directness of Modeling-meets-Alignment that application-level validation never achieves. The schema is the model, with authority.</a:t>
            </a:r>
          </a:p>
          <a:p/>
          <a:p>
            <a:r>
              <a:t>Then ask the trap question: "Which line prevents double-booking?" Students will nominate CHECK. Let them argue, then land the red line: a CHECK sees ONE row; a foreign key points from one row to one row. Overlap is a predicate over PAIRS of rows, and nothing in this vocabulary can state it. Do NOT soften this — it is the technical point the lecture is built around, and slide 23 resolves it.</a:t>
            </a:r>
          </a:p>
          <a:p/>
          <a:p>
            <a:r>
              <a:t>(If asked: yes, some engines have exclusion constraints that CAN state it — that is exactly slide 23's first fix. Park it.)</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Normalization is not a virtue and denormalization is not a sin; they move the same cost between the write path and the read path. Our service renames a room roughly never and lists reservations constantly — a defensible denormalization. A trading system updating prices thousands of times a second makes the opposite call.</a:t>
            </a:r>
          </a:p>
          <a:p/>
          <a:p>
            <a:r>
              <a:t>Connect back to slide 5: document stores denormalize NATIVELY (the room document embeds its reservations); relational systems normalize natively and denormalize deliberately. Same tradeoff, different defaults.</a:t>
            </a:r>
          </a:p>
          <a:p/>
          <a:p>
            <a:r>
              <a:t>One caution forward: every copied fact is a new invariant ("copies agree") that someone must now enforce — the same shape as our overlap invariant, and the same question: WHERE does enforcement live?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The two rows on screen are the slide-10 trap made concrete: both pass every declared constraint; together they break the service. Model validity and application correctness are different properties with different enforcement machinery.</a:t>
            </a:r>
          </a:p>
          <a:p/>
          <a:p>
            <a:r>
              <a:t>This is also where ACID folklore starts to wobble — students have heard "C is for Consistency" and assume the database therefore understands their application. It does not: it enforces the constraints actually supplied, and ours cannot yet be supplied in row-local vocabulary. Say that plainly now; slide 20 formalizes it.</a:t>
            </a:r>
          </a:p>
          <a:p/>
          <a:p>
            <a:r>
              <a:t>Transition: before we can fix enforcement, we need the other half of the design space — how we ASK the database questions. Query interfaces, then execution, then back here for concurrency.</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Read the WHERE clause aloud as a sentence: "any CONFIRMED reservation for this room whose interval overlaps mine." Two minutes on the overlap predicate is time well spent — students reliably get interval overlap wrong (they test only endpoints-inside). Draw two intervals on the board if needed.</a:t>
            </a:r>
          </a:p>
          <a:p/>
          <a:p>
            <a:r>
              <a:t>The declarative point sets up execution: because the query is only a specification, the engine is FREE to choose access paths — and obligated to pick well. That freedom is where both performance (slides 16-17) and the race (slide 19) come from: nothing in this text says WHEN it runs relative to anyone else's insert.</a:t>
            </a:r>
          </a:p>
          <a:p/>
          <a:p>
            <a:r>
              <a:t>Keep SQL syntax discussion to these few minutes — the design space, not the dialect, is the lecture.</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Same overlap query as the previous slide, now written against objects. Stress the slide label: this is pseudo-ORM; SQLAlchemy, Django, Hibernate, Prisma each spell it differently, and teaching one dialect is not the point.</a:t>
            </a:r>
          </a:p>
          <a:p/>
          <a:p>
            <a:r>
              <a:t>Both columns are true at once. The buys are real (teams ship faster, mapping bugs drop); the costs are structural, not bugs to be fixed in the next release — an abstraction over a different data model MUST leak somewhere (objects have identity and references; rows have keys and values).</a:t>
            </a:r>
          </a:p>
          <a:p/>
          <a:p>
            <a:r>
              <a:t>Resist the class splitting into ORM-always and ORM-never camps for two minutes — the next slide dissolves the rivalry by placing them at different layers.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One of the four slides that carry the lecture. The stack kills the false dichotomy from the previous slide: every ORM query BECOMES SQL; every SQL query BECOMES an engine plan. Choosing "ORM or SQL" is choosing your authoring layer, nothing more — correctness and cost are decided below, and remain yours.</a:t>
            </a:r>
          </a:p>
          <a:p/>
          <a:p>
            <a:r>
              <a:t>Practical corollary to say out loud: when the ORM is slow or wrong, you debug by reading DOWNWARD — the emitted SQL, then the plan. An engineer who can only read the top layer cannot diagnose the system. This mirrors Act II's delegation lesson: delegating the writing does not delegate the accountability.</a:t>
            </a:r>
          </a:p>
          <a:p/>
          <a:p>
            <a:r>
              <a:t>Ask: where in this stack did our overlap invariant go? (Nowhere yet — it is still only in our heads and in one WHERE clause. Keep that discomfort alive until slide 23.)</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One of the four slides that carry the lecture. Walk the pipeline once: parse and validate against the schema; a logical plan (relational algebra — what to combine); the optimizer compares candidate plans using statistics; a physical plan (which index, which join algorithm); execution; results.</a:t>
            </a:r>
          </a:p>
          <a:p/>
          <a:p>
            <a:r>
              <a:t>Students should leave knowing EXPLAIN exists: every serious engine will show you the chosen plan, and reading it is how slide 17's difference is diagnosed.</a:t>
            </a:r>
          </a:p>
          <a:p/>
          <a:p>
            <a:r>
              <a:t>PLACEMENT NOTE, deliberate and worth saying: query optimization belongs HERE, under execution — it is about running ONE query efficiently. Transactions (§5) are about which CONCURRENT HISTORIES are permitted. They interact (locking can change plan costs) but they solve different problems. Filing optimization under transactions is a category error.</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 numbers are illustrative, not benchmarks — the shape is what matters: linear-in-table versus logarithmic-plus-answer-size. On the previous slide's pipeline, the ONLY thing that changed is what the optimizer could choose from.</a:t>
            </a:r>
          </a:p>
          <a:p/>
          <a:p>
            <a:r>
              <a:t>Ask which columns our overlap query wants indexed (room_id, then time). Then the other edge: every insert now maintains the index too — a write-heavy telemetry table (slide 8's system B) might rightly carry fewer indexes. Design decision, access pattern in, index out.</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 loop is CORRECT — every test passes, the page renders. The defect is the shape of the access: one query per row, each paying a full round trip. It appears exactly where the ORM made row access invisible (r.room.name looks like a field read, is a query).</a:t>
            </a:r>
          </a:p>
          <a:p/>
          <a:p>
            <a:r>
              <a:t>Detection is observational, not static: query logs, APM dashboards, or an ORM's echo mode; count queries per request and be suspicious of counts that scale with result size.</a:t>
            </a:r>
          </a:p>
          <a:p/>
          <a:p>
            <a:r>
              <a:t>The agent point is Act II's lesson again: generated code satisfies the stated spec. "Functionally correct" was the stated spec; access pattern was not. If you want it, state it and check it — review the emitted SQL.</a:t>
            </a:r>
          </a:p>
          <a:p/>
          <a:p>
            <a:r>
              <a:t>Transition: everything so far assumed one request at a time. Drop that assumption.</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 simple">
  <p:cSld name="Title slide - simple">
    <p:spTree>
      <p:nvGrpSpPr>
        <p:cNvPr id="1" name="Shape 14"/>
        <p:cNvGrpSpPr/>
        <p:nvPr/>
      </p:nvGrpSpPr>
      <p:grpSpPr>
        <a:xfrm>
          <a:off x="0" y="0"/>
          <a:ext cx="0" cy="0"/>
          <a:chOff x="0" y="0"/>
          <a:chExt cx="0" cy="0"/>
        </a:xfrm>
      </p:grpSpPr>
      <p:sp>
        <p:nvSpPr>
          <p:cNvPr id="15" name="Google Shape;15;p2"/>
          <p:cNvSpPr txBox="1">
            <a:spLocks noGrp="1"/>
          </p:cNvSpPr>
          <p:nvPr>
            <p:ph type="subTitle" idx="1"/>
          </p:nvPr>
        </p:nvSpPr>
        <p:spPr>
          <a:xfrm>
            <a:off x="1308100" y="3235325"/>
            <a:ext cx="6400800" cy="1881188"/>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1000"/>
              </a:spcBef>
              <a:spcAft>
                <a:spcPts val="0"/>
              </a:spcAft>
              <a:buSzPts val="1800"/>
              <a:buFont typeface="Times"/>
              <a:buNone/>
              <a:defRPr>
                <a:solidFill>
                  <a:srgbClr val="000000"/>
                </a:solidFill>
                <a:latin typeface="Calibri"/>
                <a:ea typeface="Calibri"/>
                <a:cs typeface="Calibri"/>
                <a:sym typeface="Calibri"/>
              </a:defRPr>
            </a:lvl1pPr>
            <a:lvl2pPr lvl="1" algn="l">
              <a:lnSpc>
                <a:spcPct val="100000"/>
              </a:lnSpc>
              <a:spcBef>
                <a:spcPts val="1000"/>
              </a:spcBef>
              <a:spcAft>
                <a:spcPts val="0"/>
              </a:spcAft>
              <a:buSzPts val="1800"/>
              <a:buChar char="•"/>
              <a:defRPr/>
            </a:lvl2pPr>
            <a:lvl3pPr lvl="2" algn="l">
              <a:lnSpc>
                <a:spcPct val="100000"/>
              </a:lnSpc>
              <a:spcBef>
                <a:spcPts val="1000"/>
              </a:spcBef>
              <a:spcAft>
                <a:spcPts val="0"/>
              </a:spcAft>
              <a:buSzPts val="1800"/>
              <a:buChar char="•"/>
              <a:defRPr/>
            </a:lvl3pPr>
            <a:lvl4pPr lvl="3" algn="l">
              <a:lnSpc>
                <a:spcPct val="100000"/>
              </a:lnSpc>
              <a:spcBef>
                <a:spcPts val="1000"/>
              </a:spcBef>
              <a:spcAft>
                <a:spcPts val="0"/>
              </a:spcAft>
              <a:buSzPts val="1800"/>
              <a:buChar char="•"/>
              <a:defRPr/>
            </a:lvl4pPr>
            <a:lvl5pPr lvl="4" algn="l">
              <a:lnSpc>
                <a:spcPct val="100000"/>
              </a:lnSpc>
              <a:spcBef>
                <a:spcPts val="1000"/>
              </a:spcBef>
              <a:spcAft>
                <a:spcPts val="0"/>
              </a:spcAft>
              <a:buSzPts val="1800"/>
              <a:buChar char="•"/>
              <a:defRPr/>
            </a:lvl5pPr>
            <a:lvl6pPr lvl="5" algn="l">
              <a:lnSpc>
                <a:spcPct val="100000"/>
              </a:lnSpc>
              <a:spcBef>
                <a:spcPts val="1000"/>
              </a:spcBef>
              <a:spcAft>
                <a:spcPts val="0"/>
              </a:spcAft>
              <a:buSzPts val="1800"/>
              <a:buChar char="•"/>
              <a:defRPr/>
            </a:lvl6pPr>
            <a:lvl7pPr lvl="6" algn="l">
              <a:lnSpc>
                <a:spcPct val="100000"/>
              </a:lnSpc>
              <a:spcBef>
                <a:spcPts val="1000"/>
              </a:spcBef>
              <a:spcAft>
                <a:spcPts val="0"/>
              </a:spcAft>
              <a:buSzPts val="1800"/>
              <a:buChar char="•"/>
              <a:defRPr/>
            </a:lvl7pPr>
            <a:lvl8pPr lvl="7" algn="l">
              <a:lnSpc>
                <a:spcPct val="100000"/>
              </a:lnSpc>
              <a:spcBef>
                <a:spcPts val="1000"/>
              </a:spcBef>
              <a:spcAft>
                <a:spcPts val="0"/>
              </a:spcAft>
              <a:buSzPts val="1800"/>
              <a:buChar char="•"/>
              <a:defRPr/>
            </a:lvl8pPr>
            <a:lvl9pPr lvl="8" algn="l">
              <a:lnSpc>
                <a:spcPct val="100000"/>
              </a:lnSpc>
              <a:spcBef>
                <a:spcPts val="1000"/>
              </a:spcBef>
              <a:spcAft>
                <a:spcPts val="0"/>
              </a:spcAft>
              <a:buSzPts val="1800"/>
              <a:buChar char="•"/>
              <a:defRPr/>
            </a:lvl9pPr>
          </a:lstStyle>
          <a:p>
            <a:endParaRPr/>
          </a:p>
        </p:txBody>
      </p:sp>
      <p:sp>
        <p:nvSpPr>
          <p:cNvPr id="16" name="Google Shape;16;p2"/>
          <p:cNvSpPr txBox="1">
            <a:spLocks noGrp="1"/>
          </p:cNvSpPr>
          <p:nvPr>
            <p:ph type="ctrTitle"/>
          </p:nvPr>
        </p:nvSpPr>
        <p:spPr>
          <a:xfrm>
            <a:off x="1127125" y="2078038"/>
            <a:ext cx="7031038" cy="874712"/>
          </a:xfrm>
          <a:prstGeom prst="rect">
            <a:avLst/>
          </a:prstGeom>
          <a:solidFill>
            <a:srgbClr val="FFFFFF"/>
          </a:solidFill>
          <a:ln>
            <a:noFill/>
          </a:ln>
        </p:spPr>
        <p:txBody>
          <a:bodyPr spcFirstLastPara="1" wrap="square" lIns="182875" tIns="182875" rIns="182875" bIns="182875" anchor="ctr" anchorCtr="0">
            <a:normAutofit/>
          </a:bodyPr>
          <a:lstStyle>
            <a:lvl1pPr lvl="0" algn="ctr">
              <a:lnSpc>
                <a:spcPct val="90000"/>
              </a:lnSpc>
              <a:spcBef>
                <a:spcPts val="0"/>
              </a:spcBef>
              <a:spcAft>
                <a:spcPts val="0"/>
              </a:spcAft>
              <a:buClr>
                <a:srgbClr val="000000"/>
              </a:buClr>
              <a:buSzPts val="3600"/>
              <a:buFont typeface="Calibri"/>
              <a:buNone/>
              <a:defRPr sz="3600" cap="none">
                <a:solidFill>
                  <a:srgbClr val="000000"/>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7" name="Google Shape;17;p2"/>
          <p:cNvCxnSpPr/>
          <p:nvPr/>
        </p:nvCxnSpPr>
        <p:spPr>
          <a:xfrm>
            <a:off x="-16760" y="0"/>
            <a:ext cx="9144000" cy="0"/>
          </a:xfrm>
          <a:prstGeom prst="straightConnector1">
            <a:avLst/>
          </a:prstGeom>
          <a:noFill/>
          <a:ln w="38100" cap="flat" cmpd="sng">
            <a:solidFill>
              <a:schemeClr val="accent1"/>
            </a:solidFill>
            <a:prstDash val="solid"/>
            <a:miter lim="8000"/>
            <a:headEnd type="none" w="med" len="med"/>
            <a:tailEnd type="none" w="med" len="med"/>
          </a:ln>
        </p:spPr>
      </p:cxnSp>
      <p:cxnSp>
        <p:nvCxnSpPr>
          <p:cNvPr id="18" name="Google Shape;18;p2"/>
          <p:cNvCxnSpPr/>
          <p:nvPr/>
        </p:nvCxnSpPr>
        <p:spPr>
          <a:xfrm>
            <a:off x="0" y="6858000"/>
            <a:ext cx="9144000" cy="0"/>
          </a:xfrm>
          <a:prstGeom prst="straightConnector1">
            <a:avLst/>
          </a:prstGeom>
          <a:noFill/>
          <a:ln w="38100" cap="flat" cmpd="sng">
            <a:solidFill>
              <a:schemeClr val="accent1"/>
            </a:solidFill>
            <a:prstDash val="solid"/>
            <a:miter lim="8000"/>
            <a:headEnd type="none" w="med" len="med"/>
            <a:tailEnd type="none" w="med" len="med"/>
          </a:ln>
        </p:spPr>
      </p:cxnSp>
      <p:sp>
        <p:nvSpPr>
          <p:cNvPr id="19" name="Google Shape;19;p2"/>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pic>
        <p:nvPicPr>
          <p:cNvPr id="20" name="Google Shape;20;p2"/>
          <p:cNvPicPr preferRelativeResize="0"/>
          <p:nvPr/>
        </p:nvPicPr>
        <p:blipFill rotWithShape="1">
          <a:blip r:embed="rId2">
            <a:alphaModFix/>
          </a:blip>
          <a:srcRect/>
          <a:stretch/>
        </p:blipFill>
        <p:spPr>
          <a:xfrm>
            <a:off x="2097131" y="5715964"/>
            <a:ext cx="5091026" cy="542584"/>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p:cSld name="Content">
    <p:spTree>
      <p:nvGrpSpPr>
        <p:cNvPr id="1" name="Shape 21"/>
        <p:cNvGrpSpPr/>
        <p:nvPr/>
      </p:nvGrpSpPr>
      <p:grpSpPr>
        <a:xfrm>
          <a:off x="0" y="0"/>
          <a:ext cx="0" cy="0"/>
          <a:chOff x="0" y="0"/>
          <a:chExt cx="0" cy="0"/>
        </a:xfrm>
      </p:grpSpPr>
      <p:sp>
        <p:nvSpPr>
          <p:cNvPr id="22" name="Google Shape;22;p3"/>
          <p:cNvSpPr txBox="1">
            <a:spLocks noGrp="1"/>
          </p:cNvSpPr>
          <p:nvPr>
            <p:ph type="body" idx="1"/>
          </p:nvPr>
        </p:nvSpPr>
        <p:spPr>
          <a:xfrm>
            <a:off x="277148" y="1305004"/>
            <a:ext cx="8557768" cy="5166916"/>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1000"/>
              </a:spcBef>
              <a:spcAft>
                <a:spcPts val="0"/>
              </a:spcAft>
              <a:buSzPts val="1800"/>
              <a:buChar char="•"/>
              <a:defRPr/>
            </a:lvl1pPr>
            <a:lvl2pPr marL="914400" lvl="1" indent="-330200" algn="l">
              <a:lnSpc>
                <a:spcPct val="100000"/>
              </a:lnSpc>
              <a:spcBef>
                <a:spcPts val="1000"/>
              </a:spcBef>
              <a:spcAft>
                <a:spcPts val="0"/>
              </a:spcAft>
              <a:buSzPts val="1600"/>
              <a:buChar char="•"/>
              <a:defRPr/>
            </a:lvl2pPr>
            <a:lvl3pPr marL="1371600" lvl="2" indent="-330200" algn="l">
              <a:lnSpc>
                <a:spcPct val="100000"/>
              </a:lnSpc>
              <a:spcBef>
                <a:spcPts val="1000"/>
              </a:spcBef>
              <a:spcAft>
                <a:spcPts val="0"/>
              </a:spcAft>
              <a:buSzPts val="16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23" name="Google Shape;23;p3"/>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24" name="Google Shape;24;p3"/>
          <p:cNvCxnSpPr/>
          <p:nvPr/>
        </p:nvCxnSpPr>
        <p:spPr>
          <a:xfrm>
            <a:off x="277148" y="756603"/>
            <a:ext cx="8557769" cy="0"/>
          </a:xfrm>
          <a:prstGeom prst="straightConnector1">
            <a:avLst/>
          </a:prstGeom>
          <a:noFill/>
          <a:ln w="38100" cap="flat" cmpd="sng">
            <a:solidFill>
              <a:schemeClr val="accent1"/>
            </a:solidFill>
            <a:prstDash val="solid"/>
            <a:miter lim="8000"/>
            <a:headEnd type="none" w="med" len="med"/>
            <a:tailEnd type="none" w="med" len="med"/>
          </a:ln>
        </p:spPr>
      </p:cxnSp>
      <p:sp>
        <p:nvSpPr>
          <p:cNvPr id="25" name="Google Shape;25;p3"/>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p:cSld name="Section">
    <p:spTree>
      <p:nvGrpSpPr>
        <p:cNvPr id="1" name="Shape 26"/>
        <p:cNvGrpSpPr/>
        <p:nvPr/>
      </p:nvGrpSpPr>
      <p:grpSpPr>
        <a:xfrm>
          <a:off x="0" y="0"/>
          <a:ext cx="0" cy="0"/>
          <a:chOff x="0" y="0"/>
          <a:chExt cx="0" cy="0"/>
        </a:xfrm>
      </p:grpSpPr>
      <p:sp>
        <p:nvSpPr>
          <p:cNvPr id="27" name="Google Shape;27;p4"/>
          <p:cNvSpPr txBox="1">
            <a:spLocks noGrp="1"/>
          </p:cNvSpPr>
          <p:nvPr>
            <p:ph type="title"/>
          </p:nvPr>
        </p:nvSpPr>
        <p:spPr>
          <a:xfrm>
            <a:off x="685800" y="2747963"/>
            <a:ext cx="7772400" cy="1362075"/>
          </a:xfrm>
          <a:prstGeom prst="rect">
            <a:avLst/>
          </a:prstGeom>
          <a:solidFill>
            <a:srgbClr val="FFFFFF"/>
          </a:solidFill>
          <a:ln>
            <a:noFill/>
          </a:ln>
        </p:spPr>
        <p:txBody>
          <a:bodyPr spcFirstLastPara="1" wrap="square" lIns="182875" tIns="182875" rIns="182875" bIns="182875" anchor="t" anchorCtr="0">
            <a:normAutofit/>
          </a:bodyPr>
          <a:lstStyle>
            <a:lvl1pPr lvl="0" algn="ctr">
              <a:lnSpc>
                <a:spcPct val="90000"/>
              </a:lnSpc>
              <a:spcBef>
                <a:spcPts val="0"/>
              </a:spcBef>
              <a:spcAft>
                <a:spcPts val="0"/>
              </a:spcAft>
              <a:buClr>
                <a:srgbClr val="262626"/>
              </a:buClr>
              <a:buSzPts val="4000"/>
              <a:buFont typeface="Calibri"/>
              <a:buNone/>
              <a:defRPr sz="4000" b="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28" name="Google Shape;28;p4"/>
          <p:cNvCxnSpPr/>
          <p:nvPr/>
        </p:nvCxnSpPr>
        <p:spPr>
          <a:xfrm>
            <a:off x="-57794"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29" name="Google Shape;29;p4"/>
          <p:cNvCxnSpPr/>
          <p:nvPr/>
        </p:nvCxnSpPr>
        <p:spPr>
          <a:xfrm>
            <a:off x="-78517"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30" name="Google Shape;30;p4"/>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ouble content">
  <p:cSld name="Double content">
    <p:spTree>
      <p:nvGrpSpPr>
        <p:cNvPr id="1" name="Shape 31"/>
        <p:cNvGrpSpPr/>
        <p:nvPr/>
      </p:nvGrpSpPr>
      <p:grpSpPr>
        <a:xfrm>
          <a:off x="0" y="0"/>
          <a:ext cx="0" cy="0"/>
          <a:chOff x="0" y="0"/>
          <a:chExt cx="0" cy="0"/>
        </a:xfrm>
      </p:grpSpPr>
      <p:sp>
        <p:nvSpPr>
          <p:cNvPr id="32" name="Google Shape;32;p5"/>
          <p:cNvSpPr txBox="1">
            <a:spLocks noGrp="1"/>
          </p:cNvSpPr>
          <p:nvPr>
            <p:ph type="body" idx="1"/>
          </p:nvPr>
        </p:nvSpPr>
        <p:spPr>
          <a:xfrm>
            <a:off x="484369" y="1250205"/>
            <a:ext cx="4038600" cy="452596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406400" algn="l">
              <a:lnSpc>
                <a:spcPct val="100000"/>
              </a:lnSpc>
              <a:spcBef>
                <a:spcPts val="1000"/>
              </a:spcBef>
              <a:spcAft>
                <a:spcPts val="0"/>
              </a:spcAft>
              <a:buSzPts val="2800"/>
              <a:buChar char="•"/>
              <a:defRPr sz="2800"/>
            </a:lvl2pPr>
            <a:lvl3pPr marL="1371600" lvl="2" indent="-381000" algn="l">
              <a:lnSpc>
                <a:spcPct val="100000"/>
              </a:lnSpc>
              <a:spcBef>
                <a:spcPts val="1000"/>
              </a:spcBef>
              <a:spcAft>
                <a:spcPts val="0"/>
              </a:spcAft>
              <a:buSzPts val="2400"/>
              <a:buChar char="•"/>
              <a:defRPr sz="2400"/>
            </a:lvl3pPr>
            <a:lvl4pPr marL="1828800" lvl="3" indent="-355600" algn="l">
              <a:lnSpc>
                <a:spcPct val="100000"/>
              </a:lnSpc>
              <a:spcBef>
                <a:spcPts val="1000"/>
              </a:spcBef>
              <a:spcAft>
                <a:spcPts val="0"/>
              </a:spcAft>
              <a:buSzPts val="2000"/>
              <a:buChar char="•"/>
              <a:defRPr sz="2000"/>
            </a:lvl4pPr>
            <a:lvl5pPr marL="2286000" lvl="4" indent="-355600" algn="l">
              <a:lnSpc>
                <a:spcPct val="100000"/>
              </a:lnSpc>
              <a:spcBef>
                <a:spcPts val="1000"/>
              </a:spcBef>
              <a:spcAft>
                <a:spcPts val="0"/>
              </a:spcAft>
              <a:buSzPts val="2000"/>
              <a:buChar char="•"/>
              <a:defRPr sz="2000"/>
            </a:lvl5pPr>
            <a:lvl6pPr marL="2743200" lvl="5" indent="-342900" algn="l">
              <a:lnSpc>
                <a:spcPct val="100000"/>
              </a:lnSpc>
              <a:spcBef>
                <a:spcPts val="1000"/>
              </a:spcBef>
              <a:spcAft>
                <a:spcPts val="0"/>
              </a:spcAft>
              <a:buSzPts val="1800"/>
              <a:buChar char="•"/>
              <a:defRPr sz="1800"/>
            </a:lvl6pPr>
            <a:lvl7pPr marL="3200400" lvl="6" indent="-342900" algn="l">
              <a:lnSpc>
                <a:spcPct val="100000"/>
              </a:lnSpc>
              <a:spcBef>
                <a:spcPts val="1000"/>
              </a:spcBef>
              <a:spcAft>
                <a:spcPts val="0"/>
              </a:spcAft>
              <a:buSzPts val="1800"/>
              <a:buChar char="•"/>
              <a:defRPr sz="1800"/>
            </a:lvl7pPr>
            <a:lvl8pPr marL="3657600" lvl="7" indent="-342900" algn="l">
              <a:lnSpc>
                <a:spcPct val="100000"/>
              </a:lnSpc>
              <a:spcBef>
                <a:spcPts val="1000"/>
              </a:spcBef>
              <a:spcAft>
                <a:spcPts val="0"/>
              </a:spcAft>
              <a:buSzPts val="1800"/>
              <a:buChar char="•"/>
              <a:defRPr sz="1800"/>
            </a:lvl8pPr>
            <a:lvl9pPr marL="4114800" lvl="8" indent="-342900" algn="l">
              <a:lnSpc>
                <a:spcPct val="100000"/>
              </a:lnSpc>
              <a:spcBef>
                <a:spcPts val="1000"/>
              </a:spcBef>
              <a:spcAft>
                <a:spcPts val="0"/>
              </a:spcAft>
              <a:buSzPts val="1800"/>
              <a:buChar char="•"/>
              <a:defRPr sz="1800"/>
            </a:lvl9pPr>
          </a:lstStyle>
          <a:p>
            <a:endParaRPr/>
          </a:p>
        </p:txBody>
      </p:sp>
      <p:sp>
        <p:nvSpPr>
          <p:cNvPr id="33" name="Google Shape;33;p5"/>
          <p:cNvSpPr txBox="1">
            <a:spLocks noGrp="1"/>
          </p:cNvSpPr>
          <p:nvPr>
            <p:ph type="body" idx="2"/>
          </p:nvPr>
        </p:nvSpPr>
        <p:spPr>
          <a:xfrm>
            <a:off x="4675369" y="1250205"/>
            <a:ext cx="4038600" cy="452596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406400" algn="l">
              <a:lnSpc>
                <a:spcPct val="100000"/>
              </a:lnSpc>
              <a:spcBef>
                <a:spcPts val="1000"/>
              </a:spcBef>
              <a:spcAft>
                <a:spcPts val="0"/>
              </a:spcAft>
              <a:buSzPts val="2800"/>
              <a:buChar char="•"/>
              <a:defRPr sz="2800"/>
            </a:lvl2pPr>
            <a:lvl3pPr marL="1371600" lvl="2" indent="-381000" algn="l">
              <a:lnSpc>
                <a:spcPct val="100000"/>
              </a:lnSpc>
              <a:spcBef>
                <a:spcPts val="1000"/>
              </a:spcBef>
              <a:spcAft>
                <a:spcPts val="0"/>
              </a:spcAft>
              <a:buSzPts val="2400"/>
              <a:buChar char="•"/>
              <a:defRPr sz="2400"/>
            </a:lvl3pPr>
            <a:lvl4pPr marL="1828800" lvl="3" indent="-355600" algn="l">
              <a:lnSpc>
                <a:spcPct val="100000"/>
              </a:lnSpc>
              <a:spcBef>
                <a:spcPts val="1000"/>
              </a:spcBef>
              <a:spcAft>
                <a:spcPts val="0"/>
              </a:spcAft>
              <a:buSzPts val="2000"/>
              <a:buChar char="•"/>
              <a:defRPr sz="2000"/>
            </a:lvl4pPr>
            <a:lvl5pPr marL="2286000" lvl="4" indent="-355600" algn="l">
              <a:lnSpc>
                <a:spcPct val="100000"/>
              </a:lnSpc>
              <a:spcBef>
                <a:spcPts val="1000"/>
              </a:spcBef>
              <a:spcAft>
                <a:spcPts val="0"/>
              </a:spcAft>
              <a:buSzPts val="2000"/>
              <a:buChar char="•"/>
              <a:defRPr sz="2000"/>
            </a:lvl5pPr>
            <a:lvl6pPr marL="2743200" lvl="5" indent="-342900" algn="l">
              <a:lnSpc>
                <a:spcPct val="100000"/>
              </a:lnSpc>
              <a:spcBef>
                <a:spcPts val="1000"/>
              </a:spcBef>
              <a:spcAft>
                <a:spcPts val="0"/>
              </a:spcAft>
              <a:buSzPts val="1800"/>
              <a:buChar char="•"/>
              <a:defRPr sz="1800"/>
            </a:lvl6pPr>
            <a:lvl7pPr marL="3200400" lvl="6" indent="-342900" algn="l">
              <a:lnSpc>
                <a:spcPct val="100000"/>
              </a:lnSpc>
              <a:spcBef>
                <a:spcPts val="1000"/>
              </a:spcBef>
              <a:spcAft>
                <a:spcPts val="0"/>
              </a:spcAft>
              <a:buSzPts val="1800"/>
              <a:buChar char="•"/>
              <a:defRPr sz="1800"/>
            </a:lvl7pPr>
            <a:lvl8pPr marL="3657600" lvl="7" indent="-342900" algn="l">
              <a:lnSpc>
                <a:spcPct val="100000"/>
              </a:lnSpc>
              <a:spcBef>
                <a:spcPts val="1000"/>
              </a:spcBef>
              <a:spcAft>
                <a:spcPts val="0"/>
              </a:spcAft>
              <a:buSzPts val="1800"/>
              <a:buChar char="•"/>
              <a:defRPr sz="1800"/>
            </a:lvl8pPr>
            <a:lvl9pPr marL="4114800" lvl="8" indent="-342900" algn="l">
              <a:lnSpc>
                <a:spcPct val="100000"/>
              </a:lnSpc>
              <a:spcBef>
                <a:spcPts val="1000"/>
              </a:spcBef>
              <a:spcAft>
                <a:spcPts val="0"/>
              </a:spcAft>
              <a:buSzPts val="1800"/>
              <a:buChar char="•"/>
              <a:defRPr sz="1800"/>
            </a:lvl9pPr>
          </a:lstStyle>
          <a:p>
            <a:endParaRPr/>
          </a:p>
        </p:txBody>
      </p:sp>
      <p:cxnSp>
        <p:nvCxnSpPr>
          <p:cNvPr id="34" name="Google Shape;34;p5"/>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35" name="Google Shape;35;p5"/>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5"/>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ouble content - titled">
  <p:cSld name="Double content - titled">
    <p:spTree>
      <p:nvGrpSpPr>
        <p:cNvPr id="1" name="Shape 37"/>
        <p:cNvGrpSpPr/>
        <p:nvPr/>
      </p:nvGrpSpPr>
      <p:grpSpPr>
        <a:xfrm>
          <a:off x="0" y="0"/>
          <a:ext cx="0" cy="0"/>
          <a:chOff x="0" y="0"/>
          <a:chExt cx="0" cy="0"/>
        </a:xfrm>
      </p:grpSpPr>
      <p:sp>
        <p:nvSpPr>
          <p:cNvPr id="38" name="Google Shape;38;p6"/>
          <p:cNvSpPr txBox="1">
            <a:spLocks noGrp="1"/>
          </p:cNvSpPr>
          <p:nvPr>
            <p:ph type="body" idx="1"/>
          </p:nvPr>
        </p:nvSpPr>
        <p:spPr>
          <a:xfrm>
            <a:off x="457200" y="1258655"/>
            <a:ext cx="4040188"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1000"/>
              </a:spcBef>
              <a:spcAft>
                <a:spcPts val="0"/>
              </a:spcAft>
              <a:buSzPts val="3200"/>
              <a:buNone/>
              <a:defRPr sz="3200" b="1"/>
            </a:lvl1pPr>
            <a:lvl2pPr marL="914400" lvl="1" indent="-228600" algn="l">
              <a:lnSpc>
                <a:spcPct val="100000"/>
              </a:lnSpc>
              <a:spcBef>
                <a:spcPts val="1000"/>
              </a:spcBef>
              <a:spcAft>
                <a:spcPts val="0"/>
              </a:spcAft>
              <a:buSzPts val="2000"/>
              <a:buNone/>
              <a:defRPr sz="2000" b="1"/>
            </a:lvl2pPr>
            <a:lvl3pPr marL="1371600" lvl="2" indent="-228600" algn="l">
              <a:lnSpc>
                <a:spcPct val="100000"/>
              </a:lnSpc>
              <a:spcBef>
                <a:spcPts val="1000"/>
              </a:spcBef>
              <a:spcAft>
                <a:spcPts val="0"/>
              </a:spcAft>
              <a:buSzPts val="1800"/>
              <a:buNone/>
              <a:defRPr sz="1800" b="1"/>
            </a:lvl3pPr>
            <a:lvl4pPr marL="1828800" lvl="3" indent="-228600" algn="l">
              <a:lnSpc>
                <a:spcPct val="100000"/>
              </a:lnSpc>
              <a:spcBef>
                <a:spcPts val="1000"/>
              </a:spcBef>
              <a:spcAft>
                <a:spcPts val="0"/>
              </a:spcAft>
              <a:buSzPts val="1600"/>
              <a:buNone/>
              <a:defRPr sz="1600" b="1"/>
            </a:lvl4pPr>
            <a:lvl5pPr marL="2286000" lvl="4" indent="-228600" algn="l">
              <a:lnSpc>
                <a:spcPct val="100000"/>
              </a:lnSpc>
              <a:spcBef>
                <a:spcPts val="1000"/>
              </a:spcBef>
              <a:spcAft>
                <a:spcPts val="0"/>
              </a:spcAft>
              <a:buSzPts val="1600"/>
              <a:buNone/>
              <a:defRPr sz="1600" b="1"/>
            </a:lvl5pPr>
            <a:lvl6pPr marL="2743200" lvl="5" indent="-228600" algn="l">
              <a:lnSpc>
                <a:spcPct val="100000"/>
              </a:lnSpc>
              <a:spcBef>
                <a:spcPts val="1000"/>
              </a:spcBef>
              <a:spcAft>
                <a:spcPts val="0"/>
              </a:spcAft>
              <a:buSzPts val="1600"/>
              <a:buNone/>
              <a:defRPr sz="1600" b="1"/>
            </a:lvl6pPr>
            <a:lvl7pPr marL="3200400" lvl="6" indent="-228600" algn="l">
              <a:lnSpc>
                <a:spcPct val="100000"/>
              </a:lnSpc>
              <a:spcBef>
                <a:spcPts val="1000"/>
              </a:spcBef>
              <a:spcAft>
                <a:spcPts val="0"/>
              </a:spcAft>
              <a:buSzPts val="1600"/>
              <a:buNone/>
              <a:defRPr sz="1600" b="1"/>
            </a:lvl7pPr>
            <a:lvl8pPr marL="3657600" lvl="7" indent="-228600" algn="l">
              <a:lnSpc>
                <a:spcPct val="100000"/>
              </a:lnSpc>
              <a:spcBef>
                <a:spcPts val="1000"/>
              </a:spcBef>
              <a:spcAft>
                <a:spcPts val="0"/>
              </a:spcAft>
              <a:buSzPts val="1600"/>
              <a:buNone/>
              <a:defRPr sz="1600" b="1"/>
            </a:lvl8pPr>
            <a:lvl9pPr marL="4114800" lvl="8" indent="-228600" algn="l">
              <a:lnSpc>
                <a:spcPct val="100000"/>
              </a:lnSpc>
              <a:spcBef>
                <a:spcPts val="1000"/>
              </a:spcBef>
              <a:spcAft>
                <a:spcPts val="0"/>
              </a:spcAft>
              <a:buSzPts val="1600"/>
              <a:buNone/>
              <a:defRPr sz="1600" b="1"/>
            </a:lvl9pPr>
          </a:lstStyle>
          <a:p>
            <a:endParaRPr/>
          </a:p>
        </p:txBody>
      </p:sp>
      <p:sp>
        <p:nvSpPr>
          <p:cNvPr id="39" name="Google Shape;39;p6"/>
          <p:cNvSpPr txBox="1">
            <a:spLocks noGrp="1"/>
          </p:cNvSpPr>
          <p:nvPr>
            <p:ph type="body" idx="2"/>
          </p:nvPr>
        </p:nvSpPr>
        <p:spPr>
          <a:xfrm>
            <a:off x="457200" y="1898417"/>
            <a:ext cx="4040188" cy="3951288"/>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355600" algn="l">
              <a:lnSpc>
                <a:spcPct val="100000"/>
              </a:lnSpc>
              <a:spcBef>
                <a:spcPts val="1000"/>
              </a:spcBef>
              <a:spcAft>
                <a:spcPts val="0"/>
              </a:spcAft>
              <a:buSzPts val="2000"/>
              <a:buChar char="•"/>
              <a:defRPr sz="2000"/>
            </a:lvl2pPr>
            <a:lvl3pPr marL="1371600" lvl="2" indent="-342900" algn="l">
              <a:lnSpc>
                <a:spcPct val="100000"/>
              </a:lnSpc>
              <a:spcBef>
                <a:spcPts val="1000"/>
              </a:spcBef>
              <a:spcAft>
                <a:spcPts val="0"/>
              </a:spcAft>
              <a:buSzPts val="1800"/>
              <a:buChar char="•"/>
              <a:defRPr sz="1800"/>
            </a:lvl3pPr>
            <a:lvl4pPr marL="1828800" lvl="3" indent="-330200" algn="l">
              <a:lnSpc>
                <a:spcPct val="100000"/>
              </a:lnSpc>
              <a:spcBef>
                <a:spcPts val="1000"/>
              </a:spcBef>
              <a:spcAft>
                <a:spcPts val="0"/>
              </a:spcAft>
              <a:buSzPts val="1600"/>
              <a:buChar char="•"/>
              <a:defRPr sz="1600"/>
            </a:lvl4pPr>
            <a:lvl5pPr marL="2286000" lvl="4" indent="-330200" algn="l">
              <a:lnSpc>
                <a:spcPct val="100000"/>
              </a:lnSpc>
              <a:spcBef>
                <a:spcPts val="1000"/>
              </a:spcBef>
              <a:spcAft>
                <a:spcPts val="0"/>
              </a:spcAft>
              <a:buSzPts val="1600"/>
              <a:buChar char="•"/>
              <a:defRPr sz="1600"/>
            </a:lvl5pPr>
            <a:lvl6pPr marL="2743200" lvl="5" indent="-330200" algn="l">
              <a:lnSpc>
                <a:spcPct val="100000"/>
              </a:lnSpc>
              <a:spcBef>
                <a:spcPts val="1000"/>
              </a:spcBef>
              <a:spcAft>
                <a:spcPts val="0"/>
              </a:spcAft>
              <a:buSzPts val="1600"/>
              <a:buChar char="•"/>
              <a:defRPr sz="1600"/>
            </a:lvl6pPr>
            <a:lvl7pPr marL="3200400" lvl="6" indent="-330200" algn="l">
              <a:lnSpc>
                <a:spcPct val="100000"/>
              </a:lnSpc>
              <a:spcBef>
                <a:spcPts val="1000"/>
              </a:spcBef>
              <a:spcAft>
                <a:spcPts val="0"/>
              </a:spcAft>
              <a:buSzPts val="1600"/>
              <a:buChar char="•"/>
              <a:defRPr sz="1600"/>
            </a:lvl7pPr>
            <a:lvl8pPr marL="3657600" lvl="7" indent="-330200" algn="l">
              <a:lnSpc>
                <a:spcPct val="100000"/>
              </a:lnSpc>
              <a:spcBef>
                <a:spcPts val="1000"/>
              </a:spcBef>
              <a:spcAft>
                <a:spcPts val="0"/>
              </a:spcAft>
              <a:buSzPts val="1600"/>
              <a:buChar char="•"/>
              <a:defRPr sz="1600"/>
            </a:lvl8pPr>
            <a:lvl9pPr marL="4114800" lvl="8" indent="-330200" algn="l">
              <a:lnSpc>
                <a:spcPct val="100000"/>
              </a:lnSpc>
              <a:spcBef>
                <a:spcPts val="1000"/>
              </a:spcBef>
              <a:spcAft>
                <a:spcPts val="0"/>
              </a:spcAft>
              <a:buSzPts val="1600"/>
              <a:buChar char="•"/>
              <a:defRPr sz="1600"/>
            </a:lvl9pPr>
          </a:lstStyle>
          <a:p>
            <a:endParaRPr/>
          </a:p>
        </p:txBody>
      </p:sp>
      <p:sp>
        <p:nvSpPr>
          <p:cNvPr id="40" name="Google Shape;40;p6"/>
          <p:cNvSpPr txBox="1">
            <a:spLocks noGrp="1"/>
          </p:cNvSpPr>
          <p:nvPr>
            <p:ph type="body" idx="3"/>
          </p:nvPr>
        </p:nvSpPr>
        <p:spPr>
          <a:xfrm>
            <a:off x="4645025" y="1258655"/>
            <a:ext cx="4041775"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1000"/>
              </a:spcBef>
              <a:spcAft>
                <a:spcPts val="0"/>
              </a:spcAft>
              <a:buSzPts val="3200"/>
              <a:buNone/>
              <a:defRPr sz="3200" b="1"/>
            </a:lvl1pPr>
            <a:lvl2pPr marL="914400" lvl="1" indent="-228600" algn="l">
              <a:lnSpc>
                <a:spcPct val="100000"/>
              </a:lnSpc>
              <a:spcBef>
                <a:spcPts val="1000"/>
              </a:spcBef>
              <a:spcAft>
                <a:spcPts val="0"/>
              </a:spcAft>
              <a:buSzPts val="2000"/>
              <a:buNone/>
              <a:defRPr sz="2000" b="1"/>
            </a:lvl2pPr>
            <a:lvl3pPr marL="1371600" lvl="2" indent="-228600" algn="l">
              <a:lnSpc>
                <a:spcPct val="100000"/>
              </a:lnSpc>
              <a:spcBef>
                <a:spcPts val="1000"/>
              </a:spcBef>
              <a:spcAft>
                <a:spcPts val="0"/>
              </a:spcAft>
              <a:buSzPts val="1800"/>
              <a:buNone/>
              <a:defRPr sz="1800" b="1"/>
            </a:lvl3pPr>
            <a:lvl4pPr marL="1828800" lvl="3" indent="-228600" algn="l">
              <a:lnSpc>
                <a:spcPct val="100000"/>
              </a:lnSpc>
              <a:spcBef>
                <a:spcPts val="1000"/>
              </a:spcBef>
              <a:spcAft>
                <a:spcPts val="0"/>
              </a:spcAft>
              <a:buSzPts val="1600"/>
              <a:buNone/>
              <a:defRPr sz="1600" b="1"/>
            </a:lvl4pPr>
            <a:lvl5pPr marL="2286000" lvl="4" indent="-228600" algn="l">
              <a:lnSpc>
                <a:spcPct val="100000"/>
              </a:lnSpc>
              <a:spcBef>
                <a:spcPts val="1000"/>
              </a:spcBef>
              <a:spcAft>
                <a:spcPts val="0"/>
              </a:spcAft>
              <a:buSzPts val="1600"/>
              <a:buNone/>
              <a:defRPr sz="1600" b="1"/>
            </a:lvl5pPr>
            <a:lvl6pPr marL="2743200" lvl="5" indent="-228600" algn="l">
              <a:lnSpc>
                <a:spcPct val="100000"/>
              </a:lnSpc>
              <a:spcBef>
                <a:spcPts val="1000"/>
              </a:spcBef>
              <a:spcAft>
                <a:spcPts val="0"/>
              </a:spcAft>
              <a:buSzPts val="1600"/>
              <a:buNone/>
              <a:defRPr sz="1600" b="1"/>
            </a:lvl6pPr>
            <a:lvl7pPr marL="3200400" lvl="6" indent="-228600" algn="l">
              <a:lnSpc>
                <a:spcPct val="100000"/>
              </a:lnSpc>
              <a:spcBef>
                <a:spcPts val="1000"/>
              </a:spcBef>
              <a:spcAft>
                <a:spcPts val="0"/>
              </a:spcAft>
              <a:buSzPts val="1600"/>
              <a:buNone/>
              <a:defRPr sz="1600" b="1"/>
            </a:lvl7pPr>
            <a:lvl8pPr marL="3657600" lvl="7" indent="-228600" algn="l">
              <a:lnSpc>
                <a:spcPct val="100000"/>
              </a:lnSpc>
              <a:spcBef>
                <a:spcPts val="1000"/>
              </a:spcBef>
              <a:spcAft>
                <a:spcPts val="0"/>
              </a:spcAft>
              <a:buSzPts val="1600"/>
              <a:buNone/>
              <a:defRPr sz="1600" b="1"/>
            </a:lvl8pPr>
            <a:lvl9pPr marL="4114800" lvl="8" indent="-228600" algn="l">
              <a:lnSpc>
                <a:spcPct val="100000"/>
              </a:lnSpc>
              <a:spcBef>
                <a:spcPts val="1000"/>
              </a:spcBef>
              <a:spcAft>
                <a:spcPts val="0"/>
              </a:spcAft>
              <a:buSzPts val="1600"/>
              <a:buNone/>
              <a:defRPr sz="1600" b="1"/>
            </a:lvl9pPr>
          </a:lstStyle>
          <a:p>
            <a:endParaRPr/>
          </a:p>
        </p:txBody>
      </p:sp>
      <p:sp>
        <p:nvSpPr>
          <p:cNvPr id="41" name="Google Shape;41;p6"/>
          <p:cNvSpPr txBox="1">
            <a:spLocks noGrp="1"/>
          </p:cNvSpPr>
          <p:nvPr>
            <p:ph type="body" idx="4"/>
          </p:nvPr>
        </p:nvSpPr>
        <p:spPr>
          <a:xfrm>
            <a:off x="4645025" y="1898417"/>
            <a:ext cx="4041775" cy="3951288"/>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355600" algn="l">
              <a:lnSpc>
                <a:spcPct val="100000"/>
              </a:lnSpc>
              <a:spcBef>
                <a:spcPts val="1000"/>
              </a:spcBef>
              <a:spcAft>
                <a:spcPts val="0"/>
              </a:spcAft>
              <a:buSzPts val="2000"/>
              <a:buChar char="•"/>
              <a:defRPr sz="2000"/>
            </a:lvl2pPr>
            <a:lvl3pPr marL="1371600" lvl="2" indent="-342900" algn="l">
              <a:lnSpc>
                <a:spcPct val="100000"/>
              </a:lnSpc>
              <a:spcBef>
                <a:spcPts val="1000"/>
              </a:spcBef>
              <a:spcAft>
                <a:spcPts val="0"/>
              </a:spcAft>
              <a:buSzPts val="1800"/>
              <a:buChar char="•"/>
              <a:defRPr sz="1800"/>
            </a:lvl3pPr>
            <a:lvl4pPr marL="1828800" lvl="3" indent="-330200" algn="l">
              <a:lnSpc>
                <a:spcPct val="100000"/>
              </a:lnSpc>
              <a:spcBef>
                <a:spcPts val="1000"/>
              </a:spcBef>
              <a:spcAft>
                <a:spcPts val="0"/>
              </a:spcAft>
              <a:buSzPts val="1600"/>
              <a:buChar char="•"/>
              <a:defRPr sz="1600"/>
            </a:lvl4pPr>
            <a:lvl5pPr marL="2286000" lvl="4" indent="-330200" algn="l">
              <a:lnSpc>
                <a:spcPct val="100000"/>
              </a:lnSpc>
              <a:spcBef>
                <a:spcPts val="1000"/>
              </a:spcBef>
              <a:spcAft>
                <a:spcPts val="0"/>
              </a:spcAft>
              <a:buSzPts val="1600"/>
              <a:buChar char="•"/>
              <a:defRPr sz="1600"/>
            </a:lvl5pPr>
            <a:lvl6pPr marL="2743200" lvl="5" indent="-330200" algn="l">
              <a:lnSpc>
                <a:spcPct val="100000"/>
              </a:lnSpc>
              <a:spcBef>
                <a:spcPts val="1000"/>
              </a:spcBef>
              <a:spcAft>
                <a:spcPts val="0"/>
              </a:spcAft>
              <a:buSzPts val="1600"/>
              <a:buChar char="•"/>
              <a:defRPr sz="1600"/>
            </a:lvl6pPr>
            <a:lvl7pPr marL="3200400" lvl="6" indent="-330200" algn="l">
              <a:lnSpc>
                <a:spcPct val="100000"/>
              </a:lnSpc>
              <a:spcBef>
                <a:spcPts val="1000"/>
              </a:spcBef>
              <a:spcAft>
                <a:spcPts val="0"/>
              </a:spcAft>
              <a:buSzPts val="1600"/>
              <a:buChar char="•"/>
              <a:defRPr sz="1600"/>
            </a:lvl7pPr>
            <a:lvl8pPr marL="3657600" lvl="7" indent="-330200" algn="l">
              <a:lnSpc>
                <a:spcPct val="100000"/>
              </a:lnSpc>
              <a:spcBef>
                <a:spcPts val="1000"/>
              </a:spcBef>
              <a:spcAft>
                <a:spcPts val="0"/>
              </a:spcAft>
              <a:buSzPts val="1600"/>
              <a:buChar char="•"/>
              <a:defRPr sz="1600"/>
            </a:lvl8pPr>
            <a:lvl9pPr marL="4114800" lvl="8" indent="-330200" algn="l">
              <a:lnSpc>
                <a:spcPct val="100000"/>
              </a:lnSpc>
              <a:spcBef>
                <a:spcPts val="1000"/>
              </a:spcBef>
              <a:spcAft>
                <a:spcPts val="0"/>
              </a:spcAft>
              <a:buSzPts val="1600"/>
              <a:buChar char="•"/>
              <a:defRPr sz="1600"/>
            </a:lvl9pPr>
          </a:lstStyle>
          <a:p>
            <a:endParaRPr/>
          </a:p>
        </p:txBody>
      </p:sp>
      <p:cxnSp>
        <p:nvCxnSpPr>
          <p:cNvPr id="42" name="Google Shape;42;p6"/>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43" name="Google Shape;43;p6"/>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Just borders">
  <p:cSld name="Just borders">
    <p:spTree>
      <p:nvGrpSpPr>
        <p:cNvPr id="1" name="Shape 45"/>
        <p:cNvGrpSpPr/>
        <p:nvPr/>
      </p:nvGrpSpPr>
      <p:grpSpPr>
        <a:xfrm>
          <a:off x="0" y="0"/>
          <a:ext cx="0" cy="0"/>
          <a:chOff x="0" y="0"/>
          <a:chExt cx="0" cy="0"/>
        </a:xfrm>
      </p:grpSpPr>
      <p:cxnSp>
        <p:nvCxnSpPr>
          <p:cNvPr id="46" name="Google Shape;46;p7"/>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47" name="Google Shape;47;p7"/>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48" name="Google Shape;48;p7"/>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Quadrants">
  <p:cSld name="Quadrants">
    <p:spTree>
      <p:nvGrpSpPr>
        <p:cNvPr id="1" name="Shape 49"/>
        <p:cNvGrpSpPr/>
        <p:nvPr/>
      </p:nvGrpSpPr>
      <p:grpSpPr>
        <a:xfrm>
          <a:off x="0" y="0"/>
          <a:ext cx="0" cy="0"/>
          <a:chOff x="0" y="0"/>
          <a:chExt cx="0" cy="0"/>
        </a:xfrm>
      </p:grpSpPr>
      <p:cxnSp>
        <p:nvCxnSpPr>
          <p:cNvPr id="50" name="Google Shape;50;p8"/>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51" name="Google Shape;51;p8"/>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52" name="Google Shape;52;p8"/>
          <p:cNvSpPr>
            <a:spLocks noGrp="1"/>
          </p:cNvSpPr>
          <p:nvPr>
            <p:ph type="pic" idx="2"/>
          </p:nvPr>
        </p:nvSpPr>
        <p:spPr>
          <a:xfrm>
            <a:off x="877888" y="765140"/>
            <a:ext cx="3137521" cy="2468339"/>
          </a:xfrm>
          <a:prstGeom prst="rect">
            <a:avLst/>
          </a:prstGeom>
          <a:noFill/>
          <a:ln>
            <a:noFill/>
          </a:ln>
        </p:spPr>
        <p:txBody>
          <a:bodyPr/>
          <a:lstStyle/>
          <a:p>
            <a:endParaRPr lang="en-US"/>
          </a:p>
        </p:txBody>
      </p:sp>
      <p:sp>
        <p:nvSpPr>
          <p:cNvPr id="53" name="Google Shape;53;p8"/>
          <p:cNvSpPr>
            <a:spLocks noGrp="1"/>
          </p:cNvSpPr>
          <p:nvPr>
            <p:ph type="pic" idx="3"/>
          </p:nvPr>
        </p:nvSpPr>
        <p:spPr>
          <a:xfrm>
            <a:off x="5204723" y="765140"/>
            <a:ext cx="3137521" cy="2468339"/>
          </a:xfrm>
          <a:prstGeom prst="rect">
            <a:avLst/>
          </a:prstGeom>
          <a:noFill/>
          <a:ln>
            <a:noFill/>
          </a:ln>
        </p:spPr>
        <p:txBody>
          <a:bodyPr/>
          <a:lstStyle/>
          <a:p>
            <a:endParaRPr lang="en-US"/>
          </a:p>
        </p:txBody>
      </p:sp>
      <p:sp>
        <p:nvSpPr>
          <p:cNvPr id="54" name="Google Shape;54;p8"/>
          <p:cNvSpPr>
            <a:spLocks noGrp="1"/>
          </p:cNvSpPr>
          <p:nvPr>
            <p:ph type="pic" idx="4"/>
          </p:nvPr>
        </p:nvSpPr>
        <p:spPr>
          <a:xfrm>
            <a:off x="877887" y="3596647"/>
            <a:ext cx="3137521" cy="2468339"/>
          </a:xfrm>
          <a:prstGeom prst="rect">
            <a:avLst/>
          </a:prstGeom>
          <a:noFill/>
          <a:ln>
            <a:noFill/>
          </a:ln>
        </p:spPr>
        <p:txBody>
          <a:bodyPr/>
          <a:lstStyle/>
          <a:p>
            <a:endParaRPr lang="en-US"/>
          </a:p>
        </p:txBody>
      </p:sp>
      <p:sp>
        <p:nvSpPr>
          <p:cNvPr id="55" name="Google Shape;55;p8"/>
          <p:cNvSpPr>
            <a:spLocks noGrp="1"/>
          </p:cNvSpPr>
          <p:nvPr>
            <p:ph type="pic" idx="5"/>
          </p:nvPr>
        </p:nvSpPr>
        <p:spPr>
          <a:xfrm>
            <a:off x="5204723" y="3616525"/>
            <a:ext cx="3137521" cy="2468339"/>
          </a:xfrm>
          <a:prstGeom prst="rect">
            <a:avLst/>
          </a:prstGeom>
          <a:noFill/>
          <a:ln>
            <a:noFill/>
          </a:ln>
        </p:spPr>
        <p:txBody>
          <a:bodyPr/>
          <a:lstStyle/>
          <a:p>
            <a:endParaRPr lang="en-US"/>
          </a:p>
        </p:txBody>
      </p:sp>
      <p:sp>
        <p:nvSpPr>
          <p:cNvPr id="56" name="Google Shape;56;p8"/>
          <p:cNvSpPr txBox="1">
            <a:spLocks noGrp="1"/>
          </p:cNvSpPr>
          <p:nvPr>
            <p:ph type="body" idx="1"/>
          </p:nvPr>
        </p:nvSpPr>
        <p:spPr>
          <a:xfrm>
            <a:off x="877819" y="213987"/>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7" name="Google Shape;57;p8"/>
          <p:cNvSpPr txBox="1">
            <a:spLocks noGrp="1"/>
          </p:cNvSpPr>
          <p:nvPr>
            <p:ph type="body" idx="6"/>
          </p:nvPr>
        </p:nvSpPr>
        <p:spPr>
          <a:xfrm>
            <a:off x="5205344" y="213987"/>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8" name="Google Shape;58;p8"/>
          <p:cNvSpPr txBox="1">
            <a:spLocks noGrp="1"/>
          </p:cNvSpPr>
          <p:nvPr>
            <p:ph type="body" idx="7"/>
          </p:nvPr>
        </p:nvSpPr>
        <p:spPr>
          <a:xfrm>
            <a:off x="877819" y="6093410"/>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9" name="Google Shape;59;p8"/>
          <p:cNvSpPr txBox="1">
            <a:spLocks noGrp="1"/>
          </p:cNvSpPr>
          <p:nvPr>
            <p:ph type="body" idx="8"/>
          </p:nvPr>
        </p:nvSpPr>
        <p:spPr>
          <a:xfrm>
            <a:off x="5205344" y="6093410"/>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60" name="Google Shape;60;p8"/>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type="picTx">
  <p:cSld name="PICTURE_WITH_CAPTION_TEXT">
    <p:spTree>
      <p:nvGrpSpPr>
        <p:cNvPr id="1" name="Shape 61"/>
        <p:cNvGrpSpPr/>
        <p:nvPr/>
      </p:nvGrpSpPr>
      <p:grpSpPr>
        <a:xfrm>
          <a:off x="0" y="0"/>
          <a:ext cx="0" cy="0"/>
          <a:chOff x="0" y="0"/>
          <a:chExt cx="0" cy="0"/>
        </a:xfrm>
      </p:grpSpPr>
      <p:sp>
        <p:nvSpPr>
          <p:cNvPr id="62" name="Google Shape;62;p9"/>
          <p:cNvSpPr txBox="1">
            <a:spLocks noGrp="1"/>
          </p:cNvSpPr>
          <p:nvPr>
            <p:ph type="title"/>
          </p:nvPr>
        </p:nvSpPr>
        <p:spPr>
          <a:xfrm>
            <a:off x="1792288" y="4800600"/>
            <a:ext cx="5486400" cy="566738"/>
          </a:xfrm>
          <a:prstGeom prst="rect">
            <a:avLst/>
          </a:prstGeom>
          <a:solidFill>
            <a:srgbClr val="FFFFFF"/>
          </a:solidFill>
          <a:ln w="31750" cap="sq" cmpd="sng">
            <a:solidFill>
              <a:srgbClr val="404040"/>
            </a:solidFill>
            <a:prstDash val="solid"/>
            <a:miter lim="8000"/>
            <a:headEnd type="none" w="sm" len="sm"/>
            <a:tailEnd type="none" w="sm" len="sm"/>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000"/>
              <a:buFont typeface="Calibri"/>
              <a:buNone/>
              <a:defRPr sz="2000" b="1">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9"/>
          <p:cNvSpPr>
            <a:spLocks noGrp="1"/>
          </p:cNvSpPr>
          <p:nvPr>
            <p:ph type="pic" idx="2"/>
          </p:nvPr>
        </p:nvSpPr>
        <p:spPr>
          <a:xfrm>
            <a:off x="1792288" y="612775"/>
            <a:ext cx="5486400" cy="4114800"/>
          </a:xfrm>
          <a:prstGeom prst="rect">
            <a:avLst/>
          </a:prstGeom>
          <a:noFill/>
          <a:ln>
            <a:noFill/>
          </a:ln>
        </p:spPr>
        <p:txBody>
          <a:bodyPr/>
          <a:lstStyle/>
          <a:p>
            <a:endParaRPr lang="en-US"/>
          </a:p>
        </p:txBody>
      </p:sp>
      <p:sp>
        <p:nvSpPr>
          <p:cNvPr id="64" name="Google Shape;64;p9"/>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SzPts val="1400"/>
              <a:buNone/>
              <a:defRPr sz="1400"/>
            </a:lvl1pPr>
            <a:lvl2pPr marL="914400" lvl="1" indent="-228600" algn="l">
              <a:lnSpc>
                <a:spcPct val="100000"/>
              </a:lnSpc>
              <a:spcBef>
                <a:spcPts val="1000"/>
              </a:spcBef>
              <a:spcAft>
                <a:spcPts val="0"/>
              </a:spcAft>
              <a:buSzPts val="1200"/>
              <a:buNone/>
              <a:defRPr sz="1200"/>
            </a:lvl2pPr>
            <a:lvl3pPr marL="1371600" lvl="2" indent="-228600" algn="l">
              <a:lnSpc>
                <a:spcPct val="100000"/>
              </a:lnSpc>
              <a:spcBef>
                <a:spcPts val="1000"/>
              </a:spcBef>
              <a:spcAft>
                <a:spcPts val="0"/>
              </a:spcAft>
              <a:buSzPts val="1000"/>
              <a:buNone/>
              <a:defRPr sz="1000"/>
            </a:lvl3pPr>
            <a:lvl4pPr marL="1828800" lvl="3" indent="-228600" algn="l">
              <a:lnSpc>
                <a:spcPct val="100000"/>
              </a:lnSpc>
              <a:spcBef>
                <a:spcPts val="1000"/>
              </a:spcBef>
              <a:spcAft>
                <a:spcPts val="0"/>
              </a:spcAft>
              <a:buSzPts val="900"/>
              <a:buNone/>
              <a:defRPr sz="900"/>
            </a:lvl4pPr>
            <a:lvl5pPr marL="2286000" lvl="4" indent="-228600" algn="l">
              <a:lnSpc>
                <a:spcPct val="100000"/>
              </a:lnSpc>
              <a:spcBef>
                <a:spcPts val="1000"/>
              </a:spcBef>
              <a:spcAft>
                <a:spcPts val="0"/>
              </a:spcAft>
              <a:buSzPts val="900"/>
              <a:buNone/>
              <a:defRPr sz="900"/>
            </a:lvl5pPr>
            <a:lvl6pPr marL="2743200" lvl="5" indent="-228600" algn="l">
              <a:lnSpc>
                <a:spcPct val="100000"/>
              </a:lnSpc>
              <a:spcBef>
                <a:spcPts val="1000"/>
              </a:spcBef>
              <a:spcAft>
                <a:spcPts val="0"/>
              </a:spcAft>
              <a:buSzPts val="900"/>
              <a:buNone/>
              <a:defRPr sz="900"/>
            </a:lvl6pPr>
            <a:lvl7pPr marL="3200400" lvl="6" indent="-228600" algn="l">
              <a:lnSpc>
                <a:spcPct val="100000"/>
              </a:lnSpc>
              <a:spcBef>
                <a:spcPts val="1000"/>
              </a:spcBef>
              <a:spcAft>
                <a:spcPts val="0"/>
              </a:spcAft>
              <a:buSzPts val="900"/>
              <a:buNone/>
              <a:defRPr sz="900"/>
            </a:lvl7pPr>
            <a:lvl8pPr marL="3657600" lvl="7" indent="-228600" algn="l">
              <a:lnSpc>
                <a:spcPct val="100000"/>
              </a:lnSpc>
              <a:spcBef>
                <a:spcPts val="1000"/>
              </a:spcBef>
              <a:spcAft>
                <a:spcPts val="0"/>
              </a:spcAft>
              <a:buSzPts val="900"/>
              <a:buNone/>
              <a:defRPr sz="900"/>
            </a:lvl8pPr>
            <a:lvl9pPr marL="4114800" lvl="8" indent="-228600" algn="l">
              <a:lnSpc>
                <a:spcPct val="100000"/>
              </a:lnSpc>
              <a:spcBef>
                <a:spcPts val="1000"/>
              </a:spcBef>
              <a:spcAft>
                <a:spcPts val="0"/>
              </a:spcAft>
              <a:buSzPts val="900"/>
              <a:buNone/>
              <a:defRPr sz="900"/>
            </a:lvl9pPr>
          </a:lstStyle>
          <a:p>
            <a:endParaRPr/>
          </a:p>
        </p:txBody>
      </p:sp>
      <p:cxnSp>
        <p:nvCxnSpPr>
          <p:cNvPr id="65" name="Google Shape;65;p9"/>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66" name="Google Shape;66;p9"/>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67" name="Google Shape;67;p9"/>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ntributions">
  <p:cSld name="Contributions">
    <p:spTree>
      <p:nvGrpSpPr>
        <p:cNvPr id="1" name="Shape 68"/>
        <p:cNvGrpSpPr/>
        <p:nvPr/>
      </p:nvGrpSpPr>
      <p:grpSpPr>
        <a:xfrm>
          <a:off x="0" y="0"/>
          <a:ext cx="0" cy="0"/>
          <a:chOff x="0" y="0"/>
          <a:chExt cx="0" cy="0"/>
        </a:xfrm>
      </p:grpSpPr>
      <p:sp>
        <p:nvSpPr>
          <p:cNvPr id="69" name="Google Shape;69;p10"/>
          <p:cNvSpPr txBox="1">
            <a:spLocks noGrp="1"/>
          </p:cNvSpPr>
          <p:nvPr>
            <p:ph type="body" idx="1"/>
          </p:nvPr>
        </p:nvSpPr>
        <p:spPr>
          <a:xfrm>
            <a:off x="595200" y="1060230"/>
            <a:ext cx="6064017" cy="183803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520"/>
              </a:spcBef>
              <a:spcAft>
                <a:spcPts val="0"/>
              </a:spcAft>
              <a:buClr>
                <a:srgbClr val="000000"/>
              </a:buClr>
              <a:buSzPts val="3120"/>
              <a:buFont typeface="Calibri"/>
              <a:buNone/>
              <a:defRPr sz="2600" b="0" u="sng"/>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cxnSp>
        <p:nvCxnSpPr>
          <p:cNvPr id="70" name="Google Shape;70;p10"/>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71" name="Google Shape;71;p10"/>
          <p:cNvSpPr>
            <a:spLocks noGrp="1"/>
          </p:cNvSpPr>
          <p:nvPr>
            <p:ph type="pic" idx="2"/>
          </p:nvPr>
        </p:nvSpPr>
        <p:spPr>
          <a:xfrm>
            <a:off x="1761066" y="1749288"/>
            <a:ext cx="1456267" cy="914400"/>
          </a:xfrm>
          <a:prstGeom prst="rect">
            <a:avLst/>
          </a:prstGeom>
          <a:noFill/>
          <a:ln>
            <a:noFill/>
          </a:ln>
        </p:spPr>
        <p:txBody>
          <a:bodyPr/>
          <a:lstStyle/>
          <a:p>
            <a:endParaRPr lang="en-US"/>
          </a:p>
        </p:txBody>
      </p:sp>
      <p:sp>
        <p:nvSpPr>
          <p:cNvPr id="72" name="Google Shape;72;p10"/>
          <p:cNvSpPr>
            <a:spLocks noGrp="1"/>
          </p:cNvSpPr>
          <p:nvPr>
            <p:ph type="pic" idx="3"/>
          </p:nvPr>
        </p:nvSpPr>
        <p:spPr>
          <a:xfrm>
            <a:off x="3843866" y="1749288"/>
            <a:ext cx="1456267" cy="914400"/>
          </a:xfrm>
          <a:prstGeom prst="rect">
            <a:avLst/>
          </a:prstGeom>
          <a:noFill/>
          <a:ln>
            <a:noFill/>
          </a:ln>
        </p:spPr>
        <p:txBody>
          <a:bodyPr/>
          <a:lstStyle/>
          <a:p>
            <a:endParaRPr lang="en-US"/>
          </a:p>
        </p:txBody>
      </p:sp>
      <p:sp>
        <p:nvSpPr>
          <p:cNvPr id="73" name="Google Shape;73;p10"/>
          <p:cNvSpPr txBox="1">
            <a:spLocks noGrp="1"/>
          </p:cNvSpPr>
          <p:nvPr>
            <p:ph type="body" idx="4"/>
          </p:nvPr>
        </p:nvSpPr>
        <p:spPr>
          <a:xfrm>
            <a:off x="595200" y="3129880"/>
            <a:ext cx="6064017" cy="183803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520"/>
              </a:spcBef>
              <a:spcAft>
                <a:spcPts val="0"/>
              </a:spcAft>
              <a:buClr>
                <a:srgbClr val="000000"/>
              </a:buClr>
              <a:buSzPts val="3120"/>
              <a:buFont typeface="Calibri"/>
              <a:buNone/>
              <a:defRPr sz="2600" b="0" u="sng"/>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74" name="Google Shape;74;p10"/>
          <p:cNvSpPr>
            <a:spLocks noGrp="1"/>
          </p:cNvSpPr>
          <p:nvPr>
            <p:ph type="pic" idx="5"/>
          </p:nvPr>
        </p:nvSpPr>
        <p:spPr>
          <a:xfrm>
            <a:off x="1761066" y="3818938"/>
            <a:ext cx="1456267" cy="914400"/>
          </a:xfrm>
          <a:prstGeom prst="rect">
            <a:avLst/>
          </a:prstGeom>
          <a:noFill/>
          <a:ln>
            <a:noFill/>
          </a:ln>
        </p:spPr>
        <p:txBody>
          <a:bodyPr/>
          <a:lstStyle/>
          <a:p>
            <a:endParaRPr lang="en-US"/>
          </a:p>
        </p:txBody>
      </p:sp>
      <p:sp>
        <p:nvSpPr>
          <p:cNvPr id="75" name="Google Shape;75;p10"/>
          <p:cNvSpPr>
            <a:spLocks noGrp="1"/>
          </p:cNvSpPr>
          <p:nvPr>
            <p:ph type="pic" idx="6"/>
          </p:nvPr>
        </p:nvSpPr>
        <p:spPr>
          <a:xfrm>
            <a:off x="3843866" y="3818938"/>
            <a:ext cx="1456267" cy="914400"/>
          </a:xfrm>
          <a:prstGeom prst="rect">
            <a:avLst/>
          </a:prstGeom>
          <a:noFill/>
          <a:ln>
            <a:noFill/>
          </a:ln>
        </p:spPr>
        <p:txBody>
          <a:bodyPr/>
          <a:lstStyle/>
          <a:p>
            <a:endParaRPr lang="en-US"/>
          </a:p>
        </p:txBody>
      </p:sp>
      <p:sp>
        <p:nvSpPr>
          <p:cNvPr id="76" name="Google Shape;76;p10"/>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7" name="Google Shape;77;p10"/>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1606045" y="964692"/>
            <a:ext cx="5937755" cy="1188720"/>
          </a:xfrm>
          <a:prstGeom prst="rect">
            <a:avLst/>
          </a:prstGeom>
          <a:solidFill>
            <a:srgbClr val="FFFFFF"/>
          </a:solidFill>
          <a:ln w="31750" cap="sq" cmpd="sng">
            <a:solidFill>
              <a:srgbClr val="404040"/>
            </a:solidFill>
            <a:prstDash val="solid"/>
            <a:miter lim="8000"/>
            <a:headEnd type="none" w="sm" len="sm"/>
            <a:tailEnd type="none" w="sm" len="sm"/>
          </a:ln>
        </p:spPr>
        <p:txBody>
          <a:bodyPr spcFirstLastPara="1" wrap="square" lIns="182875" tIns="182875" rIns="182875" bIns="182875" anchor="ctr" anchorCtr="0">
            <a:normAutofit/>
          </a:bodyPr>
          <a:lstStyle>
            <a:lvl1pPr marR="0" lvl="0" algn="ctr" rtl="0">
              <a:lnSpc>
                <a:spcPct val="90000"/>
              </a:lnSpc>
              <a:spcBef>
                <a:spcPts val="0"/>
              </a:spcBef>
              <a:spcAft>
                <a:spcPts val="0"/>
              </a:spcAft>
              <a:buClr>
                <a:srgbClr val="262626"/>
              </a:buClr>
              <a:buSzPts val="2600"/>
              <a:buFont typeface="Calibri"/>
              <a:buNone/>
              <a:defRPr sz="2600" b="0" i="0" u="none" strike="noStrike" cap="none">
                <a:solidFill>
                  <a:srgbClr val="262626"/>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1606045" y="2638045"/>
            <a:ext cx="5937755" cy="3101983"/>
          </a:xfrm>
          <a:prstGeom prst="rect">
            <a:avLst/>
          </a:prstGeom>
          <a:noFill/>
          <a:ln>
            <a:noFill/>
          </a:ln>
        </p:spPr>
        <p:txBody>
          <a:bodyPr spcFirstLastPara="1" wrap="square" lIns="91425" tIns="45700" rIns="91425" bIns="45700" anchor="t" anchorCtr="0">
            <a:normAutofit/>
          </a:bodyPr>
          <a:lstStyle>
            <a:lvl1pPr marL="457200" marR="0" lvl="0" indent="-342900" algn="l" rtl="0">
              <a:lnSpc>
                <a:spcPct val="100000"/>
              </a:lnSpc>
              <a:spcBef>
                <a:spcPts val="1000"/>
              </a:spcBef>
              <a:spcAft>
                <a:spcPts val="0"/>
              </a:spcAft>
              <a:buClr>
                <a:schemeClr val="accent2"/>
              </a:buClr>
              <a:buSzPts val="1800"/>
              <a:buFont typeface="Arial"/>
              <a:buChar char="•"/>
              <a:defRPr sz="1800" b="0" i="0" u="none" strike="noStrike" cap="none">
                <a:solidFill>
                  <a:srgbClr val="262626"/>
                </a:solidFill>
                <a:latin typeface="Calibri"/>
                <a:ea typeface="Calibri"/>
                <a:cs typeface="Calibri"/>
                <a:sym typeface="Calibri"/>
              </a:defRPr>
            </a:lvl1pPr>
            <a:lvl2pPr marL="914400" marR="0" lvl="1"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2pPr>
            <a:lvl3pPr marL="1371600" marR="0" lvl="2"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3pPr>
            <a:lvl4pPr marL="1828800" marR="0" lvl="3"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4pPr>
            <a:lvl5pPr marL="2286000" marR="0" lvl="4"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5pPr>
            <a:lvl6pPr marL="2743200" marR="0" lvl="5"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pic>
        <p:nvPicPr>
          <p:cNvPr id="12" name="Google Shape;12;p1" descr="A close up of a sign&#10;&#10;Description automatically generated"/>
          <p:cNvPicPr preferRelativeResize="0"/>
          <p:nvPr/>
        </p:nvPicPr>
        <p:blipFill rotWithShape="1">
          <a:blip r:embed="rId11">
            <a:alphaModFix/>
          </a:blip>
          <a:srcRect/>
          <a:stretch/>
        </p:blipFill>
        <p:spPr>
          <a:xfrm>
            <a:off x="8746670" y="6562249"/>
            <a:ext cx="292555" cy="156273"/>
          </a:xfrm>
          <a:prstGeom prst="rect">
            <a:avLst/>
          </a:prstGeom>
          <a:noFill/>
          <a:ln>
            <a:noFill/>
          </a:ln>
        </p:spPr>
      </p:pic>
      <p:sp>
        <p:nvSpPr>
          <p:cNvPr id="13" name="Google Shape;13;p1"/>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400" b="0" i="0" u="none" strike="noStrike" cap="none">
                <a:solidFill>
                  <a:srgbClr val="555960"/>
                </a:solidFill>
                <a:latin typeface="Calibri"/>
                <a:ea typeface="Calibri"/>
                <a:cs typeface="Calibri"/>
                <a:sym typeface="Calibri"/>
              </a:defRPr>
            </a:lvl1pPr>
            <a:lvl2pPr marL="0" marR="0" lvl="1" indent="0" algn="r" rtl="0">
              <a:spcBef>
                <a:spcPts val="0"/>
              </a:spcBef>
              <a:buNone/>
              <a:defRPr sz="1400" b="0" i="0" u="none" strike="noStrike" cap="none">
                <a:solidFill>
                  <a:srgbClr val="555960"/>
                </a:solidFill>
                <a:latin typeface="Calibri"/>
                <a:ea typeface="Calibri"/>
                <a:cs typeface="Calibri"/>
                <a:sym typeface="Calibri"/>
              </a:defRPr>
            </a:lvl2pPr>
            <a:lvl3pPr marL="0" marR="0" lvl="2" indent="0" algn="r" rtl="0">
              <a:spcBef>
                <a:spcPts val="0"/>
              </a:spcBef>
              <a:buNone/>
              <a:defRPr sz="1400" b="0" i="0" u="none" strike="noStrike" cap="none">
                <a:solidFill>
                  <a:srgbClr val="555960"/>
                </a:solidFill>
                <a:latin typeface="Calibri"/>
                <a:ea typeface="Calibri"/>
                <a:cs typeface="Calibri"/>
                <a:sym typeface="Calibri"/>
              </a:defRPr>
            </a:lvl3pPr>
            <a:lvl4pPr marL="0" marR="0" lvl="3" indent="0" algn="r" rtl="0">
              <a:spcBef>
                <a:spcPts val="0"/>
              </a:spcBef>
              <a:buNone/>
              <a:defRPr sz="1400" b="0" i="0" u="none" strike="noStrike" cap="none">
                <a:solidFill>
                  <a:srgbClr val="555960"/>
                </a:solidFill>
                <a:latin typeface="Calibri"/>
                <a:ea typeface="Calibri"/>
                <a:cs typeface="Calibri"/>
                <a:sym typeface="Calibri"/>
              </a:defRPr>
            </a:lvl4pPr>
            <a:lvl5pPr marL="0" marR="0" lvl="4" indent="0" algn="r" rtl="0">
              <a:spcBef>
                <a:spcPts val="0"/>
              </a:spcBef>
              <a:buNone/>
              <a:defRPr sz="1400" b="0" i="0" u="none" strike="noStrike" cap="none">
                <a:solidFill>
                  <a:srgbClr val="555960"/>
                </a:solidFill>
                <a:latin typeface="Calibri"/>
                <a:ea typeface="Calibri"/>
                <a:cs typeface="Calibri"/>
                <a:sym typeface="Calibri"/>
              </a:defRPr>
            </a:lvl5pPr>
            <a:lvl6pPr marL="0" marR="0" lvl="5" indent="0" algn="r" rtl="0">
              <a:spcBef>
                <a:spcPts val="0"/>
              </a:spcBef>
              <a:buNone/>
              <a:defRPr sz="1400" b="0" i="0" u="none" strike="noStrike" cap="none">
                <a:solidFill>
                  <a:srgbClr val="555960"/>
                </a:solidFill>
                <a:latin typeface="Calibri"/>
                <a:ea typeface="Calibri"/>
                <a:cs typeface="Calibri"/>
                <a:sym typeface="Calibri"/>
              </a:defRPr>
            </a:lvl6pPr>
            <a:lvl7pPr marL="0" marR="0" lvl="6" indent="0" algn="r" rtl="0">
              <a:spcBef>
                <a:spcPts val="0"/>
              </a:spcBef>
              <a:buNone/>
              <a:defRPr sz="1400" b="0" i="0" u="none" strike="noStrike" cap="none">
                <a:solidFill>
                  <a:srgbClr val="555960"/>
                </a:solidFill>
                <a:latin typeface="Calibri"/>
                <a:ea typeface="Calibri"/>
                <a:cs typeface="Calibri"/>
                <a:sym typeface="Calibri"/>
              </a:defRPr>
            </a:lvl7pPr>
            <a:lvl8pPr marL="0" marR="0" lvl="7" indent="0" algn="r" rtl="0">
              <a:spcBef>
                <a:spcPts val="0"/>
              </a:spcBef>
              <a:buNone/>
              <a:defRPr sz="1400" b="0" i="0" u="none" strike="noStrike" cap="none">
                <a:solidFill>
                  <a:srgbClr val="555960"/>
                </a:solidFill>
                <a:latin typeface="Calibri"/>
                <a:ea typeface="Calibri"/>
                <a:cs typeface="Calibri"/>
                <a:sym typeface="Calibri"/>
              </a:defRPr>
            </a:lvl8pPr>
            <a:lvl9pPr marL="0" marR="0" lvl="8" indent="0" algn="r" rtl="0">
              <a:spcBef>
                <a:spcPts val="0"/>
              </a:spcBef>
              <a:buNone/>
              <a:defRPr sz="1400" b="0" i="0" u="none" strike="noStrike" cap="none">
                <a:solidFill>
                  <a:srgbClr val="555960"/>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urseLine"/>
          <p:cNvSpPr txBox="1"/>
          <p:nvPr/>
        </p:nvSpPr>
        <p:spPr>
          <a:xfrm>
            <a:off x="658368" y="576072"/>
            <a:ext cx="7818120" cy="402336"/>
          </a:xfrm>
          <a:prstGeom prst="rect">
            <a:avLst/>
          </a:prstGeom>
          <a:noFill/>
        </p:spPr>
        <p:txBody>
          <a:bodyPr wrap="square">
            <a:spAutoFit/>
          </a:bodyPr>
          <a:lstStyle/>
          <a:p>
            <a:pPr algn="ctr">
              <a:spcAft>
                <a:spcPts val="400"/>
              </a:spcAft>
            </a:pPr>
            <a:r>
              <a:rPr sz="2000" b="0">
                <a:solidFill>
                  <a:srgbClr val="5C4826"/>
                </a:solidFill>
                <a:latin typeface="Calibri"/>
              </a:rPr>
              <a:t>S o f t w a r e   E n g i n e e r i n g</a:t>
            </a:r>
          </a:p>
        </p:txBody>
      </p:sp>
      <p:sp>
        <p:nvSpPr>
          <p:cNvPr id="3" name="CourseNumber"/>
          <p:cNvSpPr txBox="1"/>
          <p:nvPr/>
        </p:nvSpPr>
        <p:spPr>
          <a:xfrm>
            <a:off x="658368" y="1014984"/>
            <a:ext cx="7818120" cy="384048"/>
          </a:xfrm>
          <a:prstGeom prst="rect">
            <a:avLst/>
          </a:prstGeom>
          <a:noFill/>
        </p:spPr>
        <p:txBody>
          <a:bodyPr wrap="square">
            <a:spAutoFit/>
          </a:bodyPr>
          <a:lstStyle/>
          <a:p>
            <a:pPr algn="ctr">
              <a:spcAft>
                <a:spcPts val="400"/>
              </a:spcAft>
            </a:pPr>
            <a:r>
              <a:rPr sz="2000" b="0">
                <a:solidFill>
                  <a:srgbClr val="555960"/>
                </a:solidFill>
                <a:latin typeface="Calibri"/>
              </a:rPr>
              <a:t>ECE 30861 / CSCI 45000</a:t>
            </a:r>
          </a:p>
        </p:txBody>
      </p:sp>
      <p:sp>
        <p:nvSpPr>
          <p:cNvPr id="4" name="Title"/>
          <p:cNvSpPr txBox="1"/>
          <p:nvPr/>
        </p:nvSpPr>
        <p:spPr>
          <a:xfrm>
            <a:off x="384048" y="1783080"/>
            <a:ext cx="8412480" cy="731520"/>
          </a:xfrm>
          <a:prstGeom prst="rect">
            <a:avLst/>
          </a:prstGeom>
          <a:noFill/>
        </p:spPr>
        <p:txBody>
          <a:bodyPr wrap="square">
            <a:spAutoFit/>
          </a:bodyPr>
          <a:lstStyle/>
          <a:p>
            <a:pPr algn="ctr">
              <a:spcAft>
                <a:spcPts val="400"/>
              </a:spcAft>
            </a:pPr>
            <a:r>
              <a:rPr sz="3200" b="0">
                <a:solidFill>
                  <a:srgbClr val="2D2D2D"/>
                </a:solidFill>
                <a:latin typeface="Calibri"/>
              </a:rPr>
              <a:t>Data Management</a:t>
            </a:r>
          </a:p>
        </p:txBody>
      </p:sp>
      <p:sp>
        <p:nvSpPr>
          <p:cNvPr id="5" name="Subtitle"/>
          <p:cNvSpPr txBox="1"/>
          <p:nvPr/>
        </p:nvSpPr>
        <p:spPr>
          <a:xfrm>
            <a:off x="429768" y="2606040"/>
            <a:ext cx="8284464" cy="868680"/>
          </a:xfrm>
          <a:prstGeom prst="rect">
            <a:avLst/>
          </a:prstGeom>
          <a:noFill/>
        </p:spPr>
        <p:txBody>
          <a:bodyPr wrap="square">
            <a:spAutoFit/>
          </a:bodyPr>
          <a:lstStyle/>
          <a:p>
            <a:pPr algn="ctr">
              <a:spcAft>
                <a:spcPts val="400"/>
              </a:spcAft>
            </a:pPr>
            <a:r>
              <a:rPr sz="2200" b="0">
                <a:solidFill>
                  <a:srgbClr val="8E6F3E"/>
                </a:solidFill>
                <a:latin typeface="Calibri"/>
              </a:rPr>
              <a:t>How do we represent, retrieve, and preserve information as software systems grow?</a:t>
            </a:r>
          </a:p>
        </p:txBody>
      </p:sp>
      <p:sp>
        <p:nvSpPr>
          <p:cNvPr id="6" name="Instructors"/>
          <p:cNvSpPr txBox="1"/>
          <p:nvPr/>
        </p:nvSpPr>
        <p:spPr>
          <a:xfrm>
            <a:off x="740664" y="3657600"/>
            <a:ext cx="7680960" cy="868680"/>
          </a:xfrm>
          <a:prstGeom prst="rect">
            <a:avLst/>
          </a:prstGeom>
          <a:noFill/>
        </p:spPr>
        <p:txBody>
          <a:bodyPr wrap="square">
            <a:spAutoFit/>
          </a:bodyPr>
          <a:lstStyle/>
          <a:p>
            <a:pPr algn="ctr">
              <a:spcAft>
                <a:spcPts val="400"/>
              </a:spcAft>
            </a:pPr>
            <a:r>
              <a:rPr sz="2000" b="0">
                <a:solidFill>
                  <a:srgbClr val="2D2D2D"/>
                </a:solidFill>
                <a:latin typeface="Calibri"/>
              </a:rPr>
              <a:t>Prof. James C. Davis</a:t>
            </a:r>
          </a:p>
          <a:p>
            <a:pPr algn="ctr">
              <a:spcAft>
                <a:spcPts val="400"/>
              </a:spcAft>
            </a:pPr>
            <a:r>
              <a:rPr sz="2000" b="0">
                <a:solidFill>
                  <a:srgbClr val="2D2D2D"/>
                </a:solidFill>
                <a:latin typeface="Calibri"/>
              </a:rPr>
              <a:t>Prof. Steve France</a:t>
            </a:r>
          </a:p>
        </p:txBody>
      </p:sp>
      <p:sp>
        <p:nvSpPr>
          <p:cNvPr id="7" name="ActLine"/>
          <p:cNvSpPr txBox="1"/>
          <p:nvPr/>
        </p:nvSpPr>
        <p:spPr>
          <a:xfrm>
            <a:off x="1143000" y="4617720"/>
            <a:ext cx="6858000" cy="384048"/>
          </a:xfrm>
          <a:prstGeom prst="rect">
            <a:avLst/>
          </a:prstGeom>
          <a:noFill/>
        </p:spPr>
        <p:txBody>
          <a:bodyPr wrap="square">
            <a:spAutoFit/>
          </a:bodyPr>
          <a:lstStyle/>
          <a:p>
            <a:pPr algn="ctr">
              <a:spcAft>
                <a:spcPts val="400"/>
              </a:spcAft>
            </a:pPr>
            <a:r>
              <a:rPr sz="2000" b="0">
                <a:solidFill>
                  <a:srgbClr val="555960"/>
                </a:solidFill>
                <a:latin typeface="Calibri"/>
              </a:rPr>
              <a:t>Act III — Engineering Software Systems</a:t>
            </a:r>
          </a:p>
        </p:txBody>
      </p:sp>
      <p:sp>
        <p:nvSpPr>
          <p:cNvPr id="8" name="DateLine"/>
          <p:cNvSpPr txBox="1"/>
          <p:nvPr/>
        </p:nvSpPr>
        <p:spPr>
          <a:xfrm>
            <a:off x="1143000" y="5029200"/>
            <a:ext cx="6858000" cy="384048"/>
          </a:xfrm>
          <a:prstGeom prst="rect">
            <a:avLst/>
          </a:prstGeom>
          <a:noFill/>
        </p:spPr>
        <p:txBody>
          <a:bodyPr wrap="square">
            <a:spAutoFit/>
          </a:bodyPr>
          <a:lstStyle/>
          <a:p>
            <a:pPr algn="ctr">
              <a:spcAft>
                <a:spcPts val="400"/>
              </a:spcAft>
            </a:pPr>
            <a:r>
              <a:rPr sz="2000" b="0">
                <a:solidFill>
                  <a:srgbClr val="555960"/>
                </a:solidFill>
                <a:latin typeface="Calibri"/>
              </a:rPr>
              <a:t>Thursday, November 5,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Our service keeps every reservation in memory</a:t>
            </a:r>
          </a:p>
        </p:txBody>
      </p:sp>
      <p:sp>
        <p:nvSpPr>
          <p:cNvPr id="3" name="Label"/>
          <p:cNvSpPr txBox="1"/>
          <p:nvPr/>
        </p:nvSpPr>
        <p:spPr>
          <a:xfrm>
            <a:off x="411480" y="868680"/>
            <a:ext cx="8321040" cy="411480"/>
          </a:xfrm>
          <a:prstGeom prst="rect">
            <a:avLst/>
          </a:prstGeom>
          <a:noFill/>
        </p:spPr>
        <p:txBody>
          <a:bodyPr wrap="square">
            <a:spAutoFit/>
          </a:bodyPr>
          <a:lstStyle/>
          <a:p>
            <a:pPr algn="l">
              <a:spcAft>
                <a:spcPts val="400"/>
              </a:spcAft>
            </a:pPr>
            <a:r>
              <a:rPr sz="2100" b="1">
                <a:solidFill>
                  <a:srgbClr val="5C4826"/>
                </a:solidFill>
                <a:latin typeface="Calibri"/>
              </a:rPr>
              <a:t>Tuesday ended with the service deployed. What breaks first?</a:t>
            </a:r>
          </a:p>
        </p:txBody>
      </p:sp>
      <p:sp>
        <p:nvSpPr>
          <p:cNvPr id="4" name="Card"/>
          <p:cNvSpPr/>
          <p:nvPr/>
        </p:nvSpPr>
        <p:spPr>
          <a:xfrm>
            <a:off x="411480" y="1417320"/>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ardLeft"/>
          <p:cNvSpPr txBox="1"/>
          <p:nvPr/>
        </p:nvSpPr>
        <p:spPr>
          <a:xfrm>
            <a:off x="557784" y="1490472"/>
            <a:ext cx="3611880" cy="1152144"/>
          </a:xfrm>
          <a:prstGeom prst="rect">
            <a:avLst/>
          </a:prstGeom>
          <a:noFill/>
        </p:spPr>
        <p:txBody>
          <a:bodyPr wrap="square">
            <a:spAutoFit/>
          </a:bodyPr>
          <a:lstStyle/>
          <a:p>
            <a:pPr algn="l">
              <a:spcAft>
                <a:spcPts val="200"/>
              </a:spcAft>
            </a:pPr>
            <a:r>
              <a:rPr sz="2000" b="1">
                <a:solidFill>
                  <a:srgbClr val="8E6F3E"/>
                </a:solidFill>
                <a:latin typeface="Calibri"/>
              </a:rPr>
              <a:t>THE PROCESS RESTARTS</a:t>
            </a:r>
          </a:p>
          <a:p>
            <a:pPr algn="l">
              <a:spcAft>
                <a:spcPts val="400"/>
              </a:spcAft>
            </a:pPr>
            <a:r>
              <a:rPr sz="2000" b="0">
                <a:solidFill>
                  <a:srgbClr val="5C4826"/>
                </a:solidFill>
                <a:latin typeface="Calibri"/>
              </a:rPr>
              <a:t>Every reservation is gone</a:t>
            </a:r>
          </a:p>
        </p:txBody>
      </p:sp>
      <p:sp>
        <p:nvSpPr>
          <p:cNvPr id="6" name="CardRight"/>
          <p:cNvSpPr txBox="1"/>
          <p:nvPr/>
        </p:nvSpPr>
        <p:spPr>
          <a:xfrm>
            <a:off x="4343400" y="1490472"/>
            <a:ext cx="4251960" cy="1152144"/>
          </a:xfrm>
          <a:prstGeom prst="rect">
            <a:avLst/>
          </a:prstGeom>
          <a:noFill/>
        </p:spPr>
        <p:txBody>
          <a:bodyPr wrap="square">
            <a:spAutoFit/>
          </a:bodyPr>
          <a:lstStyle/>
          <a:p>
            <a:pPr algn="l">
              <a:spcAft>
                <a:spcPts val="200"/>
              </a:spcAft>
            </a:pPr>
            <a:r>
              <a:rPr sz="2000" b="1">
                <a:solidFill>
                  <a:srgbClr val="5C4826"/>
                </a:solidFill>
                <a:latin typeface="Calibri"/>
              </a:rPr>
              <a:t>Persistence</a:t>
            </a:r>
          </a:p>
          <a:p>
            <a:pPr algn="l">
              <a:spcAft>
                <a:spcPts val="400"/>
              </a:spcAft>
            </a:pPr>
            <a:r>
              <a:rPr sz="2000" b="0">
                <a:solidFill>
                  <a:srgbClr val="555960"/>
                </a:solidFill>
                <a:latin typeface="Calibri"/>
              </a:rPr>
              <a:t>Information must outlive the process that wrote it</a:t>
            </a:r>
          </a:p>
        </p:txBody>
      </p:sp>
      <p:sp>
        <p:nvSpPr>
          <p:cNvPr id="7" name="Card"/>
          <p:cNvSpPr/>
          <p:nvPr/>
        </p:nvSpPr>
        <p:spPr>
          <a:xfrm>
            <a:off x="411480" y="2862072"/>
            <a:ext cx="8321040" cy="12984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Left"/>
          <p:cNvSpPr txBox="1"/>
          <p:nvPr/>
        </p:nvSpPr>
        <p:spPr>
          <a:xfrm>
            <a:off x="557784" y="2935224"/>
            <a:ext cx="3611880" cy="1152144"/>
          </a:xfrm>
          <a:prstGeom prst="rect">
            <a:avLst/>
          </a:prstGeom>
          <a:noFill/>
        </p:spPr>
        <p:txBody>
          <a:bodyPr wrap="square">
            <a:spAutoFit/>
          </a:bodyPr>
          <a:lstStyle/>
          <a:p>
            <a:pPr algn="l">
              <a:spcAft>
                <a:spcPts val="200"/>
              </a:spcAft>
            </a:pPr>
            <a:r>
              <a:rPr sz="2000" b="1">
                <a:solidFill>
                  <a:srgbClr val="8E6F3E"/>
                </a:solidFill>
                <a:latin typeface="Calibri"/>
              </a:rPr>
              <a:t>WE ADD A SECOND REPLICA</a:t>
            </a:r>
          </a:p>
          <a:p>
            <a:pPr algn="l">
              <a:spcAft>
                <a:spcPts val="400"/>
              </a:spcAft>
            </a:pPr>
            <a:r>
              <a:rPr sz="2000" b="0">
                <a:solidFill>
                  <a:srgbClr val="5C4826"/>
                </a:solidFill>
                <a:latin typeface="Calibri"/>
              </a:rPr>
              <a:t>Two copies, two different truths</a:t>
            </a:r>
          </a:p>
        </p:txBody>
      </p:sp>
      <p:sp>
        <p:nvSpPr>
          <p:cNvPr id="9" name="CardRight"/>
          <p:cNvSpPr txBox="1"/>
          <p:nvPr/>
        </p:nvSpPr>
        <p:spPr>
          <a:xfrm>
            <a:off x="4343400" y="2935224"/>
            <a:ext cx="4251960" cy="1152144"/>
          </a:xfrm>
          <a:prstGeom prst="rect">
            <a:avLst/>
          </a:prstGeom>
          <a:noFill/>
        </p:spPr>
        <p:txBody>
          <a:bodyPr wrap="square">
            <a:spAutoFit/>
          </a:bodyPr>
          <a:lstStyle/>
          <a:p>
            <a:pPr algn="l">
              <a:spcAft>
                <a:spcPts val="200"/>
              </a:spcAft>
            </a:pPr>
            <a:r>
              <a:rPr sz="2000" b="1">
                <a:solidFill>
                  <a:srgbClr val="5C4826"/>
                </a:solidFill>
                <a:latin typeface="Calibri"/>
              </a:rPr>
              <a:t>Sharing</a:t>
            </a:r>
          </a:p>
          <a:p>
            <a:pPr algn="l">
              <a:spcAft>
                <a:spcPts val="400"/>
              </a:spcAft>
            </a:pPr>
            <a:r>
              <a:rPr sz="2000" b="0">
                <a:solidFill>
                  <a:srgbClr val="555960"/>
                </a:solidFill>
                <a:latin typeface="Calibri"/>
              </a:rPr>
              <a:t>Many clients and replicas, one authoritative copy</a:t>
            </a:r>
          </a:p>
        </p:txBody>
      </p:sp>
      <p:sp>
        <p:nvSpPr>
          <p:cNvPr id="10" name="Card"/>
          <p:cNvSpPr/>
          <p:nvPr/>
        </p:nvSpPr>
        <p:spPr>
          <a:xfrm>
            <a:off x="411480" y="4306824"/>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CardLeft"/>
          <p:cNvSpPr txBox="1"/>
          <p:nvPr/>
        </p:nvSpPr>
        <p:spPr>
          <a:xfrm>
            <a:off x="557784" y="4379976"/>
            <a:ext cx="3611880" cy="1152144"/>
          </a:xfrm>
          <a:prstGeom prst="rect">
            <a:avLst/>
          </a:prstGeom>
          <a:noFill/>
        </p:spPr>
        <p:txBody>
          <a:bodyPr wrap="square">
            <a:spAutoFit/>
          </a:bodyPr>
          <a:lstStyle/>
          <a:p>
            <a:pPr algn="l">
              <a:spcAft>
                <a:spcPts val="200"/>
              </a:spcAft>
            </a:pPr>
            <a:r>
              <a:rPr sz="2000" b="1">
                <a:solidFill>
                  <a:srgbClr val="8E6F3E"/>
                </a:solidFill>
                <a:latin typeface="Calibri"/>
              </a:rPr>
              <a:t>TWO REQUESTS ARRIVE AT ONCE</a:t>
            </a:r>
          </a:p>
          <a:p>
            <a:pPr algn="l">
              <a:spcAft>
                <a:spcPts val="400"/>
              </a:spcAft>
            </a:pPr>
            <a:r>
              <a:rPr sz="2000" b="0">
                <a:solidFill>
                  <a:srgbClr val="5C4826"/>
                </a:solidFill>
                <a:latin typeface="Calibri"/>
              </a:rPr>
              <a:t>Both see the room as free</a:t>
            </a:r>
          </a:p>
        </p:txBody>
      </p:sp>
      <p:sp>
        <p:nvSpPr>
          <p:cNvPr id="12" name="CardRight"/>
          <p:cNvSpPr txBox="1"/>
          <p:nvPr/>
        </p:nvSpPr>
        <p:spPr>
          <a:xfrm>
            <a:off x="4343400" y="4379976"/>
            <a:ext cx="4251960" cy="1152144"/>
          </a:xfrm>
          <a:prstGeom prst="rect">
            <a:avLst/>
          </a:prstGeom>
          <a:noFill/>
        </p:spPr>
        <p:txBody>
          <a:bodyPr wrap="square">
            <a:spAutoFit/>
          </a:bodyPr>
          <a:lstStyle/>
          <a:p>
            <a:pPr algn="l">
              <a:spcAft>
                <a:spcPts val="200"/>
              </a:spcAft>
            </a:pPr>
            <a:r>
              <a:rPr sz="2000" b="1">
                <a:solidFill>
                  <a:srgbClr val="5C4826"/>
                </a:solidFill>
                <a:latin typeface="Calibri"/>
              </a:rPr>
              <a:t>Concurrency</a:t>
            </a:r>
          </a:p>
          <a:p>
            <a:pPr algn="l">
              <a:spcAft>
                <a:spcPts val="400"/>
              </a:spcAft>
            </a:pPr>
            <a:r>
              <a:rPr sz="2000" b="0">
                <a:solidFill>
                  <a:srgbClr val="555960"/>
                </a:solidFill>
                <a:latin typeface="Calibri"/>
              </a:rPr>
              <a:t>Overlapping operations must not corrupt state</a:t>
            </a:r>
          </a:p>
        </p:txBody>
      </p:sp>
      <p:sp>
        <p:nvSpPr>
          <p:cNvPr id="13"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Three separable requirements — each can be met without the others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database is an engineering component, not a language</a:t>
            </a:r>
          </a:p>
        </p:txBody>
      </p:sp>
      <p:sp>
        <p:nvSpPr>
          <p:cNvPr id="3" name="Card"/>
          <p:cNvSpPr/>
          <p:nvPr/>
        </p:nvSpPr>
        <p:spPr>
          <a:xfrm>
            <a:off x="411480" y="1005840"/>
            <a:ext cx="4069080" cy="2468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97280"/>
            <a:ext cx="3776472" cy="2286000"/>
          </a:xfrm>
          <a:prstGeom prst="rect">
            <a:avLst/>
          </a:prstGeom>
          <a:noFill/>
        </p:spPr>
        <p:txBody>
          <a:bodyPr wrap="square">
            <a:spAutoFit/>
          </a:bodyPr>
          <a:lstStyle/>
          <a:p>
            <a:pPr algn="l">
              <a:spcAft>
                <a:spcPts val="600"/>
              </a:spcAft>
            </a:pPr>
            <a:r>
              <a:rPr sz="2000" b="1">
                <a:solidFill>
                  <a:srgbClr val="8E6F3E"/>
                </a:solidFill>
                <a:latin typeface="Calibri"/>
              </a:rPr>
              <a:t>WHAT YOU DELEGATE TO IT</a:t>
            </a:r>
          </a:p>
          <a:p>
            <a:pPr algn="l">
              <a:spcAft>
                <a:spcPts val="400"/>
              </a:spcAft>
            </a:pPr>
            <a:r>
              <a:rPr sz="2000" b="0">
                <a:solidFill>
                  <a:srgbClr val="5C4826"/>
                </a:solidFill>
                <a:latin typeface="Calibri"/>
              </a:rPr>
              <a:t>Representing your domain's facts</a:t>
            </a:r>
          </a:p>
          <a:p>
            <a:pPr algn="l">
              <a:spcAft>
                <a:spcPts val="400"/>
              </a:spcAft>
            </a:pPr>
            <a:r>
              <a:rPr sz="2000" b="0">
                <a:solidFill>
                  <a:srgbClr val="5C4826"/>
                </a:solidFill>
                <a:latin typeface="Calibri"/>
              </a:rPr>
              <a:t>Retrieving them on demand</a:t>
            </a:r>
          </a:p>
          <a:p>
            <a:pPr algn="l">
              <a:spcAft>
                <a:spcPts val="400"/>
              </a:spcAft>
            </a:pPr>
            <a:r>
              <a:rPr sz="2000" b="0">
                <a:solidFill>
                  <a:srgbClr val="5C4826"/>
                </a:solidFill>
                <a:latin typeface="Calibri"/>
              </a:rPr>
              <a:t>Durability across failures</a:t>
            </a:r>
          </a:p>
          <a:p>
            <a:pPr algn="l">
              <a:spcAft>
                <a:spcPts val="400"/>
              </a:spcAft>
            </a:pPr>
            <a:r>
              <a:rPr sz="2000" b="0">
                <a:solidFill>
                  <a:srgbClr val="5C4826"/>
                </a:solidFill>
                <a:latin typeface="Calibri"/>
              </a:rPr>
              <a:t>Concurrency control under load</a:t>
            </a:r>
          </a:p>
        </p:txBody>
      </p:sp>
      <p:sp>
        <p:nvSpPr>
          <p:cNvPr id="5" name="Card"/>
          <p:cNvSpPr/>
          <p:nvPr/>
        </p:nvSpPr>
        <p:spPr>
          <a:xfrm>
            <a:off x="4663440" y="1005840"/>
            <a:ext cx="4069080" cy="2468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97280"/>
            <a:ext cx="3776472" cy="2286000"/>
          </a:xfrm>
          <a:prstGeom prst="rect">
            <a:avLst/>
          </a:prstGeom>
          <a:noFill/>
        </p:spPr>
        <p:txBody>
          <a:bodyPr wrap="square">
            <a:spAutoFit/>
          </a:bodyPr>
          <a:lstStyle/>
          <a:p>
            <a:pPr algn="l">
              <a:spcAft>
                <a:spcPts val="600"/>
              </a:spcAft>
            </a:pPr>
            <a:r>
              <a:rPr sz="2000" b="1">
                <a:solidFill>
                  <a:srgbClr val="8E6F3E"/>
                </a:solidFill>
                <a:latin typeface="Calibri"/>
              </a:rPr>
              <a:t>WHAT IT IS NOT</a:t>
            </a:r>
          </a:p>
          <a:p>
            <a:pPr algn="l">
              <a:spcAft>
                <a:spcPts val="400"/>
              </a:spcAft>
            </a:pPr>
            <a:r>
              <a:rPr sz="2000" b="0">
                <a:solidFill>
                  <a:srgbClr val="5C4826"/>
                </a:solidFill>
                <a:latin typeface="Calibri"/>
              </a:rPr>
              <a:t>A synonym for SQL</a:t>
            </a:r>
          </a:p>
          <a:p>
            <a:pPr algn="l">
              <a:spcAft>
                <a:spcPts val="400"/>
              </a:spcAft>
            </a:pPr>
            <a:r>
              <a:rPr sz="2000" b="0">
                <a:solidFill>
                  <a:srgbClr val="5C4826"/>
                </a:solidFill>
                <a:latin typeface="Calibri"/>
              </a:rPr>
              <a:t>One product category</a:t>
            </a:r>
          </a:p>
          <a:p>
            <a:pPr algn="l">
              <a:spcAft>
                <a:spcPts val="400"/>
              </a:spcAft>
            </a:pPr>
            <a:r>
              <a:rPr sz="2000" b="0">
                <a:solidFill>
                  <a:srgbClr val="5C4826"/>
                </a:solidFill>
                <a:latin typeface="Calibri"/>
              </a:rPr>
              <a:t>A place where correctness happens automatically</a:t>
            </a:r>
          </a:p>
        </p:txBody>
      </p:sp>
      <p:sp>
        <p:nvSpPr>
          <p:cNvPr id="7" name="Card"/>
          <p:cNvSpPr/>
          <p:nvPr/>
        </p:nvSpPr>
        <p:spPr>
          <a:xfrm>
            <a:off x="411480" y="3657600"/>
            <a:ext cx="8321040" cy="20116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749039"/>
            <a:ext cx="8046720" cy="1828800"/>
          </a:xfrm>
          <a:prstGeom prst="rect">
            <a:avLst/>
          </a:prstGeom>
          <a:noFill/>
        </p:spPr>
        <p:txBody>
          <a:bodyPr wrap="square">
            <a:spAutoFit/>
          </a:bodyPr>
          <a:lstStyle/>
          <a:p>
            <a:pPr algn="l">
              <a:spcAft>
                <a:spcPts val="600"/>
              </a:spcAft>
            </a:pPr>
            <a:r>
              <a:rPr sz="2000" b="1">
                <a:solidFill>
                  <a:srgbClr val="5C4826"/>
                </a:solidFill>
                <a:latin typeface="Calibri"/>
              </a:rPr>
              <a:t>The requirements select machinery independently</a:t>
            </a:r>
          </a:p>
          <a:p>
            <a:pPr algn="l">
              <a:spcAft>
                <a:spcPts val="400"/>
              </a:spcAft>
            </a:pPr>
            <a:r>
              <a:rPr sz="2000" b="0">
                <a:solidFill>
                  <a:srgbClr val="555960"/>
                </a:solidFill>
                <a:latin typeface="Calibri"/>
              </a:rPr>
              <a:t>SQLite — durability + transactions; no server, no sharing</a:t>
            </a:r>
          </a:p>
          <a:p>
            <a:pPr algn="l">
              <a:spcAft>
                <a:spcPts val="400"/>
              </a:spcAft>
            </a:pPr>
            <a:r>
              <a:rPr sz="2000" b="0">
                <a:solidFill>
                  <a:srgbClr val="555960"/>
                </a:solidFill>
                <a:latin typeface="Calibri"/>
              </a:rPr>
              <a:t>A distributed key-value store — scalable sharing; a different transaction model</a:t>
            </a:r>
          </a:p>
          <a:p>
            <a:pPr algn="l">
              <a:spcAft>
                <a:spcPts val="400"/>
              </a:spcAft>
            </a:pPr>
            <a:r>
              <a:rPr sz="2000" b="0">
                <a:solidFill>
                  <a:srgbClr val="555960"/>
                </a:solidFill>
                <a:latin typeface="Calibri"/>
              </a:rPr>
              <a:t>A cache — fast sharing; no durability at all</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Name the guarantees you need, then choose a system that provides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An abstract model of a database: five dimensions</a:t>
            </a:r>
          </a:p>
        </p:txBody>
      </p:sp>
      <p:sp>
        <p:nvSpPr>
          <p:cNvPr id="3" name="Card"/>
          <p:cNvSpPr/>
          <p:nvPr/>
        </p:nvSpPr>
        <p:spPr>
          <a:xfrm>
            <a:off x="411480" y="9144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Data model</a:t>
            </a:r>
          </a:p>
        </p:txBody>
      </p:sp>
      <p:sp>
        <p:nvSpPr>
          <p:cNvPr id="5" name="RowBody"/>
          <p:cNvSpPr txBox="1"/>
          <p:nvPr/>
        </p:nvSpPr>
        <p:spPr>
          <a:xfrm>
            <a:off x="2752344" y="9509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is information represented?</a:t>
            </a:r>
          </a:p>
          <a:p>
            <a:pPr algn="l">
              <a:spcAft>
                <a:spcPts val="400"/>
              </a:spcAft>
            </a:pPr>
            <a:r>
              <a:rPr sz="2000" b="0">
                <a:solidFill>
                  <a:srgbClr val="555960"/>
                </a:solidFill>
                <a:latin typeface="Calibri"/>
              </a:rPr>
              <a:t>relations · documents · key-value pairs · graphs</a:t>
            </a:r>
          </a:p>
        </p:txBody>
      </p:sp>
      <p:sp>
        <p:nvSpPr>
          <p:cNvPr id="6" name="Card"/>
          <p:cNvSpPr/>
          <p:nvPr/>
        </p:nvSpPr>
        <p:spPr>
          <a:xfrm>
            <a:off x="411480" y="1828800"/>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18653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Semantics</a:t>
            </a:r>
          </a:p>
        </p:txBody>
      </p:sp>
      <p:sp>
        <p:nvSpPr>
          <p:cNvPr id="8" name="RowBody"/>
          <p:cNvSpPr txBox="1"/>
          <p:nvPr/>
        </p:nvSpPr>
        <p:spPr>
          <a:xfrm>
            <a:off x="2752344" y="1865376"/>
            <a:ext cx="5833872" cy="768096"/>
          </a:xfrm>
          <a:prstGeom prst="rect">
            <a:avLst/>
          </a:prstGeom>
          <a:noFill/>
        </p:spPr>
        <p:txBody>
          <a:bodyPr wrap="square">
            <a:spAutoFit/>
          </a:bodyPr>
          <a:lstStyle/>
          <a:p>
            <a:pPr algn="l">
              <a:spcAft>
                <a:spcPts val="100"/>
              </a:spcAft>
            </a:pPr>
            <a:r>
              <a:rPr sz="2000" b="1">
                <a:solidFill>
                  <a:srgbClr val="5C4826"/>
                </a:solidFill>
                <a:latin typeface="Calibri"/>
              </a:rPr>
              <a:t>What does it promise about the data?</a:t>
            </a:r>
          </a:p>
          <a:p>
            <a:pPr algn="l">
              <a:spcAft>
                <a:spcPts val="400"/>
              </a:spcAft>
            </a:pPr>
            <a:r>
              <a:rPr sz="2000" b="0">
                <a:solidFill>
                  <a:srgbClr val="555960"/>
                </a:solidFill>
                <a:latin typeface="Calibri"/>
              </a:rPr>
              <a:t>schema constraints · durability · consistency</a:t>
            </a:r>
          </a:p>
        </p:txBody>
      </p:sp>
      <p:sp>
        <p:nvSpPr>
          <p:cNvPr id="9" name="Card"/>
          <p:cNvSpPr/>
          <p:nvPr/>
        </p:nvSpPr>
        <p:spPr>
          <a:xfrm>
            <a:off x="411480" y="27432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27797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Query interface</a:t>
            </a:r>
          </a:p>
        </p:txBody>
      </p:sp>
      <p:sp>
        <p:nvSpPr>
          <p:cNvPr id="11" name="RowBody"/>
          <p:cNvSpPr txBox="1"/>
          <p:nvPr/>
        </p:nvSpPr>
        <p:spPr>
          <a:xfrm>
            <a:off x="2752344" y="27797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does the app express its needs?</a:t>
            </a:r>
          </a:p>
          <a:p>
            <a:pPr algn="l">
              <a:spcAft>
                <a:spcPts val="400"/>
              </a:spcAft>
            </a:pPr>
            <a:r>
              <a:rPr sz="2000" b="0">
                <a:solidFill>
                  <a:srgbClr val="555960"/>
                </a:solidFill>
                <a:latin typeface="Calibri"/>
              </a:rPr>
              <a:t>SQL · document queries · ORM</a:t>
            </a:r>
          </a:p>
        </p:txBody>
      </p:sp>
      <p:sp>
        <p:nvSpPr>
          <p:cNvPr id="12" name="Card"/>
          <p:cNvSpPr/>
          <p:nvPr/>
        </p:nvSpPr>
        <p:spPr>
          <a:xfrm>
            <a:off x="411480" y="3657600"/>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wLabel"/>
          <p:cNvSpPr txBox="1"/>
          <p:nvPr/>
        </p:nvSpPr>
        <p:spPr>
          <a:xfrm>
            <a:off x="557784" y="36941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Concurrency</a:t>
            </a:r>
          </a:p>
        </p:txBody>
      </p:sp>
      <p:sp>
        <p:nvSpPr>
          <p:cNvPr id="14" name="RowBody"/>
          <p:cNvSpPr txBox="1"/>
          <p:nvPr/>
        </p:nvSpPr>
        <p:spPr>
          <a:xfrm>
            <a:off x="2752344" y="3694176"/>
            <a:ext cx="5833872" cy="768096"/>
          </a:xfrm>
          <a:prstGeom prst="rect">
            <a:avLst/>
          </a:prstGeom>
          <a:noFill/>
        </p:spPr>
        <p:txBody>
          <a:bodyPr wrap="square">
            <a:spAutoFit/>
          </a:bodyPr>
          <a:lstStyle/>
          <a:p>
            <a:pPr algn="l">
              <a:spcAft>
                <a:spcPts val="100"/>
              </a:spcAft>
            </a:pPr>
            <a:r>
              <a:rPr sz="2000" b="1">
                <a:solidFill>
                  <a:srgbClr val="5C4826"/>
                </a:solidFill>
                <a:latin typeface="Calibri"/>
              </a:rPr>
              <a:t>What happens when operations overlap?</a:t>
            </a:r>
          </a:p>
          <a:p>
            <a:pPr algn="l">
              <a:spcAft>
                <a:spcPts val="400"/>
              </a:spcAft>
            </a:pPr>
            <a:r>
              <a:rPr sz="2000" b="0">
                <a:solidFill>
                  <a:srgbClr val="555960"/>
                </a:solidFill>
                <a:latin typeface="Calibri"/>
              </a:rPr>
              <a:t>transactions · isolation · optimistic control</a:t>
            </a:r>
          </a:p>
        </p:txBody>
      </p:sp>
      <p:sp>
        <p:nvSpPr>
          <p:cNvPr id="15" name="Card"/>
          <p:cNvSpPr/>
          <p:nvPr/>
        </p:nvSpPr>
        <p:spPr>
          <a:xfrm>
            <a:off x="411480" y="45720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wLabel"/>
          <p:cNvSpPr txBox="1"/>
          <p:nvPr/>
        </p:nvSpPr>
        <p:spPr>
          <a:xfrm>
            <a:off x="557784" y="46085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Scalability</a:t>
            </a:r>
          </a:p>
        </p:txBody>
      </p:sp>
      <p:sp>
        <p:nvSpPr>
          <p:cNvPr id="17" name="RowBody"/>
          <p:cNvSpPr txBox="1"/>
          <p:nvPr/>
        </p:nvSpPr>
        <p:spPr>
          <a:xfrm>
            <a:off x="2752344" y="46085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does it behave as demand grows?</a:t>
            </a:r>
          </a:p>
          <a:p>
            <a:pPr algn="l">
              <a:spcAft>
                <a:spcPts val="400"/>
              </a:spcAft>
            </a:pPr>
            <a:r>
              <a:rPr sz="2000" b="0">
                <a:solidFill>
                  <a:srgbClr val="555960"/>
                </a:solidFill>
                <a:latin typeface="Calibri"/>
              </a:rPr>
              <a:t>indexing · replication · partitioning</a:t>
            </a:r>
          </a:p>
        </p:txBody>
      </p:sp>
      <p:sp>
        <p:nvSpPr>
          <p:cNvPr id="18" name="OperationsNote"/>
          <p:cNvSpPr txBox="1"/>
          <p:nvPr/>
        </p:nvSpPr>
        <p:spPr>
          <a:xfrm>
            <a:off x="411480" y="5504688"/>
            <a:ext cx="8321040" cy="347472"/>
          </a:xfrm>
          <a:prstGeom prst="rect">
            <a:avLst/>
          </a:prstGeom>
          <a:noFill/>
        </p:spPr>
        <p:txBody>
          <a:bodyPr wrap="square">
            <a:spAutoFit/>
          </a:bodyPr>
          <a:lstStyle/>
          <a:p>
            <a:pPr algn="l">
              <a:spcAft>
                <a:spcPts val="400"/>
              </a:spcAft>
            </a:pPr>
            <a:r>
              <a:rPr sz="2000" b="0">
                <a:solidFill>
                  <a:srgbClr val="555960"/>
                </a:solidFill>
                <a:latin typeface="Calibri"/>
              </a:rPr>
              <a:t>Sixth, Operations — backup, recovery, migration — deferred to Unit 6</a:t>
            </a:r>
          </a:p>
        </p:txBody>
      </p:sp>
      <p:sp>
        <p:nvSpPr>
          <p:cNvPr id="1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Separate what the app REQUIRES from what the database GUARANTEES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Four ways to represent a reservation</a:t>
            </a:r>
          </a:p>
        </p:txBody>
      </p:sp>
      <p:sp>
        <p:nvSpPr>
          <p:cNvPr id="3" name="Card"/>
          <p:cNvSpPr/>
          <p:nvPr/>
        </p:nvSpPr>
        <p:spPr>
          <a:xfrm>
            <a:off x="411480" y="960120"/>
            <a:ext cx="4069080" cy="2103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1920240"/>
          </a:xfrm>
          <a:prstGeom prst="rect">
            <a:avLst/>
          </a:prstGeom>
          <a:noFill/>
        </p:spPr>
        <p:txBody>
          <a:bodyPr wrap="square">
            <a:spAutoFit/>
          </a:bodyPr>
          <a:lstStyle/>
          <a:p>
            <a:pPr algn="l">
              <a:spcAft>
                <a:spcPts val="400"/>
              </a:spcAft>
            </a:pPr>
            <a:r>
              <a:rPr sz="2000" b="1">
                <a:solidFill>
                  <a:srgbClr val="8E6F3E"/>
                </a:solidFill>
                <a:latin typeface="Calibri"/>
              </a:rPr>
              <a:t>RELATIONAL</a:t>
            </a:r>
          </a:p>
          <a:p>
            <a:pPr algn="l">
              <a:spcAft>
                <a:spcPts val="400"/>
              </a:spcAft>
            </a:pPr>
            <a:r>
              <a:rPr sz="2000" b="0">
                <a:solidFill>
                  <a:srgbClr val="5C4826"/>
                </a:solidFill>
                <a:latin typeface="Calibri"/>
              </a:rPr>
              <a:t>Tables of rows; relationships via keys</a:t>
            </a:r>
          </a:p>
          <a:p>
            <a:pPr algn="l">
              <a:spcAft>
                <a:spcPts val="400"/>
              </a:spcAft>
            </a:pPr>
            <a:r>
              <a:rPr sz="2000" b="0">
                <a:solidFill>
                  <a:srgbClr val="555960"/>
                </a:solidFill>
                <a:latin typeface="Calibri"/>
              </a:rPr>
              <a:t>Easy: joins, cross-row rules · Harder: deep nesting</a:t>
            </a:r>
          </a:p>
        </p:txBody>
      </p:sp>
      <p:sp>
        <p:nvSpPr>
          <p:cNvPr id="5" name="Card"/>
          <p:cNvSpPr/>
          <p:nvPr/>
        </p:nvSpPr>
        <p:spPr>
          <a:xfrm>
            <a:off x="4663440" y="960120"/>
            <a:ext cx="4069080" cy="2103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1920240"/>
          </a:xfrm>
          <a:prstGeom prst="rect">
            <a:avLst/>
          </a:prstGeom>
          <a:noFill/>
        </p:spPr>
        <p:txBody>
          <a:bodyPr wrap="square">
            <a:spAutoFit/>
          </a:bodyPr>
          <a:lstStyle/>
          <a:p>
            <a:pPr algn="l">
              <a:spcAft>
                <a:spcPts val="400"/>
              </a:spcAft>
            </a:pPr>
            <a:r>
              <a:rPr sz="2000" b="1">
                <a:solidFill>
                  <a:srgbClr val="8E6F3E"/>
                </a:solidFill>
                <a:latin typeface="Calibri"/>
              </a:rPr>
              <a:t>DOCUMENT</a:t>
            </a:r>
          </a:p>
          <a:p>
            <a:pPr algn="l">
              <a:spcAft>
                <a:spcPts val="400"/>
              </a:spcAft>
            </a:pPr>
            <a:r>
              <a:rPr sz="2000" b="0">
                <a:solidFill>
                  <a:srgbClr val="5C4826"/>
                </a:solidFill>
                <a:latin typeface="Calibri"/>
              </a:rPr>
              <a:t>A room document embeds its reservations (JSON)</a:t>
            </a:r>
          </a:p>
          <a:p>
            <a:pPr algn="l">
              <a:spcAft>
                <a:spcPts val="400"/>
              </a:spcAft>
            </a:pPr>
            <a:r>
              <a:rPr sz="2000" b="0">
                <a:solidFill>
                  <a:srgbClr val="555960"/>
                </a:solidFill>
                <a:latin typeface="Calibri"/>
              </a:rPr>
              <a:t>Easy: read one unit whole · Harder: cross-document rules</a:t>
            </a:r>
          </a:p>
        </p:txBody>
      </p:sp>
      <p:sp>
        <p:nvSpPr>
          <p:cNvPr id="7" name="Card"/>
          <p:cNvSpPr/>
          <p:nvPr/>
        </p:nvSpPr>
        <p:spPr>
          <a:xfrm>
            <a:off x="411480" y="3246120"/>
            <a:ext cx="4069080" cy="2103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337560"/>
            <a:ext cx="3776472" cy="1920240"/>
          </a:xfrm>
          <a:prstGeom prst="rect">
            <a:avLst/>
          </a:prstGeom>
          <a:noFill/>
        </p:spPr>
        <p:txBody>
          <a:bodyPr wrap="square">
            <a:spAutoFit/>
          </a:bodyPr>
          <a:lstStyle/>
          <a:p>
            <a:pPr algn="l">
              <a:spcAft>
                <a:spcPts val="400"/>
              </a:spcAft>
            </a:pPr>
            <a:r>
              <a:rPr sz="2000" b="1">
                <a:solidFill>
                  <a:srgbClr val="8E6F3E"/>
                </a:solidFill>
                <a:latin typeface="Calibri"/>
              </a:rPr>
              <a:t>KEY-VALUE</a:t>
            </a:r>
          </a:p>
          <a:p>
            <a:pPr algn="l">
              <a:spcAft>
                <a:spcPts val="400"/>
              </a:spcAft>
            </a:pPr>
            <a:r>
              <a:rPr sz="2000" b="0">
                <a:solidFill>
                  <a:srgbClr val="5C4826"/>
                </a:solidFill>
                <a:latin typeface="Calibri"/>
              </a:rPr>
              <a:t>room:117 → an opaque value, fetched by key</a:t>
            </a:r>
          </a:p>
          <a:p>
            <a:pPr algn="l">
              <a:spcAft>
                <a:spcPts val="400"/>
              </a:spcAft>
            </a:pPr>
            <a:r>
              <a:rPr sz="2000" b="0">
                <a:solidFill>
                  <a:srgbClr val="555960"/>
                </a:solidFill>
                <a:latin typeface="Calibri"/>
              </a:rPr>
              <a:t>Easy: speed and scale · Harder: any other question</a:t>
            </a:r>
          </a:p>
        </p:txBody>
      </p:sp>
      <p:sp>
        <p:nvSpPr>
          <p:cNvPr id="9" name="Card"/>
          <p:cNvSpPr/>
          <p:nvPr/>
        </p:nvSpPr>
        <p:spPr>
          <a:xfrm>
            <a:off x="4663440" y="3246120"/>
            <a:ext cx="4069080" cy="2103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CardBody"/>
          <p:cNvSpPr txBox="1"/>
          <p:nvPr/>
        </p:nvSpPr>
        <p:spPr>
          <a:xfrm>
            <a:off x="4809744" y="3337560"/>
            <a:ext cx="3776472" cy="1920240"/>
          </a:xfrm>
          <a:prstGeom prst="rect">
            <a:avLst/>
          </a:prstGeom>
          <a:noFill/>
        </p:spPr>
        <p:txBody>
          <a:bodyPr wrap="square">
            <a:spAutoFit/>
          </a:bodyPr>
          <a:lstStyle/>
          <a:p>
            <a:pPr algn="l">
              <a:spcAft>
                <a:spcPts val="400"/>
              </a:spcAft>
            </a:pPr>
            <a:r>
              <a:rPr sz="2000" b="1">
                <a:solidFill>
                  <a:srgbClr val="8E6F3E"/>
                </a:solidFill>
                <a:latin typeface="Calibri"/>
              </a:rPr>
              <a:t>GRAPH</a:t>
            </a:r>
          </a:p>
          <a:p>
            <a:pPr algn="l">
              <a:spcAft>
                <a:spcPts val="400"/>
              </a:spcAft>
            </a:pPr>
            <a:r>
              <a:rPr sz="2000" b="0">
                <a:solidFill>
                  <a:srgbClr val="5C4826"/>
                </a:solidFill>
                <a:latin typeface="Calibri"/>
              </a:rPr>
              <a:t>Nodes (user, room) and edges (RESERVED)</a:t>
            </a:r>
          </a:p>
          <a:p>
            <a:pPr algn="l">
              <a:spcAft>
                <a:spcPts val="400"/>
              </a:spcAft>
            </a:pPr>
            <a:r>
              <a:rPr sz="2000" b="0">
                <a:solidFill>
                  <a:srgbClr val="555960"/>
                </a:solidFill>
                <a:latin typeface="Calibri"/>
              </a:rPr>
              <a:t>Easy: traversals · Harder: bulk aggregates</a:t>
            </a:r>
          </a:p>
        </p:txBody>
      </p:sp>
      <p:sp>
        <p:nvSpPr>
          <p:cNvPr id="11"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Same facts, four native shapes — the choice changes what is easy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Relational vs NoSQL is a requirements question</a:t>
            </a:r>
          </a:p>
        </p:txBody>
      </p:sp>
      <p:sp>
        <p:nvSpPr>
          <p:cNvPr id="3" name="Card"/>
          <p:cNvSpPr/>
          <p:nvPr/>
        </p:nvSpPr>
        <p:spPr>
          <a:xfrm>
            <a:off x="411480" y="960120"/>
            <a:ext cx="4069080" cy="20574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1874519"/>
          </a:xfrm>
          <a:prstGeom prst="rect">
            <a:avLst/>
          </a:prstGeom>
          <a:noFill/>
        </p:spPr>
        <p:txBody>
          <a:bodyPr wrap="square">
            <a:spAutoFit/>
          </a:bodyPr>
          <a:lstStyle/>
          <a:p>
            <a:pPr algn="l">
              <a:spcAft>
                <a:spcPts val="400"/>
              </a:spcAft>
            </a:pPr>
            <a:r>
              <a:rPr sz="2000" b="1">
                <a:solidFill>
                  <a:srgbClr val="8E6F3E"/>
                </a:solidFill>
                <a:latin typeface="Calibri"/>
              </a:rPr>
              <a:t>OUR SERVICE LEANS RELATIONAL</a:t>
            </a:r>
          </a:p>
          <a:p>
            <a:pPr algn="l">
              <a:spcAft>
                <a:spcPts val="400"/>
              </a:spcAft>
            </a:pPr>
            <a:r>
              <a:rPr sz="2000" b="0">
                <a:solidFill>
                  <a:srgbClr val="5C4826"/>
                </a:solidFill>
                <a:latin typeface="Calibri"/>
              </a:rPr>
              <a:t>Invariant relates rows to rows</a:t>
            </a:r>
          </a:p>
          <a:p>
            <a:pPr algn="l">
              <a:spcAft>
                <a:spcPts val="400"/>
              </a:spcAft>
            </a:pPr>
            <a:r>
              <a:rPr sz="2000" b="0">
                <a:solidFill>
                  <a:srgbClr val="5C4826"/>
                </a:solidFill>
                <a:latin typeface="Calibri"/>
              </a:rPr>
              <a:t>Ad-hoc queries across entities</a:t>
            </a:r>
          </a:p>
          <a:p>
            <a:pPr algn="l">
              <a:spcAft>
                <a:spcPts val="400"/>
              </a:spcAft>
            </a:pPr>
            <a:r>
              <a:rPr sz="2000" b="0">
                <a:solidFill>
                  <a:srgbClr val="5C4826"/>
                </a:solidFill>
                <a:latin typeface="Calibri"/>
              </a:rPr>
              <a:t>One authoritative copy; modest volume</a:t>
            </a:r>
          </a:p>
        </p:txBody>
      </p:sp>
      <p:sp>
        <p:nvSpPr>
          <p:cNvPr id="5" name="Card"/>
          <p:cNvSpPr/>
          <p:nvPr/>
        </p:nvSpPr>
        <p:spPr>
          <a:xfrm>
            <a:off x="4663440" y="960120"/>
            <a:ext cx="4069080" cy="20574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1874519"/>
          </a:xfrm>
          <a:prstGeom prst="rect">
            <a:avLst/>
          </a:prstGeom>
          <a:noFill/>
        </p:spPr>
        <p:txBody>
          <a:bodyPr wrap="square">
            <a:spAutoFit/>
          </a:bodyPr>
          <a:lstStyle/>
          <a:p>
            <a:pPr algn="l">
              <a:spcAft>
                <a:spcPts val="400"/>
              </a:spcAft>
            </a:pPr>
            <a:r>
              <a:rPr sz="2000" b="1">
                <a:solidFill>
                  <a:srgbClr val="8E6F3E"/>
                </a:solidFill>
                <a:latin typeface="Calibri"/>
              </a:rPr>
              <a:t>WHEN OTHER POINTS WIN</a:t>
            </a:r>
          </a:p>
          <a:p>
            <a:pPr algn="l">
              <a:spcAft>
                <a:spcPts val="400"/>
              </a:spcAft>
            </a:pPr>
            <a:r>
              <a:rPr sz="2000" b="0">
                <a:solidFill>
                  <a:srgbClr val="5C4826"/>
                </a:solidFill>
                <a:latin typeface="Calibri"/>
              </a:rPr>
              <a:t>Shape varies per record → document</a:t>
            </a:r>
          </a:p>
          <a:p>
            <a:pPr algn="l">
              <a:spcAft>
                <a:spcPts val="400"/>
              </a:spcAft>
            </a:pPr>
            <a:r>
              <a:rPr sz="2000" b="0">
                <a:solidFill>
                  <a:srgbClr val="5C4826"/>
                </a:solidFill>
                <a:latin typeface="Calibri"/>
              </a:rPr>
              <a:t>Key lookups at huge scale → key-value</a:t>
            </a:r>
          </a:p>
          <a:p>
            <a:pPr algn="l">
              <a:spcAft>
                <a:spcPts val="400"/>
              </a:spcAft>
            </a:pPr>
            <a:r>
              <a:rPr sz="2000" b="0">
                <a:solidFill>
                  <a:srgbClr val="5C4826"/>
                </a:solidFill>
                <a:latin typeface="Calibri"/>
              </a:rPr>
              <a:t>Traversal-heavy questions → graph</a:t>
            </a:r>
          </a:p>
        </p:txBody>
      </p:sp>
      <p:sp>
        <p:nvSpPr>
          <p:cNvPr id="7" name="Card"/>
          <p:cNvSpPr/>
          <p:nvPr/>
        </p:nvSpPr>
        <p:spPr>
          <a:xfrm>
            <a:off x="411480" y="324612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NonClaim"/>
          <p:cNvSpPr txBox="1"/>
          <p:nvPr/>
        </p:nvSpPr>
        <p:spPr>
          <a:xfrm>
            <a:off x="557784" y="3319272"/>
            <a:ext cx="8046720" cy="1280160"/>
          </a:xfrm>
          <a:prstGeom prst="rect">
            <a:avLst/>
          </a:prstGeom>
          <a:noFill/>
        </p:spPr>
        <p:txBody>
          <a:bodyPr wrap="square">
            <a:spAutoFit/>
          </a:bodyPr>
          <a:lstStyle/>
          <a:p>
            <a:pPr algn="l">
              <a:spcAft>
                <a:spcPts val="400"/>
              </a:spcAft>
            </a:pPr>
            <a:r>
              <a:rPr sz="2000" b="1">
                <a:solidFill>
                  <a:srgbClr val="C01B1B"/>
                </a:solidFill>
                <a:latin typeface="Calibri"/>
              </a:rPr>
              <a:t>✗  “SQL = consistent but slow; NoSQL = scalable but inconsistent”</a:t>
            </a:r>
          </a:p>
          <a:p>
            <a:pPr algn="l">
              <a:spcAft>
                <a:spcPts val="400"/>
              </a:spcAft>
            </a:pPr>
            <a:r>
              <a:rPr sz="2000" b="0">
                <a:solidFill>
                  <a:srgbClr val="555960"/>
                </a:solidFill>
                <a:latin typeface="Calibri"/>
              </a:rPr>
              <a:t>Some NoSQL systems offer strong consistency and transactions; some relational systems are distributed and horizontally scalable.</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Points in one design space — not rival camps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Semantics matter more than labels</a:t>
            </a:r>
          </a:p>
        </p:txBody>
      </p:sp>
      <p:sp>
        <p:nvSpPr>
          <p:cNvPr id="3" name="Label"/>
          <p:cNvSpPr txBox="1"/>
          <p:nvPr/>
        </p:nvSpPr>
        <p:spPr>
          <a:xfrm>
            <a:off x="411480" y="868680"/>
            <a:ext cx="8321040" cy="411480"/>
          </a:xfrm>
          <a:prstGeom prst="rect">
            <a:avLst/>
          </a:prstGeom>
          <a:noFill/>
        </p:spPr>
        <p:txBody>
          <a:bodyPr wrap="square">
            <a:spAutoFit/>
          </a:bodyPr>
          <a:lstStyle/>
          <a:p>
            <a:pPr algn="l">
              <a:spcAft>
                <a:spcPts val="400"/>
              </a:spcAft>
            </a:pPr>
            <a:r>
              <a:rPr sz="2100" b="1">
                <a:solidFill>
                  <a:srgbClr val="5C4826"/>
                </a:solidFill>
                <a:latin typeface="Calibri"/>
              </a:rPr>
              <a:t>Four questions to put to any candidate system</a:t>
            </a:r>
          </a:p>
        </p:txBody>
      </p:sp>
      <p:sp>
        <p:nvSpPr>
          <p:cNvPr id="4" name="Card"/>
          <p:cNvSpPr/>
          <p:nvPr/>
        </p:nvSpPr>
        <p:spPr>
          <a:xfrm>
            <a:off x="411480" y="1417320"/>
            <a:ext cx="8321040" cy="89611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owBody"/>
          <p:cNvSpPr txBox="1"/>
          <p:nvPr/>
        </p:nvSpPr>
        <p:spPr>
          <a:xfrm>
            <a:off x="557784" y="1472184"/>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two clients observe different values at the same time?</a:t>
            </a:r>
          </a:p>
          <a:p>
            <a:pPr algn="l">
              <a:spcAft>
                <a:spcPts val="400"/>
              </a:spcAft>
            </a:pPr>
            <a:r>
              <a:rPr sz="2000" b="0">
                <a:solidFill>
                  <a:srgbClr val="8E6F3E"/>
                </a:solidFill>
                <a:latin typeface="Calibri"/>
              </a:rPr>
              <a:t>consistency</a:t>
            </a:r>
          </a:p>
        </p:txBody>
      </p:sp>
      <p:sp>
        <p:nvSpPr>
          <p:cNvPr id="6" name="Card"/>
          <p:cNvSpPr/>
          <p:nvPr/>
        </p:nvSpPr>
        <p:spPr>
          <a:xfrm>
            <a:off x="411480" y="2450591"/>
            <a:ext cx="8321040" cy="89611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Body"/>
          <p:cNvSpPr txBox="1"/>
          <p:nvPr/>
        </p:nvSpPr>
        <p:spPr>
          <a:xfrm>
            <a:off x="557784" y="2505456"/>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a write the system acknowledged ever be lost?</a:t>
            </a:r>
          </a:p>
          <a:p>
            <a:pPr algn="l">
              <a:spcAft>
                <a:spcPts val="400"/>
              </a:spcAft>
            </a:pPr>
            <a:r>
              <a:rPr sz="2000" b="0">
                <a:solidFill>
                  <a:srgbClr val="8E6F3E"/>
                </a:solidFill>
                <a:latin typeface="Calibri"/>
              </a:rPr>
              <a:t>durability</a:t>
            </a:r>
          </a:p>
        </p:txBody>
      </p:sp>
      <p:sp>
        <p:nvSpPr>
          <p:cNvPr id="8" name="Card"/>
          <p:cNvSpPr/>
          <p:nvPr/>
        </p:nvSpPr>
        <p:spPr>
          <a:xfrm>
            <a:off x="411480" y="3483863"/>
            <a:ext cx="8321040" cy="89611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wBody"/>
          <p:cNvSpPr txBox="1"/>
          <p:nvPr/>
        </p:nvSpPr>
        <p:spPr>
          <a:xfrm>
            <a:off x="557784" y="3538727"/>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two transactions both confirm overlapping reservations?</a:t>
            </a:r>
          </a:p>
          <a:p>
            <a:pPr algn="l">
              <a:spcAft>
                <a:spcPts val="400"/>
              </a:spcAft>
            </a:pPr>
            <a:r>
              <a:rPr sz="2000" b="0">
                <a:solidFill>
                  <a:srgbClr val="8E6F3E"/>
                </a:solidFill>
                <a:latin typeface="Calibri"/>
              </a:rPr>
              <a:t>isolation</a:t>
            </a:r>
          </a:p>
        </p:txBody>
      </p:sp>
      <p:sp>
        <p:nvSpPr>
          <p:cNvPr id="10" name="Card"/>
          <p:cNvSpPr/>
          <p:nvPr/>
        </p:nvSpPr>
        <p:spPr>
          <a:xfrm>
            <a:off x="411480" y="4517136"/>
            <a:ext cx="8321040" cy="89611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wBody"/>
          <p:cNvSpPr txBox="1"/>
          <p:nvPr/>
        </p:nvSpPr>
        <p:spPr>
          <a:xfrm>
            <a:off x="557784" y="4571999"/>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the database itself enforce our no-overlap invariant?</a:t>
            </a:r>
          </a:p>
          <a:p>
            <a:pPr algn="l">
              <a:spcAft>
                <a:spcPts val="400"/>
              </a:spcAft>
            </a:pPr>
            <a:r>
              <a:rPr sz="2000" b="0">
                <a:solidFill>
                  <a:srgbClr val="8E6F3E"/>
                </a:solidFill>
                <a:latin typeface="Calibri"/>
              </a:rPr>
              <a:t>where the invariant lives</a:t>
            </a:r>
          </a:p>
        </p:txBody>
      </p:sp>
      <p:sp>
        <p:nvSpPr>
          <p:cNvPr id="12"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Interrogate guarantees, not product labels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Exercise: place each system in the design space</a:t>
            </a:r>
          </a:p>
        </p:txBody>
      </p:sp>
      <p:sp>
        <p:nvSpPr>
          <p:cNvPr id="3" name="Card"/>
          <p:cNvSpPr/>
          <p:nvPr/>
        </p:nvSpPr>
        <p:spPr>
          <a:xfrm>
            <a:off x="411480" y="960120"/>
            <a:ext cx="4069080" cy="42062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4023360"/>
          </a:xfrm>
          <a:prstGeom prst="rect">
            <a:avLst/>
          </a:prstGeom>
          <a:noFill/>
        </p:spPr>
        <p:txBody>
          <a:bodyPr wrap="square">
            <a:spAutoFit/>
          </a:bodyPr>
          <a:lstStyle/>
          <a:p>
            <a:pPr algn="l">
              <a:spcAft>
                <a:spcPts val="600"/>
              </a:spcAft>
            </a:pPr>
            <a:r>
              <a:rPr sz="2000" b="1">
                <a:solidFill>
                  <a:srgbClr val="8E6F3E"/>
                </a:solidFill>
                <a:latin typeface="Calibri"/>
              </a:rPr>
              <a:t>A — ROOM RESERVATIONS</a:t>
            </a:r>
          </a:p>
          <a:p>
            <a:pPr algn="l">
              <a:spcAft>
                <a:spcPts val="400"/>
              </a:spcAft>
            </a:pPr>
            <a:r>
              <a:rPr sz="2000" b="0">
                <a:solidFill>
                  <a:srgbClr val="5C4826"/>
                </a:solidFill>
                <a:latin typeface="Calibri"/>
              </a:rPr>
              <a:t>Invariant between rows</a:t>
            </a:r>
          </a:p>
          <a:p>
            <a:pPr algn="l">
              <a:spcAft>
                <a:spcPts val="400"/>
              </a:spcAft>
            </a:pPr>
            <a:r>
              <a:rPr sz="2000" b="0">
                <a:solidFill>
                  <a:srgbClr val="5C4826"/>
                </a:solidFill>
                <a:latin typeface="Calibri"/>
              </a:rPr>
              <a:t>Modest write volume</a:t>
            </a:r>
          </a:p>
          <a:p>
            <a:pPr algn="l">
              <a:spcAft>
                <a:spcPts val="400"/>
              </a:spcAft>
            </a:pPr>
            <a:r>
              <a:rPr sz="2000" b="0">
                <a:solidFill>
                  <a:srgbClr val="5C4826"/>
                </a:solidFill>
                <a:latin typeface="Calibri"/>
              </a:rPr>
              <a:t>Ad-hoc queries across entities</a:t>
            </a:r>
          </a:p>
          <a:p>
            <a:pPr algn="l">
              <a:spcAft>
                <a:spcPts val="400"/>
              </a:spcAft>
            </a:pPr>
            <a:r>
              <a:rPr sz="2000" b="0">
                <a:solidFill>
                  <a:srgbClr val="5C4826"/>
                </a:solidFill>
                <a:latin typeface="Calibri"/>
              </a:rPr>
              <a:t>One authoritative copy</a:t>
            </a:r>
          </a:p>
          <a:p>
            <a:pPr algn="l">
              <a:spcAft>
                <a:spcPts val="400"/>
              </a:spcAft>
            </a:pPr>
            <a:r>
              <a:rPr sz="2000" b="0">
                <a:solidFill>
                  <a:srgbClr val="5C4826"/>
                </a:solidFill>
                <a:latin typeface="Calibri"/>
              </a:rPr>
              <a:t>A lost booking = an angry human</a:t>
            </a:r>
          </a:p>
        </p:txBody>
      </p:sp>
      <p:sp>
        <p:nvSpPr>
          <p:cNvPr id="5" name="Card"/>
          <p:cNvSpPr/>
          <p:nvPr/>
        </p:nvSpPr>
        <p:spPr>
          <a:xfrm>
            <a:off x="4663440" y="960120"/>
            <a:ext cx="4069080" cy="42062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4023360"/>
          </a:xfrm>
          <a:prstGeom prst="rect">
            <a:avLst/>
          </a:prstGeom>
          <a:noFill/>
        </p:spPr>
        <p:txBody>
          <a:bodyPr wrap="square">
            <a:spAutoFit/>
          </a:bodyPr>
          <a:lstStyle/>
          <a:p>
            <a:pPr algn="l">
              <a:spcAft>
                <a:spcPts val="600"/>
              </a:spcAft>
            </a:pPr>
            <a:r>
              <a:rPr sz="2000" b="1">
                <a:solidFill>
                  <a:srgbClr val="8E6F3E"/>
                </a:solidFill>
                <a:latin typeface="Calibri"/>
              </a:rPr>
              <a:t>B — DOOR-SENSOR TELEMETRY</a:t>
            </a:r>
          </a:p>
          <a:p>
            <a:pPr algn="l">
              <a:spcAft>
                <a:spcPts val="400"/>
              </a:spcAft>
            </a:pPr>
            <a:r>
              <a:rPr sz="2000" b="0">
                <a:solidFill>
                  <a:srgbClr val="5C4826"/>
                </a:solidFill>
                <a:latin typeface="Calibri"/>
              </a:rPr>
              <a:t>Append-only events</a:t>
            </a:r>
          </a:p>
          <a:p>
            <a:pPr algn="l">
              <a:spcAft>
                <a:spcPts val="400"/>
              </a:spcAft>
            </a:pPr>
            <a:r>
              <a:rPr sz="2000" b="0">
                <a:solidFill>
                  <a:srgbClr val="5C4826"/>
                </a:solidFill>
                <a:latin typeface="Calibri"/>
              </a:rPr>
              <a:t>Enormous write rate</a:t>
            </a:r>
          </a:p>
          <a:p>
            <a:pPr algn="l">
              <a:spcAft>
                <a:spcPts val="400"/>
              </a:spcAft>
            </a:pPr>
            <a:r>
              <a:rPr sz="2000" b="0">
                <a:solidFill>
                  <a:srgbClr val="5C4826"/>
                </a:solidFill>
                <a:latin typeface="Calibri"/>
              </a:rPr>
              <a:t>Access by device id + time</a:t>
            </a:r>
          </a:p>
          <a:p>
            <a:pPr algn="l">
              <a:spcAft>
                <a:spcPts val="400"/>
              </a:spcAft>
            </a:pPr>
            <a:r>
              <a:rPr sz="2000" b="0">
                <a:solidFill>
                  <a:srgbClr val="5C4826"/>
                </a:solidFill>
                <a:latin typeface="Calibri"/>
              </a:rPr>
              <a:t>Seconds of lag is fine</a:t>
            </a:r>
          </a:p>
          <a:p>
            <a:pPr algn="l">
              <a:spcAft>
                <a:spcPts val="400"/>
              </a:spcAft>
            </a:pPr>
            <a:r>
              <a:rPr sz="2000" b="0">
                <a:solidFill>
                  <a:srgbClr val="5C4826"/>
                </a:solidFill>
                <a:latin typeface="Calibri"/>
              </a:rPr>
              <a:t>One lost event is tolerable</a:t>
            </a:r>
          </a:p>
        </p:txBody>
      </p:sp>
      <p:sp>
        <p:nvSpPr>
          <p:cNvPr id="7"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Different requirements select different points in the space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Modeling the domain: entities and relationships</a:t>
            </a:r>
          </a:p>
        </p:txBody>
      </p:sp>
      <p:sp>
        <p:nvSpPr>
          <p:cNvPr id="3" name="Block"/>
          <p:cNvSpPr/>
          <p:nvPr/>
        </p:nvSpPr>
        <p:spPr>
          <a:xfrm>
            <a:off x="640080" y="1417320"/>
            <a:ext cx="182880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USER</a:t>
            </a:r>
          </a:p>
        </p:txBody>
      </p:sp>
      <p:sp>
        <p:nvSpPr>
          <p:cNvPr id="4" name="Block"/>
          <p:cNvSpPr/>
          <p:nvPr/>
        </p:nvSpPr>
        <p:spPr>
          <a:xfrm>
            <a:off x="3611880" y="1417320"/>
            <a:ext cx="210312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RESERVATION</a:t>
            </a:r>
          </a:p>
        </p:txBody>
      </p:sp>
      <p:sp>
        <p:nvSpPr>
          <p:cNvPr id="5" name="Block"/>
          <p:cNvSpPr/>
          <p:nvPr/>
        </p:nvSpPr>
        <p:spPr>
          <a:xfrm>
            <a:off x="6675120" y="1417320"/>
            <a:ext cx="182880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ROOM</a:t>
            </a:r>
          </a:p>
        </p:txBody>
      </p:sp>
      <p:sp>
        <p:nvSpPr>
          <p:cNvPr id="6" name="RelLabel"/>
          <p:cNvSpPr txBox="1"/>
          <p:nvPr/>
        </p:nvSpPr>
        <p:spPr>
          <a:xfrm>
            <a:off x="2468880" y="960120"/>
            <a:ext cx="1143000" cy="365760"/>
          </a:xfrm>
          <a:prstGeom prst="rect">
            <a:avLst/>
          </a:prstGeom>
          <a:noFill/>
        </p:spPr>
        <p:txBody>
          <a:bodyPr wrap="square">
            <a:spAutoFit/>
          </a:bodyPr>
          <a:lstStyle/>
          <a:p>
            <a:pPr algn="ctr">
              <a:spcAft>
                <a:spcPts val="400"/>
              </a:spcAft>
            </a:pPr>
            <a:r>
              <a:rPr sz="2000" b="1">
                <a:solidFill>
                  <a:srgbClr val="555960"/>
                </a:solidFill>
                <a:latin typeface="Calibri"/>
              </a:rPr>
              <a:t>1 : N</a:t>
            </a:r>
          </a:p>
        </p:txBody>
      </p:sp>
      <p:sp>
        <p:nvSpPr>
          <p:cNvPr id="7" name="RelLabel"/>
          <p:cNvSpPr txBox="1"/>
          <p:nvPr/>
        </p:nvSpPr>
        <p:spPr>
          <a:xfrm>
            <a:off x="5715000" y="960120"/>
            <a:ext cx="960120" cy="365760"/>
          </a:xfrm>
          <a:prstGeom prst="rect">
            <a:avLst/>
          </a:prstGeom>
          <a:noFill/>
        </p:spPr>
        <p:txBody>
          <a:bodyPr wrap="square">
            <a:spAutoFit/>
          </a:bodyPr>
          <a:lstStyle/>
          <a:p>
            <a:pPr algn="ctr">
              <a:spcAft>
                <a:spcPts val="400"/>
              </a:spcAft>
            </a:pPr>
            <a:r>
              <a:rPr sz="2000" b="1">
                <a:solidFill>
                  <a:srgbClr val="555960"/>
                </a:solidFill>
                <a:latin typeface="Calibri"/>
              </a:rPr>
              <a:t>N : 1</a:t>
            </a:r>
          </a:p>
        </p:txBody>
      </p:sp>
      <p:cxnSp>
        <p:nvCxnSpPr>
          <p:cNvPr id="8" name="RelLine"/>
          <p:cNvCxnSpPr/>
          <p:nvPr/>
        </p:nvCxnSpPr>
        <p:spPr>
          <a:xfrm>
            <a:off x="2468880" y="1760220"/>
            <a:ext cx="1143000" cy="0"/>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 name="RelLine"/>
          <p:cNvCxnSpPr/>
          <p:nvPr/>
        </p:nvCxnSpPr>
        <p:spPr>
          <a:xfrm>
            <a:off x="5715000" y="1760220"/>
            <a:ext cx="960120" cy="0"/>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sp>
        <p:nvSpPr>
          <p:cNvPr id="10" name="Card"/>
          <p:cNvSpPr/>
          <p:nvPr/>
        </p:nvSpPr>
        <p:spPr>
          <a:xfrm>
            <a:off x="411480" y="2377440"/>
            <a:ext cx="237744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AttrList"/>
          <p:cNvSpPr txBox="1"/>
          <p:nvPr/>
        </p:nvSpPr>
        <p:spPr>
          <a:xfrm>
            <a:off x="557784" y="2450592"/>
            <a:ext cx="2084831" cy="1316736"/>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name</a:t>
            </a:r>
          </a:p>
          <a:p>
            <a:pPr algn="l">
              <a:spcAft>
                <a:spcPts val="400"/>
              </a:spcAft>
            </a:pPr>
            <a:r>
              <a:rPr sz="2000" b="0">
                <a:solidFill>
                  <a:srgbClr val="555960"/>
                </a:solidFill>
                <a:latin typeface="Calibri"/>
              </a:rPr>
              <a:t>email</a:t>
            </a:r>
          </a:p>
        </p:txBody>
      </p:sp>
      <p:sp>
        <p:nvSpPr>
          <p:cNvPr id="12" name="Card"/>
          <p:cNvSpPr/>
          <p:nvPr/>
        </p:nvSpPr>
        <p:spPr>
          <a:xfrm>
            <a:off x="3383280" y="2377440"/>
            <a:ext cx="2651760" cy="21488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ttrList"/>
          <p:cNvSpPr txBox="1"/>
          <p:nvPr/>
        </p:nvSpPr>
        <p:spPr>
          <a:xfrm>
            <a:off x="3529584" y="2450592"/>
            <a:ext cx="2359152" cy="2011680"/>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room_id</a:t>
            </a:r>
          </a:p>
          <a:p>
            <a:pPr algn="l">
              <a:spcAft>
                <a:spcPts val="400"/>
              </a:spcAft>
            </a:pPr>
            <a:r>
              <a:rPr sz="2000" b="0">
                <a:solidFill>
                  <a:srgbClr val="555960"/>
                </a:solidFill>
                <a:latin typeface="Calibri"/>
              </a:rPr>
              <a:t>user_id</a:t>
            </a:r>
          </a:p>
          <a:p>
            <a:pPr algn="l">
              <a:spcAft>
                <a:spcPts val="400"/>
              </a:spcAft>
            </a:pPr>
            <a:r>
              <a:rPr sz="2000" b="1">
                <a:solidFill>
                  <a:srgbClr val="5C4826"/>
                </a:solidFill>
                <a:latin typeface="Calibri"/>
              </a:rPr>
              <a:t>starts_at</a:t>
            </a:r>
          </a:p>
          <a:p>
            <a:pPr algn="l">
              <a:spcAft>
                <a:spcPts val="400"/>
              </a:spcAft>
            </a:pPr>
            <a:r>
              <a:rPr sz="2000" b="1">
                <a:solidFill>
                  <a:srgbClr val="5C4826"/>
                </a:solidFill>
                <a:latin typeface="Calibri"/>
              </a:rPr>
              <a:t>ends_at</a:t>
            </a:r>
          </a:p>
          <a:p>
            <a:pPr algn="l">
              <a:spcAft>
                <a:spcPts val="400"/>
              </a:spcAft>
            </a:pPr>
            <a:r>
              <a:rPr sz="2000" b="1">
                <a:solidFill>
                  <a:srgbClr val="5C4826"/>
                </a:solidFill>
                <a:latin typeface="Calibri"/>
              </a:rPr>
              <a:t>status</a:t>
            </a:r>
          </a:p>
        </p:txBody>
      </p:sp>
      <p:sp>
        <p:nvSpPr>
          <p:cNvPr id="14" name="Card"/>
          <p:cNvSpPr/>
          <p:nvPr/>
        </p:nvSpPr>
        <p:spPr>
          <a:xfrm>
            <a:off x="6446520" y="2377440"/>
            <a:ext cx="228600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AttrList"/>
          <p:cNvSpPr txBox="1"/>
          <p:nvPr/>
        </p:nvSpPr>
        <p:spPr>
          <a:xfrm>
            <a:off x="6592824" y="2450592"/>
            <a:ext cx="1993392" cy="1316736"/>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name</a:t>
            </a:r>
          </a:p>
          <a:p>
            <a:pPr algn="l">
              <a:spcAft>
                <a:spcPts val="400"/>
              </a:spcAft>
            </a:pPr>
            <a:r>
              <a:rPr sz="2000" b="0">
                <a:solidFill>
                  <a:srgbClr val="555960"/>
                </a:solidFill>
                <a:latin typeface="Calibri"/>
              </a:rPr>
              <a:t>capacity</a:t>
            </a:r>
          </a:p>
        </p:txBody>
      </p:sp>
      <p:sp>
        <p:nvSpPr>
          <p:cNvPr id="16" name="Card"/>
          <p:cNvSpPr/>
          <p:nvPr/>
        </p:nvSpPr>
        <p:spPr>
          <a:xfrm>
            <a:off x="411480" y="4754880"/>
            <a:ext cx="8321040" cy="960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Invariant"/>
          <p:cNvSpPr txBox="1"/>
          <p:nvPr/>
        </p:nvSpPr>
        <p:spPr>
          <a:xfrm>
            <a:off x="557784" y="4809744"/>
            <a:ext cx="8046720" cy="859536"/>
          </a:xfrm>
          <a:prstGeom prst="rect">
            <a:avLst/>
          </a:prstGeom>
          <a:noFill/>
        </p:spPr>
        <p:txBody>
          <a:bodyPr wrap="square">
            <a:spAutoFit/>
          </a:bodyPr>
          <a:lstStyle/>
          <a:p>
            <a:pPr algn="l">
              <a:spcAft>
                <a:spcPts val="200"/>
              </a:spcAft>
            </a:pPr>
            <a:r>
              <a:rPr sz="2000" b="1">
                <a:solidFill>
                  <a:srgbClr val="5C4826"/>
                </a:solidFill>
                <a:latin typeface="Calibri"/>
              </a:rPr>
              <a:t>INVARIANT — a room must not have overlapping CONFIRMED reservations</a:t>
            </a:r>
          </a:p>
          <a:p>
            <a:pPr algn="l">
              <a:spcAft>
                <a:spcPts val="400"/>
              </a:spcAft>
            </a:pPr>
            <a:r>
              <a:rPr sz="2000" b="0">
                <a:solidFill>
                  <a:srgbClr val="555960"/>
                </a:solidFill>
                <a:latin typeface="Calibri"/>
              </a:rPr>
              <a:t>The model supplies its vocabulary: room_id, starts_at, ends_at, status</a:t>
            </a:r>
          </a:p>
        </p:txBody>
      </p:sp>
      <p:sp>
        <p:nvSpPr>
          <p:cNvPr id="18"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The ER model chooses what the system can talk about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schema turns the model into enforced obligations</a:t>
            </a:r>
          </a:p>
        </p:txBody>
      </p:sp>
      <p:sp>
        <p:nvSpPr>
          <p:cNvPr id="3" name="Card"/>
          <p:cNvSpPr/>
          <p:nvPr/>
        </p:nvSpPr>
        <p:spPr>
          <a:xfrm>
            <a:off x="411480" y="960120"/>
            <a:ext cx="5577840" cy="30175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5303520" cy="2834640"/>
          </a:xfrm>
          <a:prstGeom prst="rect">
            <a:avLst/>
          </a:prstGeom>
          <a:noFill/>
        </p:spPr>
        <p:txBody>
          <a:bodyPr wrap="square">
            <a:spAutoFit/>
          </a:bodyPr>
          <a:lstStyle/>
          <a:p>
            <a:pPr algn="l">
              <a:spcAft>
                <a:spcPts val="100"/>
              </a:spcAft>
            </a:pPr>
            <a:r>
              <a:rPr sz="2000" b="0">
                <a:solidFill>
                  <a:srgbClr val="2D2D2D"/>
                </a:solidFill>
                <a:latin typeface="Consolas"/>
              </a:rPr>
              <a:t>CREATE TABLE reservations (</a:t>
            </a:r>
          </a:p>
          <a:p>
            <a:pPr algn="l">
              <a:spcAft>
                <a:spcPts val="100"/>
              </a:spcAft>
            </a:pPr>
            <a:r>
              <a:rPr sz="2000" b="0">
                <a:solidFill>
                  <a:srgbClr val="2D2D2D"/>
                </a:solidFill>
                <a:latin typeface="Consolas"/>
              </a:rPr>
              <a:t>  room_id    INT REFERENCES rooms(id),</a:t>
            </a:r>
          </a:p>
          <a:p>
            <a:pPr algn="l">
              <a:spcAft>
                <a:spcPts val="100"/>
              </a:spcAft>
            </a:pPr>
            <a:r>
              <a:rPr sz="2000" b="0">
                <a:solidFill>
                  <a:srgbClr val="2D2D2D"/>
                </a:solidFill>
                <a:latin typeface="Consolas"/>
              </a:rPr>
              <a:t>  user_id    INT REFERENCES users(id),</a:t>
            </a:r>
          </a:p>
          <a:p>
            <a:pPr algn="l">
              <a:spcAft>
                <a:spcPts val="100"/>
              </a:spcAft>
            </a:pPr>
            <a:r>
              <a:rPr sz="2000" b="0">
                <a:solidFill>
                  <a:srgbClr val="2D2D2D"/>
                </a:solidFill>
                <a:latin typeface="Consolas"/>
              </a:rPr>
              <a:t>  starts_at  TIMESTAMP NOT NULL,</a:t>
            </a:r>
          </a:p>
          <a:p>
            <a:pPr algn="l">
              <a:spcAft>
                <a:spcPts val="100"/>
              </a:spcAft>
            </a:pPr>
            <a:r>
              <a:rPr sz="2000" b="0">
                <a:solidFill>
                  <a:srgbClr val="2D2D2D"/>
                </a:solidFill>
                <a:latin typeface="Consolas"/>
              </a:rPr>
              <a:t>  ends_at    TIMESTAMP NOT NULL,</a:t>
            </a:r>
          </a:p>
          <a:p>
            <a:pPr algn="l">
              <a:spcAft>
                <a:spcPts val="100"/>
              </a:spcAft>
            </a:pPr>
            <a:r>
              <a:rPr sz="2000" b="0">
                <a:solidFill>
                  <a:srgbClr val="2D2D2D"/>
                </a:solidFill>
                <a:latin typeface="Consolas"/>
              </a:rPr>
              <a:t>  status     TEXT NOT NULL,</a:t>
            </a:r>
          </a:p>
          <a:p>
            <a:pPr algn="l">
              <a:spcAft>
                <a:spcPts val="100"/>
              </a:spcAft>
            </a:pPr>
            <a:r>
              <a:rPr sz="2000" b="0">
                <a:solidFill>
                  <a:srgbClr val="2D2D2D"/>
                </a:solidFill>
                <a:latin typeface="Consolas"/>
              </a:rPr>
              <a:t>  CHECK (starts_at &lt; ends_at)</a:t>
            </a:r>
          </a:p>
          <a:p>
            <a:pPr algn="l">
              <a:spcAft>
                <a:spcPts val="100"/>
              </a:spcAft>
            </a:pPr>
            <a:r>
              <a:rPr sz="2000" b="0">
                <a:solidFill>
                  <a:srgbClr val="2D2D2D"/>
                </a:solidFill>
                <a:latin typeface="Consolas"/>
              </a:rPr>
              <a:t>);</a:t>
            </a:r>
          </a:p>
        </p:txBody>
      </p:sp>
      <p:sp>
        <p:nvSpPr>
          <p:cNvPr id="5" name="Card"/>
          <p:cNvSpPr/>
          <p:nvPr/>
        </p:nvSpPr>
        <p:spPr>
          <a:xfrm>
            <a:off x="6172200" y="960120"/>
            <a:ext cx="2560320" cy="30175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Annotations"/>
          <p:cNvSpPr txBox="1"/>
          <p:nvPr/>
        </p:nvSpPr>
        <p:spPr>
          <a:xfrm>
            <a:off x="6318504" y="1051560"/>
            <a:ext cx="2267712" cy="2834640"/>
          </a:xfrm>
          <a:prstGeom prst="rect">
            <a:avLst/>
          </a:prstGeom>
          <a:noFill/>
        </p:spPr>
        <p:txBody>
          <a:bodyPr wrap="square">
            <a:spAutoFit/>
          </a:bodyPr>
          <a:lstStyle/>
          <a:p>
            <a:pPr algn="l">
              <a:spcAft>
                <a:spcPts val="600"/>
              </a:spcAft>
            </a:pPr>
            <a:r>
              <a:rPr sz="2000" b="1">
                <a:solidFill>
                  <a:srgbClr val="8E6F3E"/>
                </a:solidFill>
                <a:latin typeface="Calibri"/>
              </a:rPr>
              <a:t>REFERENCES</a:t>
            </a:r>
            <a:r>
              <a:rPr sz="2000" b="0">
                <a:solidFill>
                  <a:srgbClr val="555960"/>
                </a:solidFill>
                <a:latin typeface="Calibri"/>
              </a:rPr>
              <a:t> — that row must exist</a:t>
            </a:r>
          </a:p>
          <a:p>
            <a:pPr algn="l">
              <a:spcAft>
                <a:spcPts val="600"/>
              </a:spcAft>
            </a:pPr>
            <a:r>
              <a:rPr sz="2000" b="1">
                <a:solidFill>
                  <a:srgbClr val="8E6F3E"/>
                </a:solidFill>
                <a:latin typeface="Calibri"/>
              </a:rPr>
              <a:t>NOT NULL</a:t>
            </a:r>
            <a:r>
              <a:rPr sz="2000" b="0">
                <a:solidFill>
                  <a:srgbClr val="555960"/>
                </a:solidFill>
                <a:latin typeface="Calibri"/>
              </a:rPr>
              <a:t> — the fact must be present</a:t>
            </a:r>
          </a:p>
          <a:p>
            <a:pPr algn="l">
              <a:spcAft>
                <a:spcPts val="400"/>
              </a:spcAft>
            </a:pPr>
            <a:r>
              <a:rPr sz="2000" b="1">
                <a:solidFill>
                  <a:srgbClr val="8E6F3E"/>
                </a:solidFill>
                <a:latin typeface="Calibri"/>
              </a:rPr>
              <a:t>CHECK</a:t>
            </a:r>
            <a:r>
              <a:rPr sz="2000" b="0">
                <a:solidFill>
                  <a:srgbClr val="555960"/>
                </a:solidFill>
                <a:latin typeface="Calibri"/>
              </a:rPr>
              <a:t> — true within one row</a:t>
            </a:r>
          </a:p>
        </p:txBody>
      </p:sp>
      <p:sp>
        <p:nvSpPr>
          <p:cNvPr id="7" name="Card"/>
          <p:cNvSpPr/>
          <p:nvPr/>
        </p:nvSpPr>
        <p:spPr>
          <a:xfrm>
            <a:off x="411480" y="416052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NonClaim"/>
          <p:cNvSpPr txBox="1"/>
          <p:nvPr/>
        </p:nvSpPr>
        <p:spPr>
          <a:xfrm>
            <a:off x="557784" y="4233672"/>
            <a:ext cx="8046720" cy="1280160"/>
          </a:xfrm>
          <a:prstGeom prst="rect">
            <a:avLst/>
          </a:prstGeom>
          <a:noFill/>
        </p:spPr>
        <p:txBody>
          <a:bodyPr wrap="square">
            <a:spAutoFit/>
          </a:bodyPr>
          <a:lstStyle/>
          <a:p>
            <a:pPr algn="l">
              <a:spcAft>
                <a:spcPts val="300"/>
              </a:spcAft>
            </a:pPr>
            <a:r>
              <a:rPr sz="2000" b="1">
                <a:solidFill>
                  <a:srgbClr val="C01B1B"/>
                </a:solidFill>
                <a:latin typeface="Calibri"/>
              </a:rPr>
              <a:t>Nothing here prevents two CONFIRMED reservations from overlapping</a:t>
            </a:r>
          </a:p>
          <a:p>
            <a:pPr algn="l">
              <a:spcAft>
                <a:spcPts val="400"/>
              </a:spcAft>
            </a:pPr>
            <a:r>
              <a:rPr sz="2000" b="0">
                <a:solidFill>
                  <a:srgbClr val="555960"/>
                </a:solidFill>
                <a:latin typeface="Calibri"/>
              </a:rPr>
              <a:t>Each declared constraint governs one row — overlap is a relation BETWEEN rows.</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schema is enforced obligations — but only those you can state in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Normalization vs denormalization is a genuine tradeoff</a:t>
            </a:r>
          </a:p>
        </p:txBody>
      </p:sp>
      <p:sp>
        <p:nvSpPr>
          <p:cNvPr id="3" name="Card"/>
          <p:cNvSpPr/>
          <p:nvPr/>
        </p:nvSpPr>
        <p:spPr>
          <a:xfrm>
            <a:off x="411480" y="960120"/>
            <a:ext cx="4069080" cy="23774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194560"/>
          </a:xfrm>
          <a:prstGeom prst="rect">
            <a:avLst/>
          </a:prstGeom>
          <a:noFill/>
        </p:spPr>
        <p:txBody>
          <a:bodyPr wrap="square">
            <a:spAutoFit/>
          </a:bodyPr>
          <a:lstStyle/>
          <a:p>
            <a:pPr algn="l">
              <a:spcAft>
                <a:spcPts val="400"/>
              </a:spcAft>
            </a:pPr>
            <a:r>
              <a:rPr sz="2000" b="1">
                <a:solidFill>
                  <a:srgbClr val="8E6F3E"/>
                </a:solidFill>
                <a:latin typeface="Calibri"/>
              </a:rPr>
              <a:t>NORMALIZED</a:t>
            </a:r>
          </a:p>
          <a:p>
            <a:pPr algn="l">
              <a:spcAft>
                <a:spcPts val="400"/>
              </a:spcAft>
            </a:pPr>
            <a:r>
              <a:rPr sz="2000" b="1">
                <a:solidFill>
                  <a:srgbClr val="5C4826"/>
                </a:solidFill>
                <a:latin typeface="Calibri"/>
              </a:rPr>
              <a:t>One fact lives in one place</a:t>
            </a:r>
          </a:p>
          <a:p>
            <a:pPr algn="l">
              <a:spcAft>
                <a:spcPts val="400"/>
              </a:spcAft>
            </a:pPr>
            <a:r>
              <a:rPr sz="2000" b="0">
                <a:solidFill>
                  <a:srgbClr val="555960"/>
                </a:solidFill>
                <a:latin typeface="Calibri"/>
              </a:rPr>
              <a:t>Room name stored once, in rooms</a:t>
            </a:r>
          </a:p>
          <a:p>
            <a:pPr algn="l">
              <a:spcAft>
                <a:spcPts val="400"/>
              </a:spcAft>
            </a:pPr>
            <a:r>
              <a:rPr sz="2000" b="0">
                <a:solidFill>
                  <a:srgbClr val="555960"/>
                </a:solidFill>
                <a:latin typeface="Calibri"/>
              </a:rPr>
              <a:t>Writes: cheap and safe</a:t>
            </a:r>
          </a:p>
          <a:p>
            <a:pPr algn="l">
              <a:spcAft>
                <a:spcPts val="400"/>
              </a:spcAft>
            </a:pPr>
            <a:r>
              <a:rPr sz="2000" b="0">
                <a:solidFill>
                  <a:srgbClr val="555960"/>
                </a:solidFill>
                <a:latin typeface="Calibri"/>
              </a:rPr>
              <a:t>Reads: join to assemble the page</a:t>
            </a:r>
          </a:p>
        </p:txBody>
      </p:sp>
      <p:sp>
        <p:nvSpPr>
          <p:cNvPr id="5" name="Card"/>
          <p:cNvSpPr/>
          <p:nvPr/>
        </p:nvSpPr>
        <p:spPr>
          <a:xfrm>
            <a:off x="4663440" y="960120"/>
            <a:ext cx="4069080" cy="23774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194560"/>
          </a:xfrm>
          <a:prstGeom prst="rect">
            <a:avLst/>
          </a:prstGeom>
          <a:noFill/>
        </p:spPr>
        <p:txBody>
          <a:bodyPr wrap="square">
            <a:spAutoFit/>
          </a:bodyPr>
          <a:lstStyle/>
          <a:p>
            <a:pPr algn="l">
              <a:spcAft>
                <a:spcPts val="400"/>
              </a:spcAft>
            </a:pPr>
            <a:r>
              <a:rPr sz="2000" b="1">
                <a:solidFill>
                  <a:srgbClr val="8E6F3E"/>
                </a:solidFill>
                <a:latin typeface="Calibri"/>
              </a:rPr>
              <a:t>DENORMALIZED</a:t>
            </a:r>
          </a:p>
          <a:p>
            <a:pPr algn="l">
              <a:spcAft>
                <a:spcPts val="400"/>
              </a:spcAft>
            </a:pPr>
            <a:r>
              <a:rPr sz="2000" b="1">
                <a:solidFill>
                  <a:srgbClr val="5C4826"/>
                </a:solidFill>
                <a:latin typeface="Calibri"/>
              </a:rPr>
              <a:t>Facts copied to where they are read</a:t>
            </a:r>
          </a:p>
          <a:p>
            <a:pPr algn="l">
              <a:spcAft>
                <a:spcPts val="400"/>
              </a:spcAft>
            </a:pPr>
            <a:r>
              <a:rPr sz="2000" b="0">
                <a:solidFill>
                  <a:srgbClr val="555960"/>
                </a:solidFill>
                <a:latin typeface="Calibri"/>
              </a:rPr>
              <a:t>Room name copied into each reservation</a:t>
            </a:r>
          </a:p>
          <a:p>
            <a:pPr algn="l">
              <a:spcAft>
                <a:spcPts val="400"/>
              </a:spcAft>
            </a:pPr>
            <a:r>
              <a:rPr sz="2000" b="0">
                <a:solidFill>
                  <a:srgbClr val="555960"/>
                </a:solidFill>
                <a:latin typeface="Calibri"/>
              </a:rPr>
              <a:t>Reads: one fetch, no join</a:t>
            </a:r>
          </a:p>
          <a:p>
            <a:pPr algn="l">
              <a:spcAft>
                <a:spcPts val="400"/>
              </a:spcAft>
            </a:pPr>
            <a:r>
              <a:rPr sz="2000" b="0">
                <a:solidFill>
                  <a:srgbClr val="555960"/>
                </a:solidFill>
                <a:latin typeface="Calibri"/>
              </a:rPr>
              <a:t>Writes: must update every copy</a:t>
            </a:r>
          </a:p>
        </p:txBody>
      </p:sp>
      <p:sp>
        <p:nvSpPr>
          <p:cNvPr id="7" name="Card"/>
          <p:cNvSpPr/>
          <p:nvPr/>
        </p:nvSpPr>
        <p:spPr>
          <a:xfrm>
            <a:off x="411480" y="3566160"/>
            <a:ext cx="8321040" cy="150876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639312"/>
            <a:ext cx="8046720" cy="1371600"/>
          </a:xfrm>
          <a:prstGeom prst="rect">
            <a:avLst/>
          </a:prstGeom>
          <a:noFill/>
        </p:spPr>
        <p:txBody>
          <a:bodyPr wrap="square">
            <a:spAutoFit/>
          </a:bodyPr>
          <a:lstStyle/>
          <a:p>
            <a:pPr algn="l">
              <a:spcAft>
                <a:spcPts val="300"/>
              </a:spcAft>
            </a:pPr>
            <a:r>
              <a:rPr sz="2000" b="1">
                <a:solidFill>
                  <a:srgbClr val="5C4826"/>
                </a:solidFill>
                <a:latin typeface="Calibri"/>
              </a:rPr>
              <a:t>The reservations page shows a room name beside every booking</a:t>
            </a:r>
          </a:p>
          <a:p>
            <a:pPr algn="l">
              <a:spcAft>
                <a:spcPts val="400"/>
              </a:spcAft>
            </a:pPr>
            <a:r>
              <a:rPr sz="2000" b="0">
                <a:solidFill>
                  <a:srgbClr val="555960"/>
                </a:solidFill>
                <a:latin typeface="Calibri"/>
              </a:rPr>
              <a:t>Join on every read, or copy and own the copies' staleness. The read/write mix settles it — not a doctrine.</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Choose where you pay: on every write or on every read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valid data model is not a correct application</a:t>
            </a:r>
          </a:p>
        </p:txBody>
      </p:sp>
      <p:sp>
        <p:nvSpPr>
          <p:cNvPr id="3" name="Card"/>
          <p:cNvSpPr/>
          <p:nvPr/>
        </p:nvSpPr>
        <p:spPr>
          <a:xfrm>
            <a:off x="411480" y="960120"/>
            <a:ext cx="4846320" cy="2377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4553712" cy="2194560"/>
          </a:xfrm>
          <a:prstGeom prst="rect">
            <a:avLst/>
          </a:prstGeom>
          <a:noFill/>
        </p:spPr>
        <p:txBody>
          <a:bodyPr wrap="square">
            <a:spAutoFit/>
          </a:bodyPr>
          <a:lstStyle/>
          <a:p>
            <a:pPr algn="l">
              <a:spcAft>
                <a:spcPts val="500"/>
              </a:spcAft>
            </a:pPr>
            <a:r>
              <a:rPr sz="2000" b="1">
                <a:solidFill>
                  <a:srgbClr val="8E6F3E"/>
                </a:solidFill>
                <a:latin typeface="Calibri"/>
              </a:rPr>
              <a:t>EVERY ROW VALID</a:t>
            </a:r>
          </a:p>
          <a:p>
            <a:pPr algn="l">
              <a:spcAft>
                <a:spcPts val="200"/>
              </a:spcAft>
            </a:pPr>
            <a:r>
              <a:rPr sz="2000" b="0">
                <a:solidFill>
                  <a:srgbClr val="2D2D2D"/>
                </a:solidFill>
                <a:latin typeface="Consolas"/>
              </a:rPr>
              <a:t>117 · 10:00–11:00 · CONFIRMED</a:t>
            </a:r>
          </a:p>
          <a:p>
            <a:pPr algn="l">
              <a:spcAft>
                <a:spcPts val="500"/>
              </a:spcAft>
            </a:pPr>
            <a:r>
              <a:rPr sz="2000" b="0">
                <a:solidFill>
                  <a:srgbClr val="2D2D2D"/>
                </a:solidFill>
                <a:latin typeface="Consolas"/>
              </a:rPr>
              <a:t>117 · 10:30–11:30 · CONFIRMED</a:t>
            </a:r>
          </a:p>
          <a:p>
            <a:pPr algn="l">
              <a:spcAft>
                <a:spcPts val="400"/>
              </a:spcAft>
            </a:pPr>
            <a:r>
              <a:rPr sz="2000" b="0">
                <a:solidFill>
                  <a:srgbClr val="555960"/>
                </a:solidFill>
                <a:latin typeface="Calibri"/>
              </a:rPr>
              <a:t>Every constraint from the schema passes, row by row</a:t>
            </a:r>
          </a:p>
        </p:txBody>
      </p:sp>
      <p:sp>
        <p:nvSpPr>
          <p:cNvPr id="5" name="Card"/>
          <p:cNvSpPr/>
          <p:nvPr/>
        </p:nvSpPr>
        <p:spPr>
          <a:xfrm>
            <a:off x="5440680" y="960120"/>
            <a:ext cx="3291840" cy="2377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2194560"/>
          </a:xfrm>
          <a:prstGeom prst="rect">
            <a:avLst/>
          </a:prstGeom>
          <a:noFill/>
        </p:spPr>
        <p:txBody>
          <a:bodyPr wrap="square">
            <a:spAutoFit/>
          </a:bodyPr>
          <a:lstStyle/>
          <a:p>
            <a:pPr algn="l">
              <a:spcAft>
                <a:spcPts val="500"/>
              </a:spcAft>
            </a:pPr>
            <a:r>
              <a:rPr sz="2000" b="1">
                <a:solidFill>
                  <a:srgbClr val="C01B1B"/>
                </a:solidFill>
                <a:latin typeface="Calibri"/>
              </a:rPr>
              <a:t>…and the invariant is violated</a:t>
            </a:r>
          </a:p>
          <a:p>
            <a:pPr algn="l">
              <a:spcAft>
                <a:spcPts val="400"/>
              </a:spcAft>
            </a:pPr>
            <a:r>
              <a:rPr sz="2000" b="0">
                <a:solidFill>
                  <a:srgbClr val="555960"/>
                </a:solidFill>
                <a:latin typeface="Calibri"/>
              </a:rPr>
              <a:t>Overlap is a property of the pair, not of either row</a:t>
            </a:r>
          </a:p>
        </p:txBody>
      </p:sp>
      <p:sp>
        <p:nvSpPr>
          <p:cNvPr id="7" name="Card"/>
          <p:cNvSpPr/>
          <p:nvPr/>
        </p:nvSpPr>
        <p:spPr>
          <a:xfrm>
            <a:off x="411480" y="3566160"/>
            <a:ext cx="8321040" cy="1508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639312"/>
            <a:ext cx="8046720" cy="1371600"/>
          </a:xfrm>
          <a:prstGeom prst="rect">
            <a:avLst/>
          </a:prstGeom>
          <a:noFill/>
        </p:spPr>
        <p:txBody>
          <a:bodyPr wrap="square">
            <a:spAutoFit/>
          </a:bodyPr>
          <a:lstStyle/>
          <a:p>
            <a:pPr algn="l">
              <a:spcAft>
                <a:spcPts val="300"/>
              </a:spcAft>
            </a:pPr>
            <a:r>
              <a:rPr sz="2000" b="1">
                <a:solidFill>
                  <a:srgbClr val="5C4826"/>
                </a:solidFill>
                <a:latin typeface="Calibri"/>
              </a:rPr>
              <a:t>Validity is judged per row; correctness constrains relations between rows</a:t>
            </a:r>
          </a:p>
          <a:p>
            <a:pPr algn="l">
              <a:spcAft>
                <a:spcPts val="400"/>
              </a:spcAft>
            </a:pPr>
            <a:r>
              <a:rPr sz="2000" b="0">
                <a:solidFill>
                  <a:srgbClr val="555960"/>
                </a:solidFill>
                <a:latin typeface="Calibri"/>
              </a:rPr>
              <a:t>…and, once requests overlap in time, relations between operations. That is §5.</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database full of valid rows can still be a broken application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SQL states WHAT you want, not HOW to get it</a:t>
            </a:r>
          </a:p>
        </p:txBody>
      </p:sp>
      <p:sp>
        <p:nvSpPr>
          <p:cNvPr id="3" name="Card"/>
          <p:cNvSpPr/>
          <p:nvPr/>
        </p:nvSpPr>
        <p:spPr>
          <a:xfrm>
            <a:off x="411480" y="960120"/>
            <a:ext cx="4846320" cy="28346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4553712" cy="2651760"/>
          </a:xfrm>
          <a:prstGeom prst="rect">
            <a:avLst/>
          </a:prstGeom>
          <a:noFill/>
        </p:spPr>
        <p:txBody>
          <a:bodyPr wrap="square">
            <a:spAutoFit/>
          </a:bodyPr>
          <a:lstStyle/>
          <a:p>
            <a:pPr algn="l">
              <a:spcAft>
                <a:spcPts val="200"/>
              </a:spcAft>
            </a:pPr>
            <a:r>
              <a:rPr sz="2000" b="0">
                <a:solidFill>
                  <a:srgbClr val="2D2D2D"/>
                </a:solidFill>
                <a:latin typeface="Consolas"/>
              </a:rPr>
              <a:t>SELECT 1</a:t>
            </a:r>
          </a:p>
          <a:p>
            <a:pPr algn="l">
              <a:spcAft>
                <a:spcPts val="200"/>
              </a:spcAft>
            </a:pPr>
            <a:r>
              <a:rPr sz="2000" b="0">
                <a:solidFill>
                  <a:srgbClr val="2D2D2D"/>
                </a:solidFill>
                <a:latin typeface="Consolas"/>
              </a:rPr>
              <a:t>FROM reservations</a:t>
            </a:r>
          </a:p>
          <a:p>
            <a:pPr algn="l">
              <a:spcAft>
                <a:spcPts val="200"/>
              </a:spcAft>
            </a:pPr>
            <a:r>
              <a:rPr sz="2000" b="0">
                <a:solidFill>
                  <a:srgbClr val="2D2D2D"/>
                </a:solidFill>
                <a:latin typeface="Consolas"/>
              </a:rPr>
              <a:t>WHERE room_id = :room</a:t>
            </a:r>
          </a:p>
          <a:p>
            <a:pPr algn="l">
              <a:spcAft>
                <a:spcPts val="200"/>
              </a:spcAft>
            </a:pPr>
            <a:r>
              <a:rPr sz="2000" b="0">
                <a:solidFill>
                  <a:srgbClr val="2D2D2D"/>
                </a:solidFill>
                <a:latin typeface="Consolas"/>
              </a:rPr>
              <a:t>  AND status  = 'CONFIRMED'</a:t>
            </a:r>
          </a:p>
          <a:p>
            <a:pPr algn="l">
              <a:spcAft>
                <a:spcPts val="200"/>
              </a:spcAft>
            </a:pPr>
            <a:r>
              <a:rPr sz="2000" b="0">
                <a:solidFill>
                  <a:srgbClr val="2D2D2D"/>
                </a:solidFill>
                <a:latin typeface="Consolas"/>
              </a:rPr>
              <a:t>  AND starts_at &lt; :ends</a:t>
            </a:r>
          </a:p>
          <a:p>
            <a:pPr algn="l">
              <a:spcAft>
                <a:spcPts val="200"/>
              </a:spcAft>
            </a:pPr>
            <a:r>
              <a:rPr sz="2000" b="0">
                <a:solidFill>
                  <a:srgbClr val="2D2D2D"/>
                </a:solidFill>
                <a:latin typeface="Consolas"/>
              </a:rPr>
              <a:t>  AND ends_at   &gt; :starts;</a:t>
            </a:r>
          </a:p>
        </p:txBody>
      </p:sp>
      <p:sp>
        <p:nvSpPr>
          <p:cNvPr id="5" name="Card"/>
          <p:cNvSpPr/>
          <p:nvPr/>
        </p:nvSpPr>
        <p:spPr>
          <a:xfrm>
            <a:off x="5440680" y="960120"/>
            <a:ext cx="3291840" cy="28346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2651760"/>
          </a:xfrm>
          <a:prstGeom prst="rect">
            <a:avLst/>
          </a:prstGeom>
          <a:noFill/>
        </p:spPr>
        <p:txBody>
          <a:bodyPr wrap="square">
            <a:spAutoFit/>
          </a:bodyPr>
          <a:lstStyle/>
          <a:p>
            <a:pPr algn="l">
              <a:spcAft>
                <a:spcPts val="500"/>
              </a:spcAft>
            </a:pPr>
            <a:r>
              <a:rPr sz="2000" b="1">
                <a:solidFill>
                  <a:srgbClr val="8E6F3E"/>
                </a:solidFill>
                <a:latin typeface="Calibri"/>
              </a:rPr>
              <a:t>DECLARATIVE</a:t>
            </a:r>
          </a:p>
          <a:p>
            <a:pPr algn="l">
              <a:spcAft>
                <a:spcPts val="400"/>
              </a:spcAft>
            </a:pPr>
            <a:r>
              <a:rPr sz="2000" b="0">
                <a:solidFill>
                  <a:srgbClr val="5C4826"/>
                </a:solidFill>
                <a:latin typeface="Calibri"/>
              </a:rPr>
              <a:t>Names the rows wanted</a:t>
            </a:r>
          </a:p>
          <a:p>
            <a:pPr algn="l">
              <a:spcAft>
                <a:spcPts val="400"/>
              </a:spcAft>
            </a:pPr>
            <a:r>
              <a:rPr sz="2000" b="0">
                <a:solidFill>
                  <a:srgbClr val="555960"/>
                </a:solidFill>
                <a:latin typeface="Calibri"/>
              </a:rPr>
              <a:t>Says nothing about scans, indexes, or order</a:t>
            </a:r>
          </a:p>
          <a:p>
            <a:pPr algn="l">
              <a:spcAft>
                <a:spcPts val="400"/>
              </a:spcAft>
            </a:pPr>
            <a:r>
              <a:rPr sz="2000" b="0">
                <a:solidFill>
                  <a:srgbClr val="555960"/>
                </a:solidFill>
                <a:latin typeface="Calibri"/>
              </a:rPr>
              <a:t>The engine chooses HOW — slide 16</a:t>
            </a:r>
          </a:p>
        </p:txBody>
      </p:sp>
      <p:sp>
        <p:nvSpPr>
          <p:cNvPr id="7" name="Card"/>
          <p:cNvSpPr/>
          <p:nvPr/>
        </p:nvSpPr>
        <p:spPr>
          <a:xfrm>
            <a:off x="411480" y="4023360"/>
            <a:ext cx="8321040" cy="12344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4096512"/>
            <a:ext cx="8046720" cy="1097280"/>
          </a:xfrm>
          <a:prstGeom prst="rect">
            <a:avLst/>
          </a:prstGeom>
          <a:noFill/>
        </p:spPr>
        <p:txBody>
          <a:bodyPr wrap="square">
            <a:spAutoFit/>
          </a:bodyPr>
          <a:lstStyle/>
          <a:p>
            <a:pPr algn="l">
              <a:spcAft>
                <a:spcPts val="300"/>
              </a:spcAft>
            </a:pPr>
            <a:r>
              <a:rPr sz="2000" b="1">
                <a:solidFill>
                  <a:srgbClr val="5C4826"/>
                </a:solidFill>
                <a:latin typeface="Calibri"/>
              </a:rPr>
              <a:t>The overlap test:  A.starts &lt; B.ends  AND  A.ends &gt; B.starts</a:t>
            </a:r>
          </a:p>
          <a:p>
            <a:pPr algn="l">
              <a:spcAft>
                <a:spcPts val="400"/>
              </a:spcAft>
            </a:pPr>
            <a:r>
              <a:rPr sz="2000" b="0">
                <a:solidFill>
                  <a:srgbClr val="555960"/>
                </a:solidFill>
                <a:latin typeface="Calibri"/>
              </a:rPr>
              <a:t>This predicate is the invariant in query form — it returns on slides 19 and 23.</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query is a specification — execution is the engine's design space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An ORM maps your objects to stored data</a:t>
            </a:r>
          </a:p>
        </p:txBody>
      </p:sp>
      <p:sp>
        <p:nvSpPr>
          <p:cNvPr id="3" name="Label"/>
          <p:cNvSpPr txBox="1"/>
          <p:nvPr/>
        </p:nvSpPr>
        <p:spPr>
          <a:xfrm>
            <a:off x="411480" y="841248"/>
            <a:ext cx="8321040" cy="365760"/>
          </a:xfrm>
          <a:prstGeom prst="rect">
            <a:avLst/>
          </a:prstGeom>
          <a:noFill/>
        </p:spPr>
        <p:txBody>
          <a:bodyPr wrap="square">
            <a:spAutoFit/>
          </a:bodyPr>
          <a:lstStyle/>
          <a:p>
            <a:pPr algn="l">
              <a:spcAft>
                <a:spcPts val="400"/>
              </a:spcAft>
            </a:pPr>
            <a:r>
              <a:rPr sz="2000" b="1">
                <a:solidFill>
                  <a:srgbClr val="8E6F3E"/>
                </a:solidFill>
                <a:latin typeface="Calibri"/>
              </a:rPr>
              <a:t>Illustrative — real syntax depends on the library</a:t>
            </a:r>
          </a:p>
        </p:txBody>
      </p:sp>
      <p:sp>
        <p:nvSpPr>
          <p:cNvPr id="4" name="Card"/>
          <p:cNvSpPr/>
          <p:nvPr/>
        </p:nvSpPr>
        <p:spPr>
          <a:xfrm>
            <a:off x="411480" y="1298448"/>
            <a:ext cx="4846320" cy="2468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ode"/>
          <p:cNvSpPr txBox="1"/>
          <p:nvPr/>
        </p:nvSpPr>
        <p:spPr>
          <a:xfrm>
            <a:off x="557784" y="1389888"/>
            <a:ext cx="4553712" cy="2286000"/>
          </a:xfrm>
          <a:prstGeom prst="rect">
            <a:avLst/>
          </a:prstGeom>
          <a:noFill/>
        </p:spPr>
        <p:txBody>
          <a:bodyPr wrap="square">
            <a:spAutoFit/>
          </a:bodyPr>
          <a:lstStyle/>
          <a:p>
            <a:pPr algn="l">
              <a:spcAft>
                <a:spcPts val="200"/>
              </a:spcAft>
            </a:pPr>
            <a:r>
              <a:rPr sz="2000" b="0">
                <a:solidFill>
                  <a:srgbClr val="2D2D2D"/>
                </a:solidFill>
                <a:latin typeface="Consolas"/>
              </a:rPr>
              <a:t>conflict = (Reservation.query</a:t>
            </a:r>
          </a:p>
          <a:p>
            <a:pPr algn="l">
              <a:spcAft>
                <a:spcPts val="200"/>
              </a:spcAft>
            </a:pPr>
            <a:r>
              <a:rPr sz="2000" b="0">
                <a:solidFill>
                  <a:srgbClr val="2D2D2D"/>
                </a:solidFill>
                <a:latin typeface="Consolas"/>
              </a:rPr>
              <a:t>  .filter_by(room_id=room,</a:t>
            </a:r>
          </a:p>
          <a:p>
            <a:pPr algn="l">
              <a:spcAft>
                <a:spcPts val="200"/>
              </a:spcAft>
            </a:pPr>
            <a:r>
              <a:rPr sz="2000" b="0">
                <a:solidFill>
                  <a:srgbClr val="2D2D2D"/>
                </a:solidFill>
                <a:latin typeface="Consolas"/>
              </a:rPr>
              <a:t>             status='CONFIRMED')</a:t>
            </a:r>
          </a:p>
          <a:p>
            <a:pPr algn="l">
              <a:spcAft>
                <a:spcPts val="200"/>
              </a:spcAft>
            </a:pPr>
            <a:r>
              <a:rPr sz="2000" b="0">
                <a:solidFill>
                  <a:srgbClr val="2D2D2D"/>
                </a:solidFill>
                <a:latin typeface="Consolas"/>
              </a:rPr>
              <a:t>  .filter(R.starts_at &lt; ends,</a:t>
            </a:r>
          </a:p>
          <a:p>
            <a:pPr algn="l">
              <a:spcAft>
                <a:spcPts val="200"/>
              </a:spcAft>
            </a:pPr>
            <a:r>
              <a:rPr sz="2000" b="0">
                <a:solidFill>
                  <a:srgbClr val="2D2D2D"/>
                </a:solidFill>
                <a:latin typeface="Consolas"/>
              </a:rPr>
              <a:t>          R.ends_at   &gt; starts)</a:t>
            </a:r>
          </a:p>
          <a:p>
            <a:pPr algn="l">
              <a:spcAft>
                <a:spcPts val="200"/>
              </a:spcAft>
            </a:pPr>
            <a:r>
              <a:rPr sz="2000" b="0">
                <a:solidFill>
                  <a:srgbClr val="2D2D2D"/>
                </a:solidFill>
                <a:latin typeface="Consolas"/>
              </a:rPr>
              <a:t>  .first())</a:t>
            </a:r>
          </a:p>
        </p:txBody>
      </p:sp>
      <p:sp>
        <p:nvSpPr>
          <p:cNvPr id="6" name="Card"/>
          <p:cNvSpPr/>
          <p:nvPr/>
        </p:nvSpPr>
        <p:spPr>
          <a:xfrm>
            <a:off x="5440680" y="1298448"/>
            <a:ext cx="3291840" cy="2468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Body"/>
          <p:cNvSpPr txBox="1"/>
          <p:nvPr/>
        </p:nvSpPr>
        <p:spPr>
          <a:xfrm>
            <a:off x="5586984" y="1389888"/>
            <a:ext cx="2999232" cy="2286000"/>
          </a:xfrm>
          <a:prstGeom prst="rect">
            <a:avLst/>
          </a:prstGeom>
          <a:noFill/>
        </p:spPr>
        <p:txBody>
          <a:bodyPr wrap="square">
            <a:spAutoFit/>
          </a:bodyPr>
          <a:lstStyle/>
          <a:p>
            <a:pPr algn="l">
              <a:spcAft>
                <a:spcPts val="500"/>
              </a:spcAft>
            </a:pPr>
            <a:r>
              <a:rPr sz="2000" b="1">
                <a:solidFill>
                  <a:srgbClr val="8E6F3E"/>
                </a:solidFill>
                <a:latin typeface="Calibri"/>
              </a:rPr>
              <a:t>WHAT IT BUYS</a:t>
            </a:r>
          </a:p>
          <a:p>
            <a:pPr algn="l">
              <a:spcAft>
                <a:spcPts val="400"/>
              </a:spcAft>
            </a:pPr>
            <a:r>
              <a:rPr sz="2000" b="0">
                <a:solidFill>
                  <a:srgbClr val="5C4826"/>
                </a:solidFill>
                <a:latin typeface="Calibri"/>
              </a:rPr>
              <a:t>Objects in your language</a:t>
            </a:r>
          </a:p>
          <a:p>
            <a:pPr algn="l">
              <a:spcAft>
                <a:spcPts val="400"/>
              </a:spcAft>
            </a:pPr>
            <a:r>
              <a:rPr sz="2000" b="0">
                <a:solidFill>
                  <a:srgbClr val="5C4826"/>
                </a:solidFill>
                <a:latin typeface="Calibri"/>
              </a:rPr>
              <a:t>Mapping and sessions handled</a:t>
            </a:r>
          </a:p>
          <a:p>
            <a:pPr algn="l">
              <a:spcAft>
                <a:spcPts val="400"/>
              </a:spcAft>
            </a:pPr>
            <a:r>
              <a:rPr sz="2000" b="0">
                <a:solidFill>
                  <a:srgbClr val="5C4826"/>
                </a:solidFill>
                <a:latin typeface="Calibri"/>
              </a:rPr>
              <a:t>Less boilerplate</a:t>
            </a:r>
          </a:p>
        </p:txBody>
      </p:sp>
      <p:sp>
        <p:nvSpPr>
          <p:cNvPr id="8" name="Card"/>
          <p:cNvSpPr/>
          <p:nvPr/>
        </p:nvSpPr>
        <p:spPr>
          <a:xfrm>
            <a:off x="411480" y="3950208"/>
            <a:ext cx="8321040" cy="16276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CardBody"/>
          <p:cNvSpPr txBox="1"/>
          <p:nvPr/>
        </p:nvSpPr>
        <p:spPr>
          <a:xfrm>
            <a:off x="557784" y="4023360"/>
            <a:ext cx="8046720" cy="1481328"/>
          </a:xfrm>
          <a:prstGeom prst="rect">
            <a:avLst/>
          </a:prstGeom>
          <a:noFill/>
        </p:spPr>
        <p:txBody>
          <a:bodyPr wrap="square">
            <a:spAutoFit/>
          </a:bodyPr>
          <a:lstStyle/>
          <a:p>
            <a:pPr algn="l">
              <a:spcAft>
                <a:spcPts val="300"/>
              </a:spcAft>
            </a:pPr>
            <a:r>
              <a:rPr sz="2000" b="1">
                <a:solidFill>
                  <a:srgbClr val="8E6F3E"/>
                </a:solidFill>
                <a:latin typeface="Calibri"/>
              </a:rPr>
              <a:t>WHAT IT COSTS</a:t>
            </a:r>
          </a:p>
          <a:p>
            <a:pPr algn="l">
              <a:spcAft>
                <a:spcPts val="400"/>
              </a:spcAft>
            </a:pPr>
            <a:r>
              <a:rPr sz="2000" b="0">
                <a:solidFill>
                  <a:srgbClr val="555960"/>
                </a:solidFill>
                <a:latin typeface="Calibri"/>
              </a:rPr>
              <a:t>Leaky: you still must know the SQL it emits</a:t>
            </a:r>
          </a:p>
          <a:p>
            <a:pPr algn="l">
              <a:spcAft>
                <a:spcPts val="400"/>
              </a:spcAft>
            </a:pPr>
            <a:r>
              <a:rPr sz="2000" b="0">
                <a:solidFill>
                  <a:srgbClr val="555960"/>
                </a:solidFill>
                <a:latin typeface="Calibri"/>
              </a:rPr>
              <a:t>Generated queries can be inefficient — the N+1 trap, slide 18</a:t>
            </a:r>
          </a:p>
          <a:p>
            <a:pPr algn="l">
              <a:spcAft>
                <a:spcPts val="400"/>
              </a:spcAft>
            </a:pPr>
            <a:r>
              <a:rPr sz="2000" b="0">
                <a:solidFill>
                  <a:srgbClr val="555960"/>
                </a:solidFill>
                <a:latin typeface="Calibri"/>
              </a:rPr>
              <a:t>Database-specific operations get awkward</a:t>
            </a:r>
          </a:p>
        </p:txBody>
      </p:sp>
      <p:sp>
        <p:nvSpPr>
          <p:cNvPr id="10"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convenience layer over the query language — not a replacement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Query language and ORM live at different layers</a:t>
            </a:r>
          </a:p>
        </p:txBody>
      </p:sp>
      <p:sp>
        <p:nvSpPr>
          <p:cNvPr id="3" name="Block"/>
          <p:cNvSpPr/>
          <p:nvPr/>
        </p:nvSpPr>
        <p:spPr>
          <a:xfrm>
            <a:off x="914400" y="91440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Application objects</a:t>
            </a:r>
          </a:p>
        </p:txBody>
      </p:sp>
      <p:sp>
        <p:nvSpPr>
          <p:cNvPr id="4" name="Arrow"/>
          <p:cNvSpPr/>
          <p:nvPr/>
        </p:nvSpPr>
        <p:spPr>
          <a:xfrm>
            <a:off x="2834640" y="157276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Block"/>
          <p:cNvSpPr/>
          <p:nvPr/>
        </p:nvSpPr>
        <p:spPr>
          <a:xfrm>
            <a:off x="914400" y="178308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ORM — maps objects to rows; emits SQL</a:t>
            </a:r>
          </a:p>
        </p:txBody>
      </p:sp>
      <p:sp>
        <p:nvSpPr>
          <p:cNvPr id="6" name="Arrow"/>
          <p:cNvSpPr/>
          <p:nvPr/>
        </p:nvSpPr>
        <p:spPr>
          <a:xfrm>
            <a:off x="2834640" y="244144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Block"/>
          <p:cNvSpPr/>
          <p:nvPr/>
        </p:nvSpPr>
        <p:spPr>
          <a:xfrm>
            <a:off x="914400" y="265176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SQL — the declarative WHAT</a:t>
            </a:r>
          </a:p>
        </p:txBody>
      </p:sp>
      <p:sp>
        <p:nvSpPr>
          <p:cNvPr id="8" name="Arrow"/>
          <p:cNvSpPr/>
          <p:nvPr/>
        </p:nvSpPr>
        <p:spPr>
          <a:xfrm>
            <a:off x="2834640" y="331012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914400" y="352044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Engine — plans and executes (HOW)</a:t>
            </a:r>
          </a:p>
        </p:txBody>
      </p:sp>
      <p:sp>
        <p:nvSpPr>
          <p:cNvPr id="10" name="Arrow"/>
          <p:cNvSpPr/>
          <p:nvPr/>
        </p:nvSpPr>
        <p:spPr>
          <a:xfrm>
            <a:off x="2834640" y="417880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Block"/>
          <p:cNvSpPr/>
          <p:nvPr/>
        </p:nvSpPr>
        <p:spPr>
          <a:xfrm>
            <a:off x="914400" y="438912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Stored data — pages, rows, indexes</a:t>
            </a:r>
          </a:p>
        </p:txBody>
      </p:sp>
      <p:sp>
        <p:nvSpPr>
          <p:cNvPr id="12" name="Card"/>
          <p:cNvSpPr/>
          <p:nvPr/>
        </p:nvSpPr>
        <p:spPr>
          <a:xfrm>
            <a:off x="5486400" y="1280160"/>
            <a:ext cx="3246120" cy="356616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CardBody"/>
          <p:cNvSpPr txBox="1"/>
          <p:nvPr/>
        </p:nvSpPr>
        <p:spPr>
          <a:xfrm>
            <a:off x="5632704" y="1371600"/>
            <a:ext cx="2953512" cy="3383280"/>
          </a:xfrm>
          <a:prstGeom prst="rect">
            <a:avLst/>
          </a:prstGeom>
          <a:noFill/>
        </p:spPr>
        <p:txBody>
          <a:bodyPr wrap="square">
            <a:spAutoFit/>
          </a:bodyPr>
          <a:lstStyle/>
          <a:p>
            <a:pPr algn="l">
              <a:spcAft>
                <a:spcPts val="600"/>
              </a:spcAft>
            </a:pPr>
            <a:r>
              <a:rPr sz="2000" b="1">
                <a:solidFill>
                  <a:srgbClr val="5C4826"/>
                </a:solidFill>
                <a:latin typeface="Calibri"/>
              </a:rPr>
              <a:t>“ORM vs SQL” is a layering question, not a rivalry</a:t>
            </a:r>
          </a:p>
          <a:p>
            <a:pPr algn="l">
              <a:spcAft>
                <a:spcPts val="600"/>
              </a:spcAft>
            </a:pPr>
            <a:r>
              <a:rPr sz="2000" b="0">
                <a:solidFill>
                  <a:srgbClr val="555960"/>
                </a:solidFill>
                <a:latin typeface="Calibri"/>
              </a:rPr>
              <a:t>The ORM emits SQL; the engine never sees your objects.</a:t>
            </a:r>
          </a:p>
          <a:p>
            <a:pPr algn="l">
              <a:spcAft>
                <a:spcPts val="400"/>
              </a:spcAft>
            </a:pPr>
            <a:r>
              <a:rPr sz="2000" b="0">
                <a:solidFill>
                  <a:srgbClr val="555960"/>
                </a:solidFill>
                <a:latin typeface="Calibri"/>
              </a:rPr>
              <a:t>You choose the layer where you write your intent — you still own what every layer below does with it.</a:t>
            </a:r>
          </a:p>
        </p:txBody>
      </p:sp>
      <p:sp>
        <p:nvSpPr>
          <p:cNvPr id="14"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Different layers of one pipeline — not competing answers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How the engine executes your query</a:t>
            </a:r>
          </a:p>
        </p:txBody>
      </p:sp>
      <p:sp>
        <p:nvSpPr>
          <p:cNvPr id="3" name="Block"/>
          <p:cNvSpPr/>
          <p:nvPr/>
        </p:nvSpPr>
        <p:spPr>
          <a:xfrm>
            <a:off x="411480" y="109728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Parse &amp; validate</a:t>
            </a:r>
          </a:p>
        </p:txBody>
      </p:sp>
      <p:sp>
        <p:nvSpPr>
          <p:cNvPr id="4" name="Block"/>
          <p:cNvSpPr/>
          <p:nvPr/>
        </p:nvSpPr>
        <p:spPr>
          <a:xfrm>
            <a:off x="3337560" y="109728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Logical plan</a:t>
            </a:r>
          </a:p>
        </p:txBody>
      </p:sp>
      <p:sp>
        <p:nvSpPr>
          <p:cNvPr id="5" name="Block"/>
          <p:cNvSpPr/>
          <p:nvPr/>
        </p:nvSpPr>
        <p:spPr>
          <a:xfrm>
            <a:off x="6263640" y="109728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Optimizer</a:t>
            </a:r>
          </a:p>
        </p:txBody>
      </p:sp>
      <p:sp>
        <p:nvSpPr>
          <p:cNvPr id="6" name="Arrow"/>
          <p:cNvSpPr/>
          <p:nvPr/>
        </p:nvSpPr>
        <p:spPr>
          <a:xfrm>
            <a:off x="2907792" y="1371600"/>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Arrow"/>
          <p:cNvSpPr/>
          <p:nvPr/>
        </p:nvSpPr>
        <p:spPr>
          <a:xfrm>
            <a:off x="5833872" y="1371600"/>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Arrow"/>
          <p:cNvSpPr/>
          <p:nvPr/>
        </p:nvSpPr>
        <p:spPr>
          <a:xfrm>
            <a:off x="7315200" y="1901952"/>
            <a:ext cx="365760" cy="676656"/>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6263640" y="265176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Physical plan</a:t>
            </a:r>
          </a:p>
        </p:txBody>
      </p:sp>
      <p:sp>
        <p:nvSpPr>
          <p:cNvPr id="10" name="Block"/>
          <p:cNvSpPr/>
          <p:nvPr/>
        </p:nvSpPr>
        <p:spPr>
          <a:xfrm>
            <a:off x="3337560" y="265176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Execute: scan · index · join</a:t>
            </a:r>
          </a:p>
        </p:txBody>
      </p:sp>
      <p:sp>
        <p:nvSpPr>
          <p:cNvPr id="11" name="Block"/>
          <p:cNvSpPr/>
          <p:nvPr/>
        </p:nvSpPr>
        <p:spPr>
          <a:xfrm>
            <a:off x="411480" y="265176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Results</a:t>
            </a:r>
          </a:p>
        </p:txBody>
      </p:sp>
      <p:sp>
        <p:nvSpPr>
          <p:cNvPr id="12" name="Arrow"/>
          <p:cNvSpPr/>
          <p:nvPr/>
        </p:nvSpPr>
        <p:spPr>
          <a:xfrm>
            <a:off x="5833872" y="2926080"/>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rrow"/>
          <p:cNvSpPr/>
          <p:nvPr/>
        </p:nvSpPr>
        <p:spPr>
          <a:xfrm>
            <a:off x="2907792" y="2926080"/>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Card"/>
          <p:cNvSpPr/>
          <p:nvPr/>
        </p:nvSpPr>
        <p:spPr>
          <a:xfrm>
            <a:off x="411480" y="3794760"/>
            <a:ext cx="8321040" cy="1325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CardBody"/>
          <p:cNvSpPr txBox="1"/>
          <p:nvPr/>
        </p:nvSpPr>
        <p:spPr>
          <a:xfrm>
            <a:off x="557784" y="3867912"/>
            <a:ext cx="8046720" cy="1188720"/>
          </a:xfrm>
          <a:prstGeom prst="rect">
            <a:avLst/>
          </a:prstGeom>
          <a:noFill/>
        </p:spPr>
        <p:txBody>
          <a:bodyPr wrap="square">
            <a:spAutoFit/>
          </a:bodyPr>
          <a:lstStyle/>
          <a:p>
            <a:pPr algn="l">
              <a:spcAft>
                <a:spcPts val="300"/>
              </a:spcAft>
            </a:pPr>
            <a:r>
              <a:rPr sz="2000" b="1">
                <a:solidFill>
                  <a:srgbClr val="5C4826"/>
                </a:solidFill>
                <a:latin typeface="Calibri"/>
              </a:rPr>
              <a:t>The optimizer chooses among plans using statistics about YOUR data</a:t>
            </a:r>
          </a:p>
          <a:p>
            <a:pPr algn="l">
              <a:spcAft>
                <a:spcPts val="400"/>
              </a:spcAft>
            </a:pPr>
            <a:r>
              <a:rPr sz="2000" b="0">
                <a:solidFill>
                  <a:srgbClr val="555960"/>
                </a:solidFill>
                <a:latin typeface="Calibri"/>
              </a:rPr>
              <a:t>Same SQL, thousandfold cost differences — the lever is the physical design you supply: indexes, layout, fresh statistics.</a:t>
            </a:r>
          </a:p>
        </p:txBody>
      </p:sp>
      <p:sp>
        <p:nvSpPr>
          <p:cNvPr id="16"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You wrote WHAT; the engine picks HOW from what you gave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One query, two plans, very different costs</a:t>
            </a:r>
          </a:p>
        </p:txBody>
      </p:sp>
      <p:sp>
        <p:nvSpPr>
          <p:cNvPr id="3" name="Card"/>
          <p:cNvSpPr/>
          <p:nvPr/>
        </p:nvSpPr>
        <p:spPr>
          <a:xfrm>
            <a:off x="411480" y="960120"/>
            <a:ext cx="4069080" cy="25603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377440"/>
          </a:xfrm>
          <a:prstGeom prst="rect">
            <a:avLst/>
          </a:prstGeom>
          <a:noFill/>
        </p:spPr>
        <p:txBody>
          <a:bodyPr wrap="square">
            <a:spAutoFit/>
          </a:bodyPr>
          <a:lstStyle/>
          <a:p>
            <a:pPr algn="l">
              <a:spcAft>
                <a:spcPts val="500"/>
              </a:spcAft>
            </a:pPr>
            <a:r>
              <a:rPr sz="2000" b="1">
                <a:solidFill>
                  <a:srgbClr val="8E6F3E"/>
                </a:solidFill>
                <a:latin typeface="Calibri"/>
              </a:rPr>
              <a:t>SEQUENTIAL SCAN</a:t>
            </a:r>
          </a:p>
          <a:p>
            <a:pPr algn="l">
              <a:spcAft>
                <a:spcPts val="400"/>
              </a:spcAft>
            </a:pPr>
            <a:r>
              <a:rPr sz="2000" b="1">
                <a:solidFill>
                  <a:srgbClr val="5C4826"/>
                </a:solidFill>
                <a:latin typeface="Calibri"/>
              </a:rPr>
              <a:t>Read all 2,000,000 rows, test each</a:t>
            </a:r>
          </a:p>
          <a:p>
            <a:pPr algn="l">
              <a:spcAft>
                <a:spcPts val="400"/>
              </a:spcAft>
            </a:pPr>
            <a:r>
              <a:rPr sz="2000" b="0">
                <a:solidFill>
                  <a:srgbClr val="555960"/>
                </a:solidFill>
                <a:latin typeface="Calibri"/>
              </a:rPr>
              <a:t>Cost grows with the table, not with the answer</a:t>
            </a:r>
          </a:p>
          <a:p>
            <a:pPr algn="l">
              <a:spcAft>
                <a:spcPts val="400"/>
              </a:spcAft>
            </a:pPr>
            <a:r>
              <a:rPr sz="2000" b="0">
                <a:solidFill>
                  <a:srgbClr val="555960"/>
                </a:solidFill>
                <a:latin typeface="Calibri"/>
              </a:rPr>
              <a:t>~ seconds</a:t>
            </a:r>
          </a:p>
        </p:txBody>
      </p:sp>
      <p:sp>
        <p:nvSpPr>
          <p:cNvPr id="5" name="Card"/>
          <p:cNvSpPr/>
          <p:nvPr/>
        </p:nvSpPr>
        <p:spPr>
          <a:xfrm>
            <a:off x="4663440" y="960120"/>
            <a:ext cx="4069080" cy="25603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377440"/>
          </a:xfrm>
          <a:prstGeom prst="rect">
            <a:avLst/>
          </a:prstGeom>
          <a:noFill/>
        </p:spPr>
        <p:txBody>
          <a:bodyPr wrap="square">
            <a:spAutoFit/>
          </a:bodyPr>
          <a:lstStyle/>
          <a:p>
            <a:pPr algn="l">
              <a:spcAft>
                <a:spcPts val="500"/>
              </a:spcAft>
            </a:pPr>
            <a:r>
              <a:rPr sz="2000" b="1">
                <a:solidFill>
                  <a:srgbClr val="8E6F3E"/>
                </a:solidFill>
                <a:latin typeface="Calibri"/>
              </a:rPr>
              <a:t>INDEX RANGE SCAN</a:t>
            </a:r>
          </a:p>
          <a:p>
            <a:pPr algn="l">
              <a:spcAft>
                <a:spcPts val="400"/>
              </a:spcAft>
            </a:pPr>
            <a:r>
              <a:rPr sz="2000" b="1">
                <a:solidFill>
                  <a:srgbClr val="5C4826"/>
                </a:solidFill>
                <a:latin typeface="Calibri"/>
              </a:rPr>
              <a:t>Index on (room_id, starts_at)</a:t>
            </a:r>
          </a:p>
          <a:p>
            <a:pPr algn="l">
              <a:spcAft>
                <a:spcPts val="400"/>
              </a:spcAft>
            </a:pPr>
            <a:r>
              <a:rPr sz="2000" b="0">
                <a:solidFill>
                  <a:srgbClr val="555960"/>
                </a:solidFill>
                <a:latin typeface="Calibri"/>
              </a:rPr>
              <a:t>Jump to this room's time window: ~12 rows touched</a:t>
            </a:r>
          </a:p>
          <a:p>
            <a:pPr algn="l">
              <a:spcAft>
                <a:spcPts val="400"/>
              </a:spcAft>
            </a:pPr>
            <a:r>
              <a:rPr sz="2000" b="0">
                <a:solidFill>
                  <a:srgbClr val="555960"/>
                </a:solidFill>
                <a:latin typeface="Calibri"/>
              </a:rPr>
              <a:t>~ milliseconds</a:t>
            </a:r>
          </a:p>
        </p:txBody>
      </p:sp>
      <p:sp>
        <p:nvSpPr>
          <p:cNvPr id="7" name="Card"/>
          <p:cNvSpPr/>
          <p:nvPr/>
        </p:nvSpPr>
        <p:spPr>
          <a:xfrm>
            <a:off x="411480" y="3749039"/>
            <a:ext cx="8321040" cy="13716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822191"/>
            <a:ext cx="8046720" cy="1234440"/>
          </a:xfrm>
          <a:prstGeom prst="rect">
            <a:avLst/>
          </a:prstGeom>
          <a:noFill/>
        </p:spPr>
        <p:txBody>
          <a:bodyPr wrap="square">
            <a:spAutoFit/>
          </a:bodyPr>
          <a:lstStyle/>
          <a:p>
            <a:pPr algn="l">
              <a:spcAft>
                <a:spcPts val="300"/>
              </a:spcAft>
            </a:pPr>
            <a:r>
              <a:rPr sz="2000" b="1">
                <a:solidFill>
                  <a:srgbClr val="5C4826"/>
                </a:solidFill>
                <a:latin typeface="Calibri"/>
              </a:rPr>
              <a:t>Same query text — the index changed the plan</a:t>
            </a:r>
          </a:p>
          <a:p>
            <a:pPr algn="l">
              <a:spcAft>
                <a:spcPts val="400"/>
              </a:spcAft>
            </a:pPr>
            <a:r>
              <a:rPr sz="2000" b="0">
                <a:solidFill>
                  <a:srgbClr val="555960"/>
                </a:solidFill>
                <a:latin typeface="Calibri"/>
              </a:rPr>
              <a:t>An index is bought, not free: faster reads, paid for on every write, chosen per access pattern.</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Indexes are design decisions, not tuning afterthoughts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The N+1 problem: correct code, terrible access pattern</a:t>
            </a:r>
          </a:p>
        </p:txBody>
      </p:sp>
      <p:sp>
        <p:nvSpPr>
          <p:cNvPr id="3" name="Card"/>
          <p:cNvSpPr/>
          <p:nvPr/>
        </p:nvSpPr>
        <p:spPr>
          <a:xfrm>
            <a:off x="411480" y="960120"/>
            <a:ext cx="4846320" cy="17830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4553712" cy="1600200"/>
          </a:xfrm>
          <a:prstGeom prst="rect">
            <a:avLst/>
          </a:prstGeom>
          <a:noFill/>
        </p:spPr>
        <p:txBody>
          <a:bodyPr wrap="square">
            <a:spAutoFit/>
          </a:bodyPr>
          <a:lstStyle/>
          <a:p>
            <a:pPr algn="l">
              <a:spcAft>
                <a:spcPts val="200"/>
              </a:spcAft>
            </a:pPr>
            <a:r>
              <a:rPr sz="2000" b="0">
                <a:solidFill>
                  <a:srgbClr val="2D2D2D"/>
                </a:solidFill>
                <a:latin typeface="Consolas"/>
              </a:rPr>
              <a:t>for r in reservations:   # 1 query</a:t>
            </a:r>
          </a:p>
          <a:p>
            <a:pPr algn="l">
              <a:spcAft>
                <a:spcPts val="200"/>
              </a:spcAft>
            </a:pPr>
            <a:r>
              <a:rPr sz="2000" b="0">
                <a:solidFill>
                  <a:srgbClr val="2D2D2D"/>
                </a:solidFill>
                <a:latin typeface="Consolas"/>
              </a:rPr>
              <a:t>    print(r.room.name)   # +1 each</a:t>
            </a:r>
          </a:p>
          <a:p>
            <a:pPr algn="l">
              <a:spcAft>
                <a:spcPts val="200"/>
              </a:spcAft>
            </a:pPr>
            <a:r>
              <a:rPr sz="2000" b="0">
                <a:solidFill>
                  <a:srgbClr val="2D2D2D"/>
                </a:solidFill>
                <a:latin typeface="Consolas"/>
              </a:rPr>
              <a:t># 200 reservations -&gt; 201 queries</a:t>
            </a:r>
          </a:p>
        </p:txBody>
      </p:sp>
      <p:sp>
        <p:nvSpPr>
          <p:cNvPr id="5" name="Card"/>
          <p:cNvSpPr/>
          <p:nvPr/>
        </p:nvSpPr>
        <p:spPr>
          <a:xfrm>
            <a:off x="5440680" y="960120"/>
            <a:ext cx="3291840" cy="1783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1600200"/>
          </a:xfrm>
          <a:prstGeom prst="rect">
            <a:avLst/>
          </a:prstGeom>
          <a:noFill/>
        </p:spPr>
        <p:txBody>
          <a:bodyPr wrap="square">
            <a:spAutoFit/>
          </a:bodyPr>
          <a:lstStyle/>
          <a:p>
            <a:pPr algn="l">
              <a:spcAft>
                <a:spcPts val="400"/>
              </a:spcAft>
            </a:pPr>
            <a:r>
              <a:rPr sz="2000" b="1">
                <a:solidFill>
                  <a:srgbClr val="5C4826"/>
                </a:solidFill>
                <a:latin typeface="Calibri"/>
              </a:rPr>
              <a:t>Batched instead</a:t>
            </a:r>
          </a:p>
          <a:p>
            <a:pPr algn="l">
              <a:spcAft>
                <a:spcPts val="400"/>
              </a:spcAft>
            </a:pPr>
            <a:r>
              <a:rPr sz="2000" b="0">
                <a:solidFill>
                  <a:srgbClr val="555960"/>
                </a:solidFill>
                <a:latin typeface="Calibri"/>
              </a:rPr>
              <a:t>One JOIN (or prefetch) → one round trip</a:t>
            </a:r>
          </a:p>
        </p:txBody>
      </p:sp>
      <p:sp>
        <p:nvSpPr>
          <p:cNvPr id="7" name="Card"/>
          <p:cNvSpPr/>
          <p:nvPr/>
        </p:nvSpPr>
        <p:spPr>
          <a:xfrm>
            <a:off x="411480" y="2971800"/>
            <a:ext cx="8321040" cy="15544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044952"/>
            <a:ext cx="8046720" cy="1417320"/>
          </a:xfrm>
          <a:prstGeom prst="rect">
            <a:avLst/>
          </a:prstGeom>
          <a:noFill/>
        </p:spPr>
        <p:txBody>
          <a:bodyPr wrap="square">
            <a:spAutoFit/>
          </a:bodyPr>
          <a:lstStyle/>
          <a:p>
            <a:pPr algn="l">
              <a:spcAft>
                <a:spcPts val="300"/>
              </a:spcAft>
            </a:pPr>
            <a:r>
              <a:rPr sz="2000" b="1">
                <a:solidFill>
                  <a:srgbClr val="8E6F3E"/>
                </a:solidFill>
                <a:latin typeface="Calibri"/>
              </a:rPr>
              <a:t>WHY THIS BITES IN 2026</a:t>
            </a:r>
          </a:p>
          <a:p>
            <a:pPr algn="l">
              <a:spcAft>
                <a:spcPts val="300"/>
              </a:spcAft>
            </a:pPr>
            <a:r>
              <a:rPr sz="2000" b="0">
                <a:solidFill>
                  <a:srgbClr val="555960"/>
                </a:solidFill>
                <a:latin typeface="Calibri"/>
              </a:rPr>
              <a:t>ORM-generated and agent-generated code is typically functionally correct and access-pattern naive.</a:t>
            </a:r>
          </a:p>
          <a:p>
            <a:pPr algn="l">
              <a:spcAft>
                <a:spcPts val="400"/>
              </a:spcAft>
            </a:pPr>
            <a:r>
              <a:rPr sz="2000" b="1">
                <a:solidFill>
                  <a:srgbClr val="5C4826"/>
                </a:solidFill>
                <a:latin typeface="Calibri"/>
              </a:rPr>
              <a:t>Review the queries the code EMITS, not just the code.</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Tests for correctness will not catch an access-pattern defect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157</TotalTime>
  <Words>3862</Words>
  <Application>Microsoft Macintosh PowerPoint</Application>
  <PresentationFormat>On-screen Show (4:3)</PresentationFormat>
  <Paragraphs>397</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Times</vt:lpstr>
      <vt:lpstr>Arial</vt:lpstr>
      <vt:lpstr>Calibri</vt:lpstr>
      <vt:lpstr>Purdue1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Steve France</cp:lastModifiedBy>
  <cp:revision>7</cp:revision>
  <dcterms:modified xsi:type="dcterms:W3CDTF">2026-10-29T14:20:08Z</dcterms:modified>
</cp:coreProperties>
</file>