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7" r:id="rId1"/>
  </p:sldMasterIdLst>
  <p:notesMasterIdLst>
    <p:notesMasterId r:id="rId30"/>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6"/>
    <p:sldId id="280" r:id="rId5"/>
    <p:sldId id="281" r:id="rId4"/>
    <p:sldId id="282" r:id="rId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65"/>
    <p:restoredTop sz="80913"/>
  </p:normalViewPr>
  <p:slideViewPr>
    <p:cSldViewPr snapToGrid="0">
      <p:cViewPr varScale="1">
        <p:scale>
          <a:sx n="100" d="100"/>
          <a:sy n="100" d="100"/>
        </p:scale>
        <p:origin x="165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slide" Target="slides/slide27.xml"/><Relationship Id="rId4" Type="http://schemas.openxmlformats.org/officeDocument/2006/relationships/slide" Target="slides/slide26.xml"/><Relationship Id="rId5" Type="http://schemas.openxmlformats.org/officeDocument/2006/relationships/slide" Target="slides/slide25.xml"/><Relationship Id="rId6" Type="http://schemas.openxmlformats.org/officeDocument/2006/relationships/slide" Target="slides/slide24.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1 minute.</a:t>
            </a:r>
          </a:p>
          <a:p/>
          <a:p>
            <a:r>
              <a:t>Tuesday deployed the reservation service: HTTP API, reservation logic, in-memory state. Today the state gets a real home. The governing question on the slide is the arc for 75 minutes: represent (data models, schemas), retrieve (queries, plans), preserve (durability, transactions, migrations).</a:t>
            </a:r>
          </a:p>
          <a:p/>
          <a:p>
            <a:r>
              <a:t>Frame the posture up front: today is about a DESIGN SPACE — choices about representation, semantics, interfaces, concurrency, and scale. SQL, NoSQL, ORMs, indexes, and transactions are mechanisms within that space, not the subject. This is not an SQL tutorial.</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a:t>
            </a:r>
          </a:p>
          <a:p/>
          <a:p>
            <a:r>
              <a:t>Run it as three quick questions. (1) We kill -9 the service: what did users lose? (2) Load grows and we add a second replica, as Tuesday's topology allowed: what goes wrong? (Each replica has its own dict.) (3) Two students click Reserve on room 117 at the same moment: what do both requests see?</a:t>
            </a:r>
          </a:p>
          <a:p/>
          <a:p>
            <a:r>
              <a:t>Students will collapse all three into "use a database." Push on SEPARABILITY — that is the slide's point: an embedded database like SQLite gives durability and transactions with no server and no sharing; a distributed key-value store gives scalable sharing with a very different transaction model; a cache gives fast sharing with no persistence at all. The three requirements select machinery independently.</a:t>
            </a:r>
          </a:p>
          <a:p/>
          <a:p>
            <a:r>
              <a:t>Do not let "database" mean "SQL server" yet — next slide names the component abstractly.</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a:t>
            </a:r>
          </a:p>
          <a:p/>
          <a:p>
            <a:r>
              <a:t>Ask for databases students have used that are not a SQL server: SQLite inside every phone app, Redis, MongoDB, Firebase, even a Git repository. The point: "database" names a component you delegate state to, with an engineering contract — not a language and not a vendor aisle.</a:t>
            </a:r>
          </a:p>
          <a:p/>
          <a:p>
            <a:r>
              <a:t>The bottom card recalls the separability from the previous slide with concrete machinery. None of these is "not a real database"; each occupies a different point in the space we are about to draw.</a:t>
            </a:r>
          </a:p>
          <a:p/>
          <a:p>
            <a:r>
              <a:t>Next slide makes "the contract" precise: five dimensions that organize the rest of the lecture.</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4 minutes.</a:t>
            </a:r>
          </a:p>
          <a:p/>
          <a:p>
            <a:r>
              <a:t>This is the lecture's central visual; everything that follows lives somewhere on it. Walk each row as an engineering QUESTION, not a feature list. When relational vs NoSQL, ORMs, query plans, or transactions come up later, return here and point at the row they occupy.</a:t>
            </a:r>
          </a:p>
          <a:p/>
          <a:p>
            <a:r>
              <a:t>The footer line is the model's point: requirements belong to the APPLICATION; guarantees belong to the DATABASE. Keeping those separate is what lets "NoSQL" be a set of points in this space rather than a rival camp — and what makes "does the database enforce my invariant?" a question with a precise answer rather than a vibe.</a:t>
            </a:r>
          </a:p>
          <a:p/>
          <a:p>
            <a:r>
              <a:t>Operations (backup, recovery, migration, administration) is a real sixth dimension; we defer it to the Operations &amp; SRE unit rather than pretending it fits today.</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a:t>
            </a:r>
          </a:p>
          <a:p/>
          <a:p>
            <a:r>
              <a:t>One pass, one sentence per family, always the same facts: rooms, users, reservations.</a:t>
            </a:r>
          </a:p>
          <a:p/>
          <a:p>
            <a:r>
              <a:t>DO NOT claim capability walls. A document database CAN represent relationships (references across documents); a relational database CAN store JSON (jsonb columns). The real differences are NATIVE representation and common usage — what the system makes easy, indexed, and idiomatic. Teaching these as absolute capabilities is the second named non-claim of this lecture.</a:t>
            </a:r>
          </a:p>
          <a:p/>
          <a:p>
            <a:r>
              <a:t>Foreshadow: "easy vs harder" is about to matter — our invariant is a cross-row rule.</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a:t>
            </a:r>
          </a:p>
          <a:p/>
          <a:p>
            <a:r>
              <a:t>The crossed-out line is folk wisdom students arrive with; name it and reject it explicitly — it is not a defensible engineering rule. "NoSQL" is not a single consistency model: Spanner-class relational systems are distributed and horizontally scalable; several document and key-value systems offer strong consistency and multi-document transactions. The engineering move is the previous slide's footer: compare GUARANTEES against REQUIREMENTS, per system, per dimension.</a:t>
            </a:r>
          </a:p>
          <a:p/>
          <a:p>
            <a:r>
              <a:t>We now commit to a relational first implementation — not because relational is "the default answer," but because our requirements (left card) select it. Later slides compare NoSQL alternatives against those same requirements.</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a:t>
            </a:r>
          </a:p>
          <a:p/>
          <a:p>
            <a:r>
              <a:t>These four questions make the Semantics and Concurrency rows of the abstract model operational. The answers differ WITHIN camps, not just between them: two relational engines at their default isolation levels answer question 3 differently, and so do two NoSQL systems. That is why the label ("SQL," "NoSQL") tells you less than the documentation's guarantees section.</a:t>
            </a:r>
          </a:p>
          <a:p/>
          <a:p>
            <a:r>
              <a:t>Question 3 is the lecture's destination — hold it up now, promise it gets 20 minutes later. Question 4 foreshadows the three-fixes slide: in some systems the invariant can live IN the database; in others it must live in application discipline.</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a:t>
            </a:r>
          </a:p>
          <a:p/>
          <a:p>
            <a:r>
              <a:t>Quick poll, not a worksheet: for each system, pick a data model, a consistency posture, and a scaling posture — one minute of neighbor discussion, then take answers.</a:t>
            </a:r>
          </a:p>
          <a:p/>
          <a:p>
            <a:r>
              <a:t>Expected: A → relational, strong isolation available, single primary, indexes for ad-hoc queries. B → partitioned key-value / wide-column, relaxed consistency, write-optimized, partition by device id; no cross-row invariant exists, so nothing is lost by relaxing it.</a:t>
            </a:r>
          </a:p>
          <a:p/>
          <a:p>
            <a:r>
              <a:t>The teaching point: B is not "worse engineering" than A — its requirements genuinely do not need what A must pay for. Resist any student framing of A as legacy and B as modern.</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a:t>
            </a:r>
          </a:p>
          <a:p/>
          <a:p>
            <a:r>
              <a:t>Act II's modeling discipline, applied: an ER model selects which facts exist and how they relate. One user makes many reservations; one room hosts many reservations; the reservation is the relationship made into an entity.</a:t>
            </a:r>
          </a:p>
          <a:p/>
          <a:p>
            <a:r>
              <a:t>Point at the bolded attributes: starts_at, ends_at, status are there BECAUSE the invariant needs them — a model earns its attributes from the obligations it must support, not from an urge to record everything.</a:t>
            </a:r>
          </a:p>
          <a:p/>
          <a:p>
            <a:r>
              <a:t>Ask: could we model this as ROOM embedding a list of reservations? Yes — that is the document shape from slide 5; the invariant then lives inside one document, which will matter later. The relational shape makes the reservation a first-class row.</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4 minutes.</a:t>
            </a:r>
          </a:p>
          <a:p/>
          <a:p>
            <a:r>
              <a:t>Walk the DDL top to bottom: every line is an obligation the DATABASE now enforces no matter which code path writes — a directness of Modeling-meets-Alignment that application-level validation never achieves. The schema is the model, with authority.</a:t>
            </a:r>
          </a:p>
          <a:p/>
          <a:p>
            <a:r>
              <a:t>Then ask the trap question: "Which line prevents double-booking?" Students will nominate CHECK. Let them argue, then land the red line: a CHECK sees ONE row; a foreign key points from one row to one row. Overlap is a predicate over PAIRS of rows, and nothing in this vocabulary can state it. Do NOT soften this — it is the technical point the lecture is built around, and slide 23 resolves it.</a:t>
            </a:r>
          </a:p>
          <a:p/>
          <a:p>
            <a:r>
              <a:t>(If asked: yes, some engines have exclusion constraints that CAN state it — that is exactly slide 23's first fix. Park it.)</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a:t>
            </a:r>
          </a:p>
          <a:p/>
          <a:p>
            <a:r>
              <a:t>Normalization is not a virtue and denormalization is not a sin; they move the same cost between the write path and the read path. Our service renames a room roughly never and lists reservations constantly — a defensible denormalization. A trading system updating prices thousands of times a second makes the opposite call.</a:t>
            </a:r>
          </a:p>
          <a:p/>
          <a:p>
            <a:r>
              <a:t>Connect back to slide 5: document stores denormalize NATIVELY (the room document embeds its reservations); relational systems normalize natively and denormalize deliberately. Same tradeoff, different defaults.</a:t>
            </a:r>
          </a:p>
          <a:p/>
          <a:p>
            <a:r>
              <a:t>One caution forward: every copied fact is a new invariant ("copies agree") that someone must now enforce — the same shape as our overlap invariant, and the same question: WHERE does enforcement live?</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a:t>
            </a:r>
          </a:p>
          <a:p/>
          <a:p>
            <a:r>
              <a:t>The two rows on screen are the slide-10 trap made concrete: both pass every declared constraint; together they break the service. Model validity and application correctness are different properties with different enforcement machinery.</a:t>
            </a:r>
          </a:p>
          <a:p/>
          <a:p>
            <a:r>
              <a:t>This is also where ACID folklore starts to wobble — students have heard "C is for Consistency" and assume the database therefore understands their application. It does not: it enforces the constraints actually supplied, and ours cannot yet be supplied in row-local vocabulary. Say that plainly now; slide 20 formalizes it.</a:t>
            </a:r>
          </a:p>
          <a:p/>
          <a:p>
            <a:r>
              <a:t>Transition: before we can fix enforcement, we need the other half of the design space — how we ASK the database questions. Query interfaces, then execution, then back here for concurrency.</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a:t>
            </a:r>
          </a:p>
          <a:p/>
          <a:p>
            <a:r>
              <a:t>Read the WHERE clause aloud as a sentence: "any CONFIRMED reservation for this room whose interval overlaps mine." Two minutes on the overlap predicate is time well spent — students reliably get interval overlap wrong (they test only endpoints-inside). Draw two intervals on the board if needed.</a:t>
            </a:r>
          </a:p>
          <a:p/>
          <a:p>
            <a:r>
              <a:t>The declarative point sets up execution: because the query is only a specification, the engine is FREE to choose access paths — and obligated to pick well. That freedom is where both performance (slides 16-17) and the race (slide 19) come from: nothing in this text says WHEN it runs relative to anyone else's insert.</a:t>
            </a:r>
          </a:p>
          <a:p/>
          <a:p>
            <a:r>
              <a:t>Keep SQL syntax discussion to these few minutes — the design space, not the dialect, is the lecture.</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a:t>
            </a:r>
          </a:p>
          <a:p/>
          <a:p>
            <a:r>
              <a:t>Same overlap query as the previous slide, now written against objects. Stress the slide label: this is pseudo-ORM; SQLAlchemy, Django, Hibernate, Prisma each spell it differently, and teaching one dialect is not the point.</a:t>
            </a:r>
          </a:p>
          <a:p/>
          <a:p>
            <a:r>
              <a:t>Both columns are true at once. The buys are real (teams ship faster, mapping bugs drop); the costs are structural, not bugs to be fixed in the next release — an abstraction over a different data model MUST leak somewhere (objects have identity and references; rows have keys and values).</a:t>
            </a:r>
          </a:p>
          <a:p/>
          <a:p>
            <a:r>
              <a:t>Resist the class splitting into ORM-always and ORM-never camps for two minutes — the next slide dissolves the rivalry by placing them at different layers.</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a:t>
            </a:r>
          </a:p>
          <a:p/>
          <a:p>
            <a:r>
              <a:t>One of the four slides that carry the lecture. The stack kills the false dichotomy from the previous slide: every ORM query BECOMES SQL; every SQL query BECOMES an engine plan. Choosing "ORM or SQL" is choosing your authoring layer, nothing more — correctness and cost are decided below, and remain yours.</a:t>
            </a:r>
          </a:p>
          <a:p/>
          <a:p>
            <a:r>
              <a:t>Practical corollary to say out loud: when the ORM is slow or wrong, you debug by reading DOWNWARD — the emitted SQL, then the plan. An engineer who can only read the top layer cannot diagnose the system. This mirrors Act II's delegation lesson: delegating the writing does not delegate the accountability.</a:t>
            </a:r>
          </a:p>
          <a:p/>
          <a:p>
            <a:r>
              <a:t>Ask: where in this stack did our overlap invariant go? (Nowhere yet — it is still only in our heads and in one WHERE clause. Keep that discomfort alive until slide 23.)</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4 minutes.</a:t>
            </a:r>
          </a:p>
          <a:p/>
          <a:p>
            <a:r>
              <a:t>One of the four slides that carry the lecture. Walk the pipeline once: parse and validate against the schema; a logical plan (relational algebra — what to combine); the optimizer compares candidate plans using statistics; a physical plan (which index, which join algorithm); execution; results.</a:t>
            </a:r>
          </a:p>
          <a:p/>
          <a:p>
            <a:r>
              <a:t>Students should leave knowing EXPLAIN exists: every serious engine will show you the chosen plan, and reading it is how slide 17's difference is diagnosed.</a:t>
            </a:r>
          </a:p>
          <a:p/>
          <a:p>
            <a:r>
              <a:t>PLACEMENT NOTE, deliberate and worth saying: query optimization belongs HERE, under execution — it is about running ONE query efficiently. Transactions (§5) are about which CONCURRENT HISTORIES are permitted. They interact (locking can change plan costs) but they solve different problems. Filing optimization under transactions is a category error.</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a:t>
            </a:r>
          </a:p>
          <a:p/>
          <a:p>
            <a:r>
              <a:t>The numbers are illustrative, not benchmarks — the shape is what matters: linear-in-table versus logarithmic-plus-answer-size. On the previous slide's pipeline, the ONLY thing that changed is what the optimizer could choose from.</a:t>
            </a:r>
          </a:p>
          <a:p/>
          <a:p>
            <a:r>
              <a:t>Ask which columns our overlap query wants indexed (room_id, then time). Then the other edge: every insert now maintains the index too — a write-heavy telemetry table (slide 8's system B) might rightly carry fewer indexes. Design decision, access pattern in, index out.</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a:t>
            </a:r>
          </a:p>
          <a:p/>
          <a:p>
            <a:r>
              <a:t>The loop is CORRECT — every test passes, the page renders. The defect is the shape of the access: one query per row, each paying a full round trip. It appears exactly where the ORM made row access invisible (r.room.name looks like a field read, is a query).</a:t>
            </a:r>
          </a:p>
          <a:p/>
          <a:p>
            <a:r>
              <a:t>Detection is observational, not static: query logs, APM dashboards, or an ORM's echo mode; count queries per request and be suspicious of counts that scale with result size.</a:t>
            </a:r>
          </a:p>
          <a:p/>
          <a:p>
            <a:r>
              <a:t>The agent point is Act II's lesson again: generated code satisfies the stated spec. "Functionally correct" was the stated spec; access pattern was not. If you want it, state it and check it — review the emitted SQL.</a:t>
            </a:r>
          </a:p>
          <a:p/>
          <a:p>
            <a:r>
              <a:t>Transition: everything so far assumed one request at a time. Drop that assumption.</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5 minutes.</a:t>
            </a:r>
          </a:p>
          <a:p/>
          <a:p>
            <a:r>
              <a:t>The most important slide of the lecture — walk it slowly, twice.</a:t>
            </a:r>
          </a:p>
          <a:p/>
          <a:p>
            <a:r>
              <a:t>First pass: read each request's code shape (check for conflicts, then insert — the obvious algorithm, and the one students wrote in their heads on slide 13). Second pass: walk the interleaving t1→t4. At t1 and t2 BOTH checks run against a table with neither insert present; both see "no conflict"; both inserts then commit. Check-then-act, torn by time.</a:t>
            </a:r>
          </a:p>
          <a:p/>
          <a:p>
            <a:r>
              <a:t>Dwell on where the bug is: not in A, not in B, not in SQL, not in the driver. Each request is locally correct. The defect lives only in the INTERLEAVING — a property of the pair of executions, exactly as the violation on slide 12 was a property of the pair of rows. Correct-looking code cannot fix this from inside one request: re-checking after insert, double-checking before — every variant just moves the window.</a:t>
            </a:r>
          </a:p>
          <a:p/>
          <a:p>
            <a:r>
              <a:t>Ask: "who tested this?" Both requests pass every unit test and every sequential integration test. This is why concurrency is an ENGINEERING obligation — you must choose machinery (slide 23) rather than write more careful local code. Agents generating locally-correct check-then-act code will walk straight into this.</a:t>
            </a:r>
          </a:p>
          <a:p/>
          <a:p>
            <a:r>
              <a:t>Do NOT let anyone claim a foreign key or CHECK would have stopped it — slide 10 established why not; it resurfaces with the fixes on slide 23.</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a:t>
            </a:r>
          </a:p>
          <a:p/>
          <a:p>
            <a:r>
              <a:t>Each letter is real and valuable — do not teach ACID cynically. Atomicity alone removes a whole failure class (the half-written reservation). Durability is why slide 2's restart stopped being fatal.</a:t>
            </a:r>
          </a:p>
          <a:p/>
          <a:p>
            <a:r>
              <a:t>The red line is the third named non-claim of the lecture, and students arrive believing it: "the database is ACID, therefore my data is consistent." Consistency here is a technical term — declared constraints and transaction logic — not a warranty about intentions. Slide 19's race ran inside perfectly ACID transactions at default isolation: atomic, durable, each constraint held. The system did everything it promised. The promise just did not include our invariant.</a:t>
            </a:r>
          </a:p>
          <a:p/>
          <a:p>
            <a:r>
              <a:t>Isolation is the letter with a dial, and the next two slides turn it.</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a:t>
            </a:r>
          </a:p>
          <a:p/>
          <a:p>
            <a:r>
              <a:t>The nested bars are a set diagram: all interleavings; the subset your isolation level admits; the serializable core. An isolation level is a POLICY over histories — the same object Act II's state machines reasoned about: define the reachable executions, then ask whether every one preserves the invariant.</a:t>
            </a:r>
          </a:p>
          <a:p/>
          <a:p>
            <a:r>
              <a:t>Serializability's definition deserves precision: the system may interleave however it likes, provided the outcome is equivalent to SOME serial order. That is why it rescues check-then-act: in any serial order, the second request's check runs after the first's insert.</a:t>
            </a:r>
          </a:p>
          <a:p/>
          <a:p>
            <a:r>
              <a:t>What it costs — and why engines do not default to it — is the next slide. Keep the taxonomy OUT of this slide; here there is only "permitted histories," narrower or wider.</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a:t>
            </a:r>
          </a:p>
          <a:p/>
          <a:p>
            <a:r>
              <a:t>Two minutes, not twenty — the full anomaly taxonomy is a databases-course topic; today's point is only that the dial exists and where OUR race sits on it.</a:t>
            </a:r>
          </a:p>
          <a:p/>
          <a:p>
            <a:r>
              <a:t>The middle row is the one that surprises: snapshot isolation feels strong ("I read a consistent frozen view!") and still permits the race, because neither transaction WRITES what the other READ — both checked a range, both inserted new rows. That pattern is write skew; one sentence of vocabulary, no more.</a:t>
            </a:r>
          </a:p>
          <a:p/>
          <a:p>
            <a:r>
              <a:t>So "we use transactions" does not settle slide 19. Either the level excludes the history (bottom row, with retry costs), or the invariant needs a different home — next slide.</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a:t>
            </a:r>
          </a:p>
          <a:p/>
          <a:p>
            <a:r>
              <a:t>The payoff slide. Compare the three fixes by ONE axis: where the invariant is REPRESENTED and ENFORCED.</a:t>
            </a:r>
          </a:p>
          <a:p/>
          <a:p>
            <a:r>
              <a:t>(1) Exclusion constraint — the invariant lives in the schema, like slide 10's obligations. Strongest home: enforced no matter which code path, ORM, or agent writes. It exists because interval overlap can be stated as an operator (&amp;&amp;) the engine can index; a plain CHECK still cannot see a second row. Cost: not portable across engines.</a:t>
            </a:r>
          </a:p>
          <a:p/>
          <a:p>
            <a:r>
              <a:t>(2) Serializable + retry — the invariant stays implicit in your check-then-act logic; the isolation contract guarantees the history is safe. General (works for ANY invariant you can code), but the obligation moves to the application: aborts are normal, retry or lose requests.</a:t>
            </a:r>
          </a:p>
          <a:p/>
          <a:p>
            <a:r>
              <a:t>(3) Explicit locking — you serialize room 117's writers yourself. Transparent, portable, and brittle: the invariant now lives in a convention every future code path must remember. (Our own codebase analog: conventions rot; constraints don't.)</a:t>
            </a:r>
          </a:p>
          <a:p/>
          <a:p>
            <a:r>
              <a:t>The red line is the fourth named non-claim, stated once more because students WILL reach for "just add a constraint" — the point is WHICH KIND of constraint can even see the pair.</a:t>
            </a:r>
          </a:p>
          <a:p/>
          <a:p>
            <a:r>
              <a:t>If asked about the document-model alternative: embedding reservations in the room document makes the invariant single-document, enforced by a compare-and-swap on one object — a legitimate fourth point in the space, with its own costs (hot document, cross-room queries).</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a:t>
            </a:r>
          </a:p>
          <a:p/>
          <a:p>
            <a:r>
              <a:t>Close the section by pricing it. Every fix on the previous slide narrows permitted histories, and narrowing has mechanical costs: waiting (locks), aborted work (retries), and a throughput ceiling on hot objects. None of this is pathology — it is the machinery doing what you asked.</a:t>
            </a:r>
          </a:p>
          <a:p/>
          <a:p>
            <a:r>
              <a:t>This reframes slide 6 honestly: systems that relax isolation or consistency are not "wrong"; they are paying less because their requirements exclude fewer histories. The folk rule from slide 6 fails precisely because it reads a price list as a morality tale.</a:t>
            </a:r>
          </a:p>
          <a:p/>
          <a:p>
            <a:r>
              <a:t>Handoff: "how much does it cost under OUR workload?" is a measurement question — Performance &amp; Reliability, two lectures from now.</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4 minutes.</a:t>
            </a:r>
          </a:p>
          <a:p/>
          <a:p>
            <a:r>
              <a:t>New requirement, same system: recurring bookings. The schema must change while the service runs and while two years of reservations sit in the table. Walk the three questions.</a:t>
            </a:r>
          </a:p>
          <a:p/>
          <a:p>
            <a:r>
              <a:t>Representation re-opens slide 5 honestly — a recurrence rule is compact but makes the overlap check computational; expanded rows keep the invariant machinery working but multiply data. There is no free choice; the invariant's HOME (slide 23) constrains which representations stay enforceable.</a:t>
            </a:r>
          </a:p>
          <a:p/>
          <a:p>
            <a:r>
              <a:t>The availability row ties directly to Tuesday: a rolling deploy means OLD and NEW code coexist for a window, so old and new DATA SHAPES must coexist too. Expand/migrate/contract is the discipline: add the new column or table (both versions tolerate it), migrate and dual-write, then contract once the old reader is gone. Migrations are numbered, reviewed, reversible artifacts — schema change is engineering, not a DBA favor.</a:t>
            </a:r>
          </a:p>
          <a:p/>
          <a:p>
            <a:r>
              <a:t>Rollback question for the class: code rolls back by redeploying the old image — what rolls back a migration that already rewrote rows?</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4 minutes.</a:t>
            </a:r>
          </a:p>
          <a:p/>
          <a:p>
            <a:r>
              <a:t>This flowchart is Tuesday's slide-4 motif, reused verbatim as Act III's recurring frame — do not present it as new. Re-walk it with today's artifacts: the PROBLEM was slide 2's three requirements; the MODELS were the abstract five-dimension model, the ER diagram, and the schema; JUDGMENT was relational-vs-NoSQL and normalize-vs-denormalize; REALIZE was DDL, queries, ORM code; EVIDENCE was query plans, cost comparisons, and the double-booking interleaving; ACCEPT/REJECT chose the exclusion constraint and rejected check-then-act.</a:t>
            </a:r>
          </a:p>
          <a:p/>
          <a:p>
            <a:r>
              <a:t>Alignment runs ALONGSIDE, not after — that is why it is drawn as a parallel lane and not a seventh box. Today it was never a post-hoc review step: the schema constraints, the exclusion constraint, the serializable contract are alignment machinery embedded IN the realization. The database is the course's cleanest example of Modeling and Alignment fused in one component: the schema IS the model, with authority.</a:t>
            </a:r>
          </a:p>
          <a:p/>
          <a:p>
            <a:r>
              <a:t>(Deck-maintenance note, not for class: Tuesday's deck renders this same chart; the two renderings should be reconciled to one geometry after both decks land.)</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a:t>
            </a:r>
          </a:p>
          <a:p/>
          <a:p>
            <a:r>
              <a:t>Close on the governing question, answered dimension by dimension: we chose a representation (relational, normalized, indexed), demanded semantics (constraints, durability), picked interfaces (SQL under an ORM, with eyes open), governed concurrency (serializable-or-constraint, priced), and deferred scale until measured.</a:t>
            </a:r>
          </a:p>
          <a:p/>
          <a:p>
            <a:r>
              <a:t>Then hand off with the question on the title. A working system is the STARTING point of most engineering careers, not the end: next unit asks whether this system's structure — our code and everything we now depend on, engine features included (that exclusion constraint bound us to an engine) — can absorb its next ten changes economically.</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 simple">
  <p:cSld name="Title slide - simple">
    <p:spTree>
      <p:nvGrpSpPr>
        <p:cNvPr id="1" name="Shape 14"/>
        <p:cNvGrpSpPr/>
        <p:nvPr/>
      </p:nvGrpSpPr>
      <p:grpSpPr>
        <a:xfrm>
          <a:off x="0" y="0"/>
          <a:ext cx="0" cy="0"/>
          <a:chOff x="0" y="0"/>
          <a:chExt cx="0" cy="0"/>
        </a:xfrm>
      </p:grpSpPr>
      <p:sp>
        <p:nvSpPr>
          <p:cNvPr id="15" name="Google Shape;15;p2"/>
          <p:cNvSpPr txBox="1">
            <a:spLocks noGrp="1"/>
          </p:cNvSpPr>
          <p:nvPr>
            <p:ph type="subTitle" idx="1"/>
          </p:nvPr>
        </p:nvSpPr>
        <p:spPr>
          <a:xfrm>
            <a:off x="1308100" y="3235325"/>
            <a:ext cx="6400800" cy="1881188"/>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1000"/>
              </a:spcBef>
              <a:spcAft>
                <a:spcPts val="0"/>
              </a:spcAft>
              <a:buSzPts val="1800"/>
              <a:buFont typeface="Times"/>
              <a:buNone/>
              <a:defRPr>
                <a:solidFill>
                  <a:srgbClr val="000000"/>
                </a:solidFill>
                <a:latin typeface="Calibri"/>
                <a:ea typeface="Calibri"/>
                <a:cs typeface="Calibri"/>
                <a:sym typeface="Calibri"/>
              </a:defRPr>
            </a:lvl1pPr>
            <a:lvl2pPr lvl="1" algn="l">
              <a:lnSpc>
                <a:spcPct val="100000"/>
              </a:lnSpc>
              <a:spcBef>
                <a:spcPts val="1000"/>
              </a:spcBef>
              <a:spcAft>
                <a:spcPts val="0"/>
              </a:spcAft>
              <a:buSzPts val="1800"/>
              <a:buChar char="•"/>
              <a:defRPr/>
            </a:lvl2pPr>
            <a:lvl3pPr lvl="2" algn="l">
              <a:lnSpc>
                <a:spcPct val="100000"/>
              </a:lnSpc>
              <a:spcBef>
                <a:spcPts val="1000"/>
              </a:spcBef>
              <a:spcAft>
                <a:spcPts val="0"/>
              </a:spcAft>
              <a:buSzPts val="1800"/>
              <a:buChar char="•"/>
              <a:defRPr/>
            </a:lvl3pPr>
            <a:lvl4pPr lvl="3" algn="l">
              <a:lnSpc>
                <a:spcPct val="100000"/>
              </a:lnSpc>
              <a:spcBef>
                <a:spcPts val="1000"/>
              </a:spcBef>
              <a:spcAft>
                <a:spcPts val="0"/>
              </a:spcAft>
              <a:buSzPts val="1800"/>
              <a:buChar char="•"/>
              <a:defRPr/>
            </a:lvl4pPr>
            <a:lvl5pPr lvl="4" algn="l">
              <a:lnSpc>
                <a:spcPct val="100000"/>
              </a:lnSpc>
              <a:spcBef>
                <a:spcPts val="1000"/>
              </a:spcBef>
              <a:spcAft>
                <a:spcPts val="0"/>
              </a:spcAft>
              <a:buSzPts val="1800"/>
              <a:buChar char="•"/>
              <a:defRPr/>
            </a:lvl5pPr>
            <a:lvl6pPr lvl="5" algn="l">
              <a:lnSpc>
                <a:spcPct val="100000"/>
              </a:lnSpc>
              <a:spcBef>
                <a:spcPts val="1000"/>
              </a:spcBef>
              <a:spcAft>
                <a:spcPts val="0"/>
              </a:spcAft>
              <a:buSzPts val="1800"/>
              <a:buChar char="•"/>
              <a:defRPr/>
            </a:lvl6pPr>
            <a:lvl7pPr lvl="6" algn="l">
              <a:lnSpc>
                <a:spcPct val="100000"/>
              </a:lnSpc>
              <a:spcBef>
                <a:spcPts val="1000"/>
              </a:spcBef>
              <a:spcAft>
                <a:spcPts val="0"/>
              </a:spcAft>
              <a:buSzPts val="1800"/>
              <a:buChar char="•"/>
              <a:defRPr/>
            </a:lvl7pPr>
            <a:lvl8pPr lvl="7" algn="l">
              <a:lnSpc>
                <a:spcPct val="100000"/>
              </a:lnSpc>
              <a:spcBef>
                <a:spcPts val="1000"/>
              </a:spcBef>
              <a:spcAft>
                <a:spcPts val="0"/>
              </a:spcAft>
              <a:buSzPts val="1800"/>
              <a:buChar char="•"/>
              <a:defRPr/>
            </a:lvl8pPr>
            <a:lvl9pPr lvl="8" algn="l">
              <a:lnSpc>
                <a:spcPct val="100000"/>
              </a:lnSpc>
              <a:spcBef>
                <a:spcPts val="1000"/>
              </a:spcBef>
              <a:spcAft>
                <a:spcPts val="0"/>
              </a:spcAft>
              <a:buSzPts val="1800"/>
              <a:buChar char="•"/>
              <a:defRPr/>
            </a:lvl9pPr>
          </a:lstStyle>
          <a:p>
            <a:endParaRPr/>
          </a:p>
        </p:txBody>
      </p:sp>
      <p:sp>
        <p:nvSpPr>
          <p:cNvPr id="16" name="Google Shape;16;p2"/>
          <p:cNvSpPr txBox="1">
            <a:spLocks noGrp="1"/>
          </p:cNvSpPr>
          <p:nvPr>
            <p:ph type="ctrTitle"/>
          </p:nvPr>
        </p:nvSpPr>
        <p:spPr>
          <a:xfrm>
            <a:off x="1127125" y="2078038"/>
            <a:ext cx="7031038" cy="874712"/>
          </a:xfrm>
          <a:prstGeom prst="rect">
            <a:avLst/>
          </a:prstGeom>
          <a:solidFill>
            <a:srgbClr val="FFFFFF"/>
          </a:solidFill>
          <a:ln>
            <a:noFill/>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000000"/>
              </a:buClr>
              <a:buSzPts val="3600"/>
              <a:buFont typeface="Calibri"/>
              <a:buNone/>
              <a:defRPr sz="3600" cap="none">
                <a:solidFill>
                  <a:srgbClr val="00000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7" name="Google Shape;17;p2"/>
          <p:cNvCxnSpPr/>
          <p:nvPr/>
        </p:nvCxnSpPr>
        <p:spPr>
          <a:xfrm>
            <a:off x="-16760" y="0"/>
            <a:ext cx="9144000" cy="0"/>
          </a:xfrm>
          <a:prstGeom prst="straightConnector1">
            <a:avLst/>
          </a:prstGeom>
          <a:noFill/>
          <a:ln w="38100" cap="flat" cmpd="sng">
            <a:solidFill>
              <a:schemeClr val="accent1"/>
            </a:solidFill>
            <a:prstDash val="solid"/>
            <a:miter lim="8000"/>
            <a:headEnd type="none" w="med" len="med"/>
            <a:tailEnd type="none" w="med" len="med"/>
          </a:ln>
        </p:spPr>
      </p:cxnSp>
      <p:cxnSp>
        <p:nvCxnSpPr>
          <p:cNvPr id="18" name="Google Shape;18;p2"/>
          <p:cNvCxnSpPr/>
          <p:nvPr/>
        </p:nvCxnSpPr>
        <p:spPr>
          <a:xfrm>
            <a:off x="0" y="6858000"/>
            <a:ext cx="9144000" cy="0"/>
          </a:xfrm>
          <a:prstGeom prst="straightConnector1">
            <a:avLst/>
          </a:prstGeom>
          <a:noFill/>
          <a:ln w="38100" cap="flat" cmpd="sng">
            <a:solidFill>
              <a:schemeClr val="accent1"/>
            </a:solidFill>
            <a:prstDash val="solid"/>
            <a:miter lim="8000"/>
            <a:headEnd type="none" w="med" len="med"/>
            <a:tailEnd type="none" w="med" len="med"/>
          </a:ln>
        </p:spPr>
      </p:cxnSp>
      <p:sp>
        <p:nvSpPr>
          <p:cNvPr id="19" name="Google Shape;19;p2"/>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pic>
        <p:nvPicPr>
          <p:cNvPr id="20" name="Google Shape;20;p2"/>
          <p:cNvPicPr preferRelativeResize="0"/>
          <p:nvPr/>
        </p:nvPicPr>
        <p:blipFill rotWithShape="1">
          <a:blip r:embed="rId2">
            <a:alphaModFix/>
          </a:blip>
          <a:srcRect/>
          <a:stretch/>
        </p:blipFill>
        <p:spPr>
          <a:xfrm>
            <a:off x="2097131" y="5715964"/>
            <a:ext cx="5091026" cy="54258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p:cSld name="Content">
    <p:spTree>
      <p:nvGrpSpPr>
        <p:cNvPr id="1" name="Shape 21"/>
        <p:cNvGrpSpPr/>
        <p:nvPr/>
      </p:nvGrpSpPr>
      <p:grpSpPr>
        <a:xfrm>
          <a:off x="0" y="0"/>
          <a:ext cx="0" cy="0"/>
          <a:chOff x="0" y="0"/>
          <a:chExt cx="0" cy="0"/>
        </a:xfrm>
      </p:grpSpPr>
      <p:sp>
        <p:nvSpPr>
          <p:cNvPr id="22" name="Google Shape;22;p3"/>
          <p:cNvSpPr txBox="1">
            <a:spLocks noGrp="1"/>
          </p:cNvSpPr>
          <p:nvPr>
            <p:ph type="body" idx="1"/>
          </p:nvPr>
        </p:nvSpPr>
        <p:spPr>
          <a:xfrm>
            <a:off x="277148" y="1305004"/>
            <a:ext cx="8557768" cy="5166916"/>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30200" algn="l">
              <a:lnSpc>
                <a:spcPct val="100000"/>
              </a:lnSpc>
              <a:spcBef>
                <a:spcPts val="1000"/>
              </a:spcBef>
              <a:spcAft>
                <a:spcPts val="0"/>
              </a:spcAft>
              <a:buSzPts val="1600"/>
              <a:buChar char="•"/>
              <a:defRPr/>
            </a:lvl2pPr>
            <a:lvl3pPr marL="1371600" lvl="2" indent="-330200" algn="l">
              <a:lnSpc>
                <a:spcPct val="100000"/>
              </a:lnSpc>
              <a:spcBef>
                <a:spcPts val="1000"/>
              </a:spcBef>
              <a:spcAft>
                <a:spcPts val="0"/>
              </a:spcAft>
              <a:buSzPts val="16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23" name="Google Shape;23;p3"/>
          <p:cNvSpPr txBox="1">
            <a:spLocks noGrp="1"/>
          </p:cNvSpPr>
          <p:nvPr>
            <p:ph type="title"/>
          </p:nvPr>
        </p:nvSpPr>
        <p:spPr>
          <a:xfrm>
            <a:off x="277148" y="118428"/>
            <a:ext cx="8043862" cy="638175"/>
          </a:xfrm>
          <a:prstGeom prst="rect">
            <a:avLst/>
          </a:prstGeom>
          <a:noFill/>
          <a:ln>
            <a:noFill/>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4" name="Google Shape;24;p3"/>
          <p:cNvCxnSpPr/>
          <p:nvPr/>
        </p:nvCxnSpPr>
        <p:spPr>
          <a:xfrm>
            <a:off x="277148" y="756603"/>
            <a:ext cx="8557769" cy="0"/>
          </a:xfrm>
          <a:prstGeom prst="straightConnector1">
            <a:avLst/>
          </a:prstGeom>
          <a:noFill/>
          <a:ln w="38100" cap="flat" cmpd="sng">
            <a:solidFill>
              <a:schemeClr val="accent1"/>
            </a:solidFill>
            <a:prstDash val="solid"/>
            <a:miter lim="8000"/>
            <a:headEnd type="none" w="med" len="med"/>
            <a:tailEnd type="none" w="med" len="med"/>
          </a:ln>
        </p:spPr>
      </p:cxnSp>
      <p:sp>
        <p:nvSpPr>
          <p:cNvPr id="25" name="Google Shape;25;p3"/>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p:cSld name="Section">
    <p:spTree>
      <p:nvGrpSpPr>
        <p:cNvPr id="1" name="Shape 26"/>
        <p:cNvGrpSpPr/>
        <p:nvPr/>
      </p:nvGrpSpPr>
      <p:grpSpPr>
        <a:xfrm>
          <a:off x="0" y="0"/>
          <a:ext cx="0" cy="0"/>
          <a:chOff x="0" y="0"/>
          <a:chExt cx="0" cy="0"/>
        </a:xfrm>
      </p:grpSpPr>
      <p:sp>
        <p:nvSpPr>
          <p:cNvPr id="27" name="Google Shape;27;p4"/>
          <p:cNvSpPr txBox="1">
            <a:spLocks noGrp="1"/>
          </p:cNvSpPr>
          <p:nvPr>
            <p:ph type="title"/>
          </p:nvPr>
        </p:nvSpPr>
        <p:spPr>
          <a:xfrm>
            <a:off x="685800" y="2747963"/>
            <a:ext cx="7772400" cy="1362075"/>
          </a:xfrm>
          <a:prstGeom prst="rect">
            <a:avLst/>
          </a:prstGeom>
          <a:solidFill>
            <a:srgbClr val="FFFFFF"/>
          </a:solidFill>
          <a:ln>
            <a:noFill/>
          </a:ln>
        </p:spPr>
        <p:txBody>
          <a:bodyPr spcFirstLastPara="1" wrap="square" lIns="182875" tIns="182875" rIns="182875" bIns="182875" anchor="t" anchorCtr="0">
            <a:normAutofit/>
          </a:bodyPr>
          <a:lstStyle>
            <a:lvl1pPr lvl="0" algn="ctr">
              <a:lnSpc>
                <a:spcPct val="90000"/>
              </a:lnSpc>
              <a:spcBef>
                <a:spcPts val="0"/>
              </a:spcBef>
              <a:spcAft>
                <a:spcPts val="0"/>
              </a:spcAft>
              <a:buClr>
                <a:srgbClr val="262626"/>
              </a:buClr>
              <a:buSzPts val="4000"/>
              <a:buFont typeface="Calibri"/>
              <a:buNone/>
              <a:defRPr sz="4000" b="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8" name="Google Shape;28;p4"/>
          <p:cNvCxnSpPr/>
          <p:nvPr/>
        </p:nvCxnSpPr>
        <p:spPr>
          <a:xfrm>
            <a:off x="-57794" y="0"/>
            <a:ext cx="9259587" cy="0"/>
          </a:xfrm>
          <a:prstGeom prst="straightConnector1">
            <a:avLst/>
          </a:prstGeom>
          <a:noFill/>
          <a:ln w="76200" cap="flat" cmpd="sng">
            <a:solidFill>
              <a:schemeClr val="accent1"/>
            </a:solidFill>
            <a:prstDash val="solid"/>
            <a:miter lim="8000"/>
            <a:headEnd type="none" w="med" len="med"/>
            <a:tailEnd type="none" w="med" len="med"/>
          </a:ln>
        </p:spPr>
      </p:cxnSp>
      <p:cxnSp>
        <p:nvCxnSpPr>
          <p:cNvPr id="29" name="Google Shape;29;p4"/>
          <p:cNvCxnSpPr/>
          <p:nvPr/>
        </p:nvCxnSpPr>
        <p:spPr>
          <a:xfrm>
            <a:off x="-78517" y="6858000"/>
            <a:ext cx="9259587" cy="0"/>
          </a:xfrm>
          <a:prstGeom prst="straightConnector1">
            <a:avLst/>
          </a:prstGeom>
          <a:noFill/>
          <a:ln w="76200" cap="flat" cmpd="sng">
            <a:solidFill>
              <a:schemeClr val="accent1"/>
            </a:solidFill>
            <a:prstDash val="solid"/>
            <a:miter lim="8000"/>
            <a:headEnd type="none" w="med" len="med"/>
            <a:tailEnd type="none" w="med" len="med"/>
          </a:ln>
        </p:spPr>
      </p:cxnSp>
      <p:sp>
        <p:nvSpPr>
          <p:cNvPr id="30" name="Google Shape;30;p4"/>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uble content">
  <p:cSld name="Double content">
    <p:spTree>
      <p:nvGrpSpPr>
        <p:cNvPr id="1" name="Shape 31"/>
        <p:cNvGrpSpPr/>
        <p:nvPr/>
      </p:nvGrpSpPr>
      <p:grpSpPr>
        <a:xfrm>
          <a:off x="0" y="0"/>
          <a:ext cx="0" cy="0"/>
          <a:chOff x="0" y="0"/>
          <a:chExt cx="0" cy="0"/>
        </a:xfrm>
      </p:grpSpPr>
      <p:sp>
        <p:nvSpPr>
          <p:cNvPr id="32" name="Google Shape;32;p5"/>
          <p:cNvSpPr txBox="1">
            <a:spLocks noGrp="1"/>
          </p:cNvSpPr>
          <p:nvPr>
            <p:ph type="body" idx="1"/>
          </p:nvPr>
        </p:nvSpPr>
        <p:spPr>
          <a:xfrm>
            <a:off x="484369" y="1250205"/>
            <a:ext cx="4038600" cy="452596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1000"/>
              </a:spcBef>
              <a:spcAft>
                <a:spcPts val="0"/>
              </a:spcAft>
              <a:buSzPts val="3200"/>
              <a:buChar char="•"/>
              <a:defRPr sz="3200"/>
            </a:lvl1pPr>
            <a:lvl2pPr marL="914400" lvl="1" indent="-406400" algn="l">
              <a:lnSpc>
                <a:spcPct val="100000"/>
              </a:lnSpc>
              <a:spcBef>
                <a:spcPts val="1000"/>
              </a:spcBef>
              <a:spcAft>
                <a:spcPts val="0"/>
              </a:spcAft>
              <a:buSzPts val="2800"/>
              <a:buChar char="•"/>
              <a:defRPr sz="2800"/>
            </a:lvl2pPr>
            <a:lvl3pPr marL="1371600" lvl="2" indent="-381000" algn="l">
              <a:lnSpc>
                <a:spcPct val="100000"/>
              </a:lnSpc>
              <a:spcBef>
                <a:spcPts val="1000"/>
              </a:spcBef>
              <a:spcAft>
                <a:spcPts val="0"/>
              </a:spcAft>
              <a:buSzPts val="2400"/>
              <a:buChar char="•"/>
              <a:defRPr sz="2400"/>
            </a:lvl3pPr>
            <a:lvl4pPr marL="1828800" lvl="3" indent="-355600" algn="l">
              <a:lnSpc>
                <a:spcPct val="100000"/>
              </a:lnSpc>
              <a:spcBef>
                <a:spcPts val="1000"/>
              </a:spcBef>
              <a:spcAft>
                <a:spcPts val="0"/>
              </a:spcAft>
              <a:buSzPts val="2000"/>
              <a:buChar char="•"/>
              <a:defRPr sz="2000"/>
            </a:lvl4pPr>
            <a:lvl5pPr marL="2286000" lvl="4" indent="-355600" algn="l">
              <a:lnSpc>
                <a:spcPct val="100000"/>
              </a:lnSpc>
              <a:spcBef>
                <a:spcPts val="1000"/>
              </a:spcBef>
              <a:spcAft>
                <a:spcPts val="0"/>
              </a:spcAft>
              <a:buSzPts val="2000"/>
              <a:buChar char="•"/>
              <a:defRPr sz="2000"/>
            </a:lvl5pPr>
            <a:lvl6pPr marL="2743200" lvl="5" indent="-342900" algn="l">
              <a:lnSpc>
                <a:spcPct val="100000"/>
              </a:lnSpc>
              <a:spcBef>
                <a:spcPts val="1000"/>
              </a:spcBef>
              <a:spcAft>
                <a:spcPts val="0"/>
              </a:spcAft>
              <a:buSzPts val="1800"/>
              <a:buChar char="•"/>
              <a:defRPr sz="1800"/>
            </a:lvl6pPr>
            <a:lvl7pPr marL="3200400" lvl="6" indent="-342900" algn="l">
              <a:lnSpc>
                <a:spcPct val="100000"/>
              </a:lnSpc>
              <a:spcBef>
                <a:spcPts val="1000"/>
              </a:spcBef>
              <a:spcAft>
                <a:spcPts val="0"/>
              </a:spcAft>
              <a:buSzPts val="1800"/>
              <a:buChar char="•"/>
              <a:defRPr sz="1800"/>
            </a:lvl7pPr>
            <a:lvl8pPr marL="3657600" lvl="7" indent="-342900" algn="l">
              <a:lnSpc>
                <a:spcPct val="100000"/>
              </a:lnSpc>
              <a:spcBef>
                <a:spcPts val="1000"/>
              </a:spcBef>
              <a:spcAft>
                <a:spcPts val="0"/>
              </a:spcAft>
              <a:buSzPts val="1800"/>
              <a:buChar char="•"/>
              <a:defRPr sz="1800"/>
            </a:lvl8pPr>
            <a:lvl9pPr marL="4114800" lvl="8" indent="-342900" algn="l">
              <a:lnSpc>
                <a:spcPct val="100000"/>
              </a:lnSpc>
              <a:spcBef>
                <a:spcPts val="1000"/>
              </a:spcBef>
              <a:spcAft>
                <a:spcPts val="0"/>
              </a:spcAft>
              <a:buSzPts val="1800"/>
              <a:buChar char="•"/>
              <a:defRPr sz="1800"/>
            </a:lvl9pPr>
          </a:lstStyle>
          <a:p>
            <a:endParaRPr/>
          </a:p>
        </p:txBody>
      </p:sp>
      <p:sp>
        <p:nvSpPr>
          <p:cNvPr id="33" name="Google Shape;33;p5"/>
          <p:cNvSpPr txBox="1">
            <a:spLocks noGrp="1"/>
          </p:cNvSpPr>
          <p:nvPr>
            <p:ph type="body" idx="2"/>
          </p:nvPr>
        </p:nvSpPr>
        <p:spPr>
          <a:xfrm>
            <a:off x="4675369" y="1250205"/>
            <a:ext cx="4038600" cy="452596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1000"/>
              </a:spcBef>
              <a:spcAft>
                <a:spcPts val="0"/>
              </a:spcAft>
              <a:buSzPts val="3200"/>
              <a:buChar char="•"/>
              <a:defRPr sz="3200"/>
            </a:lvl1pPr>
            <a:lvl2pPr marL="914400" lvl="1" indent="-406400" algn="l">
              <a:lnSpc>
                <a:spcPct val="100000"/>
              </a:lnSpc>
              <a:spcBef>
                <a:spcPts val="1000"/>
              </a:spcBef>
              <a:spcAft>
                <a:spcPts val="0"/>
              </a:spcAft>
              <a:buSzPts val="2800"/>
              <a:buChar char="•"/>
              <a:defRPr sz="2800"/>
            </a:lvl2pPr>
            <a:lvl3pPr marL="1371600" lvl="2" indent="-381000" algn="l">
              <a:lnSpc>
                <a:spcPct val="100000"/>
              </a:lnSpc>
              <a:spcBef>
                <a:spcPts val="1000"/>
              </a:spcBef>
              <a:spcAft>
                <a:spcPts val="0"/>
              </a:spcAft>
              <a:buSzPts val="2400"/>
              <a:buChar char="•"/>
              <a:defRPr sz="2400"/>
            </a:lvl3pPr>
            <a:lvl4pPr marL="1828800" lvl="3" indent="-355600" algn="l">
              <a:lnSpc>
                <a:spcPct val="100000"/>
              </a:lnSpc>
              <a:spcBef>
                <a:spcPts val="1000"/>
              </a:spcBef>
              <a:spcAft>
                <a:spcPts val="0"/>
              </a:spcAft>
              <a:buSzPts val="2000"/>
              <a:buChar char="•"/>
              <a:defRPr sz="2000"/>
            </a:lvl4pPr>
            <a:lvl5pPr marL="2286000" lvl="4" indent="-355600" algn="l">
              <a:lnSpc>
                <a:spcPct val="100000"/>
              </a:lnSpc>
              <a:spcBef>
                <a:spcPts val="1000"/>
              </a:spcBef>
              <a:spcAft>
                <a:spcPts val="0"/>
              </a:spcAft>
              <a:buSzPts val="2000"/>
              <a:buChar char="•"/>
              <a:defRPr sz="2000"/>
            </a:lvl5pPr>
            <a:lvl6pPr marL="2743200" lvl="5" indent="-342900" algn="l">
              <a:lnSpc>
                <a:spcPct val="100000"/>
              </a:lnSpc>
              <a:spcBef>
                <a:spcPts val="1000"/>
              </a:spcBef>
              <a:spcAft>
                <a:spcPts val="0"/>
              </a:spcAft>
              <a:buSzPts val="1800"/>
              <a:buChar char="•"/>
              <a:defRPr sz="1800"/>
            </a:lvl6pPr>
            <a:lvl7pPr marL="3200400" lvl="6" indent="-342900" algn="l">
              <a:lnSpc>
                <a:spcPct val="100000"/>
              </a:lnSpc>
              <a:spcBef>
                <a:spcPts val="1000"/>
              </a:spcBef>
              <a:spcAft>
                <a:spcPts val="0"/>
              </a:spcAft>
              <a:buSzPts val="1800"/>
              <a:buChar char="•"/>
              <a:defRPr sz="1800"/>
            </a:lvl7pPr>
            <a:lvl8pPr marL="3657600" lvl="7" indent="-342900" algn="l">
              <a:lnSpc>
                <a:spcPct val="100000"/>
              </a:lnSpc>
              <a:spcBef>
                <a:spcPts val="1000"/>
              </a:spcBef>
              <a:spcAft>
                <a:spcPts val="0"/>
              </a:spcAft>
              <a:buSzPts val="1800"/>
              <a:buChar char="•"/>
              <a:defRPr sz="1800"/>
            </a:lvl8pPr>
            <a:lvl9pPr marL="4114800" lvl="8" indent="-342900" algn="l">
              <a:lnSpc>
                <a:spcPct val="100000"/>
              </a:lnSpc>
              <a:spcBef>
                <a:spcPts val="1000"/>
              </a:spcBef>
              <a:spcAft>
                <a:spcPts val="0"/>
              </a:spcAft>
              <a:buSzPts val="1800"/>
              <a:buChar char="•"/>
              <a:defRPr sz="1800"/>
            </a:lvl9pPr>
          </a:lstStyle>
          <a:p>
            <a:endParaRPr/>
          </a:p>
        </p:txBody>
      </p:sp>
      <p:cxnSp>
        <p:nvCxnSpPr>
          <p:cNvPr id="34" name="Google Shape;34;p5"/>
          <p:cNvCxnSpPr/>
          <p:nvPr/>
        </p:nvCxnSpPr>
        <p:spPr>
          <a:xfrm>
            <a:off x="277148" y="756603"/>
            <a:ext cx="8577217" cy="0"/>
          </a:xfrm>
          <a:prstGeom prst="straightConnector1">
            <a:avLst/>
          </a:prstGeom>
          <a:noFill/>
          <a:ln w="38100" cap="flat" cmpd="sng">
            <a:solidFill>
              <a:schemeClr val="accent1"/>
            </a:solidFill>
            <a:prstDash val="solid"/>
            <a:miter lim="8000"/>
            <a:headEnd type="none" w="med" len="med"/>
            <a:tailEnd type="none" w="med" len="med"/>
          </a:ln>
        </p:spPr>
      </p:cxnSp>
      <p:sp>
        <p:nvSpPr>
          <p:cNvPr id="35" name="Google Shape;35;p5"/>
          <p:cNvSpPr txBox="1">
            <a:spLocks noGrp="1"/>
          </p:cNvSpPr>
          <p:nvPr>
            <p:ph type="title"/>
          </p:nvPr>
        </p:nvSpPr>
        <p:spPr>
          <a:xfrm>
            <a:off x="277148" y="118428"/>
            <a:ext cx="8043862" cy="638175"/>
          </a:xfrm>
          <a:prstGeom prst="rect">
            <a:avLst/>
          </a:prstGeom>
          <a:noFill/>
          <a:ln>
            <a:noFill/>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uble content - titled">
  <p:cSld name="Double content - titled">
    <p:spTree>
      <p:nvGrpSpPr>
        <p:cNvPr id="1" name="Shape 37"/>
        <p:cNvGrpSpPr/>
        <p:nvPr/>
      </p:nvGrpSpPr>
      <p:grpSpPr>
        <a:xfrm>
          <a:off x="0" y="0"/>
          <a:ext cx="0" cy="0"/>
          <a:chOff x="0" y="0"/>
          <a:chExt cx="0" cy="0"/>
        </a:xfrm>
      </p:grpSpPr>
      <p:sp>
        <p:nvSpPr>
          <p:cNvPr id="38" name="Google Shape;38;p6"/>
          <p:cNvSpPr txBox="1">
            <a:spLocks noGrp="1"/>
          </p:cNvSpPr>
          <p:nvPr>
            <p:ph type="body" idx="1"/>
          </p:nvPr>
        </p:nvSpPr>
        <p:spPr>
          <a:xfrm>
            <a:off x="457200" y="1258655"/>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SzPts val="3200"/>
              <a:buNone/>
              <a:defRPr sz="3200" b="1"/>
            </a:lvl1pPr>
            <a:lvl2pPr marL="914400" lvl="1" indent="-228600" algn="l">
              <a:lnSpc>
                <a:spcPct val="100000"/>
              </a:lnSpc>
              <a:spcBef>
                <a:spcPts val="1000"/>
              </a:spcBef>
              <a:spcAft>
                <a:spcPts val="0"/>
              </a:spcAft>
              <a:buSzPts val="2000"/>
              <a:buNone/>
              <a:defRPr sz="20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0"/>
              </a:spcAft>
              <a:buSzPts val="1600"/>
              <a:buNone/>
              <a:defRPr sz="1600" b="1"/>
            </a:lvl9pPr>
          </a:lstStyle>
          <a:p>
            <a:endParaRPr/>
          </a:p>
        </p:txBody>
      </p:sp>
      <p:sp>
        <p:nvSpPr>
          <p:cNvPr id="39" name="Google Shape;39;p6"/>
          <p:cNvSpPr txBox="1">
            <a:spLocks noGrp="1"/>
          </p:cNvSpPr>
          <p:nvPr>
            <p:ph type="body" idx="2"/>
          </p:nvPr>
        </p:nvSpPr>
        <p:spPr>
          <a:xfrm>
            <a:off x="457200" y="1898417"/>
            <a:ext cx="4040188" cy="3951288"/>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1000"/>
              </a:spcBef>
              <a:spcAft>
                <a:spcPts val="0"/>
              </a:spcAft>
              <a:buSzPts val="3200"/>
              <a:buChar char="•"/>
              <a:defRPr sz="3200"/>
            </a:lvl1pPr>
            <a:lvl2pPr marL="914400" lvl="1" indent="-355600" algn="l">
              <a:lnSpc>
                <a:spcPct val="100000"/>
              </a:lnSpc>
              <a:spcBef>
                <a:spcPts val="1000"/>
              </a:spcBef>
              <a:spcAft>
                <a:spcPts val="0"/>
              </a:spcAft>
              <a:buSzPts val="2000"/>
              <a:buChar char="•"/>
              <a:defRPr sz="2000"/>
            </a:lvl2pPr>
            <a:lvl3pPr marL="1371600" lvl="2" indent="-342900" algn="l">
              <a:lnSpc>
                <a:spcPct val="100000"/>
              </a:lnSpc>
              <a:spcBef>
                <a:spcPts val="1000"/>
              </a:spcBef>
              <a:spcAft>
                <a:spcPts val="0"/>
              </a:spcAft>
              <a:buSzPts val="1800"/>
              <a:buChar char="•"/>
              <a:defRPr sz="1800"/>
            </a:lvl3pPr>
            <a:lvl4pPr marL="1828800" lvl="3" indent="-330200" algn="l">
              <a:lnSpc>
                <a:spcPct val="100000"/>
              </a:lnSpc>
              <a:spcBef>
                <a:spcPts val="1000"/>
              </a:spcBef>
              <a:spcAft>
                <a:spcPts val="0"/>
              </a:spcAft>
              <a:buSzPts val="1600"/>
              <a:buChar char="•"/>
              <a:defRPr sz="1600"/>
            </a:lvl4pPr>
            <a:lvl5pPr marL="2286000" lvl="4" indent="-330200" algn="l">
              <a:lnSpc>
                <a:spcPct val="100000"/>
              </a:lnSpc>
              <a:spcBef>
                <a:spcPts val="1000"/>
              </a:spcBef>
              <a:spcAft>
                <a:spcPts val="0"/>
              </a:spcAft>
              <a:buSzPts val="1600"/>
              <a:buChar char="•"/>
              <a:defRPr sz="1600"/>
            </a:lvl5pPr>
            <a:lvl6pPr marL="2743200" lvl="5" indent="-330200" algn="l">
              <a:lnSpc>
                <a:spcPct val="100000"/>
              </a:lnSpc>
              <a:spcBef>
                <a:spcPts val="1000"/>
              </a:spcBef>
              <a:spcAft>
                <a:spcPts val="0"/>
              </a:spcAft>
              <a:buSzPts val="1600"/>
              <a:buChar char="•"/>
              <a:defRPr sz="1600"/>
            </a:lvl6pPr>
            <a:lvl7pPr marL="3200400" lvl="6" indent="-330200" algn="l">
              <a:lnSpc>
                <a:spcPct val="100000"/>
              </a:lnSpc>
              <a:spcBef>
                <a:spcPts val="1000"/>
              </a:spcBef>
              <a:spcAft>
                <a:spcPts val="0"/>
              </a:spcAft>
              <a:buSzPts val="1600"/>
              <a:buChar char="•"/>
              <a:defRPr sz="1600"/>
            </a:lvl7pPr>
            <a:lvl8pPr marL="3657600" lvl="7" indent="-330200" algn="l">
              <a:lnSpc>
                <a:spcPct val="100000"/>
              </a:lnSpc>
              <a:spcBef>
                <a:spcPts val="1000"/>
              </a:spcBef>
              <a:spcAft>
                <a:spcPts val="0"/>
              </a:spcAft>
              <a:buSzPts val="1600"/>
              <a:buChar char="•"/>
              <a:defRPr sz="1600"/>
            </a:lvl8pPr>
            <a:lvl9pPr marL="4114800" lvl="8" indent="-330200" algn="l">
              <a:lnSpc>
                <a:spcPct val="100000"/>
              </a:lnSpc>
              <a:spcBef>
                <a:spcPts val="1000"/>
              </a:spcBef>
              <a:spcAft>
                <a:spcPts val="0"/>
              </a:spcAft>
              <a:buSzPts val="1600"/>
              <a:buChar char="•"/>
              <a:defRPr sz="1600"/>
            </a:lvl9pPr>
          </a:lstStyle>
          <a:p>
            <a:endParaRPr/>
          </a:p>
        </p:txBody>
      </p:sp>
      <p:sp>
        <p:nvSpPr>
          <p:cNvPr id="40" name="Google Shape;40;p6"/>
          <p:cNvSpPr txBox="1">
            <a:spLocks noGrp="1"/>
          </p:cNvSpPr>
          <p:nvPr>
            <p:ph type="body" idx="3"/>
          </p:nvPr>
        </p:nvSpPr>
        <p:spPr>
          <a:xfrm>
            <a:off x="4645025" y="1258655"/>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SzPts val="3200"/>
              <a:buNone/>
              <a:defRPr sz="3200" b="1"/>
            </a:lvl1pPr>
            <a:lvl2pPr marL="914400" lvl="1" indent="-228600" algn="l">
              <a:lnSpc>
                <a:spcPct val="100000"/>
              </a:lnSpc>
              <a:spcBef>
                <a:spcPts val="1000"/>
              </a:spcBef>
              <a:spcAft>
                <a:spcPts val="0"/>
              </a:spcAft>
              <a:buSzPts val="2000"/>
              <a:buNone/>
              <a:defRPr sz="20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0"/>
              </a:spcAft>
              <a:buSzPts val="1600"/>
              <a:buNone/>
              <a:defRPr sz="1600" b="1"/>
            </a:lvl9pPr>
          </a:lstStyle>
          <a:p>
            <a:endParaRPr/>
          </a:p>
        </p:txBody>
      </p:sp>
      <p:sp>
        <p:nvSpPr>
          <p:cNvPr id="41" name="Google Shape;41;p6"/>
          <p:cNvSpPr txBox="1">
            <a:spLocks noGrp="1"/>
          </p:cNvSpPr>
          <p:nvPr>
            <p:ph type="body" idx="4"/>
          </p:nvPr>
        </p:nvSpPr>
        <p:spPr>
          <a:xfrm>
            <a:off x="4645025" y="1898417"/>
            <a:ext cx="4041775" cy="3951288"/>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1000"/>
              </a:spcBef>
              <a:spcAft>
                <a:spcPts val="0"/>
              </a:spcAft>
              <a:buSzPts val="3200"/>
              <a:buChar char="•"/>
              <a:defRPr sz="3200"/>
            </a:lvl1pPr>
            <a:lvl2pPr marL="914400" lvl="1" indent="-355600" algn="l">
              <a:lnSpc>
                <a:spcPct val="100000"/>
              </a:lnSpc>
              <a:spcBef>
                <a:spcPts val="1000"/>
              </a:spcBef>
              <a:spcAft>
                <a:spcPts val="0"/>
              </a:spcAft>
              <a:buSzPts val="2000"/>
              <a:buChar char="•"/>
              <a:defRPr sz="2000"/>
            </a:lvl2pPr>
            <a:lvl3pPr marL="1371600" lvl="2" indent="-342900" algn="l">
              <a:lnSpc>
                <a:spcPct val="100000"/>
              </a:lnSpc>
              <a:spcBef>
                <a:spcPts val="1000"/>
              </a:spcBef>
              <a:spcAft>
                <a:spcPts val="0"/>
              </a:spcAft>
              <a:buSzPts val="1800"/>
              <a:buChar char="•"/>
              <a:defRPr sz="1800"/>
            </a:lvl3pPr>
            <a:lvl4pPr marL="1828800" lvl="3" indent="-330200" algn="l">
              <a:lnSpc>
                <a:spcPct val="100000"/>
              </a:lnSpc>
              <a:spcBef>
                <a:spcPts val="1000"/>
              </a:spcBef>
              <a:spcAft>
                <a:spcPts val="0"/>
              </a:spcAft>
              <a:buSzPts val="1600"/>
              <a:buChar char="•"/>
              <a:defRPr sz="1600"/>
            </a:lvl4pPr>
            <a:lvl5pPr marL="2286000" lvl="4" indent="-330200" algn="l">
              <a:lnSpc>
                <a:spcPct val="100000"/>
              </a:lnSpc>
              <a:spcBef>
                <a:spcPts val="1000"/>
              </a:spcBef>
              <a:spcAft>
                <a:spcPts val="0"/>
              </a:spcAft>
              <a:buSzPts val="1600"/>
              <a:buChar char="•"/>
              <a:defRPr sz="1600"/>
            </a:lvl5pPr>
            <a:lvl6pPr marL="2743200" lvl="5" indent="-330200" algn="l">
              <a:lnSpc>
                <a:spcPct val="100000"/>
              </a:lnSpc>
              <a:spcBef>
                <a:spcPts val="1000"/>
              </a:spcBef>
              <a:spcAft>
                <a:spcPts val="0"/>
              </a:spcAft>
              <a:buSzPts val="1600"/>
              <a:buChar char="•"/>
              <a:defRPr sz="1600"/>
            </a:lvl6pPr>
            <a:lvl7pPr marL="3200400" lvl="6" indent="-330200" algn="l">
              <a:lnSpc>
                <a:spcPct val="100000"/>
              </a:lnSpc>
              <a:spcBef>
                <a:spcPts val="1000"/>
              </a:spcBef>
              <a:spcAft>
                <a:spcPts val="0"/>
              </a:spcAft>
              <a:buSzPts val="1600"/>
              <a:buChar char="•"/>
              <a:defRPr sz="1600"/>
            </a:lvl7pPr>
            <a:lvl8pPr marL="3657600" lvl="7" indent="-330200" algn="l">
              <a:lnSpc>
                <a:spcPct val="100000"/>
              </a:lnSpc>
              <a:spcBef>
                <a:spcPts val="1000"/>
              </a:spcBef>
              <a:spcAft>
                <a:spcPts val="0"/>
              </a:spcAft>
              <a:buSzPts val="1600"/>
              <a:buChar char="•"/>
              <a:defRPr sz="1600"/>
            </a:lvl8pPr>
            <a:lvl9pPr marL="4114800" lvl="8" indent="-330200" algn="l">
              <a:lnSpc>
                <a:spcPct val="100000"/>
              </a:lnSpc>
              <a:spcBef>
                <a:spcPts val="1000"/>
              </a:spcBef>
              <a:spcAft>
                <a:spcPts val="0"/>
              </a:spcAft>
              <a:buSzPts val="1600"/>
              <a:buChar char="•"/>
              <a:defRPr sz="1600"/>
            </a:lvl9pPr>
          </a:lstStyle>
          <a:p>
            <a:endParaRPr/>
          </a:p>
        </p:txBody>
      </p:sp>
      <p:cxnSp>
        <p:nvCxnSpPr>
          <p:cNvPr id="42" name="Google Shape;42;p6"/>
          <p:cNvCxnSpPr/>
          <p:nvPr/>
        </p:nvCxnSpPr>
        <p:spPr>
          <a:xfrm>
            <a:off x="277148" y="756603"/>
            <a:ext cx="8577217" cy="0"/>
          </a:xfrm>
          <a:prstGeom prst="straightConnector1">
            <a:avLst/>
          </a:prstGeom>
          <a:noFill/>
          <a:ln w="38100" cap="flat" cmpd="sng">
            <a:solidFill>
              <a:schemeClr val="accent1"/>
            </a:solidFill>
            <a:prstDash val="solid"/>
            <a:miter lim="8000"/>
            <a:headEnd type="none" w="med" len="med"/>
            <a:tailEnd type="none" w="med" len="med"/>
          </a:ln>
        </p:spPr>
      </p:cxnSp>
      <p:sp>
        <p:nvSpPr>
          <p:cNvPr id="43" name="Google Shape;43;p6"/>
          <p:cNvSpPr txBox="1">
            <a:spLocks noGrp="1"/>
          </p:cNvSpPr>
          <p:nvPr>
            <p:ph type="title"/>
          </p:nvPr>
        </p:nvSpPr>
        <p:spPr>
          <a:xfrm>
            <a:off x="277148" y="118428"/>
            <a:ext cx="8043862" cy="638175"/>
          </a:xfrm>
          <a:prstGeom prst="rect">
            <a:avLst/>
          </a:prstGeom>
          <a:noFill/>
          <a:ln>
            <a:noFill/>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Just borders">
  <p:cSld name="Just borders">
    <p:spTree>
      <p:nvGrpSpPr>
        <p:cNvPr id="1" name="Shape 45"/>
        <p:cNvGrpSpPr/>
        <p:nvPr/>
      </p:nvGrpSpPr>
      <p:grpSpPr>
        <a:xfrm>
          <a:off x="0" y="0"/>
          <a:ext cx="0" cy="0"/>
          <a:chOff x="0" y="0"/>
          <a:chExt cx="0" cy="0"/>
        </a:xfrm>
      </p:grpSpPr>
      <p:cxnSp>
        <p:nvCxnSpPr>
          <p:cNvPr id="46" name="Google Shape;46;p7"/>
          <p:cNvCxnSpPr/>
          <p:nvPr/>
        </p:nvCxnSpPr>
        <p:spPr>
          <a:xfrm>
            <a:off x="-37071" y="0"/>
            <a:ext cx="9259587" cy="0"/>
          </a:xfrm>
          <a:prstGeom prst="straightConnector1">
            <a:avLst/>
          </a:prstGeom>
          <a:noFill/>
          <a:ln w="76200" cap="flat" cmpd="sng">
            <a:solidFill>
              <a:schemeClr val="accent1"/>
            </a:solidFill>
            <a:prstDash val="solid"/>
            <a:miter lim="8000"/>
            <a:headEnd type="none" w="med" len="med"/>
            <a:tailEnd type="none" w="med" len="med"/>
          </a:ln>
        </p:spPr>
      </p:cxnSp>
      <p:cxnSp>
        <p:nvCxnSpPr>
          <p:cNvPr id="47" name="Google Shape;47;p7"/>
          <p:cNvCxnSpPr/>
          <p:nvPr/>
        </p:nvCxnSpPr>
        <p:spPr>
          <a:xfrm>
            <a:off x="-57794" y="6858000"/>
            <a:ext cx="9259587" cy="0"/>
          </a:xfrm>
          <a:prstGeom prst="straightConnector1">
            <a:avLst/>
          </a:prstGeom>
          <a:noFill/>
          <a:ln w="76200" cap="flat" cmpd="sng">
            <a:solidFill>
              <a:schemeClr val="accent1"/>
            </a:solidFill>
            <a:prstDash val="solid"/>
            <a:miter lim="8000"/>
            <a:headEnd type="none" w="med" len="med"/>
            <a:tailEnd type="none" w="med" len="med"/>
          </a:ln>
        </p:spPr>
      </p:cxnSp>
      <p:sp>
        <p:nvSpPr>
          <p:cNvPr id="48" name="Google Shape;48;p7"/>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adrants">
  <p:cSld name="Quadrants">
    <p:spTree>
      <p:nvGrpSpPr>
        <p:cNvPr id="1" name="Shape 49"/>
        <p:cNvGrpSpPr/>
        <p:nvPr/>
      </p:nvGrpSpPr>
      <p:grpSpPr>
        <a:xfrm>
          <a:off x="0" y="0"/>
          <a:ext cx="0" cy="0"/>
          <a:chOff x="0" y="0"/>
          <a:chExt cx="0" cy="0"/>
        </a:xfrm>
      </p:grpSpPr>
      <p:cxnSp>
        <p:nvCxnSpPr>
          <p:cNvPr id="50" name="Google Shape;50;p8"/>
          <p:cNvCxnSpPr/>
          <p:nvPr/>
        </p:nvCxnSpPr>
        <p:spPr>
          <a:xfrm>
            <a:off x="-37071" y="0"/>
            <a:ext cx="9259587" cy="0"/>
          </a:xfrm>
          <a:prstGeom prst="straightConnector1">
            <a:avLst/>
          </a:prstGeom>
          <a:noFill/>
          <a:ln w="76200" cap="flat" cmpd="sng">
            <a:solidFill>
              <a:schemeClr val="accent1"/>
            </a:solidFill>
            <a:prstDash val="solid"/>
            <a:miter lim="8000"/>
            <a:headEnd type="none" w="med" len="med"/>
            <a:tailEnd type="none" w="med" len="med"/>
          </a:ln>
        </p:spPr>
      </p:cxnSp>
      <p:cxnSp>
        <p:nvCxnSpPr>
          <p:cNvPr id="51" name="Google Shape;51;p8"/>
          <p:cNvCxnSpPr/>
          <p:nvPr/>
        </p:nvCxnSpPr>
        <p:spPr>
          <a:xfrm>
            <a:off x="-57794" y="6858000"/>
            <a:ext cx="9259587" cy="0"/>
          </a:xfrm>
          <a:prstGeom prst="straightConnector1">
            <a:avLst/>
          </a:prstGeom>
          <a:noFill/>
          <a:ln w="76200" cap="flat" cmpd="sng">
            <a:solidFill>
              <a:schemeClr val="accent1"/>
            </a:solidFill>
            <a:prstDash val="solid"/>
            <a:miter lim="8000"/>
            <a:headEnd type="none" w="med" len="med"/>
            <a:tailEnd type="none" w="med" len="med"/>
          </a:ln>
        </p:spPr>
      </p:cxnSp>
      <p:sp>
        <p:nvSpPr>
          <p:cNvPr id="52" name="Google Shape;52;p8"/>
          <p:cNvSpPr>
            <a:spLocks noGrp="1"/>
          </p:cNvSpPr>
          <p:nvPr>
            <p:ph type="pic" idx="2"/>
          </p:nvPr>
        </p:nvSpPr>
        <p:spPr>
          <a:xfrm>
            <a:off x="877888" y="765140"/>
            <a:ext cx="3137521" cy="2468339"/>
          </a:xfrm>
          <a:prstGeom prst="rect">
            <a:avLst/>
          </a:prstGeom>
          <a:noFill/>
          <a:ln>
            <a:noFill/>
          </a:ln>
        </p:spPr>
        <p:txBody>
          <a:bodyPr/>
          <a:lstStyle/>
          <a:p>
            <a:endParaRPr lang="en-US"/>
          </a:p>
        </p:txBody>
      </p:sp>
      <p:sp>
        <p:nvSpPr>
          <p:cNvPr id="53" name="Google Shape;53;p8"/>
          <p:cNvSpPr>
            <a:spLocks noGrp="1"/>
          </p:cNvSpPr>
          <p:nvPr>
            <p:ph type="pic" idx="3"/>
          </p:nvPr>
        </p:nvSpPr>
        <p:spPr>
          <a:xfrm>
            <a:off x="5204723" y="765140"/>
            <a:ext cx="3137521" cy="2468339"/>
          </a:xfrm>
          <a:prstGeom prst="rect">
            <a:avLst/>
          </a:prstGeom>
          <a:noFill/>
          <a:ln>
            <a:noFill/>
          </a:ln>
        </p:spPr>
        <p:txBody>
          <a:bodyPr/>
          <a:lstStyle/>
          <a:p>
            <a:endParaRPr lang="en-US"/>
          </a:p>
        </p:txBody>
      </p:sp>
      <p:sp>
        <p:nvSpPr>
          <p:cNvPr id="54" name="Google Shape;54;p8"/>
          <p:cNvSpPr>
            <a:spLocks noGrp="1"/>
          </p:cNvSpPr>
          <p:nvPr>
            <p:ph type="pic" idx="4"/>
          </p:nvPr>
        </p:nvSpPr>
        <p:spPr>
          <a:xfrm>
            <a:off x="877887" y="3596647"/>
            <a:ext cx="3137521" cy="2468339"/>
          </a:xfrm>
          <a:prstGeom prst="rect">
            <a:avLst/>
          </a:prstGeom>
          <a:noFill/>
          <a:ln>
            <a:noFill/>
          </a:ln>
        </p:spPr>
        <p:txBody>
          <a:bodyPr/>
          <a:lstStyle/>
          <a:p>
            <a:endParaRPr lang="en-US"/>
          </a:p>
        </p:txBody>
      </p:sp>
      <p:sp>
        <p:nvSpPr>
          <p:cNvPr id="55" name="Google Shape;55;p8"/>
          <p:cNvSpPr>
            <a:spLocks noGrp="1"/>
          </p:cNvSpPr>
          <p:nvPr>
            <p:ph type="pic" idx="5"/>
          </p:nvPr>
        </p:nvSpPr>
        <p:spPr>
          <a:xfrm>
            <a:off x="5204723" y="3616525"/>
            <a:ext cx="3137521" cy="2468339"/>
          </a:xfrm>
          <a:prstGeom prst="rect">
            <a:avLst/>
          </a:prstGeom>
          <a:noFill/>
          <a:ln>
            <a:noFill/>
          </a:ln>
        </p:spPr>
        <p:txBody>
          <a:bodyPr/>
          <a:lstStyle/>
          <a:p>
            <a:endParaRPr lang="en-US"/>
          </a:p>
        </p:txBody>
      </p:sp>
      <p:sp>
        <p:nvSpPr>
          <p:cNvPr id="56" name="Google Shape;56;p8"/>
          <p:cNvSpPr txBox="1">
            <a:spLocks noGrp="1"/>
          </p:cNvSpPr>
          <p:nvPr>
            <p:ph type="body" idx="1"/>
          </p:nvPr>
        </p:nvSpPr>
        <p:spPr>
          <a:xfrm>
            <a:off x="877819" y="213987"/>
            <a:ext cx="3136900" cy="550603"/>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1000"/>
              </a:spcBef>
              <a:spcAft>
                <a:spcPts val="0"/>
              </a:spcAft>
              <a:buSzPts val="3200"/>
              <a:buNone/>
              <a:defRPr sz="3200"/>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7" name="Google Shape;57;p8"/>
          <p:cNvSpPr txBox="1">
            <a:spLocks noGrp="1"/>
          </p:cNvSpPr>
          <p:nvPr>
            <p:ph type="body" idx="6"/>
          </p:nvPr>
        </p:nvSpPr>
        <p:spPr>
          <a:xfrm>
            <a:off x="5205344" y="213987"/>
            <a:ext cx="3136900" cy="550603"/>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1000"/>
              </a:spcBef>
              <a:spcAft>
                <a:spcPts val="0"/>
              </a:spcAft>
              <a:buSzPts val="3200"/>
              <a:buNone/>
              <a:defRPr sz="3200"/>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8" name="Google Shape;58;p8"/>
          <p:cNvSpPr txBox="1">
            <a:spLocks noGrp="1"/>
          </p:cNvSpPr>
          <p:nvPr>
            <p:ph type="body" idx="7"/>
          </p:nvPr>
        </p:nvSpPr>
        <p:spPr>
          <a:xfrm>
            <a:off x="877819" y="6093410"/>
            <a:ext cx="3136900" cy="550603"/>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1000"/>
              </a:spcBef>
              <a:spcAft>
                <a:spcPts val="0"/>
              </a:spcAft>
              <a:buSzPts val="3200"/>
              <a:buNone/>
              <a:defRPr sz="3200"/>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9" name="Google Shape;59;p8"/>
          <p:cNvSpPr txBox="1">
            <a:spLocks noGrp="1"/>
          </p:cNvSpPr>
          <p:nvPr>
            <p:ph type="body" idx="8"/>
          </p:nvPr>
        </p:nvSpPr>
        <p:spPr>
          <a:xfrm>
            <a:off x="5205344" y="6093410"/>
            <a:ext cx="3136900" cy="550603"/>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1000"/>
              </a:spcBef>
              <a:spcAft>
                <a:spcPts val="0"/>
              </a:spcAft>
              <a:buSzPts val="3200"/>
              <a:buNone/>
              <a:defRPr sz="3200"/>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60" name="Google Shape;60;p8"/>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type="picTx">
  <p:cSld name="PICTURE_WITH_CAPTION_TEXT">
    <p:spTree>
      <p:nvGrpSpPr>
        <p:cNvPr id="1" name="Shape 61"/>
        <p:cNvGrpSpPr/>
        <p:nvPr/>
      </p:nvGrpSpPr>
      <p:grpSpPr>
        <a:xfrm>
          <a:off x="0" y="0"/>
          <a:ext cx="0" cy="0"/>
          <a:chOff x="0" y="0"/>
          <a:chExt cx="0" cy="0"/>
        </a:xfrm>
      </p:grpSpPr>
      <p:sp>
        <p:nvSpPr>
          <p:cNvPr id="62" name="Google Shape;62;p9"/>
          <p:cNvSpPr txBox="1">
            <a:spLocks noGrp="1"/>
          </p:cNvSpPr>
          <p:nvPr>
            <p:ph type="title"/>
          </p:nvPr>
        </p:nvSpPr>
        <p:spPr>
          <a:xfrm>
            <a:off x="1792288" y="4800600"/>
            <a:ext cx="5486400" cy="566738"/>
          </a:xfrm>
          <a:prstGeom prst="rect">
            <a:avLst/>
          </a:prstGeom>
          <a:solidFill>
            <a:srgbClr val="FFFFFF"/>
          </a:solidFill>
          <a:ln w="31750" cap="sq" cmpd="sng">
            <a:solidFill>
              <a:srgbClr val="404040"/>
            </a:solidFill>
            <a:prstDash val="solid"/>
            <a:miter lim="8000"/>
            <a:headEnd type="none" w="sm" len="sm"/>
            <a:tailEnd type="none" w="sm" len="sm"/>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000"/>
              <a:buFont typeface="Calibri"/>
              <a:buNone/>
              <a:defRPr sz="2000" b="1">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9"/>
          <p:cNvSpPr>
            <a:spLocks noGrp="1"/>
          </p:cNvSpPr>
          <p:nvPr>
            <p:ph type="pic" idx="2"/>
          </p:nvPr>
        </p:nvSpPr>
        <p:spPr>
          <a:xfrm>
            <a:off x="1792288" y="612775"/>
            <a:ext cx="5486400" cy="4114800"/>
          </a:xfrm>
          <a:prstGeom prst="rect">
            <a:avLst/>
          </a:prstGeom>
          <a:noFill/>
          <a:ln>
            <a:noFill/>
          </a:ln>
        </p:spPr>
        <p:txBody>
          <a:bodyPr/>
          <a:lstStyle/>
          <a:p>
            <a:endParaRPr lang="en-US"/>
          </a:p>
        </p:txBody>
      </p:sp>
      <p:sp>
        <p:nvSpPr>
          <p:cNvPr id="64" name="Google Shape;64;p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400"/>
              <a:buNone/>
              <a:defRPr sz="1400"/>
            </a:lvl1pPr>
            <a:lvl2pPr marL="914400" lvl="1" indent="-228600" algn="l">
              <a:lnSpc>
                <a:spcPct val="100000"/>
              </a:lnSpc>
              <a:spcBef>
                <a:spcPts val="1000"/>
              </a:spcBef>
              <a:spcAft>
                <a:spcPts val="0"/>
              </a:spcAft>
              <a:buSzPts val="1200"/>
              <a:buNone/>
              <a:defRPr sz="1200"/>
            </a:lvl2pPr>
            <a:lvl3pPr marL="1371600" lvl="2" indent="-228600" algn="l">
              <a:lnSpc>
                <a:spcPct val="100000"/>
              </a:lnSpc>
              <a:spcBef>
                <a:spcPts val="1000"/>
              </a:spcBef>
              <a:spcAft>
                <a:spcPts val="0"/>
              </a:spcAft>
              <a:buSzPts val="1000"/>
              <a:buNone/>
              <a:defRPr sz="1000"/>
            </a:lvl3pPr>
            <a:lvl4pPr marL="1828800" lvl="3" indent="-228600" algn="l">
              <a:lnSpc>
                <a:spcPct val="100000"/>
              </a:lnSpc>
              <a:spcBef>
                <a:spcPts val="1000"/>
              </a:spcBef>
              <a:spcAft>
                <a:spcPts val="0"/>
              </a:spcAft>
              <a:buSzPts val="900"/>
              <a:buNone/>
              <a:defRPr sz="900"/>
            </a:lvl4pPr>
            <a:lvl5pPr marL="2286000" lvl="4" indent="-228600" algn="l">
              <a:lnSpc>
                <a:spcPct val="100000"/>
              </a:lnSpc>
              <a:spcBef>
                <a:spcPts val="1000"/>
              </a:spcBef>
              <a:spcAft>
                <a:spcPts val="0"/>
              </a:spcAft>
              <a:buSzPts val="900"/>
              <a:buNone/>
              <a:defRPr sz="900"/>
            </a:lvl5pPr>
            <a:lvl6pPr marL="2743200" lvl="5" indent="-228600" algn="l">
              <a:lnSpc>
                <a:spcPct val="100000"/>
              </a:lnSpc>
              <a:spcBef>
                <a:spcPts val="1000"/>
              </a:spcBef>
              <a:spcAft>
                <a:spcPts val="0"/>
              </a:spcAft>
              <a:buSzPts val="900"/>
              <a:buNone/>
              <a:defRPr sz="900"/>
            </a:lvl6pPr>
            <a:lvl7pPr marL="3200400" lvl="6" indent="-228600" algn="l">
              <a:lnSpc>
                <a:spcPct val="100000"/>
              </a:lnSpc>
              <a:spcBef>
                <a:spcPts val="1000"/>
              </a:spcBef>
              <a:spcAft>
                <a:spcPts val="0"/>
              </a:spcAft>
              <a:buSzPts val="900"/>
              <a:buNone/>
              <a:defRPr sz="900"/>
            </a:lvl7pPr>
            <a:lvl8pPr marL="3657600" lvl="7" indent="-228600" algn="l">
              <a:lnSpc>
                <a:spcPct val="100000"/>
              </a:lnSpc>
              <a:spcBef>
                <a:spcPts val="1000"/>
              </a:spcBef>
              <a:spcAft>
                <a:spcPts val="0"/>
              </a:spcAft>
              <a:buSzPts val="900"/>
              <a:buNone/>
              <a:defRPr sz="900"/>
            </a:lvl8pPr>
            <a:lvl9pPr marL="4114800" lvl="8" indent="-228600" algn="l">
              <a:lnSpc>
                <a:spcPct val="100000"/>
              </a:lnSpc>
              <a:spcBef>
                <a:spcPts val="1000"/>
              </a:spcBef>
              <a:spcAft>
                <a:spcPts val="0"/>
              </a:spcAft>
              <a:buSzPts val="900"/>
              <a:buNone/>
              <a:defRPr sz="900"/>
            </a:lvl9pPr>
          </a:lstStyle>
          <a:p>
            <a:endParaRPr/>
          </a:p>
        </p:txBody>
      </p:sp>
      <p:cxnSp>
        <p:nvCxnSpPr>
          <p:cNvPr id="65" name="Google Shape;65;p9"/>
          <p:cNvCxnSpPr/>
          <p:nvPr/>
        </p:nvCxnSpPr>
        <p:spPr>
          <a:xfrm>
            <a:off x="-37071" y="0"/>
            <a:ext cx="9259587" cy="0"/>
          </a:xfrm>
          <a:prstGeom prst="straightConnector1">
            <a:avLst/>
          </a:prstGeom>
          <a:noFill/>
          <a:ln w="76200" cap="flat" cmpd="sng">
            <a:solidFill>
              <a:schemeClr val="accent1"/>
            </a:solidFill>
            <a:prstDash val="solid"/>
            <a:miter lim="8000"/>
            <a:headEnd type="none" w="med" len="med"/>
            <a:tailEnd type="none" w="med" len="med"/>
          </a:ln>
        </p:spPr>
      </p:cxnSp>
      <p:cxnSp>
        <p:nvCxnSpPr>
          <p:cNvPr id="66" name="Google Shape;66;p9"/>
          <p:cNvCxnSpPr/>
          <p:nvPr/>
        </p:nvCxnSpPr>
        <p:spPr>
          <a:xfrm>
            <a:off x="-57794" y="6858000"/>
            <a:ext cx="9259587" cy="0"/>
          </a:xfrm>
          <a:prstGeom prst="straightConnector1">
            <a:avLst/>
          </a:prstGeom>
          <a:noFill/>
          <a:ln w="76200" cap="flat" cmpd="sng">
            <a:solidFill>
              <a:schemeClr val="accent1"/>
            </a:solidFill>
            <a:prstDash val="solid"/>
            <a:miter lim="8000"/>
            <a:headEnd type="none" w="med" len="med"/>
            <a:tailEnd type="none" w="med" len="med"/>
          </a:ln>
        </p:spPr>
      </p:cxnSp>
      <p:sp>
        <p:nvSpPr>
          <p:cNvPr id="67" name="Google Shape;67;p9"/>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ributions">
  <p:cSld name="Contributions">
    <p:spTree>
      <p:nvGrpSpPr>
        <p:cNvPr id="1" name="Shape 68"/>
        <p:cNvGrpSpPr/>
        <p:nvPr/>
      </p:nvGrpSpPr>
      <p:grpSpPr>
        <a:xfrm>
          <a:off x="0" y="0"/>
          <a:ext cx="0" cy="0"/>
          <a:chOff x="0" y="0"/>
          <a:chExt cx="0" cy="0"/>
        </a:xfrm>
      </p:grpSpPr>
      <p:sp>
        <p:nvSpPr>
          <p:cNvPr id="69" name="Google Shape;69;p10"/>
          <p:cNvSpPr txBox="1">
            <a:spLocks noGrp="1"/>
          </p:cNvSpPr>
          <p:nvPr>
            <p:ph type="body" idx="1"/>
          </p:nvPr>
        </p:nvSpPr>
        <p:spPr>
          <a:xfrm>
            <a:off x="595200" y="1060230"/>
            <a:ext cx="6064017" cy="1838037"/>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520"/>
              </a:spcBef>
              <a:spcAft>
                <a:spcPts val="0"/>
              </a:spcAft>
              <a:buClr>
                <a:srgbClr val="000000"/>
              </a:buClr>
              <a:buSzPts val="3120"/>
              <a:buFont typeface="Calibri"/>
              <a:buNone/>
              <a:defRPr sz="2600" b="0" u="sng"/>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cxnSp>
        <p:nvCxnSpPr>
          <p:cNvPr id="70" name="Google Shape;70;p10"/>
          <p:cNvCxnSpPr/>
          <p:nvPr/>
        </p:nvCxnSpPr>
        <p:spPr>
          <a:xfrm>
            <a:off x="277148" y="756603"/>
            <a:ext cx="8577217" cy="0"/>
          </a:xfrm>
          <a:prstGeom prst="straightConnector1">
            <a:avLst/>
          </a:prstGeom>
          <a:noFill/>
          <a:ln w="38100" cap="flat" cmpd="sng">
            <a:solidFill>
              <a:schemeClr val="accent1"/>
            </a:solidFill>
            <a:prstDash val="solid"/>
            <a:miter lim="8000"/>
            <a:headEnd type="none" w="med" len="med"/>
            <a:tailEnd type="none" w="med" len="med"/>
          </a:ln>
        </p:spPr>
      </p:cxnSp>
      <p:sp>
        <p:nvSpPr>
          <p:cNvPr id="71" name="Google Shape;71;p10"/>
          <p:cNvSpPr>
            <a:spLocks noGrp="1"/>
          </p:cNvSpPr>
          <p:nvPr>
            <p:ph type="pic" idx="2"/>
          </p:nvPr>
        </p:nvSpPr>
        <p:spPr>
          <a:xfrm>
            <a:off x="1761066" y="1749288"/>
            <a:ext cx="1456267" cy="914400"/>
          </a:xfrm>
          <a:prstGeom prst="rect">
            <a:avLst/>
          </a:prstGeom>
          <a:noFill/>
          <a:ln>
            <a:noFill/>
          </a:ln>
        </p:spPr>
        <p:txBody>
          <a:bodyPr/>
          <a:lstStyle/>
          <a:p>
            <a:endParaRPr lang="en-US"/>
          </a:p>
        </p:txBody>
      </p:sp>
      <p:sp>
        <p:nvSpPr>
          <p:cNvPr id="72" name="Google Shape;72;p10"/>
          <p:cNvSpPr>
            <a:spLocks noGrp="1"/>
          </p:cNvSpPr>
          <p:nvPr>
            <p:ph type="pic" idx="3"/>
          </p:nvPr>
        </p:nvSpPr>
        <p:spPr>
          <a:xfrm>
            <a:off x="3843866" y="1749288"/>
            <a:ext cx="1456267" cy="914400"/>
          </a:xfrm>
          <a:prstGeom prst="rect">
            <a:avLst/>
          </a:prstGeom>
          <a:noFill/>
          <a:ln>
            <a:noFill/>
          </a:ln>
        </p:spPr>
        <p:txBody>
          <a:bodyPr/>
          <a:lstStyle/>
          <a:p>
            <a:endParaRPr lang="en-US"/>
          </a:p>
        </p:txBody>
      </p:sp>
      <p:sp>
        <p:nvSpPr>
          <p:cNvPr id="73" name="Google Shape;73;p10"/>
          <p:cNvSpPr txBox="1">
            <a:spLocks noGrp="1"/>
          </p:cNvSpPr>
          <p:nvPr>
            <p:ph type="body" idx="4"/>
          </p:nvPr>
        </p:nvSpPr>
        <p:spPr>
          <a:xfrm>
            <a:off x="595200" y="3129880"/>
            <a:ext cx="6064017" cy="1838037"/>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520"/>
              </a:spcBef>
              <a:spcAft>
                <a:spcPts val="0"/>
              </a:spcAft>
              <a:buClr>
                <a:srgbClr val="000000"/>
              </a:buClr>
              <a:buSzPts val="3120"/>
              <a:buFont typeface="Calibri"/>
              <a:buNone/>
              <a:defRPr sz="2600" b="0" u="sng"/>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74" name="Google Shape;74;p10"/>
          <p:cNvSpPr>
            <a:spLocks noGrp="1"/>
          </p:cNvSpPr>
          <p:nvPr>
            <p:ph type="pic" idx="5"/>
          </p:nvPr>
        </p:nvSpPr>
        <p:spPr>
          <a:xfrm>
            <a:off x="1761066" y="3818938"/>
            <a:ext cx="1456267" cy="914400"/>
          </a:xfrm>
          <a:prstGeom prst="rect">
            <a:avLst/>
          </a:prstGeom>
          <a:noFill/>
          <a:ln>
            <a:noFill/>
          </a:ln>
        </p:spPr>
        <p:txBody>
          <a:bodyPr/>
          <a:lstStyle/>
          <a:p>
            <a:endParaRPr lang="en-US"/>
          </a:p>
        </p:txBody>
      </p:sp>
      <p:sp>
        <p:nvSpPr>
          <p:cNvPr id="75" name="Google Shape;75;p10"/>
          <p:cNvSpPr>
            <a:spLocks noGrp="1"/>
          </p:cNvSpPr>
          <p:nvPr>
            <p:ph type="pic" idx="6"/>
          </p:nvPr>
        </p:nvSpPr>
        <p:spPr>
          <a:xfrm>
            <a:off x="3843866" y="3818938"/>
            <a:ext cx="1456267" cy="914400"/>
          </a:xfrm>
          <a:prstGeom prst="rect">
            <a:avLst/>
          </a:prstGeom>
          <a:noFill/>
          <a:ln>
            <a:noFill/>
          </a:ln>
        </p:spPr>
        <p:txBody>
          <a:bodyPr/>
          <a:lstStyle/>
          <a:p>
            <a:endParaRPr lang="en-US"/>
          </a:p>
        </p:txBody>
      </p:sp>
      <p:sp>
        <p:nvSpPr>
          <p:cNvPr id="76" name="Google Shape;76;p10"/>
          <p:cNvSpPr txBox="1">
            <a:spLocks noGrp="1"/>
          </p:cNvSpPr>
          <p:nvPr>
            <p:ph type="title"/>
          </p:nvPr>
        </p:nvSpPr>
        <p:spPr>
          <a:xfrm>
            <a:off x="277148" y="118428"/>
            <a:ext cx="8043862" cy="638175"/>
          </a:xfrm>
          <a:prstGeom prst="rect">
            <a:avLst/>
          </a:prstGeom>
          <a:noFill/>
          <a:ln>
            <a:noFill/>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10"/>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606045" y="964692"/>
            <a:ext cx="5937755" cy="1188720"/>
          </a:xfrm>
          <a:prstGeom prst="rect">
            <a:avLst/>
          </a:prstGeom>
          <a:solidFill>
            <a:srgbClr val="FFFFFF"/>
          </a:solidFill>
          <a:ln w="31750" cap="sq" cmpd="sng">
            <a:solidFill>
              <a:srgbClr val="404040"/>
            </a:solidFill>
            <a:prstDash val="solid"/>
            <a:miter lim="8000"/>
            <a:headEnd type="none" w="sm" len="sm"/>
            <a:tailEnd type="none" w="sm" len="sm"/>
          </a:ln>
        </p:spPr>
        <p:txBody>
          <a:bodyPr spcFirstLastPara="1" wrap="square" lIns="182875" tIns="182875" rIns="182875" bIns="182875" anchor="ctr" anchorCtr="0">
            <a:normAutofit/>
          </a:bodyPr>
          <a:lstStyle>
            <a:lvl1pPr marR="0" lvl="0" algn="ctr" rtl="0">
              <a:lnSpc>
                <a:spcPct val="90000"/>
              </a:lnSpc>
              <a:spcBef>
                <a:spcPts val="0"/>
              </a:spcBef>
              <a:spcAft>
                <a:spcPts val="0"/>
              </a:spcAft>
              <a:buClr>
                <a:srgbClr val="262626"/>
              </a:buClr>
              <a:buSzPts val="2600"/>
              <a:buFont typeface="Calibri"/>
              <a:buNone/>
              <a:defRPr sz="2600" b="0" i="0" u="none" strike="noStrike" cap="none">
                <a:solidFill>
                  <a:srgbClr val="262626"/>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1606045" y="2638045"/>
            <a:ext cx="5937755" cy="3101983"/>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00000"/>
              </a:lnSpc>
              <a:spcBef>
                <a:spcPts val="1000"/>
              </a:spcBef>
              <a:spcAft>
                <a:spcPts val="0"/>
              </a:spcAft>
              <a:buClr>
                <a:schemeClr val="accent2"/>
              </a:buClr>
              <a:buSzPts val="1800"/>
              <a:buFont typeface="Arial"/>
              <a:buChar char="•"/>
              <a:defRPr sz="1800" b="0" i="0" u="none" strike="noStrike" cap="none">
                <a:solidFill>
                  <a:srgbClr val="262626"/>
                </a:solidFill>
                <a:latin typeface="Calibri"/>
                <a:ea typeface="Calibri"/>
                <a:cs typeface="Calibri"/>
                <a:sym typeface="Calibri"/>
              </a:defRPr>
            </a:lvl1pPr>
            <a:lvl2pPr marL="914400" marR="0" lvl="1"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Calibri"/>
                <a:ea typeface="Calibri"/>
                <a:cs typeface="Calibri"/>
                <a:sym typeface="Calibri"/>
              </a:defRPr>
            </a:lvl2pPr>
            <a:lvl3pPr marL="1371600" marR="0" lvl="2"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Calibri"/>
                <a:ea typeface="Calibri"/>
                <a:cs typeface="Calibri"/>
                <a:sym typeface="Calibri"/>
              </a:defRPr>
            </a:lvl3pPr>
            <a:lvl4pPr marL="1828800" marR="0" lvl="3"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Calibri"/>
                <a:ea typeface="Calibri"/>
                <a:cs typeface="Calibri"/>
                <a:sym typeface="Calibri"/>
              </a:defRPr>
            </a:lvl4pPr>
            <a:lvl5pPr marL="2286000" marR="0" lvl="4"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Calibri"/>
                <a:ea typeface="Calibri"/>
                <a:cs typeface="Calibri"/>
                <a:sym typeface="Calibri"/>
              </a:defRPr>
            </a:lvl5pPr>
            <a:lvl6pPr marL="2743200" marR="0" lvl="5"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pic>
        <p:nvPicPr>
          <p:cNvPr id="12" name="Google Shape;12;p1" descr="A close up of a sign&#10;&#10;Description automatically generated"/>
          <p:cNvPicPr preferRelativeResize="0"/>
          <p:nvPr/>
        </p:nvPicPr>
        <p:blipFill rotWithShape="1">
          <a:blip r:embed="rId11">
            <a:alphaModFix/>
          </a:blip>
          <a:srcRect/>
          <a:stretch/>
        </p:blipFill>
        <p:spPr>
          <a:xfrm>
            <a:off x="8746670" y="6562249"/>
            <a:ext cx="292555" cy="156273"/>
          </a:xfrm>
          <a:prstGeom prst="rect">
            <a:avLst/>
          </a:prstGeom>
          <a:noFill/>
          <a:ln>
            <a:noFill/>
          </a:ln>
        </p:spPr>
      </p:pic>
      <p:sp>
        <p:nvSpPr>
          <p:cNvPr id="13" name="Google Shape;13;p1"/>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400" b="0" i="0" u="none" strike="noStrike" cap="none">
                <a:solidFill>
                  <a:srgbClr val="555960"/>
                </a:solidFill>
                <a:latin typeface="Calibri"/>
                <a:ea typeface="Calibri"/>
                <a:cs typeface="Calibri"/>
                <a:sym typeface="Calibri"/>
              </a:defRPr>
            </a:lvl1pPr>
            <a:lvl2pPr marL="0" marR="0" lvl="1" indent="0" algn="r" rtl="0">
              <a:spcBef>
                <a:spcPts val="0"/>
              </a:spcBef>
              <a:buNone/>
              <a:defRPr sz="1400" b="0" i="0" u="none" strike="noStrike" cap="none">
                <a:solidFill>
                  <a:srgbClr val="555960"/>
                </a:solidFill>
                <a:latin typeface="Calibri"/>
                <a:ea typeface="Calibri"/>
                <a:cs typeface="Calibri"/>
                <a:sym typeface="Calibri"/>
              </a:defRPr>
            </a:lvl2pPr>
            <a:lvl3pPr marL="0" marR="0" lvl="2" indent="0" algn="r" rtl="0">
              <a:spcBef>
                <a:spcPts val="0"/>
              </a:spcBef>
              <a:buNone/>
              <a:defRPr sz="1400" b="0" i="0" u="none" strike="noStrike" cap="none">
                <a:solidFill>
                  <a:srgbClr val="555960"/>
                </a:solidFill>
                <a:latin typeface="Calibri"/>
                <a:ea typeface="Calibri"/>
                <a:cs typeface="Calibri"/>
                <a:sym typeface="Calibri"/>
              </a:defRPr>
            </a:lvl3pPr>
            <a:lvl4pPr marL="0" marR="0" lvl="3" indent="0" algn="r" rtl="0">
              <a:spcBef>
                <a:spcPts val="0"/>
              </a:spcBef>
              <a:buNone/>
              <a:defRPr sz="1400" b="0" i="0" u="none" strike="noStrike" cap="none">
                <a:solidFill>
                  <a:srgbClr val="555960"/>
                </a:solidFill>
                <a:latin typeface="Calibri"/>
                <a:ea typeface="Calibri"/>
                <a:cs typeface="Calibri"/>
                <a:sym typeface="Calibri"/>
              </a:defRPr>
            </a:lvl4pPr>
            <a:lvl5pPr marL="0" marR="0" lvl="4" indent="0" algn="r" rtl="0">
              <a:spcBef>
                <a:spcPts val="0"/>
              </a:spcBef>
              <a:buNone/>
              <a:defRPr sz="1400" b="0" i="0" u="none" strike="noStrike" cap="none">
                <a:solidFill>
                  <a:srgbClr val="555960"/>
                </a:solidFill>
                <a:latin typeface="Calibri"/>
                <a:ea typeface="Calibri"/>
                <a:cs typeface="Calibri"/>
                <a:sym typeface="Calibri"/>
              </a:defRPr>
            </a:lvl5pPr>
            <a:lvl6pPr marL="0" marR="0" lvl="5" indent="0" algn="r" rtl="0">
              <a:spcBef>
                <a:spcPts val="0"/>
              </a:spcBef>
              <a:buNone/>
              <a:defRPr sz="1400" b="0" i="0" u="none" strike="noStrike" cap="none">
                <a:solidFill>
                  <a:srgbClr val="555960"/>
                </a:solidFill>
                <a:latin typeface="Calibri"/>
                <a:ea typeface="Calibri"/>
                <a:cs typeface="Calibri"/>
                <a:sym typeface="Calibri"/>
              </a:defRPr>
            </a:lvl6pPr>
            <a:lvl7pPr marL="0" marR="0" lvl="6" indent="0" algn="r" rtl="0">
              <a:spcBef>
                <a:spcPts val="0"/>
              </a:spcBef>
              <a:buNone/>
              <a:defRPr sz="1400" b="0" i="0" u="none" strike="noStrike" cap="none">
                <a:solidFill>
                  <a:srgbClr val="555960"/>
                </a:solidFill>
                <a:latin typeface="Calibri"/>
                <a:ea typeface="Calibri"/>
                <a:cs typeface="Calibri"/>
                <a:sym typeface="Calibri"/>
              </a:defRPr>
            </a:lvl7pPr>
            <a:lvl8pPr marL="0" marR="0" lvl="7" indent="0" algn="r" rtl="0">
              <a:spcBef>
                <a:spcPts val="0"/>
              </a:spcBef>
              <a:buNone/>
              <a:defRPr sz="1400" b="0" i="0" u="none" strike="noStrike" cap="none">
                <a:solidFill>
                  <a:srgbClr val="555960"/>
                </a:solidFill>
                <a:latin typeface="Calibri"/>
                <a:ea typeface="Calibri"/>
                <a:cs typeface="Calibri"/>
                <a:sym typeface="Calibri"/>
              </a:defRPr>
            </a:lvl8pPr>
            <a:lvl9pPr marL="0" marR="0" lvl="8" indent="0" algn="r" rtl="0">
              <a:spcBef>
                <a:spcPts val="0"/>
              </a:spcBef>
              <a:buNone/>
              <a:defRPr sz="1400" b="0" i="0" u="none" strike="noStrike" cap="none">
                <a:solidFill>
                  <a:srgbClr val="55596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urseLine"/>
          <p:cNvSpPr txBox="1"/>
          <p:nvPr/>
        </p:nvSpPr>
        <p:spPr>
          <a:xfrm>
            <a:off x="658368" y="576072"/>
            <a:ext cx="7818120" cy="402336"/>
          </a:xfrm>
          <a:prstGeom prst="rect">
            <a:avLst/>
          </a:prstGeom>
          <a:noFill/>
        </p:spPr>
        <p:txBody>
          <a:bodyPr wrap="square">
            <a:spAutoFit/>
          </a:bodyPr>
          <a:lstStyle/>
          <a:p>
            <a:pPr algn="ctr">
              <a:spcAft>
                <a:spcPts val="400"/>
              </a:spcAft>
            </a:pPr>
            <a:r>
              <a:rPr sz="2000" b="0">
                <a:solidFill>
                  <a:srgbClr val="5C4826"/>
                </a:solidFill>
                <a:latin typeface="Calibri"/>
              </a:rPr>
              <a:t>S o f t w a r e   E n g i n e e r i n g</a:t>
            </a:r>
          </a:p>
        </p:txBody>
      </p:sp>
      <p:sp>
        <p:nvSpPr>
          <p:cNvPr id="3" name="CourseNumber"/>
          <p:cNvSpPr txBox="1"/>
          <p:nvPr/>
        </p:nvSpPr>
        <p:spPr>
          <a:xfrm>
            <a:off x="658368" y="1014984"/>
            <a:ext cx="7818120" cy="384048"/>
          </a:xfrm>
          <a:prstGeom prst="rect">
            <a:avLst/>
          </a:prstGeom>
          <a:noFill/>
        </p:spPr>
        <p:txBody>
          <a:bodyPr wrap="square">
            <a:spAutoFit/>
          </a:bodyPr>
          <a:lstStyle/>
          <a:p>
            <a:pPr algn="ctr">
              <a:spcAft>
                <a:spcPts val="400"/>
              </a:spcAft>
            </a:pPr>
            <a:r>
              <a:rPr sz="2000" b="0">
                <a:solidFill>
                  <a:srgbClr val="555960"/>
                </a:solidFill>
                <a:latin typeface="Calibri"/>
              </a:rPr>
              <a:t>ECE 30861 / CSCI 45000</a:t>
            </a:r>
          </a:p>
        </p:txBody>
      </p:sp>
      <p:sp>
        <p:nvSpPr>
          <p:cNvPr id="4" name="Title"/>
          <p:cNvSpPr txBox="1"/>
          <p:nvPr/>
        </p:nvSpPr>
        <p:spPr>
          <a:xfrm>
            <a:off x="384048" y="1783080"/>
            <a:ext cx="8412480" cy="731520"/>
          </a:xfrm>
          <a:prstGeom prst="rect">
            <a:avLst/>
          </a:prstGeom>
          <a:noFill/>
        </p:spPr>
        <p:txBody>
          <a:bodyPr wrap="square">
            <a:spAutoFit/>
          </a:bodyPr>
          <a:lstStyle/>
          <a:p>
            <a:pPr algn="ctr">
              <a:spcAft>
                <a:spcPts val="400"/>
              </a:spcAft>
            </a:pPr>
            <a:r>
              <a:rPr sz="3200" b="0">
                <a:solidFill>
                  <a:srgbClr val="2D2D2D"/>
                </a:solidFill>
                <a:latin typeface="Calibri"/>
              </a:rPr>
              <a:t>Data Management</a:t>
            </a:r>
          </a:p>
        </p:txBody>
      </p:sp>
      <p:sp>
        <p:nvSpPr>
          <p:cNvPr id="5" name="Subtitle"/>
          <p:cNvSpPr txBox="1"/>
          <p:nvPr/>
        </p:nvSpPr>
        <p:spPr>
          <a:xfrm>
            <a:off x="429768" y="2606040"/>
            <a:ext cx="8284464" cy="868680"/>
          </a:xfrm>
          <a:prstGeom prst="rect">
            <a:avLst/>
          </a:prstGeom>
          <a:noFill/>
        </p:spPr>
        <p:txBody>
          <a:bodyPr wrap="square">
            <a:spAutoFit/>
          </a:bodyPr>
          <a:lstStyle/>
          <a:p>
            <a:pPr algn="ctr">
              <a:spcAft>
                <a:spcPts val="400"/>
              </a:spcAft>
            </a:pPr>
            <a:r>
              <a:rPr sz="2200" b="0">
                <a:solidFill>
                  <a:srgbClr val="8E6F3E"/>
                </a:solidFill>
                <a:latin typeface="Calibri"/>
              </a:rPr>
              <a:t>How do we represent, retrieve, and preserve information as software systems grow?</a:t>
            </a:r>
          </a:p>
        </p:txBody>
      </p:sp>
      <p:sp>
        <p:nvSpPr>
          <p:cNvPr id="6" name="Instructors"/>
          <p:cNvSpPr txBox="1"/>
          <p:nvPr/>
        </p:nvSpPr>
        <p:spPr>
          <a:xfrm>
            <a:off x="740664" y="3657600"/>
            <a:ext cx="7680960" cy="868680"/>
          </a:xfrm>
          <a:prstGeom prst="rect">
            <a:avLst/>
          </a:prstGeom>
          <a:noFill/>
        </p:spPr>
        <p:txBody>
          <a:bodyPr wrap="square">
            <a:spAutoFit/>
          </a:bodyPr>
          <a:lstStyle/>
          <a:p>
            <a:pPr algn="ctr">
              <a:spcAft>
                <a:spcPts val="400"/>
              </a:spcAft>
            </a:pPr>
            <a:r>
              <a:rPr sz="2000" b="0">
                <a:solidFill>
                  <a:srgbClr val="2D2D2D"/>
                </a:solidFill>
                <a:latin typeface="Calibri"/>
              </a:rPr>
              <a:t>Prof. James C. Davis</a:t>
            </a:r>
          </a:p>
          <a:p>
            <a:pPr algn="ctr">
              <a:spcAft>
                <a:spcPts val="400"/>
              </a:spcAft>
            </a:pPr>
            <a:r>
              <a:rPr sz="2000" b="0">
                <a:solidFill>
                  <a:srgbClr val="2D2D2D"/>
                </a:solidFill>
                <a:latin typeface="Calibri"/>
              </a:rPr>
              <a:t>Prof. Steve France</a:t>
            </a:r>
          </a:p>
        </p:txBody>
      </p:sp>
      <p:sp>
        <p:nvSpPr>
          <p:cNvPr id="7" name="ActLine"/>
          <p:cNvSpPr txBox="1"/>
          <p:nvPr/>
        </p:nvSpPr>
        <p:spPr>
          <a:xfrm>
            <a:off x="1143000" y="4617720"/>
            <a:ext cx="6858000" cy="384048"/>
          </a:xfrm>
          <a:prstGeom prst="rect">
            <a:avLst/>
          </a:prstGeom>
          <a:noFill/>
        </p:spPr>
        <p:txBody>
          <a:bodyPr wrap="square">
            <a:spAutoFit/>
          </a:bodyPr>
          <a:lstStyle/>
          <a:p>
            <a:pPr algn="ctr">
              <a:spcAft>
                <a:spcPts val="400"/>
              </a:spcAft>
            </a:pPr>
            <a:r>
              <a:rPr sz="2000" b="0">
                <a:solidFill>
                  <a:srgbClr val="555960"/>
                </a:solidFill>
                <a:latin typeface="Calibri"/>
              </a:rPr>
              <a:t>Act III — Engineering Software Systems</a:t>
            </a:r>
          </a:p>
        </p:txBody>
      </p:sp>
      <p:sp>
        <p:nvSpPr>
          <p:cNvPr id="8" name="DateLine"/>
          <p:cNvSpPr txBox="1"/>
          <p:nvPr/>
        </p:nvSpPr>
        <p:spPr>
          <a:xfrm>
            <a:off x="1143000" y="5029200"/>
            <a:ext cx="6858000" cy="384048"/>
          </a:xfrm>
          <a:prstGeom prst="rect">
            <a:avLst/>
          </a:prstGeom>
          <a:noFill/>
        </p:spPr>
        <p:txBody>
          <a:bodyPr wrap="square">
            <a:spAutoFit/>
          </a:bodyPr>
          <a:lstStyle/>
          <a:p>
            <a:pPr algn="ctr">
              <a:spcAft>
                <a:spcPts val="400"/>
              </a:spcAft>
            </a:pPr>
            <a:r>
              <a:rPr sz="2000" b="0">
                <a:solidFill>
                  <a:srgbClr val="555960"/>
                </a:solidFill>
                <a:latin typeface="Calibri"/>
              </a:rPr>
              <a:t>Thursday, November 5,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Our service keeps every reservation in memory</a:t>
            </a:r>
          </a:p>
        </p:txBody>
      </p:sp>
      <p:sp>
        <p:nvSpPr>
          <p:cNvPr id="3" name="Label"/>
          <p:cNvSpPr txBox="1"/>
          <p:nvPr/>
        </p:nvSpPr>
        <p:spPr>
          <a:xfrm>
            <a:off x="411480" y="868680"/>
            <a:ext cx="8321040" cy="411480"/>
          </a:xfrm>
          <a:prstGeom prst="rect">
            <a:avLst/>
          </a:prstGeom>
          <a:noFill/>
        </p:spPr>
        <p:txBody>
          <a:bodyPr wrap="square">
            <a:spAutoFit/>
          </a:bodyPr>
          <a:lstStyle/>
          <a:p>
            <a:pPr algn="l">
              <a:spcAft>
                <a:spcPts val="400"/>
              </a:spcAft>
            </a:pPr>
            <a:r>
              <a:rPr sz="2100" b="1">
                <a:solidFill>
                  <a:srgbClr val="5C4826"/>
                </a:solidFill>
                <a:latin typeface="Calibri"/>
              </a:rPr>
              <a:t>Tuesday ended with the service deployed. What breaks first?</a:t>
            </a:r>
          </a:p>
        </p:txBody>
      </p:sp>
      <p:sp>
        <p:nvSpPr>
          <p:cNvPr id="4" name="Card"/>
          <p:cNvSpPr/>
          <p:nvPr/>
        </p:nvSpPr>
        <p:spPr>
          <a:xfrm>
            <a:off x="411480" y="1417320"/>
            <a:ext cx="8321040" cy="1298448"/>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CardLeft"/>
          <p:cNvSpPr txBox="1"/>
          <p:nvPr/>
        </p:nvSpPr>
        <p:spPr>
          <a:xfrm>
            <a:off x="557784" y="1490472"/>
            <a:ext cx="3611880" cy="1152144"/>
          </a:xfrm>
          <a:prstGeom prst="rect">
            <a:avLst/>
          </a:prstGeom>
          <a:noFill/>
        </p:spPr>
        <p:txBody>
          <a:bodyPr wrap="square">
            <a:spAutoFit/>
          </a:bodyPr>
          <a:lstStyle/>
          <a:p>
            <a:pPr algn="l">
              <a:spcAft>
                <a:spcPts val="200"/>
              </a:spcAft>
            </a:pPr>
            <a:r>
              <a:rPr sz="2000" b="1">
                <a:solidFill>
                  <a:srgbClr val="8E6F3E"/>
                </a:solidFill>
                <a:latin typeface="Calibri"/>
              </a:rPr>
              <a:t>THE PROCESS RESTARTS</a:t>
            </a:r>
          </a:p>
          <a:p>
            <a:pPr algn="l">
              <a:spcAft>
                <a:spcPts val="400"/>
              </a:spcAft>
            </a:pPr>
            <a:r>
              <a:rPr sz="2000" b="0">
                <a:solidFill>
                  <a:srgbClr val="5C4826"/>
                </a:solidFill>
                <a:latin typeface="Calibri"/>
              </a:rPr>
              <a:t>Every reservation is gone</a:t>
            </a:r>
          </a:p>
        </p:txBody>
      </p:sp>
      <p:sp>
        <p:nvSpPr>
          <p:cNvPr id="6" name="CardRight"/>
          <p:cNvSpPr txBox="1"/>
          <p:nvPr/>
        </p:nvSpPr>
        <p:spPr>
          <a:xfrm>
            <a:off x="4343400" y="1490472"/>
            <a:ext cx="4251960" cy="1152144"/>
          </a:xfrm>
          <a:prstGeom prst="rect">
            <a:avLst/>
          </a:prstGeom>
          <a:noFill/>
        </p:spPr>
        <p:txBody>
          <a:bodyPr wrap="square">
            <a:spAutoFit/>
          </a:bodyPr>
          <a:lstStyle/>
          <a:p>
            <a:pPr algn="l">
              <a:spcAft>
                <a:spcPts val="200"/>
              </a:spcAft>
            </a:pPr>
            <a:r>
              <a:rPr sz="2000" b="1">
                <a:solidFill>
                  <a:srgbClr val="5C4826"/>
                </a:solidFill>
                <a:latin typeface="Calibri"/>
              </a:rPr>
              <a:t>Persistence</a:t>
            </a:r>
          </a:p>
          <a:p>
            <a:pPr algn="l">
              <a:spcAft>
                <a:spcPts val="400"/>
              </a:spcAft>
            </a:pPr>
            <a:r>
              <a:rPr sz="2000" b="0">
                <a:solidFill>
                  <a:srgbClr val="555960"/>
                </a:solidFill>
                <a:latin typeface="Calibri"/>
              </a:rPr>
              <a:t>Information must outlive the process that wrote it</a:t>
            </a:r>
          </a:p>
        </p:txBody>
      </p:sp>
      <p:sp>
        <p:nvSpPr>
          <p:cNvPr id="7" name="Card"/>
          <p:cNvSpPr/>
          <p:nvPr/>
        </p:nvSpPr>
        <p:spPr>
          <a:xfrm>
            <a:off x="411480" y="2862072"/>
            <a:ext cx="8321040" cy="1298448"/>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CardLeft"/>
          <p:cNvSpPr txBox="1"/>
          <p:nvPr/>
        </p:nvSpPr>
        <p:spPr>
          <a:xfrm>
            <a:off x="557784" y="2935224"/>
            <a:ext cx="3611880" cy="1152144"/>
          </a:xfrm>
          <a:prstGeom prst="rect">
            <a:avLst/>
          </a:prstGeom>
          <a:noFill/>
        </p:spPr>
        <p:txBody>
          <a:bodyPr wrap="square">
            <a:spAutoFit/>
          </a:bodyPr>
          <a:lstStyle/>
          <a:p>
            <a:pPr algn="l">
              <a:spcAft>
                <a:spcPts val="200"/>
              </a:spcAft>
            </a:pPr>
            <a:r>
              <a:rPr sz="2000" b="1">
                <a:solidFill>
                  <a:srgbClr val="8E6F3E"/>
                </a:solidFill>
                <a:latin typeface="Calibri"/>
              </a:rPr>
              <a:t>WE ADD A SECOND REPLICA</a:t>
            </a:r>
          </a:p>
          <a:p>
            <a:pPr algn="l">
              <a:spcAft>
                <a:spcPts val="400"/>
              </a:spcAft>
            </a:pPr>
            <a:r>
              <a:rPr sz="2000" b="0">
                <a:solidFill>
                  <a:srgbClr val="5C4826"/>
                </a:solidFill>
                <a:latin typeface="Calibri"/>
              </a:rPr>
              <a:t>Two copies, two different truths</a:t>
            </a:r>
          </a:p>
        </p:txBody>
      </p:sp>
      <p:sp>
        <p:nvSpPr>
          <p:cNvPr id="9" name="CardRight"/>
          <p:cNvSpPr txBox="1"/>
          <p:nvPr/>
        </p:nvSpPr>
        <p:spPr>
          <a:xfrm>
            <a:off x="4343400" y="2935224"/>
            <a:ext cx="4251960" cy="1152144"/>
          </a:xfrm>
          <a:prstGeom prst="rect">
            <a:avLst/>
          </a:prstGeom>
          <a:noFill/>
        </p:spPr>
        <p:txBody>
          <a:bodyPr wrap="square">
            <a:spAutoFit/>
          </a:bodyPr>
          <a:lstStyle/>
          <a:p>
            <a:pPr algn="l">
              <a:spcAft>
                <a:spcPts val="200"/>
              </a:spcAft>
            </a:pPr>
            <a:r>
              <a:rPr sz="2000" b="1">
                <a:solidFill>
                  <a:srgbClr val="5C4826"/>
                </a:solidFill>
                <a:latin typeface="Calibri"/>
              </a:rPr>
              <a:t>Sharing</a:t>
            </a:r>
          </a:p>
          <a:p>
            <a:pPr algn="l">
              <a:spcAft>
                <a:spcPts val="400"/>
              </a:spcAft>
            </a:pPr>
            <a:r>
              <a:rPr sz="2000" b="0">
                <a:solidFill>
                  <a:srgbClr val="555960"/>
                </a:solidFill>
                <a:latin typeface="Calibri"/>
              </a:rPr>
              <a:t>Many clients and replicas, one authoritative copy</a:t>
            </a:r>
          </a:p>
        </p:txBody>
      </p:sp>
      <p:sp>
        <p:nvSpPr>
          <p:cNvPr id="10" name="Card"/>
          <p:cNvSpPr/>
          <p:nvPr/>
        </p:nvSpPr>
        <p:spPr>
          <a:xfrm>
            <a:off x="411480" y="4306824"/>
            <a:ext cx="8321040" cy="1298448"/>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CardLeft"/>
          <p:cNvSpPr txBox="1"/>
          <p:nvPr/>
        </p:nvSpPr>
        <p:spPr>
          <a:xfrm>
            <a:off x="557784" y="4379976"/>
            <a:ext cx="3611880" cy="1152144"/>
          </a:xfrm>
          <a:prstGeom prst="rect">
            <a:avLst/>
          </a:prstGeom>
          <a:noFill/>
        </p:spPr>
        <p:txBody>
          <a:bodyPr wrap="square">
            <a:spAutoFit/>
          </a:bodyPr>
          <a:lstStyle/>
          <a:p>
            <a:pPr algn="l">
              <a:spcAft>
                <a:spcPts val="200"/>
              </a:spcAft>
            </a:pPr>
            <a:r>
              <a:rPr sz="2000" b="1">
                <a:solidFill>
                  <a:srgbClr val="8E6F3E"/>
                </a:solidFill>
                <a:latin typeface="Calibri"/>
              </a:rPr>
              <a:t>TWO REQUESTS ARRIVE AT ONCE</a:t>
            </a:r>
          </a:p>
          <a:p>
            <a:pPr algn="l">
              <a:spcAft>
                <a:spcPts val="400"/>
              </a:spcAft>
            </a:pPr>
            <a:r>
              <a:rPr sz="2000" b="0">
                <a:solidFill>
                  <a:srgbClr val="5C4826"/>
                </a:solidFill>
                <a:latin typeface="Calibri"/>
              </a:rPr>
              <a:t>Both see the room as free</a:t>
            </a:r>
          </a:p>
        </p:txBody>
      </p:sp>
      <p:sp>
        <p:nvSpPr>
          <p:cNvPr id="12" name="CardRight"/>
          <p:cNvSpPr txBox="1"/>
          <p:nvPr/>
        </p:nvSpPr>
        <p:spPr>
          <a:xfrm>
            <a:off x="4343400" y="4379976"/>
            <a:ext cx="4251960" cy="1152144"/>
          </a:xfrm>
          <a:prstGeom prst="rect">
            <a:avLst/>
          </a:prstGeom>
          <a:noFill/>
        </p:spPr>
        <p:txBody>
          <a:bodyPr wrap="square">
            <a:spAutoFit/>
          </a:bodyPr>
          <a:lstStyle/>
          <a:p>
            <a:pPr algn="l">
              <a:spcAft>
                <a:spcPts val="200"/>
              </a:spcAft>
            </a:pPr>
            <a:r>
              <a:rPr sz="2000" b="1">
                <a:solidFill>
                  <a:srgbClr val="5C4826"/>
                </a:solidFill>
                <a:latin typeface="Calibri"/>
              </a:rPr>
              <a:t>Concurrency</a:t>
            </a:r>
          </a:p>
          <a:p>
            <a:pPr algn="l">
              <a:spcAft>
                <a:spcPts val="400"/>
              </a:spcAft>
            </a:pPr>
            <a:r>
              <a:rPr sz="2000" b="0">
                <a:solidFill>
                  <a:srgbClr val="555960"/>
                </a:solidFill>
                <a:latin typeface="Calibri"/>
              </a:rPr>
              <a:t>Overlapping operations must not corrupt state</a:t>
            </a:r>
          </a:p>
        </p:txBody>
      </p:sp>
      <p:sp>
        <p:nvSpPr>
          <p:cNvPr id="13"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Three separable requirements — each can be met without the others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A database is an engineering component, not a language</a:t>
            </a:r>
          </a:p>
        </p:txBody>
      </p:sp>
      <p:sp>
        <p:nvSpPr>
          <p:cNvPr id="3" name="Card"/>
          <p:cNvSpPr/>
          <p:nvPr/>
        </p:nvSpPr>
        <p:spPr>
          <a:xfrm>
            <a:off x="411480" y="1005840"/>
            <a:ext cx="4069080" cy="24688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ardBody"/>
          <p:cNvSpPr txBox="1"/>
          <p:nvPr/>
        </p:nvSpPr>
        <p:spPr>
          <a:xfrm>
            <a:off x="557784" y="1097280"/>
            <a:ext cx="3776472" cy="2286000"/>
          </a:xfrm>
          <a:prstGeom prst="rect">
            <a:avLst/>
          </a:prstGeom>
          <a:noFill/>
        </p:spPr>
        <p:txBody>
          <a:bodyPr wrap="square">
            <a:spAutoFit/>
          </a:bodyPr>
          <a:lstStyle/>
          <a:p>
            <a:pPr algn="l">
              <a:spcAft>
                <a:spcPts val="600"/>
              </a:spcAft>
            </a:pPr>
            <a:r>
              <a:rPr sz="2000" b="1">
                <a:solidFill>
                  <a:srgbClr val="8E6F3E"/>
                </a:solidFill>
                <a:latin typeface="Calibri"/>
              </a:rPr>
              <a:t>WHAT YOU DELEGATE TO IT</a:t>
            </a:r>
          </a:p>
          <a:p>
            <a:pPr algn="l">
              <a:spcAft>
                <a:spcPts val="400"/>
              </a:spcAft>
            </a:pPr>
            <a:r>
              <a:rPr sz="2000" b="0">
                <a:solidFill>
                  <a:srgbClr val="5C4826"/>
                </a:solidFill>
                <a:latin typeface="Calibri"/>
              </a:rPr>
              <a:t>Representing your domain's facts</a:t>
            </a:r>
          </a:p>
          <a:p>
            <a:pPr algn="l">
              <a:spcAft>
                <a:spcPts val="400"/>
              </a:spcAft>
            </a:pPr>
            <a:r>
              <a:rPr sz="2000" b="0">
                <a:solidFill>
                  <a:srgbClr val="5C4826"/>
                </a:solidFill>
                <a:latin typeface="Calibri"/>
              </a:rPr>
              <a:t>Retrieving them on demand</a:t>
            </a:r>
          </a:p>
          <a:p>
            <a:pPr algn="l">
              <a:spcAft>
                <a:spcPts val="400"/>
              </a:spcAft>
            </a:pPr>
            <a:r>
              <a:rPr sz="2000" b="0">
                <a:solidFill>
                  <a:srgbClr val="5C4826"/>
                </a:solidFill>
                <a:latin typeface="Calibri"/>
              </a:rPr>
              <a:t>Durability across failures</a:t>
            </a:r>
          </a:p>
          <a:p>
            <a:pPr algn="l">
              <a:spcAft>
                <a:spcPts val="400"/>
              </a:spcAft>
            </a:pPr>
            <a:r>
              <a:rPr sz="2000" b="0">
                <a:solidFill>
                  <a:srgbClr val="5C4826"/>
                </a:solidFill>
                <a:latin typeface="Calibri"/>
              </a:rPr>
              <a:t>Concurrency control under load</a:t>
            </a:r>
          </a:p>
        </p:txBody>
      </p:sp>
      <p:sp>
        <p:nvSpPr>
          <p:cNvPr id="5" name="Card"/>
          <p:cNvSpPr/>
          <p:nvPr/>
        </p:nvSpPr>
        <p:spPr>
          <a:xfrm>
            <a:off x="4663440" y="1005840"/>
            <a:ext cx="4069080" cy="246888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CardBody"/>
          <p:cNvSpPr txBox="1"/>
          <p:nvPr/>
        </p:nvSpPr>
        <p:spPr>
          <a:xfrm>
            <a:off x="4809744" y="1097280"/>
            <a:ext cx="3776472" cy="2286000"/>
          </a:xfrm>
          <a:prstGeom prst="rect">
            <a:avLst/>
          </a:prstGeom>
          <a:noFill/>
        </p:spPr>
        <p:txBody>
          <a:bodyPr wrap="square">
            <a:spAutoFit/>
          </a:bodyPr>
          <a:lstStyle/>
          <a:p>
            <a:pPr algn="l">
              <a:spcAft>
                <a:spcPts val="600"/>
              </a:spcAft>
            </a:pPr>
            <a:r>
              <a:rPr sz="2000" b="1">
                <a:solidFill>
                  <a:srgbClr val="8E6F3E"/>
                </a:solidFill>
                <a:latin typeface="Calibri"/>
              </a:rPr>
              <a:t>WHAT IT IS NOT</a:t>
            </a:r>
          </a:p>
          <a:p>
            <a:pPr algn="l">
              <a:spcAft>
                <a:spcPts val="400"/>
              </a:spcAft>
            </a:pPr>
            <a:r>
              <a:rPr sz="2000" b="0">
                <a:solidFill>
                  <a:srgbClr val="5C4826"/>
                </a:solidFill>
                <a:latin typeface="Calibri"/>
              </a:rPr>
              <a:t>A synonym for SQL</a:t>
            </a:r>
          </a:p>
          <a:p>
            <a:pPr algn="l">
              <a:spcAft>
                <a:spcPts val="400"/>
              </a:spcAft>
            </a:pPr>
            <a:r>
              <a:rPr sz="2000" b="0">
                <a:solidFill>
                  <a:srgbClr val="5C4826"/>
                </a:solidFill>
                <a:latin typeface="Calibri"/>
              </a:rPr>
              <a:t>One product category</a:t>
            </a:r>
          </a:p>
          <a:p>
            <a:pPr algn="l">
              <a:spcAft>
                <a:spcPts val="400"/>
              </a:spcAft>
            </a:pPr>
            <a:r>
              <a:rPr sz="2000" b="0">
                <a:solidFill>
                  <a:srgbClr val="5C4826"/>
                </a:solidFill>
                <a:latin typeface="Calibri"/>
              </a:rPr>
              <a:t>A place where correctness happens automatically</a:t>
            </a:r>
          </a:p>
        </p:txBody>
      </p:sp>
      <p:sp>
        <p:nvSpPr>
          <p:cNvPr id="7" name="Card"/>
          <p:cNvSpPr/>
          <p:nvPr/>
        </p:nvSpPr>
        <p:spPr>
          <a:xfrm>
            <a:off x="411480" y="3657600"/>
            <a:ext cx="8321040" cy="20116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CardBody"/>
          <p:cNvSpPr txBox="1"/>
          <p:nvPr/>
        </p:nvSpPr>
        <p:spPr>
          <a:xfrm>
            <a:off x="557784" y="3749039"/>
            <a:ext cx="8046720" cy="1828800"/>
          </a:xfrm>
          <a:prstGeom prst="rect">
            <a:avLst/>
          </a:prstGeom>
          <a:noFill/>
        </p:spPr>
        <p:txBody>
          <a:bodyPr wrap="square">
            <a:spAutoFit/>
          </a:bodyPr>
          <a:lstStyle/>
          <a:p>
            <a:pPr algn="l">
              <a:spcAft>
                <a:spcPts val="600"/>
              </a:spcAft>
            </a:pPr>
            <a:r>
              <a:rPr sz="2000" b="1">
                <a:solidFill>
                  <a:srgbClr val="5C4826"/>
                </a:solidFill>
                <a:latin typeface="Calibri"/>
              </a:rPr>
              <a:t>The requirements select machinery independently</a:t>
            </a:r>
          </a:p>
          <a:p>
            <a:pPr algn="l">
              <a:spcAft>
                <a:spcPts val="400"/>
              </a:spcAft>
            </a:pPr>
            <a:r>
              <a:rPr sz="2000" b="0">
                <a:solidFill>
                  <a:srgbClr val="555960"/>
                </a:solidFill>
                <a:latin typeface="Calibri"/>
              </a:rPr>
              <a:t>SQLite — durability + transactions; no server, no sharing</a:t>
            </a:r>
          </a:p>
          <a:p>
            <a:pPr algn="l">
              <a:spcAft>
                <a:spcPts val="400"/>
              </a:spcAft>
            </a:pPr>
            <a:r>
              <a:rPr sz="2000" b="0">
                <a:solidFill>
                  <a:srgbClr val="555960"/>
                </a:solidFill>
                <a:latin typeface="Calibri"/>
              </a:rPr>
              <a:t>A distributed key-value store — scalable sharing; a different transaction model</a:t>
            </a:r>
          </a:p>
          <a:p>
            <a:pPr algn="l">
              <a:spcAft>
                <a:spcPts val="400"/>
              </a:spcAft>
            </a:pPr>
            <a:r>
              <a:rPr sz="2000" b="0">
                <a:solidFill>
                  <a:srgbClr val="555960"/>
                </a:solidFill>
                <a:latin typeface="Calibri"/>
              </a:rPr>
              <a:t>A cache — fast sharing; no durability at all</a:t>
            </a:r>
          </a:p>
        </p:txBody>
      </p:sp>
      <p:sp>
        <p:nvSpPr>
          <p:cNvPr id="9"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Name the guarantees you need, then choose a system that provides them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An abstract model of a database: five dimensions</a:t>
            </a:r>
          </a:p>
        </p:txBody>
      </p:sp>
      <p:sp>
        <p:nvSpPr>
          <p:cNvPr id="3" name="Card"/>
          <p:cNvSpPr/>
          <p:nvPr/>
        </p:nvSpPr>
        <p:spPr>
          <a:xfrm>
            <a:off x="411480" y="914400"/>
            <a:ext cx="8321040" cy="841248"/>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wLabel"/>
          <p:cNvSpPr txBox="1"/>
          <p:nvPr/>
        </p:nvSpPr>
        <p:spPr>
          <a:xfrm>
            <a:off x="557784" y="950976"/>
            <a:ext cx="2103120" cy="768096"/>
          </a:xfrm>
          <a:prstGeom prst="rect">
            <a:avLst/>
          </a:prstGeom>
          <a:noFill/>
        </p:spPr>
        <p:txBody>
          <a:bodyPr wrap="square" anchor="ctr">
            <a:spAutoFit/>
          </a:bodyPr>
          <a:lstStyle/>
          <a:p>
            <a:pPr algn="l">
              <a:spcAft>
                <a:spcPts val="400"/>
              </a:spcAft>
            </a:pPr>
            <a:r>
              <a:rPr sz="2000" b="1">
                <a:solidFill>
                  <a:srgbClr val="8E6F3E"/>
                </a:solidFill>
                <a:latin typeface="Calibri"/>
              </a:rPr>
              <a:t>Data model</a:t>
            </a:r>
          </a:p>
        </p:txBody>
      </p:sp>
      <p:sp>
        <p:nvSpPr>
          <p:cNvPr id="5" name="RowBody"/>
          <p:cNvSpPr txBox="1"/>
          <p:nvPr/>
        </p:nvSpPr>
        <p:spPr>
          <a:xfrm>
            <a:off x="2752344" y="950976"/>
            <a:ext cx="5833872" cy="768096"/>
          </a:xfrm>
          <a:prstGeom prst="rect">
            <a:avLst/>
          </a:prstGeom>
          <a:noFill/>
        </p:spPr>
        <p:txBody>
          <a:bodyPr wrap="square">
            <a:spAutoFit/>
          </a:bodyPr>
          <a:lstStyle/>
          <a:p>
            <a:pPr algn="l">
              <a:spcAft>
                <a:spcPts val="100"/>
              </a:spcAft>
            </a:pPr>
            <a:r>
              <a:rPr sz="2000" b="1">
                <a:solidFill>
                  <a:srgbClr val="5C4826"/>
                </a:solidFill>
                <a:latin typeface="Calibri"/>
              </a:rPr>
              <a:t>How is information represented?</a:t>
            </a:r>
          </a:p>
          <a:p>
            <a:pPr algn="l">
              <a:spcAft>
                <a:spcPts val="400"/>
              </a:spcAft>
            </a:pPr>
            <a:r>
              <a:rPr sz="2000" b="0">
                <a:solidFill>
                  <a:srgbClr val="555960"/>
                </a:solidFill>
                <a:latin typeface="Calibri"/>
              </a:rPr>
              <a:t>relations · documents · key-value pairs · graphs</a:t>
            </a:r>
          </a:p>
        </p:txBody>
      </p:sp>
      <p:sp>
        <p:nvSpPr>
          <p:cNvPr id="6" name="Card"/>
          <p:cNvSpPr/>
          <p:nvPr/>
        </p:nvSpPr>
        <p:spPr>
          <a:xfrm>
            <a:off x="411480" y="1828800"/>
            <a:ext cx="8321040" cy="841248"/>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wLabel"/>
          <p:cNvSpPr txBox="1"/>
          <p:nvPr/>
        </p:nvSpPr>
        <p:spPr>
          <a:xfrm>
            <a:off x="557784" y="1865376"/>
            <a:ext cx="2103120" cy="768096"/>
          </a:xfrm>
          <a:prstGeom prst="rect">
            <a:avLst/>
          </a:prstGeom>
          <a:noFill/>
        </p:spPr>
        <p:txBody>
          <a:bodyPr wrap="square" anchor="ctr">
            <a:spAutoFit/>
          </a:bodyPr>
          <a:lstStyle/>
          <a:p>
            <a:pPr algn="l">
              <a:spcAft>
                <a:spcPts val="400"/>
              </a:spcAft>
            </a:pPr>
            <a:r>
              <a:rPr sz="2000" b="1">
                <a:solidFill>
                  <a:srgbClr val="8E6F3E"/>
                </a:solidFill>
                <a:latin typeface="Calibri"/>
              </a:rPr>
              <a:t>Semantics</a:t>
            </a:r>
          </a:p>
        </p:txBody>
      </p:sp>
      <p:sp>
        <p:nvSpPr>
          <p:cNvPr id="8" name="RowBody"/>
          <p:cNvSpPr txBox="1"/>
          <p:nvPr/>
        </p:nvSpPr>
        <p:spPr>
          <a:xfrm>
            <a:off x="2752344" y="1865376"/>
            <a:ext cx="5833872" cy="768096"/>
          </a:xfrm>
          <a:prstGeom prst="rect">
            <a:avLst/>
          </a:prstGeom>
          <a:noFill/>
        </p:spPr>
        <p:txBody>
          <a:bodyPr wrap="square">
            <a:spAutoFit/>
          </a:bodyPr>
          <a:lstStyle/>
          <a:p>
            <a:pPr algn="l">
              <a:spcAft>
                <a:spcPts val="100"/>
              </a:spcAft>
            </a:pPr>
            <a:r>
              <a:rPr sz="2000" b="1">
                <a:solidFill>
                  <a:srgbClr val="5C4826"/>
                </a:solidFill>
                <a:latin typeface="Calibri"/>
              </a:rPr>
              <a:t>What does it promise about the data?</a:t>
            </a:r>
          </a:p>
          <a:p>
            <a:pPr algn="l">
              <a:spcAft>
                <a:spcPts val="400"/>
              </a:spcAft>
            </a:pPr>
            <a:r>
              <a:rPr sz="2000" b="0">
                <a:solidFill>
                  <a:srgbClr val="555960"/>
                </a:solidFill>
                <a:latin typeface="Calibri"/>
              </a:rPr>
              <a:t>schema constraints · durability · consistency</a:t>
            </a:r>
          </a:p>
        </p:txBody>
      </p:sp>
      <p:sp>
        <p:nvSpPr>
          <p:cNvPr id="9" name="Card"/>
          <p:cNvSpPr/>
          <p:nvPr/>
        </p:nvSpPr>
        <p:spPr>
          <a:xfrm>
            <a:off x="411480" y="2743200"/>
            <a:ext cx="8321040" cy="841248"/>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wLabel"/>
          <p:cNvSpPr txBox="1"/>
          <p:nvPr/>
        </p:nvSpPr>
        <p:spPr>
          <a:xfrm>
            <a:off x="557784" y="2779776"/>
            <a:ext cx="2103120" cy="768096"/>
          </a:xfrm>
          <a:prstGeom prst="rect">
            <a:avLst/>
          </a:prstGeom>
          <a:noFill/>
        </p:spPr>
        <p:txBody>
          <a:bodyPr wrap="square" anchor="ctr">
            <a:spAutoFit/>
          </a:bodyPr>
          <a:lstStyle/>
          <a:p>
            <a:pPr algn="l">
              <a:spcAft>
                <a:spcPts val="400"/>
              </a:spcAft>
            </a:pPr>
            <a:r>
              <a:rPr sz="2000" b="1">
                <a:solidFill>
                  <a:srgbClr val="8E6F3E"/>
                </a:solidFill>
                <a:latin typeface="Calibri"/>
              </a:rPr>
              <a:t>Query interface</a:t>
            </a:r>
          </a:p>
        </p:txBody>
      </p:sp>
      <p:sp>
        <p:nvSpPr>
          <p:cNvPr id="11" name="RowBody"/>
          <p:cNvSpPr txBox="1"/>
          <p:nvPr/>
        </p:nvSpPr>
        <p:spPr>
          <a:xfrm>
            <a:off x="2752344" y="2779776"/>
            <a:ext cx="5833872" cy="768096"/>
          </a:xfrm>
          <a:prstGeom prst="rect">
            <a:avLst/>
          </a:prstGeom>
          <a:noFill/>
        </p:spPr>
        <p:txBody>
          <a:bodyPr wrap="square">
            <a:spAutoFit/>
          </a:bodyPr>
          <a:lstStyle/>
          <a:p>
            <a:pPr algn="l">
              <a:spcAft>
                <a:spcPts val="100"/>
              </a:spcAft>
            </a:pPr>
            <a:r>
              <a:rPr sz="2000" b="1">
                <a:solidFill>
                  <a:srgbClr val="5C4826"/>
                </a:solidFill>
                <a:latin typeface="Calibri"/>
              </a:rPr>
              <a:t>How does the app express its needs?</a:t>
            </a:r>
          </a:p>
          <a:p>
            <a:pPr algn="l">
              <a:spcAft>
                <a:spcPts val="400"/>
              </a:spcAft>
            </a:pPr>
            <a:r>
              <a:rPr sz="2000" b="0">
                <a:solidFill>
                  <a:srgbClr val="555960"/>
                </a:solidFill>
                <a:latin typeface="Calibri"/>
              </a:rPr>
              <a:t>SQL · document queries · ORM</a:t>
            </a:r>
          </a:p>
        </p:txBody>
      </p:sp>
      <p:sp>
        <p:nvSpPr>
          <p:cNvPr id="12" name="Card"/>
          <p:cNvSpPr/>
          <p:nvPr/>
        </p:nvSpPr>
        <p:spPr>
          <a:xfrm>
            <a:off x="411480" y="3657600"/>
            <a:ext cx="8321040" cy="841248"/>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wLabel"/>
          <p:cNvSpPr txBox="1"/>
          <p:nvPr/>
        </p:nvSpPr>
        <p:spPr>
          <a:xfrm>
            <a:off x="557784" y="3694176"/>
            <a:ext cx="2103120" cy="768096"/>
          </a:xfrm>
          <a:prstGeom prst="rect">
            <a:avLst/>
          </a:prstGeom>
          <a:noFill/>
        </p:spPr>
        <p:txBody>
          <a:bodyPr wrap="square" anchor="ctr">
            <a:spAutoFit/>
          </a:bodyPr>
          <a:lstStyle/>
          <a:p>
            <a:pPr algn="l">
              <a:spcAft>
                <a:spcPts val="400"/>
              </a:spcAft>
            </a:pPr>
            <a:r>
              <a:rPr sz="2000" b="1">
                <a:solidFill>
                  <a:srgbClr val="8E6F3E"/>
                </a:solidFill>
                <a:latin typeface="Calibri"/>
              </a:rPr>
              <a:t>Concurrency</a:t>
            </a:r>
          </a:p>
        </p:txBody>
      </p:sp>
      <p:sp>
        <p:nvSpPr>
          <p:cNvPr id="14" name="RowBody"/>
          <p:cNvSpPr txBox="1"/>
          <p:nvPr/>
        </p:nvSpPr>
        <p:spPr>
          <a:xfrm>
            <a:off x="2752344" y="3694176"/>
            <a:ext cx="5833872" cy="768096"/>
          </a:xfrm>
          <a:prstGeom prst="rect">
            <a:avLst/>
          </a:prstGeom>
          <a:noFill/>
        </p:spPr>
        <p:txBody>
          <a:bodyPr wrap="square">
            <a:spAutoFit/>
          </a:bodyPr>
          <a:lstStyle/>
          <a:p>
            <a:pPr algn="l">
              <a:spcAft>
                <a:spcPts val="100"/>
              </a:spcAft>
            </a:pPr>
            <a:r>
              <a:rPr sz="2000" b="1">
                <a:solidFill>
                  <a:srgbClr val="5C4826"/>
                </a:solidFill>
                <a:latin typeface="Calibri"/>
              </a:rPr>
              <a:t>What happens when operations overlap?</a:t>
            </a:r>
          </a:p>
          <a:p>
            <a:pPr algn="l">
              <a:spcAft>
                <a:spcPts val="400"/>
              </a:spcAft>
            </a:pPr>
            <a:r>
              <a:rPr sz="2000" b="0">
                <a:solidFill>
                  <a:srgbClr val="555960"/>
                </a:solidFill>
                <a:latin typeface="Calibri"/>
              </a:rPr>
              <a:t>transactions · isolation · optimistic control</a:t>
            </a:r>
          </a:p>
        </p:txBody>
      </p:sp>
      <p:sp>
        <p:nvSpPr>
          <p:cNvPr id="15" name="Card"/>
          <p:cNvSpPr/>
          <p:nvPr/>
        </p:nvSpPr>
        <p:spPr>
          <a:xfrm>
            <a:off x="411480" y="4572000"/>
            <a:ext cx="8321040" cy="841248"/>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wLabel"/>
          <p:cNvSpPr txBox="1"/>
          <p:nvPr/>
        </p:nvSpPr>
        <p:spPr>
          <a:xfrm>
            <a:off x="557784" y="4608576"/>
            <a:ext cx="2103120" cy="768096"/>
          </a:xfrm>
          <a:prstGeom prst="rect">
            <a:avLst/>
          </a:prstGeom>
          <a:noFill/>
        </p:spPr>
        <p:txBody>
          <a:bodyPr wrap="square" anchor="ctr">
            <a:spAutoFit/>
          </a:bodyPr>
          <a:lstStyle/>
          <a:p>
            <a:pPr algn="l">
              <a:spcAft>
                <a:spcPts val="400"/>
              </a:spcAft>
            </a:pPr>
            <a:r>
              <a:rPr sz="2000" b="1">
                <a:solidFill>
                  <a:srgbClr val="8E6F3E"/>
                </a:solidFill>
                <a:latin typeface="Calibri"/>
              </a:rPr>
              <a:t>Scalability</a:t>
            </a:r>
          </a:p>
        </p:txBody>
      </p:sp>
      <p:sp>
        <p:nvSpPr>
          <p:cNvPr id="17" name="RowBody"/>
          <p:cNvSpPr txBox="1"/>
          <p:nvPr/>
        </p:nvSpPr>
        <p:spPr>
          <a:xfrm>
            <a:off x="2752344" y="4608576"/>
            <a:ext cx="5833872" cy="768096"/>
          </a:xfrm>
          <a:prstGeom prst="rect">
            <a:avLst/>
          </a:prstGeom>
          <a:noFill/>
        </p:spPr>
        <p:txBody>
          <a:bodyPr wrap="square">
            <a:spAutoFit/>
          </a:bodyPr>
          <a:lstStyle/>
          <a:p>
            <a:pPr algn="l">
              <a:spcAft>
                <a:spcPts val="100"/>
              </a:spcAft>
            </a:pPr>
            <a:r>
              <a:rPr sz="2000" b="1">
                <a:solidFill>
                  <a:srgbClr val="5C4826"/>
                </a:solidFill>
                <a:latin typeface="Calibri"/>
              </a:rPr>
              <a:t>How does it behave as demand grows?</a:t>
            </a:r>
          </a:p>
          <a:p>
            <a:pPr algn="l">
              <a:spcAft>
                <a:spcPts val="400"/>
              </a:spcAft>
            </a:pPr>
            <a:r>
              <a:rPr sz="2000" b="0">
                <a:solidFill>
                  <a:srgbClr val="555960"/>
                </a:solidFill>
                <a:latin typeface="Calibri"/>
              </a:rPr>
              <a:t>indexing · replication · partitioning</a:t>
            </a:r>
          </a:p>
        </p:txBody>
      </p:sp>
      <p:sp>
        <p:nvSpPr>
          <p:cNvPr id="18" name="OperationsNote"/>
          <p:cNvSpPr txBox="1"/>
          <p:nvPr/>
        </p:nvSpPr>
        <p:spPr>
          <a:xfrm>
            <a:off x="411480" y="5504688"/>
            <a:ext cx="8321040" cy="347472"/>
          </a:xfrm>
          <a:prstGeom prst="rect">
            <a:avLst/>
          </a:prstGeom>
          <a:noFill/>
        </p:spPr>
        <p:txBody>
          <a:bodyPr wrap="square">
            <a:spAutoFit/>
          </a:bodyPr>
          <a:lstStyle/>
          <a:p>
            <a:pPr algn="l">
              <a:spcAft>
                <a:spcPts val="400"/>
              </a:spcAft>
            </a:pPr>
            <a:r>
              <a:rPr sz="2000" b="0">
                <a:solidFill>
                  <a:srgbClr val="555960"/>
                </a:solidFill>
                <a:latin typeface="Calibri"/>
              </a:rPr>
              <a:t>Sixth, Operations — backup, recovery, migration — deferred to Unit 6</a:t>
            </a:r>
          </a:p>
        </p:txBody>
      </p:sp>
      <p:sp>
        <p:nvSpPr>
          <p:cNvPr id="19"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Separate what the app REQUIRES from what the database GUARANTEES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Four ways to represent a reservation</a:t>
            </a:r>
          </a:p>
        </p:txBody>
      </p:sp>
      <p:sp>
        <p:nvSpPr>
          <p:cNvPr id="3" name="Card"/>
          <p:cNvSpPr/>
          <p:nvPr/>
        </p:nvSpPr>
        <p:spPr>
          <a:xfrm>
            <a:off x="411480" y="960120"/>
            <a:ext cx="4069080" cy="21031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ardBody"/>
          <p:cNvSpPr txBox="1"/>
          <p:nvPr/>
        </p:nvSpPr>
        <p:spPr>
          <a:xfrm>
            <a:off x="557784" y="1051560"/>
            <a:ext cx="3776472" cy="1920240"/>
          </a:xfrm>
          <a:prstGeom prst="rect">
            <a:avLst/>
          </a:prstGeom>
          <a:noFill/>
        </p:spPr>
        <p:txBody>
          <a:bodyPr wrap="square">
            <a:spAutoFit/>
          </a:bodyPr>
          <a:lstStyle/>
          <a:p>
            <a:pPr algn="l">
              <a:spcAft>
                <a:spcPts val="400"/>
              </a:spcAft>
            </a:pPr>
            <a:r>
              <a:rPr sz="2000" b="1">
                <a:solidFill>
                  <a:srgbClr val="8E6F3E"/>
                </a:solidFill>
                <a:latin typeface="Calibri"/>
              </a:rPr>
              <a:t>RELATIONAL</a:t>
            </a:r>
          </a:p>
          <a:p>
            <a:pPr algn="l">
              <a:spcAft>
                <a:spcPts val="400"/>
              </a:spcAft>
            </a:pPr>
            <a:r>
              <a:rPr sz="2000" b="0">
                <a:solidFill>
                  <a:srgbClr val="5C4826"/>
                </a:solidFill>
                <a:latin typeface="Calibri"/>
              </a:rPr>
              <a:t>Tables of rows; relationships via keys</a:t>
            </a:r>
          </a:p>
          <a:p>
            <a:pPr algn="l">
              <a:spcAft>
                <a:spcPts val="400"/>
              </a:spcAft>
            </a:pPr>
            <a:r>
              <a:rPr sz="2000" b="0">
                <a:solidFill>
                  <a:srgbClr val="555960"/>
                </a:solidFill>
                <a:latin typeface="Calibri"/>
              </a:rPr>
              <a:t>Easy: joins, cross-row rules · Harder: deep nesting</a:t>
            </a:r>
          </a:p>
        </p:txBody>
      </p:sp>
      <p:sp>
        <p:nvSpPr>
          <p:cNvPr id="5" name="Card"/>
          <p:cNvSpPr/>
          <p:nvPr/>
        </p:nvSpPr>
        <p:spPr>
          <a:xfrm>
            <a:off x="4663440" y="960120"/>
            <a:ext cx="4069080" cy="210312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CardBody"/>
          <p:cNvSpPr txBox="1"/>
          <p:nvPr/>
        </p:nvSpPr>
        <p:spPr>
          <a:xfrm>
            <a:off x="4809744" y="1051560"/>
            <a:ext cx="3776472" cy="1920240"/>
          </a:xfrm>
          <a:prstGeom prst="rect">
            <a:avLst/>
          </a:prstGeom>
          <a:noFill/>
        </p:spPr>
        <p:txBody>
          <a:bodyPr wrap="square">
            <a:spAutoFit/>
          </a:bodyPr>
          <a:lstStyle/>
          <a:p>
            <a:pPr algn="l">
              <a:spcAft>
                <a:spcPts val="400"/>
              </a:spcAft>
            </a:pPr>
            <a:r>
              <a:rPr sz="2000" b="1">
                <a:solidFill>
                  <a:srgbClr val="8E6F3E"/>
                </a:solidFill>
                <a:latin typeface="Calibri"/>
              </a:rPr>
              <a:t>DOCUMENT</a:t>
            </a:r>
          </a:p>
          <a:p>
            <a:pPr algn="l">
              <a:spcAft>
                <a:spcPts val="400"/>
              </a:spcAft>
            </a:pPr>
            <a:r>
              <a:rPr sz="2000" b="0">
                <a:solidFill>
                  <a:srgbClr val="5C4826"/>
                </a:solidFill>
                <a:latin typeface="Calibri"/>
              </a:rPr>
              <a:t>A room document embeds its reservations (JSON)</a:t>
            </a:r>
          </a:p>
          <a:p>
            <a:pPr algn="l">
              <a:spcAft>
                <a:spcPts val="400"/>
              </a:spcAft>
            </a:pPr>
            <a:r>
              <a:rPr sz="2000" b="0">
                <a:solidFill>
                  <a:srgbClr val="555960"/>
                </a:solidFill>
                <a:latin typeface="Calibri"/>
              </a:rPr>
              <a:t>Easy: read one unit whole · Harder: cross-document rules</a:t>
            </a:r>
          </a:p>
        </p:txBody>
      </p:sp>
      <p:sp>
        <p:nvSpPr>
          <p:cNvPr id="7" name="Card"/>
          <p:cNvSpPr/>
          <p:nvPr/>
        </p:nvSpPr>
        <p:spPr>
          <a:xfrm>
            <a:off x="411480" y="3246120"/>
            <a:ext cx="4069080" cy="210312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CardBody"/>
          <p:cNvSpPr txBox="1"/>
          <p:nvPr/>
        </p:nvSpPr>
        <p:spPr>
          <a:xfrm>
            <a:off x="557784" y="3337560"/>
            <a:ext cx="3776472" cy="1920240"/>
          </a:xfrm>
          <a:prstGeom prst="rect">
            <a:avLst/>
          </a:prstGeom>
          <a:noFill/>
        </p:spPr>
        <p:txBody>
          <a:bodyPr wrap="square">
            <a:spAutoFit/>
          </a:bodyPr>
          <a:lstStyle/>
          <a:p>
            <a:pPr algn="l">
              <a:spcAft>
                <a:spcPts val="400"/>
              </a:spcAft>
            </a:pPr>
            <a:r>
              <a:rPr sz="2000" b="1">
                <a:solidFill>
                  <a:srgbClr val="8E6F3E"/>
                </a:solidFill>
                <a:latin typeface="Calibri"/>
              </a:rPr>
              <a:t>KEY-VALUE</a:t>
            </a:r>
          </a:p>
          <a:p>
            <a:pPr algn="l">
              <a:spcAft>
                <a:spcPts val="400"/>
              </a:spcAft>
            </a:pPr>
            <a:r>
              <a:rPr sz="2000" b="0">
                <a:solidFill>
                  <a:srgbClr val="5C4826"/>
                </a:solidFill>
                <a:latin typeface="Calibri"/>
              </a:rPr>
              <a:t>room:117 → an opaque value, fetched by key</a:t>
            </a:r>
          </a:p>
          <a:p>
            <a:pPr algn="l">
              <a:spcAft>
                <a:spcPts val="400"/>
              </a:spcAft>
            </a:pPr>
            <a:r>
              <a:rPr sz="2000" b="0">
                <a:solidFill>
                  <a:srgbClr val="555960"/>
                </a:solidFill>
                <a:latin typeface="Calibri"/>
              </a:rPr>
              <a:t>Easy: speed and scale · Harder: any other question</a:t>
            </a:r>
          </a:p>
        </p:txBody>
      </p:sp>
      <p:sp>
        <p:nvSpPr>
          <p:cNvPr id="9" name="Card"/>
          <p:cNvSpPr/>
          <p:nvPr/>
        </p:nvSpPr>
        <p:spPr>
          <a:xfrm>
            <a:off x="4663440" y="3246120"/>
            <a:ext cx="4069080" cy="21031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ardBody"/>
          <p:cNvSpPr txBox="1"/>
          <p:nvPr/>
        </p:nvSpPr>
        <p:spPr>
          <a:xfrm>
            <a:off x="4809744" y="3337560"/>
            <a:ext cx="3776472" cy="1920240"/>
          </a:xfrm>
          <a:prstGeom prst="rect">
            <a:avLst/>
          </a:prstGeom>
          <a:noFill/>
        </p:spPr>
        <p:txBody>
          <a:bodyPr wrap="square">
            <a:spAutoFit/>
          </a:bodyPr>
          <a:lstStyle/>
          <a:p>
            <a:pPr algn="l">
              <a:spcAft>
                <a:spcPts val="400"/>
              </a:spcAft>
            </a:pPr>
            <a:r>
              <a:rPr sz="2000" b="1">
                <a:solidFill>
                  <a:srgbClr val="8E6F3E"/>
                </a:solidFill>
                <a:latin typeface="Calibri"/>
              </a:rPr>
              <a:t>GRAPH</a:t>
            </a:r>
          </a:p>
          <a:p>
            <a:pPr algn="l">
              <a:spcAft>
                <a:spcPts val="400"/>
              </a:spcAft>
            </a:pPr>
            <a:r>
              <a:rPr sz="2000" b="0">
                <a:solidFill>
                  <a:srgbClr val="5C4826"/>
                </a:solidFill>
                <a:latin typeface="Calibri"/>
              </a:rPr>
              <a:t>Nodes (user, room) and edges (RESERVED)</a:t>
            </a:r>
          </a:p>
          <a:p>
            <a:pPr algn="l">
              <a:spcAft>
                <a:spcPts val="400"/>
              </a:spcAft>
            </a:pPr>
            <a:r>
              <a:rPr sz="2000" b="0">
                <a:solidFill>
                  <a:srgbClr val="555960"/>
                </a:solidFill>
                <a:latin typeface="Calibri"/>
              </a:rPr>
              <a:t>Easy: traversals · Harder: bulk aggregates</a:t>
            </a:r>
          </a:p>
        </p:txBody>
      </p:sp>
      <p:sp>
        <p:nvSpPr>
          <p:cNvPr id="11"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Same facts, four native shapes — the choice changes what is easy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Relational vs NoSQL is a requirements question</a:t>
            </a:r>
          </a:p>
        </p:txBody>
      </p:sp>
      <p:sp>
        <p:nvSpPr>
          <p:cNvPr id="3" name="Card"/>
          <p:cNvSpPr/>
          <p:nvPr/>
        </p:nvSpPr>
        <p:spPr>
          <a:xfrm>
            <a:off x="411480" y="960120"/>
            <a:ext cx="4069080" cy="224028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ardBody"/>
          <p:cNvSpPr txBox="1"/>
          <p:nvPr/>
        </p:nvSpPr>
        <p:spPr>
          <a:xfrm>
            <a:off x="557784" y="1051560"/>
            <a:ext cx="3776472" cy="2057400"/>
          </a:xfrm>
          <a:prstGeom prst="rect">
            <a:avLst/>
          </a:prstGeom>
          <a:noFill/>
        </p:spPr>
        <p:txBody>
          <a:bodyPr wrap="square">
            <a:spAutoFit/>
          </a:bodyPr>
          <a:lstStyle/>
          <a:p>
            <a:pPr algn="l">
              <a:spcAft>
                <a:spcPts val="400"/>
              </a:spcAft>
            </a:pPr>
            <a:r>
              <a:rPr sz="2000" b="1">
                <a:solidFill>
                  <a:srgbClr val="8E6F3E"/>
                </a:solidFill>
                <a:latin typeface="Calibri"/>
              </a:rPr>
              <a:t>OUR SERVICE LEANS RELATIONAL</a:t>
            </a:r>
          </a:p>
          <a:p>
            <a:pPr algn="l">
              <a:spcAft>
                <a:spcPts val="400"/>
              </a:spcAft>
            </a:pPr>
            <a:r>
              <a:rPr sz="2000" b="0">
                <a:solidFill>
                  <a:srgbClr val="5C4826"/>
                </a:solidFill>
                <a:latin typeface="Calibri"/>
              </a:rPr>
              <a:t>Invariant relates rows to rows</a:t>
            </a:r>
          </a:p>
          <a:p>
            <a:pPr algn="l">
              <a:spcAft>
                <a:spcPts val="400"/>
              </a:spcAft>
            </a:pPr>
            <a:r>
              <a:rPr sz="2000" b="0">
                <a:solidFill>
                  <a:srgbClr val="5C4826"/>
                </a:solidFill>
                <a:latin typeface="Calibri"/>
              </a:rPr>
              <a:t>Ad-hoc queries across entities</a:t>
            </a:r>
          </a:p>
          <a:p>
            <a:pPr algn="l">
              <a:spcAft>
                <a:spcPts val="400"/>
              </a:spcAft>
            </a:pPr>
            <a:r>
              <a:rPr sz="2000" b="0">
                <a:solidFill>
                  <a:srgbClr val="5C4826"/>
                </a:solidFill>
                <a:latin typeface="Calibri"/>
              </a:rPr>
              <a:t>One authoritative copy; modest volume</a:t>
            </a:r>
          </a:p>
        </p:txBody>
      </p:sp>
      <p:sp>
        <p:nvSpPr>
          <p:cNvPr id="5" name="Card"/>
          <p:cNvSpPr/>
          <p:nvPr/>
        </p:nvSpPr>
        <p:spPr>
          <a:xfrm>
            <a:off x="4663440" y="960120"/>
            <a:ext cx="4069080" cy="224028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CardBody"/>
          <p:cNvSpPr txBox="1"/>
          <p:nvPr/>
        </p:nvSpPr>
        <p:spPr>
          <a:xfrm>
            <a:off x="4809744" y="1051560"/>
            <a:ext cx="3776472" cy="2057400"/>
          </a:xfrm>
          <a:prstGeom prst="rect">
            <a:avLst/>
          </a:prstGeom>
          <a:noFill/>
        </p:spPr>
        <p:txBody>
          <a:bodyPr wrap="square">
            <a:spAutoFit/>
          </a:bodyPr>
          <a:lstStyle/>
          <a:p>
            <a:pPr algn="l">
              <a:spcAft>
                <a:spcPts val="400"/>
              </a:spcAft>
            </a:pPr>
            <a:r>
              <a:rPr sz="2000" b="1">
                <a:solidFill>
                  <a:srgbClr val="8E6F3E"/>
                </a:solidFill>
                <a:latin typeface="Calibri"/>
              </a:rPr>
              <a:t>WHEN OTHER POINTS WIN</a:t>
            </a:r>
          </a:p>
          <a:p>
            <a:pPr algn="l">
              <a:spcAft>
                <a:spcPts val="400"/>
              </a:spcAft>
            </a:pPr>
            <a:r>
              <a:rPr sz="2000" b="0">
                <a:solidFill>
                  <a:srgbClr val="5C4826"/>
                </a:solidFill>
                <a:latin typeface="Calibri"/>
              </a:rPr>
              <a:t>Shape varies per record → document</a:t>
            </a:r>
          </a:p>
          <a:p>
            <a:pPr algn="l">
              <a:spcAft>
                <a:spcPts val="400"/>
              </a:spcAft>
            </a:pPr>
            <a:r>
              <a:rPr sz="2000" b="0">
                <a:solidFill>
                  <a:srgbClr val="5C4826"/>
                </a:solidFill>
                <a:latin typeface="Calibri"/>
              </a:rPr>
              <a:t>Key lookups at huge scale → key-value</a:t>
            </a:r>
          </a:p>
          <a:p>
            <a:pPr algn="l">
              <a:spcAft>
                <a:spcPts val="400"/>
              </a:spcAft>
            </a:pPr>
            <a:r>
              <a:rPr sz="2000" b="0">
                <a:solidFill>
                  <a:srgbClr val="5C4826"/>
                </a:solidFill>
                <a:latin typeface="Calibri"/>
              </a:rPr>
              <a:t>Traversal-heavy questions → graph</a:t>
            </a:r>
          </a:p>
        </p:txBody>
      </p:sp>
      <p:sp>
        <p:nvSpPr>
          <p:cNvPr id="7" name="Card"/>
          <p:cNvSpPr/>
          <p:nvPr/>
        </p:nvSpPr>
        <p:spPr>
          <a:xfrm>
            <a:off x="411480" y="3383280"/>
            <a:ext cx="8321040" cy="14173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NonClaim"/>
          <p:cNvSpPr txBox="1"/>
          <p:nvPr/>
        </p:nvSpPr>
        <p:spPr>
          <a:xfrm>
            <a:off x="557784" y="3456432"/>
            <a:ext cx="8046720" cy="1280160"/>
          </a:xfrm>
          <a:prstGeom prst="rect">
            <a:avLst/>
          </a:prstGeom>
          <a:noFill/>
        </p:spPr>
        <p:txBody>
          <a:bodyPr wrap="square">
            <a:spAutoFit/>
          </a:bodyPr>
          <a:lstStyle/>
          <a:p>
            <a:pPr algn="l">
              <a:spcAft>
                <a:spcPts val="400"/>
              </a:spcAft>
            </a:pPr>
            <a:r>
              <a:rPr sz="2000" b="1">
                <a:solidFill>
                  <a:srgbClr val="C01B1B"/>
                </a:solidFill>
                <a:latin typeface="Calibri"/>
              </a:rPr>
              <a:t>✗  “SQL = consistent but slow; NoSQL = scalable but inconsistent”</a:t>
            </a:r>
          </a:p>
          <a:p>
            <a:pPr algn="l">
              <a:spcAft>
                <a:spcPts val="400"/>
              </a:spcAft>
            </a:pPr>
            <a:r>
              <a:rPr sz="2000" b="0">
                <a:solidFill>
                  <a:srgbClr val="555960"/>
                </a:solidFill>
                <a:latin typeface="Calibri"/>
              </a:rPr>
              <a:t>Some NoSQL systems offer strong consistency and transactions; some relational systems are distributed and horizontally scalable.</a:t>
            </a:r>
          </a:p>
        </p:txBody>
      </p:sp>
      <p:sp>
        <p:nvSpPr>
          <p:cNvPr id="9"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Points in one design space — not rival camps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Semantics matter more than labels</a:t>
            </a:r>
          </a:p>
        </p:txBody>
      </p:sp>
      <p:sp>
        <p:nvSpPr>
          <p:cNvPr id="3" name="Label"/>
          <p:cNvSpPr txBox="1"/>
          <p:nvPr/>
        </p:nvSpPr>
        <p:spPr>
          <a:xfrm>
            <a:off x="411480" y="868680"/>
            <a:ext cx="8321040" cy="411480"/>
          </a:xfrm>
          <a:prstGeom prst="rect">
            <a:avLst/>
          </a:prstGeom>
          <a:noFill/>
        </p:spPr>
        <p:txBody>
          <a:bodyPr wrap="square">
            <a:spAutoFit/>
          </a:bodyPr>
          <a:lstStyle/>
          <a:p>
            <a:pPr algn="l">
              <a:spcAft>
                <a:spcPts val="400"/>
              </a:spcAft>
            </a:pPr>
            <a:r>
              <a:rPr sz="2100" b="1">
                <a:solidFill>
                  <a:srgbClr val="5C4826"/>
                </a:solidFill>
                <a:latin typeface="Calibri"/>
              </a:rPr>
              <a:t>Four questions to put to any candidate system</a:t>
            </a:r>
          </a:p>
        </p:txBody>
      </p:sp>
      <p:sp>
        <p:nvSpPr>
          <p:cNvPr id="4" name="Card"/>
          <p:cNvSpPr/>
          <p:nvPr/>
        </p:nvSpPr>
        <p:spPr>
          <a:xfrm>
            <a:off x="411480" y="1417320"/>
            <a:ext cx="8321040" cy="896112"/>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wBody"/>
          <p:cNvSpPr txBox="1"/>
          <p:nvPr/>
        </p:nvSpPr>
        <p:spPr>
          <a:xfrm>
            <a:off x="557784" y="1472184"/>
            <a:ext cx="8046720" cy="786384"/>
          </a:xfrm>
          <a:prstGeom prst="rect">
            <a:avLst/>
          </a:prstGeom>
          <a:noFill/>
        </p:spPr>
        <p:txBody>
          <a:bodyPr wrap="square">
            <a:spAutoFit/>
          </a:bodyPr>
          <a:lstStyle/>
          <a:p>
            <a:pPr algn="l">
              <a:spcAft>
                <a:spcPts val="100"/>
              </a:spcAft>
            </a:pPr>
            <a:r>
              <a:rPr sz="2000" b="1">
                <a:solidFill>
                  <a:srgbClr val="5C4826"/>
                </a:solidFill>
                <a:latin typeface="Calibri"/>
              </a:rPr>
              <a:t>Can two clients observe different values at the same time?</a:t>
            </a:r>
          </a:p>
          <a:p>
            <a:pPr algn="l">
              <a:spcAft>
                <a:spcPts val="400"/>
              </a:spcAft>
            </a:pPr>
            <a:r>
              <a:rPr sz="2000" b="0">
                <a:solidFill>
                  <a:srgbClr val="8E6F3E"/>
                </a:solidFill>
                <a:latin typeface="Calibri"/>
              </a:rPr>
              <a:t>consistency</a:t>
            </a:r>
          </a:p>
        </p:txBody>
      </p:sp>
      <p:sp>
        <p:nvSpPr>
          <p:cNvPr id="6" name="Card"/>
          <p:cNvSpPr/>
          <p:nvPr/>
        </p:nvSpPr>
        <p:spPr>
          <a:xfrm>
            <a:off x="411480" y="2450591"/>
            <a:ext cx="8321040" cy="896112"/>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wBody"/>
          <p:cNvSpPr txBox="1"/>
          <p:nvPr/>
        </p:nvSpPr>
        <p:spPr>
          <a:xfrm>
            <a:off x="557784" y="2505456"/>
            <a:ext cx="8046720" cy="786384"/>
          </a:xfrm>
          <a:prstGeom prst="rect">
            <a:avLst/>
          </a:prstGeom>
          <a:noFill/>
        </p:spPr>
        <p:txBody>
          <a:bodyPr wrap="square">
            <a:spAutoFit/>
          </a:bodyPr>
          <a:lstStyle/>
          <a:p>
            <a:pPr algn="l">
              <a:spcAft>
                <a:spcPts val="100"/>
              </a:spcAft>
            </a:pPr>
            <a:r>
              <a:rPr sz="2000" b="1">
                <a:solidFill>
                  <a:srgbClr val="5C4826"/>
                </a:solidFill>
                <a:latin typeface="Calibri"/>
              </a:rPr>
              <a:t>Can a write the system acknowledged ever be lost?</a:t>
            </a:r>
          </a:p>
          <a:p>
            <a:pPr algn="l">
              <a:spcAft>
                <a:spcPts val="400"/>
              </a:spcAft>
            </a:pPr>
            <a:r>
              <a:rPr sz="2000" b="0">
                <a:solidFill>
                  <a:srgbClr val="8E6F3E"/>
                </a:solidFill>
                <a:latin typeface="Calibri"/>
              </a:rPr>
              <a:t>durability</a:t>
            </a:r>
          </a:p>
        </p:txBody>
      </p:sp>
      <p:sp>
        <p:nvSpPr>
          <p:cNvPr id="8" name="Card"/>
          <p:cNvSpPr/>
          <p:nvPr/>
        </p:nvSpPr>
        <p:spPr>
          <a:xfrm>
            <a:off x="411480" y="3483863"/>
            <a:ext cx="8321040" cy="896112"/>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wBody"/>
          <p:cNvSpPr txBox="1"/>
          <p:nvPr/>
        </p:nvSpPr>
        <p:spPr>
          <a:xfrm>
            <a:off x="557784" y="3538727"/>
            <a:ext cx="8046720" cy="786384"/>
          </a:xfrm>
          <a:prstGeom prst="rect">
            <a:avLst/>
          </a:prstGeom>
          <a:noFill/>
        </p:spPr>
        <p:txBody>
          <a:bodyPr wrap="square">
            <a:spAutoFit/>
          </a:bodyPr>
          <a:lstStyle/>
          <a:p>
            <a:pPr algn="l">
              <a:spcAft>
                <a:spcPts val="100"/>
              </a:spcAft>
            </a:pPr>
            <a:r>
              <a:rPr sz="2000" b="1">
                <a:solidFill>
                  <a:srgbClr val="5C4826"/>
                </a:solidFill>
                <a:latin typeface="Calibri"/>
              </a:rPr>
              <a:t>Can two transactions both confirm overlapping reservations?</a:t>
            </a:r>
          </a:p>
          <a:p>
            <a:pPr algn="l">
              <a:spcAft>
                <a:spcPts val="400"/>
              </a:spcAft>
            </a:pPr>
            <a:r>
              <a:rPr sz="2000" b="0">
                <a:solidFill>
                  <a:srgbClr val="8E6F3E"/>
                </a:solidFill>
                <a:latin typeface="Calibri"/>
              </a:rPr>
              <a:t>isolation</a:t>
            </a:r>
          </a:p>
        </p:txBody>
      </p:sp>
      <p:sp>
        <p:nvSpPr>
          <p:cNvPr id="10" name="Card"/>
          <p:cNvSpPr/>
          <p:nvPr/>
        </p:nvSpPr>
        <p:spPr>
          <a:xfrm>
            <a:off x="411480" y="4517136"/>
            <a:ext cx="8321040" cy="896112"/>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wBody"/>
          <p:cNvSpPr txBox="1"/>
          <p:nvPr/>
        </p:nvSpPr>
        <p:spPr>
          <a:xfrm>
            <a:off x="557784" y="4571999"/>
            <a:ext cx="8046720" cy="786384"/>
          </a:xfrm>
          <a:prstGeom prst="rect">
            <a:avLst/>
          </a:prstGeom>
          <a:noFill/>
        </p:spPr>
        <p:txBody>
          <a:bodyPr wrap="square">
            <a:spAutoFit/>
          </a:bodyPr>
          <a:lstStyle/>
          <a:p>
            <a:pPr algn="l">
              <a:spcAft>
                <a:spcPts val="100"/>
              </a:spcAft>
            </a:pPr>
            <a:r>
              <a:rPr sz="2000" b="1">
                <a:solidFill>
                  <a:srgbClr val="5C4826"/>
                </a:solidFill>
                <a:latin typeface="Calibri"/>
              </a:rPr>
              <a:t>Can the database itself enforce our no-overlap invariant?</a:t>
            </a:r>
          </a:p>
          <a:p>
            <a:pPr algn="l">
              <a:spcAft>
                <a:spcPts val="400"/>
              </a:spcAft>
            </a:pPr>
            <a:r>
              <a:rPr sz="2000" b="0">
                <a:solidFill>
                  <a:srgbClr val="8E6F3E"/>
                </a:solidFill>
                <a:latin typeface="Calibri"/>
              </a:rPr>
              <a:t>where the invariant lives</a:t>
            </a:r>
          </a:p>
        </p:txBody>
      </p:sp>
      <p:sp>
        <p:nvSpPr>
          <p:cNvPr id="12"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Interrogate guarantees, not product labels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Exercise: place each system in the design space</a:t>
            </a:r>
          </a:p>
        </p:txBody>
      </p:sp>
      <p:sp>
        <p:nvSpPr>
          <p:cNvPr id="3" name="Card"/>
          <p:cNvSpPr/>
          <p:nvPr/>
        </p:nvSpPr>
        <p:spPr>
          <a:xfrm>
            <a:off x="411480" y="960120"/>
            <a:ext cx="4069080" cy="420624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ardBody"/>
          <p:cNvSpPr txBox="1"/>
          <p:nvPr/>
        </p:nvSpPr>
        <p:spPr>
          <a:xfrm>
            <a:off x="557784" y="1051560"/>
            <a:ext cx="3776472" cy="4023360"/>
          </a:xfrm>
          <a:prstGeom prst="rect">
            <a:avLst/>
          </a:prstGeom>
          <a:noFill/>
        </p:spPr>
        <p:txBody>
          <a:bodyPr wrap="square">
            <a:spAutoFit/>
          </a:bodyPr>
          <a:lstStyle/>
          <a:p>
            <a:pPr algn="l">
              <a:spcAft>
                <a:spcPts val="600"/>
              </a:spcAft>
            </a:pPr>
            <a:r>
              <a:rPr sz="2000" b="1">
                <a:solidFill>
                  <a:srgbClr val="8E6F3E"/>
                </a:solidFill>
                <a:latin typeface="Calibri"/>
              </a:rPr>
              <a:t>A — ROOM RESERVATIONS</a:t>
            </a:r>
          </a:p>
          <a:p>
            <a:pPr algn="l">
              <a:spcAft>
                <a:spcPts val="400"/>
              </a:spcAft>
            </a:pPr>
            <a:r>
              <a:rPr sz="2000" b="0">
                <a:solidFill>
                  <a:srgbClr val="5C4826"/>
                </a:solidFill>
                <a:latin typeface="Calibri"/>
              </a:rPr>
              <a:t>Invariant between rows</a:t>
            </a:r>
          </a:p>
          <a:p>
            <a:pPr algn="l">
              <a:spcAft>
                <a:spcPts val="400"/>
              </a:spcAft>
            </a:pPr>
            <a:r>
              <a:rPr sz="2000" b="0">
                <a:solidFill>
                  <a:srgbClr val="5C4826"/>
                </a:solidFill>
                <a:latin typeface="Calibri"/>
              </a:rPr>
              <a:t>Modest write volume</a:t>
            </a:r>
          </a:p>
          <a:p>
            <a:pPr algn="l">
              <a:spcAft>
                <a:spcPts val="400"/>
              </a:spcAft>
            </a:pPr>
            <a:r>
              <a:rPr sz="2000" b="0">
                <a:solidFill>
                  <a:srgbClr val="5C4826"/>
                </a:solidFill>
                <a:latin typeface="Calibri"/>
              </a:rPr>
              <a:t>Ad-hoc queries across entities</a:t>
            </a:r>
          </a:p>
          <a:p>
            <a:pPr algn="l">
              <a:spcAft>
                <a:spcPts val="400"/>
              </a:spcAft>
            </a:pPr>
            <a:r>
              <a:rPr sz="2000" b="0">
                <a:solidFill>
                  <a:srgbClr val="5C4826"/>
                </a:solidFill>
                <a:latin typeface="Calibri"/>
              </a:rPr>
              <a:t>One authoritative copy</a:t>
            </a:r>
          </a:p>
          <a:p>
            <a:pPr algn="l">
              <a:spcAft>
                <a:spcPts val="400"/>
              </a:spcAft>
            </a:pPr>
            <a:r>
              <a:rPr sz="2000" b="0">
                <a:solidFill>
                  <a:srgbClr val="5C4826"/>
                </a:solidFill>
                <a:latin typeface="Calibri"/>
              </a:rPr>
              <a:t>A lost booking = an angry human</a:t>
            </a:r>
          </a:p>
        </p:txBody>
      </p:sp>
      <p:sp>
        <p:nvSpPr>
          <p:cNvPr id="5" name="Card"/>
          <p:cNvSpPr/>
          <p:nvPr/>
        </p:nvSpPr>
        <p:spPr>
          <a:xfrm>
            <a:off x="4663440" y="960120"/>
            <a:ext cx="4069080" cy="420624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CardBody"/>
          <p:cNvSpPr txBox="1"/>
          <p:nvPr/>
        </p:nvSpPr>
        <p:spPr>
          <a:xfrm>
            <a:off x="4809744" y="1051560"/>
            <a:ext cx="3776472" cy="4023360"/>
          </a:xfrm>
          <a:prstGeom prst="rect">
            <a:avLst/>
          </a:prstGeom>
          <a:noFill/>
        </p:spPr>
        <p:txBody>
          <a:bodyPr wrap="square">
            <a:spAutoFit/>
          </a:bodyPr>
          <a:lstStyle/>
          <a:p>
            <a:pPr algn="l">
              <a:spcAft>
                <a:spcPts val="600"/>
              </a:spcAft>
            </a:pPr>
            <a:r>
              <a:rPr sz="2000" b="1">
                <a:solidFill>
                  <a:srgbClr val="8E6F3E"/>
                </a:solidFill>
                <a:latin typeface="Calibri"/>
              </a:rPr>
              <a:t>B — DOOR-SENSOR TELEMETRY</a:t>
            </a:r>
          </a:p>
          <a:p>
            <a:pPr algn="l">
              <a:spcAft>
                <a:spcPts val="400"/>
              </a:spcAft>
            </a:pPr>
            <a:r>
              <a:rPr sz="2000" b="0">
                <a:solidFill>
                  <a:srgbClr val="5C4826"/>
                </a:solidFill>
                <a:latin typeface="Calibri"/>
              </a:rPr>
              <a:t>Append-only events</a:t>
            </a:r>
          </a:p>
          <a:p>
            <a:pPr algn="l">
              <a:spcAft>
                <a:spcPts val="400"/>
              </a:spcAft>
            </a:pPr>
            <a:r>
              <a:rPr sz="2000" b="0">
                <a:solidFill>
                  <a:srgbClr val="5C4826"/>
                </a:solidFill>
                <a:latin typeface="Calibri"/>
              </a:rPr>
              <a:t>Enormous write rate</a:t>
            </a:r>
          </a:p>
          <a:p>
            <a:pPr algn="l">
              <a:spcAft>
                <a:spcPts val="400"/>
              </a:spcAft>
            </a:pPr>
            <a:r>
              <a:rPr sz="2000" b="0">
                <a:solidFill>
                  <a:srgbClr val="5C4826"/>
                </a:solidFill>
                <a:latin typeface="Calibri"/>
              </a:rPr>
              <a:t>Access by device id + time</a:t>
            </a:r>
          </a:p>
          <a:p>
            <a:pPr algn="l">
              <a:spcAft>
                <a:spcPts val="400"/>
              </a:spcAft>
            </a:pPr>
            <a:r>
              <a:rPr sz="2000" b="0">
                <a:solidFill>
                  <a:srgbClr val="5C4826"/>
                </a:solidFill>
                <a:latin typeface="Calibri"/>
              </a:rPr>
              <a:t>Seconds of lag is fine</a:t>
            </a:r>
          </a:p>
          <a:p>
            <a:pPr algn="l">
              <a:spcAft>
                <a:spcPts val="400"/>
              </a:spcAft>
            </a:pPr>
            <a:r>
              <a:rPr sz="2000" b="0">
                <a:solidFill>
                  <a:srgbClr val="5C4826"/>
                </a:solidFill>
                <a:latin typeface="Calibri"/>
              </a:rPr>
              <a:t>One lost event is tolerable</a:t>
            </a:r>
          </a:p>
        </p:txBody>
      </p:sp>
      <p:sp>
        <p:nvSpPr>
          <p:cNvPr id="7"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Different requirements select different points in the space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Modeling the domain: entities and relationships</a:t>
            </a:r>
          </a:p>
        </p:txBody>
      </p:sp>
      <p:sp>
        <p:nvSpPr>
          <p:cNvPr id="3" name="Block"/>
          <p:cNvSpPr/>
          <p:nvPr/>
        </p:nvSpPr>
        <p:spPr>
          <a:xfrm>
            <a:off x="640080" y="1417320"/>
            <a:ext cx="182880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USER</a:t>
            </a:r>
          </a:p>
        </p:txBody>
      </p:sp>
      <p:sp>
        <p:nvSpPr>
          <p:cNvPr id="4" name="Block"/>
          <p:cNvSpPr/>
          <p:nvPr/>
        </p:nvSpPr>
        <p:spPr>
          <a:xfrm>
            <a:off x="3611880" y="1417320"/>
            <a:ext cx="210312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RESERVATION</a:t>
            </a:r>
          </a:p>
        </p:txBody>
      </p:sp>
      <p:sp>
        <p:nvSpPr>
          <p:cNvPr id="5" name="Block"/>
          <p:cNvSpPr/>
          <p:nvPr/>
        </p:nvSpPr>
        <p:spPr>
          <a:xfrm>
            <a:off x="6675120" y="1417320"/>
            <a:ext cx="182880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ROOM</a:t>
            </a:r>
          </a:p>
        </p:txBody>
      </p:sp>
      <p:sp>
        <p:nvSpPr>
          <p:cNvPr id="6" name="RelLabel"/>
          <p:cNvSpPr txBox="1"/>
          <p:nvPr/>
        </p:nvSpPr>
        <p:spPr>
          <a:xfrm>
            <a:off x="2468880" y="960120"/>
            <a:ext cx="1143000" cy="365760"/>
          </a:xfrm>
          <a:prstGeom prst="rect">
            <a:avLst/>
          </a:prstGeom>
          <a:noFill/>
        </p:spPr>
        <p:txBody>
          <a:bodyPr wrap="square">
            <a:spAutoFit/>
          </a:bodyPr>
          <a:lstStyle/>
          <a:p>
            <a:pPr algn="ctr">
              <a:spcAft>
                <a:spcPts val="400"/>
              </a:spcAft>
            </a:pPr>
            <a:r>
              <a:rPr sz="2000" b="1">
                <a:solidFill>
                  <a:srgbClr val="555960"/>
                </a:solidFill>
                <a:latin typeface="Calibri"/>
              </a:rPr>
              <a:t>1 : N</a:t>
            </a:r>
          </a:p>
        </p:txBody>
      </p:sp>
      <p:sp>
        <p:nvSpPr>
          <p:cNvPr id="7" name="RelLabel"/>
          <p:cNvSpPr txBox="1"/>
          <p:nvPr/>
        </p:nvSpPr>
        <p:spPr>
          <a:xfrm>
            <a:off x="5715000" y="960120"/>
            <a:ext cx="960120" cy="365760"/>
          </a:xfrm>
          <a:prstGeom prst="rect">
            <a:avLst/>
          </a:prstGeom>
          <a:noFill/>
        </p:spPr>
        <p:txBody>
          <a:bodyPr wrap="square">
            <a:spAutoFit/>
          </a:bodyPr>
          <a:lstStyle/>
          <a:p>
            <a:pPr algn="ctr">
              <a:spcAft>
                <a:spcPts val="400"/>
              </a:spcAft>
            </a:pPr>
            <a:r>
              <a:rPr sz="2000" b="1">
                <a:solidFill>
                  <a:srgbClr val="555960"/>
                </a:solidFill>
                <a:latin typeface="Calibri"/>
              </a:rPr>
              <a:t>N : 1</a:t>
            </a:r>
          </a:p>
        </p:txBody>
      </p:sp>
      <p:cxnSp>
        <p:nvCxnSpPr>
          <p:cNvPr id="8" name="RelLine"/>
          <p:cNvCxnSpPr/>
          <p:nvPr/>
        </p:nvCxnSpPr>
        <p:spPr>
          <a:xfrm>
            <a:off x="2468880" y="1760220"/>
            <a:ext cx="1143000" cy="0"/>
          </a:xfrm>
          <a:prstGeom prst="line">
            <a:avLst/>
          </a:prstGeom>
          <a:ln w="31750">
            <a:solidFill>
              <a:srgbClr val="8E6F3E"/>
            </a:solidFill>
          </a:ln>
        </p:spPr>
        <p:style>
          <a:lnRef idx="2">
            <a:schemeClr val="accent1"/>
          </a:lnRef>
          <a:fillRef idx="0">
            <a:schemeClr val="accent1"/>
          </a:fillRef>
          <a:effectRef idx="1">
            <a:schemeClr val="accent1"/>
          </a:effectRef>
          <a:fontRef idx="minor">
            <a:schemeClr val="tx1"/>
          </a:fontRef>
        </p:style>
      </p:cxnSp>
      <p:cxnSp>
        <p:nvCxnSpPr>
          <p:cNvPr id="9" name="RelLine"/>
          <p:cNvCxnSpPr/>
          <p:nvPr/>
        </p:nvCxnSpPr>
        <p:spPr>
          <a:xfrm>
            <a:off x="5715000" y="1760220"/>
            <a:ext cx="960120" cy="0"/>
          </a:xfrm>
          <a:prstGeom prst="line">
            <a:avLst/>
          </a:prstGeom>
          <a:ln w="31750">
            <a:solidFill>
              <a:srgbClr val="8E6F3E"/>
            </a:solidFill>
          </a:ln>
        </p:spPr>
        <p:style>
          <a:lnRef idx="2">
            <a:schemeClr val="accent1"/>
          </a:lnRef>
          <a:fillRef idx="0">
            <a:schemeClr val="accent1"/>
          </a:fillRef>
          <a:effectRef idx="1">
            <a:schemeClr val="accent1"/>
          </a:effectRef>
          <a:fontRef idx="minor">
            <a:schemeClr val="tx1"/>
          </a:fontRef>
        </p:style>
      </p:cxnSp>
      <p:sp>
        <p:nvSpPr>
          <p:cNvPr id="10" name="Card"/>
          <p:cNvSpPr/>
          <p:nvPr/>
        </p:nvSpPr>
        <p:spPr>
          <a:xfrm>
            <a:off x="411480" y="2377440"/>
            <a:ext cx="2377440" cy="146304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AttrList"/>
          <p:cNvSpPr txBox="1"/>
          <p:nvPr/>
        </p:nvSpPr>
        <p:spPr>
          <a:xfrm>
            <a:off x="557784" y="2450592"/>
            <a:ext cx="2084831" cy="1316736"/>
          </a:xfrm>
          <a:prstGeom prst="rect">
            <a:avLst/>
          </a:prstGeom>
          <a:noFill/>
        </p:spPr>
        <p:txBody>
          <a:bodyPr wrap="square">
            <a:spAutoFit/>
          </a:bodyPr>
          <a:lstStyle/>
          <a:p>
            <a:pPr algn="l">
              <a:spcAft>
                <a:spcPts val="400"/>
              </a:spcAft>
            </a:pPr>
            <a:r>
              <a:rPr sz="2000" b="0">
                <a:solidFill>
                  <a:srgbClr val="555960"/>
                </a:solidFill>
                <a:latin typeface="Calibri"/>
              </a:rPr>
              <a:t>id</a:t>
            </a:r>
          </a:p>
          <a:p>
            <a:pPr algn="l">
              <a:spcAft>
                <a:spcPts val="400"/>
              </a:spcAft>
            </a:pPr>
            <a:r>
              <a:rPr sz="2000" b="0">
                <a:solidFill>
                  <a:srgbClr val="555960"/>
                </a:solidFill>
                <a:latin typeface="Calibri"/>
              </a:rPr>
              <a:t>name</a:t>
            </a:r>
          </a:p>
          <a:p>
            <a:pPr algn="l">
              <a:spcAft>
                <a:spcPts val="400"/>
              </a:spcAft>
            </a:pPr>
            <a:r>
              <a:rPr sz="2000" b="0">
                <a:solidFill>
                  <a:srgbClr val="555960"/>
                </a:solidFill>
                <a:latin typeface="Calibri"/>
              </a:rPr>
              <a:t>email</a:t>
            </a:r>
          </a:p>
        </p:txBody>
      </p:sp>
      <p:sp>
        <p:nvSpPr>
          <p:cNvPr id="12" name="Card"/>
          <p:cNvSpPr/>
          <p:nvPr/>
        </p:nvSpPr>
        <p:spPr>
          <a:xfrm>
            <a:off x="3383280" y="2377440"/>
            <a:ext cx="2651760" cy="2286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ttrList"/>
          <p:cNvSpPr txBox="1"/>
          <p:nvPr/>
        </p:nvSpPr>
        <p:spPr>
          <a:xfrm>
            <a:off x="3529584" y="2450592"/>
            <a:ext cx="2359152" cy="2011680"/>
          </a:xfrm>
          <a:prstGeom prst="rect">
            <a:avLst/>
          </a:prstGeom>
          <a:noFill/>
        </p:spPr>
        <p:txBody>
          <a:bodyPr wrap="square">
            <a:spAutoFit/>
          </a:bodyPr>
          <a:lstStyle/>
          <a:p>
            <a:pPr algn="l">
              <a:spcAft>
                <a:spcPts val="400"/>
              </a:spcAft>
            </a:pPr>
            <a:r>
              <a:rPr sz="2000" b="0">
                <a:solidFill>
                  <a:srgbClr val="555960"/>
                </a:solidFill>
                <a:latin typeface="Calibri"/>
              </a:rPr>
              <a:t>id</a:t>
            </a:r>
          </a:p>
          <a:p>
            <a:pPr algn="l">
              <a:spcAft>
                <a:spcPts val="400"/>
              </a:spcAft>
            </a:pPr>
            <a:r>
              <a:rPr sz="2000" b="0">
                <a:solidFill>
                  <a:srgbClr val="555960"/>
                </a:solidFill>
                <a:latin typeface="Calibri"/>
              </a:rPr>
              <a:t>room_id</a:t>
            </a:r>
          </a:p>
          <a:p>
            <a:pPr algn="l">
              <a:spcAft>
                <a:spcPts val="400"/>
              </a:spcAft>
            </a:pPr>
            <a:r>
              <a:rPr sz="2000" b="0">
                <a:solidFill>
                  <a:srgbClr val="555960"/>
                </a:solidFill>
                <a:latin typeface="Calibri"/>
              </a:rPr>
              <a:t>user_id</a:t>
            </a:r>
          </a:p>
          <a:p>
            <a:pPr algn="l">
              <a:spcAft>
                <a:spcPts val="400"/>
              </a:spcAft>
            </a:pPr>
            <a:r>
              <a:rPr sz="2000" b="1">
                <a:solidFill>
                  <a:srgbClr val="5C4826"/>
                </a:solidFill>
                <a:latin typeface="Calibri"/>
              </a:rPr>
              <a:t>starts_at</a:t>
            </a:r>
          </a:p>
          <a:p>
            <a:pPr algn="l">
              <a:spcAft>
                <a:spcPts val="400"/>
              </a:spcAft>
            </a:pPr>
            <a:r>
              <a:rPr sz="2000" b="1">
                <a:solidFill>
                  <a:srgbClr val="5C4826"/>
                </a:solidFill>
                <a:latin typeface="Calibri"/>
              </a:rPr>
              <a:t>ends_at</a:t>
            </a:r>
          </a:p>
          <a:p>
            <a:pPr algn="l">
              <a:spcAft>
                <a:spcPts val="400"/>
              </a:spcAft>
            </a:pPr>
            <a:r>
              <a:rPr sz="2000" b="1">
                <a:solidFill>
                  <a:srgbClr val="5C4826"/>
                </a:solidFill>
                <a:latin typeface="Calibri"/>
              </a:rPr>
              <a:t>status</a:t>
            </a:r>
          </a:p>
        </p:txBody>
      </p:sp>
      <p:sp>
        <p:nvSpPr>
          <p:cNvPr id="14" name="Card"/>
          <p:cNvSpPr/>
          <p:nvPr/>
        </p:nvSpPr>
        <p:spPr>
          <a:xfrm>
            <a:off x="6446520" y="2377440"/>
            <a:ext cx="2286000" cy="146304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ttrList"/>
          <p:cNvSpPr txBox="1"/>
          <p:nvPr/>
        </p:nvSpPr>
        <p:spPr>
          <a:xfrm>
            <a:off x="6592824" y="2450592"/>
            <a:ext cx="1993392" cy="1316736"/>
          </a:xfrm>
          <a:prstGeom prst="rect">
            <a:avLst/>
          </a:prstGeom>
          <a:noFill/>
        </p:spPr>
        <p:txBody>
          <a:bodyPr wrap="square">
            <a:spAutoFit/>
          </a:bodyPr>
          <a:lstStyle/>
          <a:p>
            <a:pPr algn="l">
              <a:spcAft>
                <a:spcPts val="400"/>
              </a:spcAft>
            </a:pPr>
            <a:r>
              <a:rPr sz="2000" b="0">
                <a:solidFill>
                  <a:srgbClr val="555960"/>
                </a:solidFill>
                <a:latin typeface="Calibri"/>
              </a:rPr>
              <a:t>id</a:t>
            </a:r>
          </a:p>
          <a:p>
            <a:pPr algn="l">
              <a:spcAft>
                <a:spcPts val="400"/>
              </a:spcAft>
            </a:pPr>
            <a:r>
              <a:rPr sz="2000" b="0">
                <a:solidFill>
                  <a:srgbClr val="555960"/>
                </a:solidFill>
                <a:latin typeface="Calibri"/>
              </a:rPr>
              <a:t>name</a:t>
            </a:r>
          </a:p>
          <a:p>
            <a:pPr algn="l">
              <a:spcAft>
                <a:spcPts val="400"/>
              </a:spcAft>
            </a:pPr>
            <a:r>
              <a:rPr sz="2000" b="0">
                <a:solidFill>
                  <a:srgbClr val="555960"/>
                </a:solidFill>
                <a:latin typeface="Calibri"/>
              </a:rPr>
              <a:t>capacity</a:t>
            </a:r>
          </a:p>
        </p:txBody>
      </p:sp>
      <p:sp>
        <p:nvSpPr>
          <p:cNvPr id="16" name="Card"/>
          <p:cNvSpPr/>
          <p:nvPr/>
        </p:nvSpPr>
        <p:spPr>
          <a:xfrm>
            <a:off x="411480" y="4754880"/>
            <a:ext cx="8321040" cy="96012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Invariant"/>
          <p:cNvSpPr txBox="1"/>
          <p:nvPr/>
        </p:nvSpPr>
        <p:spPr>
          <a:xfrm>
            <a:off x="557784" y="4809744"/>
            <a:ext cx="8046720" cy="859536"/>
          </a:xfrm>
          <a:prstGeom prst="rect">
            <a:avLst/>
          </a:prstGeom>
          <a:noFill/>
        </p:spPr>
        <p:txBody>
          <a:bodyPr wrap="square">
            <a:spAutoFit/>
          </a:bodyPr>
          <a:lstStyle/>
          <a:p>
            <a:pPr algn="l">
              <a:spcAft>
                <a:spcPts val="200"/>
              </a:spcAft>
            </a:pPr>
            <a:r>
              <a:rPr sz="2000" b="1">
                <a:solidFill>
                  <a:srgbClr val="5C4826"/>
                </a:solidFill>
                <a:latin typeface="Calibri"/>
              </a:rPr>
              <a:t>INVARIANT — no overlapping CONFIRMED reservations per room</a:t>
            </a:r>
          </a:p>
          <a:p>
            <a:pPr algn="l">
              <a:spcAft>
                <a:spcPts val="400"/>
              </a:spcAft>
            </a:pPr>
            <a:r>
              <a:rPr sz="2000" b="0">
                <a:solidFill>
                  <a:srgbClr val="555960"/>
                </a:solidFill>
                <a:latin typeface="Calibri"/>
              </a:rPr>
              <a:t>The model supplies its vocabulary: room_id, starts_at, ends_at, status</a:t>
            </a:r>
          </a:p>
        </p:txBody>
      </p:sp>
      <p:sp>
        <p:nvSpPr>
          <p:cNvPr id="18"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The ER model chooses what the system can talk about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A schema turns the model into enforced obligations</a:t>
            </a:r>
          </a:p>
        </p:txBody>
      </p:sp>
      <p:sp>
        <p:nvSpPr>
          <p:cNvPr id="3" name="Card"/>
          <p:cNvSpPr/>
          <p:nvPr/>
        </p:nvSpPr>
        <p:spPr>
          <a:xfrm>
            <a:off x="411480" y="960120"/>
            <a:ext cx="5577840" cy="301752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ode"/>
          <p:cNvSpPr txBox="1"/>
          <p:nvPr/>
        </p:nvSpPr>
        <p:spPr>
          <a:xfrm>
            <a:off x="557784" y="1051560"/>
            <a:ext cx="5303520" cy="2834640"/>
          </a:xfrm>
          <a:prstGeom prst="rect">
            <a:avLst/>
          </a:prstGeom>
          <a:noFill/>
        </p:spPr>
        <p:txBody>
          <a:bodyPr wrap="square">
            <a:spAutoFit/>
          </a:bodyPr>
          <a:lstStyle/>
          <a:p>
            <a:pPr algn="l">
              <a:spcAft>
                <a:spcPts val="100"/>
              </a:spcAft>
            </a:pPr>
            <a:r>
              <a:rPr sz="2000" b="0">
                <a:solidFill>
                  <a:srgbClr val="2D2D2D"/>
                </a:solidFill>
                <a:latin typeface="Consolas"/>
              </a:rPr>
              <a:t>CREATE TABLE reservations (</a:t>
            </a:r>
          </a:p>
          <a:p>
            <a:pPr algn="l">
              <a:spcAft>
                <a:spcPts val="100"/>
              </a:spcAft>
            </a:pPr>
            <a:r>
              <a:rPr sz="2000" b="0">
                <a:solidFill>
                  <a:srgbClr val="2D2D2D"/>
                </a:solidFill>
                <a:latin typeface="Consolas"/>
              </a:rPr>
              <a:t>  room_id  INT REFERENCES rooms,</a:t>
            </a:r>
          </a:p>
          <a:p>
            <a:pPr algn="l">
              <a:spcAft>
                <a:spcPts val="100"/>
              </a:spcAft>
            </a:pPr>
            <a:r>
              <a:rPr sz="2000" b="0">
                <a:solidFill>
                  <a:srgbClr val="2D2D2D"/>
                </a:solidFill>
                <a:latin typeface="Consolas"/>
              </a:rPr>
              <a:t>  user_id  INT REFERENCES users,</a:t>
            </a:r>
          </a:p>
          <a:p>
            <a:pPr algn="l">
              <a:spcAft>
                <a:spcPts val="100"/>
              </a:spcAft>
            </a:pPr>
            <a:r>
              <a:rPr sz="2000" b="0">
                <a:solidFill>
                  <a:srgbClr val="2D2D2D"/>
                </a:solidFill>
                <a:latin typeface="Consolas"/>
              </a:rPr>
              <a:t>  starts_at TIMESTAMP NOT NULL,</a:t>
            </a:r>
          </a:p>
          <a:p>
            <a:pPr algn="l">
              <a:spcAft>
                <a:spcPts val="100"/>
              </a:spcAft>
            </a:pPr>
            <a:r>
              <a:rPr sz="2000" b="0">
                <a:solidFill>
                  <a:srgbClr val="2D2D2D"/>
                </a:solidFill>
                <a:latin typeface="Consolas"/>
              </a:rPr>
              <a:t>  ends_at   TIMESTAMP NOT NULL,</a:t>
            </a:r>
          </a:p>
          <a:p>
            <a:pPr algn="l">
              <a:spcAft>
                <a:spcPts val="100"/>
              </a:spcAft>
            </a:pPr>
            <a:r>
              <a:rPr sz="2000" b="0">
                <a:solidFill>
                  <a:srgbClr val="2D2D2D"/>
                </a:solidFill>
                <a:latin typeface="Consolas"/>
              </a:rPr>
              <a:t>  status    TEXT NOT NULL,</a:t>
            </a:r>
          </a:p>
          <a:p>
            <a:pPr algn="l">
              <a:spcAft>
                <a:spcPts val="100"/>
              </a:spcAft>
            </a:pPr>
            <a:r>
              <a:rPr sz="2000" b="0">
                <a:solidFill>
                  <a:srgbClr val="2D2D2D"/>
                </a:solidFill>
                <a:latin typeface="Consolas"/>
              </a:rPr>
              <a:t>  CHECK (starts_at &lt; ends_at)</a:t>
            </a:r>
          </a:p>
          <a:p>
            <a:pPr algn="l">
              <a:spcAft>
                <a:spcPts val="100"/>
              </a:spcAft>
            </a:pPr>
            <a:r>
              <a:rPr sz="2000" b="0">
                <a:solidFill>
                  <a:srgbClr val="2D2D2D"/>
                </a:solidFill>
                <a:latin typeface="Consolas"/>
              </a:rPr>
              <a:t>);</a:t>
            </a:r>
          </a:p>
        </p:txBody>
      </p:sp>
      <p:sp>
        <p:nvSpPr>
          <p:cNvPr id="5" name="Card"/>
          <p:cNvSpPr/>
          <p:nvPr/>
        </p:nvSpPr>
        <p:spPr>
          <a:xfrm>
            <a:off x="6172200" y="960120"/>
            <a:ext cx="2560320" cy="30175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Annotations"/>
          <p:cNvSpPr txBox="1"/>
          <p:nvPr/>
        </p:nvSpPr>
        <p:spPr>
          <a:xfrm>
            <a:off x="6318504" y="1051560"/>
            <a:ext cx="2267712" cy="2834640"/>
          </a:xfrm>
          <a:prstGeom prst="rect">
            <a:avLst/>
          </a:prstGeom>
          <a:noFill/>
        </p:spPr>
        <p:txBody>
          <a:bodyPr wrap="square">
            <a:spAutoFit/>
          </a:bodyPr>
          <a:lstStyle/>
          <a:p>
            <a:pPr algn="l">
              <a:spcAft>
                <a:spcPts val="600"/>
              </a:spcAft>
            </a:pPr>
            <a:r>
              <a:rPr sz="2000" b="1">
                <a:solidFill>
                  <a:srgbClr val="8E6F3E"/>
                </a:solidFill>
                <a:latin typeface="Calibri"/>
              </a:rPr>
              <a:t>REFERENCES</a:t>
            </a:r>
            <a:r>
              <a:rPr sz="2000" b="0">
                <a:solidFill>
                  <a:srgbClr val="555960"/>
                </a:solidFill>
                <a:latin typeface="Calibri"/>
              </a:rPr>
              <a:t> — that row must exist</a:t>
            </a:r>
          </a:p>
          <a:p>
            <a:pPr algn="l">
              <a:spcAft>
                <a:spcPts val="600"/>
              </a:spcAft>
            </a:pPr>
            <a:r>
              <a:rPr sz="2000" b="1">
                <a:solidFill>
                  <a:srgbClr val="8E6F3E"/>
                </a:solidFill>
                <a:latin typeface="Calibri"/>
              </a:rPr>
              <a:t>NOT NULL</a:t>
            </a:r>
            <a:r>
              <a:rPr sz="2000" b="0">
                <a:solidFill>
                  <a:srgbClr val="555960"/>
                </a:solidFill>
                <a:latin typeface="Calibri"/>
              </a:rPr>
              <a:t> — the fact must be present</a:t>
            </a:r>
          </a:p>
          <a:p>
            <a:pPr algn="l">
              <a:spcAft>
                <a:spcPts val="400"/>
              </a:spcAft>
            </a:pPr>
            <a:r>
              <a:rPr sz="2000" b="1">
                <a:solidFill>
                  <a:srgbClr val="8E6F3E"/>
                </a:solidFill>
                <a:latin typeface="Calibri"/>
              </a:rPr>
              <a:t>CHECK</a:t>
            </a:r>
            <a:r>
              <a:rPr sz="2000" b="0">
                <a:solidFill>
                  <a:srgbClr val="555960"/>
                </a:solidFill>
                <a:latin typeface="Calibri"/>
              </a:rPr>
              <a:t> — true within one row</a:t>
            </a:r>
          </a:p>
        </p:txBody>
      </p:sp>
      <p:sp>
        <p:nvSpPr>
          <p:cNvPr id="7" name="Card"/>
          <p:cNvSpPr/>
          <p:nvPr/>
        </p:nvSpPr>
        <p:spPr>
          <a:xfrm>
            <a:off x="411480" y="4160520"/>
            <a:ext cx="8321040" cy="14173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NonClaim"/>
          <p:cNvSpPr txBox="1"/>
          <p:nvPr/>
        </p:nvSpPr>
        <p:spPr>
          <a:xfrm>
            <a:off x="557784" y="4233672"/>
            <a:ext cx="8046720" cy="1280160"/>
          </a:xfrm>
          <a:prstGeom prst="rect">
            <a:avLst/>
          </a:prstGeom>
          <a:noFill/>
        </p:spPr>
        <p:txBody>
          <a:bodyPr wrap="square">
            <a:spAutoFit/>
          </a:bodyPr>
          <a:lstStyle/>
          <a:p>
            <a:pPr algn="l">
              <a:spcAft>
                <a:spcPts val="300"/>
              </a:spcAft>
            </a:pPr>
            <a:r>
              <a:rPr sz="2000" b="1">
                <a:solidFill>
                  <a:srgbClr val="C01B1B"/>
                </a:solidFill>
                <a:latin typeface="Calibri"/>
              </a:rPr>
              <a:t>Nothing here prevents two CONFIRMED reservations from overlapping</a:t>
            </a:r>
          </a:p>
          <a:p>
            <a:pPr algn="l">
              <a:spcAft>
                <a:spcPts val="400"/>
              </a:spcAft>
            </a:pPr>
            <a:r>
              <a:rPr sz="2000" b="0">
                <a:solidFill>
                  <a:srgbClr val="555960"/>
                </a:solidFill>
                <a:latin typeface="Calibri"/>
              </a:rPr>
              <a:t>Each declared constraint governs one row — overlap is a relation BETWEEN rows.</a:t>
            </a:r>
          </a:p>
        </p:txBody>
      </p:sp>
      <p:sp>
        <p:nvSpPr>
          <p:cNvPr id="9"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A schema is enforced obligations — but only those you can state in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Normalization vs denormalization is a genuine tradeoff</a:t>
            </a:r>
          </a:p>
        </p:txBody>
      </p:sp>
      <p:sp>
        <p:nvSpPr>
          <p:cNvPr id="3" name="Card"/>
          <p:cNvSpPr/>
          <p:nvPr/>
        </p:nvSpPr>
        <p:spPr>
          <a:xfrm>
            <a:off x="411480" y="960120"/>
            <a:ext cx="4069080" cy="251460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ardBody"/>
          <p:cNvSpPr txBox="1"/>
          <p:nvPr/>
        </p:nvSpPr>
        <p:spPr>
          <a:xfrm>
            <a:off x="557784" y="1051560"/>
            <a:ext cx="3776472" cy="2194560"/>
          </a:xfrm>
          <a:prstGeom prst="rect">
            <a:avLst/>
          </a:prstGeom>
          <a:noFill/>
        </p:spPr>
        <p:txBody>
          <a:bodyPr wrap="square">
            <a:spAutoFit/>
          </a:bodyPr>
          <a:lstStyle/>
          <a:p>
            <a:pPr algn="l">
              <a:spcAft>
                <a:spcPts val="400"/>
              </a:spcAft>
            </a:pPr>
            <a:r>
              <a:rPr sz="2000" b="1">
                <a:solidFill>
                  <a:srgbClr val="8E6F3E"/>
                </a:solidFill>
                <a:latin typeface="Calibri"/>
              </a:rPr>
              <a:t>NORMALIZED</a:t>
            </a:r>
          </a:p>
          <a:p>
            <a:pPr algn="l">
              <a:spcAft>
                <a:spcPts val="400"/>
              </a:spcAft>
            </a:pPr>
            <a:r>
              <a:rPr sz="2000" b="1">
                <a:solidFill>
                  <a:srgbClr val="5C4826"/>
                </a:solidFill>
                <a:latin typeface="Calibri"/>
              </a:rPr>
              <a:t>One fact lives in one place</a:t>
            </a:r>
          </a:p>
          <a:p>
            <a:pPr algn="l">
              <a:spcAft>
                <a:spcPts val="400"/>
              </a:spcAft>
            </a:pPr>
            <a:r>
              <a:rPr sz="2000" b="0">
                <a:solidFill>
                  <a:srgbClr val="555960"/>
                </a:solidFill>
                <a:latin typeface="Calibri"/>
              </a:rPr>
              <a:t>Room name stored once, in rooms</a:t>
            </a:r>
          </a:p>
          <a:p>
            <a:pPr algn="l">
              <a:spcAft>
                <a:spcPts val="400"/>
              </a:spcAft>
            </a:pPr>
            <a:r>
              <a:rPr sz="2000" b="0">
                <a:solidFill>
                  <a:srgbClr val="555960"/>
                </a:solidFill>
                <a:latin typeface="Calibri"/>
              </a:rPr>
              <a:t>Writes: cheap and safe</a:t>
            </a:r>
          </a:p>
          <a:p>
            <a:pPr algn="l">
              <a:spcAft>
                <a:spcPts val="400"/>
              </a:spcAft>
            </a:pPr>
            <a:r>
              <a:rPr sz="2000" b="0">
                <a:solidFill>
                  <a:srgbClr val="555960"/>
                </a:solidFill>
                <a:latin typeface="Calibri"/>
              </a:rPr>
              <a:t>Reads: join to assemble the page</a:t>
            </a:r>
          </a:p>
        </p:txBody>
      </p:sp>
      <p:sp>
        <p:nvSpPr>
          <p:cNvPr id="5" name="Card"/>
          <p:cNvSpPr/>
          <p:nvPr/>
        </p:nvSpPr>
        <p:spPr>
          <a:xfrm>
            <a:off x="4663440" y="960120"/>
            <a:ext cx="4069080" cy="251460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CardBody"/>
          <p:cNvSpPr txBox="1"/>
          <p:nvPr/>
        </p:nvSpPr>
        <p:spPr>
          <a:xfrm>
            <a:off x="4809744" y="1051560"/>
            <a:ext cx="3776472" cy="2194560"/>
          </a:xfrm>
          <a:prstGeom prst="rect">
            <a:avLst/>
          </a:prstGeom>
          <a:noFill/>
        </p:spPr>
        <p:txBody>
          <a:bodyPr wrap="square">
            <a:spAutoFit/>
          </a:bodyPr>
          <a:lstStyle/>
          <a:p>
            <a:pPr algn="l">
              <a:spcAft>
                <a:spcPts val="400"/>
              </a:spcAft>
            </a:pPr>
            <a:r>
              <a:rPr sz="2000" b="1">
                <a:solidFill>
                  <a:srgbClr val="8E6F3E"/>
                </a:solidFill>
                <a:latin typeface="Calibri"/>
              </a:rPr>
              <a:t>DENORMALIZED</a:t>
            </a:r>
          </a:p>
          <a:p>
            <a:pPr algn="l">
              <a:spcAft>
                <a:spcPts val="400"/>
              </a:spcAft>
            </a:pPr>
            <a:r>
              <a:rPr sz="2000" b="1">
                <a:solidFill>
                  <a:srgbClr val="5C4826"/>
                </a:solidFill>
                <a:latin typeface="Calibri"/>
              </a:rPr>
              <a:t>Facts copied to where they are read</a:t>
            </a:r>
          </a:p>
          <a:p>
            <a:pPr algn="l">
              <a:spcAft>
                <a:spcPts val="400"/>
              </a:spcAft>
            </a:pPr>
            <a:r>
              <a:rPr sz="2000" b="0">
                <a:solidFill>
                  <a:srgbClr val="555960"/>
                </a:solidFill>
                <a:latin typeface="Calibri"/>
              </a:rPr>
              <a:t>Room name copied into each reservation</a:t>
            </a:r>
          </a:p>
          <a:p>
            <a:pPr algn="l">
              <a:spcAft>
                <a:spcPts val="400"/>
              </a:spcAft>
            </a:pPr>
            <a:r>
              <a:rPr sz="2000" b="0">
                <a:solidFill>
                  <a:srgbClr val="555960"/>
                </a:solidFill>
                <a:latin typeface="Calibri"/>
              </a:rPr>
              <a:t>Reads: one fetch, no join</a:t>
            </a:r>
          </a:p>
          <a:p>
            <a:pPr algn="l">
              <a:spcAft>
                <a:spcPts val="400"/>
              </a:spcAft>
            </a:pPr>
            <a:r>
              <a:rPr sz="2000" b="0">
                <a:solidFill>
                  <a:srgbClr val="555960"/>
                </a:solidFill>
                <a:latin typeface="Calibri"/>
              </a:rPr>
              <a:t>Writes: must update every copy</a:t>
            </a:r>
          </a:p>
        </p:txBody>
      </p:sp>
      <p:sp>
        <p:nvSpPr>
          <p:cNvPr id="7" name="Card"/>
          <p:cNvSpPr/>
          <p:nvPr/>
        </p:nvSpPr>
        <p:spPr>
          <a:xfrm>
            <a:off x="411480" y="3566160"/>
            <a:ext cx="8321040" cy="150876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CardBody"/>
          <p:cNvSpPr txBox="1"/>
          <p:nvPr/>
        </p:nvSpPr>
        <p:spPr>
          <a:xfrm>
            <a:off x="557784" y="3639312"/>
            <a:ext cx="8046720" cy="1371600"/>
          </a:xfrm>
          <a:prstGeom prst="rect">
            <a:avLst/>
          </a:prstGeom>
          <a:noFill/>
        </p:spPr>
        <p:txBody>
          <a:bodyPr wrap="square">
            <a:spAutoFit/>
          </a:bodyPr>
          <a:lstStyle/>
          <a:p>
            <a:pPr algn="l">
              <a:spcAft>
                <a:spcPts val="300"/>
              </a:spcAft>
            </a:pPr>
            <a:r>
              <a:rPr sz="2000" b="1">
                <a:solidFill>
                  <a:srgbClr val="5C4826"/>
                </a:solidFill>
                <a:latin typeface="Calibri"/>
              </a:rPr>
              <a:t>The reservations page shows a room name beside every booking</a:t>
            </a:r>
          </a:p>
          <a:p>
            <a:pPr algn="l">
              <a:spcAft>
                <a:spcPts val="400"/>
              </a:spcAft>
            </a:pPr>
            <a:r>
              <a:rPr sz="2000" b="0">
                <a:solidFill>
                  <a:srgbClr val="555960"/>
                </a:solidFill>
                <a:latin typeface="Calibri"/>
              </a:rPr>
              <a:t>Join on every read, or copy and own the copies' staleness. The read/write mix settles it — not a doctrine.</a:t>
            </a:r>
          </a:p>
        </p:txBody>
      </p:sp>
      <p:sp>
        <p:nvSpPr>
          <p:cNvPr id="9"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Choose where you pay: on every write or on every read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A valid data model is not a correct application</a:t>
            </a:r>
          </a:p>
        </p:txBody>
      </p:sp>
      <p:sp>
        <p:nvSpPr>
          <p:cNvPr id="3" name="Card"/>
          <p:cNvSpPr/>
          <p:nvPr/>
        </p:nvSpPr>
        <p:spPr>
          <a:xfrm>
            <a:off x="411480" y="960120"/>
            <a:ext cx="4846320" cy="237744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ardBody"/>
          <p:cNvSpPr txBox="1"/>
          <p:nvPr/>
        </p:nvSpPr>
        <p:spPr>
          <a:xfrm>
            <a:off x="557784" y="1051560"/>
            <a:ext cx="4553712" cy="2194560"/>
          </a:xfrm>
          <a:prstGeom prst="rect">
            <a:avLst/>
          </a:prstGeom>
          <a:noFill/>
        </p:spPr>
        <p:txBody>
          <a:bodyPr wrap="square">
            <a:spAutoFit/>
          </a:bodyPr>
          <a:lstStyle/>
          <a:p>
            <a:pPr algn="l">
              <a:spcAft>
                <a:spcPts val="500"/>
              </a:spcAft>
            </a:pPr>
            <a:r>
              <a:rPr sz="2000" b="1">
                <a:solidFill>
                  <a:srgbClr val="8E6F3E"/>
                </a:solidFill>
                <a:latin typeface="Calibri"/>
              </a:rPr>
              <a:t>EVERY ROW VALID</a:t>
            </a:r>
          </a:p>
          <a:p>
            <a:pPr algn="l">
              <a:spcAft>
                <a:spcPts val="200"/>
              </a:spcAft>
            </a:pPr>
            <a:r>
              <a:rPr sz="2000" b="0">
                <a:solidFill>
                  <a:srgbClr val="2D2D2D"/>
                </a:solidFill>
                <a:latin typeface="Consolas"/>
              </a:rPr>
              <a:t>117 10:00–11:00 CONFIRMED</a:t>
            </a:r>
          </a:p>
          <a:p>
            <a:pPr algn="l">
              <a:spcAft>
                <a:spcPts val="500"/>
              </a:spcAft>
            </a:pPr>
            <a:r>
              <a:rPr sz="2000" b="0">
                <a:solidFill>
                  <a:srgbClr val="2D2D2D"/>
                </a:solidFill>
                <a:latin typeface="Consolas"/>
              </a:rPr>
              <a:t>117 10:30–11:30 CONFIRMED</a:t>
            </a:r>
          </a:p>
          <a:p>
            <a:pPr algn="l">
              <a:spcAft>
                <a:spcPts val="400"/>
              </a:spcAft>
            </a:pPr>
            <a:r>
              <a:rPr sz="2000" b="0">
                <a:solidFill>
                  <a:srgbClr val="555960"/>
                </a:solidFill>
                <a:latin typeface="Calibri"/>
              </a:rPr>
              <a:t>Every schema constraint passes, row by row</a:t>
            </a:r>
          </a:p>
        </p:txBody>
      </p:sp>
      <p:sp>
        <p:nvSpPr>
          <p:cNvPr id="5" name="Card"/>
          <p:cNvSpPr/>
          <p:nvPr/>
        </p:nvSpPr>
        <p:spPr>
          <a:xfrm>
            <a:off x="5440680" y="960120"/>
            <a:ext cx="3291840" cy="237744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CardBody"/>
          <p:cNvSpPr txBox="1"/>
          <p:nvPr/>
        </p:nvSpPr>
        <p:spPr>
          <a:xfrm>
            <a:off x="5586984" y="1051560"/>
            <a:ext cx="2999232" cy="2194560"/>
          </a:xfrm>
          <a:prstGeom prst="rect">
            <a:avLst/>
          </a:prstGeom>
          <a:noFill/>
        </p:spPr>
        <p:txBody>
          <a:bodyPr wrap="square">
            <a:spAutoFit/>
          </a:bodyPr>
          <a:lstStyle/>
          <a:p>
            <a:pPr algn="l">
              <a:spcAft>
                <a:spcPts val="500"/>
              </a:spcAft>
            </a:pPr>
            <a:r>
              <a:rPr sz="2000" b="1">
                <a:solidFill>
                  <a:srgbClr val="C01B1B"/>
                </a:solidFill>
                <a:latin typeface="Calibri"/>
              </a:rPr>
              <a:t>…and the invariant is violated</a:t>
            </a:r>
          </a:p>
          <a:p>
            <a:pPr algn="l">
              <a:spcAft>
                <a:spcPts val="400"/>
              </a:spcAft>
            </a:pPr>
            <a:r>
              <a:rPr sz="2000" b="0">
                <a:solidFill>
                  <a:srgbClr val="555960"/>
                </a:solidFill>
                <a:latin typeface="Calibri"/>
              </a:rPr>
              <a:t>Overlap is a property of the pair, not of either row</a:t>
            </a:r>
          </a:p>
        </p:txBody>
      </p:sp>
      <p:sp>
        <p:nvSpPr>
          <p:cNvPr id="7" name="Card"/>
          <p:cNvSpPr/>
          <p:nvPr/>
        </p:nvSpPr>
        <p:spPr>
          <a:xfrm>
            <a:off x="411480" y="3566160"/>
            <a:ext cx="8321040" cy="150876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CardBody"/>
          <p:cNvSpPr txBox="1"/>
          <p:nvPr/>
        </p:nvSpPr>
        <p:spPr>
          <a:xfrm>
            <a:off x="557784" y="3639312"/>
            <a:ext cx="8046720" cy="1371600"/>
          </a:xfrm>
          <a:prstGeom prst="rect">
            <a:avLst/>
          </a:prstGeom>
          <a:noFill/>
        </p:spPr>
        <p:txBody>
          <a:bodyPr wrap="square">
            <a:spAutoFit/>
          </a:bodyPr>
          <a:lstStyle/>
          <a:p>
            <a:pPr algn="l">
              <a:spcAft>
                <a:spcPts val="300"/>
              </a:spcAft>
            </a:pPr>
            <a:r>
              <a:rPr sz="2000" b="1">
                <a:solidFill>
                  <a:srgbClr val="5C4826"/>
                </a:solidFill>
                <a:latin typeface="Calibri"/>
              </a:rPr>
              <a:t>Validity is judged per row; correctness constrains relations between rows</a:t>
            </a:r>
          </a:p>
          <a:p>
            <a:pPr algn="l">
              <a:spcAft>
                <a:spcPts val="400"/>
              </a:spcAft>
            </a:pPr>
            <a:r>
              <a:rPr sz="2000" b="0">
                <a:solidFill>
                  <a:srgbClr val="555960"/>
                </a:solidFill>
                <a:latin typeface="Calibri"/>
              </a:rPr>
              <a:t>…and, once requests overlap in time, relations between operations. That is §5.</a:t>
            </a:r>
          </a:p>
        </p:txBody>
      </p:sp>
      <p:sp>
        <p:nvSpPr>
          <p:cNvPr id="9"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A database full of valid rows can still be a broken application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SQL states WHAT you want, not HOW to get it</a:t>
            </a:r>
          </a:p>
        </p:txBody>
      </p:sp>
      <p:sp>
        <p:nvSpPr>
          <p:cNvPr id="3" name="Card"/>
          <p:cNvSpPr/>
          <p:nvPr/>
        </p:nvSpPr>
        <p:spPr>
          <a:xfrm>
            <a:off x="411480" y="960120"/>
            <a:ext cx="4846320" cy="283464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ode"/>
          <p:cNvSpPr txBox="1"/>
          <p:nvPr/>
        </p:nvSpPr>
        <p:spPr>
          <a:xfrm>
            <a:off x="557784" y="1051560"/>
            <a:ext cx="4553712" cy="2651760"/>
          </a:xfrm>
          <a:prstGeom prst="rect">
            <a:avLst/>
          </a:prstGeom>
          <a:noFill/>
        </p:spPr>
        <p:txBody>
          <a:bodyPr wrap="square">
            <a:spAutoFit/>
          </a:bodyPr>
          <a:lstStyle/>
          <a:p>
            <a:pPr algn="l">
              <a:spcAft>
                <a:spcPts val="200"/>
              </a:spcAft>
            </a:pPr>
            <a:r>
              <a:rPr sz="2000" b="0">
                <a:solidFill>
                  <a:srgbClr val="2D2D2D"/>
                </a:solidFill>
                <a:latin typeface="Consolas"/>
              </a:rPr>
              <a:t>SELECT 1</a:t>
            </a:r>
          </a:p>
          <a:p>
            <a:pPr algn="l">
              <a:spcAft>
                <a:spcPts val="200"/>
              </a:spcAft>
            </a:pPr>
            <a:r>
              <a:rPr sz="2000" b="0">
                <a:solidFill>
                  <a:srgbClr val="2D2D2D"/>
                </a:solidFill>
                <a:latin typeface="Consolas"/>
              </a:rPr>
              <a:t>FROM reservations</a:t>
            </a:r>
          </a:p>
          <a:p>
            <a:pPr algn="l">
              <a:spcAft>
                <a:spcPts val="200"/>
              </a:spcAft>
            </a:pPr>
            <a:r>
              <a:rPr sz="2000" b="0">
                <a:solidFill>
                  <a:srgbClr val="2D2D2D"/>
                </a:solidFill>
                <a:latin typeface="Consolas"/>
              </a:rPr>
              <a:t>WHERE room_id = :room</a:t>
            </a:r>
          </a:p>
          <a:p>
            <a:pPr algn="l">
              <a:spcAft>
                <a:spcPts val="200"/>
              </a:spcAft>
            </a:pPr>
            <a:r>
              <a:rPr sz="2000" b="0">
                <a:solidFill>
                  <a:srgbClr val="2D2D2D"/>
                </a:solidFill>
                <a:latin typeface="Consolas"/>
              </a:rPr>
              <a:t>  AND status  = 'CONFIRMED'</a:t>
            </a:r>
          </a:p>
          <a:p>
            <a:pPr algn="l">
              <a:spcAft>
                <a:spcPts val="200"/>
              </a:spcAft>
            </a:pPr>
            <a:r>
              <a:rPr sz="2000" b="0">
                <a:solidFill>
                  <a:srgbClr val="2D2D2D"/>
                </a:solidFill>
                <a:latin typeface="Consolas"/>
              </a:rPr>
              <a:t>  AND starts_at &lt; :ends</a:t>
            </a:r>
          </a:p>
          <a:p>
            <a:pPr algn="l">
              <a:spcAft>
                <a:spcPts val="200"/>
              </a:spcAft>
            </a:pPr>
            <a:r>
              <a:rPr sz="2000" b="0">
                <a:solidFill>
                  <a:srgbClr val="2D2D2D"/>
                </a:solidFill>
                <a:latin typeface="Consolas"/>
              </a:rPr>
              <a:t>  AND ends_at   &gt; :starts;</a:t>
            </a:r>
          </a:p>
        </p:txBody>
      </p:sp>
      <p:sp>
        <p:nvSpPr>
          <p:cNvPr id="5" name="Card"/>
          <p:cNvSpPr/>
          <p:nvPr/>
        </p:nvSpPr>
        <p:spPr>
          <a:xfrm>
            <a:off x="5440680" y="960120"/>
            <a:ext cx="3291840" cy="283464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CardBody"/>
          <p:cNvSpPr txBox="1"/>
          <p:nvPr/>
        </p:nvSpPr>
        <p:spPr>
          <a:xfrm>
            <a:off x="5586984" y="1051560"/>
            <a:ext cx="2999232" cy="2651760"/>
          </a:xfrm>
          <a:prstGeom prst="rect">
            <a:avLst/>
          </a:prstGeom>
          <a:noFill/>
        </p:spPr>
        <p:txBody>
          <a:bodyPr wrap="square">
            <a:spAutoFit/>
          </a:bodyPr>
          <a:lstStyle/>
          <a:p>
            <a:pPr algn="l">
              <a:spcAft>
                <a:spcPts val="500"/>
              </a:spcAft>
            </a:pPr>
            <a:r>
              <a:rPr sz="2000" b="1">
                <a:solidFill>
                  <a:srgbClr val="8E6F3E"/>
                </a:solidFill>
                <a:latin typeface="Calibri"/>
              </a:rPr>
              <a:t>DECLARATIVE</a:t>
            </a:r>
          </a:p>
          <a:p>
            <a:pPr algn="l">
              <a:spcAft>
                <a:spcPts val="400"/>
              </a:spcAft>
            </a:pPr>
            <a:r>
              <a:rPr sz="2000" b="0">
                <a:solidFill>
                  <a:srgbClr val="5C4826"/>
                </a:solidFill>
                <a:latin typeface="Calibri"/>
              </a:rPr>
              <a:t>Names the rows wanted</a:t>
            </a:r>
          </a:p>
          <a:p>
            <a:pPr algn="l">
              <a:spcAft>
                <a:spcPts val="400"/>
              </a:spcAft>
            </a:pPr>
            <a:r>
              <a:rPr sz="2000" b="0">
                <a:solidFill>
                  <a:srgbClr val="555960"/>
                </a:solidFill>
                <a:latin typeface="Calibri"/>
              </a:rPr>
              <a:t>Says nothing about scans, indexes, or order</a:t>
            </a:r>
          </a:p>
          <a:p>
            <a:pPr algn="l">
              <a:spcAft>
                <a:spcPts val="400"/>
              </a:spcAft>
            </a:pPr>
            <a:r>
              <a:rPr sz="2000" b="0">
                <a:solidFill>
                  <a:srgbClr val="555960"/>
                </a:solidFill>
                <a:latin typeface="Calibri"/>
              </a:rPr>
              <a:t>The engine chooses HOW — slide 16</a:t>
            </a:r>
          </a:p>
        </p:txBody>
      </p:sp>
      <p:sp>
        <p:nvSpPr>
          <p:cNvPr id="7" name="Card"/>
          <p:cNvSpPr/>
          <p:nvPr/>
        </p:nvSpPr>
        <p:spPr>
          <a:xfrm>
            <a:off x="411480" y="4023360"/>
            <a:ext cx="8321040" cy="123444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CardBody"/>
          <p:cNvSpPr txBox="1"/>
          <p:nvPr/>
        </p:nvSpPr>
        <p:spPr>
          <a:xfrm>
            <a:off x="557784" y="4096512"/>
            <a:ext cx="8046720" cy="1097280"/>
          </a:xfrm>
          <a:prstGeom prst="rect">
            <a:avLst/>
          </a:prstGeom>
          <a:noFill/>
        </p:spPr>
        <p:txBody>
          <a:bodyPr wrap="square">
            <a:spAutoFit/>
          </a:bodyPr>
          <a:lstStyle/>
          <a:p>
            <a:pPr algn="l">
              <a:spcAft>
                <a:spcPts val="300"/>
              </a:spcAft>
            </a:pPr>
            <a:r>
              <a:rPr sz="2000" b="1">
                <a:solidFill>
                  <a:srgbClr val="5C4826"/>
                </a:solidFill>
                <a:latin typeface="Calibri"/>
              </a:rPr>
              <a:t>The overlap test:  A.starts &lt; B.ends  AND  A.ends &gt; B.starts</a:t>
            </a:r>
          </a:p>
          <a:p>
            <a:pPr algn="l">
              <a:spcAft>
                <a:spcPts val="400"/>
              </a:spcAft>
            </a:pPr>
            <a:r>
              <a:rPr sz="2000" b="0">
                <a:solidFill>
                  <a:srgbClr val="555960"/>
                </a:solidFill>
                <a:latin typeface="Calibri"/>
              </a:rPr>
              <a:t>This predicate is the invariant in query form — it returns on slides 19 and 23.</a:t>
            </a:r>
          </a:p>
        </p:txBody>
      </p:sp>
      <p:sp>
        <p:nvSpPr>
          <p:cNvPr id="9"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A query is a specification — execution is the engine's design space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An ORM maps your objects to stored data</a:t>
            </a:r>
          </a:p>
        </p:txBody>
      </p:sp>
      <p:sp>
        <p:nvSpPr>
          <p:cNvPr id="3" name="Label"/>
          <p:cNvSpPr txBox="1"/>
          <p:nvPr/>
        </p:nvSpPr>
        <p:spPr>
          <a:xfrm>
            <a:off x="411480" y="841248"/>
            <a:ext cx="8321040" cy="365760"/>
          </a:xfrm>
          <a:prstGeom prst="rect">
            <a:avLst/>
          </a:prstGeom>
          <a:noFill/>
        </p:spPr>
        <p:txBody>
          <a:bodyPr wrap="square">
            <a:spAutoFit/>
          </a:bodyPr>
          <a:lstStyle/>
          <a:p>
            <a:pPr algn="l">
              <a:spcAft>
                <a:spcPts val="400"/>
              </a:spcAft>
            </a:pPr>
            <a:r>
              <a:rPr sz="2000" b="1">
                <a:solidFill>
                  <a:srgbClr val="8E6F3E"/>
                </a:solidFill>
                <a:latin typeface="Calibri"/>
              </a:rPr>
              <a:t>Illustrative — real syntax depends on the library</a:t>
            </a:r>
          </a:p>
        </p:txBody>
      </p:sp>
      <p:sp>
        <p:nvSpPr>
          <p:cNvPr id="4" name="Card"/>
          <p:cNvSpPr/>
          <p:nvPr/>
        </p:nvSpPr>
        <p:spPr>
          <a:xfrm>
            <a:off x="411480" y="1298448"/>
            <a:ext cx="4846320" cy="246888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Code"/>
          <p:cNvSpPr txBox="1"/>
          <p:nvPr/>
        </p:nvSpPr>
        <p:spPr>
          <a:xfrm>
            <a:off x="557784" y="1389888"/>
            <a:ext cx="4553712" cy="2286000"/>
          </a:xfrm>
          <a:prstGeom prst="rect">
            <a:avLst/>
          </a:prstGeom>
          <a:noFill/>
        </p:spPr>
        <p:txBody>
          <a:bodyPr wrap="square">
            <a:spAutoFit/>
          </a:bodyPr>
          <a:lstStyle/>
          <a:p>
            <a:pPr algn="l">
              <a:spcAft>
                <a:spcPts val="200"/>
              </a:spcAft>
            </a:pPr>
            <a:r>
              <a:rPr sz="2000" b="0">
                <a:solidFill>
                  <a:srgbClr val="2D2D2D"/>
                </a:solidFill>
                <a:latin typeface="Consolas"/>
              </a:rPr>
              <a:t>conflict = (Resv.query</a:t>
            </a:r>
          </a:p>
          <a:p>
            <a:pPr algn="l">
              <a:spcAft>
                <a:spcPts val="200"/>
              </a:spcAft>
            </a:pPr>
            <a:r>
              <a:rPr sz="2000" b="0">
                <a:solidFill>
                  <a:srgbClr val="2D2D2D"/>
                </a:solidFill>
                <a:latin typeface="Consolas"/>
              </a:rPr>
              <a:t>  .filter_by(room=room,</a:t>
            </a:r>
          </a:p>
          <a:p>
            <a:pPr algn="l">
              <a:spcAft>
                <a:spcPts val="200"/>
              </a:spcAft>
            </a:pPr>
            <a:r>
              <a:rPr sz="2000" b="0">
                <a:solidFill>
                  <a:srgbClr val="2D2D2D"/>
                </a:solidFill>
                <a:latin typeface="Consolas"/>
              </a:rPr>
              <a:t>    status='CONFIRMED')</a:t>
            </a:r>
          </a:p>
          <a:p>
            <a:pPr algn="l">
              <a:spcAft>
                <a:spcPts val="200"/>
              </a:spcAft>
            </a:pPr>
            <a:r>
              <a:rPr sz="2000" b="0">
                <a:solidFill>
                  <a:srgbClr val="2D2D2D"/>
                </a:solidFill>
                <a:latin typeface="Consolas"/>
              </a:rPr>
              <a:t>  .filter(overlaps(s, e))</a:t>
            </a:r>
          </a:p>
          <a:p>
            <a:pPr algn="l">
              <a:spcAft>
                <a:spcPts val="200"/>
              </a:spcAft>
            </a:pPr>
            <a:r>
              <a:rPr sz="2000" b="0">
                <a:solidFill>
                  <a:srgbClr val="2D2D2D"/>
                </a:solidFill>
                <a:latin typeface="Consolas"/>
              </a:rPr>
              <a:t>  .first())</a:t>
            </a:r>
          </a:p>
        </p:txBody>
      </p:sp>
      <p:sp>
        <p:nvSpPr>
          <p:cNvPr id="6" name="Card"/>
          <p:cNvSpPr/>
          <p:nvPr/>
        </p:nvSpPr>
        <p:spPr>
          <a:xfrm>
            <a:off x="5440680" y="1298448"/>
            <a:ext cx="3291840" cy="24688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CardBody"/>
          <p:cNvSpPr txBox="1"/>
          <p:nvPr/>
        </p:nvSpPr>
        <p:spPr>
          <a:xfrm>
            <a:off x="5586984" y="1389888"/>
            <a:ext cx="2999232" cy="2286000"/>
          </a:xfrm>
          <a:prstGeom prst="rect">
            <a:avLst/>
          </a:prstGeom>
          <a:noFill/>
        </p:spPr>
        <p:txBody>
          <a:bodyPr wrap="square">
            <a:spAutoFit/>
          </a:bodyPr>
          <a:lstStyle/>
          <a:p>
            <a:pPr algn="l">
              <a:spcAft>
                <a:spcPts val="500"/>
              </a:spcAft>
            </a:pPr>
            <a:r>
              <a:rPr sz="2000" b="1">
                <a:solidFill>
                  <a:srgbClr val="8E6F3E"/>
                </a:solidFill>
                <a:latin typeface="Calibri"/>
              </a:rPr>
              <a:t>WHAT IT BUYS</a:t>
            </a:r>
          </a:p>
          <a:p>
            <a:pPr algn="l">
              <a:spcAft>
                <a:spcPts val="400"/>
              </a:spcAft>
            </a:pPr>
            <a:r>
              <a:rPr sz="2000" b="0">
                <a:solidFill>
                  <a:srgbClr val="5C4826"/>
                </a:solidFill>
                <a:latin typeface="Calibri"/>
              </a:rPr>
              <a:t>Objects in your language</a:t>
            </a:r>
          </a:p>
          <a:p>
            <a:pPr algn="l">
              <a:spcAft>
                <a:spcPts val="400"/>
              </a:spcAft>
            </a:pPr>
            <a:r>
              <a:rPr sz="2000" b="0">
                <a:solidFill>
                  <a:srgbClr val="5C4826"/>
                </a:solidFill>
                <a:latin typeface="Calibri"/>
              </a:rPr>
              <a:t>Mapping and sessions handled</a:t>
            </a:r>
          </a:p>
          <a:p>
            <a:pPr algn="l">
              <a:spcAft>
                <a:spcPts val="400"/>
              </a:spcAft>
            </a:pPr>
            <a:r>
              <a:rPr sz="2000" b="0">
                <a:solidFill>
                  <a:srgbClr val="5C4826"/>
                </a:solidFill>
                <a:latin typeface="Calibri"/>
              </a:rPr>
              <a:t>Less boilerplate</a:t>
            </a:r>
          </a:p>
        </p:txBody>
      </p:sp>
      <p:sp>
        <p:nvSpPr>
          <p:cNvPr id="8" name="Card"/>
          <p:cNvSpPr/>
          <p:nvPr/>
        </p:nvSpPr>
        <p:spPr>
          <a:xfrm>
            <a:off x="411480" y="3950208"/>
            <a:ext cx="8321040" cy="1627632"/>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CardBody"/>
          <p:cNvSpPr txBox="1"/>
          <p:nvPr/>
        </p:nvSpPr>
        <p:spPr>
          <a:xfrm>
            <a:off x="557784" y="4023360"/>
            <a:ext cx="8046720" cy="1481328"/>
          </a:xfrm>
          <a:prstGeom prst="rect">
            <a:avLst/>
          </a:prstGeom>
          <a:noFill/>
        </p:spPr>
        <p:txBody>
          <a:bodyPr wrap="square">
            <a:spAutoFit/>
          </a:bodyPr>
          <a:lstStyle/>
          <a:p>
            <a:pPr algn="l">
              <a:spcAft>
                <a:spcPts val="300"/>
              </a:spcAft>
            </a:pPr>
            <a:r>
              <a:rPr sz="2000" b="1">
                <a:solidFill>
                  <a:srgbClr val="8E6F3E"/>
                </a:solidFill>
                <a:latin typeface="Calibri"/>
              </a:rPr>
              <a:t>WHAT IT COSTS</a:t>
            </a:r>
          </a:p>
          <a:p>
            <a:pPr algn="l">
              <a:spcAft>
                <a:spcPts val="400"/>
              </a:spcAft>
            </a:pPr>
            <a:r>
              <a:rPr sz="2000" b="0">
                <a:solidFill>
                  <a:srgbClr val="555960"/>
                </a:solidFill>
                <a:latin typeface="Calibri"/>
              </a:rPr>
              <a:t>Leaky: you still must know the SQL it emits</a:t>
            </a:r>
          </a:p>
          <a:p>
            <a:pPr algn="l">
              <a:spcAft>
                <a:spcPts val="400"/>
              </a:spcAft>
            </a:pPr>
            <a:r>
              <a:rPr sz="2000" b="0">
                <a:solidFill>
                  <a:srgbClr val="555960"/>
                </a:solidFill>
                <a:latin typeface="Calibri"/>
              </a:rPr>
              <a:t>Generated queries can be inefficient — the N+1 trap, slide 18</a:t>
            </a:r>
          </a:p>
          <a:p>
            <a:pPr algn="l">
              <a:spcAft>
                <a:spcPts val="400"/>
              </a:spcAft>
            </a:pPr>
            <a:r>
              <a:rPr sz="2000" b="0">
                <a:solidFill>
                  <a:srgbClr val="555960"/>
                </a:solidFill>
                <a:latin typeface="Calibri"/>
              </a:rPr>
              <a:t>Database-specific operations get awkward</a:t>
            </a:r>
          </a:p>
        </p:txBody>
      </p:sp>
      <p:sp>
        <p:nvSpPr>
          <p:cNvPr id="10"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A convenience layer over the query language — not a replacement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Query language and ORM live at different layers</a:t>
            </a:r>
          </a:p>
        </p:txBody>
      </p:sp>
      <p:sp>
        <p:nvSpPr>
          <p:cNvPr id="3" name="Block"/>
          <p:cNvSpPr/>
          <p:nvPr/>
        </p:nvSpPr>
        <p:spPr>
          <a:xfrm>
            <a:off x="914400" y="914400"/>
            <a:ext cx="42062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Application objects</a:t>
            </a:r>
          </a:p>
        </p:txBody>
      </p:sp>
      <p:sp>
        <p:nvSpPr>
          <p:cNvPr id="4" name="Arrow"/>
          <p:cNvSpPr/>
          <p:nvPr/>
        </p:nvSpPr>
        <p:spPr>
          <a:xfrm>
            <a:off x="2834640" y="1572768"/>
            <a:ext cx="365760" cy="192024"/>
          </a:xfrm>
          <a:prstGeom prst="down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Block"/>
          <p:cNvSpPr/>
          <p:nvPr/>
        </p:nvSpPr>
        <p:spPr>
          <a:xfrm>
            <a:off x="914400" y="1783080"/>
            <a:ext cx="42062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ORM — maps objects to rows; emits SQL</a:t>
            </a:r>
          </a:p>
        </p:txBody>
      </p:sp>
      <p:sp>
        <p:nvSpPr>
          <p:cNvPr id="6" name="Arrow"/>
          <p:cNvSpPr/>
          <p:nvPr/>
        </p:nvSpPr>
        <p:spPr>
          <a:xfrm>
            <a:off x="2834640" y="2441448"/>
            <a:ext cx="365760" cy="192024"/>
          </a:xfrm>
          <a:prstGeom prst="down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Block"/>
          <p:cNvSpPr/>
          <p:nvPr/>
        </p:nvSpPr>
        <p:spPr>
          <a:xfrm>
            <a:off x="914400" y="2651760"/>
            <a:ext cx="42062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SQL — the declarative WHAT</a:t>
            </a:r>
          </a:p>
        </p:txBody>
      </p:sp>
      <p:sp>
        <p:nvSpPr>
          <p:cNvPr id="8" name="Arrow"/>
          <p:cNvSpPr/>
          <p:nvPr/>
        </p:nvSpPr>
        <p:spPr>
          <a:xfrm>
            <a:off x="2834640" y="3310128"/>
            <a:ext cx="365760" cy="192024"/>
          </a:xfrm>
          <a:prstGeom prst="down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Block"/>
          <p:cNvSpPr/>
          <p:nvPr/>
        </p:nvSpPr>
        <p:spPr>
          <a:xfrm>
            <a:off x="914400" y="3520440"/>
            <a:ext cx="42062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Engine — plans and executes (HOW)</a:t>
            </a:r>
          </a:p>
        </p:txBody>
      </p:sp>
      <p:sp>
        <p:nvSpPr>
          <p:cNvPr id="10" name="Arrow"/>
          <p:cNvSpPr/>
          <p:nvPr/>
        </p:nvSpPr>
        <p:spPr>
          <a:xfrm>
            <a:off x="2834640" y="4178808"/>
            <a:ext cx="365760" cy="192024"/>
          </a:xfrm>
          <a:prstGeom prst="down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Block"/>
          <p:cNvSpPr/>
          <p:nvPr/>
        </p:nvSpPr>
        <p:spPr>
          <a:xfrm>
            <a:off x="914400" y="4389120"/>
            <a:ext cx="42062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Stored data — pages, rows, indexes</a:t>
            </a:r>
          </a:p>
        </p:txBody>
      </p:sp>
      <p:sp>
        <p:nvSpPr>
          <p:cNvPr id="12" name="Card"/>
          <p:cNvSpPr/>
          <p:nvPr/>
        </p:nvSpPr>
        <p:spPr>
          <a:xfrm>
            <a:off x="5486400" y="1280160"/>
            <a:ext cx="3246120" cy="40690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CardBody"/>
          <p:cNvSpPr txBox="1"/>
          <p:nvPr/>
        </p:nvSpPr>
        <p:spPr>
          <a:xfrm>
            <a:off x="5632704" y="1371600"/>
            <a:ext cx="2953512" cy="3886200"/>
          </a:xfrm>
          <a:prstGeom prst="rect">
            <a:avLst/>
          </a:prstGeom>
          <a:noFill/>
        </p:spPr>
        <p:txBody>
          <a:bodyPr wrap="square">
            <a:spAutoFit/>
          </a:bodyPr>
          <a:lstStyle/>
          <a:p>
            <a:pPr algn="l">
              <a:spcAft>
                <a:spcPts val="600"/>
              </a:spcAft>
            </a:pPr>
            <a:r>
              <a:rPr sz="2000" b="1">
                <a:solidFill>
                  <a:srgbClr val="5C4826"/>
                </a:solidFill>
                <a:latin typeface="Calibri"/>
              </a:rPr>
              <a:t>“ORM vs SQL” is a layering question, not a rivalry</a:t>
            </a:r>
          </a:p>
          <a:p>
            <a:pPr algn="l">
              <a:spcAft>
                <a:spcPts val="600"/>
              </a:spcAft>
            </a:pPr>
            <a:r>
              <a:rPr sz="2000" b="0">
                <a:solidFill>
                  <a:srgbClr val="555960"/>
                </a:solidFill>
                <a:latin typeface="Calibri"/>
              </a:rPr>
              <a:t>The ORM emits SQL; the engine never sees your objects.</a:t>
            </a:r>
          </a:p>
          <a:p>
            <a:pPr algn="l">
              <a:spcAft>
                <a:spcPts val="400"/>
              </a:spcAft>
            </a:pPr>
            <a:r>
              <a:rPr sz="2000" b="0">
                <a:solidFill>
                  <a:srgbClr val="555960"/>
                </a:solidFill>
                <a:latin typeface="Calibri"/>
              </a:rPr>
              <a:t>You choose the layer where you write your intent — you still own what every layer below does with it.</a:t>
            </a:r>
          </a:p>
        </p:txBody>
      </p:sp>
      <p:sp>
        <p:nvSpPr>
          <p:cNvPr id="14"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Different layers of one pipeline — not competing answers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How the engine executes your query</a:t>
            </a:r>
          </a:p>
        </p:txBody>
      </p:sp>
      <p:sp>
        <p:nvSpPr>
          <p:cNvPr id="3" name="Block"/>
          <p:cNvSpPr/>
          <p:nvPr/>
        </p:nvSpPr>
        <p:spPr>
          <a:xfrm>
            <a:off x="411480" y="1097280"/>
            <a:ext cx="246888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Parse &amp; validate</a:t>
            </a:r>
          </a:p>
        </p:txBody>
      </p:sp>
      <p:sp>
        <p:nvSpPr>
          <p:cNvPr id="4" name="Block"/>
          <p:cNvSpPr/>
          <p:nvPr/>
        </p:nvSpPr>
        <p:spPr>
          <a:xfrm>
            <a:off x="3337560" y="1097280"/>
            <a:ext cx="246888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Logical plan</a:t>
            </a:r>
          </a:p>
        </p:txBody>
      </p:sp>
      <p:sp>
        <p:nvSpPr>
          <p:cNvPr id="5" name="Block"/>
          <p:cNvSpPr/>
          <p:nvPr/>
        </p:nvSpPr>
        <p:spPr>
          <a:xfrm>
            <a:off x="6263640" y="1097280"/>
            <a:ext cx="246888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Optimizer</a:t>
            </a:r>
          </a:p>
        </p:txBody>
      </p:sp>
      <p:sp>
        <p:nvSpPr>
          <p:cNvPr id="6" name="Arrow"/>
          <p:cNvSpPr/>
          <p:nvPr/>
        </p:nvSpPr>
        <p:spPr>
          <a:xfrm>
            <a:off x="2907792" y="1371600"/>
            <a:ext cx="402336" cy="201168"/>
          </a:xfrm>
          <a:prstGeom prst="righ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Arrow"/>
          <p:cNvSpPr/>
          <p:nvPr/>
        </p:nvSpPr>
        <p:spPr>
          <a:xfrm>
            <a:off x="5833872" y="1371600"/>
            <a:ext cx="402336" cy="201168"/>
          </a:xfrm>
          <a:prstGeom prst="righ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Arrow"/>
          <p:cNvSpPr/>
          <p:nvPr/>
        </p:nvSpPr>
        <p:spPr>
          <a:xfrm>
            <a:off x="7315200" y="1901952"/>
            <a:ext cx="365760" cy="676656"/>
          </a:xfrm>
          <a:prstGeom prst="down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Block"/>
          <p:cNvSpPr/>
          <p:nvPr/>
        </p:nvSpPr>
        <p:spPr>
          <a:xfrm>
            <a:off x="6263640" y="2651760"/>
            <a:ext cx="246888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Physical plan</a:t>
            </a:r>
          </a:p>
        </p:txBody>
      </p:sp>
      <p:sp>
        <p:nvSpPr>
          <p:cNvPr id="10" name="Block"/>
          <p:cNvSpPr/>
          <p:nvPr/>
        </p:nvSpPr>
        <p:spPr>
          <a:xfrm>
            <a:off x="3337560" y="2651760"/>
            <a:ext cx="246888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Execute: scan · index · join</a:t>
            </a:r>
          </a:p>
        </p:txBody>
      </p:sp>
      <p:sp>
        <p:nvSpPr>
          <p:cNvPr id="11" name="Block"/>
          <p:cNvSpPr/>
          <p:nvPr/>
        </p:nvSpPr>
        <p:spPr>
          <a:xfrm>
            <a:off x="411480" y="2651760"/>
            <a:ext cx="246888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Results</a:t>
            </a:r>
          </a:p>
        </p:txBody>
      </p:sp>
      <p:sp>
        <p:nvSpPr>
          <p:cNvPr id="12" name="Arrow"/>
          <p:cNvSpPr/>
          <p:nvPr/>
        </p:nvSpPr>
        <p:spPr>
          <a:xfrm>
            <a:off x="5833872" y="2926080"/>
            <a:ext cx="402336" cy="201168"/>
          </a:xfrm>
          <a:prstGeom prst="lef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rrow"/>
          <p:cNvSpPr/>
          <p:nvPr/>
        </p:nvSpPr>
        <p:spPr>
          <a:xfrm>
            <a:off x="2907792" y="2926080"/>
            <a:ext cx="402336" cy="201168"/>
          </a:xfrm>
          <a:prstGeom prst="lef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Card"/>
          <p:cNvSpPr/>
          <p:nvPr/>
        </p:nvSpPr>
        <p:spPr>
          <a:xfrm>
            <a:off x="411480" y="3794760"/>
            <a:ext cx="8321040" cy="13258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CardBody"/>
          <p:cNvSpPr txBox="1"/>
          <p:nvPr/>
        </p:nvSpPr>
        <p:spPr>
          <a:xfrm>
            <a:off x="557784" y="3867912"/>
            <a:ext cx="8046720" cy="1188720"/>
          </a:xfrm>
          <a:prstGeom prst="rect">
            <a:avLst/>
          </a:prstGeom>
          <a:noFill/>
        </p:spPr>
        <p:txBody>
          <a:bodyPr wrap="square">
            <a:spAutoFit/>
          </a:bodyPr>
          <a:lstStyle/>
          <a:p>
            <a:pPr algn="l">
              <a:spcAft>
                <a:spcPts val="300"/>
              </a:spcAft>
            </a:pPr>
            <a:r>
              <a:rPr sz="2000" b="1">
                <a:solidFill>
                  <a:srgbClr val="5C4826"/>
                </a:solidFill>
                <a:latin typeface="Calibri"/>
              </a:rPr>
              <a:t>The optimizer chooses among plans using statistics about YOUR data</a:t>
            </a:r>
          </a:p>
          <a:p>
            <a:pPr algn="l">
              <a:spcAft>
                <a:spcPts val="400"/>
              </a:spcAft>
            </a:pPr>
            <a:r>
              <a:rPr sz="2000" b="0">
                <a:solidFill>
                  <a:srgbClr val="555960"/>
                </a:solidFill>
                <a:latin typeface="Calibri"/>
              </a:rPr>
              <a:t>Same SQL, thousandfold cost differences — the lever is the physical design you supply: indexes, layout, fresh statistics.</a:t>
            </a:r>
          </a:p>
        </p:txBody>
      </p:sp>
      <p:sp>
        <p:nvSpPr>
          <p:cNvPr id="16"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You wrote WHAT; the engine picks HOW from what you gave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One query, two plans, very different costs</a:t>
            </a:r>
          </a:p>
        </p:txBody>
      </p:sp>
      <p:sp>
        <p:nvSpPr>
          <p:cNvPr id="3" name="Card"/>
          <p:cNvSpPr/>
          <p:nvPr/>
        </p:nvSpPr>
        <p:spPr>
          <a:xfrm>
            <a:off x="411480" y="960120"/>
            <a:ext cx="4069080" cy="256032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ardBody"/>
          <p:cNvSpPr txBox="1"/>
          <p:nvPr/>
        </p:nvSpPr>
        <p:spPr>
          <a:xfrm>
            <a:off x="557784" y="1051560"/>
            <a:ext cx="3776472" cy="2377440"/>
          </a:xfrm>
          <a:prstGeom prst="rect">
            <a:avLst/>
          </a:prstGeom>
          <a:noFill/>
        </p:spPr>
        <p:txBody>
          <a:bodyPr wrap="square">
            <a:spAutoFit/>
          </a:bodyPr>
          <a:lstStyle/>
          <a:p>
            <a:pPr algn="l">
              <a:spcAft>
                <a:spcPts val="500"/>
              </a:spcAft>
            </a:pPr>
            <a:r>
              <a:rPr sz="2000" b="1">
                <a:solidFill>
                  <a:srgbClr val="8E6F3E"/>
                </a:solidFill>
                <a:latin typeface="Calibri"/>
              </a:rPr>
              <a:t>SEQUENTIAL SCAN</a:t>
            </a:r>
          </a:p>
          <a:p>
            <a:pPr algn="l">
              <a:spcAft>
                <a:spcPts val="400"/>
              </a:spcAft>
            </a:pPr>
            <a:r>
              <a:rPr sz="2000" b="1">
                <a:solidFill>
                  <a:srgbClr val="5C4826"/>
                </a:solidFill>
                <a:latin typeface="Calibri"/>
              </a:rPr>
              <a:t>Read all 2,000,000 rows, test each</a:t>
            </a:r>
          </a:p>
          <a:p>
            <a:pPr algn="l">
              <a:spcAft>
                <a:spcPts val="400"/>
              </a:spcAft>
            </a:pPr>
            <a:r>
              <a:rPr sz="2000" b="0">
                <a:solidFill>
                  <a:srgbClr val="555960"/>
                </a:solidFill>
                <a:latin typeface="Calibri"/>
              </a:rPr>
              <a:t>Cost grows with the table, not with the answer</a:t>
            </a:r>
          </a:p>
          <a:p>
            <a:pPr algn="l">
              <a:spcAft>
                <a:spcPts val="400"/>
              </a:spcAft>
            </a:pPr>
            <a:r>
              <a:rPr sz="2000" b="0">
                <a:solidFill>
                  <a:srgbClr val="555960"/>
                </a:solidFill>
                <a:latin typeface="Calibri"/>
              </a:rPr>
              <a:t>~ seconds</a:t>
            </a:r>
          </a:p>
        </p:txBody>
      </p:sp>
      <p:sp>
        <p:nvSpPr>
          <p:cNvPr id="5" name="Card"/>
          <p:cNvSpPr/>
          <p:nvPr/>
        </p:nvSpPr>
        <p:spPr>
          <a:xfrm>
            <a:off x="4663440" y="960120"/>
            <a:ext cx="4069080" cy="256032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CardBody"/>
          <p:cNvSpPr txBox="1"/>
          <p:nvPr/>
        </p:nvSpPr>
        <p:spPr>
          <a:xfrm>
            <a:off x="4809744" y="1051560"/>
            <a:ext cx="3776472" cy="2377440"/>
          </a:xfrm>
          <a:prstGeom prst="rect">
            <a:avLst/>
          </a:prstGeom>
          <a:noFill/>
        </p:spPr>
        <p:txBody>
          <a:bodyPr wrap="square">
            <a:spAutoFit/>
          </a:bodyPr>
          <a:lstStyle/>
          <a:p>
            <a:pPr algn="l">
              <a:spcAft>
                <a:spcPts val="500"/>
              </a:spcAft>
            </a:pPr>
            <a:r>
              <a:rPr sz="2000" b="1">
                <a:solidFill>
                  <a:srgbClr val="8E6F3E"/>
                </a:solidFill>
                <a:latin typeface="Calibri"/>
              </a:rPr>
              <a:t>INDEX RANGE SCAN</a:t>
            </a:r>
          </a:p>
          <a:p>
            <a:pPr algn="l">
              <a:spcAft>
                <a:spcPts val="400"/>
              </a:spcAft>
            </a:pPr>
            <a:r>
              <a:rPr sz="2000" b="1">
                <a:solidFill>
                  <a:srgbClr val="5C4826"/>
                </a:solidFill>
                <a:latin typeface="Calibri"/>
              </a:rPr>
              <a:t>Index on (room_id, starts_at)</a:t>
            </a:r>
          </a:p>
          <a:p>
            <a:pPr algn="l">
              <a:spcAft>
                <a:spcPts val="400"/>
              </a:spcAft>
            </a:pPr>
            <a:r>
              <a:rPr sz="2000" b="0">
                <a:solidFill>
                  <a:srgbClr val="555960"/>
                </a:solidFill>
                <a:latin typeface="Calibri"/>
              </a:rPr>
              <a:t>Jump to this room's time window: ~12 rows touched</a:t>
            </a:r>
          </a:p>
          <a:p>
            <a:pPr algn="l">
              <a:spcAft>
                <a:spcPts val="400"/>
              </a:spcAft>
            </a:pPr>
            <a:r>
              <a:rPr sz="2000" b="0">
                <a:solidFill>
                  <a:srgbClr val="555960"/>
                </a:solidFill>
                <a:latin typeface="Calibri"/>
              </a:rPr>
              <a:t>~ milliseconds</a:t>
            </a:r>
          </a:p>
        </p:txBody>
      </p:sp>
      <p:sp>
        <p:nvSpPr>
          <p:cNvPr id="7" name="Card"/>
          <p:cNvSpPr/>
          <p:nvPr/>
        </p:nvSpPr>
        <p:spPr>
          <a:xfrm>
            <a:off x="411480" y="3749039"/>
            <a:ext cx="8321040" cy="13716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CardBody"/>
          <p:cNvSpPr txBox="1"/>
          <p:nvPr/>
        </p:nvSpPr>
        <p:spPr>
          <a:xfrm>
            <a:off x="557784" y="3822191"/>
            <a:ext cx="8046720" cy="1234440"/>
          </a:xfrm>
          <a:prstGeom prst="rect">
            <a:avLst/>
          </a:prstGeom>
          <a:noFill/>
        </p:spPr>
        <p:txBody>
          <a:bodyPr wrap="square">
            <a:spAutoFit/>
          </a:bodyPr>
          <a:lstStyle/>
          <a:p>
            <a:pPr algn="l">
              <a:spcAft>
                <a:spcPts val="300"/>
              </a:spcAft>
            </a:pPr>
            <a:r>
              <a:rPr sz="2000" b="1">
                <a:solidFill>
                  <a:srgbClr val="5C4826"/>
                </a:solidFill>
                <a:latin typeface="Calibri"/>
              </a:rPr>
              <a:t>Same query text — the index changed the plan</a:t>
            </a:r>
          </a:p>
          <a:p>
            <a:pPr algn="l">
              <a:spcAft>
                <a:spcPts val="400"/>
              </a:spcAft>
            </a:pPr>
            <a:r>
              <a:rPr sz="2000" b="0">
                <a:solidFill>
                  <a:srgbClr val="555960"/>
                </a:solidFill>
                <a:latin typeface="Calibri"/>
              </a:rPr>
              <a:t>An index is bought, not free: faster reads, paid for on every write, chosen per access pattern.</a:t>
            </a:r>
          </a:p>
        </p:txBody>
      </p:sp>
      <p:sp>
        <p:nvSpPr>
          <p:cNvPr id="9"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Indexes are design decisions, not tuning afterthoughts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The N+1 problem: correct code, terrible access pattern</a:t>
            </a:r>
          </a:p>
        </p:txBody>
      </p:sp>
      <p:sp>
        <p:nvSpPr>
          <p:cNvPr id="3" name="Card"/>
          <p:cNvSpPr/>
          <p:nvPr/>
        </p:nvSpPr>
        <p:spPr>
          <a:xfrm>
            <a:off x="411480" y="960120"/>
            <a:ext cx="4846320" cy="178308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ode"/>
          <p:cNvSpPr txBox="1"/>
          <p:nvPr/>
        </p:nvSpPr>
        <p:spPr>
          <a:xfrm>
            <a:off x="557784" y="1051560"/>
            <a:ext cx="4553712" cy="1600200"/>
          </a:xfrm>
          <a:prstGeom prst="rect">
            <a:avLst/>
          </a:prstGeom>
          <a:noFill/>
        </p:spPr>
        <p:txBody>
          <a:bodyPr wrap="square">
            <a:spAutoFit/>
          </a:bodyPr>
          <a:lstStyle/>
          <a:p>
            <a:pPr algn="l">
              <a:spcAft>
                <a:spcPts val="200"/>
              </a:spcAft>
            </a:pPr>
            <a:r>
              <a:rPr sz="2000" b="0">
                <a:solidFill>
                  <a:srgbClr val="2D2D2D"/>
                </a:solidFill>
                <a:latin typeface="Consolas"/>
              </a:rPr>
              <a:t>for r in reservations:</a:t>
            </a:r>
          </a:p>
          <a:p>
            <a:pPr algn="l">
              <a:spcAft>
                <a:spcPts val="200"/>
              </a:spcAft>
            </a:pPr>
            <a:r>
              <a:rPr sz="2000" b="0">
                <a:solidFill>
                  <a:srgbClr val="2D2D2D"/>
                </a:solidFill>
                <a:latin typeface="Consolas"/>
              </a:rPr>
              <a:t>    print(r.room.name)</a:t>
            </a:r>
          </a:p>
          <a:p>
            <a:pPr algn="l">
              <a:spcAft>
                <a:spcPts val="200"/>
              </a:spcAft>
            </a:pPr>
            <a:r>
              <a:rPr sz="2000" b="0">
                <a:solidFill>
                  <a:srgbClr val="2D2D2D"/>
                </a:solidFill>
                <a:latin typeface="Consolas"/>
              </a:rPr>
              <a:t># 200 rows -&gt; 201 queries</a:t>
            </a:r>
          </a:p>
        </p:txBody>
      </p:sp>
      <p:sp>
        <p:nvSpPr>
          <p:cNvPr id="5" name="Card"/>
          <p:cNvSpPr/>
          <p:nvPr/>
        </p:nvSpPr>
        <p:spPr>
          <a:xfrm>
            <a:off x="5440680" y="960120"/>
            <a:ext cx="3291840" cy="17830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CardBody"/>
          <p:cNvSpPr txBox="1"/>
          <p:nvPr/>
        </p:nvSpPr>
        <p:spPr>
          <a:xfrm>
            <a:off x="5586984" y="1051560"/>
            <a:ext cx="2999232" cy="1600200"/>
          </a:xfrm>
          <a:prstGeom prst="rect">
            <a:avLst/>
          </a:prstGeom>
          <a:noFill/>
        </p:spPr>
        <p:txBody>
          <a:bodyPr wrap="square">
            <a:spAutoFit/>
          </a:bodyPr>
          <a:lstStyle/>
          <a:p>
            <a:pPr algn="l">
              <a:spcAft>
                <a:spcPts val="400"/>
              </a:spcAft>
            </a:pPr>
            <a:r>
              <a:rPr sz="2000" b="1">
                <a:solidFill>
                  <a:srgbClr val="5C4826"/>
                </a:solidFill>
                <a:latin typeface="Calibri"/>
              </a:rPr>
              <a:t>Batched instead</a:t>
            </a:r>
          </a:p>
          <a:p>
            <a:pPr algn="l">
              <a:spcAft>
                <a:spcPts val="400"/>
              </a:spcAft>
            </a:pPr>
            <a:r>
              <a:rPr sz="2000" b="0">
                <a:solidFill>
                  <a:srgbClr val="555960"/>
                </a:solidFill>
                <a:latin typeface="Calibri"/>
              </a:rPr>
              <a:t>One JOIN (or prefetch) → one round trip</a:t>
            </a:r>
          </a:p>
        </p:txBody>
      </p:sp>
      <p:sp>
        <p:nvSpPr>
          <p:cNvPr id="7" name="Card"/>
          <p:cNvSpPr/>
          <p:nvPr/>
        </p:nvSpPr>
        <p:spPr>
          <a:xfrm>
            <a:off x="411480" y="2971800"/>
            <a:ext cx="8321040" cy="15544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CardBody"/>
          <p:cNvSpPr txBox="1"/>
          <p:nvPr/>
        </p:nvSpPr>
        <p:spPr>
          <a:xfrm>
            <a:off x="557784" y="3044952"/>
            <a:ext cx="8046720" cy="1417320"/>
          </a:xfrm>
          <a:prstGeom prst="rect">
            <a:avLst/>
          </a:prstGeom>
          <a:noFill/>
        </p:spPr>
        <p:txBody>
          <a:bodyPr wrap="square">
            <a:spAutoFit/>
          </a:bodyPr>
          <a:lstStyle/>
          <a:p>
            <a:pPr algn="l">
              <a:spcAft>
                <a:spcPts val="300"/>
              </a:spcAft>
            </a:pPr>
            <a:r>
              <a:rPr sz="2000" b="1">
                <a:solidFill>
                  <a:srgbClr val="8E6F3E"/>
                </a:solidFill>
                <a:latin typeface="Calibri"/>
              </a:rPr>
              <a:t>WHY THIS BITES IN 2026</a:t>
            </a:r>
          </a:p>
          <a:p>
            <a:pPr algn="l">
              <a:spcAft>
                <a:spcPts val="300"/>
              </a:spcAft>
            </a:pPr>
            <a:r>
              <a:rPr sz="2000" b="0">
                <a:solidFill>
                  <a:srgbClr val="555960"/>
                </a:solidFill>
                <a:latin typeface="Calibri"/>
              </a:rPr>
              <a:t>ORM-generated and agent-generated code is typically functionally correct and access-pattern naive.</a:t>
            </a:r>
          </a:p>
          <a:p>
            <a:pPr algn="l">
              <a:spcAft>
                <a:spcPts val="400"/>
              </a:spcAft>
            </a:pPr>
            <a:r>
              <a:rPr sz="2000" b="1">
                <a:solidFill>
                  <a:srgbClr val="5C4826"/>
                </a:solidFill>
                <a:latin typeface="Calibri"/>
              </a:rPr>
              <a:t>Review the queries the code EMITS, not just the code.</a:t>
            </a:r>
          </a:p>
        </p:txBody>
      </p:sp>
      <p:sp>
        <p:nvSpPr>
          <p:cNvPr id="9"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Tests for correctness will not catch an access-pattern defect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Double-booking: two correct requests, one broken invariant</a:t>
            </a:r>
          </a:p>
        </p:txBody>
      </p:sp>
      <p:sp>
        <p:nvSpPr>
          <p:cNvPr id="3" name="Block"/>
          <p:cNvSpPr/>
          <p:nvPr/>
        </p:nvSpPr>
        <p:spPr>
          <a:xfrm>
            <a:off x="411480" y="868680"/>
            <a:ext cx="406908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2000" b="1">
                <a:solidFill>
                  <a:srgbClr val="FFFFFF"/>
                </a:solidFill>
                <a:latin typeface="Calibri"/>
              </a:rPr>
              <a:t>REQUEST A — 117, 10:00–11:00</a:t>
            </a:r>
          </a:p>
        </p:txBody>
      </p:sp>
      <p:sp>
        <p:nvSpPr>
          <p:cNvPr id="4" name="Block"/>
          <p:cNvSpPr/>
          <p:nvPr/>
        </p:nvSpPr>
        <p:spPr>
          <a:xfrm>
            <a:off x="4663440" y="868680"/>
            <a:ext cx="406908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2000" b="1">
                <a:solidFill>
                  <a:srgbClr val="FFFFFF"/>
                </a:solidFill>
                <a:latin typeface="Calibri"/>
              </a:rPr>
              <a:t>REQUEST B — 117, 10:30–11:30</a:t>
            </a:r>
          </a:p>
        </p:txBody>
      </p:sp>
      <p:sp>
        <p:nvSpPr>
          <p:cNvPr id="5" name="Block"/>
          <p:cNvSpPr/>
          <p:nvPr/>
        </p:nvSpPr>
        <p:spPr>
          <a:xfrm>
            <a:off x="411480" y="1645920"/>
            <a:ext cx="4069080" cy="6400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0"/>
              </a:spcAft>
            </a:pPr>
            <a:r>
              <a:rPr sz="2000" b="1">
                <a:solidFill>
                  <a:srgbClr val="5C4826"/>
                </a:solidFill>
                <a:latin typeface="Calibri"/>
              </a:rPr>
              <a:t>t1 · check 10:00–11:00 → no conflict</a:t>
            </a:r>
          </a:p>
        </p:txBody>
      </p:sp>
      <p:sp>
        <p:nvSpPr>
          <p:cNvPr id="6" name="Block"/>
          <p:cNvSpPr/>
          <p:nvPr/>
        </p:nvSpPr>
        <p:spPr>
          <a:xfrm>
            <a:off x="4663440" y="2377440"/>
            <a:ext cx="4069080" cy="6400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0"/>
              </a:spcAft>
            </a:pPr>
            <a:r>
              <a:rPr sz="2000" b="1">
                <a:solidFill>
                  <a:srgbClr val="5C4826"/>
                </a:solidFill>
                <a:latin typeface="Calibri"/>
              </a:rPr>
              <a:t>t2 · check 10:30–11:30 → no conflict</a:t>
            </a:r>
          </a:p>
        </p:txBody>
      </p:sp>
      <p:sp>
        <p:nvSpPr>
          <p:cNvPr id="7" name="Block"/>
          <p:cNvSpPr/>
          <p:nvPr/>
        </p:nvSpPr>
        <p:spPr>
          <a:xfrm>
            <a:off x="411480" y="3108960"/>
            <a:ext cx="4069080" cy="6400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00"/>
              </a:spcAft>
            </a:pPr>
            <a:r>
              <a:rPr sz="2000" b="1">
                <a:solidFill>
                  <a:srgbClr val="5C4826"/>
                </a:solidFill>
                <a:latin typeface="Calibri"/>
              </a:rPr>
              <a:t>t3 · INSERT CONFIRMED ✓</a:t>
            </a:r>
          </a:p>
        </p:txBody>
      </p:sp>
      <p:sp>
        <p:nvSpPr>
          <p:cNvPr id="8" name="Block"/>
          <p:cNvSpPr/>
          <p:nvPr/>
        </p:nvSpPr>
        <p:spPr>
          <a:xfrm>
            <a:off x="4663440" y="3840480"/>
            <a:ext cx="4069080" cy="6400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00"/>
              </a:spcAft>
            </a:pPr>
            <a:r>
              <a:rPr sz="2000" b="1">
                <a:solidFill>
                  <a:srgbClr val="5C4826"/>
                </a:solidFill>
                <a:latin typeface="Calibri"/>
              </a:rPr>
              <a:t>t4 · INSERT CONFIRMED ✓</a:t>
            </a:r>
          </a:p>
        </p:txBody>
      </p:sp>
      <p:sp>
        <p:nvSpPr>
          <p:cNvPr id="9" name="Card"/>
          <p:cNvSpPr/>
          <p:nvPr/>
        </p:nvSpPr>
        <p:spPr>
          <a:xfrm>
            <a:off x="411480" y="4617720"/>
            <a:ext cx="8321040" cy="11887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Verdict"/>
          <p:cNvSpPr txBox="1"/>
          <p:nvPr/>
        </p:nvSpPr>
        <p:spPr>
          <a:xfrm>
            <a:off x="557784" y="4672584"/>
            <a:ext cx="8046720" cy="1078992"/>
          </a:xfrm>
          <a:prstGeom prst="rect">
            <a:avLst/>
          </a:prstGeom>
          <a:noFill/>
        </p:spPr>
        <p:txBody>
          <a:bodyPr wrap="square">
            <a:spAutoFit/>
          </a:bodyPr>
          <a:lstStyle/>
          <a:p>
            <a:pPr algn="l">
              <a:spcAft>
                <a:spcPts val="200"/>
              </a:spcAft>
            </a:pPr>
            <a:r>
              <a:rPr sz="2000" b="1">
                <a:solidFill>
                  <a:srgbClr val="C01B1B"/>
                </a:solidFill>
                <a:latin typeface="Calibri"/>
              </a:rPr>
              <a:t>Both commits succeed. Room 117 is double-booked.</a:t>
            </a:r>
          </a:p>
          <a:p>
            <a:pPr algn="l">
              <a:spcAft>
                <a:spcPts val="400"/>
              </a:spcAft>
            </a:pPr>
            <a:r>
              <a:rPr sz="2000" b="0">
                <a:solidFill>
                  <a:srgbClr val="555960"/>
                </a:solidFill>
                <a:latin typeface="Calibri"/>
              </a:rPr>
              <a:t>No statement failed, no constraint fired — and each request, read alone, follows the intended algorithm exactly.</a:t>
            </a:r>
          </a:p>
        </p:txBody>
      </p:sp>
      <p:sp>
        <p:nvSpPr>
          <p:cNvPr id="11"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Locally correct code cannot alone preserve a global invariant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ACID: what the database actually promises</a:t>
            </a:r>
          </a:p>
        </p:txBody>
      </p:sp>
      <p:sp>
        <p:nvSpPr>
          <p:cNvPr id="3" name="Card"/>
          <p:cNvSpPr/>
          <p:nvPr/>
        </p:nvSpPr>
        <p:spPr>
          <a:xfrm>
            <a:off x="411480" y="914400"/>
            <a:ext cx="8321040" cy="713232"/>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wLabel"/>
          <p:cNvSpPr txBox="1"/>
          <p:nvPr/>
        </p:nvSpPr>
        <p:spPr>
          <a:xfrm>
            <a:off x="557784" y="950976"/>
            <a:ext cx="2103120" cy="640080"/>
          </a:xfrm>
          <a:prstGeom prst="rect">
            <a:avLst/>
          </a:prstGeom>
          <a:noFill/>
        </p:spPr>
        <p:txBody>
          <a:bodyPr wrap="square" anchor="ctr">
            <a:spAutoFit/>
          </a:bodyPr>
          <a:lstStyle/>
          <a:p>
            <a:pPr algn="l">
              <a:spcAft>
                <a:spcPts val="400"/>
              </a:spcAft>
            </a:pPr>
            <a:r>
              <a:rPr sz="2000" b="1">
                <a:solidFill>
                  <a:srgbClr val="8E6F3E"/>
                </a:solidFill>
                <a:latin typeface="Calibri"/>
              </a:rPr>
              <a:t>Atomicity</a:t>
            </a:r>
          </a:p>
        </p:txBody>
      </p:sp>
      <p:sp>
        <p:nvSpPr>
          <p:cNvPr id="5" name="RowBody"/>
          <p:cNvSpPr txBox="1"/>
          <p:nvPr/>
        </p:nvSpPr>
        <p:spPr>
          <a:xfrm>
            <a:off x="2752344" y="950976"/>
            <a:ext cx="5833872" cy="640080"/>
          </a:xfrm>
          <a:prstGeom prst="rect">
            <a:avLst/>
          </a:prstGeom>
          <a:noFill/>
        </p:spPr>
        <p:txBody>
          <a:bodyPr wrap="square" anchor="ctr">
            <a:spAutoFit/>
          </a:bodyPr>
          <a:lstStyle/>
          <a:p>
            <a:pPr algn="l">
              <a:spcAft>
                <a:spcPts val="400"/>
              </a:spcAft>
            </a:pPr>
            <a:r>
              <a:rPr sz="2000" b="0">
                <a:solidFill>
                  <a:srgbClr val="5C4826"/>
                </a:solidFill>
                <a:latin typeface="Calibri"/>
              </a:rPr>
              <a:t>All of a transaction's writes commit, or none do</a:t>
            </a:r>
          </a:p>
        </p:txBody>
      </p:sp>
      <p:sp>
        <p:nvSpPr>
          <p:cNvPr id="6" name="Card"/>
          <p:cNvSpPr/>
          <p:nvPr/>
        </p:nvSpPr>
        <p:spPr>
          <a:xfrm>
            <a:off x="411480" y="1719072"/>
            <a:ext cx="8321040" cy="713232"/>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wLabel"/>
          <p:cNvSpPr txBox="1"/>
          <p:nvPr/>
        </p:nvSpPr>
        <p:spPr>
          <a:xfrm>
            <a:off x="557784" y="1755648"/>
            <a:ext cx="2103120" cy="640080"/>
          </a:xfrm>
          <a:prstGeom prst="rect">
            <a:avLst/>
          </a:prstGeom>
          <a:noFill/>
        </p:spPr>
        <p:txBody>
          <a:bodyPr wrap="square" anchor="ctr">
            <a:spAutoFit/>
          </a:bodyPr>
          <a:lstStyle/>
          <a:p>
            <a:pPr algn="l">
              <a:spcAft>
                <a:spcPts val="400"/>
              </a:spcAft>
            </a:pPr>
            <a:r>
              <a:rPr sz="2000" b="1">
                <a:solidFill>
                  <a:srgbClr val="8E6F3E"/>
                </a:solidFill>
                <a:latin typeface="Calibri"/>
              </a:rPr>
              <a:t>Consistency</a:t>
            </a:r>
          </a:p>
        </p:txBody>
      </p:sp>
      <p:sp>
        <p:nvSpPr>
          <p:cNvPr id="8" name="RowBody"/>
          <p:cNvSpPr txBox="1"/>
          <p:nvPr/>
        </p:nvSpPr>
        <p:spPr>
          <a:xfrm>
            <a:off x="2752344" y="1755648"/>
            <a:ext cx="5833872" cy="640080"/>
          </a:xfrm>
          <a:prstGeom prst="rect">
            <a:avLst/>
          </a:prstGeom>
          <a:noFill/>
        </p:spPr>
        <p:txBody>
          <a:bodyPr wrap="square" anchor="ctr">
            <a:spAutoFit/>
          </a:bodyPr>
          <a:lstStyle/>
          <a:p>
            <a:pPr algn="l">
              <a:spcAft>
                <a:spcPts val="400"/>
              </a:spcAft>
            </a:pPr>
            <a:r>
              <a:rPr sz="2000" b="0">
                <a:solidFill>
                  <a:srgbClr val="5C4826"/>
                </a:solidFill>
                <a:latin typeface="Calibri"/>
              </a:rPr>
              <a:t>Declared constraints hold at commit — the ones YOU declared</a:t>
            </a:r>
          </a:p>
        </p:txBody>
      </p:sp>
      <p:sp>
        <p:nvSpPr>
          <p:cNvPr id="9" name="Card"/>
          <p:cNvSpPr/>
          <p:nvPr/>
        </p:nvSpPr>
        <p:spPr>
          <a:xfrm>
            <a:off x="411480" y="2523744"/>
            <a:ext cx="8321040" cy="713232"/>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wLabel"/>
          <p:cNvSpPr txBox="1"/>
          <p:nvPr/>
        </p:nvSpPr>
        <p:spPr>
          <a:xfrm>
            <a:off x="557784" y="2560320"/>
            <a:ext cx="2103120" cy="640080"/>
          </a:xfrm>
          <a:prstGeom prst="rect">
            <a:avLst/>
          </a:prstGeom>
          <a:noFill/>
        </p:spPr>
        <p:txBody>
          <a:bodyPr wrap="square" anchor="ctr">
            <a:spAutoFit/>
          </a:bodyPr>
          <a:lstStyle/>
          <a:p>
            <a:pPr algn="l">
              <a:spcAft>
                <a:spcPts val="400"/>
              </a:spcAft>
            </a:pPr>
            <a:r>
              <a:rPr sz="2000" b="1">
                <a:solidFill>
                  <a:srgbClr val="8E6F3E"/>
                </a:solidFill>
                <a:latin typeface="Calibri"/>
              </a:rPr>
              <a:t>Isolation</a:t>
            </a:r>
          </a:p>
        </p:txBody>
      </p:sp>
      <p:sp>
        <p:nvSpPr>
          <p:cNvPr id="11" name="RowBody"/>
          <p:cNvSpPr txBox="1"/>
          <p:nvPr/>
        </p:nvSpPr>
        <p:spPr>
          <a:xfrm>
            <a:off x="2752344" y="2560320"/>
            <a:ext cx="5833872" cy="640080"/>
          </a:xfrm>
          <a:prstGeom prst="rect">
            <a:avLst/>
          </a:prstGeom>
          <a:noFill/>
        </p:spPr>
        <p:txBody>
          <a:bodyPr wrap="square" anchor="ctr">
            <a:spAutoFit/>
          </a:bodyPr>
          <a:lstStyle/>
          <a:p>
            <a:pPr algn="l">
              <a:spcAft>
                <a:spcPts val="400"/>
              </a:spcAft>
            </a:pPr>
            <a:r>
              <a:rPr sz="2000" b="0">
                <a:solidFill>
                  <a:srgbClr val="5C4826"/>
                </a:solidFill>
                <a:latin typeface="Calibri"/>
              </a:rPr>
              <a:t>Concurrent transactions interact only in permitted ways</a:t>
            </a:r>
          </a:p>
        </p:txBody>
      </p:sp>
      <p:sp>
        <p:nvSpPr>
          <p:cNvPr id="12" name="Card"/>
          <p:cNvSpPr/>
          <p:nvPr/>
        </p:nvSpPr>
        <p:spPr>
          <a:xfrm>
            <a:off x="411480" y="3328415"/>
            <a:ext cx="8321040" cy="713232"/>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wLabel"/>
          <p:cNvSpPr txBox="1"/>
          <p:nvPr/>
        </p:nvSpPr>
        <p:spPr>
          <a:xfrm>
            <a:off x="557784" y="3364991"/>
            <a:ext cx="2103120" cy="640080"/>
          </a:xfrm>
          <a:prstGeom prst="rect">
            <a:avLst/>
          </a:prstGeom>
          <a:noFill/>
        </p:spPr>
        <p:txBody>
          <a:bodyPr wrap="square" anchor="ctr">
            <a:spAutoFit/>
          </a:bodyPr>
          <a:lstStyle/>
          <a:p>
            <a:pPr algn="l">
              <a:spcAft>
                <a:spcPts val="400"/>
              </a:spcAft>
            </a:pPr>
            <a:r>
              <a:rPr sz="2000" b="1">
                <a:solidFill>
                  <a:srgbClr val="8E6F3E"/>
                </a:solidFill>
                <a:latin typeface="Calibri"/>
              </a:rPr>
              <a:t>Durability</a:t>
            </a:r>
          </a:p>
        </p:txBody>
      </p:sp>
      <p:sp>
        <p:nvSpPr>
          <p:cNvPr id="14" name="RowBody"/>
          <p:cNvSpPr txBox="1"/>
          <p:nvPr/>
        </p:nvSpPr>
        <p:spPr>
          <a:xfrm>
            <a:off x="2752344" y="3364991"/>
            <a:ext cx="5833872" cy="640080"/>
          </a:xfrm>
          <a:prstGeom prst="rect">
            <a:avLst/>
          </a:prstGeom>
          <a:noFill/>
        </p:spPr>
        <p:txBody>
          <a:bodyPr wrap="square" anchor="ctr">
            <a:spAutoFit/>
          </a:bodyPr>
          <a:lstStyle/>
          <a:p>
            <a:pPr algn="l">
              <a:spcAft>
                <a:spcPts val="400"/>
              </a:spcAft>
            </a:pPr>
            <a:r>
              <a:rPr sz="2000" b="0">
                <a:solidFill>
                  <a:srgbClr val="5C4826"/>
                </a:solidFill>
                <a:latin typeface="Calibri"/>
              </a:rPr>
              <a:t>A committed write survives crashes</a:t>
            </a:r>
          </a:p>
        </p:txBody>
      </p:sp>
      <p:sp>
        <p:nvSpPr>
          <p:cNvPr id="15" name="Card"/>
          <p:cNvSpPr/>
          <p:nvPr/>
        </p:nvSpPr>
        <p:spPr>
          <a:xfrm>
            <a:off x="411480" y="4224528"/>
            <a:ext cx="8321040" cy="1444752"/>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NonClaim"/>
          <p:cNvSpPr txBox="1"/>
          <p:nvPr/>
        </p:nvSpPr>
        <p:spPr>
          <a:xfrm>
            <a:off x="557784" y="4297680"/>
            <a:ext cx="8046720" cy="1298448"/>
          </a:xfrm>
          <a:prstGeom prst="rect">
            <a:avLst/>
          </a:prstGeom>
          <a:noFill/>
        </p:spPr>
        <p:txBody>
          <a:bodyPr wrap="square">
            <a:spAutoFit/>
          </a:bodyPr>
          <a:lstStyle/>
          <a:p>
            <a:pPr algn="l">
              <a:spcAft>
                <a:spcPts val="300"/>
              </a:spcAft>
            </a:pPr>
            <a:r>
              <a:rPr sz="2000" b="1">
                <a:solidFill>
                  <a:srgbClr val="C01B1B"/>
                </a:solidFill>
                <a:latin typeface="Calibri"/>
              </a:rPr>
              <a:t>“C” does not mean the database understands your application</a:t>
            </a:r>
          </a:p>
          <a:p>
            <a:pPr algn="l">
              <a:spcAft>
                <a:spcPts val="400"/>
              </a:spcAft>
            </a:pPr>
            <a:r>
              <a:rPr sz="2000" b="0">
                <a:solidFill>
                  <a:srgbClr val="555960"/>
                </a:solidFill>
                <a:latin typeface="Calibri"/>
              </a:rPr>
              <a:t>It enforces the constraints you supplied. Our overlap invariant was never supplied — ACID held, and the race still landed.</a:t>
            </a:r>
          </a:p>
        </p:txBody>
      </p:sp>
      <p:sp>
        <p:nvSpPr>
          <p:cNvPr id="17"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ACID is a transaction contract, not a proof of your invariants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Isolation decides which concurrent histories can happen</a:t>
            </a:r>
          </a:p>
        </p:txBody>
      </p:sp>
      <p:sp>
        <p:nvSpPr>
          <p:cNvPr id="3" name="Block"/>
          <p:cNvSpPr/>
          <p:nvPr/>
        </p:nvSpPr>
        <p:spPr>
          <a:xfrm>
            <a:off x="411480" y="1005840"/>
            <a:ext cx="8321040" cy="82296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555960"/>
                </a:solidFill>
                <a:latin typeface="Calibri"/>
              </a:rPr>
              <a:t>All interleavings of concurrent transactions</a:t>
            </a:r>
          </a:p>
        </p:txBody>
      </p:sp>
      <p:sp>
        <p:nvSpPr>
          <p:cNvPr id="4" name="Block"/>
          <p:cNvSpPr/>
          <p:nvPr/>
        </p:nvSpPr>
        <p:spPr>
          <a:xfrm>
            <a:off x="1463040" y="2057400"/>
            <a:ext cx="6217920" cy="82296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5C4826"/>
                </a:solidFill>
                <a:latin typeface="Calibri"/>
              </a:rPr>
              <a:t>Histories your isolation level permits</a:t>
            </a:r>
          </a:p>
        </p:txBody>
      </p:sp>
      <p:sp>
        <p:nvSpPr>
          <p:cNvPr id="5" name="Block"/>
          <p:cNvSpPr/>
          <p:nvPr/>
        </p:nvSpPr>
        <p:spPr>
          <a:xfrm>
            <a:off x="2514600" y="3108960"/>
            <a:ext cx="4114800" cy="8686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SERIALIZABLE — equivalent to some one-at-a-time order</a:t>
            </a:r>
          </a:p>
        </p:txBody>
      </p:sp>
      <p:sp>
        <p:nvSpPr>
          <p:cNvPr id="6" name="Card"/>
          <p:cNvSpPr/>
          <p:nvPr/>
        </p:nvSpPr>
        <p:spPr>
          <a:xfrm>
            <a:off x="411480" y="4251960"/>
            <a:ext cx="8321040" cy="14173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CardBody"/>
          <p:cNvSpPr txBox="1"/>
          <p:nvPr/>
        </p:nvSpPr>
        <p:spPr>
          <a:xfrm>
            <a:off x="557784" y="4325112"/>
            <a:ext cx="8046720" cy="1280160"/>
          </a:xfrm>
          <a:prstGeom prst="rect">
            <a:avLst/>
          </a:prstGeom>
          <a:noFill/>
        </p:spPr>
        <p:txBody>
          <a:bodyPr wrap="square">
            <a:spAutoFit/>
          </a:bodyPr>
          <a:lstStyle/>
          <a:p>
            <a:pPr algn="l">
              <a:spcAft>
                <a:spcPts val="300"/>
              </a:spcAft>
            </a:pPr>
            <a:r>
              <a:rPr sz="2000" b="1">
                <a:solidFill>
                  <a:srgbClr val="5C4826"/>
                </a:solidFill>
                <a:latin typeface="Calibri"/>
              </a:rPr>
              <a:t>Act II's move again: correctness = every permitted history preserves the invariant</a:t>
            </a:r>
          </a:p>
          <a:p>
            <a:pPr algn="l">
              <a:spcAft>
                <a:spcPts val="400"/>
              </a:spcAft>
            </a:pPr>
            <a:r>
              <a:rPr sz="2000" b="0">
                <a:solidFill>
                  <a:srgbClr val="555960"/>
                </a:solidFill>
                <a:latin typeface="Calibri"/>
              </a:rPr>
              <a:t>Under serializability our race cannot happen: one request must appear to run second — and then its check sees the other's row.</a:t>
            </a:r>
          </a:p>
        </p:txBody>
      </p:sp>
      <p:sp>
        <p:nvSpPr>
          <p:cNvPr id="8"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Serializability is a correctness criterion, not a feature flag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Isolation levels are an engineering choice</a:t>
            </a:r>
          </a:p>
        </p:txBody>
      </p:sp>
      <p:sp>
        <p:nvSpPr>
          <p:cNvPr id="3" name="Card"/>
          <p:cNvSpPr/>
          <p:nvPr/>
        </p:nvSpPr>
        <p:spPr>
          <a:xfrm>
            <a:off x="411480" y="960120"/>
            <a:ext cx="8321040" cy="1115568"/>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wLabel"/>
          <p:cNvSpPr txBox="1"/>
          <p:nvPr/>
        </p:nvSpPr>
        <p:spPr>
          <a:xfrm>
            <a:off x="557784" y="1014984"/>
            <a:ext cx="3017520" cy="1005840"/>
          </a:xfrm>
          <a:prstGeom prst="rect">
            <a:avLst/>
          </a:prstGeom>
          <a:noFill/>
        </p:spPr>
        <p:txBody>
          <a:bodyPr wrap="square" anchor="ctr">
            <a:spAutoFit/>
          </a:bodyPr>
          <a:lstStyle/>
          <a:p>
            <a:pPr algn="l">
              <a:spcAft>
                <a:spcPts val="400"/>
              </a:spcAft>
            </a:pPr>
            <a:r>
              <a:rPr sz="2000" b="1">
                <a:solidFill>
                  <a:srgbClr val="8E6F3E"/>
                </a:solidFill>
                <a:latin typeface="Calibri"/>
              </a:rPr>
              <a:t>READ COMMITTED</a:t>
            </a:r>
          </a:p>
        </p:txBody>
      </p:sp>
      <p:sp>
        <p:nvSpPr>
          <p:cNvPr id="5" name="RowBody"/>
          <p:cNvSpPr txBox="1"/>
          <p:nvPr/>
        </p:nvSpPr>
        <p:spPr>
          <a:xfrm>
            <a:off x="3703320" y="1014984"/>
            <a:ext cx="4892040" cy="1005840"/>
          </a:xfrm>
          <a:prstGeom prst="rect">
            <a:avLst/>
          </a:prstGeom>
          <a:noFill/>
        </p:spPr>
        <p:txBody>
          <a:bodyPr wrap="square">
            <a:spAutoFit/>
          </a:bodyPr>
          <a:lstStyle/>
          <a:p>
            <a:pPr algn="l">
              <a:spcAft>
                <a:spcPts val="200"/>
              </a:spcAft>
            </a:pPr>
            <a:r>
              <a:rPr sz="2000" b="1">
                <a:solidFill>
                  <a:srgbClr val="C01B1B"/>
                </a:solidFill>
                <a:latin typeface="Calibri"/>
              </a:rPr>
              <a:t>Our race is permitted</a:t>
            </a:r>
          </a:p>
          <a:p>
            <a:pPr algn="l">
              <a:spcAft>
                <a:spcPts val="400"/>
              </a:spcAft>
            </a:pPr>
            <a:r>
              <a:rPr sz="2000" b="0">
                <a:solidFill>
                  <a:srgbClr val="555960"/>
                </a:solidFill>
                <a:latin typeface="Calibri"/>
              </a:rPr>
              <a:t>A common default: no dirty reads, but checks still interleave</a:t>
            </a:r>
          </a:p>
        </p:txBody>
      </p:sp>
      <p:sp>
        <p:nvSpPr>
          <p:cNvPr id="6" name="Card"/>
          <p:cNvSpPr/>
          <p:nvPr/>
        </p:nvSpPr>
        <p:spPr>
          <a:xfrm>
            <a:off x="411480" y="2212848"/>
            <a:ext cx="8321040" cy="1115568"/>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wLabel"/>
          <p:cNvSpPr txBox="1"/>
          <p:nvPr/>
        </p:nvSpPr>
        <p:spPr>
          <a:xfrm>
            <a:off x="557784" y="2267712"/>
            <a:ext cx="3017520" cy="1005840"/>
          </a:xfrm>
          <a:prstGeom prst="rect">
            <a:avLst/>
          </a:prstGeom>
          <a:noFill/>
        </p:spPr>
        <p:txBody>
          <a:bodyPr wrap="square" anchor="ctr">
            <a:spAutoFit/>
          </a:bodyPr>
          <a:lstStyle/>
          <a:p>
            <a:pPr algn="l">
              <a:spcAft>
                <a:spcPts val="400"/>
              </a:spcAft>
            </a:pPr>
            <a:r>
              <a:rPr sz="2000" b="1">
                <a:solidFill>
                  <a:srgbClr val="8E6F3E"/>
                </a:solidFill>
                <a:latin typeface="Calibri"/>
              </a:rPr>
              <a:t>SNAPSHOT / REPEATABLE READ</a:t>
            </a:r>
          </a:p>
        </p:txBody>
      </p:sp>
      <p:sp>
        <p:nvSpPr>
          <p:cNvPr id="8" name="RowBody"/>
          <p:cNvSpPr txBox="1"/>
          <p:nvPr/>
        </p:nvSpPr>
        <p:spPr>
          <a:xfrm>
            <a:off x="3703320" y="2267712"/>
            <a:ext cx="4892040" cy="1005840"/>
          </a:xfrm>
          <a:prstGeom prst="rect">
            <a:avLst/>
          </a:prstGeom>
          <a:noFill/>
        </p:spPr>
        <p:txBody>
          <a:bodyPr wrap="square">
            <a:spAutoFit/>
          </a:bodyPr>
          <a:lstStyle/>
          <a:p>
            <a:pPr algn="l">
              <a:spcAft>
                <a:spcPts val="200"/>
              </a:spcAft>
            </a:pPr>
            <a:r>
              <a:rPr sz="2000" b="1">
                <a:solidFill>
                  <a:srgbClr val="C01B1B"/>
                </a:solidFill>
                <a:latin typeface="Calibri"/>
              </a:rPr>
              <a:t>Our race is STILL permitted</a:t>
            </a:r>
          </a:p>
          <a:p>
            <a:pPr algn="l">
              <a:spcAft>
                <a:spcPts val="400"/>
              </a:spcAft>
            </a:pPr>
            <a:r>
              <a:rPr sz="2000" b="0">
                <a:solidFill>
                  <a:srgbClr val="555960"/>
                </a:solidFill>
                <a:latin typeface="Calibri"/>
              </a:rPr>
              <a:t>Each reads a frozen view; both check, neither sees the other (write skew)</a:t>
            </a:r>
          </a:p>
        </p:txBody>
      </p:sp>
      <p:sp>
        <p:nvSpPr>
          <p:cNvPr id="9" name="Card"/>
          <p:cNvSpPr/>
          <p:nvPr/>
        </p:nvSpPr>
        <p:spPr>
          <a:xfrm>
            <a:off x="411480" y="3465576"/>
            <a:ext cx="8321040" cy="1115568"/>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wLabel"/>
          <p:cNvSpPr txBox="1"/>
          <p:nvPr/>
        </p:nvSpPr>
        <p:spPr>
          <a:xfrm>
            <a:off x="557784" y="3520440"/>
            <a:ext cx="3017520" cy="1005840"/>
          </a:xfrm>
          <a:prstGeom prst="rect">
            <a:avLst/>
          </a:prstGeom>
          <a:noFill/>
        </p:spPr>
        <p:txBody>
          <a:bodyPr wrap="square" anchor="ctr">
            <a:spAutoFit/>
          </a:bodyPr>
          <a:lstStyle/>
          <a:p>
            <a:pPr algn="l">
              <a:spcAft>
                <a:spcPts val="400"/>
              </a:spcAft>
            </a:pPr>
            <a:r>
              <a:rPr sz="2000" b="1">
                <a:solidFill>
                  <a:srgbClr val="8E6F3E"/>
                </a:solidFill>
                <a:latin typeface="Calibri"/>
              </a:rPr>
              <a:t>SERIALIZABLE</a:t>
            </a:r>
          </a:p>
        </p:txBody>
      </p:sp>
      <p:sp>
        <p:nvSpPr>
          <p:cNvPr id="11" name="RowBody"/>
          <p:cNvSpPr txBox="1"/>
          <p:nvPr/>
        </p:nvSpPr>
        <p:spPr>
          <a:xfrm>
            <a:off x="3703320" y="3520440"/>
            <a:ext cx="4892040" cy="1005840"/>
          </a:xfrm>
          <a:prstGeom prst="rect">
            <a:avLst/>
          </a:prstGeom>
          <a:noFill/>
        </p:spPr>
        <p:txBody>
          <a:bodyPr wrap="square">
            <a:spAutoFit/>
          </a:bodyPr>
          <a:lstStyle/>
          <a:p>
            <a:pPr algn="l">
              <a:spcAft>
                <a:spcPts val="200"/>
              </a:spcAft>
            </a:pPr>
            <a:r>
              <a:rPr sz="2000" b="1">
                <a:solidFill>
                  <a:srgbClr val="5C4826"/>
                </a:solidFill>
                <a:latin typeface="Calibri"/>
              </a:rPr>
              <a:t>Race excluded — one transaction aborts</a:t>
            </a:r>
          </a:p>
          <a:p>
            <a:pPr algn="l">
              <a:spcAft>
                <a:spcPts val="400"/>
              </a:spcAft>
            </a:pPr>
            <a:r>
              <a:rPr sz="2000" b="0">
                <a:solidFill>
                  <a:srgbClr val="555960"/>
                </a:solidFill>
                <a:latin typeface="Calibri"/>
              </a:rPr>
              <a:t>Your application must catch the abort and retry</a:t>
            </a:r>
          </a:p>
        </p:txBody>
      </p:sp>
      <p:sp>
        <p:nvSpPr>
          <p:cNvPr id="12" name="Card"/>
          <p:cNvSpPr/>
          <p:nvPr/>
        </p:nvSpPr>
        <p:spPr>
          <a:xfrm>
            <a:off x="411480" y="4800600"/>
            <a:ext cx="8321040" cy="86868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CardBody"/>
          <p:cNvSpPr txBox="1"/>
          <p:nvPr/>
        </p:nvSpPr>
        <p:spPr>
          <a:xfrm>
            <a:off x="557784" y="4855464"/>
            <a:ext cx="8046720" cy="768096"/>
          </a:xfrm>
          <a:prstGeom prst="rect">
            <a:avLst/>
          </a:prstGeom>
          <a:noFill/>
        </p:spPr>
        <p:txBody>
          <a:bodyPr wrap="square">
            <a:spAutoFit/>
          </a:bodyPr>
          <a:lstStyle/>
          <a:p>
            <a:pPr algn="l">
              <a:spcAft>
                <a:spcPts val="100"/>
              </a:spcAft>
            </a:pPr>
            <a:r>
              <a:rPr sz="2000" b="1">
                <a:solidFill>
                  <a:srgbClr val="5C4826"/>
                </a:solidFill>
                <a:latin typeface="Calibri"/>
              </a:rPr>
              <a:t>The default is a choice someone else made for you</a:t>
            </a:r>
          </a:p>
          <a:p>
            <a:pPr algn="l">
              <a:spcAft>
                <a:spcPts val="400"/>
              </a:spcAft>
            </a:pPr>
            <a:r>
              <a:rPr sz="2000" b="0">
                <a:solidFill>
                  <a:srgbClr val="555960"/>
                </a:solidFill>
                <a:latin typeface="Calibri"/>
              </a:rPr>
              <a:t>Know your engine's default before trusting any check-then-act.</a:t>
            </a:r>
          </a:p>
        </p:txBody>
      </p:sp>
      <p:sp>
        <p:nvSpPr>
          <p:cNvPr id="14"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Choosing an isolation level is choosing your failure modes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Three ways to actually prevent double-booking</a:t>
            </a:r>
          </a:p>
        </p:txBody>
      </p:sp>
      <p:sp>
        <p:nvSpPr>
          <p:cNvPr id="3" name="Card"/>
          <p:cNvSpPr/>
          <p:nvPr/>
        </p:nvSpPr>
        <p:spPr>
          <a:xfrm>
            <a:off x="411480" y="868680"/>
            <a:ext cx="8321040" cy="1298448"/>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wLabel"/>
          <p:cNvSpPr txBox="1"/>
          <p:nvPr/>
        </p:nvSpPr>
        <p:spPr>
          <a:xfrm>
            <a:off x="557784" y="923544"/>
            <a:ext cx="2560320" cy="1188720"/>
          </a:xfrm>
          <a:prstGeom prst="rect">
            <a:avLst/>
          </a:prstGeom>
          <a:noFill/>
        </p:spPr>
        <p:txBody>
          <a:bodyPr wrap="square" anchor="ctr">
            <a:spAutoFit/>
          </a:bodyPr>
          <a:lstStyle/>
          <a:p>
            <a:pPr algn="l">
              <a:spcAft>
                <a:spcPts val="400"/>
              </a:spcAft>
            </a:pPr>
            <a:r>
              <a:rPr sz="2000" b="1">
                <a:solidFill>
                  <a:srgbClr val="8E6F3E"/>
                </a:solidFill>
                <a:latin typeface="Calibri"/>
              </a:rPr>
              <a:t>EXCLUSION CONSTRAINT</a:t>
            </a:r>
          </a:p>
        </p:txBody>
      </p:sp>
      <p:sp>
        <p:nvSpPr>
          <p:cNvPr id="5" name="RowBody"/>
          <p:cNvSpPr txBox="1"/>
          <p:nvPr/>
        </p:nvSpPr>
        <p:spPr>
          <a:xfrm>
            <a:off x="3246120" y="923544"/>
            <a:ext cx="5349240" cy="1188720"/>
          </a:xfrm>
          <a:prstGeom prst="rect">
            <a:avLst/>
          </a:prstGeom>
          <a:noFill/>
        </p:spPr>
        <p:txBody>
          <a:bodyPr wrap="square">
            <a:spAutoFit/>
          </a:bodyPr>
          <a:lstStyle/>
          <a:p>
            <a:pPr algn="l">
              <a:spcAft>
                <a:spcPts val="200"/>
              </a:spcAft>
            </a:pPr>
            <a:r>
              <a:rPr sz="2000" b="0">
                <a:solidFill>
                  <a:srgbClr val="5C4826"/>
                </a:solidFill>
                <a:latin typeface="Calibri"/>
              </a:rPr>
              <a:t>EXCLUDE (room =, time &amp;&amp;): the SCHEMA states it; the engine rejects the insert</a:t>
            </a:r>
          </a:p>
          <a:p>
            <a:pPr algn="l">
              <a:spcAft>
                <a:spcPts val="400"/>
              </a:spcAft>
            </a:pPr>
            <a:r>
              <a:rPr sz="2000" b="0">
                <a:solidFill>
                  <a:srgbClr val="555960"/>
                </a:solidFill>
                <a:latin typeface="Calibri"/>
              </a:rPr>
              <a:t>engine-specific (e.g. Postgres GiST)</a:t>
            </a:r>
          </a:p>
        </p:txBody>
      </p:sp>
      <p:sp>
        <p:nvSpPr>
          <p:cNvPr id="6" name="Card"/>
          <p:cNvSpPr/>
          <p:nvPr/>
        </p:nvSpPr>
        <p:spPr>
          <a:xfrm>
            <a:off x="411480" y="2258568"/>
            <a:ext cx="8321040" cy="1298448"/>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wLabel"/>
          <p:cNvSpPr txBox="1"/>
          <p:nvPr/>
        </p:nvSpPr>
        <p:spPr>
          <a:xfrm>
            <a:off x="557784" y="2313432"/>
            <a:ext cx="2560320" cy="1188720"/>
          </a:xfrm>
          <a:prstGeom prst="rect">
            <a:avLst/>
          </a:prstGeom>
          <a:noFill/>
        </p:spPr>
        <p:txBody>
          <a:bodyPr wrap="square" anchor="ctr">
            <a:spAutoFit/>
          </a:bodyPr>
          <a:lstStyle/>
          <a:p>
            <a:pPr algn="l">
              <a:spcAft>
                <a:spcPts val="400"/>
              </a:spcAft>
            </a:pPr>
            <a:r>
              <a:rPr sz="2000" b="1">
                <a:solidFill>
                  <a:srgbClr val="8E6F3E"/>
                </a:solidFill>
                <a:latin typeface="Calibri"/>
              </a:rPr>
              <a:t>SERIALIZABLE + RETRY</a:t>
            </a:r>
          </a:p>
        </p:txBody>
      </p:sp>
      <p:sp>
        <p:nvSpPr>
          <p:cNvPr id="8" name="RowBody"/>
          <p:cNvSpPr txBox="1"/>
          <p:nvPr/>
        </p:nvSpPr>
        <p:spPr>
          <a:xfrm>
            <a:off x="3246120" y="2313432"/>
            <a:ext cx="5349240" cy="1188720"/>
          </a:xfrm>
          <a:prstGeom prst="rect">
            <a:avLst/>
          </a:prstGeom>
          <a:noFill/>
        </p:spPr>
        <p:txBody>
          <a:bodyPr wrap="square">
            <a:spAutoFit/>
          </a:bodyPr>
          <a:lstStyle/>
          <a:p>
            <a:pPr algn="l">
              <a:spcAft>
                <a:spcPts val="200"/>
              </a:spcAft>
            </a:pPr>
            <a:r>
              <a:rPr sz="2000" b="0">
                <a:solidFill>
                  <a:srgbClr val="5C4826"/>
                </a:solidFill>
                <a:latin typeface="Calibri"/>
              </a:rPr>
              <a:t>The ISOLATION CONTRACT excludes the bad history</a:t>
            </a:r>
          </a:p>
          <a:p>
            <a:pPr algn="l">
              <a:spcAft>
                <a:spcPts val="400"/>
              </a:spcAft>
            </a:pPr>
            <a:r>
              <a:rPr sz="2000" b="0">
                <a:solidFill>
                  <a:srgbClr val="555960"/>
                </a:solidFill>
                <a:latin typeface="Calibri"/>
              </a:rPr>
              <a:t>catch aborts and retry; contention costs throughput</a:t>
            </a:r>
          </a:p>
        </p:txBody>
      </p:sp>
      <p:sp>
        <p:nvSpPr>
          <p:cNvPr id="9" name="Card"/>
          <p:cNvSpPr/>
          <p:nvPr/>
        </p:nvSpPr>
        <p:spPr>
          <a:xfrm>
            <a:off x="411480" y="3648456"/>
            <a:ext cx="8321040" cy="1298448"/>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wLabel"/>
          <p:cNvSpPr txBox="1"/>
          <p:nvPr/>
        </p:nvSpPr>
        <p:spPr>
          <a:xfrm>
            <a:off x="557784" y="3703320"/>
            <a:ext cx="2560320" cy="1188720"/>
          </a:xfrm>
          <a:prstGeom prst="rect">
            <a:avLst/>
          </a:prstGeom>
          <a:noFill/>
        </p:spPr>
        <p:txBody>
          <a:bodyPr wrap="square" anchor="ctr">
            <a:spAutoFit/>
          </a:bodyPr>
          <a:lstStyle/>
          <a:p>
            <a:pPr algn="l">
              <a:spcAft>
                <a:spcPts val="400"/>
              </a:spcAft>
            </a:pPr>
            <a:r>
              <a:rPr sz="2000" b="1">
                <a:solidFill>
                  <a:srgbClr val="8E6F3E"/>
                </a:solidFill>
                <a:latin typeface="Calibri"/>
              </a:rPr>
              <a:t>EXPLICIT LOCKING</a:t>
            </a:r>
          </a:p>
        </p:txBody>
      </p:sp>
      <p:sp>
        <p:nvSpPr>
          <p:cNvPr id="11" name="RowBody"/>
          <p:cNvSpPr txBox="1"/>
          <p:nvPr/>
        </p:nvSpPr>
        <p:spPr>
          <a:xfrm>
            <a:off x="3246120" y="3703320"/>
            <a:ext cx="5349240" cy="1188720"/>
          </a:xfrm>
          <a:prstGeom prst="rect">
            <a:avLst/>
          </a:prstGeom>
          <a:noFill/>
        </p:spPr>
        <p:txBody>
          <a:bodyPr wrap="square">
            <a:spAutoFit/>
          </a:bodyPr>
          <a:lstStyle/>
          <a:p>
            <a:pPr algn="l">
              <a:spcAft>
                <a:spcPts val="200"/>
              </a:spcAft>
            </a:pPr>
            <a:r>
              <a:rPr sz="2000" b="0">
                <a:solidFill>
                  <a:srgbClr val="5C4826"/>
                </a:solidFill>
                <a:latin typeface="Calibri"/>
              </a:rPr>
              <a:t>SELECT … FOR UPDATE the room row first — your LOCKING DISCIPLINE, per room</a:t>
            </a:r>
          </a:p>
          <a:p>
            <a:pPr algn="l">
              <a:spcAft>
                <a:spcPts val="400"/>
              </a:spcAft>
            </a:pPr>
            <a:r>
              <a:rPr sz="2000" b="0">
                <a:solidFill>
                  <a:srgbClr val="555960"/>
                </a:solidFill>
                <a:latin typeface="Calibri"/>
              </a:rPr>
              <a:t>one code path that forgets the lock breaks it</a:t>
            </a:r>
          </a:p>
        </p:txBody>
      </p:sp>
      <p:sp>
        <p:nvSpPr>
          <p:cNvPr id="12" name="Card"/>
          <p:cNvSpPr/>
          <p:nvPr/>
        </p:nvSpPr>
        <p:spPr>
          <a:xfrm>
            <a:off x="411480" y="5047488"/>
            <a:ext cx="8321040" cy="749808"/>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NonClaim"/>
          <p:cNvSpPr txBox="1"/>
          <p:nvPr/>
        </p:nvSpPr>
        <p:spPr>
          <a:xfrm>
            <a:off x="557784" y="5084064"/>
            <a:ext cx="8046720" cy="676656"/>
          </a:xfrm>
          <a:prstGeom prst="rect">
            <a:avLst/>
          </a:prstGeom>
          <a:noFill/>
        </p:spPr>
        <p:txBody>
          <a:bodyPr wrap="square">
            <a:spAutoFit/>
          </a:bodyPr>
          <a:lstStyle/>
          <a:p>
            <a:pPr algn="l">
              <a:spcAft>
                <a:spcPts val="400"/>
              </a:spcAft>
            </a:pPr>
            <a:r>
              <a:rPr sz="2000" b="1">
                <a:solidFill>
                  <a:srgbClr val="C01B1B"/>
                </a:solidFill>
                <a:latin typeface="Calibri"/>
              </a:rPr>
              <a:t>A foreign key or CHECK cannot do this — they govern one row; overlap is a relation between rows.</a:t>
            </a:r>
          </a:p>
        </p:txBody>
      </p:sp>
      <p:sp>
        <p:nvSpPr>
          <p:cNvPr id="14"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Decide where the invariant lives: schema, isolation, or discipline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Concurrency control is not free</a:t>
            </a:r>
          </a:p>
        </p:txBody>
      </p:sp>
      <p:sp>
        <p:nvSpPr>
          <p:cNvPr id="3" name="Card"/>
          <p:cNvSpPr/>
          <p:nvPr/>
        </p:nvSpPr>
        <p:spPr>
          <a:xfrm>
            <a:off x="411480" y="960120"/>
            <a:ext cx="2651760" cy="265176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ardBody"/>
          <p:cNvSpPr txBox="1"/>
          <p:nvPr/>
        </p:nvSpPr>
        <p:spPr>
          <a:xfrm>
            <a:off x="557784" y="1051560"/>
            <a:ext cx="2359152" cy="2468880"/>
          </a:xfrm>
          <a:prstGeom prst="rect">
            <a:avLst/>
          </a:prstGeom>
          <a:noFill/>
        </p:spPr>
        <p:txBody>
          <a:bodyPr wrap="square">
            <a:spAutoFit/>
          </a:bodyPr>
          <a:lstStyle/>
          <a:p>
            <a:pPr algn="l">
              <a:spcAft>
                <a:spcPts val="500"/>
              </a:spcAft>
            </a:pPr>
            <a:r>
              <a:rPr sz="2000" b="1">
                <a:solidFill>
                  <a:srgbClr val="8E6F3E"/>
                </a:solidFill>
                <a:latin typeface="Calibri"/>
              </a:rPr>
              <a:t>CONTENTION</a:t>
            </a:r>
          </a:p>
          <a:p>
            <a:pPr algn="l">
              <a:spcAft>
                <a:spcPts val="400"/>
              </a:spcAft>
            </a:pPr>
            <a:r>
              <a:rPr sz="2000" b="0">
                <a:solidFill>
                  <a:srgbClr val="555960"/>
                </a:solidFill>
                <a:latin typeface="Calibri"/>
              </a:rPr>
              <a:t>Hot rooms serialize — the waiting IS the mechanism working</a:t>
            </a:r>
          </a:p>
        </p:txBody>
      </p:sp>
      <p:sp>
        <p:nvSpPr>
          <p:cNvPr id="5" name="Card"/>
          <p:cNvSpPr/>
          <p:nvPr/>
        </p:nvSpPr>
        <p:spPr>
          <a:xfrm>
            <a:off x="3374136" y="960120"/>
            <a:ext cx="2651760" cy="265176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CardBody"/>
          <p:cNvSpPr txBox="1"/>
          <p:nvPr/>
        </p:nvSpPr>
        <p:spPr>
          <a:xfrm>
            <a:off x="3520440" y="1051560"/>
            <a:ext cx="2359152" cy="2468880"/>
          </a:xfrm>
          <a:prstGeom prst="rect">
            <a:avLst/>
          </a:prstGeom>
          <a:noFill/>
        </p:spPr>
        <p:txBody>
          <a:bodyPr wrap="square">
            <a:spAutoFit/>
          </a:bodyPr>
          <a:lstStyle/>
          <a:p>
            <a:pPr algn="l">
              <a:spcAft>
                <a:spcPts val="500"/>
              </a:spcAft>
            </a:pPr>
            <a:r>
              <a:rPr sz="2000" b="1">
                <a:solidFill>
                  <a:srgbClr val="8E6F3E"/>
                </a:solidFill>
                <a:latin typeface="Calibri"/>
              </a:rPr>
              <a:t>RETRIES</a:t>
            </a:r>
          </a:p>
          <a:p>
            <a:pPr algn="l">
              <a:spcAft>
                <a:spcPts val="400"/>
              </a:spcAft>
            </a:pPr>
            <a:r>
              <a:rPr sz="2000" b="0">
                <a:solidFill>
                  <a:srgbClr val="555960"/>
                </a:solidFill>
                <a:latin typeface="Calibri"/>
              </a:rPr>
              <a:t>Serializable aborts are normal operation; wasted work grows with conflict rate</a:t>
            </a:r>
          </a:p>
        </p:txBody>
      </p:sp>
      <p:sp>
        <p:nvSpPr>
          <p:cNvPr id="7" name="Card"/>
          <p:cNvSpPr/>
          <p:nvPr/>
        </p:nvSpPr>
        <p:spPr>
          <a:xfrm>
            <a:off x="6336792" y="960120"/>
            <a:ext cx="2651760" cy="265176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CardBody"/>
          <p:cNvSpPr txBox="1"/>
          <p:nvPr/>
        </p:nvSpPr>
        <p:spPr>
          <a:xfrm>
            <a:off x="6483096" y="1051560"/>
            <a:ext cx="2359152" cy="2468880"/>
          </a:xfrm>
          <a:prstGeom prst="rect">
            <a:avLst/>
          </a:prstGeom>
          <a:noFill/>
        </p:spPr>
        <p:txBody>
          <a:bodyPr wrap="square">
            <a:spAutoFit/>
          </a:bodyPr>
          <a:lstStyle/>
          <a:p>
            <a:pPr algn="l">
              <a:spcAft>
                <a:spcPts val="500"/>
              </a:spcAft>
            </a:pPr>
            <a:r>
              <a:rPr sz="2000" b="1">
                <a:solidFill>
                  <a:srgbClr val="8E6F3E"/>
                </a:solidFill>
                <a:latin typeface="Calibri"/>
              </a:rPr>
              <a:t>THROUGHPUT</a:t>
            </a:r>
          </a:p>
          <a:p>
            <a:pPr algn="l">
              <a:spcAft>
                <a:spcPts val="400"/>
              </a:spcAft>
            </a:pPr>
            <a:r>
              <a:rPr sz="2000" b="0">
                <a:solidFill>
                  <a:srgbClr val="555960"/>
                </a:solidFill>
                <a:latin typeface="Calibri"/>
              </a:rPr>
              <a:t>Stronger isolation buys correctness with capacity</a:t>
            </a:r>
          </a:p>
        </p:txBody>
      </p:sp>
      <p:sp>
        <p:nvSpPr>
          <p:cNvPr id="9" name="Card"/>
          <p:cNvSpPr/>
          <p:nvPr/>
        </p:nvSpPr>
        <p:spPr>
          <a:xfrm>
            <a:off x="411480" y="3840480"/>
            <a:ext cx="8321040" cy="146304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ardBody"/>
          <p:cNvSpPr txBox="1"/>
          <p:nvPr/>
        </p:nvSpPr>
        <p:spPr>
          <a:xfrm>
            <a:off x="557784" y="3913632"/>
            <a:ext cx="8046720" cy="1325880"/>
          </a:xfrm>
          <a:prstGeom prst="rect">
            <a:avLst/>
          </a:prstGeom>
          <a:noFill/>
        </p:spPr>
        <p:txBody>
          <a:bodyPr wrap="square">
            <a:spAutoFit/>
          </a:bodyPr>
          <a:lstStyle/>
          <a:p>
            <a:pPr algn="l">
              <a:spcAft>
                <a:spcPts val="300"/>
              </a:spcAft>
            </a:pPr>
            <a:r>
              <a:rPr sz="2000" b="1">
                <a:solidFill>
                  <a:srgbClr val="5C4826"/>
                </a:solidFill>
                <a:latin typeface="Calibri"/>
              </a:rPr>
              <a:t>Pay for exactly the histories you must exclude</a:t>
            </a:r>
          </a:p>
          <a:p>
            <a:pPr algn="l">
              <a:spcAft>
                <a:spcPts val="400"/>
              </a:spcAft>
            </a:pPr>
            <a:r>
              <a:rPr sz="2000" b="0">
                <a:solidFill>
                  <a:srgbClr val="555960"/>
                </a:solidFill>
                <a:latin typeface="Calibri"/>
              </a:rPr>
              <a:t>Telemetry (slide 8) excludes none and flies; reservations exclude one class and pay for it. Measuring that price is the next unit: Performance &amp; Reliability.</a:t>
            </a:r>
          </a:p>
        </p:txBody>
      </p:sp>
      <p:sp>
        <p:nvSpPr>
          <p:cNvPr id="11"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Concurrency control is a cost you choose on purpose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Schemas evolve: the recurring-booking feature arrives</a:t>
            </a:r>
          </a:p>
        </p:txBody>
      </p:sp>
      <p:sp>
        <p:nvSpPr>
          <p:cNvPr id="3" name="Card"/>
          <p:cNvSpPr/>
          <p:nvPr/>
        </p:nvSpPr>
        <p:spPr>
          <a:xfrm>
            <a:off x="411480" y="896112"/>
            <a:ext cx="8321040" cy="13258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wLabel"/>
          <p:cNvSpPr txBox="1"/>
          <p:nvPr/>
        </p:nvSpPr>
        <p:spPr>
          <a:xfrm>
            <a:off x="557784" y="950976"/>
            <a:ext cx="2560320" cy="1216152"/>
          </a:xfrm>
          <a:prstGeom prst="rect">
            <a:avLst/>
          </a:prstGeom>
          <a:noFill/>
        </p:spPr>
        <p:txBody>
          <a:bodyPr wrap="square" anchor="ctr">
            <a:spAutoFit/>
          </a:bodyPr>
          <a:lstStyle/>
          <a:p>
            <a:pPr algn="l">
              <a:spcAft>
                <a:spcPts val="400"/>
              </a:spcAft>
            </a:pPr>
            <a:r>
              <a:rPr sz="2000" b="1">
                <a:solidFill>
                  <a:srgbClr val="8E6F3E"/>
                </a:solidFill>
                <a:latin typeface="Calibri"/>
              </a:rPr>
              <a:t>REPRESENTATION</a:t>
            </a:r>
          </a:p>
        </p:txBody>
      </p:sp>
      <p:sp>
        <p:nvSpPr>
          <p:cNvPr id="5" name="RowBody"/>
          <p:cNvSpPr txBox="1"/>
          <p:nvPr/>
        </p:nvSpPr>
        <p:spPr>
          <a:xfrm>
            <a:off x="3246120" y="950976"/>
            <a:ext cx="5349240" cy="1216152"/>
          </a:xfrm>
          <a:prstGeom prst="rect">
            <a:avLst/>
          </a:prstGeom>
          <a:noFill/>
        </p:spPr>
        <p:txBody>
          <a:bodyPr wrap="square">
            <a:spAutoFit/>
          </a:bodyPr>
          <a:lstStyle/>
          <a:p>
            <a:pPr algn="l">
              <a:spcAft>
                <a:spcPts val="200"/>
              </a:spcAft>
            </a:pPr>
            <a:r>
              <a:rPr sz="2000" b="1">
                <a:solidFill>
                  <a:srgbClr val="5C4826"/>
                </a:solidFill>
                <a:latin typeface="Calibri"/>
              </a:rPr>
              <a:t>Weekly recitation, every Tuesday — a recurrence-rule column? a series table? expanded rows?</a:t>
            </a:r>
          </a:p>
          <a:p>
            <a:pPr algn="l">
              <a:spcAft>
                <a:spcPts val="400"/>
              </a:spcAft>
            </a:pPr>
            <a:r>
              <a:rPr sz="2000" b="0">
                <a:solidFill>
                  <a:srgbClr val="555960"/>
                </a:solidFill>
                <a:latin typeface="Calibri"/>
              </a:rPr>
              <a:t>Each choice re-runs the modeling tradeoffs</a:t>
            </a:r>
          </a:p>
        </p:txBody>
      </p:sp>
      <p:sp>
        <p:nvSpPr>
          <p:cNvPr id="6" name="Card"/>
          <p:cNvSpPr/>
          <p:nvPr/>
        </p:nvSpPr>
        <p:spPr>
          <a:xfrm>
            <a:off x="411480" y="2340864"/>
            <a:ext cx="8321040" cy="132588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wLabel"/>
          <p:cNvSpPr txBox="1"/>
          <p:nvPr/>
        </p:nvSpPr>
        <p:spPr>
          <a:xfrm>
            <a:off x="557784" y="2395728"/>
            <a:ext cx="2560320" cy="1216152"/>
          </a:xfrm>
          <a:prstGeom prst="rect">
            <a:avLst/>
          </a:prstGeom>
          <a:noFill/>
        </p:spPr>
        <p:txBody>
          <a:bodyPr wrap="square" anchor="ctr">
            <a:spAutoFit/>
          </a:bodyPr>
          <a:lstStyle/>
          <a:p>
            <a:pPr algn="l">
              <a:spcAft>
                <a:spcPts val="400"/>
              </a:spcAft>
            </a:pPr>
            <a:r>
              <a:rPr sz="2000" b="1">
                <a:solidFill>
                  <a:srgbClr val="8E6F3E"/>
                </a:solidFill>
                <a:latin typeface="Calibri"/>
              </a:rPr>
              <a:t>EXISTING RECORDS</a:t>
            </a:r>
          </a:p>
        </p:txBody>
      </p:sp>
      <p:sp>
        <p:nvSpPr>
          <p:cNvPr id="8" name="RowBody"/>
          <p:cNvSpPr txBox="1"/>
          <p:nvPr/>
        </p:nvSpPr>
        <p:spPr>
          <a:xfrm>
            <a:off x="3246120" y="2395728"/>
            <a:ext cx="5349240" cy="1216152"/>
          </a:xfrm>
          <a:prstGeom prst="rect">
            <a:avLst/>
          </a:prstGeom>
          <a:noFill/>
        </p:spPr>
        <p:txBody>
          <a:bodyPr wrap="square">
            <a:spAutoFit/>
          </a:bodyPr>
          <a:lstStyle/>
          <a:p>
            <a:pPr algn="l">
              <a:spcAft>
                <a:spcPts val="200"/>
              </a:spcAft>
            </a:pPr>
            <a:r>
              <a:rPr sz="2000" b="1">
                <a:solidFill>
                  <a:srgbClr val="5C4826"/>
                </a:solidFill>
                <a:latin typeface="Calibri"/>
              </a:rPr>
              <a:t>What happens to the rows already there — backfill, defaults, or dual reads?</a:t>
            </a:r>
          </a:p>
          <a:p>
            <a:pPr algn="l">
              <a:spcAft>
                <a:spcPts val="400"/>
              </a:spcAft>
            </a:pPr>
            <a:r>
              <a:rPr sz="2000" b="0">
                <a:solidFill>
                  <a:srgbClr val="555960"/>
                </a:solidFill>
                <a:latin typeface="Calibri"/>
              </a:rPr>
              <a:t>Data outlives the code that wrote it</a:t>
            </a:r>
          </a:p>
        </p:txBody>
      </p:sp>
      <p:sp>
        <p:nvSpPr>
          <p:cNvPr id="9" name="Card"/>
          <p:cNvSpPr/>
          <p:nvPr/>
        </p:nvSpPr>
        <p:spPr>
          <a:xfrm>
            <a:off x="411480" y="3785616"/>
            <a:ext cx="8321040" cy="13258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wLabel"/>
          <p:cNvSpPr txBox="1"/>
          <p:nvPr/>
        </p:nvSpPr>
        <p:spPr>
          <a:xfrm>
            <a:off x="557784" y="3840480"/>
            <a:ext cx="2560320" cy="1216152"/>
          </a:xfrm>
          <a:prstGeom prst="rect">
            <a:avLst/>
          </a:prstGeom>
          <a:noFill/>
        </p:spPr>
        <p:txBody>
          <a:bodyPr wrap="square" anchor="ctr">
            <a:spAutoFit/>
          </a:bodyPr>
          <a:lstStyle/>
          <a:p>
            <a:pPr algn="l">
              <a:spcAft>
                <a:spcPts val="400"/>
              </a:spcAft>
            </a:pPr>
            <a:r>
              <a:rPr sz="2000" b="1">
                <a:solidFill>
                  <a:srgbClr val="8E6F3E"/>
                </a:solidFill>
                <a:latin typeface="Calibri"/>
              </a:rPr>
              <a:t>AVAILABILITY DURING CHANGE</a:t>
            </a:r>
          </a:p>
        </p:txBody>
      </p:sp>
      <p:sp>
        <p:nvSpPr>
          <p:cNvPr id="11" name="RowBody"/>
          <p:cNvSpPr txBox="1"/>
          <p:nvPr/>
        </p:nvSpPr>
        <p:spPr>
          <a:xfrm>
            <a:off x="3246120" y="3840480"/>
            <a:ext cx="5349240" cy="1216152"/>
          </a:xfrm>
          <a:prstGeom prst="rect">
            <a:avLst/>
          </a:prstGeom>
          <a:noFill/>
        </p:spPr>
        <p:txBody>
          <a:bodyPr wrap="square">
            <a:spAutoFit/>
          </a:bodyPr>
          <a:lstStyle/>
          <a:p>
            <a:pPr algn="l">
              <a:spcAft>
                <a:spcPts val="200"/>
              </a:spcAft>
            </a:pPr>
            <a:r>
              <a:rPr sz="2000" b="1">
                <a:solidFill>
                  <a:srgbClr val="5C4826"/>
                </a:solidFill>
                <a:latin typeface="Calibri"/>
              </a:rPr>
              <a:t>Can the old version keep operating mid-migration?</a:t>
            </a:r>
          </a:p>
          <a:p>
            <a:pPr algn="l">
              <a:spcAft>
                <a:spcPts val="400"/>
              </a:spcAft>
            </a:pPr>
            <a:r>
              <a:rPr sz="2000" b="0">
                <a:solidFill>
                  <a:srgbClr val="555960"/>
                </a:solidFill>
                <a:latin typeface="Calibri"/>
              </a:rPr>
              <a:t>Expand → migrate → contract: add the new shape, move, then retire the old</a:t>
            </a:r>
          </a:p>
        </p:txBody>
      </p:sp>
      <p:sp>
        <p:nvSpPr>
          <p:cNvPr id="12"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A migration is a deployment of the data model — not a flag day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Today's decisions through the Act III engineering method</a:t>
            </a:r>
          </a:p>
        </p:txBody>
      </p:sp>
      <p:sp>
        <p:nvSpPr>
          <p:cNvPr id="3" name="Block"/>
          <p:cNvSpPr/>
          <p:nvPr/>
        </p:nvSpPr>
        <p:spPr>
          <a:xfrm>
            <a:off x="411480" y="1005840"/>
            <a:ext cx="246888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Problem</a:t>
            </a:r>
          </a:p>
        </p:txBody>
      </p:sp>
      <p:sp>
        <p:nvSpPr>
          <p:cNvPr id="4" name="Block"/>
          <p:cNvSpPr/>
          <p:nvPr/>
        </p:nvSpPr>
        <p:spPr>
          <a:xfrm>
            <a:off x="3337560" y="1005840"/>
            <a:ext cx="246888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Model</a:t>
            </a:r>
          </a:p>
        </p:txBody>
      </p:sp>
      <p:sp>
        <p:nvSpPr>
          <p:cNvPr id="5" name="Block"/>
          <p:cNvSpPr/>
          <p:nvPr/>
        </p:nvSpPr>
        <p:spPr>
          <a:xfrm>
            <a:off x="6263640" y="1005840"/>
            <a:ext cx="246888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Judgment</a:t>
            </a:r>
          </a:p>
        </p:txBody>
      </p:sp>
      <p:sp>
        <p:nvSpPr>
          <p:cNvPr id="6" name="Arrow"/>
          <p:cNvSpPr/>
          <p:nvPr/>
        </p:nvSpPr>
        <p:spPr>
          <a:xfrm>
            <a:off x="2907792" y="1225296"/>
            <a:ext cx="402336" cy="201168"/>
          </a:xfrm>
          <a:prstGeom prst="righ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Arrow"/>
          <p:cNvSpPr/>
          <p:nvPr/>
        </p:nvSpPr>
        <p:spPr>
          <a:xfrm>
            <a:off x="5833872" y="1225296"/>
            <a:ext cx="402336" cy="201168"/>
          </a:xfrm>
          <a:prstGeom prst="righ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Arrow"/>
          <p:cNvSpPr/>
          <p:nvPr/>
        </p:nvSpPr>
        <p:spPr>
          <a:xfrm>
            <a:off x="7315200" y="1700784"/>
            <a:ext cx="365760" cy="530352"/>
          </a:xfrm>
          <a:prstGeom prst="down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Block"/>
          <p:cNvSpPr/>
          <p:nvPr/>
        </p:nvSpPr>
        <p:spPr>
          <a:xfrm>
            <a:off x="6263640" y="2286000"/>
            <a:ext cx="246888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Realize</a:t>
            </a:r>
          </a:p>
        </p:txBody>
      </p:sp>
      <p:sp>
        <p:nvSpPr>
          <p:cNvPr id="10" name="Block"/>
          <p:cNvSpPr/>
          <p:nvPr/>
        </p:nvSpPr>
        <p:spPr>
          <a:xfrm>
            <a:off x="3337560" y="2286000"/>
            <a:ext cx="246888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Evidence</a:t>
            </a:r>
          </a:p>
        </p:txBody>
      </p:sp>
      <p:sp>
        <p:nvSpPr>
          <p:cNvPr id="11" name="Block"/>
          <p:cNvSpPr/>
          <p:nvPr/>
        </p:nvSpPr>
        <p:spPr>
          <a:xfrm>
            <a:off x="411480" y="2286000"/>
            <a:ext cx="246888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Accept / reject</a:t>
            </a:r>
          </a:p>
        </p:txBody>
      </p:sp>
      <p:sp>
        <p:nvSpPr>
          <p:cNvPr id="12" name="Arrow"/>
          <p:cNvSpPr/>
          <p:nvPr/>
        </p:nvSpPr>
        <p:spPr>
          <a:xfrm>
            <a:off x="5833872" y="2505456"/>
            <a:ext cx="402336" cy="201168"/>
          </a:xfrm>
          <a:prstGeom prst="lef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rrow"/>
          <p:cNvSpPr/>
          <p:nvPr/>
        </p:nvSpPr>
        <p:spPr>
          <a:xfrm>
            <a:off x="2907792" y="2505456"/>
            <a:ext cx="402336" cy="201168"/>
          </a:xfrm>
          <a:prstGeom prst="lef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Block"/>
          <p:cNvSpPr/>
          <p:nvPr/>
        </p:nvSpPr>
        <p:spPr>
          <a:xfrm>
            <a:off x="411480" y="3383280"/>
            <a:ext cx="8321040" cy="566928"/>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2000" b="1">
                <a:solidFill>
                  <a:srgbClr val="8E6F3E"/>
                </a:solidFill>
                <a:latin typeface="Calibri"/>
              </a:rPr>
              <a:t>ALIGNMENT — alongside every step: constraints, checks, gates</a:t>
            </a:r>
          </a:p>
        </p:txBody>
      </p:sp>
      <p:cxnSp>
        <p:nvCxnSpPr>
          <p:cNvPr id="15" name="AlignLink"/>
          <p:cNvCxnSpPr/>
          <p:nvPr/>
        </p:nvCxnSpPr>
        <p:spPr>
          <a:xfrm>
            <a:off x="1645920" y="2926080"/>
            <a:ext cx="0" cy="457200"/>
          </a:xfrm>
          <a:prstGeom prst="line">
            <a:avLst/>
          </a:prstGeom>
          <a:ln w="31750">
            <a:solidFill>
              <a:srgbClr val="8E6F3E"/>
            </a:solidFill>
          </a:ln>
        </p:spPr>
        <p:style>
          <a:lnRef idx="2">
            <a:schemeClr val="accent1"/>
          </a:lnRef>
          <a:fillRef idx="0">
            <a:schemeClr val="accent1"/>
          </a:fillRef>
          <a:effectRef idx="1">
            <a:schemeClr val="accent1"/>
          </a:effectRef>
          <a:fontRef idx="minor">
            <a:schemeClr val="tx1"/>
          </a:fontRef>
        </p:style>
      </p:cxnSp>
      <p:cxnSp>
        <p:nvCxnSpPr>
          <p:cNvPr id="16" name="AlignLink"/>
          <p:cNvCxnSpPr/>
          <p:nvPr/>
        </p:nvCxnSpPr>
        <p:spPr>
          <a:xfrm>
            <a:off x="7498079" y="2926080"/>
            <a:ext cx="0" cy="457200"/>
          </a:xfrm>
          <a:prstGeom prst="line">
            <a:avLst/>
          </a:prstGeom>
          <a:ln w="31750">
            <a:solidFill>
              <a:srgbClr val="8E6F3E"/>
            </a:solidFill>
          </a:ln>
        </p:spPr>
        <p:style>
          <a:lnRef idx="2">
            <a:schemeClr val="accent1"/>
          </a:lnRef>
          <a:fillRef idx="0">
            <a:schemeClr val="accent1"/>
          </a:fillRef>
          <a:effectRef idx="1">
            <a:schemeClr val="accent1"/>
          </a:effectRef>
          <a:fontRef idx="minor">
            <a:schemeClr val="tx1"/>
          </a:fontRef>
        </p:style>
      </p:cxnSp>
      <p:sp>
        <p:nvSpPr>
          <p:cNvPr id="17" name="Card"/>
          <p:cNvSpPr/>
          <p:nvPr/>
        </p:nvSpPr>
        <p:spPr>
          <a:xfrm>
            <a:off x="411480" y="4224528"/>
            <a:ext cx="8321040" cy="1444752"/>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CardBody"/>
          <p:cNvSpPr txBox="1"/>
          <p:nvPr/>
        </p:nvSpPr>
        <p:spPr>
          <a:xfrm>
            <a:off x="557784" y="4297680"/>
            <a:ext cx="8046720" cy="1298448"/>
          </a:xfrm>
          <a:prstGeom prst="rect">
            <a:avLst/>
          </a:prstGeom>
          <a:noFill/>
        </p:spPr>
        <p:txBody>
          <a:bodyPr wrap="square">
            <a:spAutoFit/>
          </a:bodyPr>
          <a:lstStyle/>
          <a:p>
            <a:pPr algn="l">
              <a:spcAft>
                <a:spcPts val="200"/>
              </a:spcAft>
            </a:pPr>
            <a:r>
              <a:rPr sz="2000" b="1">
                <a:solidFill>
                  <a:srgbClr val="5C4826"/>
                </a:solidFill>
                <a:latin typeface="Calibri"/>
              </a:rPr>
              <a:t>Today's pass</a:t>
            </a:r>
          </a:p>
          <a:p>
            <a:pPr algn="l">
              <a:spcAft>
                <a:spcPts val="400"/>
              </a:spcAft>
            </a:pPr>
            <a:r>
              <a:rPr sz="2000" b="0">
                <a:solidFill>
                  <a:srgbClr val="555960"/>
                </a:solidFill>
                <a:latin typeface="Calibri"/>
              </a:rPr>
              <a:t>Preserve reservations → ER + schema → relational, normalized → DDL and queries → plans and the race → accept the exclusion constraint. Alignment: the constraint itself.</a:t>
            </a:r>
          </a:p>
        </p:txBody>
      </p:sp>
      <p:sp>
        <p:nvSpPr>
          <p:cNvPr id="19"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The same method as Tuesday — different models, same discipline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We have a working system — how easily can we change it?</a:t>
            </a:r>
          </a:p>
        </p:txBody>
      </p:sp>
      <p:sp>
        <p:nvSpPr>
          <p:cNvPr id="3" name="Card"/>
          <p:cNvSpPr/>
          <p:nvPr/>
        </p:nvSpPr>
        <p:spPr>
          <a:xfrm>
            <a:off x="411480" y="960120"/>
            <a:ext cx="4069080" cy="27889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ardBody"/>
          <p:cNvSpPr txBox="1"/>
          <p:nvPr/>
        </p:nvSpPr>
        <p:spPr>
          <a:xfrm>
            <a:off x="557784" y="1051560"/>
            <a:ext cx="3776472" cy="2606040"/>
          </a:xfrm>
          <a:prstGeom prst="rect">
            <a:avLst/>
          </a:prstGeom>
          <a:noFill/>
        </p:spPr>
        <p:txBody>
          <a:bodyPr wrap="square">
            <a:spAutoFit/>
          </a:bodyPr>
          <a:lstStyle/>
          <a:p>
            <a:pPr algn="l">
              <a:spcAft>
                <a:spcPts val="500"/>
              </a:spcAft>
            </a:pPr>
            <a:r>
              <a:rPr sz="2000" b="1">
                <a:solidFill>
                  <a:srgbClr val="8E6F3E"/>
                </a:solidFill>
                <a:latin typeface="Calibri"/>
              </a:rPr>
              <a:t>WHAT WE NOW HOLD</a:t>
            </a:r>
          </a:p>
          <a:p>
            <a:pPr algn="l">
              <a:spcAft>
                <a:spcPts val="400"/>
              </a:spcAft>
            </a:pPr>
            <a:r>
              <a:rPr sz="2000" b="0">
                <a:solidFill>
                  <a:srgbClr val="5C4826"/>
                </a:solidFill>
                <a:latin typeface="Calibri"/>
              </a:rPr>
              <a:t>Reservations survive restarts</a:t>
            </a:r>
          </a:p>
          <a:p>
            <a:pPr algn="l">
              <a:spcAft>
                <a:spcPts val="400"/>
              </a:spcAft>
            </a:pPr>
            <a:r>
              <a:rPr sz="2000" b="0">
                <a:solidFill>
                  <a:srgbClr val="5C4826"/>
                </a:solidFill>
                <a:latin typeface="Calibri"/>
              </a:rPr>
              <a:t>One authoritative, shared copy</a:t>
            </a:r>
          </a:p>
          <a:p>
            <a:pPr algn="l">
              <a:spcAft>
                <a:spcPts val="400"/>
              </a:spcAft>
            </a:pPr>
            <a:r>
              <a:rPr sz="2000" b="0">
                <a:solidFill>
                  <a:srgbClr val="5C4826"/>
                </a:solidFill>
                <a:latin typeface="Calibri"/>
              </a:rPr>
              <a:t>The invariant has an enforced home</a:t>
            </a:r>
          </a:p>
          <a:p>
            <a:pPr algn="l">
              <a:spcAft>
                <a:spcPts val="400"/>
              </a:spcAft>
            </a:pPr>
            <a:r>
              <a:rPr sz="2000" b="0">
                <a:solidFill>
                  <a:srgbClr val="5C4826"/>
                </a:solidFill>
                <a:latin typeface="Calibri"/>
              </a:rPr>
              <a:t>Known, chosen costs</a:t>
            </a:r>
          </a:p>
        </p:txBody>
      </p:sp>
      <p:sp>
        <p:nvSpPr>
          <p:cNvPr id="5" name="Card"/>
          <p:cNvSpPr/>
          <p:nvPr/>
        </p:nvSpPr>
        <p:spPr>
          <a:xfrm>
            <a:off x="4663440" y="960120"/>
            <a:ext cx="4069080" cy="278892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CardBody"/>
          <p:cNvSpPr txBox="1"/>
          <p:nvPr/>
        </p:nvSpPr>
        <p:spPr>
          <a:xfrm>
            <a:off x="4809744" y="1051560"/>
            <a:ext cx="3776472" cy="2606040"/>
          </a:xfrm>
          <a:prstGeom prst="rect">
            <a:avLst/>
          </a:prstGeom>
          <a:noFill/>
        </p:spPr>
        <p:txBody>
          <a:bodyPr wrap="square">
            <a:spAutoFit/>
          </a:bodyPr>
          <a:lstStyle/>
          <a:p>
            <a:pPr algn="l">
              <a:spcAft>
                <a:spcPts val="500"/>
              </a:spcAft>
            </a:pPr>
            <a:r>
              <a:rPr sz="2000" b="1">
                <a:solidFill>
                  <a:srgbClr val="8E6F3E"/>
                </a:solidFill>
                <a:latin typeface="Calibri"/>
              </a:rPr>
              <a:t>WHAT WE DO NOT YET KNOW</a:t>
            </a:r>
          </a:p>
          <a:p>
            <a:pPr algn="l">
              <a:spcAft>
                <a:spcPts val="400"/>
              </a:spcAft>
            </a:pPr>
            <a:r>
              <a:rPr sz="2000" b="0">
                <a:solidFill>
                  <a:srgbClr val="5C4826"/>
                </a:solidFill>
                <a:latin typeface="Calibri"/>
              </a:rPr>
              <a:t>Can the structure absorb change?</a:t>
            </a:r>
          </a:p>
          <a:p>
            <a:pPr algn="l">
              <a:spcAft>
                <a:spcPts val="400"/>
              </a:spcAft>
            </a:pPr>
            <a:r>
              <a:rPr sz="2000" b="0">
                <a:solidFill>
                  <a:srgbClr val="5C4826"/>
                </a:solidFill>
                <a:latin typeface="Calibri"/>
              </a:rPr>
              <a:t>What did dependencies commit us to?</a:t>
            </a:r>
          </a:p>
          <a:p>
            <a:pPr algn="l">
              <a:spcAft>
                <a:spcPts val="400"/>
              </a:spcAft>
            </a:pPr>
            <a:r>
              <a:rPr sz="2000" b="0">
                <a:solidFill>
                  <a:srgbClr val="5C4826"/>
                </a:solidFill>
                <a:latin typeface="Calibri"/>
              </a:rPr>
              <a:t>How does it behave under load?</a:t>
            </a:r>
          </a:p>
        </p:txBody>
      </p:sp>
      <p:sp>
        <p:nvSpPr>
          <p:cNvPr id="7" name="Card"/>
          <p:cNvSpPr/>
          <p:nvPr/>
        </p:nvSpPr>
        <p:spPr>
          <a:xfrm>
            <a:off x="411480" y="3977639"/>
            <a:ext cx="8321040" cy="123444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CardBody"/>
          <p:cNvSpPr txBox="1"/>
          <p:nvPr/>
        </p:nvSpPr>
        <p:spPr>
          <a:xfrm>
            <a:off x="557784" y="4050791"/>
            <a:ext cx="8046720" cy="1097280"/>
          </a:xfrm>
          <a:prstGeom prst="rect">
            <a:avLst/>
          </a:prstGeom>
          <a:noFill/>
        </p:spPr>
        <p:txBody>
          <a:bodyPr wrap="square">
            <a:spAutoFit/>
          </a:bodyPr>
          <a:lstStyle/>
          <a:p>
            <a:pPr algn="l">
              <a:spcAft>
                <a:spcPts val="300"/>
              </a:spcAft>
            </a:pPr>
            <a:r>
              <a:rPr sz="2000" b="1">
                <a:solidFill>
                  <a:srgbClr val="5C4826"/>
                </a:solidFill>
                <a:latin typeface="Calibri"/>
              </a:rPr>
              <a:t>Next: Technical Debt, Architecture &amp; Supply Chains</a:t>
            </a:r>
          </a:p>
          <a:p>
            <a:pPr algn="l">
              <a:spcAft>
                <a:spcPts val="400"/>
              </a:spcAft>
            </a:pPr>
            <a:r>
              <a:rPr sz="2000" b="0">
                <a:solidFill>
                  <a:srgbClr val="555960"/>
                </a:solidFill>
                <a:latin typeface="Calibri"/>
              </a:rPr>
              <a:t>The system's own shape — and everything it inherited — become the object of engineering.</a:t>
            </a:r>
          </a:p>
        </p:txBody>
      </p:sp>
      <p:sp>
        <p:nvSpPr>
          <p:cNvPr id="9"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From preserving information to changing the system that holds it</a:t>
            </a:r>
          </a:p>
        </p:txBody>
      </p:sp>
    </p:spTree>
  </p:cSld>
  <p:clrMapOvr>
    <a:masterClrMapping/>
  </p:clrMapOvr>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TotalTime>
  <Words>3862</Words>
  <Application>Microsoft Macintosh PowerPoint</Application>
  <PresentationFormat>On-screen Show (4:3)</PresentationFormat>
  <Paragraphs>397</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Times</vt:lpstr>
      <vt:lpstr>Arial</vt:lpstr>
      <vt:lpstr>Calibri</vt:lpstr>
      <vt:lpstr>Purdue1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Steve France</cp:lastModifiedBy>
  <cp:revision>7</cp:revision>
  <dcterms:modified xsi:type="dcterms:W3CDTF">2026-10-29T14:20:08Z</dcterms:modified>
</cp:coreProperties>
</file>