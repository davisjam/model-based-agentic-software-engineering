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28.xml"/><Relationship Id="rId4" Type="http://schemas.openxmlformats.org/officeDocument/2006/relationships/slide" Target="slides/slide27.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table is the storage-MECHANISM axis: a deployment and operational choice, separate from the data-model choice two slides ahead. Flat files are a legitimate point: config data is read often and changed rarely, so a JSON or YAML file is entirely appropriate — but once multiple processes update shared state concurrently, the application must supply its own coordination, atomicity, and recovery, or adopt a storage system that supplies them (the concurrency section's story). SQLite is the interesting intermediate: SQL, indexes, constraints, ACID transactions, no server; multiple readers, coordinated concurrent writers — a different concurrency architecture than a client-server engine, not a lesser one. Do not overstate it in either direction.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a:p>
            <a:r>
              <a:t>The bottom strip names the second axis: the DATA MODEL is a logical choice; the STORAGE MECHANISM (flat file, embedded engine, server, distributed system) is a deployment and operational choice. A JSON flat file can encode any of the four shapes with no engine at all; SQLite implements the relational model without a server. Conflating the two axes is the error to name out loud.</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a:p>
            <a:r>
              <a:t>SQLite vs PostgreSQL is the cleanest proof that database selection is multidimensional: the same data model and query language at two very different deployment and operational points. 'Relational vs NoSQL' is one axis of several, not the whole decision.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a:p>
            <a:r>
              <a:t>Several technologies can satisfy each workload — the point is the mapping from requirements to capabilities, not one blessed answer. A could run on PostgreSQL, MySQL, or SQLite behind a single process; B fits a wide-column or key-value store, a time-series engine, or partitioned Postgres. Grade answers by the capability argument, not the product name.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a:p>
            <a:r>
              <a:t>Point at the ✗: our double-booking history sits INSIDE what weaker levels permit and OUTSIDE the serializable core. Excluding it is exactly what we will pay for.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solidFill>
                  <a:srgbClr val="2D2D2D"/>
                </a:solidFill>
                <a:latin typeface="Calibri"/>
              </a:rPr>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000" b="1">
                <a:solidFill>
                  <a:srgbClr val="8E6F3E"/>
                </a:solidFill>
                <a:latin typeface="Calibri"/>
              </a:rPr>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solidFill>
                  <a:srgbClr val="555960"/>
                </a:solidFill>
                <a:latin typeface="Calibri"/>
              </a:rPr>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000" b="1">
                <a:solidFill>
                  <a:srgbClr val="8E6F3E"/>
                </a:solidFill>
                <a:latin typeface="Calibri"/>
              </a:rPr>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solidFill>
                  <a:srgbClr val="555960"/>
                </a:solidFill>
                <a:latin typeface="Calibri"/>
              </a:rPr>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000" b="1">
                <a:solidFill>
                  <a:srgbClr val="8E6F3E"/>
                </a:solidFill>
                <a:latin typeface="Calibri"/>
              </a:rPr>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solidFill>
                  <a:srgbClr val="555960"/>
                </a:solidFill>
                <a:latin typeface="Calibri"/>
              </a:rPr>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000" b="1">
                <a:solidFill>
                  <a:srgbClr val="8E6F3E"/>
                </a:solidFill>
                <a:latin typeface="Calibri"/>
              </a:rPr>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solidFill>
                  <a:srgbClr val="555960"/>
                </a:solidFill>
                <a:latin typeface="Calibri"/>
              </a:rPr>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000" b="1">
                <a:solidFill>
                  <a:srgbClr val="8E6F3E"/>
                </a:solidFill>
                <a:latin typeface="Calibri"/>
              </a:rPr>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solidFill>
                  <a:srgbClr val="555960"/>
                </a:solidFill>
                <a:latin typeface="Calibri"/>
              </a:rPr>
              <a:t>How do data models change, and what have we decided?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868680"/>
            <a:ext cx="4069080" cy="18288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868680"/>
            <a:ext cx="4069080" cy="18288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Label"/>
          <p:cNvSpPr txBox="1"/>
          <p:nvPr/>
        </p:nvSpPr>
        <p:spPr>
          <a:xfrm>
            <a:off x="411480" y="2880360"/>
            <a:ext cx="8321040" cy="384048"/>
          </a:xfrm>
          <a:prstGeom prst="rect">
            <a:avLst/>
          </a:prstGeom>
          <a:noFill/>
        </p:spPr>
        <p:txBody>
          <a:bodyPr wrap="square">
            <a:spAutoFit/>
          </a:bodyPr>
          <a:lstStyle/>
          <a:p>
            <a:r>
              <a:rPr sz="2000" b="1">
                <a:solidFill>
                  <a:srgbClr val="8E6F3E"/>
                </a:solidFill>
                <a:latin typeface="Calibri"/>
              </a:rPr>
              <a:t>Storage mechanisms: a separate axis from the data model</a:t>
            </a:r>
          </a:p>
        </p:txBody>
      </p:sp>
      <p:graphicFrame>
        <p:nvGraphicFramePr>
          <p:cNvPr id="8" name="MechanismTable"/>
          <p:cNvGraphicFramePr>
            <a:graphicFrameLocks noGrp="1"/>
          </p:cNvGraphicFramePr>
          <p:nvPr/>
        </p:nvGraphicFramePr>
        <p:xfrm>
          <a:off x="411480" y="3310128"/>
          <a:ext cx="8321040" cy="2377440"/>
        </p:xfrm>
        <a:graphic>
          <a:graphicData uri="http://schemas.openxmlformats.org/drawingml/2006/table">
            <a:tbl>
              <a:tblPr firstRow="0" bandRow="0">
                <a:tableStyleId>{5C22544A-7EE6-4342-B048-85BDC9FD1C3A}</a:tableStyleId>
              </a:tblPr>
              <a:tblGrid>
                <a:gridCol w="2240280"/>
                <a:gridCol w="2148840"/>
                <a:gridCol w="3931920"/>
              </a:tblGrid>
              <a:tr h="475488">
                <a:tc>
                  <a:txBody>
                    <a:bodyPr/>
                    <a:lstStyle/>
                    <a:p>
                      <a:r>
                        <a:rPr sz="2000" b="1">
                          <a:solidFill>
                            <a:srgbClr val="FFFFFF"/>
                          </a:solidFill>
                          <a:latin typeface="Calibri"/>
                        </a:rPr>
                        <a:t>Mechanism</a:t>
                      </a:r>
                    </a:p>
                  </a:txBody>
                  <a:tcPr>
                    <a:solidFill>
                      <a:srgbClr val="8E6F3E"/>
                    </a:solidFill>
                  </a:tcPr>
                </a:tc>
                <a:tc>
                  <a:txBody>
                    <a:bodyPr/>
                    <a:lstStyle/>
                    <a:p>
                      <a:r>
                        <a:rPr sz="2000" b="1">
                          <a:solidFill>
                            <a:srgbClr val="FFFFFF"/>
                          </a:solidFill>
                          <a:latin typeface="Calibri"/>
                        </a:rPr>
                        <a:t>Example</a:t>
                      </a:r>
                    </a:p>
                  </a:txBody>
                  <a:tcPr>
                    <a:solidFill>
                      <a:srgbClr val="8E6F3E"/>
                    </a:solidFill>
                  </a:tcPr>
                </a:tc>
                <a:tc>
                  <a:txBody>
                    <a:bodyPr/>
                    <a:lstStyle/>
                    <a:p>
                      <a:r>
                        <a:rPr sz="2000" b="1">
                          <a:solidFill>
                            <a:srgbClr val="FFFFFF"/>
                          </a:solidFill>
                          <a:latin typeface="Calibri"/>
                        </a:rPr>
                        <a:t>Appropriate when</a:t>
                      </a:r>
                    </a:p>
                  </a:txBody>
                  <a:tcPr>
                    <a:solidFill>
                      <a:srgbClr val="8E6F3E"/>
                    </a:solidFill>
                  </a:tcPr>
                </a:tc>
              </a:tr>
              <a:tr h="475488">
                <a:tc>
                  <a:txBody>
                    <a:bodyPr/>
                    <a:lstStyle/>
                    <a:p>
                      <a:r>
                        <a:rPr sz="2000" b="1">
                          <a:solidFill>
                            <a:srgbClr val="8E6F3E"/>
                          </a:solidFill>
                          <a:latin typeface="Calibri"/>
                        </a:rPr>
                        <a:t>Flat files</a:t>
                      </a:r>
                    </a:p>
                  </a:txBody>
                  <a:tcPr>
                    <a:solidFill>
                      <a:srgbClr val="F5F1E8"/>
                    </a:solidFill>
                  </a:tcPr>
                </a:tc>
                <a:tc>
                  <a:txBody>
                    <a:bodyPr/>
                    <a:lstStyle/>
                    <a:p>
                      <a:r>
                        <a:rPr sz="2000" b="0">
                          <a:solidFill>
                            <a:srgbClr val="2D2D2D"/>
                          </a:solidFill>
                          <a:latin typeface="Calibri"/>
                        </a:rPr>
                        <a:t>JSON, YAML, CSV</a:t>
                      </a:r>
                    </a:p>
                  </a:txBody>
                  <a:tcPr>
                    <a:solidFill>
                      <a:srgbClr val="F5F1E8"/>
                    </a:solidFill>
                  </a:tcPr>
                </a:tc>
                <a:tc>
                  <a:txBody>
                    <a:bodyPr/>
                    <a:lstStyle/>
                    <a:p>
                      <a:r>
                        <a:rPr sz="2000" b="0">
                          <a:solidFill>
                            <a:srgbClr val="2D2D2D"/>
                          </a:solidFill>
                          <a:latin typeface="Calibri"/>
                        </a:rPr>
                        <a:t>Small data, config, infrequent updates</a:t>
                      </a:r>
                    </a:p>
                  </a:txBody>
                  <a:tcPr>
                    <a:solidFill>
                      <a:srgbClr val="F5F1E8"/>
                    </a:solidFill>
                  </a:tcPr>
                </a:tc>
              </a:tr>
              <a:tr h="475488">
                <a:tc>
                  <a:txBody>
                    <a:bodyPr/>
                    <a:lstStyle/>
                    <a:p>
                      <a:r>
                        <a:rPr sz="2000" b="1">
                          <a:solidFill>
                            <a:srgbClr val="8E6F3E"/>
                          </a:solidFill>
                          <a:latin typeface="Calibri"/>
                        </a:rPr>
                        <a:t>Embedded database</a:t>
                      </a:r>
                    </a:p>
                  </a:txBody>
                  <a:tcPr>
                    <a:solidFill>
                      <a:srgbClr val="FCFAF6"/>
                    </a:solidFill>
                  </a:tcPr>
                </a:tc>
                <a:tc>
                  <a:txBody>
                    <a:bodyPr/>
                    <a:lstStyle/>
                    <a:p>
                      <a:r>
                        <a:rPr sz="2000" b="0">
                          <a:solidFill>
                            <a:srgbClr val="2D2D2D"/>
                          </a:solidFill>
                          <a:latin typeface="Calibri"/>
                        </a:rPr>
                        <a:t>SQLite</a:t>
                      </a:r>
                    </a:p>
                  </a:txBody>
                  <a:tcPr>
                    <a:solidFill>
                      <a:srgbClr val="FCFAF6"/>
                    </a:solidFill>
                  </a:tcPr>
                </a:tc>
                <a:tc>
                  <a:txBody>
                    <a:bodyPr/>
                    <a:lstStyle/>
                    <a:p>
                      <a:r>
                        <a:rPr sz="2000" b="0">
                          <a:solidFill>
                            <a:srgbClr val="2D2D2D"/>
                          </a:solidFill>
                          <a:latin typeface="Calibri"/>
                        </a:rPr>
                        <a:t>Local state, queries, transactions</a:t>
                      </a:r>
                    </a:p>
                  </a:txBody>
                  <a:tcPr>
                    <a:solidFill>
                      <a:srgbClr val="FCFAF6"/>
                    </a:solidFill>
                  </a:tcPr>
                </a:tc>
              </a:tr>
              <a:tr h="475488">
                <a:tc>
                  <a:txBody>
                    <a:bodyPr/>
                    <a:lstStyle/>
                    <a:p>
                      <a:r>
                        <a:rPr sz="2000" b="1">
                          <a:solidFill>
                            <a:srgbClr val="8E6F3E"/>
                          </a:solidFill>
                          <a:latin typeface="Calibri"/>
                        </a:rPr>
                        <a:t>Database server</a:t>
                      </a:r>
                    </a:p>
                  </a:txBody>
                  <a:tcPr>
                    <a:solidFill>
                      <a:srgbClr val="F5F1E8"/>
                    </a:solidFill>
                  </a:tcPr>
                </a:tc>
                <a:tc>
                  <a:txBody>
                    <a:bodyPr/>
                    <a:lstStyle/>
                    <a:p>
                      <a:r>
                        <a:rPr sz="2000" b="0">
                          <a:solidFill>
                            <a:srgbClr val="2D2D2D"/>
                          </a:solidFill>
                          <a:latin typeface="Calibri"/>
                        </a:rPr>
                        <a:t>PostgreSQL</a:t>
                      </a:r>
                    </a:p>
                  </a:txBody>
                  <a:tcPr>
                    <a:solidFill>
                      <a:srgbClr val="F5F1E8"/>
                    </a:solidFill>
                  </a:tcPr>
                </a:tc>
                <a:tc>
                  <a:txBody>
                    <a:bodyPr/>
                    <a:lstStyle/>
                    <a:p>
                      <a:r>
                        <a:rPr sz="2000" b="0">
                          <a:solidFill>
                            <a:srgbClr val="2D2D2D"/>
                          </a:solidFill>
                          <a:latin typeface="Calibri"/>
                        </a:rPr>
                        <a:t>Shared state, many clients, constraints</a:t>
                      </a:r>
                    </a:p>
                  </a:txBody>
                  <a:tcPr>
                    <a:solidFill>
                      <a:srgbClr val="F5F1E8"/>
                    </a:solidFill>
                  </a:tcPr>
                </a:tc>
              </a:tr>
              <a:tr h="475488">
                <a:tc>
                  <a:txBody>
                    <a:bodyPr/>
                    <a:lstStyle/>
                    <a:p>
                      <a:r>
                        <a:rPr sz="2000" b="1">
                          <a:solidFill>
                            <a:srgbClr val="8E6F3E"/>
                          </a:solidFill>
                          <a:latin typeface="Calibri"/>
                        </a:rPr>
                        <a:t>Distributed database</a:t>
                      </a:r>
                    </a:p>
                  </a:txBody>
                  <a:tcPr>
                    <a:solidFill>
                      <a:srgbClr val="FCFAF6"/>
                    </a:solidFill>
                  </a:tcPr>
                </a:tc>
                <a:tc>
                  <a:txBody>
                    <a:bodyPr/>
                    <a:lstStyle/>
                    <a:p>
                      <a:r>
                        <a:rPr sz="2000" b="0">
                          <a:solidFill>
                            <a:srgbClr val="2D2D2D"/>
                          </a:solidFill>
                          <a:latin typeface="Calibri"/>
                        </a:rPr>
                        <a:t>many SQL and NoSQL</a:t>
                      </a:r>
                    </a:p>
                  </a:txBody>
                  <a:tcPr>
                    <a:solidFill>
                      <a:srgbClr val="FCFAF6"/>
                    </a:solidFill>
                  </a:tcPr>
                </a:tc>
                <a:tc>
                  <a:txBody>
                    <a:bodyPr/>
                    <a:lstStyle/>
                    <a:p>
                      <a:r>
                        <a:rPr sz="2000" b="0">
                          <a:solidFill>
                            <a:srgbClr val="2D2D2D"/>
                          </a:solidFill>
                          <a:latin typeface="Calibri"/>
                        </a:rPr>
                        <a:t>Scale, replication, geographic spread</a:t>
                      </a:r>
                    </a:p>
                  </a:txBody>
                  <a:tcPr>
                    <a:solidFill>
                      <a:srgbClr val="FCFAF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A sixth, Operations (backup, recovery, migration), waits for Operations &amp; SRE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1440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
          <p:cNvSpPr/>
          <p:nvPr/>
        </p:nvSpPr>
        <p:spPr>
          <a:xfrm>
            <a:off x="4663440" y="91440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
          <p:cNvSpPr/>
          <p:nvPr/>
        </p:nvSpPr>
        <p:spPr>
          <a:xfrm>
            <a:off x="411480" y="315468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
          <p:cNvSpPr/>
          <p:nvPr/>
        </p:nvSpPr>
        <p:spPr>
          <a:xfrm>
            <a:off x="4663440" y="315468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QuadHeader"/>
          <p:cNvSpPr txBox="1"/>
          <p:nvPr/>
        </p:nvSpPr>
        <p:spPr>
          <a:xfrm>
            <a:off x="557784" y="987552"/>
            <a:ext cx="3776472" cy="347472"/>
          </a:xfrm>
          <a:prstGeom prst="rect">
            <a:avLst/>
          </a:prstGeom>
          <a:noFill/>
        </p:spPr>
        <p:txBody>
          <a:bodyPr wrap="square">
            <a:spAutoFit/>
          </a:bodyPr>
          <a:lstStyle/>
          <a:p>
            <a:r>
              <a:rPr sz="2000" b="1">
                <a:solidFill>
                  <a:srgbClr val="8E6F3E"/>
                </a:solidFill>
                <a:latin typeface="Calibri"/>
              </a:rPr>
              <a:t>RELATIONAL</a:t>
            </a:r>
          </a:p>
        </p:txBody>
      </p:sp>
      <p:sp>
        <p:nvSpPr>
          <p:cNvPr id="11" name="QuadFig"/>
          <p:cNvSpPr txBox="1"/>
          <p:nvPr/>
        </p:nvSpPr>
        <p:spPr>
          <a:xfrm>
            <a:off x="557784" y="1389888"/>
            <a:ext cx="3776472" cy="1188720"/>
          </a:xfrm>
          <a:prstGeom prst="rect">
            <a:avLst/>
          </a:prstGeom>
          <a:noFill/>
        </p:spPr>
        <p:txBody>
          <a:bodyPr wrap="square">
            <a:spAutoFit/>
          </a:bodyPr>
          <a:lstStyle/>
          <a:p>
            <a:r>
              <a:rPr sz="2000" b="0">
                <a:solidFill>
                  <a:srgbClr val="2D2D2D"/>
                </a:solidFill>
                <a:latin typeface="Consolas"/>
              </a:rPr>
              <a:t>rooms:  117 │ B-101</a:t>
            </a:r>
          </a:p>
          <a:p>
            <a:r>
              <a:rPr sz="2000" b="0">
                <a:solidFill>
                  <a:srgbClr val="2D2D2D"/>
                </a:solidFill>
                <a:latin typeface="Consolas"/>
              </a:rPr>
              <a:t>resv:   117 │ 10:00–11:00</a:t>
            </a:r>
          </a:p>
          <a:p>
            <a:r>
              <a:rPr sz="2000" b="0">
                <a:solidFill>
                  <a:srgbClr val="555960"/>
                </a:solidFill>
                <a:latin typeface="Calibri"/>
              </a:rPr>
              <a:t>room_id references rooms.id</a:t>
            </a:r>
          </a:p>
        </p:txBody>
      </p:sp>
      <p:sp>
        <p:nvSpPr>
          <p:cNvPr id="12" name="QuadHeader"/>
          <p:cNvSpPr txBox="1"/>
          <p:nvPr/>
        </p:nvSpPr>
        <p:spPr>
          <a:xfrm>
            <a:off x="4809744" y="987552"/>
            <a:ext cx="3776472" cy="347472"/>
          </a:xfrm>
          <a:prstGeom prst="rect">
            <a:avLst/>
          </a:prstGeom>
          <a:noFill/>
        </p:spPr>
        <p:txBody>
          <a:bodyPr wrap="square">
            <a:spAutoFit/>
          </a:bodyPr>
          <a:lstStyle/>
          <a:p>
            <a:r>
              <a:rPr sz="2000" b="1">
                <a:solidFill>
                  <a:srgbClr val="8E6F3E"/>
                </a:solidFill>
                <a:latin typeface="Calibri"/>
              </a:rPr>
              <a:t>DOCUMENT</a:t>
            </a:r>
          </a:p>
        </p:txBody>
      </p:sp>
      <p:sp>
        <p:nvSpPr>
          <p:cNvPr id="13" name="QuadFig"/>
          <p:cNvSpPr txBox="1"/>
          <p:nvPr/>
        </p:nvSpPr>
        <p:spPr>
          <a:xfrm>
            <a:off x="4809744" y="1389888"/>
            <a:ext cx="3776472" cy="1188720"/>
          </a:xfrm>
          <a:prstGeom prst="rect">
            <a:avLst/>
          </a:prstGeom>
          <a:noFill/>
        </p:spPr>
        <p:txBody>
          <a:bodyPr wrap="square">
            <a:spAutoFit/>
          </a:bodyPr>
          <a:lstStyle/>
          <a:p>
            <a:r>
              <a:rPr sz="2000" b="0">
                <a:solidFill>
                  <a:srgbClr val="2D2D2D"/>
                </a:solidFill>
                <a:latin typeface="Consolas"/>
              </a:rPr>
              <a:t>{"room": 117,</a:t>
            </a:r>
          </a:p>
          <a:p>
            <a:r>
              <a:rPr sz="2000" b="0">
                <a:solidFill>
                  <a:srgbClr val="2D2D2D"/>
                </a:solidFill>
                <a:latin typeface="Consolas"/>
              </a:rPr>
              <a:t> "reservations": [</a:t>
            </a:r>
          </a:p>
          <a:p>
            <a:r>
              <a:rPr sz="2000" b="0">
                <a:solidFill>
                  <a:srgbClr val="2D2D2D"/>
                </a:solidFill>
                <a:latin typeface="Consolas"/>
              </a:rPr>
              <a:t>  {"start": "10:00"} ]}</a:t>
            </a:r>
          </a:p>
        </p:txBody>
      </p:sp>
      <p:sp>
        <p:nvSpPr>
          <p:cNvPr id="14" name="QuadHeader"/>
          <p:cNvSpPr txBox="1"/>
          <p:nvPr/>
        </p:nvSpPr>
        <p:spPr>
          <a:xfrm>
            <a:off x="557784" y="3227832"/>
            <a:ext cx="3776472" cy="347472"/>
          </a:xfrm>
          <a:prstGeom prst="rect">
            <a:avLst/>
          </a:prstGeom>
          <a:noFill/>
        </p:spPr>
        <p:txBody>
          <a:bodyPr wrap="square">
            <a:spAutoFit/>
          </a:bodyPr>
          <a:lstStyle/>
          <a:p>
            <a:r>
              <a:rPr sz="2000" b="1">
                <a:solidFill>
                  <a:srgbClr val="8E6F3E"/>
                </a:solidFill>
                <a:latin typeface="Calibri"/>
              </a:rPr>
              <a:t>KEY-VALUE</a:t>
            </a:r>
          </a:p>
        </p:txBody>
      </p:sp>
      <p:sp>
        <p:nvSpPr>
          <p:cNvPr id="15" name="QuadFig"/>
          <p:cNvSpPr txBox="1"/>
          <p:nvPr/>
        </p:nvSpPr>
        <p:spPr>
          <a:xfrm>
            <a:off x="557784" y="3630168"/>
            <a:ext cx="3776472" cy="1188720"/>
          </a:xfrm>
          <a:prstGeom prst="rect">
            <a:avLst/>
          </a:prstGeom>
          <a:noFill/>
        </p:spPr>
        <p:txBody>
          <a:bodyPr wrap="square">
            <a:spAutoFit/>
          </a:bodyPr>
          <a:lstStyle/>
          <a:p>
            <a:r>
              <a:rPr sz="2000" b="0">
                <a:solidFill>
                  <a:srgbClr val="2D2D2D"/>
                </a:solidFill>
                <a:latin typeface="Consolas"/>
              </a:rPr>
              <a:t>room:117 → &lt;opaque value&gt;</a:t>
            </a:r>
          </a:p>
          <a:p>
            <a:r>
              <a:rPr sz="2000" b="0">
                <a:solidFill>
                  <a:srgbClr val="555960"/>
                </a:solidFill>
                <a:latin typeface="Calibri"/>
              </a:rPr>
              <a:t>fetched by key; the store never looks inside</a:t>
            </a:r>
          </a:p>
        </p:txBody>
      </p:sp>
      <p:sp>
        <p:nvSpPr>
          <p:cNvPr id="16" name="QuadHeader"/>
          <p:cNvSpPr txBox="1"/>
          <p:nvPr/>
        </p:nvSpPr>
        <p:spPr>
          <a:xfrm>
            <a:off x="4809744" y="3227832"/>
            <a:ext cx="3776472" cy="347472"/>
          </a:xfrm>
          <a:prstGeom prst="rect">
            <a:avLst/>
          </a:prstGeom>
          <a:noFill/>
        </p:spPr>
        <p:txBody>
          <a:bodyPr wrap="square">
            <a:spAutoFit/>
          </a:bodyPr>
          <a:lstStyle/>
          <a:p>
            <a:r>
              <a:rPr sz="2000" b="1">
                <a:solidFill>
                  <a:srgbClr val="8E6F3E"/>
                </a:solidFill>
                <a:latin typeface="Calibri"/>
              </a:rPr>
              <a:t>GRAPH</a:t>
            </a:r>
          </a:p>
        </p:txBody>
      </p:sp>
      <p:sp>
        <p:nvSpPr>
          <p:cNvPr id="17" name="Node"/>
          <p:cNvSpPr/>
          <p:nvPr/>
        </p:nvSpPr>
        <p:spPr>
          <a:xfrm>
            <a:off x="4892040" y="3657600"/>
            <a:ext cx="118872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USER</a:t>
            </a:r>
          </a:p>
        </p:txBody>
      </p:sp>
      <p:sp>
        <p:nvSpPr>
          <p:cNvPr id="18" name="Node"/>
          <p:cNvSpPr/>
          <p:nvPr/>
        </p:nvSpPr>
        <p:spPr>
          <a:xfrm>
            <a:off x="7360920" y="3657600"/>
            <a:ext cx="118872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ROOM</a:t>
            </a:r>
          </a:p>
        </p:txBody>
      </p:sp>
      <p:cxnSp>
        <p:nvCxnSpPr>
          <p:cNvPr id="19" name="Edge"/>
          <p:cNvCxnSpPr/>
          <p:nvPr/>
        </p:nvCxnSpPr>
        <p:spPr>
          <a:xfrm>
            <a:off x="6080760" y="3954780"/>
            <a:ext cx="128016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0" name="EdgeLabel"/>
          <p:cNvSpPr txBox="1"/>
          <p:nvPr/>
        </p:nvSpPr>
        <p:spPr>
          <a:xfrm>
            <a:off x="4983480" y="4389120"/>
            <a:ext cx="3566160" cy="365760"/>
          </a:xfrm>
          <a:prstGeom prst="rect">
            <a:avLst/>
          </a:prstGeom>
          <a:noFill/>
        </p:spPr>
        <p:txBody>
          <a:bodyPr wrap="square">
            <a:spAutoFit/>
          </a:bodyPr>
          <a:lstStyle/>
          <a:p>
            <a:pPr algn="ctr"/>
            <a:r>
              <a:rPr sz="2000" b="0">
                <a:solidFill>
                  <a:srgbClr val="555960"/>
                </a:solidFill>
                <a:latin typeface="Calibri"/>
              </a:rPr>
              <a:t>edge: RESERVED 10:00–11:00</a:t>
            </a:r>
          </a:p>
        </p:txBody>
      </p:sp>
      <p:sp>
        <p:nvSpPr>
          <p:cNvPr id="21" name="Card"/>
          <p:cNvSpPr/>
          <p:nvPr/>
        </p:nvSpPr>
        <p:spPr>
          <a:xfrm>
            <a:off x="411480" y="5440680"/>
            <a:ext cx="8321040" cy="1005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xisNote"/>
          <p:cNvSpPr txBox="1"/>
          <p:nvPr/>
        </p:nvSpPr>
        <p:spPr>
          <a:xfrm>
            <a:off x="557784" y="5513832"/>
            <a:ext cx="8046720" cy="877824"/>
          </a:xfrm>
          <a:prstGeom prst="rect">
            <a:avLst/>
          </a:prstGeom>
          <a:noFill/>
        </p:spPr>
        <p:txBody>
          <a:bodyPr wrap="square">
            <a:spAutoFit/>
          </a:bodyPr>
          <a:lstStyle/>
          <a:p>
            <a:r>
              <a:rPr sz="2000" b="1">
                <a:solidFill>
                  <a:srgbClr val="8E6F3E"/>
                </a:solidFill>
                <a:latin typeface="Calibri"/>
              </a:rPr>
              <a:t>Data model: how information is represented. Storage mechanism: what stores and coordinates it.</a:t>
            </a:r>
          </a:p>
          <a:p>
            <a:r>
              <a:rPr sz="2000" b="0">
                <a:solidFill>
                  <a:srgbClr val="555960"/>
                </a:solidFill>
                <a:latin typeface="Calibri"/>
              </a:rPr>
              <a:t>Separate decisions: a JSON file can hold any of these; SQLite holds the relational form in one local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Card"/>
          <p:cNvSpPr/>
          <p:nvPr/>
        </p:nvSpPr>
        <p:spPr>
          <a:xfrm>
            <a:off x="411480" y="4983480"/>
            <a:ext cx="8321040" cy="10058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echNote"/>
          <p:cNvSpPr txBox="1"/>
          <p:nvPr/>
        </p:nvSpPr>
        <p:spPr>
          <a:xfrm>
            <a:off x="557784" y="5056632"/>
            <a:ext cx="8046720" cy="877824"/>
          </a:xfrm>
          <a:prstGeom prst="rect">
            <a:avLst/>
          </a:prstGeom>
          <a:noFill/>
        </p:spPr>
        <p:txBody>
          <a:bodyPr wrap="square">
            <a:spAutoFit/>
          </a:bodyPr>
          <a:lstStyle/>
          <a:p>
            <a:r>
              <a:rPr sz="2000" b="1">
                <a:solidFill>
                  <a:srgbClr val="8E6F3E"/>
                </a:solidFill>
                <a:latin typeface="Calibri"/>
              </a:rPr>
              <a:t>SQLite and PostgreSQL are both relational</a:t>
            </a:r>
          </a:p>
          <a:p>
            <a:r>
              <a:rPr sz="2000" b="0">
                <a:solidFill>
                  <a:srgbClr val="555960"/>
                </a:solidFill>
                <a:latin typeface="Calibri"/>
              </a:rPr>
              <a:t>Same data model, different deployment: in-process file vs networked server. Selection is multidimensional.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1325880"/>
            <a:ext cx="4069080" cy="4251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1325880"/>
            <a:ext cx="4069080" cy="4251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Label"/>
          <p:cNvSpPr txBox="1"/>
          <p:nvPr/>
        </p:nvSpPr>
        <p:spPr>
          <a:xfrm>
            <a:off x="411480" y="822960"/>
            <a:ext cx="8321040" cy="411480"/>
          </a:xfrm>
          <a:prstGeom prst="rect">
            <a:avLst/>
          </a:prstGeom>
          <a:noFill/>
        </p:spPr>
        <p:txBody>
          <a:bodyPr wrap="square">
            <a:spAutoFit/>
          </a:bodyPr>
          <a:lstStyle/>
          <a:p>
            <a:r>
              <a:rPr sz="2000" b="1">
                <a:solidFill>
                  <a:srgbClr val="8E6F3E"/>
                </a:solidFill>
                <a:latin typeface="Calibri"/>
              </a:rPr>
              <a:t>Which database capabilities would you require for each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1965960" y="960120"/>
            <a:ext cx="2240280" cy="365760"/>
          </a:xfrm>
          <a:prstGeom prst="rect">
            <a:avLst/>
          </a:prstGeom>
          <a:noFill/>
        </p:spPr>
        <p:txBody>
          <a:bodyPr wrap="square">
            <a:spAutoFit/>
          </a:bodyPr>
          <a:lstStyle/>
          <a:p>
            <a:pPr algn="ctr">
              <a:spcAft>
                <a:spcPts val="400"/>
              </a:spcAft>
            </a:pPr>
            <a:r>
              <a:rPr sz="2000" b="1">
                <a:solidFill>
                  <a:srgbClr val="555960"/>
                </a:solidFill>
                <a:latin typeface="Calibri"/>
              </a:rPr>
              <a:t>1 user → N reservations</a:t>
            </a:r>
          </a:p>
        </p:txBody>
      </p:sp>
      <p:sp>
        <p:nvSpPr>
          <p:cNvPr id="7" name="RelLabel"/>
          <p:cNvSpPr txBox="1"/>
          <p:nvPr/>
        </p:nvSpPr>
        <p:spPr>
          <a:xfrm>
            <a:off x="5212080" y="960120"/>
            <a:ext cx="2240280" cy="365760"/>
          </a:xfrm>
          <a:prstGeom prst="rect">
            <a:avLst/>
          </a:prstGeom>
          <a:noFill/>
        </p:spPr>
        <p:txBody>
          <a:bodyPr wrap="square">
            <a:spAutoFit/>
          </a:bodyPr>
          <a:lstStyle/>
          <a:p>
            <a:pPr algn="ctr">
              <a:spcAft>
                <a:spcPts val="400"/>
              </a:spcAft>
            </a:pPr>
            <a:r>
              <a:rPr sz="2000" b="1">
                <a:solidFill>
                  <a:srgbClr val="555960"/>
                </a:solidFill>
                <a:latin typeface="Calibri"/>
              </a:rPr>
              <a:t>N reservations ← 1 room</a:t>
            </a:r>
          </a:p>
        </p:txBody>
      </p:sp>
      <p:cxnSp>
        <p:nvCxnSpPr>
          <p:cNvPr id="8" name="RelLine"/>
          <p:cNvCxnSpPr/>
          <p:nvPr/>
        </p:nvCxnSpPr>
        <p:spPr>
          <a:xfrm>
            <a:off x="2468880" y="1760220"/>
            <a:ext cx="1143000" cy="0"/>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head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no overlapping CONFIRMED reservations per room</a:t>
            </a:r>
          </a:p>
          <a:p>
            <a:pPr algn="l">
              <a:spcAft>
                <a:spcPts val="400"/>
              </a:spcAft>
            </a:pPr>
            <a:r>
              <a:rPr sz="2000" b="0">
                <a:solidFill>
                  <a:srgbClr val="555960"/>
                </a:solidFill>
                <a:latin typeface="Calibri"/>
              </a:rPr>
              <a:t>Entities supply the vocabulary to state it (room_id, starts_at, ends_at, status); nothing here enforces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the concurrency section.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It returns when requests overlap.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783080"/>
            <a:ext cx="32461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874519"/>
            <a:ext cx="2953512" cy="2194560"/>
          </a:xfrm>
          <a:prstGeom prst="rect">
            <a:avLst/>
          </a:prstGeom>
          <a:noFill/>
        </p:spPr>
        <p:txBody>
          <a:bodyPr wrap="square">
            <a:spAutoFit/>
          </a:bodyPr>
          <a:lstStyle/>
          <a:p>
            <a:pPr algn="l">
              <a:spcAft>
                <a:spcPts val="600"/>
              </a:spcAft>
            </a:pPr>
            <a:r>
              <a:rPr sz="2000" b="1">
                <a:solidFill>
                  <a:srgbClr val="5C4826"/>
                </a:solidFill>
                <a:latin typeface="Calibri"/>
              </a:rPr>
              <a:t>An ORM maps application operations to database queries</a:t>
            </a:r>
          </a:p>
          <a:p>
            <a:pPr algn="l">
              <a:spcAft>
                <a:spcPts val="600"/>
              </a:spcAft>
            </a:pPr>
            <a:r>
              <a:rPr sz="2000" b="0">
                <a:solidFill>
                  <a:srgbClr val="555960"/>
                </a:solidFill>
                <a:latin typeface="Calibri"/>
              </a:rPr>
              <a:t>The database still determines how those queries execute.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14" name="Card"/>
          <p:cNvSpPr/>
          <p:nvPr/>
        </p:nvSpPr>
        <p:spPr>
          <a:xfrm>
            <a:off x="411480" y="4892040"/>
            <a:ext cx="8321040" cy="960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4965192"/>
            <a:ext cx="8046720" cy="822960"/>
          </a:xfrm>
          <a:prstGeom prst="rect">
            <a:avLst/>
          </a:prstGeom>
          <a:noFill/>
        </p:spPr>
        <p:txBody>
          <a:bodyPr wrap="square">
            <a:spAutoFit/>
          </a:bodyPr>
          <a:lstStyle/>
          <a:p>
            <a:pPr algn="l">
              <a:spcAft>
                <a:spcPts val="300"/>
              </a:spcAft>
            </a:pPr>
            <a:r>
              <a:rPr sz="2000" b="1">
                <a:solidFill>
                  <a:srgbClr val="5C4826"/>
                </a:solidFill>
                <a:latin typeface="Calibri"/>
              </a:rPr>
              <a:t>It compares candidate plans by estimated cost, using statistics about YOUR data</a:t>
            </a:r>
          </a:p>
          <a:p>
            <a:pPr algn="l">
              <a:spcAft>
                <a:spcPts val="400"/>
              </a:spcAft>
            </a:pPr>
            <a:r>
              <a:rPr sz="2000" b="0">
                <a:solidFill>
                  <a:srgbClr val="555960"/>
                </a:solidFill>
                <a:latin typeface="Calibri"/>
              </a:rPr>
              <a:t>Same SQL, thousandfold cost differences. The levers you supply: indexes, layout, fresh statistics.</a:t>
            </a:r>
          </a:p>
        </p:txBody>
      </p:sp>
      <p:sp>
        <p:nvSpPr>
          <p:cNvPr id="16" name="Block"/>
          <p:cNvSpPr/>
          <p:nvPr/>
        </p:nvSpPr>
        <p:spPr>
          <a:xfrm>
            <a:off x="41148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Parse &amp; validate</a:t>
            </a:r>
          </a:p>
        </p:txBody>
      </p:sp>
      <p:sp>
        <p:nvSpPr>
          <p:cNvPr id="17" name="Arrow"/>
          <p:cNvSpPr/>
          <p:nvPr/>
        </p:nvSpPr>
        <p:spPr>
          <a:xfrm>
            <a:off x="2304288" y="1088136"/>
            <a:ext cx="365760"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p:cNvSpPr/>
          <p:nvPr/>
        </p:nvSpPr>
        <p:spPr>
          <a:xfrm>
            <a:off x="274320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Logical plan</a:t>
            </a:r>
          </a:p>
        </p:txBody>
      </p:sp>
      <p:sp>
        <p:nvSpPr>
          <p:cNvPr id="19" name="Arrow"/>
          <p:cNvSpPr/>
          <p:nvPr/>
        </p:nvSpPr>
        <p:spPr>
          <a:xfrm>
            <a:off x="3520440" y="1554480"/>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lock"/>
          <p:cNvSpPr/>
          <p:nvPr/>
        </p:nvSpPr>
        <p:spPr>
          <a:xfrm>
            <a:off x="2743200" y="1874519"/>
            <a:ext cx="18288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OPTIMIZER</a:t>
            </a:r>
          </a:p>
        </p:txBody>
      </p:sp>
      <p:sp>
        <p:nvSpPr>
          <p:cNvPr id="21" name="Block"/>
          <p:cNvSpPr/>
          <p:nvPr/>
        </p:nvSpPr>
        <p:spPr>
          <a:xfrm>
            <a:off x="5760720" y="1874519"/>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statistics about your data</a:t>
            </a:r>
          </a:p>
        </p:txBody>
      </p:sp>
      <p:sp>
        <p:nvSpPr>
          <p:cNvPr id="22" name="Arrow"/>
          <p:cNvSpPr/>
          <p:nvPr/>
        </p:nvSpPr>
        <p:spPr>
          <a:xfrm>
            <a:off x="5074920" y="2139696"/>
            <a:ext cx="411480"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lanBranch"/>
          <p:cNvCxnSpPr/>
          <p:nvPr/>
        </p:nvCxnSpPr>
        <p:spPr>
          <a:xfrm flipH="1">
            <a:off x="2377440" y="2633472"/>
            <a:ext cx="822960" cy="338328"/>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lanBranch"/>
          <p:cNvCxnSpPr/>
          <p:nvPr/>
        </p:nvCxnSpPr>
        <p:spPr>
          <a:xfrm>
            <a:off x="4114800" y="2633472"/>
            <a:ext cx="2468880" cy="338328"/>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andidate"/>
          <p:cNvSpPr/>
          <p:nvPr/>
        </p:nvSpPr>
        <p:spPr>
          <a:xfrm>
            <a:off x="640080" y="297180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ndidateBody"/>
          <p:cNvSpPr txBox="1"/>
          <p:nvPr/>
        </p:nvSpPr>
        <p:spPr>
          <a:xfrm>
            <a:off x="768096" y="3026664"/>
            <a:ext cx="3218688" cy="777240"/>
          </a:xfrm>
          <a:prstGeom prst="rect">
            <a:avLst/>
          </a:prstGeom>
          <a:noFill/>
        </p:spPr>
        <p:txBody>
          <a:bodyPr wrap="square">
            <a:spAutoFit/>
          </a:bodyPr>
          <a:lstStyle/>
          <a:p>
            <a:r>
              <a:rPr sz="2000" b="1">
                <a:solidFill>
                  <a:srgbClr val="2D2D2D"/>
                </a:solidFill>
                <a:latin typeface="Calibri"/>
              </a:rPr>
              <a:t>Candidate A: sequential scan</a:t>
            </a:r>
          </a:p>
          <a:p>
            <a:r>
              <a:rPr sz="2000" b="0">
                <a:solidFill>
                  <a:srgbClr val="555960"/>
                </a:solidFill>
                <a:latin typeface="Calibri"/>
              </a:rPr>
              <a:t>read every row, test each</a:t>
            </a:r>
          </a:p>
        </p:txBody>
      </p:sp>
      <p:sp>
        <p:nvSpPr>
          <p:cNvPr id="27" name="Candidate"/>
          <p:cNvSpPr/>
          <p:nvPr/>
        </p:nvSpPr>
        <p:spPr>
          <a:xfrm>
            <a:off x="4846320" y="297180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ndidateBody"/>
          <p:cNvSpPr txBox="1"/>
          <p:nvPr/>
        </p:nvSpPr>
        <p:spPr>
          <a:xfrm>
            <a:off x="4974336" y="3026664"/>
            <a:ext cx="3218688" cy="777240"/>
          </a:xfrm>
          <a:prstGeom prst="rect">
            <a:avLst/>
          </a:prstGeom>
          <a:noFill/>
        </p:spPr>
        <p:txBody>
          <a:bodyPr wrap="square">
            <a:spAutoFit/>
          </a:bodyPr>
          <a:lstStyle/>
          <a:p>
            <a:r>
              <a:rPr sz="2000" b="1">
                <a:solidFill>
                  <a:srgbClr val="2D2D2D"/>
                </a:solidFill>
                <a:latin typeface="Calibri"/>
              </a:rPr>
              <a:t>Candidate B: index range scan</a:t>
            </a:r>
          </a:p>
          <a:p>
            <a:r>
              <a:rPr sz="2000" b="0">
                <a:solidFill>
                  <a:srgbClr val="555960"/>
                </a:solidFill>
                <a:latin typeface="Calibri"/>
              </a:rPr>
              <a:t>seek this room's window</a:t>
            </a:r>
          </a:p>
        </p:txBody>
      </p:sp>
      <p:sp>
        <p:nvSpPr>
          <p:cNvPr id="29" name="Arrow"/>
          <p:cNvSpPr/>
          <p:nvPr/>
        </p:nvSpPr>
        <p:spPr>
          <a:xfrm>
            <a:off x="6446520" y="3877056"/>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oiceLabel"/>
          <p:cNvSpPr txBox="1"/>
          <p:nvPr/>
        </p:nvSpPr>
        <p:spPr>
          <a:xfrm>
            <a:off x="3017520" y="4169663"/>
            <a:ext cx="3291840" cy="347472"/>
          </a:xfrm>
          <a:prstGeom prst="rect">
            <a:avLst/>
          </a:prstGeom>
          <a:noFill/>
        </p:spPr>
        <p:txBody>
          <a:bodyPr wrap="square">
            <a:spAutoFit/>
          </a:bodyPr>
          <a:lstStyle/>
          <a:p>
            <a:pPr algn="r"/>
            <a:r>
              <a:rPr sz="2000" b="0">
                <a:solidFill>
                  <a:srgbClr val="555960"/>
                </a:solidFill>
                <a:latin typeface="Calibri"/>
              </a:rPr>
              <a:t>lowest estimated cost wins</a:t>
            </a:r>
          </a:p>
        </p:txBody>
      </p:sp>
      <p:sp>
        <p:nvSpPr>
          <p:cNvPr id="31" name="Block"/>
          <p:cNvSpPr/>
          <p:nvPr/>
        </p:nvSpPr>
        <p:spPr>
          <a:xfrm>
            <a:off x="4846320" y="4187952"/>
            <a:ext cx="34747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Execute the chosen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 and each request, read alone, follows the intended algorithm exactly.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
        <p:nvSpPr>
          <p:cNvPr id="8" name="SetOuter"/>
          <p:cNvSpPr/>
          <p:nvPr/>
        </p:nvSpPr>
        <p:spPr>
          <a:xfrm>
            <a:off x="640080" y="914400"/>
            <a:ext cx="7863840" cy="3154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tMid"/>
          <p:cNvSpPr/>
          <p:nvPr/>
        </p:nvSpPr>
        <p:spPr>
          <a:xfrm>
            <a:off x="1188720" y="1627632"/>
            <a:ext cx="6766560" cy="2212848"/>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etInner"/>
          <p:cNvSpPr/>
          <p:nvPr/>
        </p:nvSpPr>
        <p:spPr>
          <a:xfrm>
            <a:off x="1783080" y="2487168"/>
            <a:ext cx="3749039" cy="107899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SERIALIZABLE</a:t>
            </a:r>
          </a:p>
          <a:p>
            <a:pPr algn="ctr"/>
            <a:r>
              <a:rPr sz="2000" b="0">
                <a:solidFill>
                  <a:srgbClr val="FFFFFF"/>
                </a:solidFill>
                <a:latin typeface="Calibri"/>
              </a:rPr>
              <a:t>equivalent to some serial order</a:t>
            </a:r>
          </a:p>
        </p:txBody>
      </p:sp>
      <p:sp>
        <p:nvSpPr>
          <p:cNvPr id="11" name="SetLabel"/>
          <p:cNvSpPr txBox="1"/>
          <p:nvPr/>
        </p:nvSpPr>
        <p:spPr>
          <a:xfrm>
            <a:off x="822960" y="987552"/>
            <a:ext cx="6035040" cy="365760"/>
          </a:xfrm>
          <a:prstGeom prst="rect">
            <a:avLst/>
          </a:prstGeom>
          <a:noFill/>
        </p:spPr>
        <p:txBody>
          <a:bodyPr wrap="square">
            <a:spAutoFit/>
          </a:bodyPr>
          <a:lstStyle/>
          <a:p>
            <a:r>
              <a:rPr sz="2000" b="1">
                <a:solidFill>
                  <a:srgbClr val="2D2D2D"/>
                </a:solidFill>
                <a:latin typeface="Calibri"/>
              </a:rPr>
              <a:t>All interleavings of concurrent transactions</a:t>
            </a:r>
          </a:p>
        </p:txBody>
      </p:sp>
      <p:sp>
        <p:nvSpPr>
          <p:cNvPr id="12" name="SetLabel"/>
          <p:cNvSpPr txBox="1"/>
          <p:nvPr/>
        </p:nvSpPr>
        <p:spPr>
          <a:xfrm>
            <a:off x="1371600" y="1700784"/>
            <a:ext cx="6035040" cy="365760"/>
          </a:xfrm>
          <a:prstGeom prst="rect">
            <a:avLst/>
          </a:prstGeom>
          <a:noFill/>
        </p:spPr>
        <p:txBody>
          <a:bodyPr wrap="square">
            <a:spAutoFit/>
          </a:bodyPr>
          <a:lstStyle/>
          <a:p>
            <a:r>
              <a:rPr sz="2000" b="1">
                <a:solidFill>
                  <a:srgbClr val="555960"/>
                </a:solidFill>
                <a:latin typeface="Calibri"/>
              </a:rPr>
              <a:t>Histories your isolation level permits</a:t>
            </a:r>
          </a:p>
        </p:txBody>
      </p:sp>
      <p:sp>
        <p:nvSpPr>
          <p:cNvPr id="13" name="RaceMarker"/>
          <p:cNvSpPr txBox="1"/>
          <p:nvPr/>
        </p:nvSpPr>
        <p:spPr>
          <a:xfrm>
            <a:off x="5760720" y="2651760"/>
            <a:ext cx="2103120" cy="777240"/>
          </a:xfrm>
          <a:prstGeom prst="rect">
            <a:avLst/>
          </a:prstGeom>
          <a:noFill/>
        </p:spPr>
        <p:txBody>
          <a:bodyPr wrap="square">
            <a:spAutoFit/>
          </a:bodyPr>
          <a:lstStyle/>
          <a:p>
            <a:r>
              <a:rPr sz="2000" b="1">
                <a:solidFill>
                  <a:srgbClr val="8E6F3E"/>
                </a:solidFill>
                <a:latin typeface="Calibri"/>
              </a:rPr>
              <a:t>✗ the double-booking</a:t>
            </a:r>
          </a:p>
          <a:p>
            <a:r>
              <a:rPr sz="2000" b="1">
                <a:solidFill>
                  <a:srgbClr val="8E6F3E"/>
                </a:solidFill>
                <a:latin typeface="Calibri"/>
              </a:rPr>
              <a:t>history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SCHEMA states it; the engine rejects the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a:t>
            </a:r>
          </a:p>
          <a:p>
            <a:pPr algn="l">
              <a:spcAft>
                <a:spcPts val="400"/>
              </a:spcAft>
            </a:pPr>
            <a:r>
              <a:rPr sz="2000" b="0">
                <a:solidFill>
                  <a:srgbClr val="555960"/>
                </a:solidFill>
                <a:latin typeface="Calibri"/>
              </a:rPr>
              <a:t>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first — your LOCKING DISCIPLINE,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state this invariant: it relates multiple reservation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CHANGE</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the old version keep operating mid-migration?</a:t>
            </a:r>
          </a:p>
          <a:p>
            <a:pPr algn="l">
              <a:spcAft>
                <a:spcPts val="400"/>
              </a:spcAft>
            </a:pPr>
            <a:r>
              <a:rPr sz="2000" b="0">
                <a:solidFill>
                  <a:srgbClr val="555960"/>
                </a:solidFill>
                <a:latin typeface="Calibri"/>
              </a:rPr>
              <a:t>Expand → migrate → contract: add the new shape, move, then retire the old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p:cNvSpPr/>
          <p:nvPr/>
        </p:nvSpPr>
        <p:spPr>
          <a:xfrm>
            <a:off x="41148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r>
              <a:rPr sz="2000" b="0">
                <a:solidFill>
                  <a:srgbClr val="FFFFFF"/>
                </a:solidFill>
                <a:latin typeface="Calibri"/>
              </a:rPr>
              <a:t>preserve correct reservations</a:t>
            </a:r>
          </a:p>
        </p:txBody>
      </p:sp>
      <p:sp>
        <p:nvSpPr>
          <p:cNvPr id="4" name="Block"/>
          <p:cNvSpPr/>
          <p:nvPr/>
        </p:nvSpPr>
        <p:spPr>
          <a:xfrm>
            <a:off x="333756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r>
              <a:rPr sz="2000" b="0">
                <a:solidFill>
                  <a:srgbClr val="FFFFFF"/>
                </a:solidFill>
                <a:latin typeface="Calibri"/>
              </a:rPr>
              <a:t>entities, intervals, invariant</a:t>
            </a:r>
          </a:p>
        </p:txBody>
      </p:sp>
      <p:sp>
        <p:nvSpPr>
          <p:cNvPr id="5" name="Block"/>
          <p:cNvSpPr/>
          <p:nvPr/>
        </p:nvSpPr>
        <p:spPr>
          <a:xfrm>
            <a:off x="626364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r>
              <a:rPr sz="2000" b="0">
                <a:solidFill>
                  <a:srgbClr val="FFFFFF"/>
                </a:solidFill>
                <a:latin typeface="Calibri"/>
              </a:rPr>
              <a:t>relational, normalized</a:t>
            </a:r>
          </a:p>
        </p:txBody>
      </p:sp>
      <p:sp>
        <p:nvSpPr>
          <p:cNvPr id="6" name="Arrow"/>
          <p:cNvSpPr/>
          <p:nvPr/>
        </p:nvSpPr>
        <p:spPr>
          <a:xfrm>
            <a:off x="2907792" y="14081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4081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2121408"/>
            <a:ext cx="365760" cy="4206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r>
              <a:rPr sz="2000" b="0">
                <a:solidFill>
                  <a:srgbClr val="FFFFFF"/>
                </a:solidFill>
                <a:latin typeface="Calibri"/>
              </a:rPr>
              <a:t>schema and queries</a:t>
            </a:r>
          </a:p>
        </p:txBody>
      </p:sp>
      <p:sp>
        <p:nvSpPr>
          <p:cNvPr id="10" name="Block"/>
          <p:cNvSpPr/>
          <p:nvPr/>
        </p:nvSpPr>
        <p:spPr>
          <a:xfrm>
            <a:off x="333756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r>
              <a:rPr sz="2000" b="0">
                <a:solidFill>
                  <a:srgbClr val="FFFFFF"/>
                </a:solidFill>
                <a:latin typeface="Calibri"/>
              </a:rPr>
              <a:t>plans and the race</a:t>
            </a:r>
          </a:p>
        </p:txBody>
      </p:sp>
      <p:sp>
        <p:nvSpPr>
          <p:cNvPr id="11" name="Block"/>
          <p:cNvSpPr/>
          <p:nvPr/>
        </p:nvSpPr>
        <p:spPr>
          <a:xfrm>
            <a:off x="41148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r>
              <a:rPr sz="2000" b="0">
                <a:solidFill>
                  <a:srgbClr val="FFFFFF"/>
                </a:solidFill>
                <a:latin typeface="Calibri"/>
              </a:rPr>
              <a:t>adopt the exclusion constraint</a:t>
            </a:r>
          </a:p>
        </p:txBody>
      </p:sp>
      <p:sp>
        <p:nvSpPr>
          <p:cNvPr id="12" name="Arrow"/>
          <p:cNvSpPr/>
          <p:nvPr/>
        </p:nvSpPr>
        <p:spPr>
          <a:xfrm>
            <a:off x="5833872" y="30540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30540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4041648"/>
            <a:ext cx="8321040" cy="56692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alongside every step: schema constraints, checks, gates</a:t>
            </a:r>
          </a:p>
        </p:txBody>
      </p:sp>
      <p:cxnSp>
        <p:nvCxnSpPr>
          <p:cNvPr id="15" name="AlignLink"/>
          <p:cNvCxnSpPr/>
          <p:nvPr/>
        </p:nvCxnSpPr>
        <p:spPr>
          <a:xfrm>
            <a:off x="1645920" y="3749039"/>
            <a:ext cx="0" cy="292608"/>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6" name="AlignLink"/>
          <p:cNvCxnSpPr/>
          <p:nvPr/>
        </p:nvCxnSpPr>
        <p:spPr>
          <a:xfrm>
            <a:off x="7498079" y="3749039"/>
            <a:ext cx="0" cy="292608"/>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same method as Tuesday — different models, same discipline</a:t>
            </a:r>
          </a:p>
        </p:txBody>
      </p:sp>
      <p:sp>
        <p:nvSpPr>
          <p:cNvPr id="21" name="MethodNote"/>
          <p:cNvSpPr txBox="1"/>
          <p:nvPr/>
        </p:nvSpPr>
        <p:spPr>
          <a:xfrm>
            <a:off x="411480" y="4937760"/>
            <a:ext cx="8321040" cy="731520"/>
          </a:xfrm>
          <a:prstGeom prst="rect">
            <a:avLst/>
          </a:prstGeom>
          <a:noFill/>
        </p:spPr>
        <p:txBody>
          <a:bodyPr wrap="square">
            <a:spAutoFit/>
          </a:bodyPr>
          <a:lstStyle/>
          <a:p>
            <a:r>
              <a:rPr sz="2000" b="0">
                <a:solidFill>
                  <a:srgbClr val="555960"/>
                </a:solidFill>
                <a:latin typeface="Calibri"/>
              </a:rPr>
              <a:t>Tuesday's frame, today's artifacts: every box filled by a decision made in this lecture.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Explicit storage and concurrency tradeoffs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 and everything it inherited — become the object of engineering.</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