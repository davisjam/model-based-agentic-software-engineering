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0"/>
  </p:notes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65"/>
    <p:restoredTop sz="80913"/>
  </p:normalViewPr>
  <p:slideViewPr>
    <p:cSldViewPr snapToGrid="0">
      <p:cViewPr varScale="1">
        <p:scale>
          <a:sx n="100" d="100"/>
          <a:sy n="100" d="100"/>
        </p:scale>
        <p:origin x="16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1 minute.</a:t>
            </a:r>
          </a:p>
          <a:p/>
          <a:p>
            <a:r>
              <a:t>Tuesday deployed the reservation service: HTTP API, reservation logic, in-memory state. Today the state gets a real home. The governing question on the slide is the arc for 75 minutes: represent (data models, schemas), retrieve (queries, plans), preserve (durability, transactions, migrations).</a:t>
            </a:r>
          </a:p>
          <a:p/>
          <a:p>
            <a:r>
              <a:t>Frame the posture up front: today is about a DESIGN SPACE — choices about representation, semantics, interfaces, concurrency, and scale. SQL, NoSQL, ORMs, indexes, and transactions are mechanisms within that space, not the subject. This is not an SQL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Run it as three quick questions. (1) We kill -9 the service: what did users lose? (2) Load grows and we add a second replica, as Tuesday's topology allowed: what goes wrong? (Each replica has its own dict.) (3) Two students click Reserve on room 117 at the same moment: what do both requests see?</a:t>
            </a:r>
          </a:p>
          <a:p/>
          <a:p>
            <a:r>
              <a:t>Students will collapse all three into "use a database." Push on SEPARABILITY — that is the slide's point: an embedded database like SQLite gives durability and transactions with no server and no sharing; a distributed key-value store gives scalable sharing with a very different transaction model; a cache gives fast sharing with no persistence at all. The three requirements select machinery independently.</a:t>
            </a:r>
          </a:p>
          <a:p/>
          <a:p>
            <a:r>
              <a:t>Do not let "database" mean "SQL server" yet — next slide names the component abstractly.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TIMING: 3 minutes.</a:t>
            </a:r>
          </a:p>
          <a:p/>
          <a:p>
            <a:r>
              <a:t>Ask for databases students have used that are not a SQL server: SQLite inside every phone app, Redis, MongoDB, Firebase, even a Git repository. The point: "database" names a component you delegate state to, with an engineering contract — not a language and not a vendor aisle.</a:t>
            </a:r>
          </a:p>
          <a:p/>
          <a:p>
            <a:r>
              <a:t>The bottom card recalls the separability from the previous slide with concrete machinery. None of these is "not a real database"; each occupies a different point in the space we are about to draw.</a:t>
            </a:r>
          </a:p>
          <a:p/>
          <a:p>
            <a:r>
              <a:t>Next slide makes "the contract" precise: five dimensions that organize the rest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simple">
  <p:cSld name="Title slide - simp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Times"/>
              <a:buNone/>
              <a:defRPr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27125" y="2078038"/>
            <a:ext cx="7031038" cy="874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Calibri"/>
              <a:buNone/>
              <a:defRPr sz="3600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17" name="Google Shape;17;p2"/>
          <p:cNvCxnSpPr/>
          <p:nvPr/>
        </p:nvCxnSpPr>
        <p:spPr>
          <a:xfrm>
            <a:off x="-16760" y="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18" name="Google Shape;18;p2"/>
          <p:cNvCxnSpPr/>
          <p:nvPr/>
        </p:nvCxnSpPr>
        <p:spPr>
          <a:xfrm>
            <a:off x="0" y="6858000"/>
            <a:ext cx="9144000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19" name="Google Shape;19;p2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97131" y="5715964"/>
            <a:ext cx="5091026" cy="5425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">
  <p:cSld name="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body" idx="1"/>
          </p:nvPr>
        </p:nvSpPr>
        <p:spPr>
          <a:xfrm>
            <a:off x="277148" y="1305004"/>
            <a:ext cx="8557768" cy="5166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277148" y="756603"/>
            <a:ext cx="8557769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25" name="Google Shape;25;p3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685800" y="2747963"/>
            <a:ext cx="7772400" cy="13620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82875" tIns="182875" rIns="182875" bIns="1828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Calibri"/>
              <a:buNone/>
              <a:defRPr sz="4000" b="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-57794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29" name="Google Shape;29;p4"/>
          <p:cNvCxnSpPr/>
          <p:nvPr/>
        </p:nvCxnSpPr>
        <p:spPr>
          <a:xfrm>
            <a:off x="-78517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">
  <p:cSld name="Double conten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484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675369" y="1250205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800"/>
              <a:buChar char="•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cxnSp>
        <p:nvCxnSpPr>
          <p:cNvPr id="34" name="Google Shape;34;p5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uble content - titled">
  <p:cSld name="Double content - titled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457200" y="1258655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457200" y="1898417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3"/>
          </p:nvPr>
        </p:nvSpPr>
        <p:spPr>
          <a:xfrm>
            <a:off x="4645025" y="1258655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 b="1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4"/>
          </p:nvPr>
        </p:nvSpPr>
        <p:spPr>
          <a:xfrm>
            <a:off x="4645025" y="1898417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Char char="•"/>
              <a:defRPr sz="3200"/>
            </a:lvl1pPr>
            <a:lvl2pPr marL="914400" lvl="1" indent="-355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cxnSp>
        <p:nvCxnSpPr>
          <p:cNvPr id="42" name="Google Shape;42;p6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3" name="Google Shape;43;p6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Just borders">
  <p:cSld name="Just border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" name="Google Shape;46;p7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47" name="Google Shape;47;p7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adrants">
  <p:cSld name="Quadrants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Google Shape;50;p8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51" name="Google Shape;51;p8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52" name="Google Shape;52;p8"/>
          <p:cNvSpPr>
            <a:spLocks noGrp="1"/>
          </p:cNvSpPr>
          <p:nvPr>
            <p:ph type="pic" idx="2"/>
          </p:nvPr>
        </p:nvSpPr>
        <p:spPr>
          <a:xfrm>
            <a:off x="877888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Google Shape;53;p8"/>
          <p:cNvSpPr>
            <a:spLocks noGrp="1"/>
          </p:cNvSpPr>
          <p:nvPr>
            <p:ph type="pic" idx="3"/>
          </p:nvPr>
        </p:nvSpPr>
        <p:spPr>
          <a:xfrm>
            <a:off x="5204723" y="765140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" name="Google Shape;54;p8"/>
          <p:cNvSpPr>
            <a:spLocks noGrp="1"/>
          </p:cNvSpPr>
          <p:nvPr>
            <p:ph type="pic" idx="4"/>
          </p:nvPr>
        </p:nvSpPr>
        <p:spPr>
          <a:xfrm>
            <a:off x="877887" y="3596647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Google Shape;55;p8"/>
          <p:cNvSpPr>
            <a:spLocks noGrp="1"/>
          </p:cNvSpPr>
          <p:nvPr>
            <p:ph type="pic" idx="5"/>
          </p:nvPr>
        </p:nvSpPr>
        <p:spPr>
          <a:xfrm>
            <a:off x="5204723" y="3616525"/>
            <a:ext cx="3137521" cy="246833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6" name="Google Shape;56;p8"/>
          <p:cNvSpPr txBox="1">
            <a:spLocks noGrp="1"/>
          </p:cNvSpPr>
          <p:nvPr>
            <p:ph type="body" idx="1"/>
          </p:nvPr>
        </p:nvSpPr>
        <p:spPr>
          <a:xfrm>
            <a:off x="877819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body" idx="6"/>
          </p:nvPr>
        </p:nvSpPr>
        <p:spPr>
          <a:xfrm>
            <a:off x="5205344" y="213987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body" idx="7"/>
          </p:nvPr>
        </p:nvSpPr>
        <p:spPr>
          <a:xfrm>
            <a:off x="877819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body" idx="8"/>
          </p:nvPr>
        </p:nvSpPr>
        <p:spPr>
          <a:xfrm>
            <a:off x="5205344" y="6093410"/>
            <a:ext cx="3136900" cy="550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000"/>
              <a:buFont typeface="Calibri"/>
              <a:buNone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Google Shape;64;p9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-37071" y="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cxnSp>
        <p:nvCxnSpPr>
          <p:cNvPr id="66" name="Google Shape;66;p9"/>
          <p:cNvCxnSpPr/>
          <p:nvPr/>
        </p:nvCxnSpPr>
        <p:spPr>
          <a:xfrm>
            <a:off x="-57794" y="6858000"/>
            <a:ext cx="9259587" cy="0"/>
          </a:xfrm>
          <a:prstGeom prst="straightConnector1">
            <a:avLst/>
          </a:prstGeom>
          <a:noFill/>
          <a:ln w="762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67" name="Google Shape;67;p9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ributions">
  <p:cSld name="Contributio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595200" y="106023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77148" y="756603"/>
            <a:ext cx="8577217" cy="0"/>
          </a:xfrm>
          <a:prstGeom prst="straightConnector1">
            <a:avLst/>
          </a:prstGeom>
          <a:noFill/>
          <a:ln w="38100" cap="flat" cmpd="sng">
            <a:solidFill>
              <a:schemeClr val="accent1"/>
            </a:solidFill>
            <a:prstDash val="solid"/>
            <a:miter lim="8000"/>
            <a:headEnd type="none" w="med" len="med"/>
            <a:tailEnd type="none" w="med" len="med"/>
          </a:ln>
        </p:spPr>
      </p:cxnSp>
      <p:sp>
        <p:nvSpPr>
          <p:cNvPr id="71" name="Google Shape;71;p10"/>
          <p:cNvSpPr>
            <a:spLocks noGrp="1"/>
          </p:cNvSpPr>
          <p:nvPr>
            <p:ph type="pic" idx="2"/>
          </p:nvPr>
        </p:nvSpPr>
        <p:spPr>
          <a:xfrm>
            <a:off x="17610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2" name="Google Shape;72;p10"/>
          <p:cNvSpPr>
            <a:spLocks noGrp="1"/>
          </p:cNvSpPr>
          <p:nvPr>
            <p:ph type="pic" idx="3"/>
          </p:nvPr>
        </p:nvSpPr>
        <p:spPr>
          <a:xfrm>
            <a:off x="3843866" y="174928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4"/>
          </p:nvPr>
        </p:nvSpPr>
        <p:spPr>
          <a:xfrm>
            <a:off x="595200" y="3129880"/>
            <a:ext cx="6064017" cy="1838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>
                <a:srgbClr val="000000"/>
              </a:buClr>
              <a:buSzPts val="3120"/>
              <a:buFont typeface="Calibri"/>
              <a:buNone/>
              <a:defRPr sz="2600" b="0" u="sng"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0"/>
          <p:cNvSpPr>
            <a:spLocks noGrp="1"/>
          </p:cNvSpPr>
          <p:nvPr>
            <p:ph type="pic" idx="5"/>
          </p:nvPr>
        </p:nvSpPr>
        <p:spPr>
          <a:xfrm>
            <a:off x="17610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Google Shape;75;p10"/>
          <p:cNvSpPr>
            <a:spLocks noGrp="1"/>
          </p:cNvSpPr>
          <p:nvPr>
            <p:ph type="pic" idx="6"/>
          </p:nvPr>
        </p:nvSpPr>
        <p:spPr>
          <a:xfrm>
            <a:off x="3843866" y="3818938"/>
            <a:ext cx="1456267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6" name="Google Shape;76;p10"/>
          <p:cNvSpPr txBox="1">
            <a:spLocks noGrp="1"/>
          </p:cNvSpPr>
          <p:nvPr>
            <p:ph type="title"/>
          </p:nvPr>
        </p:nvSpPr>
        <p:spPr>
          <a:xfrm>
            <a:off x="277148" y="118428"/>
            <a:ext cx="8043862" cy="638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b="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b="0" i="0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Calibri"/>
              <a:buNone/>
              <a:defRPr sz="2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12" name="Google Shape;12;p1" descr="A close up of a sign&#10;&#10;Description automatically generated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46670" y="6562249"/>
            <a:ext cx="292555" cy="15627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1"/>
          <p:cNvSpPr txBox="1">
            <a:spLocks noGrp="1"/>
          </p:cNvSpPr>
          <p:nvPr>
            <p:ph type="sldNum" idx="12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400" b="0" i="0" u="none" strike="noStrike" cap="none">
                <a:solidFill>
                  <a:srgbClr val="55596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urseLine"/>
          <p:cNvSpPr txBox="1"/>
          <p:nvPr/>
        </p:nvSpPr>
        <p:spPr>
          <a:xfrm>
            <a:off x="658368" y="576072"/>
            <a:ext cx="7818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S o f t w a r e   E n g i n e e r i n g</a:t>
            </a:r>
          </a:p>
        </p:txBody>
      </p:sp>
      <p:sp>
        <p:nvSpPr>
          <p:cNvPr id="3" name="CourseNumber"/>
          <p:cNvSpPr txBox="1"/>
          <p:nvPr/>
        </p:nvSpPr>
        <p:spPr>
          <a:xfrm>
            <a:off x="658368" y="1014984"/>
            <a:ext cx="7818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ECE 30861 / CSCI 45000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384048" y="17830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0">
                <a:solidFill>
                  <a:srgbClr val="2D2D2D"/>
                </a:solidFill>
                <a:latin typeface="Calibri"/>
              </a:rPr>
              <a:t>Data Management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429768" y="2606040"/>
            <a:ext cx="8284464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0">
                <a:solidFill>
                  <a:srgbClr val="8E6F3E"/>
                </a:solidFill>
                <a:latin typeface="Calibri"/>
              </a:rPr>
              <a:t>How do we represent, retrieve, and preserve information as software systems grow?</a:t>
            </a:r>
          </a:p>
        </p:txBody>
      </p:sp>
      <p:sp>
        <p:nvSpPr>
          <p:cNvPr id="6" name="Instructors"/>
          <p:cNvSpPr txBox="1"/>
          <p:nvPr/>
        </p:nvSpPr>
        <p:spPr>
          <a:xfrm>
            <a:off x="740664" y="3657600"/>
            <a:ext cx="7680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James C. Davis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2D2D2D"/>
                </a:solidFill>
                <a:latin typeface="Calibri"/>
              </a:rPr>
              <a:t>Prof. Steve France</a:t>
            </a:r>
          </a:p>
        </p:txBody>
      </p:sp>
      <p:sp>
        <p:nvSpPr>
          <p:cNvPr id="7" name="ActLine"/>
          <p:cNvSpPr txBox="1"/>
          <p:nvPr/>
        </p:nvSpPr>
        <p:spPr>
          <a:xfrm>
            <a:off x="1143000" y="461772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Act III — Engineering Software Systems</a:t>
            </a:r>
          </a:p>
        </p:txBody>
      </p:sp>
      <p:sp>
        <p:nvSpPr>
          <p:cNvPr id="8" name="DateLine"/>
          <p:cNvSpPr txBox="1"/>
          <p:nvPr/>
        </p:nvSpPr>
        <p:spPr>
          <a:xfrm>
            <a:off x="1143000" y="5029200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Thursday, November 5,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Our service keeps every reservation in memory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411480" y="868680"/>
            <a:ext cx="8321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5C4826"/>
                </a:solidFill>
                <a:latin typeface="Calibri"/>
              </a:rPr>
              <a:t>Tuesday ended with the service deployed. What breaks first?</a:t>
            </a:r>
          </a:p>
        </p:txBody>
      </p:sp>
      <p:sp>
        <p:nvSpPr>
          <p:cNvPr id="4" name="Card"/>
          <p:cNvSpPr/>
          <p:nvPr/>
        </p:nvSpPr>
        <p:spPr>
          <a:xfrm>
            <a:off x="411480" y="1417320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CardLeft"/>
          <p:cNvSpPr txBox="1"/>
          <p:nvPr/>
        </p:nvSpPr>
        <p:spPr>
          <a:xfrm>
            <a:off x="557784" y="1490472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THE PROCESS RESTARTS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Every reservation is gone</a:t>
            </a:r>
          </a:p>
        </p:txBody>
      </p:sp>
      <p:sp>
        <p:nvSpPr>
          <p:cNvPr id="6" name="CardRight"/>
          <p:cNvSpPr txBox="1"/>
          <p:nvPr/>
        </p:nvSpPr>
        <p:spPr>
          <a:xfrm>
            <a:off x="4343400" y="1490472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Persistence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Information must outlive the process that wrote it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2862072"/>
            <a:ext cx="8321040" cy="1298448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Left"/>
          <p:cNvSpPr txBox="1"/>
          <p:nvPr/>
        </p:nvSpPr>
        <p:spPr>
          <a:xfrm>
            <a:off x="557784" y="2935224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WE ADD A SECOND REPLICA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Two copies, two different truths</a:t>
            </a:r>
          </a:p>
        </p:txBody>
      </p:sp>
      <p:sp>
        <p:nvSpPr>
          <p:cNvPr id="9" name="CardRight"/>
          <p:cNvSpPr txBox="1"/>
          <p:nvPr/>
        </p:nvSpPr>
        <p:spPr>
          <a:xfrm>
            <a:off x="4343400" y="2935224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Many clients and replicas, one authoritative copy</a:t>
            </a:r>
          </a:p>
        </p:txBody>
      </p:sp>
      <p:sp>
        <p:nvSpPr>
          <p:cNvPr id="10" name="Card"/>
          <p:cNvSpPr/>
          <p:nvPr/>
        </p:nvSpPr>
        <p:spPr>
          <a:xfrm>
            <a:off x="411480" y="4306824"/>
            <a:ext cx="8321040" cy="129844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CardLeft"/>
          <p:cNvSpPr txBox="1"/>
          <p:nvPr/>
        </p:nvSpPr>
        <p:spPr>
          <a:xfrm>
            <a:off x="557784" y="4379976"/>
            <a:ext cx="361188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TWO REQUESTS ARRIVE AT ONCE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Both see the room as free</a:t>
            </a:r>
          </a:p>
        </p:txBody>
      </p:sp>
      <p:sp>
        <p:nvSpPr>
          <p:cNvPr id="12" name="CardRight"/>
          <p:cNvSpPr txBox="1"/>
          <p:nvPr/>
        </p:nvSpPr>
        <p:spPr>
          <a:xfrm>
            <a:off x="4343400" y="4379976"/>
            <a:ext cx="4251960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Concurrency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Overlapping operations must not corrupt state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Three separable requirements — each can be met without the others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28016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D2D2D"/>
                </a:solidFill>
                <a:latin typeface="Calibri"/>
              </a:rPr>
              <a:t>A database is an engineering component, not a language</a:t>
            </a:r>
          </a:p>
        </p:txBody>
      </p:sp>
      <p:sp>
        <p:nvSpPr>
          <p:cNvPr id="3" name="Card"/>
          <p:cNvSpPr/>
          <p:nvPr/>
        </p:nvSpPr>
        <p:spPr>
          <a:xfrm>
            <a:off x="411480" y="1005840"/>
            <a:ext cx="4069080" cy="24688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CardBody"/>
          <p:cNvSpPr txBox="1"/>
          <p:nvPr/>
        </p:nvSpPr>
        <p:spPr>
          <a:xfrm>
            <a:off x="55778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YOU DELEGATE TO IT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Representing your domain's facts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Retrieving them on demand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Durability across failures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Concurrency control under load</a:t>
            </a:r>
          </a:p>
        </p:txBody>
      </p:sp>
      <p:sp>
        <p:nvSpPr>
          <p:cNvPr id="5" name="Card"/>
          <p:cNvSpPr/>
          <p:nvPr/>
        </p:nvSpPr>
        <p:spPr>
          <a:xfrm>
            <a:off x="4663440" y="1005840"/>
            <a:ext cx="4069080" cy="2468880"/>
          </a:xfrm>
          <a:prstGeom prst="rect">
            <a:avLst/>
          </a:prstGeom>
          <a:solidFill>
            <a:srgbClr val="FC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CardBody"/>
          <p:cNvSpPr txBox="1"/>
          <p:nvPr/>
        </p:nvSpPr>
        <p:spPr>
          <a:xfrm>
            <a:off x="4809744" y="1097280"/>
            <a:ext cx="37764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E6F3E"/>
                </a:solidFill>
                <a:latin typeface="Calibri"/>
              </a:rPr>
              <a:t>WHAT IT IS NOT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synonym for SQL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One product category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C4826"/>
                </a:solidFill>
                <a:latin typeface="Calibri"/>
              </a:rPr>
              <a:t>A place where correctness happens automatically</a:t>
            </a:r>
          </a:p>
        </p:txBody>
      </p:sp>
      <p:sp>
        <p:nvSpPr>
          <p:cNvPr id="7" name="Card"/>
          <p:cNvSpPr/>
          <p:nvPr/>
        </p:nvSpPr>
        <p:spPr>
          <a:xfrm>
            <a:off x="411480" y="3657600"/>
            <a:ext cx="8321040" cy="201168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CardBody"/>
          <p:cNvSpPr txBox="1"/>
          <p:nvPr/>
        </p:nvSpPr>
        <p:spPr>
          <a:xfrm>
            <a:off x="557784" y="3749039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C4826"/>
                </a:solidFill>
                <a:latin typeface="Calibri"/>
              </a:rPr>
              <a:t>The requirements select machinery independently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SQLite — durability + transactions; no server, no sharing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distributed key-value store — scalable sharing; a different transaction model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960"/>
                </a:solidFill>
                <a:latin typeface="Calibri"/>
              </a:rPr>
              <a:t>A cache — fast sharing; no durability at all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79592"/>
            <a:ext cx="859536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FooterBandText"/>
          <p:cNvSpPr txBox="1"/>
          <p:nvPr/>
        </p:nvSpPr>
        <p:spPr>
          <a:xfrm>
            <a:off x="384048" y="5897880"/>
            <a:ext cx="83759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Name the guarantees you need, then choose a system that provides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3862</Words>
  <Application>Microsoft Macintosh PowerPoint</Application>
  <PresentationFormat>On-screen Show (4:3)</PresentationFormat>
  <Paragraphs>397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Times</vt:lpstr>
      <vt:lpstr>Arial</vt:lpstr>
      <vt:lpstr>Calibri</vt:lpstr>
      <vt:lpstr>Purdue1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Steve France</cp:lastModifiedBy>
  <cp:revision>7</cp:revision>
  <dcterms:modified xsi:type="dcterms:W3CDTF">2026-10-29T14:20:08Z</dcterms:modified>
</cp:coreProperties>
</file>