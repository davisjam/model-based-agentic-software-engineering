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sharing with no persistence at all.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bottom card recalls the separability from the previous slide with concrete machinery.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What it costs — and why engines do not default to it — is the next slide. Keep the taxonomy OUT of this slide; here there is only "permitted histories," narrower or wider.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Many clients and replicas, one authoritative copy</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
        <p:nvSpPr>
          <p:cNvPr id="13"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Three separable requirements — each can be met without the others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1005840"/>
            <a:ext cx="406908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1005840"/>
            <a:ext cx="406908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Card"/>
          <p:cNvSpPr/>
          <p:nvPr/>
        </p:nvSpPr>
        <p:spPr>
          <a:xfrm>
            <a:off x="411480" y="3657600"/>
            <a:ext cx="8321040" cy="20116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749039"/>
            <a:ext cx="8046720" cy="1828800"/>
          </a:xfrm>
          <a:prstGeom prst="rect">
            <a:avLst/>
          </a:prstGeom>
          <a:noFill/>
        </p:spPr>
        <p:txBody>
          <a:bodyPr wrap="square">
            <a:spAutoFit/>
          </a:bodyPr>
          <a:lstStyle/>
          <a:p>
            <a:pPr algn="l">
              <a:spcAft>
                <a:spcPts val="600"/>
              </a:spcAft>
            </a:pPr>
            <a:r>
              <a:rPr sz="2000" b="1">
                <a:solidFill>
                  <a:srgbClr val="5C4826"/>
                </a:solidFill>
                <a:latin typeface="Calibri"/>
              </a:rPr>
              <a:t>The requirements select machinery independently</a:t>
            </a:r>
          </a:p>
          <a:p>
            <a:pPr algn="l">
              <a:spcAft>
                <a:spcPts val="400"/>
              </a:spcAft>
            </a:pPr>
            <a:r>
              <a:rPr sz="2000" b="0">
                <a:solidFill>
                  <a:srgbClr val="555960"/>
                </a:solidFill>
                <a:latin typeface="Calibri"/>
              </a:rPr>
              <a:t>SQLite — durability + transactions; no server, no sharing</a:t>
            </a:r>
          </a:p>
          <a:p>
            <a:pPr algn="l">
              <a:spcAft>
                <a:spcPts val="400"/>
              </a:spcAft>
            </a:pPr>
            <a:r>
              <a:rPr sz="2000" b="0">
                <a:solidFill>
                  <a:srgbClr val="555960"/>
                </a:solidFill>
                <a:latin typeface="Calibri"/>
              </a:rPr>
              <a:t>A distributed key-value store — scalable sharing; a different transaction model</a:t>
            </a:r>
          </a:p>
          <a:p>
            <a:pPr algn="l">
              <a:spcAft>
                <a:spcPts val="400"/>
              </a:spcAft>
            </a:pPr>
            <a:r>
              <a:rPr sz="2000" b="0">
                <a:solidFill>
                  <a:srgbClr val="555960"/>
                </a:solidFill>
                <a:latin typeface="Calibri"/>
              </a:rPr>
              <a:t>A cache — fast sharing; no durability at all</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Name the guarantees you need, then choose a system that provides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Sixth, Operations — backup, recovery, migration — deferred to Unit 6</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60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RELATIONAL</a:t>
            </a:r>
          </a:p>
          <a:p>
            <a:pPr algn="l">
              <a:spcAft>
                <a:spcPts val="400"/>
              </a:spcAft>
            </a:pPr>
            <a:r>
              <a:rPr sz="2000" b="0">
                <a:solidFill>
                  <a:srgbClr val="5C4826"/>
                </a:solidFill>
                <a:latin typeface="Calibri"/>
              </a:rPr>
              <a:t>Tables of rows; relationships via keys</a:t>
            </a:r>
          </a:p>
          <a:p>
            <a:pPr algn="l">
              <a:spcAft>
                <a:spcPts val="400"/>
              </a:spcAft>
            </a:pPr>
            <a:r>
              <a:rPr sz="2000" b="0">
                <a:solidFill>
                  <a:srgbClr val="555960"/>
                </a:solidFill>
                <a:latin typeface="Calibri"/>
              </a:rPr>
              <a:t>Easy: joins, cross-row rules · Harder: deep nesting</a:t>
            </a:r>
          </a:p>
        </p:txBody>
      </p:sp>
      <p:sp>
        <p:nvSpPr>
          <p:cNvPr id="5" name="Card"/>
          <p:cNvSpPr/>
          <p:nvPr/>
        </p:nvSpPr>
        <p:spPr>
          <a:xfrm>
            <a:off x="4663440" y="960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DOCUMENT</a:t>
            </a:r>
          </a:p>
          <a:p>
            <a:pPr algn="l">
              <a:spcAft>
                <a:spcPts val="400"/>
              </a:spcAft>
            </a:pPr>
            <a:r>
              <a:rPr sz="2000" b="0">
                <a:solidFill>
                  <a:srgbClr val="5C4826"/>
                </a:solidFill>
                <a:latin typeface="Calibri"/>
              </a:rPr>
              <a:t>A room document embeds its reservations (JSON)</a:t>
            </a:r>
          </a:p>
          <a:p>
            <a:pPr algn="l">
              <a:spcAft>
                <a:spcPts val="400"/>
              </a:spcAft>
            </a:pPr>
            <a:r>
              <a:rPr sz="2000" b="0">
                <a:solidFill>
                  <a:srgbClr val="555960"/>
                </a:solidFill>
                <a:latin typeface="Calibri"/>
              </a:rPr>
              <a:t>Easy: read one unit whole · Harder: cross-document rules</a:t>
            </a:r>
          </a:p>
        </p:txBody>
      </p:sp>
      <p:sp>
        <p:nvSpPr>
          <p:cNvPr id="7" name="Card"/>
          <p:cNvSpPr/>
          <p:nvPr/>
        </p:nvSpPr>
        <p:spPr>
          <a:xfrm>
            <a:off x="411480" y="3246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KEY-VALUE</a:t>
            </a:r>
          </a:p>
          <a:p>
            <a:pPr algn="l">
              <a:spcAft>
                <a:spcPts val="400"/>
              </a:spcAft>
            </a:pPr>
            <a:r>
              <a:rPr sz="2000" b="0">
                <a:solidFill>
                  <a:srgbClr val="5C4826"/>
                </a:solidFill>
                <a:latin typeface="Calibri"/>
              </a:rPr>
              <a:t>room:117 → an opaque value, fetched by key</a:t>
            </a:r>
          </a:p>
          <a:p>
            <a:pPr algn="l">
              <a:spcAft>
                <a:spcPts val="400"/>
              </a:spcAft>
            </a:pPr>
            <a:r>
              <a:rPr sz="2000" b="0">
                <a:solidFill>
                  <a:srgbClr val="555960"/>
                </a:solidFill>
                <a:latin typeface="Calibri"/>
              </a:rPr>
              <a:t>Easy: speed and scale · Harder: any other question</a:t>
            </a:r>
          </a:p>
        </p:txBody>
      </p:sp>
      <p:sp>
        <p:nvSpPr>
          <p:cNvPr id="9" name="Card"/>
          <p:cNvSpPr/>
          <p:nvPr/>
        </p:nvSpPr>
        <p:spPr>
          <a:xfrm>
            <a:off x="4663440" y="3246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480974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GRAPH</a:t>
            </a:r>
          </a:p>
          <a:p>
            <a:pPr algn="l">
              <a:spcAft>
                <a:spcPts val="400"/>
              </a:spcAft>
            </a:pPr>
            <a:r>
              <a:rPr sz="2000" b="0">
                <a:solidFill>
                  <a:srgbClr val="5C4826"/>
                </a:solidFill>
                <a:latin typeface="Calibri"/>
              </a:rPr>
              <a:t>Nodes (user, room) and edges (RESERVED)</a:t>
            </a:r>
          </a:p>
          <a:p>
            <a:pPr algn="l">
              <a:spcAft>
                <a:spcPts val="400"/>
              </a:spcAft>
            </a:pPr>
            <a:r>
              <a:rPr sz="2000" b="0">
                <a:solidFill>
                  <a:srgbClr val="555960"/>
                </a:solidFill>
                <a:latin typeface="Calibri"/>
              </a:rPr>
              <a:t>Easy: traversals · Harder: bulk aggregates</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Same facts, four native shapes — the choice changes what is easy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0574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874519"/>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 modest volume</a:t>
            </a:r>
          </a:p>
        </p:txBody>
      </p:sp>
      <p:sp>
        <p:nvSpPr>
          <p:cNvPr id="5" name="Card"/>
          <p:cNvSpPr/>
          <p:nvPr/>
        </p:nvSpPr>
        <p:spPr>
          <a:xfrm>
            <a:off x="4663440" y="960120"/>
            <a:ext cx="4069080" cy="20574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874519"/>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2461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31927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Points in one design space — not rival camps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Interrogate guarantees, not product labels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960120"/>
            <a:ext cx="4069080" cy="42062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960120"/>
            <a:ext cx="4069080" cy="4206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requirements select different points in the 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Modeling the domain: entities and relationships</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2468880" y="960120"/>
            <a:ext cx="1143000" cy="365760"/>
          </a:xfrm>
          <a:prstGeom prst="rect">
            <a:avLst/>
          </a:prstGeom>
          <a:noFill/>
        </p:spPr>
        <p:txBody>
          <a:bodyPr wrap="square">
            <a:spAutoFit/>
          </a:bodyPr>
          <a:lstStyle/>
          <a:p>
            <a:pPr algn="ctr">
              <a:spcAft>
                <a:spcPts val="400"/>
              </a:spcAft>
            </a:pPr>
            <a:r>
              <a:rPr sz="2000" b="1">
                <a:solidFill>
                  <a:srgbClr val="555960"/>
                </a:solidFill>
                <a:latin typeface="Calibri"/>
              </a:rPr>
              <a:t>1 : N</a:t>
            </a:r>
          </a:p>
        </p:txBody>
      </p:sp>
      <p:sp>
        <p:nvSpPr>
          <p:cNvPr id="7" name="RelLabel"/>
          <p:cNvSpPr txBox="1"/>
          <p:nvPr/>
        </p:nvSpPr>
        <p:spPr>
          <a:xfrm>
            <a:off x="5715000" y="960120"/>
            <a:ext cx="960120" cy="365760"/>
          </a:xfrm>
          <a:prstGeom prst="rect">
            <a:avLst/>
          </a:prstGeom>
          <a:noFill/>
        </p:spPr>
        <p:txBody>
          <a:bodyPr wrap="square">
            <a:spAutoFit/>
          </a:bodyPr>
          <a:lstStyle/>
          <a:p>
            <a:pPr algn="ctr">
              <a:spcAft>
                <a:spcPts val="400"/>
              </a:spcAft>
            </a:pPr>
            <a:r>
              <a:rPr sz="2000" b="1">
                <a:solidFill>
                  <a:srgbClr val="555960"/>
                </a:solidFill>
                <a:latin typeface="Calibri"/>
              </a:rPr>
              <a:t>N : 1</a:t>
            </a:r>
          </a:p>
        </p:txBody>
      </p:sp>
      <p:cxnSp>
        <p:nvCxnSpPr>
          <p:cNvPr id="8" name="RelLine"/>
          <p:cNvCxnSpPr/>
          <p:nvPr/>
        </p:nvCxnSpPr>
        <p:spPr>
          <a:xfrm>
            <a:off x="2468880" y="1760220"/>
            <a:ext cx="114300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148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 a room must not have overlapping CONFIRMED reservations</a:t>
            </a:r>
          </a:p>
          <a:p>
            <a:pPr algn="l">
              <a:spcAft>
                <a:spcPts val="400"/>
              </a:spcAft>
            </a:pPr>
            <a:r>
              <a:rPr sz="2000" b="0">
                <a:solidFill>
                  <a:srgbClr val="555960"/>
                </a:solidFill>
                <a:latin typeface="Calibri"/>
              </a:rPr>
              <a:t>The model supplies its vocabulary: room_id, starts_at, ends_at, status</a:t>
            </a:r>
          </a:p>
        </p:txBody>
      </p:sp>
      <p:sp>
        <p:nvSpPr>
          <p:cNvPr id="1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ER model chooses what the system can talk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rooms(id),</a:t>
            </a:r>
          </a:p>
          <a:p>
            <a:pPr algn="l">
              <a:spcAft>
                <a:spcPts val="100"/>
              </a:spcAft>
            </a:pPr>
            <a:r>
              <a:rPr sz="2000" b="0">
                <a:solidFill>
                  <a:srgbClr val="2D2D2D"/>
                </a:solidFill>
                <a:latin typeface="Consolas"/>
              </a:rPr>
              <a:t>  user_id    INT REFERENCES users(id),</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Each declared constraint governs one row — overlap is a relation BETWEEN rows.</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schema is enforced obligations — but only those you can state in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377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Writes: cheap and safe</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377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Choose where you pay: on every write or on every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valid data model is not a correct application</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 10:00–11:00 · CONFIRMED</a:t>
            </a:r>
          </a:p>
          <a:p>
            <a:pPr algn="l">
              <a:spcAft>
                <a:spcPts val="500"/>
              </a:spcAft>
            </a:pPr>
            <a:r>
              <a:rPr sz="2000" b="0">
                <a:solidFill>
                  <a:srgbClr val="2D2D2D"/>
                </a:solidFill>
                <a:latin typeface="Consolas"/>
              </a:rPr>
              <a:t>117 · 10:30–11:30 · CONFIRMED</a:t>
            </a:r>
          </a:p>
          <a:p>
            <a:pPr algn="l">
              <a:spcAft>
                <a:spcPts val="400"/>
              </a:spcAft>
            </a:pPr>
            <a:r>
              <a:rPr sz="2000" b="0">
                <a:solidFill>
                  <a:srgbClr val="555960"/>
                </a:solidFill>
                <a:latin typeface="Calibri"/>
              </a:rPr>
              <a:t>Every constraint from the schema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That is §5.</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SQL states WHAT you want, not HOW to get it</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 — slide 16</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 it returns on slides 19 and 23.</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query is a specification — execution is the engine's design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(Reservation.query</a:t>
            </a:r>
          </a:p>
          <a:p>
            <a:pPr algn="l">
              <a:spcAft>
                <a:spcPts val="200"/>
              </a:spcAft>
            </a:pPr>
            <a:r>
              <a:rPr sz="2000" b="0">
                <a:solidFill>
                  <a:srgbClr val="2D2D2D"/>
                </a:solidFill>
                <a:latin typeface="Consolas"/>
              </a:rPr>
              <a:t>  .filter_by(room_id=room,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.filter(R.starts_at &lt; ends,</a:t>
            </a:r>
          </a:p>
          <a:p>
            <a:pPr algn="l">
              <a:spcAft>
                <a:spcPts val="200"/>
              </a:spcAft>
            </a:pPr>
            <a:r>
              <a:rPr sz="2000" b="0">
                <a:solidFill>
                  <a:srgbClr val="2D2D2D"/>
                </a:solidFill>
                <a:latin typeface="Consolas"/>
              </a:rPr>
              <a:t>          R.ends_at   &gt; starts)</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 the N+1 trap, slide 18</a:t>
            </a:r>
          </a:p>
          <a:p>
            <a:pPr algn="l">
              <a:spcAft>
                <a:spcPts val="400"/>
              </a:spcAft>
            </a:pPr>
            <a:r>
              <a:rPr sz="2000" b="0">
                <a:solidFill>
                  <a:srgbClr val="555960"/>
                </a:solidFill>
                <a:latin typeface="Calibri"/>
              </a:rPr>
              <a:t>Database-specific operations get awkward</a:t>
            </a:r>
          </a:p>
        </p:txBody>
      </p:sp>
      <p:sp>
        <p:nvSpPr>
          <p:cNvPr id="1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convenience layer over the query language — not a replacement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280160"/>
            <a:ext cx="3246120" cy="35661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371600"/>
            <a:ext cx="2953512" cy="3383280"/>
          </a:xfrm>
          <a:prstGeom prst="rect">
            <a:avLst/>
          </a:prstGeom>
          <a:noFill/>
        </p:spPr>
        <p:txBody>
          <a:bodyPr wrap="square">
            <a:spAutoFit/>
          </a:bodyPr>
          <a:lstStyle/>
          <a:p>
            <a:pPr algn="l">
              <a:spcAft>
                <a:spcPts val="600"/>
              </a:spcAft>
            </a:pPr>
            <a:r>
              <a:rPr sz="2000" b="1">
                <a:solidFill>
                  <a:srgbClr val="5C4826"/>
                </a:solidFill>
                <a:latin typeface="Calibri"/>
              </a:rPr>
              <a:t>“ORM vs SQL” is a layering question, not a rivalry</a:t>
            </a:r>
          </a:p>
          <a:p>
            <a:pPr algn="l">
              <a:spcAft>
                <a:spcPts val="600"/>
              </a:spcAft>
            </a:pPr>
            <a:r>
              <a:rPr sz="2000" b="0">
                <a:solidFill>
                  <a:srgbClr val="555960"/>
                </a:solidFill>
                <a:latin typeface="Calibri"/>
              </a:rPr>
              <a:t>The ORM emits SQL; the engine never sees your objects.</a:t>
            </a:r>
          </a:p>
          <a:p>
            <a:pPr algn="l">
              <a:spcAft>
                <a:spcPts val="400"/>
              </a:spcAft>
            </a:pPr>
            <a:r>
              <a:rPr sz="2000" b="0">
                <a:solidFill>
                  <a:srgbClr val="555960"/>
                </a:solidFill>
                <a:latin typeface="Calibri"/>
              </a:rPr>
              <a:t>You choose the layer where you write your intent — you still own what every layer below does with it.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layers of one pipeline — not competing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the engine executes your query</a:t>
            </a:r>
          </a:p>
        </p:txBody>
      </p:sp>
      <p:sp>
        <p:nvSpPr>
          <p:cNvPr id="3" name="Block"/>
          <p:cNvSpPr/>
          <p:nvPr/>
        </p:nvSpPr>
        <p:spPr>
          <a:xfrm>
            <a:off x="41148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Parse &amp; validate</a:t>
            </a:r>
          </a:p>
        </p:txBody>
      </p:sp>
      <p:sp>
        <p:nvSpPr>
          <p:cNvPr id="4" name="Block"/>
          <p:cNvSpPr/>
          <p:nvPr/>
        </p:nvSpPr>
        <p:spPr>
          <a:xfrm>
            <a:off x="333756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Logical plan</a:t>
            </a:r>
          </a:p>
        </p:txBody>
      </p:sp>
      <p:sp>
        <p:nvSpPr>
          <p:cNvPr id="5" name="Block"/>
          <p:cNvSpPr/>
          <p:nvPr/>
        </p:nvSpPr>
        <p:spPr>
          <a:xfrm>
            <a:off x="626364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Optimizer</a:t>
            </a:r>
          </a:p>
        </p:txBody>
      </p:sp>
      <p:sp>
        <p:nvSpPr>
          <p:cNvPr id="6" name="Arrow"/>
          <p:cNvSpPr/>
          <p:nvPr/>
        </p:nvSpPr>
        <p:spPr>
          <a:xfrm>
            <a:off x="290779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901952"/>
            <a:ext cx="365760" cy="676656"/>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Physical plan</a:t>
            </a:r>
          </a:p>
        </p:txBody>
      </p:sp>
      <p:sp>
        <p:nvSpPr>
          <p:cNvPr id="10" name="Block"/>
          <p:cNvSpPr/>
          <p:nvPr/>
        </p:nvSpPr>
        <p:spPr>
          <a:xfrm>
            <a:off x="333756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scan · index · join</a:t>
            </a:r>
          </a:p>
        </p:txBody>
      </p:sp>
      <p:sp>
        <p:nvSpPr>
          <p:cNvPr id="11" name="Block"/>
          <p:cNvSpPr/>
          <p:nvPr/>
        </p:nvSpPr>
        <p:spPr>
          <a:xfrm>
            <a:off x="41148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Results</a:t>
            </a:r>
          </a:p>
        </p:txBody>
      </p:sp>
      <p:sp>
        <p:nvSpPr>
          <p:cNvPr id="12" name="Arrow"/>
          <p:cNvSpPr/>
          <p:nvPr/>
        </p:nvSpPr>
        <p:spPr>
          <a:xfrm>
            <a:off x="583387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Card"/>
          <p:cNvSpPr/>
          <p:nvPr/>
        </p:nvSpPr>
        <p:spPr>
          <a:xfrm>
            <a:off x="411480" y="3794760"/>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3867912"/>
            <a:ext cx="8046720" cy="1188720"/>
          </a:xfrm>
          <a:prstGeom prst="rect">
            <a:avLst/>
          </a:prstGeom>
          <a:noFill/>
        </p:spPr>
        <p:txBody>
          <a:bodyPr wrap="square">
            <a:spAutoFit/>
          </a:bodyPr>
          <a:lstStyle/>
          <a:p>
            <a:pPr algn="l">
              <a:spcAft>
                <a:spcPts val="300"/>
              </a:spcAft>
            </a:pPr>
            <a:r>
              <a:rPr sz="2000" b="1">
                <a:solidFill>
                  <a:srgbClr val="5C4826"/>
                </a:solidFill>
                <a:latin typeface="Calibri"/>
              </a:rPr>
              <a:t>The optimizer chooses among plans using statistics about YOUR data</a:t>
            </a:r>
          </a:p>
          <a:p>
            <a:pPr algn="l">
              <a:spcAft>
                <a:spcPts val="400"/>
              </a:spcAft>
            </a:pPr>
            <a:r>
              <a:rPr sz="2000" b="0">
                <a:solidFill>
                  <a:srgbClr val="555960"/>
                </a:solidFill>
                <a:latin typeface="Calibri"/>
              </a:rPr>
              <a:t>Same SQL, thousandfold cost differences — the lever is the physical design you supply: indexes, layout, fresh statistics.</a:t>
            </a:r>
          </a:p>
        </p:txBody>
      </p:sp>
      <p:sp>
        <p:nvSpPr>
          <p:cNvPr id="16"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You wrote WHAT; the engine picks HOW from what you gave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a:p>
            <a:pPr algn="l">
              <a:spcAft>
                <a:spcPts val="400"/>
              </a:spcAft>
            </a:pPr>
            <a:r>
              <a:rPr sz="2000" b="0">
                <a:solidFill>
                  <a:srgbClr val="555960"/>
                </a:solidFill>
                <a:latin typeface="Calibri"/>
              </a:rPr>
              <a:t>~ seconds</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Jump to this room's time window: ~12 rows touched</a:t>
            </a:r>
          </a:p>
          <a:p>
            <a:pPr algn="l">
              <a:spcAft>
                <a:spcPts val="400"/>
              </a:spcAft>
            </a:pPr>
            <a:r>
              <a:rPr sz="2000" b="0">
                <a:solidFill>
                  <a:srgbClr val="555960"/>
                </a:solidFill>
                <a:latin typeface="Calibri"/>
              </a:rPr>
              <a:t>~ milliseconds</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Indexes are design decisions, not tuning afterthoughts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   # 1 query</a:t>
            </a:r>
          </a:p>
          <a:p>
            <a:pPr algn="l">
              <a:spcAft>
                <a:spcPts val="200"/>
              </a:spcAft>
            </a:pPr>
            <a:r>
              <a:rPr sz="2000" b="0">
                <a:solidFill>
                  <a:srgbClr val="2D2D2D"/>
                </a:solidFill>
                <a:latin typeface="Consolas"/>
              </a:rPr>
              <a:t>    print(r.room.name)   # +1 each</a:t>
            </a:r>
          </a:p>
          <a:p>
            <a:pPr algn="l">
              <a:spcAft>
                <a:spcPts val="200"/>
              </a:spcAft>
            </a:pPr>
            <a:r>
              <a:rPr sz="2000" b="0">
                <a:solidFill>
                  <a:srgbClr val="2D2D2D"/>
                </a:solidFill>
                <a:latin typeface="Consolas"/>
              </a:rPr>
              <a:t># 200 reservations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ORM-generated and agent-generated code is typically functionally correct and access-pattern naive.</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Double-booking: two correct requests, one broken invariant</a:t>
            </a:r>
          </a:p>
        </p:txBody>
      </p:sp>
      <p:sp>
        <p:nvSpPr>
          <p:cNvPr id="3" name="Block"/>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REQUEST A — room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REQUEST B — room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t3 · INSERT CONFIRMED — commit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t4 · INSERT CONFIRMED — commit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 and each request, read alone, follows the intended algorithm exactly.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Locally correct code cannot alone preserve a global invariant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Declared constraints hold at commit — the ones YOU declared</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 ACID held, and the race still landed.</a:t>
            </a:r>
          </a:p>
        </p:txBody>
      </p:sp>
      <p:sp>
        <p:nvSpPr>
          <p:cNvPr id="1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ACID is a transaction contract, not a proof of your invariants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3" name="Block"/>
          <p:cNvSpPr/>
          <p:nvPr/>
        </p:nvSpPr>
        <p:spPr>
          <a:xfrm>
            <a:off x="411480" y="1005840"/>
            <a:ext cx="8321040" cy="822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55960"/>
                </a:solidFill>
                <a:latin typeface="Calibri"/>
              </a:rPr>
              <a:t>All interleavings of concurrent transactions</a:t>
            </a:r>
          </a:p>
        </p:txBody>
      </p:sp>
      <p:sp>
        <p:nvSpPr>
          <p:cNvPr id="4" name="Block"/>
          <p:cNvSpPr/>
          <p:nvPr/>
        </p:nvSpPr>
        <p:spPr>
          <a:xfrm>
            <a:off x="1463040" y="2057400"/>
            <a:ext cx="6217920" cy="822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C4826"/>
                </a:solidFill>
                <a:latin typeface="Calibri"/>
              </a:rPr>
              <a:t>Histories your isolation level permits</a:t>
            </a:r>
          </a:p>
        </p:txBody>
      </p:sp>
      <p:sp>
        <p:nvSpPr>
          <p:cNvPr id="5" name="Block"/>
          <p:cNvSpPr/>
          <p:nvPr/>
        </p:nvSpPr>
        <p:spPr>
          <a:xfrm>
            <a:off x="2514600" y="3108960"/>
            <a:ext cx="411480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SERIALIZABLE — equivalent to some one-at-a-time order</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Under serializability our race cannot happen: one request must appear to run second — and then its check sees the other's row.</a:t>
            </a:r>
          </a:p>
        </p:txBody>
      </p:sp>
      <p:sp>
        <p:nvSpPr>
          <p:cNvPr id="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Serializability is a correctness criterion, not a feature flag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reads a frozen view; both check, neither sees the other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Choosing an isolation level is choosing your failure modes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Three ways to actually prevent double-booking</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range &amp;&amp;): the SCHEMA states the invariant; the engine rejects the second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 one transaction aborts</a:t>
            </a:r>
          </a:p>
          <a:p>
            <a:pPr algn="l">
              <a:spcAft>
                <a:spcPts val="400"/>
              </a:spcAft>
            </a:pPr>
            <a:r>
              <a:rPr sz="2000" b="0">
                <a:solidFill>
                  <a:srgbClr val="555960"/>
                </a:solidFill>
                <a:latin typeface="Calibri"/>
              </a:rPr>
              <a:t>you must 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before checking: your LOCKING DISCIPLINE serializes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do this — they govern one row; overlap is a relation between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(slide 8) excludes none and flies; reservations exclude one class and pay for it. Measuring that price is the next unit: Performance &amp; Reliability.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Concurrency control is a cost you choose on purpose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