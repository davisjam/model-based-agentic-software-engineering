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7.xml"/><Relationship Id="rId4" Type="http://schemas.openxmlformats.org/officeDocument/2006/relationships/slide" Target="slides/slide26.xml"/><Relationship Id="rId5" Type="http://schemas.openxmlformats.org/officeDocument/2006/relationships/slide" Target="slides/slide25.xml"/><Relationship Id="rId6" Type="http://schemas.openxmlformats.org/officeDocument/2006/relationships/slide" Target="slides/slide2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bottom card recalls the separability from the previous slide with concrete machinery.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
        <p:nvSpPr>
          <p:cNvPr id="1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Three separable requirements — each can be met without the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1005840"/>
            <a:ext cx="406908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1005840"/>
            <a:ext cx="406908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Card"/>
          <p:cNvSpPr/>
          <p:nvPr/>
        </p:nvSpPr>
        <p:spPr>
          <a:xfrm>
            <a:off x="411480" y="3657600"/>
            <a:ext cx="8321040" cy="20116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749039"/>
            <a:ext cx="8046720" cy="1828800"/>
          </a:xfrm>
          <a:prstGeom prst="rect">
            <a:avLst/>
          </a:prstGeom>
          <a:noFill/>
        </p:spPr>
        <p:txBody>
          <a:bodyPr wrap="square">
            <a:spAutoFit/>
          </a:bodyPr>
          <a:lstStyle/>
          <a:p>
            <a:pPr algn="l">
              <a:spcAft>
                <a:spcPts val="600"/>
              </a:spcAft>
            </a:pPr>
            <a:r>
              <a:rPr sz="2000" b="1">
                <a:solidFill>
                  <a:srgbClr val="5C4826"/>
                </a:solidFill>
                <a:latin typeface="Calibri"/>
              </a:rPr>
              <a:t>The requirements select machinery independently</a:t>
            </a:r>
          </a:p>
          <a:p>
            <a:pPr algn="l">
              <a:spcAft>
                <a:spcPts val="400"/>
              </a:spcAft>
            </a:pPr>
            <a:r>
              <a:rPr sz="2000" b="0">
                <a:solidFill>
                  <a:srgbClr val="555960"/>
                </a:solidFill>
                <a:latin typeface="Calibri"/>
              </a:rPr>
              <a:t>SQLite: embedded storage with durability and transactions</a:t>
            </a:r>
          </a:p>
          <a:p>
            <a:pPr algn="l">
              <a:spcAft>
                <a:spcPts val="400"/>
              </a:spcAft>
            </a:pPr>
            <a:r>
              <a:rPr sz="2000" b="0">
                <a:solidFill>
                  <a:srgbClr val="555960"/>
                </a:solidFill>
                <a:latin typeface="Calibri"/>
              </a:rPr>
              <a:t>Distributed key-value store: networked access, system-specific consistency guarantees</a:t>
            </a:r>
          </a:p>
          <a:p>
            <a:pPr algn="l">
              <a:spcAft>
                <a:spcPts val="400"/>
              </a:spcAft>
            </a:pPr>
            <a:r>
              <a:rPr sz="2000" b="0">
                <a:solidFill>
                  <a:srgbClr val="555960"/>
                </a:solidFill>
                <a:latin typeface="Calibri"/>
              </a:rPr>
              <a:t>Cache: optimized for fast access, often with weaker durability requirements</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Name the guarantees you need, then choose a system that provides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Sixth, Operations — backup, recovery, migration — deferred to Unit 6</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60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RELATIONAL</a:t>
            </a:r>
          </a:p>
          <a:p>
            <a:pPr algn="l">
              <a:spcAft>
                <a:spcPts val="400"/>
              </a:spcAft>
            </a:pPr>
            <a:r>
              <a:rPr sz="2000" b="0">
                <a:solidFill>
                  <a:srgbClr val="5C4826"/>
                </a:solidFill>
                <a:latin typeface="Calibri"/>
              </a:rPr>
              <a:t>Tables of rows; relationships via keys</a:t>
            </a:r>
          </a:p>
          <a:p>
            <a:pPr algn="l">
              <a:spcAft>
                <a:spcPts val="400"/>
              </a:spcAft>
            </a:pPr>
            <a:r>
              <a:rPr sz="2000" b="0">
                <a:solidFill>
                  <a:srgbClr val="555960"/>
                </a:solidFill>
                <a:latin typeface="Calibri"/>
              </a:rPr>
              <a:t>Easy: joins, cross-row rules · Harder: deep nesting</a:t>
            </a:r>
          </a:p>
        </p:txBody>
      </p:sp>
      <p:sp>
        <p:nvSpPr>
          <p:cNvPr id="5" name="Card"/>
          <p:cNvSpPr/>
          <p:nvPr/>
        </p:nvSpPr>
        <p:spPr>
          <a:xfrm>
            <a:off x="4663440" y="960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DOCUMENT</a:t>
            </a:r>
          </a:p>
          <a:p>
            <a:pPr algn="l">
              <a:spcAft>
                <a:spcPts val="400"/>
              </a:spcAft>
            </a:pPr>
            <a:r>
              <a:rPr sz="2000" b="0">
                <a:solidFill>
                  <a:srgbClr val="5C4826"/>
                </a:solidFill>
                <a:latin typeface="Calibri"/>
              </a:rPr>
              <a:t>A room document embeds its reservations (JSON)</a:t>
            </a:r>
          </a:p>
          <a:p>
            <a:pPr algn="l">
              <a:spcAft>
                <a:spcPts val="400"/>
              </a:spcAft>
            </a:pPr>
            <a:r>
              <a:rPr sz="2000" b="0">
                <a:solidFill>
                  <a:srgbClr val="555960"/>
                </a:solidFill>
                <a:latin typeface="Calibri"/>
              </a:rPr>
              <a:t>Easy: read one unit whole · Harder: cross-document rules</a:t>
            </a:r>
          </a:p>
        </p:txBody>
      </p:sp>
      <p:sp>
        <p:nvSpPr>
          <p:cNvPr id="7" name="Card"/>
          <p:cNvSpPr/>
          <p:nvPr/>
        </p:nvSpPr>
        <p:spPr>
          <a:xfrm>
            <a:off x="411480" y="3246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KEY-VALUE</a:t>
            </a:r>
          </a:p>
          <a:p>
            <a:pPr algn="l">
              <a:spcAft>
                <a:spcPts val="400"/>
              </a:spcAft>
            </a:pPr>
            <a:r>
              <a:rPr sz="2000" b="0">
                <a:solidFill>
                  <a:srgbClr val="5C4826"/>
                </a:solidFill>
                <a:latin typeface="Calibri"/>
              </a:rPr>
              <a:t>room:117 → an opaque value, fetched by key</a:t>
            </a:r>
          </a:p>
          <a:p>
            <a:pPr algn="l">
              <a:spcAft>
                <a:spcPts val="400"/>
              </a:spcAft>
            </a:pPr>
            <a:r>
              <a:rPr sz="2000" b="0">
                <a:solidFill>
                  <a:srgbClr val="555960"/>
                </a:solidFill>
                <a:latin typeface="Calibri"/>
              </a:rPr>
              <a:t>Easy: speed and scale · Harder: any other question</a:t>
            </a:r>
          </a:p>
        </p:txBody>
      </p:sp>
      <p:sp>
        <p:nvSpPr>
          <p:cNvPr id="9" name="Card"/>
          <p:cNvSpPr/>
          <p:nvPr/>
        </p:nvSpPr>
        <p:spPr>
          <a:xfrm>
            <a:off x="4663440" y="3246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480974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GRAPH</a:t>
            </a:r>
          </a:p>
          <a:p>
            <a:pPr algn="l">
              <a:spcAft>
                <a:spcPts val="400"/>
              </a:spcAft>
            </a:pPr>
            <a:r>
              <a:rPr sz="2000" b="0">
                <a:solidFill>
                  <a:srgbClr val="5C4826"/>
                </a:solidFill>
                <a:latin typeface="Calibri"/>
              </a:rPr>
              <a:t>Nodes (user, room) and edges (RESERVED)</a:t>
            </a:r>
          </a:p>
          <a:p>
            <a:pPr algn="l">
              <a:spcAft>
                <a:spcPts val="400"/>
              </a:spcAft>
            </a:pPr>
            <a:r>
              <a:rPr sz="2000" b="0">
                <a:solidFill>
                  <a:srgbClr val="555960"/>
                </a:solidFill>
                <a:latin typeface="Calibri"/>
              </a:rPr>
              <a:t>Easy: traversals · Harder: bulk aggregates</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Same facts, four native shapes — the choice changes what is easy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Points in one design space — not rival camps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Interrogate guarantees, not product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960120"/>
            <a:ext cx="4069080" cy="42062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960120"/>
            <a:ext cx="4069080" cy="4206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requirements select different points in the 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Modeling the domain: entities and relationships</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2468880" y="960120"/>
            <a:ext cx="114300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5715000" y="960120"/>
            <a:ext cx="96012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p:cNvCxnSpPr/>
          <p:nvPr/>
        </p:nvCxnSpPr>
        <p:spPr>
          <a:xfrm>
            <a:off x="2468880" y="1760220"/>
            <a:ext cx="114300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 no overlapping CONFIRMED reservations per room</a:t>
            </a:r>
          </a:p>
          <a:p>
            <a:pPr algn="l">
              <a:spcAft>
                <a:spcPts val="400"/>
              </a:spcAft>
            </a:pPr>
            <a:r>
              <a:rPr sz="2000" b="0">
                <a:solidFill>
                  <a:srgbClr val="555960"/>
                </a:solidFill>
                <a:latin typeface="Calibri"/>
              </a:rPr>
              <a:t>The model supplies its vocabulary: room_id, starts_at, ends_at, status</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ER model chooses what the system can talk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schema is enforced obligations — but only those you can state in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Choose where you pay: on every write or on every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valid data model is not a correct application</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That is §5.</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SQL states WHAT you want, not HOW to get it</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 — slide 16</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 it returns on slides 19 and 23.</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query is a specification — execution is the engine's design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 the N+1 trap, slide 18</a:t>
            </a:r>
          </a:p>
          <a:p>
            <a:pPr algn="l">
              <a:spcAft>
                <a:spcPts val="400"/>
              </a:spcAft>
            </a:pPr>
            <a:r>
              <a:rPr sz="2000" b="0">
                <a:solidFill>
                  <a:srgbClr val="555960"/>
                </a:solidFill>
                <a:latin typeface="Calibri"/>
              </a:rPr>
              <a:t>Database-specific operations get awkward</a:t>
            </a:r>
          </a:p>
        </p:txBody>
      </p:sp>
      <p:sp>
        <p:nvSpPr>
          <p:cNvPr id="1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convenience layer over the query language — not a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280160"/>
            <a:ext cx="3246120" cy="4069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371600"/>
            <a:ext cx="2953512" cy="3886200"/>
          </a:xfrm>
          <a:prstGeom prst="rect">
            <a:avLst/>
          </a:prstGeom>
          <a:noFill/>
        </p:spPr>
        <p:txBody>
          <a:bodyPr wrap="square">
            <a:spAutoFit/>
          </a:bodyPr>
          <a:lstStyle/>
          <a:p>
            <a:pPr algn="l">
              <a:spcAft>
                <a:spcPts val="600"/>
              </a:spcAft>
            </a:pPr>
            <a:r>
              <a:rPr sz="2000" b="1">
                <a:solidFill>
                  <a:srgbClr val="5C4826"/>
                </a:solidFill>
                <a:latin typeface="Calibri"/>
              </a:rPr>
              <a:t>“ORM vs SQL” is a layering question, not a rivalry</a:t>
            </a:r>
          </a:p>
          <a:p>
            <a:pPr algn="l">
              <a:spcAft>
                <a:spcPts val="600"/>
              </a:spcAft>
            </a:pPr>
            <a:r>
              <a:rPr sz="2000" b="0">
                <a:solidFill>
                  <a:srgbClr val="555960"/>
                </a:solidFill>
                <a:latin typeface="Calibri"/>
              </a:rPr>
              <a:t>The ORM emits SQL; the engine never sees your objects.</a:t>
            </a:r>
          </a:p>
          <a:p>
            <a:pPr algn="l">
              <a:spcAft>
                <a:spcPts val="400"/>
              </a:spcAft>
            </a:pPr>
            <a:r>
              <a:rPr sz="2000" b="0">
                <a:solidFill>
                  <a:srgbClr val="555960"/>
                </a:solidFill>
                <a:latin typeface="Calibri"/>
              </a:rPr>
              <a:t>You choose the layer where you write your intent — you still own what every layer below does with it.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layers of one pipeline — not competing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the engine executes your query</a:t>
            </a:r>
          </a:p>
        </p:txBody>
      </p:sp>
      <p:sp>
        <p:nvSpPr>
          <p:cNvPr id="3" name="Block"/>
          <p:cNvSpPr/>
          <p:nvPr/>
        </p:nvSpPr>
        <p:spPr>
          <a:xfrm>
            <a:off x="41148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Parse &amp; validate</a:t>
            </a:r>
          </a:p>
        </p:txBody>
      </p:sp>
      <p:sp>
        <p:nvSpPr>
          <p:cNvPr id="4" name="Block"/>
          <p:cNvSpPr/>
          <p:nvPr/>
        </p:nvSpPr>
        <p:spPr>
          <a:xfrm>
            <a:off x="333756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Logical plan</a:t>
            </a:r>
          </a:p>
        </p:txBody>
      </p:sp>
      <p:sp>
        <p:nvSpPr>
          <p:cNvPr id="5" name="Block"/>
          <p:cNvSpPr/>
          <p:nvPr/>
        </p:nvSpPr>
        <p:spPr>
          <a:xfrm>
            <a:off x="626364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Optimizer</a:t>
            </a:r>
          </a:p>
        </p:txBody>
      </p:sp>
      <p:sp>
        <p:nvSpPr>
          <p:cNvPr id="6" name="Arrow"/>
          <p:cNvSpPr/>
          <p:nvPr/>
        </p:nvSpPr>
        <p:spPr>
          <a:xfrm>
            <a:off x="290779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901952"/>
            <a:ext cx="365760" cy="676656"/>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Physical plan</a:t>
            </a:r>
          </a:p>
        </p:txBody>
      </p:sp>
      <p:sp>
        <p:nvSpPr>
          <p:cNvPr id="10" name="Block"/>
          <p:cNvSpPr/>
          <p:nvPr/>
        </p:nvSpPr>
        <p:spPr>
          <a:xfrm>
            <a:off x="333756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scan · index · join</a:t>
            </a:r>
          </a:p>
        </p:txBody>
      </p:sp>
      <p:sp>
        <p:nvSpPr>
          <p:cNvPr id="11" name="Block"/>
          <p:cNvSpPr/>
          <p:nvPr/>
        </p:nvSpPr>
        <p:spPr>
          <a:xfrm>
            <a:off x="41148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Results</a:t>
            </a:r>
          </a:p>
        </p:txBody>
      </p:sp>
      <p:sp>
        <p:nvSpPr>
          <p:cNvPr id="12" name="Arrow"/>
          <p:cNvSpPr/>
          <p:nvPr/>
        </p:nvSpPr>
        <p:spPr>
          <a:xfrm>
            <a:off x="583387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rd"/>
          <p:cNvSpPr/>
          <p:nvPr/>
        </p:nvSpPr>
        <p:spPr>
          <a:xfrm>
            <a:off x="411480" y="3794760"/>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3867912"/>
            <a:ext cx="8046720" cy="1188720"/>
          </a:xfrm>
          <a:prstGeom prst="rect">
            <a:avLst/>
          </a:prstGeom>
          <a:noFill/>
        </p:spPr>
        <p:txBody>
          <a:bodyPr wrap="square">
            <a:spAutoFit/>
          </a:bodyPr>
          <a:lstStyle/>
          <a:p>
            <a:pPr algn="l">
              <a:spcAft>
                <a:spcPts val="300"/>
              </a:spcAft>
            </a:pPr>
            <a:r>
              <a:rPr sz="2000" b="1">
                <a:solidFill>
                  <a:srgbClr val="5C4826"/>
                </a:solidFill>
                <a:latin typeface="Calibri"/>
              </a:rPr>
              <a:t>The optimizer chooses among plans using statistics about YOUR data</a:t>
            </a:r>
          </a:p>
          <a:p>
            <a:pPr algn="l">
              <a:spcAft>
                <a:spcPts val="400"/>
              </a:spcAft>
            </a:pPr>
            <a:r>
              <a:rPr sz="2000" b="0">
                <a:solidFill>
                  <a:srgbClr val="555960"/>
                </a:solidFill>
                <a:latin typeface="Calibri"/>
              </a:rPr>
              <a:t>Same SQL, thousandfold cost differences — the lever is the physical design you supply: indexes, layout, fresh statistics.</a:t>
            </a:r>
          </a:p>
        </p:txBody>
      </p:sp>
      <p:sp>
        <p:nvSpPr>
          <p:cNvPr id="1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You wrote WHAT; the engine picks HOW from what you gave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Indexes are design decisions, not tuning afterthoughts</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Double-booking: two correct requests, one broken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Locally correct code cannot alone preserve a global invariant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
        <p:nvSpPr>
          <p:cNvPr id="1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ACID is a transaction contract, not a proof of your invariants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3" name="Block"/>
          <p:cNvSpPr/>
          <p:nvPr/>
        </p:nvSpPr>
        <p:spPr>
          <a:xfrm>
            <a:off x="411480" y="1005840"/>
            <a:ext cx="8321040" cy="822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55960"/>
                </a:solidFill>
                <a:latin typeface="Calibri"/>
              </a:rPr>
              <a:t>All interleavings of concurrent transactions</a:t>
            </a:r>
          </a:p>
        </p:txBody>
      </p:sp>
      <p:sp>
        <p:nvSpPr>
          <p:cNvPr id="4" name="Block"/>
          <p:cNvSpPr/>
          <p:nvPr/>
        </p:nvSpPr>
        <p:spPr>
          <a:xfrm>
            <a:off x="1463040" y="2057400"/>
            <a:ext cx="6217920" cy="822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C4826"/>
                </a:solidFill>
                <a:latin typeface="Calibri"/>
              </a:rPr>
              <a:t>Histories your isolation level permits</a:t>
            </a:r>
          </a:p>
        </p:txBody>
      </p:sp>
      <p:sp>
        <p:nvSpPr>
          <p:cNvPr id="5" name="Block"/>
          <p:cNvSpPr/>
          <p:nvPr/>
        </p:nvSpPr>
        <p:spPr>
          <a:xfrm>
            <a:off x="2514600" y="3108960"/>
            <a:ext cx="411480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SERIALIZABLE — equivalent to some one-at-a-time order</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
        <p:nvSpPr>
          <p:cNvPr id="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Serializability is a correctness criterion, not a feature flag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Choosing an isolation level is choosing your failure modes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Three ways to actually prevent double-booking</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Concurrency control is a cost you choose on purpose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Schemas evolve: the recurring-booking feature arrives</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migration is a deployment of the data model — not a flag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p:cNvSpPr/>
          <p:nvPr/>
        </p:nvSpPr>
        <p:spPr>
          <a:xfrm>
            <a:off x="41148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p:txBody>
      </p:sp>
      <p:sp>
        <p:nvSpPr>
          <p:cNvPr id="4" name="Block"/>
          <p:cNvSpPr/>
          <p:nvPr/>
        </p:nvSpPr>
        <p:spPr>
          <a:xfrm>
            <a:off x="333756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p:txBody>
      </p:sp>
      <p:sp>
        <p:nvSpPr>
          <p:cNvPr id="5" name="Block"/>
          <p:cNvSpPr/>
          <p:nvPr/>
        </p:nvSpPr>
        <p:spPr>
          <a:xfrm>
            <a:off x="626364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p:txBody>
      </p:sp>
      <p:sp>
        <p:nvSpPr>
          <p:cNvPr id="6" name="Arrow"/>
          <p:cNvSpPr/>
          <p:nvPr/>
        </p:nvSpPr>
        <p:spPr>
          <a:xfrm>
            <a:off x="290779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700784"/>
            <a:ext cx="365760" cy="530352"/>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p:txBody>
      </p:sp>
      <p:sp>
        <p:nvSpPr>
          <p:cNvPr id="10" name="Block"/>
          <p:cNvSpPr/>
          <p:nvPr/>
        </p:nvSpPr>
        <p:spPr>
          <a:xfrm>
            <a:off x="333756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p:txBody>
      </p:sp>
      <p:sp>
        <p:nvSpPr>
          <p:cNvPr id="11" name="Block"/>
          <p:cNvSpPr/>
          <p:nvPr/>
        </p:nvSpPr>
        <p:spPr>
          <a:xfrm>
            <a:off x="41148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p:txBody>
      </p:sp>
      <p:sp>
        <p:nvSpPr>
          <p:cNvPr id="12" name="Arrow"/>
          <p:cNvSpPr/>
          <p:nvPr/>
        </p:nvSpPr>
        <p:spPr>
          <a:xfrm>
            <a:off x="583387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3383280"/>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 alongside every step: constraints, checks, gates</a:t>
            </a:r>
          </a:p>
        </p:txBody>
      </p:sp>
      <p:cxnSp>
        <p:nvCxnSpPr>
          <p:cNvPr id="15" name="AlignLink"/>
          <p:cNvCxnSpPr/>
          <p:nvPr/>
        </p:nvCxnSpPr>
        <p:spPr>
          <a:xfrm>
            <a:off x="1645920"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7"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CardBody"/>
          <p:cNvSpPr txBox="1"/>
          <p:nvPr/>
        </p:nvSpPr>
        <p:spPr>
          <a:xfrm>
            <a:off x="557784" y="4297680"/>
            <a:ext cx="8046720" cy="1298448"/>
          </a:xfrm>
          <a:prstGeom prst="rect">
            <a:avLst/>
          </a:prstGeom>
          <a:noFill/>
        </p:spPr>
        <p:txBody>
          <a:bodyPr wrap="square">
            <a:spAutoFit/>
          </a:bodyPr>
          <a:lstStyle/>
          <a:p>
            <a:pPr algn="l">
              <a:spcAft>
                <a:spcPts val="200"/>
              </a:spcAft>
            </a:pPr>
            <a:r>
              <a:rPr sz="2000" b="1">
                <a:solidFill>
                  <a:srgbClr val="5C4826"/>
                </a:solidFill>
                <a:latin typeface="Calibri"/>
              </a:rPr>
              <a:t>Today's pass</a:t>
            </a:r>
          </a:p>
          <a:p>
            <a:pPr algn="l">
              <a:spcAft>
                <a:spcPts val="400"/>
              </a:spcAft>
            </a:pPr>
            <a:r>
              <a:rPr sz="2000" b="0">
                <a:solidFill>
                  <a:srgbClr val="555960"/>
                </a:solidFill>
                <a:latin typeface="Calibri"/>
              </a:rPr>
              <a:t>Preserve reservations → ER + schema → relational, normalized → DDL and queries → plans and the race → accept the exclusion constraint. Alignment: the constraint itself.</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 different models, same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We have a working system —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Known, chosen costs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 and everything it inherited — become the object of engineering.</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From preserving information to changing the system that holds it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