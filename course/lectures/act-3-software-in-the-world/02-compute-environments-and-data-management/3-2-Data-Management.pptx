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7" r:id="rId1"/>
  </p:sldMasterIdLst>
  <p:notesMasterIdLst>
    <p:notesMasterId r:id="rId3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65"/>
    <p:restoredTop sz="80913"/>
  </p:normalViewPr>
  <p:slideViewPr>
    <p:cSldViewPr snapToGrid="0">
      <p:cViewPr varScale="1">
        <p:scale>
          <a:sx n="100" d="100"/>
          <a:sy n="100" d="100"/>
        </p:scale>
        <p:origin x="16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 minute.</a:t>
            </a:r>
          </a:p>
          <a:p/>
          <a:p>
            <a:r>
              <a:t>Tuesday deployed the reservation service: HTTP API, reservation logic, in-memory state. Today the state gets a real home. The governing question on the slide is the arc for 75 minutes: represent (data models, schemas), retrieve (queries, plans), preserve (durability, transactions, migrations).</a:t>
            </a:r>
          </a:p>
          <a:p/>
          <a:p>
            <a:r>
              <a:t>Frame the posture up front: today is about a DESIGN SPACE — choices about representation, semantics, interfaces, concurrency, and scale. SQL, NoSQL, ORMs, indexes, and transactions are mechanisms within that space, not the subject. This is not an SQL tutorial.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 minutes.</a:t>
            </a:r>
          </a:p>
          <a:p/>
          <a:p>
            <a:r>
              <a:t>Run it as three quick questions. (1) We kill -9 the service: what did users lose? (2) Load grows and we add a second replica, as Tuesday's topology allowed: what goes wrong? (Each replica has its own dict.) (3) Two students click Reserve on room 117 at the same moment: what do both requests see?</a:t>
            </a:r>
          </a:p>
          <a:p/>
          <a:p>
            <a:r>
              <a:t>Students will collapse all three into "use a database." Push on SEPARABILITY — that is the slide's point: an embedded database like SQLite gives durability and transactions with no server and no sharing; a distributed key-value store gives scalable sharing with a very different transaction model; a cache gives fast sharing with no persistence at all. The three requirements select machinery independently.</a:t>
            </a:r>
          </a:p>
          <a:p/>
          <a:p>
            <a:r>
              <a:t>Do not let "database" mean "SQL server" yet — next slide names the component abstractly.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 minutes.</a:t>
            </a:r>
          </a:p>
          <a:p/>
          <a:p>
            <a:r>
              <a:t>Ask for databases students have used that are not a SQL server: SQLite inside every phone app, Redis, MongoDB, Firebase, even a Git repository. The point: "database" names a component you delegate state to, with an engineering contract — not a language and not a vendor aisle.</a:t>
            </a:r>
          </a:p>
          <a:p/>
          <a:p>
            <a:r>
              <a:t>The bottom card recalls the separability from the previous slide with concrete machinery. None of these is "not a real database"; each occupies a different point in the space we are about to draw.</a:t>
            </a:r>
          </a:p>
          <a:p/>
          <a:p>
            <a:r>
              <a:t>Next slide makes "the contract" precise: five dimensions that organize the rest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 minutes.</a:t>
            </a:r>
          </a:p>
          <a:p/>
          <a:p>
            <a:r>
              <a:t>This is the lecture's central visual; everything that follows lives somewhere on it. Walk each row as an engineering QUESTION, not a feature list. When relational vs NoSQL, ORMs, query plans, or transactions come up later, return here and point at the row they occupy.</a:t>
            </a:r>
          </a:p>
          <a:p/>
          <a:p>
            <a:r>
              <a:t>The footer line is the model's point: requirements belong to the APPLICATION; guarantees belong to the DATABASE. Keeping those separate is what lets "NoSQL" be a set of points in this space rather than a rival camp — and what makes "does the database enforce my invariant?" a question with a precise answer rather than a vibe.</a:t>
            </a:r>
          </a:p>
          <a:p/>
          <a:p>
            <a:r>
              <a:t>Operations (backup, recovery, migration, administration) is a real sixth dimension; we defer it to the Operations &amp; SRE unit rather than pretending it fits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 minutes.</a:t>
            </a:r>
          </a:p>
          <a:p/>
          <a:p>
            <a:r>
              <a:t>One pass, one sentence per family, always the same facts: rooms, users, reservations.</a:t>
            </a:r>
          </a:p>
          <a:p/>
          <a:p>
            <a:r>
              <a:t>DO NOT claim capability walls. A document database CAN represent relationships (references across documents); a relational database CAN store JSON (jsonb columns). The real differences are NATIVE representation and common usage — what the system makes easy, indexed, and idiomatic. Teaching these as absolute capabilities is the second named non-claim of this lecture.</a:t>
            </a:r>
          </a:p>
          <a:p/>
          <a:p>
            <a:r>
              <a:t>Foreshadow: "easy vs harder" is about to matter — our invariant is a cross-row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 minutes.</a:t>
            </a:r>
          </a:p>
          <a:p/>
          <a:p>
            <a:r>
              <a:t>The crossed-out line is folk wisdom students arrive with; name it and reject it explicitly — it is not a defensible engineering rule. "NoSQL" is not a single consistency model: Spanner-class relational systems are distributed and horizontally scalable; several document and key-value systems offer strong consistency and multi-document transactions. The engineering move is the previous slide's footer: compare GUARANTEES against REQUIREMENTS, per system, per dimension.</a:t>
            </a:r>
          </a:p>
          <a:p/>
          <a:p>
            <a:r>
              <a:t>We now commit to a relational first implementation — not because relational is "the default answer," but because our requirements (left card) select it. Later slides compare NoSQL alternatives against those same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 minutes.</a:t>
            </a:r>
          </a:p>
          <a:p/>
          <a:p>
            <a:r>
              <a:t>These four questions make the Semantics and Concurrency rows of the abstract model operational. The answers differ WITHIN camps, not just between them: two relational engines at their default isolation levels answer question 3 differently, and so do two NoSQL systems. That is why the label ("SQL," "NoSQL") tells you less than the documentation's guarantees section.</a:t>
            </a:r>
          </a:p>
          <a:p/>
          <a:p>
            <a:r>
              <a:t>Question 3 is the lecture's destination — hold it up now, promise it gets 20 minutes later. Question 4 foreshadows the three-fixes slide: in some systems the invariant can live IN the database; in others it must live in application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 minutes.</a:t>
            </a:r>
          </a:p>
          <a:p/>
          <a:p>
            <a:r>
              <a:t>Quick poll, not a worksheet: for each system, pick a data model, a consistency posture, and a scaling posture — one minute of neighbor discussion, then take answers.</a:t>
            </a:r>
          </a:p>
          <a:p/>
          <a:p>
            <a:r>
              <a:t>Expected: A → relational, strong isolation available, single primary, indexes for ad-hoc queries. B → partitioned key-value / wide-column, relaxed consistency, write-optimized, partition by device id; no cross-row invariant exists, so nothing is lost by relaxing it.</a:t>
            </a:r>
          </a:p>
          <a:p/>
          <a:p>
            <a:r>
              <a:t>The teaching point: B is not "worse engineering" than A — its requirements genuinely do not need what A must pay for. Resist any student framing of A as legacy and B as modern.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simple">
  <p:cSld name="Title slide - simp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Times"/>
              <a:buNone/>
              <a:defRPr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27125" y="2078038"/>
            <a:ext cx="7031038" cy="874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alibri"/>
              <a:buNone/>
              <a:defRPr sz="3600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7" name="Google Shape;17;p2"/>
          <p:cNvCxnSpPr/>
          <p:nvPr/>
        </p:nvCxnSpPr>
        <p:spPr>
          <a:xfrm>
            <a:off x="-16760" y="0"/>
            <a:ext cx="91440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18" name="Google Shape;18;p2"/>
          <p:cNvCxnSpPr/>
          <p:nvPr/>
        </p:nvCxnSpPr>
        <p:spPr>
          <a:xfrm>
            <a:off x="0" y="6858000"/>
            <a:ext cx="91440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19" name="Google Shape;19;p2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97131" y="5715964"/>
            <a:ext cx="5091026" cy="5425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">
  <p:cSld name="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body" idx="1"/>
          </p:nvPr>
        </p:nvSpPr>
        <p:spPr>
          <a:xfrm>
            <a:off x="277148" y="1305004"/>
            <a:ext cx="8557768" cy="5166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4" name="Google Shape;24;p3"/>
          <p:cNvCxnSpPr/>
          <p:nvPr/>
        </p:nvCxnSpPr>
        <p:spPr>
          <a:xfrm>
            <a:off x="277148" y="756603"/>
            <a:ext cx="8557769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25" name="Google Shape;25;p3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">
  <p:cSld name="Section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685800" y="2747963"/>
            <a:ext cx="7772400" cy="13620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82875" tIns="182875" rIns="182875" bIns="1828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Calibri"/>
              <a:buNone/>
              <a:defRPr sz="4000" b="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8" name="Google Shape;28;p4"/>
          <p:cNvCxnSpPr/>
          <p:nvPr/>
        </p:nvCxnSpPr>
        <p:spPr>
          <a:xfrm>
            <a:off x="-57794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29" name="Google Shape;29;p4"/>
          <p:cNvCxnSpPr/>
          <p:nvPr/>
        </p:nvCxnSpPr>
        <p:spPr>
          <a:xfrm>
            <a:off x="-78517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uble content">
  <p:cSld name="Double conten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484369" y="1250205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4675369" y="1250205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cxnSp>
        <p:nvCxnSpPr>
          <p:cNvPr id="34" name="Google Shape;34;p5"/>
          <p:cNvCxnSpPr/>
          <p:nvPr/>
        </p:nvCxnSpPr>
        <p:spPr>
          <a:xfrm>
            <a:off x="277148" y="756603"/>
            <a:ext cx="8577217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uble content - titled">
  <p:cSld name="Double content - titled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457200" y="1258655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 b="1"/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457200" y="1898417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3"/>
          </p:nvPr>
        </p:nvSpPr>
        <p:spPr>
          <a:xfrm>
            <a:off x="4645025" y="1258655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 b="1"/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4"/>
          </p:nvPr>
        </p:nvSpPr>
        <p:spPr>
          <a:xfrm>
            <a:off x="4645025" y="1898417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cxnSp>
        <p:nvCxnSpPr>
          <p:cNvPr id="42" name="Google Shape;42;p6"/>
          <p:cNvCxnSpPr/>
          <p:nvPr/>
        </p:nvCxnSpPr>
        <p:spPr>
          <a:xfrm>
            <a:off x="277148" y="756603"/>
            <a:ext cx="8577217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43" name="Google Shape;43;p6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ust borders">
  <p:cSld name="Just border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" name="Google Shape;46;p7"/>
          <p:cNvCxnSpPr/>
          <p:nvPr/>
        </p:nvCxnSpPr>
        <p:spPr>
          <a:xfrm>
            <a:off x="-37071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47" name="Google Shape;47;p7"/>
          <p:cNvCxnSpPr/>
          <p:nvPr/>
        </p:nvCxnSpPr>
        <p:spPr>
          <a:xfrm>
            <a:off x="-57794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adrants">
  <p:cSld name="Quadrants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Google Shape;50;p8"/>
          <p:cNvCxnSpPr/>
          <p:nvPr/>
        </p:nvCxnSpPr>
        <p:spPr>
          <a:xfrm>
            <a:off x="-37071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51" name="Google Shape;51;p8"/>
          <p:cNvCxnSpPr/>
          <p:nvPr/>
        </p:nvCxnSpPr>
        <p:spPr>
          <a:xfrm>
            <a:off x="-57794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52" name="Google Shape;52;p8"/>
          <p:cNvSpPr>
            <a:spLocks noGrp="1"/>
          </p:cNvSpPr>
          <p:nvPr>
            <p:ph type="pic" idx="2"/>
          </p:nvPr>
        </p:nvSpPr>
        <p:spPr>
          <a:xfrm>
            <a:off x="877888" y="765140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Google Shape;53;p8"/>
          <p:cNvSpPr>
            <a:spLocks noGrp="1"/>
          </p:cNvSpPr>
          <p:nvPr>
            <p:ph type="pic" idx="3"/>
          </p:nvPr>
        </p:nvSpPr>
        <p:spPr>
          <a:xfrm>
            <a:off x="5204723" y="765140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4" name="Google Shape;54;p8"/>
          <p:cNvSpPr>
            <a:spLocks noGrp="1"/>
          </p:cNvSpPr>
          <p:nvPr>
            <p:ph type="pic" idx="4"/>
          </p:nvPr>
        </p:nvSpPr>
        <p:spPr>
          <a:xfrm>
            <a:off x="877887" y="3596647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5" name="Google Shape;55;p8"/>
          <p:cNvSpPr>
            <a:spLocks noGrp="1"/>
          </p:cNvSpPr>
          <p:nvPr>
            <p:ph type="pic" idx="5"/>
          </p:nvPr>
        </p:nvSpPr>
        <p:spPr>
          <a:xfrm>
            <a:off x="5204723" y="3616525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Google Shape;56;p8"/>
          <p:cNvSpPr txBox="1">
            <a:spLocks noGrp="1"/>
          </p:cNvSpPr>
          <p:nvPr>
            <p:ph type="body" idx="1"/>
          </p:nvPr>
        </p:nvSpPr>
        <p:spPr>
          <a:xfrm>
            <a:off x="877819" y="213987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body" idx="6"/>
          </p:nvPr>
        </p:nvSpPr>
        <p:spPr>
          <a:xfrm>
            <a:off x="5205344" y="213987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body" idx="7"/>
          </p:nvPr>
        </p:nvSpPr>
        <p:spPr>
          <a:xfrm>
            <a:off x="877819" y="6093410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8"/>
          </p:nvPr>
        </p:nvSpPr>
        <p:spPr>
          <a:xfrm>
            <a:off x="5205344" y="6093410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Calibri"/>
              <a:buNone/>
              <a:defRPr sz="2000" b="1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cxnSp>
        <p:nvCxnSpPr>
          <p:cNvPr id="65" name="Google Shape;65;p9"/>
          <p:cNvCxnSpPr/>
          <p:nvPr/>
        </p:nvCxnSpPr>
        <p:spPr>
          <a:xfrm>
            <a:off x="-37071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66" name="Google Shape;66;p9"/>
          <p:cNvCxnSpPr/>
          <p:nvPr/>
        </p:nvCxnSpPr>
        <p:spPr>
          <a:xfrm>
            <a:off x="-57794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ributions">
  <p:cSld name="Contribution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>
            <a:spLocks noGrp="1"/>
          </p:cNvSpPr>
          <p:nvPr>
            <p:ph type="body" idx="1"/>
          </p:nvPr>
        </p:nvSpPr>
        <p:spPr>
          <a:xfrm>
            <a:off x="595200" y="1060230"/>
            <a:ext cx="6064017" cy="183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rgbClr val="000000"/>
              </a:buClr>
              <a:buSzPts val="3120"/>
              <a:buFont typeface="Calibri"/>
              <a:buNone/>
              <a:defRPr sz="2600" b="0" u="sng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77148" y="756603"/>
            <a:ext cx="8577217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71" name="Google Shape;71;p10"/>
          <p:cNvSpPr>
            <a:spLocks noGrp="1"/>
          </p:cNvSpPr>
          <p:nvPr>
            <p:ph type="pic" idx="2"/>
          </p:nvPr>
        </p:nvSpPr>
        <p:spPr>
          <a:xfrm>
            <a:off x="1761066" y="174928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Google Shape;72;p10"/>
          <p:cNvSpPr>
            <a:spLocks noGrp="1"/>
          </p:cNvSpPr>
          <p:nvPr>
            <p:ph type="pic" idx="3"/>
          </p:nvPr>
        </p:nvSpPr>
        <p:spPr>
          <a:xfrm>
            <a:off x="3843866" y="174928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3" name="Google Shape;73;p10"/>
          <p:cNvSpPr txBox="1">
            <a:spLocks noGrp="1"/>
          </p:cNvSpPr>
          <p:nvPr>
            <p:ph type="body" idx="4"/>
          </p:nvPr>
        </p:nvSpPr>
        <p:spPr>
          <a:xfrm>
            <a:off x="595200" y="3129880"/>
            <a:ext cx="6064017" cy="183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rgbClr val="000000"/>
              </a:buClr>
              <a:buSzPts val="3120"/>
              <a:buFont typeface="Calibri"/>
              <a:buNone/>
              <a:defRPr sz="2600" b="0" u="sng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>
            <a:spLocks noGrp="1"/>
          </p:cNvSpPr>
          <p:nvPr>
            <p:ph type="pic" idx="5"/>
          </p:nvPr>
        </p:nvSpPr>
        <p:spPr>
          <a:xfrm>
            <a:off x="1761066" y="381893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5" name="Google Shape;75;p10"/>
          <p:cNvSpPr>
            <a:spLocks noGrp="1"/>
          </p:cNvSpPr>
          <p:nvPr>
            <p:ph type="pic" idx="6"/>
          </p:nvPr>
        </p:nvSpPr>
        <p:spPr>
          <a:xfrm>
            <a:off x="3843866" y="381893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6" name="Google Shape;76;p10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sz="2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2" name="Google Shape;12;p1" descr="A close up of a sign&#10;&#10;Description automatically generated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746670" y="6562249"/>
            <a:ext cx="292555" cy="156273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urseLine"/>
          <p:cNvSpPr txBox="1"/>
          <p:nvPr/>
        </p:nvSpPr>
        <p:spPr>
          <a:xfrm>
            <a:off x="658368" y="576072"/>
            <a:ext cx="7818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S o f t w a r e   E n g i n e e r i n g</a:t>
            </a:r>
          </a:p>
        </p:txBody>
      </p:sp>
      <p:sp>
        <p:nvSpPr>
          <p:cNvPr id="3" name="CourseNumber"/>
          <p:cNvSpPr txBox="1"/>
          <p:nvPr/>
        </p:nvSpPr>
        <p:spPr>
          <a:xfrm>
            <a:off x="658368" y="1014984"/>
            <a:ext cx="7818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ECE 30861 / CSCI 45000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84048" y="17830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0">
                <a:solidFill>
                  <a:srgbClr val="2D2D2D"/>
                </a:solidFill>
                <a:latin typeface="Calibri"/>
              </a:rPr>
              <a:t>Data Management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429768" y="2606040"/>
            <a:ext cx="8284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>
                <a:solidFill>
                  <a:srgbClr val="8E6F3E"/>
                </a:solidFill>
                <a:latin typeface="Calibri"/>
              </a:rPr>
              <a:t>How do we represent, retrieve, and preserve information as software systems grow?</a:t>
            </a:r>
          </a:p>
        </p:txBody>
      </p:sp>
      <p:sp>
        <p:nvSpPr>
          <p:cNvPr id="6" name="Instructors"/>
          <p:cNvSpPr txBox="1"/>
          <p:nvPr/>
        </p:nvSpPr>
        <p:spPr>
          <a:xfrm>
            <a:off x="740664" y="3657600"/>
            <a:ext cx="7680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2D2D2D"/>
                </a:solidFill>
                <a:latin typeface="Calibri"/>
              </a:rPr>
              <a:t>Prof. James C. Davis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2D2D2D"/>
                </a:solidFill>
                <a:latin typeface="Calibri"/>
              </a:rPr>
              <a:t>Prof. Steve France</a:t>
            </a:r>
          </a:p>
        </p:txBody>
      </p:sp>
      <p:sp>
        <p:nvSpPr>
          <p:cNvPr id="7" name="ActLine"/>
          <p:cNvSpPr txBox="1"/>
          <p:nvPr/>
        </p:nvSpPr>
        <p:spPr>
          <a:xfrm>
            <a:off x="1143000" y="4617720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Act III — Engineering Software Systems</a:t>
            </a:r>
          </a:p>
        </p:txBody>
      </p:sp>
      <p:sp>
        <p:nvSpPr>
          <p:cNvPr id="8" name="DateLine"/>
          <p:cNvSpPr txBox="1"/>
          <p:nvPr/>
        </p:nvSpPr>
        <p:spPr>
          <a:xfrm>
            <a:off x="1143000" y="5029200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Thursday, November 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Our service keeps every reservation in memory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411480" y="868680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5C4826"/>
                </a:solidFill>
                <a:latin typeface="Calibri"/>
              </a:rPr>
              <a:t>Tuesday ended with the service deployed. What breaks first?</a:t>
            </a:r>
          </a:p>
        </p:txBody>
      </p:sp>
      <p:sp>
        <p:nvSpPr>
          <p:cNvPr id="4" name="Card"/>
          <p:cNvSpPr/>
          <p:nvPr/>
        </p:nvSpPr>
        <p:spPr>
          <a:xfrm>
            <a:off x="411480" y="1417320"/>
            <a:ext cx="8321040" cy="12984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CardLeft"/>
          <p:cNvSpPr txBox="1"/>
          <p:nvPr/>
        </p:nvSpPr>
        <p:spPr>
          <a:xfrm>
            <a:off x="557784" y="1490472"/>
            <a:ext cx="3611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THE PROCESS RESTARTS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Every reservation is gone</a:t>
            </a:r>
          </a:p>
        </p:txBody>
      </p:sp>
      <p:sp>
        <p:nvSpPr>
          <p:cNvPr id="6" name="CardRight"/>
          <p:cNvSpPr txBox="1"/>
          <p:nvPr/>
        </p:nvSpPr>
        <p:spPr>
          <a:xfrm>
            <a:off x="4343400" y="1490472"/>
            <a:ext cx="425196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Persistence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Information must outlive the process that wrote it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2862072"/>
            <a:ext cx="8321040" cy="1298448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CardLeft"/>
          <p:cNvSpPr txBox="1"/>
          <p:nvPr/>
        </p:nvSpPr>
        <p:spPr>
          <a:xfrm>
            <a:off x="557784" y="2935224"/>
            <a:ext cx="3611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WE ADD A SECOND REPLICA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Two copies, two different truths</a:t>
            </a:r>
          </a:p>
        </p:txBody>
      </p:sp>
      <p:sp>
        <p:nvSpPr>
          <p:cNvPr id="9" name="CardRight"/>
          <p:cNvSpPr txBox="1"/>
          <p:nvPr/>
        </p:nvSpPr>
        <p:spPr>
          <a:xfrm>
            <a:off x="4343400" y="2935224"/>
            <a:ext cx="425196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Sharing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Many clients and replicas, one authoritative copy</a:t>
            </a:r>
          </a:p>
        </p:txBody>
      </p:sp>
      <p:sp>
        <p:nvSpPr>
          <p:cNvPr id="10" name="Card"/>
          <p:cNvSpPr/>
          <p:nvPr/>
        </p:nvSpPr>
        <p:spPr>
          <a:xfrm>
            <a:off x="411480" y="4306824"/>
            <a:ext cx="8321040" cy="12984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CardLeft"/>
          <p:cNvSpPr txBox="1"/>
          <p:nvPr/>
        </p:nvSpPr>
        <p:spPr>
          <a:xfrm>
            <a:off x="557784" y="4379976"/>
            <a:ext cx="3611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TWO REQUESTS ARRIVE AT ONCE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Both see the room as free</a:t>
            </a:r>
          </a:p>
        </p:txBody>
      </p:sp>
      <p:sp>
        <p:nvSpPr>
          <p:cNvPr id="12" name="CardRight"/>
          <p:cNvSpPr txBox="1"/>
          <p:nvPr/>
        </p:nvSpPr>
        <p:spPr>
          <a:xfrm>
            <a:off x="4343400" y="4379976"/>
            <a:ext cx="425196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Concurrency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Overlapping operations must not corrupt state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Three separable requirements — each can be met without the others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A database is an engineering component, not a language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1005840"/>
            <a:ext cx="4069080" cy="246888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ardBody"/>
          <p:cNvSpPr txBox="1"/>
          <p:nvPr/>
        </p:nvSpPr>
        <p:spPr>
          <a:xfrm>
            <a:off x="557784" y="1097280"/>
            <a:ext cx="37764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WHAT YOU DELEGATE TO IT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Representing your domain's facts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Retrieving them on demand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Durability across failures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Concurrency control under load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005840"/>
            <a:ext cx="4069080" cy="246888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ardBody"/>
          <p:cNvSpPr txBox="1"/>
          <p:nvPr/>
        </p:nvSpPr>
        <p:spPr>
          <a:xfrm>
            <a:off x="4809744" y="1097280"/>
            <a:ext cx="37764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WHAT IT IS NOT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 synonym for SQL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One product category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 place where correctness happens automatically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3657600"/>
            <a:ext cx="8321040" cy="201168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CardBody"/>
          <p:cNvSpPr txBox="1"/>
          <p:nvPr/>
        </p:nvSpPr>
        <p:spPr>
          <a:xfrm>
            <a:off x="557784" y="3749039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The requirements select machinery independently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SQLite — durability + transactions; no server, no sharing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A distributed key-value store — scalable sharing; a different transaction model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A cache — fast sharing; no durability at all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Name the guarantees you need, then choose a system that provides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An abstract model of a database: five dimensions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914400"/>
            <a:ext cx="8321040" cy="8412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owLabel"/>
          <p:cNvSpPr txBox="1"/>
          <p:nvPr/>
        </p:nvSpPr>
        <p:spPr>
          <a:xfrm>
            <a:off x="557784" y="950976"/>
            <a:ext cx="21031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Data model</a:t>
            </a:r>
          </a:p>
        </p:txBody>
      </p:sp>
      <p:sp>
        <p:nvSpPr>
          <p:cNvPr id="5" name="RowBody"/>
          <p:cNvSpPr txBox="1"/>
          <p:nvPr/>
        </p:nvSpPr>
        <p:spPr>
          <a:xfrm>
            <a:off x="2752344" y="950976"/>
            <a:ext cx="583387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How is information represented?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relations · documents · key-value pairs · graphs</a:t>
            </a:r>
          </a:p>
        </p:txBody>
      </p:sp>
      <p:sp>
        <p:nvSpPr>
          <p:cNvPr id="6" name="Card"/>
          <p:cNvSpPr/>
          <p:nvPr/>
        </p:nvSpPr>
        <p:spPr>
          <a:xfrm>
            <a:off x="411480" y="1828800"/>
            <a:ext cx="8321040" cy="841248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wLabel"/>
          <p:cNvSpPr txBox="1"/>
          <p:nvPr/>
        </p:nvSpPr>
        <p:spPr>
          <a:xfrm>
            <a:off x="557784" y="1865376"/>
            <a:ext cx="21031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Semantics</a:t>
            </a:r>
          </a:p>
        </p:txBody>
      </p:sp>
      <p:sp>
        <p:nvSpPr>
          <p:cNvPr id="8" name="RowBody"/>
          <p:cNvSpPr txBox="1"/>
          <p:nvPr/>
        </p:nvSpPr>
        <p:spPr>
          <a:xfrm>
            <a:off x="2752344" y="1865376"/>
            <a:ext cx="583387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What does it promise about the data?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schema constraints · durability · consistency</a:t>
            </a:r>
          </a:p>
        </p:txBody>
      </p:sp>
      <p:sp>
        <p:nvSpPr>
          <p:cNvPr id="9" name="Card"/>
          <p:cNvSpPr/>
          <p:nvPr/>
        </p:nvSpPr>
        <p:spPr>
          <a:xfrm>
            <a:off x="411480" y="2743200"/>
            <a:ext cx="8321040" cy="8412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wLabel"/>
          <p:cNvSpPr txBox="1"/>
          <p:nvPr/>
        </p:nvSpPr>
        <p:spPr>
          <a:xfrm>
            <a:off x="557784" y="2779776"/>
            <a:ext cx="21031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Query interface</a:t>
            </a:r>
          </a:p>
        </p:txBody>
      </p:sp>
      <p:sp>
        <p:nvSpPr>
          <p:cNvPr id="11" name="RowBody"/>
          <p:cNvSpPr txBox="1"/>
          <p:nvPr/>
        </p:nvSpPr>
        <p:spPr>
          <a:xfrm>
            <a:off x="2752344" y="2779776"/>
            <a:ext cx="583387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How does the app express its needs?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SQL · document queries · ORM</a:t>
            </a:r>
          </a:p>
        </p:txBody>
      </p:sp>
      <p:sp>
        <p:nvSpPr>
          <p:cNvPr id="12" name="Card"/>
          <p:cNvSpPr/>
          <p:nvPr/>
        </p:nvSpPr>
        <p:spPr>
          <a:xfrm>
            <a:off x="411480" y="3657600"/>
            <a:ext cx="8321040" cy="841248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wLabel"/>
          <p:cNvSpPr txBox="1"/>
          <p:nvPr/>
        </p:nvSpPr>
        <p:spPr>
          <a:xfrm>
            <a:off x="557784" y="3694176"/>
            <a:ext cx="21031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Concurrency</a:t>
            </a:r>
          </a:p>
        </p:txBody>
      </p:sp>
      <p:sp>
        <p:nvSpPr>
          <p:cNvPr id="14" name="RowBody"/>
          <p:cNvSpPr txBox="1"/>
          <p:nvPr/>
        </p:nvSpPr>
        <p:spPr>
          <a:xfrm>
            <a:off x="2752344" y="3694176"/>
            <a:ext cx="583387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What happens when operations overlap?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transactions · isolation · optimistic control</a:t>
            </a:r>
          </a:p>
        </p:txBody>
      </p:sp>
      <p:sp>
        <p:nvSpPr>
          <p:cNvPr id="15" name="Card"/>
          <p:cNvSpPr/>
          <p:nvPr/>
        </p:nvSpPr>
        <p:spPr>
          <a:xfrm>
            <a:off x="411480" y="4572000"/>
            <a:ext cx="8321040" cy="8412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wLabel"/>
          <p:cNvSpPr txBox="1"/>
          <p:nvPr/>
        </p:nvSpPr>
        <p:spPr>
          <a:xfrm>
            <a:off x="557784" y="4608576"/>
            <a:ext cx="21031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Scalability</a:t>
            </a:r>
          </a:p>
        </p:txBody>
      </p:sp>
      <p:sp>
        <p:nvSpPr>
          <p:cNvPr id="17" name="RowBody"/>
          <p:cNvSpPr txBox="1"/>
          <p:nvPr/>
        </p:nvSpPr>
        <p:spPr>
          <a:xfrm>
            <a:off x="2752344" y="4608576"/>
            <a:ext cx="583387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How does it behave as demand grows?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indexing · replication · partitioning</a:t>
            </a:r>
          </a:p>
        </p:txBody>
      </p:sp>
      <p:sp>
        <p:nvSpPr>
          <p:cNvPr id="18" name="OperationsNote"/>
          <p:cNvSpPr txBox="1"/>
          <p:nvPr/>
        </p:nvSpPr>
        <p:spPr>
          <a:xfrm>
            <a:off x="411480" y="5504688"/>
            <a:ext cx="8321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Sixth, Operations — backup, recovery, migration — deferred to Unit 6</a:t>
            </a:r>
          </a:p>
        </p:txBody>
      </p:sp>
      <p:sp>
        <p:nvSpPr>
          <p:cNvPr id="19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Separate what the app REQUIRES from what the database GUARANTEES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Four ways to represent a reservation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960120"/>
            <a:ext cx="4069080" cy="21031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ardBody"/>
          <p:cNvSpPr txBox="1"/>
          <p:nvPr/>
        </p:nvSpPr>
        <p:spPr>
          <a:xfrm>
            <a:off x="557784" y="1051560"/>
            <a:ext cx="377647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RELATIONAL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Tables of rows; relationships via keys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Easy: joins, cross-row rules · Harder: deep nesting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960120"/>
            <a:ext cx="4069080" cy="210312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ardBody"/>
          <p:cNvSpPr txBox="1"/>
          <p:nvPr/>
        </p:nvSpPr>
        <p:spPr>
          <a:xfrm>
            <a:off x="4809744" y="1051560"/>
            <a:ext cx="377647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DOCUMENT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 room document embeds its reservations (JSON)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Easy: read one unit whole · Harder: cross-document rules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3246120"/>
            <a:ext cx="4069080" cy="210312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CardBody"/>
          <p:cNvSpPr txBox="1"/>
          <p:nvPr/>
        </p:nvSpPr>
        <p:spPr>
          <a:xfrm>
            <a:off x="557784" y="3337560"/>
            <a:ext cx="377647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KEY-VALUE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room:117 → an opaque value, fetched by key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Easy: speed and scale · Harder: any other question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3246120"/>
            <a:ext cx="4069080" cy="21031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CardBody"/>
          <p:cNvSpPr txBox="1"/>
          <p:nvPr/>
        </p:nvSpPr>
        <p:spPr>
          <a:xfrm>
            <a:off x="4809744" y="3337560"/>
            <a:ext cx="377647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GRAPH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Nodes (user, room) and edges (RESERVED)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Easy: traversals · Harder: bulk aggregates</a:t>
            </a:r>
          </a:p>
        </p:txBody>
      </p:sp>
      <p:sp>
        <p:nvSpPr>
          <p:cNvPr id="11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Same facts, four native shapes — the choice changes what is easy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Relational vs NoSQL is a requirements question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960120"/>
            <a:ext cx="4069080" cy="205740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ardBody"/>
          <p:cNvSpPr txBox="1"/>
          <p:nvPr/>
        </p:nvSpPr>
        <p:spPr>
          <a:xfrm>
            <a:off x="557784" y="1051560"/>
            <a:ext cx="37764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OUR SERVICE LEANS RELATIONAL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Invariant relates rows to rows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Ad-hoc queries across entities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One authoritative copy; modest volume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960120"/>
            <a:ext cx="4069080" cy="205740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ardBody"/>
          <p:cNvSpPr txBox="1"/>
          <p:nvPr/>
        </p:nvSpPr>
        <p:spPr>
          <a:xfrm>
            <a:off x="4809744" y="1051560"/>
            <a:ext cx="37764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WHEN OTHER POINTS WIN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Shape varies per record → document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Key lookups at huge scale → key-value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Traversal-heavy questions → graph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3246120"/>
            <a:ext cx="8321040" cy="14173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NonClaim"/>
          <p:cNvSpPr txBox="1"/>
          <p:nvPr/>
        </p:nvSpPr>
        <p:spPr>
          <a:xfrm>
            <a:off x="557784" y="3319272"/>
            <a:ext cx="8046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C01B1B"/>
                </a:solidFill>
                <a:latin typeface="Calibri"/>
              </a:rPr>
              <a:t>✗  “SQL = consistent but slow; NoSQL = scalable but inconsistent”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Some NoSQL systems offer strong consistency and transactions; some relational systems are distributed and horizontally scalable.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Points in one design space — not rival camps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Semantics matter more than labels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411480" y="868680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5C4826"/>
                </a:solidFill>
                <a:latin typeface="Calibri"/>
              </a:rPr>
              <a:t>Four questions to put to any candidate system</a:t>
            </a:r>
          </a:p>
        </p:txBody>
      </p:sp>
      <p:sp>
        <p:nvSpPr>
          <p:cNvPr id="4" name="Card"/>
          <p:cNvSpPr/>
          <p:nvPr/>
        </p:nvSpPr>
        <p:spPr>
          <a:xfrm>
            <a:off x="411480" y="1417320"/>
            <a:ext cx="8321040" cy="896112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wBody"/>
          <p:cNvSpPr txBox="1"/>
          <p:nvPr/>
        </p:nvSpPr>
        <p:spPr>
          <a:xfrm>
            <a:off x="557784" y="1472184"/>
            <a:ext cx="8046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Can two clients observe different values at the same time?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8E6F3E"/>
                </a:solidFill>
                <a:latin typeface="Calibri"/>
              </a:rPr>
              <a:t>consistency</a:t>
            </a:r>
          </a:p>
        </p:txBody>
      </p:sp>
      <p:sp>
        <p:nvSpPr>
          <p:cNvPr id="6" name="Card"/>
          <p:cNvSpPr/>
          <p:nvPr/>
        </p:nvSpPr>
        <p:spPr>
          <a:xfrm>
            <a:off x="411480" y="2450591"/>
            <a:ext cx="8321040" cy="896112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wBody"/>
          <p:cNvSpPr txBox="1"/>
          <p:nvPr/>
        </p:nvSpPr>
        <p:spPr>
          <a:xfrm>
            <a:off x="557784" y="2505456"/>
            <a:ext cx="8046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Can a write the system acknowledged ever be lost?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8E6F3E"/>
                </a:solidFill>
                <a:latin typeface="Calibri"/>
              </a:rPr>
              <a:t>durability</a:t>
            </a:r>
          </a:p>
        </p:txBody>
      </p:sp>
      <p:sp>
        <p:nvSpPr>
          <p:cNvPr id="8" name="Card"/>
          <p:cNvSpPr/>
          <p:nvPr/>
        </p:nvSpPr>
        <p:spPr>
          <a:xfrm>
            <a:off x="411480" y="3483863"/>
            <a:ext cx="8321040" cy="896112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wBody"/>
          <p:cNvSpPr txBox="1"/>
          <p:nvPr/>
        </p:nvSpPr>
        <p:spPr>
          <a:xfrm>
            <a:off x="557784" y="3538727"/>
            <a:ext cx="8046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Can two transactions both confirm overlapping reservations?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8E6F3E"/>
                </a:solidFill>
                <a:latin typeface="Calibri"/>
              </a:rPr>
              <a:t>isolation</a:t>
            </a:r>
          </a:p>
        </p:txBody>
      </p:sp>
      <p:sp>
        <p:nvSpPr>
          <p:cNvPr id="10" name="Card"/>
          <p:cNvSpPr/>
          <p:nvPr/>
        </p:nvSpPr>
        <p:spPr>
          <a:xfrm>
            <a:off x="411480" y="4517136"/>
            <a:ext cx="8321040" cy="896112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wBody"/>
          <p:cNvSpPr txBox="1"/>
          <p:nvPr/>
        </p:nvSpPr>
        <p:spPr>
          <a:xfrm>
            <a:off x="557784" y="4571999"/>
            <a:ext cx="8046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Can the database itself enforce our no-overlap invariant?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8E6F3E"/>
                </a:solidFill>
                <a:latin typeface="Calibri"/>
              </a:rPr>
              <a:t>where the invariant lives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Interrogate guarantees, not product labels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Exercise: place each system in the design space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960120"/>
            <a:ext cx="4069080" cy="42062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ardBody"/>
          <p:cNvSpPr txBox="1"/>
          <p:nvPr/>
        </p:nvSpPr>
        <p:spPr>
          <a:xfrm>
            <a:off x="557784" y="1051560"/>
            <a:ext cx="377647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A — ROOM RESERVATIONS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Invariant between rows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Modest write volume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Ad-hoc queries across entities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One authoritative copy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 lost booking = an angry human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960120"/>
            <a:ext cx="4069080" cy="420624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ardBody"/>
          <p:cNvSpPr txBox="1"/>
          <p:nvPr/>
        </p:nvSpPr>
        <p:spPr>
          <a:xfrm>
            <a:off x="4809744" y="1051560"/>
            <a:ext cx="377647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B — DOOR-SENSOR TELEMETRY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Append-only events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Enormous write rate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Access by device id + time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Seconds of lag is fine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One lost event is tolerable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Different requirements select different points in the 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3862</Words>
  <Application>Microsoft Macintosh PowerPoint</Application>
  <PresentationFormat>On-screen Show (4:3)</PresentationFormat>
  <Paragraphs>397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Times</vt:lpstr>
      <vt:lpstr>Arial</vt:lpstr>
      <vt:lpstr>Calibri</vt:lpstr>
      <vt:lpstr>Purdue1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Steve France</cp:lastModifiedBy>
  <cp:revision>7</cp:revision>
  <dcterms:modified xsi:type="dcterms:W3CDTF">2026-10-29T14:20:08Z</dcterms:modified>
</cp:coreProperties>
</file>