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83"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521415D9-36F7-43E2-AB2F-B90AF26B5E84}">
      <ns0:sectionLst xmlns:ns0="http://schemas.microsoft.com/office/powerpoint/2010/main">
        <ns0:section name="Opening" id="{6AFD6B58-CD2F-4A0E-A4B8-C5B124201245}">
          <ns0:sldIdLst>
            <ns0:sldId id="256"/>
            <ns0:sldId id="283"/>
          </ns0:sldIdLst>
        </ns0:section>
        <ns0:section name="Database design choices" id="{008FA20D-FAED-478C-916F-C8893B876F82}">
          <ns0:sldIdLst>
            <ns0:sldId id="257"/>
            <ns0:sldId id="258"/>
            <ns0:sldId id="259"/>
            <ns0:sldId id="260"/>
            <ns0:sldId id="261"/>
            <ns0:sldId id="262"/>
            <ns0:sldId id="263"/>
          </ns0:sldIdLst>
        </ns0:section>
        <ns0:section name="Representing obligations" id="{F7197E19-83B0-4640-9211-26488498E845}">
          <ns0:sldIdLst>
            <ns0:sldId id="264"/>
            <ns0:sldId id="265"/>
            <ns0:sldId id="266"/>
            <ns0:sldId id="267"/>
          </ns0:sldIdLst>
        </ns0:section>
        <ns0:section name="Queries and execution" id="{755BBA9C-3422-4617-93F4-0AF7FD88E784}">
          <ns0:sldIdLst>
            <ns0:sldId id="268"/>
            <ns0:sldId id="269"/>
            <ns0:sldId id="270"/>
            <ns0:sldId id="271"/>
            <ns0:sldId id="272"/>
            <ns0:sldId id="273"/>
          </ns0:sldIdLst>
        </ns0:section>
        <ns0:section name="Concurrency and transactions" id="{DB0BF643-3A40-40F9-9DC0-27E39851FDD0}">
          <ns0:sldIdLst>
            <ns0:sldId id="274"/>
            <ns0:sldId id="275"/>
            <ns0:sldId id="276"/>
            <ns0:sldId id="277"/>
            <ns0:sldId id="278"/>
            <ns0:sldId id="279"/>
          </ns0:sldIdLst>
        </ns0:section>
        <ns0:section name="Evolution and synthesis" id="{155B7408-0F63-4329-B77A-A5C1141AE690}">
          <ns0:sldIdLst>
            <ns0:sldId id="280"/>
            <ns0:sldId id="281"/>
            <ns0:sldId id="282"/>
          </ns0:sldIdLst>
        </ns0:section>
      </ns0: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28.xml"/><Relationship Id="rId4" Type="http://schemas.openxmlformats.org/officeDocument/2006/relationships/slide" Target="slides/slide27.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shared access with weaker durability.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table is the storage-MECHANISM axis: a deployment and operational choice, separate from the data-model choice two slides ahead. Flat files are a legitimate point: config data is read often and changed rarely, so a JSON or YAML file is entirely appropriate — but once multiple processes update shared state concurrently, the application must supply its own coordination, atomicity, and recovery, or adopt a storage system that supplies them (the concurrency section's story). SQLite is the interesting intermediate: SQL, indexes, constraints, ACID transactions, no server; multiple readers, coordinated concurrent writers — a different concurrency architecture than a client-server engine, not a lesser one. Do not overstate it in either direction.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a:p>
            <a:r>
              <a:t>The bottom strip names the second axis: the DATA MODEL is a logical choice; the STORAGE MECHANISM (flat file, embedded engine, server, distributed system) is a deployment and operational choice. A JSON flat file can encode any of the four shapes with no engine at all; SQLite implements the relational model without a server. Conflating the two axes is the error to name out loud.</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a:p>
            <a:r>
              <a:t>SQLite vs PostgreSQL is the cleanest proof that database selection is multidimensional: the same data model and query language at two very different deployment and operational points. 'Relational vs NoSQL' is one axis of several, not the whole decision.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a:p>
            <a:r>
              <a:t>Several technologies can satisfy each workload — the point is the mapping from requirements to capabilities, not one blessed answer. A could run on PostgreSQL, MySQL, or SQLite behind a single process; B fits a wide-column or key-value store, a time-series engine, or partitioned Postgres. Grade answers by the capability argument, not the product name.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numbers are illustrative, not benchmarks — real timings depend on hardware, caching, selectivity, and the engine. Also honest: the (room_id, starts_at) index narrows to this room's candidate window; the ends_at predicate still filters each candidate, so the examined set can exceed the answer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5 minutes.</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Consistency concerns the invariants the database actually knows about: transactions preserve the specified integrity constraints. Application invariants never represented in the database require additional engineering — a constraint, an isolation contract, or a locking discipline (the three-fixes slide). 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Qualification to say aloud: serializability rescues check-then-act only when the availability check AND the insert run inside the SAME transaction. Split them across two transactions and each is serializable alone — and the race returns. What it costs — and why engines do not default to it — is the next slide. Keep the taxonomy OUT of this slide; here there is only "permitted histories," narrower or wider.</a:t>
            </a:r>
          </a:p>
          <a:p>
            <a:r>
              <a:t>Point at the ✗: our double-booking history sits INSIDE what weaker levels permit and OUTSIDE the serializable core. Excluding it is exactly what we will pay for.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 Name the engine-variance caveat: the SQL-standard level names do not pin behavior. PostgreSQL's Repeatable Read is snapshot isolation and permits this; other engines implement the same name with locks and different anomalies. Read the engine's documentation, not the standard's table.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 Both the availability check and the insert must run inside the same serializable transaction — split them and the protection is gone.</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The five movements, each named by the engineering question it answers. This vocabulary recurs: the deck's sections carry the same names. Point at row four: the lecture's destination is the concurrency question — everything before it builds the vocabulary to ask it precisely.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a:spLocks noGrp="1"/>
          </p:cNvSpPr>
          <p:nvPr>
            <p:ph type="ctrTitle"/>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a:spLocks noGrp="1"/>
          </p:cNvSpPr>
          <p:nvPr>
            <p:ph type="subTitle" id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p:cNvSpPr>
            <a:spLocks noGrp="1"/>
          </p:cNvSpPr>
          <p:nvPr>
            <p:ph type="title"/>
          </p:nvPr>
        </p:nvSpPr>
        <p:spPr>
          <a:xfrm>
            <a:off x="274320" y="128016"/>
            <a:ext cx="8595360" cy="594360"/>
          </a:xfrm>
        </p:spPr>
        <p:txBody>
          <a:bodyPr/>
          <a:lstStyle/>
          <a:p>
            <a:r>
              <a:rPr sz="2400" b="0">
                <a:solidFill>
                  <a:srgbClr val="2D2D2D"/>
                </a:solidFill>
                <a:latin typeface="Calibri"/>
              </a:rPr>
              <a:t>Today: five engineering questions</a:t>
            </a:r>
          </a:p>
        </p:txBody>
      </p:sp>
      <p:sp>
        <p:nvSpPr>
          <p:cNvPr id="4" name="Card"/>
          <p:cNvSpPr/>
          <p:nvPr/>
        </p:nvSpPr>
        <p:spPr>
          <a:xfrm>
            <a:off x="411480" y="105156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wLabel"/>
          <p:cNvSpPr txBox="1"/>
          <p:nvPr/>
        </p:nvSpPr>
        <p:spPr>
          <a:xfrm>
            <a:off x="557784" y="1088136"/>
            <a:ext cx="2788920" cy="768096"/>
          </a:xfrm>
          <a:prstGeom prst="rect">
            <a:avLst/>
          </a:prstGeom>
          <a:noFill/>
        </p:spPr>
        <p:txBody>
          <a:bodyPr wrap="square">
            <a:spAutoFit/>
          </a:bodyPr>
          <a:lstStyle/>
          <a:p>
            <a:r>
              <a:rPr sz="2000" b="1">
                <a:solidFill>
                  <a:srgbClr val="8E6F3E"/>
                </a:solidFill>
                <a:latin typeface="Calibri"/>
              </a:rPr>
              <a:t>Database design choices</a:t>
            </a:r>
          </a:p>
        </p:txBody>
      </p:sp>
      <p:sp>
        <p:nvSpPr>
          <p:cNvPr id="6" name="RowBody"/>
          <p:cNvSpPr txBox="1"/>
          <p:nvPr/>
        </p:nvSpPr>
        <p:spPr>
          <a:xfrm>
            <a:off x="3438144" y="1088136"/>
            <a:ext cx="5166360" cy="768096"/>
          </a:xfrm>
          <a:prstGeom prst="rect">
            <a:avLst/>
          </a:prstGeom>
          <a:noFill/>
        </p:spPr>
        <p:txBody>
          <a:bodyPr wrap="square">
            <a:spAutoFit/>
          </a:bodyPr>
          <a:lstStyle/>
          <a:p>
            <a:r>
              <a:rPr sz="2000" b="0">
                <a:solidFill>
                  <a:srgbClr val="555960"/>
                </a:solidFill>
                <a:latin typeface="Calibri"/>
              </a:rPr>
              <a:t>What guarantees do we need, and which representations provide them?</a:t>
            </a:r>
          </a:p>
        </p:txBody>
      </p:sp>
      <p:sp>
        <p:nvSpPr>
          <p:cNvPr id="7" name="Card"/>
          <p:cNvSpPr/>
          <p:nvPr/>
        </p:nvSpPr>
        <p:spPr>
          <a:xfrm>
            <a:off x="411480" y="2002536"/>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wLabel"/>
          <p:cNvSpPr txBox="1"/>
          <p:nvPr/>
        </p:nvSpPr>
        <p:spPr>
          <a:xfrm>
            <a:off x="557784" y="2039112"/>
            <a:ext cx="2788920" cy="768096"/>
          </a:xfrm>
          <a:prstGeom prst="rect">
            <a:avLst/>
          </a:prstGeom>
          <a:noFill/>
        </p:spPr>
        <p:txBody>
          <a:bodyPr wrap="square">
            <a:spAutoFit/>
          </a:bodyPr>
          <a:lstStyle/>
          <a:p>
            <a:r>
              <a:rPr sz="2000" b="1">
                <a:solidFill>
                  <a:srgbClr val="8E6F3E"/>
                </a:solidFill>
                <a:latin typeface="Calibri"/>
              </a:rPr>
              <a:t>Representing obligations</a:t>
            </a:r>
          </a:p>
        </p:txBody>
      </p:sp>
      <p:sp>
        <p:nvSpPr>
          <p:cNvPr id="9" name="RowBody"/>
          <p:cNvSpPr txBox="1"/>
          <p:nvPr/>
        </p:nvSpPr>
        <p:spPr>
          <a:xfrm>
            <a:off x="3438144" y="2039112"/>
            <a:ext cx="5166360" cy="768096"/>
          </a:xfrm>
          <a:prstGeom prst="rect">
            <a:avLst/>
          </a:prstGeom>
          <a:noFill/>
        </p:spPr>
        <p:txBody>
          <a:bodyPr wrap="square">
            <a:spAutoFit/>
          </a:bodyPr>
          <a:lstStyle/>
          <a:p>
            <a:r>
              <a:rPr sz="2000" b="0">
                <a:solidFill>
                  <a:srgbClr val="555960"/>
                </a:solidFill>
                <a:latin typeface="Calibri"/>
              </a:rPr>
              <a:t>How do schemas express and enforce properties of stored data?</a:t>
            </a:r>
          </a:p>
        </p:txBody>
      </p:sp>
      <p:sp>
        <p:nvSpPr>
          <p:cNvPr id="10" name="Card"/>
          <p:cNvSpPr/>
          <p:nvPr/>
        </p:nvSpPr>
        <p:spPr>
          <a:xfrm>
            <a:off x="411480" y="2953512"/>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wLabel"/>
          <p:cNvSpPr txBox="1"/>
          <p:nvPr/>
        </p:nvSpPr>
        <p:spPr>
          <a:xfrm>
            <a:off x="557784" y="2990088"/>
            <a:ext cx="2788920" cy="768096"/>
          </a:xfrm>
          <a:prstGeom prst="rect">
            <a:avLst/>
          </a:prstGeom>
          <a:noFill/>
        </p:spPr>
        <p:txBody>
          <a:bodyPr wrap="square">
            <a:spAutoFit/>
          </a:bodyPr>
          <a:lstStyle/>
          <a:p>
            <a:r>
              <a:rPr sz="2000" b="1">
                <a:solidFill>
                  <a:srgbClr val="8E6F3E"/>
                </a:solidFill>
                <a:latin typeface="Calibri"/>
              </a:rPr>
              <a:t>Queries and execution</a:t>
            </a:r>
          </a:p>
        </p:txBody>
      </p:sp>
      <p:sp>
        <p:nvSpPr>
          <p:cNvPr id="12" name="RowBody"/>
          <p:cNvSpPr txBox="1"/>
          <p:nvPr/>
        </p:nvSpPr>
        <p:spPr>
          <a:xfrm>
            <a:off x="3438144" y="2990088"/>
            <a:ext cx="5166360" cy="768096"/>
          </a:xfrm>
          <a:prstGeom prst="rect">
            <a:avLst/>
          </a:prstGeom>
          <a:noFill/>
        </p:spPr>
        <p:txBody>
          <a:bodyPr wrap="square">
            <a:spAutoFit/>
          </a:bodyPr>
          <a:lstStyle/>
          <a:p>
            <a:r>
              <a:rPr sz="2000" b="0">
                <a:solidFill>
                  <a:srgbClr val="555960"/>
                </a:solidFill>
                <a:latin typeface="Calibri"/>
              </a:rPr>
              <a:t>How does the database realize our requests, and at what cost?</a:t>
            </a:r>
          </a:p>
        </p:txBody>
      </p:sp>
      <p:sp>
        <p:nvSpPr>
          <p:cNvPr id="13" name="Card"/>
          <p:cNvSpPr/>
          <p:nvPr/>
        </p:nvSpPr>
        <p:spPr>
          <a:xfrm>
            <a:off x="411480" y="3904487"/>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wLabel"/>
          <p:cNvSpPr txBox="1"/>
          <p:nvPr/>
        </p:nvSpPr>
        <p:spPr>
          <a:xfrm>
            <a:off x="557784" y="3941063"/>
            <a:ext cx="2788920" cy="768096"/>
          </a:xfrm>
          <a:prstGeom prst="rect">
            <a:avLst/>
          </a:prstGeom>
          <a:noFill/>
        </p:spPr>
        <p:txBody>
          <a:bodyPr wrap="square">
            <a:spAutoFit/>
          </a:bodyPr>
          <a:lstStyle/>
          <a:p>
            <a:r>
              <a:rPr sz="2000" b="1">
                <a:solidFill>
                  <a:srgbClr val="8E6F3E"/>
                </a:solidFill>
                <a:latin typeface="Calibri"/>
              </a:rPr>
              <a:t>Concurrency and transactions</a:t>
            </a:r>
          </a:p>
        </p:txBody>
      </p:sp>
      <p:sp>
        <p:nvSpPr>
          <p:cNvPr id="15" name="RowBody"/>
          <p:cNvSpPr txBox="1"/>
          <p:nvPr/>
        </p:nvSpPr>
        <p:spPr>
          <a:xfrm>
            <a:off x="3438144" y="3941063"/>
            <a:ext cx="5166360" cy="768096"/>
          </a:xfrm>
          <a:prstGeom prst="rect">
            <a:avLst/>
          </a:prstGeom>
          <a:noFill/>
        </p:spPr>
        <p:txBody>
          <a:bodyPr wrap="square">
            <a:spAutoFit/>
          </a:bodyPr>
          <a:lstStyle/>
          <a:p>
            <a:r>
              <a:rPr sz="2000" b="0">
                <a:solidFill>
                  <a:srgbClr val="555960"/>
                </a:solidFill>
                <a:latin typeface="Calibri"/>
              </a:rPr>
              <a:t>How do we preserve invariants across overlapping operations?</a:t>
            </a:r>
          </a:p>
        </p:txBody>
      </p:sp>
      <p:sp>
        <p:nvSpPr>
          <p:cNvPr id="16" name="Card"/>
          <p:cNvSpPr/>
          <p:nvPr/>
        </p:nvSpPr>
        <p:spPr>
          <a:xfrm>
            <a:off x="411480" y="4855464"/>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wLabel"/>
          <p:cNvSpPr txBox="1"/>
          <p:nvPr/>
        </p:nvSpPr>
        <p:spPr>
          <a:xfrm>
            <a:off x="557784" y="4892040"/>
            <a:ext cx="2788920" cy="768096"/>
          </a:xfrm>
          <a:prstGeom prst="rect">
            <a:avLst/>
          </a:prstGeom>
          <a:noFill/>
        </p:spPr>
        <p:txBody>
          <a:bodyPr wrap="square">
            <a:spAutoFit/>
          </a:bodyPr>
          <a:lstStyle/>
          <a:p>
            <a:r>
              <a:rPr sz="2000" b="1">
                <a:solidFill>
                  <a:srgbClr val="8E6F3E"/>
                </a:solidFill>
                <a:latin typeface="Calibri"/>
              </a:rPr>
              <a:t>Evolution and synthesis</a:t>
            </a:r>
          </a:p>
        </p:txBody>
      </p:sp>
      <p:sp>
        <p:nvSpPr>
          <p:cNvPr id="18" name="RowBody"/>
          <p:cNvSpPr txBox="1"/>
          <p:nvPr/>
        </p:nvSpPr>
        <p:spPr>
          <a:xfrm>
            <a:off x="3438144" y="4892040"/>
            <a:ext cx="5166360" cy="768096"/>
          </a:xfrm>
          <a:prstGeom prst="rect">
            <a:avLst/>
          </a:prstGeom>
          <a:noFill/>
        </p:spPr>
        <p:txBody>
          <a:bodyPr wrap="square">
            <a:spAutoFit/>
          </a:bodyPr>
          <a:lstStyle/>
          <a:p>
            <a:r>
              <a:rPr sz="2000" b="0">
                <a:solidFill>
                  <a:srgbClr val="555960"/>
                </a:solidFill>
                <a:latin typeface="Calibri"/>
              </a:rPr>
              <a:t>How do data models change, and what have we decided?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Multiple application instances must access a coherent shared state</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868680"/>
            <a:ext cx="4069080" cy="18288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960120"/>
            <a:ext cx="3776472" cy="164592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868680"/>
            <a:ext cx="4069080" cy="18288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960120"/>
            <a:ext cx="3776472" cy="164592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Label"/>
          <p:cNvSpPr txBox="1"/>
          <p:nvPr/>
        </p:nvSpPr>
        <p:spPr>
          <a:xfrm>
            <a:off x="411480" y="2880360"/>
            <a:ext cx="8321040" cy="384048"/>
          </a:xfrm>
          <a:prstGeom prst="rect">
            <a:avLst/>
          </a:prstGeom>
          <a:noFill/>
        </p:spPr>
        <p:txBody>
          <a:bodyPr wrap="square">
            <a:spAutoFit/>
          </a:bodyPr>
          <a:lstStyle/>
          <a:p>
            <a:r>
              <a:rPr sz="2000" b="1">
                <a:solidFill>
                  <a:srgbClr val="8E6F3E"/>
                </a:solidFill>
                <a:latin typeface="Calibri"/>
              </a:rPr>
              <a:t>Storage mechanisms: a separate axis from the data model</a:t>
            </a:r>
          </a:p>
        </p:txBody>
      </p:sp>
      <p:graphicFrame>
        <p:nvGraphicFramePr>
          <p:cNvPr id="8" name="MechanismTable"/>
          <p:cNvGraphicFramePr>
            <a:graphicFrameLocks noGrp="1"/>
          </p:cNvGraphicFramePr>
          <p:nvPr/>
        </p:nvGraphicFramePr>
        <p:xfrm>
          <a:off x="411480" y="3310128"/>
          <a:ext cx="8321040" cy="2377440"/>
        </p:xfrm>
        <a:graphic>
          <a:graphicData uri="http://schemas.openxmlformats.org/drawingml/2006/table">
            <a:tbl>
              <a:tblPr firstRow="0" bandRow="0">
                <a:tableStyleId>{5C22544A-7EE6-4342-B048-85BDC9FD1C3A}</a:tableStyleId>
              </a:tblPr>
              <a:tblGrid>
                <a:gridCol w="2240280"/>
                <a:gridCol w="2148840"/>
                <a:gridCol w="3931920"/>
              </a:tblGrid>
              <a:tr h="475488">
                <a:tc>
                  <a:txBody>
                    <a:bodyPr/>
                    <a:lstStyle/>
                    <a:p>
                      <a:r>
                        <a:rPr sz="2000" b="1">
                          <a:solidFill>
                            <a:srgbClr val="FFFFFF"/>
                          </a:solidFill>
                          <a:latin typeface="Calibri"/>
                        </a:rPr>
                        <a:t>Mechanism</a:t>
                      </a:r>
                    </a:p>
                  </a:txBody>
                  <a:tcPr>
                    <a:solidFill>
                      <a:srgbClr val="8E6F3E"/>
                    </a:solidFill>
                  </a:tcPr>
                </a:tc>
                <a:tc>
                  <a:txBody>
                    <a:bodyPr/>
                    <a:lstStyle/>
                    <a:p>
                      <a:r>
                        <a:rPr sz="2000" b="1">
                          <a:solidFill>
                            <a:srgbClr val="FFFFFF"/>
                          </a:solidFill>
                          <a:latin typeface="Calibri"/>
                        </a:rPr>
                        <a:t>Example</a:t>
                      </a:r>
                    </a:p>
                  </a:txBody>
                  <a:tcPr>
                    <a:solidFill>
                      <a:srgbClr val="8E6F3E"/>
                    </a:solidFill>
                  </a:tcPr>
                </a:tc>
                <a:tc>
                  <a:txBody>
                    <a:bodyPr/>
                    <a:lstStyle/>
                    <a:p>
                      <a:r>
                        <a:rPr sz="2000" b="1">
                          <a:solidFill>
                            <a:srgbClr val="FFFFFF"/>
                          </a:solidFill>
                          <a:latin typeface="Calibri"/>
                        </a:rPr>
                        <a:t>Appropriate when</a:t>
                      </a:r>
                    </a:p>
                  </a:txBody>
                  <a:tcPr>
                    <a:solidFill>
                      <a:srgbClr val="8E6F3E"/>
                    </a:solidFill>
                  </a:tcPr>
                </a:tc>
              </a:tr>
              <a:tr h="475488">
                <a:tc>
                  <a:txBody>
                    <a:bodyPr/>
                    <a:lstStyle/>
                    <a:p>
                      <a:r>
                        <a:rPr sz="2000" b="1">
                          <a:solidFill>
                            <a:srgbClr val="8E6F3E"/>
                          </a:solidFill>
                          <a:latin typeface="Calibri"/>
                        </a:rPr>
                        <a:t>Flat files</a:t>
                      </a:r>
                    </a:p>
                  </a:txBody>
                  <a:tcPr>
                    <a:solidFill>
                      <a:srgbClr val="F5F1E8"/>
                    </a:solidFill>
                  </a:tcPr>
                </a:tc>
                <a:tc>
                  <a:txBody>
                    <a:bodyPr/>
                    <a:lstStyle/>
                    <a:p>
                      <a:r>
                        <a:rPr sz="2000" b="0">
                          <a:solidFill>
                            <a:srgbClr val="2D2D2D"/>
                          </a:solidFill>
                          <a:latin typeface="Calibri"/>
                        </a:rPr>
                        <a:t>JSON, YAML, CSV</a:t>
                      </a:r>
                    </a:p>
                  </a:txBody>
                  <a:tcPr>
                    <a:solidFill>
                      <a:srgbClr val="F5F1E8"/>
                    </a:solidFill>
                  </a:tcPr>
                </a:tc>
                <a:tc>
                  <a:txBody>
                    <a:bodyPr/>
                    <a:lstStyle/>
                    <a:p>
                      <a:r>
                        <a:rPr sz="2000" b="0">
                          <a:solidFill>
                            <a:srgbClr val="2D2D2D"/>
                          </a:solidFill>
                          <a:latin typeface="Calibri"/>
                        </a:rPr>
                        <a:t>Small data, config, infrequent updates</a:t>
                      </a:r>
                    </a:p>
                  </a:txBody>
                  <a:tcPr>
                    <a:solidFill>
                      <a:srgbClr val="F5F1E8"/>
                    </a:solidFill>
                  </a:tcPr>
                </a:tc>
              </a:tr>
              <a:tr h="475488">
                <a:tc>
                  <a:txBody>
                    <a:bodyPr/>
                    <a:lstStyle/>
                    <a:p>
                      <a:r>
                        <a:rPr sz="2000" b="1">
                          <a:solidFill>
                            <a:srgbClr val="8E6F3E"/>
                          </a:solidFill>
                          <a:latin typeface="Calibri"/>
                        </a:rPr>
                        <a:t>Embedded database</a:t>
                      </a:r>
                    </a:p>
                  </a:txBody>
                  <a:tcPr>
                    <a:solidFill>
                      <a:srgbClr val="FCFAF6"/>
                    </a:solidFill>
                  </a:tcPr>
                </a:tc>
                <a:tc>
                  <a:txBody>
                    <a:bodyPr/>
                    <a:lstStyle/>
                    <a:p>
                      <a:r>
                        <a:rPr sz="2000" b="0">
                          <a:solidFill>
                            <a:srgbClr val="2D2D2D"/>
                          </a:solidFill>
                          <a:latin typeface="Calibri"/>
                        </a:rPr>
                        <a:t>SQLite</a:t>
                      </a:r>
                    </a:p>
                  </a:txBody>
                  <a:tcPr>
                    <a:solidFill>
                      <a:srgbClr val="FCFAF6"/>
                    </a:solidFill>
                  </a:tcPr>
                </a:tc>
                <a:tc>
                  <a:txBody>
                    <a:bodyPr/>
                    <a:lstStyle/>
                    <a:p>
                      <a:r>
                        <a:rPr sz="2000" b="0">
                          <a:solidFill>
                            <a:srgbClr val="2D2D2D"/>
                          </a:solidFill>
                          <a:latin typeface="Calibri"/>
                        </a:rPr>
                        <a:t>Local state, queries, transactions</a:t>
                      </a:r>
                    </a:p>
                  </a:txBody>
                  <a:tcPr>
                    <a:solidFill>
                      <a:srgbClr val="FCFAF6"/>
                    </a:solidFill>
                  </a:tcPr>
                </a:tc>
              </a:tr>
              <a:tr h="475488">
                <a:tc>
                  <a:txBody>
                    <a:bodyPr/>
                    <a:lstStyle/>
                    <a:p>
                      <a:r>
                        <a:rPr sz="2000" b="1">
                          <a:solidFill>
                            <a:srgbClr val="8E6F3E"/>
                          </a:solidFill>
                          <a:latin typeface="Calibri"/>
                        </a:rPr>
                        <a:t>Database server</a:t>
                      </a:r>
                    </a:p>
                  </a:txBody>
                  <a:tcPr>
                    <a:solidFill>
                      <a:srgbClr val="F5F1E8"/>
                    </a:solidFill>
                  </a:tcPr>
                </a:tc>
                <a:tc>
                  <a:txBody>
                    <a:bodyPr/>
                    <a:lstStyle/>
                    <a:p>
                      <a:r>
                        <a:rPr sz="2000" b="0">
                          <a:solidFill>
                            <a:srgbClr val="2D2D2D"/>
                          </a:solidFill>
                          <a:latin typeface="Calibri"/>
                        </a:rPr>
                        <a:t>PostgreSQL</a:t>
                      </a:r>
                    </a:p>
                  </a:txBody>
                  <a:tcPr>
                    <a:solidFill>
                      <a:srgbClr val="F5F1E8"/>
                    </a:solidFill>
                  </a:tcPr>
                </a:tc>
                <a:tc>
                  <a:txBody>
                    <a:bodyPr/>
                    <a:lstStyle/>
                    <a:p>
                      <a:r>
                        <a:rPr sz="2000" b="0">
                          <a:solidFill>
                            <a:srgbClr val="2D2D2D"/>
                          </a:solidFill>
                          <a:latin typeface="Calibri"/>
                        </a:rPr>
                        <a:t>Shared state, many clients, constraints</a:t>
                      </a:r>
                    </a:p>
                  </a:txBody>
                  <a:tcPr>
                    <a:solidFill>
                      <a:srgbClr val="F5F1E8"/>
                    </a:solidFill>
                  </a:tcPr>
                </a:tc>
              </a:tr>
              <a:tr h="475488">
                <a:tc>
                  <a:txBody>
                    <a:bodyPr/>
                    <a:lstStyle/>
                    <a:p>
                      <a:r>
                        <a:rPr sz="2000" b="1">
                          <a:solidFill>
                            <a:srgbClr val="8E6F3E"/>
                          </a:solidFill>
                          <a:latin typeface="Calibri"/>
                        </a:rPr>
                        <a:t>Distributed database</a:t>
                      </a:r>
                    </a:p>
                  </a:txBody>
                  <a:tcPr>
                    <a:solidFill>
                      <a:srgbClr val="FCFAF6"/>
                    </a:solidFill>
                  </a:tcPr>
                </a:tc>
                <a:tc>
                  <a:txBody>
                    <a:bodyPr/>
                    <a:lstStyle/>
                    <a:p>
                      <a:r>
                        <a:rPr sz="2000" b="0">
                          <a:solidFill>
                            <a:srgbClr val="2D2D2D"/>
                          </a:solidFill>
                          <a:latin typeface="Calibri"/>
                        </a:rPr>
                        <a:t>many SQL and NoSQL</a:t>
                      </a:r>
                    </a:p>
                  </a:txBody>
                  <a:tcPr>
                    <a:solidFill>
                      <a:srgbClr val="FCFAF6"/>
                    </a:solidFill>
                  </a:tcPr>
                </a:tc>
                <a:tc>
                  <a:txBody>
                    <a:bodyPr/>
                    <a:lstStyle/>
                    <a:p>
                      <a:r>
                        <a:rPr sz="2000" b="0">
                          <a:solidFill>
                            <a:srgbClr val="2D2D2D"/>
                          </a:solidFill>
                          <a:latin typeface="Calibri"/>
                        </a:rPr>
                        <a:t>Scale, replication, geographic spread</a:t>
                      </a:r>
                    </a:p>
                  </a:txBody>
                  <a:tcPr>
                    <a:solidFill>
                      <a:srgbClr val="FCFAF6"/>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A sixth, Operations (backup, recovery, migration), waits for Operations &amp; SRE</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1440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
          <p:cNvSpPr/>
          <p:nvPr/>
        </p:nvSpPr>
        <p:spPr>
          <a:xfrm>
            <a:off x="4663440" y="91440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
          <p:cNvSpPr/>
          <p:nvPr/>
        </p:nvSpPr>
        <p:spPr>
          <a:xfrm>
            <a:off x="411480" y="315468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
          <p:cNvSpPr/>
          <p:nvPr/>
        </p:nvSpPr>
        <p:spPr>
          <a:xfrm>
            <a:off x="4663440" y="315468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QuadHeader"/>
          <p:cNvSpPr txBox="1"/>
          <p:nvPr/>
        </p:nvSpPr>
        <p:spPr>
          <a:xfrm>
            <a:off x="557784" y="987552"/>
            <a:ext cx="3776472" cy="347472"/>
          </a:xfrm>
          <a:prstGeom prst="rect">
            <a:avLst/>
          </a:prstGeom>
          <a:noFill/>
        </p:spPr>
        <p:txBody>
          <a:bodyPr wrap="square">
            <a:spAutoFit/>
          </a:bodyPr>
          <a:lstStyle/>
          <a:p>
            <a:r>
              <a:rPr sz="2000" b="1">
                <a:solidFill>
                  <a:srgbClr val="8E6F3E"/>
                </a:solidFill>
                <a:latin typeface="Calibri"/>
              </a:rPr>
              <a:t>RELATIONAL</a:t>
            </a:r>
          </a:p>
        </p:txBody>
      </p:sp>
      <p:sp>
        <p:nvSpPr>
          <p:cNvPr id="11" name="QuadFig"/>
          <p:cNvSpPr txBox="1"/>
          <p:nvPr/>
        </p:nvSpPr>
        <p:spPr>
          <a:xfrm>
            <a:off x="557784" y="1389888"/>
            <a:ext cx="3776472" cy="1188720"/>
          </a:xfrm>
          <a:prstGeom prst="rect">
            <a:avLst/>
          </a:prstGeom>
          <a:noFill/>
        </p:spPr>
        <p:txBody>
          <a:bodyPr wrap="square">
            <a:spAutoFit/>
          </a:bodyPr>
          <a:lstStyle/>
          <a:p>
            <a:r>
              <a:rPr sz="2000" b="0">
                <a:solidFill>
                  <a:srgbClr val="2D2D2D"/>
                </a:solidFill>
                <a:latin typeface="Consolas"/>
              </a:rPr>
              <a:t>rooms:  117 │ B-101</a:t>
            </a:r>
          </a:p>
          <a:p>
            <a:r>
              <a:rPr sz="2000" b="0">
                <a:solidFill>
                  <a:srgbClr val="2D2D2D"/>
                </a:solidFill>
                <a:latin typeface="Consolas"/>
              </a:rPr>
              <a:t>resv:   117 │ 10:00–11:00</a:t>
            </a:r>
          </a:p>
          <a:p>
            <a:r>
              <a:rPr sz="2000" b="0">
                <a:solidFill>
                  <a:srgbClr val="555960"/>
                </a:solidFill>
                <a:latin typeface="Calibri"/>
              </a:rPr>
              <a:t>room_id references rooms.id</a:t>
            </a:r>
          </a:p>
        </p:txBody>
      </p:sp>
      <p:sp>
        <p:nvSpPr>
          <p:cNvPr id="12" name="QuadHeader"/>
          <p:cNvSpPr txBox="1"/>
          <p:nvPr/>
        </p:nvSpPr>
        <p:spPr>
          <a:xfrm>
            <a:off x="4809744" y="987552"/>
            <a:ext cx="3776472" cy="347472"/>
          </a:xfrm>
          <a:prstGeom prst="rect">
            <a:avLst/>
          </a:prstGeom>
          <a:noFill/>
        </p:spPr>
        <p:txBody>
          <a:bodyPr wrap="square">
            <a:spAutoFit/>
          </a:bodyPr>
          <a:lstStyle/>
          <a:p>
            <a:r>
              <a:rPr sz="2000" b="1">
                <a:solidFill>
                  <a:srgbClr val="8E6F3E"/>
                </a:solidFill>
                <a:latin typeface="Calibri"/>
              </a:rPr>
              <a:t>DOCUMENT</a:t>
            </a:r>
          </a:p>
        </p:txBody>
      </p:sp>
      <p:sp>
        <p:nvSpPr>
          <p:cNvPr id="13" name="QuadFig"/>
          <p:cNvSpPr txBox="1"/>
          <p:nvPr/>
        </p:nvSpPr>
        <p:spPr>
          <a:xfrm>
            <a:off x="4809744" y="1389888"/>
            <a:ext cx="3776472" cy="1188720"/>
          </a:xfrm>
          <a:prstGeom prst="rect">
            <a:avLst/>
          </a:prstGeom>
          <a:noFill/>
        </p:spPr>
        <p:txBody>
          <a:bodyPr wrap="square">
            <a:spAutoFit/>
          </a:bodyPr>
          <a:lstStyle/>
          <a:p>
            <a:r>
              <a:rPr sz="2000" b="0">
                <a:solidFill>
                  <a:srgbClr val="2D2D2D"/>
                </a:solidFill>
                <a:latin typeface="Consolas"/>
              </a:rPr>
              <a:t>{"room": 117,</a:t>
            </a:r>
          </a:p>
          <a:p>
            <a:r>
              <a:rPr sz="2000" b="0">
                <a:solidFill>
                  <a:srgbClr val="2D2D2D"/>
                </a:solidFill>
                <a:latin typeface="Consolas"/>
              </a:rPr>
              <a:t> "reservations": [</a:t>
            </a:r>
          </a:p>
          <a:p>
            <a:r>
              <a:rPr sz="2000" b="0">
                <a:solidFill>
                  <a:srgbClr val="2D2D2D"/>
                </a:solidFill>
                <a:latin typeface="Consolas"/>
              </a:rPr>
              <a:t>  {"start": "10:00"} ]}</a:t>
            </a:r>
          </a:p>
        </p:txBody>
      </p:sp>
      <p:sp>
        <p:nvSpPr>
          <p:cNvPr id="14" name="QuadHeader"/>
          <p:cNvSpPr txBox="1"/>
          <p:nvPr/>
        </p:nvSpPr>
        <p:spPr>
          <a:xfrm>
            <a:off x="557784" y="3227832"/>
            <a:ext cx="3776472" cy="347472"/>
          </a:xfrm>
          <a:prstGeom prst="rect">
            <a:avLst/>
          </a:prstGeom>
          <a:noFill/>
        </p:spPr>
        <p:txBody>
          <a:bodyPr wrap="square">
            <a:spAutoFit/>
          </a:bodyPr>
          <a:lstStyle/>
          <a:p>
            <a:r>
              <a:rPr sz="2000" b="1">
                <a:solidFill>
                  <a:srgbClr val="8E6F3E"/>
                </a:solidFill>
                <a:latin typeface="Calibri"/>
              </a:rPr>
              <a:t>KEY-VALUE</a:t>
            </a:r>
          </a:p>
        </p:txBody>
      </p:sp>
      <p:sp>
        <p:nvSpPr>
          <p:cNvPr id="15" name="QuadFig"/>
          <p:cNvSpPr txBox="1"/>
          <p:nvPr/>
        </p:nvSpPr>
        <p:spPr>
          <a:xfrm>
            <a:off x="557784" y="3630168"/>
            <a:ext cx="3776472" cy="1188720"/>
          </a:xfrm>
          <a:prstGeom prst="rect">
            <a:avLst/>
          </a:prstGeom>
          <a:noFill/>
        </p:spPr>
        <p:txBody>
          <a:bodyPr wrap="square">
            <a:spAutoFit/>
          </a:bodyPr>
          <a:lstStyle/>
          <a:p>
            <a:r>
              <a:rPr sz="2000" b="0">
                <a:solidFill>
                  <a:srgbClr val="2D2D2D"/>
                </a:solidFill>
                <a:latin typeface="Consolas"/>
              </a:rPr>
              <a:t>room:117 → &lt;opaque value&gt;</a:t>
            </a:r>
          </a:p>
          <a:p>
            <a:r>
              <a:rPr sz="2000" b="0">
                <a:solidFill>
                  <a:srgbClr val="555960"/>
                </a:solidFill>
                <a:latin typeface="Calibri"/>
              </a:rPr>
              <a:t>fetched by key; the store never looks inside</a:t>
            </a:r>
          </a:p>
        </p:txBody>
      </p:sp>
      <p:sp>
        <p:nvSpPr>
          <p:cNvPr id="16" name="QuadHeader"/>
          <p:cNvSpPr txBox="1"/>
          <p:nvPr/>
        </p:nvSpPr>
        <p:spPr>
          <a:xfrm>
            <a:off x="4809744" y="3227832"/>
            <a:ext cx="3776472" cy="347472"/>
          </a:xfrm>
          <a:prstGeom prst="rect">
            <a:avLst/>
          </a:prstGeom>
          <a:noFill/>
        </p:spPr>
        <p:txBody>
          <a:bodyPr wrap="square">
            <a:spAutoFit/>
          </a:bodyPr>
          <a:lstStyle/>
          <a:p>
            <a:r>
              <a:rPr sz="2000" b="1">
                <a:solidFill>
                  <a:srgbClr val="8E6F3E"/>
                </a:solidFill>
                <a:latin typeface="Calibri"/>
              </a:rPr>
              <a:t>GRAPH</a:t>
            </a:r>
          </a:p>
        </p:txBody>
      </p:sp>
      <p:sp>
        <p:nvSpPr>
          <p:cNvPr id="17" name="Node"/>
          <p:cNvSpPr/>
          <p:nvPr/>
        </p:nvSpPr>
        <p:spPr>
          <a:xfrm>
            <a:off x="4892040" y="3657600"/>
            <a:ext cx="118872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USER</a:t>
            </a:r>
          </a:p>
        </p:txBody>
      </p:sp>
      <p:sp>
        <p:nvSpPr>
          <p:cNvPr id="18" name="Node"/>
          <p:cNvSpPr/>
          <p:nvPr/>
        </p:nvSpPr>
        <p:spPr>
          <a:xfrm>
            <a:off x="7360920" y="3657600"/>
            <a:ext cx="118872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ROOM</a:t>
            </a:r>
          </a:p>
        </p:txBody>
      </p:sp>
      <p:cxnSp>
        <p:nvCxnSpPr>
          <p:cNvPr id="19" name="Edge"/>
          <p:cNvCxnSpPr/>
          <p:nvPr/>
        </p:nvCxnSpPr>
        <p:spPr>
          <a:xfrm>
            <a:off x="6080760" y="3954780"/>
            <a:ext cx="128016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20" name="EdgeLabel"/>
          <p:cNvSpPr txBox="1"/>
          <p:nvPr/>
        </p:nvSpPr>
        <p:spPr>
          <a:xfrm>
            <a:off x="4983480" y="4389120"/>
            <a:ext cx="3566160" cy="365760"/>
          </a:xfrm>
          <a:prstGeom prst="rect">
            <a:avLst/>
          </a:prstGeom>
          <a:noFill/>
        </p:spPr>
        <p:txBody>
          <a:bodyPr wrap="square">
            <a:spAutoFit/>
          </a:bodyPr>
          <a:lstStyle/>
          <a:p>
            <a:pPr algn="ctr"/>
            <a:r>
              <a:rPr sz="2000" b="0">
                <a:solidFill>
                  <a:srgbClr val="555960"/>
                </a:solidFill>
                <a:latin typeface="Calibri"/>
              </a:rPr>
              <a:t>edge: RESERVED 10:00–11:00</a:t>
            </a:r>
          </a:p>
        </p:txBody>
      </p:sp>
      <p:sp>
        <p:nvSpPr>
          <p:cNvPr id="21" name="Card"/>
          <p:cNvSpPr/>
          <p:nvPr/>
        </p:nvSpPr>
        <p:spPr>
          <a:xfrm>
            <a:off x="411480" y="5440680"/>
            <a:ext cx="8321040" cy="10058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xisNote"/>
          <p:cNvSpPr txBox="1"/>
          <p:nvPr/>
        </p:nvSpPr>
        <p:spPr>
          <a:xfrm>
            <a:off x="557784" y="5513832"/>
            <a:ext cx="8046720" cy="877824"/>
          </a:xfrm>
          <a:prstGeom prst="rect">
            <a:avLst/>
          </a:prstGeom>
          <a:noFill/>
        </p:spPr>
        <p:txBody>
          <a:bodyPr wrap="square">
            <a:spAutoFit/>
          </a:bodyPr>
          <a:lstStyle/>
          <a:p>
            <a:r>
              <a:rPr sz="2000" b="1">
                <a:solidFill>
                  <a:srgbClr val="8E6F3E"/>
                </a:solidFill>
                <a:latin typeface="Calibri"/>
              </a:rPr>
              <a:t>Data model: how information is represented. Storage mechanism: what stores and coordinates it.</a:t>
            </a:r>
          </a:p>
          <a:p>
            <a:r>
              <a:rPr sz="2000" b="0">
                <a:solidFill>
                  <a:srgbClr val="555960"/>
                </a:solidFill>
                <a:latin typeface="Calibri"/>
              </a:rPr>
              <a:t>Separate decisions: a JSON file can hold any of these; SQLite holds the relational form in one local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Integrity constraints the engine can enforce</a:t>
            </a:r>
          </a:p>
        </p:txBody>
      </p:sp>
      <p:sp>
        <p:nvSpPr>
          <p:cNvPr id="5" name="Card"/>
          <p:cNvSpPr/>
          <p:nvPr/>
        </p:nvSpPr>
        <p:spPr>
          <a:xfrm>
            <a:off x="466344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38328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45643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Card"/>
          <p:cNvSpPr/>
          <p:nvPr/>
        </p:nvSpPr>
        <p:spPr>
          <a:xfrm>
            <a:off x="411480" y="4983480"/>
            <a:ext cx="8321040" cy="10058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echNote"/>
          <p:cNvSpPr txBox="1"/>
          <p:nvPr/>
        </p:nvSpPr>
        <p:spPr>
          <a:xfrm>
            <a:off x="557784" y="5056632"/>
            <a:ext cx="8046720" cy="877824"/>
          </a:xfrm>
          <a:prstGeom prst="rect">
            <a:avLst/>
          </a:prstGeom>
          <a:noFill/>
        </p:spPr>
        <p:txBody>
          <a:bodyPr wrap="square">
            <a:spAutoFit/>
          </a:bodyPr>
          <a:lstStyle/>
          <a:p>
            <a:r>
              <a:rPr sz="2000" b="1">
                <a:solidFill>
                  <a:srgbClr val="8E6F3E"/>
                </a:solidFill>
                <a:latin typeface="Calibri"/>
              </a:rPr>
              <a:t>SQLite and PostgreSQL are both relational</a:t>
            </a:r>
          </a:p>
          <a:p>
            <a:r>
              <a:rPr sz="2000" b="0">
                <a:solidFill>
                  <a:srgbClr val="555960"/>
                </a:solidFill>
                <a:latin typeface="Calibri"/>
              </a:rPr>
              <a:t>Same data model, different deployment: in-process file vs networked server. Selection is multidimensional.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1325880"/>
            <a:ext cx="4069080" cy="4251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A —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1325880"/>
            <a:ext cx="4069080" cy="4251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B —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Label"/>
          <p:cNvSpPr txBox="1"/>
          <p:nvPr/>
        </p:nvSpPr>
        <p:spPr>
          <a:xfrm>
            <a:off x="411480" y="822960"/>
            <a:ext cx="8321040" cy="411480"/>
          </a:xfrm>
          <a:prstGeom prst="rect">
            <a:avLst/>
          </a:prstGeom>
          <a:noFill/>
        </p:spPr>
        <p:txBody>
          <a:bodyPr wrap="square">
            <a:spAutoFit/>
          </a:bodyPr>
          <a:lstStyle/>
          <a:p>
            <a:r>
              <a:rPr sz="2000" b="1">
                <a:solidFill>
                  <a:srgbClr val="8E6F3E"/>
                </a:solidFill>
                <a:latin typeface="Calibri"/>
              </a:rPr>
              <a:t>Which database capabilities would you require for each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should we represent the reservation domain?</a:t>
            </a:r>
          </a:p>
        </p:txBody>
      </p:sp>
      <p:sp>
        <p:nvSpPr>
          <p:cNvPr id="3" name="Block"/>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1965960" y="960120"/>
            <a:ext cx="2240280" cy="365760"/>
          </a:xfrm>
          <a:prstGeom prst="rect">
            <a:avLst/>
          </a:prstGeom>
          <a:noFill/>
        </p:spPr>
        <p:txBody>
          <a:bodyPr wrap="square">
            <a:spAutoFit/>
          </a:bodyPr>
          <a:lstStyle/>
          <a:p>
            <a:pPr algn="ctr">
              <a:spcAft>
                <a:spcPts val="400"/>
              </a:spcAft>
            </a:pPr>
            <a:r>
              <a:rPr sz="2000" b="1">
                <a:solidFill>
                  <a:srgbClr val="555960"/>
                </a:solidFill>
                <a:latin typeface="Calibri"/>
              </a:rPr>
              <a:t>1 user → N reservations</a:t>
            </a:r>
          </a:p>
        </p:txBody>
      </p:sp>
      <p:sp>
        <p:nvSpPr>
          <p:cNvPr id="7" name="RelLabel"/>
          <p:cNvSpPr txBox="1"/>
          <p:nvPr/>
        </p:nvSpPr>
        <p:spPr>
          <a:xfrm>
            <a:off x="5212080" y="960120"/>
            <a:ext cx="2240280" cy="365760"/>
          </a:xfrm>
          <a:prstGeom prst="rect">
            <a:avLst/>
          </a:prstGeom>
          <a:noFill/>
        </p:spPr>
        <p:txBody>
          <a:bodyPr wrap="square">
            <a:spAutoFit/>
          </a:bodyPr>
          <a:lstStyle/>
          <a:p>
            <a:pPr algn="ctr">
              <a:spcAft>
                <a:spcPts val="400"/>
              </a:spcAft>
            </a:pPr>
            <a:r>
              <a:rPr sz="2000" b="1">
                <a:solidFill>
                  <a:srgbClr val="555960"/>
                </a:solidFill>
                <a:latin typeface="Calibri"/>
              </a:rPr>
              <a:t>N reservations ← 1 room</a:t>
            </a:r>
          </a:p>
        </p:txBody>
      </p:sp>
      <p:cxnSp>
        <p:nvCxnSpPr>
          <p:cNvPr id="8" name="RelLine"/>
          <p:cNvCxnSpPr/>
          <p:nvPr/>
        </p:nvCxnSpPr>
        <p:spPr>
          <a:xfrm>
            <a:off x="2468880" y="1760220"/>
            <a:ext cx="1143000" cy="0"/>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RelLine"/>
          <p:cNvCxnSpPr/>
          <p:nvPr/>
        </p:nvCxnSpPr>
        <p:spPr>
          <a:xfrm>
            <a:off x="5715000" y="1760220"/>
            <a:ext cx="960120" cy="0"/>
          </a:xfrm>
          <a:prstGeom prst="line">
            <a:avLst/>
          </a:prstGeom>
          <a:ln w="31750">
            <a:solidFill>
              <a:srgbClr val="8E6F3E"/>
            </a:solidFill>
            <a:head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286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960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859536"/>
          </a:xfrm>
          <a:prstGeom prst="rect">
            <a:avLst/>
          </a:prstGeom>
          <a:noFill/>
        </p:spPr>
        <p:txBody>
          <a:bodyPr wrap="square">
            <a:spAutoFit/>
          </a:bodyPr>
          <a:lstStyle/>
          <a:p>
            <a:pPr algn="l">
              <a:spcAft>
                <a:spcPts val="200"/>
              </a:spcAft>
            </a:pPr>
            <a:r>
              <a:rPr sz="2000" b="1">
                <a:solidFill>
                  <a:srgbClr val="5C4826"/>
                </a:solidFill>
                <a:latin typeface="Calibri"/>
              </a:rPr>
              <a:t>INVARIANT: no overlapping CONFIRMED reservations per room</a:t>
            </a:r>
          </a:p>
          <a:p>
            <a:pPr algn="l">
              <a:spcAft>
                <a:spcPts val="400"/>
              </a:spcAft>
            </a:pPr>
            <a:r>
              <a:rPr sz="2000" b="0">
                <a:solidFill>
                  <a:srgbClr val="555960"/>
                </a:solidFill>
                <a:latin typeface="Calibri"/>
              </a:rPr>
              <a:t>Entities supply the vocabulary to state it (room_id, starts_at, ends_at, status); nothing here enforces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a:t>
            </a:r>
          </a:p>
          <a:p>
            <a:pPr algn="l">
              <a:spcAft>
                <a:spcPts val="100"/>
              </a:spcAft>
            </a:pPr>
            <a:r>
              <a:rPr sz="2000" b="0">
                <a:solidFill>
                  <a:srgbClr val="2D2D2D"/>
                </a:solidFill>
                <a:latin typeface="Consolas"/>
              </a:rPr>
              <a:t>  user_id  INT REFERENCES users,</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a:t>
            </a:r>
            <a:r>
              <a:rPr sz="2000" b="0">
                <a:solidFill>
                  <a:srgbClr val="555960"/>
                </a:solidFill>
                <a:latin typeface="Calibri"/>
              </a:rPr>
              <a:t> — that row must exist</a:t>
            </a:r>
          </a:p>
          <a:p>
            <a:pPr algn="l">
              <a:spcAft>
                <a:spcPts val="600"/>
              </a:spcAft>
            </a:pPr>
            <a:r>
              <a:rPr sz="2000" b="1">
                <a:solidFill>
                  <a:srgbClr val="8E6F3E"/>
                </a:solidFill>
                <a:latin typeface="Calibri"/>
              </a:rPr>
              <a:t>NOT NULL</a:t>
            </a:r>
            <a:r>
              <a:rPr sz="2000" b="0">
                <a:solidFill>
                  <a:srgbClr val="555960"/>
                </a:solidFill>
                <a:latin typeface="Calibri"/>
              </a:rPr>
              <a:t> — the fact must be present</a:t>
            </a:r>
          </a:p>
          <a:p>
            <a:pPr algn="l">
              <a:spcAft>
                <a:spcPts val="400"/>
              </a:spcAft>
            </a:pPr>
            <a:r>
              <a:rPr sz="2000" b="1">
                <a:solidFill>
                  <a:srgbClr val="8E6F3E"/>
                </a:solidFill>
                <a:latin typeface="Calibri"/>
              </a:rPr>
              <a:t>CHECK</a:t>
            </a:r>
            <a:r>
              <a:rPr sz="2000" b="0">
                <a:solidFill>
                  <a:srgbClr val="555960"/>
                </a:solidFill>
                <a:latin typeface="Calibri"/>
              </a:rPr>
              <a:t> —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The overlap invariant relates multiple reservation rows; none of the constraints shown can state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Updates: one place to change, no copies to drift</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 not a doctrine.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Two valid rows: is the application correct?</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10:00–11:00 CONFIRMED</a:t>
            </a:r>
          </a:p>
          <a:p>
            <a:pPr algn="l">
              <a:spcAft>
                <a:spcPts val="500"/>
              </a:spcAft>
            </a:pPr>
            <a:r>
              <a:rPr sz="2000" b="0">
                <a:solidFill>
                  <a:srgbClr val="2D2D2D"/>
                </a:solidFill>
                <a:latin typeface="Consolas"/>
              </a:rPr>
              <a:t>117 10:30–11:30 CONFIRMED</a:t>
            </a:r>
          </a:p>
          <a:p>
            <a:pPr algn="l">
              <a:spcAft>
                <a:spcPts val="400"/>
              </a:spcAft>
            </a:pPr>
            <a:r>
              <a:rPr sz="2000" b="0">
                <a:solidFill>
                  <a:srgbClr val="555960"/>
                </a:solidFill>
                <a:latin typeface="Calibri"/>
              </a:rPr>
              <a:t>Every schema constraint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the concurrency section.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does an application ask for stored information?</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It returns when requests overlap.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(Resv.query</a:t>
            </a:r>
          </a:p>
          <a:p>
            <a:pPr algn="l">
              <a:spcAft>
                <a:spcPts val="200"/>
              </a:spcAft>
            </a:pPr>
            <a:r>
              <a:rPr sz="2000" b="0">
                <a:solidFill>
                  <a:srgbClr val="2D2D2D"/>
                </a:solidFill>
                <a:latin typeface="Consolas"/>
              </a:rPr>
              <a:t>  .filter_by(room=room,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.filter(overlaps(s, e))</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the N+1 trap</a:t>
            </a:r>
          </a:p>
          <a:p>
            <a:pPr algn="l">
              <a:spcAft>
                <a:spcPts val="400"/>
              </a:spcAft>
            </a:pPr>
            <a:r>
              <a:rPr sz="2000" b="0">
                <a:solidFill>
                  <a:srgbClr val="555960"/>
                </a:solidFill>
                <a:latin typeface="Calibri"/>
              </a:rPr>
              <a:t>Database-specific operations get awkward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 pages, rows, indexes</a:t>
            </a:r>
          </a:p>
        </p:txBody>
      </p:sp>
      <p:sp>
        <p:nvSpPr>
          <p:cNvPr id="12" name="Card"/>
          <p:cNvSpPr/>
          <p:nvPr/>
        </p:nvSpPr>
        <p:spPr>
          <a:xfrm>
            <a:off x="5486400" y="1783080"/>
            <a:ext cx="32461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874519"/>
            <a:ext cx="2953512" cy="2194560"/>
          </a:xfrm>
          <a:prstGeom prst="rect">
            <a:avLst/>
          </a:prstGeom>
          <a:noFill/>
        </p:spPr>
        <p:txBody>
          <a:bodyPr wrap="square">
            <a:spAutoFit/>
          </a:bodyPr>
          <a:lstStyle/>
          <a:p>
            <a:pPr algn="l">
              <a:spcAft>
                <a:spcPts val="600"/>
              </a:spcAft>
            </a:pPr>
            <a:r>
              <a:rPr sz="2000" b="1">
                <a:solidFill>
                  <a:srgbClr val="5C4826"/>
                </a:solidFill>
                <a:latin typeface="Calibri"/>
              </a:rPr>
              <a:t>An ORM maps application operations to database queries</a:t>
            </a:r>
          </a:p>
          <a:p>
            <a:pPr algn="l">
              <a:spcAft>
                <a:spcPts val="600"/>
              </a:spcAft>
            </a:pPr>
            <a:r>
              <a:rPr sz="2000" b="0">
                <a:solidFill>
                  <a:srgbClr val="555960"/>
                </a:solidFill>
                <a:latin typeface="Calibri"/>
              </a:rPr>
              <a:t>The database still determines how those queries execute.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optimizer chooses how your query runs</a:t>
            </a:r>
          </a:p>
        </p:txBody>
      </p:sp>
      <p:sp>
        <p:nvSpPr>
          <p:cNvPr id="14" name="Card"/>
          <p:cNvSpPr/>
          <p:nvPr/>
        </p:nvSpPr>
        <p:spPr>
          <a:xfrm>
            <a:off x="411480" y="4892040"/>
            <a:ext cx="8321040" cy="960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ardBody"/>
          <p:cNvSpPr txBox="1"/>
          <p:nvPr/>
        </p:nvSpPr>
        <p:spPr>
          <a:xfrm>
            <a:off x="557784" y="4965192"/>
            <a:ext cx="8046720" cy="822960"/>
          </a:xfrm>
          <a:prstGeom prst="rect">
            <a:avLst/>
          </a:prstGeom>
          <a:noFill/>
        </p:spPr>
        <p:txBody>
          <a:bodyPr wrap="square">
            <a:spAutoFit/>
          </a:bodyPr>
          <a:lstStyle/>
          <a:p>
            <a:pPr algn="l">
              <a:spcAft>
                <a:spcPts val="300"/>
              </a:spcAft>
            </a:pPr>
            <a:r>
              <a:rPr sz="2000" b="1">
                <a:solidFill>
                  <a:srgbClr val="5C4826"/>
                </a:solidFill>
                <a:latin typeface="Calibri"/>
              </a:rPr>
              <a:t>It compares candidate plans by estimated cost, using statistics about YOUR data</a:t>
            </a:r>
          </a:p>
          <a:p>
            <a:pPr algn="l">
              <a:spcAft>
                <a:spcPts val="400"/>
              </a:spcAft>
            </a:pPr>
            <a:r>
              <a:rPr sz="2000" b="0">
                <a:solidFill>
                  <a:srgbClr val="555960"/>
                </a:solidFill>
                <a:latin typeface="Calibri"/>
              </a:rPr>
              <a:t>Same SQL, thousandfold cost differences. The levers you supply: indexes, layout, fresh statistics.</a:t>
            </a:r>
          </a:p>
        </p:txBody>
      </p:sp>
      <p:sp>
        <p:nvSpPr>
          <p:cNvPr id="16" name="Block"/>
          <p:cNvSpPr/>
          <p:nvPr/>
        </p:nvSpPr>
        <p:spPr>
          <a:xfrm>
            <a:off x="41148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Parse &amp; validate</a:t>
            </a:r>
          </a:p>
        </p:txBody>
      </p:sp>
      <p:sp>
        <p:nvSpPr>
          <p:cNvPr id="17" name="Arrow"/>
          <p:cNvSpPr/>
          <p:nvPr/>
        </p:nvSpPr>
        <p:spPr>
          <a:xfrm>
            <a:off x="2304288" y="1088136"/>
            <a:ext cx="365760"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lock"/>
          <p:cNvSpPr/>
          <p:nvPr/>
        </p:nvSpPr>
        <p:spPr>
          <a:xfrm>
            <a:off x="274320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Logical plan</a:t>
            </a:r>
          </a:p>
        </p:txBody>
      </p:sp>
      <p:sp>
        <p:nvSpPr>
          <p:cNvPr id="19" name="Arrow"/>
          <p:cNvSpPr/>
          <p:nvPr/>
        </p:nvSpPr>
        <p:spPr>
          <a:xfrm>
            <a:off x="3520440" y="1554480"/>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lock"/>
          <p:cNvSpPr/>
          <p:nvPr/>
        </p:nvSpPr>
        <p:spPr>
          <a:xfrm>
            <a:off x="2743200" y="1874519"/>
            <a:ext cx="18288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OPTIMIZER</a:t>
            </a:r>
          </a:p>
        </p:txBody>
      </p:sp>
      <p:sp>
        <p:nvSpPr>
          <p:cNvPr id="21" name="Block"/>
          <p:cNvSpPr/>
          <p:nvPr/>
        </p:nvSpPr>
        <p:spPr>
          <a:xfrm>
            <a:off x="5760720" y="1874519"/>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statistics about your data</a:t>
            </a:r>
          </a:p>
        </p:txBody>
      </p:sp>
      <p:sp>
        <p:nvSpPr>
          <p:cNvPr id="22" name="Arrow"/>
          <p:cNvSpPr/>
          <p:nvPr/>
        </p:nvSpPr>
        <p:spPr>
          <a:xfrm>
            <a:off x="5074920" y="2139696"/>
            <a:ext cx="411480"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PlanBranch"/>
          <p:cNvCxnSpPr/>
          <p:nvPr/>
        </p:nvCxnSpPr>
        <p:spPr>
          <a:xfrm flipH="1">
            <a:off x="2377440" y="2633472"/>
            <a:ext cx="822960" cy="338328"/>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PlanBranch"/>
          <p:cNvCxnSpPr/>
          <p:nvPr/>
        </p:nvCxnSpPr>
        <p:spPr>
          <a:xfrm>
            <a:off x="4114800" y="2633472"/>
            <a:ext cx="2468880" cy="338328"/>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andidate"/>
          <p:cNvSpPr/>
          <p:nvPr/>
        </p:nvSpPr>
        <p:spPr>
          <a:xfrm>
            <a:off x="640080" y="297180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ndidateBody"/>
          <p:cNvSpPr txBox="1"/>
          <p:nvPr/>
        </p:nvSpPr>
        <p:spPr>
          <a:xfrm>
            <a:off x="768096" y="3026664"/>
            <a:ext cx="3218688" cy="777240"/>
          </a:xfrm>
          <a:prstGeom prst="rect">
            <a:avLst/>
          </a:prstGeom>
          <a:noFill/>
        </p:spPr>
        <p:txBody>
          <a:bodyPr wrap="square">
            <a:spAutoFit/>
          </a:bodyPr>
          <a:lstStyle/>
          <a:p>
            <a:r>
              <a:rPr sz="2000" b="1">
                <a:solidFill>
                  <a:srgbClr val="2D2D2D"/>
                </a:solidFill>
                <a:latin typeface="Calibri"/>
              </a:rPr>
              <a:t>Candidate A: sequential scan</a:t>
            </a:r>
          </a:p>
          <a:p>
            <a:r>
              <a:rPr sz="2000" b="0">
                <a:solidFill>
                  <a:srgbClr val="555960"/>
                </a:solidFill>
                <a:latin typeface="Calibri"/>
              </a:rPr>
              <a:t>read every row, test each</a:t>
            </a:r>
          </a:p>
        </p:txBody>
      </p:sp>
      <p:sp>
        <p:nvSpPr>
          <p:cNvPr id="27" name="Candidate"/>
          <p:cNvSpPr/>
          <p:nvPr/>
        </p:nvSpPr>
        <p:spPr>
          <a:xfrm>
            <a:off x="4846320" y="297180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andidateBody"/>
          <p:cNvSpPr txBox="1"/>
          <p:nvPr/>
        </p:nvSpPr>
        <p:spPr>
          <a:xfrm>
            <a:off x="4974336" y="3026664"/>
            <a:ext cx="3218688" cy="777240"/>
          </a:xfrm>
          <a:prstGeom prst="rect">
            <a:avLst/>
          </a:prstGeom>
          <a:noFill/>
        </p:spPr>
        <p:txBody>
          <a:bodyPr wrap="square">
            <a:spAutoFit/>
          </a:bodyPr>
          <a:lstStyle/>
          <a:p>
            <a:r>
              <a:rPr sz="2000" b="1">
                <a:solidFill>
                  <a:srgbClr val="2D2D2D"/>
                </a:solidFill>
                <a:latin typeface="Calibri"/>
              </a:rPr>
              <a:t>Candidate B: index range scan</a:t>
            </a:r>
          </a:p>
          <a:p>
            <a:r>
              <a:rPr sz="2000" b="0">
                <a:solidFill>
                  <a:srgbClr val="555960"/>
                </a:solidFill>
                <a:latin typeface="Calibri"/>
              </a:rPr>
              <a:t>seek this room's window</a:t>
            </a:r>
          </a:p>
        </p:txBody>
      </p:sp>
      <p:sp>
        <p:nvSpPr>
          <p:cNvPr id="29" name="Arrow"/>
          <p:cNvSpPr/>
          <p:nvPr/>
        </p:nvSpPr>
        <p:spPr>
          <a:xfrm>
            <a:off x="6446520" y="3877056"/>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oiceLabel"/>
          <p:cNvSpPr txBox="1"/>
          <p:nvPr/>
        </p:nvSpPr>
        <p:spPr>
          <a:xfrm>
            <a:off x="3017520" y="4169663"/>
            <a:ext cx="3291840" cy="347472"/>
          </a:xfrm>
          <a:prstGeom prst="rect">
            <a:avLst/>
          </a:prstGeom>
          <a:noFill/>
        </p:spPr>
        <p:txBody>
          <a:bodyPr wrap="square">
            <a:spAutoFit/>
          </a:bodyPr>
          <a:lstStyle/>
          <a:p>
            <a:pPr algn="r"/>
            <a:r>
              <a:rPr sz="2000" b="0">
                <a:solidFill>
                  <a:srgbClr val="555960"/>
                </a:solidFill>
                <a:latin typeface="Calibri"/>
              </a:rPr>
              <a:t>lowest estimated cost wins</a:t>
            </a:r>
          </a:p>
        </p:txBody>
      </p:sp>
      <p:sp>
        <p:nvSpPr>
          <p:cNvPr id="31" name="Block"/>
          <p:cNvSpPr/>
          <p:nvPr/>
        </p:nvSpPr>
        <p:spPr>
          <a:xfrm>
            <a:off x="4846320" y="4187952"/>
            <a:ext cx="34747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Execute the chosen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Seek to this room's window; examine only candidate rows</a:t>
            </a:r>
          </a:p>
          <a:p>
            <a:pPr algn="l">
              <a:spcAft>
                <a:spcPts val="400"/>
              </a:spcAft>
            </a:pPr>
            <a:r>
              <a:rPr sz="2000" b="0">
                <a:solidFill>
                  <a:srgbClr val="555960"/>
                </a:solidFill>
                <a:latin typeface="Calibri"/>
              </a:rPr>
              <a:t>The ends_at test still filters each candidate</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11" name="Label"/>
          <p:cNvSpPr txBox="1"/>
          <p:nvPr/>
        </p:nvSpPr>
        <p:spPr>
          <a:xfrm>
            <a:off x="411480" y="731520"/>
            <a:ext cx="8321040" cy="365760"/>
          </a:xfrm>
          <a:prstGeom prst="rect">
            <a:avLst/>
          </a:prstGeom>
          <a:noFill/>
        </p:spPr>
        <p:txBody>
          <a:bodyPr wrap="square">
            <a:spAutoFit/>
          </a:bodyPr>
          <a:lstStyle/>
          <a:p>
            <a:r>
              <a:rPr sz="2000" b="1"/>
              <a:t>Illustrative workload: two million reservations, one busy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a:t>
            </a:r>
          </a:p>
          <a:p>
            <a:pPr algn="l">
              <a:spcAft>
                <a:spcPts val="200"/>
              </a:spcAft>
            </a:pPr>
            <a:r>
              <a:rPr sz="2000" b="0">
                <a:solidFill>
                  <a:srgbClr val="2D2D2D"/>
                </a:solidFill>
                <a:latin typeface="Consolas"/>
              </a:rPr>
              <a:t>    print(r.room.name)</a:t>
            </a:r>
          </a:p>
          <a:p>
            <a:pPr algn="l">
              <a:spcAft>
                <a:spcPts val="200"/>
              </a:spcAft>
            </a:pPr>
            <a:r>
              <a:rPr sz="2000" b="0">
                <a:solidFill>
                  <a:srgbClr val="2D2D2D"/>
                </a:solidFill>
                <a:latin typeface="Consolas"/>
              </a:rPr>
              <a:t># 200 rows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 abstractions and generated code can conceal expensive access patterns.</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Can individually correct requests violate an invariant?</a:t>
            </a:r>
          </a:p>
        </p:txBody>
      </p:sp>
      <p:sp>
        <p:nvSpPr>
          <p:cNvPr id="3" name="Block"/>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A —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B —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t3 · INSERT CONFIRMED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t4 · INSERT CONFIRMED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 and each request, read alone, follows the intended algorithm exactly.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Transactions preserve the database's specified integrity constraints</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ACID held, and the race still landed.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With the check and the insert inside one transaction, one request must appear to run second; its check then sees the other's row.</a:t>
            </a:r>
          </a:p>
        </p:txBody>
      </p:sp>
      <p:sp>
        <p:nvSpPr>
          <p:cNvPr id="8" name="SetOuter"/>
          <p:cNvSpPr/>
          <p:nvPr/>
        </p:nvSpPr>
        <p:spPr>
          <a:xfrm>
            <a:off x="640080" y="914400"/>
            <a:ext cx="7863840" cy="3154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tMid"/>
          <p:cNvSpPr/>
          <p:nvPr/>
        </p:nvSpPr>
        <p:spPr>
          <a:xfrm>
            <a:off x="1188720" y="1627632"/>
            <a:ext cx="6766560" cy="2212848"/>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etInner"/>
          <p:cNvSpPr/>
          <p:nvPr/>
        </p:nvSpPr>
        <p:spPr>
          <a:xfrm>
            <a:off x="1783080" y="2487168"/>
            <a:ext cx="3749039" cy="107899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SERIALIZABLE</a:t>
            </a:r>
          </a:p>
          <a:p>
            <a:pPr algn="ctr"/>
            <a:r>
              <a:rPr sz="2000" b="0">
                <a:solidFill>
                  <a:srgbClr val="FFFFFF"/>
                </a:solidFill>
                <a:latin typeface="Calibri"/>
              </a:rPr>
              <a:t>equivalent to some serial order</a:t>
            </a:r>
          </a:p>
        </p:txBody>
      </p:sp>
      <p:sp>
        <p:nvSpPr>
          <p:cNvPr id="11" name="SetLabel"/>
          <p:cNvSpPr txBox="1"/>
          <p:nvPr/>
        </p:nvSpPr>
        <p:spPr>
          <a:xfrm>
            <a:off x="822960" y="987552"/>
            <a:ext cx="6035040" cy="365760"/>
          </a:xfrm>
          <a:prstGeom prst="rect">
            <a:avLst/>
          </a:prstGeom>
          <a:noFill/>
        </p:spPr>
        <p:txBody>
          <a:bodyPr wrap="square">
            <a:spAutoFit/>
          </a:bodyPr>
          <a:lstStyle/>
          <a:p>
            <a:r>
              <a:rPr sz="2000" b="1">
                <a:solidFill>
                  <a:srgbClr val="2D2D2D"/>
                </a:solidFill>
                <a:latin typeface="Calibri"/>
              </a:rPr>
              <a:t>All interleavings of concurrent transactions</a:t>
            </a:r>
          </a:p>
        </p:txBody>
      </p:sp>
      <p:sp>
        <p:nvSpPr>
          <p:cNvPr id="12" name="SetLabel"/>
          <p:cNvSpPr txBox="1"/>
          <p:nvPr/>
        </p:nvSpPr>
        <p:spPr>
          <a:xfrm>
            <a:off x="1371600" y="1700784"/>
            <a:ext cx="6035040" cy="365760"/>
          </a:xfrm>
          <a:prstGeom prst="rect">
            <a:avLst/>
          </a:prstGeom>
          <a:noFill/>
        </p:spPr>
        <p:txBody>
          <a:bodyPr wrap="square">
            <a:spAutoFit/>
          </a:bodyPr>
          <a:lstStyle/>
          <a:p>
            <a:r>
              <a:rPr sz="2000" b="1">
                <a:solidFill>
                  <a:srgbClr val="555960"/>
                </a:solidFill>
                <a:latin typeface="Calibri"/>
              </a:rPr>
              <a:t>Histories your isolation level permits</a:t>
            </a:r>
          </a:p>
        </p:txBody>
      </p:sp>
      <p:sp>
        <p:nvSpPr>
          <p:cNvPr id="13" name="RaceMarker"/>
          <p:cNvSpPr txBox="1"/>
          <p:nvPr/>
        </p:nvSpPr>
        <p:spPr>
          <a:xfrm>
            <a:off x="5760720" y="2651760"/>
            <a:ext cx="2103120" cy="777240"/>
          </a:xfrm>
          <a:prstGeom prst="rect">
            <a:avLst/>
          </a:prstGeom>
          <a:noFill/>
        </p:spPr>
        <p:txBody>
          <a:bodyPr wrap="square">
            <a:spAutoFit/>
          </a:bodyPr>
          <a:lstStyle/>
          <a:p>
            <a:r>
              <a:rPr sz="2000" b="1">
                <a:solidFill>
                  <a:srgbClr val="8E6F3E"/>
                </a:solidFill>
                <a:latin typeface="Calibri"/>
              </a:rPr>
              <a:t>✗ the double-booking</a:t>
            </a:r>
          </a:p>
          <a:p>
            <a:r>
              <a:rPr sz="2000" b="1">
                <a:solidFill>
                  <a:srgbClr val="8E6F3E"/>
                </a:solidFill>
                <a:latin typeface="Calibri"/>
              </a:rPr>
              <a:t>history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ISOLATION</a:t>
            </a:r>
          </a:p>
          <a:p>
            <a:pPr algn="l">
              <a:spcAft>
                <a:spcPts val="400"/>
              </a:spcAft>
            </a:pPr>
            <a:r>
              <a:rPr sz="2000" b="0">
                <a:solidFill>
                  <a:srgbClr val="8E6F3E"/>
                </a:solidFill>
                <a:latin typeface="Calibri"/>
              </a:rPr>
              <a:t>how PostgreSQL runs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sees a frozen view; neither sees the other's insert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Where can the no-overlap invariant be enforced?</a:t>
            </a:r>
          </a:p>
        </p:txBody>
      </p:sp>
      <p:sp>
        <p:nvSpPr>
          <p:cNvPr id="3" name="Card"/>
          <p:cNvSpPr/>
          <p:nvPr/>
        </p:nvSpPr>
        <p:spPr>
          <a:xfrm>
            <a:off x="411480" y="86868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23544"/>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923544"/>
            <a:ext cx="5349240" cy="1188720"/>
          </a:xfrm>
          <a:prstGeom prst="rect">
            <a:avLst/>
          </a:prstGeom>
          <a:noFill/>
        </p:spPr>
        <p:txBody>
          <a:bodyPr wrap="square">
            <a:spAutoFit/>
          </a:bodyPr>
          <a:lstStyle/>
          <a:p>
            <a:pPr algn="l">
              <a:spcAft>
                <a:spcPts val="200"/>
              </a:spcAft>
            </a:pPr>
            <a:r>
              <a:rPr sz="2000" b="0">
                <a:solidFill>
                  <a:srgbClr val="5C4826"/>
                </a:solidFill>
                <a:latin typeface="Calibri"/>
              </a:rPr>
              <a:t>EXCLUDE (room =, time &amp;&amp;): the SCHEMA states it; the engine rejects the insert</a:t>
            </a:r>
          </a:p>
          <a:p>
            <a:pPr algn="l">
              <a:spcAft>
                <a:spcPts val="400"/>
              </a:spcAft>
            </a:pPr>
            <a:r>
              <a:rPr sz="2000" b="0">
                <a:solidFill>
                  <a:srgbClr val="555960"/>
                </a:solidFill>
                <a:latin typeface="Calibri"/>
              </a:rPr>
              <a:t>engine-specific (e.g. Postgres GiST)</a:t>
            </a:r>
          </a:p>
        </p:txBody>
      </p:sp>
      <p:sp>
        <p:nvSpPr>
          <p:cNvPr id="6" name="Card"/>
          <p:cNvSpPr/>
          <p:nvPr/>
        </p:nvSpPr>
        <p:spPr>
          <a:xfrm>
            <a:off x="411480" y="2258568"/>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313432"/>
            <a:ext cx="5349240" cy="1188720"/>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a:t>
            </a:r>
          </a:p>
          <a:p>
            <a:pPr algn="l">
              <a:spcAft>
                <a:spcPts val="400"/>
              </a:spcAft>
            </a:pPr>
            <a:r>
              <a:rPr sz="2000" b="0">
                <a:solidFill>
                  <a:srgbClr val="555960"/>
                </a:solidFill>
                <a:latin typeface="Calibri"/>
              </a:rPr>
              <a:t>catch aborts and retry; contention costs throughput</a:t>
            </a:r>
          </a:p>
        </p:txBody>
      </p:sp>
      <p:sp>
        <p:nvSpPr>
          <p:cNvPr id="9" name="Card"/>
          <p:cNvSpPr/>
          <p:nvPr/>
        </p:nvSpPr>
        <p:spPr>
          <a:xfrm>
            <a:off x="411480" y="3648456"/>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703320"/>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703320"/>
            <a:ext cx="5349240" cy="1188720"/>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first — your LOCKING DISCIPLINE, per room</a:t>
            </a:r>
          </a:p>
          <a:p>
            <a:pPr algn="l">
              <a:spcAft>
                <a:spcPts val="400"/>
              </a:spcAft>
            </a:pPr>
            <a:r>
              <a:rPr sz="2000" b="0">
                <a:solidFill>
                  <a:srgbClr val="555960"/>
                </a:solidFill>
                <a:latin typeface="Calibri"/>
              </a:rPr>
              <a:t>one code path that forgets the lock breaks it</a:t>
            </a:r>
          </a:p>
        </p:txBody>
      </p:sp>
      <p:sp>
        <p:nvSpPr>
          <p:cNvPr id="12" name="Card"/>
          <p:cNvSpPr/>
          <p:nvPr/>
        </p:nvSpPr>
        <p:spPr>
          <a:xfrm>
            <a:off x="411480" y="5047488"/>
            <a:ext cx="8321040" cy="74980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NonClaim"/>
          <p:cNvSpPr txBox="1"/>
          <p:nvPr/>
        </p:nvSpPr>
        <p:spPr>
          <a:xfrm>
            <a:off x="557784" y="5084064"/>
            <a:ext cx="8046720" cy="676656"/>
          </a:xfrm>
          <a:prstGeom prst="rect">
            <a:avLst/>
          </a:prstGeom>
          <a:noFill/>
        </p:spPr>
        <p:txBody>
          <a:bodyPr wrap="square">
            <a:spAutoFit/>
          </a:bodyPr>
          <a:lstStyle/>
          <a:p>
            <a:pPr algn="l">
              <a:spcAft>
                <a:spcPts val="400"/>
              </a:spcAft>
            </a:pPr>
            <a:r>
              <a:rPr sz="2000" b="1">
                <a:solidFill>
                  <a:srgbClr val="C01B1B"/>
                </a:solidFill>
                <a:latin typeface="Calibri"/>
              </a:rPr>
              <a:t>A foreign key or CHECK cannot state this invariant: it relates multiple reservation rows.</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Decide where the invariant lives: schema, isolation, or discipline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may tolerate weaker coordination guarantees; reservations require stronger protection against conflicting writes. Measuring that price is the next unit: Performance &amp; Reliability.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happens when the data model must change?</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CHANGE</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the old version keep operating mid-migration?</a:t>
            </a:r>
          </a:p>
          <a:p>
            <a:pPr algn="l">
              <a:spcAft>
                <a:spcPts val="400"/>
              </a:spcAft>
            </a:pPr>
            <a:r>
              <a:rPr sz="2000" b="0">
                <a:solidFill>
                  <a:srgbClr val="555960"/>
                </a:solidFill>
                <a:latin typeface="Calibri"/>
              </a:rPr>
              <a:t>Expand → migrate → contract: add the new shape, move, then retire the old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p:cNvSpPr/>
          <p:nvPr/>
        </p:nvSpPr>
        <p:spPr>
          <a:xfrm>
            <a:off x="41148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a:p>
            <a:pPr algn="ctr"/>
            <a:r>
              <a:rPr sz="2000" b="0">
                <a:solidFill>
                  <a:srgbClr val="FFFFFF"/>
                </a:solidFill>
                <a:latin typeface="Calibri"/>
              </a:rPr>
              <a:t>preserve correct reservations</a:t>
            </a:r>
          </a:p>
        </p:txBody>
      </p:sp>
      <p:sp>
        <p:nvSpPr>
          <p:cNvPr id="4" name="Block"/>
          <p:cNvSpPr/>
          <p:nvPr/>
        </p:nvSpPr>
        <p:spPr>
          <a:xfrm>
            <a:off x="333756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a:p>
            <a:pPr algn="ctr"/>
            <a:r>
              <a:rPr sz="2000" b="0">
                <a:solidFill>
                  <a:srgbClr val="FFFFFF"/>
                </a:solidFill>
                <a:latin typeface="Calibri"/>
              </a:rPr>
              <a:t>entities, intervals, invariant</a:t>
            </a:r>
          </a:p>
        </p:txBody>
      </p:sp>
      <p:sp>
        <p:nvSpPr>
          <p:cNvPr id="5" name="Block"/>
          <p:cNvSpPr/>
          <p:nvPr/>
        </p:nvSpPr>
        <p:spPr>
          <a:xfrm>
            <a:off x="6263640" y="9144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a:p>
            <a:pPr algn="ctr"/>
            <a:r>
              <a:rPr sz="2000" b="0">
                <a:solidFill>
                  <a:srgbClr val="FFFFFF"/>
                </a:solidFill>
                <a:latin typeface="Calibri"/>
              </a:rPr>
              <a:t>relational, normalized</a:t>
            </a:r>
          </a:p>
        </p:txBody>
      </p:sp>
      <p:sp>
        <p:nvSpPr>
          <p:cNvPr id="6" name="Arrow"/>
          <p:cNvSpPr/>
          <p:nvPr/>
        </p:nvSpPr>
        <p:spPr>
          <a:xfrm>
            <a:off x="2907792" y="14081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4081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2121408"/>
            <a:ext cx="365760" cy="4206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a:p>
            <a:pPr algn="ctr"/>
            <a:r>
              <a:rPr sz="2000" b="0">
                <a:solidFill>
                  <a:srgbClr val="FFFFFF"/>
                </a:solidFill>
                <a:latin typeface="Calibri"/>
              </a:rPr>
              <a:t>schema and queries</a:t>
            </a:r>
          </a:p>
        </p:txBody>
      </p:sp>
      <p:sp>
        <p:nvSpPr>
          <p:cNvPr id="10" name="Block"/>
          <p:cNvSpPr/>
          <p:nvPr/>
        </p:nvSpPr>
        <p:spPr>
          <a:xfrm>
            <a:off x="333756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a:p>
            <a:pPr algn="ctr"/>
            <a:r>
              <a:rPr sz="2000" b="0">
                <a:solidFill>
                  <a:srgbClr val="FFFFFF"/>
                </a:solidFill>
                <a:latin typeface="Calibri"/>
              </a:rPr>
              <a:t>plans and the race</a:t>
            </a:r>
          </a:p>
        </p:txBody>
      </p:sp>
      <p:sp>
        <p:nvSpPr>
          <p:cNvPr id="11" name="Block"/>
          <p:cNvSpPr/>
          <p:nvPr/>
        </p:nvSpPr>
        <p:spPr>
          <a:xfrm>
            <a:off x="411480" y="25603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a:p>
            <a:pPr algn="ctr"/>
            <a:r>
              <a:rPr sz="2000" b="0">
                <a:solidFill>
                  <a:srgbClr val="FFFFFF"/>
                </a:solidFill>
                <a:latin typeface="Calibri"/>
              </a:rPr>
              <a:t>adopt the exclusion constraint</a:t>
            </a:r>
          </a:p>
        </p:txBody>
      </p:sp>
      <p:sp>
        <p:nvSpPr>
          <p:cNvPr id="12" name="Arrow"/>
          <p:cNvSpPr/>
          <p:nvPr/>
        </p:nvSpPr>
        <p:spPr>
          <a:xfrm>
            <a:off x="5833872" y="30540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30540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4041648"/>
            <a:ext cx="8321040" cy="56692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8E6F3E"/>
                </a:solidFill>
                <a:latin typeface="Calibri"/>
              </a:rPr>
              <a:t>ALIGNMENT, alongside every step: schema constraints, checks, gates</a:t>
            </a:r>
          </a:p>
        </p:txBody>
      </p:sp>
      <p:cxnSp>
        <p:nvCxnSpPr>
          <p:cNvPr id="15" name="AlignLink"/>
          <p:cNvCxnSpPr/>
          <p:nvPr/>
        </p:nvCxnSpPr>
        <p:spPr>
          <a:xfrm>
            <a:off x="1645920" y="3749039"/>
            <a:ext cx="0" cy="292608"/>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6" name="AlignLink"/>
          <p:cNvCxnSpPr/>
          <p:nvPr/>
        </p:nvCxnSpPr>
        <p:spPr>
          <a:xfrm>
            <a:off x="7498079" y="3749039"/>
            <a:ext cx="0" cy="292608"/>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same method as Tuesday — different models, same discipline</a:t>
            </a:r>
          </a:p>
        </p:txBody>
      </p:sp>
      <p:sp>
        <p:nvSpPr>
          <p:cNvPr id="21" name="MethodNote"/>
          <p:cNvSpPr txBox="1"/>
          <p:nvPr/>
        </p:nvSpPr>
        <p:spPr>
          <a:xfrm>
            <a:off x="411480" y="4937760"/>
            <a:ext cx="8321040" cy="731520"/>
          </a:xfrm>
          <a:prstGeom prst="rect">
            <a:avLst/>
          </a:prstGeom>
          <a:noFill/>
        </p:spPr>
        <p:txBody>
          <a:bodyPr wrap="square">
            <a:spAutoFit/>
          </a:bodyPr>
          <a:lstStyle/>
          <a:p>
            <a:r>
              <a:rPr sz="2000" b="0">
                <a:solidFill>
                  <a:srgbClr val="555960"/>
                </a:solidFill>
                <a:latin typeface="Calibri"/>
              </a:rPr>
              <a:t>Tuesday's frame, today's artifacts: every box filled by a decision made in this lecture.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working system: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NOW HOLD</a:t>
            </a:r>
          </a:p>
          <a:p>
            <a:pPr algn="l">
              <a:spcAft>
                <a:spcPts val="400"/>
              </a:spcAft>
            </a:pPr>
            <a:r>
              <a:rPr sz="2000" b="0">
                <a:solidFill>
                  <a:srgbClr val="5C4826"/>
                </a:solidFill>
                <a:latin typeface="Calibri"/>
              </a:rPr>
              <a:t>Reservations survive restarts</a:t>
            </a:r>
          </a:p>
          <a:p>
            <a:pPr algn="l">
              <a:spcAft>
                <a:spcPts val="400"/>
              </a:spcAft>
            </a:pPr>
            <a:r>
              <a:rPr sz="2000" b="0">
                <a:solidFill>
                  <a:srgbClr val="5C4826"/>
                </a:solidFill>
                <a:latin typeface="Calibri"/>
              </a:rPr>
              <a:t>One authoritative, shared copy</a:t>
            </a:r>
          </a:p>
          <a:p>
            <a:pPr algn="l">
              <a:spcAft>
                <a:spcPts val="400"/>
              </a:spcAft>
            </a:pPr>
            <a:r>
              <a:rPr sz="2000" b="0">
                <a:solidFill>
                  <a:srgbClr val="5C4826"/>
                </a:solidFill>
                <a:latin typeface="Calibri"/>
              </a:rPr>
              <a:t>The invariant has an enforced home</a:t>
            </a:r>
          </a:p>
          <a:p>
            <a:pPr algn="l">
              <a:spcAft>
                <a:spcPts val="400"/>
              </a:spcAft>
            </a:pPr>
            <a:r>
              <a:rPr sz="2000" b="0">
                <a:solidFill>
                  <a:srgbClr val="5C4826"/>
                </a:solidFill>
                <a:latin typeface="Calibri"/>
              </a:rPr>
              <a:t>Explicit storage and concurrency tradeoffs</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1234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1097280"/>
          </a:xfrm>
          <a:prstGeom prst="rect">
            <a:avLst/>
          </a:prstGeom>
          <a:noFill/>
        </p:spPr>
        <p:txBody>
          <a:bodyPr wrap="square">
            <a:spAutoFit/>
          </a:bodyPr>
          <a:lstStyle/>
          <a:p>
            <a:pPr algn="l">
              <a:spcAft>
                <a:spcPts val="300"/>
              </a:spcAft>
            </a:pPr>
            <a:r>
              <a:rPr sz="2000" b="1">
                <a:solidFill>
                  <a:srgbClr val="5C4826"/>
                </a:solidFill>
                <a:latin typeface="Calibri"/>
              </a:rPr>
              <a:t>Next: Technical Debt, Architecture &amp; Supply Chains</a:t>
            </a:r>
          </a:p>
          <a:p>
            <a:pPr algn="l">
              <a:spcAft>
                <a:spcPts val="400"/>
              </a:spcAft>
            </a:pPr>
            <a:r>
              <a:rPr sz="2000" b="0">
                <a:solidFill>
                  <a:srgbClr val="555960"/>
                </a:solidFill>
                <a:latin typeface="Calibri"/>
              </a:rPr>
              <a:t>The system's own shape — and everything it inherited — become the object of engineering.</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