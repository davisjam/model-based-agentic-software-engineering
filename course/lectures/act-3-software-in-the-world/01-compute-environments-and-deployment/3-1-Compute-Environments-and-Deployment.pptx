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1"/>
  </p:sldMasterIdLst>
  <p:notesMasterIdLst>
    <p:notesMasterId r:id="rId32"/>
  </p:notesMasterIdLst>
  <p:sldIdLst>
    <p:sldId id="256" r:id="rId8"/>
    <p:sldId id="279" r:id="rId31"/>
    <p:sldId id="257" r:id="rId9"/>
    <p:sldId id="258" r:id="rId10"/>
    <p:sldId id="259" r:id="rId11"/>
    <p:sldId id="280" r:id="rId7"/>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xmlns:p14="http://schemas.microsoft.com/office/powerpoint/2010/main" uri="{521415D9-36F7-43E2-AB2F-B90AF26B5E84}">
      <p14:sectionLst>
        <p14:section name="Compute Environments and Deployment" id="{C50CFB27-243B-5392-94DE-E43D3853FA4B}">
          <p14:sldIdLst>
            <p14:sldId id="256"/>
            <p14:sldId id="279"/>
          </p14:sldIdLst>
        </p14:section>
        <p14:section name="Execution environments" id="{27B8AD9F-D7CC-549E-BF59-4C380A34B13C}">
          <p14:sldIdLst>
            <p14:sldId id="257"/>
            <p14:sldId id="258"/>
            <p14:sldId id="259"/>
            <p14:sldId id="280"/>
          </p14:sldIdLst>
        </p14:section>
        <p14:section name="Deployment models" id="{D73AE67A-D201-51B6-8D8E-14844E2EA3BD}">
          <p14:sldIdLst>
            <p14:sldId id="260"/>
            <p14:sldId id="261"/>
            <p14:sldId id="262"/>
            <p14:sldId id="263"/>
            <p14:sldId id="264"/>
          </p14:sldIdLst>
        </p14:section>
        <p14:section name="Reproducibility and CI/CD" id="{8B524143-1FC5-528A-BCC1-F92AA68041BD}">
          <p14:sldIdLst>
            <p14:sldId id="265"/>
            <p14:sldId id="266"/>
            <p14:sldId id="267"/>
            <p14:sldId id="268"/>
            <p14:sldId id="269"/>
            <p14:sldId id="270"/>
          </p14:sldIdLst>
        </p14:section>
        <p14:section name="Release management" id="{258CB132-7084-5E54-8161-166449D8CE2E}">
          <p14:sldIdLst>
            <p14:sldId id="271"/>
            <p14:sldId id="272"/>
            <p14:sldId id="273"/>
            <p14:sldId id="274"/>
            <p14:sldId id="275"/>
            <p14:sldId id="276"/>
          </p14:sldIdLst>
        </p14:section>
        <p14:section name="Engineering judgment" id="{AA3E2C10-1A38-5B35-908A-8AD2D72B5017}">
          <p14:sldIdLst>
            <p14:sldId id="277"/>
            <p14:sldId id="27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17" autoAdjust="0"/>
    <p:restoredTop sz="81233"/>
  </p:normalViewPr>
  <p:slideViewPr>
    <p:cSldViewPr snapToGrid="0" snapToObjects="1">
      <p:cViewPr varScale="1">
        <p:scale>
          <a:sx n="97" d="100"/>
          <a:sy n="97" d="100"/>
        </p:scale>
        <p:origin x="2312" y="200"/>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6.xml"/><Relationship Id="rId8" Type="http://schemas.openxmlformats.org/officeDocument/2006/relationships/slide" Target="slides/slide1.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 France" userId="b43bac2f-065f-4dab-8869-567f51c0338e" providerId="ADAL" clId="{32976B86-9A01-5E05-BDB2-234D6247B540}"/>
    <pc:docChg chg="undo custSel modSld">
      <pc:chgData name="Steve France" userId="b43bac2f-065f-4dab-8869-567f51c0338e" providerId="ADAL" clId="{32976B86-9A01-5E05-BDB2-234D6247B540}" dt="2026-10-15T14:20:40.611" v="129" actId="20577"/>
      <pc:docMkLst>
        <pc:docMk/>
      </pc:docMkLst>
      <pc:sldChg chg="modSp mod modAnim">
        <pc:chgData name="Steve France" userId="b43bac2f-065f-4dab-8869-567f51c0338e" providerId="ADAL" clId="{32976B86-9A01-5E05-BDB2-234D6247B540}" dt="2026-10-15T14:10:08.744" v="51"/>
        <pc:sldMkLst>
          <pc:docMk/>
          <pc:sldMk cId="0" sldId="275"/>
        </pc:sldMkLst>
        <pc:spChg chg="mod">
          <ac:chgData name="Steve France" userId="b43bac2f-065f-4dab-8869-567f51c0338e" providerId="ADAL" clId="{32976B86-9A01-5E05-BDB2-234D6247B540}" dt="2026-10-15T14:08:31.677" v="39" actId="14100"/>
          <ac:spMkLst>
            <pc:docMk/>
            <pc:sldMk cId="0" sldId="275"/>
            <ac:spMk id="2" creationId="{00000000-0000-0000-0000-000000000000}"/>
          </ac:spMkLst>
        </pc:spChg>
        <pc:spChg chg="mod">
          <ac:chgData name="Steve France" userId="b43bac2f-065f-4dab-8869-567f51c0338e" providerId="ADAL" clId="{32976B86-9A01-5E05-BDB2-234D6247B540}" dt="2026-10-15T14:09:42.940" v="47" actId="1076"/>
          <ac:spMkLst>
            <pc:docMk/>
            <pc:sldMk cId="0" sldId="275"/>
            <ac:spMk id="4" creationId="{00000000-0000-0000-0000-000000000000}"/>
          </ac:spMkLst>
        </pc:spChg>
        <pc:spChg chg="mod">
          <ac:chgData name="Steve France" userId="b43bac2f-065f-4dab-8869-567f51c0338e" providerId="ADAL" clId="{32976B86-9A01-5E05-BDB2-234D6247B540}" dt="2026-10-15T14:09:48.534" v="48" actId="1076"/>
          <ac:spMkLst>
            <pc:docMk/>
            <pc:sldMk cId="0" sldId="275"/>
            <ac:spMk id="907" creationId="{00000000-0000-0000-0000-000000000000}"/>
          </ac:spMkLst>
        </pc:spChg>
        <pc:spChg chg="mod">
          <ac:chgData name="Steve France" userId="b43bac2f-065f-4dab-8869-567f51c0338e" providerId="ADAL" clId="{32976B86-9A01-5E05-BDB2-234D6247B540}" dt="2026-10-15T14:09:48.534" v="48" actId="1076"/>
          <ac:spMkLst>
            <pc:docMk/>
            <pc:sldMk cId="0" sldId="275"/>
            <ac:spMk id="909" creationId="{00000000-0000-0000-0000-000000000000}"/>
          </ac:spMkLst>
        </pc:spChg>
        <pc:spChg chg="mod">
          <ac:chgData name="Steve France" userId="b43bac2f-065f-4dab-8869-567f51c0338e" providerId="ADAL" clId="{32976B86-9A01-5E05-BDB2-234D6247B540}" dt="2026-10-15T14:09:48.534" v="48" actId="1076"/>
          <ac:spMkLst>
            <pc:docMk/>
            <pc:sldMk cId="0" sldId="275"/>
            <ac:spMk id="923" creationId="{00000000-0000-0000-0000-000000000000}"/>
          </ac:spMkLst>
        </pc:spChg>
        <pc:spChg chg="mod">
          <ac:chgData name="Steve France" userId="b43bac2f-065f-4dab-8869-567f51c0338e" providerId="ADAL" clId="{32976B86-9A01-5E05-BDB2-234D6247B540}" dt="2026-10-15T14:09:48.534" v="48" actId="1076"/>
          <ac:spMkLst>
            <pc:docMk/>
            <pc:sldMk cId="0" sldId="275"/>
            <ac:spMk id="924" creationId="{00000000-0000-0000-0000-000000000000}"/>
          </ac:spMkLst>
        </pc:spChg>
        <pc:spChg chg="mod">
          <ac:chgData name="Steve France" userId="b43bac2f-065f-4dab-8869-567f51c0338e" providerId="ADAL" clId="{32976B86-9A01-5E05-BDB2-234D6247B540}" dt="2026-10-15T14:09:29.907" v="45" actId="14100"/>
          <ac:spMkLst>
            <pc:docMk/>
            <pc:sldMk cId="0" sldId="275"/>
            <ac:spMk id="930" creationId="{00000000-0000-0000-0000-000000000000}"/>
          </ac:spMkLst>
        </pc:spChg>
        <pc:cxnChg chg="mod">
          <ac:chgData name="Steve France" userId="b43bac2f-065f-4dab-8869-567f51c0338e" providerId="ADAL" clId="{32976B86-9A01-5E05-BDB2-234D6247B540}" dt="2026-10-15T14:09:53.165" v="49" actId="14100"/>
          <ac:cxnSpMkLst>
            <pc:docMk/>
            <pc:sldMk cId="0" sldId="275"/>
            <ac:cxnSpMk id="906" creationId="{00000000-0000-0000-0000-000000000000}"/>
          </ac:cxnSpMkLst>
        </pc:cxnChg>
        <pc:cxnChg chg="mod">
          <ac:chgData name="Steve France" userId="b43bac2f-065f-4dab-8869-567f51c0338e" providerId="ADAL" clId="{32976B86-9A01-5E05-BDB2-234D6247B540}" dt="2026-10-15T14:09:48.534" v="48" actId="1076"/>
          <ac:cxnSpMkLst>
            <pc:docMk/>
            <pc:sldMk cId="0" sldId="275"/>
            <ac:cxnSpMk id="908" creationId="{00000000-0000-0000-0000-000000000000}"/>
          </ac:cxnSpMkLst>
        </pc:cxnChg>
      </pc:sldChg>
      <pc:sldChg chg="modSp mod modAnim">
        <pc:chgData name="Steve France" userId="b43bac2f-065f-4dab-8869-567f51c0338e" providerId="ADAL" clId="{32976B86-9A01-5E05-BDB2-234D6247B540}" dt="2026-10-15T14:08:12.337" v="38"/>
        <pc:sldMkLst>
          <pc:docMk/>
          <pc:sldMk cId="0" sldId="276"/>
        </pc:sldMkLst>
        <pc:spChg chg="mod">
          <ac:chgData name="Steve France" userId="b43bac2f-065f-4dab-8869-567f51c0338e" providerId="ADAL" clId="{32976B86-9A01-5E05-BDB2-234D6247B540}" dt="2026-10-15T14:07:57.288" v="37" actId="20577"/>
          <ac:spMkLst>
            <pc:docMk/>
            <pc:sldMk cId="0" sldId="276"/>
            <ac:spMk id="2" creationId="{00000000-0000-0000-0000-000000000000}"/>
          </ac:spMkLst>
        </pc:spChg>
        <pc:spChg chg="mod">
          <ac:chgData name="Steve France" userId="b43bac2f-065f-4dab-8869-567f51c0338e" providerId="ADAL" clId="{32976B86-9A01-5E05-BDB2-234D6247B540}" dt="2026-10-15T14:07:48.828" v="35" actId="20577"/>
          <ac:spMkLst>
            <pc:docMk/>
            <pc:sldMk cId="0" sldId="276"/>
            <ac:spMk id="902" creationId="{00000000-0000-0000-0000-000000000000}"/>
          </ac:spMkLst>
        </pc:spChg>
        <pc:spChg chg="mod">
          <ac:chgData name="Steve France" userId="b43bac2f-065f-4dab-8869-567f51c0338e" providerId="ADAL" clId="{32976B86-9A01-5E05-BDB2-234D6247B540}" dt="2026-10-15T14:07:39.318" v="33" actId="20577"/>
          <ac:spMkLst>
            <pc:docMk/>
            <pc:sldMk cId="0" sldId="276"/>
            <ac:spMk id="904" creationId="{00000000-0000-0000-0000-000000000000}"/>
          </ac:spMkLst>
        </pc:spChg>
        <pc:spChg chg="mod">
          <ac:chgData name="Steve France" userId="b43bac2f-065f-4dab-8869-567f51c0338e" providerId="ADAL" clId="{32976B86-9A01-5E05-BDB2-234D6247B540}" dt="2026-10-15T14:07:16.270" v="27" actId="1076"/>
          <ac:spMkLst>
            <pc:docMk/>
            <pc:sldMk cId="0" sldId="276"/>
            <ac:spMk id="906" creationId="{00000000-0000-0000-0000-000000000000}"/>
          </ac:spMkLst>
        </pc:spChg>
        <pc:spChg chg="mod">
          <ac:chgData name="Steve France" userId="b43bac2f-065f-4dab-8869-567f51c0338e" providerId="ADAL" clId="{32976B86-9A01-5E05-BDB2-234D6247B540}" dt="2026-10-15T14:07:20.989" v="28" actId="1076"/>
          <ac:spMkLst>
            <pc:docMk/>
            <pc:sldMk cId="0" sldId="276"/>
            <ac:spMk id="908" creationId="{00000000-0000-0000-0000-000000000000}"/>
          </ac:spMkLst>
        </pc:spChg>
        <pc:cxnChg chg="mod">
          <ac:chgData name="Steve France" userId="b43bac2f-065f-4dab-8869-567f51c0338e" providerId="ADAL" clId="{32976B86-9A01-5E05-BDB2-234D6247B540}" dt="2026-10-15T14:07:33.589" v="32" actId="14100"/>
          <ac:cxnSpMkLst>
            <pc:docMk/>
            <pc:sldMk cId="0" sldId="276"/>
            <ac:cxnSpMk id="930" creationId="{00000000-0000-0000-0000-000000000000}"/>
          </ac:cxnSpMkLst>
        </pc:cxnChg>
        <pc:cxnChg chg="mod">
          <ac:chgData name="Steve France" userId="b43bac2f-065f-4dab-8869-567f51c0338e" providerId="ADAL" clId="{32976B86-9A01-5E05-BDB2-234D6247B540}" dt="2026-10-15T14:07:30.637" v="31" actId="14100"/>
          <ac:cxnSpMkLst>
            <pc:docMk/>
            <pc:sldMk cId="0" sldId="276"/>
            <ac:cxnSpMk id="931" creationId="{00000000-0000-0000-0000-000000000000}"/>
          </ac:cxnSpMkLst>
        </pc:cxnChg>
        <pc:cxnChg chg="mod">
          <ac:chgData name="Steve France" userId="b43bac2f-065f-4dab-8869-567f51c0338e" providerId="ADAL" clId="{32976B86-9A01-5E05-BDB2-234D6247B540}" dt="2026-10-15T14:07:27.453" v="30" actId="14100"/>
          <ac:cxnSpMkLst>
            <pc:docMk/>
            <pc:sldMk cId="0" sldId="276"/>
            <ac:cxnSpMk id="932" creationId="{00000000-0000-0000-0000-000000000000}"/>
          </ac:cxnSpMkLst>
        </pc:cxnChg>
        <pc:cxnChg chg="mod">
          <ac:chgData name="Steve France" userId="b43bac2f-065f-4dab-8869-567f51c0338e" providerId="ADAL" clId="{32976B86-9A01-5E05-BDB2-234D6247B540}" dt="2026-10-15T14:07:24.894" v="29" actId="14100"/>
          <ac:cxnSpMkLst>
            <pc:docMk/>
            <pc:sldMk cId="0" sldId="276"/>
            <ac:cxnSpMk id="933" creationId="{00000000-0000-0000-0000-000000000000}"/>
          </ac:cxnSpMkLst>
        </pc:cxnChg>
      </pc:sldChg>
      <pc:sldChg chg="modSp mod">
        <pc:chgData name="Steve France" userId="b43bac2f-065f-4dab-8869-567f51c0338e" providerId="ADAL" clId="{32976B86-9A01-5E05-BDB2-234D6247B540}" dt="2026-10-15T14:10:19.764" v="54" actId="20577"/>
        <pc:sldMkLst>
          <pc:docMk/>
          <pc:sldMk cId="0" sldId="280"/>
        </pc:sldMkLst>
        <pc:spChg chg="mod">
          <ac:chgData name="Steve France" userId="b43bac2f-065f-4dab-8869-567f51c0338e" providerId="ADAL" clId="{32976B86-9A01-5E05-BDB2-234D6247B540}" dt="2026-10-15T14:10:19.764" v="54" actId="20577"/>
          <ac:spMkLst>
            <pc:docMk/>
            <pc:sldMk cId="0" sldId="280"/>
            <ac:spMk id="902" creationId="{00000000-0000-0000-0000-000000000000}"/>
          </ac:spMkLst>
        </pc:spChg>
      </pc:sldChg>
      <pc:sldChg chg="modSp mod">
        <pc:chgData name="Steve France" userId="b43bac2f-065f-4dab-8869-567f51c0338e" providerId="ADAL" clId="{32976B86-9A01-5E05-BDB2-234D6247B540}" dt="2026-10-15T14:10:46.093" v="60" actId="1076"/>
        <pc:sldMkLst>
          <pc:docMk/>
          <pc:sldMk cId="0" sldId="282"/>
        </pc:sldMkLst>
        <pc:spChg chg="mod">
          <ac:chgData name="Steve France" userId="b43bac2f-065f-4dab-8869-567f51c0338e" providerId="ADAL" clId="{32976B86-9A01-5E05-BDB2-234D6247B540}" dt="2026-10-15T14:10:36.700" v="57" actId="1076"/>
          <ac:spMkLst>
            <pc:docMk/>
            <pc:sldMk cId="0" sldId="282"/>
            <ac:spMk id="901" creationId="{00000000-0000-0000-0000-000000000000}"/>
          </ac:spMkLst>
        </pc:spChg>
        <pc:spChg chg="mod">
          <ac:chgData name="Steve France" userId="b43bac2f-065f-4dab-8869-567f51c0338e" providerId="ADAL" clId="{32976B86-9A01-5E05-BDB2-234D6247B540}" dt="2026-10-15T14:10:46.093" v="60" actId="1076"/>
          <ac:spMkLst>
            <pc:docMk/>
            <pc:sldMk cId="0" sldId="282"/>
            <ac:spMk id="902" creationId="{00000000-0000-0000-0000-000000000000}"/>
          </ac:spMkLst>
        </pc:spChg>
      </pc:sldChg>
      <pc:sldChg chg="modSp mod">
        <pc:chgData name="Steve France" userId="b43bac2f-065f-4dab-8869-567f51c0338e" providerId="ADAL" clId="{32976B86-9A01-5E05-BDB2-234D6247B540}" dt="2026-10-15T14:11:15.733" v="69" actId="20577"/>
        <pc:sldMkLst>
          <pc:docMk/>
          <pc:sldMk cId="0" sldId="284"/>
        </pc:sldMkLst>
        <pc:spChg chg="mod">
          <ac:chgData name="Steve France" userId="b43bac2f-065f-4dab-8869-567f51c0338e" providerId="ADAL" clId="{32976B86-9A01-5E05-BDB2-234D6247B540}" dt="2026-10-15T14:11:09.597" v="66" actId="20577"/>
          <ac:spMkLst>
            <pc:docMk/>
            <pc:sldMk cId="0" sldId="284"/>
            <ac:spMk id="2" creationId="{00000000-0000-0000-0000-000000000000}"/>
          </ac:spMkLst>
        </pc:spChg>
        <pc:spChg chg="mod">
          <ac:chgData name="Steve France" userId="b43bac2f-065f-4dab-8869-567f51c0338e" providerId="ADAL" clId="{32976B86-9A01-5E05-BDB2-234D6247B540}" dt="2026-10-15T14:11:12.513" v="68" actId="20577"/>
          <ac:spMkLst>
            <pc:docMk/>
            <pc:sldMk cId="0" sldId="284"/>
            <ac:spMk id="4" creationId="{00000000-0000-0000-0000-000000000000}"/>
          </ac:spMkLst>
        </pc:spChg>
        <pc:spChg chg="mod">
          <ac:chgData name="Steve France" userId="b43bac2f-065f-4dab-8869-567f51c0338e" providerId="ADAL" clId="{32976B86-9A01-5E05-BDB2-234D6247B540}" dt="2026-10-15T14:11:02.397" v="62" actId="20577"/>
          <ac:spMkLst>
            <pc:docMk/>
            <pc:sldMk cId="0" sldId="284"/>
            <ac:spMk id="901" creationId="{00000000-0000-0000-0000-000000000000}"/>
          </ac:spMkLst>
        </pc:spChg>
        <pc:spChg chg="mod">
          <ac:chgData name="Steve France" userId="b43bac2f-065f-4dab-8869-567f51c0338e" providerId="ADAL" clId="{32976B86-9A01-5E05-BDB2-234D6247B540}" dt="2026-10-15T14:11:06.268" v="64" actId="20577"/>
          <ac:spMkLst>
            <pc:docMk/>
            <pc:sldMk cId="0" sldId="284"/>
            <ac:spMk id="902" creationId="{00000000-0000-0000-0000-000000000000}"/>
          </ac:spMkLst>
        </pc:spChg>
        <pc:spChg chg="mod">
          <ac:chgData name="Steve France" userId="b43bac2f-065f-4dab-8869-567f51c0338e" providerId="ADAL" clId="{32976B86-9A01-5E05-BDB2-234D6247B540}" dt="2026-10-15T14:11:15.733" v="69" actId="20577"/>
          <ac:spMkLst>
            <pc:docMk/>
            <pc:sldMk cId="0" sldId="284"/>
            <ac:spMk id="903" creationId="{00000000-0000-0000-0000-000000000000}"/>
          </ac:spMkLst>
        </pc:spChg>
      </pc:sldChg>
      <pc:sldChg chg="modSp mod">
        <pc:chgData name="Steve France" userId="b43bac2f-065f-4dab-8869-567f51c0338e" providerId="ADAL" clId="{32976B86-9A01-5E05-BDB2-234D6247B540}" dt="2026-10-15T14:14:01.356" v="88" actId="14100"/>
        <pc:sldMkLst>
          <pc:docMk/>
          <pc:sldMk cId="0" sldId="285"/>
        </pc:sldMkLst>
        <pc:spChg chg="mod">
          <ac:chgData name="Steve France" userId="b43bac2f-065f-4dab-8869-567f51c0338e" providerId="ADAL" clId="{32976B86-9A01-5E05-BDB2-234D6247B540}" dt="2026-10-15T14:13:48.440" v="86" actId="20577"/>
          <ac:spMkLst>
            <pc:docMk/>
            <pc:sldMk cId="0" sldId="285"/>
            <ac:spMk id="901" creationId="{00000000-0000-0000-0000-000000000000}"/>
          </ac:spMkLst>
        </pc:spChg>
        <pc:spChg chg="mod">
          <ac:chgData name="Steve France" userId="b43bac2f-065f-4dab-8869-567f51c0338e" providerId="ADAL" clId="{32976B86-9A01-5E05-BDB2-234D6247B540}" dt="2026-10-15T14:13:31.669" v="80" actId="113"/>
          <ac:spMkLst>
            <pc:docMk/>
            <pc:sldMk cId="0" sldId="285"/>
            <ac:spMk id="902" creationId="{00000000-0000-0000-0000-000000000000}"/>
          </ac:spMkLst>
        </pc:spChg>
        <pc:spChg chg="mod">
          <ac:chgData name="Steve France" userId="b43bac2f-065f-4dab-8869-567f51c0338e" providerId="ADAL" clId="{32976B86-9A01-5E05-BDB2-234D6247B540}" dt="2026-10-15T14:13:40.972" v="82" actId="113"/>
          <ac:spMkLst>
            <pc:docMk/>
            <pc:sldMk cId="0" sldId="285"/>
            <ac:spMk id="903" creationId="{00000000-0000-0000-0000-000000000000}"/>
          </ac:spMkLst>
        </pc:spChg>
        <pc:spChg chg="mod">
          <ac:chgData name="Steve France" userId="b43bac2f-065f-4dab-8869-567f51c0338e" providerId="ADAL" clId="{32976B86-9A01-5E05-BDB2-234D6247B540}" dt="2026-10-15T14:14:01.356" v="88" actId="14100"/>
          <ac:spMkLst>
            <pc:docMk/>
            <pc:sldMk cId="0" sldId="285"/>
            <ac:spMk id="907" creationId="{00000000-0000-0000-0000-000000000000}"/>
          </ac:spMkLst>
        </pc:spChg>
      </pc:sldChg>
      <pc:sldChg chg="modSp mod">
        <pc:chgData name="Steve France" userId="b43bac2f-065f-4dab-8869-567f51c0338e" providerId="ADAL" clId="{32976B86-9A01-5E05-BDB2-234D6247B540}" dt="2026-10-15T14:16:48.673" v="96" actId="20577"/>
        <pc:sldMkLst>
          <pc:docMk/>
          <pc:sldMk cId="0" sldId="286"/>
        </pc:sldMkLst>
        <pc:spChg chg="mod">
          <ac:chgData name="Steve France" userId="b43bac2f-065f-4dab-8869-567f51c0338e" providerId="ADAL" clId="{32976B86-9A01-5E05-BDB2-234D6247B540}" dt="2026-10-15T14:16:48.673" v="96" actId="20577"/>
          <ac:spMkLst>
            <pc:docMk/>
            <pc:sldMk cId="0" sldId="286"/>
            <ac:spMk id="902" creationId="{00000000-0000-0000-0000-000000000000}"/>
          </ac:spMkLst>
        </pc:spChg>
      </pc:sldChg>
      <pc:sldChg chg="addSp delSp modSp mod">
        <pc:chgData name="Steve France" userId="b43bac2f-065f-4dab-8869-567f51c0338e" providerId="ADAL" clId="{32976B86-9A01-5E05-BDB2-234D6247B540}" dt="2026-10-15T14:19:20.912" v="114" actId="478"/>
        <pc:sldMkLst>
          <pc:docMk/>
          <pc:sldMk cId="0" sldId="288"/>
        </pc:sldMkLst>
        <pc:spChg chg="add mod">
          <ac:chgData name="Steve France" userId="b43bac2f-065f-4dab-8869-567f51c0338e" providerId="ADAL" clId="{32976B86-9A01-5E05-BDB2-234D6247B540}" dt="2026-10-15T14:18:55.711" v="108"/>
          <ac:spMkLst>
            <pc:docMk/>
            <pc:sldMk cId="0" sldId="288"/>
            <ac:spMk id="9" creationId="{09908E59-84CC-9647-89B0-785360C06A87}"/>
          </ac:spMkLst>
        </pc:spChg>
        <pc:spChg chg="add mod">
          <ac:chgData name="Steve France" userId="b43bac2f-065f-4dab-8869-567f51c0338e" providerId="ADAL" clId="{32976B86-9A01-5E05-BDB2-234D6247B540}" dt="2026-10-15T14:19:17.510" v="113" actId="20577"/>
          <ac:spMkLst>
            <pc:docMk/>
            <pc:sldMk cId="0" sldId="288"/>
            <ac:spMk id="10" creationId="{59ACB01E-0DA3-4436-B112-9FD586B45DE7}"/>
          </ac:spMkLst>
        </pc:spChg>
        <pc:spChg chg="del mod">
          <ac:chgData name="Steve France" userId="b43bac2f-065f-4dab-8869-567f51c0338e" providerId="ADAL" clId="{32976B86-9A01-5E05-BDB2-234D6247B540}" dt="2026-10-15T14:19:20.912" v="114" actId="478"/>
          <ac:spMkLst>
            <pc:docMk/>
            <pc:sldMk cId="0" sldId="288"/>
            <ac:spMk id="913" creationId="{00000000-0000-0000-0000-000000000000}"/>
          </ac:spMkLst>
        </pc:spChg>
      </pc:sldChg>
      <pc:sldChg chg="addSp delSp modSp mod">
        <pc:chgData name="Steve France" userId="b43bac2f-065f-4dab-8869-567f51c0338e" providerId="ADAL" clId="{32976B86-9A01-5E05-BDB2-234D6247B540}" dt="2026-10-15T14:19:42.586" v="120" actId="14100"/>
        <pc:sldMkLst>
          <pc:docMk/>
          <pc:sldMk cId="0" sldId="289"/>
        </pc:sldMkLst>
        <pc:spChg chg="del mod">
          <ac:chgData name="Steve France" userId="b43bac2f-065f-4dab-8869-567f51c0338e" providerId="ADAL" clId="{32976B86-9A01-5E05-BDB2-234D6247B540}" dt="2026-10-15T14:19:38.855" v="119" actId="478"/>
          <ac:spMkLst>
            <pc:docMk/>
            <pc:sldMk cId="0" sldId="289"/>
            <ac:spMk id="2" creationId="{A01D4652-4B3B-10DE-B286-362A6003B509}"/>
          </ac:spMkLst>
        </pc:spChg>
        <pc:spChg chg="mod">
          <ac:chgData name="Steve France" userId="b43bac2f-065f-4dab-8869-567f51c0338e" providerId="ADAL" clId="{32976B86-9A01-5E05-BDB2-234D6247B540}" dt="2026-10-15T14:12:35.262" v="73" actId="122"/>
          <ac:spMkLst>
            <pc:docMk/>
            <pc:sldMk cId="0" sldId="289"/>
            <ac:spMk id="4" creationId="{00000000-0000-0000-0000-000000000000}"/>
          </ac:spMkLst>
        </pc:spChg>
        <pc:spChg chg="add mod">
          <ac:chgData name="Steve France" userId="b43bac2f-065f-4dab-8869-567f51c0338e" providerId="ADAL" clId="{32976B86-9A01-5E05-BDB2-234D6247B540}" dt="2026-10-15T14:19:42.586" v="120" actId="14100"/>
          <ac:spMkLst>
            <pc:docMk/>
            <pc:sldMk cId="0" sldId="289"/>
            <ac:spMk id="5" creationId="{91831ADA-8EDC-A3A7-6BAD-CC927399FDFC}"/>
          </ac:spMkLst>
        </pc:spChg>
      </pc:sldChg>
      <pc:sldChg chg="modSp mod modAnim">
        <pc:chgData name="Steve France" userId="b43bac2f-065f-4dab-8869-567f51c0338e" providerId="ADAL" clId="{32976B86-9A01-5E05-BDB2-234D6247B540}" dt="2026-10-15T14:06:47.552" v="21"/>
        <pc:sldMkLst>
          <pc:docMk/>
          <pc:sldMk cId="0" sldId="295"/>
        </pc:sldMkLst>
        <pc:spChg chg="mod">
          <ac:chgData name="Steve France" userId="b43bac2f-065f-4dab-8869-567f51c0338e" providerId="ADAL" clId="{32976B86-9A01-5E05-BDB2-234D6247B540}" dt="2026-10-15T14:05:45.973" v="12" actId="1076"/>
          <ac:spMkLst>
            <pc:docMk/>
            <pc:sldMk cId="0" sldId="295"/>
            <ac:spMk id="907" creationId="{00000000-0000-0000-0000-000000000000}"/>
          </ac:spMkLst>
        </pc:spChg>
        <pc:spChg chg="mod">
          <ac:chgData name="Steve France" userId="b43bac2f-065f-4dab-8869-567f51c0338e" providerId="ADAL" clId="{32976B86-9A01-5E05-BDB2-234D6247B540}" dt="2026-10-15T14:06:42.132" v="19" actId="1076"/>
          <ac:spMkLst>
            <pc:docMk/>
            <pc:sldMk cId="0" sldId="295"/>
            <ac:spMk id="908" creationId="{00000000-0000-0000-0000-000000000000}"/>
          </ac:spMkLst>
        </pc:spChg>
        <pc:spChg chg="mod">
          <ac:chgData name="Steve France" userId="b43bac2f-065f-4dab-8869-567f51c0338e" providerId="ADAL" clId="{32976B86-9A01-5E05-BDB2-234D6247B540}" dt="2026-10-15T14:06:24.798" v="14" actId="1076"/>
          <ac:spMkLst>
            <pc:docMk/>
            <pc:sldMk cId="0" sldId="295"/>
            <ac:spMk id="909" creationId="{00000000-0000-0000-0000-000000000000}"/>
          </ac:spMkLst>
        </pc:spChg>
        <pc:spChg chg="mod">
          <ac:chgData name="Steve France" userId="b43bac2f-065f-4dab-8869-567f51c0338e" providerId="ADAL" clId="{32976B86-9A01-5E05-BDB2-234D6247B540}" dt="2026-10-15T14:06:31.163" v="16" actId="1076"/>
          <ac:spMkLst>
            <pc:docMk/>
            <pc:sldMk cId="0" sldId="295"/>
            <ac:spMk id="910" creationId="{00000000-0000-0000-0000-000000000000}"/>
          </ac:spMkLst>
        </pc:spChg>
      </pc:sldChg>
      <pc:sldChg chg="addSp delSp modSp mod">
        <pc:chgData name="Steve France" userId="b43bac2f-065f-4dab-8869-567f51c0338e" providerId="ADAL" clId="{32976B86-9A01-5E05-BDB2-234D6247B540}" dt="2026-10-15T14:18:21.183" v="102" actId="478"/>
        <pc:sldMkLst>
          <pc:docMk/>
          <pc:sldMk cId="0" sldId="297"/>
        </pc:sldMkLst>
        <pc:spChg chg="add mod">
          <ac:chgData name="Steve France" userId="b43bac2f-065f-4dab-8869-567f51c0338e" providerId="ADAL" clId="{32976B86-9A01-5E05-BDB2-234D6247B540}" dt="2026-10-15T14:18:16.984" v="101" actId="20577"/>
          <ac:spMkLst>
            <pc:docMk/>
            <pc:sldMk cId="0" sldId="297"/>
            <ac:spMk id="2" creationId="{FD8455BC-70BE-F9BE-1EFA-EF74DBF9EA1F}"/>
          </ac:spMkLst>
        </pc:spChg>
        <pc:spChg chg="del mod">
          <ac:chgData name="Steve France" userId="b43bac2f-065f-4dab-8869-567f51c0338e" providerId="ADAL" clId="{32976B86-9A01-5E05-BDB2-234D6247B540}" dt="2026-10-15T14:18:21.183" v="102" actId="478"/>
          <ac:spMkLst>
            <pc:docMk/>
            <pc:sldMk cId="0" sldId="297"/>
            <ac:spMk id="913" creationId="{00000000-0000-0000-0000-000000000000}"/>
          </ac:spMkLst>
        </pc:spChg>
      </pc:sldChg>
      <pc:sldChg chg="addSp delSp modSp mod">
        <pc:chgData name="Steve France" userId="b43bac2f-065f-4dab-8869-567f51c0338e" providerId="ADAL" clId="{32976B86-9A01-5E05-BDB2-234D6247B540}" dt="2026-10-15T14:19:50.626" v="121" actId="14100"/>
        <pc:sldMkLst>
          <pc:docMk/>
          <pc:sldMk cId="0" sldId="298"/>
        </pc:sldMkLst>
        <pc:spChg chg="add mod">
          <ac:chgData name="Steve France" userId="b43bac2f-065f-4dab-8869-567f51c0338e" providerId="ADAL" clId="{32976B86-9A01-5E05-BDB2-234D6247B540}" dt="2026-10-15T14:19:50.626" v="121" actId="14100"/>
          <ac:spMkLst>
            <pc:docMk/>
            <pc:sldMk cId="0" sldId="298"/>
            <ac:spMk id="2" creationId="{70A60551-974B-6C1D-5520-F61391E9415F}"/>
          </ac:spMkLst>
        </pc:spChg>
        <pc:spChg chg="mod">
          <ac:chgData name="Steve France" userId="b43bac2f-065f-4dab-8869-567f51c0338e" providerId="ADAL" clId="{32976B86-9A01-5E05-BDB2-234D6247B540}" dt="2026-10-15T14:12:56.492" v="77" actId="20577"/>
          <ac:spMkLst>
            <pc:docMk/>
            <pc:sldMk cId="0" sldId="298"/>
            <ac:spMk id="903" creationId="{00000000-0000-0000-0000-000000000000}"/>
          </ac:spMkLst>
        </pc:spChg>
        <pc:spChg chg="mod">
          <ac:chgData name="Steve France" userId="b43bac2f-065f-4dab-8869-567f51c0338e" providerId="ADAL" clId="{32976B86-9A01-5E05-BDB2-234D6247B540}" dt="2026-10-15T14:12:51.661" v="76" actId="20577"/>
          <ac:spMkLst>
            <pc:docMk/>
            <pc:sldMk cId="0" sldId="298"/>
            <ac:spMk id="907" creationId="{00000000-0000-0000-0000-000000000000}"/>
          </ac:spMkLst>
        </pc:spChg>
        <pc:spChg chg="del mod">
          <ac:chgData name="Steve France" userId="b43bac2f-065f-4dab-8869-567f51c0338e" providerId="ADAL" clId="{32976B86-9A01-5E05-BDB2-234D6247B540}" dt="2026-10-15T14:18:50.508" v="107" actId="478"/>
          <ac:spMkLst>
            <pc:docMk/>
            <pc:sldMk cId="0" sldId="298"/>
            <ac:spMk id="913" creationId="{00000000-0000-0000-0000-000000000000}"/>
          </ac:spMkLst>
        </pc:spChg>
      </pc:sldChg>
      <pc:sldChg chg="modSp mod">
        <pc:chgData name="Steve France" userId="b43bac2f-065f-4dab-8869-567f51c0338e" providerId="ADAL" clId="{32976B86-9A01-5E05-BDB2-234D6247B540}" dt="2026-10-15T14:04:55.413" v="5" actId="1076"/>
        <pc:sldMkLst>
          <pc:docMk/>
          <pc:sldMk cId="0" sldId="300"/>
        </pc:sldMkLst>
        <pc:spChg chg="mod">
          <ac:chgData name="Steve France" userId="b43bac2f-065f-4dab-8869-567f51c0338e" providerId="ADAL" clId="{32976B86-9A01-5E05-BDB2-234D6247B540}" dt="2026-10-15T14:04:55.413" v="5" actId="1076"/>
          <ac:spMkLst>
            <pc:docMk/>
            <pc:sldMk cId="0" sldId="300"/>
            <ac:spMk id="901" creationId="{00000000-0000-0000-0000-000000000000}"/>
          </ac:spMkLst>
        </pc:spChg>
      </pc:sldChg>
      <pc:sldChg chg="modSp mod">
        <pc:chgData name="Steve France" userId="b43bac2f-065f-4dab-8869-567f51c0338e" providerId="ADAL" clId="{32976B86-9A01-5E05-BDB2-234D6247B540}" dt="2026-10-15T14:20:40.611" v="129" actId="20577"/>
        <pc:sldMkLst>
          <pc:docMk/>
          <pc:sldMk cId="0" sldId="301"/>
        </pc:sldMkLst>
        <pc:spChg chg="mod">
          <ac:chgData name="Steve France" userId="b43bac2f-065f-4dab-8869-567f51c0338e" providerId="ADAL" clId="{32976B86-9A01-5E05-BDB2-234D6247B540}" dt="2026-10-15T14:20:33.847" v="126" actId="20577"/>
          <ac:spMkLst>
            <pc:docMk/>
            <pc:sldMk cId="0" sldId="301"/>
            <ac:spMk id="2" creationId="{00000000-0000-0000-0000-000000000000}"/>
          </ac:spMkLst>
        </pc:spChg>
        <pc:spChg chg="mod">
          <ac:chgData name="Steve France" userId="b43bac2f-065f-4dab-8869-567f51c0338e" providerId="ADAL" clId="{32976B86-9A01-5E05-BDB2-234D6247B540}" dt="2026-10-15T14:20:29.689" v="125" actId="20577"/>
          <ac:spMkLst>
            <pc:docMk/>
            <pc:sldMk cId="0" sldId="301"/>
            <ac:spMk id="4" creationId="{00000000-0000-0000-0000-000000000000}"/>
          </ac:spMkLst>
        </pc:spChg>
        <pc:spChg chg="mod">
          <ac:chgData name="Steve France" userId="b43bac2f-065f-4dab-8869-567f51c0338e" providerId="ADAL" clId="{32976B86-9A01-5E05-BDB2-234D6247B540}" dt="2026-10-15T14:20:18.036" v="122" actId="20577"/>
          <ac:spMkLst>
            <pc:docMk/>
            <pc:sldMk cId="0" sldId="301"/>
            <ac:spMk id="909" creationId="{00000000-0000-0000-0000-000000000000}"/>
          </ac:spMkLst>
        </pc:spChg>
        <pc:spChg chg="mod">
          <ac:chgData name="Steve France" userId="b43bac2f-065f-4dab-8869-567f51c0338e" providerId="ADAL" clId="{32976B86-9A01-5E05-BDB2-234D6247B540}" dt="2026-10-15T14:20:40.611" v="129" actId="20577"/>
          <ac:spMkLst>
            <pc:docMk/>
            <pc:sldMk cId="0" sldId="301"/>
            <ac:spMk id="910" creationId="{00000000-0000-0000-0000-000000000000}"/>
          </ac:spMkLst>
        </pc:spChg>
        <pc:spChg chg="mod">
          <ac:chgData name="Steve France" userId="b43bac2f-065f-4dab-8869-567f51c0338e" providerId="ADAL" clId="{32976B86-9A01-5E05-BDB2-234D6247B540}" dt="2026-10-15T14:20:36.514" v="127" actId="20577"/>
          <ac:spMkLst>
            <pc:docMk/>
            <pc:sldMk cId="0" sldId="301"/>
            <ac:spMk id="911" creationId="{00000000-0000-0000-0000-000000000000}"/>
          </ac:spMkLst>
        </pc:spChg>
        <pc:spChg chg="mod">
          <ac:chgData name="Steve France" userId="b43bac2f-065f-4dab-8869-567f51c0338e" providerId="ADAL" clId="{32976B86-9A01-5E05-BDB2-234D6247B540}" dt="2026-10-15T14:20:37.654" v="128" actId="20577"/>
          <ac:spMkLst>
            <pc:docMk/>
            <pc:sldMk cId="0" sldId="301"/>
            <ac:spMk id="912" creationId="{00000000-0000-0000-0000-000000000000}"/>
          </ac:spMkLst>
        </pc:spChg>
        <pc:spChg chg="mod">
          <ac:chgData name="Steve France" userId="b43bac2f-065f-4dab-8869-567f51c0338e" providerId="ADAL" clId="{32976B86-9A01-5E05-BDB2-234D6247B540}" dt="2026-10-15T14:11:55.500" v="70" actId="20577"/>
          <ac:spMkLst>
            <pc:docMk/>
            <pc:sldMk cId="0" sldId="301"/>
            <ac:spMk id="91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E8B4C4-0720-F64E-9EEE-9472CF165DC6}" type="datetimeFigureOut">
              <a:t>10/22/26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209F92-05EE-6F4A-AD9C-ED35F0F76927}" type="slidenum">
              <a:t>‹#›</a:t>
            </a:fld>
            <a:endParaRPr lang="en-US"/>
          </a:p>
        </p:txBody>
      </p:sp>
    </p:spTree>
    <p:extLst>
      <p:ext uri="{BB962C8B-B14F-4D97-AF65-F5344CB8AC3E}">
        <p14:creationId xmlns:p14="http://schemas.microsoft.com/office/powerpoint/2010/main" val="524556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 minute. COVER ONLY; the module outline is the next slide, and the clock belongs to deployment.</a:t>
            </a:r>
          </a:p>
          <a:p>
            <a:r>
              <a:t>ORIENTATION, one sentence each: the Act III kickoff (its own short deck) introduced the engineering method and the running example, Campus Room Reservations: an HTTP API over reservation logic with in-memory state, three capabilities, and deliberately no persistent database, no authentication, no cloud deployment. It closed on the question this lecture answers: where does the application run?</a:t>
            </a:r>
          </a:p>
          <a:p>
            <a:r>
              <a:t>THE ENGINEERING QUESTION (the italic line): where does software execute, and how do we ensure it runs acceptably there? CI/CD and release management enter later as mechanisms for moving an implementation into an acceptable execution environment, not as the organizing idea.</a:t>
            </a:r>
          </a:p>
          <a:p>
            <a:r>
              <a:t>TRANSITION: turn the page to the outline, then start where the kickoff left off.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THE CENTRAL MODEL OF THE SECTION — requirements vs. capabilities, now drawn FOR THE RESERVATION SERVICE students met in the kickoff, with the correspondence explicit.</a:t>
            </a:r>
          </a:p>
          <a:p>
            <a:r>
              <a:t>WALK THE PAIRS: the service requires a Python runtime (the OS and runtime supply it); memory for reservation state (CPU and memory supply it); an HTTP listener on a port and network connectivity (the network interface supplies both — two requirements, one capability, which is why the arrows converge).</a:t>
            </a:r>
          </a:p>
          <a:p>
            <a:r>
              <a:t>THE STORAGE ROW is deliberately unconnected: the environment PROVIDES storage, and this application does not yet require it — reservations live in memory by declared assumption. That dangling capability is the Data Management lecture knocking.</a:t>
            </a:r>
          </a:p>
          <a:p>
            <a:r>
              <a:t>ASK: the service "requires a Python runtime" — which version? EXPECTED: nobody knows; whatever the laptop has. Unstated requirements are still requirements, discovered at the worst time.</a:t>
            </a:r>
          </a:p>
          <a:p>
            <a:r>
              <a:t>ENGINEERING POINT: deployment failures are usually a requirement the environment silently does not satisfy — a missing runtime version, too little memory, no route. The model makes the match checkable BEFORE the attempt (the Alignment arrow into Realize from the kickoff flowchart). This is the running obligation refined once: accessible-to-users starts as four satisfiable requirements.</a:t>
            </a:r>
          </a:p>
          <a:p>
            <a:r>
              <a:t>NON-CLAIM: do not claim the requirement list is complete — clock accuracy, locale, GPUs. The model names the classes that matter for THIS service.</a:t>
            </a:r>
          </a:p>
          <a:p>
            <a:r>
              <a:t>TRANSITION: environments differ in what they supply — and in what they impose.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CLOUD IS ONE ROW, NOT THE HEADLINE. Each row now carries ONE consequential deployment requirement instead of a constraint list — reason about one thing per environment.</a:t>
            </a:r>
          </a:p>
          <a:p>
            <a:r>
              <a:t>THE FULL CONSTRAINT PICTURE, for your narration (moved off the slide deliberately): embedded also means fixed hardware, hard resource limits, real-time deadlines; mobile also means battery budgets, intermittent connectivity, an OS-managed lifecycle; desktop also means local configuration and OS compatibility; server also means remote administration; cloud also means elastic resources and managed services.</a:t>
            </a:r>
          </a:p>
          <a:p>
            <a:r>
              <a:t>WALK TWO ROWS and let students read the rest: embedded (keep operating with no network — a pacemaker does not retry against a gateway) and mobile (preserve state when the OS terminates the process — termination is normal lifecycle, not failure).</a:t>
            </a:r>
          </a:p>
          <a:p>
            <a:r>
              <a:t>ASK: is the cloud the default execution environment? EXPECTED: many assume yes. Push back with the rows: a pacemaker, a point-of-sale terminal, a flight computer, a campus lab machine. The requirements decide.</a:t>
            </a:r>
          </a:p>
          <a:p>
            <a:r>
              <a:t>NON-CLAIM (the italic line): the categories are not mutually exclusive. A mobile app leans on cloud services; embedded systems talk to remote servers. The table classifies CONSTRAINTS, not products.</a:t>
            </a:r>
          </a:p>
          <a:p>
            <a:r>
              <a:t>TRANSITION: within a host, there is a second question — what MECHANISM runs the code: a bare process, a container, a virtual machine?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THE TECHNICAL CORE OF THE SECTION — get the kernel distinction right. The container column now shows isolated processes DIRECTLY on the shared host kernel: there is no runtime layer between the application's instructions and the kernel. The container runtime (containerd, runc) sets namespaces and limits up FRONT; it does not interpose on execution.</a:t>
            </a:r>
          </a:p>
          <a:p>
            <a:r>
              <a:t>WALK THE LAYERS left to right: a process executes under an operating system; a container is a set of isolated processes sharing the host kernel — the kernel's own mechanisms (namespaces, cgroups) provide the isolation; a VM virtualizes a machine, so the application sees a guest OS above virtual hardware supplied by a hypervisor.</a:t>
            </a:r>
          </a:p>
          <a:p>
            <a:r>
              <a:t>ASK: is a container a small VM? EXPECTED: many say yes. The corrective is the middle column: count the kernels — exactly one. Weaker isolation than a VM, faster startup, smaller images: all consequences of that one fact.</a:t>
            </a:r>
          </a:p>
          <a:p>
            <a:r>
              <a:t>VM CAVEAT, for narration: the hypervisor's own placement varies — bare-metal (type 1) hypervisors own the hardware; hosted (type 2) hypervisors sit on a host OS. The column deliberately does not draw one universal VM stack.</a:t>
            </a:r>
          </a:p>
          <a:p>
            <a:r>
              <a:t>THE BOLD LINE (the two-axis distinction): deployment target is not execution mechanism. Embedded, mobile, desktop, server, cloud are TARGETS; process, container, VM are MECHANISMS; a server target can run any of the three.</a:t>
            </a:r>
          </a:p>
          <a:p>
            <a:r>
              <a:t>NON-CLAIM: do not imply containers guarantee reproducibility — examined two movements from now. Not a Docker tutorial; no tooling today.</a:t>
            </a:r>
          </a:p>
          <a:p>
            <a:r>
              <a:t>TRANSITION: a quick exercise before topology — apply the requirements model to a harder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A UML DEPLOYMENT DIAGRAM IN MINIATURE, now in TWO STATES so the diagram agrees with the lecture's facts: today the service keeps reservations in memory; the database exists only in the proposal.</a:t>
            </a:r>
          </a:p>
          <a:p>
            <a:r>
              <a:t>WALK THE STATES: CURRENT (solid) — a browser reaches the reservation service over HTTPS; the service holds its state in memory on one node. PROPOSED (dashed) — a browser reaches an application server which talks to a database. The dashes carry the semantics: this panel is a proposal someone must still realize, not a description.</a:t>
            </a:r>
          </a:p>
          <a:p>
            <a:r>
              <a:t>THE NOTATION (the legend row): a NODE is an execution host — a physical or virtual place where software runs; a COMPONENT is the software deployed onto it. Communication paths (HTTPS) cross environmental boundaries — the user's device is not ours.</a:t>
            </a:r>
          </a:p>
          <a:p>
            <a:r>
              <a:t>ASK: which boxes are hardware and which are software? EXPECTED confusion between the application server (a node) and the reservation service (a component) — exactly why the diagram distinguishes them.</a:t>
            </a:r>
          </a:p>
          <a:p>
            <a:r>
              <a:t>CANONICAL-EXAMPLE DISCIPLINE: Data Management (next lecture) earns the database; we do not silently add it today. The topology model lets us COMPARE the states before building the second one.</a:t>
            </a:r>
          </a:p>
          <a:p>
            <a:r>
              <a:t>TRANSITION: the proposed middle node implies a choice someone must make — where does it actually live?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A JUDGMENT SLIDE — the comparison is now about WHO CARRIES WHICH RESPONSIBILITY, not rankings. The earlier grid overclaimed: a provider SLA is not an availability guarantee for YOUR application (the platform can meet its SLA while your service is down from its own defects); self-hosted control is not 'full' (hardware, networking, and organizational policy still constrain); and 'hardware once' vs 'pay per use' ignored maintenance and support costs.</a:t>
            </a:r>
          </a:p>
          <a:p>
            <a:r>
              <a:t>WALK A ROW OR TWO: updates — distributed to every client vs centrally managed either way; infrastructure operation — the user's machine, your engineering team, or shared with a provider. Each cell is a responsibility assignment, and responsibilities cost.</a:t>
            </a:r>
          </a:p>
          <a:p>
            <a:r>
              <a:t>THE REQUIREMENTS LINE (italic, deliberately BEFORE the question): hundreds of concurrent student users, a small team, centrally managed updates, a limited budget. Students should choose AGAINST stated requirements, not against taste.</a:t>
            </a:r>
          </a:p>
          <a:p>
            <a:r>
              <a:t>ASK (the footer): which would you choose? Take two or three answers WITH reasons. Then move a requirement aloud: 'the building loses internet during exam week' (desktop wins offline use), 'one department, forty users, an existing server closet' (self-hosted is fine), 'every campus in the state' (managed service).</a:t>
            </a:r>
          </a:p>
          <a:p>
            <a:r>
              <a:t>ENGINEERING POINT: cloud hosting is not automatically preferable; the responsibility row that binds depends on the requirements.</a:t>
            </a:r>
          </a:p>
          <a:p>
            <a:r>
              <a:t>TRANSITION: whatever we choose, the choice rests on assumptions. Write them down — that is the deployment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THE MODEL SLIDE OF THE LECTURE, now drawn as TWO LABELED DIAGRAMS of different kinds: the deployed system is a STRUCTURAL model (nodes, components, attributes); the deployment process is a PROCESS model (ordered activities). The arrow between them is the thesis: the process changes the deployed state. Keeping them separate prevents the classic conflation of a deployment diagram with a CI/CD workflow.</a:t>
            </a:r>
          </a:p>
          <a:p>
            <a:r>
              <a:t>WALK THE LEFT PANEL as the reservation service's initial assumptions, read off the kickoff: a browser reaching a service component on one laptop node; state in memory; hard-coded defaults; a small footprint.</a:t>
            </a:r>
          </a:p>
          <a:p>
            <a:r>
              <a:t>WALK THE RIGHT PANEL once: build, validate, release, observe, recover — the activities that move the system from one deployed state to the next. CI/CD (next movement) automates the top of this chain; release management governs the middle.</a:t>
            </a:r>
          </a:p>
          <a:p>
            <a:r>
              <a:t>EXERCISE (1 of the 3 minutes): propose a production environment — a managed server with 300 student users — and ask WHICH left-panel facts change and which survive. Expected: the node and topology change; the resource assumption mostly survives; the configuration assumption collapses first, which sets up the configuration slide.</a:t>
            </a:r>
          </a:p>
          <a:p>
            <a:r>
              <a:t>CONNECT TO ACT II: Modeling represents the intended deployed system (left). Alignment governs transitions into that state (right, with its gates).</a:t>
            </a:r>
          </a:p>
          <a:p>
            <a:r>
              <a:t>TRANSITION: the process panel starts with BUILD, and build has its own environment question.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THE DISTINCTION CI/CD WILL DEPEND ON.</a:t>
            </a:r>
          </a:p>
          <a:p>
            <a:r>
              <a:t>WALK THE CHAIN: source enters a BUILD environment and leaves as a deployable artifact; the artifact later meets a RUNTIME environment. Two different environments, and the artifact silently carries assumptions from the first into the second.</a:t>
            </a:r>
          </a:p>
          <a:p>
            <a:r>
              <a:t>ASK: what exactly does "it builds on my machine" establish? EXPECTED: that the build environment satisfies the build-time requirements. It says nothing about the runtime environment.</a:t>
            </a:r>
          </a:p>
          <a:p>
            <a:r>
              <a:t>THE FAILURE LIST (left card): missing dependencies, a different runtime version, different configuration, absent resources. Each is a requirement the destination fails to supply; this is the slide-7 acceptability condition applied twice, once per environment.</a:t>
            </a:r>
          </a:p>
          <a:p>
            <a:r>
              <a:t>NON-CLAIM: do not say pinning the build environment fixes runtime mismatches. The two environments fail independently; reproducibility (two slides ahead) addresses variation, not equivalence.</a:t>
            </a:r>
          </a:p>
          <a:p>
            <a:r>
              <a:t>TRANSITION: one class of destination assumption is so common it gets its own slide: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CONFIGURATION COMPLETES THE DEPLOYED-SYSTEM MODEL — and the figure now shows the model itself: ONE artifact, TWO deployment instances, differing only in supplied configuration.</a:t>
            </a:r>
          </a:p>
          <a:p>
            <a:r>
              <a:t>THE CONCRETE EXAMPLE (the two cards): when the reservation service gains a database, it needs a connection string. The development instance points at localhost; the production instance points at db.campus.edu. Same artifact, different deployed systems. Hard-code the string and the artifact can only ever deploy to one of them (the italic line).</a:t>
            </a:r>
          </a:p>
          <a:p>
            <a:r>
              <a:t>WALK THE CATEGORY: connection strings, secrets and API keys, feature settings, external endpoints. All are part of the deployed system's state; none are part of the artifact.</a:t>
            </a:r>
          </a:p>
          <a:p>
            <a:r>
              <a:t>ASK: same artifact plus different configuration — is that the same system? EXPECTED disagreement, which is the point. Behavior differs; the deployment model accounts for the difference.</a:t>
            </a:r>
          </a:p>
          <a:p>
            <a:r>
              <a:t>SECRETS QUALIFICATION, for narration: secrets should NOT be assumed to be ordinary environment variables; secret-management mechanisms (files, secret stores, platform services) differ and deserve their own handling. The engineering point is only that the model must include configuration, whatever its mechanism.</a:t>
            </a:r>
          </a:p>
          <a:p>
            <a:r>
              <a:t>TRANSITION: if environments and configuration vary this much, what keeps two deployments alike at all? Reproducibility, engineered deliberately.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REORGANIZED so the three cards are three different ROLES, not three interchangeable mechanisms — the earlier triple implied each independently guarantees reproducibility, which none does.</a:t>
            </a:r>
          </a:p>
          <a:p>
            <a:r>
              <a:t>WALK THE ROLES: DECLARED INPUTS make the build's inputs explicit (dependency sets, toolchains, configuration, pinned); CONTROLLED EXECUTION keeps yesterday's state from leaking into today's verdict (clean, ephemeral build environments); EVIDENCE is what actually establishes the property (compare outputs across runs, verify artifact provenance). Declaring and controlling make reproducibility PLAUSIBLE; only evidence makes it ESTABLISHED.</a:t>
            </a:r>
          </a:p>
          <a:p>
            <a:r>
              <a:t>INFRASTRUCTURE AS CODE (the italic line, placed carefully): IaC declares INFRASTRUCTURE state — the environment itself, versioned, diffed, reviewed. That is declared inputs for the environment, and valuable; it is not a reproducible-BUILD mechanism, and conflating the two is a common student error.</a:t>
            </a:r>
          </a:p>
          <a:p>
            <a:r>
              <a:t>THE DISTINCTION CARD: a byte-for-byte reproducible BUILD is a stronger property than a functionally equivalent DEPLOYMENT. Two deployments of one artifact can be equivalent without any bit-identical rebuild existing.</a:t>
            </a:r>
          </a:p>
          <a:p>
            <a:r>
              <a:t>WHY IT MATTERS: if a test fails on one machine and passes on another, you cannot tell whether the code broke or the environment drifted. Reproducibility is what makes a verdict attributable to the change.</a:t>
            </a:r>
          </a:p>
          <a:p>
            <a:r>
              <a:t>NON-CLAIM: containers do not guarantee reproducibility either — an image pins much of the filesystem, not external services or build-time nondeterminism. Residual variation: external services, mutable dependencies, nondeterministic builds.</a:t>
            </a:r>
          </a:p>
          <a:p>
            <a:r>
              <a:t>TRANSITION: reproducible builds and declared environments make automation trustworthy. That automation is CI/CD.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THREE TERMS STUDENTS CONFLATE; separate them once, cleanly. The old slogan 'delivery is a state; deployment is an action' was memorable but imprecise — continuous delivery is a development PRACTICE, not literally a state — so the distinction line now says what each practice does: delivery keeps changes releasable; deployment releases qualifying changes automatically.</a:t>
            </a:r>
          </a:p>
          <a:p>
            <a:r>
              <a:t>WALK THE CARDS: continuous integration means integrating changes frequently and evaluating each one automatically; continuous delivery means keeping the software releasable at every moment; continuous deployment means qualifying changes deploy automatically.</a:t>
            </a:r>
          </a:p>
          <a:p>
            <a:r>
              <a:t>THE CONSEQUENCE (the italic line): a team practicing continuous delivery still chooses when each deployment happens — automation of readiness is not automation of the decision.</a:t>
            </a:r>
          </a:p>
          <a:p>
            <a:r>
              <a:t>ASK: which of the three does a medical-device team want? EXPECTED: CI certainly, delivery probably, automated deployment probably not. The release-management movement builds on exactly this.</a:t>
            </a:r>
          </a:p>
          <a:p>
            <a:r>
              <a:t>TRANSITION: all three rest on one artifact, the pipeline. What kind of thing is a pipeline?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THE MODELING CONNECTION, made explicit. The excerpt is now a COMPLETE, VALID GitHub Actions workflow (it runs as written; 'make test' assumes the repository's Makefile, which is the one liberty taken) — students should never be shown syntax that looks real and is not.</a:t>
            </a:r>
          </a:p>
          <a:p>
            <a:r>
              <a:t>WALK THE CHAIN first: commit, build, test, package, deploy. Each stage consumes the previous stage's output and emits evidence.</a:t>
            </a:r>
          </a:p>
          <a:p>
            <a:r>
              <a:t>THEN the workflow: the pipeline is DECLARED in a file that lives in the repository. That makes it a process model in exactly the Act II sense: a representation that automation executes. It is versioned, reviewed, and diffed like any other model. runs-on names the execution environment explicitly — the pipeline's own environment question, on one line.</a:t>
            </a:r>
          </a:p>
          <a:p>
            <a:r>
              <a:t>ASK: what does putting the pipeline in the repository buy? EXPECTED: changes to the process are visible, reviewable, and attributable; the process cannot silently drift from what the file says, because the file IS the process.</a:t>
            </a:r>
          </a:p>
          <a:p>
            <a:r>
              <a:t>NON-CLAIM: do not present this as GitHub-specific. Every mainstream CI system has an equivalent declaration; the engineering idea is the declared, executable process, not the vendor syntax.</a:t>
            </a:r>
          </a:p>
          <a:p>
            <a:r>
              <a:t>TRANSITION: what the pipeline does with a proposed change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CONDENSED from the source deck's eight-slide pull-request walkthrough (the Travis-CI sequence, Vasilescu et al., ICSME 2014); the loop carries the same story in one figure — now with the checking/enforcement distinction drawn explicitly.</a:t>
            </a:r>
          </a:p>
          <a:p>
            <a:r>
              <a:t>WALK THE LOOP: a proposed change triggers automated checks; the checks PRODUCE EVIDENCE (pass or fail reports); the admission policy consumes that evidence; passing changes merge; failing ones are revised and the REVISED CHANGE re-enters the same loop — the no-branch returns to the proposed change, not to a dead end. In real projects a change loops several times before it merges, and that is the system working, not failing.</a:t>
            </a:r>
          </a:p>
          <a:p>
            <a:r>
              <a:t>THE DISTINCTION (the cream panel, and the slide's reason to exist): a CI job can fail loudly and still not stop anyone — reporting is not enforcement. What supplies admission authority is POLICY: a required status check or branch-protection rule. The checks are sensors; the required-check rule is the gate. This is the kickoff flowchart's Alignment box acting on a concrete pipeline.</a:t>
            </a:r>
          </a:p>
          <a:p>
            <a:r>
              <a:t>ASK: who decided which checks are required? EXPECTED: the team, earlier, as repository policy. The admission decision was made once, as policy, rather than per change under deadline pressure.</a:t>
            </a:r>
          </a:p>
          <a:p>
            <a:r>
              <a:t>CITATION to keep in the deck's record: the pull-request cycle evidence is from Vasilescu, van Schuylenburg, Wulms, Serebrenik, and van den Brand, ICSME 2014.</a:t>
            </a:r>
          </a:p>
          <a:p>
            <a:r>
              <a:t>TRANSITION: what does a wall of green checks actually tell you?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RETAINED from the source deck's strongest slide, with the claims tightened: one red check stops admission ONLY IF the repository's admission policy requires that check, so the panel marks integration as required and the headline reads 'a required failing check blocks admission'. And CI/CD is not confidence-instead-of-speed: automating evidence collection improves both confidence and delivery speed; the central point is that checks provide evidence and required gates enforce admission criteria.</a:t>
            </a:r>
          </a:p>
          <a:p>
            <a:r>
              <a:t>WALK THE PANEL: a pull request with five checks, four green and one red. The red integration check is required by branch protection, so the merge is blocked; nobody has to argue about it in the moment. (If it were NOT required, the same red check would be advisory only — previous slide's distinction, made concrete.)</a:t>
            </a:r>
          </a:p>
          <a:p>
            <a:r>
              <a:t>ENGINEERING POINT: confidence is built through automation of evidence. Every stage generates an artifact someone could inspect: a build log, a test report, a lint result. The admission decision consumes that evidence mechanically.</a:t>
            </a:r>
          </a:p>
          <a:p>
            <a:r>
              <a:t>ASK: the four green checks passed. What do they establish? EXPECTED: exactly the properties those checks test, in the pipeline's environment, and nothing more. This primes the next slide and the release-management section: green is evidence, not a verdict about production.</a:t>
            </a:r>
          </a:p>
          <a:p>
            <a:r>
              <a:t>TRANSITION: the pipeline itself is software. Software fails.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A SHORT TREATMENT by design, each failure now stated as a concrete incident rather than an abstraction; the deeper study of flaky tests belongs to the reliability unit.</a:t>
            </a:r>
          </a:p>
          <a:p>
            <a:r>
              <a:t>WALK THE CARDS briefly: a flaky test gives an identical commit two different verdicts — every flake spends some of the team's trust in the signal; environment drift means CI runs one runtime version while production runs another, so green stops meaning what it meant; a dependency outage means the package registry is down mid-build — the network is a silent stage of every pipeline run.</a:t>
            </a:r>
          </a:p>
          <a:p>
            <a:r>
              <a:t>ENGINEERING POINT (the closing line): the pipeline is itself software, running in its own execution environment, with its own dependencies. Everything this lecture said about environments applies to it — pipelines themselves require engineering.</a:t>
            </a:r>
          </a:p>
          <a:p>
            <a:r>
              <a:t>ASK, if time allows: when CI gives a wrong answer, which direction costs more, a false red or a false green? Take one answer each way; both are defensible, which is the discussion the reliability unit picks up.</a:t>
            </a:r>
          </a:p>
          <a:p>
            <a:r>
              <a:t>TRANSITION: suppose the pipeline is healthy and the run is green. Should you ship?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THE SECTION'S OPENING CLAIM. The two example cards now contrast CONSEQUENCES OF FAILURE rather than release frequencies — frequencies are a symptom; the consequence profile is what drives the release requirements, and real medical-device requirements depend on product, regulatory classification, and the specific change.</a:t>
            </a:r>
          </a:p>
          <a:p>
            <a:r>
              <a:t>ASK FIRST (the footer): the pipeline is green; should you ship? Let the room split before explaining.</a:t>
            </a:r>
          </a:p>
          <a:p>
            <a:r>
              <a:t>THEN THE DISTINCTION: a successful CI run establishes selected properties of the candidate artifact, in the pipeline's environment. It does not establish that every production condition is appropriate for deployment: traffic, timing, support staffing, regulatory state, concurrent incidents.</a:t>
            </a:r>
          </a:p>
          <a:p>
            <a:r>
              <a:t>THE TWO CARDS, read through the italic question (what evidence and authorization should each release require?): the startup's failed deploy is reversible in minutes, so automated gates may be authorization enough; the medical-device team's failed release may harm patients, so evidence and human sign-off precede release. Same green build, different consequence profiles, different release requirements — both correct.</a:t>
            </a:r>
          </a:p>
          <a:p>
            <a:r>
              <a:t>DEFINITION (the grey line): release management decides what is released, when, to whom, and under which safeguards. It sits on top of CI/CD; it consumes the pipeline's evidence.</a:t>
            </a:r>
          </a:p>
          <a:p>
            <a:r>
              <a:t>NON-CLAIM: a passing CI run is not authorization to release. Authorization is a policy decision the next slides give mechanisms for.</a:t>
            </a:r>
          </a:p>
          <a:p>
            <a:r>
              <a:t>TRANSITION: the mechanisms share one idea: control how much of the world sees the change.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THE COMPARISON TABLE, retained from the source deck's summary slide; the three detail slides follow.</a:t>
            </a:r>
          </a:p>
          <a:p>
            <a:r>
              <a:t>WALK THE ROWS: blue-green controls WHICH ENVIRONMENT serves production traffic; canary controls WHICH FRACTION of traffic sees the new version; feature flags control WHICH FUNCTIONALITY is enabled inside a deployed artifact.</a:t>
            </a:r>
          </a:p>
          <a:p>
            <a:r>
              <a:t>THE INSIGHT: these are different DIMENSIONS of exposure, not competing brands of the same trick. Real systems combine them: a canary rollout of an artifact whose new feature is still flagged off.</a:t>
            </a:r>
          </a:p>
          <a:p>
            <a:r>
              <a:t>ASK: which dimension would you want for your bank's API? For a game's season launch? EXPECTED: the bank wants environment-level control and instant rollback (blue-green); the game wants fraction and feature control for a timed, partial reveal. There is no single right strategy.</a:t>
            </a:r>
          </a:p>
          <a:p>
            <a:r>
              <a:t>TRANSITION: one slide on each, starting with blue-green.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REDRAWN as a two-state figure so the mechanism reads without narration: both environments exist in both states; only the highlighted traffic path moves.</a:t>
            </a:r>
          </a:p>
          <a:p>
            <a:r>
              <a:t>WALK THE STATES: before the switch, the router sends 100% of traffic to Blue running version 1 while version 2 deploys to Green and is smoke-tested in place (the dashed path carries no traffic). After the switch, the same two environments stand, and the router now sends 100% to Green. Rollback is the same switch, reversed — that symmetry is the strategy's selling point.</a:t>
            </a:r>
          </a:p>
          <a:p>
            <a:r>
              <a:t>THE SHARED DATABASE (drawn in both states, deliberately): both versions read and write ONE database. The router switch is instant; shared persistent state is the part that is not. A schema migration that only version 2 understands makes the 'instant rollback' story false — the Data Management lecture picks up schema migration.</a:t>
            </a:r>
          </a:p>
          <a:p>
            <a:r>
              <a:t>ASK: you switch traffic in one second. Did the database switch with you? EXPECTED: silence, then the realization that there is only ONE database in the figure. That is why it is drawn.</a:t>
            </a:r>
          </a:p>
          <a:p>
            <a:r>
              <a:t>COST, stated once: two production-grade environments, paid for continuously.</a:t>
            </a:r>
          </a:p>
          <a:p>
            <a:r>
              <a:t>TRANSITION: blue-green moves everyone at once. The next strategy moves a fraction.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REDRAWN so the two mechanisms read without narration: the router SPLITS live traffic between versions, and the ramp advances ONLY through an explicit evidence gate between steps.</a:t>
            </a:r>
          </a:p>
          <a:p>
            <a:r>
              <a:t>THE SPLIT (top): both versions run in production; the router sends a small fraction, 5%, to version 2 (the canary) while 95% of users stay on version 1 (the control). The control population matters: the comparison is against version 1 under the SAME conditions at the SAME time, which is what makes canary evidence strong.</a:t>
            </a:r>
          </a:p>
          <a:p>
            <a:r>
              <a:t>THE RAMP (bottom): 5%, then 25%, then 100% — and each transition is conditioned on the gate drawn between the steps: error rate and latency within limits? Each widening of the fraction is an admission decision backed by observed evidence, the kickoff loop again at release granularity. A failed check rolls exposure back instead of forward.</a:t>
            </a:r>
          </a:p>
          <a:p>
            <a:r>
              <a:t>ASK: what would send you from 5% back to 0%? EXPECTED: an error-rate delta against version 1, a latency regression, a support spike.</a:t>
            </a:r>
          </a:p>
          <a:p>
            <a:r>
              <a:t>SCOPE NOTE: the measurement machinery itself (dashboards, alerting, SLOs) belongs to Operations &amp; SRE — this gate is the lecture's bridge to that unit; today we only need that the evidence exists and the transition consults it.</a:t>
            </a:r>
          </a:p>
          <a:p>
            <a:r>
              <a:t>TRANSITION: both strategies so far switch artifacts. The third switches behavior inside one artifact.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REDRAWN so the figure shows what the text claims: BOTH behaviors sit inside the one deployed artifact's boundary; the flag value selects which one runs (gold, active) while the other ships dark (dashed, inert).</a:t>
            </a:r>
          </a:p>
          <a:p>
            <a:r>
              <a:t>THE MECHANISM: one artifact is deployed; a flag selects between behaviors at runtime. Deploying code and exposing functionality become separate decisions, so code can reach production dark and light up later, per user group if wanted.</a:t>
            </a:r>
          </a:p>
          <a:p>
            <a:r>
              <a:t>IMPLEMENTATION SPECTRUM, if asked: compile-time flags (cheap, need a rebuild to change), environment variables (change at restart), and flag services (change live, per cohort). The further right, the more operational machinery you are trusting.</a:t>
            </a:r>
          </a:p>
          <a:p>
            <a:r>
              <a:t>NON-CLAIM (the author checks this): feature flags do not automatically make changes safe. The flagged code is in production whether or not it runs; flag interactions multiply test states; and a flag whose two sides touch shared state differently is not safe to flip at runtime at all (the bottom card).</a:t>
            </a:r>
          </a:p>
          <a:p>
            <a:r>
              <a:t>ASK: the code is in production and no user can reach it. Is that deployed, or released? EXPECTED: deployed, not released — precisely the delivery/deployment distinction from the CI/CD movement.</a:t>
            </a:r>
          </a:p>
          <a:p>
            <a:r>
              <a:t>TRANSITION: strategies control one release. Cadence is the pattern across releases.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RETITLED on the author's instruction: release size changes the RISK-MANAGEMENT PROBLEM; it does not mechanically determine verification quality or rollback difficulty. The grid now reads as typical tendencies (the annotation says so), and the italic line names the counterexamples: a small deployment can include an irreversible schema migration; a large release can be carefully staged and reversible.</a:t>
            </a:r>
          </a:p>
          <a:p>
            <a:r>
              <a:t>WALK A ROW OR TWO: few large releases concentrate months of change, so verification tends to run long and a failure is hard to attribute; many small releases spread the change, so gates can be automated and the suspect set is small. Reversal TENDS to differ the same way — tends, not must.</a:t>
            </a:r>
          </a:p>
          <a:p>
            <a:r>
              <a:t>THE JUDGMENT: cadence is chosen by requirements, exactly like the execution environment was. Regulated and safety-critical contexts legitimately choose slow cadences with heavy coordination; that is engineering, not backwardness.</a:t>
            </a:r>
          </a:p>
          <a:p>
            <a:r>
              <a:t>DORA, briefly and by name only (the bottom line): deployment frequency, lead time, time to restore, change failure rate — industry baselines whose proper treatment belongs to Operations &amp; SRE.</a:t>
            </a:r>
          </a:p>
          <a:p>
            <a:r>
              <a:t>ASK: what makes a release risky, its size or how fast you can undo it? EXPECTED: both views surface; the table says they trade against each other, tendentially.</a:t>
            </a:r>
          </a:p>
          <a:p>
            <a:r>
              <a:t>TRANSITION: everything in the lecture now lands on one concrete decision for our service.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 minutes. THE DECISION EXERCISE; a discussion, not a programming demonstration — now with EXPLICIT REQUIREMENTS on the slide so students argue against stated criteria, and with the evidence question made part of the task.</a:t>
            </a:r>
          </a:p>
          <a:p>
            <a:r>
              <a:t>SETUP (half a minute): two candidate deployments for the reservation service. Option A, local installation on university-managed workstations, updated machine by machine. Option B, a managed service platform, reached by browser, updated centrally through the release gates this movement built. The requirements card binds the argument: 500 concurrent users, university-managed authentication, 99.9% availability target, centralized updates, limited operating budget.</a:t>
            </a:r>
          </a:p>
          <a:p>
            <a:r>
              <a:t>RUN IT (three minutes): pairs pick an option, defend it FROM THE MODEL (environment, resources, topology, configuration, plus the deployment process each option implies), and NAME THE EVIDENCE that would justify the choice — a load test against 500 concurrent users, an integration test against the university's authentication, an availability measurement, an update-latency measurement. An answer without evidence is an opinion.</a:t>
            </a:r>
          </a:p>
          <a:p>
            <a:r>
              <a:t>PERTURB (in debrief): 'it must keep working with no network access' swings the argument toward A; 'hundreds of simultaneous users' swings it toward B. The ANSWER MOVES when the requirements move, and the model is what lets you see it move.</a:t>
            </a:r>
          </a:p>
          <a:p>
            <a:r>
              <a:t>EXPECTED QUALITY BAR: answers citing availability, operations burden, update mechanics, configuration, or named evidence are engaging the model; answers citing fashion are not.</a:t>
            </a:r>
          </a:p>
          <a:p>
            <a:r>
              <a:t>TRANSITION: close the loop on the whole lecture.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 THE SYNTHESIS: the kickoff's engineering-method flowchart itself, populated for deployment — same boxes, same serpentine shape with the lower row running right to left, Alignment alongside the process in its own color. Students should recognize the figure before reading a word.</a:t>
            </a:r>
          </a:p>
          <a:p>
            <a:r>
              <a:t>WALK THE LOOP: the PROBLEM was that software must run acceptably outside development. The MODEL is the deployed system: environment, topology, configuration. The JUDGMENT chose among local, self-hosted, and managed. REALIZE is the deployment process: build, configure, deploy. EVIDENCE came from integration and runtime checks. ACCEPT/REJECT is the release decision: release, or roll back. ALIGNMENT held alongside the realization half as declared configuration, CI gates, and release policies — constraining what may happen and evaluating what did.</a:t>
            </a:r>
          </a:p>
          <a:p>
            <a:r>
              <a:t>SAY ONCE, because it is the lecture's thesis: CI/CD and release management were not the subject; they are mechanisms for moving an implementation into an acceptable execution environment. The environment question organized everything — and the running obligation (the service stays accessible to its users under specified operating conditions) is what each box served.</a:t>
            </a:r>
          </a:p>
          <a:p>
            <a:r>
              <a:t>THE HANDOFF (the footer): the service now runs in a suitable environment, and every restart still destroys every reservation, because the state is in memory by declared assumption. What happens to its data when the process stops is the Data Management lecture.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 minute. THE FIVE MOVEMENTS, each named by the engineering question it answers; the deck's sections carry the same names, matching the Data Management opening convention.</a:t>
            </a:r>
          </a:p>
          <a:p>
            <a:r>
              <a:t>THE RUNNING OBLIGATION (the footer, and the lecture's connective tissue): the reservation service must remain accessible to its intended users under specified operating conditions. Each movement refines it: the execution environment supplies what accessibility requires; the deployment model represents the alternatives; CI/CD produces and evaluates the changes; release management controls exposure to them; the closing judgment picks the deployment that satisfies the refined requirements.</a:t>
            </a:r>
          </a:p>
          <a:p>
            <a:r>
              <a:t>MODEL EVOLUTION ACROSS THE LECTURE, one breath: the service runs on one laptop; we identify its environmental assumptions; compare deployment alternatives; select a proposed topology; determine how to build and configure it; establish evidence and admission controls; select a release strategy.</a:t>
            </a:r>
          </a:p>
          <a:p>
            <a:r>
              <a:t>TRANSITION: movement one. What does this application require from whatever it runs 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 A SMALL DECISION EXERCISE, deliberately placed before CI/CD so students apply the execution-environment model while it is fresh — the big decision exercise closes the lecture.</a:t>
            </a:r>
          </a:p>
          <a:p>
            <a:r>
              <a:t>RUN IT fast, pairs, one minute: the mobile reservation app must work without connectivity. Which environmental assumptions become consequential? Use the three prompts left to right.</a:t>
            </a:r>
          </a:p>
          <a:p>
            <a:r>
              <a:t>EXPECTED ANSWERS: the network-connectivity requirement from the requirements slide inverts — the app must assume ABSENCE; the in-memory state assumption collapses, because the mobile OS terminates processes as normal lifecycle (the mobile row of the previous environments table), so reservation state must persist locally and reconcile later; the HTTP-listener assumption flips too — a phone app is a client, not a listener.</a:t>
            </a:r>
          </a:p>
          <a:p>
            <a:r>
              <a:t>DEBRIEF, 30 seconds: the model did the work. Each consequential assumption was already a row in the requirements/capabilities picture; changing the environment changed which rows bind. That is what the deployment model is FOR.</a:t>
            </a:r>
          </a:p>
          <a:p>
            <a:r>
              <a:t>TRANSITION: back to the service we actually operate — where do its components go? That arrangement is the topology.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simple">
    <p:spTree>
      <p:nvGrpSpPr>
        <p:cNvPr id="1" name=""/>
        <p:cNvGrpSpPr/>
        <p:nvPr/>
      </p:nvGrpSpPr>
      <p:grpSpPr>
        <a:xfrm>
          <a:off x="0" y="0"/>
          <a:ext cx="0" cy="0"/>
          <a:chOff x="0" y="0"/>
          <a:chExt cx="0" cy="0"/>
        </a:xfrm>
      </p:grpSpPr>
      <p:sp>
        <p:nvSpPr>
          <p:cNvPr id="251918" name="Rectangle 14"/>
          <p:cNvSpPr>
            <a:spLocks noGrp="1" noChangeArrowheads="1"/>
          </p:cNvSpPr>
          <p:nvPr>
            <p:ph type="subTitle" idx="1"/>
          </p:nvPr>
        </p:nvSpPr>
        <p:spPr>
          <a:xfrm>
            <a:off x="1308100" y="3235325"/>
            <a:ext cx="6400800" cy="1881188"/>
          </a:xfrm>
        </p:spPr>
        <p:txBody>
          <a:bodyPr/>
          <a:lstStyle>
            <a:lvl1pPr marL="0" indent="0" algn="ctr">
              <a:buFont typeface="Times" pitchFamily="18" charset="0"/>
              <a:buNone/>
              <a:defRPr>
                <a:solidFill>
                  <a:srgbClr val="000000"/>
                </a:solidFill>
                <a:latin typeface="Calibri" panose="020F0502020204030204" pitchFamily="34" charset="0"/>
                <a:cs typeface="Calibri" panose="020F0502020204030204" pitchFamily="34" charset="0"/>
              </a:defRPr>
            </a:lvl1pPr>
          </a:lstStyle>
          <a:p>
            <a:r>
              <a:rPr lang="en-US" altLang="ko-KR" dirty="0"/>
              <a:t>Click to edit Master subtitle style</a:t>
            </a:r>
          </a:p>
        </p:txBody>
      </p:sp>
      <p:sp>
        <p:nvSpPr>
          <p:cNvPr id="251914" name="Rectangle 10"/>
          <p:cNvSpPr>
            <a:spLocks noGrp="1" noChangeArrowheads="1"/>
          </p:cNvSpPr>
          <p:nvPr>
            <p:ph type="ctrTitle" hasCustomPrompt="1"/>
          </p:nvPr>
        </p:nvSpPr>
        <p:spPr>
          <a:xfrm>
            <a:off x="1127125" y="2078038"/>
            <a:ext cx="7031038" cy="874712"/>
          </a:xfrm>
          <a:ln>
            <a:noFill/>
          </a:ln>
        </p:spPr>
        <p:txBody>
          <a:bodyPr/>
          <a:lstStyle>
            <a:lvl1pPr algn="ctr">
              <a:defRPr sz="3600" cap="none">
                <a:solidFill>
                  <a:srgbClr val="000000"/>
                </a:solidFill>
                <a:latin typeface="Calibri" panose="020F0502020204030204" pitchFamily="34" charset="0"/>
                <a:cs typeface="Calibri" panose="020F0502020204030204" pitchFamily="34" charset="0"/>
              </a:defRPr>
            </a:lvl1pPr>
          </a:lstStyle>
          <a:p>
            <a:r>
              <a:rPr lang="en-US" altLang="ko-KR" dirty="0"/>
              <a:t>Click to edit master title style</a:t>
            </a:r>
          </a:p>
        </p:txBody>
      </p:sp>
      <p:sp>
        <p:nvSpPr>
          <p:cNvPr id="8" name="Line 66">
            <a:extLst>
              <a:ext uri="{FF2B5EF4-FFF2-40B4-BE49-F238E27FC236}">
                <a16:creationId xmlns:a16="http://schemas.microsoft.com/office/drawing/2014/main" id="{9629C0A1-FA46-974B-8B59-DAFA34D587F5}"/>
              </a:ext>
            </a:extLst>
          </p:cNvPr>
          <p:cNvSpPr>
            <a:spLocks noChangeShapeType="1"/>
          </p:cNvSpPr>
          <p:nvPr userDrawn="1"/>
        </p:nvSpPr>
        <p:spPr bwMode="auto">
          <a:xfrm flipV="1">
            <a:off x="-16760" y="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1" name="Line 66">
            <a:extLst>
              <a:ext uri="{FF2B5EF4-FFF2-40B4-BE49-F238E27FC236}">
                <a16:creationId xmlns:a16="http://schemas.microsoft.com/office/drawing/2014/main" id="{F21F285B-3B58-4149-B959-9010CE636448}"/>
              </a:ext>
            </a:extLst>
          </p:cNvPr>
          <p:cNvSpPr>
            <a:spLocks noChangeShapeType="1"/>
          </p:cNvSpPr>
          <p:nvPr userDrawn="1"/>
        </p:nvSpPr>
        <p:spPr bwMode="auto">
          <a:xfrm flipV="1">
            <a:off x="0" y="685800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0" name="Slide Number Placeholder 4">
            <a:extLst>
              <a:ext uri="{FF2B5EF4-FFF2-40B4-BE49-F238E27FC236}">
                <a16:creationId xmlns:a16="http://schemas.microsoft.com/office/drawing/2014/main" id="{5F3C42A2-A875-7F49-9930-886B64F2621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pic>
        <p:nvPicPr>
          <p:cNvPr id="1026" name="Purdue CoBrand">
            <a:extLst>
              <a:ext uri="{FF2B5EF4-FFF2-40B4-BE49-F238E27FC236}">
                <a16:creationId xmlns:a16="http://schemas.microsoft.com/office/drawing/2014/main" id="{BCBD89D8-43BD-5D41-99C6-91B0B6A51904}"/>
              </a:ext>
            </a:extLst>
          </p:cNvPr>
          <p:cNvPicPr>
            <a:picLocks noChangeAspect="1"/>
          </p:cNvPicPr>
          <p:nvPr userDrawn="1"/>
        </p:nvPicPr>
        <p:blipFill>
          <a:blip r:embed="rId2"/>
          <a:stretch>
            <a:fillRect/>
          </a:stretch>
        </p:blipFill>
        <p:spPr>
          <a:xfrm>
            <a:off x="2097131" y="5715964"/>
            <a:ext cx="5091026" cy="542584"/>
          </a:xfrm>
          <a:prstGeom prst="rect">
            <a:avLst/>
          </a:prstGeom>
        </p:spPr>
      </p:pic>
    </p:spTree>
    <p:extLst>
      <p:ext uri="{BB962C8B-B14F-4D97-AF65-F5344CB8AC3E}">
        <p14:creationId xmlns:p14="http://schemas.microsoft.com/office/powerpoint/2010/main" val="42326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내용 개체 틀 2"/>
          <p:cNvSpPr>
            <a:spLocks noGrp="1"/>
          </p:cNvSpPr>
          <p:nvPr>
            <p:ph idx="1" hasCustomPrompt="1"/>
          </p:nvPr>
        </p:nvSpPr>
        <p:spPr>
          <a:xfrm>
            <a:off x="277148" y="1305004"/>
            <a:ext cx="8557768" cy="5166916"/>
          </a:xfrm>
        </p:spPr>
        <p:txBody>
          <a:bodyPr/>
          <a:lstStyle>
            <a:lvl2pPr>
              <a:defRPr/>
            </a:lvl2pPr>
            <a:lvl3pPr>
              <a:defRPr/>
            </a:lvl3pPr>
          </a:lstStyle>
          <a:p>
            <a:pPr lvl="0"/>
            <a:r>
              <a:rPr lang="en-US" altLang="ko-KR" dirty="0"/>
              <a:t>Words</a:t>
            </a:r>
            <a:endParaRPr lang="ko-KR" altLang="en-US" dirty="0"/>
          </a:p>
          <a:p>
            <a:pPr lvl="1"/>
            <a:r>
              <a:rPr lang="en-US" altLang="ko-KR" dirty="0"/>
              <a:t>Words</a:t>
            </a:r>
            <a:endParaRPr lang="ko-KR" altLang="en-US" dirty="0"/>
          </a:p>
          <a:p>
            <a:pPr lvl="2"/>
            <a:r>
              <a:rPr lang="en-US" altLang="ko-KR" dirty="0"/>
              <a:t>Words</a:t>
            </a:r>
          </a:p>
          <a:p>
            <a:pPr lvl="3"/>
            <a:r>
              <a:rPr lang="en-US" altLang="ko-KR" dirty="0"/>
              <a:t>Words</a:t>
            </a:r>
          </a:p>
          <a:p>
            <a:pPr lvl="4"/>
            <a:r>
              <a:rPr lang="en-US" altLang="ko-KR" dirty="0"/>
              <a:t>Words</a:t>
            </a:r>
            <a:endParaRPr lang="ko-KR" altLang="en-US" dirty="0"/>
          </a:p>
        </p:txBody>
      </p:sp>
      <p:sp>
        <p:nvSpPr>
          <p:cNvPr id="5" name="제목 1"/>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4" name="Line 66">
            <a:extLst>
              <a:ext uri="{FF2B5EF4-FFF2-40B4-BE49-F238E27FC236}">
                <a16:creationId xmlns:a16="http://schemas.microsoft.com/office/drawing/2014/main" id="{67B3E873-1394-3543-8BD2-2C910090ECBD}"/>
              </a:ext>
            </a:extLst>
          </p:cNvPr>
          <p:cNvSpPr>
            <a:spLocks noChangeShapeType="1"/>
          </p:cNvSpPr>
          <p:nvPr userDrawn="1"/>
        </p:nvSpPr>
        <p:spPr bwMode="auto">
          <a:xfrm flipV="1">
            <a:off x="277148" y="756603"/>
            <a:ext cx="8557769" cy="0"/>
          </a:xfrm>
          <a:prstGeom prst="line">
            <a:avLst/>
          </a:prstGeom>
          <a:noFill/>
          <a:ln w="381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010635A2-0953-8C4C-807B-9F1EE80A1BF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328718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ouble content">
    <p:spTree>
      <p:nvGrpSpPr>
        <p:cNvPr id="1" name=""/>
        <p:cNvGrpSpPr/>
        <p:nvPr/>
      </p:nvGrpSpPr>
      <p:grpSpPr>
        <a:xfrm>
          <a:off x="0" y="0"/>
          <a:ext cx="0" cy="0"/>
          <a:chOff x="0" y="0"/>
          <a:chExt cx="0" cy="0"/>
        </a:xfrm>
      </p:grpSpPr>
      <p:sp>
        <p:nvSpPr>
          <p:cNvPr id="3" name="내용 개체 틀 2"/>
          <p:cNvSpPr>
            <a:spLocks noGrp="1"/>
          </p:cNvSpPr>
          <p:nvPr>
            <p:ph sz="half" idx="1" hasCustomPrompt="1"/>
          </p:nvPr>
        </p:nvSpPr>
        <p:spPr>
          <a:xfrm>
            <a:off x="484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4" name="내용 개체 틀 3"/>
          <p:cNvSpPr>
            <a:spLocks noGrp="1"/>
          </p:cNvSpPr>
          <p:nvPr>
            <p:ph sz="half" idx="2" hasCustomPrompt="1"/>
          </p:nvPr>
        </p:nvSpPr>
        <p:spPr>
          <a:xfrm>
            <a:off x="4675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7" name="Line 66">
            <a:extLst>
              <a:ext uri="{FF2B5EF4-FFF2-40B4-BE49-F238E27FC236}">
                <a16:creationId xmlns:a16="http://schemas.microsoft.com/office/drawing/2014/main" id="{43238AEC-E676-EF48-A1EE-CE1856C5DB8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2" name="제목 1">
            <a:extLst>
              <a:ext uri="{FF2B5EF4-FFF2-40B4-BE49-F238E27FC236}">
                <a16:creationId xmlns:a16="http://schemas.microsoft.com/office/drawing/2014/main" id="{4EEA1B3E-FF6B-734D-830E-C9FC203C0A8A}"/>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9" name="Slide Number Placeholder 4">
            <a:extLst>
              <a:ext uri="{FF2B5EF4-FFF2-40B4-BE49-F238E27FC236}">
                <a16:creationId xmlns:a16="http://schemas.microsoft.com/office/drawing/2014/main" id="{3596EAF3-2266-1C40-896A-50BCE8F3A592}"/>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4698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685800" y="2747963"/>
            <a:ext cx="7772400" cy="1362075"/>
          </a:xfrm>
          <a:ln>
            <a:noFill/>
          </a:ln>
        </p:spPr>
        <p:txBody>
          <a:bodyPr anchor="t"/>
          <a:lstStyle>
            <a:lvl1pPr algn="ctr">
              <a:defRPr sz="4000" b="0" cap="none"/>
            </a:lvl1pPr>
          </a:lstStyle>
          <a:p>
            <a:r>
              <a:rPr lang="en-US" altLang="ko-KR" dirty="0"/>
              <a:t>Section heading</a:t>
            </a:r>
            <a:endParaRPr lang="ko-KR" altLang="en-US" dirty="0"/>
          </a:p>
        </p:txBody>
      </p:sp>
      <p:sp>
        <p:nvSpPr>
          <p:cNvPr id="5" name="Line 66">
            <a:extLst>
              <a:ext uri="{FF2B5EF4-FFF2-40B4-BE49-F238E27FC236}">
                <a16:creationId xmlns:a16="http://schemas.microsoft.com/office/drawing/2014/main" id="{5A7CBECB-F891-1E49-A038-D12E9EBD544E}"/>
              </a:ext>
            </a:extLst>
          </p:cNvPr>
          <p:cNvSpPr>
            <a:spLocks noChangeShapeType="1"/>
          </p:cNvSpPr>
          <p:nvPr userDrawn="1"/>
        </p:nvSpPr>
        <p:spPr bwMode="auto">
          <a:xfrm flipV="1">
            <a:off x="-57794"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6" name="Line 66">
            <a:extLst>
              <a:ext uri="{FF2B5EF4-FFF2-40B4-BE49-F238E27FC236}">
                <a16:creationId xmlns:a16="http://schemas.microsoft.com/office/drawing/2014/main" id="{A0F4931F-670B-5345-A445-E4A05AED83C7}"/>
              </a:ext>
            </a:extLst>
          </p:cNvPr>
          <p:cNvSpPr>
            <a:spLocks noChangeShapeType="1"/>
          </p:cNvSpPr>
          <p:nvPr userDrawn="1"/>
        </p:nvSpPr>
        <p:spPr bwMode="auto">
          <a:xfrm flipV="1">
            <a:off x="-78517"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Slide Number Placeholder 4">
            <a:extLst>
              <a:ext uri="{FF2B5EF4-FFF2-40B4-BE49-F238E27FC236}">
                <a16:creationId xmlns:a16="http://schemas.microsoft.com/office/drawing/2014/main" id="{8B85C08C-FD8D-C643-B13D-155D9A63D59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909255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ouble content - titled">
    <p:spTree>
      <p:nvGrpSpPr>
        <p:cNvPr id="1" name=""/>
        <p:cNvGrpSpPr/>
        <p:nvPr/>
      </p:nvGrpSpPr>
      <p:grpSpPr>
        <a:xfrm>
          <a:off x="0" y="0"/>
          <a:ext cx="0" cy="0"/>
          <a:chOff x="0" y="0"/>
          <a:chExt cx="0" cy="0"/>
        </a:xfrm>
      </p:grpSpPr>
      <p:sp>
        <p:nvSpPr>
          <p:cNvPr id="3" name="텍스트 개체 틀 2"/>
          <p:cNvSpPr>
            <a:spLocks noGrp="1"/>
          </p:cNvSpPr>
          <p:nvPr>
            <p:ph type="body" idx="1" hasCustomPrompt="1"/>
          </p:nvPr>
        </p:nvSpPr>
        <p:spPr>
          <a:xfrm>
            <a:off x="457200" y="1258655"/>
            <a:ext cx="4040188"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Left title</a:t>
            </a:r>
            <a:endParaRPr lang="ko-KR" altLang="en-US" dirty="0"/>
          </a:p>
        </p:txBody>
      </p:sp>
      <p:sp>
        <p:nvSpPr>
          <p:cNvPr id="4" name="내용 개체 틀 3"/>
          <p:cNvSpPr>
            <a:spLocks noGrp="1"/>
          </p:cNvSpPr>
          <p:nvPr>
            <p:ph sz="half" idx="2" hasCustomPrompt="1"/>
          </p:nvPr>
        </p:nvSpPr>
        <p:spPr>
          <a:xfrm>
            <a:off x="457200" y="1898417"/>
            <a:ext cx="4040188"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5" name="텍스트 개체 틀 4"/>
          <p:cNvSpPr>
            <a:spLocks noGrp="1"/>
          </p:cNvSpPr>
          <p:nvPr>
            <p:ph type="body" sz="quarter" idx="3" hasCustomPrompt="1"/>
          </p:nvPr>
        </p:nvSpPr>
        <p:spPr>
          <a:xfrm>
            <a:off x="4645025" y="1258655"/>
            <a:ext cx="4041775"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Right title</a:t>
            </a:r>
            <a:endParaRPr lang="ko-KR" altLang="en-US" dirty="0"/>
          </a:p>
        </p:txBody>
      </p:sp>
      <p:sp>
        <p:nvSpPr>
          <p:cNvPr id="6" name="내용 개체 틀 5"/>
          <p:cNvSpPr>
            <a:spLocks noGrp="1"/>
          </p:cNvSpPr>
          <p:nvPr>
            <p:ph sz="quarter" idx="4" hasCustomPrompt="1"/>
          </p:nvPr>
        </p:nvSpPr>
        <p:spPr>
          <a:xfrm>
            <a:off x="4645025" y="1898417"/>
            <a:ext cx="4041775"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9" name="Line 66">
            <a:extLst>
              <a:ext uri="{FF2B5EF4-FFF2-40B4-BE49-F238E27FC236}">
                <a16:creationId xmlns:a16="http://schemas.microsoft.com/office/drawing/2014/main" id="{2473502F-33E0-294C-B0A7-D634CB78173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3" name="제목 1">
            <a:extLst>
              <a:ext uri="{FF2B5EF4-FFF2-40B4-BE49-F238E27FC236}">
                <a16:creationId xmlns:a16="http://schemas.microsoft.com/office/drawing/2014/main" id="{AA231EA3-1A2F-1844-B410-74339C343F3B}"/>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11" name="Slide Number Placeholder 4">
            <a:extLst>
              <a:ext uri="{FF2B5EF4-FFF2-40B4-BE49-F238E27FC236}">
                <a16:creationId xmlns:a16="http://schemas.microsoft.com/office/drawing/2014/main" id="{9B355AFC-141A-4E45-A581-13630ADD3A56}"/>
              </a:ext>
            </a:extLst>
          </p:cNvPr>
          <p:cNvSpPr>
            <a:spLocks noGrp="1"/>
          </p:cNvSpPr>
          <p:nvPr>
            <p:ph type="sldNum" sz="quarter" idx="11"/>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72169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Just border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6ABDBE64-F9E8-B742-A7A4-414B9EF73E5D}"/>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735298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adrant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5" name="그림 개체 틀 2">
            <a:extLst>
              <a:ext uri="{FF2B5EF4-FFF2-40B4-BE49-F238E27FC236}">
                <a16:creationId xmlns:a16="http://schemas.microsoft.com/office/drawing/2014/main" id="{672F7B82-6823-A344-B297-9A5CC48E1F13}"/>
              </a:ext>
            </a:extLst>
          </p:cNvPr>
          <p:cNvSpPr>
            <a:spLocks noGrp="1"/>
          </p:cNvSpPr>
          <p:nvPr>
            <p:ph type="pic" idx="1"/>
          </p:nvPr>
        </p:nvSpPr>
        <p:spPr>
          <a:xfrm>
            <a:off x="877888"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7" name="그림 개체 틀 2">
            <a:extLst>
              <a:ext uri="{FF2B5EF4-FFF2-40B4-BE49-F238E27FC236}">
                <a16:creationId xmlns:a16="http://schemas.microsoft.com/office/drawing/2014/main" id="{07CA502D-41E1-4240-B817-57AFD70BC6F0}"/>
              </a:ext>
            </a:extLst>
          </p:cNvPr>
          <p:cNvSpPr>
            <a:spLocks noGrp="1"/>
          </p:cNvSpPr>
          <p:nvPr>
            <p:ph type="pic" idx="10"/>
          </p:nvPr>
        </p:nvSpPr>
        <p:spPr>
          <a:xfrm>
            <a:off x="5204723"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2" name="그림 개체 틀 2">
            <a:extLst>
              <a:ext uri="{FF2B5EF4-FFF2-40B4-BE49-F238E27FC236}">
                <a16:creationId xmlns:a16="http://schemas.microsoft.com/office/drawing/2014/main" id="{D1C72364-3DC9-604F-9514-883DF7EEBE18}"/>
              </a:ext>
            </a:extLst>
          </p:cNvPr>
          <p:cNvSpPr>
            <a:spLocks noGrp="1"/>
          </p:cNvSpPr>
          <p:nvPr>
            <p:ph type="pic" idx="11"/>
          </p:nvPr>
        </p:nvSpPr>
        <p:spPr>
          <a:xfrm>
            <a:off x="877887" y="3596647"/>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6" name="그림 개체 틀 2">
            <a:extLst>
              <a:ext uri="{FF2B5EF4-FFF2-40B4-BE49-F238E27FC236}">
                <a16:creationId xmlns:a16="http://schemas.microsoft.com/office/drawing/2014/main" id="{4193784B-AAFC-0447-AC84-915471C69183}"/>
              </a:ext>
            </a:extLst>
          </p:cNvPr>
          <p:cNvSpPr>
            <a:spLocks noGrp="1"/>
          </p:cNvSpPr>
          <p:nvPr>
            <p:ph type="pic" idx="12"/>
          </p:nvPr>
        </p:nvSpPr>
        <p:spPr>
          <a:xfrm>
            <a:off x="5204723" y="3616525"/>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32" name="Text Placeholder 31">
            <a:extLst>
              <a:ext uri="{FF2B5EF4-FFF2-40B4-BE49-F238E27FC236}">
                <a16:creationId xmlns:a16="http://schemas.microsoft.com/office/drawing/2014/main" id="{4036BF46-3CC3-FB43-A785-15DF5595B707}"/>
              </a:ext>
            </a:extLst>
          </p:cNvPr>
          <p:cNvSpPr>
            <a:spLocks noGrp="1"/>
          </p:cNvSpPr>
          <p:nvPr>
            <p:ph type="body" sz="quarter" idx="13" hasCustomPrompt="1"/>
          </p:nvPr>
        </p:nvSpPr>
        <p:spPr>
          <a:xfrm>
            <a:off x="877819" y="213987"/>
            <a:ext cx="3136900" cy="550603"/>
          </a:xfrm>
        </p:spPr>
        <p:txBody>
          <a:bodyPr/>
          <a:lstStyle>
            <a:lvl1pPr marL="0" indent="0" algn="ctr">
              <a:buNone/>
              <a:defRPr sz="3200"/>
            </a:lvl1pPr>
          </a:lstStyle>
          <a:p>
            <a:pPr lvl="0"/>
            <a:r>
              <a:rPr lang="en-US" dirty="0"/>
              <a:t>Title</a:t>
            </a:r>
          </a:p>
        </p:txBody>
      </p:sp>
      <p:sp>
        <p:nvSpPr>
          <p:cNvPr id="36" name="Text Placeholder 31">
            <a:extLst>
              <a:ext uri="{FF2B5EF4-FFF2-40B4-BE49-F238E27FC236}">
                <a16:creationId xmlns:a16="http://schemas.microsoft.com/office/drawing/2014/main" id="{8484378F-A4EB-7845-937E-05F967178942}"/>
              </a:ext>
            </a:extLst>
          </p:cNvPr>
          <p:cNvSpPr>
            <a:spLocks noGrp="1"/>
          </p:cNvSpPr>
          <p:nvPr>
            <p:ph type="body" sz="quarter" idx="14" hasCustomPrompt="1"/>
          </p:nvPr>
        </p:nvSpPr>
        <p:spPr>
          <a:xfrm>
            <a:off x="5205344" y="213987"/>
            <a:ext cx="3136900" cy="550603"/>
          </a:xfrm>
        </p:spPr>
        <p:txBody>
          <a:bodyPr/>
          <a:lstStyle>
            <a:lvl1pPr marL="0" indent="0" algn="ctr">
              <a:buNone/>
              <a:defRPr sz="3200"/>
            </a:lvl1pPr>
          </a:lstStyle>
          <a:p>
            <a:pPr lvl="0"/>
            <a:r>
              <a:rPr lang="en-US" dirty="0"/>
              <a:t>Title</a:t>
            </a:r>
          </a:p>
        </p:txBody>
      </p:sp>
      <p:sp>
        <p:nvSpPr>
          <p:cNvPr id="37" name="Text Placeholder 31">
            <a:extLst>
              <a:ext uri="{FF2B5EF4-FFF2-40B4-BE49-F238E27FC236}">
                <a16:creationId xmlns:a16="http://schemas.microsoft.com/office/drawing/2014/main" id="{1EB6C479-EE50-B041-BED8-613EFA5D95F7}"/>
              </a:ext>
            </a:extLst>
          </p:cNvPr>
          <p:cNvSpPr>
            <a:spLocks noGrp="1"/>
          </p:cNvSpPr>
          <p:nvPr>
            <p:ph type="body" sz="quarter" idx="15" hasCustomPrompt="1"/>
          </p:nvPr>
        </p:nvSpPr>
        <p:spPr>
          <a:xfrm>
            <a:off x="877819" y="6093410"/>
            <a:ext cx="3136900" cy="550603"/>
          </a:xfrm>
        </p:spPr>
        <p:txBody>
          <a:bodyPr/>
          <a:lstStyle>
            <a:lvl1pPr marL="0" indent="0" algn="ctr">
              <a:buNone/>
              <a:defRPr sz="3200"/>
            </a:lvl1pPr>
          </a:lstStyle>
          <a:p>
            <a:pPr lvl="0"/>
            <a:r>
              <a:rPr lang="en-US" dirty="0"/>
              <a:t>Title</a:t>
            </a:r>
          </a:p>
        </p:txBody>
      </p:sp>
      <p:sp>
        <p:nvSpPr>
          <p:cNvPr id="38" name="Text Placeholder 31">
            <a:extLst>
              <a:ext uri="{FF2B5EF4-FFF2-40B4-BE49-F238E27FC236}">
                <a16:creationId xmlns:a16="http://schemas.microsoft.com/office/drawing/2014/main" id="{7D0CA80B-F16F-FF48-80A3-27652129D326}"/>
              </a:ext>
            </a:extLst>
          </p:cNvPr>
          <p:cNvSpPr>
            <a:spLocks noGrp="1"/>
          </p:cNvSpPr>
          <p:nvPr>
            <p:ph type="body" sz="quarter" idx="16" hasCustomPrompt="1"/>
          </p:nvPr>
        </p:nvSpPr>
        <p:spPr>
          <a:xfrm>
            <a:off x="5205344" y="6093410"/>
            <a:ext cx="3136900" cy="550603"/>
          </a:xfrm>
        </p:spPr>
        <p:txBody>
          <a:bodyPr/>
          <a:lstStyle>
            <a:lvl1pPr marL="0" indent="0" algn="ctr">
              <a:buNone/>
              <a:defRPr sz="3200"/>
            </a:lvl1pPr>
          </a:lstStyle>
          <a:p>
            <a:pPr lvl="0"/>
            <a:r>
              <a:rPr lang="en-US" dirty="0"/>
              <a:t>Title</a:t>
            </a:r>
          </a:p>
        </p:txBody>
      </p:sp>
      <p:sp>
        <p:nvSpPr>
          <p:cNvPr id="14" name="Slide Number Placeholder 4">
            <a:extLst>
              <a:ext uri="{FF2B5EF4-FFF2-40B4-BE49-F238E27FC236}">
                <a16:creationId xmlns:a16="http://schemas.microsoft.com/office/drawing/2014/main" id="{A66D64DC-EDD3-FD46-B93B-F8B818A43FD0}"/>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822395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1792288" y="4800600"/>
            <a:ext cx="5486400" cy="566738"/>
          </a:xfrm>
        </p:spPr>
        <p:txBody>
          <a:bodyPr/>
          <a:lstStyle>
            <a:lvl1pPr algn="l">
              <a:defRPr sz="2000" b="1">
                <a:latin typeface="Calibri" panose="020F0502020204030204" pitchFamily="34" charset="0"/>
                <a:cs typeface="Calibri" panose="020F0502020204030204" pitchFamily="34" charset="0"/>
              </a:defRPr>
            </a:lvl1pPr>
          </a:lstStyle>
          <a:p>
            <a:r>
              <a:rPr lang="en-US" altLang="ko-KR" dirty="0"/>
              <a:t>Title</a:t>
            </a:r>
            <a:endParaRPr lang="ko-KR" altLang="en-US" dirty="0"/>
          </a:p>
        </p:txBody>
      </p:sp>
      <p:sp>
        <p:nvSpPr>
          <p:cNvPr id="3" name="그림 개체 틀 2"/>
          <p:cNvSpPr>
            <a:spLocks noGrp="1"/>
          </p:cNvSpPr>
          <p:nvPr>
            <p:ph type="pic" idx="1"/>
          </p:nvPr>
        </p:nvSpPr>
        <p:spPr>
          <a:xfrm>
            <a:off x="1792288" y="612775"/>
            <a:ext cx="5486400" cy="4114800"/>
          </a:xfrm>
        </p:spPr>
        <p:txBody>
          <a:bodyPr/>
          <a:lstStyle>
            <a:lvl1pPr marL="0" indent="0">
              <a:buNone/>
              <a:defRPr sz="3200">
                <a:latin typeface="Calibri" panose="020F0502020204030204" pitchFamily="34" charset="0"/>
                <a:cs typeface="Calibri" panose="020F05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dirty="0"/>
              <a:t>Remarks</a:t>
            </a:r>
            <a:endParaRPr lang="ko-KR" altLang="en-US" dirty="0"/>
          </a:p>
        </p:txBody>
      </p:sp>
      <p:sp>
        <p:nvSpPr>
          <p:cNvPr id="7" name="Line 66">
            <a:extLst>
              <a:ext uri="{FF2B5EF4-FFF2-40B4-BE49-F238E27FC236}">
                <a16:creationId xmlns:a16="http://schemas.microsoft.com/office/drawing/2014/main" id="{00379C94-9660-514E-8573-54286DE89411}"/>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Line 66">
            <a:extLst>
              <a:ext uri="{FF2B5EF4-FFF2-40B4-BE49-F238E27FC236}">
                <a16:creationId xmlns:a16="http://schemas.microsoft.com/office/drawing/2014/main" id="{D15DDF22-1F41-F644-A1F1-7ADD56BDE3A3}"/>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11" name="Slide Number Placeholder 4">
            <a:extLst>
              <a:ext uri="{FF2B5EF4-FFF2-40B4-BE49-F238E27FC236}">
                <a16:creationId xmlns:a16="http://schemas.microsoft.com/office/drawing/2014/main" id="{68A78BD7-835C-4B42-B0A0-24D4E1AA390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69961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ribu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93A8F23-A2CA-264E-8907-B0144A7D91AF}"/>
              </a:ext>
            </a:extLst>
          </p:cNvPr>
          <p:cNvSpPr>
            <a:spLocks noGrp="1"/>
          </p:cNvSpPr>
          <p:nvPr>
            <p:ph type="body" sz="quarter" idx="10" hasCustomPrompt="1"/>
          </p:nvPr>
        </p:nvSpPr>
        <p:spPr>
          <a:xfrm>
            <a:off x="595200" y="106023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1</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5" name="Line 66">
            <a:extLst>
              <a:ext uri="{FF2B5EF4-FFF2-40B4-BE49-F238E27FC236}">
                <a16:creationId xmlns:a16="http://schemas.microsoft.com/office/drawing/2014/main" id="{86516E46-FEB4-8747-ABDB-067B42ABF68D}"/>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8" name="Picture Placeholder 7">
            <a:extLst>
              <a:ext uri="{FF2B5EF4-FFF2-40B4-BE49-F238E27FC236}">
                <a16:creationId xmlns:a16="http://schemas.microsoft.com/office/drawing/2014/main" id="{21898EFD-2916-7E45-875E-EDC4A17C4091}"/>
              </a:ext>
            </a:extLst>
          </p:cNvPr>
          <p:cNvSpPr>
            <a:spLocks noGrp="1"/>
          </p:cNvSpPr>
          <p:nvPr>
            <p:ph type="pic" sz="quarter" idx="11"/>
          </p:nvPr>
        </p:nvSpPr>
        <p:spPr>
          <a:xfrm>
            <a:off x="1761066" y="1749288"/>
            <a:ext cx="1456267" cy="914400"/>
          </a:xfrm>
        </p:spPr>
        <p:txBody>
          <a:bodyPr/>
          <a:lstStyle/>
          <a:p>
            <a:endParaRPr lang="en-US"/>
          </a:p>
        </p:txBody>
      </p:sp>
      <p:sp>
        <p:nvSpPr>
          <p:cNvPr id="9" name="Picture Placeholder 7">
            <a:extLst>
              <a:ext uri="{FF2B5EF4-FFF2-40B4-BE49-F238E27FC236}">
                <a16:creationId xmlns:a16="http://schemas.microsoft.com/office/drawing/2014/main" id="{1F72ABDE-5179-AD48-8D9D-B12289E15BEC}"/>
              </a:ext>
            </a:extLst>
          </p:cNvPr>
          <p:cNvSpPr>
            <a:spLocks noGrp="1"/>
          </p:cNvSpPr>
          <p:nvPr>
            <p:ph type="pic" sz="quarter" idx="12"/>
          </p:nvPr>
        </p:nvSpPr>
        <p:spPr>
          <a:xfrm>
            <a:off x="3843866" y="1749288"/>
            <a:ext cx="1456267" cy="914400"/>
          </a:xfrm>
        </p:spPr>
        <p:txBody>
          <a:bodyPr/>
          <a:lstStyle/>
          <a:p>
            <a:endParaRPr lang="en-US"/>
          </a:p>
        </p:txBody>
      </p:sp>
      <p:sp>
        <p:nvSpPr>
          <p:cNvPr id="22" name="Text Placeholder 3">
            <a:extLst>
              <a:ext uri="{FF2B5EF4-FFF2-40B4-BE49-F238E27FC236}">
                <a16:creationId xmlns:a16="http://schemas.microsoft.com/office/drawing/2014/main" id="{B91A572F-A890-4245-9D69-1E7986ADF746}"/>
              </a:ext>
            </a:extLst>
          </p:cNvPr>
          <p:cNvSpPr>
            <a:spLocks noGrp="1"/>
          </p:cNvSpPr>
          <p:nvPr>
            <p:ph type="body" sz="quarter" idx="13" hasCustomPrompt="1"/>
          </p:nvPr>
        </p:nvSpPr>
        <p:spPr>
          <a:xfrm>
            <a:off x="595200" y="312988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2</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23" name="Picture Placeholder 7">
            <a:extLst>
              <a:ext uri="{FF2B5EF4-FFF2-40B4-BE49-F238E27FC236}">
                <a16:creationId xmlns:a16="http://schemas.microsoft.com/office/drawing/2014/main" id="{15D737B2-4D4D-4242-8E23-8DE607338BCE}"/>
              </a:ext>
            </a:extLst>
          </p:cNvPr>
          <p:cNvSpPr>
            <a:spLocks noGrp="1"/>
          </p:cNvSpPr>
          <p:nvPr>
            <p:ph type="pic" sz="quarter" idx="14"/>
          </p:nvPr>
        </p:nvSpPr>
        <p:spPr>
          <a:xfrm>
            <a:off x="1761066" y="3818938"/>
            <a:ext cx="1456267" cy="914400"/>
          </a:xfrm>
        </p:spPr>
        <p:txBody>
          <a:bodyPr/>
          <a:lstStyle/>
          <a:p>
            <a:endParaRPr lang="en-US"/>
          </a:p>
        </p:txBody>
      </p:sp>
      <p:sp>
        <p:nvSpPr>
          <p:cNvPr id="24" name="Picture Placeholder 7">
            <a:extLst>
              <a:ext uri="{FF2B5EF4-FFF2-40B4-BE49-F238E27FC236}">
                <a16:creationId xmlns:a16="http://schemas.microsoft.com/office/drawing/2014/main" id="{96C1B088-3A02-5945-975E-54F1F9D0E5EF}"/>
              </a:ext>
            </a:extLst>
          </p:cNvPr>
          <p:cNvSpPr>
            <a:spLocks noGrp="1"/>
          </p:cNvSpPr>
          <p:nvPr>
            <p:ph type="pic" sz="quarter" idx="15"/>
          </p:nvPr>
        </p:nvSpPr>
        <p:spPr>
          <a:xfrm>
            <a:off x="3843866" y="3818938"/>
            <a:ext cx="1456267" cy="914400"/>
          </a:xfrm>
        </p:spPr>
        <p:txBody>
          <a:bodyPr/>
          <a:lstStyle/>
          <a:p>
            <a:endParaRPr lang="en-US"/>
          </a:p>
        </p:txBody>
      </p:sp>
      <p:sp>
        <p:nvSpPr>
          <p:cNvPr id="11" name="제목 1">
            <a:extLst>
              <a:ext uri="{FF2B5EF4-FFF2-40B4-BE49-F238E27FC236}">
                <a16:creationId xmlns:a16="http://schemas.microsoft.com/office/drawing/2014/main" id="{763F7E14-41AB-9449-929A-4F43668AF032}"/>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Summary of contributions</a:t>
            </a:r>
            <a:endParaRPr lang="ko-KR" altLang="en-US" dirty="0"/>
          </a:p>
        </p:txBody>
      </p:sp>
      <p:sp>
        <p:nvSpPr>
          <p:cNvPr id="13" name="Slide Number Placeholder 4">
            <a:extLst>
              <a:ext uri="{FF2B5EF4-FFF2-40B4-BE49-F238E27FC236}">
                <a16:creationId xmlns:a16="http://schemas.microsoft.com/office/drawing/2014/main" id="{218A7F7C-A154-3640-88AE-9E855B94CC3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62595915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close up of a sign&#10;&#10;Description automatically generated">
            <a:extLst>
              <a:ext uri="{FF2B5EF4-FFF2-40B4-BE49-F238E27FC236}">
                <a16:creationId xmlns:a16="http://schemas.microsoft.com/office/drawing/2014/main" id="{C6965342-B6F4-4E4D-AE27-465DB42B2B52}"/>
              </a:ext>
            </a:extLst>
          </p:cNvPr>
          <p:cNvPicPr>
            <a:picLocks noChangeAspect="1"/>
          </p:cNvPicPr>
          <p:nvPr userDrawn="1"/>
        </p:nvPicPr>
        <p:blipFill>
          <a:blip r:embed="rId11"/>
          <a:stretch>
            <a:fillRect/>
          </a:stretch>
        </p:blipFill>
        <p:spPr>
          <a:xfrm>
            <a:off x="8746670" y="6562249"/>
            <a:ext cx="292555" cy="156273"/>
          </a:xfrm>
          <a:prstGeom prst="rect">
            <a:avLst/>
          </a:prstGeom>
        </p:spPr>
      </p:pic>
      <p:sp>
        <p:nvSpPr>
          <p:cNvPr id="5" name="Slide Number Placeholder 4">
            <a:extLst>
              <a:ext uri="{FF2B5EF4-FFF2-40B4-BE49-F238E27FC236}">
                <a16:creationId xmlns:a16="http://schemas.microsoft.com/office/drawing/2014/main" id="{00ABD288-7B20-F443-BAE8-CBAAD13A464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400">
                <a:solidFill>
                  <a:srgbClr val="555960"/>
                </a:solidFill>
              </a:defRPr>
            </a:lvl1pPr>
          </a:lstStyle>
          <a:p>
            <a:fld id="{B7EB45DA-9A0D-DC49-8E02-F30A5DDC21C3}" type="slidenum">
              <a:t>‹#›</a:t>
            </a:fld>
            <a:endParaRPr lang="en-US"/>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6"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Lst>
  <p:hf hdr="0" dt="0"/>
  <p:txStyles>
    <p:titleStyle>
      <a:lvl1pPr algn="ctr" defTabSz="914400" rtl="0" eaLnBrk="1" latinLnBrk="0" hangingPunct="1">
        <a:lnSpc>
          <a:spcPct val="90000"/>
        </a:lnSpc>
        <a:spcBef>
          <a:spcPct val="0"/>
        </a:spcBef>
        <a:buNone/>
        <a:defRPr sz="2600" kern="1200" cap="none" spc="200" baseline="0">
          <a:solidFill>
            <a:srgbClr val="262626"/>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Header"/>
          <p:cNvSpPr/>
          <p:nvPr/>
        </p:nvSpPr>
        <p:spPr>
          <a:xfrm>
            <a:off x="438912" y="384048"/>
            <a:ext cx="8266176"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000000"/>
                </a:solidFill>
              </a:rPr>
              <a:t>Software Engineering</a:t>
            </a:r>
          </a:p>
          <a:p>
            <a:pPr algn="ctr"/>
            <a:r>
              <a:rPr sz="2000" b="0" i="0" dirty="0">
                <a:solidFill>
                  <a:srgbClr val="000000"/>
                </a:solidFill>
              </a:rPr>
              <a:t>ECE 30861 / CSCI 45000</a:t>
            </a:r>
          </a:p>
        </p:txBody>
      </p:sp>
      <p:sp>
        <p:nvSpPr>
          <p:cNvPr id="1003" name="TitleBlock"/>
          <p:cNvSpPr txBox="1"/>
          <p:nvPr/>
        </p:nvSpPr>
        <p:spPr>
          <a:xfrm>
            <a:off x="219456" y="1828800"/>
            <a:ext cx="8695944" cy="2651760"/>
          </a:xfrm>
          <a:prstGeom prst="rect">
            <a:avLst/>
          </a:prstGeom>
          <a:noFill/>
        </p:spPr>
        <p:txBody>
          <a:bodyPr wrap="square" lIns="27432" tIns="22860" rIns="27432" bIns="22860" anchor="ctr">
            <a:spAutoFit/>
          </a:bodyPr>
          <a:lstStyle/>
          <a:p>
            <a:pPr algn="ctr"/>
            <a:r>
              <a:rPr sz="4000" b="1" i="0" dirty="0">
                <a:solidFill>
                  <a:srgbClr val="000000"/>
                </a:solidFill>
              </a:rPr>
              <a:t>Compute Environments &amp; Deployment</a:t>
            </a:r>
          </a:p>
          <a:p>
            <a:pPr algn="ctr">
              <a:spcBef>
                <a:spcPts val="1400"/>
              </a:spcBef>
            </a:pPr>
            <a:r>
              <a:rPr sz="2000" b="0" i="1" dirty="0">
                <a:solidFill>
                  <a:srgbClr val="000000"/>
                </a:solidFill>
              </a:rPr>
              <a:t>Where does software execute, and how do we ensure that it runs acceptably there?</a:t>
            </a:r>
          </a:p>
          <a:p>
            <a:pPr algn="ctr">
              <a:spcBef>
                <a:spcPts val="1400"/>
              </a:spcBef>
            </a:pPr>
            <a:r>
              <a:rPr sz="2000" b="0" i="0" dirty="0">
                <a:solidFill>
                  <a:srgbClr val="000000"/>
                </a:solidFill>
              </a:rPr>
              <a:t>Act III, Engineering Software Systems</a:t>
            </a:r>
          </a:p>
          <a:p>
            <a:pPr algn="ctr">
              <a:spcBef>
                <a:spcPts val="1000"/>
              </a:spcBef>
            </a:pPr>
            <a:r>
              <a:rPr sz="2000" b="0" i="0" dirty="0">
                <a:solidFill>
                  <a:srgbClr val="000000"/>
                </a:solidFill>
              </a:rPr>
              <a:t>Prof. James C. Davis · Prof. Steve France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Today: five engineering movements</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2000" name="Card"/>
          <p:cNvSpPr/>
          <p:nvPr/>
        </p:nvSpPr>
        <p:spPr>
          <a:xfrm>
            <a:off x="411480" y="960120"/>
            <a:ext cx="8321040" cy="78638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endParaRPr/>
          </a:p>
        </p:txBody>
      </p:sp>
      <p:sp>
        <p:nvSpPr>
          <p:cNvPr id="2001" name="RowLabel"/>
          <p:cNvSpPr/>
          <p:nvPr/>
        </p:nvSpPr>
        <p:spPr>
          <a:xfrm>
            <a:off x="557784" y="978408"/>
            <a:ext cx="2788920" cy="7498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8E6F3E"/>
                </a:solidFill>
              </a:rPr>
              <a:t>Execution environments</a:t>
            </a:r>
          </a:p>
        </p:txBody>
      </p:sp>
      <p:sp>
        <p:nvSpPr>
          <p:cNvPr id="2002" name="RowBody"/>
          <p:cNvSpPr/>
          <p:nvPr/>
        </p:nvSpPr>
        <p:spPr>
          <a:xfrm>
            <a:off x="3438144" y="978408"/>
            <a:ext cx="5166360" cy="7498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What does software require from its environment?</a:t>
            </a:r>
          </a:p>
        </p:txBody>
      </p:sp>
      <p:sp>
        <p:nvSpPr>
          <p:cNvPr id="2003" name="Card"/>
          <p:cNvSpPr/>
          <p:nvPr/>
        </p:nvSpPr>
        <p:spPr>
          <a:xfrm>
            <a:off x="411480" y="1856232"/>
            <a:ext cx="8321040" cy="78638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endParaRPr/>
          </a:p>
        </p:txBody>
      </p:sp>
      <p:sp>
        <p:nvSpPr>
          <p:cNvPr id="2004" name="RowLabel"/>
          <p:cNvSpPr/>
          <p:nvPr/>
        </p:nvSpPr>
        <p:spPr>
          <a:xfrm>
            <a:off x="557784" y="1874520"/>
            <a:ext cx="2788920" cy="7498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8E6F3E"/>
                </a:solidFill>
              </a:rPr>
              <a:t>Deployment models</a:t>
            </a:r>
          </a:p>
        </p:txBody>
      </p:sp>
      <p:sp>
        <p:nvSpPr>
          <p:cNvPr id="2005" name="RowBody"/>
          <p:cNvSpPr/>
          <p:nvPr/>
        </p:nvSpPr>
        <p:spPr>
          <a:xfrm>
            <a:off x="3438144" y="1874520"/>
            <a:ext cx="5166360" cy="7498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How do we represent and compare alternatives?</a:t>
            </a:r>
          </a:p>
        </p:txBody>
      </p:sp>
      <p:sp>
        <p:nvSpPr>
          <p:cNvPr id="2006" name="Card"/>
          <p:cNvSpPr/>
          <p:nvPr/>
        </p:nvSpPr>
        <p:spPr>
          <a:xfrm>
            <a:off x="411480" y="2752344"/>
            <a:ext cx="8321040" cy="78638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endParaRPr/>
          </a:p>
        </p:txBody>
      </p:sp>
      <p:sp>
        <p:nvSpPr>
          <p:cNvPr id="2007" name="RowLabel"/>
          <p:cNvSpPr/>
          <p:nvPr/>
        </p:nvSpPr>
        <p:spPr>
          <a:xfrm>
            <a:off x="557784" y="2770632"/>
            <a:ext cx="2788920" cy="7498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8E6F3E"/>
                </a:solidFill>
              </a:rPr>
              <a:t>Reproducibility and CI/CD</a:t>
            </a:r>
          </a:p>
        </p:txBody>
      </p:sp>
      <p:sp>
        <p:nvSpPr>
          <p:cNvPr id="2008" name="RowBody"/>
          <p:cNvSpPr/>
          <p:nvPr/>
        </p:nvSpPr>
        <p:spPr>
          <a:xfrm>
            <a:off x="3438144" y="2770632"/>
            <a:ext cx="5166360" cy="7498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How do we produce and evaluate deployable changes?</a:t>
            </a:r>
          </a:p>
        </p:txBody>
      </p:sp>
      <p:sp>
        <p:nvSpPr>
          <p:cNvPr id="2009" name="Card"/>
          <p:cNvSpPr/>
          <p:nvPr/>
        </p:nvSpPr>
        <p:spPr>
          <a:xfrm>
            <a:off x="411480" y="3648456"/>
            <a:ext cx="8321040" cy="78638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endParaRPr/>
          </a:p>
        </p:txBody>
      </p:sp>
      <p:sp>
        <p:nvSpPr>
          <p:cNvPr id="2010" name="RowLabel"/>
          <p:cNvSpPr/>
          <p:nvPr/>
        </p:nvSpPr>
        <p:spPr>
          <a:xfrm>
            <a:off x="557784" y="3666744"/>
            <a:ext cx="2788920" cy="7498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8E6F3E"/>
                </a:solidFill>
              </a:rPr>
              <a:t>Release management</a:t>
            </a:r>
          </a:p>
        </p:txBody>
      </p:sp>
      <p:sp>
        <p:nvSpPr>
          <p:cNvPr id="2011" name="RowBody"/>
          <p:cNvSpPr/>
          <p:nvPr/>
        </p:nvSpPr>
        <p:spPr>
          <a:xfrm>
            <a:off x="3438144" y="3666744"/>
            <a:ext cx="5166360" cy="7498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How do we control exposure to new versions?</a:t>
            </a:r>
          </a:p>
        </p:txBody>
      </p:sp>
      <p:sp>
        <p:nvSpPr>
          <p:cNvPr id="2012" name="Card"/>
          <p:cNvSpPr/>
          <p:nvPr/>
        </p:nvSpPr>
        <p:spPr>
          <a:xfrm>
            <a:off x="411480" y="4544568"/>
            <a:ext cx="8321040" cy="78638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endParaRPr/>
          </a:p>
        </p:txBody>
      </p:sp>
      <p:sp>
        <p:nvSpPr>
          <p:cNvPr id="2013" name="RowLabel"/>
          <p:cNvSpPr/>
          <p:nvPr/>
        </p:nvSpPr>
        <p:spPr>
          <a:xfrm>
            <a:off x="557784" y="4562856"/>
            <a:ext cx="2788920" cy="7498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8E6F3E"/>
                </a:solidFill>
              </a:rPr>
              <a:t>Engineering judgment</a:t>
            </a:r>
          </a:p>
        </p:txBody>
      </p:sp>
      <p:sp>
        <p:nvSpPr>
          <p:cNvPr id="2014" name="RowBody"/>
          <p:cNvSpPr/>
          <p:nvPr/>
        </p:nvSpPr>
        <p:spPr>
          <a:xfrm>
            <a:off x="3438144" y="4562856"/>
            <a:ext cx="5166360" cy="7498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Which deployment satisfies our requirements?</a:t>
            </a:r>
          </a:p>
        </p:txBody>
      </p:sp>
      <p:sp>
        <p:nvSpPr>
          <p:cNvPr id="2030" name="FooterBand"/>
          <p:cNvSpPr/>
          <p:nvPr/>
        </p:nvSpPr>
        <p:spPr>
          <a:xfrm>
            <a:off x="274320" y="5513832"/>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One obligation threads the lecture: the reservation service must remain</a:t>
            </a:r>
          </a:p>
          <a:p>
            <a:pPr algn="ctr">
              <a:spcBef>
                <a:spcPts val="300"/>
              </a:spcBef>
            </a:pPr>
            <a:r>
              <a:rPr sz="2000" b="1" i="0" dirty="0">
                <a:solidFill>
                  <a:srgbClr val="FFFFFF"/>
                </a:solidFill>
              </a:rPr>
              <a:t>accessible to its intended users under specified operating conditions.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An application depends on its environment</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14" name="FooterBand"/>
          <p:cNvSpPr/>
          <p:nvPr/>
        </p:nvSpPr>
        <p:spPr>
          <a:xfrm>
            <a:off x="274320" y="5512918"/>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 deployment is acceptable only if the environment</a:t>
            </a:r>
          </a:p>
          <a:p>
            <a:pPr algn="ctr">
              <a:spcBef>
                <a:spcPts val="300"/>
              </a:spcBef>
            </a:pPr>
            <a:r>
              <a:rPr sz="2000" b="1" i="0" dirty="0">
                <a:solidFill>
                  <a:srgbClr val="FFFFFF"/>
                </a:solidFill>
              </a:rPr>
              <a:t>satisfies the application's requirements</a:t>
            </a:r>
          </a:p>
        </p:txBody>
      </p:sp>
      <p:sp>
        <p:nvSpPr>
          <p:cNvPr id="2301" name="Block"/>
          <p:cNvSpPr/>
          <p:nvPr/>
        </p:nvSpPr>
        <p:spPr>
          <a:xfrm>
            <a:off x="411480" y="1097280"/>
            <a:ext cx="3291840" cy="4114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APPLICATION REQUIRES</a:t>
            </a:r>
          </a:p>
        </p:txBody>
      </p:sp>
      <p:sp>
        <p:nvSpPr>
          <p:cNvPr id="2302" name="Block"/>
          <p:cNvSpPr/>
          <p:nvPr/>
        </p:nvSpPr>
        <p:spPr>
          <a:xfrm>
            <a:off x="5440680" y="1097280"/>
            <a:ext cx="3291840" cy="4114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ENVIRONMENT PROVIDES</a:t>
            </a:r>
          </a:p>
        </p:txBody>
      </p:sp>
      <p:sp>
        <p:nvSpPr>
          <p:cNvPr id="2310" name="Card"/>
          <p:cNvSpPr/>
          <p:nvPr/>
        </p:nvSpPr>
        <p:spPr>
          <a:xfrm>
            <a:off x="411480" y="1691640"/>
            <a:ext cx="3291840" cy="65836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Python runtime</a:t>
            </a:r>
          </a:p>
        </p:txBody>
      </p:sp>
      <p:cxnSp>
        <p:nvCxnSpPr>
          <p:cNvPr id="2320" name="Connector"/>
          <p:cNvCxnSpPr/>
          <p:nvPr/>
        </p:nvCxnSpPr>
        <p:spPr>
          <a:xfrm>
            <a:off x="3703320" y="2020824"/>
            <a:ext cx="173736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311" name="Card"/>
          <p:cNvSpPr/>
          <p:nvPr/>
        </p:nvSpPr>
        <p:spPr>
          <a:xfrm>
            <a:off x="411480" y="2478024"/>
            <a:ext cx="3291840" cy="65836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memory for reservation state</a:t>
            </a:r>
          </a:p>
        </p:txBody>
      </p:sp>
      <p:cxnSp>
        <p:nvCxnSpPr>
          <p:cNvPr id="2321" name="Connector"/>
          <p:cNvCxnSpPr/>
          <p:nvPr/>
        </p:nvCxnSpPr>
        <p:spPr>
          <a:xfrm>
            <a:off x="3703320" y="2807208"/>
            <a:ext cx="173736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312" name="Card"/>
          <p:cNvSpPr/>
          <p:nvPr/>
        </p:nvSpPr>
        <p:spPr>
          <a:xfrm>
            <a:off x="411480" y="3264408"/>
            <a:ext cx="3291840" cy="65836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HTTP listener on a port</a:t>
            </a:r>
          </a:p>
        </p:txBody>
      </p:sp>
      <p:cxnSp>
        <p:nvCxnSpPr>
          <p:cNvPr id="2322" name="Connector"/>
          <p:cNvCxnSpPr/>
          <p:nvPr/>
        </p:nvCxnSpPr>
        <p:spPr>
          <a:xfrm>
            <a:off x="3703320" y="3593592"/>
            <a:ext cx="173736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313" name="Card"/>
          <p:cNvSpPr/>
          <p:nvPr/>
        </p:nvSpPr>
        <p:spPr>
          <a:xfrm>
            <a:off x="411480" y="4050792"/>
            <a:ext cx="3291840" cy="65836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network connectivity</a:t>
            </a:r>
          </a:p>
        </p:txBody>
      </p:sp>
      <p:cxnSp>
        <p:nvCxnSpPr>
          <p:cNvPr id="2323" name="Connector"/>
          <p:cNvCxnSpPr/>
          <p:nvPr/>
        </p:nvCxnSpPr>
        <p:spPr>
          <a:xfrm>
            <a:off x="3703320" y="4379976"/>
            <a:ext cx="173736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330" name="Card"/>
          <p:cNvSpPr/>
          <p:nvPr/>
        </p:nvSpPr>
        <p:spPr>
          <a:xfrm>
            <a:off x="5440680" y="1691640"/>
            <a:ext cx="3291840" cy="65836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operating system and runtime</a:t>
            </a:r>
          </a:p>
        </p:txBody>
      </p:sp>
      <p:sp>
        <p:nvSpPr>
          <p:cNvPr id="2331" name="Card"/>
          <p:cNvSpPr/>
          <p:nvPr/>
        </p:nvSpPr>
        <p:spPr>
          <a:xfrm>
            <a:off x="5440680" y="2478024"/>
            <a:ext cx="3291840" cy="65836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CPU and memory</a:t>
            </a:r>
          </a:p>
        </p:txBody>
      </p:sp>
      <p:sp>
        <p:nvSpPr>
          <p:cNvPr id="2332" name="Card"/>
          <p:cNvSpPr/>
          <p:nvPr/>
        </p:nvSpPr>
        <p:spPr>
          <a:xfrm>
            <a:off x="5440680" y="3264408"/>
            <a:ext cx="3291840" cy="1444752"/>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network interface</a:t>
            </a:r>
          </a:p>
        </p:txBody>
      </p:sp>
      <p:sp>
        <p:nvSpPr>
          <p:cNvPr id="2333" name="Card"/>
          <p:cNvSpPr/>
          <p:nvPr/>
        </p:nvSpPr>
        <p:spPr>
          <a:xfrm>
            <a:off x="5440680" y="4818888"/>
            <a:ext cx="3291840" cy="603504"/>
          </a:xfrm>
          <a:prstGeom prst="rect">
            <a:avLst/>
          </a:prstGeom>
          <a:solidFill>
            <a:srgbClr val="F5F1E8"/>
          </a:solidFill>
          <a:ln w="12700">
            <a:solidFill>
              <a:srgbClr val="C9B991"/>
            </a:solidFill>
            <a:prstDash val="dash"/>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55960"/>
                </a:solidFill>
              </a:rPr>
              <a:t>storage</a:t>
            </a:r>
          </a:p>
          <a:p>
            <a:pPr algn="ctr">
              <a:spcBef>
                <a:spcPts val="300"/>
              </a:spcBef>
            </a:pPr>
            <a:r>
              <a:rPr sz="2000" b="0" i="1" dirty="0">
                <a:solidFill>
                  <a:srgbClr val="555960"/>
                </a:solidFill>
              </a:rPr>
              <a:t>provided, not yet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Different environments, different constraints</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Block"/>
          <p:cNvSpPr/>
          <p:nvPr/>
        </p:nvSpPr>
        <p:spPr>
          <a:xfrm>
            <a:off x="365760" y="1051560"/>
            <a:ext cx="169164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EMBEDDED</a:t>
            </a:r>
          </a:p>
        </p:txBody>
      </p:sp>
      <p:sp>
        <p:nvSpPr>
          <p:cNvPr id="1003" name="Label"/>
          <p:cNvSpPr/>
          <p:nvPr/>
        </p:nvSpPr>
        <p:spPr>
          <a:xfrm>
            <a:off x="2240280" y="1069848"/>
            <a:ext cx="658368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must continue operating without network connectivity</a:t>
            </a:r>
          </a:p>
        </p:txBody>
      </p:sp>
      <p:sp>
        <p:nvSpPr>
          <p:cNvPr id="1004" name="Block"/>
          <p:cNvSpPr/>
          <p:nvPr/>
        </p:nvSpPr>
        <p:spPr>
          <a:xfrm>
            <a:off x="365760" y="1847088"/>
            <a:ext cx="169164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MOBILE</a:t>
            </a:r>
          </a:p>
        </p:txBody>
      </p:sp>
      <p:sp>
        <p:nvSpPr>
          <p:cNvPr id="1005" name="Label"/>
          <p:cNvSpPr/>
          <p:nvPr/>
        </p:nvSpPr>
        <p:spPr>
          <a:xfrm>
            <a:off x="2240280" y="1865376"/>
            <a:ext cx="658368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must preserve state when the OS terminates the process</a:t>
            </a:r>
          </a:p>
        </p:txBody>
      </p:sp>
      <p:sp>
        <p:nvSpPr>
          <p:cNvPr id="1006" name="Block"/>
          <p:cNvSpPr/>
          <p:nvPr/>
        </p:nvSpPr>
        <p:spPr>
          <a:xfrm>
            <a:off x="365760" y="2642616"/>
            <a:ext cx="169164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DESKTOP</a:t>
            </a:r>
          </a:p>
        </p:txBody>
      </p:sp>
      <p:sp>
        <p:nvSpPr>
          <p:cNvPr id="1007" name="Label"/>
          <p:cNvSpPr/>
          <p:nvPr/>
        </p:nvSpPr>
        <p:spPr>
          <a:xfrm>
            <a:off x="2240280" y="2660904"/>
            <a:ext cx="658368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must install and update across heterogeneous machines</a:t>
            </a:r>
          </a:p>
        </p:txBody>
      </p:sp>
      <p:sp>
        <p:nvSpPr>
          <p:cNvPr id="1008" name="Block"/>
          <p:cNvSpPr/>
          <p:nvPr/>
        </p:nvSpPr>
        <p:spPr>
          <a:xfrm>
            <a:off x="365760" y="3438144"/>
            <a:ext cx="169164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SERVER</a:t>
            </a:r>
          </a:p>
        </p:txBody>
      </p:sp>
      <p:sp>
        <p:nvSpPr>
          <p:cNvPr id="1009" name="Label"/>
          <p:cNvSpPr/>
          <p:nvPr/>
        </p:nvSpPr>
        <p:spPr>
          <a:xfrm>
            <a:off x="2240280" y="3456432"/>
            <a:ext cx="658368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must serve concurrent users with predictable availability</a:t>
            </a:r>
          </a:p>
        </p:txBody>
      </p:sp>
      <p:sp>
        <p:nvSpPr>
          <p:cNvPr id="1010" name="Block"/>
          <p:cNvSpPr/>
          <p:nvPr/>
        </p:nvSpPr>
        <p:spPr>
          <a:xfrm>
            <a:off x="365760" y="4233672"/>
            <a:ext cx="169164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CLOUD</a:t>
            </a:r>
          </a:p>
        </p:txBody>
      </p:sp>
      <p:sp>
        <p:nvSpPr>
          <p:cNvPr id="1011" name="Label"/>
          <p:cNvSpPr/>
          <p:nvPr/>
        </p:nvSpPr>
        <p:spPr>
          <a:xfrm>
            <a:off x="2240280" y="4251960"/>
            <a:ext cx="658368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must scale capacity while managing provider dependencies</a:t>
            </a:r>
          </a:p>
        </p:txBody>
      </p:sp>
      <p:sp>
        <p:nvSpPr>
          <p:cNvPr id="1012" name="Label"/>
          <p:cNvSpPr/>
          <p:nvPr/>
        </p:nvSpPr>
        <p:spPr>
          <a:xfrm>
            <a:off x="365760" y="5047488"/>
            <a:ext cx="841248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1" dirty="0">
                <a:solidFill>
                  <a:srgbClr val="555960"/>
                </a:solidFill>
              </a:rPr>
              <a:t>The rows combine: a mobile app may lean on cloud services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Processes, containers, and virtual machines</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2401" name="Label"/>
          <p:cNvSpPr/>
          <p:nvPr/>
        </p:nvSpPr>
        <p:spPr>
          <a:xfrm>
            <a:off x="411480" y="1051560"/>
            <a:ext cx="246888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PROCESS</a:t>
            </a:r>
          </a:p>
        </p:txBody>
      </p:sp>
      <p:sp>
        <p:nvSpPr>
          <p:cNvPr id="2402" name="Label"/>
          <p:cNvSpPr/>
          <p:nvPr/>
        </p:nvSpPr>
        <p:spPr>
          <a:xfrm>
            <a:off x="3337560" y="1051560"/>
            <a:ext cx="246888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CONTAINER</a:t>
            </a:r>
          </a:p>
        </p:txBody>
      </p:sp>
      <p:sp>
        <p:nvSpPr>
          <p:cNvPr id="2403" name="Label"/>
          <p:cNvSpPr/>
          <p:nvPr/>
        </p:nvSpPr>
        <p:spPr>
          <a:xfrm>
            <a:off x="6263640" y="1051560"/>
            <a:ext cx="246888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VIRTUAL MACHINE</a:t>
            </a:r>
          </a:p>
        </p:txBody>
      </p:sp>
      <p:sp>
        <p:nvSpPr>
          <p:cNvPr id="2404" name="Block"/>
          <p:cNvSpPr/>
          <p:nvPr/>
        </p:nvSpPr>
        <p:spPr>
          <a:xfrm>
            <a:off x="411480" y="2514600"/>
            <a:ext cx="246888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app process</a:t>
            </a:r>
          </a:p>
        </p:txBody>
      </p:sp>
      <p:sp>
        <p:nvSpPr>
          <p:cNvPr id="2405" name="Card"/>
          <p:cNvSpPr/>
          <p:nvPr/>
        </p:nvSpPr>
        <p:spPr>
          <a:xfrm>
            <a:off x="411480" y="3154680"/>
            <a:ext cx="2468880" cy="548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host OS</a:t>
            </a:r>
          </a:p>
        </p:txBody>
      </p:sp>
      <p:sp>
        <p:nvSpPr>
          <p:cNvPr id="2406" name="Card"/>
          <p:cNvSpPr/>
          <p:nvPr/>
        </p:nvSpPr>
        <p:spPr>
          <a:xfrm>
            <a:off x="411480" y="3794760"/>
            <a:ext cx="2468880" cy="548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hardware</a:t>
            </a:r>
          </a:p>
        </p:txBody>
      </p:sp>
      <p:sp>
        <p:nvSpPr>
          <p:cNvPr id="2407" name="Label"/>
          <p:cNvSpPr/>
          <p:nvPr/>
        </p:nvSpPr>
        <p:spPr>
          <a:xfrm>
            <a:off x="3337560" y="2148840"/>
            <a:ext cx="246888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isolated processes</a:t>
            </a:r>
          </a:p>
        </p:txBody>
      </p:sp>
      <p:sp>
        <p:nvSpPr>
          <p:cNvPr id="2408" name="Block"/>
          <p:cNvSpPr/>
          <p:nvPr/>
        </p:nvSpPr>
        <p:spPr>
          <a:xfrm>
            <a:off x="3337560" y="2514600"/>
            <a:ext cx="1170432"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app</a:t>
            </a:r>
          </a:p>
        </p:txBody>
      </p:sp>
      <p:sp>
        <p:nvSpPr>
          <p:cNvPr id="2409" name="Block"/>
          <p:cNvSpPr/>
          <p:nvPr/>
        </p:nvSpPr>
        <p:spPr>
          <a:xfrm>
            <a:off x="4636008" y="2514600"/>
            <a:ext cx="1170432"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app</a:t>
            </a:r>
          </a:p>
        </p:txBody>
      </p:sp>
      <p:sp>
        <p:nvSpPr>
          <p:cNvPr id="2410" name="Card"/>
          <p:cNvSpPr/>
          <p:nvPr/>
        </p:nvSpPr>
        <p:spPr>
          <a:xfrm>
            <a:off x="3337560" y="3154680"/>
            <a:ext cx="2468880" cy="548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shared host kernel</a:t>
            </a:r>
          </a:p>
        </p:txBody>
      </p:sp>
      <p:sp>
        <p:nvSpPr>
          <p:cNvPr id="2411" name="Card"/>
          <p:cNvSpPr/>
          <p:nvPr/>
        </p:nvSpPr>
        <p:spPr>
          <a:xfrm>
            <a:off x="3337560" y="3794760"/>
            <a:ext cx="2468880" cy="548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hardware</a:t>
            </a:r>
          </a:p>
        </p:txBody>
      </p:sp>
      <p:sp>
        <p:nvSpPr>
          <p:cNvPr id="2412" name="Block"/>
          <p:cNvSpPr/>
          <p:nvPr/>
        </p:nvSpPr>
        <p:spPr>
          <a:xfrm>
            <a:off x="6263640" y="1874520"/>
            <a:ext cx="246888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app process</a:t>
            </a:r>
          </a:p>
        </p:txBody>
      </p:sp>
      <p:sp>
        <p:nvSpPr>
          <p:cNvPr id="2413" name="Card"/>
          <p:cNvSpPr/>
          <p:nvPr/>
        </p:nvSpPr>
        <p:spPr>
          <a:xfrm>
            <a:off x="6263640" y="2514600"/>
            <a:ext cx="2468880" cy="548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guest OS</a:t>
            </a:r>
          </a:p>
        </p:txBody>
      </p:sp>
      <p:sp>
        <p:nvSpPr>
          <p:cNvPr id="2414" name="Card"/>
          <p:cNvSpPr/>
          <p:nvPr/>
        </p:nvSpPr>
        <p:spPr>
          <a:xfrm>
            <a:off x="6263640" y="3154680"/>
            <a:ext cx="2468880" cy="548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virtual hardware,</a:t>
            </a:r>
          </a:p>
          <a:p>
            <a:pPr algn="ctr">
              <a:spcBef>
                <a:spcPts val="300"/>
              </a:spcBef>
            </a:pPr>
            <a:r>
              <a:rPr sz="2000" b="0" i="0" dirty="0">
                <a:solidFill>
                  <a:srgbClr val="5C4826"/>
                </a:solidFill>
              </a:rPr>
              <a:t>hypervisor</a:t>
            </a:r>
          </a:p>
        </p:txBody>
      </p:sp>
      <p:sp>
        <p:nvSpPr>
          <p:cNvPr id="2415" name="Card"/>
          <p:cNvSpPr/>
          <p:nvPr/>
        </p:nvSpPr>
        <p:spPr>
          <a:xfrm>
            <a:off x="6263640" y="3794760"/>
            <a:ext cx="2468880" cy="548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host hardware</a:t>
            </a:r>
          </a:p>
        </p:txBody>
      </p:sp>
      <p:sp>
        <p:nvSpPr>
          <p:cNvPr id="2416" name="Label"/>
          <p:cNvSpPr/>
          <p:nvPr/>
        </p:nvSpPr>
        <p:spPr>
          <a:xfrm>
            <a:off x="365760" y="4709160"/>
            <a:ext cx="841248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Deployment target is not execution mechanism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Exercise: reservations with no connectivity</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2501" name="Block"/>
          <p:cNvSpPr/>
          <p:nvPr/>
        </p:nvSpPr>
        <p:spPr>
          <a:xfrm>
            <a:off x="411480" y="1371600"/>
            <a:ext cx="832104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 mobile version of the reservation app</a:t>
            </a:r>
          </a:p>
          <a:p>
            <a:pPr algn="ctr">
              <a:spcBef>
                <a:spcPts val="300"/>
              </a:spcBef>
            </a:pPr>
            <a:r>
              <a:rPr sz="2000" b="1" i="0" dirty="0">
                <a:solidFill>
                  <a:srgbClr val="FFFFFF"/>
                </a:solidFill>
              </a:rPr>
              <a:t>must keep working with no network connectivity</a:t>
            </a:r>
          </a:p>
        </p:txBody>
      </p:sp>
      <p:sp>
        <p:nvSpPr>
          <p:cNvPr id="2502" name="Card"/>
          <p:cNvSpPr/>
          <p:nvPr/>
        </p:nvSpPr>
        <p:spPr>
          <a:xfrm>
            <a:off x="411480" y="2743200"/>
            <a:ext cx="2651760" cy="15544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REQUIRES</a:t>
            </a:r>
          </a:p>
          <a:p>
            <a:pPr algn="ctr">
              <a:spcBef>
                <a:spcPts val="300"/>
              </a:spcBef>
            </a:pPr>
            <a:r>
              <a:rPr sz="2000" b="0" i="0" dirty="0">
                <a:solidFill>
                  <a:srgbClr val="5C4826"/>
                </a:solidFill>
              </a:rPr>
              <a:t>What does the app need</a:t>
            </a:r>
          </a:p>
          <a:p>
            <a:pPr algn="ctr">
              <a:spcBef>
                <a:spcPts val="300"/>
              </a:spcBef>
            </a:pPr>
            <a:r>
              <a:rPr sz="2000" b="0" i="0" dirty="0">
                <a:solidFill>
                  <a:srgbClr val="5C4826"/>
                </a:solidFill>
              </a:rPr>
              <a:t>from its environment?</a:t>
            </a:r>
          </a:p>
        </p:txBody>
      </p:sp>
      <p:sp>
        <p:nvSpPr>
          <p:cNvPr id="2503" name="Card"/>
          <p:cNvSpPr/>
          <p:nvPr/>
        </p:nvSpPr>
        <p:spPr>
          <a:xfrm>
            <a:off x="3246120" y="2743200"/>
            <a:ext cx="2651760" cy="15544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SUPPLIES</a:t>
            </a:r>
          </a:p>
          <a:p>
            <a:pPr algn="ctr">
              <a:spcBef>
                <a:spcPts val="300"/>
              </a:spcBef>
            </a:pPr>
            <a:r>
              <a:rPr sz="2000" b="0" i="0" dirty="0">
                <a:solidFill>
                  <a:srgbClr val="5C4826"/>
                </a:solidFill>
              </a:rPr>
              <a:t>Which needs can a phone</a:t>
            </a:r>
          </a:p>
          <a:p>
            <a:pPr algn="ctr">
              <a:spcBef>
                <a:spcPts val="300"/>
              </a:spcBef>
            </a:pPr>
            <a:r>
              <a:rPr sz="2000" b="0" i="0" dirty="0">
                <a:solidFill>
                  <a:srgbClr val="5C4826"/>
                </a:solidFill>
              </a:rPr>
              <a:t>no longer satisfy?</a:t>
            </a:r>
          </a:p>
        </p:txBody>
      </p:sp>
      <p:sp>
        <p:nvSpPr>
          <p:cNvPr id="2504" name="Card"/>
          <p:cNvSpPr/>
          <p:nvPr/>
        </p:nvSpPr>
        <p:spPr>
          <a:xfrm>
            <a:off x="6080760" y="2743200"/>
            <a:ext cx="2651760" cy="15544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STATE</a:t>
            </a:r>
          </a:p>
          <a:p>
            <a:pPr algn="ctr">
              <a:spcBef>
                <a:spcPts val="300"/>
              </a:spcBef>
            </a:pPr>
            <a:r>
              <a:rPr sz="2000" b="0" i="0" dirty="0">
                <a:solidFill>
                  <a:srgbClr val="5C4826"/>
                </a:solidFill>
              </a:rPr>
              <a:t>What must survive when</a:t>
            </a:r>
          </a:p>
          <a:p>
            <a:pPr algn="ctr">
              <a:spcBef>
                <a:spcPts val="300"/>
              </a:spcBef>
            </a:pPr>
            <a:r>
              <a:rPr sz="2000" b="0" i="0" dirty="0">
                <a:solidFill>
                  <a:srgbClr val="5C4826"/>
                </a:solidFill>
              </a:rPr>
              <a:t>the OS kills the process?</a:t>
            </a:r>
          </a:p>
        </p:txBody>
      </p:sp>
      <p:sp>
        <p:nvSpPr>
          <p:cNvPr id="2505" name="FooterBand"/>
          <p:cNvSpPr/>
          <p:nvPr/>
        </p:nvSpPr>
        <p:spPr>
          <a:xfrm>
            <a:off x="274320" y="5513832"/>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Which environmental assumptions become consequential?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Deployment topology for the reservation service</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2601" name="StateSlab"/>
          <p:cNvSpPr/>
          <p:nvPr/>
        </p:nvSpPr>
        <p:spPr>
          <a:xfrm>
            <a:off x="365760" y="1097280"/>
            <a:ext cx="3886200" cy="23774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endParaRPr/>
          </a:p>
        </p:txBody>
      </p:sp>
      <p:sp>
        <p:nvSpPr>
          <p:cNvPr id="2602" name="Label"/>
          <p:cNvSpPr/>
          <p:nvPr/>
        </p:nvSpPr>
        <p:spPr>
          <a:xfrm>
            <a:off x="502920" y="1188720"/>
            <a:ext cx="219456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C4826"/>
                </a:solidFill>
              </a:rPr>
              <a:t>CURRENT</a:t>
            </a:r>
          </a:p>
        </p:txBody>
      </p:sp>
      <p:sp>
        <p:nvSpPr>
          <p:cNvPr id="2603" name="Block"/>
          <p:cNvSpPr/>
          <p:nvPr/>
        </p:nvSpPr>
        <p:spPr>
          <a:xfrm>
            <a:off x="548640" y="1874520"/>
            <a:ext cx="118872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browser</a:t>
            </a:r>
          </a:p>
        </p:txBody>
      </p:sp>
      <p:cxnSp>
        <p:nvCxnSpPr>
          <p:cNvPr id="2604" name="Connector"/>
          <p:cNvCxnSpPr/>
          <p:nvPr/>
        </p:nvCxnSpPr>
        <p:spPr>
          <a:xfrm>
            <a:off x="1737360" y="2286000"/>
            <a:ext cx="41148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605" name="Block"/>
          <p:cNvSpPr/>
          <p:nvPr/>
        </p:nvSpPr>
        <p:spPr>
          <a:xfrm>
            <a:off x="2148840" y="1737360"/>
            <a:ext cx="1920240" cy="10972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reservation</a:t>
            </a:r>
          </a:p>
          <a:p>
            <a:pPr algn="ctr">
              <a:spcBef>
                <a:spcPts val="300"/>
              </a:spcBef>
            </a:pPr>
            <a:r>
              <a:rPr sz="2000" b="1" i="0" dirty="0">
                <a:solidFill>
                  <a:srgbClr val="FFFFFF"/>
                </a:solidFill>
              </a:rPr>
              <a:t>service</a:t>
            </a:r>
          </a:p>
          <a:p>
            <a:pPr algn="ctr">
              <a:spcBef>
                <a:spcPts val="300"/>
              </a:spcBef>
            </a:pPr>
            <a:r>
              <a:rPr sz="2000" b="0" i="1" dirty="0">
                <a:solidFill>
                  <a:srgbClr val="FFFFFF"/>
                </a:solidFill>
              </a:rPr>
              <a:t>state in memory</a:t>
            </a:r>
          </a:p>
        </p:txBody>
      </p:sp>
      <p:sp>
        <p:nvSpPr>
          <p:cNvPr id="2606" name="Label"/>
          <p:cNvSpPr/>
          <p:nvPr/>
        </p:nvSpPr>
        <p:spPr>
          <a:xfrm>
            <a:off x="1188720" y="2724912"/>
            <a:ext cx="914400"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55960"/>
                </a:solidFill>
              </a:rPr>
              <a:t>HTTPS</a:t>
            </a:r>
          </a:p>
        </p:txBody>
      </p:sp>
      <p:sp>
        <p:nvSpPr>
          <p:cNvPr id="2607" name="ProposedSlab"/>
          <p:cNvSpPr/>
          <p:nvPr/>
        </p:nvSpPr>
        <p:spPr>
          <a:xfrm>
            <a:off x="4480560" y="1097280"/>
            <a:ext cx="4297680" cy="2377440"/>
          </a:xfrm>
          <a:prstGeom prst="rect">
            <a:avLst/>
          </a:prstGeom>
          <a:solidFill>
            <a:srgbClr val="F5F1E8"/>
          </a:solidFill>
          <a:ln w="12700">
            <a:solidFill>
              <a:srgbClr val="C9B991"/>
            </a:solidFill>
            <a:prstDash val="dash"/>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endParaRPr/>
          </a:p>
        </p:txBody>
      </p:sp>
      <p:sp>
        <p:nvSpPr>
          <p:cNvPr id="2608" name="Label"/>
          <p:cNvSpPr/>
          <p:nvPr/>
        </p:nvSpPr>
        <p:spPr>
          <a:xfrm>
            <a:off x="4617720" y="1188720"/>
            <a:ext cx="219456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C4826"/>
                </a:solidFill>
              </a:rPr>
              <a:t>PROPOSED</a:t>
            </a:r>
          </a:p>
        </p:txBody>
      </p:sp>
      <p:sp>
        <p:nvSpPr>
          <p:cNvPr id="2609" name="Block"/>
          <p:cNvSpPr/>
          <p:nvPr/>
        </p:nvSpPr>
        <p:spPr>
          <a:xfrm>
            <a:off x="4617720" y="1874520"/>
            <a:ext cx="109728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browser</a:t>
            </a:r>
          </a:p>
        </p:txBody>
      </p:sp>
      <p:cxnSp>
        <p:nvCxnSpPr>
          <p:cNvPr id="2610" name="Connector"/>
          <p:cNvCxnSpPr/>
          <p:nvPr/>
        </p:nvCxnSpPr>
        <p:spPr>
          <a:xfrm>
            <a:off x="5715000" y="2286000"/>
            <a:ext cx="27432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611" name="Block"/>
          <p:cNvSpPr/>
          <p:nvPr/>
        </p:nvSpPr>
        <p:spPr>
          <a:xfrm>
            <a:off x="5989320" y="1874520"/>
            <a:ext cx="132588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application</a:t>
            </a:r>
          </a:p>
          <a:p>
            <a:pPr algn="ctr">
              <a:spcBef>
                <a:spcPts val="300"/>
              </a:spcBef>
            </a:pPr>
            <a:r>
              <a:rPr sz="2000" b="1" i="0" dirty="0">
                <a:solidFill>
                  <a:srgbClr val="FFFFFF"/>
                </a:solidFill>
              </a:rPr>
              <a:t>server</a:t>
            </a:r>
          </a:p>
        </p:txBody>
      </p:sp>
      <p:cxnSp>
        <p:nvCxnSpPr>
          <p:cNvPr id="2612" name="Connector"/>
          <p:cNvCxnSpPr/>
          <p:nvPr/>
        </p:nvCxnSpPr>
        <p:spPr>
          <a:xfrm>
            <a:off x="7315200" y="2286000"/>
            <a:ext cx="27432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613" name="Block"/>
          <p:cNvSpPr/>
          <p:nvPr/>
        </p:nvSpPr>
        <p:spPr>
          <a:xfrm>
            <a:off x="7589520" y="1874520"/>
            <a:ext cx="109728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database</a:t>
            </a:r>
          </a:p>
        </p:txBody>
      </p:sp>
      <p:sp>
        <p:nvSpPr>
          <p:cNvPr id="2614" name="Card"/>
          <p:cNvSpPr/>
          <p:nvPr/>
        </p:nvSpPr>
        <p:spPr>
          <a:xfrm>
            <a:off x="411480" y="3749040"/>
            <a:ext cx="1005840" cy="4572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node</a:t>
            </a:r>
          </a:p>
        </p:txBody>
      </p:sp>
      <p:sp>
        <p:nvSpPr>
          <p:cNvPr id="2615" name="Label"/>
          <p:cNvSpPr/>
          <p:nvPr/>
        </p:nvSpPr>
        <p:spPr>
          <a:xfrm>
            <a:off x="1554480" y="3794760"/>
            <a:ext cx="237744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where software runs</a:t>
            </a:r>
          </a:p>
        </p:txBody>
      </p:sp>
      <p:sp>
        <p:nvSpPr>
          <p:cNvPr id="2616" name="Block"/>
          <p:cNvSpPr/>
          <p:nvPr/>
        </p:nvSpPr>
        <p:spPr>
          <a:xfrm>
            <a:off x="4434840" y="3749040"/>
            <a:ext cx="1554480" cy="4572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component</a:t>
            </a:r>
          </a:p>
        </p:txBody>
      </p:sp>
      <p:sp>
        <p:nvSpPr>
          <p:cNvPr id="2617" name="Label"/>
          <p:cNvSpPr/>
          <p:nvPr/>
        </p:nvSpPr>
        <p:spPr>
          <a:xfrm>
            <a:off x="6126480" y="3794760"/>
            <a:ext cx="237744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what runs there</a:t>
            </a:r>
          </a:p>
        </p:txBody>
      </p:sp>
      <p:sp>
        <p:nvSpPr>
          <p:cNvPr id="2618" name="Label"/>
          <p:cNvSpPr/>
          <p:nvPr/>
        </p:nvSpPr>
        <p:spPr>
          <a:xfrm>
            <a:off x="411480" y="4526280"/>
            <a:ext cx="832104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A deployment topology represents a proposed arrangement,</a:t>
            </a:r>
          </a:p>
          <a:p>
            <a:pPr algn="ctr">
              <a:spcBef>
                <a:spcPts val="300"/>
              </a:spcBef>
            </a:pPr>
            <a:r>
              <a:rPr sz="2000" b="0" i="1" dirty="0">
                <a:solidFill>
                  <a:srgbClr val="555960"/>
                </a:solidFill>
              </a:rPr>
              <a:t>not necessarily an existing implementation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Choosing an execution environment</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26" name="FooterBand"/>
          <p:cNvSpPr/>
          <p:nvPr/>
        </p:nvSpPr>
        <p:spPr>
          <a:xfrm>
            <a:off x="274320" y="5512918"/>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Which would you choose for the reservation service?</a:t>
            </a:r>
          </a:p>
        </p:txBody>
      </p:sp>
      <p:sp>
        <p:nvSpPr>
          <p:cNvPr id="2701" name="Block"/>
          <p:cNvSpPr/>
          <p:nvPr/>
        </p:nvSpPr>
        <p:spPr>
          <a:xfrm>
            <a:off x="2103120" y="1005840"/>
            <a:ext cx="219456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Local desktop app</a:t>
            </a:r>
          </a:p>
        </p:txBody>
      </p:sp>
      <p:sp>
        <p:nvSpPr>
          <p:cNvPr id="2702" name="Block"/>
          <p:cNvSpPr/>
          <p:nvPr/>
        </p:nvSpPr>
        <p:spPr>
          <a:xfrm>
            <a:off x="4389120" y="1005840"/>
            <a:ext cx="219456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Self-hosted server</a:t>
            </a:r>
          </a:p>
        </p:txBody>
      </p:sp>
      <p:sp>
        <p:nvSpPr>
          <p:cNvPr id="2703" name="Block"/>
          <p:cNvSpPr/>
          <p:nvPr/>
        </p:nvSpPr>
        <p:spPr>
          <a:xfrm>
            <a:off x="6675120" y="1005840"/>
            <a:ext cx="219456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Managed service</a:t>
            </a:r>
          </a:p>
        </p:txBody>
      </p:sp>
      <p:sp>
        <p:nvSpPr>
          <p:cNvPr id="2710" name="Label"/>
          <p:cNvSpPr/>
          <p:nvPr/>
        </p:nvSpPr>
        <p:spPr>
          <a:xfrm>
            <a:off x="274320" y="1828800"/>
            <a:ext cx="173736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Installation</a:t>
            </a:r>
          </a:p>
        </p:txBody>
      </p:sp>
      <p:sp>
        <p:nvSpPr>
          <p:cNvPr id="2711" name="Card"/>
          <p:cNvSpPr/>
          <p:nvPr/>
        </p:nvSpPr>
        <p:spPr>
          <a:xfrm>
            <a:off x="2103120" y="1828800"/>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each client</a:t>
            </a:r>
          </a:p>
        </p:txBody>
      </p:sp>
      <p:sp>
        <p:nvSpPr>
          <p:cNvPr id="2712" name="Card"/>
          <p:cNvSpPr/>
          <p:nvPr/>
        </p:nvSpPr>
        <p:spPr>
          <a:xfrm>
            <a:off x="4389120" y="1828800"/>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central server</a:t>
            </a:r>
          </a:p>
        </p:txBody>
      </p:sp>
      <p:sp>
        <p:nvSpPr>
          <p:cNvPr id="2713" name="Card"/>
          <p:cNvSpPr/>
          <p:nvPr/>
        </p:nvSpPr>
        <p:spPr>
          <a:xfrm>
            <a:off x="6675120" y="1828800"/>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provider platform</a:t>
            </a:r>
          </a:p>
        </p:txBody>
      </p:sp>
      <p:sp>
        <p:nvSpPr>
          <p:cNvPr id="2714" name="Label"/>
          <p:cNvSpPr/>
          <p:nvPr/>
        </p:nvSpPr>
        <p:spPr>
          <a:xfrm>
            <a:off x="274320" y="2487168"/>
            <a:ext cx="173736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Updates</a:t>
            </a:r>
          </a:p>
        </p:txBody>
      </p:sp>
      <p:sp>
        <p:nvSpPr>
          <p:cNvPr id="2715" name="Card"/>
          <p:cNvSpPr/>
          <p:nvPr/>
        </p:nvSpPr>
        <p:spPr>
          <a:xfrm>
            <a:off x="2103120" y="2487168"/>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distributed</a:t>
            </a:r>
          </a:p>
        </p:txBody>
      </p:sp>
      <p:sp>
        <p:nvSpPr>
          <p:cNvPr id="2716" name="Card"/>
          <p:cNvSpPr/>
          <p:nvPr/>
        </p:nvSpPr>
        <p:spPr>
          <a:xfrm>
            <a:off x="4389120" y="2487168"/>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centrally managed</a:t>
            </a:r>
          </a:p>
        </p:txBody>
      </p:sp>
      <p:sp>
        <p:nvSpPr>
          <p:cNvPr id="2717" name="Card"/>
          <p:cNvSpPr/>
          <p:nvPr/>
        </p:nvSpPr>
        <p:spPr>
          <a:xfrm>
            <a:off x="6675120" y="2487168"/>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centrally managed</a:t>
            </a:r>
          </a:p>
        </p:txBody>
      </p:sp>
      <p:sp>
        <p:nvSpPr>
          <p:cNvPr id="2718" name="Label"/>
          <p:cNvSpPr/>
          <p:nvPr/>
        </p:nvSpPr>
        <p:spPr>
          <a:xfrm>
            <a:off x="274320" y="3145536"/>
            <a:ext cx="173736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Infrastructure operation</a:t>
            </a:r>
          </a:p>
        </p:txBody>
      </p:sp>
      <p:sp>
        <p:nvSpPr>
          <p:cNvPr id="2719" name="Card"/>
          <p:cNvSpPr/>
          <p:nvPr/>
        </p:nvSpPr>
        <p:spPr>
          <a:xfrm>
            <a:off x="2103120" y="3145536"/>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user or IT</a:t>
            </a:r>
          </a:p>
        </p:txBody>
      </p:sp>
      <p:sp>
        <p:nvSpPr>
          <p:cNvPr id="2720" name="Card"/>
          <p:cNvSpPr/>
          <p:nvPr/>
        </p:nvSpPr>
        <p:spPr>
          <a:xfrm>
            <a:off x="4389120" y="3145536"/>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engineering team</a:t>
            </a:r>
          </a:p>
        </p:txBody>
      </p:sp>
      <p:sp>
        <p:nvSpPr>
          <p:cNvPr id="2721" name="Card"/>
          <p:cNvSpPr/>
          <p:nvPr/>
        </p:nvSpPr>
        <p:spPr>
          <a:xfrm>
            <a:off x="6675120" y="3145536"/>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shared with provider</a:t>
            </a:r>
          </a:p>
        </p:txBody>
      </p:sp>
      <p:sp>
        <p:nvSpPr>
          <p:cNvPr id="2722" name="Label"/>
          <p:cNvSpPr/>
          <p:nvPr/>
        </p:nvSpPr>
        <p:spPr>
          <a:xfrm>
            <a:off x="274320" y="3803904"/>
            <a:ext cx="173736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Offline use</a:t>
            </a:r>
          </a:p>
        </p:txBody>
      </p:sp>
      <p:sp>
        <p:nvSpPr>
          <p:cNvPr id="2723" name="Card"/>
          <p:cNvSpPr/>
          <p:nvPr/>
        </p:nvSpPr>
        <p:spPr>
          <a:xfrm>
            <a:off x="2103120" y="3803904"/>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possible</a:t>
            </a:r>
          </a:p>
        </p:txBody>
      </p:sp>
      <p:sp>
        <p:nvSpPr>
          <p:cNvPr id="2724" name="Card"/>
          <p:cNvSpPr/>
          <p:nvPr/>
        </p:nvSpPr>
        <p:spPr>
          <a:xfrm>
            <a:off x="4389120" y="3803904"/>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network-dependent</a:t>
            </a:r>
          </a:p>
        </p:txBody>
      </p:sp>
      <p:sp>
        <p:nvSpPr>
          <p:cNvPr id="2725" name="Card"/>
          <p:cNvSpPr/>
          <p:nvPr/>
        </p:nvSpPr>
        <p:spPr>
          <a:xfrm>
            <a:off x="6675120" y="3803904"/>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network-dependent</a:t>
            </a:r>
          </a:p>
        </p:txBody>
      </p:sp>
      <p:sp>
        <p:nvSpPr>
          <p:cNvPr id="2726" name="Label"/>
          <p:cNvSpPr/>
          <p:nvPr/>
        </p:nvSpPr>
        <p:spPr>
          <a:xfrm>
            <a:off x="274320" y="4462272"/>
            <a:ext cx="173736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Resource scaling</a:t>
            </a:r>
          </a:p>
        </p:txBody>
      </p:sp>
      <p:sp>
        <p:nvSpPr>
          <p:cNvPr id="2727" name="Card"/>
          <p:cNvSpPr/>
          <p:nvPr/>
        </p:nvSpPr>
        <p:spPr>
          <a:xfrm>
            <a:off x="2103120" y="4462272"/>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per device</a:t>
            </a:r>
          </a:p>
        </p:txBody>
      </p:sp>
      <p:sp>
        <p:nvSpPr>
          <p:cNvPr id="2728" name="Card"/>
          <p:cNvSpPr/>
          <p:nvPr/>
        </p:nvSpPr>
        <p:spPr>
          <a:xfrm>
            <a:off x="4389120" y="4462272"/>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engineer-managed</a:t>
            </a:r>
          </a:p>
        </p:txBody>
      </p:sp>
      <p:sp>
        <p:nvSpPr>
          <p:cNvPr id="2729" name="Card"/>
          <p:cNvSpPr/>
          <p:nvPr/>
        </p:nvSpPr>
        <p:spPr>
          <a:xfrm>
            <a:off x="6675120" y="4462272"/>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provider-supported</a:t>
            </a:r>
          </a:p>
        </p:txBody>
      </p:sp>
      <p:sp>
        <p:nvSpPr>
          <p:cNvPr id="2740" name="Label"/>
          <p:cNvSpPr/>
          <p:nvPr/>
        </p:nvSpPr>
        <p:spPr>
          <a:xfrm>
            <a:off x="365760" y="5084064"/>
            <a:ext cx="8412480"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Suppose: hundreds of concurrent users, a small team, a tight budget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A deployment model represents assumptions</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2801" name="SystemSlab"/>
          <p:cNvSpPr/>
          <p:nvPr/>
        </p:nvSpPr>
        <p:spPr>
          <a:xfrm>
            <a:off x="365760" y="1325880"/>
            <a:ext cx="3977640" cy="36576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endParaRPr/>
          </a:p>
        </p:txBody>
      </p:sp>
      <p:sp>
        <p:nvSpPr>
          <p:cNvPr id="2802" name="Label"/>
          <p:cNvSpPr/>
          <p:nvPr/>
        </p:nvSpPr>
        <p:spPr>
          <a:xfrm>
            <a:off x="502920" y="1417320"/>
            <a:ext cx="370332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C4826"/>
                </a:solidFill>
              </a:rPr>
              <a:t>THE DEPLOYED SYSTEM</a:t>
            </a:r>
          </a:p>
        </p:txBody>
      </p:sp>
      <p:sp>
        <p:nvSpPr>
          <p:cNvPr id="2803" name="Label"/>
          <p:cNvSpPr/>
          <p:nvPr/>
        </p:nvSpPr>
        <p:spPr>
          <a:xfrm>
            <a:off x="502920" y="1783080"/>
            <a:ext cx="3703320"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1" dirty="0">
                <a:solidFill>
                  <a:srgbClr val="555960"/>
                </a:solidFill>
              </a:rPr>
              <a:t>a structural model (a state)</a:t>
            </a:r>
          </a:p>
        </p:txBody>
      </p:sp>
      <p:sp>
        <p:nvSpPr>
          <p:cNvPr id="2804" name="Block"/>
          <p:cNvSpPr/>
          <p:nvPr/>
        </p:nvSpPr>
        <p:spPr>
          <a:xfrm>
            <a:off x="548640" y="2331720"/>
            <a:ext cx="118872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browser</a:t>
            </a:r>
          </a:p>
        </p:txBody>
      </p:sp>
      <p:cxnSp>
        <p:nvCxnSpPr>
          <p:cNvPr id="2805" name="Connector"/>
          <p:cNvCxnSpPr/>
          <p:nvPr/>
        </p:nvCxnSpPr>
        <p:spPr>
          <a:xfrm>
            <a:off x="1737360" y="2743200"/>
            <a:ext cx="36576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806" name="NodeCard"/>
          <p:cNvSpPr/>
          <p:nvPr/>
        </p:nvSpPr>
        <p:spPr>
          <a:xfrm>
            <a:off x="2103120" y="2194560"/>
            <a:ext cx="2103120" cy="14630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endParaRPr/>
          </a:p>
        </p:txBody>
      </p:sp>
      <p:sp>
        <p:nvSpPr>
          <p:cNvPr id="2807" name="Label"/>
          <p:cNvSpPr/>
          <p:nvPr/>
        </p:nvSpPr>
        <p:spPr>
          <a:xfrm>
            <a:off x="2176272" y="2249424"/>
            <a:ext cx="1956816"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LAPTOP, a node</a:t>
            </a:r>
          </a:p>
        </p:txBody>
      </p:sp>
      <p:sp>
        <p:nvSpPr>
          <p:cNvPr id="2808" name="Block"/>
          <p:cNvSpPr/>
          <p:nvPr/>
        </p:nvSpPr>
        <p:spPr>
          <a:xfrm>
            <a:off x="2286000" y="2651760"/>
            <a:ext cx="173736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reservation</a:t>
            </a:r>
          </a:p>
          <a:p>
            <a:pPr algn="ctr">
              <a:spcBef>
                <a:spcPts val="300"/>
              </a:spcBef>
            </a:pPr>
            <a:r>
              <a:rPr sz="2000" b="1" i="0" dirty="0">
                <a:solidFill>
                  <a:srgbClr val="FFFFFF"/>
                </a:solidFill>
              </a:rPr>
              <a:t>service</a:t>
            </a:r>
          </a:p>
        </p:txBody>
      </p:sp>
      <p:sp>
        <p:nvSpPr>
          <p:cNvPr id="2809" name="Label"/>
          <p:cNvSpPr/>
          <p:nvPr/>
        </p:nvSpPr>
        <p:spPr>
          <a:xfrm>
            <a:off x="548640" y="3794760"/>
            <a:ext cx="365760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state: reservations in memory</a:t>
            </a:r>
          </a:p>
        </p:txBody>
      </p:sp>
      <p:sp>
        <p:nvSpPr>
          <p:cNvPr id="2810" name="Label"/>
          <p:cNvSpPr/>
          <p:nvPr/>
        </p:nvSpPr>
        <p:spPr>
          <a:xfrm>
            <a:off x="548640" y="4178808"/>
            <a:ext cx="365760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configuration: hard-coded defaults</a:t>
            </a:r>
          </a:p>
        </p:txBody>
      </p:sp>
      <p:sp>
        <p:nvSpPr>
          <p:cNvPr id="2811" name="Label"/>
          <p:cNvSpPr/>
          <p:nvPr/>
        </p:nvSpPr>
        <p:spPr>
          <a:xfrm>
            <a:off x="548640" y="4562856"/>
            <a:ext cx="365760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resources: small footprint</a:t>
            </a:r>
          </a:p>
        </p:txBody>
      </p:sp>
      <p:sp>
        <p:nvSpPr>
          <p:cNvPr id="2812" name="ProcessSlab"/>
          <p:cNvSpPr/>
          <p:nvPr/>
        </p:nvSpPr>
        <p:spPr>
          <a:xfrm>
            <a:off x="5166360" y="1325880"/>
            <a:ext cx="3611880" cy="36576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endParaRPr/>
          </a:p>
        </p:txBody>
      </p:sp>
      <p:sp>
        <p:nvSpPr>
          <p:cNvPr id="2813" name="Label"/>
          <p:cNvSpPr/>
          <p:nvPr/>
        </p:nvSpPr>
        <p:spPr>
          <a:xfrm>
            <a:off x="5303520" y="1417320"/>
            <a:ext cx="333756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C4826"/>
                </a:solidFill>
              </a:rPr>
              <a:t>THE DEPLOYMENT PROCESS</a:t>
            </a:r>
          </a:p>
        </p:txBody>
      </p:sp>
      <p:sp>
        <p:nvSpPr>
          <p:cNvPr id="2814" name="Label"/>
          <p:cNvSpPr/>
          <p:nvPr/>
        </p:nvSpPr>
        <p:spPr>
          <a:xfrm>
            <a:off x="5303520" y="1783080"/>
            <a:ext cx="3337560"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1" dirty="0">
                <a:solidFill>
                  <a:srgbClr val="555960"/>
                </a:solidFill>
              </a:rPr>
              <a:t>a process model (a change)</a:t>
            </a:r>
          </a:p>
        </p:txBody>
      </p:sp>
      <p:cxnSp>
        <p:nvCxnSpPr>
          <p:cNvPr id="2815" name="Connector"/>
          <p:cNvCxnSpPr/>
          <p:nvPr/>
        </p:nvCxnSpPr>
        <p:spPr>
          <a:xfrm flipH="1">
            <a:off x="4370832" y="3154680"/>
            <a:ext cx="768096"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816" name="Label"/>
          <p:cNvSpPr/>
          <p:nvPr/>
        </p:nvSpPr>
        <p:spPr>
          <a:xfrm>
            <a:off x="4160520" y="2706624"/>
            <a:ext cx="118872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55960"/>
                </a:solidFill>
              </a:rPr>
              <a:t>changes</a:t>
            </a:r>
          </a:p>
        </p:txBody>
      </p:sp>
      <p:sp>
        <p:nvSpPr>
          <p:cNvPr id="2820" name="Card"/>
          <p:cNvSpPr/>
          <p:nvPr/>
        </p:nvSpPr>
        <p:spPr>
          <a:xfrm>
            <a:off x="6080760" y="2194560"/>
            <a:ext cx="1737360" cy="42062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BUILD</a:t>
            </a:r>
          </a:p>
        </p:txBody>
      </p:sp>
      <p:cxnSp>
        <p:nvCxnSpPr>
          <p:cNvPr id="2831" name="Connector"/>
          <p:cNvCxnSpPr/>
          <p:nvPr/>
        </p:nvCxnSpPr>
        <p:spPr>
          <a:xfrm>
            <a:off x="6949440" y="2615184"/>
            <a:ext cx="0" cy="146304"/>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821" name="Card"/>
          <p:cNvSpPr/>
          <p:nvPr/>
        </p:nvSpPr>
        <p:spPr>
          <a:xfrm>
            <a:off x="6080760" y="2761488"/>
            <a:ext cx="1737360" cy="42062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VALIDATE</a:t>
            </a:r>
          </a:p>
        </p:txBody>
      </p:sp>
      <p:cxnSp>
        <p:nvCxnSpPr>
          <p:cNvPr id="2832" name="Connector"/>
          <p:cNvCxnSpPr/>
          <p:nvPr/>
        </p:nvCxnSpPr>
        <p:spPr>
          <a:xfrm>
            <a:off x="6949440" y="3182112"/>
            <a:ext cx="0" cy="146304"/>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822" name="Card"/>
          <p:cNvSpPr/>
          <p:nvPr/>
        </p:nvSpPr>
        <p:spPr>
          <a:xfrm>
            <a:off x="6080760" y="3328416"/>
            <a:ext cx="1737360" cy="42062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RELEASE</a:t>
            </a:r>
          </a:p>
        </p:txBody>
      </p:sp>
      <p:cxnSp>
        <p:nvCxnSpPr>
          <p:cNvPr id="2833" name="Connector"/>
          <p:cNvCxnSpPr/>
          <p:nvPr/>
        </p:nvCxnSpPr>
        <p:spPr>
          <a:xfrm>
            <a:off x="6949440" y="3749040"/>
            <a:ext cx="0" cy="146304"/>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823" name="Card"/>
          <p:cNvSpPr/>
          <p:nvPr/>
        </p:nvSpPr>
        <p:spPr>
          <a:xfrm>
            <a:off x="6080760" y="3895344"/>
            <a:ext cx="1737360" cy="42062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OBSERVE</a:t>
            </a:r>
          </a:p>
        </p:txBody>
      </p:sp>
      <p:cxnSp>
        <p:nvCxnSpPr>
          <p:cNvPr id="2834" name="Connector"/>
          <p:cNvCxnSpPr/>
          <p:nvPr/>
        </p:nvCxnSpPr>
        <p:spPr>
          <a:xfrm>
            <a:off x="6949440" y="4315968"/>
            <a:ext cx="0" cy="146304"/>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824" name="Card"/>
          <p:cNvSpPr/>
          <p:nvPr/>
        </p:nvSpPr>
        <p:spPr>
          <a:xfrm>
            <a:off x="6080760" y="4462272"/>
            <a:ext cx="1737360" cy="42062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RECOVER</a:t>
            </a:r>
          </a:p>
        </p:txBody>
      </p:sp>
      <p:sp>
        <p:nvSpPr>
          <p:cNvPr id="2840" name="Label"/>
          <p:cNvSpPr/>
          <p:nvPr/>
        </p:nvSpPr>
        <p:spPr>
          <a:xfrm>
            <a:off x="365760" y="5212080"/>
            <a:ext cx="841248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55960"/>
                </a:solidFill>
              </a:rPr>
              <a:t>The system is a state; the process changes that state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Build environment versus runtime environment</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Block"/>
          <p:cNvSpPr/>
          <p:nvPr/>
        </p:nvSpPr>
        <p:spPr>
          <a:xfrm>
            <a:off x="384048" y="1371600"/>
            <a:ext cx="187452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SOURCE</a:t>
            </a:r>
          </a:p>
        </p:txBody>
      </p:sp>
      <p:sp>
        <p:nvSpPr>
          <p:cNvPr id="1003" name="Card"/>
          <p:cNvSpPr/>
          <p:nvPr/>
        </p:nvSpPr>
        <p:spPr>
          <a:xfrm>
            <a:off x="2551176" y="1371600"/>
            <a:ext cx="1874520" cy="82296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BUILD ENVIRONMENT</a:t>
            </a:r>
          </a:p>
        </p:txBody>
      </p:sp>
      <p:cxnSp>
        <p:nvCxnSpPr>
          <p:cNvPr id="1004" name="Connector"/>
          <p:cNvCxnSpPr/>
          <p:nvPr/>
        </p:nvCxnSpPr>
        <p:spPr>
          <a:xfrm>
            <a:off x="2276856" y="1783080"/>
            <a:ext cx="256032"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5" name="Block"/>
          <p:cNvSpPr/>
          <p:nvPr/>
        </p:nvSpPr>
        <p:spPr>
          <a:xfrm>
            <a:off x="4718304" y="1371600"/>
            <a:ext cx="187452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DEPLOYABLE ARTIFACT</a:t>
            </a:r>
          </a:p>
        </p:txBody>
      </p:sp>
      <p:cxnSp>
        <p:nvCxnSpPr>
          <p:cNvPr id="1006" name="Connector"/>
          <p:cNvCxnSpPr/>
          <p:nvPr/>
        </p:nvCxnSpPr>
        <p:spPr>
          <a:xfrm>
            <a:off x="4443984" y="1783080"/>
            <a:ext cx="256032"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7" name="Card"/>
          <p:cNvSpPr/>
          <p:nvPr/>
        </p:nvSpPr>
        <p:spPr>
          <a:xfrm>
            <a:off x="6885432" y="1371600"/>
            <a:ext cx="1874520" cy="82296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RUNTIME ENVIRONMENT</a:t>
            </a:r>
          </a:p>
        </p:txBody>
      </p:sp>
      <p:cxnSp>
        <p:nvCxnSpPr>
          <p:cNvPr id="1008" name="Connector"/>
          <p:cNvCxnSpPr/>
          <p:nvPr/>
        </p:nvCxnSpPr>
        <p:spPr>
          <a:xfrm>
            <a:off x="6611112" y="1783080"/>
            <a:ext cx="256032"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9" name="Label"/>
          <p:cNvSpPr/>
          <p:nvPr/>
        </p:nvSpPr>
        <p:spPr>
          <a:xfrm>
            <a:off x="4206240" y="2331720"/>
            <a:ext cx="448056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the artifact carries assumptions about its destination</a:t>
            </a:r>
          </a:p>
        </p:txBody>
      </p:sp>
      <p:sp>
        <p:nvSpPr>
          <p:cNvPr id="1010" name="Card"/>
          <p:cNvSpPr/>
          <p:nvPr/>
        </p:nvSpPr>
        <p:spPr>
          <a:xfrm>
            <a:off x="384048" y="3200400"/>
            <a:ext cx="4526280" cy="18288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Why it fails over there</a:t>
            </a:r>
          </a:p>
          <a:p>
            <a:pPr algn="ctr">
              <a:spcBef>
                <a:spcPts val="600"/>
              </a:spcBef>
            </a:pPr>
            <a:r>
              <a:rPr sz="2000" b="0" i="0" dirty="0">
                <a:solidFill>
                  <a:srgbClr val="5C4826"/>
                </a:solidFill>
              </a:rPr>
              <a:t>missing dependencies</a:t>
            </a:r>
          </a:p>
          <a:p>
            <a:pPr algn="ctr">
              <a:spcBef>
                <a:spcPts val="200"/>
              </a:spcBef>
            </a:pPr>
            <a:r>
              <a:rPr sz="2000" b="0" i="0" dirty="0">
                <a:solidFill>
                  <a:srgbClr val="5C4826"/>
                </a:solidFill>
              </a:rPr>
              <a:t>different runtime version</a:t>
            </a:r>
          </a:p>
          <a:p>
            <a:pPr algn="ctr">
              <a:spcBef>
                <a:spcPts val="200"/>
              </a:spcBef>
            </a:pPr>
            <a:r>
              <a:rPr sz="2000" b="0" i="0" dirty="0">
                <a:solidFill>
                  <a:srgbClr val="5C4826"/>
                </a:solidFill>
              </a:rPr>
              <a:t>different configuration</a:t>
            </a:r>
          </a:p>
          <a:p>
            <a:pPr algn="ctr">
              <a:spcBef>
                <a:spcPts val="200"/>
              </a:spcBef>
            </a:pPr>
            <a:r>
              <a:rPr sz="2000" b="0" i="0" dirty="0">
                <a:solidFill>
                  <a:srgbClr val="5C4826"/>
                </a:solidFill>
              </a:rPr>
              <a:t>absent resources</a:t>
            </a:r>
          </a:p>
        </p:txBody>
      </p:sp>
      <p:sp>
        <p:nvSpPr>
          <p:cNvPr id="1011" name="Card"/>
          <p:cNvSpPr/>
          <p:nvPr/>
        </p:nvSpPr>
        <p:spPr>
          <a:xfrm>
            <a:off x="5212080" y="3200400"/>
            <a:ext cx="3611880" cy="18288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“Works on my machine”</a:t>
            </a:r>
          </a:p>
          <a:p>
            <a:pPr algn="ctr">
              <a:spcBef>
                <a:spcPts val="600"/>
              </a:spcBef>
            </a:pPr>
            <a:r>
              <a:rPr sz="2000" b="0" i="0" dirty="0">
                <a:solidFill>
                  <a:srgbClr val="5C4826"/>
                </a:solidFill>
              </a:rPr>
              <a:t>evidence from one environment does not</a:t>
            </a:r>
          </a:p>
          <a:p>
            <a:pPr algn="ctr">
              <a:spcBef>
                <a:spcPts val="200"/>
              </a:spcBef>
            </a:pPr>
            <a:r>
              <a:rPr sz="2000" b="0" i="0" dirty="0">
                <a:solidFill>
                  <a:srgbClr val="5C4826"/>
                </a:solidFill>
              </a:rPr>
              <a:t>establish compatibility with another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Configuration is part of deployment</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2901" name="Block"/>
          <p:cNvSpPr/>
          <p:nvPr/>
        </p:nvSpPr>
        <p:spPr>
          <a:xfrm>
            <a:off x="2377440" y="1280160"/>
            <a:ext cx="438912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SAME APPLICATION ARTIFACT</a:t>
            </a:r>
          </a:p>
        </p:txBody>
      </p:sp>
      <p:cxnSp>
        <p:nvCxnSpPr>
          <p:cNvPr id="2902" name="Connector"/>
          <p:cNvCxnSpPr/>
          <p:nvPr/>
        </p:nvCxnSpPr>
        <p:spPr>
          <a:xfrm>
            <a:off x="2423160" y="1920240"/>
            <a:ext cx="0" cy="82296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2903" name="Connector"/>
          <p:cNvCxnSpPr/>
          <p:nvPr/>
        </p:nvCxnSpPr>
        <p:spPr>
          <a:xfrm>
            <a:off x="6720840" y="1920240"/>
            <a:ext cx="0" cy="82296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904" name="Card"/>
          <p:cNvSpPr/>
          <p:nvPr/>
        </p:nvSpPr>
        <p:spPr>
          <a:xfrm>
            <a:off x="548640" y="2743200"/>
            <a:ext cx="3657600" cy="15544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DEVELOPMENT configuration</a:t>
            </a:r>
          </a:p>
          <a:p>
            <a:pPr algn="ctr">
              <a:spcBef>
                <a:spcPts val="300"/>
              </a:spcBef>
            </a:pPr>
            <a:r>
              <a:rPr sz="2000" b="0" i="0" dirty="0">
                <a:solidFill>
                  <a:srgbClr val="5C4826"/>
                </a:solidFill>
                <a:latin typeface="Consolas"/>
              </a:rPr>
              <a:t>database: localhost</a:t>
            </a:r>
          </a:p>
          <a:p>
            <a:pPr algn="ctr">
              <a:spcBef>
                <a:spcPts val="300"/>
              </a:spcBef>
            </a:pPr>
            <a:r>
              <a:rPr sz="2000" b="0" i="0" dirty="0">
                <a:solidFill>
                  <a:srgbClr val="5C4826"/>
                </a:solidFill>
                <a:latin typeface="Consolas"/>
              </a:rPr>
              <a:t>debug logging: on</a:t>
            </a:r>
          </a:p>
        </p:txBody>
      </p:sp>
      <p:sp>
        <p:nvSpPr>
          <p:cNvPr id="2905" name="Card"/>
          <p:cNvSpPr/>
          <p:nvPr/>
        </p:nvSpPr>
        <p:spPr>
          <a:xfrm>
            <a:off x="4937760" y="2743200"/>
            <a:ext cx="3657600" cy="15544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PRODUCTION configuration</a:t>
            </a:r>
          </a:p>
          <a:p>
            <a:pPr algn="ctr">
              <a:spcBef>
                <a:spcPts val="300"/>
              </a:spcBef>
            </a:pPr>
            <a:r>
              <a:rPr sz="2000" b="0" i="0" dirty="0">
                <a:solidFill>
                  <a:srgbClr val="5C4826"/>
                </a:solidFill>
                <a:latin typeface="Consolas"/>
              </a:rPr>
              <a:t>database: db.campus.edu</a:t>
            </a:r>
          </a:p>
          <a:p>
            <a:pPr algn="ctr">
              <a:spcBef>
                <a:spcPts val="300"/>
              </a:spcBef>
            </a:pPr>
            <a:r>
              <a:rPr sz="2000" b="0" i="0" dirty="0">
                <a:solidFill>
                  <a:srgbClr val="5C4826"/>
                </a:solidFill>
                <a:latin typeface="Consolas"/>
              </a:rPr>
              <a:t>debug logging: off</a:t>
            </a:r>
          </a:p>
        </p:txBody>
      </p:sp>
      <p:sp>
        <p:nvSpPr>
          <p:cNvPr id="2906" name="Label"/>
          <p:cNvSpPr/>
          <p:nvPr/>
        </p:nvSpPr>
        <p:spPr>
          <a:xfrm>
            <a:off x="365760" y="4572000"/>
            <a:ext cx="8412480" cy="4389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hard-coding the connection string bakes one environment into the artifact</a:t>
            </a:r>
          </a:p>
        </p:txBody>
      </p:sp>
      <p:sp>
        <p:nvSpPr>
          <p:cNvPr id="2907" name="Label"/>
          <p:cNvSpPr/>
          <p:nvPr/>
        </p:nvSpPr>
        <p:spPr>
          <a:xfrm>
            <a:off x="365760" y="5074920"/>
            <a:ext cx="8412480" cy="4389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55960"/>
                </a:solidFill>
              </a:rPr>
              <a:t>A deployment model that omits configuration cannot reproduce the system's behavior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Reproducibility is an engineering property</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3001" name="Card"/>
          <p:cNvSpPr/>
          <p:nvPr/>
        </p:nvSpPr>
        <p:spPr>
          <a:xfrm>
            <a:off x="365760" y="1188720"/>
            <a:ext cx="2651760" cy="18745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DECLARED INPUTS</a:t>
            </a:r>
          </a:p>
          <a:p>
            <a:pPr algn="ctr">
              <a:spcBef>
                <a:spcPts val="300"/>
              </a:spcBef>
            </a:pPr>
            <a:r>
              <a:rPr sz="2000" b="0" i="0" dirty="0">
                <a:solidFill>
                  <a:srgbClr val="5C4826"/>
                </a:solidFill>
              </a:rPr>
              <a:t>dependencies, toolchains,</a:t>
            </a:r>
          </a:p>
          <a:p>
            <a:pPr algn="ctr">
              <a:spcBef>
                <a:spcPts val="300"/>
              </a:spcBef>
            </a:pPr>
            <a:r>
              <a:rPr sz="2000" b="0" i="0" dirty="0">
                <a:solidFill>
                  <a:srgbClr val="5C4826"/>
                </a:solidFill>
              </a:rPr>
              <a:t>and configuration, pinned</a:t>
            </a:r>
          </a:p>
        </p:txBody>
      </p:sp>
      <p:sp>
        <p:nvSpPr>
          <p:cNvPr id="3002" name="Card"/>
          <p:cNvSpPr/>
          <p:nvPr/>
        </p:nvSpPr>
        <p:spPr>
          <a:xfrm>
            <a:off x="3246120" y="1188720"/>
            <a:ext cx="2651760" cy="18745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CONTROLLED EXECUTION</a:t>
            </a:r>
          </a:p>
          <a:p>
            <a:pPr algn="ctr">
              <a:spcBef>
                <a:spcPts val="300"/>
              </a:spcBef>
            </a:pPr>
            <a:r>
              <a:rPr sz="2000" b="0" i="0" dirty="0">
                <a:solidFill>
                  <a:srgbClr val="5C4826"/>
                </a:solidFill>
              </a:rPr>
              <a:t>a clean, ephemeral build</a:t>
            </a:r>
          </a:p>
          <a:p>
            <a:pPr algn="ctr">
              <a:spcBef>
                <a:spcPts val="300"/>
              </a:spcBef>
            </a:pPr>
            <a:r>
              <a:rPr sz="2000" b="0" i="0" dirty="0">
                <a:solidFill>
                  <a:srgbClr val="5C4826"/>
                </a:solidFill>
              </a:rPr>
              <a:t>environment for every run</a:t>
            </a:r>
          </a:p>
        </p:txBody>
      </p:sp>
      <p:sp>
        <p:nvSpPr>
          <p:cNvPr id="3003" name="Card"/>
          <p:cNvSpPr/>
          <p:nvPr/>
        </p:nvSpPr>
        <p:spPr>
          <a:xfrm>
            <a:off x="6126480" y="1188720"/>
            <a:ext cx="2651760" cy="18745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EVIDENCE</a:t>
            </a:r>
          </a:p>
          <a:p>
            <a:pPr algn="ctr">
              <a:spcBef>
                <a:spcPts val="300"/>
              </a:spcBef>
            </a:pPr>
            <a:r>
              <a:rPr sz="2000" b="0" i="0" dirty="0">
                <a:solidFill>
                  <a:srgbClr val="5C4826"/>
                </a:solidFill>
              </a:rPr>
              <a:t>compare outputs; verify</a:t>
            </a:r>
          </a:p>
          <a:p>
            <a:pPr algn="ctr">
              <a:spcBef>
                <a:spcPts val="300"/>
              </a:spcBef>
            </a:pPr>
            <a:r>
              <a:rPr sz="2000" b="0" i="0" dirty="0">
                <a:solidFill>
                  <a:srgbClr val="5C4826"/>
                </a:solidFill>
              </a:rPr>
              <a:t>artifact provenance</a:t>
            </a:r>
          </a:p>
        </p:txBody>
      </p:sp>
      <p:sp>
        <p:nvSpPr>
          <p:cNvPr id="3004" name="Label"/>
          <p:cNvSpPr/>
          <p:nvPr/>
        </p:nvSpPr>
        <p:spPr>
          <a:xfrm>
            <a:off x="365760" y="3291840"/>
            <a:ext cx="841248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Infrastructure as code declares infrastructure state;</a:t>
            </a:r>
          </a:p>
          <a:p>
            <a:pPr algn="ctr">
              <a:spcBef>
                <a:spcPts val="300"/>
              </a:spcBef>
            </a:pPr>
            <a:r>
              <a:rPr sz="2000" b="0" i="1" dirty="0">
                <a:solidFill>
                  <a:srgbClr val="555960"/>
                </a:solidFill>
              </a:rPr>
              <a:t>it is not itself a reproducible-build mechanism</a:t>
            </a:r>
          </a:p>
        </p:txBody>
      </p:sp>
      <p:sp>
        <p:nvSpPr>
          <p:cNvPr id="3005" name="Card"/>
          <p:cNvSpPr/>
          <p:nvPr/>
        </p:nvSpPr>
        <p:spPr>
          <a:xfrm>
            <a:off x="365760" y="4023360"/>
            <a:ext cx="8412480" cy="14173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Reproducible build: the same inputs yield the same artifact, byte for byte</a:t>
            </a:r>
          </a:p>
          <a:p>
            <a:pPr algn="ctr">
              <a:spcBef>
                <a:spcPts val="300"/>
              </a:spcBef>
            </a:pPr>
            <a:r>
              <a:rPr sz="2000" b="0" i="0" dirty="0">
                <a:solidFill>
                  <a:srgbClr val="5C4826"/>
                </a:solidFill>
              </a:rPr>
              <a:t>Reproducible deployment: same artifact and configuration, equivalent behavior</a:t>
            </a:r>
          </a:p>
          <a:p>
            <a:pPr algn="ctr">
              <a:spcBef>
                <a:spcPts val="300"/>
              </a:spcBef>
            </a:pPr>
            <a:r>
              <a:rPr sz="2000" b="0" i="1" dirty="0">
                <a:solidFill>
                  <a:srgbClr val="5C4826"/>
                </a:solidFill>
              </a:rPr>
              <a:t>the build property is the stronger 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Continuous integration, delivery, and deployment</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Card"/>
          <p:cNvSpPr/>
          <p:nvPr/>
        </p:nvSpPr>
        <p:spPr>
          <a:xfrm>
            <a:off x="365760" y="1280160"/>
            <a:ext cx="2651760" cy="21031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sz="2000" b="1" i="0" dirty="0">
                <a:solidFill>
                  <a:srgbClr val="5C4826"/>
                </a:solidFill>
              </a:rPr>
              <a:t>CONTINUOUS INTEGRATION</a:t>
            </a:r>
          </a:p>
          <a:p>
            <a:pPr algn="ctr">
              <a:spcBef>
                <a:spcPts val="800"/>
              </a:spcBef>
            </a:pPr>
            <a:r>
              <a:rPr sz="2000" b="0" i="0" dirty="0">
                <a:solidFill>
                  <a:srgbClr val="5C4826"/>
                </a:solidFill>
              </a:rPr>
              <a:t>integrate changes frequently;</a:t>
            </a:r>
          </a:p>
          <a:p>
            <a:pPr algn="ctr">
              <a:spcBef>
                <a:spcPts val="200"/>
              </a:spcBef>
            </a:pPr>
            <a:r>
              <a:rPr sz="2000" b="0" i="0" dirty="0">
                <a:solidFill>
                  <a:srgbClr val="5C4826"/>
                </a:solidFill>
              </a:rPr>
              <a:t>evaluate each one automatically</a:t>
            </a:r>
          </a:p>
        </p:txBody>
      </p:sp>
      <p:sp>
        <p:nvSpPr>
          <p:cNvPr id="1003" name="Card"/>
          <p:cNvSpPr/>
          <p:nvPr/>
        </p:nvSpPr>
        <p:spPr>
          <a:xfrm>
            <a:off x="3246120" y="1280160"/>
            <a:ext cx="2651760" cy="21031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sz="2000" b="1" i="0" dirty="0">
                <a:solidFill>
                  <a:srgbClr val="5C4826"/>
                </a:solidFill>
              </a:rPr>
              <a:t>CONTINUOUS DELIVERY</a:t>
            </a:r>
          </a:p>
          <a:p>
            <a:pPr algn="ctr">
              <a:spcBef>
                <a:spcPts val="800"/>
              </a:spcBef>
            </a:pPr>
            <a:r>
              <a:rPr sz="2000" b="0" i="0" dirty="0">
                <a:solidFill>
                  <a:srgbClr val="5C4826"/>
                </a:solidFill>
              </a:rPr>
              <a:t>keep the software releasable</a:t>
            </a:r>
          </a:p>
          <a:p>
            <a:pPr algn="ctr">
              <a:spcBef>
                <a:spcPts val="200"/>
              </a:spcBef>
            </a:pPr>
            <a:r>
              <a:rPr sz="2000" b="0" i="0" dirty="0">
                <a:solidFill>
                  <a:srgbClr val="5C4826"/>
                </a:solidFill>
              </a:rPr>
              <a:t>at every moment</a:t>
            </a:r>
          </a:p>
        </p:txBody>
      </p:sp>
      <p:sp>
        <p:nvSpPr>
          <p:cNvPr id="1004" name="Card"/>
          <p:cNvSpPr/>
          <p:nvPr/>
        </p:nvSpPr>
        <p:spPr>
          <a:xfrm>
            <a:off x="6126480" y="1280160"/>
            <a:ext cx="2651760" cy="21031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sz="2000" b="1" i="0" dirty="0">
                <a:solidFill>
                  <a:srgbClr val="5C4826"/>
                </a:solidFill>
              </a:rPr>
              <a:t>CONTINUOUS DEPLOYMENT</a:t>
            </a:r>
          </a:p>
          <a:p>
            <a:pPr algn="ctr">
              <a:spcBef>
                <a:spcPts val="800"/>
              </a:spcBef>
            </a:pPr>
            <a:r>
              <a:rPr sz="2000" b="0" i="0" dirty="0">
                <a:solidFill>
                  <a:srgbClr val="5C4826"/>
                </a:solidFill>
              </a:rPr>
              <a:t>automatically deploy changes</a:t>
            </a:r>
          </a:p>
          <a:p>
            <a:pPr algn="ctr">
              <a:spcBef>
                <a:spcPts val="200"/>
              </a:spcBef>
            </a:pPr>
            <a:r>
              <a:rPr sz="2000" b="0" i="0" dirty="0">
                <a:solidFill>
                  <a:srgbClr val="5C4826"/>
                </a:solidFill>
              </a:rPr>
              <a:t>that pass the gates</a:t>
            </a:r>
          </a:p>
        </p:txBody>
      </p:sp>
      <p:sp>
        <p:nvSpPr>
          <p:cNvPr id="1005" name="Label"/>
          <p:cNvSpPr/>
          <p:nvPr/>
        </p:nvSpPr>
        <p:spPr>
          <a:xfrm>
            <a:off x="365760" y="3611880"/>
            <a:ext cx="8412480" cy="7315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Continuous delivery keeps changes releasable; continuous deployment releases qualifying changes automatically</a:t>
            </a:r>
          </a:p>
        </p:txBody>
      </p:sp>
      <p:sp>
        <p:nvSpPr>
          <p:cNvPr id="1006" name="Label"/>
          <p:cNvSpPr/>
          <p:nvPr/>
        </p:nvSpPr>
        <p:spPr>
          <a:xfrm>
            <a:off x="365760" y="4480560"/>
            <a:ext cx="841248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A team can practice continuous delivery and still choose when each deployment happens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A pipeline is an executable process model</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Block"/>
          <p:cNvSpPr/>
          <p:nvPr/>
        </p:nvSpPr>
        <p:spPr>
          <a:xfrm>
            <a:off x="411480" y="1188720"/>
            <a:ext cx="1481328"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COMMIT</a:t>
            </a:r>
          </a:p>
        </p:txBody>
      </p:sp>
      <p:sp>
        <p:nvSpPr>
          <p:cNvPr id="1003" name="Block"/>
          <p:cNvSpPr/>
          <p:nvPr/>
        </p:nvSpPr>
        <p:spPr>
          <a:xfrm>
            <a:off x="2130552" y="1188720"/>
            <a:ext cx="1481328"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BUILD</a:t>
            </a:r>
          </a:p>
        </p:txBody>
      </p:sp>
      <p:cxnSp>
        <p:nvCxnSpPr>
          <p:cNvPr id="1004" name="Connector"/>
          <p:cNvCxnSpPr/>
          <p:nvPr/>
        </p:nvCxnSpPr>
        <p:spPr>
          <a:xfrm>
            <a:off x="1911096" y="1508760"/>
            <a:ext cx="201168"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5" name="Block"/>
          <p:cNvSpPr/>
          <p:nvPr/>
        </p:nvSpPr>
        <p:spPr>
          <a:xfrm>
            <a:off x="3849624" y="1188720"/>
            <a:ext cx="1481328"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TEST</a:t>
            </a:r>
          </a:p>
        </p:txBody>
      </p:sp>
      <p:cxnSp>
        <p:nvCxnSpPr>
          <p:cNvPr id="1006" name="Connector"/>
          <p:cNvCxnSpPr/>
          <p:nvPr/>
        </p:nvCxnSpPr>
        <p:spPr>
          <a:xfrm>
            <a:off x="3630168" y="1508760"/>
            <a:ext cx="201168"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7" name="Block"/>
          <p:cNvSpPr/>
          <p:nvPr/>
        </p:nvSpPr>
        <p:spPr>
          <a:xfrm>
            <a:off x="5568696" y="1188720"/>
            <a:ext cx="1481328"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PACKAGE</a:t>
            </a:r>
          </a:p>
        </p:txBody>
      </p:sp>
      <p:cxnSp>
        <p:nvCxnSpPr>
          <p:cNvPr id="1008" name="Connector"/>
          <p:cNvCxnSpPr/>
          <p:nvPr/>
        </p:nvCxnSpPr>
        <p:spPr>
          <a:xfrm>
            <a:off x="5349240" y="1508760"/>
            <a:ext cx="201168"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9" name="Block"/>
          <p:cNvSpPr/>
          <p:nvPr/>
        </p:nvSpPr>
        <p:spPr>
          <a:xfrm>
            <a:off x="7287768" y="1188720"/>
            <a:ext cx="1481328"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DEPLOY</a:t>
            </a:r>
          </a:p>
        </p:txBody>
      </p:sp>
      <p:cxnSp>
        <p:nvCxnSpPr>
          <p:cNvPr id="1010" name="Connector"/>
          <p:cNvCxnSpPr/>
          <p:nvPr/>
        </p:nvCxnSpPr>
        <p:spPr>
          <a:xfrm>
            <a:off x="7068312" y="1508760"/>
            <a:ext cx="201168"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11" name="CodeCard"/>
          <p:cNvSpPr/>
          <p:nvPr/>
        </p:nvSpPr>
        <p:spPr>
          <a:xfrm>
            <a:off x="411480" y="2194560"/>
            <a:ext cx="5166360" cy="2834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l"/>
            <a:r>
              <a:rPr sz="2000" b="0" i="0" dirty="0">
                <a:solidFill>
                  <a:srgbClr val="5C4826"/>
                </a:solidFill>
                <a:latin typeface="Consolas"/>
              </a:rPr>
              <a:t>name: ci</a:t>
            </a:r>
          </a:p>
          <a:p>
            <a:pPr algn="l">
              <a:spcBef>
                <a:spcPts val="200"/>
              </a:spcBef>
            </a:pPr>
            <a:r>
              <a:rPr sz="2000" b="0" i="0" dirty="0">
                <a:solidFill>
                  <a:srgbClr val="5C4826"/>
                </a:solidFill>
                <a:latin typeface="Consolas"/>
              </a:rPr>
              <a:t>on: pull_request</a:t>
            </a:r>
          </a:p>
          <a:p>
            <a:pPr algn="l">
              <a:spcBef>
                <a:spcPts val="200"/>
              </a:spcBef>
            </a:pPr>
            <a:r>
              <a:rPr sz="2000" b="0" i="0" dirty="0">
                <a:solidFill>
                  <a:srgbClr val="5C4826"/>
                </a:solidFill>
                <a:latin typeface="Consolas"/>
              </a:rPr>
              <a:t>jobs:</a:t>
            </a:r>
          </a:p>
          <a:p>
            <a:pPr algn="l">
              <a:spcBef>
                <a:spcPts val="200"/>
              </a:spcBef>
            </a:pPr>
            <a:r>
              <a:rPr sz="2000" b="0" i="0" dirty="0">
                <a:solidFill>
                  <a:srgbClr val="5C4826"/>
                </a:solidFill>
                <a:latin typeface="Consolas"/>
              </a:rPr>
              <a:t>  test:</a:t>
            </a:r>
          </a:p>
          <a:p>
            <a:pPr algn="l">
              <a:spcBef>
                <a:spcPts val="200"/>
              </a:spcBef>
            </a:pPr>
            <a:r>
              <a:rPr sz="2000" b="0" i="0" dirty="0">
                <a:solidFill>
                  <a:srgbClr val="5C4826"/>
                </a:solidFill>
                <a:latin typeface="Consolas"/>
              </a:rPr>
              <a:t>    runs-on: ubuntu-latest</a:t>
            </a:r>
          </a:p>
          <a:p>
            <a:pPr algn="l">
              <a:spcBef>
                <a:spcPts val="200"/>
              </a:spcBef>
            </a:pPr>
            <a:r>
              <a:rPr sz="2000" b="0" i="0" dirty="0">
                <a:solidFill>
                  <a:srgbClr val="5C4826"/>
                </a:solidFill>
                <a:latin typeface="Consolas"/>
              </a:rPr>
              <a:t>    steps:</a:t>
            </a:r>
          </a:p>
          <a:p>
            <a:pPr algn="l">
              <a:spcBef>
                <a:spcPts val="200"/>
              </a:spcBef>
            </a:pPr>
            <a:r>
              <a:rPr sz="2000" b="0" i="0" dirty="0">
                <a:solidFill>
                  <a:srgbClr val="5C4826"/>
                </a:solidFill>
                <a:latin typeface="Consolas"/>
              </a:rPr>
              <a:t>      - uses: actions/checkout@v4</a:t>
            </a:r>
          </a:p>
          <a:p>
            <a:pPr algn="l">
              <a:spcBef>
                <a:spcPts val="200"/>
              </a:spcBef>
            </a:pPr>
            <a:r>
              <a:rPr sz="2000" b="0" i="0" dirty="0">
                <a:solidFill>
                  <a:srgbClr val="5C4826"/>
                </a:solidFill>
                <a:latin typeface="Consolas"/>
              </a:rPr>
              <a:t>      - run: make test</a:t>
            </a:r>
          </a:p>
        </p:txBody>
      </p:sp>
      <p:sp>
        <p:nvSpPr>
          <p:cNvPr id="1012" name="Label"/>
          <p:cNvSpPr/>
          <p:nvPr/>
        </p:nvSpPr>
        <p:spPr>
          <a:xfrm>
            <a:off x="5897880" y="2331720"/>
            <a:ext cx="2971800" cy="22402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The workflow file declares the process.</a:t>
            </a:r>
          </a:p>
          <a:p>
            <a:pPr algn="l">
              <a:spcBef>
                <a:spcPts val="800"/>
              </a:spcBef>
            </a:pPr>
            <a:r>
              <a:rPr sz="2000" b="0" i="0" dirty="0">
                <a:solidFill>
                  <a:srgbClr val="555960"/>
                </a:solidFill>
              </a:rPr>
              <a:t>The runner executes it, the same way, every time.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CI reports; a required check enforces</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2001" name="Block"/>
          <p:cNvSpPr/>
          <p:nvPr/>
        </p:nvSpPr>
        <p:spPr>
          <a:xfrm>
            <a:off x="274320" y="1737360"/>
            <a:ext cx="173736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PROPOSED</a:t>
            </a:r>
          </a:p>
          <a:p>
            <a:pPr algn="ctr">
              <a:spcBef>
                <a:spcPts val="300"/>
              </a:spcBef>
            </a:pPr>
            <a:r>
              <a:rPr sz="2000" b="1" i="0" dirty="0">
                <a:solidFill>
                  <a:srgbClr val="FFFFFF"/>
                </a:solidFill>
              </a:rPr>
              <a:t>CHANGE</a:t>
            </a:r>
          </a:p>
        </p:txBody>
      </p:sp>
      <p:cxnSp>
        <p:nvCxnSpPr>
          <p:cNvPr id="2002" name="Connector"/>
          <p:cNvCxnSpPr/>
          <p:nvPr/>
        </p:nvCxnSpPr>
        <p:spPr>
          <a:xfrm>
            <a:off x="2011680" y="2148840"/>
            <a:ext cx="45720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003" name="Block"/>
          <p:cNvSpPr/>
          <p:nvPr/>
        </p:nvSpPr>
        <p:spPr>
          <a:xfrm>
            <a:off x="2468880" y="1737360"/>
            <a:ext cx="173736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AUTOMATED</a:t>
            </a:r>
          </a:p>
          <a:p>
            <a:pPr algn="ctr">
              <a:spcBef>
                <a:spcPts val="300"/>
              </a:spcBef>
            </a:pPr>
            <a:r>
              <a:rPr sz="2000" b="1" i="0" dirty="0">
                <a:solidFill>
                  <a:srgbClr val="FFFFFF"/>
                </a:solidFill>
              </a:rPr>
              <a:t>CHECKS</a:t>
            </a:r>
          </a:p>
        </p:txBody>
      </p:sp>
      <p:sp>
        <p:nvSpPr>
          <p:cNvPr id="2004" name="Label"/>
          <p:cNvSpPr/>
          <p:nvPr/>
        </p:nvSpPr>
        <p:spPr>
          <a:xfrm>
            <a:off x="2468880" y="2633472"/>
            <a:ext cx="173736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produce evidence</a:t>
            </a:r>
          </a:p>
        </p:txBody>
      </p:sp>
      <p:cxnSp>
        <p:nvCxnSpPr>
          <p:cNvPr id="2005" name="Connector"/>
          <p:cNvCxnSpPr/>
          <p:nvPr/>
        </p:nvCxnSpPr>
        <p:spPr>
          <a:xfrm>
            <a:off x="4206240" y="2148840"/>
            <a:ext cx="45720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006" name="PolicySlab"/>
          <p:cNvSpPr/>
          <p:nvPr/>
        </p:nvSpPr>
        <p:spPr>
          <a:xfrm>
            <a:off x="4663440" y="1234440"/>
            <a:ext cx="2377440" cy="1783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endParaRPr/>
          </a:p>
        </p:txBody>
      </p:sp>
      <p:sp>
        <p:nvSpPr>
          <p:cNvPr id="2007" name="Label"/>
          <p:cNvSpPr/>
          <p:nvPr/>
        </p:nvSpPr>
        <p:spPr>
          <a:xfrm>
            <a:off x="4754880" y="1298448"/>
            <a:ext cx="219456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ADMISSION POLICY</a:t>
            </a:r>
          </a:p>
        </p:txBody>
      </p:sp>
      <p:sp>
        <p:nvSpPr>
          <p:cNvPr id="2008" name="Decision"/>
          <p:cNvSpPr/>
          <p:nvPr/>
        </p:nvSpPr>
        <p:spPr>
          <a:xfrm>
            <a:off x="4846320" y="1737360"/>
            <a:ext cx="201168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required checks</a:t>
            </a:r>
          </a:p>
          <a:p>
            <a:pPr algn="ctr">
              <a:spcBef>
                <a:spcPts val="300"/>
              </a:spcBef>
            </a:pPr>
            <a:r>
              <a:rPr sz="2000" b="1" i="0" dirty="0">
                <a:solidFill>
                  <a:srgbClr val="FFFFFF"/>
                </a:solidFill>
              </a:rPr>
              <a:t>pass?</a:t>
            </a:r>
          </a:p>
        </p:txBody>
      </p:sp>
      <p:sp>
        <p:nvSpPr>
          <p:cNvPr id="2009" name="Label"/>
          <p:cNvSpPr/>
          <p:nvPr/>
        </p:nvSpPr>
        <p:spPr>
          <a:xfrm>
            <a:off x="4754880" y="2615184"/>
            <a:ext cx="219456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branch protection</a:t>
            </a:r>
          </a:p>
        </p:txBody>
      </p:sp>
      <p:cxnSp>
        <p:nvCxnSpPr>
          <p:cNvPr id="2010" name="Connector"/>
          <p:cNvCxnSpPr/>
          <p:nvPr/>
        </p:nvCxnSpPr>
        <p:spPr>
          <a:xfrm>
            <a:off x="7040880" y="2148840"/>
            <a:ext cx="54864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011" name="Label"/>
          <p:cNvSpPr/>
          <p:nvPr/>
        </p:nvSpPr>
        <p:spPr>
          <a:xfrm>
            <a:off x="7077456" y="1755648"/>
            <a:ext cx="502920"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55960"/>
                </a:solidFill>
              </a:rPr>
              <a:t>yes</a:t>
            </a:r>
          </a:p>
        </p:txBody>
      </p:sp>
      <p:sp>
        <p:nvSpPr>
          <p:cNvPr id="2012" name="Block"/>
          <p:cNvSpPr/>
          <p:nvPr/>
        </p:nvSpPr>
        <p:spPr>
          <a:xfrm>
            <a:off x="7589520" y="1737360"/>
            <a:ext cx="118872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MERGE</a:t>
            </a:r>
          </a:p>
        </p:txBody>
      </p:sp>
      <p:cxnSp>
        <p:nvCxnSpPr>
          <p:cNvPr id="2013" name="Connector"/>
          <p:cNvCxnSpPr/>
          <p:nvPr/>
        </p:nvCxnSpPr>
        <p:spPr>
          <a:xfrm>
            <a:off x="5852160" y="3017520"/>
            <a:ext cx="0" cy="1371600"/>
          </a:xfrm>
          <a:prstGeom prst="line">
            <a:avLst/>
          </a:prstGeom>
          <a:ln w="19050">
            <a:solidFill>
              <a:srgbClr val="8E6F3E"/>
            </a:solidFill>
          </a:ln>
        </p:spPr>
        <p:style>
          <a:lnRef idx="2">
            <a:schemeClr val="accent1"/>
          </a:lnRef>
          <a:fillRef idx="0">
            <a:schemeClr val="accent1"/>
          </a:fillRef>
          <a:effectRef idx="1">
            <a:schemeClr val="accent1"/>
          </a:effectRef>
          <a:fontRef idx="minor">
            <a:schemeClr val="tx1"/>
          </a:fontRef>
        </p:style>
      </p:cxnSp>
      <p:sp>
        <p:nvSpPr>
          <p:cNvPr id="2014" name="Label"/>
          <p:cNvSpPr/>
          <p:nvPr/>
        </p:nvSpPr>
        <p:spPr>
          <a:xfrm>
            <a:off x="5961888" y="3127248"/>
            <a:ext cx="5486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no</a:t>
            </a:r>
          </a:p>
        </p:txBody>
      </p:sp>
      <p:cxnSp>
        <p:nvCxnSpPr>
          <p:cNvPr id="2015" name="Connector"/>
          <p:cNvCxnSpPr/>
          <p:nvPr/>
        </p:nvCxnSpPr>
        <p:spPr>
          <a:xfrm flipH="1">
            <a:off x="4572000" y="4389120"/>
            <a:ext cx="128016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016" name="Card"/>
          <p:cNvSpPr/>
          <p:nvPr/>
        </p:nvSpPr>
        <p:spPr>
          <a:xfrm>
            <a:off x="2743200" y="4023360"/>
            <a:ext cx="1828800" cy="7315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REVISE</a:t>
            </a:r>
          </a:p>
        </p:txBody>
      </p:sp>
      <p:cxnSp>
        <p:nvCxnSpPr>
          <p:cNvPr id="2017" name="Connector"/>
          <p:cNvCxnSpPr/>
          <p:nvPr/>
        </p:nvCxnSpPr>
        <p:spPr>
          <a:xfrm flipH="1">
            <a:off x="1143000" y="4389120"/>
            <a:ext cx="1600200" cy="0"/>
          </a:xfrm>
          <a:prstGeom prst="line">
            <a:avLst/>
          </a:prstGeom>
          <a:ln w="19050">
            <a:solidFill>
              <a:srgbClr val="8E6F3E"/>
            </a:solidFill>
          </a:ln>
        </p:spPr>
        <p:style>
          <a:lnRef idx="2">
            <a:schemeClr val="accent1"/>
          </a:lnRef>
          <a:fillRef idx="0">
            <a:schemeClr val="accent1"/>
          </a:fillRef>
          <a:effectRef idx="1">
            <a:schemeClr val="accent1"/>
          </a:effectRef>
          <a:fontRef idx="minor">
            <a:schemeClr val="tx1"/>
          </a:fontRef>
        </p:style>
      </p:cxnSp>
      <p:cxnSp>
        <p:nvCxnSpPr>
          <p:cNvPr id="2018" name="Connector"/>
          <p:cNvCxnSpPr/>
          <p:nvPr/>
        </p:nvCxnSpPr>
        <p:spPr>
          <a:xfrm flipV="1">
            <a:off x="1143000" y="2560320"/>
            <a:ext cx="0" cy="182880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019" name="Label"/>
          <p:cNvSpPr/>
          <p:nvPr/>
        </p:nvSpPr>
        <p:spPr>
          <a:xfrm>
            <a:off x="365760" y="5120640"/>
            <a:ext cx="841248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A CI job can report failure without preventing the merge;</a:t>
            </a:r>
          </a:p>
          <a:p>
            <a:pPr algn="ctr">
              <a:spcBef>
                <a:spcPts val="300"/>
              </a:spcBef>
            </a:pPr>
            <a:r>
              <a:rPr sz="2000" b="0" i="1" dirty="0">
                <a:solidFill>
                  <a:srgbClr val="555960"/>
                </a:solidFill>
              </a:rPr>
              <a:t>a required status check under branch protection is what blocks admission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CI/CD provides evidence before admission</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ChecksPanel"/>
          <p:cNvSpPr/>
          <p:nvPr/>
        </p:nvSpPr>
        <p:spPr>
          <a:xfrm>
            <a:off x="411480" y="1188720"/>
            <a:ext cx="4206240" cy="30175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l"/>
            <a:r>
              <a:rPr sz="2000" b="1" i="0" dirty="0">
                <a:solidFill>
                  <a:srgbClr val="5C4826"/>
                </a:solidFill>
              </a:rPr>
              <a:t>checks, pull request #214</a:t>
            </a:r>
          </a:p>
          <a:p>
            <a:pPr algn="l">
              <a:spcBef>
                <a:spcPts val="800"/>
              </a:spcBef>
            </a:pPr>
            <a:r>
              <a:rPr sz="2000" b="0" i="0" dirty="0">
                <a:solidFill>
                  <a:srgbClr val="5C4826"/>
                </a:solidFill>
              </a:rPr>
              <a:t>build</a:t>
            </a:r>
            <a:r>
              <a:rPr sz="2000" b="1" i="0" dirty="0">
                <a:solidFill>
                  <a:srgbClr val="5C4826"/>
                </a:solidFill>
              </a:rPr>
              <a:t>   pass</a:t>
            </a:r>
          </a:p>
          <a:p>
            <a:pPr algn="l">
              <a:spcBef>
                <a:spcPts val="400"/>
              </a:spcBef>
            </a:pPr>
            <a:r>
              <a:rPr sz="2000" b="0" i="0" dirty="0">
                <a:solidFill>
                  <a:srgbClr val="5C4826"/>
                </a:solidFill>
              </a:rPr>
              <a:t>unit tests</a:t>
            </a:r>
            <a:r>
              <a:rPr sz="2000" b="1" i="0" dirty="0">
                <a:solidFill>
                  <a:srgbClr val="5C4826"/>
                </a:solidFill>
              </a:rPr>
              <a:t>   pass</a:t>
            </a:r>
          </a:p>
          <a:p>
            <a:pPr algn="l">
              <a:spcBef>
                <a:spcPts val="400"/>
              </a:spcBef>
            </a:pPr>
            <a:r>
              <a:rPr sz="2000" b="0" i="0" dirty="0">
                <a:solidFill>
                  <a:srgbClr val="5C4826"/>
                </a:solidFill>
              </a:rPr>
              <a:t>lint</a:t>
            </a:r>
            <a:r>
              <a:rPr sz="2000" b="1" i="0" dirty="0">
                <a:solidFill>
                  <a:srgbClr val="5C4826"/>
                </a:solidFill>
              </a:rPr>
              <a:t>   pass</a:t>
            </a:r>
          </a:p>
          <a:p>
            <a:pPr algn="l">
              <a:spcBef>
                <a:spcPts val="400"/>
              </a:spcBef>
            </a:pPr>
            <a:r>
              <a:rPr sz="2000" b="0" i="0" dirty="0">
                <a:solidFill>
                  <a:srgbClr val="5C4826"/>
                </a:solidFill>
              </a:rPr>
              <a:t>integration (required)   </a:t>
            </a:r>
            <a:r>
              <a:rPr sz="2000" b="1" i="0" dirty="0">
                <a:solidFill>
                  <a:srgbClr val="C01B1B"/>
                </a:solidFill>
              </a:rPr>
              <a:t>FAIL</a:t>
            </a:r>
          </a:p>
          <a:p>
            <a:pPr algn="l">
              <a:spcBef>
                <a:spcPts val="400"/>
              </a:spcBef>
            </a:pPr>
            <a:r>
              <a:rPr sz="2000" b="0" i="0" dirty="0">
                <a:solidFill>
                  <a:srgbClr val="5C4826"/>
                </a:solidFill>
              </a:rPr>
              <a:t>coverage</a:t>
            </a:r>
            <a:r>
              <a:rPr sz="2000" b="1" i="0" dirty="0">
                <a:solidFill>
                  <a:srgbClr val="5C4826"/>
                </a:solidFill>
              </a:rPr>
              <a:t>   pass</a:t>
            </a:r>
          </a:p>
          <a:p>
            <a:pPr algn="l">
              <a:spcBef>
                <a:spcPts val="1000"/>
              </a:spcBef>
            </a:pPr>
            <a:r>
              <a:rPr sz="2000" b="0" i="1" dirty="0">
                <a:solidFill>
                  <a:srgbClr val="C01B1B"/>
                </a:solidFill>
              </a:rPr>
              <a:t>merging is blocked</a:t>
            </a:r>
          </a:p>
        </p:txBody>
      </p:sp>
      <p:sp>
        <p:nvSpPr>
          <p:cNvPr id="1003" name="Label"/>
          <p:cNvSpPr/>
          <p:nvPr/>
        </p:nvSpPr>
        <p:spPr>
          <a:xfrm>
            <a:off x="5029200" y="1371600"/>
            <a:ext cx="3749040" cy="3108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Every stage emits evidence.</a:t>
            </a:r>
          </a:p>
          <a:p>
            <a:pPr algn="l">
              <a:spcBef>
                <a:spcPts val="1000"/>
              </a:spcBef>
            </a:pPr>
            <a:r>
              <a:rPr sz="2000" b="0" i="0" dirty="0">
                <a:solidFill>
                  <a:srgbClr val="555960"/>
                </a:solidFill>
              </a:rPr>
              <a:t>A required failing check blocks admission.</a:t>
            </a:r>
          </a:p>
          <a:p>
            <a:pPr algn="l">
              <a:spcBef>
                <a:spcPts val="1000"/>
              </a:spcBef>
            </a:pPr>
            <a:r>
              <a:rPr sz="2000" b="0" i="0" dirty="0">
                <a:solidFill>
                  <a:srgbClr val="555960"/>
                </a:solidFill>
              </a:rPr>
              <a:t>Checks supply the evidence; required gates enforce the admission criteria.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What can go wrong with CI/CD?</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Card"/>
          <p:cNvSpPr/>
          <p:nvPr/>
        </p:nvSpPr>
        <p:spPr>
          <a:xfrm>
            <a:off x="365760" y="1280160"/>
            <a:ext cx="2651760" cy="21031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sz="2000" b="1" i="0" dirty="0">
                <a:solidFill>
                  <a:srgbClr val="5C4826"/>
                </a:solidFill>
              </a:rPr>
              <a:t>FLAKY TESTS</a:t>
            </a:r>
          </a:p>
          <a:p>
            <a:pPr algn="ctr">
              <a:spcBef>
                <a:spcPts val="800"/>
              </a:spcBef>
            </a:pPr>
            <a:r>
              <a:rPr sz="2000" b="0" i="0" dirty="0">
                <a:solidFill>
                  <a:srgbClr val="5C4826"/>
                </a:solidFill>
              </a:rPr>
              <a:t>an identical commit gets two different verdicts</a:t>
            </a:r>
          </a:p>
        </p:txBody>
      </p:sp>
      <p:sp>
        <p:nvSpPr>
          <p:cNvPr id="1003" name="Card"/>
          <p:cNvSpPr/>
          <p:nvPr/>
        </p:nvSpPr>
        <p:spPr>
          <a:xfrm>
            <a:off x="3246120" y="1280160"/>
            <a:ext cx="2651760" cy="21031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sz="2000" b="1" i="0" dirty="0">
                <a:solidFill>
                  <a:srgbClr val="5C4826"/>
                </a:solidFill>
              </a:rPr>
              <a:t>ENVIRONMENT DRIFT</a:t>
            </a:r>
          </a:p>
          <a:p>
            <a:pPr algn="ctr">
              <a:spcBef>
                <a:spcPts val="800"/>
              </a:spcBef>
            </a:pPr>
            <a:r>
              <a:rPr sz="2000" b="0" i="0" dirty="0">
                <a:solidFill>
                  <a:srgbClr val="5C4826"/>
                </a:solidFill>
              </a:rPr>
              <a:t>CI runs one runtime version; production runs another</a:t>
            </a:r>
          </a:p>
        </p:txBody>
      </p:sp>
      <p:sp>
        <p:nvSpPr>
          <p:cNvPr id="1004" name="Card"/>
          <p:cNvSpPr/>
          <p:nvPr/>
        </p:nvSpPr>
        <p:spPr>
          <a:xfrm>
            <a:off x="6126480" y="1280160"/>
            <a:ext cx="2651760" cy="21031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sz="2000" b="1" i="0" dirty="0">
                <a:solidFill>
                  <a:srgbClr val="5C4826"/>
                </a:solidFill>
              </a:rPr>
              <a:t>UNRELIABLE DEPENDENCIES</a:t>
            </a:r>
          </a:p>
          <a:p>
            <a:pPr algn="ctr">
              <a:spcBef>
                <a:spcPts val="800"/>
              </a:spcBef>
            </a:pPr>
            <a:r>
              <a:rPr sz="2000" b="0" i="0" dirty="0">
                <a:solidFill>
                  <a:srgbClr val="5C4826"/>
                </a:solidFill>
              </a:rPr>
              <a:t>the package registry is unavailable mid-build</a:t>
            </a:r>
          </a:p>
        </p:txBody>
      </p:sp>
      <p:sp>
        <p:nvSpPr>
          <p:cNvPr id="1005" name="Label"/>
          <p:cNvSpPr/>
          <p:nvPr/>
        </p:nvSpPr>
        <p:spPr>
          <a:xfrm>
            <a:off x="365760" y="3657600"/>
            <a:ext cx="841248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The pipeline is software too, and it fails like software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A passing build is not permission to deploy</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Block"/>
          <p:cNvSpPr/>
          <p:nvPr/>
        </p:nvSpPr>
        <p:spPr>
          <a:xfrm>
            <a:off x="411480" y="1325880"/>
            <a:ext cx="2103120" cy="7772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GREEN BUILD</a:t>
            </a:r>
          </a:p>
        </p:txBody>
      </p:sp>
      <p:sp>
        <p:nvSpPr>
          <p:cNvPr id="1003" name="GroupLabel"/>
          <p:cNvSpPr/>
          <p:nvPr/>
        </p:nvSpPr>
        <p:spPr>
          <a:xfrm>
            <a:off x="3246120" y="1188720"/>
            <a:ext cx="2651760" cy="1051560"/>
          </a:xfrm>
          <a:prstGeom prst="rect">
            <a:avLst/>
          </a:prstGeom>
          <a:solidFill>
            <a:srgbClr val="3E5C6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RELEASE</a:t>
            </a:r>
          </a:p>
          <a:p>
            <a:pPr algn="ctr"/>
            <a:r>
              <a:rPr sz="2000" b="1" i="0" dirty="0">
                <a:solidFill>
                  <a:srgbClr val="FFFFFF"/>
                </a:solidFill>
              </a:rPr>
              <a:t>DECISION</a:t>
            </a:r>
          </a:p>
        </p:txBody>
      </p:sp>
      <p:sp>
        <p:nvSpPr>
          <p:cNvPr id="1004" name="Block"/>
          <p:cNvSpPr/>
          <p:nvPr/>
        </p:nvSpPr>
        <p:spPr>
          <a:xfrm>
            <a:off x="6629400" y="1325880"/>
            <a:ext cx="2103120" cy="7772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PRODUCTION</a:t>
            </a:r>
          </a:p>
        </p:txBody>
      </p:sp>
      <p:cxnSp>
        <p:nvCxnSpPr>
          <p:cNvPr id="1005" name="Connector"/>
          <p:cNvCxnSpPr/>
          <p:nvPr/>
        </p:nvCxnSpPr>
        <p:spPr>
          <a:xfrm>
            <a:off x="2532888" y="1714500"/>
            <a:ext cx="694944"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1006" name="Connector"/>
          <p:cNvCxnSpPr/>
          <p:nvPr/>
        </p:nvCxnSpPr>
        <p:spPr>
          <a:xfrm>
            <a:off x="5916168" y="1714500"/>
            <a:ext cx="694944"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1007" name="Label"/>
          <p:cNvSpPr/>
          <p:nvPr/>
        </p:nvSpPr>
        <p:spPr>
          <a:xfrm>
            <a:off x="411480" y="2560320"/>
            <a:ext cx="841248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55960"/>
                </a:solidFill>
              </a:rPr>
              <a:t>Release management decides what is released, when, to whom, and under which safeguards</a:t>
            </a:r>
          </a:p>
        </p:txBody>
      </p:sp>
      <p:sp>
        <p:nvSpPr>
          <p:cNvPr id="1008" name="Card"/>
          <p:cNvSpPr/>
          <p:nvPr/>
        </p:nvSpPr>
        <p:spPr>
          <a:xfrm>
            <a:off x="640080" y="3429000"/>
            <a:ext cx="3840480" cy="15544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A web startup</a:t>
            </a:r>
          </a:p>
          <a:p>
            <a:pPr algn="ctr">
              <a:spcBef>
                <a:spcPts val="600"/>
              </a:spcBef>
            </a:pPr>
            <a:r>
              <a:rPr sz="2000" b="0" i="0" dirty="0">
                <a:solidFill>
                  <a:srgbClr val="5C4826"/>
                </a:solidFill>
              </a:rPr>
              <a:t>a failed deploy is reversible in minutes;</a:t>
            </a:r>
          </a:p>
          <a:p>
            <a:pPr algn="ctr">
              <a:spcBef>
                <a:spcPts val="200"/>
              </a:spcBef>
            </a:pPr>
            <a:r>
              <a:rPr sz="2000" b="0" i="0" dirty="0">
                <a:solidFill>
                  <a:srgbClr val="5C4826"/>
                </a:solidFill>
              </a:rPr>
              <a:t>automated gates may suffice</a:t>
            </a:r>
          </a:p>
        </p:txBody>
      </p:sp>
      <p:sp>
        <p:nvSpPr>
          <p:cNvPr id="1009" name="Card"/>
          <p:cNvSpPr/>
          <p:nvPr/>
        </p:nvSpPr>
        <p:spPr>
          <a:xfrm>
            <a:off x="4800600" y="3429000"/>
            <a:ext cx="3840480" cy="15544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A medical-device team</a:t>
            </a:r>
          </a:p>
          <a:p>
            <a:pPr algn="ctr">
              <a:spcBef>
                <a:spcPts val="600"/>
              </a:spcBef>
            </a:pPr>
            <a:r>
              <a:rPr sz="2000" b="0" i="0" dirty="0">
                <a:solidFill>
                  <a:srgbClr val="5C4826"/>
                </a:solidFill>
              </a:rPr>
              <a:t>a failed release may harm patients;</a:t>
            </a:r>
          </a:p>
          <a:p>
            <a:pPr algn="ctr">
              <a:spcBef>
                <a:spcPts val="200"/>
              </a:spcBef>
            </a:pPr>
            <a:r>
              <a:rPr sz="2000" b="0" i="0" dirty="0">
                <a:solidFill>
                  <a:srgbClr val="5C4826"/>
                </a:solidFill>
              </a:rPr>
              <a:t>evidence and sign-off precede release</a:t>
            </a:r>
          </a:p>
        </p:txBody>
      </p:sp>
      <p:sp>
        <p:nvSpPr>
          <p:cNvPr id="1010" name="FooterBand"/>
          <p:cNvSpPr/>
          <p:nvPr/>
        </p:nvSpPr>
        <p:spPr>
          <a:xfrm>
            <a:off x="274320" y="5512918"/>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The pipeline is green. Should you ship?</a:t>
            </a:r>
          </a:p>
        </p:txBody>
      </p:sp>
      <p:sp>
        <p:nvSpPr>
          <p:cNvPr id="3101" name="Label"/>
          <p:cNvSpPr/>
          <p:nvPr/>
        </p:nvSpPr>
        <p:spPr>
          <a:xfrm>
            <a:off x="640080" y="5047488"/>
            <a:ext cx="800100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What evidence and authorization should each release require?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Release strategies control exposure</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Label"/>
          <p:cNvSpPr/>
          <p:nvPr/>
        </p:nvSpPr>
        <p:spPr>
          <a:xfrm>
            <a:off x="411480" y="1051560"/>
            <a:ext cx="219456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C4826"/>
                </a:solidFill>
              </a:rPr>
              <a:t>STRATEGY</a:t>
            </a:r>
          </a:p>
        </p:txBody>
      </p:sp>
      <p:sp>
        <p:nvSpPr>
          <p:cNvPr id="1003" name="Label"/>
          <p:cNvSpPr/>
          <p:nvPr/>
        </p:nvSpPr>
        <p:spPr>
          <a:xfrm>
            <a:off x="2880360" y="1051560"/>
            <a:ext cx="585216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C4826"/>
                </a:solidFill>
              </a:rPr>
              <a:t>WHAT THE ENGINEER CONTROLS</a:t>
            </a:r>
          </a:p>
        </p:txBody>
      </p:sp>
      <p:sp>
        <p:nvSpPr>
          <p:cNvPr id="1004" name="Block"/>
          <p:cNvSpPr/>
          <p:nvPr/>
        </p:nvSpPr>
        <p:spPr>
          <a:xfrm>
            <a:off x="411480" y="1554480"/>
            <a:ext cx="219456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BLUE-GREEN</a:t>
            </a:r>
          </a:p>
        </p:txBody>
      </p:sp>
      <p:sp>
        <p:nvSpPr>
          <p:cNvPr id="1005" name="Label"/>
          <p:cNvSpPr/>
          <p:nvPr/>
        </p:nvSpPr>
        <p:spPr>
          <a:xfrm>
            <a:off x="2880360" y="1572768"/>
            <a:ext cx="585216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which environment serves production traffic</a:t>
            </a:r>
          </a:p>
        </p:txBody>
      </p:sp>
      <p:sp>
        <p:nvSpPr>
          <p:cNvPr id="1006" name="Block"/>
          <p:cNvSpPr/>
          <p:nvPr/>
        </p:nvSpPr>
        <p:spPr>
          <a:xfrm>
            <a:off x="411480" y="2423160"/>
            <a:ext cx="219456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CANARY</a:t>
            </a:r>
          </a:p>
        </p:txBody>
      </p:sp>
      <p:sp>
        <p:nvSpPr>
          <p:cNvPr id="1007" name="Label"/>
          <p:cNvSpPr/>
          <p:nvPr/>
        </p:nvSpPr>
        <p:spPr>
          <a:xfrm>
            <a:off x="2880360" y="2441448"/>
            <a:ext cx="585216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which fraction of traffic sees the new version</a:t>
            </a:r>
          </a:p>
        </p:txBody>
      </p:sp>
      <p:sp>
        <p:nvSpPr>
          <p:cNvPr id="1008" name="Block"/>
          <p:cNvSpPr/>
          <p:nvPr/>
        </p:nvSpPr>
        <p:spPr>
          <a:xfrm>
            <a:off x="411480" y="3291840"/>
            <a:ext cx="219456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FEATURE FLAGS</a:t>
            </a:r>
          </a:p>
        </p:txBody>
      </p:sp>
      <p:sp>
        <p:nvSpPr>
          <p:cNvPr id="1009" name="Label"/>
          <p:cNvSpPr/>
          <p:nvPr/>
        </p:nvSpPr>
        <p:spPr>
          <a:xfrm>
            <a:off x="2880360" y="3310128"/>
            <a:ext cx="585216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which functionality is enabled</a:t>
            </a:r>
          </a:p>
        </p:txBody>
      </p:sp>
      <p:sp>
        <p:nvSpPr>
          <p:cNvPr id="1010" name="Label"/>
          <p:cNvSpPr/>
          <p:nvPr/>
        </p:nvSpPr>
        <p:spPr>
          <a:xfrm>
            <a:off x="411480" y="4389120"/>
            <a:ext cx="8412480"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None removes the risk; each limits exposure along a different dimension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Blue-green deployment</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2100" name="StateSlab"/>
          <p:cNvSpPr/>
          <p:nvPr/>
        </p:nvSpPr>
        <p:spPr>
          <a:xfrm>
            <a:off x="365760" y="1097280"/>
            <a:ext cx="4114800" cy="3977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endParaRPr/>
          </a:p>
        </p:txBody>
      </p:sp>
      <p:sp>
        <p:nvSpPr>
          <p:cNvPr id="2101" name="Label"/>
          <p:cNvSpPr/>
          <p:nvPr/>
        </p:nvSpPr>
        <p:spPr>
          <a:xfrm>
            <a:off x="502920" y="1188720"/>
            <a:ext cx="384048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C4826"/>
                </a:solidFill>
              </a:rPr>
              <a:t>BEFORE THE SWITCH</a:t>
            </a:r>
          </a:p>
        </p:txBody>
      </p:sp>
      <p:sp>
        <p:nvSpPr>
          <p:cNvPr id="2102" name="Block"/>
          <p:cNvSpPr/>
          <p:nvPr/>
        </p:nvSpPr>
        <p:spPr>
          <a:xfrm>
            <a:off x="1234440" y="1691640"/>
            <a:ext cx="237744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ROUTER</a:t>
            </a:r>
          </a:p>
        </p:txBody>
      </p:sp>
      <p:cxnSp>
        <p:nvCxnSpPr>
          <p:cNvPr id="2103" name="Connector"/>
          <p:cNvCxnSpPr/>
          <p:nvPr/>
        </p:nvCxnSpPr>
        <p:spPr>
          <a:xfrm>
            <a:off x="1463040" y="2194560"/>
            <a:ext cx="0" cy="59436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2104" name="Connector"/>
          <p:cNvCxnSpPr/>
          <p:nvPr/>
        </p:nvCxnSpPr>
        <p:spPr>
          <a:xfrm>
            <a:off x="3383280" y="2194560"/>
            <a:ext cx="0" cy="594360"/>
          </a:xfrm>
          <a:prstGeom prst="line">
            <a:avLst/>
          </a:prstGeom>
          <a:ln w="12700">
            <a:solidFill>
              <a:srgbClr val="55596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105" name="Label"/>
          <p:cNvSpPr/>
          <p:nvPr/>
        </p:nvSpPr>
        <p:spPr>
          <a:xfrm>
            <a:off x="1536192" y="2249424"/>
            <a:ext cx="73152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100%</a:t>
            </a:r>
          </a:p>
        </p:txBody>
      </p:sp>
      <p:sp>
        <p:nvSpPr>
          <p:cNvPr id="2106" name="EnvCard"/>
          <p:cNvSpPr/>
          <p:nvPr/>
        </p:nvSpPr>
        <p:spPr>
          <a:xfrm>
            <a:off x="594360" y="2788920"/>
            <a:ext cx="1737360" cy="914400"/>
          </a:xfrm>
          <a:prstGeom prst="rect">
            <a:avLst/>
          </a:prstGeom>
          <a:solidFill>
            <a:srgbClr val="F5F1E8"/>
          </a:solidFill>
          <a:ln w="25400">
            <a:solidFill>
              <a:srgbClr val="8E6F3E"/>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BLUE</a:t>
            </a:r>
          </a:p>
          <a:p>
            <a:pPr algn="ctr">
              <a:spcBef>
                <a:spcPts val="300"/>
              </a:spcBef>
            </a:pPr>
            <a:r>
              <a:rPr sz="2000" b="0" i="0" dirty="0">
                <a:solidFill>
                  <a:srgbClr val="5C4826"/>
                </a:solidFill>
              </a:rPr>
              <a:t>version 1</a:t>
            </a:r>
          </a:p>
        </p:txBody>
      </p:sp>
      <p:sp>
        <p:nvSpPr>
          <p:cNvPr id="2107" name="EnvCard"/>
          <p:cNvSpPr/>
          <p:nvPr/>
        </p:nvSpPr>
        <p:spPr>
          <a:xfrm>
            <a:off x="2514600" y="2788920"/>
            <a:ext cx="1737360" cy="9144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GREEN</a:t>
            </a:r>
          </a:p>
          <a:p>
            <a:pPr algn="ctr">
              <a:spcBef>
                <a:spcPts val="300"/>
              </a:spcBef>
            </a:pPr>
            <a:r>
              <a:rPr sz="2000" b="0" i="0" dirty="0">
                <a:solidFill>
                  <a:srgbClr val="5C4826"/>
                </a:solidFill>
              </a:rPr>
              <a:t>version 2</a:t>
            </a:r>
          </a:p>
        </p:txBody>
      </p:sp>
      <p:cxnSp>
        <p:nvCxnSpPr>
          <p:cNvPr id="2108" name="Connector"/>
          <p:cNvCxnSpPr/>
          <p:nvPr/>
        </p:nvCxnSpPr>
        <p:spPr>
          <a:xfrm>
            <a:off x="1463040" y="3703320"/>
            <a:ext cx="0" cy="548640"/>
          </a:xfrm>
          <a:prstGeom prst="line">
            <a:avLst/>
          </a:prstGeom>
          <a:ln w="12700">
            <a:solidFill>
              <a:srgbClr val="555960"/>
            </a:solidFill>
          </a:ln>
        </p:spPr>
        <p:style>
          <a:lnRef idx="2">
            <a:schemeClr val="accent1"/>
          </a:lnRef>
          <a:fillRef idx="0">
            <a:schemeClr val="accent1"/>
          </a:fillRef>
          <a:effectRef idx="1">
            <a:schemeClr val="accent1"/>
          </a:effectRef>
          <a:fontRef idx="minor">
            <a:schemeClr val="tx1"/>
          </a:fontRef>
        </p:style>
      </p:cxnSp>
      <p:cxnSp>
        <p:nvCxnSpPr>
          <p:cNvPr id="2109" name="Connector"/>
          <p:cNvCxnSpPr/>
          <p:nvPr/>
        </p:nvCxnSpPr>
        <p:spPr>
          <a:xfrm>
            <a:off x="3383280" y="3703320"/>
            <a:ext cx="0" cy="548640"/>
          </a:xfrm>
          <a:prstGeom prst="line">
            <a:avLst/>
          </a:prstGeom>
          <a:ln w="12700">
            <a:solidFill>
              <a:srgbClr val="555960"/>
            </a:solidFill>
          </a:ln>
        </p:spPr>
        <p:style>
          <a:lnRef idx="2">
            <a:schemeClr val="accent1"/>
          </a:lnRef>
          <a:fillRef idx="0">
            <a:schemeClr val="accent1"/>
          </a:fillRef>
          <a:effectRef idx="1">
            <a:schemeClr val="accent1"/>
          </a:effectRef>
          <a:fontRef idx="minor">
            <a:schemeClr val="tx1"/>
          </a:fontRef>
        </p:style>
      </p:cxnSp>
      <p:sp>
        <p:nvSpPr>
          <p:cNvPr id="2110" name="Card"/>
          <p:cNvSpPr/>
          <p:nvPr/>
        </p:nvSpPr>
        <p:spPr>
          <a:xfrm>
            <a:off x="1325880" y="4251960"/>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shared database</a:t>
            </a:r>
          </a:p>
        </p:txBody>
      </p:sp>
      <p:sp>
        <p:nvSpPr>
          <p:cNvPr id="2120" name="StateSlab"/>
          <p:cNvSpPr/>
          <p:nvPr/>
        </p:nvSpPr>
        <p:spPr>
          <a:xfrm>
            <a:off x="4663440" y="1097280"/>
            <a:ext cx="4114800" cy="39776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endParaRPr/>
          </a:p>
        </p:txBody>
      </p:sp>
      <p:sp>
        <p:nvSpPr>
          <p:cNvPr id="2121" name="Label"/>
          <p:cNvSpPr/>
          <p:nvPr/>
        </p:nvSpPr>
        <p:spPr>
          <a:xfrm>
            <a:off x="4800600" y="1188720"/>
            <a:ext cx="384048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C4826"/>
                </a:solidFill>
              </a:rPr>
              <a:t>AFTER THE SWITCH</a:t>
            </a:r>
          </a:p>
        </p:txBody>
      </p:sp>
      <p:sp>
        <p:nvSpPr>
          <p:cNvPr id="2122" name="Block"/>
          <p:cNvSpPr/>
          <p:nvPr/>
        </p:nvSpPr>
        <p:spPr>
          <a:xfrm>
            <a:off x="5532120" y="1691640"/>
            <a:ext cx="237744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ROUTER</a:t>
            </a:r>
          </a:p>
        </p:txBody>
      </p:sp>
      <p:cxnSp>
        <p:nvCxnSpPr>
          <p:cNvPr id="2123" name="Connector"/>
          <p:cNvCxnSpPr/>
          <p:nvPr/>
        </p:nvCxnSpPr>
        <p:spPr>
          <a:xfrm>
            <a:off x="5760720" y="2194560"/>
            <a:ext cx="0" cy="594360"/>
          </a:xfrm>
          <a:prstGeom prst="line">
            <a:avLst/>
          </a:prstGeom>
          <a:ln w="12700">
            <a:solidFill>
              <a:srgbClr val="555960"/>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124" name="Connector"/>
          <p:cNvCxnSpPr/>
          <p:nvPr/>
        </p:nvCxnSpPr>
        <p:spPr>
          <a:xfrm>
            <a:off x="7680960" y="2194560"/>
            <a:ext cx="0" cy="594360"/>
          </a:xfrm>
          <a:prstGeom prst="line">
            <a:avLst/>
          </a:prstGeom>
          <a:ln w="28575">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125" name="Label"/>
          <p:cNvSpPr/>
          <p:nvPr/>
        </p:nvSpPr>
        <p:spPr>
          <a:xfrm>
            <a:off x="7754112" y="2249424"/>
            <a:ext cx="73152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100%</a:t>
            </a:r>
          </a:p>
        </p:txBody>
      </p:sp>
      <p:sp>
        <p:nvSpPr>
          <p:cNvPr id="2126" name="EnvCard"/>
          <p:cNvSpPr/>
          <p:nvPr/>
        </p:nvSpPr>
        <p:spPr>
          <a:xfrm>
            <a:off x="4892040" y="2788920"/>
            <a:ext cx="1737360" cy="9144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BLUE</a:t>
            </a:r>
          </a:p>
          <a:p>
            <a:pPr algn="ctr">
              <a:spcBef>
                <a:spcPts val="300"/>
              </a:spcBef>
            </a:pPr>
            <a:r>
              <a:rPr sz="2000" b="0" i="0" dirty="0">
                <a:solidFill>
                  <a:srgbClr val="5C4826"/>
                </a:solidFill>
              </a:rPr>
              <a:t>version 1</a:t>
            </a:r>
          </a:p>
        </p:txBody>
      </p:sp>
      <p:sp>
        <p:nvSpPr>
          <p:cNvPr id="2127" name="EnvCard"/>
          <p:cNvSpPr/>
          <p:nvPr/>
        </p:nvSpPr>
        <p:spPr>
          <a:xfrm>
            <a:off x="6812280" y="2788920"/>
            <a:ext cx="1737360" cy="914400"/>
          </a:xfrm>
          <a:prstGeom prst="rect">
            <a:avLst/>
          </a:prstGeom>
          <a:solidFill>
            <a:srgbClr val="F5F1E8"/>
          </a:solidFill>
          <a:ln w="25400">
            <a:solidFill>
              <a:srgbClr val="8E6F3E"/>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GREEN</a:t>
            </a:r>
          </a:p>
          <a:p>
            <a:pPr algn="ctr">
              <a:spcBef>
                <a:spcPts val="300"/>
              </a:spcBef>
            </a:pPr>
            <a:r>
              <a:rPr sz="2000" b="0" i="0" dirty="0">
                <a:solidFill>
                  <a:srgbClr val="5C4826"/>
                </a:solidFill>
              </a:rPr>
              <a:t>version 2</a:t>
            </a:r>
          </a:p>
        </p:txBody>
      </p:sp>
      <p:cxnSp>
        <p:nvCxnSpPr>
          <p:cNvPr id="2128" name="Connector"/>
          <p:cNvCxnSpPr/>
          <p:nvPr/>
        </p:nvCxnSpPr>
        <p:spPr>
          <a:xfrm>
            <a:off x="5760720" y="3703320"/>
            <a:ext cx="0" cy="548640"/>
          </a:xfrm>
          <a:prstGeom prst="line">
            <a:avLst/>
          </a:prstGeom>
          <a:ln w="12700">
            <a:solidFill>
              <a:srgbClr val="555960"/>
            </a:solidFill>
          </a:ln>
        </p:spPr>
        <p:style>
          <a:lnRef idx="2">
            <a:schemeClr val="accent1"/>
          </a:lnRef>
          <a:fillRef idx="0">
            <a:schemeClr val="accent1"/>
          </a:fillRef>
          <a:effectRef idx="1">
            <a:schemeClr val="accent1"/>
          </a:effectRef>
          <a:fontRef idx="minor">
            <a:schemeClr val="tx1"/>
          </a:fontRef>
        </p:style>
      </p:cxnSp>
      <p:cxnSp>
        <p:nvCxnSpPr>
          <p:cNvPr id="2129" name="Connector"/>
          <p:cNvCxnSpPr/>
          <p:nvPr/>
        </p:nvCxnSpPr>
        <p:spPr>
          <a:xfrm>
            <a:off x="7680960" y="3703320"/>
            <a:ext cx="0" cy="548640"/>
          </a:xfrm>
          <a:prstGeom prst="line">
            <a:avLst/>
          </a:prstGeom>
          <a:ln w="12700">
            <a:solidFill>
              <a:srgbClr val="555960"/>
            </a:solidFill>
          </a:ln>
        </p:spPr>
        <p:style>
          <a:lnRef idx="2">
            <a:schemeClr val="accent1"/>
          </a:lnRef>
          <a:fillRef idx="0">
            <a:schemeClr val="accent1"/>
          </a:fillRef>
          <a:effectRef idx="1">
            <a:schemeClr val="accent1"/>
          </a:effectRef>
          <a:fontRef idx="minor">
            <a:schemeClr val="tx1"/>
          </a:fontRef>
        </p:style>
      </p:cxnSp>
      <p:sp>
        <p:nvSpPr>
          <p:cNvPr id="2130" name="Card"/>
          <p:cNvSpPr/>
          <p:nvPr/>
        </p:nvSpPr>
        <p:spPr>
          <a:xfrm>
            <a:off x="5623560" y="4251960"/>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shared database</a:t>
            </a:r>
          </a:p>
        </p:txBody>
      </p:sp>
      <p:sp>
        <p:nvSpPr>
          <p:cNvPr id="2140" name="Card"/>
          <p:cNvSpPr/>
          <p:nvPr/>
        </p:nvSpPr>
        <p:spPr>
          <a:xfrm>
            <a:off x="365760" y="5257800"/>
            <a:ext cx="8412480" cy="7315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One database serves both versions: a schema change only version 2 understands</a:t>
            </a:r>
          </a:p>
          <a:p>
            <a:pPr algn="ctr">
              <a:spcBef>
                <a:spcPts val="300"/>
              </a:spcBef>
            </a:pPr>
            <a:r>
              <a:rPr sz="2000" b="0" i="0" dirty="0">
                <a:solidFill>
                  <a:srgbClr val="5C4826"/>
                </a:solidFill>
              </a:rPr>
              <a:t>breaks the instant-rollback story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Canary deployment</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2201" name="Block"/>
          <p:cNvSpPr/>
          <p:nvPr/>
        </p:nvSpPr>
        <p:spPr>
          <a:xfrm>
            <a:off x="411480" y="1417320"/>
            <a:ext cx="146304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TRAFFIC</a:t>
            </a:r>
          </a:p>
        </p:txBody>
      </p:sp>
      <p:cxnSp>
        <p:nvCxnSpPr>
          <p:cNvPr id="2202" name="Connector"/>
          <p:cNvCxnSpPr/>
          <p:nvPr/>
        </p:nvCxnSpPr>
        <p:spPr>
          <a:xfrm>
            <a:off x="1874520" y="1783080"/>
            <a:ext cx="50292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203" name="Block"/>
          <p:cNvSpPr/>
          <p:nvPr/>
        </p:nvSpPr>
        <p:spPr>
          <a:xfrm>
            <a:off x="2377440" y="1417320"/>
            <a:ext cx="146304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ROUTER</a:t>
            </a:r>
          </a:p>
        </p:txBody>
      </p:sp>
      <p:cxnSp>
        <p:nvCxnSpPr>
          <p:cNvPr id="2204" name="Connector"/>
          <p:cNvCxnSpPr/>
          <p:nvPr/>
        </p:nvCxnSpPr>
        <p:spPr>
          <a:xfrm>
            <a:off x="3840480" y="1783080"/>
            <a:ext cx="640080" cy="0"/>
          </a:xfrm>
          <a:prstGeom prst="line">
            <a:avLst/>
          </a:prstGeom>
          <a:ln w="19050">
            <a:solidFill>
              <a:srgbClr val="8E6F3E"/>
            </a:solidFill>
          </a:ln>
        </p:spPr>
        <p:style>
          <a:lnRef idx="2">
            <a:schemeClr val="accent1"/>
          </a:lnRef>
          <a:fillRef idx="0">
            <a:schemeClr val="accent1"/>
          </a:fillRef>
          <a:effectRef idx="1">
            <a:schemeClr val="accent1"/>
          </a:effectRef>
          <a:fontRef idx="minor">
            <a:schemeClr val="tx1"/>
          </a:fontRef>
        </p:style>
      </p:cxnSp>
      <p:cxnSp>
        <p:nvCxnSpPr>
          <p:cNvPr id="2205" name="Connector"/>
          <p:cNvCxnSpPr/>
          <p:nvPr/>
        </p:nvCxnSpPr>
        <p:spPr>
          <a:xfrm>
            <a:off x="4480560" y="1280160"/>
            <a:ext cx="0" cy="1188720"/>
          </a:xfrm>
          <a:prstGeom prst="line">
            <a:avLst/>
          </a:prstGeom>
          <a:ln w="19050">
            <a:solidFill>
              <a:srgbClr val="8E6F3E"/>
            </a:solidFill>
          </a:ln>
        </p:spPr>
        <p:style>
          <a:lnRef idx="2">
            <a:schemeClr val="accent1"/>
          </a:lnRef>
          <a:fillRef idx="0">
            <a:schemeClr val="accent1"/>
          </a:fillRef>
          <a:effectRef idx="1">
            <a:schemeClr val="accent1"/>
          </a:effectRef>
          <a:fontRef idx="minor">
            <a:schemeClr val="tx1"/>
          </a:fontRef>
        </p:style>
      </p:cxnSp>
      <p:cxnSp>
        <p:nvCxnSpPr>
          <p:cNvPr id="2206" name="Connector"/>
          <p:cNvCxnSpPr/>
          <p:nvPr/>
        </p:nvCxnSpPr>
        <p:spPr>
          <a:xfrm>
            <a:off x="4480560" y="1280160"/>
            <a:ext cx="64008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2207" name="Connector"/>
          <p:cNvCxnSpPr/>
          <p:nvPr/>
        </p:nvCxnSpPr>
        <p:spPr>
          <a:xfrm>
            <a:off x="4480560" y="2468880"/>
            <a:ext cx="64008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208" name="Label"/>
          <p:cNvSpPr/>
          <p:nvPr/>
        </p:nvSpPr>
        <p:spPr>
          <a:xfrm>
            <a:off x="4553712" y="932688"/>
            <a:ext cx="50292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95%</a:t>
            </a:r>
          </a:p>
        </p:txBody>
      </p:sp>
      <p:sp>
        <p:nvSpPr>
          <p:cNvPr id="2209" name="Label"/>
          <p:cNvSpPr/>
          <p:nvPr/>
        </p:nvSpPr>
        <p:spPr>
          <a:xfrm>
            <a:off x="4553712" y="2615184"/>
            <a:ext cx="50292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5%</a:t>
            </a:r>
          </a:p>
        </p:txBody>
      </p:sp>
      <p:sp>
        <p:nvSpPr>
          <p:cNvPr id="2210" name="Card"/>
          <p:cNvSpPr/>
          <p:nvPr/>
        </p:nvSpPr>
        <p:spPr>
          <a:xfrm>
            <a:off x="5120640" y="914400"/>
            <a:ext cx="2651760" cy="7315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version 1   (control)</a:t>
            </a:r>
          </a:p>
        </p:txBody>
      </p:sp>
      <p:sp>
        <p:nvSpPr>
          <p:cNvPr id="2211" name="Block"/>
          <p:cNvSpPr/>
          <p:nvPr/>
        </p:nvSpPr>
        <p:spPr>
          <a:xfrm>
            <a:off x="5120640" y="2103120"/>
            <a:ext cx="265176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version 2   (canary)</a:t>
            </a:r>
          </a:p>
        </p:txBody>
      </p:sp>
      <p:sp>
        <p:nvSpPr>
          <p:cNvPr id="2212" name="Label"/>
          <p:cNvSpPr/>
          <p:nvPr/>
        </p:nvSpPr>
        <p:spPr>
          <a:xfrm>
            <a:off x="365760" y="3017520"/>
            <a:ext cx="841248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grow exposure only as the evidence supports it</a:t>
            </a:r>
          </a:p>
        </p:txBody>
      </p:sp>
      <p:sp>
        <p:nvSpPr>
          <p:cNvPr id="2213" name="Block"/>
          <p:cNvSpPr/>
          <p:nvPr/>
        </p:nvSpPr>
        <p:spPr>
          <a:xfrm>
            <a:off x="365760" y="3749040"/>
            <a:ext cx="868680" cy="5943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5%</a:t>
            </a:r>
          </a:p>
        </p:txBody>
      </p:sp>
      <p:cxnSp>
        <p:nvCxnSpPr>
          <p:cNvPr id="2214" name="Connector"/>
          <p:cNvCxnSpPr/>
          <p:nvPr/>
        </p:nvCxnSpPr>
        <p:spPr>
          <a:xfrm>
            <a:off x="1234440" y="4046220"/>
            <a:ext cx="27432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215" name="Card"/>
          <p:cNvSpPr/>
          <p:nvPr/>
        </p:nvSpPr>
        <p:spPr>
          <a:xfrm>
            <a:off x="1508760" y="3611880"/>
            <a:ext cx="2011680" cy="8686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error rate and latency</a:t>
            </a:r>
          </a:p>
          <a:p>
            <a:pPr algn="ctr">
              <a:spcBef>
                <a:spcPts val="300"/>
              </a:spcBef>
            </a:pPr>
            <a:r>
              <a:rPr sz="2000" b="0" i="0" dirty="0">
                <a:solidFill>
                  <a:srgbClr val="5C4826"/>
                </a:solidFill>
              </a:rPr>
              <a:t>within limits?</a:t>
            </a:r>
          </a:p>
        </p:txBody>
      </p:sp>
      <p:cxnSp>
        <p:nvCxnSpPr>
          <p:cNvPr id="2216" name="Connector"/>
          <p:cNvCxnSpPr/>
          <p:nvPr/>
        </p:nvCxnSpPr>
        <p:spPr>
          <a:xfrm>
            <a:off x="3520440" y="4046220"/>
            <a:ext cx="27432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217" name="Block"/>
          <p:cNvSpPr/>
          <p:nvPr/>
        </p:nvSpPr>
        <p:spPr>
          <a:xfrm>
            <a:off x="3794760" y="3749040"/>
            <a:ext cx="868680" cy="5943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25%</a:t>
            </a:r>
          </a:p>
        </p:txBody>
      </p:sp>
      <p:cxnSp>
        <p:nvCxnSpPr>
          <p:cNvPr id="2218" name="Connector"/>
          <p:cNvCxnSpPr/>
          <p:nvPr/>
        </p:nvCxnSpPr>
        <p:spPr>
          <a:xfrm>
            <a:off x="4663440" y="4046220"/>
            <a:ext cx="27432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219" name="Card"/>
          <p:cNvSpPr/>
          <p:nvPr/>
        </p:nvSpPr>
        <p:spPr>
          <a:xfrm>
            <a:off x="4937760" y="3611880"/>
            <a:ext cx="2011680" cy="8686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error rate and latency</a:t>
            </a:r>
          </a:p>
          <a:p>
            <a:pPr algn="ctr">
              <a:spcBef>
                <a:spcPts val="300"/>
              </a:spcBef>
            </a:pPr>
            <a:r>
              <a:rPr sz="2000" b="0" i="0" dirty="0">
                <a:solidFill>
                  <a:srgbClr val="5C4826"/>
                </a:solidFill>
              </a:rPr>
              <a:t>within limits?</a:t>
            </a:r>
          </a:p>
        </p:txBody>
      </p:sp>
      <p:cxnSp>
        <p:nvCxnSpPr>
          <p:cNvPr id="2220" name="Connector"/>
          <p:cNvCxnSpPr/>
          <p:nvPr/>
        </p:nvCxnSpPr>
        <p:spPr>
          <a:xfrm>
            <a:off x="6949440" y="4046220"/>
            <a:ext cx="27432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2221" name="Block"/>
          <p:cNvSpPr/>
          <p:nvPr/>
        </p:nvSpPr>
        <p:spPr>
          <a:xfrm>
            <a:off x="7223760" y="3749040"/>
            <a:ext cx="868680" cy="5943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100%</a:t>
            </a:r>
          </a:p>
        </p:txBody>
      </p:sp>
      <p:sp>
        <p:nvSpPr>
          <p:cNvPr id="2222" name="Label"/>
          <p:cNvSpPr/>
          <p:nvPr/>
        </p:nvSpPr>
        <p:spPr>
          <a:xfrm>
            <a:off x="365760" y="4846320"/>
            <a:ext cx="841248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a failed check rolls exposure back instead of forward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Feature flags</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3201" name="ArtifactSlab"/>
          <p:cNvSpPr/>
          <p:nvPr/>
        </p:nvSpPr>
        <p:spPr>
          <a:xfrm>
            <a:off x="411480" y="1188720"/>
            <a:ext cx="5760720" cy="310896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endParaRPr/>
          </a:p>
        </p:txBody>
      </p:sp>
      <p:sp>
        <p:nvSpPr>
          <p:cNvPr id="3202" name="Label"/>
          <p:cNvSpPr/>
          <p:nvPr/>
        </p:nvSpPr>
        <p:spPr>
          <a:xfrm>
            <a:off x="548640" y="1280160"/>
            <a:ext cx="54864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1" i="0" dirty="0">
                <a:solidFill>
                  <a:srgbClr val="5C4826"/>
                </a:solidFill>
              </a:rPr>
              <a:t>ONE DEPLOYED ARTIFACT</a:t>
            </a:r>
          </a:p>
        </p:txBody>
      </p:sp>
      <p:sp>
        <p:nvSpPr>
          <p:cNvPr id="3203" name="Label"/>
          <p:cNvSpPr/>
          <p:nvPr/>
        </p:nvSpPr>
        <p:spPr>
          <a:xfrm>
            <a:off x="548640" y="1645920"/>
            <a:ext cx="5486400"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1" dirty="0">
                <a:solidFill>
                  <a:srgbClr val="555960"/>
                </a:solidFill>
              </a:rPr>
              <a:t>both behaviors ship in the same binary</a:t>
            </a:r>
          </a:p>
        </p:txBody>
      </p:sp>
      <p:sp>
        <p:nvSpPr>
          <p:cNvPr id="3204" name="CodeCard"/>
          <p:cNvSpPr/>
          <p:nvPr/>
        </p:nvSpPr>
        <p:spPr>
          <a:xfrm>
            <a:off x="640080" y="2468880"/>
            <a:ext cx="219456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latin typeface="Consolas"/>
              </a:rPr>
              <a:t>new_search: off</a:t>
            </a:r>
          </a:p>
        </p:txBody>
      </p:sp>
      <p:cxnSp>
        <p:nvCxnSpPr>
          <p:cNvPr id="3205" name="Connector"/>
          <p:cNvCxnSpPr/>
          <p:nvPr/>
        </p:nvCxnSpPr>
        <p:spPr>
          <a:xfrm>
            <a:off x="2834640" y="2788920"/>
            <a:ext cx="274320" cy="0"/>
          </a:xfrm>
          <a:prstGeom prst="line">
            <a:avLst/>
          </a:prstGeom>
          <a:ln w="19050">
            <a:solidFill>
              <a:srgbClr val="8E6F3E"/>
            </a:solidFill>
          </a:ln>
        </p:spPr>
        <p:style>
          <a:lnRef idx="2">
            <a:schemeClr val="accent1"/>
          </a:lnRef>
          <a:fillRef idx="0">
            <a:schemeClr val="accent1"/>
          </a:fillRef>
          <a:effectRef idx="1">
            <a:schemeClr val="accent1"/>
          </a:effectRef>
          <a:fontRef idx="minor">
            <a:schemeClr val="tx1"/>
          </a:fontRef>
        </p:style>
      </p:cxnSp>
      <p:cxnSp>
        <p:nvCxnSpPr>
          <p:cNvPr id="3206" name="Connector"/>
          <p:cNvCxnSpPr/>
          <p:nvPr/>
        </p:nvCxnSpPr>
        <p:spPr>
          <a:xfrm>
            <a:off x="3108960" y="2514600"/>
            <a:ext cx="0" cy="1143000"/>
          </a:xfrm>
          <a:prstGeom prst="line">
            <a:avLst/>
          </a:prstGeom>
          <a:ln w="19050">
            <a:solidFill>
              <a:srgbClr val="8E6F3E"/>
            </a:solidFill>
          </a:ln>
        </p:spPr>
        <p:style>
          <a:lnRef idx="2">
            <a:schemeClr val="accent1"/>
          </a:lnRef>
          <a:fillRef idx="0">
            <a:schemeClr val="accent1"/>
          </a:fillRef>
          <a:effectRef idx="1">
            <a:schemeClr val="accent1"/>
          </a:effectRef>
          <a:fontRef idx="minor">
            <a:schemeClr val="tx1"/>
          </a:fontRef>
        </p:style>
      </p:cxnSp>
      <p:cxnSp>
        <p:nvCxnSpPr>
          <p:cNvPr id="3207" name="Connector"/>
          <p:cNvCxnSpPr/>
          <p:nvPr/>
        </p:nvCxnSpPr>
        <p:spPr>
          <a:xfrm>
            <a:off x="3108960" y="2514600"/>
            <a:ext cx="45720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3208" name="Connector"/>
          <p:cNvCxnSpPr/>
          <p:nvPr/>
        </p:nvCxnSpPr>
        <p:spPr>
          <a:xfrm>
            <a:off x="3108960" y="3657600"/>
            <a:ext cx="457200" cy="0"/>
          </a:xfrm>
          <a:prstGeom prst="line">
            <a:avLst/>
          </a:prstGeom>
          <a:ln w="12700">
            <a:solidFill>
              <a:srgbClr val="55596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3209" name="Block"/>
          <p:cNvSpPr/>
          <p:nvPr/>
        </p:nvSpPr>
        <p:spPr>
          <a:xfrm>
            <a:off x="3566160" y="2194560"/>
            <a:ext cx="233172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behavior A, flag off</a:t>
            </a:r>
          </a:p>
        </p:txBody>
      </p:sp>
      <p:sp>
        <p:nvSpPr>
          <p:cNvPr id="3210" name="Card"/>
          <p:cNvSpPr/>
          <p:nvPr/>
        </p:nvSpPr>
        <p:spPr>
          <a:xfrm>
            <a:off x="3566160" y="3337560"/>
            <a:ext cx="2331720" cy="6400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behavior B, flag on</a:t>
            </a:r>
          </a:p>
        </p:txBody>
      </p:sp>
      <p:sp>
        <p:nvSpPr>
          <p:cNvPr id="3211" name="Label"/>
          <p:cNvSpPr/>
          <p:nvPr/>
        </p:nvSpPr>
        <p:spPr>
          <a:xfrm>
            <a:off x="6355080" y="1554480"/>
            <a:ext cx="2423160" cy="23774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Deploying code and exposing functionality become separate decisions.</a:t>
            </a:r>
          </a:p>
          <a:p>
            <a:pPr algn="l">
              <a:spcBef>
                <a:spcPts val="300"/>
              </a:spcBef>
            </a:pPr>
            <a:r>
              <a:rPr sz="2000" b="0" i="0" dirty="0">
                <a:solidFill>
                  <a:srgbClr val="555960"/>
                </a:solidFill>
              </a:rPr>
              <a:t>The flag flips without a deployment.</a:t>
            </a:r>
          </a:p>
        </p:txBody>
      </p:sp>
      <p:sp>
        <p:nvSpPr>
          <p:cNvPr id="3212" name="Card"/>
          <p:cNvSpPr/>
          <p:nvPr/>
        </p:nvSpPr>
        <p:spPr>
          <a:xfrm>
            <a:off x="411480" y="4526280"/>
            <a:ext cx="8366760" cy="77724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A flag does not make the change safe by itself,</a:t>
            </a:r>
          </a:p>
          <a:p>
            <a:pPr algn="ctr">
              <a:spcBef>
                <a:spcPts val="300"/>
              </a:spcBef>
            </a:pPr>
            <a:r>
              <a:rPr sz="2000" b="0" i="0" dirty="0">
                <a:solidFill>
                  <a:srgbClr val="5C4826"/>
                </a:solidFill>
              </a:rPr>
              <a:t>and not every flag can safely flip at runtime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Release size changes the risk-management problem</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Block"/>
          <p:cNvSpPr/>
          <p:nvPr/>
        </p:nvSpPr>
        <p:spPr>
          <a:xfrm>
            <a:off x="2377440" y="1005840"/>
            <a:ext cx="3017520" cy="65836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FEW, LARGE</a:t>
            </a:r>
          </a:p>
        </p:txBody>
      </p:sp>
      <p:sp>
        <p:nvSpPr>
          <p:cNvPr id="1003" name="Block"/>
          <p:cNvSpPr/>
          <p:nvPr/>
        </p:nvSpPr>
        <p:spPr>
          <a:xfrm>
            <a:off x="5669280" y="1005840"/>
            <a:ext cx="3017520" cy="65836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MANY, SMALL</a:t>
            </a:r>
          </a:p>
        </p:txBody>
      </p:sp>
      <p:sp>
        <p:nvSpPr>
          <p:cNvPr id="1004" name="Label"/>
          <p:cNvSpPr/>
          <p:nvPr/>
        </p:nvSpPr>
        <p:spPr>
          <a:xfrm>
            <a:off x="274320" y="1865376"/>
            <a:ext cx="196596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r"/>
            <a:r>
              <a:rPr sz="2000" b="0" i="0" dirty="0">
                <a:solidFill>
                  <a:srgbClr val="555960"/>
                </a:solidFill>
              </a:rPr>
              <a:t>change per release</a:t>
            </a:r>
          </a:p>
        </p:txBody>
      </p:sp>
      <p:sp>
        <p:nvSpPr>
          <p:cNvPr id="1005" name="Card"/>
          <p:cNvSpPr/>
          <p:nvPr/>
        </p:nvSpPr>
        <p:spPr>
          <a:xfrm>
            <a:off x="2377440" y="1828800"/>
            <a:ext cx="301752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months of work</a:t>
            </a:r>
          </a:p>
        </p:txBody>
      </p:sp>
      <p:sp>
        <p:nvSpPr>
          <p:cNvPr id="1006" name="Card"/>
          <p:cNvSpPr/>
          <p:nvPr/>
        </p:nvSpPr>
        <p:spPr>
          <a:xfrm>
            <a:off x="5669280" y="1828800"/>
            <a:ext cx="301752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days of work</a:t>
            </a:r>
          </a:p>
        </p:txBody>
      </p:sp>
      <p:sp>
        <p:nvSpPr>
          <p:cNvPr id="1007" name="Label"/>
          <p:cNvSpPr/>
          <p:nvPr/>
        </p:nvSpPr>
        <p:spPr>
          <a:xfrm>
            <a:off x="274320" y="2487168"/>
            <a:ext cx="196596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r"/>
            <a:r>
              <a:rPr sz="2000" b="0" i="0" dirty="0">
                <a:solidFill>
                  <a:srgbClr val="555960"/>
                </a:solidFill>
              </a:rPr>
              <a:t>verification cost</a:t>
            </a:r>
          </a:p>
        </p:txBody>
      </p:sp>
      <p:sp>
        <p:nvSpPr>
          <p:cNvPr id="1008" name="Card"/>
          <p:cNvSpPr/>
          <p:nvPr/>
        </p:nvSpPr>
        <p:spPr>
          <a:xfrm>
            <a:off x="2377440" y="2450592"/>
            <a:ext cx="301752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long test cycles</a:t>
            </a:r>
          </a:p>
        </p:txBody>
      </p:sp>
      <p:sp>
        <p:nvSpPr>
          <p:cNvPr id="1009" name="Card"/>
          <p:cNvSpPr/>
          <p:nvPr/>
        </p:nvSpPr>
        <p:spPr>
          <a:xfrm>
            <a:off x="5669280" y="2450592"/>
            <a:ext cx="301752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automated gates</a:t>
            </a:r>
          </a:p>
        </p:txBody>
      </p:sp>
      <p:sp>
        <p:nvSpPr>
          <p:cNvPr id="1010" name="Label"/>
          <p:cNvSpPr/>
          <p:nvPr/>
        </p:nvSpPr>
        <p:spPr>
          <a:xfrm>
            <a:off x="274320" y="3108960"/>
            <a:ext cx="196596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r"/>
            <a:r>
              <a:rPr sz="2000" b="0" i="0" dirty="0">
                <a:solidFill>
                  <a:srgbClr val="555960"/>
                </a:solidFill>
              </a:rPr>
              <a:t>coordination</a:t>
            </a:r>
          </a:p>
        </p:txBody>
      </p:sp>
      <p:sp>
        <p:nvSpPr>
          <p:cNvPr id="1011" name="Card"/>
          <p:cNvSpPr/>
          <p:nvPr/>
        </p:nvSpPr>
        <p:spPr>
          <a:xfrm>
            <a:off x="2377440" y="3072384"/>
            <a:ext cx="301752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planned windows</a:t>
            </a:r>
          </a:p>
        </p:txBody>
      </p:sp>
      <p:sp>
        <p:nvSpPr>
          <p:cNvPr id="1012" name="Card"/>
          <p:cNvSpPr/>
          <p:nvPr/>
        </p:nvSpPr>
        <p:spPr>
          <a:xfrm>
            <a:off x="5669280" y="3072384"/>
            <a:ext cx="301752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routine</a:t>
            </a:r>
          </a:p>
        </p:txBody>
      </p:sp>
      <p:sp>
        <p:nvSpPr>
          <p:cNvPr id="1013" name="Label"/>
          <p:cNvSpPr/>
          <p:nvPr/>
        </p:nvSpPr>
        <p:spPr>
          <a:xfrm>
            <a:off x="274320" y="3730752"/>
            <a:ext cx="196596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r"/>
            <a:r>
              <a:rPr sz="2000" b="0" i="0" dirty="0">
                <a:solidFill>
                  <a:srgbClr val="555960"/>
                </a:solidFill>
              </a:rPr>
              <a:t>detecting a failure</a:t>
            </a:r>
          </a:p>
        </p:txBody>
      </p:sp>
      <p:sp>
        <p:nvSpPr>
          <p:cNvPr id="1014" name="Card"/>
          <p:cNvSpPr/>
          <p:nvPr/>
        </p:nvSpPr>
        <p:spPr>
          <a:xfrm>
            <a:off x="2377440" y="3694176"/>
            <a:ext cx="301752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harder to attribute</a:t>
            </a:r>
          </a:p>
        </p:txBody>
      </p:sp>
      <p:sp>
        <p:nvSpPr>
          <p:cNvPr id="1015" name="Card"/>
          <p:cNvSpPr/>
          <p:nvPr/>
        </p:nvSpPr>
        <p:spPr>
          <a:xfrm>
            <a:off x="5669280" y="3694176"/>
            <a:ext cx="301752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small suspect set</a:t>
            </a:r>
          </a:p>
        </p:txBody>
      </p:sp>
      <p:sp>
        <p:nvSpPr>
          <p:cNvPr id="1016" name="Label"/>
          <p:cNvSpPr/>
          <p:nvPr/>
        </p:nvSpPr>
        <p:spPr>
          <a:xfrm>
            <a:off x="274320" y="4352544"/>
            <a:ext cx="196596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r"/>
            <a:r>
              <a:rPr sz="2000" b="0" i="0" dirty="0">
                <a:solidFill>
                  <a:srgbClr val="555960"/>
                </a:solidFill>
              </a:rPr>
              <a:t>reversing a failure</a:t>
            </a:r>
          </a:p>
        </p:txBody>
      </p:sp>
      <p:sp>
        <p:nvSpPr>
          <p:cNvPr id="1017" name="Card"/>
          <p:cNvSpPr/>
          <p:nvPr/>
        </p:nvSpPr>
        <p:spPr>
          <a:xfrm>
            <a:off x="2377440" y="4315968"/>
            <a:ext cx="301752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often harder to reverse</a:t>
            </a:r>
          </a:p>
        </p:txBody>
      </p:sp>
      <p:sp>
        <p:nvSpPr>
          <p:cNvPr id="1018" name="Card"/>
          <p:cNvSpPr/>
          <p:nvPr/>
        </p:nvSpPr>
        <p:spPr>
          <a:xfrm>
            <a:off x="5669280" y="4315968"/>
            <a:ext cx="3017520" cy="51206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0" dirty="0">
                <a:solidFill>
                  <a:srgbClr val="5C4826"/>
                </a:solidFill>
              </a:rPr>
              <a:t>often easier to reverse</a:t>
            </a:r>
          </a:p>
        </p:txBody>
      </p:sp>
      <p:sp>
        <p:nvSpPr>
          <p:cNvPr id="1019" name="Label"/>
          <p:cNvSpPr/>
          <p:nvPr/>
        </p:nvSpPr>
        <p:spPr>
          <a:xfrm>
            <a:off x="365760" y="5486400"/>
            <a:ext cx="841248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The DORA metrics return as industry baselines in Operations and SRE</a:t>
            </a:r>
          </a:p>
        </p:txBody>
      </p:sp>
      <p:sp>
        <p:nvSpPr>
          <p:cNvPr id="3301" name="Label"/>
          <p:cNvSpPr/>
          <p:nvPr/>
        </p:nvSpPr>
        <p:spPr>
          <a:xfrm>
            <a:off x="274320" y="1106424"/>
            <a:ext cx="19659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r"/>
            <a:r>
              <a:rPr sz="2000" b="0" i="1" dirty="0">
                <a:solidFill>
                  <a:srgbClr val="555960"/>
                </a:solidFill>
              </a:rPr>
              <a:t>typical</a:t>
            </a:r>
          </a:p>
          <a:p>
            <a:pPr algn="r">
              <a:spcBef>
                <a:spcPts val="300"/>
              </a:spcBef>
            </a:pPr>
            <a:r>
              <a:rPr sz="2000" b="0" i="1" dirty="0">
                <a:solidFill>
                  <a:srgbClr val="555960"/>
                </a:solidFill>
              </a:rPr>
              <a:t>tendencies</a:t>
            </a:r>
          </a:p>
        </p:txBody>
      </p:sp>
      <p:sp>
        <p:nvSpPr>
          <p:cNvPr id="3302" name="Label"/>
          <p:cNvSpPr/>
          <p:nvPr/>
        </p:nvSpPr>
        <p:spPr>
          <a:xfrm>
            <a:off x="365760" y="4882896"/>
            <a:ext cx="84124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0" i="1" dirty="0">
                <a:solidFill>
                  <a:srgbClr val="555960"/>
                </a:solidFill>
              </a:rPr>
              <a:t>Tendencies, not laws: a small deploy can carry an irreversible migration;</a:t>
            </a:r>
          </a:p>
          <a:p>
            <a:pPr algn="ctr">
              <a:spcBef>
                <a:spcPts val="300"/>
              </a:spcBef>
            </a:pPr>
            <a:r>
              <a:rPr sz="2000" b="0" i="1" dirty="0">
                <a:solidFill>
                  <a:srgbClr val="555960"/>
                </a:solidFill>
              </a:rPr>
              <a:t>a large release can be carefully staged and reversible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Deploy the reservation service</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02" name="Card"/>
          <p:cNvSpPr/>
          <p:nvPr/>
        </p:nvSpPr>
        <p:spPr>
          <a:xfrm>
            <a:off x="411480" y="1051560"/>
            <a:ext cx="4023360" cy="25146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sz="2000" b="1" i="0" dirty="0">
                <a:solidFill>
                  <a:srgbClr val="5C4826"/>
                </a:solidFill>
              </a:rPr>
              <a:t>OPTION A: LOCAL INSTALLATION</a:t>
            </a:r>
          </a:p>
          <a:p>
            <a:pPr algn="ctr">
              <a:spcBef>
                <a:spcPts val="800"/>
              </a:spcBef>
            </a:pPr>
            <a:r>
              <a:rPr sz="2000" b="0" i="0" dirty="0">
                <a:solidFill>
                  <a:srgbClr val="5C4826"/>
                </a:solidFill>
              </a:rPr>
              <a:t>runs on a university-managed</a:t>
            </a:r>
          </a:p>
          <a:p>
            <a:pPr algn="ctr">
              <a:spcBef>
                <a:spcPts val="200"/>
              </a:spcBef>
            </a:pPr>
            <a:r>
              <a:rPr sz="2000" b="0" i="0" dirty="0">
                <a:solidFill>
                  <a:srgbClr val="5C4826"/>
                </a:solidFill>
              </a:rPr>
              <a:t>workstation</a:t>
            </a:r>
          </a:p>
          <a:p>
            <a:pPr algn="ctr">
              <a:spcBef>
                <a:spcPts val="800"/>
              </a:spcBef>
            </a:pPr>
            <a:r>
              <a:rPr sz="2000" b="0" i="0" dirty="0">
                <a:solidFill>
                  <a:srgbClr val="5C4826"/>
                </a:solidFill>
              </a:rPr>
              <a:t>updates: install a new version</a:t>
            </a:r>
          </a:p>
          <a:p>
            <a:pPr algn="ctr">
              <a:spcBef>
                <a:spcPts val="200"/>
              </a:spcBef>
            </a:pPr>
            <a:r>
              <a:rPr sz="2000" b="0" i="0" dirty="0">
                <a:solidFill>
                  <a:srgbClr val="5C4826"/>
                </a:solidFill>
              </a:rPr>
              <a:t>at each machine</a:t>
            </a:r>
          </a:p>
        </p:txBody>
      </p:sp>
      <p:sp>
        <p:nvSpPr>
          <p:cNvPr id="1003" name="Card"/>
          <p:cNvSpPr/>
          <p:nvPr/>
        </p:nvSpPr>
        <p:spPr>
          <a:xfrm>
            <a:off x="4709160" y="1051560"/>
            <a:ext cx="4023360" cy="25146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t"/>
          <a:lstStyle/>
          <a:p>
            <a:pPr algn="ctr"/>
            <a:r>
              <a:rPr sz="2000" b="1" i="0" dirty="0">
                <a:solidFill>
                  <a:srgbClr val="5C4826"/>
                </a:solidFill>
              </a:rPr>
              <a:t>OPTION B: MANAGED SERVICE</a:t>
            </a:r>
          </a:p>
          <a:p>
            <a:pPr algn="ctr">
              <a:spcBef>
                <a:spcPts val="800"/>
              </a:spcBef>
            </a:pPr>
            <a:r>
              <a:rPr sz="2000" b="0" i="0" dirty="0">
                <a:solidFill>
                  <a:srgbClr val="5C4826"/>
                </a:solidFill>
              </a:rPr>
              <a:t>runs on a managed platform;</a:t>
            </a:r>
          </a:p>
          <a:p>
            <a:pPr algn="ctr">
              <a:spcBef>
                <a:spcPts val="200"/>
              </a:spcBef>
            </a:pPr>
            <a:r>
              <a:rPr sz="2000" b="0" i="0" dirty="0">
                <a:solidFill>
                  <a:srgbClr val="5C4826"/>
                </a:solidFill>
              </a:rPr>
              <a:t>users reach it in a browser</a:t>
            </a:r>
          </a:p>
          <a:p>
            <a:pPr algn="ctr">
              <a:spcBef>
                <a:spcPts val="800"/>
              </a:spcBef>
            </a:pPr>
            <a:r>
              <a:rPr sz="2000" b="0" i="0" dirty="0">
                <a:solidFill>
                  <a:srgbClr val="5C4826"/>
                </a:solidFill>
              </a:rPr>
              <a:t>updates: deployed centrally,</a:t>
            </a:r>
          </a:p>
          <a:p>
            <a:pPr algn="ctr">
              <a:spcBef>
                <a:spcPts val="200"/>
              </a:spcBef>
            </a:pPr>
            <a:r>
              <a:rPr sz="2000" b="0" i="0" dirty="0">
                <a:solidFill>
                  <a:srgbClr val="5C4826"/>
                </a:solidFill>
              </a:rPr>
              <a:t>behind the release gates</a:t>
            </a:r>
          </a:p>
        </p:txBody>
      </p:sp>
      <p:sp>
        <p:nvSpPr>
          <p:cNvPr id="1004" name="Label"/>
          <p:cNvSpPr/>
          <p:nvPr/>
        </p:nvSpPr>
        <p:spPr>
          <a:xfrm>
            <a:off x="411480" y="4956048"/>
            <a:ext cx="8412480"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Choose an environment, argue from the model, and identify the evidence that would justify the choice</a:t>
            </a:r>
          </a:p>
        </p:txBody>
      </p:sp>
      <p:sp>
        <p:nvSpPr>
          <p:cNvPr id="1006" name="FooterBand"/>
          <p:cNvSpPr/>
          <p:nvPr/>
        </p:nvSpPr>
        <p:spPr>
          <a:xfrm>
            <a:off x="274320" y="5512918"/>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Which deployment, under which requirements? Defend your model.</a:t>
            </a:r>
          </a:p>
        </p:txBody>
      </p:sp>
      <p:sp>
        <p:nvSpPr>
          <p:cNvPr id="3401" name="Card"/>
          <p:cNvSpPr/>
          <p:nvPr/>
        </p:nvSpPr>
        <p:spPr>
          <a:xfrm>
            <a:off x="411480" y="3657600"/>
            <a:ext cx="8412480" cy="11887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5C4826"/>
                </a:solidFill>
              </a:rPr>
              <a:t>REQUIREMENTS</a:t>
            </a:r>
          </a:p>
          <a:p>
            <a:pPr algn="ctr">
              <a:spcBef>
                <a:spcPts val="300"/>
              </a:spcBef>
            </a:pPr>
            <a:r>
              <a:rPr sz="2000" b="0" i="0" dirty="0">
                <a:solidFill>
                  <a:srgbClr val="5C4826"/>
                </a:solidFill>
              </a:rPr>
              <a:t>500 concurrent users · university authentication · 99.9% availability</a:t>
            </a:r>
          </a:p>
          <a:p>
            <a:pPr algn="ctr">
              <a:spcBef>
                <a:spcPts val="300"/>
              </a:spcBef>
            </a:pPr>
            <a:r>
              <a:rPr sz="2000" b="0" i="0" dirty="0">
                <a:solidFill>
                  <a:srgbClr val="5C4826"/>
                </a:solidFill>
              </a:rPr>
              <a:t>centralized updates · limited operating budget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pPr algn="l"/>
            <a:r>
              <a:rPr sz="2400" b="0" i="0" dirty="0">
                <a:solidFill>
                  <a:srgbClr val="000000"/>
                </a:solidFill>
              </a:rPr>
              <a:t>Deployment decisions and their evidence</a:t>
            </a:r>
          </a:p>
        </p:txBody>
      </p:sp>
      <p:sp>
        <p:nvSpPr>
          <p:cNvPr id="1001" name="Slide Number Placeholder 900"/>
          <p:cNvSpPr>
            <a:spLocks noGrp="1"/>
          </p:cNvSpPr>
          <p:nvPr>
            <p:ph type="sldNum" sz="quarter" idx="4"/>
          </p:nvPr>
        </p:nvSpPr>
        <p:spPr/>
        <p:txBody>
          <a:bodyPr/>
          <a:lstStyle/>
          <a:p>
            <a:fld id="{B3291E67-7172-4DCF-B35F-54404EBE6160}" type="slidenum">
              <a:rPr lang="en-US" smtClean="0"/>
              <a:t>1</a:t>
            </a:fld>
            <a:endParaRPr lang="en-US"/>
          </a:p>
        </p:txBody>
      </p:sp>
      <p:sp>
        <p:nvSpPr>
          <p:cNvPr id="1014" name="FooterBand"/>
          <p:cNvSpPr/>
          <p:nvPr/>
        </p:nvSpPr>
        <p:spPr>
          <a:xfrm>
            <a:off x="274320" y="5512918"/>
            <a:ext cx="8595360" cy="905256"/>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The service now runs in a suitable environment.</a:t>
            </a:r>
          </a:p>
          <a:p>
            <a:pPr algn="ctr">
              <a:spcBef>
                <a:spcPts val="300"/>
              </a:spcBef>
            </a:pPr>
            <a:r>
              <a:rPr sz="2000" b="1" i="0" dirty="0">
                <a:solidFill>
                  <a:srgbClr val="FFFFFF"/>
                </a:solidFill>
              </a:rPr>
              <a:t>What happens to its data when the process stops?</a:t>
            </a:r>
          </a:p>
        </p:txBody>
      </p:sp>
      <p:sp>
        <p:nvSpPr>
          <p:cNvPr id="3500" name="Method PROBLEM"/>
          <p:cNvSpPr/>
          <p:nvPr/>
        </p:nvSpPr>
        <p:spPr>
          <a:xfrm>
            <a:off x="594360" y="1188720"/>
            <a:ext cx="2377440" cy="11887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PROBLEM</a:t>
            </a:r>
          </a:p>
          <a:p>
            <a:pPr algn="ctr">
              <a:spcBef>
                <a:spcPts val="300"/>
              </a:spcBef>
            </a:pPr>
            <a:r>
              <a:rPr sz="2000" b="0" i="0" dirty="0">
                <a:solidFill>
                  <a:srgbClr val="FFFFFF"/>
                </a:solidFill>
              </a:rPr>
              <a:t>run acceptably outside development</a:t>
            </a:r>
          </a:p>
        </p:txBody>
      </p:sp>
      <p:sp>
        <p:nvSpPr>
          <p:cNvPr id="3501" name="Method MODEL"/>
          <p:cNvSpPr/>
          <p:nvPr/>
        </p:nvSpPr>
        <p:spPr>
          <a:xfrm>
            <a:off x="3520440" y="1188720"/>
            <a:ext cx="2377440" cy="11887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MODEL</a:t>
            </a:r>
          </a:p>
          <a:p>
            <a:pPr algn="ctr">
              <a:spcBef>
                <a:spcPts val="300"/>
              </a:spcBef>
            </a:pPr>
            <a:r>
              <a:rPr sz="2000" b="0" i="0" dirty="0">
                <a:solidFill>
                  <a:srgbClr val="FFFFFF"/>
                </a:solidFill>
              </a:rPr>
              <a:t>environment, topology, configuration</a:t>
            </a:r>
          </a:p>
        </p:txBody>
      </p:sp>
      <p:sp>
        <p:nvSpPr>
          <p:cNvPr id="3502" name="Method JUDGMENT"/>
          <p:cNvSpPr/>
          <p:nvPr/>
        </p:nvSpPr>
        <p:spPr>
          <a:xfrm>
            <a:off x="6446520" y="1188720"/>
            <a:ext cx="2377440" cy="11887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JUDGMENT</a:t>
            </a:r>
          </a:p>
          <a:p>
            <a:pPr algn="ctr">
              <a:spcBef>
                <a:spcPts val="300"/>
              </a:spcBef>
            </a:pPr>
            <a:r>
              <a:rPr sz="2000" b="0" i="0" dirty="0">
                <a:solidFill>
                  <a:srgbClr val="FFFFFF"/>
                </a:solidFill>
              </a:rPr>
              <a:t>local, self-hosted, or managed</a:t>
            </a:r>
          </a:p>
        </p:txBody>
      </p:sp>
      <p:cxnSp>
        <p:nvCxnSpPr>
          <p:cNvPr id="3510" name="Connector"/>
          <p:cNvCxnSpPr/>
          <p:nvPr/>
        </p:nvCxnSpPr>
        <p:spPr>
          <a:xfrm>
            <a:off x="2971800" y="1783080"/>
            <a:ext cx="54864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3511" name="Connector"/>
          <p:cNvCxnSpPr/>
          <p:nvPr/>
        </p:nvCxnSpPr>
        <p:spPr>
          <a:xfrm>
            <a:off x="5897880" y="1783080"/>
            <a:ext cx="54864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3512" name="Connector"/>
          <p:cNvCxnSpPr/>
          <p:nvPr/>
        </p:nvCxnSpPr>
        <p:spPr>
          <a:xfrm>
            <a:off x="8823960" y="1783080"/>
            <a:ext cx="137160" cy="0"/>
          </a:xfrm>
          <a:prstGeom prst="line">
            <a:avLst/>
          </a:prstGeom>
          <a:ln w="19050">
            <a:solidFill>
              <a:srgbClr val="8E6F3E"/>
            </a:solidFill>
          </a:ln>
        </p:spPr>
        <p:style>
          <a:lnRef idx="2">
            <a:schemeClr val="accent1"/>
          </a:lnRef>
          <a:fillRef idx="0">
            <a:schemeClr val="accent1"/>
          </a:fillRef>
          <a:effectRef idx="1">
            <a:schemeClr val="accent1"/>
          </a:effectRef>
          <a:fontRef idx="minor">
            <a:schemeClr val="tx1"/>
          </a:fontRef>
        </p:style>
      </p:cxnSp>
      <p:cxnSp>
        <p:nvCxnSpPr>
          <p:cNvPr id="3513" name="Connector"/>
          <p:cNvCxnSpPr/>
          <p:nvPr/>
        </p:nvCxnSpPr>
        <p:spPr>
          <a:xfrm>
            <a:off x="8961120" y="1783080"/>
            <a:ext cx="0" cy="1920240"/>
          </a:xfrm>
          <a:prstGeom prst="line">
            <a:avLst/>
          </a:prstGeom>
          <a:ln w="19050">
            <a:solidFill>
              <a:srgbClr val="8E6F3E"/>
            </a:solidFill>
          </a:ln>
        </p:spPr>
        <p:style>
          <a:lnRef idx="2">
            <a:schemeClr val="accent1"/>
          </a:lnRef>
          <a:fillRef idx="0">
            <a:schemeClr val="accent1"/>
          </a:fillRef>
          <a:effectRef idx="1">
            <a:schemeClr val="accent1"/>
          </a:effectRef>
          <a:fontRef idx="minor">
            <a:schemeClr val="tx1"/>
          </a:fontRef>
        </p:style>
      </p:cxnSp>
      <p:cxnSp>
        <p:nvCxnSpPr>
          <p:cNvPr id="3514" name="Connector"/>
          <p:cNvCxnSpPr/>
          <p:nvPr/>
        </p:nvCxnSpPr>
        <p:spPr>
          <a:xfrm flipH="1">
            <a:off x="8823960" y="3703320"/>
            <a:ext cx="13716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3520" name="Method REALIZE"/>
          <p:cNvSpPr/>
          <p:nvPr/>
        </p:nvSpPr>
        <p:spPr>
          <a:xfrm>
            <a:off x="6446520" y="3108960"/>
            <a:ext cx="2377440" cy="11887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REALIZE</a:t>
            </a:r>
          </a:p>
          <a:p>
            <a:pPr algn="ctr">
              <a:spcBef>
                <a:spcPts val="300"/>
              </a:spcBef>
            </a:pPr>
            <a:r>
              <a:rPr sz="2000" b="0" i="0" dirty="0">
                <a:solidFill>
                  <a:srgbClr val="FFFFFF"/>
                </a:solidFill>
              </a:rPr>
              <a:t>build, configure, deploy</a:t>
            </a:r>
          </a:p>
        </p:txBody>
      </p:sp>
      <p:sp>
        <p:nvSpPr>
          <p:cNvPr id="3521" name="Method EVIDENCE"/>
          <p:cNvSpPr/>
          <p:nvPr/>
        </p:nvSpPr>
        <p:spPr>
          <a:xfrm>
            <a:off x="3520440" y="3108960"/>
            <a:ext cx="2377440" cy="11887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EVIDENCE</a:t>
            </a:r>
          </a:p>
          <a:p>
            <a:pPr algn="ctr">
              <a:spcBef>
                <a:spcPts val="300"/>
              </a:spcBef>
            </a:pPr>
            <a:r>
              <a:rPr sz="2000" b="0" i="0" dirty="0">
                <a:solidFill>
                  <a:srgbClr val="FFFFFF"/>
                </a:solidFill>
              </a:rPr>
              <a:t>integration and runtime checks</a:t>
            </a:r>
          </a:p>
        </p:txBody>
      </p:sp>
      <p:sp>
        <p:nvSpPr>
          <p:cNvPr id="3522" name="Method ACCEPT / REJECT"/>
          <p:cNvSpPr/>
          <p:nvPr/>
        </p:nvSpPr>
        <p:spPr>
          <a:xfrm>
            <a:off x="594360" y="3108960"/>
            <a:ext cx="2377440" cy="11887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ACCEPT / REJECT</a:t>
            </a:r>
          </a:p>
          <a:p>
            <a:pPr algn="ctr">
              <a:spcBef>
                <a:spcPts val="300"/>
              </a:spcBef>
            </a:pPr>
            <a:r>
              <a:rPr sz="2000" b="0" i="0" dirty="0">
                <a:solidFill>
                  <a:srgbClr val="FFFFFF"/>
                </a:solidFill>
              </a:rPr>
              <a:t>release, or roll back</a:t>
            </a:r>
          </a:p>
        </p:txBody>
      </p:sp>
      <p:cxnSp>
        <p:nvCxnSpPr>
          <p:cNvPr id="3530" name="Connector"/>
          <p:cNvCxnSpPr/>
          <p:nvPr/>
        </p:nvCxnSpPr>
        <p:spPr>
          <a:xfrm flipH="1">
            <a:off x="5897880" y="3703320"/>
            <a:ext cx="54864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3531" name="Connector"/>
          <p:cNvCxnSpPr/>
          <p:nvPr/>
        </p:nvCxnSpPr>
        <p:spPr>
          <a:xfrm flipH="1">
            <a:off x="2971800" y="3703320"/>
            <a:ext cx="548640" cy="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3540" name="Method ALIGNMENT"/>
          <p:cNvSpPr/>
          <p:nvPr/>
        </p:nvSpPr>
        <p:spPr>
          <a:xfrm>
            <a:off x="3291840" y="4617720"/>
            <a:ext cx="2651760" cy="640080"/>
          </a:xfrm>
          <a:prstGeom prst="rect">
            <a:avLst/>
          </a:prstGeom>
          <a:solidFill>
            <a:srgbClr val="3E5C6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ctr"/>
            <a:r>
              <a:rPr sz="2000" b="1" i="0" dirty="0">
                <a:solidFill>
                  <a:srgbClr val="FFFFFF"/>
                </a:solidFill>
              </a:rPr>
              <a:t>ALIGNMENT</a:t>
            </a:r>
          </a:p>
        </p:txBody>
      </p:sp>
      <p:sp>
        <p:nvSpPr>
          <p:cNvPr id="3541" name="Label"/>
          <p:cNvSpPr/>
          <p:nvPr/>
        </p:nvSpPr>
        <p:spPr>
          <a:xfrm>
            <a:off x="457200" y="4663440"/>
            <a:ext cx="26517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22860" rIns="27432" bIns="22860" rtlCol="0" anchor="ctr"/>
          <a:lstStyle/>
          <a:p>
            <a:pPr algn="l"/>
            <a:r>
              <a:rPr sz="2000" b="0" i="0" dirty="0">
                <a:solidFill>
                  <a:srgbClr val="555960"/>
                </a:solidFill>
              </a:rPr>
              <a:t>declared configuration,</a:t>
            </a:r>
          </a:p>
          <a:p>
            <a:pPr algn="l">
              <a:spcBef>
                <a:spcPts val="300"/>
              </a:spcBef>
            </a:pPr>
            <a:r>
              <a:rPr sz="2000" b="0" i="0" dirty="0">
                <a:solidFill>
                  <a:srgbClr val="555960"/>
                </a:solidFill>
              </a:rPr>
              <a:t>CI gates, release policies</a:t>
            </a:r>
          </a:p>
        </p:txBody>
      </p:sp>
      <p:cxnSp>
        <p:nvCxnSpPr>
          <p:cNvPr id="3542" name="Connector"/>
          <p:cNvCxnSpPr/>
          <p:nvPr/>
        </p:nvCxnSpPr>
        <p:spPr>
          <a:xfrm flipV="1">
            <a:off x="4709160" y="4297680"/>
            <a:ext cx="0" cy="32004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3543" name="Connector"/>
          <p:cNvCxnSpPr/>
          <p:nvPr/>
        </p:nvCxnSpPr>
        <p:spPr>
          <a:xfrm>
            <a:off x="5943600" y="4937760"/>
            <a:ext cx="1691640" cy="0"/>
          </a:xfrm>
          <a:prstGeom prst="line">
            <a:avLst/>
          </a:prstGeom>
          <a:ln w="19050">
            <a:solidFill>
              <a:srgbClr val="8E6F3E"/>
            </a:solidFill>
          </a:ln>
        </p:spPr>
        <p:style>
          <a:lnRef idx="2">
            <a:schemeClr val="accent1"/>
          </a:lnRef>
          <a:fillRef idx="0">
            <a:schemeClr val="accent1"/>
          </a:fillRef>
          <a:effectRef idx="1">
            <a:schemeClr val="accent1"/>
          </a:effectRef>
          <a:fontRef idx="minor">
            <a:schemeClr val="tx1"/>
          </a:fontRef>
        </p:style>
      </p:cxnSp>
      <p:cxnSp>
        <p:nvCxnSpPr>
          <p:cNvPr id="3544" name="Connector"/>
          <p:cNvCxnSpPr/>
          <p:nvPr/>
        </p:nvCxnSpPr>
        <p:spPr>
          <a:xfrm flipV="1">
            <a:off x="7635240" y="4297680"/>
            <a:ext cx="0" cy="64008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cxnSp>
        <p:nvCxnSpPr>
          <p:cNvPr id="3550" name="Engineering revision path"/>
          <p:cNvCxnSpPr/>
          <p:nvPr/>
        </p:nvCxnSpPr>
        <p:spPr>
          <a:xfrm flipV="1">
            <a:off x="4069080" y="2377440"/>
            <a:ext cx="0" cy="731520"/>
          </a:xfrm>
          <a:prstGeom prst="line">
            <a:avLst/>
          </a:prstGeom>
          <a:ln w="19050">
            <a:solidFill>
              <a:srgbClr val="8E6F3E"/>
            </a:solidFill>
            <a:tailEnd type="triangle"/>
          </a:ln>
        </p:spPr>
        <p:style>
          <a:lnRef idx="2">
            <a:schemeClr val="accent1"/>
          </a:lnRef>
          <a:fillRef idx="0">
            <a:schemeClr val="accent1"/>
          </a:fillRef>
          <a:effectRef idx="1">
            <a:schemeClr val="accent1"/>
          </a:effectRef>
          <a:fontRef idx="minor">
            <a:schemeClr val="tx1"/>
          </a:fontRef>
        </p:style>
      </p:cxnSp>
      <p:sp>
        <p:nvSpPr>
          <p:cNvPr id="3551" name="Local revision path"/>
          <p:cNvSpPr/>
          <p:nvPr/>
        </p:nvSpPr>
        <p:spPr>
          <a:xfrm>
            <a:off x="5349240" y="2761488"/>
            <a:ext cx="1737360" cy="347472"/>
          </a:xfrm>
          <a:custGeom>
            <a:avLst/>
            <a:gdLst/>
            <a:ahLst/>
            <a:cxnLst/>
            <a:pathLst>
              <a:path w="1737360" h="347472" fill="none">
                <a:moveTo>
                  <a:pt x="0" y="347472"/>
                </a:moveTo>
                <a:lnTo>
                  <a:pt x="0" y="0"/>
                </a:lnTo>
                <a:lnTo>
                  <a:pt x="1737360" y="0"/>
                </a:lnTo>
                <a:lnTo>
                  <a:pt x="1737360" y="347472"/>
                </a:lnTo>
              </a:path>
            </a:pathLst>
          </a:custGeom>
          <a:noFill/>
          <a:ln w="19050">
            <a:solidFill>
              <a:srgbClr val="555960"/>
            </a:solidFill>
            <a:tailEnd type="triangle"/>
          </a:ln>
        </p:spPr>
        <p:txBody>
          <a:bodyPr wrap="square" rtlCol="0"/>
          <a:lstStyle/>
          <a:p/>
        </p:txBody>
      </p:sp>
      <p:sp>
        <p:nvSpPr>
          <p:cNvPr id="3552" name="Engineering revision label"/>
          <p:cNvSpPr/>
          <p:nvPr/>
        </p:nvSpPr>
        <p:spPr>
          <a:xfrm>
            <a:off x="365760" y="2395728"/>
            <a:ext cx="3566160" cy="694944"/>
          </a:xfrm>
          <a:prstGeom prst="rect">
            <a:avLst/>
          </a:prstGeom>
          <a:noFill/>
          <a:ln>
            <a:noFill/>
          </a:ln>
          <a:effectLst/>
        </p:spPr>
        <p:txBody>
          <a:bodyPr wrap="square" lIns="27432" tIns="11430" rIns="27432" bIns="11430" rtlCol="0" anchor="ctr"/>
          <a:lstStyle/>
          <a:p>
            <a:pPr algn="r"/>
            <a:r>
              <a:rPr sz="2000" b="1" i="0" dirty="0">
                <a:solidFill>
                  <a:srgbClr val="8E6F3E"/>
                </a:solidFill>
              </a:rPr>
              <a:t>ENGINEERING REVISION:</a:t>
            </a:r>
          </a:p>
          <a:p>
            <a:pPr algn="r"/>
            <a:r>
              <a:rPr sz="2000" b="1" i="0" dirty="0">
                <a:solidFill>
                  <a:srgbClr val="8E6F3E"/>
                </a:solidFill>
              </a:rPr>
              <a:t>rethink the model or judgment</a:t>
            </a:r>
          </a:p>
        </p:txBody>
      </p:sp>
      <p:sp>
        <p:nvSpPr>
          <p:cNvPr id="3553" name="Local revision label"/>
          <p:cNvSpPr/>
          <p:nvPr/>
        </p:nvSpPr>
        <p:spPr>
          <a:xfrm>
            <a:off x="4526280" y="2395728"/>
            <a:ext cx="4069080" cy="347472"/>
          </a:xfrm>
          <a:prstGeom prst="rect">
            <a:avLst/>
          </a:prstGeom>
          <a:noFill/>
          <a:ln>
            <a:noFill/>
          </a:ln>
          <a:effectLst/>
        </p:spPr>
        <p:txBody>
          <a:bodyPr wrap="square" lIns="27432" tIns="11430" rIns="27432" bIns="11430" rtlCol="0" anchor="ctr"/>
          <a:lstStyle/>
          <a:p>
            <a:pPr algn="ctr"/>
            <a:r>
              <a:rPr sz="2000" b="1" i="0" dirty="0">
                <a:solidFill>
                  <a:srgbClr val="555960"/>
                </a:solidFill>
              </a:rPr>
              <a:t>LOCAL REVISION: fix the realization</a:t>
            </a:r>
          </a:p>
        </p:txBody>
      </p:sp>
    </p:spTree>
  </p:cSld>
  <p:clrMapOvr>
    <a:masterClrMapping/>
  </p:clrMapOvr>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U-CoBrand_Template_Gold_Theme_Std_Screen_2.pptx" id="{33130098-72E9-B14B-8D33-14895F32E203}" vid="{24A02D5D-460C-B047-B557-67731F776B7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02577843-0252-164E-9900-50E04AC84376}">
  <we:reference id="wa104381063" version="1.0.0.1" store="en-001" storeType="OMEX"/>
  <we:alternateReferences>
    <we:reference id="wa104381063" version="1.0.0.1" store="wa1043810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B2F6451B-05D5-964F-AC61-763C973265E8}">
  <we:reference id="WA200010001" version="1.0.0.1" store="Omex" storeType="OMEX"/>
  <we:alternateReferences>
    <we:reference id="WA200010001" version="1.0.0.1" store="WA200010001" storeType="OMEX"/>
  </we:alternateReferences>
  <we:properties>
    <we:property name="claude.fileId" value="&quot;1299b91e-8e0b-4b63-ab37-4fd482b3179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PU-CoBrand_Template_Gold_Theme_Std_Screen_2</Template>
  <TotalTime>8643</TotalTime>
  <Words>13080</Words>
  <Application>Microsoft Macintosh PowerPoint</Application>
  <PresentationFormat>On-screen Show (4:3)</PresentationFormat>
  <Paragraphs>689</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Times</vt:lpstr>
      <vt:lpstr>Purdue1</vt:lpstr>
      <vt:lpstr>PowerPoint Presentation</vt:lpstr>
      <vt:lpstr>July 19, 2024</vt:lpstr>
      <vt:lpstr>A security update triggers system crashes</vt:lpstr>
      <vt:lpstr>Cause: a missing input causes an out-of-bounds read</vt:lpstr>
      <vt:lpstr>Explanation 1: A component-level failure</vt:lpstr>
      <vt:lpstr>What would you change?</vt:lpstr>
      <vt:lpstr>How did the update reach production?</vt:lpstr>
      <vt:lpstr>Explanation 2: The Swiss cheese model</vt:lpstr>
      <vt:lpstr>The investigation identifies weaknesses</vt:lpstr>
      <vt:lpstr>What should change?</vt:lpstr>
      <vt:lpstr>What does the evidence establish?</vt:lpstr>
      <vt:lpstr>One defective update. Many sectors.</vt:lpstr>
      <vt:lpstr>What system are we investigating?</vt:lpstr>
      <vt:lpstr>Explanation 3: Safety depends on control</vt:lpstr>
      <vt:lpstr>Who controlled the update?</vt:lpstr>
      <vt:lpstr>The vendor is not the whole system</vt:lpstr>
      <vt:lpstr>Many computers do not imply independent failure</vt:lpstr>
      <vt:lpstr>How can critical services survive a shared failure?</vt:lpstr>
      <vt:lpstr>Who can impose a system-wide constraint?</vt:lpstr>
      <vt:lpstr>What did each model let us change?</vt:lpstr>
      <vt:lpstr>A postmortem is an argument</vt:lpstr>
      <vt:lpstr>Reflection changes the engineer</vt:lpstr>
      <vt:lpstr>Where will the next engineer encounter the lesson?</vt:lpstr>
      <vt:lpstr>Different lessons require different authorities</vt:lpstr>
      <vt:lpstr>How would we know the system is safer?</vt:lpstr>
      <vt:lpstr>Could we have anticipated this failure?</vt:lpstr>
      <vt:lpstr>Apply FMEA to an unfamiliar system</vt:lpstr>
      <vt:lpstr>What actually happened? July 2, 2019</vt:lpstr>
      <vt:lpstr>Diagnose the Cloudflare outage</vt:lpstr>
      <vt:lpstr>Failure should change future engineering</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Bowers, Anna K</dc:creator>
  <cp:keywords/>
  <dc:description/>
  <cp:lastModifiedBy>James C Davis</cp:lastModifiedBy>
  <cp:revision>537</cp:revision>
  <dcterms:created xsi:type="dcterms:W3CDTF">2020-02-21T23:00:33Z</dcterms:created>
  <dcterms:modified xsi:type="dcterms:W3CDTF">2026-10-22T11:27:38Z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2024-09-05T02:27:24Z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e1ff3097-c009-4f67-8781-6e468e7749d4</vt:lpwstr>
  </property>
  <property fmtid="{D5CDD505-2E9C-101B-9397-08002B2CF9AE}" pid="8" name="MSIP_Label_4044bd30-2ed7-4c9d-9d12-46200872a97b_ContentBits">
    <vt:lpwstr>0</vt:lpwstr>
  </property>
</Properties>
</file>