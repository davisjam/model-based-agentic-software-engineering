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7"/>
    <p:sldId id="283"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6"/>
    <p:sldId id="280" r:id="rId5"/>
    <p:sldId id="281" r:id="rId4"/>
    <p:sldId id="282" r:id="rId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521415D9-36F7-43E2-AB2F-B90AF26B5E84}">
      <ns0:sectionLst xmlns:ns0="http://schemas.microsoft.com/office/powerpoint/2010/main">
        <ns0:section name="Opening" id="{6AFD6B58-CD2F-4A0E-A4B8-C5B124201245}">
          <ns0:sldIdLst>
            <ns0:sldId id="256"/>
            <ns0:sldId id="283"/>
          </ns0:sldIdLst>
        </ns0:section>
        <ns0:section name="Database design choices" id="{008FA20D-FAED-478C-916F-C8893B876F82}">
          <ns0:sldIdLst>
            <ns0:sldId id="257"/>
            <ns0:sldId id="258"/>
            <ns0:sldId id="259"/>
            <ns0:sldId id="260"/>
            <ns0:sldId id="261"/>
            <ns0:sldId id="262"/>
            <ns0:sldId id="263"/>
          </ns0:sldIdLst>
        </ns0:section>
        <ns0:section name="Representing obligations" id="{F7197E19-83B0-4640-9211-26488498E845}">
          <ns0:sldIdLst>
            <ns0:sldId id="264"/>
            <ns0:sldId id="265"/>
            <ns0:sldId id="266"/>
            <ns0:sldId id="267"/>
          </ns0:sldIdLst>
        </ns0:section>
        <ns0:section name="Queries and execution" id="{755BBA9C-3422-4617-93F4-0AF7FD88E784}">
          <ns0:sldIdLst>
            <ns0:sldId id="268"/>
            <ns0:sldId id="269"/>
            <ns0:sldId id="270"/>
            <ns0:sldId id="271"/>
            <ns0:sldId id="272"/>
            <ns0:sldId id="273"/>
          </ns0:sldIdLst>
        </ns0:section>
        <ns0:section name="Concurrency and transactions" id="{DB0BF643-3A40-40F9-9DC0-27E39851FDD0}">
          <ns0:sldIdLst>
            <ns0:sldId id="274"/>
            <ns0:sldId id="275"/>
            <ns0:sldId id="276"/>
            <ns0:sldId id="277"/>
            <ns0:sldId id="278"/>
            <ns0:sldId id="279"/>
          </ns0:sldIdLst>
        </ns0:section>
        <ns0:section name="Evolution and synthesis" id="{155B7408-0F63-4329-B77A-A5C1141AE690}">
          <ns0:sldIdLst>
            <ns0:sldId id="280"/>
            <ns0:sldId id="281"/>
            <ns0:sldId id="282"/>
          </ns0:sldIdLst>
        </ns0:section>
      </ns0: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28.xml"/><Relationship Id="rId4" Type="http://schemas.openxmlformats.org/officeDocument/2006/relationships/slide" Target="slides/slide27.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minute — </a:t>
            </a:r>
            <a:r>
              <a:rPr i="1"/>
              <a:t>Frame the 75 minutes: represent, retrieve, preserve, treated as a design space, not an SQL tutorial.</a:t>
            </a:r>
          </a:p>
          <a:p/>
          <a:p>
            <a:r>
              <a:t>Tuesday deployed the reservation service: HTTP API, reservation logic, in-memory state. Today the state gets a real home. The governing question on the slide is the arc for 75 minutes: represent (data models, schemas), retrieve (queries, plans), preserve (durability, transactions, migrations).</a:t>
            </a:r>
          </a:p>
          <a:p/>
          <a:p>
            <a:r>
              <a:t>Frame the posture up front: today is about a DESIGN SPACE — choices about representation, semantics, interfaces, concurrency, and scale. SQL, NoSQL, ORMs, indexes, and transactions are mechanisms within that space, not the subject. This is not an SQL tutorial.</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Establish persistence, sharing, and concurrency as separable requirements.</a:t>
            </a:r>
          </a:p>
          <a:p/>
          <a:p>
            <a:r>
              <a:t>Run it as three quick questions. (1) We kill -9 the service: what did users lose? (2) Load grows and we add a second replica, as Tuesday's topology allowed: what goes wrong? (Each replica has its own dict.) (3) Two students click Reserve on room 117 at the same moment: what do both requests see?</a:t>
            </a:r>
          </a:p>
          <a:p/>
          <a:p>
            <a:r>
              <a:t>Students will collapse all three into "use a database." Push on SEPARABILITY — that is the slide's point: an embedded database like SQLite gives durability and transactions with no server and no sharing; a distributed key-value store gives scalable sharing with a very different transaction model; a cache gives fast shared access with weaker durability. The three requirements select machinery independently.</a:t>
            </a:r>
          </a:p>
          <a:p/>
          <a:p>
            <a:r>
              <a:t>Do not let "database" mean "SQL server" yet — next slide names the component abstractly.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Name the database as an engineering component; storage mechanisms form their own axis.</a:t>
            </a:r>
          </a:p>
          <a:p/>
          <a:p>
            <a:r>
              <a:t>Ask for databases students have used that are not a SQL server: SQLite inside every phone app, Redis, MongoDB, Firebase, even a Git repository. The point: "database" names a component you delegate state to, with an engineering contract — not a language and not a vendor aisle.</a:t>
            </a:r>
          </a:p>
          <a:p/>
          <a:p>
            <a:r>
              <a:t>The table is the storage-MECHANISM axis: a deployment and operational choice, separate from the data-model choice two slides ahead. Flat files are a legitimate point: config data is read often and changed rarely, so a JSON or YAML file is entirely appropriate — but once multiple processes update shared state concurrently, the application must supply its own coordination, atomicity, and recovery, or adopt a storage system that supplies them (the concurrency section's story). SQLite is the interesting intermediate: SQL, indexes, constraints, ACID transactions, no server; multiple readers, coordinated concurrent writers — a different concurrency architecture than a client-server engine, not a lesser one. Do not overstate it in either direction. None of these is "not a real database"; each occupies a different point in the space we are about to draw.</a:t>
            </a:r>
          </a:p>
          <a:p/>
          <a:p>
            <a:r>
              <a:t>Next slide makes "the contract" precise: five dimensions that organize the rest of the lecture.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minutes — </a:t>
            </a:r>
            <a:r>
              <a:rPr i="1"/>
              <a:t>Establish the five-dimension model the rest of the lecture lives on.</a:t>
            </a:r>
          </a:p>
          <a:p/>
          <a:p>
            <a:r>
              <a:t>This is the lecture's central visual; everything that follows lives somewhere on it. Walk each row as an engineering QUESTION, not a feature list. When relational vs NoSQL, ORMs, query plans, or transactions come up later, return here and point at the row they occupy.</a:t>
            </a:r>
          </a:p>
          <a:p/>
          <a:p>
            <a:r>
              <a:t>The footer line is the model's point: requirements belong to the APPLICATION; guarantees belong to the DATABASE. Keeping those separate is what lets "NoSQL" be a set of points in this space rather than a rival camp — and what makes "does the database enforce my invariant?" a question with a precise answer rather than a vibe.</a:t>
            </a:r>
          </a:p>
          <a:p/>
          <a:p>
            <a:r>
              <a:t>Operations (backup, recovery, migration, administration) is a real sixth dimension; we defer it to the Operations &amp; SRE unit rather than pretending it fits today.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Show the same facts in four native shapes; separate data model from storage mechanism.</a:t>
            </a:r>
          </a:p>
          <a:p/>
          <a:p>
            <a:r>
              <a:t>One pass, one sentence per family, always the same facts: rooms, users, reservations.</a:t>
            </a:r>
          </a:p>
          <a:p/>
          <a:p>
            <a:r>
              <a:t>DO NOT claim capability walls. A document database CAN represent relationships (references across documents); a relational database CAN store JSON (jsonb columns). The real differences are NATIVE representation and common usage — what the system makes easy, indexed, and idiomatic. Teaching these as absolute capabilities is the second named non-claim of this lecture.</a:t>
            </a:r>
          </a:p>
          <a:p/>
          <a:p>
            <a:r>
              <a:t>Foreshadow: "easy vs harder" is about to matter — our invariant is a cross-row rule.</a:t>
            </a:r>
          </a:p>
          <a:p>
            <a:r>
              <a:t>The bottom strip names the second axis: the DATA MODEL is a logical choice; the STORAGE MECHANISM (flat file, embedded engine, server, distributed system) is a deployment and operational choice. A JSON flat file can encode any of the four shapes with no engine at all; SQLite implements the relational model without a server. Conflating the two axes is the error to name out loud.</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Make relational vs NoSQL a requirements question, not a camp war.</a:t>
            </a:r>
          </a:p>
          <a:p/>
          <a:p>
            <a:r>
              <a:t>The crossed-out line is folk wisdom students arrive with; name it and reject it explicitly — it is not a defensible engineering rule. "NoSQL" is not a single consistency model: Spanner-class relational systems are distributed and horizontally scalable; several document and key-value systems offer strong consistency and multi-document transactions. The engineering move is the previous slide's footer: compare GUARANTEES against REQUIREMENTS, per system, per dimension.</a:t>
            </a:r>
          </a:p>
          <a:p/>
          <a:p>
            <a:r>
              <a:t>We now commit to a relational first implementation — not because relational is "the default answer," but because our requirements (left card) select it. Later slides compare NoSQL alternatives against those same requirements.</a:t>
            </a:r>
          </a:p>
          <a:p>
            <a:r>
              <a:t>SQLite vs PostgreSQL is the cleanest proof that database selection is multidimensional: the same data model and query language at two very different deployment and operational points. 'Relational vs NoSQL' is one axis of several, not the whole decision.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Make guarantees, not product labels, the object of interrogation.</a:t>
            </a:r>
          </a:p>
          <a:p/>
          <a:p>
            <a:r>
              <a:t>These four questions make the Semantics and Concurrency rows of the abstract model operational. The answers differ WITHIN camps, not just between them: two relational engines at their default isolation levels answer question 3 differently, and so do two NoSQL systems. That is why the label ("SQL," "NoSQL") tells you less than the documentation's guarantees section.</a:t>
            </a:r>
          </a:p>
          <a:p/>
          <a:p>
            <a:r>
              <a:t>Question 3 is the lecture's destination — hold it up now, promise it gets 20 minutes later. Question 4 foreshadows the three-fixes slide: in some systems the invariant can live IN the database; in others it must live in application discipline.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Students map each workload's requirements onto database capabilities.</a:t>
            </a:r>
          </a:p>
          <a:p/>
          <a:p>
            <a:r>
              <a:t>Quick poll, not a worksheet: for each system, pick a data model, a consistency posture, and a scaling posture — one minute of neighbor discussion, then take answers.</a:t>
            </a:r>
          </a:p>
          <a:p/>
          <a:p>
            <a:r>
              <a:t>Expected: A → relational, strong isolation available, single primary, indexes for ad-hoc queries. B → partitioned key-value / wide-column, relaxed consistency, write-optimized, partition by device id; no cross-row invariant exists, so nothing is lost by relaxing it.</a:t>
            </a:r>
          </a:p>
          <a:p/>
          <a:p>
            <a:r>
              <a:t>The teaching point: B is not "worse engineering" than A — its requirements genuinely do not need what A must pay for. Resist any student framing of A as legacy and B as modern.</a:t>
            </a:r>
          </a:p>
          <a:p>
            <a:r>
              <a:t>Several technologies can satisfy each workload — the point is the mapping from requirements to capabilities, not one blessed answer. A could run on PostgreSQL, MySQL, or SQLite behind a single process; B fits a wide-column or key-value store, a time-series engine, or partitioned Postgres. Grade answers by the capability argument, not the product name.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Derive the ER model; entities give the invariant its vocabulary, not its enforcement.</a:t>
            </a:r>
          </a:p>
          <a:p/>
          <a:p>
            <a:r>
              <a:t>Act II's modeling discipline, applied: an ER model selects which facts exist and how they relate. One user makes many reservations; one room hosts many reservations; the reservation is the relationship made into an entity.</a:t>
            </a:r>
          </a:p>
          <a:p/>
          <a:p>
            <a:r>
              <a:t>Point at the bolded attributes: starts_at, ends_at, status are there BECAUSE the invariant needs them — a model earns its attributes from the obligations it must support, not from an urge to record everything.</a:t>
            </a:r>
          </a:p>
          <a:p/>
          <a:p>
            <a:r>
              <a:t>Ask: could we model this as ROOM embedding a list of reservations? Yes — that is the document shape from slide 5; the invariant then lives inside one document, which will matter later. The relational shape makes the reservation a first-class row.</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minutes — </a:t>
            </a:r>
            <a:r>
              <a:rPr i="1"/>
              <a:t>Show the schema as enforced obligations, then expose what it cannot state.</a:t>
            </a:r>
          </a:p>
          <a:p/>
          <a:p>
            <a:r>
              <a:t>Walk the DDL top to bottom: every line is an obligation the DATABASE now enforces no matter which code path writes — a directness of Modeling-meets-Alignment that application-level validation never achieves. The schema is the model, with authority.</a:t>
            </a:r>
          </a:p>
          <a:p/>
          <a:p>
            <a:r>
              <a:t>Then ask the trap question: "Which line prevents double-booking?" Students will nominate CHECK. Let them argue, then land the red line: a CHECK sees ONE row; a foreign key points from one row to one row. Overlap is a predicate over PAIRS of rows, and nothing in this vocabulary can state it. Do NOT soften this — it is the technical point the lecture is built around, and slide 23 resolves it.</a:t>
            </a:r>
          </a:p>
          <a:p/>
          <a:p>
            <a:r>
              <a:t>(If asked: yes, some engines have exclusion constraints that CAN state it — that is exactly slide 23's first fix. Park it.)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Price normalization vs denormalization as one cost moved between write and read paths.</a:t>
            </a:r>
          </a:p>
          <a:p/>
          <a:p>
            <a:r>
              <a:t>Normalization is not a virtue and denormalization is not a sin; they move the same cost between the write path and the read path. Our service renames a room roughly never and lists reservations constantly — a defensible denormalization. A trading system updating prices thousands of times a second makes the opposite call.</a:t>
            </a:r>
          </a:p>
          <a:p/>
          <a:p>
            <a:r>
              <a:t>Connect back to slide 5: document stores denormalize NATIVELY (the room document embeds its reservations); relational systems normalize natively and denormalize deliberately. Same tradeoff, different defaults.</a:t>
            </a:r>
          </a:p>
          <a:p/>
          <a:p>
            <a:r>
              <a:t>One caution forward: every copied fact is a new invariant ("copies agree") that someone must now enforce — the same shape as our overlap invariant, and the same question: WHERE does enforcement live?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Students judge two valid rows; per-row validity is not application correctness.</a:t>
            </a:r>
          </a:p>
          <a:p/>
          <a:p>
            <a:r>
              <a:t>The two rows on screen are the slide-10 trap made concrete: both pass every declared constraint; together they break the service. Model validity and application correctness are different properties with different enforcement machinery.</a:t>
            </a:r>
          </a:p>
          <a:p/>
          <a:p>
            <a:r>
              <a:t>This is also where ACID folklore starts to wobble — students have heard "C is for Consistency" and assume the database therefore understands their application. It does not: it enforces the constraints actually supplied, and ours cannot yet be supplied in row-local vocabulary. Say that plainly now; slide 20 formalizes it.</a:t>
            </a:r>
          </a:p>
          <a:p/>
          <a:p>
            <a:r>
              <a:t>Transition: before we can fix enforcement, we need the other half of the design space — how we ASK the database questions. Query interfaces, then execution, then back here for concurrency.</a:t>
            </a:r>
          </a:p>
          <a:p>
            <a:r>
              <a:t>=====</a:t>
            </a:r>
          </a:p>
          <a:p>
            <a:r>
              <a:t>Ask the posed question and collect reasons: every constraint passes, so is the application correct?</a:t>
            </a:r>
          </a:p>
          <a:p>
            <a:r>
              <a:t>ANIMATE</a:t>
            </a:r>
          </a:p>
          <a:p>
            <a:r>
              <a:t>Reveal: the pair violates the invariant. Overlap is a property of the pair; no per-row check can see it.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Establish SQL as a specification: WHAT, never HOW.</a:t>
            </a:r>
          </a:p>
          <a:p/>
          <a:p>
            <a:r>
              <a:t>Read the WHERE clause aloud as a sentence: "any CONFIRMED reservation for this room whose interval overlaps mine." Two minutes on the overlap predicate is time well spent — students reliably get interval overlap wrong (they test only endpoints-inside). Draw two intervals on the board if needed.</a:t>
            </a:r>
          </a:p>
          <a:p/>
          <a:p>
            <a:r>
              <a:t>The declarative point sets up execution: because the query is only a specification, the engine is FREE to choose access paths — and obligated to pick well. That freedom is where both performance (slides 16-17) and the race (slide 19) come from: nothing in this text says WHEN it runs relative to anyone else's insert.</a:t>
            </a:r>
          </a:p>
          <a:p/>
          <a:p>
            <a:r>
              <a:t>Keep SQL syntax discussion to these few minutes — the design space, not the dialect, is the lecture.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Show what an ORM buys and what it structurally costs on the same query.</a:t>
            </a:r>
          </a:p>
          <a:p/>
          <a:p>
            <a:r>
              <a:t>Same overlap query as the previous slide, now written against objects. Stress the slide label: this is pseudo-ORM; SQLAlchemy, Django, Hibernate, Prisma each spell it differently, and teaching one dialect is not the point.</a:t>
            </a:r>
          </a:p>
          <a:p/>
          <a:p>
            <a:r>
              <a:t>Both columns are true at once. The buys are real (teams ship faster, mapping bugs drop); the costs are structural, not bugs to be fixed in the next release — an abstraction over a different data model MUST leak somewhere (objects have identity and references; rows have keys and values).</a:t>
            </a:r>
          </a:p>
          <a:p/>
          <a:p>
            <a:r>
              <a:t>Resist the class splitting into ORM-always and ORM-never camps for two minutes — the next slide dissolves the rivalry by placing them at different layers.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Dissolve ORM-vs-SQL into layers of one pipeline.</a:t>
            </a:r>
          </a:p>
          <a:p/>
          <a:p>
            <a:r>
              <a:t>One of the four slides that carry the lecture. The stack kills the false dichotomy from the previous slide: every ORM query BECOMES SQL; every SQL query BECOMES an engine plan. Choosing "ORM or SQL" is choosing your authoring layer, nothing more — correctness and cost are decided below, and remain yours.</a:t>
            </a:r>
          </a:p>
          <a:p/>
          <a:p>
            <a:r>
              <a:t>Practical corollary to say out loud: when the ORM is slow or wrong, you debug by reading DOWNWARD — the emitted SQL, then the plan. An engineer who can only read the top layer cannot diagnose the system. This mirrors Act II's delegation lesson: delegating the writing does not delegate the accountability.</a:t>
            </a:r>
          </a:p>
          <a:p/>
          <a:p>
            <a:r>
              <a:t>Ask: where in this stack did our overlap invariant go? (Nowhere yet — it is still only in our heads and in one WHERE clause. Keep that discomfort alive until slide 23.)</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minutes — </a:t>
            </a:r>
            <a:r>
              <a:rPr i="1"/>
              <a:t>Make the optimizer the central actor choosing among candidate plans by cost.</a:t>
            </a:r>
          </a:p>
          <a:p/>
          <a:p>
            <a:r>
              <a:t>One of the four slides that carry the lecture. Walk the pipeline once: parse and validate against the schema; a logical plan (relational algebra — what to combine); the optimizer compares candidate plans using statistics; a physical plan (which index, which join algorithm); execution; results.</a:t>
            </a:r>
          </a:p>
          <a:p/>
          <a:p>
            <a:r>
              <a:t>Students should leave knowing EXPLAIN exists: every serious engine will show you the chosen plan, and reading it is how slide 17's difference is diagnosed.</a:t>
            </a:r>
          </a:p>
          <a:p/>
          <a:p>
            <a:r>
              <a:t>PLACEMENT NOTE, deliberate and worth saying: query optimization belongs HERE, under execution — it is about running ONE query efficiently. Transactions (§5) are about which CONCURRENT HISTORIES are permitted. They interact (locking can change plan costs) but they solve different problems. Filing optimization under transactions is a category error.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One query, two plans, very different costs; indexes are design decisions.</a:t>
            </a:r>
          </a:p>
          <a:p/>
          <a:p>
            <a:r>
              <a:t>The numbers are illustrative, not benchmarks — real timings depend on hardware, caching, selectivity, and the engine. Also honest: the (room_id, starts_at) index narrows to this room's candidate window; the ends_at predicate still filters each candidate, so the examined set can exceed the answer — the shape is what matters: linear-in-table versus logarithmic-plus-answer-size. On the previous slide's pipeline, the ONLY thing that changed is what the optimizer could choose from.</a:t>
            </a:r>
          </a:p>
          <a:p/>
          <a:p>
            <a:r>
              <a:t>Ask which columns our overlap query wants indexed (room_id, then time). Then the other edge: every insert now maintains the index too — a write-heavy telemetry table (slide 8's system B) might rightly carry fewer indexes. Design decision, access pattern in, index out.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Expose the N+1 shape: correct code, terrible access pattern; review emitted queries.</a:t>
            </a:r>
          </a:p>
          <a:p/>
          <a:p>
            <a:r>
              <a:t>The loop is CORRECT — every test passes, the page renders. The defect is the shape of the access: one query per row, each paying a full round trip. It appears exactly where the ORM made row access invisible (r.room.name looks like a field read, is a query).</a:t>
            </a:r>
          </a:p>
          <a:p/>
          <a:p>
            <a:r>
              <a:t>Detection is observational, not static: query logs, APM dashboards, or an ORM's echo mode; count queries per request and be suspicious of counts that scale with result size.</a:t>
            </a:r>
          </a:p>
          <a:p/>
          <a:p>
            <a:r>
              <a:t>The agent point is Act II's lesson again: generated code satisfies the stated spec. "Functionally correct" was the stated spec; access pattern was not. If you want it, state it and check it — review the emitted SQL.</a:t>
            </a:r>
          </a:p>
          <a:p/>
          <a:p>
            <a:r>
              <a:t>Transition: everything so far assumed one request at a time. Drop that assumption.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minutes — </a:t>
            </a:r>
            <a:r>
              <a:rPr i="1"/>
              <a:t>Students predict the race; locally correct requests break a global invariant.</a:t>
            </a:r>
          </a:p>
          <a:p/>
          <a:p>
            <a:r>
              <a:t>The most important slide of the lecture — walk it slowly, twice.</a:t>
            </a:r>
          </a:p>
          <a:p/>
          <a:p>
            <a:r>
              <a:t>First pass: read each request's code shape (check for conflicts, then insert — the obvious algorithm, and the one students wrote in their heads on slide 13). Second pass: walk the interleaving t1→t4. At t1 and t2 BOTH checks run against a table with neither insert present; both see "no conflict"; both inserts then commit. Check-then-act, torn by time.</a:t>
            </a:r>
          </a:p>
          <a:p/>
          <a:p>
            <a:r>
              <a:t>Dwell on where the bug is: not in A, not in B, not in SQL, not in the driver. Each request is locally correct. The defect lives only in the INTERLEAVING — a property of the pair of executions, exactly as the violation on slide 12 was a property of the pair of rows. Correct-looking code cannot fix this from inside one request: re-checking after insert, double-checking before — every variant just moves the window.</a:t>
            </a:r>
          </a:p>
          <a:p/>
          <a:p>
            <a:r>
              <a:t>Ask: "who tested this?" Both requests pass every unit test and every sequential integration test. This is why concurrency is an ENGINEERING obligation — you must choose machinery (slide 23) rather than write more careful local code. Agents generating locally-correct check-then-act code will walk straight into this.</a:t>
            </a:r>
          </a:p>
          <a:p/>
          <a:p>
            <a:r>
              <a:t>Do NOT let anyone claim a foreign key or CHECK would have stopped it — slide 10 established why not; it resurfaces with the fixes on slide 23.</a:t>
            </a:r>
          </a:p>
          <a:p>
            <a:r>
              <a:t>=====</a:t>
            </a:r>
          </a:p>
          <a:p>
            <a:r>
              <a:t>Walk t1 and t2: both availability checks run against a table containing neither insert. Ask: can both INSERTs succeed?</a:t>
            </a:r>
          </a:p>
          <a:p>
            <a:r>
              <a:t>ANIMATE</a:t>
            </a:r>
          </a:p>
          <a:p>
            <a:r>
              <a:t>Both inserts proceed; nothing has failed yet.</a:t>
            </a:r>
          </a:p>
          <a:p>
            <a:r>
              <a:t>ANIMATE</a:t>
            </a:r>
          </a:p>
          <a:p>
            <a:r>
              <a:t>Both commits succeed; room 117 is double-booked. No statement failed; the defect lives only in the interleaving.</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Fix what ACID promises; C does not mean your application is correct.</a:t>
            </a:r>
          </a:p>
          <a:p/>
          <a:p>
            <a:r>
              <a:t>Each letter is real and valuable — do not teach ACID cynically. Atomicity alone removes a whole failure class (the half-written reservation). Durability is why slide 2's restart stopped being fatal.</a:t>
            </a:r>
          </a:p>
          <a:p/>
          <a:p>
            <a:r>
              <a:t>The red line is the third named non-claim of the lecture, and students arrive believing it: "the database is ACID, therefore my data is consistent." Consistency here is a technical term — declared constraints and transaction logic — not a warranty about intentions. Slide 19's race ran inside perfectly ACID transactions at default isolation: atomic, durable, each constraint held. The system did everything it promised. The promise just did not include our invariant.</a:t>
            </a:r>
          </a:p>
          <a:p/>
          <a:p>
            <a:r>
              <a:t>Consistency concerns the invariants the database actually knows about: transactions preserve the specified integrity constraints. Application invariants never represented in the database require additional engineering — a constraint, an isolation contract, or a locking discipline (the three-fixes slide). Isolation is the letter with a dial, and the next two slides turn it.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Define isolation as a policy over permitted histories, serializability the core.</a:t>
            </a:r>
          </a:p>
          <a:p/>
          <a:p>
            <a:r>
              <a:t>The nested bars are a set diagram: all interleavings; the subset your isolation level admits; the serializable core. An isolation level is a POLICY over histories — the same object Act II's state machines reasoned about: define the reachable executions, then ask whether every one preserves the invariant.</a:t>
            </a:r>
          </a:p>
          <a:p/>
          <a:p>
            <a:r>
              <a:t>Serializability's definition deserves precision: the system may interleave however it likes, provided the outcome is equivalent to SOME serial order. That is why it rescues check-then-act: in any serial order, the second request's check runs after the first's insert.</a:t>
            </a:r>
          </a:p>
          <a:p/>
          <a:p>
            <a:r>
              <a:t>Qualification to say aloud: serializability rescues check-then-act only when the availability check AND the insert run inside the SAME transaction. Split them across two transactions and each is serializable alone — and the race returns. What it costs — and why engines do not default to it — is the next slide. Keep the taxonomy OUT of this slide; here there is only "permitted histories," narrower or wider.</a:t>
            </a:r>
          </a:p>
          <a:p>
            <a:r>
              <a:t>Point at the ✗: our double-booking history sits INSIDE what weaker levels permit and OUTSIDE the serializable core. Excluding it is exactly what we will pay for.</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Place our race on the isolation dial; the default is a choice someone else made.</a:t>
            </a:r>
          </a:p>
          <a:p/>
          <a:p>
            <a:r>
              <a:t>Two minutes, not twenty — the full anomaly taxonomy is a databases-course topic; today's point is only that the dial exists and where OUR race sits on it.</a:t>
            </a:r>
          </a:p>
          <a:p/>
          <a:p>
            <a:r>
              <a:t>The middle row is the one that surprises: snapshot isolation feels strong ("I read a consistent frozen view!") and still permits the race, because neither transaction WRITES what the other READ — both checked a range, both inserted new rows. That pattern is write skew; one sentence of vocabulary, no more. Name the engine-variance caveat: the SQL-standard level names do not pin behavior. PostgreSQL's Repeatable Read is snapshot isolation and permits this; other engines implement the same name with locks and different anomalies. Read the engine's documentation, not the standard's table.</a:t>
            </a:r>
          </a:p>
          <a:p/>
          <a:p>
            <a:r>
              <a:t>So "we use transactions" does not settle slide 19. Either the level excludes the history (bottom row, with retry costs), or the invariant needs a different home — next slide.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minutes — </a:t>
            </a:r>
            <a:r>
              <a:rPr i="1"/>
              <a:t>Students propose enforcement homes; compare schema, isolation contract, lock discipline.</a:t>
            </a:r>
          </a:p>
          <a:p/>
          <a:p>
            <a:r>
              <a:t>The payoff slide. Compare the three fixes by ONE axis: where the invariant is REPRESENTED and ENFORCED.</a:t>
            </a:r>
          </a:p>
          <a:p/>
          <a:p>
            <a:r>
              <a:t>(1) Exclusion constraint — the invariant lives in the schema, like slide 10's obligations. Strongest home: enforced no matter which code path, ORM, or agent writes. It exists because interval overlap can be stated as an operator (&amp;&amp;) the engine can index; a plain CHECK still cannot see a second row. Cost: not portable across engines.</a:t>
            </a:r>
          </a:p>
          <a:p/>
          <a:p>
            <a:r>
              <a:t>(2) Serializable + retry — the invariant stays implicit in your check-then-act logic; the isolation contract guarantees the history is safe. General (works for ANY invariant you can code), but the obligation moves to the application: aborts are normal, retry or lose requests. Both the availability check and the insert must run inside the same serializable transaction — split them and the protection is gone.</a:t>
            </a:r>
          </a:p>
          <a:p/>
          <a:p>
            <a:r>
              <a:t>(3) Explicit locking — you serialize room 117's writers yourself. Transparent, portable, and brittle: the invariant now lives in a convention every future code path must remember. (Our own codebase analog: conventions rot; constraints don't.)</a:t>
            </a:r>
          </a:p>
          <a:p/>
          <a:p>
            <a:r>
              <a:t>The red line is the fourth named non-claim, stated once more because students WILL reach for "just add a constraint" — the point is WHICH KIND of constraint can even see the pair.</a:t>
            </a:r>
          </a:p>
          <a:p/>
          <a:p>
            <a:r>
              <a:t>If asked about the document-model alternative: embedding reservations in the room document makes the invariant single-document, enforced by a compare-and-swap on one object — a legitimate fourth point in the space, with its own costs (hot document, cross-room queries).</a:t>
            </a:r>
          </a:p>
          <a:p>
            <a:r>
              <a:t>=====</a:t>
            </a:r>
          </a:p>
          <a:p>
            <a:r>
              <a:t>Collect proposals first: where could the invariant live? Students will offer constraints, transactions, locks; organize their answers into the three rows as they appear.</a:t>
            </a:r>
          </a:p>
          <a:p>
            <a:r>
              <a:t>ANIMATE</a:t>
            </a:r>
          </a:p>
          <a:p>
            <a:r>
              <a:t>Exclusion constraint: the schema states the invariant; the engine rejects the insert.</a:t>
            </a:r>
          </a:p>
          <a:p>
            <a:r>
              <a:t>ANIMATE</a:t>
            </a:r>
          </a:p>
          <a:p>
            <a:r>
              <a:t>Serializable plus retry: the isolation contract excludes the bad history; the application owns retries.</a:t>
            </a:r>
          </a:p>
          <a:p>
            <a:r>
              <a:t>ANIMATE</a:t>
            </a:r>
          </a:p>
          <a:p>
            <a:r>
              <a:t>Explicit locking: your discipline serializes writers per room; one forgetful code path breaks it.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Price concurrency control: contention, retries, throughput.</a:t>
            </a:r>
          </a:p>
          <a:p/>
          <a:p>
            <a:r>
              <a:t>Close the section by pricing it. Every fix on the previous slide narrows permitted histories, and narrowing has mechanical costs: waiting (locks), aborted work (retries), and a throughput ceiling on hot objects. None of this is pathology — it is the machinery doing what you asked.</a:t>
            </a:r>
          </a:p>
          <a:p/>
          <a:p>
            <a:r>
              <a:t>This reframes slide 6 honestly: systems that relax isolation or consistency are not "wrong"; they are paying less because their requirements exclude fewer histories. The folk rule from slide 6 fails precisely because it reads a price list as a morality tale.</a:t>
            </a:r>
          </a:p>
          <a:p/>
          <a:p>
            <a:r>
              <a:t>Handoff: "how much does it cost under OUR workload?" is a measurement question — Performance &amp; Reliability, two lectures from now.</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minutes — </a:t>
            </a:r>
            <a:r>
              <a:rPr i="1"/>
              <a:t>Schema evolution: representation, existing records, availability mid-migration.</a:t>
            </a:r>
          </a:p>
          <a:p/>
          <a:p>
            <a:r>
              <a:t>New requirement, same system: recurring bookings. The schema must change while the service runs and while two years of reservations sit in the table. Walk the three questions.</a:t>
            </a:r>
          </a:p>
          <a:p/>
          <a:p>
            <a:r>
              <a:t>Representation re-opens slide 5 honestly — a recurrence rule is compact but makes the overlap check computational; expanded rows keep the invariant machinery working but multiply data. There is no free choice; the invariant's HOME (slide 23) constrains which representations stay enforceable.</a:t>
            </a:r>
          </a:p>
          <a:p/>
          <a:p>
            <a:r>
              <a:t>The availability row ties directly to Tuesday: a rolling deploy means OLD and NEW code coexist for a window, so old and new DATA SHAPES must coexist too. Expand/migrate/contract is the discipline: add the new column or table (both versions tolerate it), migrate and dual-write, then contract once the old reader is gone. Migrations are numbered, reviewed, reversible artifacts — schema change is engineering, not a DBA favor.</a:t>
            </a:r>
          </a:p>
          <a:p/>
          <a:p>
            <a:r>
              <a:t>Rollback question for the class: code rolls back by redeploying the old image — what rolls back a migration that already rewrote rows?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minutes — </a:t>
            </a:r>
            <a:r>
              <a:rPr i="1"/>
              <a:t>Re-walk the Act III method with every box filled by one of today's decisions.</a:t>
            </a:r>
          </a:p>
          <a:p/>
          <a:p>
            <a:r>
              <a:t>This flowchart is Tuesday's slide-4 motif, reused verbatim as Act III's recurring frame — do not present it as new. Re-walk it with today's artifacts: the PROBLEM was slide 2's three requirements; the MODELS were the abstract five-dimension model, the ER diagram, and the schema; JUDGMENT was relational-vs-NoSQL and normalize-vs-denormalize; REALIZE was DDL, queries, ORM code; EVIDENCE was query plans, cost comparisons, and the double-booking interleaving; ACCEPT/REJECT chose the exclusion constraint and rejected check-then-act.</a:t>
            </a:r>
          </a:p>
          <a:p/>
          <a:p>
            <a:r>
              <a:t>Alignment runs ALONGSIDE, not after — that is why it is drawn as a parallel lane and not a seventh box. Today it was never a post-hoc review step: the schema constraints, the exclusion constraint, the serializable contract are alignment machinery embedded IN the realization. The database is the course's cleanest example of Modeling and Alignment fused in one component: the schema IS the model, with authority.</a:t>
            </a:r>
          </a:p>
          <a:p/>
          <a:p>
            <a:r>
              <a:t>(Deck-maintenance note, not for class: Tuesday's deck renders this same chart; the two renderings should be reconciled to one geometry after both decks land.)</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minutes — </a:t>
            </a:r>
            <a:r>
              <a:rPr i="1"/>
              <a:t>Close the governing question; hand off to Technical Debt, Architecture &amp; Supply Chains.</a:t>
            </a:r>
          </a:p>
          <a:p/>
          <a:p>
            <a:r>
              <a:t>Close on the governing question, answered dimension by dimension: we chose a representation (relational, normalized, indexed), demanded semantics (constraints, durability), picked interfaces (SQL under an ORM, with eyes open), governed concurrency (serializable-or-constraint, priced), and deferred scale until measured.</a:t>
            </a:r>
          </a:p>
          <a:p/>
          <a:p>
            <a:r>
              <a:t>Then hand off with the question on the title. A working system is the STARTING point of most engineering careers, not the end: next unit asks whether this system's structure — our code and everything we now depend on, engine features included (that exclusion constraint bound us to an engine) — can absorb its next ten changes economically.</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minute — </a:t>
            </a:r>
            <a:r>
              <a:rPr i="1"/>
              <a:t>Orient: five movements, each named by the engineering question it answers.</a:t>
            </a:r>
          </a:p>
          <a:p/>
          <a:p>
            <a:r>
              <a:t>The five movements, each named by the engineering question it answers. This vocabulary recurs: the deck's sections carry the same names. Point at row four: the lecture's destination is the concurrency question — everything before it builds the vocabulary to ask it precisely.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urseLine"/>
          <p:cNvSpPr txBox="1"/>
          <p:nvPr/>
        </p:nvSpPr>
        <p:spPr>
          <a:xfrm>
            <a:off x="658368" y="576072"/>
            <a:ext cx="7818120" cy="402336"/>
          </a:xfrm>
          <a:prstGeom prst="rect">
            <a:avLst/>
          </a:prstGeom>
          <a:noFill/>
        </p:spPr>
        <p:txBody>
          <a:bodyPr wrap="square">
            <a:spAutoFit/>
          </a:bodyPr>
          <a:lstStyle/>
          <a:p>
            <a:pPr algn="ctr">
              <a:spcAft>
                <a:spcPts val="400"/>
              </a:spcAft>
            </a:pPr>
            <a:r>
              <a:rPr sz="2000" b="0">
                <a:solidFill>
                  <a:srgbClr val="5C4826"/>
                </a:solidFill>
                <a:latin typeface="Calibri"/>
              </a:rPr>
              <a:t>S o f t w a r e   E n g i n e e r i n g</a:t>
            </a:r>
          </a:p>
        </p:txBody>
      </p:sp>
      <p:sp>
        <p:nvSpPr>
          <p:cNvPr id="3" name="CourseNumber"/>
          <p:cNvSpPr txBox="1"/>
          <p:nvPr/>
        </p:nvSpPr>
        <p:spPr>
          <a:xfrm>
            <a:off x="658368" y="1014984"/>
            <a:ext cx="7818120" cy="384048"/>
          </a:xfrm>
          <a:prstGeom prst="rect">
            <a:avLst/>
          </a:prstGeom>
          <a:noFill/>
        </p:spPr>
        <p:txBody>
          <a:bodyPr wrap="square">
            <a:spAutoFit/>
          </a:bodyPr>
          <a:lstStyle/>
          <a:p>
            <a:pPr algn="ctr">
              <a:spcAft>
                <a:spcPts val="400"/>
              </a:spcAft>
            </a:pPr>
            <a:r>
              <a:rPr sz="2000" b="0">
                <a:solidFill>
                  <a:srgbClr val="555960"/>
                </a:solidFill>
                <a:latin typeface="Calibri"/>
              </a:rPr>
              <a:t>ECE 30861 / CSCI 45000</a:t>
            </a:r>
          </a:p>
        </p:txBody>
      </p:sp>
      <p:sp>
        <p:nvSpPr>
          <p:cNvPr id="4" name="Title"/>
          <p:cNvSpPr txBox="1">
            <a:spLocks noGrp="1"/>
          </p:cNvSpPr>
          <p:nvPr>
            <p:ph type="ctrTitle"/>
          </p:nvPr>
        </p:nvSpPr>
        <p:spPr>
          <a:xfrm>
            <a:off x="384048" y="1783080"/>
            <a:ext cx="8412480" cy="731520"/>
          </a:xfrm>
          <a:prstGeom prst="rect">
            <a:avLst/>
          </a:prstGeom>
          <a:noFill/>
        </p:spPr>
        <p:txBody>
          <a:bodyPr wrap="square">
            <a:spAutoFit/>
          </a:bodyPr>
          <a:lstStyle/>
          <a:p>
            <a:pPr algn="ctr">
              <a:spcAft>
                <a:spcPts val="400"/>
              </a:spcAft>
            </a:pPr>
            <a:r>
              <a:rPr sz="3200" b="0">
                <a:solidFill>
                  <a:srgbClr val="2D2D2D"/>
                </a:solidFill>
                <a:latin typeface="Calibri"/>
              </a:rPr>
              <a:t>Data Management</a:t>
            </a:r>
          </a:p>
        </p:txBody>
      </p:sp>
      <p:sp>
        <p:nvSpPr>
          <p:cNvPr id="5" name="Subtitle"/>
          <p:cNvSpPr txBox="1">
            <a:spLocks noGrp="1"/>
          </p:cNvSpPr>
          <p:nvPr>
            <p:ph type="subTitle" idx="1"/>
          </p:nvPr>
        </p:nvSpPr>
        <p:spPr>
          <a:xfrm>
            <a:off x="429768" y="2606040"/>
            <a:ext cx="8284464" cy="868680"/>
          </a:xfrm>
          <a:prstGeom prst="rect">
            <a:avLst/>
          </a:prstGeom>
          <a:noFill/>
        </p:spPr>
        <p:txBody>
          <a:bodyPr wrap="square">
            <a:spAutoFit/>
          </a:bodyPr>
          <a:lstStyle/>
          <a:p>
            <a:pPr algn="ctr">
              <a:spcAft>
                <a:spcPts val="400"/>
              </a:spcAft>
            </a:pPr>
            <a:r>
              <a:rPr sz="2200" b="0">
                <a:solidFill>
                  <a:srgbClr val="8E6F3E"/>
                </a:solidFill>
                <a:latin typeface="Calibri"/>
              </a:rPr>
              <a:t>How do we represent, retrieve, and preserve information as software systems grow?</a:t>
            </a:r>
          </a:p>
        </p:txBody>
      </p:sp>
      <p:sp>
        <p:nvSpPr>
          <p:cNvPr id="6" name="Instructors"/>
          <p:cNvSpPr txBox="1"/>
          <p:nvPr/>
        </p:nvSpPr>
        <p:spPr>
          <a:xfrm>
            <a:off x="740664" y="3657600"/>
            <a:ext cx="7680960" cy="868680"/>
          </a:xfrm>
          <a:prstGeom prst="rect">
            <a:avLst/>
          </a:prstGeom>
          <a:noFill/>
        </p:spPr>
        <p:txBody>
          <a:bodyPr wrap="square">
            <a:spAutoFit/>
          </a:bodyPr>
          <a:lstStyle/>
          <a:p>
            <a:pPr algn="ctr">
              <a:spcAft>
                <a:spcPts val="400"/>
              </a:spcAft>
            </a:pPr>
            <a:r>
              <a:rPr sz="2000" b="0">
                <a:solidFill>
                  <a:srgbClr val="2D2D2D"/>
                </a:solidFill>
                <a:latin typeface="Calibri"/>
              </a:rPr>
              <a:t>Prof. James C. Davis</a:t>
            </a:r>
          </a:p>
          <a:p>
            <a:pPr algn="ctr">
              <a:spcAft>
                <a:spcPts val="400"/>
              </a:spcAft>
            </a:pPr>
            <a:r>
              <a:rPr sz="2000" b="0">
                <a:solidFill>
                  <a:srgbClr val="2D2D2D"/>
                </a:solidFill>
                <a:latin typeface="Calibri"/>
              </a:rPr>
              <a:t>Prof. Steve France</a:t>
            </a:r>
          </a:p>
        </p:txBody>
      </p:sp>
      <p:sp>
        <p:nvSpPr>
          <p:cNvPr id="7" name="ActLine"/>
          <p:cNvSpPr txBox="1"/>
          <p:nvPr/>
        </p:nvSpPr>
        <p:spPr>
          <a:xfrm>
            <a:off x="1143000" y="4617720"/>
            <a:ext cx="6858000" cy="384048"/>
          </a:xfrm>
          <a:prstGeom prst="rect">
            <a:avLst/>
          </a:prstGeom>
          <a:noFill/>
        </p:spPr>
        <p:txBody>
          <a:bodyPr wrap="square">
            <a:spAutoFit/>
          </a:bodyPr>
          <a:lstStyle/>
          <a:p>
            <a:pPr algn="ctr">
              <a:spcAft>
                <a:spcPts val="400"/>
              </a:spcAft>
            </a:pPr>
            <a:r>
              <a:rPr sz="2000" b="0">
                <a:solidFill>
                  <a:srgbClr val="555960"/>
                </a:solidFill>
                <a:latin typeface="Calibri"/>
              </a:rPr>
              <a:t>Act III: Engineering Software Systems</a:t>
            </a:r>
          </a:p>
        </p:txBody>
      </p:sp>
      <p:sp>
        <p:nvSpPr>
          <p:cNvPr id="8" name="DateLine"/>
          <p:cNvSpPr txBox="1"/>
          <p:nvPr/>
        </p:nvSpPr>
        <p:spPr>
          <a:xfrm>
            <a:off x="1143000" y="5029200"/>
            <a:ext cx="6858000" cy="384048"/>
          </a:xfrm>
          <a:prstGeom prst="rect">
            <a:avLst/>
          </a:prstGeom>
          <a:noFill/>
        </p:spPr>
        <p:txBody>
          <a:bodyPr wrap="square">
            <a:spAutoFit/>
          </a:bodyPr>
          <a:lstStyle/>
          <a:p>
            <a:pPr algn="ctr">
              <a:spcAft>
                <a:spcPts val="400"/>
              </a:spcAft>
            </a:pPr>
            <a:r>
              <a:rPr sz="2000" b="0">
                <a:solidFill>
                  <a:srgbClr val="555960"/>
                </a:solidFill>
                <a:latin typeface="Calibri"/>
              </a:rPr>
              <a:t>Thursday, November 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p:cNvSpPr>
            <a:spLocks noGrp="1"/>
          </p:cNvSpPr>
          <p:nvPr>
            <p:ph type="title"/>
          </p:nvPr>
        </p:nvSpPr>
        <p:spPr>
          <a:xfrm>
            <a:off x="274320" y="128016"/>
            <a:ext cx="8595360" cy="594360"/>
          </a:xfrm>
        </p:spPr>
        <p:txBody>
          <a:bodyPr/>
          <a:lstStyle/>
          <a:p>
            <a:r>
              <a:rPr sz="2400" b="0">
                <a:solidFill>
                  <a:srgbClr val="2D2D2D"/>
                </a:solidFill>
                <a:latin typeface="Calibri"/>
              </a:rPr>
              <a:t>Today: five engineering questions</a:t>
            </a:r>
          </a:p>
        </p:txBody>
      </p:sp>
      <p:sp>
        <p:nvSpPr>
          <p:cNvPr id="4" name="Card"/>
          <p:cNvSpPr/>
          <p:nvPr/>
        </p:nvSpPr>
        <p:spPr>
          <a:xfrm>
            <a:off x="411480" y="105156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wLabel"/>
          <p:cNvSpPr txBox="1"/>
          <p:nvPr/>
        </p:nvSpPr>
        <p:spPr>
          <a:xfrm>
            <a:off x="557784" y="1088136"/>
            <a:ext cx="2788920" cy="768096"/>
          </a:xfrm>
          <a:prstGeom prst="rect">
            <a:avLst/>
          </a:prstGeom>
          <a:noFill/>
        </p:spPr>
        <p:txBody>
          <a:bodyPr wrap="square">
            <a:spAutoFit/>
          </a:bodyPr>
          <a:lstStyle/>
          <a:p>
            <a:r>
              <a:rPr sz="2000" b="1">
                <a:solidFill>
                  <a:srgbClr val="8E6F3E"/>
                </a:solidFill>
                <a:latin typeface="Calibri"/>
              </a:rPr>
              <a:t>Database design choices</a:t>
            </a:r>
          </a:p>
        </p:txBody>
      </p:sp>
      <p:sp>
        <p:nvSpPr>
          <p:cNvPr id="6" name="RowBody"/>
          <p:cNvSpPr txBox="1"/>
          <p:nvPr/>
        </p:nvSpPr>
        <p:spPr>
          <a:xfrm>
            <a:off x="3438144" y="1088136"/>
            <a:ext cx="5166360" cy="768096"/>
          </a:xfrm>
          <a:prstGeom prst="rect">
            <a:avLst/>
          </a:prstGeom>
          <a:noFill/>
        </p:spPr>
        <p:txBody>
          <a:bodyPr wrap="square">
            <a:spAutoFit/>
          </a:bodyPr>
          <a:lstStyle/>
          <a:p>
            <a:r>
              <a:rPr sz="2000" b="0">
                <a:solidFill>
                  <a:srgbClr val="555960"/>
                </a:solidFill>
                <a:latin typeface="Calibri"/>
              </a:rPr>
              <a:t>What guarantees do we need, and which representations provide them?</a:t>
            </a:r>
          </a:p>
        </p:txBody>
      </p:sp>
      <p:sp>
        <p:nvSpPr>
          <p:cNvPr id="7" name="Card"/>
          <p:cNvSpPr/>
          <p:nvPr/>
        </p:nvSpPr>
        <p:spPr>
          <a:xfrm>
            <a:off x="411480" y="2002536"/>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wLabel"/>
          <p:cNvSpPr txBox="1"/>
          <p:nvPr/>
        </p:nvSpPr>
        <p:spPr>
          <a:xfrm>
            <a:off x="557784" y="2039112"/>
            <a:ext cx="2788920" cy="768096"/>
          </a:xfrm>
          <a:prstGeom prst="rect">
            <a:avLst/>
          </a:prstGeom>
          <a:noFill/>
        </p:spPr>
        <p:txBody>
          <a:bodyPr wrap="square">
            <a:spAutoFit/>
          </a:bodyPr>
          <a:lstStyle/>
          <a:p>
            <a:r>
              <a:rPr sz="2000" b="1">
                <a:solidFill>
                  <a:srgbClr val="8E6F3E"/>
                </a:solidFill>
                <a:latin typeface="Calibri"/>
              </a:rPr>
              <a:t>Representing obligations</a:t>
            </a:r>
          </a:p>
        </p:txBody>
      </p:sp>
      <p:sp>
        <p:nvSpPr>
          <p:cNvPr id="9" name="RowBody"/>
          <p:cNvSpPr txBox="1"/>
          <p:nvPr/>
        </p:nvSpPr>
        <p:spPr>
          <a:xfrm>
            <a:off x="3438144" y="2039112"/>
            <a:ext cx="5166360" cy="768096"/>
          </a:xfrm>
          <a:prstGeom prst="rect">
            <a:avLst/>
          </a:prstGeom>
          <a:noFill/>
        </p:spPr>
        <p:txBody>
          <a:bodyPr wrap="square">
            <a:spAutoFit/>
          </a:bodyPr>
          <a:lstStyle/>
          <a:p>
            <a:r>
              <a:rPr sz="2000" b="0">
                <a:solidFill>
                  <a:srgbClr val="555960"/>
                </a:solidFill>
                <a:latin typeface="Calibri"/>
              </a:rPr>
              <a:t>How do schemas express and enforce properties of stored data?</a:t>
            </a:r>
          </a:p>
        </p:txBody>
      </p:sp>
      <p:sp>
        <p:nvSpPr>
          <p:cNvPr id="10" name="Card"/>
          <p:cNvSpPr/>
          <p:nvPr/>
        </p:nvSpPr>
        <p:spPr>
          <a:xfrm>
            <a:off x="411480" y="2953512"/>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wLabel"/>
          <p:cNvSpPr txBox="1"/>
          <p:nvPr/>
        </p:nvSpPr>
        <p:spPr>
          <a:xfrm>
            <a:off x="557784" y="2990088"/>
            <a:ext cx="2788920" cy="768096"/>
          </a:xfrm>
          <a:prstGeom prst="rect">
            <a:avLst/>
          </a:prstGeom>
          <a:noFill/>
        </p:spPr>
        <p:txBody>
          <a:bodyPr wrap="square">
            <a:spAutoFit/>
          </a:bodyPr>
          <a:lstStyle/>
          <a:p>
            <a:r>
              <a:rPr sz="2000" b="1">
                <a:solidFill>
                  <a:srgbClr val="8E6F3E"/>
                </a:solidFill>
                <a:latin typeface="Calibri"/>
              </a:rPr>
              <a:t>Queries and execution</a:t>
            </a:r>
          </a:p>
        </p:txBody>
      </p:sp>
      <p:sp>
        <p:nvSpPr>
          <p:cNvPr id="12" name="RowBody"/>
          <p:cNvSpPr txBox="1"/>
          <p:nvPr/>
        </p:nvSpPr>
        <p:spPr>
          <a:xfrm>
            <a:off x="3438144" y="2990088"/>
            <a:ext cx="5166360" cy="768096"/>
          </a:xfrm>
          <a:prstGeom prst="rect">
            <a:avLst/>
          </a:prstGeom>
          <a:noFill/>
        </p:spPr>
        <p:txBody>
          <a:bodyPr wrap="square">
            <a:spAutoFit/>
          </a:bodyPr>
          <a:lstStyle/>
          <a:p>
            <a:r>
              <a:rPr sz="2000" b="0">
                <a:solidFill>
                  <a:srgbClr val="555960"/>
                </a:solidFill>
                <a:latin typeface="Calibri"/>
              </a:rPr>
              <a:t>How does the database realize our requests, and at what cost?</a:t>
            </a:r>
          </a:p>
        </p:txBody>
      </p:sp>
      <p:sp>
        <p:nvSpPr>
          <p:cNvPr id="13" name="Card"/>
          <p:cNvSpPr/>
          <p:nvPr/>
        </p:nvSpPr>
        <p:spPr>
          <a:xfrm>
            <a:off x="411480" y="3904487"/>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wLabel"/>
          <p:cNvSpPr txBox="1"/>
          <p:nvPr/>
        </p:nvSpPr>
        <p:spPr>
          <a:xfrm>
            <a:off x="557784" y="3941063"/>
            <a:ext cx="2788920" cy="768096"/>
          </a:xfrm>
          <a:prstGeom prst="rect">
            <a:avLst/>
          </a:prstGeom>
          <a:noFill/>
        </p:spPr>
        <p:txBody>
          <a:bodyPr wrap="square">
            <a:spAutoFit/>
          </a:bodyPr>
          <a:lstStyle/>
          <a:p>
            <a:r>
              <a:rPr sz="2000" b="1">
                <a:solidFill>
                  <a:srgbClr val="8E6F3E"/>
                </a:solidFill>
                <a:latin typeface="Calibri"/>
              </a:rPr>
              <a:t>Concurrency and transactions</a:t>
            </a:r>
          </a:p>
        </p:txBody>
      </p:sp>
      <p:sp>
        <p:nvSpPr>
          <p:cNvPr id="15" name="RowBody"/>
          <p:cNvSpPr txBox="1"/>
          <p:nvPr/>
        </p:nvSpPr>
        <p:spPr>
          <a:xfrm>
            <a:off x="3438144" y="3941063"/>
            <a:ext cx="5166360" cy="768096"/>
          </a:xfrm>
          <a:prstGeom prst="rect">
            <a:avLst/>
          </a:prstGeom>
          <a:noFill/>
        </p:spPr>
        <p:txBody>
          <a:bodyPr wrap="square">
            <a:spAutoFit/>
          </a:bodyPr>
          <a:lstStyle/>
          <a:p>
            <a:r>
              <a:rPr sz="2000" b="0">
                <a:solidFill>
                  <a:srgbClr val="555960"/>
                </a:solidFill>
                <a:latin typeface="Calibri"/>
              </a:rPr>
              <a:t>How do we preserve invariants across overlapping operations?</a:t>
            </a:r>
          </a:p>
        </p:txBody>
      </p:sp>
      <p:sp>
        <p:nvSpPr>
          <p:cNvPr id="16" name="Card"/>
          <p:cNvSpPr/>
          <p:nvPr/>
        </p:nvSpPr>
        <p:spPr>
          <a:xfrm>
            <a:off x="411480" y="4855464"/>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wLabel"/>
          <p:cNvSpPr txBox="1"/>
          <p:nvPr/>
        </p:nvSpPr>
        <p:spPr>
          <a:xfrm>
            <a:off x="557784" y="4892040"/>
            <a:ext cx="2788920" cy="768096"/>
          </a:xfrm>
          <a:prstGeom prst="rect">
            <a:avLst/>
          </a:prstGeom>
          <a:noFill/>
        </p:spPr>
        <p:txBody>
          <a:bodyPr wrap="square">
            <a:spAutoFit/>
          </a:bodyPr>
          <a:lstStyle/>
          <a:p>
            <a:r>
              <a:rPr sz="2000" b="1">
                <a:solidFill>
                  <a:srgbClr val="8E6F3E"/>
                </a:solidFill>
                <a:latin typeface="Calibri"/>
              </a:rPr>
              <a:t>Evolution and synthesis</a:t>
            </a:r>
          </a:p>
        </p:txBody>
      </p:sp>
      <p:sp>
        <p:nvSpPr>
          <p:cNvPr id="18" name="RowBody"/>
          <p:cNvSpPr txBox="1"/>
          <p:nvPr/>
        </p:nvSpPr>
        <p:spPr>
          <a:xfrm>
            <a:off x="3438144" y="4892040"/>
            <a:ext cx="5166360" cy="768096"/>
          </a:xfrm>
          <a:prstGeom prst="rect">
            <a:avLst/>
          </a:prstGeom>
          <a:noFill/>
        </p:spPr>
        <p:txBody>
          <a:bodyPr wrap="square">
            <a:spAutoFit/>
          </a:bodyPr>
          <a:lstStyle/>
          <a:p>
            <a:r>
              <a:rPr sz="2000" b="0">
                <a:solidFill>
                  <a:srgbClr val="555960"/>
                </a:solidFill>
                <a:latin typeface="Calibri"/>
              </a:rPr>
              <a:t>How do data models change, and what have we decided?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Our service keeps every reservation in memory</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Tuesday ended with the service deployed. What breaks first?</a:t>
            </a:r>
          </a:p>
        </p:txBody>
      </p:sp>
      <p:sp>
        <p:nvSpPr>
          <p:cNvPr id="4" name="Card"/>
          <p:cNvSpPr/>
          <p:nvPr/>
        </p:nvSpPr>
        <p:spPr>
          <a:xfrm>
            <a:off x="411480" y="1417320"/>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ardLeft"/>
          <p:cNvSpPr txBox="1"/>
          <p:nvPr/>
        </p:nvSpPr>
        <p:spPr>
          <a:xfrm>
            <a:off x="557784" y="1490472"/>
            <a:ext cx="3611880" cy="1152144"/>
          </a:xfrm>
          <a:prstGeom prst="rect">
            <a:avLst/>
          </a:prstGeom>
          <a:noFill/>
        </p:spPr>
        <p:txBody>
          <a:bodyPr wrap="square">
            <a:spAutoFit/>
          </a:bodyPr>
          <a:lstStyle/>
          <a:p>
            <a:pPr algn="l">
              <a:spcAft>
                <a:spcPts val="200"/>
              </a:spcAft>
            </a:pPr>
            <a:r>
              <a:rPr sz="2000" b="1">
                <a:solidFill>
                  <a:srgbClr val="8E6F3E"/>
                </a:solidFill>
                <a:latin typeface="Calibri"/>
              </a:rPr>
              <a:t>THE PROCESS RESTARTS</a:t>
            </a:r>
          </a:p>
          <a:p>
            <a:pPr algn="l">
              <a:spcAft>
                <a:spcPts val="400"/>
              </a:spcAft>
            </a:pPr>
            <a:r>
              <a:rPr sz="2000" b="0">
                <a:solidFill>
                  <a:srgbClr val="5C4826"/>
                </a:solidFill>
                <a:latin typeface="Calibri"/>
              </a:rPr>
              <a:t>Every reservation is gone</a:t>
            </a:r>
          </a:p>
        </p:txBody>
      </p:sp>
      <p:sp>
        <p:nvSpPr>
          <p:cNvPr id="6" name="CardRight"/>
          <p:cNvSpPr txBox="1"/>
          <p:nvPr/>
        </p:nvSpPr>
        <p:spPr>
          <a:xfrm>
            <a:off x="4343400" y="1490472"/>
            <a:ext cx="4251960" cy="1152144"/>
          </a:xfrm>
          <a:prstGeom prst="rect">
            <a:avLst/>
          </a:prstGeom>
          <a:noFill/>
        </p:spPr>
        <p:txBody>
          <a:bodyPr wrap="square">
            <a:spAutoFit/>
          </a:bodyPr>
          <a:lstStyle/>
          <a:p>
            <a:pPr algn="l">
              <a:spcAft>
                <a:spcPts val="200"/>
              </a:spcAft>
            </a:pPr>
            <a:r>
              <a:rPr sz="2000" b="1">
                <a:solidFill>
                  <a:srgbClr val="5C4826"/>
                </a:solidFill>
                <a:latin typeface="Calibri"/>
              </a:rPr>
              <a:t>Persistence</a:t>
            </a:r>
          </a:p>
          <a:p>
            <a:pPr algn="l">
              <a:spcAft>
                <a:spcPts val="400"/>
              </a:spcAft>
            </a:pPr>
            <a:r>
              <a:rPr sz="2000" b="0">
                <a:solidFill>
                  <a:srgbClr val="555960"/>
                </a:solidFill>
                <a:latin typeface="Calibri"/>
              </a:rPr>
              <a:t>Information must outlive the process that wrote it</a:t>
            </a:r>
          </a:p>
        </p:txBody>
      </p:sp>
      <p:sp>
        <p:nvSpPr>
          <p:cNvPr id="7" name="Card"/>
          <p:cNvSpPr/>
          <p:nvPr/>
        </p:nvSpPr>
        <p:spPr>
          <a:xfrm>
            <a:off x="411480" y="2862072"/>
            <a:ext cx="8321040" cy="12984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Left"/>
          <p:cNvSpPr txBox="1"/>
          <p:nvPr/>
        </p:nvSpPr>
        <p:spPr>
          <a:xfrm>
            <a:off x="557784" y="2935224"/>
            <a:ext cx="3611880" cy="1152144"/>
          </a:xfrm>
          <a:prstGeom prst="rect">
            <a:avLst/>
          </a:prstGeom>
          <a:noFill/>
        </p:spPr>
        <p:txBody>
          <a:bodyPr wrap="square">
            <a:spAutoFit/>
          </a:bodyPr>
          <a:lstStyle/>
          <a:p>
            <a:pPr algn="l">
              <a:spcAft>
                <a:spcPts val="200"/>
              </a:spcAft>
            </a:pPr>
            <a:r>
              <a:rPr sz="2000" b="1">
                <a:solidFill>
                  <a:srgbClr val="8E6F3E"/>
                </a:solidFill>
                <a:latin typeface="Calibri"/>
              </a:rPr>
              <a:t>WE ADD A SECOND REPLICA</a:t>
            </a:r>
          </a:p>
          <a:p>
            <a:pPr algn="l">
              <a:spcAft>
                <a:spcPts val="400"/>
              </a:spcAft>
            </a:pPr>
            <a:r>
              <a:rPr sz="2000" b="0">
                <a:solidFill>
                  <a:srgbClr val="5C4826"/>
                </a:solidFill>
                <a:latin typeface="Calibri"/>
              </a:rPr>
              <a:t>Two copies, two different truths</a:t>
            </a:r>
          </a:p>
        </p:txBody>
      </p:sp>
      <p:sp>
        <p:nvSpPr>
          <p:cNvPr id="9" name="CardRight"/>
          <p:cNvSpPr txBox="1"/>
          <p:nvPr/>
        </p:nvSpPr>
        <p:spPr>
          <a:xfrm>
            <a:off x="4343400" y="2935224"/>
            <a:ext cx="4251960" cy="1152144"/>
          </a:xfrm>
          <a:prstGeom prst="rect">
            <a:avLst/>
          </a:prstGeom>
          <a:noFill/>
        </p:spPr>
        <p:txBody>
          <a:bodyPr wrap="square">
            <a:spAutoFit/>
          </a:bodyPr>
          <a:lstStyle/>
          <a:p>
            <a:pPr algn="l">
              <a:spcAft>
                <a:spcPts val="200"/>
              </a:spcAft>
            </a:pPr>
            <a:r>
              <a:rPr sz="2000" b="1">
                <a:solidFill>
                  <a:srgbClr val="5C4826"/>
                </a:solidFill>
                <a:latin typeface="Calibri"/>
              </a:rPr>
              <a:t>Sharing</a:t>
            </a:r>
          </a:p>
          <a:p>
            <a:pPr algn="l">
              <a:spcAft>
                <a:spcPts val="400"/>
              </a:spcAft>
            </a:pPr>
            <a:r>
              <a:rPr sz="2000" b="0">
                <a:solidFill>
                  <a:srgbClr val="555960"/>
                </a:solidFill>
                <a:latin typeface="Calibri"/>
              </a:rPr>
              <a:t>Multiple application instances must access a coherent shared state</a:t>
            </a:r>
          </a:p>
        </p:txBody>
      </p:sp>
      <p:sp>
        <p:nvSpPr>
          <p:cNvPr id="10" name="Card"/>
          <p:cNvSpPr/>
          <p:nvPr/>
        </p:nvSpPr>
        <p:spPr>
          <a:xfrm>
            <a:off x="411480" y="4306824"/>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CardLeft"/>
          <p:cNvSpPr txBox="1"/>
          <p:nvPr/>
        </p:nvSpPr>
        <p:spPr>
          <a:xfrm>
            <a:off x="557784" y="4379976"/>
            <a:ext cx="3611880" cy="1152144"/>
          </a:xfrm>
          <a:prstGeom prst="rect">
            <a:avLst/>
          </a:prstGeom>
          <a:noFill/>
        </p:spPr>
        <p:txBody>
          <a:bodyPr wrap="square">
            <a:spAutoFit/>
          </a:bodyPr>
          <a:lstStyle/>
          <a:p>
            <a:pPr algn="l">
              <a:spcAft>
                <a:spcPts val="200"/>
              </a:spcAft>
            </a:pPr>
            <a:r>
              <a:rPr sz="2000" b="1">
                <a:solidFill>
                  <a:srgbClr val="8E6F3E"/>
                </a:solidFill>
                <a:latin typeface="Calibri"/>
              </a:rPr>
              <a:t>TWO REQUESTS ARRIVE AT ONCE</a:t>
            </a:r>
          </a:p>
          <a:p>
            <a:pPr algn="l">
              <a:spcAft>
                <a:spcPts val="400"/>
              </a:spcAft>
            </a:pPr>
            <a:r>
              <a:rPr sz="2000" b="0">
                <a:solidFill>
                  <a:srgbClr val="5C4826"/>
                </a:solidFill>
                <a:latin typeface="Calibri"/>
              </a:rPr>
              <a:t>Both see the room as free</a:t>
            </a:r>
          </a:p>
        </p:txBody>
      </p:sp>
      <p:sp>
        <p:nvSpPr>
          <p:cNvPr id="12" name="CardRight"/>
          <p:cNvSpPr txBox="1"/>
          <p:nvPr/>
        </p:nvSpPr>
        <p:spPr>
          <a:xfrm>
            <a:off x="4343400" y="4379976"/>
            <a:ext cx="4251960" cy="1152144"/>
          </a:xfrm>
          <a:prstGeom prst="rect">
            <a:avLst/>
          </a:prstGeom>
          <a:noFill/>
        </p:spPr>
        <p:txBody>
          <a:bodyPr wrap="square">
            <a:spAutoFit/>
          </a:bodyPr>
          <a:lstStyle/>
          <a:p>
            <a:pPr algn="l">
              <a:spcAft>
                <a:spcPts val="200"/>
              </a:spcAft>
            </a:pPr>
            <a:r>
              <a:rPr sz="2000" b="1">
                <a:solidFill>
                  <a:srgbClr val="5C4826"/>
                </a:solidFill>
                <a:latin typeface="Calibri"/>
              </a:rPr>
              <a:t>Concurrency</a:t>
            </a:r>
          </a:p>
          <a:p>
            <a:pPr algn="l">
              <a:spcAft>
                <a:spcPts val="400"/>
              </a:spcAft>
            </a:pPr>
            <a:r>
              <a:rPr sz="2000" b="0">
                <a:solidFill>
                  <a:srgbClr val="555960"/>
                </a:solidFill>
                <a:latin typeface="Calibri"/>
              </a:rPr>
              <a:t>Overlapping operations must not corrupt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database is an engineering component, not a language</a:t>
            </a:r>
          </a:p>
        </p:txBody>
      </p:sp>
      <p:sp>
        <p:nvSpPr>
          <p:cNvPr id="3" name="Card"/>
          <p:cNvSpPr/>
          <p:nvPr/>
        </p:nvSpPr>
        <p:spPr>
          <a:xfrm>
            <a:off x="411480" y="868680"/>
            <a:ext cx="4069080" cy="18288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960120"/>
            <a:ext cx="3776472" cy="1645920"/>
          </a:xfrm>
          <a:prstGeom prst="rect">
            <a:avLst/>
          </a:prstGeom>
          <a:noFill/>
        </p:spPr>
        <p:txBody>
          <a:bodyPr wrap="square">
            <a:spAutoFit/>
          </a:bodyPr>
          <a:lstStyle/>
          <a:p>
            <a:pPr algn="l">
              <a:spcAft>
                <a:spcPts val="600"/>
              </a:spcAft>
            </a:pPr>
            <a:r>
              <a:rPr sz="2000" b="1">
                <a:solidFill>
                  <a:srgbClr val="8E6F3E"/>
                </a:solidFill>
                <a:latin typeface="Calibri"/>
              </a:rPr>
              <a:t>WHAT YOU DELEGATE TO IT</a:t>
            </a:r>
          </a:p>
          <a:p>
            <a:pPr algn="l">
              <a:spcAft>
                <a:spcPts val="400"/>
              </a:spcAft>
            </a:pPr>
            <a:r>
              <a:rPr sz="2000" b="0">
                <a:solidFill>
                  <a:srgbClr val="5C4826"/>
                </a:solidFill>
                <a:latin typeface="Calibri"/>
              </a:rPr>
              <a:t>Representing your domain's facts</a:t>
            </a:r>
          </a:p>
          <a:p>
            <a:pPr algn="l">
              <a:spcAft>
                <a:spcPts val="400"/>
              </a:spcAft>
            </a:pPr>
            <a:r>
              <a:rPr sz="2000" b="0">
                <a:solidFill>
                  <a:srgbClr val="5C4826"/>
                </a:solidFill>
                <a:latin typeface="Calibri"/>
              </a:rPr>
              <a:t>Retrieving them on demand</a:t>
            </a:r>
          </a:p>
          <a:p>
            <a:pPr algn="l">
              <a:spcAft>
                <a:spcPts val="400"/>
              </a:spcAft>
            </a:pPr>
            <a:r>
              <a:rPr sz="2000" b="0">
                <a:solidFill>
                  <a:srgbClr val="5C4826"/>
                </a:solidFill>
                <a:latin typeface="Calibri"/>
              </a:rPr>
              <a:t>Durability across failures</a:t>
            </a:r>
          </a:p>
          <a:p>
            <a:pPr algn="l">
              <a:spcAft>
                <a:spcPts val="400"/>
              </a:spcAft>
            </a:pPr>
            <a:r>
              <a:rPr sz="2000" b="0">
                <a:solidFill>
                  <a:srgbClr val="5C4826"/>
                </a:solidFill>
                <a:latin typeface="Calibri"/>
              </a:rPr>
              <a:t>Concurrency control under load</a:t>
            </a:r>
          </a:p>
        </p:txBody>
      </p:sp>
      <p:sp>
        <p:nvSpPr>
          <p:cNvPr id="5" name="Card"/>
          <p:cNvSpPr/>
          <p:nvPr/>
        </p:nvSpPr>
        <p:spPr>
          <a:xfrm>
            <a:off x="4663440" y="868680"/>
            <a:ext cx="4069080" cy="18288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960120"/>
            <a:ext cx="3776472" cy="1645920"/>
          </a:xfrm>
          <a:prstGeom prst="rect">
            <a:avLst/>
          </a:prstGeom>
          <a:noFill/>
        </p:spPr>
        <p:txBody>
          <a:bodyPr wrap="square">
            <a:spAutoFit/>
          </a:bodyPr>
          <a:lstStyle/>
          <a:p>
            <a:pPr algn="l">
              <a:spcAft>
                <a:spcPts val="600"/>
              </a:spcAft>
            </a:pPr>
            <a:r>
              <a:rPr sz="2000" b="1">
                <a:solidFill>
                  <a:srgbClr val="8E6F3E"/>
                </a:solidFill>
                <a:latin typeface="Calibri"/>
              </a:rPr>
              <a:t>WHAT IT IS NOT</a:t>
            </a:r>
          </a:p>
          <a:p>
            <a:pPr algn="l">
              <a:spcAft>
                <a:spcPts val="400"/>
              </a:spcAft>
            </a:pPr>
            <a:r>
              <a:rPr sz="2000" b="0">
                <a:solidFill>
                  <a:srgbClr val="5C4826"/>
                </a:solidFill>
                <a:latin typeface="Calibri"/>
              </a:rPr>
              <a:t>A synonym for SQL</a:t>
            </a:r>
          </a:p>
          <a:p>
            <a:pPr algn="l">
              <a:spcAft>
                <a:spcPts val="400"/>
              </a:spcAft>
            </a:pPr>
            <a:r>
              <a:rPr sz="2000" b="0">
                <a:solidFill>
                  <a:srgbClr val="5C4826"/>
                </a:solidFill>
                <a:latin typeface="Calibri"/>
              </a:rPr>
              <a:t>One product category</a:t>
            </a:r>
          </a:p>
          <a:p>
            <a:pPr algn="l">
              <a:spcAft>
                <a:spcPts val="400"/>
              </a:spcAft>
            </a:pPr>
            <a:r>
              <a:rPr sz="2000" b="0">
                <a:solidFill>
                  <a:srgbClr val="5C4826"/>
                </a:solidFill>
                <a:latin typeface="Calibri"/>
              </a:rPr>
              <a:t>A place where correctness happens automatically</a:t>
            </a:r>
          </a:p>
        </p:txBody>
      </p:sp>
      <p:sp>
        <p:nvSpPr>
          <p:cNvPr id="7" name="Label"/>
          <p:cNvSpPr txBox="1"/>
          <p:nvPr/>
        </p:nvSpPr>
        <p:spPr>
          <a:xfrm>
            <a:off x="411480" y="2880360"/>
            <a:ext cx="8321040" cy="384048"/>
          </a:xfrm>
          <a:prstGeom prst="rect">
            <a:avLst/>
          </a:prstGeom>
          <a:noFill/>
        </p:spPr>
        <p:txBody>
          <a:bodyPr wrap="square">
            <a:spAutoFit/>
          </a:bodyPr>
          <a:lstStyle/>
          <a:p>
            <a:r>
              <a:rPr sz="2000" b="1">
                <a:solidFill>
                  <a:srgbClr val="8E6F3E"/>
                </a:solidFill>
                <a:latin typeface="Calibri"/>
              </a:rPr>
              <a:t>Storage mechanisms: a separate axis from the data model</a:t>
            </a:r>
          </a:p>
        </p:txBody>
      </p:sp>
      <p:graphicFrame>
        <p:nvGraphicFramePr>
          <p:cNvPr id="8" name="MechanismTable"/>
          <p:cNvGraphicFramePr>
            <a:graphicFrameLocks noGrp="1"/>
          </p:cNvGraphicFramePr>
          <p:nvPr/>
        </p:nvGraphicFramePr>
        <p:xfrm>
          <a:off x="411480" y="3310128"/>
          <a:ext cx="8321040" cy="2377440"/>
        </p:xfrm>
        <a:graphic>
          <a:graphicData uri="http://schemas.openxmlformats.org/drawingml/2006/table">
            <a:tbl>
              <a:tblPr firstRow="0" bandRow="0">
                <a:tableStyleId>{5C22544A-7EE6-4342-B048-85BDC9FD1C3A}</a:tableStyleId>
              </a:tblPr>
              <a:tblGrid>
                <a:gridCol w="2240280"/>
                <a:gridCol w="2148840"/>
                <a:gridCol w="3931920"/>
              </a:tblGrid>
              <a:tr h="475488">
                <a:tc>
                  <a:txBody>
                    <a:bodyPr/>
                    <a:lstStyle/>
                    <a:p>
                      <a:r>
                        <a:rPr sz="2000" b="1">
                          <a:solidFill>
                            <a:srgbClr val="FFFFFF"/>
                          </a:solidFill>
                          <a:latin typeface="Calibri"/>
                        </a:rPr>
                        <a:t>Mechanism</a:t>
                      </a:r>
                    </a:p>
                  </a:txBody>
                  <a:tcPr>
                    <a:solidFill>
                      <a:srgbClr val="8E6F3E"/>
                    </a:solidFill>
                  </a:tcPr>
                </a:tc>
                <a:tc>
                  <a:txBody>
                    <a:bodyPr/>
                    <a:lstStyle/>
                    <a:p>
                      <a:r>
                        <a:rPr sz="2000" b="1">
                          <a:solidFill>
                            <a:srgbClr val="FFFFFF"/>
                          </a:solidFill>
                          <a:latin typeface="Calibri"/>
                        </a:rPr>
                        <a:t>Example</a:t>
                      </a:r>
                    </a:p>
                  </a:txBody>
                  <a:tcPr>
                    <a:solidFill>
                      <a:srgbClr val="8E6F3E"/>
                    </a:solidFill>
                  </a:tcPr>
                </a:tc>
                <a:tc>
                  <a:txBody>
                    <a:bodyPr/>
                    <a:lstStyle/>
                    <a:p>
                      <a:r>
                        <a:rPr sz="2000" b="1">
                          <a:solidFill>
                            <a:srgbClr val="FFFFFF"/>
                          </a:solidFill>
                          <a:latin typeface="Calibri"/>
                        </a:rPr>
                        <a:t>Appropriate when</a:t>
                      </a:r>
                    </a:p>
                  </a:txBody>
                  <a:tcPr>
                    <a:solidFill>
                      <a:srgbClr val="8E6F3E"/>
                    </a:solidFill>
                  </a:tcPr>
                </a:tc>
              </a:tr>
              <a:tr h="475488">
                <a:tc>
                  <a:txBody>
                    <a:bodyPr/>
                    <a:lstStyle/>
                    <a:p>
                      <a:r>
                        <a:rPr sz="2000" b="1">
                          <a:solidFill>
                            <a:srgbClr val="8E6F3E"/>
                          </a:solidFill>
                          <a:latin typeface="Calibri"/>
                        </a:rPr>
                        <a:t>Flat files</a:t>
                      </a:r>
                    </a:p>
                  </a:txBody>
                  <a:tcPr>
                    <a:solidFill>
                      <a:srgbClr val="F5F1E8"/>
                    </a:solidFill>
                  </a:tcPr>
                </a:tc>
                <a:tc>
                  <a:txBody>
                    <a:bodyPr/>
                    <a:lstStyle/>
                    <a:p>
                      <a:r>
                        <a:rPr sz="2000" b="0">
                          <a:solidFill>
                            <a:srgbClr val="2D2D2D"/>
                          </a:solidFill>
                          <a:latin typeface="Calibri"/>
                        </a:rPr>
                        <a:t>JSON, YAML, CSV</a:t>
                      </a:r>
                    </a:p>
                  </a:txBody>
                  <a:tcPr>
                    <a:solidFill>
                      <a:srgbClr val="F5F1E8"/>
                    </a:solidFill>
                  </a:tcPr>
                </a:tc>
                <a:tc>
                  <a:txBody>
                    <a:bodyPr/>
                    <a:lstStyle/>
                    <a:p>
                      <a:r>
                        <a:rPr sz="2000" b="0">
                          <a:solidFill>
                            <a:srgbClr val="2D2D2D"/>
                          </a:solidFill>
                          <a:latin typeface="Calibri"/>
                        </a:rPr>
                        <a:t>Small data, config, infrequent updates</a:t>
                      </a:r>
                    </a:p>
                  </a:txBody>
                  <a:tcPr>
                    <a:solidFill>
                      <a:srgbClr val="F5F1E8"/>
                    </a:solidFill>
                  </a:tcPr>
                </a:tc>
              </a:tr>
              <a:tr h="475488">
                <a:tc>
                  <a:txBody>
                    <a:bodyPr/>
                    <a:lstStyle/>
                    <a:p>
                      <a:r>
                        <a:rPr sz="2000" b="1">
                          <a:solidFill>
                            <a:srgbClr val="8E6F3E"/>
                          </a:solidFill>
                          <a:latin typeface="Calibri"/>
                        </a:rPr>
                        <a:t>Embedded database</a:t>
                      </a:r>
                    </a:p>
                  </a:txBody>
                  <a:tcPr>
                    <a:solidFill>
                      <a:srgbClr val="FCFAF6"/>
                    </a:solidFill>
                  </a:tcPr>
                </a:tc>
                <a:tc>
                  <a:txBody>
                    <a:bodyPr/>
                    <a:lstStyle/>
                    <a:p>
                      <a:r>
                        <a:rPr sz="2000" b="0">
                          <a:solidFill>
                            <a:srgbClr val="2D2D2D"/>
                          </a:solidFill>
                          <a:latin typeface="Calibri"/>
                        </a:rPr>
                        <a:t>SQLite</a:t>
                      </a:r>
                    </a:p>
                  </a:txBody>
                  <a:tcPr>
                    <a:solidFill>
                      <a:srgbClr val="FCFAF6"/>
                    </a:solidFill>
                  </a:tcPr>
                </a:tc>
                <a:tc>
                  <a:txBody>
                    <a:bodyPr/>
                    <a:lstStyle/>
                    <a:p>
                      <a:r>
                        <a:rPr sz="2000" b="0">
                          <a:solidFill>
                            <a:srgbClr val="2D2D2D"/>
                          </a:solidFill>
                          <a:latin typeface="Calibri"/>
                        </a:rPr>
                        <a:t>Local state, queries, transactions</a:t>
                      </a:r>
                    </a:p>
                  </a:txBody>
                  <a:tcPr>
                    <a:solidFill>
                      <a:srgbClr val="FCFAF6"/>
                    </a:solidFill>
                  </a:tcPr>
                </a:tc>
              </a:tr>
              <a:tr h="475488">
                <a:tc>
                  <a:txBody>
                    <a:bodyPr/>
                    <a:lstStyle/>
                    <a:p>
                      <a:r>
                        <a:rPr sz="2000" b="1">
                          <a:solidFill>
                            <a:srgbClr val="8E6F3E"/>
                          </a:solidFill>
                          <a:latin typeface="Calibri"/>
                        </a:rPr>
                        <a:t>Database server</a:t>
                      </a:r>
                    </a:p>
                  </a:txBody>
                  <a:tcPr>
                    <a:solidFill>
                      <a:srgbClr val="F5F1E8"/>
                    </a:solidFill>
                  </a:tcPr>
                </a:tc>
                <a:tc>
                  <a:txBody>
                    <a:bodyPr/>
                    <a:lstStyle/>
                    <a:p>
                      <a:r>
                        <a:rPr sz="2000" b="0">
                          <a:solidFill>
                            <a:srgbClr val="2D2D2D"/>
                          </a:solidFill>
                          <a:latin typeface="Calibri"/>
                        </a:rPr>
                        <a:t>PostgreSQL</a:t>
                      </a:r>
                    </a:p>
                  </a:txBody>
                  <a:tcPr>
                    <a:solidFill>
                      <a:srgbClr val="F5F1E8"/>
                    </a:solidFill>
                  </a:tcPr>
                </a:tc>
                <a:tc>
                  <a:txBody>
                    <a:bodyPr/>
                    <a:lstStyle/>
                    <a:p>
                      <a:r>
                        <a:rPr sz="2000" b="0">
                          <a:solidFill>
                            <a:srgbClr val="2D2D2D"/>
                          </a:solidFill>
                          <a:latin typeface="Calibri"/>
                        </a:rPr>
                        <a:t>Shared state, many clients, constraints</a:t>
                      </a:r>
                    </a:p>
                  </a:txBody>
                  <a:tcPr>
                    <a:solidFill>
                      <a:srgbClr val="F5F1E8"/>
                    </a:solidFill>
                  </a:tcPr>
                </a:tc>
              </a:tr>
              <a:tr h="475488">
                <a:tc>
                  <a:txBody>
                    <a:bodyPr/>
                    <a:lstStyle/>
                    <a:p>
                      <a:r>
                        <a:rPr sz="2000" b="1">
                          <a:solidFill>
                            <a:srgbClr val="8E6F3E"/>
                          </a:solidFill>
                          <a:latin typeface="Calibri"/>
                        </a:rPr>
                        <a:t>Distributed database</a:t>
                      </a:r>
                    </a:p>
                  </a:txBody>
                  <a:tcPr>
                    <a:solidFill>
                      <a:srgbClr val="FCFAF6"/>
                    </a:solidFill>
                  </a:tcPr>
                </a:tc>
                <a:tc>
                  <a:txBody>
                    <a:bodyPr/>
                    <a:lstStyle/>
                    <a:p>
                      <a:r>
                        <a:rPr sz="2000" b="0">
                          <a:solidFill>
                            <a:srgbClr val="2D2D2D"/>
                          </a:solidFill>
                          <a:latin typeface="Calibri"/>
                        </a:rPr>
                        <a:t>many SQL and NoSQL</a:t>
                      </a:r>
                    </a:p>
                  </a:txBody>
                  <a:tcPr>
                    <a:solidFill>
                      <a:srgbClr val="FCFAF6"/>
                    </a:solidFill>
                  </a:tcPr>
                </a:tc>
                <a:tc>
                  <a:txBody>
                    <a:bodyPr/>
                    <a:lstStyle/>
                    <a:p>
                      <a:r>
                        <a:rPr sz="2000" b="0">
                          <a:solidFill>
                            <a:srgbClr val="2D2D2D"/>
                          </a:solidFill>
                          <a:latin typeface="Calibri"/>
                        </a:rPr>
                        <a:t>Scale, replication, geographic spread</a:t>
                      </a:r>
                    </a:p>
                  </a:txBody>
                  <a:tcPr>
                    <a:solidFill>
                      <a:srgbClr val="FCFAF6"/>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abstract model of a database: five dimensions</a:t>
            </a:r>
          </a:p>
        </p:txBody>
      </p:sp>
      <p:sp>
        <p:nvSpPr>
          <p:cNvPr id="3" name="Card"/>
          <p:cNvSpPr/>
          <p:nvPr/>
        </p:nvSpPr>
        <p:spPr>
          <a:xfrm>
            <a:off x="411480" y="9144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Data model</a:t>
            </a:r>
          </a:p>
        </p:txBody>
      </p:sp>
      <p:sp>
        <p:nvSpPr>
          <p:cNvPr id="5" name="RowBody"/>
          <p:cNvSpPr txBox="1"/>
          <p:nvPr/>
        </p:nvSpPr>
        <p:spPr>
          <a:xfrm>
            <a:off x="2752344" y="9509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is information represented?</a:t>
            </a:r>
          </a:p>
          <a:p>
            <a:pPr algn="l">
              <a:spcAft>
                <a:spcPts val="400"/>
              </a:spcAft>
            </a:pPr>
            <a:r>
              <a:rPr sz="2000" b="0">
                <a:solidFill>
                  <a:srgbClr val="555960"/>
                </a:solidFill>
                <a:latin typeface="Calibri"/>
              </a:rPr>
              <a:t>relations · documents · key-value pairs · graphs</a:t>
            </a:r>
          </a:p>
        </p:txBody>
      </p:sp>
      <p:sp>
        <p:nvSpPr>
          <p:cNvPr id="6" name="Card"/>
          <p:cNvSpPr/>
          <p:nvPr/>
        </p:nvSpPr>
        <p:spPr>
          <a:xfrm>
            <a:off x="411480" y="18288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8653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Semantics</a:t>
            </a:r>
          </a:p>
        </p:txBody>
      </p:sp>
      <p:sp>
        <p:nvSpPr>
          <p:cNvPr id="8" name="RowBody"/>
          <p:cNvSpPr txBox="1"/>
          <p:nvPr/>
        </p:nvSpPr>
        <p:spPr>
          <a:xfrm>
            <a:off x="2752344" y="18653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does it promise about the data?</a:t>
            </a:r>
          </a:p>
          <a:p>
            <a:pPr algn="l">
              <a:spcAft>
                <a:spcPts val="400"/>
              </a:spcAft>
            </a:pPr>
            <a:r>
              <a:rPr sz="2000" b="0">
                <a:solidFill>
                  <a:srgbClr val="555960"/>
                </a:solidFill>
                <a:latin typeface="Calibri"/>
              </a:rPr>
              <a:t>schema constraints · durability · consistency</a:t>
            </a:r>
          </a:p>
        </p:txBody>
      </p:sp>
      <p:sp>
        <p:nvSpPr>
          <p:cNvPr id="9" name="Card"/>
          <p:cNvSpPr/>
          <p:nvPr/>
        </p:nvSpPr>
        <p:spPr>
          <a:xfrm>
            <a:off x="411480" y="27432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7797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Query interface</a:t>
            </a:r>
          </a:p>
        </p:txBody>
      </p:sp>
      <p:sp>
        <p:nvSpPr>
          <p:cNvPr id="11" name="RowBody"/>
          <p:cNvSpPr txBox="1"/>
          <p:nvPr/>
        </p:nvSpPr>
        <p:spPr>
          <a:xfrm>
            <a:off x="2752344" y="27797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the app express its needs?</a:t>
            </a:r>
          </a:p>
          <a:p>
            <a:pPr algn="l">
              <a:spcAft>
                <a:spcPts val="400"/>
              </a:spcAft>
            </a:pPr>
            <a:r>
              <a:rPr sz="2000" b="0">
                <a:solidFill>
                  <a:srgbClr val="555960"/>
                </a:solidFill>
                <a:latin typeface="Calibri"/>
              </a:rPr>
              <a:t>SQL · document queries · ORM</a:t>
            </a:r>
          </a:p>
        </p:txBody>
      </p:sp>
      <p:sp>
        <p:nvSpPr>
          <p:cNvPr id="12" name="Card"/>
          <p:cNvSpPr/>
          <p:nvPr/>
        </p:nvSpPr>
        <p:spPr>
          <a:xfrm>
            <a:off x="411480" y="36576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6941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Concurrency</a:t>
            </a:r>
          </a:p>
        </p:txBody>
      </p:sp>
      <p:sp>
        <p:nvSpPr>
          <p:cNvPr id="14" name="RowBody"/>
          <p:cNvSpPr txBox="1"/>
          <p:nvPr/>
        </p:nvSpPr>
        <p:spPr>
          <a:xfrm>
            <a:off x="2752344" y="36941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happens when operations overlap?</a:t>
            </a:r>
          </a:p>
          <a:p>
            <a:pPr algn="l">
              <a:spcAft>
                <a:spcPts val="400"/>
              </a:spcAft>
            </a:pPr>
            <a:r>
              <a:rPr sz="2000" b="0">
                <a:solidFill>
                  <a:srgbClr val="555960"/>
                </a:solidFill>
                <a:latin typeface="Calibri"/>
              </a:rPr>
              <a:t>transactions · isolation · optimistic control</a:t>
            </a:r>
          </a:p>
        </p:txBody>
      </p:sp>
      <p:sp>
        <p:nvSpPr>
          <p:cNvPr id="15" name="Card"/>
          <p:cNvSpPr/>
          <p:nvPr/>
        </p:nvSpPr>
        <p:spPr>
          <a:xfrm>
            <a:off x="411480" y="45720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wLabel"/>
          <p:cNvSpPr txBox="1"/>
          <p:nvPr/>
        </p:nvSpPr>
        <p:spPr>
          <a:xfrm>
            <a:off x="557784" y="46085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Scalability</a:t>
            </a:r>
          </a:p>
        </p:txBody>
      </p:sp>
      <p:sp>
        <p:nvSpPr>
          <p:cNvPr id="17" name="RowBody"/>
          <p:cNvSpPr txBox="1"/>
          <p:nvPr/>
        </p:nvSpPr>
        <p:spPr>
          <a:xfrm>
            <a:off x="2752344" y="46085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it behave as demand grows?</a:t>
            </a:r>
          </a:p>
          <a:p>
            <a:pPr algn="l">
              <a:spcAft>
                <a:spcPts val="400"/>
              </a:spcAft>
            </a:pPr>
            <a:r>
              <a:rPr sz="2000" b="0">
                <a:solidFill>
                  <a:srgbClr val="555960"/>
                </a:solidFill>
                <a:latin typeface="Calibri"/>
              </a:rPr>
              <a:t>indexing · replication · partitioning</a:t>
            </a:r>
          </a:p>
        </p:txBody>
      </p:sp>
      <p:sp>
        <p:nvSpPr>
          <p:cNvPr id="18" name="OperationsNote"/>
          <p:cNvSpPr txBox="1"/>
          <p:nvPr/>
        </p:nvSpPr>
        <p:spPr>
          <a:xfrm>
            <a:off x="411480" y="5504688"/>
            <a:ext cx="8321040" cy="347472"/>
          </a:xfrm>
          <a:prstGeom prst="rect">
            <a:avLst/>
          </a:prstGeom>
          <a:noFill/>
        </p:spPr>
        <p:txBody>
          <a:bodyPr wrap="square">
            <a:spAutoFit/>
          </a:bodyPr>
          <a:lstStyle/>
          <a:p>
            <a:pPr algn="l">
              <a:spcAft>
                <a:spcPts val="400"/>
              </a:spcAft>
            </a:pPr>
            <a:r>
              <a:rPr sz="2000" b="0">
                <a:solidFill>
                  <a:srgbClr val="555960"/>
                </a:solidFill>
                <a:latin typeface="Calibri"/>
              </a:rPr>
              <a:t>A sixth, Operations (backup, recovery, migration), waits for Operations &amp; SRE</a:t>
            </a:r>
          </a:p>
        </p:txBody>
      </p:sp>
      <p:sp>
        <p:nvSpPr>
          <p:cNvPr id="1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Separate what the app REQUIRES from what the database GUARANTEES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Four ways to represent a reservation</a:t>
            </a:r>
          </a:p>
        </p:txBody>
      </p:sp>
      <p:sp>
        <p:nvSpPr>
          <p:cNvPr id="3" name="Card"/>
          <p:cNvSpPr/>
          <p:nvPr/>
        </p:nvSpPr>
        <p:spPr>
          <a:xfrm>
            <a:off x="411480" y="91440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ard"/>
          <p:cNvSpPr/>
          <p:nvPr/>
        </p:nvSpPr>
        <p:spPr>
          <a:xfrm>
            <a:off x="4663440" y="91440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
          <p:cNvSpPr/>
          <p:nvPr/>
        </p:nvSpPr>
        <p:spPr>
          <a:xfrm>
            <a:off x="411480" y="315468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rd"/>
          <p:cNvSpPr/>
          <p:nvPr/>
        </p:nvSpPr>
        <p:spPr>
          <a:xfrm>
            <a:off x="4663440" y="315468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QuadHeader"/>
          <p:cNvSpPr txBox="1"/>
          <p:nvPr/>
        </p:nvSpPr>
        <p:spPr>
          <a:xfrm>
            <a:off x="557784" y="987552"/>
            <a:ext cx="3776472" cy="347472"/>
          </a:xfrm>
          <a:prstGeom prst="rect">
            <a:avLst/>
          </a:prstGeom>
          <a:noFill/>
        </p:spPr>
        <p:txBody>
          <a:bodyPr wrap="square">
            <a:spAutoFit/>
          </a:bodyPr>
          <a:lstStyle/>
          <a:p>
            <a:r>
              <a:rPr sz="2000" b="1">
                <a:solidFill>
                  <a:srgbClr val="8E6F3E"/>
                </a:solidFill>
                <a:latin typeface="Calibri"/>
              </a:rPr>
              <a:t>RELATIONAL</a:t>
            </a:r>
          </a:p>
        </p:txBody>
      </p:sp>
      <p:sp>
        <p:nvSpPr>
          <p:cNvPr id="11" name="QuadFig"/>
          <p:cNvSpPr txBox="1"/>
          <p:nvPr/>
        </p:nvSpPr>
        <p:spPr>
          <a:xfrm>
            <a:off x="557784" y="1389888"/>
            <a:ext cx="3886200" cy="1188720"/>
          </a:xfrm>
          <a:prstGeom prst="rect">
            <a:avLst/>
          </a:prstGeom>
          <a:noFill/>
        </p:spPr>
        <p:txBody>
          <a:bodyPr wrap="square">
            <a:spAutoFit/>
          </a:bodyPr>
          <a:lstStyle/>
          <a:p>
            <a:r>
              <a:rPr sz="2000" b="0">
                <a:solidFill>
                  <a:srgbClr val="2D2D2D"/>
                </a:solidFill>
                <a:latin typeface="Consolas"/>
              </a:rPr>
              <a:t>rooms: 117 │ B-101</a:t>
            </a:r>
          </a:p>
          <a:p>
            <a:r>
              <a:rPr sz="2000" b="0">
                <a:solidFill>
                  <a:srgbClr val="2D2D2D"/>
                </a:solidFill>
                <a:latin typeface="Consolas"/>
              </a:rPr>
              <a:t>resv:  117 │ 10:00–11:00</a:t>
            </a:r>
          </a:p>
          <a:p>
            <a:r>
              <a:rPr sz="2000" b="0">
                <a:solidFill>
                  <a:srgbClr val="555960"/>
                </a:solidFill>
                <a:latin typeface="Calibri"/>
              </a:rPr>
              <a:t>room_id references rooms.id</a:t>
            </a:r>
          </a:p>
        </p:txBody>
      </p:sp>
      <p:sp>
        <p:nvSpPr>
          <p:cNvPr id="12" name="QuadHeader"/>
          <p:cNvSpPr txBox="1"/>
          <p:nvPr/>
        </p:nvSpPr>
        <p:spPr>
          <a:xfrm>
            <a:off x="4809744" y="987552"/>
            <a:ext cx="3776472" cy="347472"/>
          </a:xfrm>
          <a:prstGeom prst="rect">
            <a:avLst/>
          </a:prstGeom>
          <a:noFill/>
        </p:spPr>
        <p:txBody>
          <a:bodyPr wrap="square">
            <a:spAutoFit/>
          </a:bodyPr>
          <a:lstStyle/>
          <a:p>
            <a:r>
              <a:rPr sz="2000" b="1">
                <a:solidFill>
                  <a:srgbClr val="8E6F3E"/>
                </a:solidFill>
                <a:latin typeface="Calibri"/>
              </a:rPr>
              <a:t>DOCUMENT</a:t>
            </a:r>
          </a:p>
        </p:txBody>
      </p:sp>
      <p:sp>
        <p:nvSpPr>
          <p:cNvPr id="13" name="QuadFig"/>
          <p:cNvSpPr txBox="1"/>
          <p:nvPr/>
        </p:nvSpPr>
        <p:spPr>
          <a:xfrm>
            <a:off x="4809744" y="1389888"/>
            <a:ext cx="3886200" cy="1188720"/>
          </a:xfrm>
          <a:prstGeom prst="rect">
            <a:avLst/>
          </a:prstGeom>
          <a:noFill/>
        </p:spPr>
        <p:txBody>
          <a:bodyPr wrap="square">
            <a:spAutoFit/>
          </a:bodyPr>
          <a:lstStyle/>
          <a:p>
            <a:r>
              <a:rPr sz="2000" b="0">
                <a:solidFill>
                  <a:srgbClr val="2D2D2D"/>
                </a:solidFill>
                <a:latin typeface="Consolas"/>
              </a:rPr>
              <a:t>{"room": 117,</a:t>
            </a:r>
          </a:p>
          <a:p>
            <a:r>
              <a:rPr sz="2000" b="0">
                <a:solidFill>
                  <a:srgbClr val="2D2D2D"/>
                </a:solidFill>
                <a:latin typeface="Consolas"/>
              </a:rPr>
              <a:t> "reservations": [</a:t>
            </a:r>
          </a:p>
          <a:p>
            <a:r>
              <a:rPr sz="2000" b="0">
                <a:solidFill>
                  <a:srgbClr val="2D2D2D"/>
                </a:solidFill>
                <a:latin typeface="Consolas"/>
              </a:rPr>
              <a:t>  {"start": "10:00"} ]}</a:t>
            </a:r>
          </a:p>
        </p:txBody>
      </p:sp>
      <p:sp>
        <p:nvSpPr>
          <p:cNvPr id="14" name="QuadHeader"/>
          <p:cNvSpPr txBox="1"/>
          <p:nvPr/>
        </p:nvSpPr>
        <p:spPr>
          <a:xfrm>
            <a:off x="557784" y="3227832"/>
            <a:ext cx="3776472" cy="347472"/>
          </a:xfrm>
          <a:prstGeom prst="rect">
            <a:avLst/>
          </a:prstGeom>
          <a:noFill/>
        </p:spPr>
        <p:txBody>
          <a:bodyPr wrap="square">
            <a:spAutoFit/>
          </a:bodyPr>
          <a:lstStyle/>
          <a:p>
            <a:r>
              <a:rPr sz="2000" b="1">
                <a:solidFill>
                  <a:srgbClr val="8E6F3E"/>
                </a:solidFill>
                <a:latin typeface="Calibri"/>
              </a:rPr>
              <a:t>KEY-VALUE</a:t>
            </a:r>
          </a:p>
        </p:txBody>
      </p:sp>
      <p:sp>
        <p:nvSpPr>
          <p:cNvPr id="15" name="QuadFig"/>
          <p:cNvSpPr txBox="1"/>
          <p:nvPr/>
        </p:nvSpPr>
        <p:spPr>
          <a:xfrm>
            <a:off x="557784" y="3630168"/>
            <a:ext cx="3886200" cy="1188720"/>
          </a:xfrm>
          <a:prstGeom prst="rect">
            <a:avLst/>
          </a:prstGeom>
          <a:noFill/>
        </p:spPr>
        <p:txBody>
          <a:bodyPr wrap="square">
            <a:spAutoFit/>
          </a:bodyPr>
          <a:lstStyle/>
          <a:p>
            <a:r>
              <a:rPr sz="2000" b="0">
                <a:solidFill>
                  <a:srgbClr val="2D2D2D"/>
                </a:solidFill>
                <a:latin typeface="Consolas"/>
              </a:rPr>
              <a:t>room:117 → opaque value</a:t>
            </a:r>
          </a:p>
          <a:p>
            <a:r>
              <a:rPr sz="2000" b="0">
                <a:solidFill>
                  <a:srgbClr val="555960"/>
                </a:solidFill>
                <a:latin typeface="Calibri"/>
              </a:rPr>
              <a:t>fetched by key; the store never looks inside</a:t>
            </a:r>
          </a:p>
        </p:txBody>
      </p:sp>
      <p:sp>
        <p:nvSpPr>
          <p:cNvPr id="16" name="QuadHeader"/>
          <p:cNvSpPr txBox="1"/>
          <p:nvPr/>
        </p:nvSpPr>
        <p:spPr>
          <a:xfrm>
            <a:off x="4809744" y="3227832"/>
            <a:ext cx="3776472" cy="347472"/>
          </a:xfrm>
          <a:prstGeom prst="rect">
            <a:avLst/>
          </a:prstGeom>
          <a:noFill/>
        </p:spPr>
        <p:txBody>
          <a:bodyPr wrap="square">
            <a:spAutoFit/>
          </a:bodyPr>
          <a:lstStyle/>
          <a:p>
            <a:r>
              <a:rPr sz="2000" b="1">
                <a:solidFill>
                  <a:srgbClr val="8E6F3E"/>
                </a:solidFill>
                <a:latin typeface="Calibri"/>
              </a:rPr>
              <a:t>GRAPH</a:t>
            </a:r>
          </a:p>
        </p:txBody>
      </p:sp>
      <p:sp>
        <p:nvSpPr>
          <p:cNvPr id="17" name="Node"/>
          <p:cNvSpPr/>
          <p:nvPr/>
        </p:nvSpPr>
        <p:spPr>
          <a:xfrm>
            <a:off x="4846320" y="3657600"/>
            <a:ext cx="1325880" cy="594360"/>
          </a:xfrm>
          <a:prstGeom prst="ellipse">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USER</a:t>
            </a:r>
          </a:p>
        </p:txBody>
      </p:sp>
      <p:sp>
        <p:nvSpPr>
          <p:cNvPr id="18" name="Node"/>
          <p:cNvSpPr/>
          <p:nvPr/>
        </p:nvSpPr>
        <p:spPr>
          <a:xfrm>
            <a:off x="7269480" y="3657600"/>
            <a:ext cx="1325880" cy="594360"/>
          </a:xfrm>
          <a:prstGeom prst="ellipse">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ROOM</a:t>
            </a:r>
          </a:p>
        </p:txBody>
      </p:sp>
      <p:cxnSp>
        <p:nvCxnSpPr>
          <p:cNvPr id="19" name="Edge" descr="Edge connecting the USER and ROOM nodes, labeled RESERVED 10:00 to 11:00"/>
          <p:cNvCxnSpPr/>
          <p:nvPr/>
        </p:nvCxnSpPr>
        <p:spPr>
          <a:xfrm>
            <a:off x="6172200" y="3954780"/>
            <a:ext cx="1097280" cy="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sp>
        <p:nvSpPr>
          <p:cNvPr id="20" name="EdgeLabel"/>
          <p:cNvSpPr txBox="1"/>
          <p:nvPr/>
        </p:nvSpPr>
        <p:spPr>
          <a:xfrm>
            <a:off x="4983480" y="4389120"/>
            <a:ext cx="3566160" cy="365760"/>
          </a:xfrm>
          <a:prstGeom prst="rect">
            <a:avLst/>
          </a:prstGeom>
          <a:noFill/>
        </p:spPr>
        <p:txBody>
          <a:bodyPr wrap="square">
            <a:spAutoFit/>
          </a:bodyPr>
          <a:lstStyle/>
          <a:p>
            <a:pPr algn="ctr"/>
            <a:r>
              <a:rPr sz="2000" b="0">
                <a:solidFill>
                  <a:srgbClr val="555960"/>
                </a:solidFill>
                <a:latin typeface="Calibri"/>
              </a:rPr>
              <a:t>edge: RESERVED 10:00–11:00</a:t>
            </a:r>
          </a:p>
        </p:txBody>
      </p:sp>
      <p:sp>
        <p:nvSpPr>
          <p:cNvPr id="21" name="Card"/>
          <p:cNvSpPr/>
          <p:nvPr/>
        </p:nvSpPr>
        <p:spPr>
          <a:xfrm>
            <a:off x="411480" y="5440680"/>
            <a:ext cx="8321040" cy="10058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xisNote"/>
          <p:cNvSpPr txBox="1"/>
          <p:nvPr/>
        </p:nvSpPr>
        <p:spPr>
          <a:xfrm>
            <a:off x="557784" y="5513832"/>
            <a:ext cx="8046720" cy="877824"/>
          </a:xfrm>
          <a:prstGeom prst="rect">
            <a:avLst/>
          </a:prstGeom>
          <a:noFill/>
        </p:spPr>
        <p:txBody>
          <a:bodyPr wrap="square">
            <a:spAutoFit/>
          </a:bodyPr>
          <a:lstStyle/>
          <a:p>
            <a:r>
              <a:rPr sz="2000" b="1">
                <a:solidFill>
                  <a:srgbClr val="8E6F3E"/>
                </a:solidFill>
                <a:latin typeface="Calibri"/>
              </a:rPr>
              <a:t>Data model and storage mechanism: two separate decisions</a:t>
            </a:r>
          </a:p>
          <a:p>
            <a:r>
              <a:rPr sz="2000" b="0">
                <a:solidFill>
                  <a:srgbClr val="555960"/>
                </a:solidFill>
                <a:latin typeface="Calibri"/>
              </a:rPr>
              <a:t>A JSON file can hold any of these; SQLite holds the relational form in one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Relational vs NoSQL is a requirements question</a:t>
            </a:r>
          </a:p>
        </p:txBody>
      </p:sp>
      <p:sp>
        <p:nvSpPr>
          <p:cNvPr id="3" name="Card"/>
          <p:cNvSpPr/>
          <p:nvPr/>
        </p:nvSpPr>
        <p:spPr>
          <a:xfrm>
            <a:off x="41148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OUR SERVICE LEANS RELATIONAL</a:t>
            </a:r>
          </a:p>
          <a:p>
            <a:pPr algn="l">
              <a:spcAft>
                <a:spcPts val="400"/>
              </a:spcAft>
            </a:pPr>
            <a:r>
              <a:rPr sz="2000" b="0">
                <a:solidFill>
                  <a:srgbClr val="5C4826"/>
                </a:solidFill>
                <a:latin typeface="Calibri"/>
              </a:rPr>
              <a:t>Invariant relates rows to rows</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Integrity constraints the engine can enforce</a:t>
            </a:r>
          </a:p>
        </p:txBody>
      </p:sp>
      <p:sp>
        <p:nvSpPr>
          <p:cNvPr id="5" name="Card"/>
          <p:cNvSpPr/>
          <p:nvPr/>
        </p:nvSpPr>
        <p:spPr>
          <a:xfrm>
            <a:off x="466344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WHEN OTHER POINTS WIN</a:t>
            </a:r>
          </a:p>
          <a:p>
            <a:pPr algn="l">
              <a:spcAft>
                <a:spcPts val="400"/>
              </a:spcAft>
            </a:pPr>
            <a:r>
              <a:rPr sz="2000" b="0">
                <a:solidFill>
                  <a:srgbClr val="5C4826"/>
                </a:solidFill>
                <a:latin typeface="Calibri"/>
              </a:rPr>
              <a:t>Shape varies per record → document</a:t>
            </a:r>
          </a:p>
          <a:p>
            <a:pPr algn="l">
              <a:spcAft>
                <a:spcPts val="400"/>
              </a:spcAft>
            </a:pPr>
            <a:r>
              <a:rPr sz="2000" b="0">
                <a:solidFill>
                  <a:srgbClr val="5C4826"/>
                </a:solidFill>
                <a:latin typeface="Calibri"/>
              </a:rPr>
              <a:t>Key lookups at huge scale → key-value</a:t>
            </a:r>
          </a:p>
          <a:p>
            <a:pPr algn="l">
              <a:spcAft>
                <a:spcPts val="400"/>
              </a:spcAft>
            </a:pPr>
            <a:r>
              <a:rPr sz="2000" b="0">
                <a:solidFill>
                  <a:srgbClr val="5C4826"/>
                </a:solidFill>
                <a:latin typeface="Calibri"/>
              </a:rPr>
              <a:t>Traversal-heavy questions → graph</a:t>
            </a:r>
          </a:p>
        </p:txBody>
      </p:sp>
      <p:sp>
        <p:nvSpPr>
          <p:cNvPr id="7" name="Card"/>
          <p:cNvSpPr/>
          <p:nvPr/>
        </p:nvSpPr>
        <p:spPr>
          <a:xfrm>
            <a:off x="411480" y="338328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3456432"/>
            <a:ext cx="8046720" cy="1280160"/>
          </a:xfrm>
          <a:prstGeom prst="rect">
            <a:avLst/>
          </a:prstGeom>
          <a:noFill/>
        </p:spPr>
        <p:txBody>
          <a:bodyPr wrap="square">
            <a:spAutoFit/>
          </a:bodyPr>
          <a:lstStyle/>
          <a:p>
            <a:pPr algn="l">
              <a:spcAft>
                <a:spcPts val="400"/>
              </a:spcAft>
            </a:pPr>
            <a:r>
              <a:rPr sz="2000" b="1">
                <a:solidFill>
                  <a:srgbClr val="C01B1B"/>
                </a:solidFill>
                <a:latin typeface="Calibri"/>
              </a:rPr>
              <a:t>✗  “SQL = consistent but slow; NoSQL = scalable but inconsistent”</a:t>
            </a:r>
          </a:p>
          <a:p>
            <a:pPr algn="l">
              <a:spcAft>
                <a:spcPts val="400"/>
              </a:spcAft>
            </a:pPr>
            <a:r>
              <a:rPr sz="2000" b="0">
                <a:solidFill>
                  <a:srgbClr val="555960"/>
                </a:solidFill>
                <a:latin typeface="Calibri"/>
              </a:rPr>
              <a:t>Some NoSQL systems offer strong consistency and transactions; some relational systems are distributed and horizontally scalable.</a:t>
            </a:r>
          </a:p>
        </p:txBody>
      </p:sp>
      <p:sp>
        <p:nvSpPr>
          <p:cNvPr id="9" name="Card"/>
          <p:cNvSpPr/>
          <p:nvPr/>
        </p:nvSpPr>
        <p:spPr>
          <a:xfrm>
            <a:off x="411480" y="4983480"/>
            <a:ext cx="8321040" cy="10058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echNote"/>
          <p:cNvSpPr txBox="1"/>
          <p:nvPr/>
        </p:nvSpPr>
        <p:spPr>
          <a:xfrm>
            <a:off x="557784" y="5056632"/>
            <a:ext cx="8046720" cy="877824"/>
          </a:xfrm>
          <a:prstGeom prst="rect">
            <a:avLst/>
          </a:prstGeom>
          <a:noFill/>
        </p:spPr>
        <p:txBody>
          <a:bodyPr wrap="square">
            <a:spAutoFit/>
          </a:bodyPr>
          <a:lstStyle/>
          <a:p>
            <a:r>
              <a:rPr sz="2000" b="1">
                <a:solidFill>
                  <a:srgbClr val="8E6F3E"/>
                </a:solidFill>
                <a:latin typeface="Calibri"/>
              </a:rPr>
              <a:t>SQLite and PostgreSQL are both relational</a:t>
            </a:r>
          </a:p>
          <a:p>
            <a:r>
              <a:rPr sz="2000" b="0">
                <a:solidFill>
                  <a:srgbClr val="555960"/>
                </a:solidFill>
                <a:latin typeface="Calibri"/>
              </a:rPr>
              <a:t>Same data model, different deployment: in-process file vs networked server. Selection is multidimensional.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Semantics matter more than labels</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Four questions to put to any candidate system</a:t>
            </a:r>
          </a:p>
        </p:txBody>
      </p:sp>
      <p:sp>
        <p:nvSpPr>
          <p:cNvPr id="4" name="Card"/>
          <p:cNvSpPr/>
          <p:nvPr/>
        </p:nvSpPr>
        <p:spPr>
          <a:xfrm>
            <a:off x="411480" y="1417320"/>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wBody"/>
          <p:cNvSpPr txBox="1"/>
          <p:nvPr/>
        </p:nvSpPr>
        <p:spPr>
          <a:xfrm>
            <a:off x="557784" y="1472184"/>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clients observe different values at the same time?</a:t>
            </a:r>
          </a:p>
          <a:p>
            <a:pPr algn="l">
              <a:spcAft>
                <a:spcPts val="400"/>
              </a:spcAft>
            </a:pPr>
            <a:r>
              <a:rPr sz="2000" b="0">
                <a:solidFill>
                  <a:srgbClr val="8E6F3E"/>
                </a:solidFill>
                <a:latin typeface="Calibri"/>
              </a:rPr>
              <a:t>consistency</a:t>
            </a:r>
          </a:p>
        </p:txBody>
      </p:sp>
      <p:sp>
        <p:nvSpPr>
          <p:cNvPr id="6" name="Card"/>
          <p:cNvSpPr/>
          <p:nvPr/>
        </p:nvSpPr>
        <p:spPr>
          <a:xfrm>
            <a:off x="411480" y="2450591"/>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Body"/>
          <p:cNvSpPr txBox="1"/>
          <p:nvPr/>
        </p:nvSpPr>
        <p:spPr>
          <a:xfrm>
            <a:off x="557784" y="2505456"/>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a write the system acknowledged ever be lost?</a:t>
            </a:r>
          </a:p>
          <a:p>
            <a:pPr algn="l">
              <a:spcAft>
                <a:spcPts val="400"/>
              </a:spcAft>
            </a:pPr>
            <a:r>
              <a:rPr sz="2000" b="0">
                <a:solidFill>
                  <a:srgbClr val="8E6F3E"/>
                </a:solidFill>
                <a:latin typeface="Calibri"/>
              </a:rPr>
              <a:t>durability</a:t>
            </a:r>
          </a:p>
        </p:txBody>
      </p:sp>
      <p:sp>
        <p:nvSpPr>
          <p:cNvPr id="8" name="Card"/>
          <p:cNvSpPr/>
          <p:nvPr/>
        </p:nvSpPr>
        <p:spPr>
          <a:xfrm>
            <a:off x="411480" y="3483863"/>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wBody"/>
          <p:cNvSpPr txBox="1"/>
          <p:nvPr/>
        </p:nvSpPr>
        <p:spPr>
          <a:xfrm>
            <a:off x="557784" y="3538727"/>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transactions both confirm overlapping reservations?</a:t>
            </a:r>
          </a:p>
          <a:p>
            <a:pPr algn="l">
              <a:spcAft>
                <a:spcPts val="400"/>
              </a:spcAft>
            </a:pPr>
            <a:r>
              <a:rPr sz="2000" b="0">
                <a:solidFill>
                  <a:srgbClr val="8E6F3E"/>
                </a:solidFill>
                <a:latin typeface="Calibri"/>
              </a:rPr>
              <a:t>isolation</a:t>
            </a:r>
          </a:p>
        </p:txBody>
      </p:sp>
      <p:sp>
        <p:nvSpPr>
          <p:cNvPr id="10" name="Card"/>
          <p:cNvSpPr/>
          <p:nvPr/>
        </p:nvSpPr>
        <p:spPr>
          <a:xfrm>
            <a:off x="411480" y="4517136"/>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wBody"/>
          <p:cNvSpPr txBox="1"/>
          <p:nvPr/>
        </p:nvSpPr>
        <p:spPr>
          <a:xfrm>
            <a:off x="557784" y="4571999"/>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the database itself enforce our no-overlap invariant?</a:t>
            </a:r>
          </a:p>
          <a:p>
            <a:pPr algn="l">
              <a:spcAft>
                <a:spcPts val="400"/>
              </a:spcAft>
            </a:pPr>
            <a:r>
              <a:rPr sz="2000" b="0">
                <a:solidFill>
                  <a:srgbClr val="8E6F3E"/>
                </a:solidFill>
                <a:latin typeface="Calibri"/>
              </a:rPr>
              <a:t>where the invariant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Exercise: place each system in the design space</a:t>
            </a:r>
          </a:p>
        </p:txBody>
      </p:sp>
      <p:sp>
        <p:nvSpPr>
          <p:cNvPr id="3" name="Card"/>
          <p:cNvSpPr/>
          <p:nvPr/>
        </p:nvSpPr>
        <p:spPr>
          <a:xfrm>
            <a:off x="411480" y="1325880"/>
            <a:ext cx="4069080" cy="425196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417320"/>
            <a:ext cx="3776472" cy="4069080"/>
          </a:xfrm>
          <a:prstGeom prst="rect">
            <a:avLst/>
          </a:prstGeom>
          <a:noFill/>
        </p:spPr>
        <p:txBody>
          <a:bodyPr wrap="square">
            <a:spAutoFit/>
          </a:bodyPr>
          <a:lstStyle/>
          <a:p>
            <a:pPr algn="l">
              <a:spcAft>
                <a:spcPts val="600"/>
              </a:spcAft>
            </a:pPr>
            <a:r>
              <a:rPr sz="2000" b="1">
                <a:solidFill>
                  <a:srgbClr val="8E6F3E"/>
                </a:solidFill>
                <a:latin typeface="Calibri"/>
              </a:rPr>
              <a:t>A: ROOM RESERVATIONS</a:t>
            </a:r>
          </a:p>
          <a:p>
            <a:pPr algn="l">
              <a:spcAft>
                <a:spcPts val="400"/>
              </a:spcAft>
            </a:pPr>
            <a:r>
              <a:rPr sz="2000" b="0">
                <a:solidFill>
                  <a:srgbClr val="5C4826"/>
                </a:solidFill>
                <a:latin typeface="Calibri"/>
              </a:rPr>
              <a:t>Invariant between rows</a:t>
            </a:r>
          </a:p>
          <a:p>
            <a:pPr algn="l">
              <a:spcAft>
                <a:spcPts val="400"/>
              </a:spcAft>
            </a:pPr>
            <a:r>
              <a:rPr sz="2000" b="0">
                <a:solidFill>
                  <a:srgbClr val="5C4826"/>
                </a:solidFill>
                <a:latin typeface="Calibri"/>
              </a:rPr>
              <a:t>Modest write volume</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One authoritative copy</a:t>
            </a:r>
          </a:p>
          <a:p>
            <a:pPr algn="l">
              <a:spcAft>
                <a:spcPts val="400"/>
              </a:spcAft>
            </a:pPr>
            <a:r>
              <a:rPr sz="2000" b="0">
                <a:solidFill>
                  <a:srgbClr val="5C4826"/>
                </a:solidFill>
                <a:latin typeface="Calibri"/>
              </a:rPr>
              <a:t>A lost booking = an angry human</a:t>
            </a:r>
          </a:p>
        </p:txBody>
      </p:sp>
      <p:sp>
        <p:nvSpPr>
          <p:cNvPr id="5" name="Card"/>
          <p:cNvSpPr/>
          <p:nvPr/>
        </p:nvSpPr>
        <p:spPr>
          <a:xfrm>
            <a:off x="4663440" y="1325880"/>
            <a:ext cx="4069080" cy="42519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417320"/>
            <a:ext cx="3776472" cy="4069080"/>
          </a:xfrm>
          <a:prstGeom prst="rect">
            <a:avLst/>
          </a:prstGeom>
          <a:noFill/>
        </p:spPr>
        <p:txBody>
          <a:bodyPr wrap="square">
            <a:spAutoFit/>
          </a:bodyPr>
          <a:lstStyle/>
          <a:p>
            <a:pPr algn="l">
              <a:spcAft>
                <a:spcPts val="600"/>
              </a:spcAft>
            </a:pPr>
            <a:r>
              <a:rPr sz="2000" b="1">
                <a:solidFill>
                  <a:srgbClr val="8E6F3E"/>
                </a:solidFill>
                <a:latin typeface="Calibri"/>
              </a:rPr>
              <a:t>B: DOOR-SENSOR TELEMETRY</a:t>
            </a:r>
          </a:p>
          <a:p>
            <a:pPr algn="l">
              <a:spcAft>
                <a:spcPts val="400"/>
              </a:spcAft>
            </a:pPr>
            <a:r>
              <a:rPr sz="2000" b="0">
                <a:solidFill>
                  <a:srgbClr val="5C4826"/>
                </a:solidFill>
                <a:latin typeface="Calibri"/>
              </a:rPr>
              <a:t>Append-only events</a:t>
            </a:r>
          </a:p>
          <a:p>
            <a:pPr algn="l">
              <a:spcAft>
                <a:spcPts val="400"/>
              </a:spcAft>
            </a:pPr>
            <a:r>
              <a:rPr sz="2000" b="0">
                <a:solidFill>
                  <a:srgbClr val="5C4826"/>
                </a:solidFill>
                <a:latin typeface="Calibri"/>
              </a:rPr>
              <a:t>Enormous write rate</a:t>
            </a:r>
          </a:p>
          <a:p>
            <a:pPr algn="l">
              <a:spcAft>
                <a:spcPts val="400"/>
              </a:spcAft>
            </a:pPr>
            <a:r>
              <a:rPr sz="2000" b="0">
                <a:solidFill>
                  <a:srgbClr val="5C4826"/>
                </a:solidFill>
                <a:latin typeface="Calibri"/>
              </a:rPr>
              <a:t>Access by device id + time</a:t>
            </a:r>
          </a:p>
          <a:p>
            <a:pPr algn="l">
              <a:spcAft>
                <a:spcPts val="400"/>
              </a:spcAft>
            </a:pPr>
            <a:r>
              <a:rPr sz="2000" b="0">
                <a:solidFill>
                  <a:srgbClr val="5C4826"/>
                </a:solidFill>
                <a:latin typeface="Calibri"/>
              </a:rPr>
              <a:t>Seconds of lag is fine</a:t>
            </a:r>
          </a:p>
          <a:p>
            <a:pPr algn="l">
              <a:spcAft>
                <a:spcPts val="400"/>
              </a:spcAft>
            </a:pPr>
            <a:r>
              <a:rPr sz="2000" b="0">
                <a:solidFill>
                  <a:srgbClr val="5C4826"/>
                </a:solidFill>
                <a:latin typeface="Calibri"/>
              </a:rPr>
              <a:t>One lost event is tolerable</a:t>
            </a:r>
          </a:p>
        </p:txBody>
      </p:sp>
      <p:sp>
        <p:nvSpPr>
          <p:cNvPr id="7" name="Label"/>
          <p:cNvSpPr txBox="1"/>
          <p:nvPr/>
        </p:nvSpPr>
        <p:spPr>
          <a:xfrm>
            <a:off x="411480" y="822960"/>
            <a:ext cx="8321040" cy="411480"/>
          </a:xfrm>
          <a:prstGeom prst="rect">
            <a:avLst/>
          </a:prstGeom>
          <a:noFill/>
        </p:spPr>
        <p:txBody>
          <a:bodyPr wrap="square">
            <a:spAutoFit/>
          </a:bodyPr>
          <a:lstStyle/>
          <a:p>
            <a:r>
              <a:rPr sz="2000" b="1">
                <a:solidFill>
                  <a:srgbClr val="8E6F3E"/>
                </a:solidFill>
                <a:latin typeface="Calibri"/>
              </a:rPr>
              <a:t>Which database capabilities would you require for each workload?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How should we represent the reservation domain?</a:t>
            </a:r>
          </a:p>
        </p:txBody>
      </p:sp>
      <p:sp>
        <p:nvSpPr>
          <p:cNvPr id="3" name="Block" descr="ER diagram: USER and ROOM each relate one-to-many to RESERVATION; attribute lists sit beneath each entity; the no-overlap invariant is stated below the diagram"/>
          <p:cNvSpPr/>
          <p:nvPr/>
        </p:nvSpPr>
        <p:spPr>
          <a:xfrm>
            <a:off x="64008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USER</a:t>
            </a:r>
          </a:p>
        </p:txBody>
      </p:sp>
      <p:sp>
        <p:nvSpPr>
          <p:cNvPr id="4" name="Block"/>
          <p:cNvSpPr/>
          <p:nvPr/>
        </p:nvSpPr>
        <p:spPr>
          <a:xfrm>
            <a:off x="3611880" y="1417320"/>
            <a:ext cx="21031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a:t>
            </a:r>
          </a:p>
        </p:txBody>
      </p:sp>
      <p:sp>
        <p:nvSpPr>
          <p:cNvPr id="5" name="Block"/>
          <p:cNvSpPr/>
          <p:nvPr/>
        </p:nvSpPr>
        <p:spPr>
          <a:xfrm>
            <a:off x="667512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ROOM</a:t>
            </a:r>
          </a:p>
        </p:txBody>
      </p:sp>
      <p:sp>
        <p:nvSpPr>
          <p:cNvPr id="6" name="RelLabel"/>
          <p:cNvSpPr txBox="1"/>
          <p:nvPr/>
        </p:nvSpPr>
        <p:spPr>
          <a:xfrm>
            <a:off x="1600200" y="896112"/>
            <a:ext cx="3154680" cy="365760"/>
          </a:xfrm>
          <a:prstGeom prst="rect">
            <a:avLst/>
          </a:prstGeom>
          <a:noFill/>
        </p:spPr>
        <p:txBody>
          <a:bodyPr wrap="square">
            <a:spAutoFit/>
          </a:bodyPr>
          <a:lstStyle/>
          <a:p>
            <a:pPr algn="ctr">
              <a:spcAft>
                <a:spcPts val="400"/>
              </a:spcAft>
            </a:pPr>
            <a:r>
              <a:rPr sz="2000" b="1">
                <a:solidFill>
                  <a:srgbClr val="555960"/>
                </a:solidFill>
                <a:latin typeface="Calibri"/>
              </a:rPr>
              <a:t>1 user → N reservations</a:t>
            </a:r>
          </a:p>
        </p:txBody>
      </p:sp>
      <p:sp>
        <p:nvSpPr>
          <p:cNvPr id="7" name="RelLabel"/>
          <p:cNvSpPr txBox="1"/>
          <p:nvPr/>
        </p:nvSpPr>
        <p:spPr>
          <a:xfrm>
            <a:off x="4846320" y="896112"/>
            <a:ext cx="3154680" cy="365760"/>
          </a:xfrm>
          <a:prstGeom prst="rect">
            <a:avLst/>
          </a:prstGeom>
          <a:noFill/>
        </p:spPr>
        <p:txBody>
          <a:bodyPr wrap="square">
            <a:spAutoFit/>
          </a:bodyPr>
          <a:lstStyle/>
          <a:p>
            <a:pPr algn="ctr">
              <a:spcAft>
                <a:spcPts val="400"/>
              </a:spcAft>
            </a:pPr>
            <a:r>
              <a:rPr sz="2000" b="1">
                <a:solidFill>
                  <a:srgbClr val="555960"/>
                </a:solidFill>
                <a:latin typeface="Calibri"/>
              </a:rPr>
              <a:t>N reservations ← 1 room</a:t>
            </a:r>
          </a:p>
        </p:txBody>
      </p:sp>
      <p:cxnSp>
        <p:nvCxnSpPr>
          <p:cNvPr id="8" name="RelLine" descr="one-to-many connector pointing toward RESERVATION"/>
          <p:cNvCxnSpPr/>
          <p:nvPr/>
        </p:nvCxnSpPr>
        <p:spPr>
          <a:xfrm>
            <a:off x="2468880" y="1760220"/>
            <a:ext cx="1143000" cy="0"/>
          </a:xfrm>
          <a:prstGeom prst="line">
            <a:avLst/>
          </a:prstGeom>
          <a:ln w="31750">
            <a:solidFill>
              <a:srgbClr val="8E6F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RelLine" descr="one-to-many connector pointing toward RESERVATION"/>
          <p:cNvCxnSpPr/>
          <p:nvPr/>
        </p:nvCxnSpPr>
        <p:spPr>
          <a:xfrm>
            <a:off x="5715000" y="1760220"/>
            <a:ext cx="960120" cy="0"/>
          </a:xfrm>
          <a:prstGeom prst="line">
            <a:avLst/>
          </a:prstGeom>
          <a:ln w="31750">
            <a:solidFill>
              <a:srgbClr val="8E6F3E"/>
            </a:solidFill>
            <a:headEnd type="triangle" w="med" len="med"/>
          </a:ln>
        </p:spPr>
        <p:style>
          <a:lnRef idx="2">
            <a:schemeClr val="accent1"/>
          </a:lnRef>
          <a:fillRef idx="0">
            <a:schemeClr val="accent1"/>
          </a:fillRef>
          <a:effectRef idx="1">
            <a:schemeClr val="accent1"/>
          </a:effectRef>
          <a:fontRef idx="minor">
            <a:schemeClr val="tx1"/>
          </a:fontRef>
        </p:style>
      </p:cxnSp>
      <p:sp>
        <p:nvSpPr>
          <p:cNvPr id="10" name="Card"/>
          <p:cNvSpPr/>
          <p:nvPr/>
        </p:nvSpPr>
        <p:spPr>
          <a:xfrm>
            <a:off x="411480" y="2377440"/>
            <a:ext cx="237744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ttrList"/>
          <p:cNvSpPr txBox="1"/>
          <p:nvPr/>
        </p:nvSpPr>
        <p:spPr>
          <a:xfrm>
            <a:off x="557784" y="2450592"/>
            <a:ext cx="2084831"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email</a:t>
            </a:r>
          </a:p>
        </p:txBody>
      </p:sp>
      <p:sp>
        <p:nvSpPr>
          <p:cNvPr id="12" name="Card"/>
          <p:cNvSpPr/>
          <p:nvPr/>
        </p:nvSpPr>
        <p:spPr>
          <a:xfrm>
            <a:off x="3383280" y="2377440"/>
            <a:ext cx="2651760" cy="2286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ttrList"/>
          <p:cNvSpPr txBox="1"/>
          <p:nvPr/>
        </p:nvSpPr>
        <p:spPr>
          <a:xfrm>
            <a:off x="3529584" y="2450592"/>
            <a:ext cx="2359152" cy="2011680"/>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room_id</a:t>
            </a:r>
          </a:p>
          <a:p>
            <a:pPr algn="l">
              <a:spcAft>
                <a:spcPts val="400"/>
              </a:spcAft>
            </a:pPr>
            <a:r>
              <a:rPr sz="2000" b="0">
                <a:solidFill>
                  <a:srgbClr val="555960"/>
                </a:solidFill>
                <a:latin typeface="Calibri"/>
              </a:rPr>
              <a:t>user_id</a:t>
            </a:r>
          </a:p>
          <a:p>
            <a:pPr algn="l">
              <a:spcAft>
                <a:spcPts val="400"/>
              </a:spcAft>
            </a:pPr>
            <a:r>
              <a:rPr sz="2000" b="1">
                <a:solidFill>
                  <a:srgbClr val="5C4826"/>
                </a:solidFill>
                <a:latin typeface="Calibri"/>
              </a:rPr>
              <a:t>starts_at</a:t>
            </a:r>
          </a:p>
          <a:p>
            <a:pPr algn="l">
              <a:spcAft>
                <a:spcPts val="400"/>
              </a:spcAft>
            </a:pPr>
            <a:r>
              <a:rPr sz="2000" b="1">
                <a:solidFill>
                  <a:srgbClr val="5C4826"/>
                </a:solidFill>
                <a:latin typeface="Calibri"/>
              </a:rPr>
              <a:t>ends_at</a:t>
            </a:r>
          </a:p>
          <a:p>
            <a:pPr algn="l">
              <a:spcAft>
                <a:spcPts val="400"/>
              </a:spcAft>
            </a:pPr>
            <a:r>
              <a:rPr sz="2000" b="1">
                <a:solidFill>
                  <a:srgbClr val="5C4826"/>
                </a:solidFill>
                <a:latin typeface="Calibri"/>
              </a:rPr>
              <a:t>status</a:t>
            </a:r>
          </a:p>
        </p:txBody>
      </p:sp>
      <p:sp>
        <p:nvSpPr>
          <p:cNvPr id="14" name="Card"/>
          <p:cNvSpPr/>
          <p:nvPr/>
        </p:nvSpPr>
        <p:spPr>
          <a:xfrm>
            <a:off x="6446520" y="2377440"/>
            <a:ext cx="228600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ttrList"/>
          <p:cNvSpPr txBox="1"/>
          <p:nvPr/>
        </p:nvSpPr>
        <p:spPr>
          <a:xfrm>
            <a:off x="6592824" y="2450592"/>
            <a:ext cx="1993392"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capacity</a:t>
            </a:r>
          </a:p>
        </p:txBody>
      </p:sp>
      <p:sp>
        <p:nvSpPr>
          <p:cNvPr id="16" name="Card"/>
          <p:cNvSpPr/>
          <p:nvPr/>
        </p:nvSpPr>
        <p:spPr>
          <a:xfrm>
            <a:off x="411480" y="4754880"/>
            <a:ext cx="8321040" cy="10515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nvariant"/>
          <p:cNvSpPr txBox="1"/>
          <p:nvPr/>
        </p:nvSpPr>
        <p:spPr>
          <a:xfrm>
            <a:off x="557784" y="4809744"/>
            <a:ext cx="8046720" cy="960120"/>
          </a:xfrm>
          <a:prstGeom prst="rect">
            <a:avLst/>
          </a:prstGeom>
          <a:noFill/>
        </p:spPr>
        <p:txBody>
          <a:bodyPr wrap="square">
            <a:spAutoFit/>
          </a:bodyPr>
          <a:lstStyle/>
          <a:p>
            <a:pPr algn="l">
              <a:spcAft>
                <a:spcPts val="200"/>
              </a:spcAft>
            </a:pPr>
            <a:r>
              <a:rPr sz="2000" b="1">
                <a:solidFill>
                  <a:srgbClr val="5C4826"/>
                </a:solidFill>
                <a:latin typeface="Calibri"/>
              </a:rPr>
              <a:t>INVARIANT: no overlapping CONFIRMED reservations per room</a:t>
            </a:r>
          </a:p>
          <a:p>
            <a:pPr algn="l">
              <a:spcAft>
                <a:spcPts val="400"/>
              </a:spcAft>
            </a:pPr>
            <a:r>
              <a:rPr sz="2000" b="0">
                <a:solidFill>
                  <a:srgbClr val="555960"/>
                </a:solidFill>
                <a:latin typeface="Calibri"/>
              </a:rPr>
              <a:t>Entities supply the vocabulary (room_id, starts_at, ends_at, status); nothing here enforces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schema turns the model into enforced obligations</a:t>
            </a:r>
          </a:p>
        </p:txBody>
      </p:sp>
      <p:sp>
        <p:nvSpPr>
          <p:cNvPr id="3" name="Card"/>
          <p:cNvSpPr/>
          <p:nvPr/>
        </p:nvSpPr>
        <p:spPr>
          <a:xfrm>
            <a:off x="411480" y="960120"/>
            <a:ext cx="5577840" cy="30175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5303520" cy="2834640"/>
          </a:xfrm>
          <a:prstGeom prst="rect">
            <a:avLst/>
          </a:prstGeom>
          <a:noFill/>
        </p:spPr>
        <p:txBody>
          <a:bodyPr wrap="square">
            <a:spAutoFit/>
          </a:bodyPr>
          <a:lstStyle/>
          <a:p>
            <a:pPr algn="l">
              <a:spcAft>
                <a:spcPts val="100"/>
              </a:spcAft>
            </a:pPr>
            <a:r>
              <a:rPr sz="2000" b="0">
                <a:solidFill>
                  <a:srgbClr val="2D2D2D"/>
                </a:solidFill>
                <a:latin typeface="Consolas"/>
              </a:rPr>
              <a:t>CREATE TABLE reservations (</a:t>
            </a:r>
          </a:p>
          <a:p>
            <a:pPr algn="l">
              <a:spcAft>
                <a:spcPts val="100"/>
              </a:spcAft>
            </a:pPr>
            <a:r>
              <a:rPr sz="2000" b="0">
                <a:solidFill>
                  <a:srgbClr val="2D2D2D"/>
                </a:solidFill>
                <a:latin typeface="Consolas"/>
              </a:rPr>
              <a:t>  room_id  INT REFERENCES rooms,</a:t>
            </a:r>
          </a:p>
          <a:p>
            <a:pPr algn="l">
              <a:spcAft>
                <a:spcPts val="100"/>
              </a:spcAft>
            </a:pPr>
            <a:r>
              <a:rPr sz="2000" b="0">
                <a:solidFill>
                  <a:srgbClr val="2D2D2D"/>
                </a:solidFill>
                <a:latin typeface="Consolas"/>
              </a:rPr>
              <a:t>  user_id  INT REFERENCES users,</a:t>
            </a:r>
          </a:p>
          <a:p>
            <a:pPr algn="l">
              <a:spcAft>
                <a:spcPts val="100"/>
              </a:spcAft>
            </a:pPr>
            <a:r>
              <a:rPr sz="2000" b="0">
                <a:solidFill>
                  <a:srgbClr val="2D2D2D"/>
                </a:solidFill>
                <a:latin typeface="Consolas"/>
              </a:rPr>
              <a:t>  starts_at TIMESTAMP NOT NULL,</a:t>
            </a:r>
          </a:p>
          <a:p>
            <a:pPr algn="l">
              <a:spcAft>
                <a:spcPts val="100"/>
              </a:spcAft>
            </a:pPr>
            <a:r>
              <a:rPr sz="2000" b="0">
                <a:solidFill>
                  <a:srgbClr val="2D2D2D"/>
                </a:solidFill>
                <a:latin typeface="Consolas"/>
              </a:rPr>
              <a:t>  ends_at   TIMESTAMP NOT NULL,</a:t>
            </a:r>
          </a:p>
          <a:p>
            <a:pPr algn="l">
              <a:spcAft>
                <a:spcPts val="100"/>
              </a:spcAft>
            </a:pPr>
            <a:r>
              <a:rPr sz="2000" b="0">
                <a:solidFill>
                  <a:srgbClr val="2D2D2D"/>
                </a:solidFill>
                <a:latin typeface="Consolas"/>
              </a:rPr>
              <a:t>  status    TEXT NOT NULL,</a:t>
            </a:r>
          </a:p>
          <a:p>
            <a:pPr algn="l">
              <a:spcAft>
                <a:spcPts val="100"/>
              </a:spcAft>
            </a:pPr>
            <a:r>
              <a:rPr sz="2000" b="0">
                <a:solidFill>
                  <a:srgbClr val="2D2D2D"/>
                </a:solidFill>
                <a:latin typeface="Consolas"/>
              </a:rPr>
              <a:t>  CHECK (starts_at &lt; ends_at)</a:t>
            </a:r>
          </a:p>
          <a:p>
            <a:pPr algn="l">
              <a:spcAft>
                <a:spcPts val="100"/>
              </a:spcAft>
            </a:pPr>
            <a:r>
              <a:rPr sz="2000" b="0">
                <a:solidFill>
                  <a:srgbClr val="2D2D2D"/>
                </a:solidFill>
                <a:latin typeface="Consolas"/>
              </a:rPr>
              <a:t>);</a:t>
            </a:r>
          </a:p>
        </p:txBody>
      </p:sp>
      <p:sp>
        <p:nvSpPr>
          <p:cNvPr id="5" name="Card"/>
          <p:cNvSpPr/>
          <p:nvPr/>
        </p:nvSpPr>
        <p:spPr>
          <a:xfrm>
            <a:off x="6172200" y="960120"/>
            <a:ext cx="2560320" cy="3017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nnotations"/>
          <p:cNvSpPr txBox="1"/>
          <p:nvPr/>
        </p:nvSpPr>
        <p:spPr>
          <a:xfrm>
            <a:off x="6318504" y="1051560"/>
            <a:ext cx="2267712" cy="2834640"/>
          </a:xfrm>
          <a:prstGeom prst="rect">
            <a:avLst/>
          </a:prstGeom>
          <a:noFill/>
        </p:spPr>
        <p:txBody>
          <a:bodyPr wrap="square">
            <a:spAutoFit/>
          </a:bodyPr>
          <a:lstStyle/>
          <a:p>
            <a:pPr algn="l">
              <a:spcAft>
                <a:spcPts val="600"/>
              </a:spcAft>
            </a:pPr>
            <a:r>
              <a:rPr sz="2000" b="1">
                <a:solidFill>
                  <a:srgbClr val="8E6F3E"/>
                </a:solidFill>
                <a:latin typeface="Calibri"/>
              </a:rPr>
              <a:t>REFERENCES: that row must exist</a:t>
            </a:r>
          </a:p>
          <a:p>
            <a:pPr algn="l">
              <a:spcAft>
                <a:spcPts val="600"/>
              </a:spcAft>
            </a:pPr>
            <a:r>
              <a:rPr sz="2000" b="1">
                <a:solidFill>
                  <a:srgbClr val="8E6F3E"/>
                </a:solidFill>
                <a:latin typeface="Calibri"/>
              </a:rPr>
              <a:t>NOT NULL: the fact must be present</a:t>
            </a:r>
          </a:p>
          <a:p>
            <a:pPr algn="l">
              <a:spcAft>
                <a:spcPts val="400"/>
              </a:spcAft>
            </a:pPr>
            <a:r>
              <a:rPr sz="2000" b="1">
                <a:solidFill>
                  <a:srgbClr val="8E6F3E"/>
                </a:solidFill>
                <a:latin typeface="Calibri"/>
              </a:rPr>
              <a:t>CHECK: true within one row</a:t>
            </a:r>
          </a:p>
        </p:txBody>
      </p:sp>
      <p:sp>
        <p:nvSpPr>
          <p:cNvPr id="7" name="Card"/>
          <p:cNvSpPr/>
          <p:nvPr/>
        </p:nvSpPr>
        <p:spPr>
          <a:xfrm>
            <a:off x="411480" y="416052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4233672"/>
            <a:ext cx="8046720" cy="1280160"/>
          </a:xfrm>
          <a:prstGeom prst="rect">
            <a:avLst/>
          </a:prstGeom>
          <a:noFill/>
        </p:spPr>
        <p:txBody>
          <a:bodyPr wrap="square">
            <a:spAutoFit/>
          </a:bodyPr>
          <a:lstStyle/>
          <a:p>
            <a:pPr algn="l">
              <a:spcAft>
                <a:spcPts val="300"/>
              </a:spcAft>
            </a:pPr>
            <a:r>
              <a:rPr sz="2000" b="1">
                <a:solidFill>
                  <a:srgbClr val="C01B1B"/>
                </a:solidFill>
                <a:latin typeface="Calibri"/>
              </a:rPr>
              <a:t>Nothing here prevents two CONFIRMED reservations from overlapping</a:t>
            </a:r>
          </a:p>
          <a:p>
            <a:pPr algn="l">
              <a:spcAft>
                <a:spcPts val="400"/>
              </a:spcAft>
            </a:pPr>
            <a:r>
              <a:rPr sz="2000" b="0">
                <a:solidFill>
                  <a:srgbClr val="555960"/>
                </a:solidFill>
                <a:latin typeface="Calibri"/>
              </a:rPr>
              <a:t>The overlap invariant relates multiple reservation rows; none of the constraints shown can state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Normalization vs denormalization is a genuine tradeoff</a:t>
            </a:r>
          </a:p>
        </p:txBody>
      </p:sp>
      <p:sp>
        <p:nvSpPr>
          <p:cNvPr id="3" name="Card"/>
          <p:cNvSpPr/>
          <p:nvPr/>
        </p:nvSpPr>
        <p:spPr>
          <a:xfrm>
            <a:off x="41148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NORMALIZED</a:t>
            </a:r>
          </a:p>
          <a:p>
            <a:pPr algn="l">
              <a:spcAft>
                <a:spcPts val="400"/>
              </a:spcAft>
            </a:pPr>
            <a:r>
              <a:rPr sz="2000" b="1">
                <a:solidFill>
                  <a:srgbClr val="5C4826"/>
                </a:solidFill>
                <a:latin typeface="Calibri"/>
              </a:rPr>
              <a:t>One fact lives in one place</a:t>
            </a:r>
          </a:p>
          <a:p>
            <a:pPr algn="l">
              <a:spcAft>
                <a:spcPts val="400"/>
              </a:spcAft>
            </a:pPr>
            <a:r>
              <a:rPr sz="2000" b="0">
                <a:solidFill>
                  <a:srgbClr val="555960"/>
                </a:solidFill>
                <a:latin typeface="Calibri"/>
              </a:rPr>
              <a:t>Room name stored once, in rooms</a:t>
            </a:r>
          </a:p>
          <a:p>
            <a:pPr algn="l">
              <a:spcAft>
                <a:spcPts val="400"/>
              </a:spcAft>
            </a:pPr>
            <a:r>
              <a:rPr sz="2000" b="0">
                <a:solidFill>
                  <a:srgbClr val="555960"/>
                </a:solidFill>
                <a:latin typeface="Calibri"/>
              </a:rPr>
              <a:t>Updates: one place to change, no copies to drift</a:t>
            </a:r>
          </a:p>
          <a:p>
            <a:pPr algn="l">
              <a:spcAft>
                <a:spcPts val="400"/>
              </a:spcAft>
            </a:pPr>
            <a:r>
              <a:rPr sz="2000" b="0">
                <a:solidFill>
                  <a:srgbClr val="555960"/>
                </a:solidFill>
                <a:latin typeface="Calibri"/>
              </a:rPr>
              <a:t>Reads: join to assemble the page</a:t>
            </a:r>
          </a:p>
        </p:txBody>
      </p:sp>
      <p:sp>
        <p:nvSpPr>
          <p:cNvPr id="5" name="Card"/>
          <p:cNvSpPr/>
          <p:nvPr/>
        </p:nvSpPr>
        <p:spPr>
          <a:xfrm>
            <a:off x="466344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DENORMALIZED</a:t>
            </a:r>
          </a:p>
          <a:p>
            <a:pPr algn="l">
              <a:spcAft>
                <a:spcPts val="400"/>
              </a:spcAft>
            </a:pPr>
            <a:r>
              <a:rPr sz="2000" b="1">
                <a:solidFill>
                  <a:srgbClr val="5C4826"/>
                </a:solidFill>
                <a:latin typeface="Calibri"/>
              </a:rPr>
              <a:t>Facts copied to where they are read</a:t>
            </a:r>
          </a:p>
          <a:p>
            <a:pPr algn="l">
              <a:spcAft>
                <a:spcPts val="400"/>
              </a:spcAft>
            </a:pPr>
            <a:r>
              <a:rPr sz="2000" b="0">
                <a:solidFill>
                  <a:srgbClr val="555960"/>
                </a:solidFill>
                <a:latin typeface="Calibri"/>
              </a:rPr>
              <a:t>Room name copied into each reservation</a:t>
            </a:r>
          </a:p>
          <a:p>
            <a:pPr algn="l">
              <a:spcAft>
                <a:spcPts val="400"/>
              </a:spcAft>
            </a:pPr>
            <a:r>
              <a:rPr sz="2000" b="0">
                <a:solidFill>
                  <a:srgbClr val="555960"/>
                </a:solidFill>
                <a:latin typeface="Calibri"/>
              </a:rPr>
              <a:t>Reads: one fetch, no join</a:t>
            </a:r>
          </a:p>
          <a:p>
            <a:pPr algn="l">
              <a:spcAft>
                <a:spcPts val="400"/>
              </a:spcAft>
            </a:pPr>
            <a:r>
              <a:rPr sz="2000" b="0">
                <a:solidFill>
                  <a:srgbClr val="555960"/>
                </a:solidFill>
                <a:latin typeface="Calibri"/>
              </a:rPr>
              <a:t>Writes: must update every copy</a:t>
            </a:r>
          </a:p>
        </p:txBody>
      </p:sp>
      <p:sp>
        <p:nvSpPr>
          <p:cNvPr id="7" name="Card"/>
          <p:cNvSpPr/>
          <p:nvPr/>
        </p:nvSpPr>
        <p:spPr>
          <a:xfrm>
            <a:off x="411480" y="3566160"/>
            <a:ext cx="8321040" cy="150876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639312"/>
            <a:ext cx="8046720" cy="1371600"/>
          </a:xfrm>
          <a:prstGeom prst="rect">
            <a:avLst/>
          </a:prstGeom>
          <a:noFill/>
        </p:spPr>
        <p:txBody>
          <a:bodyPr wrap="square">
            <a:spAutoFit/>
          </a:bodyPr>
          <a:lstStyle/>
          <a:p>
            <a:pPr algn="l">
              <a:spcAft>
                <a:spcPts val="300"/>
              </a:spcAft>
            </a:pPr>
            <a:r>
              <a:rPr sz="2000" b="1">
                <a:solidFill>
                  <a:srgbClr val="5C4826"/>
                </a:solidFill>
                <a:latin typeface="Calibri"/>
              </a:rPr>
              <a:t>The reservations page shows a room name beside every booking</a:t>
            </a:r>
          </a:p>
          <a:p>
            <a:pPr algn="l">
              <a:spcAft>
                <a:spcPts val="400"/>
              </a:spcAft>
            </a:pPr>
            <a:r>
              <a:rPr sz="2000" b="0">
                <a:solidFill>
                  <a:srgbClr val="555960"/>
                </a:solidFill>
                <a:latin typeface="Calibri"/>
              </a:rPr>
              <a:t>Join on every read, or copy and own the copies' staleness. The read/write mix settles it, not a doctrine.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Two valid rows: is the application correct?</a:t>
            </a:r>
          </a:p>
        </p:txBody>
      </p:sp>
      <p:sp>
        <p:nvSpPr>
          <p:cNvPr id="3" name="Card"/>
          <p:cNvSpPr/>
          <p:nvPr/>
        </p:nvSpPr>
        <p:spPr>
          <a:xfrm>
            <a:off x="411480" y="960120"/>
            <a:ext cx="4846320" cy="2377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4553712" cy="2194560"/>
          </a:xfrm>
          <a:prstGeom prst="rect">
            <a:avLst/>
          </a:prstGeom>
          <a:noFill/>
        </p:spPr>
        <p:txBody>
          <a:bodyPr wrap="square">
            <a:spAutoFit/>
          </a:bodyPr>
          <a:lstStyle/>
          <a:p>
            <a:pPr algn="l">
              <a:spcAft>
                <a:spcPts val="500"/>
              </a:spcAft>
            </a:pPr>
            <a:r>
              <a:rPr sz="2000" b="1">
                <a:solidFill>
                  <a:srgbClr val="8E6F3E"/>
                </a:solidFill>
                <a:latin typeface="Calibri"/>
              </a:rPr>
              <a:t>EVERY ROW VALID</a:t>
            </a:r>
          </a:p>
          <a:p>
            <a:pPr algn="l">
              <a:spcAft>
                <a:spcPts val="200"/>
              </a:spcAft>
            </a:pPr>
            <a:r>
              <a:rPr sz="2000" b="0">
                <a:solidFill>
                  <a:srgbClr val="2D2D2D"/>
                </a:solidFill>
                <a:latin typeface="Consolas"/>
              </a:rPr>
              <a:t>117 10:00–11:00 CONFIRMED</a:t>
            </a:r>
          </a:p>
          <a:p>
            <a:pPr algn="l">
              <a:spcAft>
                <a:spcPts val="500"/>
              </a:spcAft>
            </a:pPr>
            <a:r>
              <a:rPr sz="2000" b="0">
                <a:solidFill>
                  <a:srgbClr val="2D2D2D"/>
                </a:solidFill>
                <a:latin typeface="Consolas"/>
              </a:rPr>
              <a:t>117 10:30–11:30 CONFIRMED</a:t>
            </a:r>
          </a:p>
          <a:p>
            <a:pPr algn="l">
              <a:spcAft>
                <a:spcPts val="400"/>
              </a:spcAft>
            </a:pPr>
            <a:r>
              <a:rPr sz="2000" b="0">
                <a:solidFill>
                  <a:srgbClr val="555960"/>
                </a:solidFill>
                <a:latin typeface="Calibri"/>
              </a:rPr>
              <a:t>Every schema constraint passes, row by row</a:t>
            </a:r>
          </a:p>
        </p:txBody>
      </p:sp>
      <p:sp>
        <p:nvSpPr>
          <p:cNvPr id="5" name="Card"/>
          <p:cNvSpPr/>
          <p:nvPr/>
        </p:nvSpPr>
        <p:spPr>
          <a:xfrm>
            <a:off x="5440680" y="960120"/>
            <a:ext cx="3291840" cy="2377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2194560"/>
          </a:xfrm>
          <a:prstGeom prst="rect">
            <a:avLst/>
          </a:prstGeom>
          <a:noFill/>
        </p:spPr>
        <p:txBody>
          <a:bodyPr wrap="square">
            <a:spAutoFit/>
          </a:bodyPr>
          <a:lstStyle/>
          <a:p>
            <a:pPr algn="l">
              <a:spcAft>
                <a:spcPts val="500"/>
              </a:spcAft>
            </a:pPr>
            <a:r>
              <a:rPr sz="2000" b="1">
                <a:solidFill>
                  <a:srgbClr val="C01B1B"/>
                </a:solidFill>
                <a:latin typeface="Calibri"/>
              </a:rPr>
              <a:t>…and the invariant is violated</a:t>
            </a:r>
          </a:p>
          <a:p>
            <a:pPr algn="l">
              <a:spcAft>
                <a:spcPts val="400"/>
              </a:spcAft>
            </a:pPr>
            <a:r>
              <a:rPr sz="2000" b="0">
                <a:solidFill>
                  <a:srgbClr val="555960"/>
                </a:solidFill>
                <a:latin typeface="Calibri"/>
              </a:rPr>
              <a:t>Overlap is a property of the pair, not of either row</a:t>
            </a:r>
          </a:p>
        </p:txBody>
      </p:sp>
      <p:sp>
        <p:nvSpPr>
          <p:cNvPr id="7" name="Card"/>
          <p:cNvSpPr/>
          <p:nvPr/>
        </p:nvSpPr>
        <p:spPr>
          <a:xfrm>
            <a:off x="411480" y="3566160"/>
            <a:ext cx="8321040" cy="1508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639312"/>
            <a:ext cx="8046720" cy="1371600"/>
          </a:xfrm>
          <a:prstGeom prst="rect">
            <a:avLst/>
          </a:prstGeom>
          <a:noFill/>
        </p:spPr>
        <p:txBody>
          <a:bodyPr wrap="square">
            <a:spAutoFit/>
          </a:bodyPr>
          <a:lstStyle/>
          <a:p>
            <a:pPr algn="l">
              <a:spcAft>
                <a:spcPts val="300"/>
              </a:spcAft>
            </a:pPr>
            <a:r>
              <a:rPr sz="2000" b="1">
                <a:solidFill>
                  <a:srgbClr val="5C4826"/>
                </a:solidFill>
                <a:latin typeface="Calibri"/>
              </a:rPr>
              <a:t>Validity is judged per row; correctness constrains relations between rows</a:t>
            </a:r>
          </a:p>
          <a:p>
            <a:pPr algn="l">
              <a:spcAft>
                <a:spcPts val="400"/>
              </a:spcAft>
            </a:pPr>
            <a:r>
              <a:rPr sz="2000" b="0">
                <a:solidFill>
                  <a:srgbClr val="555960"/>
                </a:solidFill>
                <a:latin typeface="Calibri"/>
              </a:rPr>
              <a:t>…and, once requests overlap in time, relations between operations: the concurrency section.</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database full of valid rows can still be a broken application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How does an application ask for stored information?</a:t>
            </a:r>
          </a:p>
        </p:txBody>
      </p:sp>
      <p:sp>
        <p:nvSpPr>
          <p:cNvPr id="3" name="Card"/>
          <p:cNvSpPr/>
          <p:nvPr/>
        </p:nvSpPr>
        <p:spPr>
          <a:xfrm>
            <a:off x="411480" y="960120"/>
            <a:ext cx="4846320" cy="28346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2651760"/>
          </a:xfrm>
          <a:prstGeom prst="rect">
            <a:avLst/>
          </a:prstGeom>
          <a:noFill/>
        </p:spPr>
        <p:txBody>
          <a:bodyPr wrap="square">
            <a:spAutoFit/>
          </a:bodyPr>
          <a:lstStyle/>
          <a:p>
            <a:pPr algn="l">
              <a:spcAft>
                <a:spcPts val="200"/>
              </a:spcAft>
            </a:pPr>
            <a:r>
              <a:rPr sz="2000" b="0">
                <a:solidFill>
                  <a:srgbClr val="2D2D2D"/>
                </a:solidFill>
                <a:latin typeface="Consolas"/>
              </a:rPr>
              <a:t>SELECT 1</a:t>
            </a:r>
          </a:p>
          <a:p>
            <a:pPr algn="l">
              <a:spcAft>
                <a:spcPts val="200"/>
              </a:spcAft>
            </a:pPr>
            <a:r>
              <a:rPr sz="2000" b="0">
                <a:solidFill>
                  <a:srgbClr val="2D2D2D"/>
                </a:solidFill>
                <a:latin typeface="Consolas"/>
              </a:rPr>
              <a:t>FROM reservations</a:t>
            </a:r>
          </a:p>
          <a:p>
            <a:pPr algn="l">
              <a:spcAft>
                <a:spcPts val="200"/>
              </a:spcAft>
            </a:pPr>
            <a:r>
              <a:rPr sz="2000" b="0">
                <a:solidFill>
                  <a:srgbClr val="2D2D2D"/>
                </a:solidFill>
                <a:latin typeface="Consolas"/>
              </a:rPr>
              <a:t>WHERE room_id = :room</a:t>
            </a:r>
          </a:p>
          <a:p>
            <a:pPr algn="l">
              <a:spcAft>
                <a:spcPts val="200"/>
              </a:spcAft>
            </a:pPr>
            <a:r>
              <a:rPr sz="2000" b="0">
                <a:solidFill>
                  <a:srgbClr val="2D2D2D"/>
                </a:solidFill>
                <a:latin typeface="Consolas"/>
              </a:rPr>
              <a:t>  AND status  = 'CONFIRMED'</a:t>
            </a:r>
          </a:p>
          <a:p>
            <a:pPr algn="l">
              <a:spcAft>
                <a:spcPts val="200"/>
              </a:spcAft>
            </a:pPr>
            <a:r>
              <a:rPr sz="2000" b="0">
                <a:solidFill>
                  <a:srgbClr val="2D2D2D"/>
                </a:solidFill>
                <a:latin typeface="Consolas"/>
              </a:rPr>
              <a:t>  AND starts_at &lt; :ends</a:t>
            </a:r>
          </a:p>
          <a:p>
            <a:pPr algn="l">
              <a:spcAft>
                <a:spcPts val="200"/>
              </a:spcAft>
            </a:pPr>
            <a:r>
              <a:rPr sz="2000" b="0">
                <a:solidFill>
                  <a:srgbClr val="2D2D2D"/>
                </a:solidFill>
                <a:latin typeface="Consolas"/>
              </a:rPr>
              <a:t>  AND ends_at   &gt; :starts;</a:t>
            </a:r>
          </a:p>
        </p:txBody>
      </p:sp>
      <p:sp>
        <p:nvSpPr>
          <p:cNvPr id="5" name="Card"/>
          <p:cNvSpPr/>
          <p:nvPr/>
        </p:nvSpPr>
        <p:spPr>
          <a:xfrm>
            <a:off x="5440680" y="960120"/>
            <a:ext cx="3291840" cy="28346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2651760"/>
          </a:xfrm>
          <a:prstGeom prst="rect">
            <a:avLst/>
          </a:prstGeom>
          <a:noFill/>
        </p:spPr>
        <p:txBody>
          <a:bodyPr wrap="square">
            <a:spAutoFit/>
          </a:bodyPr>
          <a:lstStyle/>
          <a:p>
            <a:pPr algn="l">
              <a:spcAft>
                <a:spcPts val="500"/>
              </a:spcAft>
            </a:pPr>
            <a:r>
              <a:rPr sz="2000" b="1">
                <a:solidFill>
                  <a:srgbClr val="8E6F3E"/>
                </a:solidFill>
                <a:latin typeface="Calibri"/>
              </a:rPr>
              <a:t>DECLARATIVE</a:t>
            </a:r>
          </a:p>
          <a:p>
            <a:pPr algn="l">
              <a:spcAft>
                <a:spcPts val="400"/>
              </a:spcAft>
            </a:pPr>
            <a:r>
              <a:rPr sz="2000" b="0">
                <a:solidFill>
                  <a:srgbClr val="5C4826"/>
                </a:solidFill>
                <a:latin typeface="Calibri"/>
              </a:rPr>
              <a:t>Names the rows wanted</a:t>
            </a:r>
          </a:p>
          <a:p>
            <a:pPr algn="l">
              <a:spcAft>
                <a:spcPts val="400"/>
              </a:spcAft>
            </a:pPr>
            <a:r>
              <a:rPr sz="2000" b="0">
                <a:solidFill>
                  <a:srgbClr val="555960"/>
                </a:solidFill>
                <a:latin typeface="Calibri"/>
              </a:rPr>
              <a:t>Says nothing about scans, indexes, or order</a:t>
            </a:r>
          </a:p>
          <a:p>
            <a:pPr algn="l">
              <a:spcAft>
                <a:spcPts val="400"/>
              </a:spcAft>
            </a:pPr>
            <a:r>
              <a:rPr sz="2000" b="0">
                <a:solidFill>
                  <a:srgbClr val="555960"/>
                </a:solidFill>
                <a:latin typeface="Calibri"/>
              </a:rPr>
              <a:t>The engine chooses HOW</a:t>
            </a:r>
          </a:p>
        </p:txBody>
      </p:sp>
      <p:sp>
        <p:nvSpPr>
          <p:cNvPr id="7" name="Card"/>
          <p:cNvSpPr/>
          <p:nvPr/>
        </p:nvSpPr>
        <p:spPr>
          <a:xfrm>
            <a:off x="411480" y="4023360"/>
            <a:ext cx="8321040" cy="12344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96512"/>
            <a:ext cx="8046720" cy="1097280"/>
          </a:xfrm>
          <a:prstGeom prst="rect">
            <a:avLst/>
          </a:prstGeom>
          <a:noFill/>
        </p:spPr>
        <p:txBody>
          <a:bodyPr wrap="square">
            <a:spAutoFit/>
          </a:bodyPr>
          <a:lstStyle/>
          <a:p>
            <a:pPr algn="l">
              <a:spcAft>
                <a:spcPts val="300"/>
              </a:spcAft>
            </a:pPr>
            <a:r>
              <a:rPr sz="2000" b="1">
                <a:solidFill>
                  <a:srgbClr val="5C4826"/>
                </a:solidFill>
                <a:latin typeface="Calibri"/>
              </a:rPr>
              <a:t>The overlap test:  A.starts &lt; B.ends  AND  A.ends &gt; B.starts</a:t>
            </a:r>
          </a:p>
          <a:p>
            <a:pPr algn="l">
              <a:spcAft>
                <a:spcPts val="400"/>
              </a:spcAft>
            </a:pPr>
            <a:r>
              <a:rPr sz="2000" b="0">
                <a:solidFill>
                  <a:srgbClr val="555960"/>
                </a:solidFill>
                <a:latin typeface="Calibri"/>
              </a:rPr>
              <a:t>This predicate is the invariant in query form. It returns when requests overlap.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ORM maps your objects to stored data</a:t>
            </a:r>
          </a:p>
        </p:txBody>
      </p:sp>
      <p:sp>
        <p:nvSpPr>
          <p:cNvPr id="3" name="Label"/>
          <p:cNvSpPr txBox="1"/>
          <p:nvPr/>
        </p:nvSpPr>
        <p:spPr>
          <a:xfrm>
            <a:off x="411480" y="841248"/>
            <a:ext cx="8321040" cy="365760"/>
          </a:xfrm>
          <a:prstGeom prst="rect">
            <a:avLst/>
          </a:prstGeom>
          <a:noFill/>
        </p:spPr>
        <p:txBody>
          <a:bodyPr wrap="square">
            <a:spAutoFit/>
          </a:bodyPr>
          <a:lstStyle/>
          <a:p>
            <a:pPr algn="l">
              <a:spcAft>
                <a:spcPts val="400"/>
              </a:spcAft>
            </a:pPr>
            <a:r>
              <a:rPr sz="2000" b="1">
                <a:solidFill>
                  <a:srgbClr val="8E6F3E"/>
                </a:solidFill>
                <a:latin typeface="Calibri"/>
              </a:rPr>
              <a:t>Illustrative: real syntax depends on the library</a:t>
            </a:r>
          </a:p>
        </p:txBody>
      </p:sp>
      <p:sp>
        <p:nvSpPr>
          <p:cNvPr id="4" name="Card"/>
          <p:cNvSpPr/>
          <p:nvPr/>
        </p:nvSpPr>
        <p:spPr>
          <a:xfrm>
            <a:off x="411480" y="1298448"/>
            <a:ext cx="4846320" cy="2468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ode"/>
          <p:cNvSpPr txBox="1"/>
          <p:nvPr/>
        </p:nvSpPr>
        <p:spPr>
          <a:xfrm>
            <a:off x="557784" y="1389888"/>
            <a:ext cx="4553712" cy="2286000"/>
          </a:xfrm>
          <a:prstGeom prst="rect">
            <a:avLst/>
          </a:prstGeom>
          <a:noFill/>
        </p:spPr>
        <p:txBody>
          <a:bodyPr wrap="square">
            <a:spAutoFit/>
          </a:bodyPr>
          <a:lstStyle/>
          <a:p>
            <a:pPr algn="l">
              <a:spcAft>
                <a:spcPts val="200"/>
              </a:spcAft>
            </a:pPr>
            <a:r>
              <a:rPr sz="2000" b="0">
                <a:solidFill>
                  <a:srgbClr val="2D2D2D"/>
                </a:solidFill>
                <a:latin typeface="Consolas"/>
              </a:rPr>
              <a:t>conflict = (Resv.query</a:t>
            </a:r>
          </a:p>
          <a:p>
            <a:pPr algn="l">
              <a:spcAft>
                <a:spcPts val="200"/>
              </a:spcAft>
            </a:pPr>
            <a:r>
              <a:rPr sz="2000" b="0">
                <a:solidFill>
                  <a:srgbClr val="2D2D2D"/>
                </a:solidFill>
                <a:latin typeface="Consolas"/>
              </a:rPr>
              <a:t>  .filter_by(room=room,</a:t>
            </a:r>
          </a:p>
          <a:p>
            <a:pPr algn="l">
              <a:spcAft>
                <a:spcPts val="200"/>
              </a:spcAft>
            </a:pPr>
            <a:r>
              <a:rPr sz="2000" b="0">
                <a:solidFill>
                  <a:srgbClr val="2D2D2D"/>
                </a:solidFill>
                <a:latin typeface="Consolas"/>
              </a:rPr>
              <a:t>    status='CONFIRMED')</a:t>
            </a:r>
          </a:p>
          <a:p>
            <a:pPr algn="l">
              <a:spcAft>
                <a:spcPts val="200"/>
              </a:spcAft>
            </a:pPr>
            <a:r>
              <a:rPr sz="2000" b="0">
                <a:solidFill>
                  <a:srgbClr val="2D2D2D"/>
                </a:solidFill>
                <a:latin typeface="Consolas"/>
              </a:rPr>
              <a:t>  .filter(overlaps(s, e))</a:t>
            </a:r>
          </a:p>
          <a:p>
            <a:pPr algn="l">
              <a:spcAft>
                <a:spcPts val="200"/>
              </a:spcAft>
            </a:pPr>
            <a:r>
              <a:rPr sz="2000" b="0">
                <a:solidFill>
                  <a:srgbClr val="2D2D2D"/>
                </a:solidFill>
                <a:latin typeface="Consolas"/>
              </a:rPr>
              <a:t>  .first())</a:t>
            </a:r>
          </a:p>
        </p:txBody>
      </p:sp>
      <p:sp>
        <p:nvSpPr>
          <p:cNvPr id="6" name="Card"/>
          <p:cNvSpPr/>
          <p:nvPr/>
        </p:nvSpPr>
        <p:spPr>
          <a:xfrm>
            <a:off x="5440680" y="1298448"/>
            <a:ext cx="3291840" cy="2468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86984" y="1389888"/>
            <a:ext cx="2999232" cy="2286000"/>
          </a:xfrm>
          <a:prstGeom prst="rect">
            <a:avLst/>
          </a:prstGeom>
          <a:noFill/>
        </p:spPr>
        <p:txBody>
          <a:bodyPr wrap="square">
            <a:spAutoFit/>
          </a:bodyPr>
          <a:lstStyle/>
          <a:p>
            <a:pPr algn="l">
              <a:spcAft>
                <a:spcPts val="500"/>
              </a:spcAft>
            </a:pPr>
            <a:r>
              <a:rPr sz="2000" b="1">
                <a:solidFill>
                  <a:srgbClr val="8E6F3E"/>
                </a:solidFill>
                <a:latin typeface="Calibri"/>
              </a:rPr>
              <a:t>WHAT IT BUYS</a:t>
            </a:r>
          </a:p>
          <a:p>
            <a:pPr algn="l">
              <a:spcAft>
                <a:spcPts val="400"/>
              </a:spcAft>
            </a:pPr>
            <a:r>
              <a:rPr sz="2000" b="0">
                <a:solidFill>
                  <a:srgbClr val="5C4826"/>
                </a:solidFill>
                <a:latin typeface="Calibri"/>
              </a:rPr>
              <a:t>Objects in your language</a:t>
            </a:r>
          </a:p>
          <a:p>
            <a:pPr algn="l">
              <a:spcAft>
                <a:spcPts val="400"/>
              </a:spcAft>
            </a:pPr>
            <a:r>
              <a:rPr sz="2000" b="0">
                <a:solidFill>
                  <a:srgbClr val="5C4826"/>
                </a:solidFill>
                <a:latin typeface="Calibri"/>
              </a:rPr>
              <a:t>Mapping and sessions handled</a:t>
            </a:r>
          </a:p>
          <a:p>
            <a:pPr algn="l">
              <a:spcAft>
                <a:spcPts val="400"/>
              </a:spcAft>
            </a:pPr>
            <a:r>
              <a:rPr sz="2000" b="0">
                <a:solidFill>
                  <a:srgbClr val="5C4826"/>
                </a:solidFill>
                <a:latin typeface="Calibri"/>
              </a:rPr>
              <a:t>Less boilerplate</a:t>
            </a:r>
          </a:p>
        </p:txBody>
      </p:sp>
      <p:sp>
        <p:nvSpPr>
          <p:cNvPr id="8" name="Card"/>
          <p:cNvSpPr/>
          <p:nvPr/>
        </p:nvSpPr>
        <p:spPr>
          <a:xfrm>
            <a:off x="411480" y="3950208"/>
            <a:ext cx="8321040" cy="16276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rdBody"/>
          <p:cNvSpPr txBox="1"/>
          <p:nvPr/>
        </p:nvSpPr>
        <p:spPr>
          <a:xfrm>
            <a:off x="557784" y="4023360"/>
            <a:ext cx="8046720" cy="1481328"/>
          </a:xfrm>
          <a:prstGeom prst="rect">
            <a:avLst/>
          </a:prstGeom>
          <a:noFill/>
        </p:spPr>
        <p:txBody>
          <a:bodyPr wrap="square">
            <a:spAutoFit/>
          </a:bodyPr>
          <a:lstStyle/>
          <a:p>
            <a:pPr algn="l">
              <a:spcAft>
                <a:spcPts val="300"/>
              </a:spcAft>
            </a:pPr>
            <a:r>
              <a:rPr sz="2000" b="1">
                <a:solidFill>
                  <a:srgbClr val="8E6F3E"/>
                </a:solidFill>
                <a:latin typeface="Calibri"/>
              </a:rPr>
              <a:t>WHAT IT COSTS</a:t>
            </a:r>
          </a:p>
          <a:p>
            <a:pPr algn="l">
              <a:spcAft>
                <a:spcPts val="400"/>
              </a:spcAft>
            </a:pPr>
            <a:r>
              <a:rPr sz="2000" b="0">
                <a:solidFill>
                  <a:srgbClr val="555960"/>
                </a:solidFill>
                <a:latin typeface="Calibri"/>
              </a:rPr>
              <a:t>Leaky: you still must know the SQL it emits</a:t>
            </a:r>
          </a:p>
          <a:p>
            <a:pPr algn="l">
              <a:spcAft>
                <a:spcPts val="400"/>
              </a:spcAft>
            </a:pPr>
            <a:r>
              <a:rPr sz="2000" b="0">
                <a:solidFill>
                  <a:srgbClr val="555960"/>
                </a:solidFill>
                <a:latin typeface="Calibri"/>
              </a:rPr>
              <a:t>Generated queries can be inefficient: the N+1 trap</a:t>
            </a:r>
          </a:p>
          <a:p>
            <a:pPr algn="l">
              <a:spcAft>
                <a:spcPts val="400"/>
              </a:spcAft>
            </a:pPr>
            <a:r>
              <a:rPr sz="2000" b="0">
                <a:solidFill>
                  <a:srgbClr val="555960"/>
                </a:solidFill>
                <a:latin typeface="Calibri"/>
              </a:rPr>
              <a:t>Database-specific operations get awkward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Query language and ORM live at different layers</a:t>
            </a:r>
          </a:p>
        </p:txBody>
      </p:sp>
      <p:sp>
        <p:nvSpPr>
          <p:cNvPr id="3" name="Block" descr="Five-layer stack read downward: application objects, ORM, SQL, engine, stored data; each layer hands its output to the one below"/>
          <p:cNvSpPr/>
          <p:nvPr/>
        </p:nvSpPr>
        <p:spPr>
          <a:xfrm>
            <a:off x="914400" y="91440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Application objects</a:t>
            </a:r>
          </a:p>
        </p:txBody>
      </p:sp>
      <p:sp>
        <p:nvSpPr>
          <p:cNvPr id="4" name="Arrow"/>
          <p:cNvSpPr/>
          <p:nvPr/>
        </p:nvSpPr>
        <p:spPr>
          <a:xfrm>
            <a:off x="2834640" y="157276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Block"/>
          <p:cNvSpPr/>
          <p:nvPr/>
        </p:nvSpPr>
        <p:spPr>
          <a:xfrm>
            <a:off x="914400" y="178308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ORM: maps objects to rows; emits SQL</a:t>
            </a:r>
          </a:p>
        </p:txBody>
      </p:sp>
      <p:sp>
        <p:nvSpPr>
          <p:cNvPr id="6" name="Arrow"/>
          <p:cNvSpPr/>
          <p:nvPr/>
        </p:nvSpPr>
        <p:spPr>
          <a:xfrm>
            <a:off x="2834640" y="244144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Block"/>
          <p:cNvSpPr/>
          <p:nvPr/>
        </p:nvSpPr>
        <p:spPr>
          <a:xfrm>
            <a:off x="914400" y="265176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SQL: the declarative WHAT</a:t>
            </a:r>
          </a:p>
        </p:txBody>
      </p:sp>
      <p:sp>
        <p:nvSpPr>
          <p:cNvPr id="8" name="Arrow"/>
          <p:cNvSpPr/>
          <p:nvPr/>
        </p:nvSpPr>
        <p:spPr>
          <a:xfrm>
            <a:off x="2834640" y="331012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914400" y="352044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Engine: plans and executes (HOW)</a:t>
            </a:r>
          </a:p>
        </p:txBody>
      </p:sp>
      <p:sp>
        <p:nvSpPr>
          <p:cNvPr id="10" name="Arrow"/>
          <p:cNvSpPr/>
          <p:nvPr/>
        </p:nvSpPr>
        <p:spPr>
          <a:xfrm>
            <a:off x="2834640" y="4178808"/>
            <a:ext cx="365760" cy="1920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Block"/>
          <p:cNvSpPr/>
          <p:nvPr/>
        </p:nvSpPr>
        <p:spPr>
          <a:xfrm>
            <a:off x="914400" y="4389120"/>
            <a:ext cx="420624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Stored data: pages, rows, indexes</a:t>
            </a:r>
          </a:p>
        </p:txBody>
      </p:sp>
      <p:sp>
        <p:nvSpPr>
          <p:cNvPr id="12" name="Card"/>
          <p:cNvSpPr/>
          <p:nvPr/>
        </p:nvSpPr>
        <p:spPr>
          <a:xfrm>
            <a:off x="5486400" y="1783080"/>
            <a:ext cx="3246120" cy="2377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CardBody"/>
          <p:cNvSpPr txBox="1"/>
          <p:nvPr/>
        </p:nvSpPr>
        <p:spPr>
          <a:xfrm>
            <a:off x="5632704" y="1874519"/>
            <a:ext cx="2953512" cy="2194560"/>
          </a:xfrm>
          <a:prstGeom prst="rect">
            <a:avLst/>
          </a:prstGeom>
          <a:noFill/>
        </p:spPr>
        <p:txBody>
          <a:bodyPr wrap="square">
            <a:spAutoFit/>
          </a:bodyPr>
          <a:lstStyle/>
          <a:p>
            <a:pPr algn="l">
              <a:spcAft>
                <a:spcPts val="600"/>
              </a:spcAft>
            </a:pPr>
            <a:r>
              <a:rPr sz="2000" b="1">
                <a:solidFill>
                  <a:srgbClr val="5C4826"/>
                </a:solidFill>
                <a:latin typeface="Calibri"/>
              </a:rPr>
              <a:t>An ORM maps application operations to database queries</a:t>
            </a:r>
          </a:p>
          <a:p>
            <a:pPr algn="l">
              <a:spcAft>
                <a:spcPts val="600"/>
              </a:spcAft>
            </a:pPr>
            <a:r>
              <a:rPr sz="2000" b="0">
                <a:solidFill>
                  <a:srgbClr val="555960"/>
                </a:solidFill>
                <a:latin typeface="Calibri"/>
              </a:rPr>
              <a:t>The database still determines how those queries execute.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The optimizer chooses how your query runs</a:t>
            </a:r>
          </a:p>
        </p:txBody>
      </p:sp>
      <p:sp>
        <p:nvSpPr>
          <p:cNvPr id="16" name="Block"/>
          <p:cNvSpPr/>
          <p:nvPr/>
        </p:nvSpPr>
        <p:spPr>
          <a:xfrm>
            <a:off x="411480" y="868680"/>
            <a:ext cx="18288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Parse &amp; validate</a:t>
            </a:r>
          </a:p>
        </p:txBody>
      </p:sp>
      <p:sp>
        <p:nvSpPr>
          <p:cNvPr id="17" name="Arrow"/>
          <p:cNvSpPr/>
          <p:nvPr/>
        </p:nvSpPr>
        <p:spPr>
          <a:xfrm>
            <a:off x="2304288" y="1088136"/>
            <a:ext cx="365760"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lock"/>
          <p:cNvSpPr/>
          <p:nvPr/>
        </p:nvSpPr>
        <p:spPr>
          <a:xfrm>
            <a:off x="2743200" y="868680"/>
            <a:ext cx="18288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Logical plan</a:t>
            </a:r>
          </a:p>
        </p:txBody>
      </p:sp>
      <p:sp>
        <p:nvSpPr>
          <p:cNvPr id="19" name="Arrow"/>
          <p:cNvSpPr/>
          <p:nvPr/>
        </p:nvSpPr>
        <p:spPr>
          <a:xfrm>
            <a:off x="3520440" y="1554480"/>
            <a:ext cx="274320" cy="27432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lock" descr="Query execution diagram: parse and validate feeds a logical plan; the logical plan and statistics about your data feed the optimizer; two candidate plans branch from it, sequential scan and index range scan; the lowest estimated cost executes"/>
          <p:cNvSpPr/>
          <p:nvPr/>
        </p:nvSpPr>
        <p:spPr>
          <a:xfrm>
            <a:off x="2743200" y="1874519"/>
            <a:ext cx="18288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OPTIMIZER</a:t>
            </a:r>
          </a:p>
        </p:txBody>
      </p:sp>
      <p:sp>
        <p:nvSpPr>
          <p:cNvPr id="21" name="Block"/>
          <p:cNvSpPr/>
          <p:nvPr/>
        </p:nvSpPr>
        <p:spPr>
          <a:xfrm>
            <a:off x="5760720" y="1874519"/>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a:solidFill>
                  <a:srgbClr val="FFFFFF"/>
                </a:solidFill>
                <a:latin typeface="Calibri"/>
              </a:rPr>
              <a:t>statistics about your data</a:t>
            </a:r>
          </a:p>
        </p:txBody>
      </p:sp>
      <p:sp>
        <p:nvSpPr>
          <p:cNvPr id="22" name="Arrow"/>
          <p:cNvSpPr/>
          <p:nvPr/>
        </p:nvSpPr>
        <p:spPr>
          <a:xfrm>
            <a:off x="5074920" y="2139696"/>
            <a:ext cx="411480"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PlanBranch"/>
          <p:cNvCxnSpPr/>
          <p:nvPr/>
        </p:nvCxnSpPr>
        <p:spPr>
          <a:xfrm flipH="1">
            <a:off x="2377440" y="2633472"/>
            <a:ext cx="822960" cy="338328"/>
          </a:xfrm>
          <a:prstGeom prst="line">
            <a:avLst/>
          </a:prstGeom>
          <a:ln w="31750">
            <a:solidFill>
              <a:srgbClr val="8E6F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PlanBranch"/>
          <p:cNvCxnSpPr/>
          <p:nvPr/>
        </p:nvCxnSpPr>
        <p:spPr>
          <a:xfrm>
            <a:off x="4114800" y="2633472"/>
            <a:ext cx="2468880" cy="338328"/>
          </a:xfrm>
          <a:prstGeom prst="line">
            <a:avLst/>
          </a:prstGeom>
          <a:ln w="31750">
            <a:solidFill>
              <a:srgbClr val="8E6F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Candidate"/>
          <p:cNvSpPr/>
          <p:nvPr/>
        </p:nvSpPr>
        <p:spPr>
          <a:xfrm>
            <a:off x="640080" y="2971800"/>
            <a:ext cx="3474720" cy="8686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ndidateBody"/>
          <p:cNvSpPr txBox="1"/>
          <p:nvPr/>
        </p:nvSpPr>
        <p:spPr>
          <a:xfrm>
            <a:off x="768096" y="3026664"/>
            <a:ext cx="3218688" cy="777240"/>
          </a:xfrm>
          <a:prstGeom prst="rect">
            <a:avLst/>
          </a:prstGeom>
          <a:noFill/>
        </p:spPr>
        <p:txBody>
          <a:bodyPr wrap="square">
            <a:spAutoFit/>
          </a:bodyPr>
          <a:lstStyle/>
          <a:p>
            <a:r>
              <a:rPr sz="2000" b="1">
                <a:solidFill>
                  <a:srgbClr val="2D2D2D"/>
                </a:solidFill>
                <a:latin typeface="Calibri"/>
              </a:rPr>
              <a:t>Candidate: sequential scan</a:t>
            </a:r>
          </a:p>
          <a:p>
            <a:r>
              <a:rPr sz="2000" b="0">
                <a:solidFill>
                  <a:srgbClr val="555960"/>
                </a:solidFill>
                <a:latin typeface="Calibri"/>
              </a:rPr>
              <a:t>read every row, test each</a:t>
            </a:r>
          </a:p>
        </p:txBody>
      </p:sp>
      <p:sp>
        <p:nvSpPr>
          <p:cNvPr id="27" name="Candidate"/>
          <p:cNvSpPr/>
          <p:nvPr/>
        </p:nvSpPr>
        <p:spPr>
          <a:xfrm>
            <a:off x="4846320" y="2971800"/>
            <a:ext cx="3474720" cy="8686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ndidateBody"/>
          <p:cNvSpPr txBox="1"/>
          <p:nvPr/>
        </p:nvSpPr>
        <p:spPr>
          <a:xfrm>
            <a:off x="4974336" y="3026664"/>
            <a:ext cx="3218688" cy="777240"/>
          </a:xfrm>
          <a:prstGeom prst="rect">
            <a:avLst/>
          </a:prstGeom>
          <a:noFill/>
        </p:spPr>
        <p:txBody>
          <a:bodyPr wrap="square">
            <a:spAutoFit/>
          </a:bodyPr>
          <a:lstStyle/>
          <a:p>
            <a:r>
              <a:rPr sz="2000" b="1">
                <a:solidFill>
                  <a:srgbClr val="2D2D2D"/>
                </a:solidFill>
                <a:latin typeface="Calibri"/>
              </a:rPr>
              <a:t>Candidate: index range scan</a:t>
            </a:r>
          </a:p>
          <a:p>
            <a:r>
              <a:rPr sz="2000" b="0">
                <a:solidFill>
                  <a:srgbClr val="555960"/>
                </a:solidFill>
                <a:latin typeface="Calibri"/>
              </a:rPr>
              <a:t>seek this room's window</a:t>
            </a:r>
          </a:p>
        </p:txBody>
      </p:sp>
      <p:sp>
        <p:nvSpPr>
          <p:cNvPr id="29" name="Arrow"/>
          <p:cNvSpPr/>
          <p:nvPr/>
        </p:nvSpPr>
        <p:spPr>
          <a:xfrm>
            <a:off x="6446520" y="3877056"/>
            <a:ext cx="274320" cy="27432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oiceLabel"/>
          <p:cNvSpPr txBox="1"/>
          <p:nvPr/>
        </p:nvSpPr>
        <p:spPr>
          <a:xfrm>
            <a:off x="640080" y="4224528"/>
            <a:ext cx="4023360" cy="347472"/>
          </a:xfrm>
          <a:prstGeom prst="rect">
            <a:avLst/>
          </a:prstGeom>
          <a:noFill/>
        </p:spPr>
        <p:txBody>
          <a:bodyPr wrap="square">
            <a:spAutoFit/>
          </a:bodyPr>
          <a:lstStyle/>
          <a:p>
            <a:pPr algn="r"/>
            <a:r>
              <a:rPr sz="2000" b="0">
                <a:solidFill>
                  <a:srgbClr val="555960"/>
                </a:solidFill>
                <a:latin typeface="Calibri"/>
              </a:rPr>
              <a:t>lowest estimated cost wins</a:t>
            </a:r>
          </a:p>
        </p:txBody>
      </p:sp>
      <p:sp>
        <p:nvSpPr>
          <p:cNvPr id="31" name="Block"/>
          <p:cNvSpPr/>
          <p:nvPr/>
        </p:nvSpPr>
        <p:spPr>
          <a:xfrm>
            <a:off x="4846320" y="4187952"/>
            <a:ext cx="34747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Execute the chosen plan</a:t>
            </a:r>
          </a:p>
        </p:txBody>
      </p:sp>
      <p:sp>
        <p:nvSpPr>
          <p:cNvPr id="14" name="Card"/>
          <p:cNvSpPr/>
          <p:nvPr/>
        </p:nvSpPr>
        <p:spPr>
          <a:xfrm>
            <a:off x="411480" y="4892040"/>
            <a:ext cx="8321040" cy="960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CardBody"/>
          <p:cNvSpPr txBox="1"/>
          <p:nvPr/>
        </p:nvSpPr>
        <p:spPr>
          <a:xfrm>
            <a:off x="557784" y="4965192"/>
            <a:ext cx="8046720" cy="822960"/>
          </a:xfrm>
          <a:prstGeom prst="rect">
            <a:avLst/>
          </a:prstGeom>
          <a:noFill/>
        </p:spPr>
        <p:txBody>
          <a:bodyPr wrap="square">
            <a:spAutoFit/>
          </a:bodyPr>
          <a:lstStyle/>
          <a:p>
            <a:pPr algn="l">
              <a:spcAft>
                <a:spcPts val="300"/>
              </a:spcAft>
            </a:pPr>
            <a:r>
              <a:rPr sz="2000" b="1">
                <a:solidFill>
                  <a:srgbClr val="5C4826"/>
                </a:solidFill>
                <a:latin typeface="Calibri"/>
              </a:rPr>
              <a:t>It compares candidate plans by estimated cost, using statistics about YOUR data</a:t>
            </a:r>
          </a:p>
          <a:p>
            <a:pPr algn="l">
              <a:spcAft>
                <a:spcPts val="400"/>
              </a:spcAft>
            </a:pPr>
            <a:r>
              <a:rPr sz="2000" b="0">
                <a:solidFill>
                  <a:srgbClr val="555960"/>
                </a:solidFill>
                <a:latin typeface="Calibri"/>
              </a:rPr>
              <a:t>Same SQL, thousandfold cost differences. The levers you supply: indexes, layout, fresh statistics.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One query, two plans, very different costs</a:t>
            </a:r>
          </a:p>
        </p:txBody>
      </p:sp>
      <p:sp>
        <p:nvSpPr>
          <p:cNvPr id="3" name="Card"/>
          <p:cNvSpPr/>
          <p:nvPr/>
        </p:nvSpPr>
        <p:spPr>
          <a:xfrm>
            <a:off x="411480" y="9601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377440"/>
          </a:xfrm>
          <a:prstGeom prst="rect">
            <a:avLst/>
          </a:prstGeom>
          <a:noFill/>
        </p:spPr>
        <p:txBody>
          <a:bodyPr wrap="square">
            <a:spAutoFit/>
          </a:bodyPr>
          <a:lstStyle/>
          <a:p>
            <a:pPr algn="l">
              <a:spcAft>
                <a:spcPts val="500"/>
              </a:spcAft>
            </a:pPr>
            <a:r>
              <a:rPr sz="2000" b="1">
                <a:solidFill>
                  <a:srgbClr val="8E6F3E"/>
                </a:solidFill>
                <a:latin typeface="Calibri"/>
              </a:rPr>
              <a:t>SEQUENTIAL SCAN</a:t>
            </a:r>
          </a:p>
          <a:p>
            <a:pPr algn="l">
              <a:spcAft>
                <a:spcPts val="400"/>
              </a:spcAft>
            </a:pPr>
            <a:r>
              <a:rPr sz="2000" b="1">
                <a:solidFill>
                  <a:srgbClr val="5C4826"/>
                </a:solidFill>
                <a:latin typeface="Calibri"/>
              </a:rPr>
              <a:t>Read all 2,000,000 rows, test each</a:t>
            </a:r>
          </a:p>
          <a:p>
            <a:pPr algn="l">
              <a:spcAft>
                <a:spcPts val="400"/>
              </a:spcAft>
            </a:pPr>
            <a:r>
              <a:rPr sz="2000" b="0">
                <a:solidFill>
                  <a:srgbClr val="555960"/>
                </a:solidFill>
                <a:latin typeface="Calibri"/>
              </a:rPr>
              <a:t>Cost grows with the table, not with the answer</a:t>
            </a:r>
          </a:p>
        </p:txBody>
      </p:sp>
      <p:sp>
        <p:nvSpPr>
          <p:cNvPr id="5" name="Card"/>
          <p:cNvSpPr/>
          <p:nvPr/>
        </p:nvSpPr>
        <p:spPr>
          <a:xfrm>
            <a:off x="4663440" y="9601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377440"/>
          </a:xfrm>
          <a:prstGeom prst="rect">
            <a:avLst/>
          </a:prstGeom>
          <a:noFill/>
        </p:spPr>
        <p:txBody>
          <a:bodyPr wrap="square">
            <a:spAutoFit/>
          </a:bodyPr>
          <a:lstStyle/>
          <a:p>
            <a:pPr algn="l">
              <a:spcAft>
                <a:spcPts val="500"/>
              </a:spcAft>
            </a:pPr>
            <a:r>
              <a:rPr sz="2000" b="1">
                <a:solidFill>
                  <a:srgbClr val="8E6F3E"/>
                </a:solidFill>
                <a:latin typeface="Calibri"/>
              </a:rPr>
              <a:t>INDEX RANGE SCAN</a:t>
            </a:r>
          </a:p>
          <a:p>
            <a:pPr algn="l">
              <a:spcAft>
                <a:spcPts val="400"/>
              </a:spcAft>
            </a:pPr>
            <a:r>
              <a:rPr sz="2000" b="1">
                <a:solidFill>
                  <a:srgbClr val="5C4826"/>
                </a:solidFill>
                <a:latin typeface="Calibri"/>
              </a:rPr>
              <a:t>Index on (room_id, starts_at)</a:t>
            </a:r>
          </a:p>
          <a:p>
            <a:pPr algn="l">
              <a:spcAft>
                <a:spcPts val="400"/>
              </a:spcAft>
            </a:pPr>
            <a:r>
              <a:rPr sz="2000" b="0">
                <a:solidFill>
                  <a:srgbClr val="555960"/>
                </a:solidFill>
                <a:latin typeface="Calibri"/>
              </a:rPr>
              <a:t>Seek to this room's window; examine only candidate rows</a:t>
            </a:r>
          </a:p>
          <a:p>
            <a:pPr algn="l">
              <a:spcAft>
                <a:spcPts val="400"/>
              </a:spcAft>
            </a:pPr>
            <a:r>
              <a:rPr sz="2000" b="0">
                <a:solidFill>
                  <a:srgbClr val="555960"/>
                </a:solidFill>
                <a:latin typeface="Calibri"/>
              </a:rPr>
              <a:t>The ends_at test still filters each candidate</a:t>
            </a:r>
          </a:p>
        </p:txBody>
      </p:sp>
      <p:sp>
        <p:nvSpPr>
          <p:cNvPr id="7" name="Card"/>
          <p:cNvSpPr/>
          <p:nvPr/>
        </p:nvSpPr>
        <p:spPr>
          <a:xfrm>
            <a:off x="411480" y="3749039"/>
            <a:ext cx="8321040" cy="13716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822191"/>
            <a:ext cx="8046720" cy="1234440"/>
          </a:xfrm>
          <a:prstGeom prst="rect">
            <a:avLst/>
          </a:prstGeom>
          <a:noFill/>
        </p:spPr>
        <p:txBody>
          <a:bodyPr wrap="square">
            <a:spAutoFit/>
          </a:bodyPr>
          <a:lstStyle/>
          <a:p>
            <a:pPr algn="l">
              <a:spcAft>
                <a:spcPts val="300"/>
              </a:spcAft>
            </a:pPr>
            <a:r>
              <a:rPr sz="2000" b="1">
                <a:solidFill>
                  <a:srgbClr val="5C4826"/>
                </a:solidFill>
                <a:latin typeface="Calibri"/>
              </a:rPr>
              <a:t>Same query text; the index changed the plan</a:t>
            </a:r>
          </a:p>
          <a:p>
            <a:pPr algn="l">
              <a:spcAft>
                <a:spcPts val="400"/>
              </a:spcAft>
            </a:pPr>
            <a:r>
              <a:rPr sz="2000" b="0">
                <a:solidFill>
                  <a:srgbClr val="555960"/>
                </a:solidFill>
                <a:latin typeface="Calibri"/>
              </a:rPr>
              <a:t>An index is bought, not free: faster reads, paid for on every write, chosen per access pattern.</a:t>
            </a:r>
          </a:p>
        </p:txBody>
      </p:sp>
      <p:sp>
        <p:nvSpPr>
          <p:cNvPr id="11" name="Label"/>
          <p:cNvSpPr txBox="1"/>
          <p:nvPr/>
        </p:nvSpPr>
        <p:spPr>
          <a:xfrm>
            <a:off x="411480" y="731520"/>
            <a:ext cx="8321040" cy="365760"/>
          </a:xfrm>
          <a:prstGeom prst="rect">
            <a:avLst/>
          </a:prstGeom>
          <a:noFill/>
        </p:spPr>
        <p:txBody>
          <a:bodyPr wrap="square">
            <a:spAutoFit/>
          </a:bodyPr>
          <a:lstStyle/>
          <a:p>
            <a:r>
              <a:rPr sz="2000" b="1"/>
              <a:t>Illustrative workload: two million reservations, one busy room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The N+1 problem: correct code, terrible access pattern</a:t>
            </a:r>
          </a:p>
        </p:txBody>
      </p:sp>
      <p:sp>
        <p:nvSpPr>
          <p:cNvPr id="3" name="Card"/>
          <p:cNvSpPr/>
          <p:nvPr/>
        </p:nvSpPr>
        <p:spPr>
          <a:xfrm>
            <a:off x="411480" y="960120"/>
            <a:ext cx="4846320" cy="17830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1600200"/>
          </a:xfrm>
          <a:prstGeom prst="rect">
            <a:avLst/>
          </a:prstGeom>
          <a:noFill/>
        </p:spPr>
        <p:txBody>
          <a:bodyPr wrap="square">
            <a:spAutoFit/>
          </a:bodyPr>
          <a:lstStyle/>
          <a:p>
            <a:pPr algn="l">
              <a:spcAft>
                <a:spcPts val="200"/>
              </a:spcAft>
            </a:pPr>
            <a:r>
              <a:rPr sz="2000" b="0">
                <a:solidFill>
                  <a:srgbClr val="2D2D2D"/>
                </a:solidFill>
                <a:latin typeface="Consolas"/>
              </a:rPr>
              <a:t>for r in reservations:</a:t>
            </a:r>
          </a:p>
          <a:p>
            <a:pPr algn="l">
              <a:spcAft>
                <a:spcPts val="200"/>
              </a:spcAft>
            </a:pPr>
            <a:r>
              <a:rPr sz="2000" b="0">
                <a:solidFill>
                  <a:srgbClr val="2D2D2D"/>
                </a:solidFill>
                <a:latin typeface="Consolas"/>
              </a:rPr>
              <a:t>    print(r.room.name)</a:t>
            </a:r>
          </a:p>
          <a:p>
            <a:pPr algn="l">
              <a:spcAft>
                <a:spcPts val="200"/>
              </a:spcAft>
            </a:pPr>
            <a:r>
              <a:rPr sz="2000" b="0">
                <a:solidFill>
                  <a:srgbClr val="2D2D2D"/>
                </a:solidFill>
                <a:latin typeface="Consolas"/>
              </a:rPr>
              <a:t># 200 rows -&gt; 201 queries</a:t>
            </a:r>
          </a:p>
        </p:txBody>
      </p:sp>
      <p:sp>
        <p:nvSpPr>
          <p:cNvPr id="5" name="Card"/>
          <p:cNvSpPr/>
          <p:nvPr/>
        </p:nvSpPr>
        <p:spPr>
          <a:xfrm>
            <a:off x="5440680" y="960120"/>
            <a:ext cx="3291840" cy="1783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1600200"/>
          </a:xfrm>
          <a:prstGeom prst="rect">
            <a:avLst/>
          </a:prstGeom>
          <a:noFill/>
        </p:spPr>
        <p:txBody>
          <a:bodyPr wrap="square">
            <a:spAutoFit/>
          </a:bodyPr>
          <a:lstStyle/>
          <a:p>
            <a:pPr algn="l">
              <a:spcAft>
                <a:spcPts val="400"/>
              </a:spcAft>
            </a:pPr>
            <a:r>
              <a:rPr sz="2000" b="1">
                <a:solidFill>
                  <a:srgbClr val="5C4826"/>
                </a:solidFill>
                <a:latin typeface="Calibri"/>
              </a:rPr>
              <a:t>Batched instead</a:t>
            </a:r>
          </a:p>
          <a:p>
            <a:pPr algn="l">
              <a:spcAft>
                <a:spcPts val="400"/>
              </a:spcAft>
            </a:pPr>
            <a:r>
              <a:rPr sz="2000" b="0">
                <a:solidFill>
                  <a:srgbClr val="555960"/>
                </a:solidFill>
                <a:latin typeface="Calibri"/>
              </a:rPr>
              <a:t>One JOIN (or prefetch) → one round trip</a:t>
            </a:r>
          </a:p>
        </p:txBody>
      </p:sp>
      <p:sp>
        <p:nvSpPr>
          <p:cNvPr id="7" name="Card"/>
          <p:cNvSpPr/>
          <p:nvPr/>
        </p:nvSpPr>
        <p:spPr>
          <a:xfrm>
            <a:off x="411480" y="2971800"/>
            <a:ext cx="8321040" cy="15544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044952"/>
            <a:ext cx="8046720" cy="1417320"/>
          </a:xfrm>
          <a:prstGeom prst="rect">
            <a:avLst/>
          </a:prstGeom>
          <a:noFill/>
        </p:spPr>
        <p:txBody>
          <a:bodyPr wrap="square">
            <a:spAutoFit/>
          </a:bodyPr>
          <a:lstStyle/>
          <a:p>
            <a:pPr algn="l">
              <a:spcAft>
                <a:spcPts val="300"/>
              </a:spcAft>
            </a:pPr>
            <a:r>
              <a:rPr sz="2000" b="1">
                <a:solidFill>
                  <a:srgbClr val="8E6F3E"/>
                </a:solidFill>
                <a:latin typeface="Calibri"/>
              </a:rPr>
              <a:t>WHY THIS BITES IN 2026</a:t>
            </a:r>
          </a:p>
          <a:p>
            <a:pPr algn="l">
              <a:spcAft>
                <a:spcPts val="300"/>
              </a:spcAft>
            </a:pPr>
            <a:r>
              <a:rPr sz="2000" b="0">
                <a:solidFill>
                  <a:srgbClr val="555960"/>
                </a:solidFill>
                <a:latin typeface="Calibri"/>
              </a:rPr>
              <a:t>ORM abstractions and generated code can conceal expensive access patterns.</a:t>
            </a:r>
          </a:p>
          <a:p>
            <a:pPr algn="l">
              <a:spcAft>
                <a:spcPts val="400"/>
              </a:spcAft>
            </a:pPr>
            <a:r>
              <a:rPr sz="2000" b="1">
                <a:solidFill>
                  <a:srgbClr val="5C4826"/>
                </a:solidFill>
                <a:latin typeface="Calibri"/>
              </a:rPr>
              <a:t>Review the queries the code EMITS, not just the code.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Tests for correctness will not catch an access-pattern defect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Can individually correct requests violate an invariant?</a:t>
            </a:r>
          </a:p>
        </p:txBody>
      </p:sp>
      <p:sp>
        <p:nvSpPr>
          <p:cNvPr id="3" name="Block" descr="Two-column timeline: requests A and B for room 117 with overlapping times; both availability checks run before either insert; both inserts then commit"/>
          <p:cNvSpPr/>
          <p:nvPr/>
        </p:nvSpPr>
        <p:spPr>
          <a:xfrm>
            <a:off x="41148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A: 117, 10:00–11:00</a:t>
            </a:r>
          </a:p>
        </p:txBody>
      </p:sp>
      <p:sp>
        <p:nvSpPr>
          <p:cNvPr id="4" name="Block"/>
          <p:cNvSpPr/>
          <p:nvPr/>
        </p:nvSpPr>
        <p:spPr>
          <a:xfrm>
            <a:off x="466344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B: 117, 10:30–11:30</a:t>
            </a:r>
          </a:p>
        </p:txBody>
      </p:sp>
      <p:sp>
        <p:nvSpPr>
          <p:cNvPr id="5" name="Block"/>
          <p:cNvSpPr/>
          <p:nvPr/>
        </p:nvSpPr>
        <p:spPr>
          <a:xfrm>
            <a:off x="411480" y="164592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t1 · check 10:00–11:00 → no conflict</a:t>
            </a:r>
          </a:p>
        </p:txBody>
      </p:sp>
      <p:sp>
        <p:nvSpPr>
          <p:cNvPr id="6" name="Block"/>
          <p:cNvSpPr/>
          <p:nvPr/>
        </p:nvSpPr>
        <p:spPr>
          <a:xfrm>
            <a:off x="4663440" y="237744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t2 · check 10:30–11:30 → no conflict</a:t>
            </a:r>
          </a:p>
        </p:txBody>
      </p:sp>
      <p:sp>
        <p:nvSpPr>
          <p:cNvPr id="7" name="Block"/>
          <p:cNvSpPr/>
          <p:nvPr/>
        </p:nvSpPr>
        <p:spPr>
          <a:xfrm>
            <a:off x="411480" y="310896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t3 · INSERT CONFIRMED ✓</a:t>
            </a:r>
          </a:p>
        </p:txBody>
      </p:sp>
      <p:sp>
        <p:nvSpPr>
          <p:cNvPr id="8" name="Block"/>
          <p:cNvSpPr/>
          <p:nvPr/>
        </p:nvSpPr>
        <p:spPr>
          <a:xfrm>
            <a:off x="4663440" y="384048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t4 · INSERT CONFIRMED ✓</a:t>
            </a:r>
          </a:p>
        </p:txBody>
      </p:sp>
      <p:sp>
        <p:nvSpPr>
          <p:cNvPr id="9" name="Card"/>
          <p:cNvSpPr/>
          <p:nvPr/>
        </p:nvSpPr>
        <p:spPr>
          <a:xfrm>
            <a:off x="411480" y="4617720"/>
            <a:ext cx="8321040" cy="11887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Verdict"/>
          <p:cNvSpPr txBox="1"/>
          <p:nvPr/>
        </p:nvSpPr>
        <p:spPr>
          <a:xfrm>
            <a:off x="557784" y="4672584"/>
            <a:ext cx="8046720" cy="1078992"/>
          </a:xfrm>
          <a:prstGeom prst="rect">
            <a:avLst/>
          </a:prstGeom>
          <a:noFill/>
        </p:spPr>
        <p:txBody>
          <a:bodyPr wrap="square">
            <a:spAutoFit/>
          </a:bodyPr>
          <a:lstStyle/>
          <a:p>
            <a:pPr algn="l">
              <a:spcAft>
                <a:spcPts val="200"/>
              </a:spcAft>
            </a:pPr>
            <a:r>
              <a:rPr sz="2000" b="1">
                <a:solidFill>
                  <a:srgbClr val="C01B1B"/>
                </a:solidFill>
                <a:latin typeface="Calibri"/>
              </a:rPr>
              <a:t>Both commits succeed. Room 117 is double-booked.</a:t>
            </a:r>
          </a:p>
          <a:p>
            <a:pPr algn="l">
              <a:spcAft>
                <a:spcPts val="400"/>
              </a:spcAft>
            </a:pPr>
            <a:r>
              <a:rPr sz="2000" b="0">
                <a:solidFill>
                  <a:srgbClr val="555960"/>
                </a:solidFill>
                <a:latin typeface="Calibri"/>
              </a:rPr>
              <a:t>No statement failed, no constraint fired, and each request, read alone, follows the intended algorithm exactly.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ACID: what the database actually promises</a:t>
            </a:r>
          </a:p>
        </p:txBody>
      </p:sp>
      <p:sp>
        <p:nvSpPr>
          <p:cNvPr id="3" name="Card"/>
          <p:cNvSpPr/>
          <p:nvPr/>
        </p:nvSpPr>
        <p:spPr>
          <a:xfrm>
            <a:off x="411480" y="914400"/>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Atomicity</a:t>
            </a:r>
          </a:p>
        </p:txBody>
      </p:sp>
      <p:sp>
        <p:nvSpPr>
          <p:cNvPr id="5" name="RowBody"/>
          <p:cNvSpPr txBox="1"/>
          <p:nvPr/>
        </p:nvSpPr>
        <p:spPr>
          <a:xfrm>
            <a:off x="2752344" y="950976"/>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All of a transaction's writes commit, or none do</a:t>
            </a:r>
          </a:p>
        </p:txBody>
      </p:sp>
      <p:sp>
        <p:nvSpPr>
          <p:cNvPr id="6" name="Card"/>
          <p:cNvSpPr/>
          <p:nvPr/>
        </p:nvSpPr>
        <p:spPr>
          <a:xfrm>
            <a:off x="411480" y="1719072"/>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755648"/>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Consistency</a:t>
            </a:r>
          </a:p>
        </p:txBody>
      </p:sp>
      <p:sp>
        <p:nvSpPr>
          <p:cNvPr id="8" name="RowBody"/>
          <p:cNvSpPr txBox="1"/>
          <p:nvPr/>
        </p:nvSpPr>
        <p:spPr>
          <a:xfrm>
            <a:off x="2752344" y="1755648"/>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Transactions preserve the database's specified integrity constraints</a:t>
            </a:r>
          </a:p>
        </p:txBody>
      </p:sp>
      <p:sp>
        <p:nvSpPr>
          <p:cNvPr id="9" name="Card"/>
          <p:cNvSpPr/>
          <p:nvPr/>
        </p:nvSpPr>
        <p:spPr>
          <a:xfrm>
            <a:off x="411480" y="2523744"/>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560320"/>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Isolation</a:t>
            </a:r>
          </a:p>
        </p:txBody>
      </p:sp>
      <p:sp>
        <p:nvSpPr>
          <p:cNvPr id="11" name="RowBody"/>
          <p:cNvSpPr txBox="1"/>
          <p:nvPr/>
        </p:nvSpPr>
        <p:spPr>
          <a:xfrm>
            <a:off x="2752344" y="2560320"/>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Concurrent transactions interact only in permitted ways</a:t>
            </a:r>
          </a:p>
        </p:txBody>
      </p:sp>
      <p:sp>
        <p:nvSpPr>
          <p:cNvPr id="12" name="Card"/>
          <p:cNvSpPr/>
          <p:nvPr/>
        </p:nvSpPr>
        <p:spPr>
          <a:xfrm>
            <a:off x="411480" y="3328415"/>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364991"/>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Durability</a:t>
            </a:r>
          </a:p>
        </p:txBody>
      </p:sp>
      <p:sp>
        <p:nvSpPr>
          <p:cNvPr id="14" name="RowBody"/>
          <p:cNvSpPr txBox="1"/>
          <p:nvPr/>
        </p:nvSpPr>
        <p:spPr>
          <a:xfrm>
            <a:off x="2752344" y="3364991"/>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 committed write survives crashes</a:t>
            </a:r>
          </a:p>
        </p:txBody>
      </p:sp>
      <p:sp>
        <p:nvSpPr>
          <p:cNvPr id="15" name="Card"/>
          <p:cNvSpPr/>
          <p:nvPr/>
        </p:nvSpPr>
        <p:spPr>
          <a:xfrm>
            <a:off x="411480" y="4224528"/>
            <a:ext cx="8321040" cy="144475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NonClaim"/>
          <p:cNvSpPr txBox="1"/>
          <p:nvPr/>
        </p:nvSpPr>
        <p:spPr>
          <a:xfrm>
            <a:off x="557784" y="4297680"/>
            <a:ext cx="8046720" cy="1298448"/>
          </a:xfrm>
          <a:prstGeom prst="rect">
            <a:avLst/>
          </a:prstGeom>
          <a:noFill/>
        </p:spPr>
        <p:txBody>
          <a:bodyPr wrap="square">
            <a:spAutoFit/>
          </a:bodyPr>
          <a:lstStyle/>
          <a:p>
            <a:pPr algn="l">
              <a:spcAft>
                <a:spcPts val="300"/>
              </a:spcAft>
            </a:pPr>
            <a:r>
              <a:rPr sz="2000" b="1">
                <a:solidFill>
                  <a:srgbClr val="C01B1B"/>
                </a:solidFill>
                <a:latin typeface="Calibri"/>
              </a:rPr>
              <a:t>“C” does not mean the database understands your application</a:t>
            </a:r>
          </a:p>
          <a:p>
            <a:pPr algn="l">
              <a:spcAft>
                <a:spcPts val="400"/>
              </a:spcAft>
            </a:pPr>
            <a:r>
              <a:rPr sz="2000" b="0">
                <a:solidFill>
                  <a:srgbClr val="555960"/>
                </a:solidFill>
                <a:latin typeface="Calibri"/>
              </a:rPr>
              <a:t>It enforces the constraints you supplied. Our overlap invariant was never supplied: ACID held, and the race still landed.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decides which concurrent histories can happen</a:t>
            </a:r>
          </a:p>
        </p:txBody>
      </p:sp>
      <p:sp>
        <p:nvSpPr>
          <p:cNvPr id="8" name="SetOuter" descr="Nested sets: all interleavings contain the histories your isolation level permits, which contain the serializable core; the double-booking history lies inside the permitted set but outside the serializable core"/>
          <p:cNvSpPr/>
          <p:nvPr/>
        </p:nvSpPr>
        <p:spPr>
          <a:xfrm>
            <a:off x="640080" y="914400"/>
            <a:ext cx="7863840" cy="31546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tMid"/>
          <p:cNvSpPr/>
          <p:nvPr/>
        </p:nvSpPr>
        <p:spPr>
          <a:xfrm>
            <a:off x="1188720" y="1627632"/>
            <a:ext cx="6766560" cy="2212848"/>
          </a:xfrm>
          <a:prstGeom prst="rect">
            <a:avLst/>
          </a:prstGeom>
          <a:solidFill>
            <a:srgbClr val="F5F1E8"/>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tInner"/>
          <p:cNvSpPr/>
          <p:nvPr/>
        </p:nvSpPr>
        <p:spPr>
          <a:xfrm>
            <a:off x="1783080" y="2487168"/>
            <a:ext cx="3749039" cy="107899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SERIALIZABLE</a:t>
            </a:r>
          </a:p>
          <a:p>
            <a:pPr algn="ctr"/>
            <a:r>
              <a:rPr sz="2000" b="0">
                <a:solidFill>
                  <a:srgbClr val="FFFFFF"/>
                </a:solidFill>
                <a:latin typeface="Calibri"/>
              </a:rPr>
              <a:t>equivalent to some serial order</a:t>
            </a:r>
          </a:p>
        </p:txBody>
      </p:sp>
      <p:sp>
        <p:nvSpPr>
          <p:cNvPr id="11" name="SetLabel"/>
          <p:cNvSpPr txBox="1"/>
          <p:nvPr/>
        </p:nvSpPr>
        <p:spPr>
          <a:xfrm>
            <a:off x="822960" y="987552"/>
            <a:ext cx="6035040" cy="365760"/>
          </a:xfrm>
          <a:prstGeom prst="rect">
            <a:avLst/>
          </a:prstGeom>
          <a:noFill/>
        </p:spPr>
        <p:txBody>
          <a:bodyPr wrap="square">
            <a:spAutoFit/>
          </a:bodyPr>
          <a:lstStyle/>
          <a:p>
            <a:r>
              <a:rPr sz="2000" b="1">
                <a:solidFill>
                  <a:srgbClr val="2D2D2D"/>
                </a:solidFill>
                <a:latin typeface="Calibri"/>
              </a:rPr>
              <a:t>All interleavings of concurrent transactions</a:t>
            </a:r>
          </a:p>
        </p:txBody>
      </p:sp>
      <p:sp>
        <p:nvSpPr>
          <p:cNvPr id="12" name="SetLabel"/>
          <p:cNvSpPr txBox="1"/>
          <p:nvPr/>
        </p:nvSpPr>
        <p:spPr>
          <a:xfrm>
            <a:off x="1371600" y="1700784"/>
            <a:ext cx="6035040" cy="365760"/>
          </a:xfrm>
          <a:prstGeom prst="rect">
            <a:avLst/>
          </a:prstGeom>
          <a:noFill/>
        </p:spPr>
        <p:txBody>
          <a:bodyPr wrap="square">
            <a:spAutoFit/>
          </a:bodyPr>
          <a:lstStyle/>
          <a:p>
            <a:r>
              <a:rPr sz="2000" b="1">
                <a:solidFill>
                  <a:srgbClr val="555960"/>
                </a:solidFill>
                <a:latin typeface="Calibri"/>
              </a:rPr>
              <a:t>Histories your isolation level permits</a:t>
            </a:r>
          </a:p>
        </p:txBody>
      </p:sp>
      <p:sp>
        <p:nvSpPr>
          <p:cNvPr id="13" name="RaceMarker"/>
          <p:cNvSpPr txBox="1"/>
          <p:nvPr/>
        </p:nvSpPr>
        <p:spPr>
          <a:xfrm>
            <a:off x="5760720" y="2651760"/>
            <a:ext cx="2103120" cy="777240"/>
          </a:xfrm>
          <a:prstGeom prst="rect">
            <a:avLst/>
          </a:prstGeom>
          <a:noFill/>
        </p:spPr>
        <p:txBody>
          <a:bodyPr wrap="square">
            <a:spAutoFit/>
          </a:bodyPr>
          <a:lstStyle/>
          <a:p>
            <a:r>
              <a:rPr sz="2000" b="1">
                <a:solidFill>
                  <a:srgbClr val="8E6F3E"/>
                </a:solidFill>
                <a:latin typeface="Calibri"/>
              </a:rPr>
              <a:t>✗ the double-booking</a:t>
            </a:r>
          </a:p>
          <a:p>
            <a:r>
              <a:rPr sz="2000" b="1">
                <a:solidFill>
                  <a:srgbClr val="8E6F3E"/>
                </a:solidFill>
                <a:latin typeface="Calibri"/>
              </a:rPr>
              <a:t>history</a:t>
            </a:r>
          </a:p>
        </p:txBody>
      </p:sp>
      <p:sp>
        <p:nvSpPr>
          <p:cNvPr id="6" name="Card"/>
          <p:cNvSpPr/>
          <p:nvPr/>
        </p:nvSpPr>
        <p:spPr>
          <a:xfrm>
            <a:off x="411480" y="425196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7784" y="4325112"/>
            <a:ext cx="8046720" cy="1280160"/>
          </a:xfrm>
          <a:prstGeom prst="rect">
            <a:avLst/>
          </a:prstGeom>
          <a:noFill/>
        </p:spPr>
        <p:txBody>
          <a:bodyPr wrap="square">
            <a:spAutoFit/>
          </a:bodyPr>
          <a:lstStyle/>
          <a:p>
            <a:pPr algn="l">
              <a:spcAft>
                <a:spcPts val="300"/>
              </a:spcAft>
            </a:pPr>
            <a:r>
              <a:rPr sz="2000" b="1">
                <a:solidFill>
                  <a:srgbClr val="5C4826"/>
                </a:solidFill>
                <a:latin typeface="Calibri"/>
              </a:rPr>
              <a:t>Act II's move again: correctness = every permitted history preserves the invariant</a:t>
            </a:r>
          </a:p>
          <a:p>
            <a:pPr algn="l">
              <a:spcAft>
                <a:spcPts val="400"/>
              </a:spcAft>
            </a:pPr>
            <a:r>
              <a:rPr sz="2000" b="0">
                <a:solidFill>
                  <a:srgbClr val="555960"/>
                </a:solidFill>
                <a:latin typeface="Calibri"/>
              </a:rPr>
              <a:t>With the check and the insert inside one transaction, one request must appear to run second; its check then sees the other's row.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levels are an engineering choice</a:t>
            </a:r>
          </a:p>
        </p:txBody>
      </p:sp>
      <p:sp>
        <p:nvSpPr>
          <p:cNvPr id="3" name="Card"/>
          <p:cNvSpPr/>
          <p:nvPr/>
        </p:nvSpPr>
        <p:spPr>
          <a:xfrm>
            <a:off x="411480" y="960120"/>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1014984"/>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READ COMMITTED</a:t>
            </a:r>
          </a:p>
        </p:txBody>
      </p:sp>
      <p:sp>
        <p:nvSpPr>
          <p:cNvPr id="5" name="RowBody"/>
          <p:cNvSpPr txBox="1"/>
          <p:nvPr/>
        </p:nvSpPr>
        <p:spPr>
          <a:xfrm>
            <a:off x="3703320" y="1014984"/>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permitted</a:t>
            </a:r>
          </a:p>
          <a:p>
            <a:pPr algn="l">
              <a:spcAft>
                <a:spcPts val="400"/>
              </a:spcAft>
            </a:pPr>
            <a:r>
              <a:rPr sz="2000" b="0">
                <a:solidFill>
                  <a:srgbClr val="555960"/>
                </a:solidFill>
                <a:latin typeface="Calibri"/>
              </a:rPr>
              <a:t>A common default: no dirty reads, but checks still interleave</a:t>
            </a:r>
          </a:p>
        </p:txBody>
      </p:sp>
      <p:sp>
        <p:nvSpPr>
          <p:cNvPr id="6" name="Card"/>
          <p:cNvSpPr/>
          <p:nvPr/>
        </p:nvSpPr>
        <p:spPr>
          <a:xfrm>
            <a:off x="411480" y="2212848"/>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267712"/>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SNAPSHOT ISOLATION</a:t>
            </a:r>
          </a:p>
          <a:p>
            <a:pPr algn="l">
              <a:spcAft>
                <a:spcPts val="400"/>
              </a:spcAft>
            </a:pPr>
            <a:r>
              <a:rPr sz="2000" b="0">
                <a:solidFill>
                  <a:srgbClr val="8E6F3E"/>
                </a:solidFill>
                <a:latin typeface="Calibri"/>
              </a:rPr>
              <a:t>how PostgreSQL runs Repeatable Read</a:t>
            </a:r>
          </a:p>
        </p:txBody>
      </p:sp>
      <p:sp>
        <p:nvSpPr>
          <p:cNvPr id="8" name="RowBody"/>
          <p:cNvSpPr txBox="1"/>
          <p:nvPr/>
        </p:nvSpPr>
        <p:spPr>
          <a:xfrm>
            <a:off x="3703320" y="2267712"/>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STILL permitted</a:t>
            </a:r>
          </a:p>
          <a:p>
            <a:pPr algn="l">
              <a:spcAft>
                <a:spcPts val="400"/>
              </a:spcAft>
            </a:pPr>
            <a:r>
              <a:rPr sz="2000" b="0">
                <a:solidFill>
                  <a:srgbClr val="555960"/>
                </a:solidFill>
                <a:latin typeface="Calibri"/>
              </a:rPr>
              <a:t>Each sees a frozen view; neither sees the other's insert (write skew)</a:t>
            </a:r>
          </a:p>
        </p:txBody>
      </p:sp>
      <p:sp>
        <p:nvSpPr>
          <p:cNvPr id="9" name="Card"/>
          <p:cNvSpPr/>
          <p:nvPr/>
        </p:nvSpPr>
        <p:spPr>
          <a:xfrm>
            <a:off x="411480" y="3465576"/>
            <a:ext cx="8321040" cy="111556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520440"/>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SERIALIZABLE</a:t>
            </a:r>
          </a:p>
        </p:txBody>
      </p:sp>
      <p:sp>
        <p:nvSpPr>
          <p:cNvPr id="11" name="RowBody"/>
          <p:cNvSpPr txBox="1"/>
          <p:nvPr/>
        </p:nvSpPr>
        <p:spPr>
          <a:xfrm>
            <a:off x="3703320" y="3520440"/>
            <a:ext cx="4892040" cy="1005840"/>
          </a:xfrm>
          <a:prstGeom prst="rect">
            <a:avLst/>
          </a:prstGeom>
          <a:noFill/>
        </p:spPr>
        <p:txBody>
          <a:bodyPr wrap="square">
            <a:spAutoFit/>
          </a:bodyPr>
          <a:lstStyle/>
          <a:p>
            <a:pPr algn="l">
              <a:spcAft>
                <a:spcPts val="200"/>
              </a:spcAft>
            </a:pPr>
            <a:r>
              <a:rPr sz="2000" b="1">
                <a:solidFill>
                  <a:srgbClr val="5C4826"/>
                </a:solidFill>
                <a:latin typeface="Calibri"/>
              </a:rPr>
              <a:t>Race excluded: one transaction aborts</a:t>
            </a:r>
          </a:p>
          <a:p>
            <a:pPr algn="l">
              <a:spcAft>
                <a:spcPts val="400"/>
              </a:spcAft>
            </a:pPr>
            <a:r>
              <a:rPr sz="2000" b="0">
                <a:solidFill>
                  <a:srgbClr val="555960"/>
                </a:solidFill>
                <a:latin typeface="Calibri"/>
              </a:rPr>
              <a:t>Your application must catch the abort and retry</a:t>
            </a:r>
          </a:p>
        </p:txBody>
      </p:sp>
      <p:sp>
        <p:nvSpPr>
          <p:cNvPr id="12" name="Card"/>
          <p:cNvSpPr/>
          <p:nvPr/>
        </p:nvSpPr>
        <p:spPr>
          <a:xfrm>
            <a:off x="411480" y="4800600"/>
            <a:ext cx="8321040" cy="8686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CardBody"/>
          <p:cNvSpPr txBox="1"/>
          <p:nvPr/>
        </p:nvSpPr>
        <p:spPr>
          <a:xfrm>
            <a:off x="557784" y="4855464"/>
            <a:ext cx="8046720" cy="768096"/>
          </a:xfrm>
          <a:prstGeom prst="rect">
            <a:avLst/>
          </a:prstGeom>
          <a:noFill/>
        </p:spPr>
        <p:txBody>
          <a:bodyPr wrap="square">
            <a:spAutoFit/>
          </a:bodyPr>
          <a:lstStyle/>
          <a:p>
            <a:pPr algn="l">
              <a:spcAft>
                <a:spcPts val="100"/>
              </a:spcAft>
            </a:pPr>
            <a:r>
              <a:rPr sz="2000" b="1">
                <a:solidFill>
                  <a:srgbClr val="5C4826"/>
                </a:solidFill>
                <a:latin typeface="Calibri"/>
              </a:rPr>
              <a:t>The default is a choice someone else made for you</a:t>
            </a:r>
          </a:p>
          <a:p>
            <a:pPr algn="l">
              <a:spcAft>
                <a:spcPts val="400"/>
              </a:spcAft>
            </a:pPr>
            <a:r>
              <a:rPr sz="2000" b="0">
                <a:solidFill>
                  <a:srgbClr val="555960"/>
                </a:solidFill>
                <a:latin typeface="Calibri"/>
              </a:rPr>
              <a:t>Know your engine's default before trusting any check-then-act.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Where can the no-overlap invariant be enforced?</a:t>
            </a:r>
          </a:p>
        </p:txBody>
      </p:sp>
      <p:sp>
        <p:nvSpPr>
          <p:cNvPr id="3" name="Card"/>
          <p:cNvSpPr/>
          <p:nvPr/>
        </p:nvSpPr>
        <p:spPr>
          <a:xfrm>
            <a:off x="411480" y="868680"/>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23544"/>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EXCLUSION CONSTRAINT</a:t>
            </a:r>
          </a:p>
        </p:txBody>
      </p:sp>
      <p:sp>
        <p:nvSpPr>
          <p:cNvPr id="5" name="RowBody"/>
          <p:cNvSpPr txBox="1"/>
          <p:nvPr/>
        </p:nvSpPr>
        <p:spPr>
          <a:xfrm>
            <a:off x="3246120" y="923544"/>
            <a:ext cx="5349240" cy="1188720"/>
          </a:xfrm>
          <a:prstGeom prst="rect">
            <a:avLst/>
          </a:prstGeom>
          <a:noFill/>
        </p:spPr>
        <p:txBody>
          <a:bodyPr wrap="square">
            <a:spAutoFit/>
          </a:bodyPr>
          <a:lstStyle/>
          <a:p>
            <a:pPr algn="l">
              <a:spcAft>
                <a:spcPts val="200"/>
              </a:spcAft>
            </a:pPr>
            <a:r>
              <a:rPr sz="2000" b="0">
                <a:solidFill>
                  <a:srgbClr val="5C4826"/>
                </a:solidFill>
                <a:latin typeface="Calibri"/>
              </a:rPr>
              <a:t>EXCLUDE (room =, time &amp;&amp;): the SCHEMA states it; the engine rejects the insert</a:t>
            </a:r>
          </a:p>
          <a:p>
            <a:pPr algn="l">
              <a:spcAft>
                <a:spcPts val="400"/>
              </a:spcAft>
            </a:pPr>
            <a:r>
              <a:rPr sz="2000" b="0">
                <a:solidFill>
                  <a:srgbClr val="555960"/>
                </a:solidFill>
                <a:latin typeface="Calibri"/>
              </a:rPr>
              <a:t>engine-specific (e.g. Postgres GiST)</a:t>
            </a:r>
          </a:p>
        </p:txBody>
      </p:sp>
      <p:sp>
        <p:nvSpPr>
          <p:cNvPr id="6" name="Card"/>
          <p:cNvSpPr/>
          <p:nvPr/>
        </p:nvSpPr>
        <p:spPr>
          <a:xfrm>
            <a:off x="411480" y="2258568"/>
            <a:ext cx="8321040" cy="12984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13432"/>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SERIALIZABLE + RETRY</a:t>
            </a:r>
          </a:p>
        </p:txBody>
      </p:sp>
      <p:sp>
        <p:nvSpPr>
          <p:cNvPr id="8" name="RowBody"/>
          <p:cNvSpPr txBox="1"/>
          <p:nvPr/>
        </p:nvSpPr>
        <p:spPr>
          <a:xfrm>
            <a:off x="3246120" y="2313432"/>
            <a:ext cx="5349240" cy="1188720"/>
          </a:xfrm>
          <a:prstGeom prst="rect">
            <a:avLst/>
          </a:prstGeom>
          <a:noFill/>
        </p:spPr>
        <p:txBody>
          <a:bodyPr wrap="square">
            <a:spAutoFit/>
          </a:bodyPr>
          <a:lstStyle/>
          <a:p>
            <a:pPr algn="l">
              <a:spcAft>
                <a:spcPts val="200"/>
              </a:spcAft>
            </a:pPr>
            <a:r>
              <a:rPr sz="2000" b="0">
                <a:solidFill>
                  <a:srgbClr val="5C4826"/>
                </a:solidFill>
                <a:latin typeface="Calibri"/>
              </a:rPr>
              <a:t>The ISOLATION CONTRACT excludes the bad history</a:t>
            </a:r>
          </a:p>
          <a:p>
            <a:pPr algn="l">
              <a:spcAft>
                <a:spcPts val="400"/>
              </a:spcAft>
            </a:pPr>
            <a:r>
              <a:rPr sz="2000" b="0">
                <a:solidFill>
                  <a:srgbClr val="555960"/>
                </a:solidFill>
                <a:latin typeface="Calibri"/>
              </a:rPr>
              <a:t>catch aborts and retry</a:t>
            </a:r>
          </a:p>
        </p:txBody>
      </p:sp>
      <p:sp>
        <p:nvSpPr>
          <p:cNvPr id="9" name="Card"/>
          <p:cNvSpPr/>
          <p:nvPr/>
        </p:nvSpPr>
        <p:spPr>
          <a:xfrm>
            <a:off x="411480" y="3648456"/>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703320"/>
            <a:ext cx="2560320" cy="1188720"/>
          </a:xfrm>
          <a:prstGeom prst="rect">
            <a:avLst/>
          </a:prstGeom>
          <a:noFill/>
        </p:spPr>
        <p:txBody>
          <a:bodyPr wrap="square" anchor="ctr">
            <a:spAutoFit/>
          </a:bodyPr>
          <a:lstStyle/>
          <a:p>
            <a:pPr algn="l">
              <a:spcAft>
                <a:spcPts val="400"/>
              </a:spcAft>
            </a:pPr>
            <a:r>
              <a:rPr sz="2000" b="1">
                <a:solidFill>
                  <a:srgbClr val="8E6F3E"/>
                </a:solidFill>
                <a:latin typeface="Calibri"/>
              </a:rPr>
              <a:t>EXPLICIT LOCKING</a:t>
            </a:r>
          </a:p>
        </p:txBody>
      </p:sp>
      <p:sp>
        <p:nvSpPr>
          <p:cNvPr id="11" name="RowBody"/>
          <p:cNvSpPr txBox="1"/>
          <p:nvPr/>
        </p:nvSpPr>
        <p:spPr>
          <a:xfrm>
            <a:off x="3246120" y="3703320"/>
            <a:ext cx="5349240" cy="1188720"/>
          </a:xfrm>
          <a:prstGeom prst="rect">
            <a:avLst/>
          </a:prstGeom>
          <a:noFill/>
        </p:spPr>
        <p:txBody>
          <a:bodyPr wrap="square">
            <a:spAutoFit/>
          </a:bodyPr>
          <a:lstStyle/>
          <a:p>
            <a:pPr algn="l">
              <a:spcAft>
                <a:spcPts val="200"/>
              </a:spcAft>
            </a:pPr>
            <a:r>
              <a:rPr sz="2000" b="0">
                <a:solidFill>
                  <a:srgbClr val="5C4826"/>
                </a:solidFill>
                <a:latin typeface="Calibri"/>
              </a:rPr>
              <a:t>SELECT … FOR UPDATE the room row first: your LOCKING DISCIPLINE, per room</a:t>
            </a:r>
          </a:p>
          <a:p>
            <a:pPr algn="l">
              <a:spcAft>
                <a:spcPts val="400"/>
              </a:spcAft>
            </a:pPr>
            <a:r>
              <a:rPr sz="2000" b="0">
                <a:solidFill>
                  <a:srgbClr val="555960"/>
                </a:solidFill>
                <a:latin typeface="Calibri"/>
              </a:rPr>
              <a:t>one code path that forgets the lock breaks it</a:t>
            </a:r>
          </a:p>
        </p:txBody>
      </p:sp>
      <p:sp>
        <p:nvSpPr>
          <p:cNvPr id="12" name="Card"/>
          <p:cNvSpPr/>
          <p:nvPr/>
        </p:nvSpPr>
        <p:spPr>
          <a:xfrm>
            <a:off x="411480" y="5047488"/>
            <a:ext cx="8321040" cy="74980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NonClaim"/>
          <p:cNvSpPr txBox="1"/>
          <p:nvPr/>
        </p:nvSpPr>
        <p:spPr>
          <a:xfrm>
            <a:off x="557784" y="5084064"/>
            <a:ext cx="8046720" cy="676656"/>
          </a:xfrm>
          <a:prstGeom prst="rect">
            <a:avLst/>
          </a:prstGeom>
          <a:noFill/>
        </p:spPr>
        <p:txBody>
          <a:bodyPr wrap="square">
            <a:spAutoFit/>
          </a:bodyPr>
          <a:lstStyle/>
          <a:p>
            <a:pPr algn="l">
              <a:spcAft>
                <a:spcPts val="400"/>
              </a:spcAft>
            </a:pPr>
            <a:r>
              <a:rPr sz="2000" b="1">
                <a:solidFill>
                  <a:srgbClr val="C01B1B"/>
                </a:solidFill>
                <a:latin typeface="Calibri"/>
              </a:rPr>
              <a:t>A foreign key or CHECK cannot state this invariant: it relates multiple reservation rows.</a:t>
            </a:r>
          </a:p>
        </p:txBody>
      </p:sp>
      <p:sp>
        <p:nvSpPr>
          <p:cNvPr id="1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Decide where the invariant lives: schema, isolation, or discipline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Concurrency control is not free</a:t>
            </a:r>
          </a:p>
        </p:txBody>
      </p:sp>
      <p:sp>
        <p:nvSpPr>
          <p:cNvPr id="3" name="Card"/>
          <p:cNvSpPr/>
          <p:nvPr/>
        </p:nvSpPr>
        <p:spPr>
          <a:xfrm>
            <a:off x="411480"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CONTENTION</a:t>
            </a:r>
          </a:p>
          <a:p>
            <a:pPr algn="l">
              <a:spcAft>
                <a:spcPts val="400"/>
              </a:spcAft>
            </a:pPr>
            <a:r>
              <a:rPr sz="2000" b="0">
                <a:solidFill>
                  <a:srgbClr val="555960"/>
                </a:solidFill>
                <a:latin typeface="Calibri"/>
              </a:rPr>
              <a:t>Hot rooms serialize; the waiting IS the mechanism working</a:t>
            </a:r>
          </a:p>
        </p:txBody>
      </p:sp>
      <p:sp>
        <p:nvSpPr>
          <p:cNvPr id="5" name="Card"/>
          <p:cNvSpPr/>
          <p:nvPr/>
        </p:nvSpPr>
        <p:spPr>
          <a:xfrm>
            <a:off x="3374136"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3520440"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RETRIES</a:t>
            </a:r>
          </a:p>
          <a:p>
            <a:pPr algn="l">
              <a:spcAft>
                <a:spcPts val="400"/>
              </a:spcAft>
            </a:pPr>
            <a:r>
              <a:rPr sz="2000" b="0">
                <a:solidFill>
                  <a:srgbClr val="555960"/>
                </a:solidFill>
                <a:latin typeface="Calibri"/>
              </a:rPr>
              <a:t>Serializable aborts are normal operation; wasted work grows with conflict rate</a:t>
            </a:r>
          </a:p>
        </p:txBody>
      </p:sp>
      <p:sp>
        <p:nvSpPr>
          <p:cNvPr id="7" name="Card"/>
          <p:cNvSpPr/>
          <p:nvPr/>
        </p:nvSpPr>
        <p:spPr>
          <a:xfrm>
            <a:off x="6336792"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6483096"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THROUGHPUT</a:t>
            </a:r>
          </a:p>
          <a:p>
            <a:pPr algn="l">
              <a:spcAft>
                <a:spcPts val="400"/>
              </a:spcAft>
            </a:pPr>
            <a:r>
              <a:rPr sz="2000" b="0">
                <a:solidFill>
                  <a:srgbClr val="555960"/>
                </a:solidFill>
                <a:latin typeface="Calibri"/>
              </a:rPr>
              <a:t>Stronger isolation buys correctness with capacity</a:t>
            </a:r>
          </a:p>
        </p:txBody>
      </p:sp>
      <p:sp>
        <p:nvSpPr>
          <p:cNvPr id="9" name="Card"/>
          <p:cNvSpPr/>
          <p:nvPr/>
        </p:nvSpPr>
        <p:spPr>
          <a:xfrm>
            <a:off x="411480" y="3840480"/>
            <a:ext cx="832104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rdBody"/>
          <p:cNvSpPr txBox="1"/>
          <p:nvPr/>
        </p:nvSpPr>
        <p:spPr>
          <a:xfrm>
            <a:off x="557784" y="3913632"/>
            <a:ext cx="8046720" cy="1325880"/>
          </a:xfrm>
          <a:prstGeom prst="rect">
            <a:avLst/>
          </a:prstGeom>
          <a:noFill/>
        </p:spPr>
        <p:txBody>
          <a:bodyPr wrap="square">
            <a:spAutoFit/>
          </a:bodyPr>
          <a:lstStyle/>
          <a:p>
            <a:pPr algn="l">
              <a:spcAft>
                <a:spcPts val="300"/>
              </a:spcAft>
            </a:pPr>
            <a:r>
              <a:rPr sz="2000" b="1">
                <a:solidFill>
                  <a:srgbClr val="5C4826"/>
                </a:solidFill>
                <a:latin typeface="Calibri"/>
              </a:rPr>
              <a:t>Pay for exactly the histories you must exclude</a:t>
            </a:r>
          </a:p>
          <a:p>
            <a:pPr algn="l">
              <a:spcAft>
                <a:spcPts val="400"/>
              </a:spcAft>
            </a:pPr>
            <a:r>
              <a:rPr sz="2000" b="0">
                <a:solidFill>
                  <a:srgbClr val="555960"/>
                </a:solidFill>
                <a:latin typeface="Calibri"/>
              </a:rPr>
              <a:t>Telemetry may tolerate weaker coordination guarantees; reservations require stronger protection against conflicting writes. Measuring that price is the next unit: Performance &amp; Reliability.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What happens when the data model must change?</a:t>
            </a:r>
          </a:p>
        </p:txBody>
      </p:sp>
      <p:sp>
        <p:nvSpPr>
          <p:cNvPr id="3" name="Card"/>
          <p:cNvSpPr/>
          <p:nvPr/>
        </p:nvSpPr>
        <p:spPr>
          <a:xfrm>
            <a:off x="411480" y="896112"/>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REPRESENTATION</a:t>
            </a:r>
          </a:p>
        </p:txBody>
      </p:sp>
      <p:sp>
        <p:nvSpPr>
          <p:cNvPr id="5" name="RowBody"/>
          <p:cNvSpPr txBox="1"/>
          <p:nvPr/>
        </p:nvSpPr>
        <p:spPr>
          <a:xfrm>
            <a:off x="3246120" y="950976"/>
            <a:ext cx="5349240" cy="1216152"/>
          </a:xfrm>
          <a:prstGeom prst="rect">
            <a:avLst/>
          </a:prstGeom>
          <a:noFill/>
        </p:spPr>
        <p:txBody>
          <a:bodyPr wrap="square">
            <a:spAutoFit/>
          </a:bodyPr>
          <a:lstStyle/>
          <a:p>
            <a:pPr algn="l">
              <a:spcAft>
                <a:spcPts val="200"/>
              </a:spcAft>
            </a:pPr>
            <a:r>
              <a:rPr sz="2000" b="1">
                <a:solidFill>
                  <a:srgbClr val="5C4826"/>
                </a:solidFill>
                <a:latin typeface="Calibri"/>
              </a:rPr>
              <a:t>Weekly recitation, every Tuesday: a recurrence-rule column? a series table? expanded rows?</a:t>
            </a:r>
          </a:p>
          <a:p>
            <a:pPr algn="l">
              <a:spcAft>
                <a:spcPts val="400"/>
              </a:spcAft>
            </a:pPr>
            <a:r>
              <a:rPr sz="2000" b="0">
                <a:solidFill>
                  <a:srgbClr val="555960"/>
                </a:solidFill>
                <a:latin typeface="Calibri"/>
              </a:rPr>
              <a:t>Each choice re-runs the modeling tradeoffs</a:t>
            </a:r>
          </a:p>
        </p:txBody>
      </p:sp>
      <p:sp>
        <p:nvSpPr>
          <p:cNvPr id="6" name="Card"/>
          <p:cNvSpPr/>
          <p:nvPr/>
        </p:nvSpPr>
        <p:spPr>
          <a:xfrm>
            <a:off x="411480" y="2340864"/>
            <a:ext cx="8321040" cy="1325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95728"/>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EXISTING RECORDS</a:t>
            </a:r>
          </a:p>
        </p:txBody>
      </p:sp>
      <p:sp>
        <p:nvSpPr>
          <p:cNvPr id="8" name="RowBody"/>
          <p:cNvSpPr txBox="1"/>
          <p:nvPr/>
        </p:nvSpPr>
        <p:spPr>
          <a:xfrm>
            <a:off x="3246120" y="2395728"/>
            <a:ext cx="5349240" cy="1216152"/>
          </a:xfrm>
          <a:prstGeom prst="rect">
            <a:avLst/>
          </a:prstGeom>
          <a:noFill/>
        </p:spPr>
        <p:txBody>
          <a:bodyPr wrap="square">
            <a:spAutoFit/>
          </a:bodyPr>
          <a:lstStyle/>
          <a:p>
            <a:pPr algn="l">
              <a:spcAft>
                <a:spcPts val="200"/>
              </a:spcAft>
            </a:pPr>
            <a:r>
              <a:rPr sz="2000" b="1">
                <a:solidFill>
                  <a:srgbClr val="5C4826"/>
                </a:solidFill>
                <a:latin typeface="Calibri"/>
              </a:rPr>
              <a:t>What happens to the rows already there: backfill, defaults, or dual reads?</a:t>
            </a:r>
          </a:p>
          <a:p>
            <a:pPr algn="l">
              <a:spcAft>
                <a:spcPts val="400"/>
              </a:spcAft>
            </a:pPr>
            <a:r>
              <a:rPr sz="2000" b="0">
                <a:solidFill>
                  <a:srgbClr val="555960"/>
                </a:solidFill>
                <a:latin typeface="Calibri"/>
              </a:rPr>
              <a:t>Data outlives the code that wrote it</a:t>
            </a:r>
          </a:p>
        </p:txBody>
      </p:sp>
      <p:sp>
        <p:nvSpPr>
          <p:cNvPr id="9" name="Card"/>
          <p:cNvSpPr/>
          <p:nvPr/>
        </p:nvSpPr>
        <p:spPr>
          <a:xfrm>
            <a:off x="411480" y="3785616"/>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840480"/>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AVAILABILITY DURING CHANGE</a:t>
            </a:r>
          </a:p>
        </p:txBody>
      </p:sp>
      <p:sp>
        <p:nvSpPr>
          <p:cNvPr id="11" name="RowBody"/>
          <p:cNvSpPr txBox="1"/>
          <p:nvPr/>
        </p:nvSpPr>
        <p:spPr>
          <a:xfrm>
            <a:off x="3246120" y="3840480"/>
            <a:ext cx="5349240" cy="1216152"/>
          </a:xfrm>
          <a:prstGeom prst="rect">
            <a:avLst/>
          </a:prstGeom>
          <a:noFill/>
        </p:spPr>
        <p:txBody>
          <a:bodyPr wrap="square">
            <a:spAutoFit/>
          </a:bodyPr>
          <a:lstStyle/>
          <a:p>
            <a:pPr algn="l">
              <a:spcAft>
                <a:spcPts val="200"/>
              </a:spcAft>
            </a:pPr>
            <a:r>
              <a:rPr sz="2000" b="1">
                <a:solidFill>
                  <a:srgbClr val="5C4826"/>
                </a:solidFill>
                <a:latin typeface="Calibri"/>
              </a:rPr>
              <a:t>Can the old version keep operating mid-migration?</a:t>
            </a:r>
          </a:p>
          <a:p>
            <a:pPr algn="l">
              <a:spcAft>
                <a:spcPts val="400"/>
              </a:spcAft>
            </a:pPr>
            <a:r>
              <a:rPr sz="2000" b="0">
                <a:solidFill>
                  <a:srgbClr val="555960"/>
                </a:solidFill>
                <a:latin typeface="Calibri"/>
              </a:rPr>
              <a:t>Expand → migrate → contract: add the new shape, move, then retire the old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Today's decisions through the Act III engineering method</a:t>
            </a:r>
          </a:p>
        </p:txBody>
      </p:sp>
      <p:sp>
        <p:nvSpPr>
          <p:cNvPr id="3" name="Block" descr="Act III engineering method flowchart populated with this lecture's decisions: problem (preserve correct reservations), model (entities, intervals, invariant), judgment (relational, normalized), realize (schema and queries), evidence (plans and the race), accept or reject (adopt the exclusion constraint); an alignment lane runs alongside"/>
          <p:cNvSpPr/>
          <p:nvPr/>
        </p:nvSpPr>
        <p:spPr>
          <a:xfrm>
            <a:off x="411480" y="9144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a:p>
            <a:pPr algn="ctr"/>
            <a:r>
              <a:rPr sz="2000" b="0">
                <a:solidFill>
                  <a:srgbClr val="FFFFFF"/>
                </a:solidFill>
                <a:latin typeface="Calibri"/>
              </a:rPr>
              <a:t>preserve correct reservations</a:t>
            </a:r>
          </a:p>
        </p:txBody>
      </p:sp>
      <p:sp>
        <p:nvSpPr>
          <p:cNvPr id="4" name="Block"/>
          <p:cNvSpPr/>
          <p:nvPr/>
        </p:nvSpPr>
        <p:spPr>
          <a:xfrm>
            <a:off x="3337560" y="9144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a:p>
            <a:pPr algn="ctr"/>
            <a:r>
              <a:rPr sz="2000" b="0">
                <a:solidFill>
                  <a:srgbClr val="FFFFFF"/>
                </a:solidFill>
                <a:latin typeface="Calibri"/>
              </a:rPr>
              <a:t>entities, intervals, invariant</a:t>
            </a:r>
          </a:p>
        </p:txBody>
      </p:sp>
      <p:sp>
        <p:nvSpPr>
          <p:cNvPr id="5" name="Block"/>
          <p:cNvSpPr/>
          <p:nvPr/>
        </p:nvSpPr>
        <p:spPr>
          <a:xfrm>
            <a:off x="6263640" y="9144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a:p>
            <a:pPr algn="ctr"/>
            <a:r>
              <a:rPr sz="2000" b="0">
                <a:solidFill>
                  <a:srgbClr val="FFFFFF"/>
                </a:solidFill>
                <a:latin typeface="Calibri"/>
              </a:rPr>
              <a:t>relational, normalized</a:t>
            </a:r>
          </a:p>
        </p:txBody>
      </p:sp>
      <p:sp>
        <p:nvSpPr>
          <p:cNvPr id="6" name="Arrow"/>
          <p:cNvSpPr/>
          <p:nvPr/>
        </p:nvSpPr>
        <p:spPr>
          <a:xfrm>
            <a:off x="2907792" y="140817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rrow"/>
          <p:cNvSpPr/>
          <p:nvPr/>
        </p:nvSpPr>
        <p:spPr>
          <a:xfrm>
            <a:off x="5833872" y="140817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rrow"/>
          <p:cNvSpPr/>
          <p:nvPr/>
        </p:nvSpPr>
        <p:spPr>
          <a:xfrm>
            <a:off x="7315200" y="2121408"/>
            <a:ext cx="365760" cy="4206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6263640" y="25603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a:p>
            <a:pPr algn="ctr"/>
            <a:r>
              <a:rPr sz="2000" b="0">
                <a:solidFill>
                  <a:srgbClr val="FFFFFF"/>
                </a:solidFill>
                <a:latin typeface="Calibri"/>
              </a:rPr>
              <a:t>schema and queries</a:t>
            </a:r>
          </a:p>
        </p:txBody>
      </p:sp>
      <p:sp>
        <p:nvSpPr>
          <p:cNvPr id="10" name="Block"/>
          <p:cNvSpPr/>
          <p:nvPr/>
        </p:nvSpPr>
        <p:spPr>
          <a:xfrm>
            <a:off x="3337560" y="25603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a:p>
            <a:pPr algn="ctr"/>
            <a:r>
              <a:rPr sz="2000" b="0">
                <a:solidFill>
                  <a:srgbClr val="FFFFFF"/>
                </a:solidFill>
                <a:latin typeface="Calibri"/>
              </a:rPr>
              <a:t>plans and the race</a:t>
            </a:r>
          </a:p>
        </p:txBody>
      </p:sp>
      <p:sp>
        <p:nvSpPr>
          <p:cNvPr id="11" name="Block"/>
          <p:cNvSpPr/>
          <p:nvPr/>
        </p:nvSpPr>
        <p:spPr>
          <a:xfrm>
            <a:off x="411480" y="25603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a:p>
            <a:pPr algn="ctr"/>
            <a:r>
              <a:rPr sz="2000" b="0">
                <a:solidFill>
                  <a:srgbClr val="FFFFFF"/>
                </a:solidFill>
                <a:latin typeface="Calibri"/>
              </a:rPr>
              <a:t>adopt the exclusion constraint</a:t>
            </a:r>
          </a:p>
        </p:txBody>
      </p:sp>
      <p:sp>
        <p:nvSpPr>
          <p:cNvPr id="12" name="Arrow"/>
          <p:cNvSpPr/>
          <p:nvPr/>
        </p:nvSpPr>
        <p:spPr>
          <a:xfrm flipH="1">
            <a:off x="5833872" y="305409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rrow"/>
          <p:cNvSpPr/>
          <p:nvPr/>
        </p:nvSpPr>
        <p:spPr>
          <a:xfrm flipH="1">
            <a:off x="2907792" y="305409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Block"/>
          <p:cNvSpPr/>
          <p:nvPr/>
        </p:nvSpPr>
        <p:spPr>
          <a:xfrm>
            <a:off x="411480" y="4041648"/>
            <a:ext cx="8321040" cy="56692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E6F3E"/>
                </a:solidFill>
                <a:latin typeface="Calibri"/>
              </a:rPr>
              <a:t>ALIGNMENT, alongside every step: schema constraints, checks, gates</a:t>
            </a:r>
          </a:p>
        </p:txBody>
      </p:sp>
      <p:cxnSp>
        <p:nvCxnSpPr>
          <p:cNvPr id="15" name="AlignLink"/>
          <p:cNvCxnSpPr/>
          <p:nvPr/>
        </p:nvCxnSpPr>
        <p:spPr>
          <a:xfrm>
            <a:off x="1645920" y="3749039"/>
            <a:ext cx="0" cy="292608"/>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6" name="AlignLink"/>
          <p:cNvCxnSpPr/>
          <p:nvPr/>
        </p:nvCxnSpPr>
        <p:spPr>
          <a:xfrm>
            <a:off x="7498079" y="3749039"/>
            <a:ext cx="0" cy="292608"/>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sp>
        <p:nvSpPr>
          <p:cNvPr id="21" name="MethodNote"/>
          <p:cNvSpPr txBox="1"/>
          <p:nvPr/>
        </p:nvSpPr>
        <p:spPr>
          <a:xfrm>
            <a:off x="411480" y="4937760"/>
            <a:ext cx="8321040" cy="731520"/>
          </a:xfrm>
          <a:prstGeom prst="rect">
            <a:avLst/>
          </a:prstGeom>
          <a:noFill/>
        </p:spPr>
        <p:txBody>
          <a:bodyPr wrap="square">
            <a:spAutoFit/>
          </a:bodyPr>
          <a:lstStyle/>
          <a:p>
            <a:r>
              <a:rPr sz="2000" b="0">
                <a:solidFill>
                  <a:srgbClr val="555960"/>
                </a:solidFill>
                <a:latin typeface="Calibri"/>
              </a:rPr>
              <a:t>Tuesday's frame, today's artifacts: every box filled by a decision made in this lecture.</a:t>
            </a:r>
          </a:p>
        </p:txBody>
      </p:sp>
      <p:sp>
        <p:nvSpPr>
          <p:cNvPr id="1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The same method as Tuesday: different models, same discipline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working system: how easily can we change it?</a:t>
            </a:r>
          </a:p>
        </p:txBody>
      </p:sp>
      <p:sp>
        <p:nvSpPr>
          <p:cNvPr id="3" name="Card"/>
          <p:cNvSpPr/>
          <p:nvPr/>
        </p:nvSpPr>
        <p:spPr>
          <a:xfrm>
            <a:off x="411480" y="960120"/>
            <a:ext cx="4069080" cy="27889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NOW HOLD</a:t>
            </a:r>
          </a:p>
          <a:p>
            <a:pPr algn="l">
              <a:spcAft>
                <a:spcPts val="400"/>
              </a:spcAft>
            </a:pPr>
            <a:r>
              <a:rPr sz="2000" b="0">
                <a:solidFill>
                  <a:srgbClr val="5C4826"/>
                </a:solidFill>
                <a:latin typeface="Calibri"/>
              </a:rPr>
              <a:t>Reservations survive restarts</a:t>
            </a:r>
          </a:p>
          <a:p>
            <a:pPr algn="l">
              <a:spcAft>
                <a:spcPts val="400"/>
              </a:spcAft>
            </a:pPr>
            <a:r>
              <a:rPr sz="2000" b="0">
                <a:solidFill>
                  <a:srgbClr val="5C4826"/>
                </a:solidFill>
                <a:latin typeface="Calibri"/>
              </a:rPr>
              <a:t>One authoritative, shared copy</a:t>
            </a:r>
          </a:p>
          <a:p>
            <a:pPr algn="l">
              <a:spcAft>
                <a:spcPts val="400"/>
              </a:spcAft>
            </a:pPr>
            <a:r>
              <a:rPr sz="2000" b="0">
                <a:solidFill>
                  <a:srgbClr val="5C4826"/>
                </a:solidFill>
                <a:latin typeface="Calibri"/>
              </a:rPr>
              <a:t>The invariant has an enforced home</a:t>
            </a:r>
          </a:p>
          <a:p>
            <a:pPr algn="l">
              <a:spcAft>
                <a:spcPts val="400"/>
              </a:spcAft>
            </a:pPr>
            <a:r>
              <a:rPr sz="2000" b="0">
                <a:solidFill>
                  <a:srgbClr val="5C4826"/>
                </a:solidFill>
                <a:latin typeface="Calibri"/>
              </a:rPr>
              <a:t>Explicit storage and concurrency tradeoffs</a:t>
            </a:r>
          </a:p>
        </p:txBody>
      </p:sp>
      <p:sp>
        <p:nvSpPr>
          <p:cNvPr id="5" name="Card"/>
          <p:cNvSpPr/>
          <p:nvPr/>
        </p:nvSpPr>
        <p:spPr>
          <a:xfrm>
            <a:off x="4663440" y="960120"/>
            <a:ext cx="4069080" cy="27889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DO NOT YET KNOW</a:t>
            </a:r>
          </a:p>
          <a:p>
            <a:pPr algn="l">
              <a:spcAft>
                <a:spcPts val="400"/>
              </a:spcAft>
            </a:pPr>
            <a:r>
              <a:rPr sz="2000" b="0">
                <a:solidFill>
                  <a:srgbClr val="5C4826"/>
                </a:solidFill>
                <a:latin typeface="Calibri"/>
              </a:rPr>
              <a:t>Can the structure absorb change?</a:t>
            </a:r>
          </a:p>
          <a:p>
            <a:pPr algn="l">
              <a:spcAft>
                <a:spcPts val="400"/>
              </a:spcAft>
            </a:pPr>
            <a:r>
              <a:rPr sz="2000" b="0">
                <a:solidFill>
                  <a:srgbClr val="5C4826"/>
                </a:solidFill>
                <a:latin typeface="Calibri"/>
              </a:rPr>
              <a:t>What did dependencies commit us to?</a:t>
            </a:r>
          </a:p>
          <a:p>
            <a:pPr algn="l">
              <a:spcAft>
                <a:spcPts val="400"/>
              </a:spcAft>
            </a:pPr>
            <a:r>
              <a:rPr sz="2000" b="0">
                <a:solidFill>
                  <a:srgbClr val="5C4826"/>
                </a:solidFill>
                <a:latin typeface="Calibri"/>
              </a:rPr>
              <a:t>How does it behave under load?</a:t>
            </a:r>
          </a:p>
        </p:txBody>
      </p:sp>
      <p:sp>
        <p:nvSpPr>
          <p:cNvPr id="7" name="Card"/>
          <p:cNvSpPr/>
          <p:nvPr/>
        </p:nvSpPr>
        <p:spPr>
          <a:xfrm>
            <a:off x="411480" y="3977639"/>
            <a:ext cx="8321040" cy="12344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50791"/>
            <a:ext cx="8046720" cy="1097280"/>
          </a:xfrm>
          <a:prstGeom prst="rect">
            <a:avLst/>
          </a:prstGeom>
          <a:noFill/>
        </p:spPr>
        <p:txBody>
          <a:bodyPr wrap="square">
            <a:spAutoFit/>
          </a:bodyPr>
          <a:lstStyle/>
          <a:p>
            <a:pPr algn="l">
              <a:spcAft>
                <a:spcPts val="300"/>
              </a:spcAft>
            </a:pPr>
            <a:r>
              <a:rPr sz="2000" b="1">
                <a:solidFill>
                  <a:srgbClr val="5C4826"/>
                </a:solidFill>
                <a:latin typeface="Calibri"/>
              </a:rPr>
              <a:t>Next: Technical Debt, Architecture &amp; Supply Chains</a:t>
            </a:r>
          </a:p>
          <a:p>
            <a:pPr algn="l">
              <a:spcAft>
                <a:spcPts val="400"/>
              </a:spcAft>
            </a:pPr>
            <a:r>
              <a:rPr sz="2000" b="0">
                <a:solidFill>
                  <a:srgbClr val="555960"/>
                </a:solidFill>
                <a:latin typeface="Calibri"/>
              </a:rPr>
              <a:t>The system's own shape (and everything it inherited) becomes the object of engineering.</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3862</Words>
  <Application>Microsoft Macintosh PowerPoint</Application>
  <PresentationFormat>On-screen Show (4:3)</PresentationFormat>
  <Paragraphs>397</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Times</vt:lpstr>
      <vt:lpstr>Arial</vt:lpstr>
      <vt:lpstr>Calibri</vt:lpstr>
      <vt:lpstr>Purdue1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Steve France</cp:lastModifiedBy>
  <cp:revision>7</cp:revision>
  <dcterms:modified xsi:type="dcterms:W3CDTF">2026-10-29T14:20:08Z</dcterms:modified>
</cp:coreProperties>
</file>