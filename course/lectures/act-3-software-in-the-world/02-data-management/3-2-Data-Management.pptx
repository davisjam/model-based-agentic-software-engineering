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84" r:id="rId3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84"/>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9.xml"/><Relationship Id="rId4" Type="http://schemas.openxmlformats.org/officeDocument/2006/relationships/slide" Target="slides/slide28.xml"/><Relationship Id="rId5" Type="http://schemas.openxmlformats.org/officeDocument/2006/relationships/slide" Target="slides/slide27.xml"/><Relationship Id="rId6" Type="http://schemas.openxmlformats.org/officeDocument/2006/relationships/slide" Target="slides/slide26.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 Frame the 75 minutes: represent, retrieve, preserve, treated as a design space, not an SQL tutorial.</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Establish persistence, sharing, and concurrency as separable requirements.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Name the database as a component you delegate state to, with an engineering contract.</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qualification (moved from the slide): a database is not a synonym for SQL, not one product category, and not a place where correctness happens automatically. Delegating storage, durability, and concurrency control does not automatically establish application correctness — that thread runs through slides 11-13.</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Establish the five-dimension model the rest of the lecture lives on.</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Show the same facts in four native shapes; separate data model from storage mechanism.</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a:p/>
          <a:p>
            <a:r>
              <a:t>Moved from slide (bottom panel): a JSON file can ENCODE structures corresponding to any of these models, but encoding is not semantics — it does not thereby provide the native operations of a graph or relational database (traversal, joins, constraint enforcement). SQLite holds the relational form, with its semantics, in one file. Representation and storage are separate decisions.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Make relational vs NoSQL a requirements question, not a camp war.</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a:p/>
          <a:p>
            <a:r>
              <a:t>Moved off slide (author review): the SQLite-vs-PostgreSQL deployment contrast now lives on the dedicated storage-mechanism slide (4B). Same data model, different deployment; selection is multidimensional.</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Make guarantees, not product labels, the object of interrogation.</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Students map each workload's requirements onto database capabilities.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Derive the ER model; entities give the invariant its vocabulary, not its enforcement.</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a:p/>
          <a:p>
            <a:r>
              <a:t>The relationship lines carry cardinality notation (1 : N, N : 1), not direction: these are ER relationships, not data flow. Read them aloud as "one user holds many reservations; many reservations belong to one room."</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Show the schema as enforced obligations, then expose what it cannot state.</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Price normalization vs denormalization as one cost moved between write and read paths.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a:p/>
          <a:p>
            <a:r>
              <a:t>Moved from slide (bottom panel): The reservations page shows a room name beside every booking Join on every read, or copy and own the copies' staleness. The read/write mix settles it, not a doctrine. The workload decides: join on every read, or copy and own the copies' staleness. The read/write mix settles it, not a doctrine.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Students judge two valid rows; per-row validity is not application correctness.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a:p>
            <a:r>
              <a:t>=====</a:t>
            </a:r>
          </a:p>
          <a:p>
            <a:r>
              <a:t>Ask the posed question and collect reasons: every constraint passes, so is the application correct?</a:t>
            </a:r>
          </a:p>
          <a:p>
            <a:r>
              <a:t>ANIMATE</a:t>
            </a:r>
          </a:p>
          <a:p>
            <a:r>
              <a:t>Reveal: the pair violates the invariant. Overlap is a property of the pair; no per-row check can see it.</a:t>
            </a:r>
          </a:p>
          <a:p/>
          <a:p>
            <a:r>
              <a:t>Moved from slide (middle panel): Validity is judged per row; correctness constrains relations between rows …and, once requests overlap in time, relations between operations: the concurrency section.</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Establish SQL as a specification: WHAT, never HOW.</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Show what an ORM buys and what it structurally costs on the same query.</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Dissolve ORM-vs-SQL into layers of one pipeline.</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a:p/>
          <a:p>
            <a:r>
              <a:t>Moved from slide (right panel): An ORM maps application operations to database queries The database still determines how those queries execute. The added right-hand path matters: an application may issue SQL directly, beside or instead of the ORM — not every query must pass through the ORM layer. Both paths meet at SQL; everything below is identical.</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Make the optimizer the central actor choosing among candidate plans by cost.</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a:p/>
          <a:p>
            <a:r>
              <a:t>Moved from slide (bottom panel): It compares candidate plans by estimated cost, using statistics about YOUR data — Same SQL, thousandfold cost differences. The levers you supply: indexes, layout, fresh statistics. The optimizer compares candidate plans by estimated cost, using statistics about YOUR data; same SQL can differ in cost a thousandfold, and the levers you supply are indexes, layout, and fresh statistics.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One query, two plans, very different costs; indexes are design decisions.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a:p/>
          <a:p>
            <a:r>
              <a:t>Moved from slide (bottom panel): Same query text; the index changed the plan An index is bought, not free: faster reads, paid for on every write, chosen per access pattern.</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Expose the N+1 shape: correct code, terrible access pattern; review emitted queries.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a:p/>
          <a:p>
            <a:r>
              <a:t>Claim softened (author review): batching strategies vary — a JOIN is one query, but prefetching may issue two or a few batched queries; the point is O(1)-ish, not literally one round trip. And functional tests MAY not reveal access-pattern defects; performance tests and query-count assertions can.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 Students predict the race; locally correct requests break a global invariant.</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a:p>
            <a:r>
              <a:t>=====</a:t>
            </a:r>
          </a:p>
          <a:p>
            <a:r>
              <a:t>Walk t1 and t2: both availability checks run against a table containing neither insert. Ask: can both INSERTs succeed?</a:t>
            </a:r>
          </a:p>
          <a:p>
            <a:r>
              <a:t>ANIMATE</a:t>
            </a:r>
          </a:p>
          <a:p>
            <a:r>
              <a:t>Both inserts proceed; nothing has failed yet.</a:t>
            </a:r>
          </a:p>
          <a:p>
            <a:r>
              <a:t>ANIMATE</a:t>
            </a:r>
          </a:p>
          <a:p>
            <a:r>
              <a:t>Both commits succeed; room 117 is double-booked. No statement failed; the defect lives only in the interleaving.</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Fix what ACID promises; C does not mean your application is correct.</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a:p/>
          <a:p>
            <a:r>
              <a:t>Durability qualification (moved off slide): what "survives crashes" means depends on the database's configuration and failure model — fsync policy, replication acknowledgment level, and what failure classes (process, node, disk, site) the deployment is engineered to absorb.</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Define isolation as a policy over permitted histories, serializability the core.</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a:p/>
          <a:p>
            <a:r>
              <a:t>Moved from slide (bottom panel): Act II's move again: correctness = every permitted history preserves the invariant With the check and the insert inside one transaction, one request must appear to run second; its check then sees the other's row.</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Place our race on the isolation dial; the default is a choice someone else made.</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a:p/>
          <a:p>
            <a:r>
              <a:t>Wording correction (author review): serializable does NOT mean every pair of concurrent transactions aborts. The guarantee is that the conflicting execution cannot commit unchanged; the engine may abort one transaction, which the application catches and retries.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Students propose enforcement homes; compare schema, isolation contract, lock discipline.</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a:p>
            <a:r>
              <a:t>=====</a:t>
            </a:r>
          </a:p>
          <a:p>
            <a:r>
              <a:t>Collect proposals first: where could the invariant live? Students will offer constraints, transactions, locks; organize their answers into the three rows as they appear.</a:t>
            </a:r>
          </a:p>
          <a:p>
            <a:r>
              <a:t>ANIMATE</a:t>
            </a:r>
          </a:p>
          <a:p>
            <a:r>
              <a:t>Exclusion constraint: the schema states the invariant; the engine rejects the insert.</a:t>
            </a:r>
          </a:p>
          <a:p>
            <a:r>
              <a:t>ANIMATE</a:t>
            </a:r>
          </a:p>
          <a:p>
            <a:r>
              <a:t>Serializable plus retry: the isolation contract excludes the bad history; the application owns retries.</a:t>
            </a:r>
          </a:p>
          <a:p>
            <a:r>
              <a:t>ANIMATE</a:t>
            </a:r>
          </a:p>
          <a:p>
            <a:r>
              <a:t>Explicit locking: your discipline serializes writers per room; one forgetful code path breaks it.</a:t>
            </a:r>
          </a:p>
          <a:p/>
          <a:p>
            <a:r>
              <a:t>Caveats moved from slide: the exclusion constraint is engine-specific (e.g. Postgres GiST); a plain CHECK or foreign key cannot state this invariant because it relates multiple reservation rows. For explicit locking, one code path that forgets the lock breaks it — that is what "application discipline" costs.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Price concurrency control: contention, retries, throughput.</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a:p/>
          <a:p>
            <a:r>
              <a:t>Moved from slide (bottom panel): Pay for exactly the histories you must exclude Telemetry may tolerate weaker coordination guarantees; reservations require stronger protection against conflicting writes. Measuring that price is the next unit: Performance &amp; Reliability. Measuring that price is the next unit: Performance &amp; Reliability.</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 Schema evolution: representation, existing records, availability mid-migration.</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a:p/>
          <a:p>
            <a:r>
              <a:t>Moved from slide (availability row detail): Can the old version keep operating mid-migration? Expand → migrate → contract: add the new shape alongside the old, migrate readers and writers, then retire the old shape once nothing depends on it.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 Re-walk the Act III method with every box filled by one of today's decisions.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a:p/>
          <a:p>
            <a:r>
              <a:t>Revised framing (author review): Accept/reject asks whether the realized implementation satisfies its obligation — no overlapping confirmed reservations — as shown by the evidence. Adopting the exclusion constraint is NOT the acceptance decision; it is the Alignment mechanism: the schema rejects invalid writes independently of any application code path. The lower row runs leftward: Realize, then Evidence, then Accept/reject — same direction and semantics as the Act III kickoff deck's method flowchart.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Close the governing question; hand off to Technical Debt, Architecture &amp; Supply Chains.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a:p/>
          <a:p>
            <a:r>
              <a:t>Left column reframed (author review): the lecture established DESIGNS — possible mechanisms and the judgments among them — not a demonstration that the running service now has a deployed, persistent, correctly synchronized implementation. Present the column as design commitments. The handoff to Technical Debt, Architecture &amp; Supply Chains stays in speech, not on the slide.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 Orient: five movements, each named by the engineering question it answers.</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 The storage-mechanism axis: flat files, embedded database, database server, distributed database.</a:t>
            </a:r>
          </a:p>
          <a:p/>
          <a:p>
            <a:r>
              <a:t>The table is the storage-MECHANISM axis: a deployment and operational choice, separate from the data-model choice two slides ahead. Flat files are a legitimate point: config data is read often and changed rarely, and a database server for it is overhead without requirement.</a:t>
            </a:r>
          </a:p>
          <a:p/>
          <a:p>
            <a:r>
              <a:t>Land the SQLite clarification: SQLite is NOT merely an intermediate point between flat files and PostgreSQL. It is a fully featured relational database — real SQL, real transactions, real durability — whose deployment (in-process, one file) and concurrency characteristics (single writer) differ from a networked server's. The ladder in the table orders operational footprint, not capability.</a:t>
            </a:r>
          </a:p>
          <a:p/>
          <a:p>
            <a:r>
              <a:t>Placement: this lands right after Tuesday's deployment lecture, so read the rows as deployment choices.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4000" b="1">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2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2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2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2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2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instances, inconsistent reservations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do we delegate to a database?</a:t>
            </a:r>
          </a:p>
        </p:txBody>
      </p:sp>
      <p:sp>
        <p:nvSpPr>
          <p:cNvPr id="3" name="Card"/>
          <p:cNvSpPr/>
          <p:nvPr/>
        </p:nvSpPr>
        <p:spPr>
          <a:xfrm>
            <a:off x="411480" y="118872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26187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Storage and retrieval</a:t>
            </a:r>
          </a:p>
        </p:txBody>
      </p:sp>
      <p:sp>
        <p:nvSpPr>
          <p:cNvPr id="5" name="RowBody"/>
          <p:cNvSpPr txBox="1"/>
          <p:nvPr/>
        </p:nvSpPr>
        <p:spPr>
          <a:xfrm>
            <a:off x="3246120" y="1261872"/>
            <a:ext cx="5349240" cy="768096"/>
          </a:xfrm>
          <a:prstGeom prst="rect">
            <a:avLst/>
          </a:prstGeom>
          <a:noFill/>
        </p:spPr>
        <p:txBody>
          <a:bodyPr wrap="square">
            <a:spAutoFit/>
          </a:bodyPr>
          <a:lstStyle/>
          <a:p>
            <a:pPr algn="l">
              <a:spcAft>
                <a:spcPts val="100"/>
              </a:spcAft>
            </a:pPr>
            <a:r>
              <a:rPr sz="2000" b="1">
                <a:solidFill>
                  <a:srgbClr val="5C4826"/>
                </a:solidFill>
                <a:latin typeface="Calibri"/>
              </a:rPr>
              <a:t>Represent the domain's facts; return them on demand</a:t>
            </a:r>
          </a:p>
        </p:txBody>
      </p:sp>
      <p:sp>
        <p:nvSpPr>
          <p:cNvPr id="6" name="Card"/>
          <p:cNvSpPr/>
          <p:nvPr/>
        </p:nvSpPr>
        <p:spPr>
          <a:xfrm>
            <a:off x="411480" y="224028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8" name="RowBody"/>
          <p:cNvSpPr txBox="1"/>
          <p:nvPr/>
        </p:nvSpPr>
        <p:spPr>
          <a:xfrm>
            <a:off x="3246120" y="2313432"/>
            <a:ext cx="5349240" cy="768096"/>
          </a:xfrm>
          <a:prstGeom prst="rect">
            <a:avLst/>
          </a:prstGeom>
          <a:noFill/>
        </p:spPr>
        <p:txBody>
          <a:bodyPr wrap="square">
            <a:spAutoFit/>
          </a:bodyPr>
          <a:lstStyle/>
          <a:p>
            <a:pPr algn="l">
              <a:spcAft>
                <a:spcPts val="100"/>
              </a:spcAft>
            </a:pPr>
            <a:r>
              <a:rPr sz="2000" b="1">
                <a:solidFill>
                  <a:srgbClr val="5C4826"/>
                </a:solidFill>
                <a:latin typeface="Calibri"/>
              </a:rPr>
              <a:t>Acknowledged writes survive crashes and restarts</a:t>
            </a:r>
          </a:p>
        </p:txBody>
      </p:sp>
      <p:sp>
        <p:nvSpPr>
          <p:cNvPr id="9" name="Card"/>
          <p:cNvSpPr/>
          <p:nvPr/>
        </p:nvSpPr>
        <p:spPr>
          <a:xfrm>
            <a:off x="411480" y="329184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36499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 control</a:t>
            </a:r>
          </a:p>
        </p:txBody>
      </p:sp>
      <p:sp>
        <p:nvSpPr>
          <p:cNvPr id="11" name="RowBody"/>
          <p:cNvSpPr txBox="1"/>
          <p:nvPr/>
        </p:nvSpPr>
        <p:spPr>
          <a:xfrm>
            <a:off x="3246120" y="3364992"/>
            <a:ext cx="5349240" cy="768096"/>
          </a:xfrm>
          <a:prstGeom prst="rect">
            <a:avLst/>
          </a:prstGeom>
          <a:noFill/>
        </p:spPr>
        <p:txBody>
          <a:bodyPr wrap="square">
            <a:spAutoFit/>
          </a:bodyPr>
          <a:lstStyle/>
          <a:p>
            <a:pPr algn="l">
              <a:spcAft>
                <a:spcPts val="100"/>
              </a:spcAft>
            </a:pPr>
            <a:r>
              <a:rPr sz="2000" b="1">
                <a:solidFill>
                  <a:srgbClr val="5C4826"/>
                </a:solidFill>
                <a:latin typeface="Calibri"/>
              </a:rPr>
              <a:t>Overlapping operations do not corrupt state</a:t>
            </a:r>
          </a:p>
        </p:txBody>
      </p:sp>
      <p:sp>
        <p:nvSpPr>
          <p:cNvPr id="12" name="Card"/>
          <p:cNvSpPr/>
          <p:nvPr/>
        </p:nvSpPr>
        <p:spPr>
          <a:xfrm>
            <a:off x="411480" y="4343400"/>
            <a:ext cx="8321040" cy="9144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4416552"/>
            <a:ext cx="2560320" cy="768096"/>
          </a:xfrm>
          <a:prstGeom prst="rect">
            <a:avLst/>
          </a:prstGeom>
          <a:noFill/>
        </p:spPr>
        <p:txBody>
          <a:bodyPr wrap="square" anchor="ctr">
            <a:spAutoFit/>
          </a:bodyPr>
          <a:lstStyle/>
          <a:p>
            <a:pPr algn="l">
              <a:spcAft>
                <a:spcPts val="400"/>
              </a:spcAft>
            </a:pPr>
            <a:r>
              <a:rPr sz="2000" b="1">
                <a:solidFill>
                  <a:srgbClr val="8E6F3E"/>
                </a:solidFill>
                <a:latin typeface="Calibri"/>
              </a:rPr>
              <a:t>Selected integrity constraints</a:t>
            </a:r>
          </a:p>
        </p:txBody>
      </p:sp>
      <p:sp>
        <p:nvSpPr>
          <p:cNvPr id="14" name="RowBody"/>
          <p:cNvSpPr txBox="1"/>
          <p:nvPr/>
        </p:nvSpPr>
        <p:spPr>
          <a:xfrm>
            <a:off x="3246120" y="4416552"/>
            <a:ext cx="5349240" cy="768096"/>
          </a:xfrm>
          <a:prstGeom prst="rect">
            <a:avLst/>
          </a:prstGeom>
          <a:noFill/>
        </p:spPr>
        <p:txBody>
          <a:bodyPr wrap="square">
            <a:spAutoFit/>
          </a:bodyPr>
          <a:lstStyle/>
          <a:p>
            <a:pPr algn="l">
              <a:spcAft>
                <a:spcPts val="100"/>
              </a:spcAft>
            </a:pPr>
            <a:r>
              <a:rPr sz="2000" b="1">
                <a:solidFill>
                  <a:srgbClr val="5C4826"/>
                </a:solidFill>
                <a:latin typeface="Calibri"/>
              </a:rPr>
              <a:t>Obligations the schema can state, enforced on every write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Storage does not require a database server</a:t>
            </a:r>
          </a:p>
        </p:txBody>
      </p:sp>
      <p:graphicFrame>
        <p:nvGraphicFramePr>
          <p:cNvPr id="4" name="MechanismTable"/>
          <p:cNvGraphicFramePr>
            <a:graphicFrameLocks noGrp="1"/>
          </p:cNvGraphicFramePr>
          <p:nvPr/>
        </p:nvGraphicFramePr>
        <p:xfrm>
          <a:off x="411480" y="1005840"/>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
        <p:nvSpPr>
          <p:cNvPr id="5" name="SqliteNote"/>
          <p:cNvSpPr txBox="1"/>
          <p:nvPr/>
        </p:nvSpPr>
        <p:spPr>
          <a:xfrm>
            <a:off x="411480" y="4709160"/>
            <a:ext cx="8321040" cy="731520"/>
          </a:xfrm>
          <a:prstGeom prst="rect">
            <a:avLst/>
          </a:prstGeom>
          <a:noFill/>
        </p:spPr>
        <p:txBody>
          <a:bodyPr wrap="square">
            <a:spAutoFit/>
          </a:bodyPr>
          <a:lstStyle/>
          <a:p>
            <a:r>
              <a:rPr sz="2000" b="0">
                <a:solidFill>
                  <a:srgbClr val="555960"/>
                </a:solidFill>
                <a:latin typeface="Calibri"/>
              </a:rPr>
              <a:t>SQLite is a complete relational database; it differs from a server in deployment and concurrency, not capability.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886200"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886200"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886200" cy="1188720"/>
          </a:xfrm>
          <a:prstGeom prst="rect">
            <a:avLst/>
          </a:prstGeom>
          <a:noFill/>
        </p:spPr>
        <p:txBody>
          <a:bodyPr wrap="square">
            <a:spAutoFit/>
          </a:bodyPr>
          <a:lstStyle/>
          <a:p>
            <a:r>
              <a:rPr sz="2000" b="0">
                <a:solidFill>
                  <a:srgbClr val="2D2D2D"/>
                </a:solidFill>
                <a:latin typeface="Consolas"/>
              </a:rPr>
              <a:t>room:117 → opaque value</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4632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26948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descr="Edge connecting the USER and ROOM nodes, labeled RESERVED 10:00 to 11:00"/>
          <p:cNvCxnSpPr/>
          <p:nvPr/>
        </p:nvCxnSpPr>
        <p:spPr>
          <a:xfrm>
            <a:off x="6172200" y="3954780"/>
            <a:ext cx="109728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457200"/>
          </a:xfrm>
          <a:prstGeom prst="rect">
            <a:avLst/>
          </a:prstGeom>
          <a:noFill/>
        </p:spPr>
        <p:txBody>
          <a:bodyPr wrap="square">
            <a:spAutoFit/>
          </a:bodyPr>
          <a:lstStyle/>
          <a:p>
            <a:r>
              <a:rPr sz="2000" b="1">
                <a:solidFill>
                  <a:srgbClr val="8E6F3E"/>
                </a:solidFill>
                <a:latin typeface="Calibri"/>
              </a:rPr>
              <a:t>Representation and storage are separate decisions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Coherent shared state</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descr="ER diagram: USER and ROOM each relate one-to-many to RESERVATION; attribute lists sit beneath each entity; the no-overlap invariant is stated below the diagram"/>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60020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484632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descr="one-to-many connector pointing toward RESERVATION"/>
          <p:cNvCxnSpPr/>
          <p:nvPr/>
        </p:nvCxnSpPr>
        <p:spPr>
          <a:xfrm>
            <a:off x="2468880" y="1760220"/>
            <a:ext cx="1143000" cy="0"/>
          </a:xfrm>
          <a:prstGeom prst="line">
            <a:avLst/>
          </a:prstGeom>
          <a:ln w="31750">
            <a:solidFill>
              <a:srgbClr val="8E6F3E"/>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9" name="RelLine" descr="one-to-many connector pointing toward RESERVATION"/>
          <p:cNvCxnSpPr/>
          <p:nvPr/>
        </p:nvCxnSpPr>
        <p:spPr>
          <a:xfrm>
            <a:off x="5715000" y="1760220"/>
            <a:ext cx="960120" cy="0"/>
          </a:xfrm>
          <a:prstGeom prst="line">
            <a:avLst/>
          </a:prstGeom>
          <a:ln w="31750">
            <a:solidFill>
              <a:srgbClr val="8E6F3E"/>
            </a:solidFill>
            <a:headEnd type="none"/>
            <a:tailEnd type="none"/>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10515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960120"/>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The entities make the invariant expressible; they do not enforce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id        INT PRIMARY KEY,</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 that row must exist</a:t>
            </a:r>
          </a:p>
          <a:p>
            <a:pPr algn="l">
              <a:spcAft>
                <a:spcPts val="600"/>
              </a:spcAft>
            </a:pPr>
            <a:r>
              <a:rPr sz="2000" b="1">
                <a:solidFill>
                  <a:srgbClr val="8E6F3E"/>
                </a:solidFill>
                <a:latin typeface="Calibri"/>
              </a:rPr>
              <a:t>NOT NULL: the fact must be present</a:t>
            </a:r>
          </a:p>
          <a:p>
            <a:pPr algn="l">
              <a:spcAft>
                <a:spcPts val="400"/>
              </a:spcAft>
            </a:pPr>
            <a:r>
              <a:rPr sz="2000" b="1">
                <a:solidFill>
                  <a:srgbClr val="8E6F3E"/>
                </a:solidFill>
                <a:latin typeface="Calibri"/>
              </a:rPr>
              <a:t>CHECK: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731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594360"/>
          </a:xfrm>
          <a:prstGeom prst="rect">
            <a:avLst/>
          </a:prstGeom>
          <a:noFill/>
        </p:spPr>
        <p:txBody>
          <a:bodyPr wrap="square">
            <a:spAutoFit/>
          </a:bodyPr>
          <a:lstStyle/>
          <a:p>
            <a:pPr algn="l">
              <a:spcAft>
                <a:spcPts val="300"/>
              </a:spcAft>
            </a:pPr>
            <a:r>
              <a:rPr sz="2000" b="1">
                <a:solidFill>
                  <a:srgbClr val="5C4826"/>
                </a:solidFill>
                <a:latin typeface="Calibri"/>
              </a:rPr>
              <a:t>Read cost ↔ Update consistency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1463040"/>
            <a:ext cx="4846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572768"/>
            <a:ext cx="4553712" cy="278892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1463040"/>
            <a:ext cx="329184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572768"/>
            <a:ext cx="2999232" cy="278892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identifies conflicting reservations. Enforcement requires an additional mechanism.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descr="Five-layer stack read downward: application objects, ORM, SQL, engine, stored data; each layer hands its output to the one below"/>
          <p:cNvSpPr/>
          <p:nvPr/>
        </p:nvSpPr>
        <p:spPr>
          <a:xfrm>
            <a:off x="1097280" y="914400"/>
            <a:ext cx="51206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3474720" y="1645920"/>
            <a:ext cx="36576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1097280" y="1874520"/>
            <a:ext cx="51206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maps objects to rows; emits SQL</a:t>
            </a:r>
          </a:p>
        </p:txBody>
      </p:sp>
      <p:sp>
        <p:nvSpPr>
          <p:cNvPr id="6" name="Arrow"/>
          <p:cNvSpPr/>
          <p:nvPr/>
        </p:nvSpPr>
        <p:spPr>
          <a:xfrm>
            <a:off x="3474720" y="2606040"/>
            <a:ext cx="36576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1097280" y="2834640"/>
            <a:ext cx="51206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the declarative WHAT</a:t>
            </a:r>
          </a:p>
        </p:txBody>
      </p:sp>
      <p:sp>
        <p:nvSpPr>
          <p:cNvPr id="8" name="Arrow"/>
          <p:cNvSpPr/>
          <p:nvPr/>
        </p:nvSpPr>
        <p:spPr>
          <a:xfrm>
            <a:off x="3474720" y="3566160"/>
            <a:ext cx="36576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1097280" y="3794760"/>
            <a:ext cx="51206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plans and executes (HOW)</a:t>
            </a:r>
          </a:p>
        </p:txBody>
      </p:sp>
      <p:sp>
        <p:nvSpPr>
          <p:cNvPr id="10" name="Arrow"/>
          <p:cNvSpPr/>
          <p:nvPr/>
        </p:nvSpPr>
        <p:spPr>
          <a:xfrm>
            <a:off x="3474720" y="4526280"/>
            <a:ext cx="36576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1097280" y="4754880"/>
            <a:ext cx="51206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pages, rows, indexes</a:t>
            </a:r>
          </a:p>
        </p:txBody>
      </p:sp>
      <p:cxnSp>
        <p:nvCxnSpPr>
          <p:cNvPr id="12" name="DirectSqlH"/>
          <p:cNvCxnSpPr/>
          <p:nvPr/>
        </p:nvCxnSpPr>
        <p:spPr>
          <a:xfrm>
            <a:off x="6217920" y="1280160"/>
            <a:ext cx="73152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3" name="DirectSqlV"/>
          <p:cNvCxnSpPr/>
          <p:nvPr/>
        </p:nvCxnSpPr>
        <p:spPr>
          <a:xfrm>
            <a:off x="6949440" y="1280160"/>
            <a:ext cx="0" cy="192024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14" name="Arrow"/>
          <p:cNvSpPr/>
          <p:nvPr/>
        </p:nvSpPr>
        <p:spPr>
          <a:xfrm>
            <a:off x="6217920" y="3063240"/>
            <a:ext cx="731520" cy="274320"/>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DirectSqlLabel"/>
          <p:cNvSpPr txBox="1"/>
          <p:nvPr/>
        </p:nvSpPr>
        <p:spPr>
          <a:xfrm>
            <a:off x="7040880" y="1965960"/>
            <a:ext cx="1645920" cy="731520"/>
          </a:xfrm>
          <a:prstGeom prst="rect">
            <a:avLst/>
          </a:prstGeom>
          <a:noFill/>
        </p:spPr>
        <p:txBody>
          <a:bodyPr wrap="square">
            <a:spAutoFit/>
          </a:bodyPr>
          <a:lstStyle/>
          <a:p>
            <a:r>
              <a:rPr sz="2000" b="0">
                <a:solidFill>
                  <a:srgbClr val="555960"/>
                </a:solidFill>
                <a:latin typeface="Calibri"/>
              </a:rPr>
              <a:t>direct SQL, no ORM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descr="Query execution diagram: parse and validate feeds a logical plan; the logical plan and statistics about your data feed the optimizer; the optimizer forks to two candidate plans, sequential scan and index range scan; both candidates converge on a cost comparison, the lowest estimated cost wins, and the chosen plan is executed"/>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ndidate"/>
          <p:cNvSpPr/>
          <p:nvPr/>
        </p:nvSpPr>
        <p:spPr>
          <a:xfrm>
            <a:off x="64008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118104"/>
            <a:ext cx="3218688" cy="777240"/>
          </a:xfrm>
          <a:prstGeom prst="rect">
            <a:avLst/>
          </a:prstGeom>
          <a:noFill/>
        </p:spPr>
        <p:txBody>
          <a:bodyPr wrap="square">
            <a:spAutoFit/>
          </a:bodyPr>
          <a:lstStyle/>
          <a:p>
            <a:r>
              <a:rPr sz="2000" b="1">
                <a:solidFill>
                  <a:srgbClr val="2D2D2D"/>
                </a:solidFill>
                <a:latin typeface="Calibri"/>
              </a:rPr>
              <a:t>Candidate: sequential scan</a:t>
            </a:r>
          </a:p>
          <a:p>
            <a:r>
              <a:rPr sz="2000" b="0">
                <a:solidFill>
                  <a:srgbClr val="555960"/>
                </a:solidFill>
                <a:latin typeface="Calibri"/>
              </a:rPr>
              <a:t>read every row, test each</a:t>
            </a:r>
          </a:p>
        </p:txBody>
      </p:sp>
      <p:sp>
        <p:nvSpPr>
          <p:cNvPr id="27" name="Candidate"/>
          <p:cNvSpPr/>
          <p:nvPr/>
        </p:nvSpPr>
        <p:spPr>
          <a:xfrm>
            <a:off x="484632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118104"/>
            <a:ext cx="3218688" cy="777240"/>
          </a:xfrm>
          <a:prstGeom prst="rect">
            <a:avLst/>
          </a:prstGeom>
          <a:noFill/>
        </p:spPr>
        <p:txBody>
          <a:bodyPr wrap="square">
            <a:spAutoFit/>
          </a:bodyPr>
          <a:lstStyle/>
          <a:p>
            <a:r>
              <a:rPr sz="2000" b="1">
                <a:solidFill>
                  <a:srgbClr val="2D2D2D"/>
                </a:solidFill>
                <a:latin typeface="Calibri"/>
              </a:rPr>
              <a:t>Candidate: index range scan</a:t>
            </a:r>
          </a:p>
          <a:p>
            <a:r>
              <a:rPr sz="2000" b="0">
                <a:solidFill>
                  <a:srgbClr val="555960"/>
                </a:solidFill>
                <a:latin typeface="Calibri"/>
              </a:rPr>
              <a:t>seek this room's window</a:t>
            </a:r>
          </a:p>
        </p:txBody>
      </p:sp>
      <p:cxnSp>
        <p:nvCxnSpPr>
          <p:cNvPr id="29" name="ForkTrunk"/>
          <p:cNvCxnSpPr/>
          <p:nvPr/>
        </p:nvCxnSpPr>
        <p:spPr>
          <a:xfrm>
            <a:off x="3657600" y="2606040"/>
            <a:ext cx="0" cy="22860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0" name="ForkRail"/>
          <p:cNvCxnSpPr/>
          <p:nvPr/>
        </p:nvCxnSpPr>
        <p:spPr>
          <a:xfrm>
            <a:off x="2377440" y="28346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1" name="Arrow"/>
          <p:cNvSpPr/>
          <p:nvPr/>
        </p:nvSpPr>
        <p:spPr>
          <a:xfrm>
            <a:off x="224028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Arrow"/>
          <p:cNvSpPr/>
          <p:nvPr/>
        </p:nvSpPr>
        <p:spPr>
          <a:xfrm>
            <a:off x="644652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3" name="MergeDrop"/>
          <p:cNvCxnSpPr/>
          <p:nvPr/>
        </p:nvCxnSpPr>
        <p:spPr>
          <a:xfrm>
            <a:off x="237744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4" name="MergeDrop"/>
          <p:cNvCxnSpPr/>
          <p:nvPr/>
        </p:nvCxnSpPr>
        <p:spPr>
          <a:xfrm>
            <a:off x="658368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 name="MergeRail"/>
          <p:cNvCxnSpPr/>
          <p:nvPr/>
        </p:nvCxnSpPr>
        <p:spPr>
          <a:xfrm>
            <a:off x="2377440" y="42062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6" name="Arrow"/>
          <p:cNvSpPr/>
          <p:nvPr/>
        </p:nvSpPr>
        <p:spPr>
          <a:xfrm>
            <a:off x="4343400" y="42062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Block"/>
          <p:cNvSpPr/>
          <p:nvPr/>
        </p:nvSpPr>
        <p:spPr>
          <a:xfrm>
            <a:off x="2834640" y="4434840"/>
            <a:ext cx="32918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COST COMPARISON</a:t>
            </a:r>
          </a:p>
          <a:p>
            <a:pPr algn="ctr">
              <a:spcAft>
                <a:spcPts val="0"/>
              </a:spcAft>
            </a:pPr>
            <a:r>
              <a:rPr sz="2000" b="0">
                <a:solidFill>
                  <a:srgbClr val="FFFFFF"/>
                </a:solidFill>
                <a:latin typeface="Calibri"/>
              </a:rPr>
              <a:t>lowest estimated cost wins</a:t>
            </a:r>
          </a:p>
        </p:txBody>
      </p:sp>
      <p:sp>
        <p:nvSpPr>
          <p:cNvPr id="38" name="Arrow"/>
          <p:cNvSpPr/>
          <p:nvPr/>
        </p:nvSpPr>
        <p:spPr>
          <a:xfrm>
            <a:off x="4343400" y="516636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Block"/>
          <p:cNvSpPr/>
          <p:nvPr/>
        </p:nvSpPr>
        <p:spPr>
          <a:xfrm>
            <a:off x="2834640" y="5394960"/>
            <a:ext cx="32918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the chosen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11887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2801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11887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2801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977639"/>
            <a:ext cx="8321040" cy="731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594360"/>
          </a:xfrm>
          <a:prstGeom prst="rect">
            <a:avLst/>
          </a:prstGeom>
          <a:noFill/>
        </p:spPr>
        <p:txBody>
          <a:bodyPr wrap="square">
            <a:spAutoFit/>
          </a:bodyPr>
          <a:lstStyle/>
          <a:p>
            <a:pPr algn="l">
              <a:spcAft>
                <a:spcPts val="300"/>
              </a:spcAft>
            </a:pPr>
            <a:r>
              <a:rPr sz="2000" b="1">
                <a:solidFill>
                  <a:srgbClr val="5C4826"/>
                </a:solidFill>
                <a:latin typeface="Calibri"/>
              </a:rPr>
              <a:t>Indexes trade write and storage costs for faster selected reads</a:t>
            </a:r>
          </a:p>
        </p:txBody>
      </p:sp>
      <p:sp>
        <p:nvSpPr>
          <p:cNvPr id="11" name="Label"/>
          <p:cNvSpPr txBox="1"/>
          <p:nvPr/>
        </p:nvSpPr>
        <p:spPr>
          <a:xfrm>
            <a:off x="411480" y="749808"/>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JOIN or prefetch: one or a few batched queries</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Functional correctness tests may not reveal inefficient access patterns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descr="Two-column timeline: requests A and B for room 117 with overlapping times; both availability checks run before either insert; both inserts then commit"/>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and each request, read alone, follows the intended algorithm exactly.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8" name="SetOuter" descr="Nested sets: all interleavings contain the histories your isolation level permits, which contain the serializable core; the double-booking history lies inside the permitted set but outside the serializable core"/>
          <p:cNvSpPr/>
          <p:nvPr/>
        </p:nvSpPr>
        <p:spPr>
          <a:xfrm>
            <a:off x="640080" y="914400"/>
            <a:ext cx="7863840" cy="38404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737360"/>
            <a:ext cx="6766560" cy="265176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834640"/>
            <a:ext cx="3749039" cy="12801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810512"/>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31089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
        <p:nvSpPr>
          <p:cNvPr id="6" name="Card"/>
          <p:cNvSpPr/>
          <p:nvPr/>
        </p:nvSpPr>
        <p:spPr>
          <a:xfrm>
            <a:off x="411480" y="5029200"/>
            <a:ext cx="8321040" cy="731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5102352"/>
            <a:ext cx="8046720" cy="594360"/>
          </a:xfrm>
          <a:prstGeom prst="rect">
            <a:avLst/>
          </a:prstGeom>
          <a:noFill/>
        </p:spPr>
        <p:txBody>
          <a:bodyPr wrap="square">
            <a:spAutoFit/>
          </a:bodyPr>
          <a:lstStyle/>
          <a:p>
            <a:pPr algn="l">
              <a:spcAft>
                <a:spcPts val="300"/>
              </a:spcAft>
            </a:pPr>
            <a:r>
              <a:rPr sz="2000" b="1">
                <a:solidFill>
                  <a:srgbClr val="5C4826"/>
                </a:solidFill>
                <a:latin typeface="Calibri"/>
              </a:rPr>
              <a:t>Serializable execution excludes histories equivalent to no valid serial ordering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The conflicting execution cannot commit unchanged; an abort and retry may be required</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22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877824"/>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877824"/>
            <a:ext cx="5349240" cy="1307592"/>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engine rejects any overlapping insert</a:t>
            </a:r>
          </a:p>
          <a:p>
            <a:pPr algn="l">
              <a:spcAft>
                <a:spcPts val="400"/>
              </a:spcAft>
            </a:pPr>
            <a:r>
              <a:rPr sz="2000" b="0">
                <a:solidFill>
                  <a:srgbClr val="555960"/>
                </a:solidFill>
                <a:latin typeface="Calibri"/>
              </a:rPr>
              <a:t>Authority: database-enforced constraint</a:t>
            </a:r>
          </a:p>
        </p:txBody>
      </p:sp>
      <p:sp>
        <p:nvSpPr>
          <p:cNvPr id="6" name="Card"/>
          <p:cNvSpPr/>
          <p:nvPr/>
        </p:nvSpPr>
        <p:spPr>
          <a:xfrm>
            <a:off x="411480" y="2359152"/>
            <a:ext cx="8321040" cy="1417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414016"/>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414016"/>
            <a:ext cx="5349240" cy="1307592"/>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 the application retries aborts</a:t>
            </a:r>
          </a:p>
          <a:p>
            <a:pPr algn="l">
              <a:spcAft>
                <a:spcPts val="400"/>
              </a:spcAft>
            </a:pPr>
            <a:r>
              <a:rPr sz="2000" b="0">
                <a:solidFill>
                  <a:srgbClr val="555960"/>
                </a:solidFill>
                <a:latin typeface="Calibri"/>
              </a:rPr>
              <a:t>Authority: database-enforced transaction semantics</a:t>
            </a:r>
          </a:p>
        </p:txBody>
      </p:sp>
      <p:sp>
        <p:nvSpPr>
          <p:cNvPr id="9" name="Card"/>
          <p:cNvSpPr/>
          <p:nvPr/>
        </p:nvSpPr>
        <p:spPr>
          <a:xfrm>
            <a:off x="411480" y="3895344"/>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950208"/>
            <a:ext cx="2560320" cy="1307592"/>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950208"/>
            <a:ext cx="5349240" cy="1307592"/>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before every check</a:t>
            </a:r>
          </a:p>
          <a:p>
            <a:pPr algn="l">
              <a:spcAft>
                <a:spcPts val="400"/>
              </a:spcAft>
            </a:pPr>
            <a:r>
              <a:rPr sz="2000" b="0">
                <a:solidFill>
                  <a:srgbClr val="555960"/>
                </a:solidFill>
                <a:latin typeface="Calibri"/>
              </a:rPr>
              <a:t>Authority: application discipline using database locks</a:t>
            </a:r>
          </a:p>
        </p:txBody>
      </p:sp>
      <p:sp>
        <p:nvSpPr>
          <p:cNvPr id="12" name="ClosingQuestion"/>
          <p:cNvSpPr txBox="1"/>
          <p:nvPr/>
        </p:nvSpPr>
        <p:spPr>
          <a:xfrm>
            <a:off x="411480" y="5532120"/>
            <a:ext cx="8321040" cy="411480"/>
          </a:xfrm>
          <a:prstGeom prst="rect">
            <a:avLst/>
          </a:prstGeom>
          <a:noFill/>
        </p:spPr>
        <p:txBody>
          <a:bodyPr wrap="square">
            <a:spAutoFit/>
          </a:bodyPr>
          <a:lstStyle/>
          <a:p>
            <a:pPr algn="ctr"/>
            <a:r>
              <a:rPr sz="2000" b="1">
                <a:solidFill>
                  <a:srgbClr val="8E6F3E"/>
                </a:solidFill>
                <a:latin typeface="Calibri"/>
              </a:rPr>
              <a:t>Where should enforcement authority reside?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005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868680"/>
          </a:xfrm>
          <a:prstGeom prst="rect">
            <a:avLst/>
          </a:prstGeom>
          <a:noFill/>
        </p:spPr>
        <p:txBody>
          <a:bodyPr wrap="square">
            <a:spAutoFit/>
          </a:bodyPr>
          <a:lstStyle/>
          <a:p>
            <a:pPr algn="l">
              <a:spcAft>
                <a:spcPts val="300"/>
              </a:spcAft>
            </a:pPr>
            <a:r>
              <a:rPr sz="2000" b="1">
                <a:solidFill>
                  <a:srgbClr val="5C4826"/>
                </a:solidFill>
                <a:latin typeface="Calibri"/>
              </a:rPr>
              <a:t>Stronger concurrency guarantees impose coordination costs</a:t>
            </a:r>
          </a:p>
          <a:p>
            <a:pPr algn="l">
              <a:spcAft>
                <a:spcPts val="400"/>
              </a:spcAft>
            </a:pPr>
            <a:r>
              <a:rPr sz="2000" b="0">
                <a:solidFill>
                  <a:srgbClr val="555960"/>
                </a:solidFill>
                <a:latin typeface="Calibri"/>
              </a:rPr>
              <a:t>Telemetry tolerates weaker guarantees; reservations do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MIGRATION</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old and new versions operate simultaneously?</a:t>
            </a:r>
          </a:p>
          <a:p>
            <a:pPr algn="l">
              <a:spcAft>
                <a:spcPts val="400"/>
              </a:spcAft>
            </a:pPr>
            <a:r>
              <a:rPr sz="2000" b="0">
                <a:solidFill>
                  <a:srgbClr val="555960"/>
                </a:solidFill>
                <a:latin typeface="Calibri"/>
              </a:rPr>
              <a:t>Expand → Migrate → Contract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descr="Act III engineering method flowchart populated with this lecture's decisions: problem (preserve correct reservations) leads to model (entities, intervals, invariant) leads to judgment (relational storage, enforcement strategy); judgment leads down to realize (schema, queries, transactions), which leads left to evidence (concurrency tests, query plans), which leads left to accept or reject (no overlapping confirmed reservations); an alignment mechanism, the exclusion constraint rejecting invalid writes independent of application code, governs realization"/>
          <p:cNvSpPr/>
          <p:nvPr/>
        </p:nvSpPr>
        <p:spPr>
          <a:xfrm>
            <a:off x="41148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storage, enforcement strategy</a:t>
            </a:r>
          </a:p>
        </p:txBody>
      </p:sp>
      <p:sp>
        <p:nvSpPr>
          <p:cNvPr id="6" name="Arrow"/>
          <p:cNvSpPr/>
          <p:nvPr/>
        </p:nvSpPr>
        <p:spPr>
          <a:xfrm>
            <a:off x="290779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5786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queries, transactions</a:t>
            </a:r>
          </a:p>
        </p:txBody>
      </p:sp>
      <p:sp>
        <p:nvSpPr>
          <p:cNvPr id="10" name="Block"/>
          <p:cNvSpPr/>
          <p:nvPr/>
        </p:nvSpPr>
        <p:spPr>
          <a:xfrm>
            <a:off x="333756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concurrency tests, query plans</a:t>
            </a:r>
          </a:p>
        </p:txBody>
      </p:sp>
      <p:sp>
        <p:nvSpPr>
          <p:cNvPr id="11" name="Block"/>
          <p:cNvSpPr/>
          <p:nvPr/>
        </p:nvSpPr>
        <p:spPr>
          <a:xfrm>
            <a:off x="41148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no overlapping confirmed reservations</a:t>
            </a:r>
          </a:p>
        </p:txBody>
      </p:sp>
      <p:sp>
        <p:nvSpPr>
          <p:cNvPr id="12" name="Arrow"/>
          <p:cNvSpPr/>
          <p:nvPr/>
        </p:nvSpPr>
        <p:spPr>
          <a:xfrm>
            <a:off x="583387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498848"/>
            <a:ext cx="8321040" cy="777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the exclusion constraint rejects invalid writes, independent of application code</a:t>
            </a:r>
          </a:p>
        </p:txBody>
      </p:sp>
      <p:cxnSp>
        <p:nvCxnSpPr>
          <p:cNvPr id="16" name="AlignLink"/>
          <p:cNvCxnSpPr/>
          <p:nvPr/>
        </p:nvCxnSpPr>
        <p:spPr>
          <a:xfrm>
            <a:off x="7498079" y="4206239"/>
            <a:ext cx="0" cy="292608"/>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1" name="Engineering revision path"/>
          <p:cNvCxnSpPr/>
          <p:nvPr/>
        </p:nvCxnSpPr>
        <p:spPr>
          <a:xfrm flipV="1">
            <a:off x="4069080" y="2560320"/>
            <a:ext cx="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 name="Local revision path"/>
          <p:cNvSpPr/>
          <p:nvPr/>
        </p:nvSpPr>
        <p:spPr>
          <a:xfrm>
            <a:off x="4297680" y="2651760"/>
            <a:ext cx="2606040" cy="365760"/>
          </a:xfrm>
          <a:custGeom>
            <a:avLst/>
            <a:gdLst/>
            <a:ahLst/>
            <a:cxnLst/>
            <a:pathLst>
              <a:path w="2606040" h="365760" fill="none">
                <a:moveTo>
                  <a:pt x="0" y="365760"/>
                </a:moveTo>
                <a:lnTo>
                  <a:pt x="0" y="0"/>
                </a:lnTo>
                <a:lnTo>
                  <a:pt x="2606040" y="0"/>
                </a:lnTo>
                <a:lnTo>
                  <a:pt x="2606040" y="365760"/>
                </a:lnTo>
              </a:path>
            </a:pathLst>
          </a:custGeom>
          <a:noFill/>
          <a:ln w="19050">
            <a:solidFill>
              <a:srgbClr val="555960"/>
            </a:solidFill>
            <a:tailEnd type="triangle"/>
          </a:ln>
        </p:spPr>
        <p:txBody>
          <a:bodyPr wrap="square" rtlCol="0"/>
          <a:lstStyle/>
          <a:p/>
        </p:txBody>
      </p:sp>
      <p:sp>
        <p:nvSpPr>
          <p:cNvPr id="23" name="Engineering revision label"/>
          <p:cNvSpPr/>
          <p:nvPr/>
        </p:nvSpPr>
        <p:spPr>
          <a:xfrm>
            <a:off x="411480" y="2578608"/>
            <a:ext cx="3566160" cy="420624"/>
          </a:xfrm>
          <a:prstGeom prst="rect">
            <a:avLst/>
          </a:prstGeom>
          <a:noFill/>
          <a:ln>
            <a:noFill/>
          </a:ln>
          <a:effectLst/>
        </p:spPr>
        <p:txBody>
          <a:bodyPr wrap="square" lIns="27432" tIns="11430" rIns="27432" bIns="11430" rtlCol="0" anchor="ctr"/>
          <a:lstStyle/>
          <a:p>
            <a:pPr algn="r"/>
            <a:r>
              <a:rPr sz="2000" b="1" i="0" dirty="0">
                <a:solidFill>
                  <a:srgbClr val="8E6F3E"/>
                </a:solidFill>
              </a:rPr>
              <a:t>ENGINEERING REVISION</a:t>
            </a:r>
          </a:p>
        </p:txBody>
      </p:sp>
      <p:sp>
        <p:nvSpPr>
          <p:cNvPr id="24" name="Local revision label"/>
          <p:cNvSpPr/>
          <p:nvPr/>
        </p:nvSpPr>
        <p:spPr>
          <a:xfrm>
            <a:off x="4343400" y="2670048"/>
            <a:ext cx="2468880" cy="338328"/>
          </a:xfrm>
          <a:prstGeom prst="rect">
            <a:avLst/>
          </a:prstGeom>
          <a:noFill/>
          <a:ln>
            <a:noFill/>
          </a:ln>
          <a:effectLst/>
        </p:spPr>
        <p:txBody>
          <a:bodyPr wrap="square" lIns="27432" tIns="11430" rIns="27432" bIns="11430" rtlCol="0" anchor="ctr"/>
          <a:lstStyle/>
          <a:p>
            <a:pPr algn="ctr"/>
            <a:r>
              <a:rPr sz="2000" b="1" i="0" dirty="0">
                <a:solidFill>
                  <a:srgbClr val="555960"/>
                </a:solidFill>
              </a:rPr>
              <a:t>LOCAL REVISION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HAVE DESIGNED</a:t>
            </a:r>
          </a:p>
          <a:p>
            <a:pPr algn="l">
              <a:spcAft>
                <a:spcPts val="400"/>
              </a:spcAft>
            </a:pPr>
            <a:r>
              <a:rPr sz="2000" b="0">
                <a:solidFill>
                  <a:srgbClr val="5C4826"/>
                </a:solidFill>
                <a:latin typeface="Calibri"/>
              </a:rPr>
              <a:t>Persistent storage strategy</a:t>
            </a:r>
          </a:p>
          <a:p>
            <a:pPr algn="l">
              <a:spcAft>
                <a:spcPts val="400"/>
              </a:spcAft>
            </a:pPr>
            <a:r>
              <a:rPr sz="2000" b="0">
                <a:solidFill>
                  <a:srgbClr val="5C4826"/>
                </a:solidFill>
                <a:latin typeface="Calibri"/>
              </a:rPr>
              <a:t>Data representation and constraints</a:t>
            </a:r>
          </a:p>
          <a:p>
            <a:pPr algn="l">
              <a:spcAft>
                <a:spcPts val="400"/>
              </a:spcAft>
            </a:pPr>
            <a:r>
              <a:rPr sz="2000" b="0">
                <a:solidFill>
                  <a:srgbClr val="5C4826"/>
                </a:solidFill>
                <a:latin typeface="Calibri"/>
              </a:rPr>
              <a:t>Query and access patterns</a:t>
            </a:r>
          </a:p>
          <a:p>
            <a:pPr algn="l">
              <a:spcAft>
                <a:spcPts val="400"/>
              </a:spcAft>
            </a:pPr>
            <a:r>
              <a:rPr sz="2000" b="0">
                <a:solidFill>
                  <a:srgbClr val="5C4826"/>
                </a:solidFill>
                <a:latin typeface="Calibri"/>
              </a:rPr>
              <a:t>Concurrency-control strategy</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731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548640"/>
          </a:xfrm>
          <a:prstGeom prst="rect">
            <a:avLst/>
          </a:prstGeom>
          <a:noFill/>
        </p:spPr>
        <p:txBody>
          <a:bodyPr wrap="square">
            <a:spAutoFit/>
          </a:bodyPr>
          <a:lstStyle/>
          <a:p>
            <a:pPr algn="l">
              <a:spcAft>
                <a:spcPts val="300"/>
              </a:spcAft>
            </a:pPr>
            <a:r>
              <a:rPr sz="2000" b="1">
                <a:solidFill>
                  <a:srgbClr val="5C4826"/>
                </a:solidFill>
                <a:latin typeface="Calibri"/>
              </a:rPr>
              <a:t>Can this structure absorb the changes that are coming?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