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notesMasterIdLst>
    <p:notesMasterId r:id="rId31"/>
  </p:notesMasterIdLst>
  <p:sldIdLst>
    <p:sldId id="701" r:id="rId2"/>
    <p:sldId id="702" r:id="rId41"/>
    <p:sldId id="703" r:id="rId4"/>
    <p:sldId id="704" r:id="rId42"/>
    <p:sldId id="705" r:id="rId43"/>
    <p:sldId id="706" r:id="rId3"/>
    <p:sldId id="707" r:id="rId5"/>
    <p:sldId id="708" r:id="rId6"/>
    <p:sldId id="709" r:id="rId7"/>
    <p:sldId id="710" r:id="rId8"/>
    <p:sldId id="711" r:id="rId9"/>
    <p:sldId id="712" r:id="rId10"/>
    <p:sldId id="713" r:id="rId11"/>
    <p:sldId id="714" r:id="rId12"/>
    <p:sldId id="715" r:id="rId13"/>
    <p:sldId id="716" r:id="rId14"/>
    <p:sldId id="717" r:id="rId15"/>
    <p:sldId id="718" r:id="rId16"/>
    <p:sldId id="719" r:id="rId17"/>
    <p:sldId id="720" r:id="rId18"/>
    <p:sldId id="721" r:id="rId19"/>
    <p:sldId id="722" r:id="rId20"/>
    <p:sldId id="723" r:id="rId21"/>
    <p:sldId id="724" r:id="rId22"/>
    <p:sldId id="725" r:id="rId23"/>
    <p:sldId id="726" r:id="rId24"/>
    <p:sldId id="727" r:id="rId25"/>
    <p:sldId id="728" r:id="rId26"/>
    <p:sldId id="729" r:id="rId27"/>
    <p:sldId id="730" r:id="rId28"/>
    <p:sldId id="731" r:id="rId29"/>
    <p:sldId id="732" r:id="rId30"/>
    <p:sldId id="733" r:id="rId36"/>
    <p:sldId id="734" r:id="rId37"/>
    <p:sldId id="735" r:id="rId44"/>
    <p:sldId id="736" r:id="rId38"/>
    <p:sldId id="737" r:id="rId39"/>
    <p:sldId id="738" r:id="rId45"/>
    <p:sldId id="739" r:id="rId46"/>
    <p:sldId id="740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56164"/>
  </p:normalViewPr>
  <p:slideViewPr>
    <p:cSldViewPr snapToGrid="0" snapToObjects="1">
      <p:cViewPr varScale="1">
        <p:scale>
          <a:sx n="64" d="100"/>
          <a:sy n="64" d="100"/>
        </p:scale>
        <p:origin x="30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8B4C4-0720-F64E-9EEE-9472CF165DC6}" type="datetimeFigureOut"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09F92-05EE-6F4A-AD9C-ED35F0F769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5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0.5 minutes — </a:t>
            </a:r>
            <a:r>
              <a:rPr i="1" dirty="0"/>
              <a:t xml:space="preserve">Open Act II: delegation to capable but fallible machines.</a:t>
            </a:r>
          </a:p>
          <a:p>
            <a:endParaRPr dirty="0"/>
          </a:p>
          <a:p>
            <a:r>
              <a:rPr dirty="0"/>
              <a:t xml:space="preserve">- The strip is the lecture thesis in miniature: BOUND → EQUIP → AUTHORIZE → VERIFY — delegation is designed, not just performed.</a:t>
            </a:r>
          </a:p>
          <a:p>
            <a:r>
              <a:rPr dirty="0"/>
              <a:t xml:space="preserve">- Do not define agent yet; the definition is earned in the harness subsection.</a:t>
            </a:r>
          </a:p>
          <a:p>
            <a:r>
              <a:rPr dirty="0"/>
              <a:t xml:space="preserve">- The model/harness/environment picture is coming — but as a submodel inside EQUIP, not the headline.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 xml:space="preserve">EQUIP opens: capability is a property of a system.</a:t>
            </a:r>
          </a:p>
          <a:p>
            <a:endParaRPr dirty="0"/>
          </a:p>
          <a:p>
            <a:r>
              <a:rPr dirty="0"/>
              <a:t xml:space="preserve">- Role change: this strip now answers ONE of the four questions — what capability the agent brings to the bounded work.</a:t>
            </a:r>
          </a:p>
          <a:p>
            <a:r>
              <a:rPr dirty="0"/>
              <a:t xml:space="preserve">- Each observation previews an EQUIP subsection: models, harnesses, environments.</a:t>
            </a:r>
          </a:p>
          <a:p>
            <a:r>
              <a:rPr dirty="0"/>
              <a:t xml:space="preserve">- Say the boundary line aloud: these layers supply capability; they do not decide what to delegate, authorize, or accept.</a:t>
            </a:r>
          </a:p>
          <a:p>
            <a:r>
              <a:rPr dirty="0"/>
              <a:t xml:space="preserve">- The footer still holds — engineer the system, not merely the prompt — now scoped to EQUIP.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1.5 minutes — </a:t>
            </a:r>
            <a:r>
              <a:rPr i="1" dirty="0"/>
              <a:t xml:space="preserve">The map of the day: four engineering decisions.</a:t>
            </a:r>
          </a:p>
          <a:p>
            <a:endParaRPr dirty="0"/>
          </a:p>
          <a:p>
            <a:r>
              <a:rPr dirty="0"/>
              <a:t xml:space="preserve">- Read each move with its question; this is the organizing model of the lecture.</a:t>
            </a:r>
          </a:p>
          <a:p>
            <a:r>
              <a:rPr dirty="0"/>
              <a:t xml:space="preserve">- Stress the sub-line: the decisions interact — not a rigid pipeline. Better representations can enlarge a task; narrower authority can buy autonomy.</a:t>
            </a:r>
          </a:p>
          <a:p>
            <a:r>
              <a:rPr dirty="0"/>
              <a:t xml:space="preserve">- Promise the shape of the day: BOUND now, EQUIP until the break, the reasoning horizon as the bridge, then AUTHORIZE and VERIFY.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0.3 minutes — </a:t>
            </a:r>
            <a:r>
              <a:rPr i="1" dirty="0"/>
              <a:t>Name the EQUIP · model subsection.</a:t>
            </a:r>
          </a:p>
          <a:p>
            <a:endParaRPr dirty="0"/>
          </a:p>
          <a:p>
            <a:r>
              <a:rPr dirty="0"/>
              <a:t xml:space="preserve">- 15-20 seconds only.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Models differ along many axes; strength is not a scalar.</a:t>
            </a:r>
          </a:p>
          <a:p>
            <a:endParaRPr dirty="0"/>
          </a:p>
          <a:p>
            <a:r>
              <a:rPr dirty="0"/>
              <a:t xml:space="preserve">- Do not teach transformers; capabilities in the abstract only.</a:t>
            </a:r>
          </a:p>
          <a:p>
            <a:r>
              <a:rPr dirty="0"/>
              <a:t xml:space="preserve">- Second row is the row students forget: cost, latency, context, deployment, availability.</a:t>
            </a:r>
          </a:p>
          <a:p>
            <a:r>
              <a:rPr dirty="0"/>
              <a:t xml:space="preserve">- Sets up the next slide: with this many axes there cannot be one best model.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Selection under requirements and constraints; no products recommended.</a:t>
            </a:r>
          </a:p>
          <a:p>
            <a:endParaRPr dirty="0"/>
          </a:p>
          <a:p>
            <a:r>
              <a:rPr dirty="0"/>
              <a:t xml:space="preserve">- Four example points in the decision space, not four products.</a:t>
            </a:r>
          </a:p>
          <a:p>
            <a:r>
              <a:rPr dirty="0"/>
              <a:t xml:space="preserve">- Open-weight models belong here: what their availability changes, not advocacy.</a:t>
            </a:r>
          </a:p>
          <a:p>
            <a:r>
              <a:rPr dirty="0"/>
              <a:t xml:space="preserve">- Callback to Act I decision-making: requirements and constraints select.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4 minutes — </a:t>
            </a:r>
            <a:r>
              <a:rPr i="1" dirty="0"/>
              <a:t>The empirical surprise: support can rival model strength. TPS.</a:t>
            </a:r>
          </a:p>
          <a:p>
            <a:endParaRPr dirty="0"/>
          </a:p>
          <a:p>
            <a:r>
              <a:rPr dirty="0"/>
              <a:t xml:space="preserve">- Build: strong+weak row, weaker+strong row, then the evidence card.</a:t>
            </a:r>
          </a:p>
          <a:p>
            <a:r>
              <a:rPr dirty="0"/>
              <a:t xml:space="preserve">- Numbers are real: Anthropic reported 33%→49% on SWE-bench Verified for the same Claude 3.5 Sonnet under different scaffolds (2024). Leaderboard scaffold spreads for one model are of similar size.</a:t>
            </a:r>
          </a:p>
          <a:p>
            <a:r>
              <a:rPr dirty="0"/>
              <a:t xml:space="preserve">- TPS ~2 min. Expected answer: cannot tell — depends on task, costs, constraints. That IS the lesson.</a:t>
            </a:r>
          </a:p>
          <a:p>
            <a:r>
              <a:rPr dirty="0"/>
              <a:t xml:space="preserve">- Do not let this become ‘models don’t matter’; both rows are levers.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0.3 minutes — </a:t>
            </a:r>
            <a:r>
              <a:rPr i="1" dirty="0"/>
              <a:t>Name the EQUIP · harness subsection.</a:t>
            </a:r>
          </a:p>
          <a:p>
            <a:endParaRPr dirty="0"/>
          </a:p>
          <a:p>
            <a:r>
              <a:rPr dirty="0"/>
              <a:t xml:space="preserve">- 15-20 seconds only.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Two rows: one inference vs a loop of reasoning and action.</a:t>
            </a:r>
          </a:p>
          <a:p>
            <a:endParaRPr dirty="0"/>
          </a:p>
          <a:p>
            <a:r>
              <a:rPr dirty="0"/>
              <a:t xml:space="preserve">- Build model row first, then the agent loop on the second click.</a:t>
            </a:r>
          </a:p>
          <a:p>
            <a:r>
              <a:rPr dirty="0"/>
              <a:t xml:space="preserve">- Say explicitly: this is a pedagogical abstraction — the model does not literally contain a ‘reason’ module; the loop is imposed from outside.</a:t>
            </a:r>
          </a:p>
          <a:p>
            <a:r>
              <a:rPr dirty="0"/>
              <a:t xml:space="preserve">- The footer names the next slide’s subject: the harness.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The definition slide; read it once, slowly.</a:t>
            </a:r>
          </a:p>
          <a:p>
            <a:endParaRPr dirty="0"/>
          </a:p>
          <a:p>
            <a:r>
              <a:rPr dirty="0"/>
              <a:t xml:space="preserve">- Every phrase in the definition is a design surface: manages context, exposes tools, executes, returns results, controls continuation.</a:t>
            </a:r>
          </a:p>
          <a:p>
            <a:r>
              <a:rPr dirty="0"/>
              <a:t xml:space="preserve">- The loop below is the same picture reduced to four boxes; nothing else on this slide by design.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2.5 minutes — </a:t>
            </a:r>
            <a:r>
              <a:rPr i="1" dirty="0"/>
              <a:t>One concrete coding loop, one step per click.</a:t>
            </a:r>
          </a:p>
          <a:p>
            <a:endParaRPr dirty="0"/>
          </a:p>
          <a:p>
            <a:r>
              <a:rPr dirty="0"/>
              <a:t xml:space="preserve">- Narrate as a story: the agent looks, edits, runs the tests, sees the failure, revises.</a:t>
            </a:r>
          </a:p>
          <a:p>
            <a:r>
              <a:rPr dirty="0"/>
              <a:t xml:space="preserve">- The left rail closes the loop visually: revise feeds the next inspection.</a:t>
            </a:r>
          </a:p>
          <a:p>
            <a:r>
              <a:rPr dirty="0"/>
              <a:t xml:space="preserve">- Punch line is the footer: inference becomes extended work because consequences return as inputs.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The overview slide for the technical mechanisms.</a:t>
            </a:r>
          </a:p>
          <a:p>
            <a:endParaRPr dirty="0"/>
          </a:p>
          <a:p>
            <a:r>
              <a:rPr dirty="0"/>
              <a:t xml:space="preserve">- Six levers around the harness; the next five slides take them in turn — each asks only ‘what engineering lever is this?’</a:t>
            </a:r>
          </a:p>
          <a:p>
            <a:r>
              <a:rPr dirty="0"/>
              <a:t xml:space="preserve">- Task structure is deliberately absent: it was decided under BOUND — it changes the task, not the harness.</a:t>
            </a:r>
          </a:p>
          <a:p>
            <a:r>
              <a:rPr dirty="0"/>
              <a:t xml:space="preserve">- Warn the class: none of these is a tutorial; platform details go stale, the levers do not.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Two different levers that share one channel.</a:t>
            </a:r>
          </a:p>
          <a:p>
            <a:endParaRPr dirty="0"/>
          </a:p>
          <a:p>
            <a:r>
              <a:rPr dirty="0"/>
              <a:t xml:space="preserve">- Context answers ‘what is available’; instructions answer ‘how to approach it.’</a:t>
            </a:r>
          </a:p>
          <a:p>
            <a:r>
              <a:rPr dirty="0"/>
              <a:t xml:space="preserve">- The insight box is the teachable subtlety: the model weighs both; neither is privileged truth.</a:t>
            </a:r>
          </a:p>
          <a:p>
            <a:r>
              <a:rPr dirty="0"/>
              <a:t xml:space="preserve">- Resist listing vendor features; the lever framing is the content.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Tools are the lever that gives reasoning consequences.</a:t>
            </a:r>
          </a:p>
          <a:p>
            <a:endParaRPr dirty="0"/>
          </a:p>
          <a:p>
            <a:r>
              <a:rPr dirty="0"/>
              <a:t xml:space="preserve">- Walk the list quickly; the point is the footer, not the inventory.</a:t>
            </a:r>
          </a:p>
          <a:p>
            <a:r>
              <a:rPr dirty="0"/>
              <a:t xml:space="preserve">- Seed permissions here but do NOT teach authority yet — AUTHORIZE owns that.</a:t>
            </a:r>
          </a:p>
          <a:p>
            <a:r>
              <a:rPr dirty="0"/>
              <a:t xml:space="preserve">- The lever: choose what the agent can observe and affect.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One conceptual MCP slide: the problem it solves, nothing else.</a:t>
            </a:r>
          </a:p>
          <a:p>
            <a:endParaRPr dirty="0"/>
          </a:p>
          <a:p>
            <a:r>
              <a:rPr dirty="0"/>
              <a:t xml:space="preserve">- The engineering claim is the N×M → N+M collapse; that is what a common protocol buys.</a:t>
            </a:r>
          </a:p>
          <a:p>
            <a:r>
              <a:rPr dirty="0"/>
              <a:t xml:space="preserve">- Mention resources/tools exist at the protocol level — one sentence, no more.</a:t>
            </a:r>
          </a:p>
          <a:p>
            <a:r>
              <a:rPr dirty="0"/>
              <a:t xml:space="preserve">- Absolutely no JSON-RPC, transports, SDKs, OAuth, or server implementation.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Skills are packaged procedure — the knowledge-management lever.</a:t>
            </a:r>
          </a:p>
          <a:p>
            <a:endParaRPr dirty="0"/>
          </a:p>
          <a:p>
            <a:r>
              <a:rPr dirty="0"/>
              <a:t xml:space="preserve">- Contrast: an instruction serves one task; a skill serves the class of tasks.</a:t>
            </a:r>
          </a:p>
          <a:p>
            <a:r>
              <a:rPr dirty="0"/>
              <a:t xml:space="preserve">- The example keeps it concrete without becoming a product tour.</a:t>
            </a:r>
          </a:p>
          <a:p>
            <a:r>
              <a:rPr dirty="0"/>
              <a:t xml:space="preserve">- First explicit link to Engineering Knowledge (Handbook ch. 4); the environment subsection deepens it.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2.5 minutes — </a:t>
            </a:r>
            <a:r>
              <a:rPr i="1" dirty="0"/>
              <a:t>Split ‘memory’ into three kinds of persistence.</a:t>
            </a:r>
          </a:p>
          <a:p>
            <a:endParaRPr dirty="0"/>
          </a:p>
          <a:p>
            <a:r>
              <a:rPr dirty="0"/>
              <a:t xml:space="preserve">- Left to right: an inference, a task, an organization’s knowledge.</a:t>
            </a:r>
          </a:p>
          <a:p>
            <a:r>
              <a:rPr dirty="0"/>
              <a:t xml:space="preserve">- The footer is the bridge to Handbook ch. 4: what should an organization remember — and what goes stale?</a:t>
            </a:r>
          </a:p>
          <a:p>
            <a:r>
              <a:rPr dirty="0"/>
              <a:t xml:space="preserve">- The lever: choose what persists, at which lifetime, and who maintains it.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0.3 minutes — </a:t>
            </a:r>
            <a:r>
              <a:rPr i="1" dirty="0"/>
              <a:t>Name the EQUIP · environment subsection.</a:t>
            </a:r>
          </a:p>
          <a:p>
            <a:endParaRPr dirty="0"/>
          </a:p>
          <a:p>
            <a:r>
              <a:rPr dirty="0"/>
              <a:t xml:space="preserve">- 15-20 seconds only.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1.5 minutes — </a:t>
            </a:r>
            <a:r>
              <a:rPr i="1" dirty="0"/>
              <a:t>The second definition; the examples make it concrete.</a:t>
            </a:r>
          </a:p>
          <a:p>
            <a:endParaRPr dirty="0"/>
          </a:p>
          <a:p>
            <a:r>
              <a:rPr dirty="0"/>
              <a:t xml:space="preserve">- Read the definition once; then point out the students already know every example.</a:t>
            </a:r>
          </a:p>
          <a:p>
            <a:r>
              <a:rPr dirty="0"/>
              <a:t xml:space="preserve">- The italic line frames the section: environment quality now multiplies machine work.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The visual payoff of the harness subsection: zoom from model to environment.</a:t>
            </a:r>
          </a:p>
          <a:p>
            <a:endParaRPr dirty="0"/>
          </a:p>
          <a:p>
            <a:r>
              <a:rPr dirty="0"/>
              <a:t xml:space="preserve">- Build inside-out: model, then harness, then environment — the reverse of how vendors sell it.</a:t>
            </a:r>
          </a:p>
          <a:p>
            <a:r>
              <a:rPr dirty="0"/>
              <a:t xml:space="preserve">- Note: the environment ring is where most of a software organization already lives.</a:t>
            </a:r>
          </a:p>
          <a:p>
            <a:r>
              <a:rPr dirty="0"/>
              <a:t xml:space="preserve">- This run up to the EQUIP synthesis is the intellectual heart of the first half; do not rush it.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The Engineering Knowledge reading enters: represented vs reconstructed.</a:t>
            </a:r>
          </a:p>
          <a:p>
            <a:endParaRPr dirty="0"/>
          </a:p>
          <a:p>
            <a:r>
              <a:rPr dirty="0"/>
              <a:t xml:space="preserve">- Left: every reasoning episode re-purchases the same reconstruction. Right: the environment already knows.</a:t>
            </a:r>
          </a:p>
          <a:p>
            <a:r>
              <a:rPr dirty="0"/>
              <a:t xml:space="preserve">- The regret question is old knowledge management — newly visible because reconstruction now has a per-episode price.</a:t>
            </a:r>
          </a:p>
          <a:p>
            <a:r>
              <a:rPr dirty="0"/>
              <a:t xml:space="preserve">- Foreshadow the reasoning horizon: this move — change what the reasoner is given — has a name coming.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4.5 minutes — </a:t>
            </a:r>
            <a:r>
              <a:rPr i="1" dirty="0"/>
              <a:t>TPS: an engineering tradeoff with no dominant option.</a:t>
            </a:r>
          </a:p>
          <a:p>
            <a:endParaRPr dirty="0"/>
          </a:p>
          <a:p>
            <a:r>
              <a:rPr dirty="0"/>
              <a:t xml:space="preserve">- Beats: scenario first; then the five options; then the prompt. Let students argue.</a:t>
            </a:r>
          </a:p>
          <a:p>
            <a:r>
              <a:rPr dirty="0"/>
              <a:t xml:space="preserve">- Push for ‘what additional information would you need?’ — cost per task, failure rate, constraint stability.</a:t>
            </a:r>
          </a:p>
          <a:p>
            <a:r>
              <a:rPr dirty="0"/>
              <a:t xml:space="preserve">- The dependency-model option quietly previews the representation lever of the horizon run — do not resolve it here.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1.5 minutes — </a:t>
            </a:r>
            <a:r>
              <a:rPr i="1" dirty="0"/>
              <a:t xml:space="preserve">The EQUIP synthesis — not the lecture synthesis.</a:t>
            </a:r>
          </a:p>
          <a:p>
            <a:endParaRPr dirty="0"/>
          </a:p>
          <a:p>
            <a:r>
              <a:rPr dirty="0"/>
              <a:t xml:space="preserve">- Read the stack once: model + harness + engineering environment → capability for the bounded work.</a:t>
            </a:r>
          </a:p>
          <a:p>
            <a:r>
              <a:rPr dirty="0"/>
              <a:t xml:space="preserve">- Work structure is gone from the stack: BOUND already made that decision, on the task itself.</a:t>
            </a:r>
          </a:p>
          <a:p>
            <a:r>
              <a:rPr dirty="0"/>
              <a:t xml:space="preserve">- This closes ONE of four questions. The break question hands over to the rest: the horizon bridge, then AUTHORIZE and VERIFY.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5 minutes — </a:t>
            </a:r>
            <a:r>
              <a:rPr i="1" dirty="0"/>
              <a:t>Stretch break; leave the question on screen.</a:t>
            </a:r>
          </a:p>
          <a:p>
            <a:endParaRPr dirty="0"/>
          </a:p>
          <a:p>
            <a:r>
              <a:rPr dirty="0"/>
              <a:t xml:space="preserve">- The question tees up the second half: the reasoning horizon bridges BOUND and EQUIP; then AUTHORIZE and VERIFY.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Define the reasoning horizon carefully; kill the context-window reduction.</a:t>
            </a:r>
          </a:p>
          <a:p>
            <a:endParaRPr dirty="0"/>
          </a:p>
          <a:p>
            <a:r>
              <a:rPr dirty="0"/>
              <a:t xml:space="preserve">- Definition earns the blue box: it is used for the rest of the lecture.</a:t>
            </a:r>
          </a:p>
          <a:p>
            <a:r>
              <a:rPr dirty="0"/>
              <a:t xml:space="preserve">- Boundary depends on model, harness, repository, task — all four are engineering surfaces.</a:t>
            </a:r>
          </a:p>
          <a:p>
            <a:r>
              <a:rPr dirty="0"/>
              <a:t xml:space="preserve">- Beyond the horizon work degrades into churn: repeated rediscovery, forgotten constraints, contradictory local decisions.</a:t>
            </a:r>
          </a:p>
          <a:p>
            <a:r>
              <a:rPr dirty="0"/>
              <a:t xml:space="preserve">- The footer is the BOUND ↔ EQUIP bridge: work that does not fit means move the boundary, or change what the agent has to reason with.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3 minutes — </a:t>
            </a:r>
            <a:r>
              <a:rPr i="1" dirty="0"/>
              <a:t>The decision slide — the lecture’s recurring diagram, built in beats.</a:t>
            </a:r>
          </a:p>
          <a:p>
            <a:endParaRPr dirty="0"/>
          </a:p>
          <a:p>
            <a:r>
              <a:rPr dirty="0"/>
              <a:t xml:space="preserve">- Beats: task×reasoner and the failure; the improve-the-reasoner knob; the assist-the-reasoning knob; the benchmark meter.</a:t>
            </a:r>
          </a:p>
          <a:p>
            <a:r>
              <a:rPr dirty="0"/>
              <a:t xml:space="preserve">- Two knobs, one meter: change the reasoner ↔ change the task as presented; benchmark tells you which paid.</a:t>
            </a:r>
          </a:p>
          <a:p>
            <a:r>
              <a:rPr dirty="0"/>
              <a:t xml:space="preserve">- Do not assume the frontier model is the answer; do not assume clever scaffolding is either.</a:t>
            </a:r>
          </a:p>
          <a:p>
            <a:r>
              <a:rPr dirty="0"/>
              <a:t xml:space="preserve">- The bottom lines enumerate the response space when work exceeds the horizon — reducing the task is re-BOUNDing. Neither knob is the default answer.</a:t>
            </a:r>
          </a:p>
          <a:p>
            <a:r>
              <a:rPr dirty="0"/>
              <a:t xml:space="preserve">- BENCHMARK, not measure — the course established benchmarking in Act I.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Pólya gives the move its intellectual weight.</a:t>
            </a:r>
          </a:p>
          <a:p>
            <a:endParaRPr dirty="0"/>
          </a:p>
          <a:p>
            <a:r>
              <a:rPr dirty="0"/>
              <a:t xml:space="preserve">- Four moves, read slowly; each changes the representation, none changes the solver.</a:t>
            </a:r>
          </a:p>
          <a:p>
            <a:r>
              <a:rPr dirty="0"/>
              <a:t xml:space="preserve">- Say aloud: this is not an AI trick — it predates computers. The novelty is that we can engineer these aids systematically around a machine reasoner.</a:t>
            </a:r>
          </a:p>
          <a:p>
            <a:r>
              <a:rPr dirty="0"/>
              <a:t xml:space="preserve">- Same framing as the MAGE book’s ‘Rotate the problem’ inset (brownfield chapter) and the assigned How to Solve It reading (Part I §§6–9).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The MAGE example almost directly: a graph answers what sources merely contain.</a:t>
            </a:r>
          </a:p>
          <a:p>
            <a:endParaRPr dirty="0"/>
          </a:p>
          <a:p>
            <a:r>
              <a:rPr dirty="0"/>
              <a:t xml:space="preserve">- Left: the answer exists, diffused across thousands of lines — the reasoner must reconstruct it.</a:t>
            </a:r>
          </a:p>
          <a:p>
            <a:r>
              <a:rPr dirty="0"/>
              <a:t xml:space="preserve">- Right: the same answer is one edge-lookup in a representation the environment maintains.</a:t>
            </a:r>
          </a:p>
          <a:p>
            <a:r>
              <a:rPr dirty="0"/>
              <a:t xml:space="preserve">- A dependency graph can answer a question that retrieved source merely makes available.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3 minutes — </a:t>
            </a:r>
            <a:r>
              <a:rPr i="1" dirty="0"/>
              <a:t>Resist doctrine: the alternatives are priced and tested, not preached.</a:t>
            </a:r>
          </a:p>
          <a:p>
            <a:endParaRPr dirty="0"/>
          </a:p>
          <a:p>
            <a:r>
              <a:rPr dirty="0"/>
              <a:t xml:space="preserve">- Fill in plausible costs live; the blanks are deliberate — they differ per organization.</a:t>
            </a:r>
          </a:p>
          <a:p>
            <a:r>
              <a:rPr dirty="0"/>
              <a:t xml:space="preserve">- This is the Act I decision-making stance applied to agents: evidence over ideology.</a:t>
            </a:r>
          </a:p>
          <a:p>
            <a:r>
              <a:rPr dirty="0"/>
              <a:t xml:space="preserve">- The footer is the slide’s reason to exist: your benchmark, your work, your costs — not a leaderboard.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0.3 minutes — </a:t>
            </a:r>
            <a:r>
              <a:rPr i="1" dirty="0"/>
              <a:t>Name AUTHORIZE — the control problem.</a:t>
            </a:r>
          </a:p>
          <a:p>
            <a:endParaRPr dirty="0"/>
          </a:p>
          <a:p>
            <a:r>
              <a:rPr dirty="0"/>
              <a:t xml:space="preserve">- 15-20 seconds only.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Sparse on purpose: the arithmetic of delegation.</a:t>
            </a:r>
          </a:p>
          <a:p>
            <a:endParaRPr dirty="0"/>
          </a:p>
          <a:p>
            <a:r>
              <a:rPr dirty="0"/>
              <a:t xml:space="preserve">- One human, one agent, four implementations — and the four keep multiplying.</a:t>
            </a:r>
          </a:p>
          <a:p>
            <a:r>
              <a:rPr dirty="0"/>
              <a:t xml:space="preserve">- Let the footer land in silence; it is the ethical spine of Act II.</a:t>
            </a:r>
          </a:p>
          <a:p>
            <a:r>
              <a:rPr dirty="0"/>
              <a:t xml:space="preserve">- The line is a callback to the ENGINEERING slide at the open: delegating realization never delegated responsibility.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3 minutes — </a:t>
            </a:r>
            <a:r>
              <a:rPr i="1" dirty="0"/>
              <a:t>The conceptual revelation of AUTHORIZE.</a:t>
            </a:r>
          </a:p>
          <a:p>
            <a:endParaRPr dirty="0"/>
          </a:p>
          <a:p>
            <a:r>
              <a:rPr dirty="0"/>
              <a:t xml:space="preserve">- One obligation, two very different realizations: helping the agent comply vs refusing the outcome.</a:t>
            </a:r>
          </a:p>
          <a:p>
            <a:r>
              <a:rPr dirty="0"/>
              <a:t xml:space="preserve">- The previous slide separated capability from authority; this one separates guidance from authority.</a:t>
            </a:r>
          </a:p>
          <a:p>
            <a:r>
              <a:rPr dirty="0"/>
              <a:t xml:space="preserve">- The question is the hinge: guidance fails exactly when the reasoning fails — which is when you needed protection.</a:t>
            </a:r>
          </a:p>
          <a:p>
            <a:r>
              <a:rPr dirty="0"/>
              <a:t xml:space="preserve">- Do not teach enforcement mechanics; Alignment owns that.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 xml:space="preserve">Four grains where an obligation can act; leave the question unresolved.</a:t>
            </a:r>
          </a:p>
          <a:p>
            <a:endParaRPr dirty="0"/>
          </a:p>
          <a:p>
            <a:r>
              <a:rPr dirty="0"/>
              <a:t xml:space="preserve">- Terminology care: the first column is guidance — it shapes reasoning; it does not bind outcomes the way permissions, admission, and runtime control do.</a:t>
            </a:r>
          </a:p>
          <a:p>
            <a:r>
              <a:rPr dirty="0"/>
              <a:t xml:space="preserve">- Walk left to right: guidance → action authority → admission → runtime control.</a:t>
            </a:r>
          </a:p>
          <a:p>
            <a:r>
              <a:rPr dirty="0"/>
              <a:t xml:space="preserve">- Do NOT teach the ‘obligation not decidable here → move mechanism’ material — that belongs to Alignment.</a:t>
            </a:r>
          </a:p>
          <a:p>
            <a:r>
              <a:rPr dirty="0"/>
              <a:t xml:space="preserve">- End on the footer question and say explicitly: we are leaving it open.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 xml:space="preserve">The only summary slide; hand off to the rest of Act II.</a:t>
            </a:r>
          </a:p>
          <a:p>
            <a:endParaRPr dirty="0"/>
          </a:p>
          <a:p>
            <a:r>
              <a:rPr dirty="0"/>
              <a:t xml:space="preserve">- Return of the four moves, now with their imperatives — nothing new, deliberately.</a:t>
            </a:r>
          </a:p>
          <a:p>
            <a:r>
              <a:rPr dirty="0"/>
              <a:t xml:space="preserve">- Three forward questions name the next units: Modeling lives inside EQUIP; Alignment deepens AUTHORIZE and VERIFY.</a:t>
            </a:r>
          </a:p>
          <a:p>
            <a:r>
              <a:rPr dirty="0"/>
              <a:t xml:space="preserve">- Final spoken line: delegate realization — without delegating engineering. It lands because the lecture taught a model of delegation.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1 minute — </a:t>
            </a:r>
            <a:r>
              <a:rPr i="1" dirty="0"/>
              <a:t>Callback to Act I, not a new definition lecture.</a:t>
            </a:r>
          </a:p>
          <a:p>
            <a:endParaRPr dirty="0"/>
          </a:p>
          <a:p>
            <a:r>
              <a:rPr dirty="0"/>
              <a:t xml:space="preserve">- Read the delegation clause once, slowly; do NOT re-teach the Engineering definition.</a:t>
            </a:r>
          </a:p>
          <a:p>
            <a:r>
              <a:rPr dirty="0"/>
              <a:t xml:space="preserve">- The transition line is the premise of the whole lecture: delegation itself must be engineered.</a:t>
            </a:r>
          </a:p>
          <a:p>
            <a:r>
              <a:rPr dirty="0"/>
              <a:t xml:space="preserve">- Say the four moves aloud once; every slide today answers one of them.</a:t>
            </a:r>
          </a:p>
          <a:p>
            <a:r>
              <a:rPr dirty="0"/>
              <a:t xml:space="preserve">- The ‘you cannot delegate responsibility’ line near the end of the lecture is a callback to THIS slide.</a:t>
            </a:r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2.5 minutes — </a:t>
            </a:r>
            <a:r>
              <a:rPr i="1" dirty="0"/>
              <a:t>BOUND: the first delegation decision — design the work itself.</a:t>
            </a:r>
          </a:p>
          <a:p>
            <a:endParaRPr dirty="0"/>
          </a:p>
          <a:p>
            <a:r>
              <a:rPr dirty="0"/>
              <a:t xml:space="preserve">- The point is NOT ‘make tasks small.’ The point is the footer: change the task to change the reasoning problem.</a:t>
            </a:r>
          </a:p>
          <a:p>
            <a:r>
              <a:rPr dirty="0"/>
              <a:t xml:space="preserve">- Walk the picture: one large task becomes coherent work units joined by explicit artifacts and checkpoints.</a:t>
            </a:r>
          </a:p>
          <a:p>
            <a:r>
              <a:rPr dirty="0"/>
              <a:t xml:space="preserve">- The tradeoff lines are the teaching: too broad overwhelms the horizon; too fragmented forces context across every boundary.</a:t>
            </a:r>
          </a:p>
          <a:p>
            <a:r>
              <a:rPr dirty="0"/>
              <a:t xml:space="preserve">- Reasoning horizon is only named here — the full treatment comes after the break.</a:t>
            </a:r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The boundary question, stated carefully.</a:t>
            </a:r>
          </a:p>
          <a:p>
            <a:endParaRPr dirty="0"/>
          </a:p>
          <a:p>
            <a:r>
              <a:rPr dirty="0"/>
              <a:t xml:space="preserve">- Read the three-line question as one sentence; it is the BOUND design criterion.</a:t>
            </a:r>
          </a:p>
          <a:p>
            <a:r>
              <a:rPr dirty="0"/>
              <a:t xml:space="preserve">- The five levers are how engineers move a boundary — scope, decomposition, interfaces, artifacts, checkpoints.</a:t>
            </a:r>
          </a:p>
          <a:p>
            <a:r>
              <a:rPr dirty="0"/>
              <a:t xml:space="preserve">- The preview line plants the bridge: the boundary decides the reasoning problem; the horizon section makes that precise.</a:t>
            </a:r>
          </a:p>
          <a:p>
            <a:r>
              <a:rPr dirty="0"/>
              <a:t xml:space="preserve">- Do not solve an example here; the TPS slides later do that work.</a:t>
            </a:r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 minutes — </a:t>
            </a:r>
            <a:r>
              <a:rPr i="1" dirty="0"/>
              <a:t>The AUTHORIZE hinge: same capability, five grants of authority.</a:t>
            </a:r>
          </a:p>
          <a:p>
            <a:endParaRPr dirty="0"/>
          </a:p>
          <a:p>
            <a:r>
              <a:rPr dirty="0"/>
              <a:t xml:space="preserve">- Walk the chain left to right: the model never changes; the permitted consequence does.</a:t>
            </a:r>
          </a:p>
          <a:p>
            <a:r>
              <a:rPr dirty="0"/>
              <a:t xml:space="preserve">- Say it plainly: what an agent CAN do and what it MAY cause are separate engineering decisions.</a:t>
            </a:r>
          </a:p>
          <a:p>
            <a:r>
              <a:rPr dirty="0"/>
              <a:t xml:space="preserve">- This sets up ‘Guidance is not authority’ next — do not teach mechanisms yet.</a:t>
            </a:r>
          </a:p>
          <a:p>
            <a:r>
              <a:rPr dirty="0"/>
              <a:t xml:space="preserve">- Deliberately sparse; let the progression do the work.</a:t>
            </a:r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2.5 minutes — </a:t>
            </a:r>
            <a:r>
              <a:rPr i="1" dirty="0"/>
              <a:t>VERIFY: decide what evidence closes the delegation — before the work begins.</a:t>
            </a:r>
          </a:p>
          <a:p>
            <a:endParaRPr dirty="0"/>
          </a:p>
          <a:p>
            <a:r>
              <a:rPr dirty="0"/>
              <a:t xml:space="preserve">- Three delegated tasks, three evidence shapes; the burden scales with claims and consequences.</a:t>
            </a:r>
          </a:p>
          <a:p>
            <a:r>
              <a:rPr dirty="0"/>
              <a:t xml:space="preserve">- The claim lines are the content: the burden does not depend on who — or what — produced the artifact.</a:t>
            </a:r>
          </a:p>
          <a:p>
            <a:r>
              <a:rPr dirty="0"/>
              <a:t xml:space="preserve">- Do NOT reprise the Validation lecture; students know evidence. This puts evidence into the delegation model.</a:t>
            </a:r>
          </a:p>
          <a:p>
            <a:r>
              <a:rPr dirty="0"/>
              <a:t xml:space="preserve">- Alignment develops the machinery; here we only place the decision.</a:t>
            </a:r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 xml:space="preserve">1.5 minutes — </a:t>
            </a:r>
            <a:r>
              <a:rPr i="1" dirty="0"/>
              <a:t>Self-report is a claim, not independent evidence.</a:t>
            </a:r>
          </a:p>
          <a:p>
            <a:endParaRPr dirty="0"/>
          </a:p>
          <a:p>
            <a:r>
              <a:rPr dirty="0"/>
              <a:t xml:space="preserve">- Walk the chain: the agent produces; the environment obtains and checks evidence; acceptance is an engineering decision.</a:t>
            </a:r>
          </a:p>
          <a:p>
            <a:r>
              <a:rPr dirty="0"/>
              <a:t xml:space="preserve">- An agent asserting ‘the tests pass’ is a claim to verify — exactly like a human author’s assertion.</a:t>
            </a:r>
          </a:p>
          <a:p>
            <a:r>
              <a:rPr dirty="0"/>
              <a:t xml:space="preserve">- One slide, one idea; resist mechanism details — Alignment owns enforcement.</a:t>
            </a: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18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08100" y="3235325"/>
            <a:ext cx="6400800" cy="1881188"/>
          </a:xfrm>
        </p:spPr>
        <p:txBody>
          <a:bodyPr/>
          <a:lstStyle>
            <a:lvl1pPr marL="0" indent="0" algn="ctr">
              <a:buFont typeface="Times" pitchFamily="18" charset="0"/>
              <a:buNone/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Click to edit Master subtitle style</a:t>
            </a:r>
          </a:p>
        </p:txBody>
      </p:sp>
      <p:sp>
        <p:nvSpPr>
          <p:cNvPr id="251914" name="Rectangle 10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127125" y="2078038"/>
            <a:ext cx="7031038" cy="874712"/>
          </a:xfrm>
          <a:ln>
            <a:noFill/>
          </a:ln>
        </p:spPr>
        <p:txBody>
          <a:bodyPr/>
          <a:lstStyle>
            <a:lvl1pPr algn="ctr">
              <a:defRPr sz="3600" cap="none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8" name="Line 66">
            <a:extLst>
              <a:ext uri="{FF2B5EF4-FFF2-40B4-BE49-F238E27FC236}">
                <a16:creationId xmlns:a16="http://schemas.microsoft.com/office/drawing/2014/main" id="{9629C0A1-FA46-974B-8B59-DAFA34D587F5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6760" y="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Line 66">
            <a:extLst>
              <a:ext uri="{FF2B5EF4-FFF2-40B4-BE49-F238E27FC236}">
                <a16:creationId xmlns:a16="http://schemas.microsoft.com/office/drawing/2014/main" id="{F21F285B-3B58-4149-B959-9010CE636448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0" y="685800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F3C42A2-A875-7F49-9930-886B64F26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  <p:pic>
        <p:nvPicPr>
          <p:cNvPr id="1026" name="Picture 2" descr="Electrical and Computer Engineering Black and Gold Co-Brand Logo">
            <a:extLst>
              <a:ext uri="{FF2B5EF4-FFF2-40B4-BE49-F238E27FC236}">
                <a16:creationId xmlns:a16="http://schemas.microsoft.com/office/drawing/2014/main" id="{DA2A365A-4E3B-2A48-8812-990B2A2EE9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158" y="5721845"/>
            <a:ext cx="1264684" cy="99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6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77148" y="1305004"/>
            <a:ext cx="8557768" cy="5166916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altLang="ko-KR" dirty="0"/>
              <a:t>Words</a:t>
            </a:r>
            <a:endParaRPr lang="ko-KR" altLang="en-US" dirty="0"/>
          </a:p>
          <a:p>
            <a:pPr lvl="1"/>
            <a:r>
              <a:rPr lang="en-US" altLang="ko-KR" dirty="0"/>
              <a:t>Words</a:t>
            </a:r>
            <a:endParaRPr lang="ko-KR" altLang="en-US" dirty="0"/>
          </a:p>
          <a:p>
            <a:pPr lvl="2"/>
            <a:r>
              <a:rPr lang="en-US" altLang="ko-KR" dirty="0"/>
              <a:t>Words</a:t>
            </a:r>
          </a:p>
          <a:p>
            <a:pPr lvl="3"/>
            <a:r>
              <a:rPr lang="en-US" altLang="ko-KR" dirty="0"/>
              <a:t>Words</a:t>
            </a:r>
          </a:p>
          <a:p>
            <a:pPr lvl="4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67B3E873-1394-3543-8BD2-2C910090ECB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57769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10635A2-0953-8C4C-807B-9F1EE80A1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1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484369" y="1250205"/>
            <a:ext cx="403860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Words</a:t>
            </a:r>
          </a:p>
          <a:p>
            <a:pPr lvl="1"/>
            <a:r>
              <a:rPr lang="en-US" altLang="ko-KR" dirty="0"/>
              <a:t>Words</a:t>
            </a:r>
          </a:p>
          <a:p>
            <a:pPr lvl="2"/>
            <a:r>
              <a:rPr lang="en-US" altLang="ko-KR" dirty="0"/>
              <a:t>Words</a:t>
            </a:r>
          </a:p>
          <a:p>
            <a:pPr lvl="3"/>
            <a:r>
              <a:rPr lang="en-US" altLang="ko-KR" dirty="0"/>
              <a:t>Words</a:t>
            </a:r>
          </a:p>
          <a:p>
            <a:pPr lvl="4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675369" y="1250205"/>
            <a:ext cx="403860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Words</a:t>
            </a:r>
          </a:p>
          <a:p>
            <a:pPr lvl="1"/>
            <a:r>
              <a:rPr lang="en-US" altLang="ko-KR" dirty="0"/>
              <a:t>Words</a:t>
            </a:r>
          </a:p>
          <a:p>
            <a:pPr lvl="2"/>
            <a:r>
              <a:rPr lang="en-US" altLang="ko-KR" dirty="0"/>
              <a:t>Words</a:t>
            </a:r>
          </a:p>
          <a:p>
            <a:pPr lvl="3"/>
            <a:r>
              <a:rPr lang="en-US" altLang="ko-KR" dirty="0"/>
              <a:t>Words</a:t>
            </a:r>
          </a:p>
          <a:p>
            <a:pPr lvl="4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7" name="Line 66">
            <a:extLst>
              <a:ext uri="{FF2B5EF4-FFF2-40B4-BE49-F238E27FC236}">
                <a16:creationId xmlns:a16="http://schemas.microsoft.com/office/drawing/2014/main" id="{43238AEC-E676-EF48-A1EE-CE1856C5DB86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7721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EEA1B3E-FF6B-734D-830E-C9FC203C0A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596EAF3-2266-1C40-896A-50BCE8F3A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9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85800" y="2747963"/>
            <a:ext cx="7772400" cy="1362075"/>
          </a:xfrm>
          <a:ln>
            <a:noFill/>
          </a:ln>
        </p:spPr>
        <p:txBody>
          <a:bodyPr anchor="t"/>
          <a:lstStyle>
            <a:lvl1pPr algn="ctr">
              <a:defRPr sz="4000" b="0" cap="none"/>
            </a:lvl1pPr>
          </a:lstStyle>
          <a:p>
            <a:r>
              <a:rPr lang="en-US" altLang="ko-KR" dirty="0"/>
              <a:t>Section heading</a:t>
            </a:r>
            <a:endParaRPr lang="ko-KR" altLang="en-US" dirty="0"/>
          </a:p>
        </p:txBody>
      </p:sp>
      <p:sp>
        <p:nvSpPr>
          <p:cNvPr id="5" name="Line 66">
            <a:extLst>
              <a:ext uri="{FF2B5EF4-FFF2-40B4-BE49-F238E27FC236}">
                <a16:creationId xmlns:a16="http://schemas.microsoft.com/office/drawing/2014/main" id="{5A7CBECB-F891-1E49-A038-D12E9EBD544E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6" name="Line 66">
            <a:extLst>
              <a:ext uri="{FF2B5EF4-FFF2-40B4-BE49-F238E27FC236}">
                <a16:creationId xmlns:a16="http://schemas.microsoft.com/office/drawing/2014/main" id="{A0F4931F-670B-5345-A445-E4A05AED83C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78517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B85C08C-FD8D-C643-B13D-155D9A63D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5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ntent - tit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457200" y="1258655"/>
            <a:ext cx="4040188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Left title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57200" y="1898417"/>
            <a:ext cx="4040188" cy="3951288"/>
          </a:xfrm>
        </p:spPr>
        <p:txBody>
          <a:bodyPr/>
          <a:lstStyle>
            <a:lvl1pPr>
              <a:defRPr sz="3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258655"/>
            <a:ext cx="404177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Right title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4645025" y="1898417"/>
            <a:ext cx="4041775" cy="3951288"/>
          </a:xfrm>
        </p:spPr>
        <p:txBody>
          <a:bodyPr/>
          <a:lstStyle>
            <a:lvl1pPr>
              <a:defRPr sz="3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9" name="Line 66">
            <a:extLst>
              <a:ext uri="{FF2B5EF4-FFF2-40B4-BE49-F238E27FC236}">
                <a16:creationId xmlns:a16="http://schemas.microsoft.com/office/drawing/2014/main" id="{2473502F-33E0-294C-B0A7-D634CB781736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7721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AA231EA3-1A2F-1844-B410-74339C343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B355AFC-141A-4E45-A581-13630ADD3A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bor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66">
            <a:extLst>
              <a:ext uri="{FF2B5EF4-FFF2-40B4-BE49-F238E27FC236}">
                <a16:creationId xmlns:a16="http://schemas.microsoft.com/office/drawing/2014/main" id="{5FBB5167-3962-F644-A1B0-164B4853346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7071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E355375E-B5F3-774A-87F7-3A95BA8BDF7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DBE64-F9E8-B742-A7A4-414B9EF73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9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66">
            <a:extLst>
              <a:ext uri="{FF2B5EF4-FFF2-40B4-BE49-F238E27FC236}">
                <a16:creationId xmlns:a16="http://schemas.microsoft.com/office/drawing/2014/main" id="{5FBB5167-3962-F644-A1B0-164B4853346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7071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E355375E-B5F3-774A-87F7-3A95BA8BDF7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672F7B82-6823-A344-B297-9A5CC48E1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77888" y="765140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07CA502D-41E1-4240-B817-57AFD70BC6F0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204723" y="765140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D1C72364-3DC9-604F-9514-883DF7EEBE1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877887" y="3596647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4193784B-AAFC-0447-AC84-915471C69183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204723" y="3616525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36BF46-3CC3-FB43-A785-15DF5595B7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819" y="213987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8484378F-A4EB-7845-937E-05F9671789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5344" y="213987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1EB6C479-EE50-B041-BED8-613EFA5D9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819" y="6093410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7D0CA80B-F16F-FF48-80A3-27652129D3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5344" y="6093410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66D64DC-EDD3-FD46-B93B-F8B818A43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dirty="0"/>
              <a:t>Remarks</a:t>
            </a:r>
            <a:endParaRPr lang="ko-KR" altLang="en-US" dirty="0"/>
          </a:p>
        </p:txBody>
      </p:sp>
      <p:sp>
        <p:nvSpPr>
          <p:cNvPr id="7" name="Line 66">
            <a:extLst>
              <a:ext uri="{FF2B5EF4-FFF2-40B4-BE49-F238E27FC236}">
                <a16:creationId xmlns:a16="http://schemas.microsoft.com/office/drawing/2014/main" id="{00379C94-9660-514E-8573-54286DE8941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7071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Line 66">
            <a:extLst>
              <a:ext uri="{FF2B5EF4-FFF2-40B4-BE49-F238E27FC236}">
                <a16:creationId xmlns:a16="http://schemas.microsoft.com/office/drawing/2014/main" id="{D15DDF22-1F41-F644-A1F1-7ADD56BDE3A3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8A78BD7-835C-4B42-B0A0-24D4E1AA3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6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ib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A8F23-A2CA-264E-8907-B0144A7D91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200" y="1060230"/>
            <a:ext cx="6064017" cy="1838037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+mj-lt"/>
              <a:buNone/>
              <a:tabLst/>
              <a:defRPr sz="2600" b="0" u="sng">
                <a:effectLst/>
              </a:defRPr>
            </a:lvl1pPr>
          </a:lstStyle>
          <a:p>
            <a:pPr lvl="0"/>
            <a:r>
              <a:rPr lang="en-US" dirty="0"/>
              <a:t>Contribution 1</a:t>
            </a:r>
            <a:r>
              <a:rPr lang="en-US" b="1" u="none" dirty="0"/>
              <a:t xml:space="preserve">		Details</a:t>
            </a:r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dirty="0"/>
          </a:p>
        </p:txBody>
      </p:sp>
      <p:sp>
        <p:nvSpPr>
          <p:cNvPr id="5" name="Line 66">
            <a:extLst>
              <a:ext uri="{FF2B5EF4-FFF2-40B4-BE49-F238E27FC236}">
                <a16:creationId xmlns:a16="http://schemas.microsoft.com/office/drawing/2014/main" id="{86516E46-FEB4-8747-ABDB-067B42ABF68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7721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1898EFD-2916-7E45-875E-EDC4A17C40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61066" y="174928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F72ABDE-5179-AD48-8D9D-B12289E15B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43866" y="174928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91A572F-A890-4245-9D69-1E7986ADF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200" y="3129880"/>
            <a:ext cx="6064017" cy="1838037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+mj-lt"/>
              <a:buNone/>
              <a:tabLst/>
              <a:defRPr sz="2600" b="0" u="sng">
                <a:effectLst/>
              </a:defRPr>
            </a:lvl1pPr>
          </a:lstStyle>
          <a:p>
            <a:pPr lvl="0"/>
            <a:r>
              <a:rPr lang="en-US" dirty="0"/>
              <a:t>Contribution 2</a:t>
            </a:r>
            <a:r>
              <a:rPr lang="en-US" b="1" u="none" dirty="0"/>
              <a:t xml:space="preserve">		Details</a:t>
            </a:r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dirty="0"/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15D737B2-4D4D-4242-8E23-8DE607338B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61066" y="381893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96C1B088-3A02-5945-975E-54F1F9D0E5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3866" y="381893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63F7E14-41AB-9449-929A-4F43668AF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Summary of contributions</a:t>
            </a:r>
            <a:endParaRPr lang="ko-KR" alt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18A7F7C-A154-3640-88AE-9E855B94C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915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C6965342-B6F4-4E4D-AE27-465DB42B2B5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746670" y="6562249"/>
            <a:ext cx="292555" cy="15627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D288-7B20-F443-BAE8-CBAAD13A4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3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none" spc="200" baseline="0">
          <a:solidFill>
            <a:srgbClr val="262626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4056">
          <p15:clr>
            <a:srgbClr val="F26B43"/>
          </p15:clr>
        </p15:guide>
        <p15:guide id="4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notesSlide" Target="../notesSlides/notesSlide38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notesSlide" Target="../notesSlides/notesSlide39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439339" y="565150"/>
            <a:ext cx="8265319" cy="700000"/>
          </a:xfrm>
        </p:spPr>
        <p:txBody>
          <a:bodyPr>
            <a:normAutofit/>
          </a:bodyPr>
          <a:lstStyle/>
          <a:p>
            <a:pPr>
              <a:defRPr b="0"/>
            </a:pPr>
            <a:r>
              <a:rPr lang="en-US" sz="2000" b="0" i="1" dirty="0"/>
              <a:t>ECE 30861/46100: Software Engineering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TitleBlock"/>
          <p:cNvSpPr txBox="1"/>
          <p:nvPr/>
        </p:nvSpPr>
        <p:spPr>
          <a:xfrm>
            <a:off x="224028" y="1371600"/>
            <a:ext cx="8695944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0" i="0" dirty="0">
                <a:solidFill>
                  <a:srgbClr val="000000"/>
                </a:solidFill>
              </a:rPr>
              <a:t xml:space="preserve">Engineering with Agents</a:t>
            </a:r>
          </a:p>
          <a:p>
            <a:pPr algn="ctr">
              <a:buNone/>
            </a:pPr>
            <a:r>
              <a:rPr lang="en-US" sz="2300" b="0" i="1" dirty="0">
                <a:solidFill>
                  <a:srgbClr val="8E6F3E"/>
                </a:solidFill>
              </a:rPr>
              <a:t xml:space="preserve">How should engineers delegate work</a:t>
            </a:r>
          </a:p>
          <a:p>
            <a:pPr algn="ctr">
              <a:buNone/>
            </a:pPr>
            <a:r>
              <a:rPr lang="en-US" sz="2300" b="0" i="1" dirty="0">
                <a:solidFill>
                  <a:srgbClr val="8E6F3E"/>
                </a:solidFill>
              </a:rPr>
              <a:t xml:space="preserve">to capable but fallible machines?</a:t>
            </a:r>
          </a:p>
          <a:p>
            <a:pPr algn="ctr">
              <a:buNone/>
            </a:pPr>
            <a:r>
              <a:rPr lang="en-US" sz="2000" b="0" i="1" dirty="0">
                <a:solidFill>
                  <a:srgbClr val="000000"/>
                </a:solidFill>
              </a:rPr>
              <a:t xml:space="preserve">Prof. James C. Davis</a:t>
            </a:r>
          </a:p>
          <a:p>
            <a:pPr algn="ctr">
              <a:buNone/>
            </a:pPr>
            <a:r>
              <a:rPr lang="en-US" sz="2000" b="0" i="1" dirty="0">
                <a:solidFill>
                  <a:srgbClr val="000000"/>
                </a:solidFill>
              </a:rPr>
              <a:t xml:space="preserve">Prof. Steve France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224028" y="3639312"/>
            <a:ext cx="8695944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 xml:space="preserve">THE MODEL THIS LECTURE BUILDS</a:t>
            </a:r>
          </a:p>
        </p:txBody>
      </p:sp>
      <p:sp>
        <p:nvSpPr>
          <p:cNvPr id="102" name="T0"/>
          <p:cNvSpPr/>
          <p:nvPr/>
        </p:nvSpPr>
        <p:spPr>
          <a:xfrm>
            <a:off x="717804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BOUND</a:t>
            </a:r>
          </a:p>
        </p:txBody>
      </p:sp>
      <p:cxnSp>
        <p:nvCxnSpPr>
          <p:cNvPr id="120" name="TA0"/>
          <p:cNvCxnSpPr/>
          <p:nvPr/>
        </p:nvCxnSpPr>
        <p:spPr>
          <a:xfrm>
            <a:off x="2432304" y="44074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T1"/>
          <p:cNvSpPr/>
          <p:nvPr/>
        </p:nvSpPr>
        <p:spPr>
          <a:xfrm>
            <a:off x="2720340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EQUIP</a:t>
            </a:r>
          </a:p>
        </p:txBody>
      </p:sp>
      <p:cxnSp>
        <p:nvCxnSpPr>
          <p:cNvPr id="121" name="TA1"/>
          <p:cNvCxnSpPr/>
          <p:nvPr/>
        </p:nvCxnSpPr>
        <p:spPr>
          <a:xfrm>
            <a:off x="4434840" y="44074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T2"/>
          <p:cNvSpPr/>
          <p:nvPr/>
        </p:nvSpPr>
        <p:spPr>
          <a:xfrm>
            <a:off x="4722876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AUTHORIZE</a:t>
            </a:r>
          </a:p>
        </p:txBody>
      </p:sp>
      <p:cxnSp>
        <p:nvCxnSpPr>
          <p:cNvPr id="122" name="TA2"/>
          <p:cNvCxnSpPr/>
          <p:nvPr/>
        </p:nvCxnSpPr>
        <p:spPr>
          <a:xfrm>
            <a:off x="6437376" y="44074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5" name="T3"/>
          <p:cNvSpPr/>
          <p:nvPr/>
        </p:nvSpPr>
        <p:spPr>
          <a:xfrm>
            <a:off x="6725412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VERIFY</a:t>
            </a:r>
          </a:p>
        </p:txBody>
      </p:sp>
      <p:sp>
        <p:nvSpPr>
          <p:cNvPr id="109" name="TwoLines"/>
          <p:cNvSpPr txBox="1"/>
          <p:nvPr/>
        </p:nvSpPr>
        <p:spPr>
          <a:xfrm>
            <a:off x="224028" y="4956048"/>
            <a:ext cx="86959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Act I asked how engineers decide what to build and how to justify it.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Act II begins with machines that can do the building. Today: how to delegate.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EQUIP: where does capability live?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6</a:t>
            </a:fld>
            <a:endParaRPr lang="en-US"/>
          </a:p>
        </p:txBody>
      </p:sp>
      <p:sp>
        <p:nvSpPr>
          <p:cNvPr id="100" name="S0"/>
          <p:cNvSpPr/>
          <p:nvPr/>
        </p:nvSpPr>
        <p:spPr>
          <a:xfrm>
            <a:off x="502920" y="1371600"/>
            <a:ext cx="1828800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MODEL</a:t>
            </a:r>
          </a:p>
        </p:txBody>
      </p:sp>
      <p:sp>
        <p:nvSpPr>
          <p:cNvPr id="101" name="S1"/>
          <p:cNvSpPr/>
          <p:nvPr/>
        </p:nvSpPr>
        <p:spPr>
          <a:xfrm>
            <a:off x="2743200" y="1371600"/>
            <a:ext cx="2377440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AGENT HARNESS</a:t>
            </a:r>
          </a:p>
        </p:txBody>
      </p:sp>
      <p:sp>
        <p:nvSpPr>
          <p:cNvPr id="102" name="S2"/>
          <p:cNvSpPr/>
          <p:nvPr/>
        </p:nvSpPr>
        <p:spPr>
          <a:xfrm>
            <a:off x="5532120" y="1371600"/>
            <a:ext cx="3108960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ENGINEERING ENVIRONMENT</a:t>
            </a:r>
          </a:p>
        </p:txBody>
      </p:sp>
      <p:sp>
        <p:nvSpPr>
          <p:cNvPr id="103" name="PlusA"/>
          <p:cNvSpPr txBox="1"/>
          <p:nvPr/>
        </p:nvSpPr>
        <p:spPr>
          <a:xfrm>
            <a:off x="2377440" y="1536192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800" b="1" i="0" dirty="0">
                <a:solidFill>
                  <a:srgbClr val="8E6F3E"/>
                </a:solidFill>
              </a:rPr>
              <a:t xml:space="preserve">+</a:t>
            </a:r>
          </a:p>
        </p:txBody>
      </p:sp>
      <p:sp>
        <p:nvSpPr>
          <p:cNvPr id="104" name="PlusB"/>
          <p:cNvSpPr txBox="1"/>
          <p:nvPr/>
        </p:nvSpPr>
        <p:spPr>
          <a:xfrm>
            <a:off x="5148072" y="1536192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800" b="1" i="0" dirty="0">
                <a:solidFill>
                  <a:srgbClr val="8E6F3E"/>
                </a:solidFill>
              </a:rPr>
              <a:t xml:space="preserve">+</a:t>
            </a:r>
          </a:p>
        </p:txBody>
      </p:sp>
      <p:cxnSp>
        <p:nvCxnSpPr>
          <p:cNvPr id="105" name="Down"/>
          <p:cNvCxnSpPr/>
          <p:nvPr/>
        </p:nvCxnSpPr>
        <p:spPr>
          <a:xfrm>
            <a:off x="4572000" y="2286000"/>
            <a:ext cx="0" cy="457200"/>
          </a:xfrm>
          <a:prstGeom prst="straightConnector1">
            <a:avLst/>
          </a:prstGeom>
          <a:ln w="44450">
            <a:solidFill>
              <a:srgbClr val="8E6F3E"/>
            </a:solidFill>
            <a:tailEnd type="triangle" w="med" len="med"/>
          </a:ln>
        </p:spPr>
      </p:cxnSp>
      <p:sp>
        <p:nvSpPr>
          <p:cNvPr id="106" name="Cap"/>
          <p:cNvSpPr/>
          <p:nvPr/>
        </p:nvSpPr>
        <p:spPr>
          <a:xfrm>
            <a:off x="2743200" y="2880360"/>
            <a:ext cx="365760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ENGINEERING CAPABILITY</a:t>
            </a:r>
          </a:p>
        </p:txBody>
      </p:sp>
      <p:sp>
        <p:nvSpPr>
          <p:cNvPr id="107" name="Obs"/>
          <p:cNvSpPr txBox="1"/>
          <p:nvPr/>
        </p:nvSpPr>
        <p:spPr>
          <a:xfrm>
            <a:off x="640080" y="4069080"/>
            <a:ext cx="786384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Models provide capability.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Harnesses turn capability into work.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Environments determine what work requires reasoning.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These layers supply capability for the bounded work. They do not decide</a:t>
            </a:r>
          </a:p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what to delegate, what to authorize, or what evidence to require.</a:t>
            </a:r>
          </a:p>
        </p:txBody>
      </p:sp>
      <p:sp>
        <p:nvSpPr>
          <p:cNvPr id="108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Engineer the system, not merely the prompt.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Delegation is an engineering design problem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</a:t>
            </a:fld>
            <a:endParaRPr lang="en-US"/>
          </a:p>
        </p:txBody>
      </p:sp>
      <p:sp>
        <p:nvSpPr>
          <p:cNvPr id="100" name="M0"/>
          <p:cNvSpPr/>
          <p:nvPr/>
        </p:nvSpPr>
        <p:spPr>
          <a:xfrm>
            <a:off x="685800" y="123444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BOUND</a:t>
            </a:r>
          </a:p>
        </p:txBody>
      </p:sp>
      <p:sp>
        <p:nvSpPr>
          <p:cNvPr id="110" name="Q0"/>
          <p:cNvSpPr txBox="1"/>
          <p:nvPr/>
        </p:nvSpPr>
        <p:spPr>
          <a:xfrm>
            <a:off x="3063240" y="137160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 xml:space="preserve">What work are we delegating?</a:t>
            </a:r>
          </a:p>
        </p:txBody>
      </p:sp>
      <p:sp>
        <p:nvSpPr>
          <p:cNvPr id="101" name="M1"/>
          <p:cNvSpPr/>
          <p:nvPr/>
        </p:nvSpPr>
        <p:spPr>
          <a:xfrm>
            <a:off x="685800" y="201168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EQUIP</a:t>
            </a:r>
          </a:p>
        </p:txBody>
      </p:sp>
      <p:sp>
        <p:nvSpPr>
          <p:cNvPr id="111" name="Q1"/>
          <p:cNvSpPr txBox="1"/>
          <p:nvPr/>
        </p:nvSpPr>
        <p:spPr>
          <a:xfrm>
            <a:off x="3063240" y="214884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 xml:space="preserve">What does the agent need to succeed?</a:t>
            </a:r>
          </a:p>
        </p:txBody>
      </p:sp>
      <p:sp>
        <p:nvSpPr>
          <p:cNvPr id="102" name="M2"/>
          <p:cNvSpPr/>
          <p:nvPr/>
        </p:nvSpPr>
        <p:spPr>
          <a:xfrm>
            <a:off x="685800" y="278892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AUTHORIZE</a:t>
            </a:r>
          </a:p>
        </p:txBody>
      </p:sp>
      <p:sp>
        <p:nvSpPr>
          <p:cNvPr id="112" name="Q2"/>
          <p:cNvSpPr txBox="1"/>
          <p:nvPr/>
        </p:nvSpPr>
        <p:spPr>
          <a:xfrm>
            <a:off x="3063240" y="292608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 xml:space="preserve">What consequences may it produce?</a:t>
            </a:r>
          </a:p>
        </p:txBody>
      </p:sp>
      <p:sp>
        <p:nvSpPr>
          <p:cNvPr id="103" name="M3"/>
          <p:cNvSpPr/>
          <p:nvPr/>
        </p:nvSpPr>
        <p:spPr>
          <a:xfrm>
            <a:off x="685800" y="356616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VERIFY</a:t>
            </a:r>
          </a:p>
        </p:txBody>
      </p:sp>
      <p:sp>
        <p:nvSpPr>
          <p:cNvPr id="113" name="Q3"/>
          <p:cNvSpPr txBox="1"/>
          <p:nvPr/>
        </p:nvSpPr>
        <p:spPr>
          <a:xfrm>
            <a:off x="3063240" y="370332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 xml:space="preserve">What evidence closes the work?</a:t>
            </a:r>
          </a:p>
        </p:txBody>
      </p:sp>
      <p:sp>
        <p:nvSpPr>
          <p:cNvPr id="120" name="Sub"/>
          <p:cNvSpPr txBox="1"/>
          <p:nvPr/>
        </p:nvSpPr>
        <p:spPr>
          <a:xfrm>
            <a:off x="274320" y="47091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Four decisions, not a rigid pipeline — they interact.</a:t>
            </a:r>
          </a:p>
        </p:txBody>
      </p:sp>
      <p:sp>
        <p:nvSpPr>
          <p:cNvPr id="121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Everything today answers one of these four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40280"/>
            <a:ext cx="7772400" cy="91440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3600" b="0" i="0" dirty="0">
                <a:solidFill>
                  <a:srgbClr val="000000"/>
                </a:solidFill>
              </a:rPr>
              <a:t>What are we buying in a model?</a:t>
            </a:r>
          </a:p>
        </p:txBody>
      </p:sp>
      <p:sp>
        <p:nvSpPr>
          <p:cNvPr id="90" name="SectionLabel"/>
          <p:cNvSpPr txBox="1"/>
          <p:nvPr/>
        </p:nvSpPr>
        <p:spPr>
          <a:xfrm>
            <a:off x="685800" y="1737360"/>
            <a:ext cx="7772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EQUIP · THE MODEL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7</a:t>
            </a:fld>
            <a:endParaRPr lang="en-US"/>
          </a:p>
        </p:txBody>
      </p:sp>
      <p:sp>
        <p:nvSpPr>
          <p:cNvPr id="91" name="Rule"/>
          <p:cNvSpPr/>
          <p:nvPr/>
        </p:nvSpPr>
        <p:spPr>
          <a:xfrm>
            <a:off x="3429000" y="3383280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Models differ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8</a:t>
            </a:fld>
            <a:endParaRPr lang="en-US"/>
          </a:p>
        </p:txBody>
      </p:sp>
      <p:sp>
        <p:nvSpPr>
          <p:cNvPr id="100" name="Cap"/>
          <p:cNvSpPr txBox="1"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 i="0" dirty="0">
                <a:solidFill>
                  <a:srgbClr val="5C4826"/>
                </a:solidFill>
              </a:rPr>
              <a:t xml:space="preserve">CAPABILITY</a:t>
            </a:r>
          </a:p>
        </p:txBody>
      </p:sp>
      <p:sp>
        <p:nvSpPr>
          <p:cNvPr id="101" name="C0"/>
          <p:cNvSpPr/>
          <p:nvPr/>
        </p:nvSpPr>
        <p:spPr>
          <a:xfrm>
            <a:off x="594360" y="192024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reasoning</a:t>
            </a:r>
          </a:p>
        </p:txBody>
      </p:sp>
      <p:sp>
        <p:nvSpPr>
          <p:cNvPr id="102" name="C1"/>
          <p:cNvSpPr/>
          <p:nvPr/>
        </p:nvSpPr>
        <p:spPr>
          <a:xfrm>
            <a:off x="2221992" y="192024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coding</a:t>
            </a:r>
          </a:p>
        </p:txBody>
      </p:sp>
      <p:sp>
        <p:nvSpPr>
          <p:cNvPr id="103" name="C2"/>
          <p:cNvSpPr/>
          <p:nvPr/>
        </p:nvSpPr>
        <p:spPr>
          <a:xfrm>
            <a:off x="3849624" y="192024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vision</a:t>
            </a:r>
          </a:p>
        </p:txBody>
      </p:sp>
      <p:sp>
        <p:nvSpPr>
          <p:cNvPr id="104" name="C3"/>
          <p:cNvSpPr/>
          <p:nvPr/>
        </p:nvSpPr>
        <p:spPr>
          <a:xfrm>
            <a:off x="5477256" y="192024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tool use</a:t>
            </a:r>
          </a:p>
        </p:txBody>
      </p:sp>
      <p:sp>
        <p:nvSpPr>
          <p:cNvPr id="105" name="C4"/>
          <p:cNvSpPr/>
          <p:nvPr/>
        </p:nvSpPr>
        <p:spPr>
          <a:xfrm>
            <a:off x="7104888" y="192024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domain knowledge</a:t>
            </a:r>
          </a:p>
        </p:txBody>
      </p:sp>
      <p:sp>
        <p:nvSpPr>
          <p:cNvPr id="106" name="Lbl2"/>
          <p:cNvSpPr txBox="1"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 xml:space="preserve">AND ENGINEERING PROPERTIES</a:t>
            </a:r>
          </a:p>
        </p:txBody>
      </p:sp>
      <p:sp>
        <p:nvSpPr>
          <p:cNvPr id="107" name="P0"/>
          <p:cNvSpPr/>
          <p:nvPr/>
        </p:nvSpPr>
        <p:spPr>
          <a:xfrm>
            <a:off x="594360" y="356616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cost</a:t>
            </a:r>
          </a:p>
        </p:txBody>
      </p:sp>
      <p:sp>
        <p:nvSpPr>
          <p:cNvPr id="108" name="P1"/>
          <p:cNvSpPr/>
          <p:nvPr/>
        </p:nvSpPr>
        <p:spPr>
          <a:xfrm>
            <a:off x="2221992" y="356616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latency</a:t>
            </a:r>
          </a:p>
        </p:txBody>
      </p:sp>
      <p:sp>
        <p:nvSpPr>
          <p:cNvPr id="109" name="P2"/>
          <p:cNvSpPr/>
          <p:nvPr/>
        </p:nvSpPr>
        <p:spPr>
          <a:xfrm>
            <a:off x="3849624" y="356616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context</a:t>
            </a:r>
          </a:p>
        </p:txBody>
      </p:sp>
      <p:sp>
        <p:nvSpPr>
          <p:cNvPr id="110" name="P3"/>
          <p:cNvSpPr/>
          <p:nvPr/>
        </p:nvSpPr>
        <p:spPr>
          <a:xfrm>
            <a:off x="5477256" y="356616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deployment</a:t>
            </a:r>
          </a:p>
        </p:txBody>
      </p:sp>
      <p:sp>
        <p:nvSpPr>
          <p:cNvPr id="111" name="P4"/>
          <p:cNvSpPr/>
          <p:nvPr/>
        </p:nvSpPr>
        <p:spPr>
          <a:xfrm>
            <a:off x="7104888" y="3566160"/>
            <a:ext cx="1517904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availability</a:t>
            </a:r>
          </a:p>
        </p:txBody>
      </p:sp>
      <p:sp>
        <p:nvSpPr>
          <p:cNvPr id="112" name="Ital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Different models occupy genuinely different points in this space.</a:t>
            </a:r>
          </a:p>
        </p:txBody>
      </p:sp>
      <p:sp>
        <p:nvSpPr>
          <p:cNvPr id="113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“Model strength” is not a scalar engineering specification.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There is no context-free best model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9</a:t>
            </a:fld>
            <a:endParaRPr lang="en-US"/>
          </a:p>
        </p:txBody>
      </p:sp>
      <p:sp>
        <p:nvSpPr>
          <p:cNvPr id="100" name="H0"/>
          <p:cNvSpPr/>
          <p:nvPr/>
        </p:nvSpPr>
        <p:spPr>
          <a:xfrm>
            <a:off x="365760" y="1097280"/>
            <a:ext cx="196596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FRONTIER</a:t>
            </a:r>
          </a:p>
        </p:txBody>
      </p:sp>
      <p:sp>
        <p:nvSpPr>
          <p:cNvPr id="101" name="B0"/>
          <p:cNvSpPr/>
          <p:nvPr/>
        </p:nvSpPr>
        <p:spPr>
          <a:xfrm>
            <a:off x="365760" y="1783080"/>
            <a:ext cx="1965960" cy="14630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most capable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highest cost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hosted API only</a:t>
            </a:r>
          </a:p>
        </p:txBody>
      </p:sp>
      <p:sp>
        <p:nvSpPr>
          <p:cNvPr id="102" name="H1"/>
          <p:cNvSpPr/>
          <p:nvPr/>
        </p:nvSpPr>
        <p:spPr>
          <a:xfrm>
            <a:off x="2496312" y="1097280"/>
            <a:ext cx="196596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FAST HOSTED</a:t>
            </a:r>
          </a:p>
        </p:txBody>
      </p:sp>
      <p:sp>
        <p:nvSpPr>
          <p:cNvPr id="103" name="B1"/>
          <p:cNvSpPr/>
          <p:nvPr/>
        </p:nvSpPr>
        <p:spPr>
          <a:xfrm>
            <a:off x="2496312" y="1783080"/>
            <a:ext cx="1965960" cy="14630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cheaper · faster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less capable</a:t>
            </a:r>
          </a:p>
        </p:txBody>
      </p:sp>
      <p:sp>
        <p:nvSpPr>
          <p:cNvPr id="104" name="H2"/>
          <p:cNvSpPr/>
          <p:nvPr/>
        </p:nvSpPr>
        <p:spPr>
          <a:xfrm>
            <a:off x="4626864" y="1097280"/>
            <a:ext cx="196596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SPECIALIZED</a:t>
            </a:r>
          </a:p>
        </p:txBody>
      </p:sp>
      <p:sp>
        <p:nvSpPr>
          <p:cNvPr id="105" name="B2"/>
          <p:cNvSpPr/>
          <p:nvPr/>
        </p:nvSpPr>
        <p:spPr>
          <a:xfrm>
            <a:off x="4626864" y="1783080"/>
            <a:ext cx="1965960" cy="14630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strong in a domain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narrow elsewhere</a:t>
            </a:r>
          </a:p>
        </p:txBody>
      </p:sp>
      <p:sp>
        <p:nvSpPr>
          <p:cNvPr id="106" name="H3"/>
          <p:cNvSpPr/>
          <p:nvPr/>
        </p:nvSpPr>
        <p:spPr>
          <a:xfrm>
            <a:off x="6757416" y="1097280"/>
            <a:ext cx="196596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OPEN-WEIGHT</a:t>
            </a:r>
          </a:p>
        </p:txBody>
      </p:sp>
      <p:sp>
        <p:nvSpPr>
          <p:cNvPr id="107" name="B3"/>
          <p:cNvSpPr/>
          <p:nvPr/>
        </p:nvSpPr>
        <p:spPr>
          <a:xfrm>
            <a:off x="6757416" y="1783080"/>
            <a:ext cx="1965960" cy="14630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local / self-hosted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your data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yours to adapt</a:t>
            </a:r>
          </a:p>
        </p:txBody>
      </p:sp>
      <p:sp>
        <p:nvSpPr>
          <p:cNvPr id="108" name="OpenNote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Open weights change what is engineerable: deployment, privacy,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customization, economics — depending on the model and the license.</a:t>
            </a:r>
          </a:p>
        </p:txBody>
      </p:sp>
      <p:sp>
        <p:nvSpPr>
          <p:cNvPr id="109" name="Ital"/>
          <p:cNvSpPr txBox="1"/>
          <p:nvPr/>
        </p:nvSpPr>
        <p:spPr>
          <a:xfrm>
            <a:off x="274320" y="47091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Selection is made under requirements and constraints — not from a leaderboard.</a:t>
            </a:r>
          </a:p>
        </p:txBody>
      </p:sp>
      <p:sp>
        <p:nvSpPr>
          <p:cNvPr id="110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Model selection is an engineering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Stronger model ≠ stronger agent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10</a:t>
            </a:fld>
            <a:endParaRPr lang="en-US"/>
          </a:p>
        </p:txBody>
      </p:sp>
      <p:sp>
        <p:nvSpPr>
          <p:cNvPr id="100" name="RA0"/>
          <p:cNvSpPr/>
          <p:nvPr/>
        </p:nvSpPr>
        <p:spPr>
          <a:xfrm>
            <a:off x="365760" y="960120"/>
            <a:ext cx="22860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STRONG MODEL</a:t>
            </a:r>
          </a:p>
        </p:txBody>
      </p:sp>
      <p:sp>
        <p:nvSpPr>
          <p:cNvPr id="101" name="RAp"/>
          <p:cNvSpPr txBox="1"/>
          <p:nvPr/>
        </p:nvSpPr>
        <p:spPr>
          <a:xfrm>
            <a:off x="2697480" y="1069848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 xml:space="preserve">+</a:t>
            </a:r>
          </a:p>
        </p:txBody>
      </p:sp>
      <p:sp>
        <p:nvSpPr>
          <p:cNvPr id="102" name="RA1"/>
          <p:cNvSpPr/>
          <p:nvPr/>
        </p:nvSpPr>
        <p:spPr>
          <a:xfrm>
            <a:off x="3017520" y="960120"/>
            <a:ext cx="22860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55960"/>
                </a:solidFill>
              </a:rPr>
              <a:t xml:space="preserve">WEAK SUPPORT</a:t>
            </a:r>
          </a:p>
        </p:txBody>
      </p:sp>
      <p:cxnSp>
        <p:nvCxnSpPr>
          <p:cNvPr id="103" name="RAa"/>
          <p:cNvCxnSpPr/>
          <p:nvPr/>
        </p:nvCxnSpPr>
        <p:spPr>
          <a:xfrm>
            <a:off x="5440680" y="1243584"/>
            <a:ext cx="36576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RAq"/>
          <p:cNvSpPr/>
          <p:nvPr/>
        </p:nvSpPr>
        <p:spPr>
          <a:xfrm>
            <a:off x="5943600" y="960120"/>
            <a:ext cx="640080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 xml:space="preserve">?</a:t>
            </a:r>
          </a:p>
        </p:txBody>
      </p:sp>
      <p:sp>
        <p:nvSpPr>
          <p:cNvPr id="105" name="RB0"/>
          <p:cNvSpPr/>
          <p:nvPr/>
        </p:nvSpPr>
        <p:spPr>
          <a:xfrm>
            <a:off x="365760" y="1691640"/>
            <a:ext cx="22860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55960"/>
                </a:solidFill>
              </a:rPr>
              <a:t xml:space="preserve">WEAKER MODEL</a:t>
            </a:r>
          </a:p>
        </p:txBody>
      </p:sp>
      <p:sp>
        <p:nvSpPr>
          <p:cNvPr id="106" name="RBp"/>
          <p:cNvSpPr txBox="1"/>
          <p:nvPr/>
        </p:nvSpPr>
        <p:spPr>
          <a:xfrm>
            <a:off x="2697480" y="1801368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 xml:space="preserve">+</a:t>
            </a:r>
          </a:p>
        </p:txBody>
      </p:sp>
      <p:sp>
        <p:nvSpPr>
          <p:cNvPr id="107" name="RB1"/>
          <p:cNvSpPr/>
          <p:nvPr/>
        </p:nvSpPr>
        <p:spPr>
          <a:xfrm>
            <a:off x="3017520" y="1691640"/>
            <a:ext cx="22860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STRONG SUPPORT</a:t>
            </a:r>
          </a:p>
        </p:txBody>
      </p:sp>
      <p:cxnSp>
        <p:nvCxnSpPr>
          <p:cNvPr id="108" name="RBa"/>
          <p:cNvCxnSpPr/>
          <p:nvPr/>
        </p:nvCxnSpPr>
        <p:spPr>
          <a:xfrm>
            <a:off x="5440680" y="1975104"/>
            <a:ext cx="36576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9" name="RBq"/>
          <p:cNvSpPr/>
          <p:nvPr/>
        </p:nvSpPr>
        <p:spPr>
          <a:xfrm>
            <a:off x="5943600" y="1691640"/>
            <a:ext cx="640080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 xml:space="preserve">?</a:t>
            </a:r>
          </a:p>
        </p:txBody>
      </p:sp>
      <p:sp>
        <p:nvSpPr>
          <p:cNvPr id="110" name="Evid"/>
          <p:cNvSpPr/>
          <p:nvPr/>
        </p:nvSpPr>
        <p:spPr>
          <a:xfrm>
            <a:off x="365760" y="2514600"/>
            <a:ext cx="8412480" cy="1234440"/>
          </a:xfrm>
          <a:prstGeom prst="rect">
            <a:avLst/>
          </a:prstGeom>
          <a:solidFill>
            <a:srgbClr val="E8F0F7"/>
          </a:solidFill>
          <a:ln w="12700">
            <a:solidFill>
              <a:srgbClr val="A9C4DB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Same model, different harnesses: 33% → 49% (SWE-bench Verified)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Claude 3.5 Sonnet across scaffold revisions (Anthropic, 2024).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Public-leaderboard harness gaps for one model rival model gaps.</a:t>
            </a:r>
          </a:p>
        </p:txBody>
      </p:sp>
      <p:sp>
        <p:nvSpPr>
          <p:cNvPr id="111" name="TPSbadge"/>
          <p:cNvSpPr/>
          <p:nvPr/>
        </p:nvSpPr>
        <p:spPr>
          <a:xfrm>
            <a:off x="365760" y="3977640"/>
            <a:ext cx="3108960" cy="512064"/>
          </a:xfrm>
          <a:prstGeom prst="roundRect">
            <a:avLst/>
          </a:prstGeom>
          <a:solidFill>
            <a:srgbClr val="FBF8F2"/>
          </a:solidFill>
          <a:ln w="15875">
            <a:solidFill>
              <a:srgbClr val="8E6F3E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6B3FA0"/>
                </a:solidFill>
              </a:rPr>
              <a:t xml:space="preserve">THINK</a:t>
            </a:r>
            <a:r>
              <a:rPr lang="en-US" sz="2000" b="1" i="0" dirty="0">
                <a:solidFill>
                  <a:srgbClr val="9A9A9A"/>
                </a:solidFill>
              </a:rPr>
              <a:t xml:space="preserve">  ·  </a:t>
            </a:r>
            <a:r>
              <a:rPr lang="en-US" sz="2000" b="1" i="0" dirty="0">
                <a:solidFill>
                  <a:srgbClr val="2E74B5"/>
                </a:solidFill>
              </a:rPr>
              <a:t xml:space="preserve">PAIR</a:t>
            </a:r>
            <a:r>
              <a:rPr lang="en-US" sz="2000" b="1" i="0" dirty="0">
                <a:solidFill>
                  <a:srgbClr val="9A9A9A"/>
                </a:solidFill>
              </a:rPr>
              <a:t xml:space="preserve">  ·  </a:t>
            </a:r>
            <a:r>
              <a:rPr lang="en-US" sz="2000" b="1" i="0" dirty="0">
                <a:solidFill>
                  <a:srgbClr val="1F7A4D"/>
                </a:solidFill>
              </a:rPr>
              <a:t xml:space="preserve">SHARE</a:t>
            </a:r>
          </a:p>
        </p:txBody>
      </p:sp>
      <p:sp>
        <p:nvSpPr>
          <p:cNvPr id="112" name="TpsPrompt"/>
          <p:cNvSpPr txBox="1"/>
          <p:nvPr/>
        </p:nvSpPr>
        <p:spPr>
          <a:xfrm>
            <a:off x="3657600" y="397764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If a cheaper model needs a better environment, which should you buy?</a:t>
            </a:r>
          </a:p>
        </p:txBody>
      </p:sp>
      <p:sp>
        <p:nvSpPr>
          <p:cNvPr id="113" name="Reveal"/>
          <p:cNvSpPr txBox="1"/>
          <p:nvPr/>
        </p:nvSpPr>
        <p:spPr>
          <a:xfrm>
            <a:off x="365760" y="49834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Insufficient information — and that is the point. It is an engineering decision.</a:t>
            </a:r>
          </a:p>
        </p:txBody>
      </p:sp>
      <p:sp>
        <p:nvSpPr>
          <p:cNvPr id="114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Support is a capability lever of the same order as model choice.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40280"/>
            <a:ext cx="7772400" cy="91440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3600" b="0" i="0" dirty="0">
                <a:solidFill>
                  <a:srgbClr val="000000"/>
                </a:solidFill>
              </a:rPr>
              <a:t>What makes a model an agent?</a:t>
            </a:r>
          </a:p>
        </p:txBody>
      </p:sp>
      <p:sp>
        <p:nvSpPr>
          <p:cNvPr id="90" name="SectionLabel"/>
          <p:cNvSpPr txBox="1"/>
          <p:nvPr/>
        </p:nvSpPr>
        <p:spPr>
          <a:xfrm>
            <a:off x="685800" y="1737360"/>
            <a:ext cx="7772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EQUIP · THE HARNESS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11</a:t>
            </a:fld>
            <a:endParaRPr lang="en-US"/>
          </a:p>
        </p:txBody>
      </p:sp>
      <p:sp>
        <p:nvSpPr>
          <p:cNvPr id="91" name="Rule"/>
          <p:cNvSpPr/>
          <p:nvPr/>
        </p:nvSpPr>
        <p:spPr>
          <a:xfrm>
            <a:off x="3429000" y="3383280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A model produces; an agent acts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12</a:t>
            </a:fld>
            <a:endParaRPr lang="en-US"/>
          </a:p>
        </p:txBody>
      </p:sp>
      <p:sp>
        <p:nvSpPr>
          <p:cNvPr id="100" name="MLbl"/>
          <p:cNvSpPr txBox="1"/>
          <p:nvPr/>
        </p:nvSpPr>
        <p:spPr>
          <a:xfrm>
            <a:off x="365760" y="1005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MODEL</a:t>
            </a:r>
          </a:p>
        </p:txBody>
      </p:sp>
      <p:sp>
        <p:nvSpPr>
          <p:cNvPr id="101" name="M0"/>
          <p:cNvSpPr/>
          <p:nvPr/>
        </p:nvSpPr>
        <p:spPr>
          <a:xfrm>
            <a:off x="548640" y="155448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context</a:t>
            </a:r>
          </a:p>
        </p:txBody>
      </p:sp>
      <p:cxnSp>
        <p:nvCxnSpPr>
          <p:cNvPr id="102" name="MA0"/>
          <p:cNvCxnSpPr/>
          <p:nvPr/>
        </p:nvCxnSpPr>
        <p:spPr>
          <a:xfrm>
            <a:off x="2743200" y="1874520"/>
            <a:ext cx="36576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M1"/>
          <p:cNvSpPr/>
          <p:nvPr/>
        </p:nvSpPr>
        <p:spPr>
          <a:xfrm>
            <a:off x="3200400" y="155448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inference</a:t>
            </a:r>
          </a:p>
        </p:txBody>
      </p:sp>
      <p:cxnSp>
        <p:nvCxnSpPr>
          <p:cNvPr id="104" name="MA1"/>
          <p:cNvCxnSpPr/>
          <p:nvPr/>
        </p:nvCxnSpPr>
        <p:spPr>
          <a:xfrm>
            <a:off x="5394960" y="1874520"/>
            <a:ext cx="36576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5" name="M2"/>
          <p:cNvSpPr/>
          <p:nvPr/>
        </p:nvSpPr>
        <p:spPr>
          <a:xfrm>
            <a:off x="5852160" y="155448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output</a:t>
            </a:r>
          </a:p>
        </p:txBody>
      </p:sp>
      <p:sp>
        <p:nvSpPr>
          <p:cNvPr id="106" name="ALbl"/>
          <p:cNvSpPr txBox="1"/>
          <p:nvPr/>
        </p:nvSpPr>
        <p:spPr>
          <a:xfrm>
            <a:off x="365760" y="2651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AGENT</a:t>
            </a:r>
          </a:p>
        </p:txBody>
      </p:sp>
      <p:sp>
        <p:nvSpPr>
          <p:cNvPr id="107" name="A0"/>
          <p:cNvSpPr/>
          <p:nvPr/>
        </p:nvSpPr>
        <p:spPr>
          <a:xfrm>
            <a:off x="548640" y="3200400"/>
            <a:ext cx="173736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goal</a:t>
            </a:r>
          </a:p>
        </p:txBody>
      </p:sp>
      <p:cxnSp>
        <p:nvCxnSpPr>
          <p:cNvPr id="108" name="AA0"/>
          <p:cNvCxnSpPr/>
          <p:nvPr/>
        </p:nvCxnSpPr>
        <p:spPr>
          <a:xfrm>
            <a:off x="2377440" y="35204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9" name="A1"/>
          <p:cNvSpPr/>
          <p:nvPr/>
        </p:nvSpPr>
        <p:spPr>
          <a:xfrm>
            <a:off x="2651760" y="3200400"/>
            <a:ext cx="173736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reason</a:t>
            </a:r>
          </a:p>
        </p:txBody>
      </p:sp>
      <p:cxnSp>
        <p:nvCxnSpPr>
          <p:cNvPr id="110" name="AA1"/>
          <p:cNvCxnSpPr/>
          <p:nvPr/>
        </p:nvCxnSpPr>
        <p:spPr>
          <a:xfrm>
            <a:off x="4480560" y="35204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1" name="A2"/>
          <p:cNvSpPr/>
          <p:nvPr/>
        </p:nvSpPr>
        <p:spPr>
          <a:xfrm>
            <a:off x="4754880" y="3200400"/>
            <a:ext cx="173736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act</a:t>
            </a:r>
          </a:p>
        </p:txBody>
      </p:sp>
      <p:cxnSp>
        <p:nvCxnSpPr>
          <p:cNvPr id="112" name="AA2"/>
          <p:cNvCxnSpPr/>
          <p:nvPr/>
        </p:nvCxnSpPr>
        <p:spPr>
          <a:xfrm>
            <a:off x="6583680" y="35204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3" name="A3"/>
          <p:cNvSpPr/>
          <p:nvPr/>
        </p:nvSpPr>
        <p:spPr>
          <a:xfrm>
            <a:off x="6858000" y="3200400"/>
            <a:ext cx="173736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observe</a:t>
            </a:r>
          </a:p>
        </p:txBody>
      </p:sp>
      <p:cxnSp>
        <p:nvCxnSpPr>
          <p:cNvPr id="114" name="LD"/>
          <p:cNvCxnSpPr/>
          <p:nvPr/>
        </p:nvCxnSpPr>
        <p:spPr>
          <a:xfrm>
            <a:off x="7726680" y="3931920"/>
            <a:ext cx="0" cy="502920"/>
          </a:xfrm>
          <a:prstGeom prst="straightConnector1">
            <a:avLst/>
          </a:prstGeom>
          <a:ln w="28575">
            <a:solidFill>
              <a:srgbClr val="8E6F3E"/>
            </a:solidFill>
          </a:ln>
        </p:spPr>
      </p:cxnSp>
      <p:cxnSp>
        <p:nvCxnSpPr>
          <p:cNvPr id="115" name="LA"/>
          <p:cNvCxnSpPr/>
          <p:nvPr/>
        </p:nvCxnSpPr>
        <p:spPr>
          <a:xfrm flipH="1">
            <a:off x="3520440" y="4434840"/>
            <a:ext cx="4206240" cy="0"/>
          </a:xfrm>
          <a:prstGeom prst="straightConnector1">
            <a:avLst/>
          </a:prstGeom>
          <a:ln w="28575">
            <a:solidFill>
              <a:srgbClr val="8E6F3E"/>
            </a:solidFill>
          </a:ln>
        </p:spPr>
      </p:cxnSp>
      <p:cxnSp>
        <p:nvCxnSpPr>
          <p:cNvPr id="116" name="LU"/>
          <p:cNvCxnSpPr/>
          <p:nvPr/>
        </p:nvCxnSpPr>
        <p:spPr>
          <a:xfrm flipV="1">
            <a:off x="3520440" y="3931920"/>
            <a:ext cx="0" cy="5029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7" name="LoopLbl"/>
          <p:cNvSpPr txBox="1"/>
          <p:nvPr/>
        </p:nvSpPr>
        <p:spPr>
          <a:xfrm>
            <a:off x="4023360" y="4572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results become new context</a:t>
            </a:r>
          </a:p>
        </p:txBody>
      </p:sp>
      <p:sp>
        <p:nvSpPr>
          <p:cNvPr id="118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The harness creates the difference between these two rows.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Definition: the agent harness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13</a:t>
            </a:fld>
            <a:endParaRPr lang="en-US"/>
          </a:p>
        </p:txBody>
      </p:sp>
      <p:sp>
        <p:nvSpPr>
          <p:cNvPr id="100" name="Def"/>
          <p:cNvSpPr/>
          <p:nvPr/>
        </p:nvSpPr>
        <p:spPr>
          <a:xfrm>
            <a:off x="502920" y="1005840"/>
            <a:ext cx="8138160" cy="2057400"/>
          </a:xfrm>
          <a:prstGeom prst="rect">
            <a:avLst/>
          </a:prstGeom>
          <a:solidFill>
            <a:srgbClr val="E8F0F7"/>
          </a:solidFill>
          <a:ln w="12700">
            <a:solidFill>
              <a:srgbClr val="A9C4DB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2E74B5"/>
                </a:solidFill>
              </a:rPr>
              <a:t xml:space="preserve">AGENT HARNESS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The software infrastructure that turns model outputs into an iterative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process of observation, reasoning, and action — managing working context,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exposing tools, executing requested actions, returning their results,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and controlling how work continues.</a:t>
            </a:r>
          </a:p>
        </p:txBody>
      </p:sp>
      <p:sp>
        <p:nvSpPr>
          <p:cNvPr id="101" name="L0"/>
          <p:cNvSpPr/>
          <p:nvPr/>
        </p:nvSpPr>
        <p:spPr>
          <a:xfrm>
            <a:off x="868680" y="3520440"/>
            <a:ext cx="16002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CONTEXT</a:t>
            </a:r>
          </a:p>
        </p:txBody>
      </p:sp>
      <p:cxnSp>
        <p:nvCxnSpPr>
          <p:cNvPr id="102" name="LC0"/>
          <p:cNvCxnSpPr/>
          <p:nvPr/>
        </p:nvCxnSpPr>
        <p:spPr>
          <a:xfrm>
            <a:off x="2560320" y="384048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L1"/>
          <p:cNvSpPr/>
          <p:nvPr/>
        </p:nvSpPr>
        <p:spPr>
          <a:xfrm>
            <a:off x="2880360" y="3520440"/>
            <a:ext cx="16002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MODEL</a:t>
            </a:r>
          </a:p>
        </p:txBody>
      </p:sp>
      <p:cxnSp>
        <p:nvCxnSpPr>
          <p:cNvPr id="104" name="LC1"/>
          <p:cNvCxnSpPr/>
          <p:nvPr/>
        </p:nvCxnSpPr>
        <p:spPr>
          <a:xfrm>
            <a:off x="4572000" y="384048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5" name="L2"/>
          <p:cNvSpPr/>
          <p:nvPr/>
        </p:nvSpPr>
        <p:spPr>
          <a:xfrm>
            <a:off x="4892040" y="3520440"/>
            <a:ext cx="16002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ACTION</a:t>
            </a:r>
          </a:p>
        </p:txBody>
      </p:sp>
      <p:cxnSp>
        <p:nvCxnSpPr>
          <p:cNvPr id="106" name="LC2"/>
          <p:cNvCxnSpPr/>
          <p:nvPr/>
        </p:nvCxnSpPr>
        <p:spPr>
          <a:xfrm>
            <a:off x="6583680" y="384048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7" name="L3"/>
          <p:cNvSpPr/>
          <p:nvPr/>
        </p:nvSpPr>
        <p:spPr>
          <a:xfrm>
            <a:off x="6903720" y="3520440"/>
            <a:ext cx="16002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RESULT</a:t>
            </a:r>
          </a:p>
        </p:txBody>
      </p:sp>
      <p:cxnSp>
        <p:nvCxnSpPr>
          <p:cNvPr id="108" name="LoopD"/>
          <p:cNvCxnSpPr/>
          <p:nvPr/>
        </p:nvCxnSpPr>
        <p:spPr>
          <a:xfrm>
            <a:off x="7680960" y="4160520"/>
            <a:ext cx="0" cy="457200"/>
          </a:xfrm>
          <a:prstGeom prst="straightConnector1">
            <a:avLst/>
          </a:prstGeom>
          <a:ln w="28575">
            <a:solidFill>
              <a:srgbClr val="8E6F3E"/>
            </a:solidFill>
          </a:ln>
        </p:spPr>
      </p:cxnSp>
      <p:cxnSp>
        <p:nvCxnSpPr>
          <p:cNvPr id="109" name="LoopA"/>
          <p:cNvCxnSpPr/>
          <p:nvPr/>
        </p:nvCxnSpPr>
        <p:spPr>
          <a:xfrm flipH="1">
            <a:off x="1645920" y="4617720"/>
            <a:ext cx="6035040" cy="0"/>
          </a:xfrm>
          <a:prstGeom prst="straightConnector1">
            <a:avLst/>
          </a:prstGeom>
          <a:ln w="28575">
            <a:solidFill>
              <a:srgbClr val="8E6F3E"/>
            </a:solidFill>
          </a:ln>
        </p:spPr>
      </p:cxnSp>
      <p:cxnSp>
        <p:nvCxnSpPr>
          <p:cNvPr id="110" name="LoopU"/>
          <p:cNvCxnSpPr/>
          <p:nvPr/>
        </p:nvCxnSpPr>
        <p:spPr>
          <a:xfrm flipV="1">
            <a:off x="1645920" y="4160520"/>
            <a:ext cx="0" cy="45720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1" name="LoopLbl"/>
          <p:cNvSpPr txBox="1"/>
          <p:nvPr/>
        </p:nvSpPr>
        <p:spPr>
          <a:xfrm>
            <a:off x="3291840" y="47731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and around again</a:t>
            </a:r>
          </a:p>
        </p:txBody>
      </p:sp>
      <p:sp>
        <p:nvSpPr>
          <p:cNvPr id="112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Every phrase in the definition is a design surface.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 harness closes the loop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14</a:t>
            </a:fld>
            <a:endParaRPr lang="en-US"/>
          </a:p>
        </p:txBody>
      </p:sp>
      <p:sp>
        <p:nvSpPr>
          <p:cNvPr id="100" name="S0"/>
          <p:cNvSpPr/>
          <p:nvPr/>
        </p:nvSpPr>
        <p:spPr>
          <a:xfrm>
            <a:off x="1463040" y="960120"/>
            <a:ext cx="23774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inspect repo</a:t>
            </a:r>
          </a:p>
        </p:txBody>
      </p:sp>
      <p:sp>
        <p:nvSpPr>
          <p:cNvPr id="101" name="G0"/>
          <p:cNvSpPr txBox="1"/>
          <p:nvPr/>
        </p:nvSpPr>
        <p:spPr>
          <a:xfrm>
            <a:off x="4114800" y="1106424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the repository becomes context</a:t>
            </a:r>
          </a:p>
        </p:txBody>
      </p:sp>
      <p:cxnSp>
        <p:nvCxnSpPr>
          <p:cNvPr id="102" name="SA0"/>
          <p:cNvCxnSpPr/>
          <p:nvPr/>
        </p:nvCxnSpPr>
        <p:spPr>
          <a:xfrm>
            <a:off x="2651760" y="1581912"/>
            <a:ext cx="0" cy="256032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S1"/>
          <p:cNvSpPr/>
          <p:nvPr/>
        </p:nvSpPr>
        <p:spPr>
          <a:xfrm>
            <a:off x="1463040" y="1856232"/>
            <a:ext cx="23774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edit file</a:t>
            </a:r>
          </a:p>
        </p:txBody>
      </p:sp>
      <p:sp>
        <p:nvSpPr>
          <p:cNvPr id="104" name="G1"/>
          <p:cNvSpPr txBox="1"/>
          <p:nvPr/>
        </p:nvSpPr>
        <p:spPr>
          <a:xfrm>
            <a:off x="4114800" y="2002536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an action with real effects</a:t>
            </a:r>
          </a:p>
        </p:txBody>
      </p:sp>
      <p:cxnSp>
        <p:nvCxnSpPr>
          <p:cNvPr id="105" name="SA1"/>
          <p:cNvCxnSpPr/>
          <p:nvPr/>
        </p:nvCxnSpPr>
        <p:spPr>
          <a:xfrm>
            <a:off x="2651760" y="2478024"/>
            <a:ext cx="0" cy="256032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6" name="S2"/>
          <p:cNvSpPr/>
          <p:nvPr/>
        </p:nvSpPr>
        <p:spPr>
          <a:xfrm>
            <a:off x="1463040" y="2752344"/>
            <a:ext cx="23774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run test</a:t>
            </a:r>
          </a:p>
        </p:txBody>
      </p:sp>
      <p:sp>
        <p:nvSpPr>
          <p:cNvPr id="107" name="G2"/>
          <p:cNvSpPr txBox="1"/>
          <p:nvPr/>
        </p:nvSpPr>
        <p:spPr>
          <a:xfrm>
            <a:off x="4114800" y="2898648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the environment answers</a:t>
            </a:r>
          </a:p>
        </p:txBody>
      </p:sp>
      <p:cxnSp>
        <p:nvCxnSpPr>
          <p:cNvPr id="108" name="SA2"/>
          <p:cNvCxnSpPr/>
          <p:nvPr/>
        </p:nvCxnSpPr>
        <p:spPr>
          <a:xfrm>
            <a:off x="2651760" y="3374136"/>
            <a:ext cx="0" cy="256032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9" name="S3"/>
          <p:cNvSpPr/>
          <p:nvPr/>
        </p:nvSpPr>
        <p:spPr>
          <a:xfrm>
            <a:off x="1463040" y="3648456"/>
            <a:ext cx="23774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observe failure</a:t>
            </a:r>
          </a:p>
        </p:txBody>
      </p:sp>
      <p:sp>
        <p:nvSpPr>
          <p:cNvPr id="110" name="G3"/>
          <p:cNvSpPr txBox="1"/>
          <p:nvPr/>
        </p:nvSpPr>
        <p:spPr>
          <a:xfrm>
            <a:off x="4114800" y="379476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the answer becomes new context</a:t>
            </a:r>
          </a:p>
        </p:txBody>
      </p:sp>
      <p:cxnSp>
        <p:nvCxnSpPr>
          <p:cNvPr id="111" name="SA3"/>
          <p:cNvCxnSpPr/>
          <p:nvPr/>
        </p:nvCxnSpPr>
        <p:spPr>
          <a:xfrm>
            <a:off x="2651760" y="4270248"/>
            <a:ext cx="0" cy="256032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2" name="S4"/>
          <p:cNvSpPr/>
          <p:nvPr/>
        </p:nvSpPr>
        <p:spPr>
          <a:xfrm>
            <a:off x="1463040" y="4544568"/>
            <a:ext cx="23774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revise</a:t>
            </a:r>
          </a:p>
        </p:txBody>
      </p:sp>
      <p:sp>
        <p:nvSpPr>
          <p:cNvPr id="113" name="G4"/>
          <p:cNvSpPr txBox="1"/>
          <p:nvPr/>
        </p:nvSpPr>
        <p:spPr>
          <a:xfrm>
            <a:off x="4114800" y="469087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reasoning continues, better informed</a:t>
            </a:r>
          </a:p>
        </p:txBody>
      </p:sp>
      <p:cxnSp>
        <p:nvCxnSpPr>
          <p:cNvPr id="114" name="LoopL"/>
          <p:cNvCxnSpPr/>
          <p:nvPr/>
        </p:nvCxnSpPr>
        <p:spPr>
          <a:xfrm>
            <a:off x="1143000" y="1271016"/>
            <a:ext cx="0" cy="3657600"/>
          </a:xfrm>
          <a:prstGeom prst="straightConnector1">
            <a:avLst/>
          </a:prstGeom>
          <a:ln w="19050">
            <a:solidFill>
              <a:srgbClr val="8E6F3E"/>
            </a:solidFill>
          </a:ln>
        </p:spPr>
      </p:cxnSp>
      <p:cxnSp>
        <p:nvCxnSpPr>
          <p:cNvPr id="115" name="LoopT"/>
          <p:cNvCxnSpPr/>
          <p:nvPr/>
        </p:nvCxnSpPr>
        <p:spPr>
          <a:xfrm>
            <a:off x="1143000" y="1271016"/>
            <a:ext cx="274320" cy="0"/>
          </a:xfrm>
          <a:prstGeom prst="straightConnector1">
            <a:avLst/>
          </a:prstGeom>
          <a:ln w="19050">
            <a:solidFill>
              <a:srgbClr val="8E6F3E"/>
            </a:solidFill>
            <a:tailEnd type="triangle" w="med" len="med"/>
          </a:ln>
        </p:spPr>
      </p:cxnSp>
      <p:cxnSp>
        <p:nvCxnSpPr>
          <p:cNvPr id="116" name="LoopB"/>
          <p:cNvCxnSpPr/>
          <p:nvPr/>
        </p:nvCxnSpPr>
        <p:spPr>
          <a:xfrm flipH="1">
            <a:off x="1143000" y="4928616"/>
            <a:ext cx="274320" cy="0"/>
          </a:xfrm>
          <a:prstGeom prst="straightConnector1">
            <a:avLst/>
          </a:prstGeom>
          <a:ln w="19050">
            <a:solidFill>
              <a:srgbClr val="8E6F3E"/>
            </a:solidFill>
          </a:ln>
        </p:spPr>
      </p:cxnSp>
      <p:sp>
        <p:nvSpPr>
          <p:cNvPr id="11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Consequences of earlier actions become inputs to later reasoning.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 harness has levers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15</a:t>
            </a:fld>
            <a:endParaRPr lang="en-US"/>
          </a:p>
        </p:txBody>
      </p:sp>
      <p:sp>
        <p:nvSpPr>
          <p:cNvPr id="100" name="Hub"/>
          <p:cNvSpPr/>
          <p:nvPr/>
        </p:nvSpPr>
        <p:spPr>
          <a:xfrm>
            <a:off x="3154680" y="2514600"/>
            <a:ext cx="2834640" cy="11430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AGENT HARNESS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(model inside)</a:t>
            </a:r>
          </a:p>
        </p:txBody>
      </p:sp>
      <p:sp>
        <p:nvSpPr>
          <p:cNvPr id="101" name="L0"/>
          <p:cNvSpPr/>
          <p:nvPr/>
        </p:nvSpPr>
        <p:spPr>
          <a:xfrm>
            <a:off x="685800" y="105156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context</a:t>
            </a:r>
          </a:p>
        </p:txBody>
      </p:sp>
      <p:sp>
        <p:nvSpPr>
          <p:cNvPr id="102" name="L1"/>
          <p:cNvSpPr/>
          <p:nvPr/>
        </p:nvSpPr>
        <p:spPr>
          <a:xfrm>
            <a:off x="3566160" y="105156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instructions</a:t>
            </a:r>
          </a:p>
        </p:txBody>
      </p:sp>
      <p:sp>
        <p:nvSpPr>
          <p:cNvPr id="103" name="L2"/>
          <p:cNvSpPr/>
          <p:nvPr/>
        </p:nvSpPr>
        <p:spPr>
          <a:xfrm>
            <a:off x="6446520" y="105156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tools</a:t>
            </a:r>
          </a:p>
        </p:txBody>
      </p:sp>
      <p:sp>
        <p:nvSpPr>
          <p:cNvPr id="104" name="L3"/>
          <p:cNvSpPr/>
          <p:nvPr/>
        </p:nvSpPr>
        <p:spPr>
          <a:xfrm>
            <a:off x="685800" y="420624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skills</a:t>
            </a:r>
          </a:p>
        </p:txBody>
      </p:sp>
      <p:sp>
        <p:nvSpPr>
          <p:cNvPr id="105" name="L4"/>
          <p:cNvSpPr/>
          <p:nvPr/>
        </p:nvSpPr>
        <p:spPr>
          <a:xfrm>
            <a:off x="3566160" y="420624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memory / state</a:t>
            </a:r>
          </a:p>
        </p:txBody>
      </p:sp>
      <p:sp>
        <p:nvSpPr>
          <p:cNvPr id="106" name="L5"/>
          <p:cNvSpPr/>
          <p:nvPr/>
        </p:nvSpPr>
        <p:spPr>
          <a:xfrm>
            <a:off x="6446520" y="420624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permissions</a:t>
            </a:r>
          </a:p>
        </p:txBody>
      </p:sp>
      <p:cxnSp>
        <p:nvCxnSpPr>
          <p:cNvPr id="107" name="W0"/>
          <p:cNvCxnSpPr/>
          <p:nvPr/>
        </p:nvCxnSpPr>
        <p:spPr>
          <a:xfrm>
            <a:off x="1691640" y="1691640"/>
            <a:ext cx="2148840" cy="822960"/>
          </a:xfrm>
          <a:prstGeom prst="straightConnector1">
            <a:avLst/>
          </a:prstGeom>
          <a:ln w="19050">
            <a:solidFill>
              <a:srgbClr val="C9B991"/>
            </a:solidFill>
          </a:ln>
        </p:spPr>
      </p:cxnSp>
      <p:cxnSp>
        <p:nvCxnSpPr>
          <p:cNvPr id="108" name="W1"/>
          <p:cNvCxnSpPr/>
          <p:nvPr/>
        </p:nvCxnSpPr>
        <p:spPr>
          <a:xfrm>
            <a:off x="4572000" y="1691640"/>
            <a:ext cx="9144" cy="822960"/>
          </a:xfrm>
          <a:prstGeom prst="straightConnector1">
            <a:avLst/>
          </a:prstGeom>
          <a:ln w="19050">
            <a:solidFill>
              <a:srgbClr val="C9B991"/>
            </a:solidFill>
          </a:ln>
        </p:spPr>
      </p:cxnSp>
      <p:cxnSp>
        <p:nvCxnSpPr>
          <p:cNvPr id="109" name="W2"/>
          <p:cNvCxnSpPr/>
          <p:nvPr/>
        </p:nvCxnSpPr>
        <p:spPr>
          <a:xfrm flipH="1">
            <a:off x="5303520" y="1691640"/>
            <a:ext cx="2148840" cy="822960"/>
          </a:xfrm>
          <a:prstGeom prst="straightConnector1">
            <a:avLst/>
          </a:prstGeom>
          <a:ln w="19050">
            <a:solidFill>
              <a:srgbClr val="C9B991"/>
            </a:solidFill>
          </a:ln>
        </p:spPr>
      </p:cxnSp>
      <p:cxnSp>
        <p:nvCxnSpPr>
          <p:cNvPr id="110" name="W3"/>
          <p:cNvCxnSpPr/>
          <p:nvPr/>
        </p:nvCxnSpPr>
        <p:spPr>
          <a:xfrm flipV="1">
            <a:off x="1691640" y="3657600"/>
            <a:ext cx="2148840" cy="548640"/>
          </a:xfrm>
          <a:prstGeom prst="straightConnector1">
            <a:avLst/>
          </a:prstGeom>
          <a:ln w="19050">
            <a:solidFill>
              <a:srgbClr val="C9B991"/>
            </a:solidFill>
          </a:ln>
        </p:spPr>
      </p:cxnSp>
      <p:cxnSp>
        <p:nvCxnSpPr>
          <p:cNvPr id="111" name="W4"/>
          <p:cNvCxnSpPr/>
          <p:nvPr/>
        </p:nvCxnSpPr>
        <p:spPr>
          <a:xfrm flipV="1">
            <a:off x="4572000" y="3657600"/>
            <a:ext cx="9144" cy="548640"/>
          </a:xfrm>
          <a:prstGeom prst="straightConnector1">
            <a:avLst/>
          </a:prstGeom>
          <a:ln w="19050">
            <a:solidFill>
              <a:srgbClr val="C9B991"/>
            </a:solidFill>
          </a:ln>
        </p:spPr>
      </p:cxnSp>
      <p:cxnSp>
        <p:nvCxnSpPr>
          <p:cNvPr id="112" name="W5"/>
          <p:cNvCxnSpPr/>
          <p:nvPr/>
        </p:nvCxnSpPr>
        <p:spPr>
          <a:xfrm flipH="1" flipV="1">
            <a:off x="5303520" y="3657600"/>
            <a:ext cx="2148840" cy="548640"/>
          </a:xfrm>
          <a:prstGeom prst="straightConnector1">
            <a:avLst/>
          </a:prstGeom>
          <a:ln w="19050">
            <a:solidFill>
              <a:srgbClr val="C9B991"/>
            </a:solidFill>
          </a:ln>
        </p:spPr>
      </p:cxnSp>
      <p:sp>
        <p:nvSpPr>
          <p:cNvPr id="113" name="WorkS"/>
          <p:cNvSpPr txBox="1"/>
          <p:nvPr/>
        </p:nvSpPr>
        <p:spPr>
          <a:xfrm>
            <a:off x="365760" y="5074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Task structure is absent on purpose — it was decided under BOUND.</a:t>
            </a:r>
          </a:p>
        </p:txBody>
      </p:sp>
      <p:sp>
        <p:nvSpPr>
          <p:cNvPr id="114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Different levers solve different problems.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Context and instructions shape reasoning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16</a:t>
            </a:fld>
            <a:endParaRPr lang="en-US"/>
          </a:p>
        </p:txBody>
      </p:sp>
      <p:sp>
        <p:nvSpPr>
          <p:cNvPr id="100" name="LblL"/>
          <p:cNvSpPr txBox="1"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CONTEXT</a:t>
            </a:r>
          </a:p>
        </p:txBody>
      </p:sp>
      <p:sp>
        <p:nvSpPr>
          <p:cNvPr id="101" name="CardL"/>
          <p:cNvSpPr/>
          <p:nvPr/>
        </p:nvSpPr>
        <p:spPr>
          <a:xfrm>
            <a:off x="365760" y="1463040"/>
            <a:ext cx="4023360" cy="22860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What does the model have available to reason over?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repository slices · specifications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retrieved knowledge · prior results</a:t>
            </a:r>
          </a:p>
        </p:txBody>
      </p:sp>
      <p:sp>
        <p:nvSpPr>
          <p:cNvPr id="102" name="LblR"/>
          <p:cNvSpPr txBox="1"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INSTRUCTIONS</a:t>
            </a:r>
          </a:p>
        </p:txBody>
      </p:sp>
      <p:sp>
        <p:nvSpPr>
          <p:cNvPr id="103" name="CardR"/>
          <p:cNvSpPr/>
          <p:nvPr/>
        </p:nvSpPr>
        <p:spPr>
          <a:xfrm>
            <a:off x="4754880" y="1463040"/>
            <a:ext cx="4023360" cy="22860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How have we told it to approach the work?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system instructions · project conventions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task briefs · worked examples</a:t>
            </a:r>
          </a:p>
        </p:txBody>
      </p:sp>
      <p:sp>
        <p:nvSpPr>
          <p:cNvPr id="104" name="Insight"/>
          <p:cNvSpPr/>
          <p:nvPr/>
        </p:nvSpPr>
        <p:spPr>
          <a:xfrm>
            <a:off x="365760" y="4206240"/>
            <a:ext cx="8412480" cy="8686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Both arrive through the same channel — but they do different jobs.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Instructions are not facts merely because they sit in the context.</a:t>
            </a:r>
          </a:p>
        </p:txBody>
      </p:sp>
      <p:sp>
        <p:nvSpPr>
          <p:cNvPr id="105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The lever: choose the reasoning surface the model starts from.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Tools turn reasoning into effects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17</a:t>
            </a:fld>
            <a:endParaRPr lang="en-US"/>
          </a:p>
        </p:txBody>
      </p:sp>
      <p:sp>
        <p:nvSpPr>
          <p:cNvPr id="100" name="Agent"/>
          <p:cNvSpPr/>
          <p:nvPr/>
        </p:nvSpPr>
        <p:spPr>
          <a:xfrm>
            <a:off x="731520" y="2194560"/>
            <a:ext cx="237744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5C4826"/>
                </a:solidFill>
              </a:rPr>
              <a:t xml:space="preserve">AGENT</a:t>
            </a:r>
          </a:p>
        </p:txBody>
      </p:sp>
      <p:sp>
        <p:nvSpPr>
          <p:cNvPr id="101" name="T0"/>
          <p:cNvSpPr/>
          <p:nvPr/>
        </p:nvSpPr>
        <p:spPr>
          <a:xfrm>
            <a:off x="4754880" y="1005840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search</a:t>
            </a:r>
          </a:p>
        </p:txBody>
      </p:sp>
      <p:cxnSp>
        <p:nvCxnSpPr>
          <p:cNvPr id="102" name="TC0"/>
          <p:cNvCxnSpPr/>
          <p:nvPr/>
        </p:nvCxnSpPr>
        <p:spPr>
          <a:xfrm flipV="1">
            <a:off x="3108960" y="1280160"/>
            <a:ext cx="1645920" cy="1298448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3" name="T1"/>
          <p:cNvSpPr/>
          <p:nvPr/>
        </p:nvSpPr>
        <p:spPr>
          <a:xfrm>
            <a:off x="4754880" y="1627632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shell</a:t>
            </a:r>
          </a:p>
        </p:txBody>
      </p:sp>
      <p:cxnSp>
        <p:nvCxnSpPr>
          <p:cNvPr id="104" name="TC1"/>
          <p:cNvCxnSpPr/>
          <p:nvPr/>
        </p:nvCxnSpPr>
        <p:spPr>
          <a:xfrm flipV="1">
            <a:off x="3108960" y="1901952"/>
            <a:ext cx="1645920" cy="676656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5" name="T2"/>
          <p:cNvSpPr/>
          <p:nvPr/>
        </p:nvSpPr>
        <p:spPr>
          <a:xfrm>
            <a:off x="4754880" y="2249424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compiler</a:t>
            </a:r>
          </a:p>
        </p:txBody>
      </p:sp>
      <p:cxnSp>
        <p:nvCxnSpPr>
          <p:cNvPr id="106" name="TC2"/>
          <p:cNvCxnSpPr/>
          <p:nvPr/>
        </p:nvCxnSpPr>
        <p:spPr>
          <a:xfrm flipV="1">
            <a:off x="3108960" y="2523744"/>
            <a:ext cx="1645920" cy="54864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7" name="T3"/>
          <p:cNvSpPr/>
          <p:nvPr/>
        </p:nvSpPr>
        <p:spPr>
          <a:xfrm>
            <a:off x="4754880" y="2871216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tests</a:t>
            </a:r>
          </a:p>
        </p:txBody>
      </p:sp>
      <p:cxnSp>
        <p:nvCxnSpPr>
          <p:cNvPr id="108" name="TC3"/>
          <p:cNvCxnSpPr/>
          <p:nvPr/>
        </p:nvCxnSpPr>
        <p:spPr>
          <a:xfrm>
            <a:off x="3108960" y="2578608"/>
            <a:ext cx="1645920" cy="566928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9" name="T4"/>
          <p:cNvSpPr/>
          <p:nvPr/>
        </p:nvSpPr>
        <p:spPr>
          <a:xfrm>
            <a:off x="4754880" y="3493008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Git</a:t>
            </a:r>
          </a:p>
        </p:txBody>
      </p:sp>
      <p:cxnSp>
        <p:nvCxnSpPr>
          <p:cNvPr id="110" name="TC4"/>
          <p:cNvCxnSpPr/>
          <p:nvPr/>
        </p:nvCxnSpPr>
        <p:spPr>
          <a:xfrm>
            <a:off x="3108960" y="2578608"/>
            <a:ext cx="1645920" cy="118872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11" name="T5"/>
          <p:cNvSpPr/>
          <p:nvPr/>
        </p:nvSpPr>
        <p:spPr>
          <a:xfrm>
            <a:off x="4754880" y="4114800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service / API</a:t>
            </a:r>
          </a:p>
        </p:txBody>
      </p:sp>
      <p:cxnSp>
        <p:nvCxnSpPr>
          <p:cNvPr id="112" name="TC5"/>
          <p:cNvCxnSpPr/>
          <p:nvPr/>
        </p:nvCxnSpPr>
        <p:spPr>
          <a:xfrm>
            <a:off x="3108960" y="2578608"/>
            <a:ext cx="1645920" cy="1810512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13" name="Seed"/>
          <p:cNvSpPr txBox="1"/>
          <p:nvPr/>
        </p:nvSpPr>
        <p:spPr>
          <a:xfrm>
            <a:off x="365760" y="48920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Read-only search is one grant of authority; deploy is quite another.</a:t>
            </a:r>
          </a:p>
        </p:txBody>
      </p:sp>
      <p:sp>
        <p:nvSpPr>
          <p:cNvPr id="114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A tool expands capability — and potentially consequence.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MCP standardizes connections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18</a:t>
            </a:fld>
            <a:endParaRPr lang="en-US"/>
          </a:p>
        </p:txBody>
      </p:sp>
      <p:sp>
        <p:nvSpPr>
          <p:cNvPr id="100" name="Host"/>
          <p:cNvSpPr/>
          <p:nvPr/>
        </p:nvSpPr>
        <p:spPr>
          <a:xfrm>
            <a:off x="3291840" y="1005840"/>
            <a:ext cx="2560320" cy="685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AGENT / HOST</a:t>
            </a:r>
          </a:p>
        </p:txBody>
      </p:sp>
      <p:cxnSp>
        <p:nvCxnSpPr>
          <p:cNvPr id="101" name="HD"/>
          <p:cNvCxnSpPr/>
          <p:nvPr/>
        </p:nvCxnSpPr>
        <p:spPr>
          <a:xfrm>
            <a:off x="4572000" y="1691640"/>
            <a:ext cx="0" cy="32004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Proto"/>
          <p:cNvSpPr/>
          <p:nvPr/>
        </p:nvSpPr>
        <p:spPr>
          <a:xfrm>
            <a:off x="2331720" y="2011680"/>
            <a:ext cx="4480560" cy="868680"/>
          </a:xfrm>
          <a:prstGeom prst="rect">
            <a:avLst/>
          </a:prstGeom>
          <a:solidFill>
            <a:srgbClr val="E8F0F7"/>
          </a:solidFill>
          <a:ln w="12700">
            <a:solidFill>
              <a:srgbClr val="A9C4DB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2E74B5"/>
                </a:solidFill>
              </a:rPr>
              <a:t xml:space="preserve">MODEL CONTEXT PROTOCOL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one common interface</a:t>
            </a:r>
          </a:p>
        </p:txBody>
      </p:sp>
      <p:cxnSp>
        <p:nvCxnSpPr>
          <p:cNvPr id="103" name="F0"/>
          <p:cNvCxnSpPr/>
          <p:nvPr/>
        </p:nvCxnSpPr>
        <p:spPr>
          <a:xfrm flipH="1">
            <a:off x="2606040" y="2880360"/>
            <a:ext cx="1965960" cy="41148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4" name="N0"/>
          <p:cNvSpPr/>
          <p:nvPr/>
        </p:nvSpPr>
        <p:spPr>
          <a:xfrm>
            <a:off x="1828800" y="3291840"/>
            <a:ext cx="155448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service</a:t>
            </a:r>
          </a:p>
        </p:txBody>
      </p:sp>
      <p:cxnSp>
        <p:nvCxnSpPr>
          <p:cNvPr id="105" name="F1"/>
          <p:cNvCxnSpPr/>
          <p:nvPr/>
        </p:nvCxnSpPr>
        <p:spPr>
          <a:xfrm>
            <a:off x="4572000" y="2880360"/>
            <a:ext cx="9144" cy="41148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6" name="N1"/>
          <p:cNvSpPr/>
          <p:nvPr/>
        </p:nvSpPr>
        <p:spPr>
          <a:xfrm>
            <a:off x="3794760" y="3291840"/>
            <a:ext cx="155448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repository</a:t>
            </a:r>
          </a:p>
        </p:txBody>
      </p:sp>
      <p:cxnSp>
        <p:nvCxnSpPr>
          <p:cNvPr id="107" name="F2"/>
          <p:cNvCxnSpPr/>
          <p:nvPr/>
        </p:nvCxnSpPr>
        <p:spPr>
          <a:xfrm>
            <a:off x="4572000" y="2880360"/>
            <a:ext cx="1965960" cy="41148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8" name="N2"/>
          <p:cNvSpPr/>
          <p:nvPr/>
        </p:nvSpPr>
        <p:spPr>
          <a:xfrm>
            <a:off x="5760720" y="3291840"/>
            <a:ext cx="155448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tool</a:t>
            </a:r>
          </a:p>
        </p:txBody>
      </p:sp>
      <p:sp>
        <p:nvSpPr>
          <p:cNvPr id="109" name="NM"/>
          <p:cNvSpPr/>
          <p:nvPr/>
        </p:nvSpPr>
        <p:spPr>
          <a:xfrm>
            <a:off x="457200" y="4160520"/>
            <a:ext cx="8229600" cy="9144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Bespoke integrations grow as agents × systems.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A shared protocol grows as agents + systems: build a connector once, any agent can use it.</a:t>
            </a:r>
          </a:p>
        </p:txBody>
      </p:sp>
      <p:sp>
        <p:nvSpPr>
          <p:cNvPr id="110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The lever: standardization — integrate once, reuse everywhere.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Skills package reusable ways of working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19</a:t>
            </a:fld>
            <a:endParaRPr lang="en-US"/>
          </a:p>
        </p:txBody>
      </p:sp>
      <p:sp>
        <p:nvSpPr>
          <p:cNvPr id="100" name="LblL"/>
          <p:cNvSpPr txBox="1"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ONE TASK</a:t>
            </a:r>
          </a:p>
        </p:txBody>
      </p:sp>
      <p:sp>
        <p:nvSpPr>
          <p:cNvPr id="101" name="CardL"/>
          <p:cNvSpPr/>
          <p:nvPr/>
        </p:nvSpPr>
        <p:spPr>
          <a:xfrm>
            <a:off x="365760" y="1463040"/>
            <a:ext cx="4023360" cy="1920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an instruction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“do X this way”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written for this occasion, then gone</a:t>
            </a:r>
          </a:p>
        </p:txBody>
      </p:sp>
      <p:sp>
        <p:nvSpPr>
          <p:cNvPr id="102" name="LblR"/>
          <p:cNvSpPr txBox="1"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RECURRING WORK</a:t>
            </a:r>
          </a:p>
        </p:txBody>
      </p:sp>
      <p:sp>
        <p:nvSpPr>
          <p:cNvPr id="103" name="CardR"/>
          <p:cNvSpPr/>
          <p:nvPr/>
        </p:nvSpPr>
        <p:spPr>
          <a:xfrm>
            <a:off x="4754880" y="1463040"/>
            <a:ext cx="4023360" cy="1920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 skill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procedure + resources + checks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packaged once, loaded when the work recurs</a:t>
            </a:r>
          </a:p>
        </p:txBody>
      </p:sp>
      <p:sp>
        <p:nvSpPr>
          <p:cNvPr id="104" name="Ex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Example — accessibility remediation: the checklist, the tooling,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and the acceptance criteria travel together as one loadable procedure.</a:t>
            </a:r>
          </a:p>
        </p:txBody>
      </p:sp>
      <p:sp>
        <p:nvSpPr>
          <p:cNvPr id="105" name="Link"/>
          <p:cNvSpPr txBox="1"/>
          <p:nvPr/>
        </p:nvSpPr>
        <p:spPr>
          <a:xfrm>
            <a:off x="365760" y="4800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This is engineering knowledge, packaged for a machine collaborator.</a:t>
            </a:r>
          </a:p>
        </p:txBody>
      </p:sp>
      <p:sp>
        <p:nvSpPr>
          <p:cNvPr id="106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Do not make every reasoning episode rediscover the procedure.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State lets work survive an inference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20</a:t>
            </a:fld>
            <a:endParaRPr lang="en-US"/>
          </a:p>
        </p:txBody>
      </p:sp>
      <p:sp>
        <p:nvSpPr>
          <p:cNvPr id="100" name="H0"/>
          <p:cNvSpPr/>
          <p:nvPr/>
        </p:nvSpPr>
        <p:spPr>
          <a:xfrm>
            <a:off x="365760" y="1371600"/>
            <a:ext cx="265176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CURRENT CONTEXT</a:t>
            </a:r>
          </a:p>
        </p:txBody>
      </p:sp>
      <p:sp>
        <p:nvSpPr>
          <p:cNvPr id="101" name="B0"/>
          <p:cNvSpPr/>
          <p:nvPr/>
        </p:nvSpPr>
        <p:spPr>
          <a:xfrm>
            <a:off x="365760" y="2286000"/>
            <a:ext cx="2651760" cy="11887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what this inference sees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gone when the call returns</a:t>
            </a:r>
          </a:p>
        </p:txBody>
      </p:sp>
      <p:sp>
        <p:nvSpPr>
          <p:cNvPr id="102" name="H1"/>
          <p:cNvSpPr/>
          <p:nvPr/>
        </p:nvSpPr>
        <p:spPr>
          <a:xfrm>
            <a:off x="3200400" y="1371600"/>
            <a:ext cx="265176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INTERMEDIATE TASK STATE</a:t>
            </a:r>
          </a:p>
        </p:txBody>
      </p:sp>
      <p:sp>
        <p:nvSpPr>
          <p:cNvPr id="103" name="B1"/>
          <p:cNvSpPr/>
          <p:nvPr/>
        </p:nvSpPr>
        <p:spPr>
          <a:xfrm>
            <a:off x="3200400" y="2286000"/>
            <a:ext cx="2651760" cy="11887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plans · progress · scratchpads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carries one piece of work</a:t>
            </a:r>
          </a:p>
        </p:txBody>
      </p:sp>
      <p:sp>
        <p:nvSpPr>
          <p:cNvPr id="104" name="H2"/>
          <p:cNvSpPr/>
          <p:nvPr/>
        </p:nvSpPr>
        <p:spPr>
          <a:xfrm>
            <a:off x="6035040" y="1371600"/>
            <a:ext cx="265176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DURABLE KNOWLEDGE</a:t>
            </a:r>
          </a:p>
        </p:txBody>
      </p:sp>
      <p:sp>
        <p:nvSpPr>
          <p:cNvPr id="105" name="B2"/>
          <p:cNvSpPr/>
          <p:nvPr/>
        </p:nvSpPr>
        <p:spPr>
          <a:xfrm>
            <a:off x="6035040" y="2286000"/>
            <a:ext cx="2651760" cy="11887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records · docs · memory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outlives the task</a:t>
            </a:r>
          </a:p>
        </p:txBody>
      </p:sp>
      <p:cxnSp>
        <p:nvCxnSpPr>
          <p:cNvPr id="106" name="Persist"/>
          <p:cNvCxnSpPr/>
          <p:nvPr/>
        </p:nvCxnSpPr>
        <p:spPr>
          <a:xfrm>
            <a:off x="640080" y="3886200"/>
            <a:ext cx="786384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7" name="PersistLbl"/>
          <p:cNvSpPr txBox="1"/>
          <p:nvPr/>
        </p:nvSpPr>
        <p:spPr>
          <a:xfrm>
            <a:off x="640080" y="40416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 xml:space="preserve">increasing persistence</a:t>
            </a:r>
          </a:p>
        </p:txBody>
      </p:sp>
      <p:sp>
        <p:nvSpPr>
          <p:cNvPr id="108" name="Vague"/>
          <p:cNvSpPr txBox="1"/>
          <p:nvPr/>
        </p:nvSpPr>
        <p:spPr>
          <a:xfrm>
            <a:off x="365760" y="4709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“Memory” is hopelessly vague until you say which of these you mean.</a:t>
            </a:r>
          </a:p>
        </p:txBody>
      </p:sp>
      <p:sp>
        <p:nvSpPr>
          <p:cNvPr id="10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Persistence has a cost: stale knowledge persists too.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40280"/>
            <a:ext cx="7772400" cy="91440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3600" b="0" i="0" dirty="0">
                <a:solidFill>
                  <a:srgbClr val="000000"/>
                </a:solidFill>
              </a:rPr>
              <a:t>What surrounds the agent?</a:t>
            </a:r>
          </a:p>
        </p:txBody>
      </p:sp>
      <p:sp>
        <p:nvSpPr>
          <p:cNvPr id="90" name="SectionLabel"/>
          <p:cNvSpPr txBox="1"/>
          <p:nvPr/>
        </p:nvSpPr>
        <p:spPr>
          <a:xfrm>
            <a:off x="685800" y="1737360"/>
            <a:ext cx="7772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EQUIP · THE ENVIRONMENT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21</a:t>
            </a:fld>
            <a:endParaRPr lang="en-US"/>
          </a:p>
        </p:txBody>
      </p:sp>
      <p:sp>
        <p:nvSpPr>
          <p:cNvPr id="91" name="Rule"/>
          <p:cNvSpPr/>
          <p:nvPr/>
        </p:nvSpPr>
        <p:spPr>
          <a:xfrm>
            <a:off x="3429000" y="3383280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Definition: the engineering environment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22</a:t>
            </a:fld>
            <a:endParaRPr lang="en-US"/>
          </a:p>
        </p:txBody>
      </p:sp>
      <p:sp>
        <p:nvSpPr>
          <p:cNvPr id="100" name="Def"/>
          <p:cNvSpPr/>
          <p:nvPr/>
        </p:nvSpPr>
        <p:spPr>
          <a:xfrm>
            <a:off x="502920" y="1143000"/>
            <a:ext cx="8138160" cy="1371600"/>
          </a:xfrm>
          <a:prstGeom prst="rect">
            <a:avLst/>
          </a:prstGeom>
          <a:solidFill>
            <a:srgbClr val="E8F0F7"/>
          </a:solidFill>
          <a:ln w="12700">
            <a:solidFill>
              <a:srgbClr val="A9C4DB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2E74B5"/>
                </a:solidFill>
              </a:rPr>
              <a:t xml:space="preserve">ENGINEERING ENVIRONMENT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The collection of artifacts, representations, tools, services, rules,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and interfaces through which engineering work is performed.</a:t>
            </a:r>
          </a:p>
        </p:txBody>
      </p:sp>
      <p:sp>
        <p:nvSpPr>
          <p:cNvPr id="101" name="I0"/>
          <p:cNvSpPr/>
          <p:nvPr/>
        </p:nvSpPr>
        <p:spPr>
          <a:xfrm>
            <a:off x="502920" y="292608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code</a:t>
            </a:r>
          </a:p>
        </p:txBody>
      </p:sp>
      <p:sp>
        <p:nvSpPr>
          <p:cNvPr id="102" name="I1"/>
          <p:cNvSpPr/>
          <p:nvPr/>
        </p:nvSpPr>
        <p:spPr>
          <a:xfrm>
            <a:off x="2606040" y="292608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specifications</a:t>
            </a:r>
          </a:p>
        </p:txBody>
      </p:sp>
      <p:sp>
        <p:nvSpPr>
          <p:cNvPr id="103" name="I2"/>
          <p:cNvSpPr/>
          <p:nvPr/>
        </p:nvSpPr>
        <p:spPr>
          <a:xfrm>
            <a:off x="4709160" y="292608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models</a:t>
            </a:r>
          </a:p>
        </p:txBody>
      </p:sp>
      <p:sp>
        <p:nvSpPr>
          <p:cNvPr id="104" name="I3"/>
          <p:cNvSpPr/>
          <p:nvPr/>
        </p:nvSpPr>
        <p:spPr>
          <a:xfrm>
            <a:off x="6812280" y="292608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tests</a:t>
            </a:r>
          </a:p>
        </p:txBody>
      </p:sp>
      <p:sp>
        <p:nvSpPr>
          <p:cNvPr id="105" name="I4"/>
          <p:cNvSpPr/>
          <p:nvPr/>
        </p:nvSpPr>
        <p:spPr>
          <a:xfrm>
            <a:off x="502920" y="370332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CI</a:t>
            </a:r>
          </a:p>
        </p:txBody>
      </p:sp>
      <p:sp>
        <p:nvSpPr>
          <p:cNvPr id="106" name="I5"/>
          <p:cNvSpPr/>
          <p:nvPr/>
        </p:nvSpPr>
        <p:spPr>
          <a:xfrm>
            <a:off x="2606040" y="370332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documentation</a:t>
            </a:r>
          </a:p>
        </p:txBody>
      </p:sp>
      <p:sp>
        <p:nvSpPr>
          <p:cNvPr id="107" name="I6"/>
          <p:cNvSpPr/>
          <p:nvPr/>
        </p:nvSpPr>
        <p:spPr>
          <a:xfrm>
            <a:off x="4709160" y="370332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issue history</a:t>
            </a:r>
          </a:p>
        </p:txBody>
      </p:sp>
      <p:sp>
        <p:nvSpPr>
          <p:cNvPr id="108" name="I7"/>
          <p:cNvSpPr/>
          <p:nvPr/>
        </p:nvSpPr>
        <p:spPr>
          <a:xfrm>
            <a:off x="6812280" y="3703320"/>
            <a:ext cx="192024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deployment</a:t>
            </a:r>
          </a:p>
        </p:txBody>
      </p:sp>
      <p:sp>
        <p:nvSpPr>
          <p:cNvPr id="109" name="Ital"/>
          <p:cNvSpPr txBox="1"/>
          <p:nvPr/>
        </p:nvSpPr>
        <p:spPr>
          <a:xfrm>
            <a:off x="365760" y="47091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The students already know this layer — it is where software organizations live.</a:t>
            </a:r>
          </a:p>
        </p:txBody>
      </p:sp>
      <p:sp>
        <p:nvSpPr>
          <p:cNvPr id="110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Agents did not create this layer — they make its quality newly consequential.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Zoom out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23</a:t>
            </a:fld>
            <a:endParaRPr lang="en-US"/>
          </a:p>
        </p:txBody>
      </p:sp>
      <p:sp>
        <p:nvSpPr>
          <p:cNvPr id="100" name="Env"/>
          <p:cNvSpPr/>
          <p:nvPr/>
        </p:nvSpPr>
        <p:spPr>
          <a:xfrm>
            <a:off x="731520" y="1051560"/>
            <a:ext cx="7680960" cy="39776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101" name="EnvLbl"/>
          <p:cNvSpPr txBox="1"/>
          <p:nvPr/>
        </p:nvSpPr>
        <p:spPr>
          <a:xfrm>
            <a:off x="914400" y="11704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 xml:space="preserve">ENGINEERING ENVIRONMENT</a:t>
            </a:r>
          </a:p>
        </p:txBody>
      </p:sp>
      <p:sp>
        <p:nvSpPr>
          <p:cNvPr id="102" name="EnvItems"/>
          <p:cNvSpPr txBox="1"/>
          <p:nvPr/>
        </p:nvSpPr>
        <p:spPr>
          <a:xfrm>
            <a:off x="914400" y="16002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repo · models · tests · CI · docs · services · knowledge</a:t>
            </a:r>
          </a:p>
        </p:txBody>
      </p:sp>
      <p:sp>
        <p:nvSpPr>
          <p:cNvPr id="103" name="Har"/>
          <p:cNvSpPr/>
          <p:nvPr/>
        </p:nvSpPr>
        <p:spPr>
          <a:xfrm>
            <a:off x="2103120" y="2194560"/>
            <a:ext cx="4937760" cy="24688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104" name="HarLbl"/>
          <p:cNvSpPr txBox="1"/>
          <p:nvPr/>
        </p:nvSpPr>
        <p:spPr>
          <a:xfrm>
            <a:off x="2286000" y="23042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AGENT HARNESS</a:t>
            </a:r>
          </a:p>
        </p:txBody>
      </p:sp>
      <p:sp>
        <p:nvSpPr>
          <p:cNvPr id="105" name="HarItems"/>
          <p:cNvSpPr txBox="1"/>
          <p:nvPr/>
        </p:nvSpPr>
        <p:spPr>
          <a:xfrm>
            <a:off x="2286000" y="271576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tools · context · instructions · state</a:t>
            </a:r>
          </a:p>
        </p:txBody>
      </p:sp>
      <p:sp>
        <p:nvSpPr>
          <p:cNvPr id="106" name="Mod"/>
          <p:cNvSpPr/>
          <p:nvPr/>
        </p:nvSpPr>
        <p:spPr>
          <a:xfrm>
            <a:off x="3474720" y="3291840"/>
            <a:ext cx="21945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5C4826"/>
                </a:solidFill>
              </a:rPr>
              <a:t xml:space="preserve">MODEL</a:t>
            </a:r>
          </a:p>
        </p:txBody>
      </p:sp>
      <p:sp>
        <p:nvSpPr>
          <p:cNvPr id="10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The EQUIP submodel — now with every layer filled 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 environment can do reasoning for you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24</a:t>
            </a:fld>
            <a:endParaRPr lang="en-US"/>
          </a:p>
        </p:txBody>
      </p:sp>
      <p:sp>
        <p:nvSpPr>
          <p:cNvPr id="100" name="LblL"/>
          <p:cNvSpPr txBox="1"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RECONSTRUCT</a:t>
            </a:r>
          </a:p>
        </p:txBody>
      </p:sp>
      <p:sp>
        <p:nvSpPr>
          <p:cNvPr id="101" name="SrcL"/>
          <p:cNvSpPr/>
          <p:nvPr/>
        </p:nvSpPr>
        <p:spPr>
          <a:xfrm>
            <a:off x="365760" y="1463040"/>
            <a:ext cx="4023360" cy="8686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SOURCE + CONFIG + HISTORY + DOCS</a:t>
            </a:r>
          </a:p>
        </p:txBody>
      </p:sp>
      <p:cxnSp>
        <p:nvCxnSpPr>
          <p:cNvPr id="102" name="ArrL"/>
          <p:cNvCxnSpPr/>
          <p:nvPr/>
        </p:nvCxnSpPr>
        <p:spPr>
          <a:xfrm>
            <a:off x="1005840" y="2331720"/>
            <a:ext cx="0" cy="5029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GlossL"/>
          <p:cNvSpPr txBox="1"/>
          <p:nvPr/>
        </p:nvSpPr>
        <p:spPr>
          <a:xfrm>
            <a:off x="1325880" y="23957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agent reconstructs</a:t>
            </a:r>
          </a:p>
        </p:txBody>
      </p:sp>
      <p:sp>
        <p:nvSpPr>
          <p:cNvPr id="104" name="OutL"/>
          <p:cNvSpPr/>
          <p:nvPr/>
        </p:nvSpPr>
        <p:spPr>
          <a:xfrm>
            <a:off x="365760" y="2834640"/>
            <a:ext cx="4023360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the architecture</a:t>
            </a:r>
          </a:p>
        </p:txBody>
      </p:sp>
      <p:sp>
        <p:nvSpPr>
          <p:cNvPr id="105" name="LblR"/>
          <p:cNvSpPr txBox="1"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REPRESENT</a:t>
            </a:r>
          </a:p>
        </p:txBody>
      </p:sp>
      <p:sp>
        <p:nvSpPr>
          <p:cNvPr id="106" name="SrcR"/>
          <p:cNvSpPr/>
          <p:nvPr/>
        </p:nvSpPr>
        <p:spPr>
          <a:xfrm>
            <a:off x="4754880" y="1463040"/>
            <a:ext cx="4023360" cy="8686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ARCHITECTURE MODEL</a:t>
            </a:r>
          </a:p>
        </p:txBody>
      </p:sp>
      <p:cxnSp>
        <p:nvCxnSpPr>
          <p:cNvPr id="107" name="ArrR"/>
          <p:cNvCxnSpPr/>
          <p:nvPr/>
        </p:nvCxnSpPr>
        <p:spPr>
          <a:xfrm>
            <a:off x="6766560" y="2331720"/>
            <a:ext cx="0" cy="5029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8" name="OutR"/>
          <p:cNvSpPr/>
          <p:nvPr/>
        </p:nvSpPr>
        <p:spPr>
          <a:xfrm>
            <a:off x="4754880" y="2834640"/>
            <a:ext cx="4023360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the agent consults it</a:t>
            </a:r>
          </a:p>
        </p:txBody>
      </p:sp>
      <p:sp>
        <p:nvSpPr>
          <p:cNvPr id="109" name="Regret"/>
          <p:cNvSpPr txBox="1"/>
          <p:nvPr/>
        </p:nvSpPr>
        <p:spPr>
          <a:xfrm>
            <a:off x="365760" y="443484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C4826"/>
                </a:solidFill>
              </a:rPr>
              <a:t xml:space="preserve">What will future engineers — or agents — regret having to rediscover?</a:t>
            </a:r>
          </a:p>
        </p:txBody>
      </p:sp>
      <p:sp>
        <p:nvSpPr>
          <p:cNvPr id="110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Why spend reasoning reconstructing something we already know?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Where would you spend the next dollar?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25</a:t>
            </a:fld>
            <a:endParaRPr lang="en-US"/>
          </a:p>
        </p:txBody>
      </p:sp>
      <p:sp>
        <p:nvSpPr>
          <p:cNvPr id="100" name="Scenario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 capable agent keeps violating an architectural dependency constraint.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Reviews catch it — after the work is done.</a:t>
            </a:r>
          </a:p>
        </p:txBody>
      </p:sp>
      <p:sp>
        <p:nvSpPr>
          <p:cNvPr id="101" name="O0"/>
          <p:cNvSpPr/>
          <p:nvPr/>
        </p:nvSpPr>
        <p:spPr>
          <a:xfrm>
            <a:off x="365760" y="2148840"/>
            <a:ext cx="1609344" cy="10515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stronger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model</a:t>
            </a:r>
          </a:p>
        </p:txBody>
      </p:sp>
      <p:sp>
        <p:nvSpPr>
          <p:cNvPr id="102" name="O1"/>
          <p:cNvSpPr/>
          <p:nvPr/>
        </p:nvSpPr>
        <p:spPr>
          <a:xfrm>
            <a:off x="2066544" y="2148840"/>
            <a:ext cx="1609344" cy="10515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better context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/ retrieval</a:t>
            </a:r>
          </a:p>
        </p:txBody>
      </p:sp>
      <p:sp>
        <p:nvSpPr>
          <p:cNvPr id="103" name="O2"/>
          <p:cNvSpPr/>
          <p:nvPr/>
        </p:nvSpPr>
        <p:spPr>
          <a:xfrm>
            <a:off x="3767328" y="2148840"/>
            <a:ext cx="1609344" cy="10515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explicit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dependency model</a:t>
            </a:r>
          </a:p>
        </p:txBody>
      </p:sp>
      <p:sp>
        <p:nvSpPr>
          <p:cNvPr id="104" name="O3"/>
          <p:cNvSpPr/>
          <p:nvPr/>
        </p:nvSpPr>
        <p:spPr>
          <a:xfrm>
            <a:off x="5468112" y="2148840"/>
            <a:ext cx="1609344" cy="10515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specialized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analysis tool</a:t>
            </a:r>
          </a:p>
        </p:txBody>
      </p:sp>
      <p:sp>
        <p:nvSpPr>
          <p:cNvPr id="105" name="O4"/>
          <p:cNvSpPr/>
          <p:nvPr/>
        </p:nvSpPr>
        <p:spPr>
          <a:xfrm>
            <a:off x="7168896" y="2148840"/>
            <a:ext cx="1609344" cy="10515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smaller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work unit</a:t>
            </a:r>
          </a:p>
        </p:txBody>
      </p:sp>
      <p:sp>
        <p:nvSpPr>
          <p:cNvPr id="106" name="TPSbadge"/>
          <p:cNvSpPr/>
          <p:nvPr/>
        </p:nvSpPr>
        <p:spPr>
          <a:xfrm>
            <a:off x="365760" y="3520440"/>
            <a:ext cx="3108960" cy="512064"/>
          </a:xfrm>
          <a:prstGeom prst="roundRect">
            <a:avLst/>
          </a:prstGeom>
          <a:solidFill>
            <a:srgbClr val="FBF8F2"/>
          </a:solidFill>
          <a:ln w="15875">
            <a:solidFill>
              <a:srgbClr val="8E6F3E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6B3FA0"/>
                </a:solidFill>
              </a:rPr>
              <a:t xml:space="preserve">THINK</a:t>
            </a:r>
            <a:r>
              <a:rPr lang="en-US" sz="2000" b="1" i="0" dirty="0">
                <a:solidFill>
                  <a:srgbClr val="9A9A9A"/>
                </a:solidFill>
              </a:rPr>
              <a:t xml:space="preserve">  ·  </a:t>
            </a:r>
            <a:r>
              <a:rPr lang="en-US" sz="2000" b="1" i="0" dirty="0">
                <a:solidFill>
                  <a:srgbClr val="2E74B5"/>
                </a:solidFill>
              </a:rPr>
              <a:t xml:space="preserve">PAIR</a:t>
            </a:r>
            <a:r>
              <a:rPr lang="en-US" sz="2000" b="1" i="0" dirty="0">
                <a:solidFill>
                  <a:srgbClr val="9A9A9A"/>
                </a:solidFill>
              </a:rPr>
              <a:t xml:space="preserve">  ·  </a:t>
            </a:r>
            <a:r>
              <a:rPr lang="en-US" sz="2000" b="1" i="0" dirty="0">
                <a:solidFill>
                  <a:srgbClr val="1F7A4D"/>
                </a:solidFill>
              </a:rPr>
              <a:t xml:space="preserve">SHARE</a:t>
            </a:r>
          </a:p>
        </p:txBody>
      </p:sp>
      <p:sp>
        <p:nvSpPr>
          <p:cNvPr id="107" name="TpsPrompt"/>
          <p:cNvSpPr txBox="1"/>
          <p:nvPr/>
        </p:nvSpPr>
        <p:spPr>
          <a:xfrm>
            <a:off x="3657600" y="352044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Which would you buy — and what would you need to know first?</a:t>
            </a:r>
          </a:p>
        </p:txBody>
      </p:sp>
      <p:sp>
        <p:nvSpPr>
          <p:cNvPr id="108" name="Neutral"/>
          <p:cNvSpPr txBox="1"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All five are real engineering responses. None is the default answer.</a:t>
            </a:r>
          </a:p>
        </p:txBody>
      </p:sp>
      <p:sp>
        <p:nvSpPr>
          <p:cNvPr id="10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Defend an investment, not a technology.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Equip the agent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26</a:t>
            </a:fld>
            <a:endParaRPr lang="en-US"/>
          </a:p>
        </p:txBody>
      </p:sp>
      <p:sp>
        <p:nvSpPr>
          <p:cNvPr id="100" name="S0"/>
          <p:cNvSpPr/>
          <p:nvPr/>
        </p:nvSpPr>
        <p:spPr>
          <a:xfrm>
            <a:off x="2651760" y="960120"/>
            <a:ext cx="384048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MODEL</a:t>
            </a:r>
          </a:p>
        </p:txBody>
      </p:sp>
      <p:sp>
        <p:nvSpPr>
          <p:cNvPr id="101" name="Pl0"/>
          <p:cNvSpPr txBox="1"/>
          <p:nvPr/>
        </p:nvSpPr>
        <p:spPr>
          <a:xfrm>
            <a:off x="4425696" y="15087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 xml:space="preserve">+</a:t>
            </a:r>
          </a:p>
        </p:txBody>
      </p:sp>
      <p:sp>
        <p:nvSpPr>
          <p:cNvPr id="102" name="S1"/>
          <p:cNvSpPr/>
          <p:nvPr/>
        </p:nvSpPr>
        <p:spPr>
          <a:xfrm>
            <a:off x="2651760" y="1856232"/>
            <a:ext cx="384048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HARNESS</a:t>
            </a:r>
          </a:p>
        </p:txBody>
      </p:sp>
      <p:sp>
        <p:nvSpPr>
          <p:cNvPr id="103" name="Pl1"/>
          <p:cNvSpPr txBox="1"/>
          <p:nvPr/>
        </p:nvSpPr>
        <p:spPr>
          <a:xfrm>
            <a:off x="4425696" y="24048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 xml:space="preserve">+</a:t>
            </a:r>
          </a:p>
        </p:txBody>
      </p:sp>
      <p:sp>
        <p:nvSpPr>
          <p:cNvPr id="104" name="S2"/>
          <p:cNvSpPr/>
          <p:nvPr/>
        </p:nvSpPr>
        <p:spPr>
          <a:xfrm>
            <a:off x="2651760" y="2752344"/>
            <a:ext cx="384048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ENGINEERING ENVIRONMENT</a:t>
            </a:r>
          </a:p>
        </p:txBody>
      </p:sp>
      <p:cxnSp>
        <p:nvCxnSpPr>
          <p:cNvPr id="107" name="Down"/>
          <p:cNvCxnSpPr/>
          <p:nvPr/>
        </p:nvCxnSpPr>
        <p:spPr>
          <a:xfrm>
            <a:off x="4572000" y="3438000"/>
            <a:ext cx="0" cy="384048"/>
          </a:xfrm>
          <a:prstGeom prst="straightConnector1">
            <a:avLst/>
          </a:prstGeom>
          <a:ln w="44450">
            <a:solidFill>
              <a:srgbClr val="8E6F3E"/>
            </a:solidFill>
            <a:tailEnd type="triangle" w="med" len="med"/>
          </a:ln>
        </p:spPr>
      </p:cxnSp>
      <p:sp>
        <p:nvSpPr>
          <p:cNvPr id="108" name="Obs"/>
          <p:cNvSpPr/>
          <p:nvPr/>
        </p:nvSpPr>
        <p:spPr>
          <a:xfrm>
            <a:off x="2172000" y="3960000"/>
            <a:ext cx="4800000" cy="685800"/>
          </a:xfrm>
          <a:prstGeom prst="rect">
            <a:avLst/>
          </a:prstGeom>
          <a:solidFill>
            <a:srgbClr val="E8F0F7"/>
          </a:solidFill>
          <a:ln w="12700">
            <a:solidFill>
              <a:srgbClr val="A9C4DB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CAPABILITY FOR THE BOUNDED WORK</a:t>
            </a:r>
          </a:p>
        </p:txBody>
      </p:sp>
      <p:sp>
        <p:nvSpPr>
          <p:cNvPr id="130" name="BoundNote"/>
          <p:cNvSpPr txBox="1"/>
          <p:nvPr/>
        </p:nvSpPr>
        <p:spPr>
          <a:xfrm>
            <a:off x="274320" y="49834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Task structure already shaped the work — under BOUND.</a:t>
            </a:r>
          </a:p>
        </p:txBody>
      </p:sp>
      <p:sp>
        <p:nvSpPr>
          <p:cNvPr id="10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Agent performance is a property of the engineered system.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40280"/>
            <a:ext cx="7772400" cy="118872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3200" b="0" i="0" dirty="0">
                <a:solidFill>
                  <a:srgbClr val="000000"/>
                </a:solidFill>
              </a:rPr>
              <a:t>If we can engineer the environment,</a:t>
            </a:r>
          </a:p>
          <a:p>
            <a:pPr algn="ctr">
              <a:buNone/>
              <a:defRPr b="0"/>
            </a:pPr>
            <a:r>
              <a:rPr lang="en-US" sz="3200" b="0" i="0" dirty="0">
                <a:solidFill>
                  <a:srgbClr val="000000"/>
                </a:solidFill>
              </a:rPr>
              <a:t>how much work can we hand over?</a:t>
            </a:r>
          </a:p>
        </p:txBody>
      </p:sp>
      <p:sp>
        <p:nvSpPr>
          <p:cNvPr id="90" name="SectionLabel"/>
          <p:cNvSpPr txBox="1"/>
          <p:nvPr/>
        </p:nvSpPr>
        <p:spPr>
          <a:xfrm>
            <a:off x="685800" y="1737360"/>
            <a:ext cx="7772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STRETCH BREAK · THEN: THE REASONING HORIZON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27</a:t>
            </a:fld>
            <a:endParaRPr lang="en-US"/>
          </a:p>
        </p:txBody>
      </p:sp>
      <p:sp>
        <p:nvSpPr>
          <p:cNvPr id="91" name="Rule"/>
          <p:cNvSpPr/>
          <p:nvPr/>
        </p:nvSpPr>
        <p:spPr>
          <a:xfrm>
            <a:off x="3429000" y="3703320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00" name="Back"/>
          <p:cNvSpPr txBox="1"/>
          <p:nvPr/>
        </p:nvSpPr>
        <p:spPr>
          <a:xfrm>
            <a:off x="3136392" y="39776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Back in 5 minutes.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Reasoning has a horizon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28</a:t>
            </a:fld>
            <a:endParaRPr lang="en-US"/>
          </a:p>
        </p:txBody>
      </p:sp>
      <p:sp>
        <p:nvSpPr>
          <p:cNvPr id="100" name="Def"/>
          <p:cNvSpPr/>
          <p:nvPr/>
        </p:nvSpPr>
        <p:spPr>
          <a:xfrm>
            <a:off x="502920" y="1051560"/>
            <a:ext cx="8138160" cy="1097280"/>
          </a:xfrm>
          <a:prstGeom prst="rect">
            <a:avLst/>
          </a:prstGeom>
          <a:solidFill>
            <a:srgbClr val="E8F0F7"/>
          </a:solidFill>
          <a:ln w="12700">
            <a:solidFill>
              <a:srgbClr val="A9C4DB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2E74B5"/>
                </a:solidFill>
              </a:rPr>
              <a:t xml:space="preserve">REASONING HORIZON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The amount of relevant state a reasoner can effectively bring to bear.</a:t>
            </a:r>
          </a:p>
        </p:txBody>
      </p:sp>
      <p:sp>
        <p:nvSpPr>
          <p:cNvPr id="101" name="Task"/>
          <p:cNvSpPr/>
          <p:nvPr/>
        </p:nvSpPr>
        <p:spPr>
          <a:xfrm>
            <a:off x="502920" y="2377440"/>
            <a:ext cx="8138160" cy="105156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“Add feature X across this system”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requirement · architecture · files · constraints · observations · earlier decisions</a:t>
            </a:r>
          </a:p>
        </p:txBody>
      </p:sp>
      <p:cxnSp>
        <p:nvCxnSpPr>
          <p:cNvPr id="102" name="Brk"/>
          <p:cNvCxnSpPr/>
          <p:nvPr/>
        </p:nvCxnSpPr>
        <p:spPr>
          <a:xfrm>
            <a:off x="777240" y="3611880"/>
            <a:ext cx="3931920" cy="0"/>
          </a:xfrm>
          <a:prstGeom prst="straightConnector1">
            <a:avLst/>
          </a:prstGeom>
          <a:ln w="28575">
            <a:solidFill>
              <a:srgbClr val="8E6F3E"/>
            </a:solidFill>
          </a:ln>
        </p:spPr>
      </p:cxnSp>
      <p:cxnSp>
        <p:nvCxnSpPr>
          <p:cNvPr id="103" name="BrkR"/>
          <p:cNvCxnSpPr/>
          <p:nvPr/>
        </p:nvCxnSpPr>
        <p:spPr>
          <a:xfrm>
            <a:off x="4983480" y="3611880"/>
            <a:ext cx="3383280" cy="0"/>
          </a:xfrm>
          <a:prstGeom prst="straightConnector1">
            <a:avLst/>
          </a:prstGeom>
          <a:ln w="28575">
            <a:solidFill>
              <a:srgbClr val="C9B991"/>
            </a:solidFill>
            <a:prstDash val="dash"/>
          </a:ln>
        </p:spPr>
      </p:cxnSp>
      <p:sp>
        <p:nvSpPr>
          <p:cNvPr id="104" name="BrkLbl"/>
          <p:cNvSpPr txBox="1"/>
          <p:nvPr/>
        </p:nvSpPr>
        <p:spPr>
          <a:xfrm>
            <a:off x="777240" y="376732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 xml:space="preserve">within the horizon</a:t>
            </a:r>
          </a:p>
        </p:txBody>
      </p:sp>
      <p:sp>
        <p:nvSpPr>
          <p:cNvPr id="105" name="BeyondLbl"/>
          <p:cNvSpPr txBox="1"/>
          <p:nvPr/>
        </p:nvSpPr>
        <p:spPr>
          <a:xfrm>
            <a:off x="4983480" y="3767328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beyond it: churn</a:t>
            </a:r>
          </a:p>
        </p:txBody>
      </p:sp>
      <p:sp>
        <p:nvSpPr>
          <p:cNvPr id="106" name="Dep"/>
          <p:cNvSpPr/>
          <p:nvPr/>
        </p:nvSpPr>
        <p:spPr>
          <a:xfrm>
            <a:off x="502920" y="4434840"/>
            <a:ext cx="8138160" cy="8686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The boundary moves with model, harness, repository, and task.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Context-window size is one present limit — not the definition.</a:t>
            </a:r>
          </a:p>
        </p:txBody>
      </p:sp>
      <p:sp>
        <p:nvSpPr>
          <p:cNvPr id="10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Work that does not fit: change the boundary — or what the agent reasons with.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When reasoning fails, what do we change?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29</a:t>
            </a:fld>
            <a:endParaRPr lang="en-US"/>
          </a:p>
        </p:txBody>
      </p:sp>
      <p:sp>
        <p:nvSpPr>
          <p:cNvPr id="100" name="Top"/>
          <p:cNvSpPr/>
          <p:nvPr/>
        </p:nvSpPr>
        <p:spPr>
          <a:xfrm>
            <a:off x="3108960" y="914400"/>
            <a:ext cx="292608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TASK × REASONER</a:t>
            </a:r>
          </a:p>
        </p:txBody>
      </p:sp>
      <p:cxnSp>
        <p:nvCxnSpPr>
          <p:cNvPr id="101" name="D0"/>
          <p:cNvCxnSpPr/>
          <p:nvPr/>
        </p:nvCxnSpPr>
        <p:spPr>
          <a:xfrm>
            <a:off x="4572000" y="1536192"/>
            <a:ext cx="0" cy="292608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Poor"/>
          <p:cNvSpPr txBox="1"/>
          <p:nvPr/>
        </p:nvSpPr>
        <p:spPr>
          <a:xfrm>
            <a:off x="3108960" y="184708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poor performance</a:t>
            </a:r>
          </a:p>
        </p:txBody>
      </p:sp>
      <p:cxnSp>
        <p:nvCxnSpPr>
          <p:cNvPr id="103" name="BL"/>
          <p:cNvCxnSpPr/>
          <p:nvPr/>
        </p:nvCxnSpPr>
        <p:spPr>
          <a:xfrm flipH="1">
            <a:off x="2880360" y="2286000"/>
            <a:ext cx="1691640" cy="41148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cxnSp>
        <p:nvCxnSpPr>
          <p:cNvPr id="104" name="BR"/>
          <p:cNvCxnSpPr/>
          <p:nvPr/>
        </p:nvCxnSpPr>
        <p:spPr>
          <a:xfrm>
            <a:off x="4572000" y="2286000"/>
            <a:ext cx="1691640" cy="41148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5" name="HL"/>
          <p:cNvSpPr/>
          <p:nvPr/>
        </p:nvSpPr>
        <p:spPr>
          <a:xfrm>
            <a:off x="594360" y="2743200"/>
            <a:ext cx="356616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IMPROVE THE REASONER</a:t>
            </a:r>
          </a:p>
        </p:txBody>
      </p:sp>
      <p:sp>
        <p:nvSpPr>
          <p:cNvPr id="106" name="HR"/>
          <p:cNvSpPr/>
          <p:nvPr/>
        </p:nvSpPr>
        <p:spPr>
          <a:xfrm>
            <a:off x="4983480" y="2743200"/>
            <a:ext cx="3566160" cy="62179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ASSIST THE REASONING</a:t>
            </a:r>
          </a:p>
        </p:txBody>
      </p:sp>
      <p:sp>
        <p:nvSpPr>
          <p:cNvPr id="107" name="CL"/>
          <p:cNvSpPr/>
          <p:nvPr/>
        </p:nvSpPr>
        <p:spPr>
          <a:xfrm>
            <a:off x="594360" y="3520440"/>
            <a:ext cx="3566160" cy="13258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stronger model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more context · more compute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better harness</a:t>
            </a:r>
          </a:p>
        </p:txBody>
      </p:sp>
      <p:sp>
        <p:nvSpPr>
          <p:cNvPr id="108" name="CR"/>
          <p:cNvSpPr/>
          <p:nvPr/>
        </p:nvSpPr>
        <p:spPr>
          <a:xfrm>
            <a:off x="4983480" y="3520440"/>
            <a:ext cx="3566160" cy="13258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representation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decomposition · retrieval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intermediate state · tools</a:t>
            </a:r>
          </a:p>
        </p:txBody>
      </p:sp>
      <p:cxnSp>
        <p:nvCxnSpPr>
          <p:cNvPr id="109" name="ML"/>
          <p:cNvCxnSpPr/>
          <p:nvPr/>
        </p:nvCxnSpPr>
        <p:spPr>
          <a:xfrm>
            <a:off x="2377440" y="4846320"/>
            <a:ext cx="1737360" cy="2743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cxnSp>
        <p:nvCxnSpPr>
          <p:cNvPr id="110" name="MR"/>
          <p:cNvCxnSpPr/>
          <p:nvPr/>
        </p:nvCxnSpPr>
        <p:spPr>
          <a:xfrm flipH="1">
            <a:off x="5029200" y="4846320"/>
            <a:ext cx="1737360" cy="2743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1" name="Bench"/>
          <p:cNvSpPr/>
          <p:nvPr/>
        </p:nvSpPr>
        <p:spPr>
          <a:xfrm>
            <a:off x="3520440" y="5138928"/>
            <a:ext cx="2103120" cy="60350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BENCHMARK</a:t>
            </a:r>
          </a:p>
        </p:txBody>
      </p:sp>
      <p:sp>
        <p:nvSpPr>
          <p:cNvPr id="112" name="Invest"/>
          <p:cNvSpPr txBox="1"/>
          <p:nvPr/>
        </p:nvSpPr>
        <p:spPr>
          <a:xfrm>
            <a:off x="365760" y="58978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reduce the task · improve the representation · retrieve context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externalize state · provide tools · improve the reasoner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Pólya: rotate the problem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30</a:t>
            </a:fld>
            <a:endParaRPr lang="en-US"/>
          </a:p>
        </p:txBody>
      </p:sp>
      <p:sp>
        <p:nvSpPr>
          <p:cNvPr id="100" name="Book"/>
          <p:cNvSpPr/>
          <p:nvPr/>
        </p:nvSpPr>
        <p:spPr>
          <a:xfrm>
            <a:off x="777240" y="1234440"/>
            <a:ext cx="2377440" cy="320040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FFFFFF"/>
                </a:solidFill>
              </a:rPr>
              <a:t xml:space="preserve">HOW TO</a:t>
            </a:r>
          </a:p>
          <a:p>
            <a:pPr algn="ctr">
              <a:spcBef>
                <a:spcPts val="60"/>
              </a:spcBef>
              <a:buNone/>
            </a:pPr>
            <a:r>
              <a:rPr lang="en-US" sz="2400" b="1" i="0" dirty="0">
                <a:solidFill>
                  <a:srgbClr val="FFFFFF"/>
                </a:solidFill>
              </a:rPr>
              <a:t xml:space="preserve">SOLVE IT</a:t>
            </a:r>
          </a:p>
          <a:p>
            <a:pPr algn="ctr"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 xml:space="preserve"/>
            </a:r>
          </a:p>
          <a:p>
            <a:pPr algn="ctr">
              <a:spcBef>
                <a:spcPts val="400"/>
              </a:spcBef>
              <a:buNone/>
            </a:pPr>
            <a:r>
              <a:rPr lang="en-US" sz="2000" b="0" i="1" dirty="0">
                <a:solidFill>
                  <a:srgbClr val="FFFFFF"/>
                </a:solidFill>
              </a:rPr>
              <a:t xml:space="preserve">G. Pólya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 xml:space="preserve">1945</a:t>
            </a:r>
          </a:p>
        </p:txBody>
      </p:sp>
      <p:sp>
        <p:nvSpPr>
          <p:cNvPr id="101" name="Quote"/>
          <p:cNvSpPr txBox="1"/>
          <p:nvPr/>
        </p:nvSpPr>
        <p:spPr>
          <a:xfrm>
            <a:off x="3611880" y="1234440"/>
            <a:ext cx="5166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300" b="0" i="1" dirty="0">
                <a:solidFill>
                  <a:srgbClr val="5C4826"/>
                </a:solidFill>
              </a:rPr>
              <a:t xml:space="preserve">“When a problem is difficult, change how you represent it.”</a:t>
            </a:r>
          </a:p>
        </p:txBody>
      </p:sp>
      <p:sp>
        <p:nvSpPr>
          <p:cNvPr id="102" name="M0"/>
          <p:cNvSpPr/>
          <p:nvPr/>
        </p:nvSpPr>
        <p:spPr>
          <a:xfrm>
            <a:off x="3611880" y="2240280"/>
            <a:ext cx="516636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Draw a figure</a:t>
            </a:r>
          </a:p>
        </p:txBody>
      </p:sp>
      <p:sp>
        <p:nvSpPr>
          <p:cNvPr id="103" name="M1"/>
          <p:cNvSpPr/>
          <p:nvPr/>
        </p:nvSpPr>
        <p:spPr>
          <a:xfrm>
            <a:off x="3611880" y="2898648"/>
            <a:ext cx="516636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Change the notation</a:t>
            </a:r>
          </a:p>
        </p:txBody>
      </p:sp>
      <p:sp>
        <p:nvSpPr>
          <p:cNvPr id="104" name="M2"/>
          <p:cNvSpPr/>
          <p:nvPr/>
        </p:nvSpPr>
        <p:spPr>
          <a:xfrm>
            <a:off x="3611880" y="3557016"/>
            <a:ext cx="516636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Consider a related problem</a:t>
            </a:r>
          </a:p>
        </p:txBody>
      </p:sp>
      <p:sp>
        <p:nvSpPr>
          <p:cNvPr id="105" name="M3"/>
          <p:cNvSpPr/>
          <p:nvPr/>
        </p:nvSpPr>
        <p:spPr>
          <a:xfrm>
            <a:off x="3611880" y="4215384"/>
            <a:ext cx="516636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Work backward</a:t>
            </a:r>
          </a:p>
        </p:txBody>
      </p:sp>
      <p:sp>
        <p:nvSpPr>
          <p:cNvPr id="106" name="Modern"/>
          <p:cNvSpPr txBox="1"/>
          <p:nvPr/>
        </p:nvSpPr>
        <p:spPr>
          <a:xfrm>
            <a:off x="3611880" y="493776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Techniques that predate computers — now engineerable, systematically.</a:t>
            </a:r>
          </a:p>
        </p:txBody>
      </p:sp>
      <p:sp>
        <p:nvSpPr>
          <p:cNvPr id="10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The reasoner did not change. The reasoning problem did.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Representation can substitute for reasoning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31</a:t>
            </a:fld>
            <a:endParaRPr lang="en-US"/>
          </a:p>
        </p:txBody>
      </p:sp>
      <p:sp>
        <p:nvSpPr>
          <p:cNvPr id="100" name="LblL"/>
          <p:cNvSpPr txBox="1"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SOURCE FILES</a:t>
            </a:r>
          </a:p>
        </p:txBody>
      </p:sp>
      <p:sp>
        <p:nvSpPr>
          <p:cNvPr id="101" name="SrcL"/>
          <p:cNvSpPr/>
          <p:nvPr/>
        </p:nvSpPr>
        <p:spPr>
          <a:xfrm>
            <a:off x="457200" y="1417320"/>
            <a:ext cx="3840480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thousands of lines</a:t>
            </a:r>
          </a:p>
        </p:txBody>
      </p:sp>
      <p:cxnSp>
        <p:nvCxnSpPr>
          <p:cNvPr id="102" name="ArrL"/>
          <p:cNvCxnSpPr/>
          <p:nvPr/>
        </p:nvCxnSpPr>
        <p:spPr>
          <a:xfrm>
            <a:off x="2377440" y="2148840"/>
            <a:ext cx="0" cy="105156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GlossL"/>
          <p:cNvSpPr txBox="1"/>
          <p:nvPr/>
        </p:nvSpPr>
        <p:spPr>
          <a:xfrm>
            <a:off x="2651760" y="246888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reconstruct</a:t>
            </a:r>
          </a:p>
        </p:txBody>
      </p:sp>
      <p:sp>
        <p:nvSpPr>
          <p:cNvPr id="104" name="QL"/>
          <p:cNvSpPr/>
          <p:nvPr/>
        </p:nvSpPr>
        <p:spPr>
          <a:xfrm>
            <a:off x="457200" y="3246120"/>
            <a:ext cx="38404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“what depends on X?”</a:t>
            </a:r>
          </a:p>
        </p:txBody>
      </p:sp>
      <p:sp>
        <p:nvSpPr>
          <p:cNvPr id="105" name="LblR"/>
          <p:cNvSpPr txBox="1"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DEPENDENCY GRAPH</a:t>
            </a:r>
          </a:p>
        </p:txBody>
      </p:sp>
      <p:sp>
        <p:nvSpPr>
          <p:cNvPr id="106" name="NA"/>
          <p:cNvSpPr/>
          <p:nvPr/>
        </p:nvSpPr>
        <p:spPr>
          <a:xfrm>
            <a:off x="6492240" y="1325880"/>
            <a:ext cx="731520" cy="4114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</a:t>
            </a:r>
          </a:p>
        </p:txBody>
      </p:sp>
      <p:sp>
        <p:nvSpPr>
          <p:cNvPr id="107" name="NB"/>
          <p:cNvSpPr/>
          <p:nvPr/>
        </p:nvSpPr>
        <p:spPr>
          <a:xfrm>
            <a:off x="5669280" y="2011680"/>
            <a:ext cx="731520" cy="4114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B</a:t>
            </a:r>
          </a:p>
        </p:txBody>
      </p:sp>
      <p:sp>
        <p:nvSpPr>
          <p:cNvPr id="108" name="NC"/>
          <p:cNvSpPr/>
          <p:nvPr/>
        </p:nvSpPr>
        <p:spPr>
          <a:xfrm>
            <a:off x="7315200" y="2011680"/>
            <a:ext cx="731520" cy="4114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C</a:t>
            </a:r>
          </a:p>
        </p:txBody>
      </p:sp>
      <p:sp>
        <p:nvSpPr>
          <p:cNvPr id="109" name="NX"/>
          <p:cNvSpPr/>
          <p:nvPr/>
        </p:nvSpPr>
        <p:spPr>
          <a:xfrm>
            <a:off x="6492240" y="2697480"/>
            <a:ext cx="731520" cy="411480"/>
          </a:xfrm>
          <a:prstGeom prst="rect">
            <a:avLst/>
          </a:prstGeom>
          <a:solidFill>
            <a:srgbClr val="E8F0F7"/>
          </a:solidFill>
          <a:ln w="12700">
            <a:solidFill>
              <a:srgbClr val="A9C4DB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X</a:t>
            </a:r>
          </a:p>
        </p:txBody>
      </p:sp>
      <p:cxnSp>
        <p:nvCxnSpPr>
          <p:cNvPr id="110" name="EAB"/>
          <p:cNvCxnSpPr/>
          <p:nvPr/>
        </p:nvCxnSpPr>
        <p:spPr>
          <a:xfrm flipH="1">
            <a:off x="6035040" y="1737360"/>
            <a:ext cx="82296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cxnSp>
        <p:nvCxnSpPr>
          <p:cNvPr id="111" name="EAC"/>
          <p:cNvCxnSpPr/>
          <p:nvPr/>
        </p:nvCxnSpPr>
        <p:spPr>
          <a:xfrm>
            <a:off x="6858000" y="1737360"/>
            <a:ext cx="82296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cxnSp>
        <p:nvCxnSpPr>
          <p:cNvPr id="112" name="EBX"/>
          <p:cNvCxnSpPr/>
          <p:nvPr/>
        </p:nvCxnSpPr>
        <p:spPr>
          <a:xfrm>
            <a:off x="6035040" y="2423160"/>
            <a:ext cx="82296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cxnSp>
        <p:nvCxnSpPr>
          <p:cNvPr id="113" name="ECX"/>
          <p:cNvCxnSpPr/>
          <p:nvPr/>
        </p:nvCxnSpPr>
        <p:spPr>
          <a:xfrm flipH="1">
            <a:off x="6858000" y="2423160"/>
            <a:ext cx="82296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sp>
        <p:nvSpPr>
          <p:cNvPr id="114" name="QR"/>
          <p:cNvSpPr/>
          <p:nvPr/>
        </p:nvSpPr>
        <p:spPr>
          <a:xfrm>
            <a:off x="4937760" y="3246120"/>
            <a:ext cx="38404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“what depends on X?” — read it off</a:t>
            </a:r>
          </a:p>
        </p:txBody>
      </p:sp>
      <p:sp>
        <p:nvSpPr>
          <p:cNvPr id="115" name="Same"/>
          <p:cNvSpPr txBox="1"/>
          <p:nvPr/>
        </p:nvSpPr>
        <p:spPr>
          <a:xfrm>
            <a:off x="457200" y="434340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100" b="0" i="1" dirty="0">
                <a:solidFill>
                  <a:srgbClr val="5C4826"/>
                </a:solidFill>
              </a:rPr>
              <a:t xml:space="preserve">Same question. Same reasoner. Different reasoning problem.</a:t>
            </a:r>
          </a:p>
        </p:txBody>
      </p:sp>
      <p:sp>
        <p:nvSpPr>
          <p:cNvPr id="116" name="Fwd"/>
          <p:cNvSpPr txBox="1"/>
          <p:nvPr/>
        </p:nvSpPr>
        <p:spPr>
          <a:xfrm>
            <a:off x="457200" y="493776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Backward: Engineering Knowledge. Forward: Modeling.</a:t>
            </a:r>
          </a:p>
        </p:txBody>
      </p:sp>
      <p:sp>
        <p:nvSpPr>
          <p:cNvPr id="11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Don’t make the reasoner rediscover what you already know.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Which investment wins? Benchmark it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32</a:t>
            </a:fld>
            <a:endParaRPr lang="en-US"/>
          </a:p>
        </p:txBody>
      </p:sp>
      <p:sp>
        <p:nvSpPr>
          <p:cNvPr id="100" name="L0"/>
          <p:cNvSpPr/>
          <p:nvPr/>
        </p:nvSpPr>
        <p:spPr>
          <a:xfrm>
            <a:off x="365760" y="1005840"/>
            <a:ext cx="16002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BASELINE</a:t>
            </a:r>
          </a:p>
        </p:txBody>
      </p:sp>
      <p:sp>
        <p:nvSpPr>
          <p:cNvPr id="101" name="D0"/>
          <p:cNvSpPr/>
          <p:nvPr/>
        </p:nvSpPr>
        <p:spPr>
          <a:xfrm>
            <a:off x="2103120" y="1005840"/>
            <a:ext cx="466344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Model A + raw repository</a:t>
            </a:r>
          </a:p>
        </p:txBody>
      </p:sp>
      <p:sp>
        <p:nvSpPr>
          <p:cNvPr id="102" name="C0"/>
          <p:cNvSpPr/>
          <p:nvPr/>
        </p:nvSpPr>
        <p:spPr>
          <a:xfrm>
            <a:off x="6903720" y="1005840"/>
            <a:ext cx="187452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—</a:t>
            </a:r>
          </a:p>
        </p:txBody>
      </p:sp>
      <p:sp>
        <p:nvSpPr>
          <p:cNvPr id="103" name="L1"/>
          <p:cNvSpPr/>
          <p:nvPr/>
        </p:nvSpPr>
        <p:spPr>
          <a:xfrm>
            <a:off x="365760" y="1719072"/>
            <a:ext cx="16002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OPTION 1</a:t>
            </a:r>
          </a:p>
        </p:txBody>
      </p:sp>
      <p:sp>
        <p:nvSpPr>
          <p:cNvPr id="104" name="D1"/>
          <p:cNvSpPr/>
          <p:nvPr/>
        </p:nvSpPr>
        <p:spPr>
          <a:xfrm>
            <a:off x="2103120" y="1719072"/>
            <a:ext cx="466344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Model B + raw repository</a:t>
            </a:r>
          </a:p>
        </p:txBody>
      </p:sp>
      <p:sp>
        <p:nvSpPr>
          <p:cNvPr id="105" name="C1"/>
          <p:cNvSpPr/>
          <p:nvPr/>
        </p:nvSpPr>
        <p:spPr>
          <a:xfrm>
            <a:off x="6903720" y="1719072"/>
            <a:ext cx="187452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+$ per task</a:t>
            </a:r>
          </a:p>
        </p:txBody>
      </p:sp>
      <p:sp>
        <p:nvSpPr>
          <p:cNvPr id="106" name="L2"/>
          <p:cNvSpPr/>
          <p:nvPr/>
        </p:nvSpPr>
        <p:spPr>
          <a:xfrm>
            <a:off x="365760" y="2432304"/>
            <a:ext cx="16002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OPTION 2</a:t>
            </a:r>
          </a:p>
        </p:txBody>
      </p:sp>
      <p:sp>
        <p:nvSpPr>
          <p:cNvPr id="107" name="D2"/>
          <p:cNvSpPr/>
          <p:nvPr/>
        </p:nvSpPr>
        <p:spPr>
          <a:xfrm>
            <a:off x="2103120" y="2432304"/>
            <a:ext cx="466344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Model A + dependency representation</a:t>
            </a:r>
          </a:p>
        </p:txBody>
      </p:sp>
      <p:sp>
        <p:nvSpPr>
          <p:cNvPr id="108" name="C2"/>
          <p:cNvSpPr/>
          <p:nvPr/>
        </p:nvSpPr>
        <p:spPr>
          <a:xfrm>
            <a:off x="6903720" y="2432304"/>
            <a:ext cx="187452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+$ engineering</a:t>
            </a:r>
          </a:p>
        </p:txBody>
      </p:sp>
      <p:sp>
        <p:nvSpPr>
          <p:cNvPr id="109" name="L3"/>
          <p:cNvSpPr/>
          <p:nvPr/>
        </p:nvSpPr>
        <p:spPr>
          <a:xfrm>
            <a:off x="365760" y="3145536"/>
            <a:ext cx="160020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OPTION 3</a:t>
            </a:r>
          </a:p>
        </p:txBody>
      </p:sp>
      <p:sp>
        <p:nvSpPr>
          <p:cNvPr id="110" name="D3"/>
          <p:cNvSpPr/>
          <p:nvPr/>
        </p:nvSpPr>
        <p:spPr>
          <a:xfrm>
            <a:off x="2103120" y="3145536"/>
            <a:ext cx="466344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Model A + retrieval / decomposition</a:t>
            </a:r>
          </a:p>
        </p:txBody>
      </p:sp>
      <p:sp>
        <p:nvSpPr>
          <p:cNvPr id="111" name="C3"/>
          <p:cNvSpPr/>
          <p:nvPr/>
        </p:nvSpPr>
        <p:spPr>
          <a:xfrm>
            <a:off x="6903720" y="3145536"/>
            <a:ext cx="187452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+$ harness work</a:t>
            </a:r>
          </a:p>
        </p:txBody>
      </p:sp>
      <p:sp>
        <p:nvSpPr>
          <p:cNvPr id="112" name="Q"/>
          <p:cNvSpPr txBox="1"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5C4826"/>
                </a:solidFill>
              </a:rPr>
              <a:t xml:space="preserve">Which produces acceptable work at acceptable cost?</a:t>
            </a:r>
          </a:p>
        </p:txBody>
      </p:sp>
      <p:sp>
        <p:nvSpPr>
          <p:cNvPr id="113" name="Run"/>
          <p:cNvSpPr/>
          <p:nvPr/>
        </p:nvSpPr>
        <p:spPr>
          <a:xfrm>
            <a:off x="3063240" y="4572000"/>
            <a:ext cx="3017520" cy="621792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RUN THE BENCHMARK</a:t>
            </a:r>
          </a:p>
        </p:txBody>
      </p:sp>
      <p:sp>
        <p:nvSpPr>
          <p:cNvPr id="114" name="FooterBand"/>
          <p:cNvSpPr/>
          <p:nvPr/>
        </p:nvSpPr>
        <p:spPr>
          <a:xfrm>
            <a:off x="274320" y="5605272"/>
            <a:ext cx="8595360" cy="77724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Benchmark the system on the work you care about —</a:t>
            </a:r>
          </a:p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not the foundation model on a generic leaderboard.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40280"/>
            <a:ext cx="7772400" cy="118872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3200" b="0" i="0" dirty="0">
                <a:solidFill>
                  <a:srgbClr val="000000"/>
                </a:solidFill>
              </a:rPr>
              <a:t>What changes when the machine works</a:t>
            </a:r>
          </a:p>
          <a:p>
            <a:pPr algn="ctr">
              <a:buNone/>
              <a:defRPr b="0"/>
            </a:pPr>
            <a:r>
              <a:rPr lang="en-US" sz="3200" b="0" i="0" dirty="0">
                <a:solidFill>
                  <a:srgbClr val="000000"/>
                </a:solidFill>
              </a:rPr>
              <a:t>faster than you can inspect?</a:t>
            </a:r>
          </a:p>
        </p:txBody>
      </p:sp>
      <p:sp>
        <p:nvSpPr>
          <p:cNvPr id="90" name="SectionLabel"/>
          <p:cNvSpPr txBox="1"/>
          <p:nvPr/>
        </p:nvSpPr>
        <p:spPr>
          <a:xfrm>
            <a:off x="685800" y="1737360"/>
            <a:ext cx="7772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AUTHORIZE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33</a:t>
            </a:fld>
            <a:endParaRPr lang="en-US"/>
          </a:p>
        </p:txBody>
      </p:sp>
      <p:sp>
        <p:nvSpPr>
          <p:cNvPr id="91" name="Rule"/>
          <p:cNvSpPr/>
          <p:nvPr/>
        </p:nvSpPr>
        <p:spPr>
          <a:xfrm>
            <a:off x="3429000" y="3703320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You cannot review everything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34</a:t>
            </a:fld>
            <a:endParaRPr lang="en-US"/>
          </a:p>
        </p:txBody>
      </p:sp>
      <p:sp>
        <p:nvSpPr>
          <p:cNvPr id="100" name="Human"/>
          <p:cNvSpPr/>
          <p:nvPr/>
        </p:nvSpPr>
        <p:spPr>
          <a:xfrm>
            <a:off x="3566160" y="96012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HUMAN</a:t>
            </a:r>
          </a:p>
        </p:txBody>
      </p:sp>
      <p:cxnSp>
        <p:nvCxnSpPr>
          <p:cNvPr id="101" name="Del"/>
          <p:cNvCxnSpPr/>
          <p:nvPr/>
        </p:nvCxnSpPr>
        <p:spPr>
          <a:xfrm>
            <a:off x="4572000" y="1600200"/>
            <a:ext cx="0" cy="45720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DelLbl"/>
          <p:cNvSpPr txBox="1"/>
          <p:nvPr/>
        </p:nvSpPr>
        <p:spPr>
          <a:xfrm>
            <a:off x="480060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delegates</a:t>
            </a:r>
          </a:p>
        </p:txBody>
      </p:sp>
      <p:sp>
        <p:nvSpPr>
          <p:cNvPr id="103" name="Agent"/>
          <p:cNvSpPr/>
          <p:nvPr/>
        </p:nvSpPr>
        <p:spPr>
          <a:xfrm>
            <a:off x="3566160" y="2103120"/>
            <a:ext cx="20116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AGENT</a:t>
            </a:r>
          </a:p>
        </p:txBody>
      </p:sp>
      <p:cxnSp>
        <p:nvCxnSpPr>
          <p:cNvPr id="104" name="FI0"/>
          <p:cNvCxnSpPr/>
          <p:nvPr/>
        </p:nvCxnSpPr>
        <p:spPr>
          <a:xfrm flipH="1">
            <a:off x="1554480" y="2743200"/>
            <a:ext cx="3017520" cy="54864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5" name="Impl0"/>
          <p:cNvSpPr/>
          <p:nvPr/>
        </p:nvSpPr>
        <p:spPr>
          <a:xfrm>
            <a:off x="685800" y="3291840"/>
            <a:ext cx="173736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implementation</a:t>
            </a:r>
          </a:p>
        </p:txBody>
      </p:sp>
      <p:cxnSp>
        <p:nvCxnSpPr>
          <p:cNvPr id="106" name="FI1"/>
          <p:cNvCxnSpPr/>
          <p:nvPr/>
        </p:nvCxnSpPr>
        <p:spPr>
          <a:xfrm flipH="1">
            <a:off x="3566160" y="2743200"/>
            <a:ext cx="1005840" cy="54864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7" name="Impl1"/>
          <p:cNvSpPr/>
          <p:nvPr/>
        </p:nvSpPr>
        <p:spPr>
          <a:xfrm>
            <a:off x="2697480" y="3291840"/>
            <a:ext cx="173736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implementation</a:t>
            </a:r>
          </a:p>
        </p:txBody>
      </p:sp>
      <p:cxnSp>
        <p:nvCxnSpPr>
          <p:cNvPr id="108" name="FI2"/>
          <p:cNvCxnSpPr/>
          <p:nvPr/>
        </p:nvCxnSpPr>
        <p:spPr>
          <a:xfrm>
            <a:off x="4572000" y="2743200"/>
            <a:ext cx="1005840" cy="54864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9" name="Impl2"/>
          <p:cNvSpPr/>
          <p:nvPr/>
        </p:nvSpPr>
        <p:spPr>
          <a:xfrm>
            <a:off x="4709160" y="3291840"/>
            <a:ext cx="173736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implementation</a:t>
            </a:r>
          </a:p>
        </p:txBody>
      </p:sp>
      <p:cxnSp>
        <p:nvCxnSpPr>
          <p:cNvPr id="110" name="FI3"/>
          <p:cNvCxnSpPr/>
          <p:nvPr/>
        </p:nvCxnSpPr>
        <p:spPr>
          <a:xfrm>
            <a:off x="4572000" y="2743200"/>
            <a:ext cx="3017520" cy="54864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11" name="Impl3"/>
          <p:cNvSpPr/>
          <p:nvPr/>
        </p:nvSpPr>
        <p:spPr>
          <a:xfrm>
            <a:off x="6720840" y="3291840"/>
            <a:ext cx="173736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implementation</a:t>
            </a:r>
          </a:p>
        </p:txBody>
      </p:sp>
      <p:sp>
        <p:nvSpPr>
          <p:cNvPr id="112" name="Scale"/>
          <p:cNvSpPr txBox="1"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100" b="0" i="0" dirty="0">
                <a:solidFill>
                  <a:srgbClr val="5C4826"/>
                </a:solidFill>
              </a:rPr>
              <a:t xml:space="preserve">Delegation scales realization faster than direct inspection.</a:t>
            </a:r>
          </a:p>
        </p:txBody>
      </p:sp>
      <p:sp>
        <p:nvSpPr>
          <p:cNvPr id="113" name="FooterBand"/>
          <p:cNvSpPr/>
          <p:nvPr/>
        </p:nvSpPr>
        <p:spPr>
          <a:xfrm>
            <a:off x="274320" y="5605272"/>
            <a:ext cx="8595360" cy="77724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You can delegate work.</a:t>
            </a:r>
          </a:p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You cannot delegate responsibility for its consequences.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Guidance is not authority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36</a:t>
            </a:fld>
            <a:endParaRPr lang="en-US"/>
          </a:p>
        </p:txBody>
      </p:sp>
      <p:sp>
        <p:nvSpPr>
          <p:cNvPr id="100" name="Rule"/>
          <p:cNvSpPr/>
          <p:nvPr/>
        </p:nvSpPr>
        <p:spPr>
          <a:xfrm>
            <a:off x="365760" y="960120"/>
            <a:ext cx="8412480" cy="621792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200" b="1" i="0" dirty="0">
                <a:solidFill>
                  <a:srgbClr val="5C4826"/>
                </a:solidFill>
              </a:rPr>
              <a:t xml:space="preserve">“Do not merge unless the security tests pass.”</a:t>
            </a:r>
          </a:p>
        </p:txBody>
      </p:sp>
      <p:sp>
        <p:nvSpPr>
          <p:cNvPr id="101" name="LblL"/>
          <p:cNvSpPr txBox="1"/>
          <p:nvPr/>
        </p:nvSpPr>
        <p:spPr>
          <a:xfrm>
            <a:off x="365760" y="18288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AS GUIDANCE</a:t>
            </a:r>
          </a:p>
        </p:txBody>
      </p:sp>
      <p:sp>
        <p:nvSpPr>
          <p:cNvPr id="102" name="CardL"/>
          <p:cNvSpPr/>
          <p:nvPr/>
        </p:nvSpPr>
        <p:spPr>
          <a:xfrm>
            <a:off x="365760" y="2286000"/>
            <a:ext cx="4023360" cy="1737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prompt · project instructions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skill · worked example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makes compliance more likely</a:t>
            </a:r>
          </a:p>
        </p:txBody>
      </p:sp>
      <p:sp>
        <p:nvSpPr>
          <p:cNvPr id="103" name="LblR"/>
          <p:cNvSpPr txBox="1"/>
          <p:nvPr/>
        </p:nvSpPr>
        <p:spPr>
          <a:xfrm>
            <a:off x="4754880" y="18288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AS AUTHORITY</a:t>
            </a:r>
          </a:p>
        </p:txBody>
      </p:sp>
      <p:sp>
        <p:nvSpPr>
          <p:cNvPr id="104" name="CardR"/>
          <p:cNvSpPr/>
          <p:nvPr/>
        </p:nvSpPr>
        <p:spPr>
          <a:xfrm>
            <a:off x="4754880" y="2286000"/>
            <a:ext cx="4023360" cy="1737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permission · hook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CI gate · admission mechanism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makes violation impossible to admit</a:t>
            </a:r>
          </a:p>
        </p:txBody>
      </p:sp>
      <p:sp>
        <p:nvSpPr>
          <p:cNvPr id="105" name="Q"/>
          <p:cNvSpPr txBox="1"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100" b="0" i="0" dirty="0">
                <a:solidFill>
                  <a:srgbClr val="5C4826"/>
                </a:solidFill>
              </a:rPr>
              <a:t xml:space="preserve">Same sentence. Different mechanisms. What happens if the agent reasons incorrectly?</a:t>
            </a:r>
          </a:p>
        </p:txBody>
      </p:sp>
      <p:sp>
        <p:nvSpPr>
          <p:cNvPr id="106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Guidance shapes behavior; authority binds outcomes.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Obligations can act at different grains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37</a:t>
            </a:fld>
            <a:endParaRPr lang="en-US"/>
          </a:p>
        </p:txBody>
      </p:sp>
      <p:sp>
        <p:nvSpPr>
          <p:cNvPr id="100" name="G0"/>
          <p:cNvSpPr/>
          <p:nvPr/>
        </p:nvSpPr>
        <p:spPr>
          <a:xfrm>
            <a:off x="365760" y="1371600"/>
            <a:ext cx="201168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GUIDANCE</a:t>
            </a:r>
          </a:p>
        </p:txBody>
      </p:sp>
      <p:sp>
        <p:nvSpPr>
          <p:cNvPr id="101" name="E0"/>
          <p:cNvSpPr/>
          <p:nvPr/>
        </p:nvSpPr>
        <p:spPr>
          <a:xfrm>
            <a:off x="365760" y="2286000"/>
            <a:ext cx="201168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what context and instructions it is given</a:t>
            </a:r>
          </a:p>
        </p:txBody>
      </p:sp>
      <p:sp>
        <p:nvSpPr>
          <p:cNvPr id="102" name="G1"/>
          <p:cNvSpPr/>
          <p:nvPr/>
        </p:nvSpPr>
        <p:spPr>
          <a:xfrm>
            <a:off x="2514600" y="1371600"/>
            <a:ext cx="201168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ACTION AUTHORITY</a:t>
            </a:r>
          </a:p>
        </p:txBody>
      </p:sp>
      <p:sp>
        <p:nvSpPr>
          <p:cNvPr id="103" name="E1"/>
          <p:cNvSpPr/>
          <p:nvPr/>
        </p:nvSpPr>
        <p:spPr>
          <a:xfrm>
            <a:off x="2514600" y="2286000"/>
            <a:ext cx="201168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which tool calls are permitted</a:t>
            </a:r>
          </a:p>
        </p:txBody>
      </p:sp>
      <p:sp>
        <p:nvSpPr>
          <p:cNvPr id="104" name="G2"/>
          <p:cNvSpPr/>
          <p:nvPr/>
        </p:nvSpPr>
        <p:spPr>
          <a:xfrm>
            <a:off x="4663440" y="1371600"/>
            <a:ext cx="201168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ADMISSION</a:t>
            </a:r>
          </a:p>
        </p:txBody>
      </p:sp>
      <p:sp>
        <p:nvSpPr>
          <p:cNvPr id="105" name="E2"/>
          <p:cNvSpPr/>
          <p:nvPr/>
        </p:nvSpPr>
        <p:spPr>
          <a:xfrm>
            <a:off x="4663440" y="2286000"/>
            <a:ext cx="201168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which changes are admitted</a:t>
            </a:r>
          </a:p>
        </p:txBody>
      </p:sp>
      <p:sp>
        <p:nvSpPr>
          <p:cNvPr id="106" name="G3"/>
          <p:cNvSpPr/>
          <p:nvPr/>
        </p:nvSpPr>
        <p:spPr>
          <a:xfrm>
            <a:off x="6812280" y="1371600"/>
            <a:ext cx="201168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RUNTIME CONTROL</a:t>
            </a:r>
          </a:p>
        </p:txBody>
      </p:sp>
      <p:sp>
        <p:nvSpPr>
          <p:cNvPr id="107" name="E3"/>
          <p:cNvSpPr/>
          <p:nvPr/>
        </p:nvSpPr>
        <p:spPr>
          <a:xfrm>
            <a:off x="6812280" y="2286000"/>
            <a:ext cx="201168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what the deployed system may do</a:t>
            </a:r>
          </a:p>
        </p:txBody>
      </p:sp>
      <p:cxnSp>
        <p:nvCxnSpPr>
          <p:cNvPr id="108" name="Grain"/>
          <p:cNvCxnSpPr/>
          <p:nvPr/>
        </p:nvCxnSpPr>
        <p:spPr>
          <a:xfrm>
            <a:off x="640080" y="3840480"/>
            <a:ext cx="786384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9" name="GrainLbl"/>
          <p:cNvSpPr txBox="1"/>
          <p:nvPr/>
        </p:nvSpPr>
        <p:spPr>
          <a:xfrm>
            <a:off x="640080" y="399592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 xml:space="preserve">increasing semantic grain</a:t>
            </a:r>
          </a:p>
        </p:txBody>
      </p:sp>
      <p:sp>
        <p:nvSpPr>
          <p:cNvPr id="110" name="Q"/>
          <p:cNvSpPr txBox="1"/>
          <p:nvPr/>
        </p:nvSpPr>
        <p:spPr>
          <a:xfrm>
            <a:off x="365760" y="4663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The same obligation can bind at any of these points — at different costs.</a:t>
            </a:r>
          </a:p>
        </p:txBody>
      </p:sp>
      <p:sp>
        <p:nvSpPr>
          <p:cNvPr id="111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Where should an obligation become binding?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Agents create the rest of Act II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40</a:t>
            </a:fld>
            <a:endParaRPr lang="en-US"/>
          </a:p>
        </p:txBody>
      </p:sp>
      <p:sp>
        <p:nvSpPr>
          <p:cNvPr id="100" name="Thesis"/>
          <p:cNvSpPr txBox="1"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Engineering delegation</a:t>
            </a:r>
          </a:p>
        </p:txBody>
      </p:sp>
      <p:sp>
        <p:nvSpPr>
          <p:cNvPr id="101" name="Ch0"/>
          <p:cNvSpPr/>
          <p:nvPr/>
        </p:nvSpPr>
        <p:spPr>
          <a:xfrm>
            <a:off x="685800" y="1463040"/>
            <a:ext cx="137160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BOUND</a:t>
            </a:r>
          </a:p>
        </p:txBody>
      </p:sp>
      <p:cxnSp>
        <p:nvCxnSpPr>
          <p:cNvPr id="102" name="CA0"/>
          <p:cNvCxnSpPr/>
          <p:nvPr/>
        </p:nvCxnSpPr>
        <p:spPr>
          <a:xfrm>
            <a:off x="2103120" y="1755648"/>
            <a:ext cx="36576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Ch1"/>
          <p:cNvSpPr/>
          <p:nvPr/>
        </p:nvSpPr>
        <p:spPr>
          <a:xfrm>
            <a:off x="2514600" y="1463040"/>
            <a:ext cx="155448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EQUIP</a:t>
            </a:r>
          </a:p>
        </p:txBody>
      </p:sp>
      <p:cxnSp>
        <p:nvCxnSpPr>
          <p:cNvPr id="104" name="CA1"/>
          <p:cNvCxnSpPr/>
          <p:nvPr/>
        </p:nvCxnSpPr>
        <p:spPr>
          <a:xfrm>
            <a:off x="4114800" y="1755648"/>
            <a:ext cx="36576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5" name="Ch2"/>
          <p:cNvSpPr/>
          <p:nvPr/>
        </p:nvSpPr>
        <p:spPr>
          <a:xfrm>
            <a:off x="4526280" y="1463040"/>
            <a:ext cx="192024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AUTHORIZE</a:t>
            </a:r>
          </a:p>
        </p:txBody>
      </p:sp>
      <p:cxnSp>
        <p:nvCxnSpPr>
          <p:cNvPr id="106" name="CA2"/>
          <p:cNvCxnSpPr/>
          <p:nvPr/>
        </p:nvCxnSpPr>
        <p:spPr>
          <a:xfrm>
            <a:off x="6492240" y="1755648"/>
            <a:ext cx="36576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7" name="Ch3"/>
          <p:cNvSpPr/>
          <p:nvPr/>
        </p:nvSpPr>
        <p:spPr>
          <a:xfrm>
            <a:off x="6903720" y="1463040"/>
            <a:ext cx="1280160" cy="5943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VERIFY</a:t>
            </a:r>
          </a:p>
        </p:txBody>
      </p:sp>
      <p:sp>
        <p:nvSpPr>
          <p:cNvPr id="108" name="Two"/>
          <p:cNvSpPr txBox="1"/>
          <p:nvPr/>
        </p:nvSpPr>
        <p:spPr>
          <a:xfrm>
            <a:off x="274320" y="2222500"/>
            <a:ext cx="859536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Bound the work so it presents a tractable reasoning problem.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Equip the agent with sufficient capability and reasoning surfaces.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Authorize only the consequences it should be permitted to produce.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Verify the claims necessary to accept the work.</a:t>
            </a:r>
          </a:p>
        </p:txBody>
      </p:sp>
      <p:sp>
        <p:nvSpPr>
          <p:cNvPr id="109" name="FQ0"/>
          <p:cNvSpPr/>
          <p:nvPr/>
        </p:nvSpPr>
        <p:spPr>
          <a:xfrm>
            <a:off x="365760" y="3520440"/>
            <a:ext cx="539496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How do we represent what should be built?</a:t>
            </a:r>
          </a:p>
        </p:txBody>
      </p:sp>
      <p:cxnSp>
        <p:nvCxnSpPr>
          <p:cNvPr id="110" name="FA0"/>
          <p:cNvCxnSpPr/>
          <p:nvPr/>
        </p:nvCxnSpPr>
        <p:spPr>
          <a:xfrm>
            <a:off x="5806440" y="3803904"/>
            <a:ext cx="32004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1" name="FD0"/>
          <p:cNvSpPr/>
          <p:nvPr/>
        </p:nvSpPr>
        <p:spPr>
          <a:xfrm>
            <a:off x="6217920" y="3520440"/>
            <a:ext cx="256032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MODELING</a:t>
            </a:r>
          </a:p>
        </p:txBody>
      </p:sp>
      <p:sp>
        <p:nvSpPr>
          <p:cNvPr id="112" name="FQ1"/>
          <p:cNvSpPr/>
          <p:nvPr/>
        </p:nvSpPr>
        <p:spPr>
          <a:xfrm>
            <a:off x="365760" y="4233672"/>
            <a:ext cx="539496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How do consequential obligations govern realization?</a:t>
            </a:r>
          </a:p>
        </p:txBody>
      </p:sp>
      <p:cxnSp>
        <p:nvCxnSpPr>
          <p:cNvPr id="113" name="FA1"/>
          <p:cNvCxnSpPr/>
          <p:nvPr/>
        </p:nvCxnSpPr>
        <p:spPr>
          <a:xfrm>
            <a:off x="5806440" y="4517136"/>
            <a:ext cx="32004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4" name="FD1"/>
          <p:cNvSpPr/>
          <p:nvPr/>
        </p:nvSpPr>
        <p:spPr>
          <a:xfrm>
            <a:off x="6217920" y="4233672"/>
            <a:ext cx="256032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ALIGNMENT</a:t>
            </a:r>
          </a:p>
        </p:txBody>
      </p:sp>
      <p:sp>
        <p:nvSpPr>
          <p:cNvPr id="115" name="FQ2"/>
          <p:cNvSpPr/>
          <p:nvPr/>
        </p:nvSpPr>
        <p:spPr>
          <a:xfrm>
            <a:off x="365760" y="4946904"/>
            <a:ext cx="539496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 xml:space="preserve">What do we learn when reality contradicts expectation?</a:t>
            </a:r>
          </a:p>
        </p:txBody>
      </p:sp>
      <p:cxnSp>
        <p:nvCxnSpPr>
          <p:cNvPr id="116" name="FA2"/>
          <p:cNvCxnSpPr/>
          <p:nvPr/>
        </p:nvCxnSpPr>
        <p:spPr>
          <a:xfrm>
            <a:off x="5806440" y="5230368"/>
            <a:ext cx="32004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7" name="FD2"/>
          <p:cNvSpPr/>
          <p:nvPr/>
        </p:nvSpPr>
        <p:spPr>
          <a:xfrm>
            <a:off x="6217920" y="4946904"/>
            <a:ext cx="2560320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FAILURE-AWARE ENGINEERING</a:t>
            </a:r>
          </a:p>
        </p:txBody>
      </p:sp>
      <p:sp>
        <p:nvSpPr>
          <p:cNvPr id="118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Delegate realization — without delegating engineering.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</a:t>
            </a:fld>
            <a:endParaRPr lang="en-US"/>
          </a:p>
        </p:txBody>
      </p:sp>
      <p:sp>
        <p:nvSpPr>
          <p:cNvPr id="90" name="SectionLabel"/>
          <p:cNvSpPr txBox="1"/>
          <p:nvPr/>
        </p:nvSpPr>
        <p:spPr>
          <a:xfrm>
            <a:off x="685800" y="1554480"/>
            <a:ext cx="7772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 xml:space="preserve">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37160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 xml:space="preserve">Engineers may delegate realization</a:t>
            </a:r>
          </a:p>
          <a:p>
            <a:pPr algn="ctr"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 xml:space="preserve">without delegating responsibility</a:t>
            </a:r>
          </a:p>
          <a:p>
            <a:pPr algn="ctr"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 xml:space="preserve">for the resulting system.</a:t>
            </a:r>
          </a:p>
        </p:txBody>
      </p:sp>
      <p:sp>
        <p:nvSpPr>
          <p:cNvPr id="91" name="Rule"/>
          <p:cNvSpPr/>
          <p:nvPr/>
        </p:nvSpPr>
        <p:spPr>
          <a:xfrm>
            <a:off x="3429000" y="3703320"/>
            <a:ext cx="2286000" cy="51206"/>
          </a:xfrm>
          <a:prstGeom prst="rect">
            <a:avLst/>
          </a:prstGeom>
          <a:solidFill>
            <a:srgbClr val="8E6F3E"/>
          </a:solidFill>
          <a:ln w="1270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92" name="Transition"/>
          <p:cNvSpPr txBox="1"/>
          <p:nvPr/>
        </p:nvSpPr>
        <p:spPr>
          <a:xfrm>
            <a:off x="274320" y="411480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So delegation itself must be engineered.</a:t>
            </a:r>
          </a:p>
        </p:txBody>
      </p:sp>
      <p:sp>
        <p:nvSpPr>
          <p:cNvPr id="93" name="Chain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 xml:space="preserve">BOUND → EQUIP → AUTHORIZE → VERIFY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BOUND: design the delegated work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4</a:t>
            </a:fld>
            <a:endParaRPr lang="en-US"/>
          </a:p>
        </p:txBody>
      </p:sp>
      <p:sp>
        <p:nvSpPr>
          <p:cNvPr id="100" name="BigTask"/>
          <p:cNvSpPr/>
          <p:nvPr/>
        </p:nvSpPr>
        <p:spPr>
          <a:xfrm>
            <a:off x="685800" y="1600200"/>
            <a:ext cx="2103120" cy="18288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ONE LARGE TASK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more relevant state than one reasoning episode can hold</a:t>
            </a:r>
          </a:p>
        </p:txBody>
      </p:sp>
      <p:cxnSp>
        <p:nvCxnSpPr>
          <p:cNvPr id="101" name="A0"/>
          <p:cNvCxnSpPr/>
          <p:nvPr/>
        </p:nvCxnSpPr>
        <p:spPr>
          <a:xfrm>
            <a:off x="2925024" y="2514600"/>
            <a:ext cx="45720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WU0"/>
          <p:cNvSpPr/>
          <p:nvPr/>
        </p:nvSpPr>
        <p:spPr>
          <a:xfrm>
            <a:off x="3520440" y="1600200"/>
            <a:ext cx="201168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WORK UNIT</a:t>
            </a:r>
          </a:p>
        </p:txBody>
      </p:sp>
      <p:sp>
        <p:nvSpPr>
          <p:cNvPr id="103" name="WU1"/>
          <p:cNvSpPr/>
          <p:nvPr/>
        </p:nvSpPr>
        <p:spPr>
          <a:xfrm>
            <a:off x="3520440" y="2240280"/>
            <a:ext cx="201168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WORK UNIT</a:t>
            </a:r>
          </a:p>
        </p:txBody>
      </p:sp>
      <p:sp>
        <p:nvSpPr>
          <p:cNvPr id="104" name="WU2"/>
          <p:cNvSpPr/>
          <p:nvPr/>
        </p:nvSpPr>
        <p:spPr>
          <a:xfrm>
            <a:off x="3520440" y="2880360"/>
            <a:ext cx="201168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WORK UNIT</a:t>
            </a:r>
          </a:p>
        </p:txBody>
      </p:sp>
      <p:sp>
        <p:nvSpPr>
          <p:cNvPr id="105" name="Glue"/>
          <p:cNvSpPr txBox="1"/>
          <p:nvPr/>
        </p:nvSpPr>
        <p:spPr>
          <a:xfrm>
            <a:off x="5760720" y="160020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explicit intermediate artifacts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checkpoints between stages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boundaries that limit state</a:t>
            </a:r>
          </a:p>
        </p:txBody>
      </p:sp>
      <p:sp>
        <p:nvSpPr>
          <p:cNvPr id="106" name="Tradeoff"/>
          <p:cNvSpPr txBox="1"/>
          <p:nvPr/>
        </p:nvSpPr>
        <p:spPr>
          <a:xfrm>
            <a:off x="274320" y="4160520"/>
            <a:ext cx="8595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Too broad → relevant state exceeds the reasoning horizon.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Too fragmented → context must constantly cross boundaries.</a:t>
            </a:r>
          </a:p>
        </p:txBody>
      </p:sp>
      <p:sp>
        <p:nvSpPr>
          <p:cNvPr id="10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Change the task to change the reasoning problem.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A delegation boundary is a reasoning boundary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5</a:t>
            </a:fld>
            <a:endParaRPr lang="en-US"/>
          </a:p>
        </p:txBody>
      </p:sp>
      <p:sp>
        <p:nvSpPr>
          <p:cNvPr id="100" name="Question"/>
          <p:cNvSpPr txBox="1"/>
          <p:nvPr/>
        </p:nvSpPr>
        <p:spPr>
          <a:xfrm>
            <a:off x="274320" y="1600200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0" i="1" dirty="0">
                <a:solidFill>
                  <a:srgbClr val="000000"/>
                </a:solidFill>
              </a:rPr>
              <a:t xml:space="preserve">The question is not how small the task can be —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400" b="0" i="1" dirty="0">
                <a:solidFill>
                  <a:srgbClr val="000000"/>
                </a:solidFill>
              </a:rPr>
              <a:t xml:space="preserve">it is what boundary makes the work reasonable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400" b="0" i="1" dirty="0">
                <a:solidFill>
                  <a:srgbClr val="000000"/>
                </a:solidFill>
              </a:rPr>
              <a:t xml:space="preserve">without breaking the relationships that matter.</a:t>
            </a:r>
          </a:p>
        </p:txBody>
      </p:sp>
      <p:sp>
        <p:nvSpPr>
          <p:cNvPr id="101" name="Rule"/>
          <p:cNvSpPr/>
          <p:nvPr/>
        </p:nvSpPr>
        <p:spPr>
          <a:xfrm>
            <a:off x="3429000" y="3291840"/>
            <a:ext cx="2286000" cy="51206"/>
          </a:xfrm>
          <a:prstGeom prst="rect">
            <a:avLst/>
          </a:prstGeom>
          <a:solidFill>
            <a:srgbClr val="8E6F3E"/>
          </a:solidFill>
          <a:ln w="1270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102" name="Levers"/>
          <p:cNvSpPr txBox="1"/>
          <p:nvPr/>
        </p:nvSpPr>
        <p:spPr>
          <a:xfrm>
            <a:off x="274320" y="370332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 xml:space="preserve">scope · decomposition · interfaces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 xml:space="preserve">intermediate artifacts · checkpoints</a:t>
            </a:r>
          </a:p>
        </p:txBody>
      </p:sp>
      <p:sp>
        <p:nvSpPr>
          <p:cNvPr id="103" name="Preview"/>
          <p:cNvSpPr txBox="1"/>
          <p:nvPr/>
        </p:nvSpPr>
        <p:spPr>
          <a:xfrm>
            <a:off x="274320" y="484632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Where the boundary sits decides what the agent must reason about.</a:t>
            </a:r>
          </a:p>
        </p:txBody>
      </p:sp>
      <p:sp>
        <p:nvSpPr>
          <p:cNvPr id="104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After the break: the reasoning horizon makes this precise.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Capability is not authority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35</a:t>
            </a:fld>
            <a:endParaRPr lang="en-US"/>
          </a:p>
        </p:txBody>
      </p:sp>
      <p:sp>
        <p:nvSpPr>
          <p:cNvPr id="100" name="P0"/>
          <p:cNvSpPr/>
          <p:nvPr/>
        </p:nvSpPr>
        <p:spPr>
          <a:xfrm>
            <a:off x="402336" y="20574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READ</a:t>
            </a:r>
          </a:p>
        </p:txBody>
      </p:sp>
      <p:cxnSp>
        <p:nvCxnSpPr>
          <p:cNvPr id="110" name="PA0"/>
          <p:cNvCxnSpPr/>
          <p:nvPr/>
        </p:nvCxnSpPr>
        <p:spPr>
          <a:xfrm>
            <a:off x="1842516" y="23774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1" name="P1"/>
          <p:cNvSpPr/>
          <p:nvPr/>
        </p:nvSpPr>
        <p:spPr>
          <a:xfrm>
            <a:off x="2130408" y="20574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PROPOSE</a:t>
            </a:r>
          </a:p>
        </p:txBody>
      </p:sp>
      <p:cxnSp>
        <p:nvCxnSpPr>
          <p:cNvPr id="111" name="PA1"/>
          <p:cNvCxnSpPr/>
          <p:nvPr/>
        </p:nvCxnSpPr>
        <p:spPr>
          <a:xfrm>
            <a:off x="3570588" y="23774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P2"/>
          <p:cNvSpPr/>
          <p:nvPr/>
        </p:nvSpPr>
        <p:spPr>
          <a:xfrm>
            <a:off x="3858480" y="20574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MODIFY</a:t>
            </a:r>
          </a:p>
        </p:txBody>
      </p:sp>
      <p:cxnSp>
        <p:nvCxnSpPr>
          <p:cNvPr id="112" name="PA2"/>
          <p:cNvCxnSpPr/>
          <p:nvPr/>
        </p:nvCxnSpPr>
        <p:spPr>
          <a:xfrm>
            <a:off x="5298660" y="23774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P3"/>
          <p:cNvSpPr/>
          <p:nvPr/>
        </p:nvSpPr>
        <p:spPr>
          <a:xfrm>
            <a:off x="5586552" y="20574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MERGE</a:t>
            </a:r>
          </a:p>
        </p:txBody>
      </p:sp>
      <p:cxnSp>
        <p:nvCxnSpPr>
          <p:cNvPr id="113" name="PA3"/>
          <p:cNvCxnSpPr/>
          <p:nvPr/>
        </p:nvCxnSpPr>
        <p:spPr>
          <a:xfrm>
            <a:off x="7026732" y="23774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P4"/>
          <p:cNvSpPr/>
          <p:nvPr/>
        </p:nvSpPr>
        <p:spPr>
          <a:xfrm>
            <a:off x="7314624" y="20574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DEPLOY</a:t>
            </a:r>
          </a:p>
        </p:txBody>
      </p:sp>
      <p:sp>
        <p:nvSpPr>
          <p:cNvPr id="120" name="Same"/>
          <p:cNvSpPr txBox="1"/>
          <p:nvPr/>
        </p:nvSpPr>
        <p:spPr>
          <a:xfrm>
            <a:off x="274320" y="31546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Same agent. Same model. Increasing authority and consequence.</a:t>
            </a:r>
          </a:p>
        </p:txBody>
      </p:sp>
      <p:sp>
        <p:nvSpPr>
          <p:cNvPr id="121" name="Caption"/>
          <p:cNvSpPr txBox="1"/>
          <p:nvPr/>
        </p:nvSpPr>
        <p:spPr>
          <a:xfrm>
            <a:off x="274320" y="429768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What an agent can do and what it is permitted to cause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are separate engineering decisions.</a:t>
            </a:r>
          </a:p>
        </p:txBody>
      </p:sp>
      <p:sp>
        <p:nvSpPr>
          <p:cNvPr id="122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Authority is engineered independently of capability.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VERIFY: what evidence closes the delegation?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38</a:t>
            </a:fld>
            <a:endParaRPr lang="en-US"/>
          </a:p>
        </p:txBody>
      </p:sp>
      <p:sp>
        <p:nvSpPr>
          <p:cNvPr id="100" name="HdrL"/>
          <p:cNvSpPr txBox="1"/>
          <p:nvPr/>
        </p:nvSpPr>
        <p:spPr>
          <a:xfrm>
            <a:off x="685800" y="1371600"/>
            <a:ext cx="3200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 xml:space="preserve">DELEGATED WORK</a:t>
            </a:r>
          </a:p>
        </p:txBody>
      </p:sp>
      <p:sp>
        <p:nvSpPr>
          <p:cNvPr id="101" name="HdrR"/>
          <p:cNvSpPr txBox="1"/>
          <p:nvPr/>
        </p:nvSpPr>
        <p:spPr>
          <a:xfrm>
            <a:off x="5029200" y="1371600"/>
            <a:ext cx="34290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 xml:space="preserve">POSSIBLE EVIDENCE</a:t>
            </a:r>
          </a:p>
        </p:txBody>
      </p:sp>
      <p:sp>
        <p:nvSpPr>
          <p:cNvPr id="102" name="W0"/>
          <p:cNvSpPr/>
          <p:nvPr/>
        </p:nvSpPr>
        <p:spPr>
          <a:xfrm>
            <a:off x="685800" y="1828800"/>
            <a:ext cx="32004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 patch</a:t>
            </a:r>
          </a:p>
        </p:txBody>
      </p:sp>
      <p:cxnSp>
        <p:nvCxnSpPr>
          <p:cNvPr id="103" name="WA0"/>
          <p:cNvCxnSpPr/>
          <p:nvPr/>
        </p:nvCxnSpPr>
        <p:spPr>
          <a:xfrm>
            <a:off x="3977640" y="2148840"/>
            <a:ext cx="9601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E0"/>
          <p:cNvSpPr/>
          <p:nvPr/>
        </p:nvSpPr>
        <p:spPr>
          <a:xfrm>
            <a:off x="5029200" y="1828800"/>
            <a:ext cx="3429000" cy="640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tests + review</a:t>
            </a:r>
          </a:p>
        </p:txBody>
      </p:sp>
      <p:sp>
        <p:nvSpPr>
          <p:cNvPr id="105" name="W1"/>
          <p:cNvSpPr/>
          <p:nvPr/>
        </p:nvSpPr>
        <p:spPr>
          <a:xfrm>
            <a:off x="685800" y="2606040"/>
            <a:ext cx="32004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 dependency change</a:t>
            </a:r>
          </a:p>
        </p:txBody>
      </p:sp>
      <p:cxnSp>
        <p:nvCxnSpPr>
          <p:cNvPr id="106" name="WA1"/>
          <p:cNvCxnSpPr/>
          <p:nvPr/>
        </p:nvCxnSpPr>
        <p:spPr>
          <a:xfrm>
            <a:off x="3977640" y="2926080"/>
            <a:ext cx="9601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7" name="E1"/>
          <p:cNvSpPr/>
          <p:nvPr/>
        </p:nvSpPr>
        <p:spPr>
          <a:xfrm>
            <a:off x="5029200" y="2606040"/>
            <a:ext cx="3429000" cy="640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architectural check</a:t>
            </a:r>
          </a:p>
        </p:txBody>
      </p:sp>
      <p:sp>
        <p:nvSpPr>
          <p:cNvPr id="108" name="W2"/>
          <p:cNvSpPr/>
          <p:nvPr/>
        </p:nvSpPr>
        <p:spPr>
          <a:xfrm>
            <a:off x="685800" y="3383280"/>
            <a:ext cx="32004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 deployment</a:t>
            </a:r>
          </a:p>
        </p:txBody>
      </p:sp>
      <p:cxnSp>
        <p:nvCxnSpPr>
          <p:cNvPr id="109" name="WA2"/>
          <p:cNvCxnSpPr/>
          <p:nvPr/>
        </p:nvCxnSpPr>
        <p:spPr>
          <a:xfrm>
            <a:off x="3977640" y="3703320"/>
            <a:ext cx="9601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0" name="E2"/>
          <p:cNvSpPr/>
          <p:nvPr/>
        </p:nvSpPr>
        <p:spPr>
          <a:xfrm>
            <a:off x="5029200" y="3383280"/>
            <a:ext cx="3429000" cy="640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tests + policy / admission checks</a:t>
            </a:r>
          </a:p>
        </p:txBody>
      </p:sp>
      <p:sp>
        <p:nvSpPr>
          <p:cNvPr id="120" name="Claim"/>
          <p:cNvSpPr txBox="1"/>
          <p:nvPr/>
        </p:nvSpPr>
        <p:spPr>
          <a:xfrm>
            <a:off x="274320" y="452628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The evidentiary burden comes from the claim and its consequences,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not from whether a human or an agent produced the artifact.</a:t>
            </a:r>
          </a:p>
        </p:txBody>
      </p:sp>
      <p:sp>
        <p:nvSpPr>
          <p:cNvPr id="121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Evidence follows the claim — not the author.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 agent’s confidence is not independent evidence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39</a:t>
            </a:fld>
            <a:endParaRPr lang="en-US"/>
          </a:p>
        </p:txBody>
      </p:sp>
      <p:sp>
        <p:nvSpPr>
          <p:cNvPr id="100" name="C0"/>
          <p:cNvSpPr/>
          <p:nvPr/>
        </p:nvSpPr>
        <p:spPr>
          <a:xfrm>
            <a:off x="502920" y="2057400"/>
            <a:ext cx="2377440" cy="10058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AGENT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produces an artifact</a:t>
            </a:r>
          </a:p>
        </p:txBody>
      </p:sp>
      <p:cxnSp>
        <p:nvCxnSpPr>
          <p:cNvPr id="101" name="CA0"/>
          <p:cNvCxnSpPr/>
          <p:nvPr/>
        </p:nvCxnSpPr>
        <p:spPr>
          <a:xfrm>
            <a:off x="2971800" y="2560320"/>
            <a:ext cx="41148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C1"/>
          <p:cNvSpPr/>
          <p:nvPr/>
        </p:nvSpPr>
        <p:spPr>
          <a:xfrm>
            <a:off x="3474720" y="2057400"/>
            <a:ext cx="2377440" cy="10058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ENVIRONMENT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obtains and checks evidence</a:t>
            </a:r>
          </a:p>
        </p:txBody>
      </p:sp>
      <p:cxnSp>
        <p:nvCxnSpPr>
          <p:cNvPr id="103" name="CA1"/>
          <p:cNvCxnSpPr/>
          <p:nvPr/>
        </p:nvCxnSpPr>
        <p:spPr>
          <a:xfrm>
            <a:off x="5943600" y="2560320"/>
            <a:ext cx="41148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C2"/>
          <p:cNvSpPr/>
          <p:nvPr/>
        </p:nvSpPr>
        <p:spPr>
          <a:xfrm>
            <a:off x="6446520" y="2057400"/>
            <a:ext cx="2194560" cy="10058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 xml:space="preserve">ACCEPTANCE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 xml:space="preserve">the engineering decision</a:t>
            </a:r>
          </a:p>
        </p:txBody>
      </p:sp>
      <p:sp>
        <p:nvSpPr>
          <p:cNvPr id="105" name="Line"/>
          <p:cNvSpPr txBox="1"/>
          <p:nvPr/>
        </p:nvSpPr>
        <p:spPr>
          <a:xfrm>
            <a:off x="274320" y="379476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 xml:space="preserve">Self-report is a claim to verify, not evidence to accept.</a:t>
            </a:r>
          </a:p>
        </p:txBody>
      </p:sp>
      <p:sp>
        <p:nvSpPr>
          <p:cNvPr id="106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 xml:space="preserve">Acceptance rests on evidence the environment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rdue1">
  <a:themeElements>
    <a:clrScheme name="PurdueColors">
      <a:dk1>
        <a:srgbClr val="000000"/>
      </a:dk1>
      <a:lt1>
        <a:srgbClr val="000000"/>
      </a:lt1>
      <a:dk2>
        <a:srgbClr val="C4BFC0"/>
      </a:dk2>
      <a:lt2>
        <a:srgbClr val="C9B991"/>
      </a:lt2>
      <a:accent1>
        <a:srgbClr val="8E6F3E"/>
      </a:accent1>
      <a:accent2>
        <a:srgbClr val="555960"/>
      </a:accent2>
      <a:accent3>
        <a:srgbClr val="C9B991"/>
      </a:accent3>
      <a:accent4>
        <a:srgbClr val="FFFFFF"/>
      </a:accent4>
      <a:accent5>
        <a:srgbClr val="000000"/>
      </a:accent5>
      <a:accent6>
        <a:srgbClr val="555960"/>
      </a:accent6>
      <a:hlink>
        <a:srgbClr val="000000"/>
      </a:hlink>
      <a:folHlink>
        <a:srgbClr val="55596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-CoBrand_Template_Gold_Theme_Std_Screen_2.pptx" id="{33130098-72E9-B14B-8D33-14895F32E203}" vid="{24A02D5D-460C-B047-B557-67731F776B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2577843-0252-164E-9900-50E04AC84376}">
  <we:reference id="wa104381063" version="1.0.0.1" store="en-001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2F6451B-05D5-964F-AC61-763C973265E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299b91e-8e0b-4b63-ab37-4fd482b317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PU-CoBrand_Template_Gold_Theme_Std_Screen_2</Template>
  <TotalTime>8564</TotalTime>
  <Words>3925</Words>
  <Application>Microsoft Macintosh PowerPoint</Application>
  <PresentationFormat>On-screen Show (4:3)</PresentationFormat>
  <Paragraphs>487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</vt:lpstr>
      <vt:lpstr>Purdue1</vt:lpstr>
      <vt:lpstr>ECE 30861/46100: Software Engineering</vt:lpstr>
      <vt:lpstr>We need to make a decision</vt:lpstr>
      <vt:lpstr>We have to decide before we know</vt:lpstr>
      <vt:lpstr>Good decision ≠ good outcome</vt:lpstr>
      <vt:lpstr>What do we need to know?</vt:lpstr>
      <vt:lpstr>Models let us reason before we know</vt:lpstr>
      <vt:lpstr>From decision to evidence</vt:lpstr>
      <vt:lpstr>Evidence takes many forms</vt:lpstr>
      <vt:lpstr>What observation would change the decision?</vt:lpstr>
      <vt:lpstr>From properties to measurements</vt:lpstr>
      <vt:lpstr>Property → Metric → Measurement → Evidence</vt:lpstr>
      <vt:lpstr>A metric operationalizes a property</vt:lpstr>
      <vt:lpstr>Measurement parameterizes the model</vt:lpstr>
      <vt:lpstr>What does 420 ms tell us?</vt:lpstr>
      <vt:lpstr>Measure where the property exists</vt:lpstr>
      <vt:lpstr>Direct and indirect measurement</vt:lpstr>
      <vt:lpstr>Metrics leave things out</vt:lpstr>
      <vt:lpstr>When metrics mislead</vt:lpstr>
      <vt:lpstr>“Developer productivity increased 22%.”</vt:lpstr>
      <vt:lpstr>Proxy metrics</vt:lpstr>
      <vt:lpstr>Goodhart’s Law and surrogation</vt:lpstr>
      <vt:lpstr>Metrics do not have context-free meanings</vt:lpstr>
      <vt:lpstr>Before using a metric</vt:lpstr>
      <vt:lpstr>From measurement to action</vt:lpstr>
      <vt:lpstr>Measurements become evidence</vt:lpstr>
      <vt:lpstr>The same evidence can justify different actions</vt:lpstr>
      <vt:lpstr>What should we do?</vt:lpstr>
      <vt:lpstr>Before the decision · After the outcome</vt:lpstr>
      <vt:lpstr>Engineering is informed control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Bowers, Anna K</dc:creator>
  <cp:keywords/>
  <dc:description/>
  <cp:lastModifiedBy>James C Davis</cp:lastModifiedBy>
  <cp:revision>397</cp:revision>
  <dcterms:created xsi:type="dcterms:W3CDTF">2020-02-21T23:00:33Z</dcterms:created>
  <dcterms:modified xsi:type="dcterms:W3CDTF">2026-09-21T17:15:07Z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2024-09-05T02:27:24Z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e1ff3097-c009-4f67-8781-6e468e7749d4</vt:lpwstr>
  </property>
  <property fmtid="{D5CDD505-2E9C-101B-9397-08002B2CF9AE}" pid="8" name="MSIP_Label_4044bd30-2ed7-4c9d-9d12-46200872a97b_ContentBits">
    <vt:lpwstr>0</vt:lpwstr>
  </property>
</Properties>
</file>