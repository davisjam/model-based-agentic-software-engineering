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1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6"/>
    <p:sldId id="731" r:id="rId37"/>
    <p:sldId id="732" r:id="rId38"/>
    <p:sldId id="733" r:id="rId39"/>
    <p:sldId id="734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0.5 minutes — </a:t>
            </a:r>
            <a:r>
              <a:rPr i="1" dirty="0"/>
              <a:t>Open Act II: delegation to capable but fallible machines.</a:t>
            </a:r>
          </a:p>
          <a:p>
            <a:endParaRPr dirty="0"/>
          </a:p>
          <a:p>
            <a:r>
              <a:rPr dirty="0"/>
              <a:t xml:space="preserve">- The strip is the lecture thesis in miniature: capability comes from a SYSTEM, not a model.</a:t>
            </a:r>
          </a:p>
          <a:p>
            <a:r>
              <a:rPr dirty="0"/>
              <a:t xml:space="preserve">- Do not define agent yet; the definition is earned on slides 9-10.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lecture thesis: capability is a property of the system.</a:t>
            </a:r>
          </a:p>
          <a:p>
            <a:endParaRPr dirty="0"/>
          </a:p>
          <a:p>
            <a:r>
              <a:rPr dirty="0"/>
              <a:t xml:space="preserve">- This is the lander premise condensed to one visual claim.</a:t>
            </a:r>
          </a:p>
          <a:p>
            <a:r>
              <a:rPr dirty="0"/>
              <a:t xml:space="preserve">- Each observation previews a section: models (S1), harnesses (S2), environments (S3).</a:t>
            </a:r>
          </a:p>
          <a:p>
            <a:r>
              <a:rPr dirty="0"/>
              <a:t xml:space="preserve">- The footer line returns verbatim on the closing slide — say it aloud now.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Give the map: model inside harness inside environment.</a:t>
            </a:r>
          </a:p>
          <a:p>
            <a:endParaRPr dirty="0"/>
          </a:p>
          <a:p>
            <a:r>
              <a:rPr dirty="0"/>
              <a:t xml:space="preserve">- Point at each ring, then at each question; promise nothing else is coming today.</a:t>
            </a:r>
          </a:p>
          <a:p>
            <a:r>
              <a:rPr dirty="0"/>
              <a:t xml:space="preserve">- Q0 model · Q1 harness · Q2 environment · Q3 the second half (control).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Section 1.</a:t>
            </a:r>
          </a:p>
          <a:p>
            <a:endParaRPr dirty="0"/>
          </a:p>
          <a:p>
            <a:r>
              <a:rPr dirty="0"/>
              <a:t xml:space="preserve">- 15-20 seconds only.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Models differ along many axes; strength is not a scalar.</a:t>
            </a:r>
          </a:p>
          <a:p>
            <a:endParaRPr dirty="0"/>
          </a:p>
          <a:p>
            <a:r>
              <a:rPr dirty="0"/>
              <a:t xml:space="preserve">- Do not teach transformers; capabilities in the abstract only.</a:t>
            </a:r>
          </a:p>
          <a:p>
            <a:r>
              <a:rPr dirty="0"/>
              <a:t xml:space="preserve">- Second row is the row students forget: cost, latency, context, deployment, availability.</a:t>
            </a:r>
          </a:p>
          <a:p>
            <a:r>
              <a:rPr dirty="0"/>
              <a:t xml:space="preserve">- Sets up the next slide: with this many axes there cannot be one best model.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Selection under requirements and constraints; no products recommended.</a:t>
            </a:r>
          </a:p>
          <a:p>
            <a:endParaRPr dirty="0"/>
          </a:p>
          <a:p>
            <a:r>
              <a:rPr dirty="0"/>
              <a:t xml:space="preserve">- Four example points in the decision space, not four products.</a:t>
            </a:r>
          </a:p>
          <a:p>
            <a:r>
              <a:rPr dirty="0"/>
              <a:t xml:space="preserve">- Open-weight models belong here: what their availability changes, not advocacy.</a:t>
            </a:r>
          </a:p>
          <a:p>
            <a:r>
              <a:rPr dirty="0"/>
              <a:t xml:space="preserve">- Callback to Act I decision-making: requirements and constraints select.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4 minutes — </a:t>
            </a:r>
            <a:r>
              <a:rPr i="1" dirty="0"/>
              <a:t>The empirical surprise: support can rival model strength. TPS.</a:t>
            </a:r>
          </a:p>
          <a:p>
            <a:endParaRPr dirty="0"/>
          </a:p>
          <a:p>
            <a:r>
              <a:rPr dirty="0"/>
              <a:t xml:space="preserve">- Build: strong+weak row, weaker+strong row, then the evidence card.</a:t>
            </a:r>
          </a:p>
          <a:p>
            <a:r>
              <a:rPr dirty="0"/>
              <a:t xml:space="preserve">- Numbers are real: Anthropic reported 33%→49% on SWE-bench Verified for the same Claude 3.5 Sonnet under different scaffolds (2024). Leaderboard scaffold spreads for one model are of similar size.</a:t>
            </a:r>
          </a:p>
          <a:p>
            <a:r>
              <a:rPr dirty="0"/>
              <a:t xml:space="preserve">- TPS ~2 min. Expected answer: cannot tell — depends on task, costs, constraints. That IS the lesson.</a:t>
            </a:r>
          </a:p>
          <a:p>
            <a:r>
              <a:rPr dirty="0"/>
              <a:t xml:space="preserve">- Do not let this become ‘models don’t matter’; both rows are levers.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Section 2.</a:t>
            </a:r>
          </a:p>
          <a:p>
            <a:endParaRPr dirty="0"/>
          </a:p>
          <a:p>
            <a:r>
              <a:rPr dirty="0"/>
              <a:t xml:space="preserve">- 15-20 seconds only.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Two rows: one inference vs a loop of reasoning and action.</a:t>
            </a:r>
          </a:p>
          <a:p>
            <a:endParaRPr dirty="0"/>
          </a:p>
          <a:p>
            <a:r>
              <a:rPr dirty="0"/>
              <a:t xml:space="preserve">- Build model row first, then the agent loop on the second click.</a:t>
            </a:r>
          </a:p>
          <a:p>
            <a:r>
              <a:rPr dirty="0"/>
              <a:t xml:space="preserve">- Say explicitly: this is a pedagogical abstraction — the model does not literally contain a ‘reason’ module; the loop is imposed from outside.</a:t>
            </a:r>
          </a:p>
          <a:p>
            <a:r>
              <a:rPr dirty="0"/>
              <a:t xml:space="preserve">- The footer names the next slide’s subject: the harness.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definition slide; read it once, slowly.</a:t>
            </a:r>
          </a:p>
          <a:p>
            <a:endParaRPr dirty="0"/>
          </a:p>
          <a:p>
            <a:r>
              <a:rPr dirty="0"/>
              <a:t xml:space="preserve">- Every phrase in the definition is a design surface: manages context, exposes tools, executes, returns results, controls continuation.</a:t>
            </a:r>
          </a:p>
          <a:p>
            <a:r>
              <a:rPr dirty="0"/>
              <a:t xml:space="preserve">- The loop below is the same picture reduced to four boxes; nothing else on this slide by design.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One concrete coding loop, one step per click.</a:t>
            </a:r>
          </a:p>
          <a:p>
            <a:endParaRPr dirty="0"/>
          </a:p>
          <a:p>
            <a:r>
              <a:rPr dirty="0"/>
              <a:t xml:space="preserve">- Narrate as a story: the agent looks, edits, runs the tests, sees the failure, revises.</a:t>
            </a:r>
          </a:p>
          <a:p>
            <a:r>
              <a:rPr dirty="0"/>
              <a:t xml:space="preserve">- The left rail closes the loop visually: revise feeds the next inspection.</a:t>
            </a:r>
          </a:p>
          <a:p>
            <a:r>
              <a:rPr dirty="0"/>
              <a:t xml:space="preserve">- Punch line is the footer: inference becomes extended work because consequences return as inputs.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overview slide for the technical mechanisms.</a:t>
            </a:r>
          </a:p>
          <a:p>
            <a:endParaRPr dirty="0"/>
          </a:p>
          <a:p>
            <a:r>
              <a:rPr dirty="0"/>
              <a:t xml:space="preserve">- Six levers around the harness; the next five slides take them in turn — each asks only ‘what engineering lever is this?’</a:t>
            </a:r>
          </a:p>
          <a:p>
            <a:r>
              <a:rPr dirty="0"/>
              <a:t xml:space="preserve">- Work structure sits outside the ring on purpose: it changes the task, not the harness.</a:t>
            </a:r>
          </a:p>
          <a:p>
            <a:r>
              <a:rPr dirty="0"/>
              <a:t xml:space="preserve">- Warn the class: none of these is a tutorial; platform details go stale, the levers do not.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Two different levers that share one channel.</a:t>
            </a:r>
          </a:p>
          <a:p>
            <a:endParaRPr dirty="0"/>
          </a:p>
          <a:p>
            <a:r>
              <a:rPr dirty="0"/>
              <a:t xml:space="preserve">- Context answers ‘what is available’; instructions answer ‘how to approach it.’</a:t>
            </a:r>
          </a:p>
          <a:p>
            <a:r>
              <a:rPr dirty="0"/>
              <a:t xml:space="preserve">- The insight box is the teachable subtlety: the model weighs both; neither is privileged truth.</a:t>
            </a:r>
          </a:p>
          <a:p>
            <a:r>
              <a:rPr dirty="0"/>
              <a:t xml:space="preserve">- Resist listing vendor features; the lever framing is the content.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Tools are the lever that gives reasoning consequences.</a:t>
            </a:r>
          </a:p>
          <a:p>
            <a:endParaRPr dirty="0"/>
          </a:p>
          <a:p>
            <a:r>
              <a:rPr dirty="0"/>
              <a:t xml:space="preserve">- Walk the list quickly; the point is the footer, not the inventory.</a:t>
            </a:r>
          </a:p>
          <a:p>
            <a:r>
              <a:rPr dirty="0"/>
              <a:t xml:space="preserve">- Seed permissions here but do NOT teach authority yet — Section 5 owns that.</a:t>
            </a:r>
          </a:p>
          <a:p>
            <a:r>
              <a:rPr dirty="0"/>
              <a:t xml:space="preserve">- The lever: choose what the agent can observe and affect.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One conceptual MCP slide: the problem it solves, nothing else.</a:t>
            </a:r>
          </a:p>
          <a:p>
            <a:endParaRPr dirty="0"/>
          </a:p>
          <a:p>
            <a:r>
              <a:rPr dirty="0"/>
              <a:t xml:space="preserve">- The engineering claim is the N×M → N+M collapse; that is what a common protocol buys.</a:t>
            </a:r>
          </a:p>
          <a:p>
            <a:r>
              <a:rPr dirty="0"/>
              <a:t xml:space="preserve">- Mention resources/tools exist at the protocol level — one sentence, no more.</a:t>
            </a:r>
          </a:p>
          <a:p>
            <a:r>
              <a:rPr dirty="0"/>
              <a:t xml:space="preserve">- Absolutely no JSON-RPC, transports, SDKs, OAuth, or server implementation.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Skills are packaged procedure — the knowledge-management lever.</a:t>
            </a:r>
          </a:p>
          <a:p>
            <a:endParaRPr dirty="0"/>
          </a:p>
          <a:p>
            <a:r>
              <a:rPr dirty="0"/>
              <a:t xml:space="preserve">- Contrast: an instruction serves one task; a skill serves the class of tasks.</a:t>
            </a:r>
          </a:p>
          <a:p>
            <a:r>
              <a:rPr dirty="0"/>
              <a:t xml:space="preserve">- The example keeps it concrete without becoming a product tour.</a:t>
            </a:r>
          </a:p>
          <a:p>
            <a:r>
              <a:rPr dirty="0"/>
              <a:t xml:space="preserve">- First explicit link to Engineering Knowledge (Handbook ch. 4); Section 3 deepens it.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Split ‘memory’ into three kinds of persistence.</a:t>
            </a:r>
          </a:p>
          <a:p>
            <a:endParaRPr dirty="0"/>
          </a:p>
          <a:p>
            <a:r>
              <a:rPr dirty="0"/>
              <a:t xml:space="preserve">- Left to right: an inference, a task, an organization’s knowledge.</a:t>
            </a:r>
          </a:p>
          <a:p>
            <a:r>
              <a:rPr dirty="0"/>
              <a:t xml:space="preserve">- The footer is the bridge to Handbook ch. 4: what should an organization remember — and what goes stale?</a:t>
            </a:r>
          </a:p>
          <a:p>
            <a:r>
              <a:rPr dirty="0"/>
              <a:t xml:space="preserve">- The lever: choose what persists, at which lifetime, and who maintains it.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Section 3.</a:t>
            </a:r>
          </a:p>
          <a:p>
            <a:endParaRPr dirty="0"/>
          </a:p>
          <a:p>
            <a:r>
              <a:rPr dirty="0"/>
              <a:t xml:space="preserve">- 15-20 seconds only.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The second definition; the examples make it concrete.</a:t>
            </a:r>
          </a:p>
          <a:p>
            <a:endParaRPr dirty="0"/>
          </a:p>
          <a:p>
            <a:r>
              <a:rPr dirty="0"/>
              <a:t xml:space="preserve">- Read the definition once; then point out the students already know every example.</a:t>
            </a:r>
          </a:p>
          <a:p>
            <a:r>
              <a:rPr dirty="0"/>
              <a:t xml:space="preserve">- The italic line frames the section: environment quality now multiplies machine work.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visual payoff of Section 2: zoom from model to environment.</a:t>
            </a:r>
          </a:p>
          <a:p>
            <a:endParaRPr dirty="0"/>
          </a:p>
          <a:p>
            <a:r>
              <a:rPr dirty="0"/>
              <a:t xml:space="preserve">- Build inside-out: model, then harness, then environment — the reverse of how vendors sell it.</a:t>
            </a:r>
          </a:p>
          <a:p>
            <a:r>
              <a:rPr dirty="0"/>
              <a:t xml:space="preserve">- Note: the environment ring is where most of a software organization already lives.</a:t>
            </a:r>
          </a:p>
          <a:p>
            <a:r>
              <a:rPr dirty="0"/>
              <a:t xml:space="preserve">- Slides 20–23 are the intellectual heart of the first half; do not rush them.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Engineering Knowledge reading enters: represented vs reconstructed.</a:t>
            </a:r>
          </a:p>
          <a:p>
            <a:endParaRPr dirty="0"/>
          </a:p>
          <a:p>
            <a:r>
              <a:rPr dirty="0"/>
              <a:t xml:space="preserve">- Left: every reasoning episode re-purchases the same reconstruction. Right: the environment already knows.</a:t>
            </a:r>
          </a:p>
          <a:p>
            <a:r>
              <a:rPr dirty="0"/>
              <a:t xml:space="preserve">- The regret question is old knowledge management — newly visible because reconstruction now has a per-episode price.</a:t>
            </a:r>
          </a:p>
          <a:p>
            <a:r>
              <a:rPr dirty="0"/>
              <a:t xml:space="preserve">- Foreshadow Section 4: this move — change what the reasoner is given — has a name coming.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4.5 minutes — </a:t>
            </a:r>
            <a:r>
              <a:rPr i="1" dirty="0"/>
              <a:t>TPS: an engineering tradeoff with no dominant option.</a:t>
            </a:r>
          </a:p>
          <a:p>
            <a:endParaRPr dirty="0"/>
          </a:p>
          <a:p>
            <a:r>
              <a:rPr dirty="0"/>
              <a:t xml:space="preserve">- Beats: scenario first; then the five options; then the prompt. Let students argue.</a:t>
            </a:r>
          </a:p>
          <a:p>
            <a:r>
              <a:rPr dirty="0"/>
              <a:t xml:space="preserve">- Push for ‘what additional information would you need?’ — cost per task, failure rate, constraint stability.</a:t>
            </a:r>
          </a:p>
          <a:p>
            <a:r>
              <a:rPr dirty="0"/>
              <a:t xml:space="preserve">- The dependency-model option quietly previews Section 4’s representation lever — do not resolve it here.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Synthesis before the break: the sum, not the model, performs.</a:t>
            </a:r>
          </a:p>
          <a:p>
            <a:endParaRPr dirty="0"/>
          </a:p>
          <a:p>
            <a:r>
              <a:rPr dirty="0"/>
              <a:t xml:space="preserve">- Read the stack bottom-up once, top-down once.</a:t>
            </a:r>
          </a:p>
          <a:p>
            <a:r>
              <a:rPr dirty="0"/>
              <a:t xml:space="preserve">- This footer is the claim the second half will govern: if the system performs, the system must be controlled.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5 minutes — </a:t>
            </a:r>
            <a:r>
              <a:rPr i="1" dirty="0"/>
              <a:t>Stretch break; leave the question on screen.</a:t>
            </a:r>
          </a:p>
          <a:p>
            <a:endParaRPr dirty="0"/>
          </a:p>
          <a:p>
            <a:r>
              <a:rPr dirty="0"/>
              <a:t xml:space="preserve">- The question tees up the entire second half: fit (Section 4) and control (Section 5).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Define the reasoning horizon carefully; kill the context-window reduction.</a:t>
            </a:r>
          </a:p>
          <a:p>
            <a:endParaRPr dirty="0"/>
          </a:p>
          <a:p>
            <a:r>
              <a:rPr dirty="0"/>
              <a:t xml:space="preserve">- Definition earns the blue box: it is used for the rest of the lecture.</a:t>
            </a:r>
          </a:p>
          <a:p>
            <a:r>
              <a:rPr dirty="0"/>
              <a:t xml:space="preserve">- Boundary depends on model, harness, repository, task — all four are engineering surfaces.</a:t>
            </a:r>
          </a:p>
          <a:p>
            <a:r>
              <a:rPr dirty="0"/>
              <a:t xml:space="preserve">- Beyond the horizon work degrades into churn: repeated rediscovery, forgotten constraints, contradictory local decisions.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The decision slide — the lecture’s recurring diagram, built in beats.</a:t>
            </a:r>
          </a:p>
          <a:p>
            <a:endParaRPr dirty="0"/>
          </a:p>
          <a:p>
            <a:r>
              <a:rPr dirty="0"/>
              <a:t xml:space="preserve">- Beats: task×reasoner and the failure; the improve-the-reasoner knob; the assist-the-reasoning knob; the benchmark meter.</a:t>
            </a:r>
          </a:p>
          <a:p>
            <a:r>
              <a:rPr dirty="0"/>
              <a:t xml:space="preserve">- Two knobs, one meter: change the reasoner ↔ change the task as presented; benchmark tells you which paid.</a:t>
            </a:r>
          </a:p>
          <a:p>
            <a:r>
              <a:rPr dirty="0"/>
              <a:t xml:space="preserve">- Do not assume the frontier model is the answer; do not assume clever scaffolding is either.</a:t>
            </a:r>
          </a:p>
          <a:p>
            <a:r>
              <a:rPr dirty="0"/>
              <a:t xml:space="preserve">- BENCHMARK, not measure — the course established benchmarking in Act I.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Pólya gives the move its intellectual weight.</a:t>
            </a:r>
          </a:p>
          <a:p>
            <a:endParaRPr dirty="0"/>
          </a:p>
          <a:p>
            <a:r>
              <a:rPr dirty="0"/>
              <a:t xml:space="preserve">- Four moves, read slowly; each changes the representation, none changes the solver.</a:t>
            </a:r>
          </a:p>
          <a:p>
            <a:r>
              <a:rPr dirty="0"/>
              <a:t xml:space="preserve">- Say aloud: this is not an AI trick — it predates computers. The novelty is that we can engineer these aids systematically around a machine reasoner.</a:t>
            </a:r>
          </a:p>
          <a:p>
            <a:r>
              <a:rPr dirty="0"/>
              <a:t xml:space="preserve">- Same framing as the MAGE book’s ‘Rotate the problem’ inset (brownfield chapter) and the assigned How to Solve It reading (Part I §§6–9).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MAGE example almost directly: a graph answers what sources merely contain.</a:t>
            </a:r>
          </a:p>
          <a:p>
            <a:endParaRPr dirty="0"/>
          </a:p>
          <a:p>
            <a:r>
              <a:rPr dirty="0"/>
              <a:t xml:space="preserve">- Left: the answer exists, diffused across thousands of lines — the reasoner must reconstruct it.</a:t>
            </a:r>
          </a:p>
          <a:p>
            <a:r>
              <a:rPr dirty="0"/>
              <a:t xml:space="preserve">- Right: the same answer is one edge-lookup in a representation the environment maintains.</a:t>
            </a:r>
          </a:p>
          <a:p>
            <a:r>
              <a:rPr dirty="0"/>
              <a:t xml:space="preserve">- A dependency graph can answer a question that retrieved source merely makes available.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Resist doctrine: the alternatives are priced and tested, not preached.</a:t>
            </a:r>
          </a:p>
          <a:p>
            <a:endParaRPr dirty="0"/>
          </a:p>
          <a:p>
            <a:r>
              <a:rPr dirty="0"/>
              <a:t xml:space="preserve">- Fill in plausible costs live; the blanks are deliberate — they differ per organization.</a:t>
            </a:r>
          </a:p>
          <a:p>
            <a:r>
              <a:rPr dirty="0"/>
              <a:t xml:space="preserve">- This is the Act I decision-making stance applied to agents: evidence over ideology.</a:t>
            </a:r>
          </a:p>
          <a:p>
            <a:r>
              <a:rPr dirty="0"/>
              <a:t xml:space="preserve">- The footer is the slide’s reason to exist: your benchmark, your work, your costs — not a leaderboard.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Section 5 — the control problem.</a:t>
            </a:r>
          </a:p>
          <a:p>
            <a:endParaRPr dirty="0"/>
          </a:p>
          <a:p>
            <a:r>
              <a:rPr dirty="0"/>
              <a:t xml:space="preserve">- 15-20 seconds only.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Sparse on purpose: the arithmetic of delegation.</a:t>
            </a:r>
          </a:p>
          <a:p>
            <a:endParaRPr dirty="0"/>
          </a:p>
          <a:p>
            <a:r>
              <a:rPr dirty="0"/>
              <a:t xml:space="preserve">- One human, one agent, four implementations — and the four keep multiplying.</a:t>
            </a:r>
          </a:p>
          <a:p>
            <a:r>
              <a:rPr dirty="0"/>
              <a:t xml:space="preserve">- Let the footer land in silence; it is the ethical spine of Act II.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The conceptual revelation of Section 5.</a:t>
            </a:r>
          </a:p>
          <a:p>
            <a:endParaRPr dirty="0"/>
          </a:p>
          <a:p>
            <a:r>
              <a:rPr dirty="0"/>
              <a:t xml:space="preserve">- One obligation, two very different realizations: helping the agent comply vs refusing the outcome.</a:t>
            </a:r>
          </a:p>
          <a:p>
            <a:r>
              <a:rPr dirty="0"/>
              <a:t xml:space="preserve">- The question is the hinge: guidance fails exactly when the reasoning fails — which is when you needed protection.</a:t>
            </a:r>
          </a:p>
          <a:p>
            <a:r>
              <a:rPr dirty="0"/>
              <a:t xml:space="preserve">- Do not teach enforcement mechanics; Alignment owns that.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Four grains of authority; leave the question unresolved.</a:t>
            </a:r>
          </a:p>
          <a:p>
            <a:endParaRPr dirty="0"/>
          </a:p>
          <a:p>
            <a:r>
              <a:rPr dirty="0"/>
              <a:t xml:space="preserve">- Walk left to right: from shaping what the reasoner sees to guarding what the runtime does.</a:t>
            </a:r>
          </a:p>
          <a:p>
            <a:r>
              <a:rPr dirty="0"/>
              <a:t xml:space="preserve">- Do NOT teach the ‘obligation not decidable here → move mechanism’ material — that belongs to Alignment.</a:t>
            </a:r>
          </a:p>
          <a:p>
            <a:r>
              <a:rPr dirty="0"/>
              <a:t xml:space="preserve">- End on the footer question and say explicitly: we are leaving it open.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only summary slide; hand off to the rest of Act II.</a:t>
            </a:r>
          </a:p>
          <a:p>
            <a:endParaRPr dirty="0"/>
          </a:p>
          <a:p>
            <a:r>
              <a:rPr dirty="0"/>
              <a:t xml:space="preserve">- Return of the thesis line and the system chain — nothing new, deliberately.</a:t>
            </a:r>
          </a:p>
          <a:p>
            <a:r>
              <a:rPr dirty="0"/>
              <a:t xml:space="preserve">- Three forward questions name the next three units: Modeling, Alignment, Failure-Aware Engineering.</a:t>
            </a:r>
          </a:p>
          <a:p>
            <a:r>
              <a:rPr dirty="0"/>
              <a:t xml:space="preserve">- Final spoken line: the rest of Act II is about how to delegate realization without delegating engineering.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700000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 xml:space="preserve">Engineering with Agents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 xml:space="preserve">How should engineers delegate work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 xml:space="preserve">to capable but fallible machines?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 xml:space="preserve"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 xml:space="preserve"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THE SYSTEM THIS LECTURE ASSEMBLES</a:t>
            </a:r>
          </a:p>
        </p:txBody>
      </p:sp>
      <p:sp>
        <p:nvSpPr>
          <p:cNvPr id="102" name="T0"/>
          <p:cNvSpPr/>
          <p:nvPr/>
        </p:nvSpPr>
        <p:spPr>
          <a:xfrm>
            <a:off x="320040" y="4041648"/>
            <a:ext cx="137160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3" name="Plus0"/>
          <p:cNvSpPr txBox="1"/>
          <p:nvPr/>
        </p:nvSpPr>
        <p:spPr>
          <a:xfrm>
            <a:off x="1728216" y="4160520"/>
            <a:ext cx="29260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4" name="T1"/>
          <p:cNvSpPr/>
          <p:nvPr/>
        </p:nvSpPr>
        <p:spPr>
          <a:xfrm>
            <a:off x="2057400" y="4041648"/>
            <a:ext cx="15544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HARNESS</a:t>
            </a:r>
          </a:p>
        </p:txBody>
      </p:sp>
      <p:sp>
        <p:nvSpPr>
          <p:cNvPr id="105" name="Plus1"/>
          <p:cNvSpPr txBox="1"/>
          <p:nvPr/>
        </p:nvSpPr>
        <p:spPr>
          <a:xfrm>
            <a:off x="3648456" y="4160520"/>
            <a:ext cx="29260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6" name="T2"/>
          <p:cNvSpPr/>
          <p:nvPr/>
        </p:nvSpPr>
        <p:spPr>
          <a:xfrm>
            <a:off x="3977640" y="4041648"/>
            <a:ext cx="21031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ENVIRONMENT</a:t>
            </a:r>
          </a:p>
        </p:txBody>
      </p:sp>
      <p:cxnSp>
        <p:nvCxnSpPr>
          <p:cNvPr id="107" name="C102"/>
          <p:cNvCxnSpPr/>
          <p:nvPr/>
        </p:nvCxnSpPr>
        <p:spPr>
          <a:xfrm>
            <a:off x="6135624" y="4407408"/>
            <a:ext cx="329184" cy="0"/>
          </a:xfrm>
          <a:prstGeom prst="straightConnector1">
            <a:avLst/>
          </a:prstGeom>
          <a:ln w="44450">
            <a:solidFill>
              <a:srgbClr val="8E6F3E"/>
            </a:solidFill>
            <a:tailEnd type="triangle" w="med" len="med"/>
          </a:ln>
        </p:spPr>
      </p:cxnSp>
      <p:sp>
        <p:nvSpPr>
          <p:cNvPr id="108" name="T3"/>
          <p:cNvSpPr/>
          <p:nvPr/>
        </p:nvSpPr>
        <p:spPr>
          <a:xfrm>
            <a:off x="6519672" y="4041648"/>
            <a:ext cx="23317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ENGINEERING CAPABILITY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Act I asked how engineers decide what to build and how to justify it.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Act II begins with machines that can do the building. Today: what they are made of.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Agent capability belongs to the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100" name="S0"/>
          <p:cNvSpPr/>
          <p:nvPr/>
        </p:nvSpPr>
        <p:spPr>
          <a:xfrm>
            <a:off x="502920" y="1371600"/>
            <a:ext cx="182880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1" name="S1"/>
          <p:cNvSpPr/>
          <p:nvPr/>
        </p:nvSpPr>
        <p:spPr>
          <a:xfrm>
            <a:off x="2743200" y="1371600"/>
            <a:ext cx="23774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 HARNESS</a:t>
            </a:r>
          </a:p>
        </p:txBody>
      </p:sp>
      <p:sp>
        <p:nvSpPr>
          <p:cNvPr id="102" name="S2"/>
          <p:cNvSpPr/>
          <p:nvPr/>
        </p:nvSpPr>
        <p:spPr>
          <a:xfrm>
            <a:off x="5532120" y="1371600"/>
            <a:ext cx="31089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ENGINEERING ENVIRONMENT</a:t>
            </a:r>
          </a:p>
        </p:txBody>
      </p:sp>
      <p:sp>
        <p:nvSpPr>
          <p:cNvPr id="103" name="PlusA"/>
          <p:cNvSpPr txBox="1"/>
          <p:nvPr/>
        </p:nvSpPr>
        <p:spPr>
          <a:xfrm>
            <a:off x="2377440" y="1536192"/>
            <a:ext cx="32918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4" name="PlusB"/>
          <p:cNvSpPr txBox="1"/>
          <p:nvPr/>
        </p:nvSpPr>
        <p:spPr>
          <a:xfrm>
            <a:off x="5148072" y="1536192"/>
            <a:ext cx="32918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cxnSp>
        <p:nvCxnSpPr>
          <p:cNvPr id="105" name="Down"/>
          <p:cNvCxnSpPr/>
          <p:nvPr/>
        </p:nvCxnSpPr>
        <p:spPr>
          <a:xfrm>
            <a:off x="4572000" y="2286000"/>
            <a:ext cx="0" cy="457200"/>
          </a:xfrm>
          <a:prstGeom prst="straightConnector1">
            <a:avLst/>
          </a:prstGeom>
          <a:ln w="44450">
            <a:solidFill>
              <a:srgbClr val="8E6F3E"/>
            </a:solidFill>
            <a:tailEnd type="triangle" w="med" len="med"/>
          </a:ln>
        </p:spPr>
      </p:cxnSp>
      <p:sp>
        <p:nvSpPr>
          <p:cNvPr id="106" name="Cap"/>
          <p:cNvSpPr/>
          <p:nvPr/>
        </p:nvSpPr>
        <p:spPr>
          <a:xfrm>
            <a:off x="2743200" y="2880360"/>
            <a:ext cx="36576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ENGINEERING CAPABILITY</a:t>
            </a:r>
          </a:p>
        </p:txBody>
      </p:sp>
      <p:sp>
        <p:nvSpPr>
          <p:cNvPr id="107" name="Obs"/>
          <p:cNvSpPr txBox="1"/>
          <p:nvPr/>
        </p:nvSpPr>
        <p:spPr>
          <a:xfrm>
            <a:off x="640080" y="4069080"/>
            <a:ext cx="786384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Models provide capability.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Harnesses turn capability into work.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Environments determine what work requires reasoning.</a:t>
            </a:r>
          </a:p>
        </p:txBody>
      </p:sp>
      <p:sp>
        <p:nvSpPr>
          <p:cNvPr id="10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Engineer the system, not merely the prompt.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Today we will build one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2286000" y="1234440"/>
            <a:ext cx="4572000" cy="3200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2468880" y="137160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ENGINEERING ENVIRONMENT</a:t>
            </a:r>
          </a:p>
        </p:txBody>
      </p:sp>
      <p:sp>
        <p:nvSpPr>
          <p:cNvPr id="102" name="Har"/>
          <p:cNvSpPr/>
          <p:nvPr/>
        </p:nvSpPr>
        <p:spPr>
          <a:xfrm>
            <a:off x="3017520" y="1920240"/>
            <a:ext cx="3108960" cy="2148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3" name="HarLbl"/>
          <p:cNvSpPr txBox="1"/>
          <p:nvPr/>
        </p:nvSpPr>
        <p:spPr>
          <a:xfrm>
            <a:off x="3200400" y="2029968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 HARNESS</a:t>
            </a:r>
          </a:p>
        </p:txBody>
      </p:sp>
      <p:sp>
        <p:nvSpPr>
          <p:cNvPr id="104" name="Mod"/>
          <p:cNvSpPr/>
          <p:nvPr/>
        </p:nvSpPr>
        <p:spPr>
          <a:xfrm>
            <a:off x="3794760" y="2697480"/>
            <a:ext cx="15544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5" name="Q0"/>
          <p:cNvSpPr txBox="1"/>
          <p:nvPr/>
        </p:nvSpPr>
        <p:spPr>
          <a:xfrm>
            <a:off x="228600" y="160020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1" dirty="0">
                <a:solidFill>
                  <a:srgbClr val="8E6F3E"/>
                </a:solidFill>
              </a:rPr>
              <a:t xml:space="preserve">What capability?</a:t>
            </a:r>
          </a:p>
        </p:txBody>
      </p:sp>
      <p:sp>
        <p:nvSpPr>
          <p:cNvPr id="106" name="Q1"/>
          <p:cNvSpPr txBox="1"/>
          <p:nvPr/>
        </p:nvSpPr>
        <p:spPr>
          <a:xfrm>
            <a:off x="6995160" y="160020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1" dirty="0">
                <a:solidFill>
                  <a:srgbClr val="8E6F3E"/>
                </a:solidFill>
              </a:rPr>
              <a:t xml:space="preserve">What leverage?</a:t>
            </a:r>
          </a:p>
        </p:txBody>
      </p:sp>
      <p:sp>
        <p:nvSpPr>
          <p:cNvPr id="107" name="Q2"/>
          <p:cNvSpPr txBox="1"/>
          <p:nvPr/>
        </p:nvSpPr>
        <p:spPr>
          <a:xfrm>
            <a:off x="228600" y="393192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1" dirty="0">
                <a:solidFill>
                  <a:srgbClr val="8E6F3E"/>
                </a:solidFill>
              </a:rPr>
              <a:t xml:space="preserve">What work?</a:t>
            </a:r>
          </a:p>
        </p:txBody>
      </p:sp>
      <p:sp>
        <p:nvSpPr>
          <p:cNvPr id="108" name="Q3"/>
          <p:cNvSpPr txBox="1"/>
          <p:nvPr/>
        </p:nvSpPr>
        <p:spPr>
          <a:xfrm>
            <a:off x="6995160" y="393192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1" dirty="0">
                <a:solidFill>
                  <a:srgbClr val="8E6F3E"/>
                </a:solidFill>
              </a:rPr>
              <a:t xml:space="preserve">What control?</a:t>
            </a:r>
          </a:p>
        </p:txBody>
      </p:sp>
      <p:sp>
        <p:nvSpPr>
          <p:cNvPr id="109" name="Sub"/>
          <p:cNvSpPr txBox="1"/>
          <p:nvPr/>
        </p:nvSpPr>
        <p:spPr>
          <a:xfrm>
            <a:off x="274320" y="470916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capability · leverage · work · control — the four questions of the day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Everything today attaches to this picture.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What are we buying in a model?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Models differ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100" name="Cap"/>
          <p:cNvSpPr txBox="1"/>
          <p:nvPr/>
        </p:nvSpPr>
        <p:spPr>
          <a:xfrm>
            <a:off x="274320" y="96012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1" i="0" dirty="0">
                <a:solidFill>
                  <a:srgbClr val="5C4826"/>
                </a:solidFill>
              </a:rPr>
              <a:t xml:space="preserve">CAPABILITY</a:t>
            </a:r>
          </a:p>
        </p:txBody>
      </p:sp>
      <p:sp>
        <p:nvSpPr>
          <p:cNvPr id="101" name="C0"/>
          <p:cNvSpPr/>
          <p:nvPr/>
        </p:nvSpPr>
        <p:spPr>
          <a:xfrm>
            <a:off x="594360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reasoning</a:t>
            </a:r>
          </a:p>
        </p:txBody>
      </p:sp>
      <p:sp>
        <p:nvSpPr>
          <p:cNvPr id="102" name="C1"/>
          <p:cNvSpPr/>
          <p:nvPr/>
        </p:nvSpPr>
        <p:spPr>
          <a:xfrm>
            <a:off x="2221992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coding</a:t>
            </a:r>
          </a:p>
        </p:txBody>
      </p:sp>
      <p:sp>
        <p:nvSpPr>
          <p:cNvPr id="103" name="C2"/>
          <p:cNvSpPr/>
          <p:nvPr/>
        </p:nvSpPr>
        <p:spPr>
          <a:xfrm>
            <a:off x="3849624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vision</a:t>
            </a:r>
          </a:p>
        </p:txBody>
      </p:sp>
      <p:sp>
        <p:nvSpPr>
          <p:cNvPr id="104" name="C3"/>
          <p:cNvSpPr/>
          <p:nvPr/>
        </p:nvSpPr>
        <p:spPr>
          <a:xfrm>
            <a:off x="5477256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tool use</a:t>
            </a:r>
          </a:p>
        </p:txBody>
      </p:sp>
      <p:sp>
        <p:nvSpPr>
          <p:cNvPr id="105" name="C4"/>
          <p:cNvSpPr/>
          <p:nvPr/>
        </p:nvSpPr>
        <p:spPr>
          <a:xfrm>
            <a:off x="7104888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domain knowledge</a:t>
            </a:r>
          </a:p>
        </p:txBody>
      </p:sp>
      <p:sp>
        <p:nvSpPr>
          <p:cNvPr id="106" name="Lbl2"/>
          <p:cNvSpPr txBox="1"/>
          <p:nvPr/>
        </p:nvSpPr>
        <p:spPr>
          <a:xfrm>
            <a:off x="274320" y="306324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AND ENGINEERING PROPERTIES</a:t>
            </a:r>
          </a:p>
        </p:txBody>
      </p:sp>
      <p:sp>
        <p:nvSpPr>
          <p:cNvPr id="107" name="P0"/>
          <p:cNvSpPr/>
          <p:nvPr/>
        </p:nvSpPr>
        <p:spPr>
          <a:xfrm>
            <a:off x="594360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cost</a:t>
            </a:r>
          </a:p>
        </p:txBody>
      </p:sp>
      <p:sp>
        <p:nvSpPr>
          <p:cNvPr id="108" name="P1"/>
          <p:cNvSpPr/>
          <p:nvPr/>
        </p:nvSpPr>
        <p:spPr>
          <a:xfrm>
            <a:off x="2221992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latency</a:t>
            </a:r>
          </a:p>
        </p:txBody>
      </p:sp>
      <p:sp>
        <p:nvSpPr>
          <p:cNvPr id="109" name="P2"/>
          <p:cNvSpPr/>
          <p:nvPr/>
        </p:nvSpPr>
        <p:spPr>
          <a:xfrm>
            <a:off x="3849624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context</a:t>
            </a:r>
          </a:p>
        </p:txBody>
      </p:sp>
      <p:sp>
        <p:nvSpPr>
          <p:cNvPr id="110" name="P3"/>
          <p:cNvSpPr/>
          <p:nvPr/>
        </p:nvSpPr>
        <p:spPr>
          <a:xfrm>
            <a:off x="5477256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deployment</a:t>
            </a:r>
          </a:p>
        </p:txBody>
      </p:sp>
      <p:sp>
        <p:nvSpPr>
          <p:cNvPr id="111" name="P4"/>
          <p:cNvSpPr/>
          <p:nvPr/>
        </p:nvSpPr>
        <p:spPr>
          <a:xfrm>
            <a:off x="7104888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availability</a:t>
            </a:r>
          </a:p>
        </p:txBody>
      </p:sp>
      <p:sp>
        <p:nvSpPr>
          <p:cNvPr id="112" name="Ital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Different models occupy genuinely different points in this space.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“Model strength” is not a scalar engineering specification.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There is no context-free best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365760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FRONTIER</a:t>
            </a:r>
          </a:p>
        </p:txBody>
      </p:sp>
      <p:sp>
        <p:nvSpPr>
          <p:cNvPr id="101" name="B0"/>
          <p:cNvSpPr/>
          <p:nvPr/>
        </p:nvSpPr>
        <p:spPr>
          <a:xfrm>
            <a:off x="365760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most capable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highest cost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hosted API only</a:t>
            </a:r>
          </a:p>
        </p:txBody>
      </p:sp>
      <p:sp>
        <p:nvSpPr>
          <p:cNvPr id="102" name="H1"/>
          <p:cNvSpPr/>
          <p:nvPr/>
        </p:nvSpPr>
        <p:spPr>
          <a:xfrm>
            <a:off x="2496312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FAST HOSTED</a:t>
            </a:r>
          </a:p>
        </p:txBody>
      </p:sp>
      <p:sp>
        <p:nvSpPr>
          <p:cNvPr id="103" name="B1"/>
          <p:cNvSpPr/>
          <p:nvPr/>
        </p:nvSpPr>
        <p:spPr>
          <a:xfrm>
            <a:off x="2496312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cheaper · faster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less capable</a:t>
            </a:r>
          </a:p>
        </p:txBody>
      </p:sp>
      <p:sp>
        <p:nvSpPr>
          <p:cNvPr id="104" name="H2"/>
          <p:cNvSpPr/>
          <p:nvPr/>
        </p:nvSpPr>
        <p:spPr>
          <a:xfrm>
            <a:off x="4626864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SPECIALIZED</a:t>
            </a:r>
          </a:p>
        </p:txBody>
      </p:sp>
      <p:sp>
        <p:nvSpPr>
          <p:cNvPr id="105" name="B2"/>
          <p:cNvSpPr/>
          <p:nvPr/>
        </p:nvSpPr>
        <p:spPr>
          <a:xfrm>
            <a:off x="4626864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strong in a domain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narrow elsewhere</a:t>
            </a:r>
          </a:p>
        </p:txBody>
      </p:sp>
      <p:sp>
        <p:nvSpPr>
          <p:cNvPr id="106" name="H3"/>
          <p:cNvSpPr/>
          <p:nvPr/>
        </p:nvSpPr>
        <p:spPr>
          <a:xfrm>
            <a:off x="6757416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OPEN-WEIGHT</a:t>
            </a:r>
          </a:p>
        </p:txBody>
      </p:sp>
      <p:sp>
        <p:nvSpPr>
          <p:cNvPr id="107" name="B3"/>
          <p:cNvSpPr/>
          <p:nvPr/>
        </p:nvSpPr>
        <p:spPr>
          <a:xfrm>
            <a:off x="6757416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local / self-hosted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your data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yours to adapt</a:t>
            </a:r>
          </a:p>
        </p:txBody>
      </p:sp>
      <p:sp>
        <p:nvSpPr>
          <p:cNvPr id="108" name="OpenNote"/>
          <p:cNvSpPr/>
          <p:nvPr/>
        </p:nvSpPr>
        <p:spPr>
          <a:xfrm>
            <a:off x="365760" y="3520440"/>
            <a:ext cx="8412480" cy="914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Open weights change what is engineerable: deployment, privacy,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customization, economics — depending on the model and the license.</a:t>
            </a:r>
          </a:p>
        </p:txBody>
      </p:sp>
      <p:sp>
        <p:nvSpPr>
          <p:cNvPr id="109" name="Ital"/>
          <p:cNvSpPr txBox="1"/>
          <p:nvPr/>
        </p:nvSpPr>
        <p:spPr>
          <a:xfrm>
            <a:off x="274320" y="47091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Selection is made under requirements and constraints — not from a leaderboard.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Model selection is an engineering decision.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Stronger model ≠ stronger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0" name="RA0"/>
          <p:cNvSpPr/>
          <p:nvPr/>
        </p:nvSpPr>
        <p:spPr>
          <a:xfrm>
            <a:off x="365760" y="96012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STRONG MODEL</a:t>
            </a:r>
          </a:p>
        </p:txBody>
      </p:sp>
      <p:sp>
        <p:nvSpPr>
          <p:cNvPr id="101" name="RAp"/>
          <p:cNvSpPr txBox="1"/>
          <p:nvPr/>
        </p:nvSpPr>
        <p:spPr>
          <a:xfrm>
            <a:off x="2697480" y="1069848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2" name="RA1"/>
          <p:cNvSpPr/>
          <p:nvPr/>
        </p:nvSpPr>
        <p:spPr>
          <a:xfrm>
            <a:off x="3017520" y="96012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55960"/>
                </a:solidFill>
              </a:rPr>
              <a:t xml:space="preserve">WEAK SUPPORT</a:t>
            </a:r>
          </a:p>
        </p:txBody>
      </p:sp>
      <p:cxnSp>
        <p:nvCxnSpPr>
          <p:cNvPr id="103" name="RAa"/>
          <p:cNvCxnSpPr/>
          <p:nvPr/>
        </p:nvCxnSpPr>
        <p:spPr>
          <a:xfrm>
            <a:off x="5440680" y="1243584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RAq"/>
          <p:cNvSpPr/>
          <p:nvPr/>
        </p:nvSpPr>
        <p:spPr>
          <a:xfrm>
            <a:off x="5943600" y="960120"/>
            <a:ext cx="640080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?</a:t>
            </a:r>
          </a:p>
        </p:txBody>
      </p:sp>
      <p:sp>
        <p:nvSpPr>
          <p:cNvPr id="105" name="RB0"/>
          <p:cNvSpPr/>
          <p:nvPr/>
        </p:nvSpPr>
        <p:spPr>
          <a:xfrm>
            <a:off x="365760" y="169164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55960"/>
                </a:solidFill>
              </a:rPr>
              <a:t xml:space="preserve">WEAKER MODEL</a:t>
            </a:r>
          </a:p>
        </p:txBody>
      </p:sp>
      <p:sp>
        <p:nvSpPr>
          <p:cNvPr id="106" name="RBp"/>
          <p:cNvSpPr txBox="1"/>
          <p:nvPr/>
        </p:nvSpPr>
        <p:spPr>
          <a:xfrm>
            <a:off x="2697480" y="1801368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7" name="RB1"/>
          <p:cNvSpPr/>
          <p:nvPr/>
        </p:nvSpPr>
        <p:spPr>
          <a:xfrm>
            <a:off x="3017520" y="169164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STRONG SUPPORT</a:t>
            </a:r>
          </a:p>
        </p:txBody>
      </p:sp>
      <p:cxnSp>
        <p:nvCxnSpPr>
          <p:cNvPr id="108" name="RBa"/>
          <p:cNvCxnSpPr/>
          <p:nvPr/>
        </p:nvCxnSpPr>
        <p:spPr>
          <a:xfrm>
            <a:off x="5440680" y="1975104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RBq"/>
          <p:cNvSpPr/>
          <p:nvPr/>
        </p:nvSpPr>
        <p:spPr>
          <a:xfrm>
            <a:off x="5943600" y="1691640"/>
            <a:ext cx="640080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?</a:t>
            </a:r>
          </a:p>
        </p:txBody>
      </p:sp>
      <p:sp>
        <p:nvSpPr>
          <p:cNvPr id="110" name="Evid"/>
          <p:cNvSpPr/>
          <p:nvPr/>
        </p:nvSpPr>
        <p:spPr>
          <a:xfrm>
            <a:off x="365760" y="2514600"/>
            <a:ext cx="8412480" cy="123444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Same model, different harnesses: 33% → 49% (SWE-bench Verified)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Claude 3.5 Sonnet across scaffold revisions (Anthropic, 2024).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Public-leaderboard harness gaps for one model rival model gaps.</a:t>
            </a:r>
          </a:p>
        </p:txBody>
      </p:sp>
      <p:sp>
        <p:nvSpPr>
          <p:cNvPr id="111" name="TPSbadge"/>
          <p:cNvSpPr/>
          <p:nvPr/>
        </p:nvSpPr>
        <p:spPr>
          <a:xfrm>
            <a:off x="365760" y="3977640"/>
            <a:ext cx="3108960" cy="512064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1F7A4D"/>
                </a:solidFill>
              </a:rPr>
              <a:t xml:space="preserve">SHARE</a:t>
            </a:r>
          </a:p>
        </p:txBody>
      </p:sp>
      <p:sp>
        <p:nvSpPr>
          <p:cNvPr id="112" name="TpsPrompt"/>
          <p:cNvSpPr txBox="1"/>
          <p:nvPr/>
        </p:nvSpPr>
        <p:spPr>
          <a:xfrm>
            <a:off x="3657600" y="3977640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If a cheaper model needs a better environment, which should you buy?</a:t>
            </a:r>
          </a:p>
        </p:txBody>
      </p:sp>
      <p:sp>
        <p:nvSpPr>
          <p:cNvPr id="113" name="Reveal"/>
          <p:cNvSpPr txBox="1"/>
          <p:nvPr/>
        </p:nvSpPr>
        <p:spPr>
          <a:xfrm>
            <a:off x="365760" y="498348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Insufficient information — and that is the point. It is an engineering decision.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Support is a capability lever of the same order as model choice.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What makes a model an agent?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model produces; an agent acts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0" name="MLbl"/>
          <p:cNvSpPr txBox="1"/>
          <p:nvPr/>
        </p:nvSpPr>
        <p:spPr>
          <a:xfrm>
            <a:off x="365760" y="100584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MODEL</a:t>
            </a:r>
          </a:p>
        </p:txBody>
      </p:sp>
      <p:sp>
        <p:nvSpPr>
          <p:cNvPr id="101" name="M0"/>
          <p:cNvSpPr/>
          <p:nvPr/>
        </p:nvSpPr>
        <p:spPr>
          <a:xfrm>
            <a:off x="548640" y="1554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context</a:t>
            </a:r>
          </a:p>
        </p:txBody>
      </p:sp>
      <p:cxnSp>
        <p:nvCxnSpPr>
          <p:cNvPr id="102" name="MA0"/>
          <p:cNvCxnSpPr/>
          <p:nvPr/>
        </p:nvCxnSpPr>
        <p:spPr>
          <a:xfrm>
            <a:off x="2743200" y="1874520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M1"/>
          <p:cNvSpPr/>
          <p:nvPr/>
        </p:nvSpPr>
        <p:spPr>
          <a:xfrm>
            <a:off x="3200400" y="1554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inference</a:t>
            </a:r>
          </a:p>
        </p:txBody>
      </p:sp>
      <p:cxnSp>
        <p:nvCxnSpPr>
          <p:cNvPr id="104" name="MA1"/>
          <p:cNvCxnSpPr/>
          <p:nvPr/>
        </p:nvCxnSpPr>
        <p:spPr>
          <a:xfrm>
            <a:off x="5394960" y="1874520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M2"/>
          <p:cNvSpPr/>
          <p:nvPr/>
        </p:nvSpPr>
        <p:spPr>
          <a:xfrm>
            <a:off x="5852160" y="1554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output</a:t>
            </a:r>
          </a:p>
        </p:txBody>
      </p:sp>
      <p:sp>
        <p:nvSpPr>
          <p:cNvPr id="106" name="ALbl"/>
          <p:cNvSpPr txBox="1"/>
          <p:nvPr/>
        </p:nvSpPr>
        <p:spPr>
          <a:xfrm>
            <a:off x="365760" y="265176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AGENT</a:t>
            </a:r>
          </a:p>
        </p:txBody>
      </p:sp>
      <p:sp>
        <p:nvSpPr>
          <p:cNvPr id="107" name="A0"/>
          <p:cNvSpPr/>
          <p:nvPr/>
        </p:nvSpPr>
        <p:spPr>
          <a:xfrm>
            <a:off x="54864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goal</a:t>
            </a:r>
          </a:p>
        </p:txBody>
      </p:sp>
      <p:cxnSp>
        <p:nvCxnSpPr>
          <p:cNvPr id="108" name="AA0"/>
          <p:cNvCxnSpPr/>
          <p:nvPr/>
        </p:nvCxnSpPr>
        <p:spPr>
          <a:xfrm>
            <a:off x="2377440" y="35204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A1"/>
          <p:cNvSpPr/>
          <p:nvPr/>
        </p:nvSpPr>
        <p:spPr>
          <a:xfrm>
            <a:off x="265176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reason</a:t>
            </a:r>
          </a:p>
        </p:txBody>
      </p:sp>
      <p:cxnSp>
        <p:nvCxnSpPr>
          <p:cNvPr id="110" name="AA1"/>
          <p:cNvCxnSpPr/>
          <p:nvPr/>
        </p:nvCxnSpPr>
        <p:spPr>
          <a:xfrm>
            <a:off x="4480560" y="35204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A2"/>
          <p:cNvSpPr/>
          <p:nvPr/>
        </p:nvSpPr>
        <p:spPr>
          <a:xfrm>
            <a:off x="475488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act</a:t>
            </a:r>
          </a:p>
        </p:txBody>
      </p:sp>
      <p:cxnSp>
        <p:nvCxnSpPr>
          <p:cNvPr id="112" name="AA2"/>
          <p:cNvCxnSpPr/>
          <p:nvPr/>
        </p:nvCxnSpPr>
        <p:spPr>
          <a:xfrm>
            <a:off x="6583680" y="35204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3" name="A3"/>
          <p:cNvSpPr/>
          <p:nvPr/>
        </p:nvSpPr>
        <p:spPr>
          <a:xfrm>
            <a:off x="685800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observe</a:t>
            </a:r>
          </a:p>
        </p:txBody>
      </p:sp>
      <p:cxnSp>
        <p:nvCxnSpPr>
          <p:cNvPr id="114" name="LD"/>
          <p:cNvCxnSpPr/>
          <p:nvPr/>
        </p:nvCxnSpPr>
        <p:spPr>
          <a:xfrm>
            <a:off x="7726680" y="39319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15" name="LA"/>
          <p:cNvCxnSpPr/>
          <p:nvPr/>
        </p:nvCxnSpPr>
        <p:spPr>
          <a:xfrm flipH="1">
            <a:off x="3520440" y="4434840"/>
            <a:ext cx="420624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16" name="LU"/>
          <p:cNvCxnSpPr/>
          <p:nvPr/>
        </p:nvCxnSpPr>
        <p:spPr>
          <a:xfrm flipV="1">
            <a:off x="3520440" y="39319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7" name="LoopLbl"/>
          <p:cNvSpPr txBox="1"/>
          <p:nvPr/>
        </p:nvSpPr>
        <p:spPr>
          <a:xfrm>
            <a:off x="4023360" y="45720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results become new context</a:t>
            </a:r>
          </a:p>
        </p:txBody>
      </p:sp>
      <p:sp>
        <p:nvSpPr>
          <p:cNvPr id="11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harness creates the difference between these two rows.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Definition: the agent harness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05840"/>
            <a:ext cx="8138160" cy="205740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 xml:space="preserve">AGENT HARNESS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The software infrastructure that turns model outputs into an iterative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process of observation, reasoning, and action — managing working context,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exposing tools, executing requested actions, returning their results,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and controlling how work continues.</a:t>
            </a:r>
          </a:p>
        </p:txBody>
      </p:sp>
      <p:sp>
        <p:nvSpPr>
          <p:cNvPr id="101" name="L0"/>
          <p:cNvSpPr/>
          <p:nvPr/>
        </p:nvSpPr>
        <p:spPr>
          <a:xfrm>
            <a:off x="86868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CONTEXT</a:t>
            </a:r>
          </a:p>
        </p:txBody>
      </p:sp>
      <p:cxnSp>
        <p:nvCxnSpPr>
          <p:cNvPr id="102" name="LC0"/>
          <p:cNvCxnSpPr/>
          <p:nvPr/>
        </p:nvCxnSpPr>
        <p:spPr>
          <a:xfrm>
            <a:off x="2560320" y="3840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L1"/>
          <p:cNvSpPr/>
          <p:nvPr/>
        </p:nvSpPr>
        <p:spPr>
          <a:xfrm>
            <a:off x="288036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cxnSp>
        <p:nvCxnSpPr>
          <p:cNvPr id="104" name="LC1"/>
          <p:cNvCxnSpPr/>
          <p:nvPr/>
        </p:nvCxnSpPr>
        <p:spPr>
          <a:xfrm>
            <a:off x="4572000" y="3840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L2"/>
          <p:cNvSpPr/>
          <p:nvPr/>
        </p:nvSpPr>
        <p:spPr>
          <a:xfrm>
            <a:off x="489204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ACTION</a:t>
            </a:r>
          </a:p>
        </p:txBody>
      </p:sp>
      <p:cxnSp>
        <p:nvCxnSpPr>
          <p:cNvPr id="106" name="LC2"/>
          <p:cNvCxnSpPr/>
          <p:nvPr/>
        </p:nvCxnSpPr>
        <p:spPr>
          <a:xfrm>
            <a:off x="6583680" y="3840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L3"/>
          <p:cNvSpPr/>
          <p:nvPr/>
        </p:nvSpPr>
        <p:spPr>
          <a:xfrm>
            <a:off x="690372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RESULT</a:t>
            </a:r>
          </a:p>
        </p:txBody>
      </p:sp>
      <p:cxnSp>
        <p:nvCxnSpPr>
          <p:cNvPr id="108" name="LoopD"/>
          <p:cNvCxnSpPr/>
          <p:nvPr/>
        </p:nvCxnSpPr>
        <p:spPr>
          <a:xfrm>
            <a:off x="7680960" y="4160520"/>
            <a:ext cx="0" cy="45720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09" name="LoopA"/>
          <p:cNvCxnSpPr/>
          <p:nvPr/>
        </p:nvCxnSpPr>
        <p:spPr>
          <a:xfrm flipH="1">
            <a:off x="1645920" y="4617720"/>
            <a:ext cx="603504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10" name="LoopU"/>
          <p:cNvCxnSpPr/>
          <p:nvPr/>
        </p:nvCxnSpPr>
        <p:spPr>
          <a:xfrm flipV="1">
            <a:off x="1645920" y="4160520"/>
            <a:ext cx="0" cy="45720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LoopLbl"/>
          <p:cNvSpPr txBox="1"/>
          <p:nvPr/>
        </p:nvSpPr>
        <p:spPr>
          <a:xfrm>
            <a:off x="3291840" y="47731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and around again</a:t>
            </a:r>
          </a:p>
        </p:txBody>
      </p:sp>
      <p:sp>
        <p:nvSpPr>
          <p:cNvPr id="1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Every phrase in the definition is a design surface.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harness closes the loop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00" name="S0"/>
          <p:cNvSpPr/>
          <p:nvPr/>
        </p:nvSpPr>
        <p:spPr>
          <a:xfrm>
            <a:off x="1463040" y="960120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inspect repo</a:t>
            </a:r>
          </a:p>
        </p:txBody>
      </p:sp>
      <p:sp>
        <p:nvSpPr>
          <p:cNvPr id="101" name="G0"/>
          <p:cNvSpPr txBox="1"/>
          <p:nvPr/>
        </p:nvSpPr>
        <p:spPr>
          <a:xfrm>
            <a:off x="4114800" y="1106424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the repository becomes context</a:t>
            </a:r>
          </a:p>
        </p:txBody>
      </p:sp>
      <p:cxnSp>
        <p:nvCxnSpPr>
          <p:cNvPr id="102" name="SA0"/>
          <p:cNvCxnSpPr/>
          <p:nvPr/>
        </p:nvCxnSpPr>
        <p:spPr>
          <a:xfrm>
            <a:off x="2651760" y="1581912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S1"/>
          <p:cNvSpPr/>
          <p:nvPr/>
        </p:nvSpPr>
        <p:spPr>
          <a:xfrm>
            <a:off x="1463040" y="1856232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edit file</a:t>
            </a:r>
          </a:p>
        </p:txBody>
      </p:sp>
      <p:sp>
        <p:nvSpPr>
          <p:cNvPr id="104" name="G1"/>
          <p:cNvSpPr txBox="1"/>
          <p:nvPr/>
        </p:nvSpPr>
        <p:spPr>
          <a:xfrm>
            <a:off x="4114800" y="2002536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an action with real effects</a:t>
            </a:r>
          </a:p>
        </p:txBody>
      </p:sp>
      <p:cxnSp>
        <p:nvCxnSpPr>
          <p:cNvPr id="105" name="SA1"/>
          <p:cNvCxnSpPr/>
          <p:nvPr/>
        </p:nvCxnSpPr>
        <p:spPr>
          <a:xfrm>
            <a:off x="2651760" y="2478024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6" name="S2"/>
          <p:cNvSpPr/>
          <p:nvPr/>
        </p:nvSpPr>
        <p:spPr>
          <a:xfrm>
            <a:off x="1463040" y="2752344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run test</a:t>
            </a:r>
          </a:p>
        </p:txBody>
      </p:sp>
      <p:sp>
        <p:nvSpPr>
          <p:cNvPr id="107" name="G2"/>
          <p:cNvSpPr txBox="1"/>
          <p:nvPr/>
        </p:nvSpPr>
        <p:spPr>
          <a:xfrm>
            <a:off x="4114800" y="2898648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the environment answers</a:t>
            </a:r>
          </a:p>
        </p:txBody>
      </p:sp>
      <p:cxnSp>
        <p:nvCxnSpPr>
          <p:cNvPr id="108" name="SA2"/>
          <p:cNvCxnSpPr/>
          <p:nvPr/>
        </p:nvCxnSpPr>
        <p:spPr>
          <a:xfrm>
            <a:off x="2651760" y="3374136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S3"/>
          <p:cNvSpPr/>
          <p:nvPr/>
        </p:nvSpPr>
        <p:spPr>
          <a:xfrm>
            <a:off x="1463040" y="3648456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observe failure</a:t>
            </a:r>
          </a:p>
        </p:txBody>
      </p:sp>
      <p:sp>
        <p:nvSpPr>
          <p:cNvPr id="110" name="G3"/>
          <p:cNvSpPr txBox="1"/>
          <p:nvPr/>
        </p:nvSpPr>
        <p:spPr>
          <a:xfrm>
            <a:off x="4114800" y="3794760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the answer becomes new context</a:t>
            </a:r>
          </a:p>
        </p:txBody>
      </p:sp>
      <p:cxnSp>
        <p:nvCxnSpPr>
          <p:cNvPr id="111" name="SA3"/>
          <p:cNvCxnSpPr/>
          <p:nvPr/>
        </p:nvCxnSpPr>
        <p:spPr>
          <a:xfrm>
            <a:off x="2651760" y="4270248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S4"/>
          <p:cNvSpPr/>
          <p:nvPr/>
        </p:nvSpPr>
        <p:spPr>
          <a:xfrm>
            <a:off x="1463040" y="4544568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revise</a:t>
            </a:r>
          </a:p>
        </p:txBody>
      </p:sp>
      <p:sp>
        <p:nvSpPr>
          <p:cNvPr id="113" name="G4"/>
          <p:cNvSpPr txBox="1"/>
          <p:nvPr/>
        </p:nvSpPr>
        <p:spPr>
          <a:xfrm>
            <a:off x="4114800" y="469087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reasoning continues, better informed</a:t>
            </a:r>
          </a:p>
        </p:txBody>
      </p:sp>
      <p:cxnSp>
        <p:nvCxnSpPr>
          <p:cNvPr id="114" name="LoopL"/>
          <p:cNvCxnSpPr/>
          <p:nvPr/>
        </p:nvCxnSpPr>
        <p:spPr>
          <a:xfrm>
            <a:off x="1143000" y="1271016"/>
            <a:ext cx="0" cy="365760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5" name="LoopT"/>
          <p:cNvCxnSpPr/>
          <p:nvPr/>
        </p:nvCxnSpPr>
        <p:spPr>
          <a:xfrm>
            <a:off x="1143000" y="1271016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6" name="LoopB"/>
          <p:cNvCxnSpPr/>
          <p:nvPr/>
        </p:nvCxnSpPr>
        <p:spPr>
          <a:xfrm flipH="1">
            <a:off x="1143000" y="4928616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Consequences of earlier actions become inputs to later reasoning.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harness has levers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00" name="Hub"/>
          <p:cNvSpPr/>
          <p:nvPr/>
        </p:nvSpPr>
        <p:spPr>
          <a:xfrm>
            <a:off x="3154680" y="2514600"/>
            <a:ext cx="283464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 HARNESS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(model inside)</a:t>
            </a:r>
          </a:p>
        </p:txBody>
      </p:sp>
      <p:sp>
        <p:nvSpPr>
          <p:cNvPr id="101" name="L0"/>
          <p:cNvSpPr/>
          <p:nvPr/>
        </p:nvSpPr>
        <p:spPr>
          <a:xfrm>
            <a:off x="685800" y="105156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context</a:t>
            </a:r>
          </a:p>
        </p:txBody>
      </p:sp>
      <p:sp>
        <p:nvSpPr>
          <p:cNvPr id="102" name="L1"/>
          <p:cNvSpPr/>
          <p:nvPr/>
        </p:nvSpPr>
        <p:spPr>
          <a:xfrm>
            <a:off x="3566160" y="105156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instructions</a:t>
            </a:r>
          </a:p>
        </p:txBody>
      </p:sp>
      <p:sp>
        <p:nvSpPr>
          <p:cNvPr id="103" name="L2"/>
          <p:cNvSpPr/>
          <p:nvPr/>
        </p:nvSpPr>
        <p:spPr>
          <a:xfrm>
            <a:off x="6446520" y="105156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tools</a:t>
            </a:r>
          </a:p>
        </p:txBody>
      </p:sp>
      <p:sp>
        <p:nvSpPr>
          <p:cNvPr id="104" name="L3"/>
          <p:cNvSpPr/>
          <p:nvPr/>
        </p:nvSpPr>
        <p:spPr>
          <a:xfrm>
            <a:off x="685800" y="420624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skills</a:t>
            </a:r>
          </a:p>
        </p:txBody>
      </p:sp>
      <p:sp>
        <p:nvSpPr>
          <p:cNvPr id="105" name="L4"/>
          <p:cNvSpPr/>
          <p:nvPr/>
        </p:nvSpPr>
        <p:spPr>
          <a:xfrm>
            <a:off x="3566160" y="420624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memory / state</a:t>
            </a:r>
          </a:p>
        </p:txBody>
      </p:sp>
      <p:sp>
        <p:nvSpPr>
          <p:cNvPr id="106" name="L5"/>
          <p:cNvSpPr/>
          <p:nvPr/>
        </p:nvSpPr>
        <p:spPr>
          <a:xfrm>
            <a:off x="6446520" y="420624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permissions</a:t>
            </a:r>
          </a:p>
        </p:txBody>
      </p:sp>
      <p:cxnSp>
        <p:nvCxnSpPr>
          <p:cNvPr id="107" name="W0"/>
          <p:cNvCxnSpPr/>
          <p:nvPr/>
        </p:nvCxnSpPr>
        <p:spPr>
          <a:xfrm>
            <a:off x="1691640" y="1691640"/>
            <a:ext cx="2148840" cy="8229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08" name="W1"/>
          <p:cNvCxnSpPr/>
          <p:nvPr/>
        </p:nvCxnSpPr>
        <p:spPr>
          <a:xfrm>
            <a:off x="4572000" y="1691640"/>
            <a:ext cx="9144" cy="8229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09" name="W2"/>
          <p:cNvCxnSpPr/>
          <p:nvPr/>
        </p:nvCxnSpPr>
        <p:spPr>
          <a:xfrm flipH="1">
            <a:off x="5303520" y="1691640"/>
            <a:ext cx="2148840" cy="8229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10" name="W3"/>
          <p:cNvCxnSpPr/>
          <p:nvPr/>
        </p:nvCxnSpPr>
        <p:spPr>
          <a:xfrm flipV="1">
            <a:off x="1691640" y="3657600"/>
            <a:ext cx="2148840" cy="54864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11" name="W4"/>
          <p:cNvCxnSpPr/>
          <p:nvPr/>
        </p:nvCxnSpPr>
        <p:spPr>
          <a:xfrm flipV="1">
            <a:off x="4572000" y="3657600"/>
            <a:ext cx="9144" cy="54864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12" name="W5"/>
          <p:cNvCxnSpPr/>
          <p:nvPr/>
        </p:nvCxnSpPr>
        <p:spPr>
          <a:xfrm flipH="1" flipV="1">
            <a:off x="5303520" y="3657600"/>
            <a:ext cx="2148840" cy="54864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sp>
        <p:nvSpPr>
          <p:cNvPr id="113" name="WorkS"/>
          <p:cNvSpPr txBox="1"/>
          <p:nvPr/>
        </p:nvSpPr>
        <p:spPr>
          <a:xfrm>
            <a:off x="365760" y="507492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+ WORK STRUCTURE — applied to the task itself, not the harness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Different levers solve different problems.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Context and instructions shape reasoning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CONTEXT</a:t>
            </a:r>
          </a:p>
        </p:txBody>
      </p:sp>
      <p:sp>
        <p:nvSpPr>
          <p:cNvPr id="101" name="CardL"/>
          <p:cNvSpPr/>
          <p:nvPr/>
        </p:nvSpPr>
        <p:spPr>
          <a:xfrm>
            <a:off x="365760" y="1463040"/>
            <a:ext cx="4023360" cy="2286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What does the model have available to reason over?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repository slices · specifications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retrieved knowledge · prior results</a:t>
            </a:r>
          </a:p>
        </p:txBody>
      </p:sp>
      <p:sp>
        <p:nvSpPr>
          <p:cNvPr id="102" name="LblR"/>
          <p:cNvSpPr txBox="1"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INSTRUCTIONS</a:t>
            </a:r>
          </a:p>
        </p:txBody>
      </p:sp>
      <p:sp>
        <p:nvSpPr>
          <p:cNvPr id="103" name="CardR"/>
          <p:cNvSpPr/>
          <p:nvPr/>
        </p:nvSpPr>
        <p:spPr>
          <a:xfrm>
            <a:off x="4754880" y="1463040"/>
            <a:ext cx="4023360" cy="2286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How have we told it to approach the work?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system instructions · project conventions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task briefs · worked examples</a:t>
            </a:r>
          </a:p>
        </p:txBody>
      </p:sp>
      <p:sp>
        <p:nvSpPr>
          <p:cNvPr id="104" name="Insight"/>
          <p:cNvSpPr/>
          <p:nvPr/>
        </p:nvSpPr>
        <p:spPr>
          <a:xfrm>
            <a:off x="365760" y="4206240"/>
            <a:ext cx="841248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Both arrive through the same channel — but they do different jobs.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Instructions are not facts merely because they sit in the context.</a:t>
            </a:r>
          </a:p>
        </p:txBody>
      </p:sp>
      <p:sp>
        <p:nvSpPr>
          <p:cNvPr id="10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lever: choose the reasoning surface the model starts from.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Tools turn reasoning into effects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0" name="Agent"/>
          <p:cNvSpPr/>
          <p:nvPr/>
        </p:nvSpPr>
        <p:spPr>
          <a:xfrm>
            <a:off x="731520" y="2194560"/>
            <a:ext cx="23774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 xml:space="preserve">AGENT</a:t>
            </a:r>
          </a:p>
        </p:txBody>
      </p:sp>
      <p:sp>
        <p:nvSpPr>
          <p:cNvPr id="101" name="T0"/>
          <p:cNvSpPr/>
          <p:nvPr/>
        </p:nvSpPr>
        <p:spPr>
          <a:xfrm>
            <a:off x="4754880" y="100584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search</a:t>
            </a:r>
          </a:p>
        </p:txBody>
      </p:sp>
      <p:cxnSp>
        <p:nvCxnSpPr>
          <p:cNvPr id="102" name="TC0"/>
          <p:cNvCxnSpPr/>
          <p:nvPr/>
        </p:nvCxnSpPr>
        <p:spPr>
          <a:xfrm flipV="1">
            <a:off x="3108960" y="1280160"/>
            <a:ext cx="1645920" cy="129844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3" name="T1"/>
          <p:cNvSpPr/>
          <p:nvPr/>
        </p:nvSpPr>
        <p:spPr>
          <a:xfrm>
            <a:off x="4754880" y="1627632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shell</a:t>
            </a:r>
          </a:p>
        </p:txBody>
      </p:sp>
      <p:cxnSp>
        <p:nvCxnSpPr>
          <p:cNvPr id="104" name="TC1"/>
          <p:cNvCxnSpPr/>
          <p:nvPr/>
        </p:nvCxnSpPr>
        <p:spPr>
          <a:xfrm flipV="1">
            <a:off x="3108960" y="1901952"/>
            <a:ext cx="1645920" cy="676656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T2"/>
          <p:cNvSpPr/>
          <p:nvPr/>
        </p:nvSpPr>
        <p:spPr>
          <a:xfrm>
            <a:off x="4754880" y="2249424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compiler</a:t>
            </a:r>
          </a:p>
        </p:txBody>
      </p:sp>
      <p:cxnSp>
        <p:nvCxnSpPr>
          <p:cNvPr id="106" name="TC2"/>
          <p:cNvCxnSpPr/>
          <p:nvPr/>
        </p:nvCxnSpPr>
        <p:spPr>
          <a:xfrm flipV="1">
            <a:off x="3108960" y="2523744"/>
            <a:ext cx="1645920" cy="54864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T3"/>
          <p:cNvSpPr/>
          <p:nvPr/>
        </p:nvSpPr>
        <p:spPr>
          <a:xfrm>
            <a:off x="4754880" y="2871216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tests</a:t>
            </a:r>
          </a:p>
        </p:txBody>
      </p:sp>
      <p:cxnSp>
        <p:nvCxnSpPr>
          <p:cNvPr id="108" name="TC3"/>
          <p:cNvCxnSpPr/>
          <p:nvPr/>
        </p:nvCxnSpPr>
        <p:spPr>
          <a:xfrm>
            <a:off x="3108960" y="2578608"/>
            <a:ext cx="1645920" cy="56692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T4"/>
          <p:cNvSpPr/>
          <p:nvPr/>
        </p:nvSpPr>
        <p:spPr>
          <a:xfrm>
            <a:off x="4754880" y="3493008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Git</a:t>
            </a:r>
          </a:p>
        </p:txBody>
      </p:sp>
      <p:cxnSp>
        <p:nvCxnSpPr>
          <p:cNvPr id="110" name="TC4"/>
          <p:cNvCxnSpPr/>
          <p:nvPr/>
        </p:nvCxnSpPr>
        <p:spPr>
          <a:xfrm>
            <a:off x="3108960" y="2578608"/>
            <a:ext cx="1645920" cy="118872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T5"/>
          <p:cNvSpPr/>
          <p:nvPr/>
        </p:nvSpPr>
        <p:spPr>
          <a:xfrm>
            <a:off x="4754880" y="411480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service / API</a:t>
            </a:r>
          </a:p>
        </p:txBody>
      </p:sp>
      <p:cxnSp>
        <p:nvCxnSpPr>
          <p:cNvPr id="112" name="TC5"/>
          <p:cNvCxnSpPr/>
          <p:nvPr/>
        </p:nvCxnSpPr>
        <p:spPr>
          <a:xfrm>
            <a:off x="3108960" y="2578608"/>
            <a:ext cx="1645920" cy="1810512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3" name="Seed"/>
          <p:cNvSpPr txBox="1"/>
          <p:nvPr/>
        </p:nvSpPr>
        <p:spPr>
          <a:xfrm>
            <a:off x="365760" y="489204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Read-only search is one grant of authority; deploy is quite another.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 tool expands capability — and potentially consequence.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MCP standardizes connections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0" name="Host"/>
          <p:cNvSpPr/>
          <p:nvPr/>
        </p:nvSpPr>
        <p:spPr>
          <a:xfrm>
            <a:off x="3291840" y="1005840"/>
            <a:ext cx="256032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 / HOST</a:t>
            </a:r>
          </a:p>
        </p:txBody>
      </p:sp>
      <p:cxnSp>
        <p:nvCxnSpPr>
          <p:cNvPr id="101" name="HD"/>
          <p:cNvCxnSpPr/>
          <p:nvPr/>
        </p:nvCxnSpPr>
        <p:spPr>
          <a:xfrm>
            <a:off x="4572000" y="169164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roto"/>
          <p:cNvSpPr/>
          <p:nvPr/>
        </p:nvSpPr>
        <p:spPr>
          <a:xfrm>
            <a:off x="2331720" y="2011680"/>
            <a:ext cx="4480560" cy="86868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 xml:space="preserve">MODEL CONTEXT PROTOCOL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one common interface</a:t>
            </a:r>
          </a:p>
        </p:txBody>
      </p:sp>
      <p:cxnSp>
        <p:nvCxnSpPr>
          <p:cNvPr id="103" name="F0"/>
          <p:cNvCxnSpPr/>
          <p:nvPr/>
        </p:nvCxnSpPr>
        <p:spPr>
          <a:xfrm flipH="1">
            <a:off x="2606040" y="2880360"/>
            <a:ext cx="1965960" cy="41148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4" name="N0"/>
          <p:cNvSpPr/>
          <p:nvPr/>
        </p:nvSpPr>
        <p:spPr>
          <a:xfrm>
            <a:off x="1828800" y="3291840"/>
            <a:ext cx="155448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service</a:t>
            </a:r>
          </a:p>
        </p:txBody>
      </p:sp>
      <p:cxnSp>
        <p:nvCxnSpPr>
          <p:cNvPr id="105" name="F1"/>
          <p:cNvCxnSpPr/>
          <p:nvPr/>
        </p:nvCxnSpPr>
        <p:spPr>
          <a:xfrm>
            <a:off x="4572000" y="2880360"/>
            <a:ext cx="9144" cy="41148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6" name="N1"/>
          <p:cNvSpPr/>
          <p:nvPr/>
        </p:nvSpPr>
        <p:spPr>
          <a:xfrm>
            <a:off x="3794760" y="3291840"/>
            <a:ext cx="155448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repository</a:t>
            </a:r>
          </a:p>
        </p:txBody>
      </p:sp>
      <p:cxnSp>
        <p:nvCxnSpPr>
          <p:cNvPr id="107" name="F2"/>
          <p:cNvCxnSpPr/>
          <p:nvPr/>
        </p:nvCxnSpPr>
        <p:spPr>
          <a:xfrm>
            <a:off x="4572000" y="2880360"/>
            <a:ext cx="1965960" cy="41148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8" name="N2"/>
          <p:cNvSpPr/>
          <p:nvPr/>
        </p:nvSpPr>
        <p:spPr>
          <a:xfrm>
            <a:off x="5760720" y="3291840"/>
            <a:ext cx="155448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tool</a:t>
            </a:r>
          </a:p>
        </p:txBody>
      </p:sp>
      <p:sp>
        <p:nvSpPr>
          <p:cNvPr id="109" name="NM"/>
          <p:cNvSpPr/>
          <p:nvPr/>
        </p:nvSpPr>
        <p:spPr>
          <a:xfrm>
            <a:off x="457200" y="4160520"/>
            <a:ext cx="8229600" cy="914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Bespoke integrations grow as agents × systems.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 shared protocol grows as agents + systems: build a connector once, any agent can use it.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lever: standardization — integrate once, reuse everywhere.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Skills package reusable ways of working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ONE TASK</a:t>
            </a:r>
          </a:p>
        </p:txBody>
      </p:sp>
      <p:sp>
        <p:nvSpPr>
          <p:cNvPr id="101" name="CardL"/>
          <p:cNvSpPr/>
          <p:nvPr/>
        </p:nvSpPr>
        <p:spPr>
          <a:xfrm>
            <a:off x="365760" y="1463040"/>
            <a:ext cx="40233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an instruction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“do X this way”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written for this occasion, then gone</a:t>
            </a:r>
          </a:p>
        </p:txBody>
      </p:sp>
      <p:sp>
        <p:nvSpPr>
          <p:cNvPr id="102" name="LblR"/>
          <p:cNvSpPr txBox="1"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RECURRING WORK</a:t>
            </a:r>
          </a:p>
        </p:txBody>
      </p:sp>
      <p:sp>
        <p:nvSpPr>
          <p:cNvPr id="103" name="CardR"/>
          <p:cNvSpPr/>
          <p:nvPr/>
        </p:nvSpPr>
        <p:spPr>
          <a:xfrm>
            <a:off x="4754880" y="1463040"/>
            <a:ext cx="40233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 skill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procedure + resources + checks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packaged once, loaded when the work recurs</a:t>
            </a:r>
          </a:p>
        </p:txBody>
      </p:sp>
      <p:sp>
        <p:nvSpPr>
          <p:cNvPr id="104" name="Ex"/>
          <p:cNvSpPr/>
          <p:nvPr/>
        </p:nvSpPr>
        <p:spPr>
          <a:xfrm>
            <a:off x="365760" y="3657600"/>
            <a:ext cx="8412480" cy="914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Example — accessibility remediation: the checklist, the tooling,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and the acceptance criteria travel together as one loadable procedure.</a:t>
            </a:r>
          </a:p>
        </p:txBody>
      </p:sp>
      <p:sp>
        <p:nvSpPr>
          <p:cNvPr id="105" name="Link"/>
          <p:cNvSpPr txBox="1"/>
          <p:nvPr/>
        </p:nvSpPr>
        <p:spPr>
          <a:xfrm>
            <a:off x="365760" y="480060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This is engineering knowledge, packaged for a machine collaborator.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Do not make every reasoning episode rediscover the procedure.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State lets work survive an inference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365760" y="1371600"/>
            <a:ext cx="26517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CURRENT CONTEXT</a:t>
            </a:r>
          </a:p>
        </p:txBody>
      </p:sp>
      <p:sp>
        <p:nvSpPr>
          <p:cNvPr id="101" name="B0"/>
          <p:cNvSpPr/>
          <p:nvPr/>
        </p:nvSpPr>
        <p:spPr>
          <a:xfrm>
            <a:off x="365760" y="2286000"/>
            <a:ext cx="265176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what this inference sees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gone when the call returns</a:t>
            </a:r>
          </a:p>
        </p:txBody>
      </p:sp>
      <p:sp>
        <p:nvSpPr>
          <p:cNvPr id="102" name="H1"/>
          <p:cNvSpPr/>
          <p:nvPr/>
        </p:nvSpPr>
        <p:spPr>
          <a:xfrm>
            <a:off x="3200400" y="1371600"/>
            <a:ext cx="26517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INTERMEDIATE TASK STATE</a:t>
            </a:r>
          </a:p>
        </p:txBody>
      </p:sp>
      <p:sp>
        <p:nvSpPr>
          <p:cNvPr id="103" name="B1"/>
          <p:cNvSpPr/>
          <p:nvPr/>
        </p:nvSpPr>
        <p:spPr>
          <a:xfrm>
            <a:off x="3200400" y="2286000"/>
            <a:ext cx="265176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plans · progress · scratchpads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carries one piece of work</a:t>
            </a:r>
          </a:p>
        </p:txBody>
      </p:sp>
      <p:sp>
        <p:nvSpPr>
          <p:cNvPr id="104" name="H2"/>
          <p:cNvSpPr/>
          <p:nvPr/>
        </p:nvSpPr>
        <p:spPr>
          <a:xfrm>
            <a:off x="6035040" y="1371600"/>
            <a:ext cx="26517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DURABLE KNOWLEDGE</a:t>
            </a:r>
          </a:p>
        </p:txBody>
      </p:sp>
      <p:sp>
        <p:nvSpPr>
          <p:cNvPr id="105" name="B2"/>
          <p:cNvSpPr/>
          <p:nvPr/>
        </p:nvSpPr>
        <p:spPr>
          <a:xfrm>
            <a:off x="6035040" y="2286000"/>
            <a:ext cx="265176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records · docs · memory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outlives the task</a:t>
            </a:r>
          </a:p>
        </p:txBody>
      </p:sp>
      <p:cxnSp>
        <p:nvCxnSpPr>
          <p:cNvPr id="106" name="Persist"/>
          <p:cNvCxnSpPr/>
          <p:nvPr/>
        </p:nvCxnSpPr>
        <p:spPr>
          <a:xfrm>
            <a:off x="640080" y="3886200"/>
            <a:ext cx="78638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PersistLbl"/>
          <p:cNvSpPr txBox="1"/>
          <p:nvPr/>
        </p:nvSpPr>
        <p:spPr>
          <a:xfrm>
            <a:off x="640080" y="40416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 xml:space="preserve">increasing persistence</a:t>
            </a:r>
          </a:p>
        </p:txBody>
      </p:sp>
      <p:sp>
        <p:nvSpPr>
          <p:cNvPr id="108" name="Vague"/>
          <p:cNvSpPr txBox="1"/>
          <p:nvPr/>
        </p:nvSpPr>
        <p:spPr>
          <a:xfrm>
            <a:off x="365760" y="470916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“Memory” is hopelessly vague until you say which of these you mean.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Persistence has a cost: stale knowledge persists too.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What surrounds the agent?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Definition: the engineering environment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143000"/>
            <a:ext cx="8138160" cy="137160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 xml:space="preserve">ENGINEERING ENVIRONMENT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The collection of artifacts, representations, tools, services, rules,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and interfaces through which engineering work is performed.</a:t>
            </a:r>
          </a:p>
        </p:txBody>
      </p:sp>
      <p:sp>
        <p:nvSpPr>
          <p:cNvPr id="101" name="I0"/>
          <p:cNvSpPr/>
          <p:nvPr/>
        </p:nvSpPr>
        <p:spPr>
          <a:xfrm>
            <a:off x="50292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code</a:t>
            </a:r>
          </a:p>
        </p:txBody>
      </p:sp>
      <p:sp>
        <p:nvSpPr>
          <p:cNvPr id="102" name="I1"/>
          <p:cNvSpPr/>
          <p:nvPr/>
        </p:nvSpPr>
        <p:spPr>
          <a:xfrm>
            <a:off x="260604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specifications</a:t>
            </a:r>
          </a:p>
        </p:txBody>
      </p:sp>
      <p:sp>
        <p:nvSpPr>
          <p:cNvPr id="103" name="I2"/>
          <p:cNvSpPr/>
          <p:nvPr/>
        </p:nvSpPr>
        <p:spPr>
          <a:xfrm>
            <a:off x="470916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models</a:t>
            </a:r>
          </a:p>
        </p:txBody>
      </p:sp>
      <p:sp>
        <p:nvSpPr>
          <p:cNvPr id="104" name="I3"/>
          <p:cNvSpPr/>
          <p:nvPr/>
        </p:nvSpPr>
        <p:spPr>
          <a:xfrm>
            <a:off x="681228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tests</a:t>
            </a:r>
          </a:p>
        </p:txBody>
      </p:sp>
      <p:sp>
        <p:nvSpPr>
          <p:cNvPr id="105" name="I4"/>
          <p:cNvSpPr/>
          <p:nvPr/>
        </p:nvSpPr>
        <p:spPr>
          <a:xfrm>
            <a:off x="50292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CI</a:t>
            </a:r>
          </a:p>
        </p:txBody>
      </p:sp>
      <p:sp>
        <p:nvSpPr>
          <p:cNvPr id="106" name="I5"/>
          <p:cNvSpPr/>
          <p:nvPr/>
        </p:nvSpPr>
        <p:spPr>
          <a:xfrm>
            <a:off x="260604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documentation</a:t>
            </a:r>
          </a:p>
        </p:txBody>
      </p:sp>
      <p:sp>
        <p:nvSpPr>
          <p:cNvPr id="107" name="I6"/>
          <p:cNvSpPr/>
          <p:nvPr/>
        </p:nvSpPr>
        <p:spPr>
          <a:xfrm>
            <a:off x="470916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issue history</a:t>
            </a:r>
          </a:p>
        </p:txBody>
      </p:sp>
      <p:sp>
        <p:nvSpPr>
          <p:cNvPr id="108" name="I7"/>
          <p:cNvSpPr/>
          <p:nvPr/>
        </p:nvSpPr>
        <p:spPr>
          <a:xfrm>
            <a:off x="681228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deployment</a:t>
            </a:r>
          </a:p>
        </p:txBody>
      </p:sp>
      <p:sp>
        <p:nvSpPr>
          <p:cNvPr id="109" name="Ital"/>
          <p:cNvSpPr txBox="1"/>
          <p:nvPr/>
        </p:nvSpPr>
        <p:spPr>
          <a:xfrm>
            <a:off x="365760" y="470916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The students already know this layer — it is where software organizations live.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Agents did not create this layer — they make its quality newly consequential.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Zoom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3977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70432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00200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repo · models · tests · CI · docs · services · knowledge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194560"/>
            <a:ext cx="4937760" cy="2468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1576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tools · context · instructions · state</a:t>
            </a:r>
          </a:p>
        </p:txBody>
      </p:sp>
      <p:sp>
        <p:nvSpPr>
          <p:cNvPr id="106" name="Mod"/>
          <p:cNvSpPr/>
          <p:nvPr/>
        </p:nvSpPr>
        <p:spPr>
          <a:xfrm>
            <a:off x="3474720" y="3291840"/>
            <a:ext cx="219456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map from slide 3 — now with every layer filled 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environment can do reasoning for you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RECONSTRUCT</a:t>
            </a:r>
          </a:p>
        </p:txBody>
      </p:sp>
      <p:sp>
        <p:nvSpPr>
          <p:cNvPr id="101" name="SrcL"/>
          <p:cNvSpPr/>
          <p:nvPr/>
        </p:nvSpPr>
        <p:spPr>
          <a:xfrm>
            <a:off x="365760" y="1463040"/>
            <a:ext cx="40233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SOURCE + CONFIG + HISTORY + DOCS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1005840" y="23317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1325880" y="239572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agent reconstructs</a:t>
            </a:r>
          </a:p>
        </p:txBody>
      </p:sp>
      <p:sp>
        <p:nvSpPr>
          <p:cNvPr id="104" name="OutL"/>
          <p:cNvSpPr/>
          <p:nvPr/>
        </p:nvSpPr>
        <p:spPr>
          <a:xfrm>
            <a:off x="365760" y="2834640"/>
            <a:ext cx="40233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the architecture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REPRESENT</a:t>
            </a:r>
          </a:p>
        </p:txBody>
      </p:sp>
      <p:sp>
        <p:nvSpPr>
          <p:cNvPr id="106" name="SrcR"/>
          <p:cNvSpPr/>
          <p:nvPr/>
        </p:nvSpPr>
        <p:spPr>
          <a:xfrm>
            <a:off x="4754880" y="1463040"/>
            <a:ext cx="40233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ARCHITECTURE MODEL</a:t>
            </a:r>
          </a:p>
        </p:txBody>
      </p:sp>
      <p:cxnSp>
        <p:nvCxnSpPr>
          <p:cNvPr id="107" name="ArrR"/>
          <p:cNvCxnSpPr/>
          <p:nvPr/>
        </p:nvCxnSpPr>
        <p:spPr>
          <a:xfrm>
            <a:off x="6766560" y="23317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8" name="OutR"/>
          <p:cNvSpPr/>
          <p:nvPr/>
        </p:nvSpPr>
        <p:spPr>
          <a:xfrm>
            <a:off x="4754880" y="2834640"/>
            <a:ext cx="40233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the agent consults it</a:t>
            </a:r>
          </a:p>
        </p:txBody>
      </p:sp>
      <p:sp>
        <p:nvSpPr>
          <p:cNvPr id="109" name="Regret"/>
          <p:cNvSpPr txBox="1"/>
          <p:nvPr/>
        </p:nvSpPr>
        <p:spPr>
          <a:xfrm>
            <a:off x="365760" y="443484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C4826"/>
                </a:solidFill>
              </a:rPr>
              <a:t xml:space="preserve">What will future engineers — or agents — regret having to rediscover?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Why spend reasoning reconstructing something we already know?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Where would you spend the next dollar?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0" name="Scenario"/>
          <p:cNvSpPr/>
          <p:nvPr/>
        </p:nvSpPr>
        <p:spPr>
          <a:xfrm>
            <a:off x="365760" y="1005840"/>
            <a:ext cx="841248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 capable agent keeps violating an architectural dependency constraint.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Reviews catch it — after the work is done.</a:t>
            </a:r>
          </a:p>
        </p:txBody>
      </p:sp>
      <p:sp>
        <p:nvSpPr>
          <p:cNvPr id="101" name="O0"/>
          <p:cNvSpPr/>
          <p:nvPr/>
        </p:nvSpPr>
        <p:spPr>
          <a:xfrm>
            <a:off x="365760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stronger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2" name="O1"/>
          <p:cNvSpPr/>
          <p:nvPr/>
        </p:nvSpPr>
        <p:spPr>
          <a:xfrm>
            <a:off x="2066544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better context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/ retrieval</a:t>
            </a:r>
          </a:p>
        </p:txBody>
      </p:sp>
      <p:sp>
        <p:nvSpPr>
          <p:cNvPr id="103" name="O2"/>
          <p:cNvSpPr/>
          <p:nvPr/>
        </p:nvSpPr>
        <p:spPr>
          <a:xfrm>
            <a:off x="3767328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explicit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dependency model</a:t>
            </a:r>
          </a:p>
        </p:txBody>
      </p:sp>
      <p:sp>
        <p:nvSpPr>
          <p:cNvPr id="104" name="O3"/>
          <p:cNvSpPr/>
          <p:nvPr/>
        </p:nvSpPr>
        <p:spPr>
          <a:xfrm>
            <a:off x="5468112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specialized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analysis tool</a:t>
            </a:r>
          </a:p>
        </p:txBody>
      </p:sp>
      <p:sp>
        <p:nvSpPr>
          <p:cNvPr id="105" name="O4"/>
          <p:cNvSpPr/>
          <p:nvPr/>
        </p:nvSpPr>
        <p:spPr>
          <a:xfrm>
            <a:off x="7168896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smaller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work unit</a:t>
            </a:r>
          </a:p>
        </p:txBody>
      </p:sp>
      <p:sp>
        <p:nvSpPr>
          <p:cNvPr id="106" name="TPSbadge"/>
          <p:cNvSpPr/>
          <p:nvPr/>
        </p:nvSpPr>
        <p:spPr>
          <a:xfrm>
            <a:off x="365760" y="3520440"/>
            <a:ext cx="3108960" cy="512064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1F7A4D"/>
                </a:solidFill>
              </a:rPr>
              <a:t xml:space="preserve">SHARE</a:t>
            </a:r>
          </a:p>
        </p:txBody>
      </p:sp>
      <p:sp>
        <p:nvSpPr>
          <p:cNvPr id="107" name="TpsPrompt"/>
          <p:cNvSpPr txBox="1"/>
          <p:nvPr/>
        </p:nvSpPr>
        <p:spPr>
          <a:xfrm>
            <a:off x="3657600" y="3520440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Which would you buy — and what would you need to know first?</a:t>
            </a:r>
          </a:p>
        </p:txBody>
      </p:sp>
      <p:sp>
        <p:nvSpPr>
          <p:cNvPr id="108" name="Neutral"/>
          <p:cNvSpPr txBox="1"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All five are real engineering responses. None is the default answer.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Defend an investment, not a technology.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whole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S0"/>
          <p:cNvSpPr/>
          <p:nvPr/>
        </p:nvSpPr>
        <p:spPr>
          <a:xfrm>
            <a:off x="2651760" y="960120"/>
            <a:ext cx="38404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1" name="Pl0"/>
          <p:cNvSpPr txBox="1"/>
          <p:nvPr/>
        </p:nvSpPr>
        <p:spPr>
          <a:xfrm>
            <a:off x="4425696" y="150876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2" name="S1"/>
          <p:cNvSpPr/>
          <p:nvPr/>
        </p:nvSpPr>
        <p:spPr>
          <a:xfrm>
            <a:off x="2651760" y="1856232"/>
            <a:ext cx="38404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HARNESS</a:t>
            </a:r>
          </a:p>
        </p:txBody>
      </p:sp>
      <p:sp>
        <p:nvSpPr>
          <p:cNvPr id="103" name="Pl1"/>
          <p:cNvSpPr txBox="1"/>
          <p:nvPr/>
        </p:nvSpPr>
        <p:spPr>
          <a:xfrm>
            <a:off x="4425696" y="2404872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4" name="S2"/>
          <p:cNvSpPr/>
          <p:nvPr/>
        </p:nvSpPr>
        <p:spPr>
          <a:xfrm>
            <a:off x="2651760" y="2752344"/>
            <a:ext cx="38404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ENGINEERING ENVIRONMENT</a:t>
            </a:r>
          </a:p>
        </p:txBody>
      </p:sp>
      <p:sp>
        <p:nvSpPr>
          <p:cNvPr id="105" name="Pl2"/>
          <p:cNvSpPr txBox="1"/>
          <p:nvPr/>
        </p:nvSpPr>
        <p:spPr>
          <a:xfrm>
            <a:off x="4425696" y="3300984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 xml:space="preserve">+</a:t>
            </a:r>
          </a:p>
        </p:txBody>
      </p:sp>
      <p:sp>
        <p:nvSpPr>
          <p:cNvPr id="106" name="S3"/>
          <p:cNvSpPr/>
          <p:nvPr/>
        </p:nvSpPr>
        <p:spPr>
          <a:xfrm>
            <a:off x="2651760" y="3648456"/>
            <a:ext cx="38404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WORK STRUCTURE</a:t>
            </a:r>
          </a:p>
        </p:txBody>
      </p:sp>
      <p:cxnSp>
        <p:nvCxnSpPr>
          <p:cNvPr id="107" name="Down"/>
          <p:cNvCxnSpPr/>
          <p:nvPr/>
        </p:nvCxnSpPr>
        <p:spPr>
          <a:xfrm>
            <a:off x="4572000" y="4215384"/>
            <a:ext cx="0" cy="384048"/>
          </a:xfrm>
          <a:prstGeom prst="straightConnector1">
            <a:avLst/>
          </a:prstGeom>
          <a:ln w="44450">
            <a:solidFill>
              <a:srgbClr val="8E6F3E"/>
            </a:solidFill>
            <a:tailEnd type="triangle" w="med" len="med"/>
          </a:ln>
        </p:spPr>
      </p:cxnSp>
      <p:sp>
        <p:nvSpPr>
          <p:cNvPr id="108" name="Obs"/>
          <p:cNvSpPr/>
          <p:nvPr/>
        </p:nvSpPr>
        <p:spPr>
          <a:xfrm>
            <a:off x="2651760" y="4690872"/>
            <a:ext cx="3840480" cy="68580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OBSERVED CAPABILITY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Agent performance is a property of the engineered system.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118872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If we can engineer the environment,</a:t>
            </a:r>
          </a:p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how much work can we hand over?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STRETCH BREAK · THEN SECTION 4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70332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  <p:sp>
        <p:nvSpPr>
          <p:cNvPr id="100" name="Back"/>
          <p:cNvSpPr txBox="1"/>
          <p:nvPr/>
        </p:nvSpPr>
        <p:spPr>
          <a:xfrm>
            <a:off x="3136392" y="397764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Back in 5 minutes.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Reasoning has a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51560"/>
            <a:ext cx="8138160" cy="109728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 xml:space="preserve">REASONING HORIZON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The amount of relevant state a reasoner can effectively bring to bear.</a:t>
            </a:r>
          </a:p>
        </p:txBody>
      </p:sp>
      <p:sp>
        <p:nvSpPr>
          <p:cNvPr id="101" name="Task"/>
          <p:cNvSpPr/>
          <p:nvPr/>
        </p:nvSpPr>
        <p:spPr>
          <a:xfrm>
            <a:off x="502920" y="2377440"/>
            <a:ext cx="81381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“Add feature X across this system”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requirement · architecture · files · constraints · observations · earlier decisions</a:t>
            </a:r>
          </a:p>
        </p:txBody>
      </p:sp>
      <p:cxnSp>
        <p:nvCxnSpPr>
          <p:cNvPr id="102" name="Brk"/>
          <p:cNvCxnSpPr/>
          <p:nvPr/>
        </p:nvCxnSpPr>
        <p:spPr>
          <a:xfrm>
            <a:off x="777240" y="3611880"/>
            <a:ext cx="393192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03" name="BrkR"/>
          <p:cNvCxnSpPr/>
          <p:nvPr/>
        </p:nvCxnSpPr>
        <p:spPr>
          <a:xfrm>
            <a:off x="4983480" y="3611880"/>
            <a:ext cx="3383280" cy="0"/>
          </a:xfrm>
          <a:prstGeom prst="straightConnector1">
            <a:avLst/>
          </a:prstGeom>
          <a:ln w="28575">
            <a:solidFill>
              <a:srgbClr val="C9B991"/>
            </a:solidFill>
            <a:prstDash val="dash"/>
          </a:ln>
        </p:spPr>
      </p:cxnSp>
      <p:sp>
        <p:nvSpPr>
          <p:cNvPr id="104" name="BrkLbl"/>
          <p:cNvSpPr txBox="1"/>
          <p:nvPr/>
        </p:nvSpPr>
        <p:spPr>
          <a:xfrm>
            <a:off x="777240" y="3767328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 xml:space="preserve">within the horizon</a:t>
            </a:r>
          </a:p>
        </p:txBody>
      </p:sp>
      <p:sp>
        <p:nvSpPr>
          <p:cNvPr id="105" name="BeyondLbl"/>
          <p:cNvSpPr txBox="1"/>
          <p:nvPr/>
        </p:nvSpPr>
        <p:spPr>
          <a:xfrm>
            <a:off x="4983480" y="3767328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beyond it: churn</a:t>
            </a:r>
          </a:p>
        </p:txBody>
      </p:sp>
      <p:sp>
        <p:nvSpPr>
          <p:cNvPr id="106" name="Dep"/>
          <p:cNvSpPr/>
          <p:nvPr/>
        </p:nvSpPr>
        <p:spPr>
          <a:xfrm>
            <a:off x="502920" y="4434840"/>
            <a:ext cx="81381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The boundary moves with model, harness, repository, and task.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Context-window size is one present limit — not the definition.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Finite effective reasoning state — the constraint Section 4 engineers around.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When reasoning fails, what do we change?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0" name="Top"/>
          <p:cNvSpPr/>
          <p:nvPr/>
        </p:nvSpPr>
        <p:spPr>
          <a:xfrm>
            <a:off x="3108960" y="914400"/>
            <a:ext cx="292608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TASK × REASONER</a:t>
            </a:r>
          </a:p>
        </p:txBody>
      </p:sp>
      <p:cxnSp>
        <p:nvCxnSpPr>
          <p:cNvPr id="101" name="D0"/>
          <p:cNvCxnSpPr/>
          <p:nvPr/>
        </p:nvCxnSpPr>
        <p:spPr>
          <a:xfrm>
            <a:off x="4572000" y="1536192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oor"/>
          <p:cNvSpPr txBox="1"/>
          <p:nvPr/>
        </p:nvSpPr>
        <p:spPr>
          <a:xfrm>
            <a:off x="3108960" y="1847088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poor performance</a:t>
            </a:r>
          </a:p>
        </p:txBody>
      </p:sp>
      <p:cxnSp>
        <p:nvCxnSpPr>
          <p:cNvPr id="103" name="BL"/>
          <p:cNvCxnSpPr/>
          <p:nvPr/>
        </p:nvCxnSpPr>
        <p:spPr>
          <a:xfrm flipH="1">
            <a:off x="2880360" y="2286000"/>
            <a:ext cx="1691640" cy="41148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04" name="BR"/>
          <p:cNvCxnSpPr/>
          <p:nvPr/>
        </p:nvCxnSpPr>
        <p:spPr>
          <a:xfrm>
            <a:off x="4572000" y="2286000"/>
            <a:ext cx="1691640" cy="41148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HL"/>
          <p:cNvSpPr/>
          <p:nvPr/>
        </p:nvSpPr>
        <p:spPr>
          <a:xfrm>
            <a:off x="594360" y="2743200"/>
            <a:ext cx="356616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IMPROVE THE REASONER</a:t>
            </a:r>
          </a:p>
        </p:txBody>
      </p:sp>
      <p:sp>
        <p:nvSpPr>
          <p:cNvPr id="106" name="HR"/>
          <p:cNvSpPr/>
          <p:nvPr/>
        </p:nvSpPr>
        <p:spPr>
          <a:xfrm>
            <a:off x="4983480" y="2743200"/>
            <a:ext cx="356616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ASSIST THE REASONING</a:t>
            </a:r>
          </a:p>
        </p:txBody>
      </p:sp>
      <p:sp>
        <p:nvSpPr>
          <p:cNvPr id="107" name="CL"/>
          <p:cNvSpPr/>
          <p:nvPr/>
        </p:nvSpPr>
        <p:spPr>
          <a:xfrm>
            <a:off x="594360" y="3520440"/>
            <a:ext cx="3566160" cy="13258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stronger model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more context · more compute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better harness</a:t>
            </a:r>
          </a:p>
        </p:txBody>
      </p:sp>
      <p:sp>
        <p:nvSpPr>
          <p:cNvPr id="108" name="CR"/>
          <p:cNvSpPr/>
          <p:nvPr/>
        </p:nvSpPr>
        <p:spPr>
          <a:xfrm>
            <a:off x="4983480" y="3520440"/>
            <a:ext cx="3566160" cy="13258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representation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decomposition · retrieval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intermediate state · tools</a:t>
            </a:r>
          </a:p>
        </p:txBody>
      </p:sp>
      <p:cxnSp>
        <p:nvCxnSpPr>
          <p:cNvPr id="109" name="ML"/>
          <p:cNvCxnSpPr/>
          <p:nvPr/>
        </p:nvCxnSpPr>
        <p:spPr>
          <a:xfrm>
            <a:off x="2377440" y="4846320"/>
            <a:ext cx="173736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0" name="MR"/>
          <p:cNvCxnSpPr/>
          <p:nvPr/>
        </p:nvCxnSpPr>
        <p:spPr>
          <a:xfrm flipH="1">
            <a:off x="5029200" y="4846320"/>
            <a:ext cx="173736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Bench"/>
          <p:cNvSpPr/>
          <p:nvPr/>
        </p:nvSpPr>
        <p:spPr>
          <a:xfrm>
            <a:off x="3520440" y="5138928"/>
            <a:ext cx="210312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BENCHMARK</a:t>
            </a:r>
          </a:p>
        </p:txBody>
      </p:sp>
      <p:sp>
        <p:nvSpPr>
          <p:cNvPr id="112" name="Invest"/>
          <p:cNvSpPr txBox="1"/>
          <p:nvPr/>
        </p:nvSpPr>
        <p:spPr>
          <a:xfrm>
            <a:off x="365760" y="589788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Alternative engineering investments — neither is the default answer.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Pólya: rotate the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100" name="Book"/>
          <p:cNvSpPr/>
          <p:nvPr/>
        </p:nvSpPr>
        <p:spPr>
          <a:xfrm>
            <a:off x="777240" y="1234440"/>
            <a:ext cx="2377440" cy="3200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HOW TO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SOLVE IT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FFFFFF"/>
                </a:solidFill>
              </a:rPr>
              <a:t xml:space="preserve"/>
            </a:r>
          </a:p>
          <a:p>
            <a:pPr algn="ctr">
              <a:spcBef>
                <a:spcPts val="400"/>
              </a:spcBef>
              <a:buNone/>
            </a:pPr>
            <a:r>
              <a:rPr lang="en-US" sz="2000" b="0" i="1" dirty="0">
                <a:solidFill>
                  <a:srgbClr val="FFFFFF"/>
                </a:solidFill>
              </a:rPr>
              <a:t xml:space="preserve">G. Pólya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FFFFFF"/>
                </a:solidFill>
              </a:rPr>
              <a:t xml:space="preserve">1945</a:t>
            </a:r>
          </a:p>
        </p:txBody>
      </p:sp>
      <p:sp>
        <p:nvSpPr>
          <p:cNvPr id="101" name="Quote"/>
          <p:cNvSpPr txBox="1"/>
          <p:nvPr/>
        </p:nvSpPr>
        <p:spPr>
          <a:xfrm>
            <a:off x="3611880" y="1234440"/>
            <a:ext cx="5166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300" b="0" i="1" dirty="0">
                <a:solidFill>
                  <a:srgbClr val="5C4826"/>
                </a:solidFill>
              </a:rPr>
              <a:t xml:space="preserve">“When a problem is difficult, change how you represent it.”</a:t>
            </a:r>
          </a:p>
        </p:txBody>
      </p:sp>
      <p:sp>
        <p:nvSpPr>
          <p:cNvPr id="102" name="M0"/>
          <p:cNvSpPr/>
          <p:nvPr/>
        </p:nvSpPr>
        <p:spPr>
          <a:xfrm>
            <a:off x="3611880" y="2240280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Draw a figure</a:t>
            </a:r>
          </a:p>
        </p:txBody>
      </p:sp>
      <p:sp>
        <p:nvSpPr>
          <p:cNvPr id="103" name="M1"/>
          <p:cNvSpPr/>
          <p:nvPr/>
        </p:nvSpPr>
        <p:spPr>
          <a:xfrm>
            <a:off x="3611880" y="2898648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Change the notation</a:t>
            </a:r>
          </a:p>
        </p:txBody>
      </p:sp>
      <p:sp>
        <p:nvSpPr>
          <p:cNvPr id="104" name="M2"/>
          <p:cNvSpPr/>
          <p:nvPr/>
        </p:nvSpPr>
        <p:spPr>
          <a:xfrm>
            <a:off x="3611880" y="3557016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Consider a related problem</a:t>
            </a:r>
          </a:p>
        </p:txBody>
      </p:sp>
      <p:sp>
        <p:nvSpPr>
          <p:cNvPr id="105" name="M3"/>
          <p:cNvSpPr/>
          <p:nvPr/>
        </p:nvSpPr>
        <p:spPr>
          <a:xfrm>
            <a:off x="3611880" y="4215384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Work backward</a:t>
            </a:r>
          </a:p>
        </p:txBody>
      </p:sp>
      <p:sp>
        <p:nvSpPr>
          <p:cNvPr id="106" name="Modern"/>
          <p:cNvSpPr txBox="1"/>
          <p:nvPr/>
        </p:nvSpPr>
        <p:spPr>
          <a:xfrm>
            <a:off x="3611880" y="4937760"/>
            <a:ext cx="5166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Techniques that predate computers — now engineerable, systematically.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reasoner did not change. The reasoning problem did.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Representation can substitute for reasoning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45720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SOURCE FILES</a:t>
            </a:r>
          </a:p>
        </p:txBody>
      </p:sp>
      <p:sp>
        <p:nvSpPr>
          <p:cNvPr id="101" name="SrcL"/>
          <p:cNvSpPr/>
          <p:nvPr/>
        </p:nvSpPr>
        <p:spPr>
          <a:xfrm>
            <a:off x="457200" y="1417320"/>
            <a:ext cx="38404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thousands of lines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2377440" y="2148840"/>
            <a:ext cx="0" cy="10515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2651760" y="246888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reconstruct</a:t>
            </a:r>
          </a:p>
        </p:txBody>
      </p:sp>
      <p:sp>
        <p:nvSpPr>
          <p:cNvPr id="104" name="QL"/>
          <p:cNvSpPr/>
          <p:nvPr/>
        </p:nvSpPr>
        <p:spPr>
          <a:xfrm>
            <a:off x="45720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“what depends on X?”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93776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DEPENDENCY GRAPH</a:t>
            </a:r>
          </a:p>
        </p:txBody>
      </p:sp>
      <p:sp>
        <p:nvSpPr>
          <p:cNvPr id="106" name="NA"/>
          <p:cNvSpPr/>
          <p:nvPr/>
        </p:nvSpPr>
        <p:spPr>
          <a:xfrm>
            <a:off x="6492240" y="13258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7" name="NB"/>
          <p:cNvSpPr/>
          <p:nvPr/>
        </p:nvSpPr>
        <p:spPr>
          <a:xfrm>
            <a:off x="566928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08" name="NC"/>
          <p:cNvSpPr/>
          <p:nvPr/>
        </p:nvSpPr>
        <p:spPr>
          <a:xfrm>
            <a:off x="731520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09" name="NX"/>
          <p:cNvSpPr/>
          <p:nvPr/>
        </p:nvSpPr>
        <p:spPr>
          <a:xfrm>
            <a:off x="6492240" y="2697480"/>
            <a:ext cx="731520" cy="41148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X</a:t>
            </a:r>
          </a:p>
        </p:txBody>
      </p:sp>
      <p:cxnSp>
        <p:nvCxnSpPr>
          <p:cNvPr id="110" name="EAB"/>
          <p:cNvCxnSpPr/>
          <p:nvPr/>
        </p:nvCxnSpPr>
        <p:spPr>
          <a:xfrm flipH="1">
            <a:off x="603504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EAC"/>
          <p:cNvCxnSpPr/>
          <p:nvPr/>
        </p:nvCxnSpPr>
        <p:spPr>
          <a:xfrm>
            <a:off x="685800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EBX"/>
          <p:cNvCxnSpPr/>
          <p:nvPr/>
        </p:nvCxnSpPr>
        <p:spPr>
          <a:xfrm>
            <a:off x="6035040" y="24231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ECX"/>
          <p:cNvCxnSpPr/>
          <p:nvPr/>
        </p:nvCxnSpPr>
        <p:spPr>
          <a:xfrm flipH="1">
            <a:off x="6858000" y="24231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4" name="QR"/>
          <p:cNvSpPr/>
          <p:nvPr/>
        </p:nvSpPr>
        <p:spPr>
          <a:xfrm>
            <a:off x="493776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“what depends on X?” — read it off</a:t>
            </a:r>
          </a:p>
        </p:txBody>
      </p:sp>
      <p:sp>
        <p:nvSpPr>
          <p:cNvPr id="115" name="Same"/>
          <p:cNvSpPr txBox="1"/>
          <p:nvPr/>
        </p:nvSpPr>
        <p:spPr>
          <a:xfrm>
            <a:off x="457200" y="434340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0" i="1" dirty="0">
                <a:solidFill>
                  <a:srgbClr val="5C4826"/>
                </a:solidFill>
              </a:rPr>
              <a:t xml:space="preserve">Same question. Same reasoner. Different reasoning problem.</a:t>
            </a:r>
          </a:p>
        </p:txBody>
      </p:sp>
      <p:sp>
        <p:nvSpPr>
          <p:cNvPr id="116" name="Fwd"/>
          <p:cNvSpPr txBox="1"/>
          <p:nvPr/>
        </p:nvSpPr>
        <p:spPr>
          <a:xfrm>
            <a:off x="457200" y="493776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Backward: Engineering Knowledge. Forward: Modeling.</a:t>
            </a:r>
          </a:p>
        </p:txBody>
      </p: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Don’t make the reasoner rediscover what you already know.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Which investment wins? Benchmark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100" name="L0"/>
          <p:cNvSpPr/>
          <p:nvPr/>
        </p:nvSpPr>
        <p:spPr>
          <a:xfrm>
            <a:off x="365760" y="1005840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BASELINE</a:t>
            </a:r>
          </a:p>
        </p:txBody>
      </p:sp>
      <p:sp>
        <p:nvSpPr>
          <p:cNvPr id="101" name="D0"/>
          <p:cNvSpPr/>
          <p:nvPr/>
        </p:nvSpPr>
        <p:spPr>
          <a:xfrm>
            <a:off x="2103120" y="1005840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 A + raw repository</a:t>
            </a:r>
          </a:p>
        </p:txBody>
      </p:sp>
      <p:sp>
        <p:nvSpPr>
          <p:cNvPr id="102" name="C0"/>
          <p:cNvSpPr/>
          <p:nvPr/>
        </p:nvSpPr>
        <p:spPr>
          <a:xfrm>
            <a:off x="6903720" y="1005840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—</a:t>
            </a:r>
          </a:p>
        </p:txBody>
      </p:sp>
      <p:sp>
        <p:nvSpPr>
          <p:cNvPr id="103" name="L1"/>
          <p:cNvSpPr/>
          <p:nvPr/>
        </p:nvSpPr>
        <p:spPr>
          <a:xfrm>
            <a:off x="365760" y="1719072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OPTION 1</a:t>
            </a:r>
          </a:p>
        </p:txBody>
      </p:sp>
      <p:sp>
        <p:nvSpPr>
          <p:cNvPr id="104" name="D1"/>
          <p:cNvSpPr/>
          <p:nvPr/>
        </p:nvSpPr>
        <p:spPr>
          <a:xfrm>
            <a:off x="2103120" y="1719072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 B + raw repository</a:t>
            </a:r>
          </a:p>
        </p:txBody>
      </p:sp>
      <p:sp>
        <p:nvSpPr>
          <p:cNvPr id="105" name="C1"/>
          <p:cNvSpPr/>
          <p:nvPr/>
        </p:nvSpPr>
        <p:spPr>
          <a:xfrm>
            <a:off x="6903720" y="1719072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+$ per task</a:t>
            </a:r>
          </a:p>
        </p:txBody>
      </p:sp>
      <p:sp>
        <p:nvSpPr>
          <p:cNvPr id="106" name="L2"/>
          <p:cNvSpPr/>
          <p:nvPr/>
        </p:nvSpPr>
        <p:spPr>
          <a:xfrm>
            <a:off x="365760" y="2432304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OPTION 2</a:t>
            </a:r>
          </a:p>
        </p:txBody>
      </p:sp>
      <p:sp>
        <p:nvSpPr>
          <p:cNvPr id="107" name="D2"/>
          <p:cNvSpPr/>
          <p:nvPr/>
        </p:nvSpPr>
        <p:spPr>
          <a:xfrm>
            <a:off x="2103120" y="2432304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 A + dependency representation</a:t>
            </a:r>
          </a:p>
        </p:txBody>
      </p:sp>
      <p:sp>
        <p:nvSpPr>
          <p:cNvPr id="108" name="C2"/>
          <p:cNvSpPr/>
          <p:nvPr/>
        </p:nvSpPr>
        <p:spPr>
          <a:xfrm>
            <a:off x="6903720" y="2432304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+$ engineering</a:t>
            </a:r>
          </a:p>
        </p:txBody>
      </p:sp>
      <p:sp>
        <p:nvSpPr>
          <p:cNvPr id="109" name="L3"/>
          <p:cNvSpPr/>
          <p:nvPr/>
        </p:nvSpPr>
        <p:spPr>
          <a:xfrm>
            <a:off x="365760" y="3145536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OPTION 3</a:t>
            </a:r>
          </a:p>
        </p:txBody>
      </p:sp>
      <p:sp>
        <p:nvSpPr>
          <p:cNvPr id="110" name="D3"/>
          <p:cNvSpPr/>
          <p:nvPr/>
        </p:nvSpPr>
        <p:spPr>
          <a:xfrm>
            <a:off x="2103120" y="3145536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Model A + retrieval / decomposition</a:t>
            </a:r>
          </a:p>
        </p:txBody>
      </p:sp>
      <p:sp>
        <p:nvSpPr>
          <p:cNvPr id="111" name="C3"/>
          <p:cNvSpPr/>
          <p:nvPr/>
        </p:nvSpPr>
        <p:spPr>
          <a:xfrm>
            <a:off x="6903720" y="3145536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+$ harness work</a:t>
            </a:r>
          </a:p>
        </p:txBody>
      </p:sp>
      <p:sp>
        <p:nvSpPr>
          <p:cNvPr id="112" name="Q"/>
          <p:cNvSpPr txBox="1"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Which produces acceptable work at acceptable cost?</a:t>
            </a:r>
          </a:p>
        </p:txBody>
      </p:sp>
      <p:sp>
        <p:nvSpPr>
          <p:cNvPr id="113" name="Run"/>
          <p:cNvSpPr/>
          <p:nvPr/>
        </p:nvSpPr>
        <p:spPr>
          <a:xfrm>
            <a:off x="3063240" y="4572000"/>
            <a:ext cx="301752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RUN THE BENCHMARK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Benchmark the system on the work you care about —</a:t>
            </a:r>
          </a:p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not the foundation model on a generic leaderboard.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118872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What changes when the machine works</a:t>
            </a:r>
          </a:p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faster than you can inspect?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70332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You cannot review everything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100" name="Human"/>
          <p:cNvSpPr/>
          <p:nvPr/>
        </p:nvSpPr>
        <p:spPr>
          <a:xfrm>
            <a:off x="3566160" y="96012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HUMAN</a:t>
            </a:r>
          </a:p>
        </p:txBody>
      </p:sp>
      <p:cxnSp>
        <p:nvCxnSpPr>
          <p:cNvPr id="101" name="Del"/>
          <p:cNvCxnSpPr/>
          <p:nvPr/>
        </p:nvCxnSpPr>
        <p:spPr>
          <a:xfrm>
            <a:off x="4572000" y="1600200"/>
            <a:ext cx="0" cy="45720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DelLbl"/>
          <p:cNvSpPr txBox="1"/>
          <p:nvPr/>
        </p:nvSpPr>
        <p:spPr>
          <a:xfrm>
            <a:off x="4800600" y="16916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delegates</a:t>
            </a:r>
          </a:p>
        </p:txBody>
      </p:sp>
      <p:sp>
        <p:nvSpPr>
          <p:cNvPr id="103" name="Agent"/>
          <p:cNvSpPr/>
          <p:nvPr/>
        </p:nvSpPr>
        <p:spPr>
          <a:xfrm>
            <a:off x="3566160" y="210312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AGENT</a:t>
            </a:r>
          </a:p>
        </p:txBody>
      </p:sp>
      <p:cxnSp>
        <p:nvCxnSpPr>
          <p:cNvPr id="104" name="FI0"/>
          <p:cNvCxnSpPr/>
          <p:nvPr/>
        </p:nvCxnSpPr>
        <p:spPr>
          <a:xfrm flipH="1">
            <a:off x="1554480" y="2743200"/>
            <a:ext cx="301752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Impl0"/>
          <p:cNvSpPr/>
          <p:nvPr/>
        </p:nvSpPr>
        <p:spPr>
          <a:xfrm>
            <a:off x="68580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implementation</a:t>
            </a:r>
          </a:p>
        </p:txBody>
      </p:sp>
      <p:cxnSp>
        <p:nvCxnSpPr>
          <p:cNvPr id="106" name="FI1"/>
          <p:cNvCxnSpPr/>
          <p:nvPr/>
        </p:nvCxnSpPr>
        <p:spPr>
          <a:xfrm flipH="1">
            <a:off x="3566160" y="2743200"/>
            <a:ext cx="100584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Impl1"/>
          <p:cNvSpPr/>
          <p:nvPr/>
        </p:nvSpPr>
        <p:spPr>
          <a:xfrm>
            <a:off x="269748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implementation</a:t>
            </a:r>
          </a:p>
        </p:txBody>
      </p:sp>
      <p:cxnSp>
        <p:nvCxnSpPr>
          <p:cNvPr id="108" name="FI2"/>
          <p:cNvCxnSpPr/>
          <p:nvPr/>
        </p:nvCxnSpPr>
        <p:spPr>
          <a:xfrm>
            <a:off x="4572000" y="2743200"/>
            <a:ext cx="100584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Impl2"/>
          <p:cNvSpPr/>
          <p:nvPr/>
        </p:nvSpPr>
        <p:spPr>
          <a:xfrm>
            <a:off x="470916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implementation</a:t>
            </a:r>
          </a:p>
        </p:txBody>
      </p:sp>
      <p:cxnSp>
        <p:nvCxnSpPr>
          <p:cNvPr id="110" name="FI3"/>
          <p:cNvCxnSpPr/>
          <p:nvPr/>
        </p:nvCxnSpPr>
        <p:spPr>
          <a:xfrm>
            <a:off x="4572000" y="2743200"/>
            <a:ext cx="301752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Impl3"/>
          <p:cNvSpPr/>
          <p:nvPr/>
        </p:nvSpPr>
        <p:spPr>
          <a:xfrm>
            <a:off x="672084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implementation</a:t>
            </a:r>
          </a:p>
        </p:txBody>
      </p:sp>
      <p:sp>
        <p:nvSpPr>
          <p:cNvPr id="112" name="Scale"/>
          <p:cNvSpPr txBox="1"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0" i="0" dirty="0">
                <a:solidFill>
                  <a:srgbClr val="5C4826"/>
                </a:solidFill>
              </a:rPr>
              <a:t xml:space="preserve">Delegation scales realization faster than direct inspection.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You can delegate work.</a:t>
            </a:r>
          </a:p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You cannot delegate responsibility for its consequences.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Guidance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Rule"/>
          <p:cNvSpPr/>
          <p:nvPr/>
        </p:nvSpPr>
        <p:spPr>
          <a:xfrm>
            <a:off x="365760" y="960120"/>
            <a:ext cx="8412480" cy="62179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“Do not merge unless the security tests pass.”</a:t>
            </a:r>
          </a:p>
        </p:txBody>
      </p:sp>
      <p:sp>
        <p:nvSpPr>
          <p:cNvPr id="101" name="LblL"/>
          <p:cNvSpPr txBox="1"/>
          <p:nvPr/>
        </p:nvSpPr>
        <p:spPr>
          <a:xfrm>
            <a:off x="365760" y="18288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AS GUIDANCE</a:t>
            </a:r>
          </a:p>
        </p:txBody>
      </p:sp>
      <p:sp>
        <p:nvSpPr>
          <p:cNvPr id="102" name="CardL"/>
          <p:cNvSpPr/>
          <p:nvPr/>
        </p:nvSpPr>
        <p:spPr>
          <a:xfrm>
            <a:off x="365760" y="2286000"/>
            <a:ext cx="402336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prompt · project instructions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skill · worked example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makes compliance more likely</a:t>
            </a:r>
          </a:p>
        </p:txBody>
      </p:sp>
      <p:sp>
        <p:nvSpPr>
          <p:cNvPr id="103" name="LblR"/>
          <p:cNvSpPr txBox="1"/>
          <p:nvPr/>
        </p:nvSpPr>
        <p:spPr>
          <a:xfrm>
            <a:off x="4754880" y="18288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AS AUTHORITY</a:t>
            </a:r>
          </a:p>
        </p:txBody>
      </p:sp>
      <p:sp>
        <p:nvSpPr>
          <p:cNvPr id="104" name="CardR"/>
          <p:cNvSpPr/>
          <p:nvPr/>
        </p:nvSpPr>
        <p:spPr>
          <a:xfrm>
            <a:off x="4754880" y="2286000"/>
            <a:ext cx="402336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permission · hook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CI gate · admission mechanism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makes violation impossible to admit</a:t>
            </a:r>
          </a:p>
        </p:txBody>
      </p:sp>
      <p:sp>
        <p:nvSpPr>
          <p:cNvPr id="105" name="Q"/>
          <p:cNvSpPr txBox="1"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0" i="0" dirty="0">
                <a:solidFill>
                  <a:srgbClr val="5C4826"/>
                </a:solidFill>
              </a:rPr>
              <a:t xml:space="preserve">Same sentence. Different mechanisms. What happens if the agent reasons incorrectly?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Guidance shapes behavior; authority binds outcomes.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can act at different grains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33</a:t>
            </a:fld>
            <a:endParaRPr lang="en-US"/>
          </a:p>
        </p:txBody>
      </p:sp>
      <p:sp>
        <p:nvSpPr>
          <p:cNvPr id="100" name="G0"/>
          <p:cNvSpPr/>
          <p:nvPr/>
        </p:nvSpPr>
        <p:spPr>
          <a:xfrm>
            <a:off x="36576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REASONING INPUT</a:t>
            </a:r>
          </a:p>
        </p:txBody>
      </p:sp>
      <p:sp>
        <p:nvSpPr>
          <p:cNvPr id="101" name="E0"/>
          <p:cNvSpPr/>
          <p:nvPr/>
        </p:nvSpPr>
        <p:spPr>
          <a:xfrm>
            <a:off x="36576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what context and instructions it is given</a:t>
            </a:r>
          </a:p>
        </p:txBody>
      </p:sp>
      <p:sp>
        <p:nvSpPr>
          <p:cNvPr id="102" name="G1"/>
          <p:cNvSpPr/>
          <p:nvPr/>
        </p:nvSpPr>
        <p:spPr>
          <a:xfrm>
            <a:off x="251460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ACTION</a:t>
            </a:r>
          </a:p>
        </p:txBody>
      </p:sp>
      <p:sp>
        <p:nvSpPr>
          <p:cNvPr id="103" name="E1"/>
          <p:cNvSpPr/>
          <p:nvPr/>
        </p:nvSpPr>
        <p:spPr>
          <a:xfrm>
            <a:off x="251460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which tool calls are permitted</a:t>
            </a:r>
          </a:p>
        </p:txBody>
      </p:sp>
      <p:sp>
        <p:nvSpPr>
          <p:cNvPr id="104" name="G2"/>
          <p:cNvSpPr/>
          <p:nvPr/>
        </p:nvSpPr>
        <p:spPr>
          <a:xfrm>
            <a:off x="466344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WORK UNIT</a:t>
            </a:r>
          </a:p>
        </p:txBody>
      </p:sp>
      <p:sp>
        <p:nvSpPr>
          <p:cNvPr id="105" name="E2"/>
          <p:cNvSpPr/>
          <p:nvPr/>
        </p:nvSpPr>
        <p:spPr>
          <a:xfrm>
            <a:off x="466344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which changes are admitted</a:t>
            </a:r>
          </a:p>
        </p:txBody>
      </p:sp>
      <p:sp>
        <p:nvSpPr>
          <p:cNvPr id="106" name="G3"/>
          <p:cNvSpPr/>
          <p:nvPr/>
        </p:nvSpPr>
        <p:spPr>
          <a:xfrm>
            <a:off x="681228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ARTIFACT / RUNTIME</a:t>
            </a:r>
          </a:p>
        </p:txBody>
      </p:sp>
      <p:sp>
        <p:nvSpPr>
          <p:cNvPr id="107" name="E3"/>
          <p:cNvSpPr/>
          <p:nvPr/>
        </p:nvSpPr>
        <p:spPr>
          <a:xfrm>
            <a:off x="681228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what the deployed system may do</a:t>
            </a:r>
          </a:p>
        </p:txBody>
      </p:sp>
      <p:cxnSp>
        <p:nvCxnSpPr>
          <p:cNvPr id="108" name="Grain"/>
          <p:cNvCxnSpPr/>
          <p:nvPr/>
        </p:nvCxnSpPr>
        <p:spPr>
          <a:xfrm>
            <a:off x="640080" y="3840480"/>
            <a:ext cx="78638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GrainLbl"/>
          <p:cNvSpPr txBox="1"/>
          <p:nvPr/>
        </p:nvSpPr>
        <p:spPr>
          <a:xfrm>
            <a:off x="640080" y="399592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 xml:space="preserve">increasing semantic grain</a:t>
            </a:r>
          </a:p>
        </p:txBody>
      </p:sp>
      <p:sp>
        <p:nvSpPr>
          <p:cNvPr id="110" name="Q"/>
          <p:cNvSpPr txBox="1"/>
          <p:nvPr/>
        </p:nvSpPr>
        <p:spPr>
          <a:xfrm>
            <a:off x="365760" y="466344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 xml:space="preserve">The same obligation can bind at any of these points — at different costs.</a:t>
            </a:r>
          </a:p>
        </p:txBody>
      </p:sp>
      <p:sp>
        <p:nvSpPr>
          <p:cNvPr id="11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Where should an obligation become binding?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Agents create the rest of Act II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34</a:t>
            </a:fld>
            <a:endParaRPr lang="en-US"/>
          </a:p>
        </p:txBody>
      </p:sp>
      <p:sp>
        <p:nvSpPr>
          <p:cNvPr id="100" name="Thesis"/>
          <p:cNvSpPr txBox="1"/>
          <p:nvPr/>
        </p:nvSpPr>
        <p:spPr>
          <a:xfrm>
            <a:off x="274320" y="8686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Engineer the system, not merely the prompt.</a:t>
            </a:r>
          </a:p>
        </p:txBody>
      </p:sp>
      <p:sp>
        <p:nvSpPr>
          <p:cNvPr id="101" name="Ch0"/>
          <p:cNvSpPr/>
          <p:nvPr/>
        </p:nvSpPr>
        <p:spPr>
          <a:xfrm>
            <a:off x="685800" y="1463040"/>
            <a:ext cx="137160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cxnSp>
        <p:nvCxnSpPr>
          <p:cNvPr id="102" name="CA0"/>
          <p:cNvCxnSpPr/>
          <p:nvPr/>
        </p:nvCxnSpPr>
        <p:spPr>
          <a:xfrm>
            <a:off x="2103120" y="1755648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Ch1"/>
          <p:cNvSpPr/>
          <p:nvPr/>
        </p:nvSpPr>
        <p:spPr>
          <a:xfrm>
            <a:off x="2514600" y="1463040"/>
            <a:ext cx="155448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HARNESS</a:t>
            </a:r>
          </a:p>
        </p:txBody>
      </p:sp>
      <p:cxnSp>
        <p:nvCxnSpPr>
          <p:cNvPr id="104" name="CA1"/>
          <p:cNvCxnSpPr/>
          <p:nvPr/>
        </p:nvCxnSpPr>
        <p:spPr>
          <a:xfrm>
            <a:off x="4114800" y="1755648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Ch2"/>
          <p:cNvSpPr/>
          <p:nvPr/>
        </p:nvSpPr>
        <p:spPr>
          <a:xfrm>
            <a:off x="4526280" y="1463040"/>
            <a:ext cx="192024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ENVIRONMENT</a:t>
            </a:r>
          </a:p>
        </p:txBody>
      </p:sp>
      <p:cxnSp>
        <p:nvCxnSpPr>
          <p:cNvPr id="106" name="CA2"/>
          <p:cNvCxnSpPr/>
          <p:nvPr/>
        </p:nvCxnSpPr>
        <p:spPr>
          <a:xfrm>
            <a:off x="6492240" y="1755648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Ch3"/>
          <p:cNvSpPr/>
          <p:nvPr/>
        </p:nvSpPr>
        <p:spPr>
          <a:xfrm>
            <a:off x="6903720" y="1463040"/>
            <a:ext cx="12801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WORK</a:t>
            </a:r>
          </a:p>
        </p:txBody>
      </p:sp>
      <p:sp>
        <p:nvSpPr>
          <p:cNvPr id="108" name="Two"/>
          <p:cNvSpPr txBox="1"/>
          <p:nvPr/>
        </p:nvSpPr>
        <p:spPr>
          <a:xfrm>
            <a:off x="365760" y="2286000"/>
            <a:ext cx="84124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Agents make realization cheaper and faster.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Engineering determines what should be realized, what must remain true,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 xml:space="preserve">and what evidence is sufficient.</a:t>
            </a:r>
          </a:p>
        </p:txBody>
      </p:sp>
      <p:sp>
        <p:nvSpPr>
          <p:cNvPr id="109" name="FQ0"/>
          <p:cNvSpPr/>
          <p:nvPr/>
        </p:nvSpPr>
        <p:spPr>
          <a:xfrm>
            <a:off x="365760" y="3520440"/>
            <a:ext cx="5394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How do we represent what should be built?</a:t>
            </a:r>
          </a:p>
        </p:txBody>
      </p:sp>
      <p:cxnSp>
        <p:nvCxnSpPr>
          <p:cNvPr id="110" name="FA0"/>
          <p:cNvCxnSpPr/>
          <p:nvPr/>
        </p:nvCxnSpPr>
        <p:spPr>
          <a:xfrm>
            <a:off x="5806440" y="3803904"/>
            <a:ext cx="3200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FD0"/>
          <p:cNvSpPr/>
          <p:nvPr/>
        </p:nvSpPr>
        <p:spPr>
          <a:xfrm>
            <a:off x="6217920" y="3520440"/>
            <a:ext cx="25603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MODELING</a:t>
            </a:r>
          </a:p>
        </p:txBody>
      </p:sp>
      <p:sp>
        <p:nvSpPr>
          <p:cNvPr id="112" name="FQ1"/>
          <p:cNvSpPr/>
          <p:nvPr/>
        </p:nvSpPr>
        <p:spPr>
          <a:xfrm>
            <a:off x="365760" y="4233672"/>
            <a:ext cx="5394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How do consequential obligations govern realization?</a:t>
            </a:r>
          </a:p>
        </p:txBody>
      </p:sp>
      <p:cxnSp>
        <p:nvCxnSpPr>
          <p:cNvPr id="113" name="FA1"/>
          <p:cNvCxnSpPr/>
          <p:nvPr/>
        </p:nvCxnSpPr>
        <p:spPr>
          <a:xfrm>
            <a:off x="5806440" y="4517136"/>
            <a:ext cx="3200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4" name="FD1"/>
          <p:cNvSpPr/>
          <p:nvPr/>
        </p:nvSpPr>
        <p:spPr>
          <a:xfrm>
            <a:off x="6217920" y="4233672"/>
            <a:ext cx="25603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ALIGNMENT</a:t>
            </a:r>
          </a:p>
        </p:txBody>
      </p:sp>
      <p:sp>
        <p:nvSpPr>
          <p:cNvPr id="115" name="FQ2"/>
          <p:cNvSpPr/>
          <p:nvPr/>
        </p:nvSpPr>
        <p:spPr>
          <a:xfrm>
            <a:off x="365760" y="4946904"/>
            <a:ext cx="5394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What do we learn when reality contradicts expectation?</a:t>
            </a:r>
          </a:p>
        </p:txBody>
      </p:sp>
      <p:cxnSp>
        <p:nvCxnSpPr>
          <p:cNvPr id="116" name="FA2"/>
          <p:cNvCxnSpPr/>
          <p:nvPr/>
        </p:nvCxnSpPr>
        <p:spPr>
          <a:xfrm>
            <a:off x="5806440" y="5230368"/>
            <a:ext cx="3200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7" name="FD2"/>
          <p:cNvSpPr/>
          <p:nvPr/>
        </p:nvSpPr>
        <p:spPr>
          <a:xfrm>
            <a:off x="6217920" y="4946904"/>
            <a:ext cx="25603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FAILURE-AWARE ENGINEERING</a:t>
            </a:r>
          </a:p>
        </p:txBody>
      </p:sp>
      <p:sp>
        <p:nvSpPr>
          <p:cNvPr id="11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Delegate realization — without delegating engineering.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3925</Words>
  <Application>Microsoft Macintosh PowerPoint</Application>
  <PresentationFormat>On-screen Show (4:3)</PresentationFormat>
  <Paragraphs>487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Times</vt:lpstr>
      <vt:lpstr>Purdue1</vt:lpstr>
      <vt:lpstr>ECE 30861/46100: Software Engineering</vt:lpstr>
      <vt:lpstr>We need to make a decision</vt:lpstr>
      <vt:lpstr>We have to decide before we know</vt:lpstr>
      <vt:lpstr>Good decision ≠ good outcome</vt:lpstr>
      <vt:lpstr>What do we need to know?</vt:lpstr>
      <vt:lpstr>Models let us reason before we know</vt:lpstr>
      <vt:lpstr>From decision to evidence</vt:lpstr>
      <vt:lpstr>Evidence takes many forms</vt:lpstr>
      <vt:lpstr>What observation would change the decision?</vt:lpstr>
      <vt:lpstr>From properties to measurements</vt:lpstr>
      <vt:lpstr>Property → Metric → Measurement → Evidence</vt:lpstr>
      <vt:lpstr>A metric operationalizes a property</vt:lpstr>
      <vt:lpstr>Measurement parameterizes the model</vt:lpstr>
      <vt:lpstr>What does 420 ms tell us?</vt:lpstr>
      <vt:lpstr>Measure where the property exists</vt:lpstr>
      <vt:lpstr>Direct and indirect measurement</vt:lpstr>
      <vt:lpstr>Metrics leave things out</vt:lpstr>
      <vt:lpstr>When metrics mislead</vt:lpstr>
      <vt:lpstr>“Developer productivity increased 22%.”</vt:lpstr>
      <vt:lpstr>Proxy metrics</vt:lpstr>
      <vt:lpstr>Goodhart’s Law and surrogation</vt:lpstr>
      <vt:lpstr>Metrics do not have context-free meanings</vt:lpstr>
      <vt:lpstr>Before using a metric</vt:lpstr>
      <vt:lpstr>From measurement to action</vt:lpstr>
      <vt:lpstr>Measurements become evidence</vt:lpstr>
      <vt:lpstr>The same evidence can justify different actions</vt:lpstr>
      <vt:lpstr>What should we do?</vt:lpstr>
      <vt:lpstr>Before the decision · After the outcome</vt:lpstr>
      <vt:lpstr>Engineering is informed control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397</cp:revision>
  <dcterms:created xsi:type="dcterms:W3CDTF">2020-02-21T23:00:33Z</dcterms:created>
  <dcterms:modified xsi:type="dcterms:W3CDTF">2026-09-21T17:15:07Z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