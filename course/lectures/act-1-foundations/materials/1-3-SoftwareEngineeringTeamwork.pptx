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7"/>
  </p:notesMasterIdLst>
  <p:sldIdLst>
    <p:sldId id="263" r:id="rId2"/>
    <p:sldId id="1288" r:id="rId3"/>
    <p:sldId id="1169" r:id="rId4"/>
    <p:sldId id="1261" r:id="rId5"/>
    <p:sldId id="1267" r:id="rId6"/>
    <p:sldId id="1268" r:id="rId7"/>
    <p:sldId id="1262" r:id="rId8"/>
    <p:sldId id="1289" r:id="rId9"/>
    <p:sldId id="1269" r:id="rId10"/>
    <p:sldId id="1270" r:id="rId11"/>
    <p:sldId id="1271" r:id="rId12"/>
    <p:sldId id="1189" r:id="rId13"/>
    <p:sldId id="1272" r:id="rId14"/>
    <p:sldId id="1273" r:id="rId15"/>
    <p:sldId id="1218" r:id="rId16"/>
    <p:sldId id="1274" r:id="rId17"/>
    <p:sldId id="1236" r:id="rId18"/>
    <p:sldId id="1275" r:id="rId19"/>
    <p:sldId id="1276" r:id="rId20"/>
    <p:sldId id="1263" r:id="rId21"/>
    <p:sldId id="1290" r:id="rId22"/>
    <p:sldId id="1277" r:id="rId23"/>
    <p:sldId id="1278" r:id="rId24"/>
    <p:sldId id="1279" r:id="rId25"/>
    <p:sldId id="1264" r:id="rId26"/>
    <p:sldId id="1280" r:id="rId27"/>
    <p:sldId id="1281" r:id="rId28"/>
    <p:sldId id="1282" r:id="rId29"/>
    <p:sldId id="1223" r:id="rId30"/>
    <p:sldId id="1283" r:id="rId31"/>
    <p:sldId id="1284" r:id="rId32"/>
    <p:sldId id="1265" r:id="rId33"/>
    <p:sldId id="1285" r:id="rId34"/>
    <p:sldId id="1286" r:id="rId35"/>
    <p:sldId id="1287"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s, James C" initials="JD" lastIdx="12" clrIdx="0">
    <p:extLst>
      <p:ext uri="{19B8F6BF-5375-455C-9EA6-DF929625EA0E}">
        <p15:presenceInfo xmlns:p15="http://schemas.microsoft.com/office/powerpoint/2012/main" userId="S::davisjam@purdue.edu::84778d94-b1cc-4a48-87ce-749e1d7d6e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201" autoAdjust="0"/>
    <p:restoredTop sz="70822"/>
  </p:normalViewPr>
  <p:slideViewPr>
    <p:cSldViewPr snapToGrid="0" snapToObjects="1">
      <p:cViewPr>
        <p:scale>
          <a:sx n="72" d="100"/>
          <a:sy n="72" d="100"/>
        </p:scale>
        <p:origin x="488" y="44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s, James C" userId="84778d94-b1cc-4a48-87ce-749e1d7d6e72" providerId="ADAL" clId="{C13BD2B9-3C33-A040-88F6-E3015F94DABB}"/>
    <pc:docChg chg="undo custSel addSld delSld modSld delMainMaster">
      <pc:chgData name="Davis, James C" userId="84778d94-b1cc-4a48-87ce-749e1d7d6e72" providerId="ADAL" clId="{C13BD2B9-3C33-A040-88F6-E3015F94DABB}" dt="2024-09-10T17:23:50.955" v="1523" actId="20577"/>
      <pc:docMkLst>
        <pc:docMk/>
      </pc:docMkLst>
      <pc:sldChg chg="addSp delSp modSp del mod modClrScheme chgLayout">
        <pc:chgData name="Davis, James C" userId="84778d94-b1cc-4a48-87ce-749e1d7d6e72" providerId="ADAL" clId="{C13BD2B9-3C33-A040-88F6-E3015F94DABB}" dt="2024-09-10T17:18:33.737" v="1001" actId="2696"/>
        <pc:sldMkLst>
          <pc:docMk/>
          <pc:sldMk cId="0" sldId="256"/>
        </pc:sldMkLst>
        <pc:spChg chg="add del mod ord">
          <ac:chgData name="Davis, James C" userId="84778d94-b1cc-4a48-87ce-749e1d7d6e72" providerId="ADAL" clId="{C13BD2B9-3C33-A040-88F6-E3015F94DABB}" dt="2024-09-10T17:18:05.049" v="932" actId="700"/>
          <ac:spMkLst>
            <pc:docMk/>
            <pc:sldMk cId="0" sldId="256"/>
            <ac:spMk id="2" creationId="{8CF10E70-7B52-A311-FA3B-623052ED54E8}"/>
          </ac:spMkLst>
        </pc:spChg>
        <pc:spChg chg="add del mod">
          <ac:chgData name="Davis, James C" userId="84778d94-b1cc-4a48-87ce-749e1d7d6e72" providerId="ADAL" clId="{C13BD2B9-3C33-A040-88F6-E3015F94DABB}" dt="2024-09-10T17:18:33.394" v="1000"/>
          <ac:spMkLst>
            <pc:docMk/>
            <pc:sldMk cId="0" sldId="256"/>
            <ac:spMk id="3" creationId="{63A90473-CEF2-F439-57A4-B207E5242BF7}"/>
          </ac:spMkLst>
        </pc:spChg>
      </pc:sldChg>
      <pc:sldChg chg="modSp mod modClrScheme chgLayout">
        <pc:chgData name="Davis, James C" userId="84778d94-b1cc-4a48-87ce-749e1d7d6e72" providerId="ADAL" clId="{C13BD2B9-3C33-A040-88F6-E3015F94DABB}" dt="2024-09-10T17:15:22.216" v="729" actId="20577"/>
        <pc:sldMkLst>
          <pc:docMk/>
          <pc:sldMk cId="0" sldId="258"/>
        </pc:sldMkLst>
        <pc:spChg chg="mod ord">
          <ac:chgData name="Davis, James C" userId="84778d94-b1cc-4a48-87ce-749e1d7d6e72" providerId="ADAL" clId="{C13BD2B9-3C33-A040-88F6-E3015F94DABB}" dt="2024-09-10T17:15:22.216" v="729" actId="20577"/>
          <ac:spMkLst>
            <pc:docMk/>
            <pc:sldMk cId="0" sldId="258"/>
            <ac:spMk id="49" creationId="{00000000-0000-0000-0000-000000000000}"/>
          </ac:spMkLst>
        </pc:spChg>
        <pc:spChg chg="mod ord">
          <ac:chgData name="Davis, James C" userId="84778d94-b1cc-4a48-87ce-749e1d7d6e72" providerId="ADAL" clId="{C13BD2B9-3C33-A040-88F6-E3015F94DABB}" dt="2024-09-10T17:14:25.106" v="698" actId="700"/>
          <ac:spMkLst>
            <pc:docMk/>
            <pc:sldMk cId="0" sldId="258"/>
            <ac:spMk id="50" creationId="{00000000-0000-0000-0000-000000000000}"/>
          </ac:spMkLst>
        </pc:spChg>
        <pc:spChg chg="mod ord">
          <ac:chgData name="Davis, James C" userId="84778d94-b1cc-4a48-87ce-749e1d7d6e72" providerId="ADAL" clId="{C13BD2B9-3C33-A040-88F6-E3015F94DABB}" dt="2024-09-10T17:15:17.688" v="727" actId="20577"/>
          <ac:spMkLst>
            <pc:docMk/>
            <pc:sldMk cId="0" sldId="258"/>
            <ac:spMk id="51" creationId="{00000000-0000-0000-0000-000000000000}"/>
          </ac:spMkLst>
        </pc:spChg>
      </pc:sldChg>
      <pc:sldChg chg="modSp mod modClrScheme chgLayout">
        <pc:chgData name="Davis, James C" userId="84778d94-b1cc-4a48-87ce-749e1d7d6e72" providerId="ADAL" clId="{C13BD2B9-3C33-A040-88F6-E3015F94DABB}" dt="2024-09-10T17:15:25.054" v="732" actId="6549"/>
        <pc:sldMkLst>
          <pc:docMk/>
          <pc:sldMk cId="0" sldId="259"/>
        </pc:sldMkLst>
        <pc:spChg chg="mod ord">
          <ac:chgData name="Davis, James C" userId="84778d94-b1cc-4a48-87ce-749e1d7d6e72" providerId="ADAL" clId="{C13BD2B9-3C33-A040-88F6-E3015F94DABB}" dt="2024-09-10T17:15:25.054" v="732" actId="6549"/>
          <ac:spMkLst>
            <pc:docMk/>
            <pc:sldMk cId="0" sldId="259"/>
            <ac:spMk id="56" creationId="{00000000-0000-0000-0000-000000000000}"/>
          </ac:spMkLst>
        </pc:spChg>
        <pc:spChg chg="mod ord">
          <ac:chgData name="Davis, James C" userId="84778d94-b1cc-4a48-87ce-749e1d7d6e72" providerId="ADAL" clId="{C13BD2B9-3C33-A040-88F6-E3015F94DABB}" dt="2024-09-10T17:14:29.655" v="699" actId="700"/>
          <ac:spMkLst>
            <pc:docMk/>
            <pc:sldMk cId="0" sldId="259"/>
            <ac:spMk id="57" creationId="{00000000-0000-0000-0000-000000000000}"/>
          </ac:spMkLst>
        </pc:spChg>
        <pc:spChg chg="mod ord">
          <ac:chgData name="Davis, James C" userId="84778d94-b1cc-4a48-87ce-749e1d7d6e72" providerId="ADAL" clId="{C13BD2B9-3C33-A040-88F6-E3015F94DABB}" dt="2024-09-10T17:14:47.760" v="708" actId="12"/>
          <ac:spMkLst>
            <pc:docMk/>
            <pc:sldMk cId="0" sldId="259"/>
            <ac:spMk id="58" creationId="{00000000-0000-0000-0000-000000000000}"/>
          </ac:spMkLst>
        </pc:spChg>
      </pc:sldChg>
      <pc:sldChg chg="modSp mod modClrScheme chgLayout">
        <pc:chgData name="Davis, James C" userId="84778d94-b1cc-4a48-87ce-749e1d7d6e72" providerId="ADAL" clId="{C13BD2B9-3C33-A040-88F6-E3015F94DABB}" dt="2024-09-10T17:17:35.486" v="926" actId="20577"/>
        <pc:sldMkLst>
          <pc:docMk/>
          <pc:sldMk cId="0" sldId="264"/>
        </pc:sldMkLst>
        <pc:spChg chg="mod ord">
          <ac:chgData name="Davis, James C" userId="84778d94-b1cc-4a48-87ce-749e1d7d6e72" providerId="ADAL" clId="{C13BD2B9-3C33-A040-88F6-E3015F94DABB}" dt="2024-09-10T17:17:33.773" v="923" actId="700"/>
          <ac:spMkLst>
            <pc:docMk/>
            <pc:sldMk cId="0" sldId="264"/>
            <ac:spMk id="92" creationId="{00000000-0000-0000-0000-000000000000}"/>
          </ac:spMkLst>
        </pc:spChg>
        <pc:spChg chg="mod ord">
          <ac:chgData name="Davis, James C" userId="84778d94-b1cc-4a48-87ce-749e1d7d6e72" providerId="ADAL" clId="{C13BD2B9-3C33-A040-88F6-E3015F94DABB}" dt="2024-09-10T17:17:35.486" v="926" actId="20577"/>
          <ac:spMkLst>
            <pc:docMk/>
            <pc:sldMk cId="0" sldId="264"/>
            <ac:spMk id="93" creationId="{00000000-0000-0000-0000-000000000000}"/>
          </ac:spMkLst>
        </pc:spChg>
        <pc:spChg chg="mod ord">
          <ac:chgData name="Davis, James C" userId="84778d94-b1cc-4a48-87ce-749e1d7d6e72" providerId="ADAL" clId="{C13BD2B9-3C33-A040-88F6-E3015F94DABB}" dt="2024-09-10T17:17:33.773" v="923" actId="700"/>
          <ac:spMkLst>
            <pc:docMk/>
            <pc:sldMk cId="0" sldId="264"/>
            <ac:spMk id="94" creationId="{00000000-0000-0000-0000-000000000000}"/>
          </ac:spMkLst>
        </pc:spChg>
      </pc:sldChg>
      <pc:sldChg chg="modSp mod modClrScheme chgLayout">
        <pc:chgData name="Davis, James C" userId="84778d94-b1cc-4a48-87ce-749e1d7d6e72" providerId="ADAL" clId="{C13BD2B9-3C33-A040-88F6-E3015F94DABB}" dt="2024-09-10T17:17:29.030" v="922" actId="20577"/>
        <pc:sldMkLst>
          <pc:docMk/>
          <pc:sldMk cId="721734051" sldId="269"/>
        </pc:sldMkLst>
        <pc:spChg chg="mod ord">
          <ac:chgData name="Davis, James C" userId="84778d94-b1cc-4a48-87ce-749e1d7d6e72" providerId="ADAL" clId="{C13BD2B9-3C33-A040-88F6-E3015F94DABB}" dt="2024-09-10T17:17:29.030" v="922" actId="20577"/>
          <ac:spMkLst>
            <pc:docMk/>
            <pc:sldMk cId="721734051" sldId="269"/>
            <ac:spMk id="130" creationId="{00000000-0000-0000-0000-000000000000}"/>
          </ac:spMkLst>
        </pc:spChg>
        <pc:spChg chg="mod ord">
          <ac:chgData name="Davis, James C" userId="84778d94-b1cc-4a48-87ce-749e1d7d6e72" providerId="ADAL" clId="{C13BD2B9-3C33-A040-88F6-E3015F94DABB}" dt="2024-09-10T17:15:27.928" v="735" actId="6549"/>
          <ac:spMkLst>
            <pc:docMk/>
            <pc:sldMk cId="721734051" sldId="269"/>
            <ac:spMk id="131" creationId="{00000000-0000-0000-0000-000000000000}"/>
          </ac:spMkLst>
        </pc:spChg>
        <pc:spChg chg="mod ord">
          <ac:chgData name="Davis, James C" userId="84778d94-b1cc-4a48-87ce-749e1d7d6e72" providerId="ADAL" clId="{C13BD2B9-3C33-A040-88F6-E3015F94DABB}" dt="2024-09-10T17:14:33.553" v="700" actId="700"/>
          <ac:spMkLst>
            <pc:docMk/>
            <pc:sldMk cId="721734051" sldId="269"/>
            <ac:spMk id="132" creationId="{00000000-0000-0000-0000-000000000000}"/>
          </ac:spMkLst>
        </pc:spChg>
      </pc:sldChg>
      <pc:sldChg chg="addSp modSp modNotesTx">
        <pc:chgData name="Davis, James C" userId="84778d94-b1cc-4a48-87ce-749e1d7d6e72" providerId="ADAL" clId="{C13BD2B9-3C33-A040-88F6-E3015F94DABB}" dt="2024-09-10T17:12:29.606" v="697" actId="1076"/>
        <pc:sldMkLst>
          <pc:docMk/>
          <pc:sldMk cId="2356357957" sldId="324"/>
        </pc:sldMkLst>
        <pc:graphicFrameChg chg="mod">
          <ac:chgData name="Davis, James C" userId="84778d94-b1cc-4a48-87ce-749e1d7d6e72" providerId="ADAL" clId="{C13BD2B9-3C33-A040-88F6-E3015F94DABB}" dt="2024-09-10T17:08:24.596" v="25" actId="20577"/>
          <ac:graphicFrameMkLst>
            <pc:docMk/>
            <pc:sldMk cId="2356357957" sldId="324"/>
            <ac:graphicFrameMk id="9" creationId="{6F34430E-D61F-B5B4-F87D-A9CC6A9196E9}"/>
          </ac:graphicFrameMkLst>
        </pc:graphicFrameChg>
        <pc:picChg chg="mod">
          <ac:chgData name="Davis, James C" userId="84778d94-b1cc-4a48-87ce-749e1d7d6e72" providerId="ADAL" clId="{C13BD2B9-3C33-A040-88F6-E3015F94DABB}" dt="2024-09-10T17:07:55.835" v="3" actId="1076"/>
          <ac:picMkLst>
            <pc:docMk/>
            <pc:sldMk cId="2356357957" sldId="324"/>
            <ac:picMk id="27" creationId="{007496A7-D126-DB03-2CC1-D255D221D80E}"/>
          </ac:picMkLst>
        </pc:picChg>
        <pc:picChg chg="add mod">
          <ac:chgData name="Davis, James C" userId="84778d94-b1cc-4a48-87ce-749e1d7d6e72" providerId="ADAL" clId="{C13BD2B9-3C33-A040-88F6-E3015F94DABB}" dt="2024-09-10T17:11:48.387" v="689" actId="1076"/>
          <ac:picMkLst>
            <pc:docMk/>
            <pc:sldMk cId="2356357957" sldId="324"/>
            <ac:picMk id="1026" creationId="{A0BB0FCD-11FF-9BA4-C331-6D2EF97504D5}"/>
          </ac:picMkLst>
        </pc:picChg>
        <pc:picChg chg="add mod">
          <ac:chgData name="Davis, James C" userId="84778d94-b1cc-4a48-87ce-749e1d7d6e72" providerId="ADAL" clId="{C13BD2B9-3C33-A040-88F6-E3015F94DABB}" dt="2024-09-10T17:12:09.928" v="694" actId="1076"/>
          <ac:picMkLst>
            <pc:docMk/>
            <pc:sldMk cId="2356357957" sldId="324"/>
            <ac:picMk id="1028" creationId="{78268FE0-887A-ED58-AD9C-C7C61ADFEEAA}"/>
          </ac:picMkLst>
        </pc:picChg>
        <pc:picChg chg="add mod">
          <ac:chgData name="Davis, James C" userId="84778d94-b1cc-4a48-87ce-749e1d7d6e72" providerId="ADAL" clId="{C13BD2B9-3C33-A040-88F6-E3015F94DABB}" dt="2024-09-10T17:12:29.606" v="697" actId="1076"/>
          <ac:picMkLst>
            <pc:docMk/>
            <pc:sldMk cId="2356357957" sldId="324"/>
            <ac:picMk id="1030" creationId="{ADEAA910-1C20-71C9-8E10-C44D28B0D653}"/>
          </ac:picMkLst>
        </pc:picChg>
      </pc:sldChg>
      <pc:sldChg chg="del">
        <pc:chgData name="Davis, James C" userId="84778d94-b1cc-4a48-87ce-749e1d7d6e72" providerId="ADAL" clId="{C13BD2B9-3C33-A040-88F6-E3015F94DABB}" dt="2024-09-10T17:21:48.904" v="1355" actId="2696"/>
        <pc:sldMkLst>
          <pc:docMk/>
          <pc:sldMk cId="2098679413" sldId="327"/>
        </pc:sldMkLst>
      </pc:sldChg>
      <pc:sldChg chg="modNotesTx">
        <pc:chgData name="Davis, James C" userId="84778d94-b1cc-4a48-87ce-749e1d7d6e72" providerId="ADAL" clId="{C13BD2B9-3C33-A040-88F6-E3015F94DABB}" dt="2024-09-10T17:20:57.064" v="1290" actId="20577"/>
        <pc:sldMkLst>
          <pc:docMk/>
          <pc:sldMk cId="2753838233" sldId="329"/>
        </pc:sldMkLst>
      </pc:sldChg>
      <pc:sldChg chg="modSp mod">
        <pc:chgData name="Davis, James C" userId="84778d94-b1cc-4a48-87ce-749e1d7d6e72" providerId="ADAL" clId="{C13BD2B9-3C33-A040-88F6-E3015F94DABB}" dt="2024-09-10T17:21:43.922" v="1354" actId="14100"/>
        <pc:sldMkLst>
          <pc:docMk/>
          <pc:sldMk cId="130123482" sldId="332"/>
        </pc:sldMkLst>
        <pc:spChg chg="mod">
          <ac:chgData name="Davis, James C" userId="84778d94-b1cc-4a48-87ce-749e1d7d6e72" providerId="ADAL" clId="{C13BD2B9-3C33-A040-88F6-E3015F94DABB}" dt="2024-09-10T17:21:43.922" v="1354" actId="14100"/>
          <ac:spMkLst>
            <pc:docMk/>
            <pc:sldMk cId="130123482" sldId="332"/>
            <ac:spMk id="11" creationId="{CD417314-A327-2FFB-4970-CAC5B7C898B2}"/>
          </ac:spMkLst>
        </pc:spChg>
      </pc:sldChg>
      <pc:sldChg chg="modSp mod modAnim modNotesTx">
        <pc:chgData name="Davis, James C" userId="84778d94-b1cc-4a48-87ce-749e1d7d6e72" providerId="ADAL" clId="{C13BD2B9-3C33-A040-88F6-E3015F94DABB}" dt="2024-09-10T17:23:12.723" v="1512" actId="20577"/>
        <pc:sldMkLst>
          <pc:docMk/>
          <pc:sldMk cId="4223715033" sldId="334"/>
        </pc:sldMkLst>
        <pc:spChg chg="mod">
          <ac:chgData name="Davis, James C" userId="84778d94-b1cc-4a48-87ce-749e1d7d6e72" providerId="ADAL" clId="{C13BD2B9-3C33-A040-88F6-E3015F94DABB}" dt="2024-09-10T17:23:04.980" v="1506" actId="20577"/>
          <ac:spMkLst>
            <pc:docMk/>
            <pc:sldMk cId="4223715033" sldId="334"/>
            <ac:spMk id="3" creationId="{448CD2FC-CA63-366E-8BC4-CC14DC032667}"/>
          </ac:spMkLst>
        </pc:spChg>
      </pc:sldChg>
      <pc:sldChg chg="modSp mod">
        <pc:chgData name="Davis, James C" userId="84778d94-b1cc-4a48-87ce-749e1d7d6e72" providerId="ADAL" clId="{C13BD2B9-3C33-A040-88F6-E3015F94DABB}" dt="2024-09-10T17:23:50.955" v="1523" actId="20577"/>
        <pc:sldMkLst>
          <pc:docMk/>
          <pc:sldMk cId="1553276905" sldId="1003"/>
        </pc:sldMkLst>
        <pc:spChg chg="mod">
          <ac:chgData name="Davis, James C" userId="84778d94-b1cc-4a48-87ce-749e1d7d6e72" providerId="ADAL" clId="{C13BD2B9-3C33-A040-88F6-E3015F94DABB}" dt="2024-09-10T17:23:50.955" v="1523" actId="20577"/>
          <ac:spMkLst>
            <pc:docMk/>
            <pc:sldMk cId="1553276905" sldId="1003"/>
            <ac:spMk id="6" creationId="{209AAC26-7A87-494B-B7B6-460B706AB487}"/>
          </ac:spMkLst>
        </pc:spChg>
      </pc:sldChg>
      <pc:sldChg chg="modSp mod">
        <pc:chgData name="Davis, James C" userId="84778d94-b1cc-4a48-87ce-749e1d7d6e72" providerId="ADAL" clId="{C13BD2B9-3C33-A040-88F6-E3015F94DABB}" dt="2024-09-10T17:23:46.264" v="1521" actId="20577"/>
        <pc:sldMkLst>
          <pc:docMk/>
          <pc:sldMk cId="75948423" sldId="1134"/>
        </pc:sldMkLst>
        <pc:spChg chg="mod">
          <ac:chgData name="Davis, James C" userId="84778d94-b1cc-4a48-87ce-749e1d7d6e72" providerId="ADAL" clId="{C13BD2B9-3C33-A040-88F6-E3015F94DABB}" dt="2024-09-10T17:23:46.264" v="1521" actId="20577"/>
          <ac:spMkLst>
            <pc:docMk/>
            <pc:sldMk cId="75948423" sldId="1134"/>
            <ac:spMk id="4" creationId="{50C20A41-0E61-6D4A-8122-96131287EFD4}"/>
          </ac:spMkLst>
        </pc:spChg>
      </pc:sldChg>
      <pc:sldChg chg="modSp mod">
        <pc:chgData name="Davis, James C" userId="84778d94-b1cc-4a48-87ce-749e1d7d6e72" providerId="ADAL" clId="{C13BD2B9-3C33-A040-88F6-E3015F94DABB}" dt="2024-09-10T17:17:49.633" v="928" actId="20577"/>
        <pc:sldMkLst>
          <pc:docMk/>
          <pc:sldMk cId="4267862517" sldId="1145"/>
        </pc:sldMkLst>
        <pc:spChg chg="mod">
          <ac:chgData name="Davis, James C" userId="84778d94-b1cc-4a48-87ce-749e1d7d6e72" providerId="ADAL" clId="{C13BD2B9-3C33-A040-88F6-E3015F94DABB}" dt="2024-09-10T17:17:49.633" v="928" actId="20577"/>
          <ac:spMkLst>
            <pc:docMk/>
            <pc:sldMk cId="4267862517" sldId="1145"/>
            <ac:spMk id="3" creationId="{E7BA0FA0-A0BF-419A-B9B7-DFD7C613B438}"/>
          </ac:spMkLst>
        </pc:spChg>
      </pc:sldChg>
      <pc:sldChg chg="modSp mod">
        <pc:chgData name="Davis, James C" userId="84778d94-b1cc-4a48-87ce-749e1d7d6e72" providerId="ADAL" clId="{C13BD2B9-3C33-A040-88F6-E3015F94DABB}" dt="2024-09-10T17:17:52.937" v="930" actId="20577"/>
        <pc:sldMkLst>
          <pc:docMk/>
          <pc:sldMk cId="2563549695" sldId="1146"/>
        </pc:sldMkLst>
        <pc:spChg chg="mod">
          <ac:chgData name="Davis, James C" userId="84778d94-b1cc-4a48-87ce-749e1d7d6e72" providerId="ADAL" clId="{C13BD2B9-3C33-A040-88F6-E3015F94DABB}" dt="2024-09-10T17:17:52.937" v="930" actId="20577"/>
          <ac:spMkLst>
            <pc:docMk/>
            <pc:sldMk cId="2563549695" sldId="1146"/>
            <ac:spMk id="3" creationId="{C8522642-81EF-FFD6-45A5-89339F0CF991}"/>
          </ac:spMkLst>
        </pc:spChg>
      </pc:sldChg>
      <pc:sldChg chg="modSp mod modAnim modNotesTx">
        <pc:chgData name="Davis, James C" userId="84778d94-b1cc-4a48-87ce-749e1d7d6e72" providerId="ADAL" clId="{C13BD2B9-3C33-A040-88F6-E3015F94DABB}" dt="2024-09-10T17:20:07.320" v="1186" actId="20577"/>
        <pc:sldMkLst>
          <pc:docMk/>
          <pc:sldMk cId="453514744" sldId="1150"/>
        </pc:sldMkLst>
        <pc:spChg chg="mod">
          <ac:chgData name="Davis, James C" userId="84778d94-b1cc-4a48-87ce-749e1d7d6e72" providerId="ADAL" clId="{C13BD2B9-3C33-A040-88F6-E3015F94DABB}" dt="2024-09-10T17:19:37.397" v="1121" actId="21"/>
          <ac:spMkLst>
            <pc:docMk/>
            <pc:sldMk cId="453514744" sldId="1150"/>
            <ac:spMk id="2" creationId="{CACEB0A1-C9A3-3BC0-CE2E-4F8A2FC73BCB}"/>
          </ac:spMkLst>
        </pc:spChg>
      </pc:sldChg>
      <pc:sldChg chg="addSp modSp new mod">
        <pc:chgData name="Davis, James C" userId="84778d94-b1cc-4a48-87ce-749e1d7d6e72" providerId="ADAL" clId="{C13BD2B9-3C33-A040-88F6-E3015F94DABB}" dt="2024-09-10T17:18:31.275" v="998" actId="1076"/>
        <pc:sldMkLst>
          <pc:docMk/>
          <pc:sldMk cId="3242672793" sldId="1166"/>
        </pc:sldMkLst>
        <pc:spChg chg="mod">
          <ac:chgData name="Davis, James C" userId="84778d94-b1cc-4a48-87ce-749e1d7d6e72" providerId="ADAL" clId="{C13BD2B9-3C33-A040-88F6-E3015F94DABB}" dt="2024-09-10T17:18:15.966" v="954" actId="20577"/>
          <ac:spMkLst>
            <pc:docMk/>
            <pc:sldMk cId="3242672793" sldId="1166"/>
            <ac:spMk id="2" creationId="{EC7ED86E-B265-D51F-4FFF-D5F2BEBA91B1}"/>
          </ac:spMkLst>
        </pc:spChg>
        <pc:spChg chg="add mod">
          <ac:chgData name="Davis, James C" userId="84778d94-b1cc-4a48-87ce-749e1d7d6e72" providerId="ADAL" clId="{C13BD2B9-3C33-A040-88F6-E3015F94DABB}" dt="2024-09-10T17:18:31.275" v="998" actId="1076"/>
          <ac:spMkLst>
            <pc:docMk/>
            <pc:sldMk cId="3242672793" sldId="1166"/>
            <ac:spMk id="4" creationId="{DCADB256-0785-8E1F-D8C4-C1F8CDC3A3E8}"/>
          </ac:spMkLst>
        </pc:spChg>
      </pc:sldChg>
      <pc:sldChg chg="delSp modSp add mod">
        <pc:chgData name="Davis, James C" userId="84778d94-b1cc-4a48-87ce-749e1d7d6e72" providerId="ADAL" clId="{C13BD2B9-3C33-A040-88F6-E3015F94DABB}" dt="2024-09-10T17:18:50.040" v="1039" actId="1076"/>
        <pc:sldMkLst>
          <pc:docMk/>
          <pc:sldMk cId="2513815116" sldId="1167"/>
        </pc:sldMkLst>
        <pc:spChg chg="mod">
          <ac:chgData name="Davis, James C" userId="84778d94-b1cc-4a48-87ce-749e1d7d6e72" providerId="ADAL" clId="{C13BD2B9-3C33-A040-88F6-E3015F94DABB}" dt="2024-09-10T17:18:50.040" v="1039" actId="1076"/>
          <ac:spMkLst>
            <pc:docMk/>
            <pc:sldMk cId="2513815116" sldId="1167"/>
            <ac:spMk id="2" creationId="{EC7ED86E-B265-D51F-4FFF-D5F2BEBA91B1}"/>
          </ac:spMkLst>
        </pc:spChg>
        <pc:spChg chg="del">
          <ac:chgData name="Davis, James C" userId="84778d94-b1cc-4a48-87ce-749e1d7d6e72" providerId="ADAL" clId="{C13BD2B9-3C33-A040-88F6-E3015F94DABB}" dt="2024-09-10T17:18:46.475" v="1037" actId="478"/>
          <ac:spMkLst>
            <pc:docMk/>
            <pc:sldMk cId="2513815116" sldId="1167"/>
            <ac:spMk id="4" creationId="{DCADB256-0785-8E1F-D8C4-C1F8CDC3A3E8}"/>
          </ac:spMkLst>
        </pc:spChg>
      </pc:sldChg>
      <pc:sldMasterChg chg="delSldLayout">
        <pc:chgData name="Davis, James C" userId="84778d94-b1cc-4a48-87ce-749e1d7d6e72" providerId="ADAL" clId="{C13BD2B9-3C33-A040-88F6-E3015F94DABB}" dt="2024-09-10T17:18:33.737" v="1001" actId="2696"/>
        <pc:sldMasterMkLst>
          <pc:docMk/>
          <pc:sldMasterMk cId="3595336832" sldId="2147483708"/>
        </pc:sldMasterMkLst>
        <pc:sldLayoutChg chg="del">
          <pc:chgData name="Davis, James C" userId="84778d94-b1cc-4a48-87ce-749e1d7d6e72" providerId="ADAL" clId="{C13BD2B9-3C33-A040-88F6-E3015F94DABB}" dt="2024-09-10T17:18:33.737" v="1001" actId="2696"/>
          <pc:sldLayoutMkLst>
            <pc:docMk/>
            <pc:sldMasterMk cId="3595336832" sldId="2147483708"/>
            <pc:sldLayoutMk cId="2360952061" sldId="2147483736"/>
          </pc:sldLayoutMkLst>
        </pc:sldLayoutChg>
      </pc:sldMasterChg>
      <pc:sldMasterChg chg="del delSldLayout">
        <pc:chgData name="Davis, James C" userId="84778d94-b1cc-4a48-87ce-749e1d7d6e72" providerId="ADAL" clId="{C13BD2B9-3C33-A040-88F6-E3015F94DABB}" dt="2024-09-10T17:17:33.773" v="923" actId="700"/>
        <pc:sldMasterMkLst>
          <pc:docMk/>
          <pc:sldMasterMk cId="3803880948" sldId="2147483737"/>
        </pc:sldMasterMkLst>
        <pc:sldLayoutChg chg="del">
          <pc:chgData name="Davis, James C" userId="84778d94-b1cc-4a48-87ce-749e1d7d6e72" providerId="ADAL" clId="{C13BD2B9-3C33-A040-88F6-E3015F94DABB}" dt="2024-09-10T17:17:33.773" v="923" actId="700"/>
          <pc:sldLayoutMkLst>
            <pc:docMk/>
            <pc:sldMasterMk cId="3803880948" sldId="2147483737"/>
            <pc:sldLayoutMk cId="3938558645" sldId="2147483738"/>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219203019" sldId="2147483739"/>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774631588" sldId="2147483740"/>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3778413463" sldId="2147483741"/>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1155270769" sldId="2147483742"/>
          </pc:sldLayoutMkLst>
        </pc:sldLayoutChg>
      </pc:sldMasterChg>
    </pc:docChg>
  </pc:docChgLst>
  <pc:docChgLst>
    <pc:chgData name="Davis, James C" userId="84778d94-b1cc-4a48-87ce-749e1d7d6e72" providerId="ADAL" clId="{9C5ED513-8454-B04F-9B3F-AAC1E9F861CE}"/>
    <pc:docChg chg="undo custSel addSld delSld modSld">
      <pc:chgData name="Davis, James C" userId="84778d94-b1cc-4a48-87ce-749e1d7d6e72" providerId="ADAL" clId="{9C5ED513-8454-B04F-9B3F-AAC1E9F861CE}" dt="2023-09-05T17:03:31.680" v="2020"/>
      <pc:docMkLst>
        <pc:docMk/>
      </pc:docMkLst>
      <pc:sldChg chg="addSp modSp add mod modAnim modNotesTx">
        <pc:chgData name="Davis, James C" userId="84778d94-b1cc-4a48-87ce-749e1d7d6e72" providerId="ADAL" clId="{9C5ED513-8454-B04F-9B3F-AAC1E9F861CE}" dt="2023-09-05T16:23:33.226" v="67" actId="20577"/>
        <pc:sldMkLst>
          <pc:docMk/>
          <pc:sldMk cId="3647315060" sldId="257"/>
        </pc:sldMkLst>
        <pc:spChg chg="add mod">
          <ac:chgData name="Davis, James C" userId="84778d94-b1cc-4a48-87ce-749e1d7d6e72" providerId="ADAL" clId="{9C5ED513-8454-B04F-9B3F-AAC1E9F861CE}" dt="2023-09-05T16:22:58.060" v="16" actId="1076"/>
          <ac:spMkLst>
            <pc:docMk/>
            <pc:sldMk cId="3647315060" sldId="257"/>
            <ac:spMk id="2" creationId="{47EF96D7-E122-1FE0-C29C-71F7D6A3142E}"/>
          </ac:spMkLst>
        </pc:spChg>
        <pc:picChg chg="mod">
          <ac:chgData name="Davis, James C" userId="84778d94-b1cc-4a48-87ce-749e1d7d6e72" providerId="ADAL" clId="{9C5ED513-8454-B04F-9B3F-AAC1E9F861CE}" dt="2023-09-05T16:20:21.677" v="4" actId="14100"/>
          <ac:picMkLst>
            <pc:docMk/>
            <pc:sldMk cId="3647315060" sldId="257"/>
            <ac:picMk id="6" creationId="{00000000-0000-0000-0000-000000000000}"/>
          </ac:picMkLst>
        </pc:picChg>
      </pc:sldChg>
      <pc:sldChg chg="addSp delSp modSp add mod modAnim modNotesTx">
        <pc:chgData name="Davis, James C" userId="84778d94-b1cc-4a48-87ce-749e1d7d6e72" providerId="ADAL" clId="{9C5ED513-8454-B04F-9B3F-AAC1E9F861CE}" dt="2023-09-05T16:34:10.829" v="683" actId="27636"/>
        <pc:sldMkLst>
          <pc:docMk/>
          <pc:sldMk cId="3432072090" sldId="275"/>
        </pc:sldMkLst>
        <pc:spChg chg="mod">
          <ac:chgData name="Davis, James C" userId="84778d94-b1cc-4a48-87ce-749e1d7d6e72" providerId="ADAL" clId="{9C5ED513-8454-B04F-9B3F-AAC1E9F861CE}" dt="2023-09-05T16:34:10.829" v="683" actId="27636"/>
          <ac:spMkLst>
            <pc:docMk/>
            <pc:sldMk cId="3432072090" sldId="275"/>
            <ac:spMk id="3" creationId="{00000000-0000-0000-0000-000000000000}"/>
          </ac:spMkLst>
        </pc:spChg>
        <pc:spChg chg="add del mod">
          <ac:chgData name="Davis, James C" userId="84778d94-b1cc-4a48-87ce-749e1d7d6e72" providerId="ADAL" clId="{9C5ED513-8454-B04F-9B3F-AAC1E9F861CE}" dt="2023-09-05T16:28:13.290" v="405"/>
          <ac:spMkLst>
            <pc:docMk/>
            <pc:sldMk cId="3432072090" sldId="275"/>
            <ac:spMk id="5" creationId="{384D3893-9452-03D3-D5A4-0AEBA1503AB7}"/>
          </ac:spMkLst>
        </pc:spChg>
        <pc:spChg chg="add mod">
          <ac:chgData name="Davis, James C" userId="84778d94-b1cc-4a48-87ce-749e1d7d6e72" providerId="ADAL" clId="{9C5ED513-8454-B04F-9B3F-AAC1E9F861CE}" dt="2023-09-05T16:28:08.343" v="401" actId="1076"/>
          <ac:spMkLst>
            <pc:docMk/>
            <pc:sldMk cId="3432072090" sldId="275"/>
            <ac:spMk id="6" creationId="{CF123A28-98C8-09AE-E4EC-3991B769032D}"/>
          </ac:spMkLst>
        </pc:spChg>
        <pc:grpChg chg="mod">
          <ac:chgData name="Davis, James C" userId="84778d94-b1cc-4a48-87ce-749e1d7d6e72" providerId="ADAL" clId="{9C5ED513-8454-B04F-9B3F-AAC1E9F861CE}" dt="2023-09-05T16:28:11.310" v="403" actId="1076"/>
          <ac:grpSpMkLst>
            <pc:docMk/>
            <pc:sldMk cId="3432072090" sldId="275"/>
            <ac:grpSpMk id="4" creationId="{00000000-0000-0000-0000-000000000000}"/>
          </ac:grpSpMkLst>
        </pc:grpChg>
      </pc:sldChg>
      <pc:sldChg chg="addSp delSp modSp add mod modAnim modNotesTx">
        <pc:chgData name="Davis, James C" userId="84778d94-b1cc-4a48-87ce-749e1d7d6e72" providerId="ADAL" clId="{9C5ED513-8454-B04F-9B3F-AAC1E9F861CE}" dt="2023-09-05T16:42:50.405" v="1699" actId="20577"/>
        <pc:sldMkLst>
          <pc:docMk/>
          <pc:sldMk cId="1447991947" sldId="281"/>
        </pc:sldMkLst>
        <pc:spChg chg="mod">
          <ac:chgData name="Davis, James C" userId="84778d94-b1cc-4a48-87ce-749e1d7d6e72" providerId="ADAL" clId="{9C5ED513-8454-B04F-9B3F-AAC1E9F861CE}" dt="2023-09-05T16:24:03.558" v="72" actId="27636"/>
          <ac:spMkLst>
            <pc:docMk/>
            <pc:sldMk cId="1447991947" sldId="281"/>
            <ac:spMk id="3" creationId="{00000000-0000-0000-0000-000000000000}"/>
          </ac:spMkLst>
        </pc:spChg>
        <pc:spChg chg="add del mod">
          <ac:chgData name="Davis, James C" userId="84778d94-b1cc-4a48-87ce-749e1d7d6e72" providerId="ADAL" clId="{9C5ED513-8454-B04F-9B3F-AAC1E9F861CE}" dt="2023-09-05T16:26:09.256" v="91" actId="478"/>
          <ac:spMkLst>
            <pc:docMk/>
            <pc:sldMk cId="1447991947" sldId="281"/>
            <ac:spMk id="6" creationId="{15F49889-3F11-04B6-CA6E-5C5BAA3E080C}"/>
          </ac:spMkLst>
        </pc:spChg>
        <pc:spChg chg="add del mod">
          <ac:chgData name="Davis, James C" userId="84778d94-b1cc-4a48-87ce-749e1d7d6e72" providerId="ADAL" clId="{9C5ED513-8454-B04F-9B3F-AAC1E9F861CE}" dt="2023-09-05T16:26:09.256" v="91" actId="478"/>
          <ac:spMkLst>
            <pc:docMk/>
            <pc:sldMk cId="1447991947" sldId="281"/>
            <ac:spMk id="7" creationId="{52865D87-6813-EE7C-DAF7-8E8485E5375C}"/>
          </ac:spMkLst>
        </pc:spChg>
        <pc:spChg chg="add mod">
          <ac:chgData name="Davis, James C" userId="84778d94-b1cc-4a48-87ce-749e1d7d6e72" providerId="ADAL" clId="{9C5ED513-8454-B04F-9B3F-AAC1E9F861CE}" dt="2023-09-05T16:39:12.115" v="1115" actId="1076"/>
          <ac:spMkLst>
            <pc:docMk/>
            <pc:sldMk cId="1447991947" sldId="281"/>
            <ac:spMk id="9" creationId="{3303B4FF-A9B4-BBEA-C496-3276E6DE130C}"/>
          </ac:spMkLst>
        </pc:spChg>
        <pc:grpChg chg="del mod">
          <ac:chgData name="Davis, James C" userId="84778d94-b1cc-4a48-87ce-749e1d7d6e72" providerId="ADAL" clId="{9C5ED513-8454-B04F-9B3F-AAC1E9F861CE}" dt="2023-09-05T16:26:09.256" v="91" actId="478"/>
          <ac:grpSpMkLst>
            <pc:docMk/>
            <pc:sldMk cId="1447991947" sldId="281"/>
            <ac:grpSpMk id="4" creationId="{00000000-0000-0000-0000-000000000000}"/>
          </ac:grpSpMkLst>
        </pc:grpChg>
        <pc:picChg chg="add del mod">
          <ac:chgData name="Davis, James C" userId="84778d94-b1cc-4a48-87ce-749e1d7d6e72" providerId="ADAL" clId="{9C5ED513-8454-B04F-9B3F-AAC1E9F861CE}" dt="2023-09-05T16:25:42.301" v="82" actId="478"/>
          <ac:picMkLst>
            <pc:docMk/>
            <pc:sldMk cId="1447991947" sldId="281"/>
            <ac:picMk id="5" creationId="{6BE5AF6B-D53E-9F11-1596-9719E392E950}"/>
          </ac:picMkLst>
        </pc:picChg>
        <pc:picChg chg="add mod">
          <ac:chgData name="Davis, James C" userId="84778d94-b1cc-4a48-87ce-749e1d7d6e72" providerId="ADAL" clId="{9C5ED513-8454-B04F-9B3F-AAC1E9F861CE}" dt="2023-09-05T16:26:17.908" v="99" actId="1076"/>
          <ac:picMkLst>
            <pc:docMk/>
            <pc:sldMk cId="1447991947" sldId="281"/>
            <ac:picMk id="8" creationId="{ADC610B1-7F97-C005-B5D7-AE58AED671FC}"/>
          </ac:picMkLst>
        </pc:picChg>
        <pc:picChg chg="add mod">
          <ac:chgData name="Davis, James C" userId="84778d94-b1cc-4a48-87ce-749e1d7d6e72" providerId="ADAL" clId="{9C5ED513-8454-B04F-9B3F-AAC1E9F861CE}" dt="2023-09-05T16:35:52.918" v="771" actId="1076"/>
          <ac:picMkLst>
            <pc:docMk/>
            <pc:sldMk cId="1447991947" sldId="281"/>
            <ac:picMk id="1026" creationId="{21666C29-8400-407C-4EF3-65DAAB2623AC}"/>
          </ac:picMkLst>
        </pc:picChg>
      </pc:sldChg>
      <pc:sldChg chg="delCm">
        <pc:chgData name="Davis, James C" userId="84778d94-b1cc-4a48-87ce-749e1d7d6e72" providerId="ADAL" clId="{9C5ED513-8454-B04F-9B3F-AAC1E9F861CE}" dt="2023-09-05T17:02:07.190" v="1918" actId="1592"/>
        <pc:sldMkLst>
          <pc:docMk/>
          <pc:sldMk cId="2950048565" sldId="325"/>
        </pc:sldMkLst>
      </pc:sldChg>
      <pc:sldChg chg="delCm">
        <pc:chgData name="Davis, James C" userId="84778d94-b1cc-4a48-87ce-749e1d7d6e72" providerId="ADAL" clId="{9C5ED513-8454-B04F-9B3F-AAC1E9F861CE}" dt="2023-09-05T17:02:04.041" v="1917" actId="1592"/>
        <pc:sldMkLst>
          <pc:docMk/>
          <pc:sldMk cId="2098679413" sldId="327"/>
        </pc:sldMkLst>
      </pc:sldChg>
      <pc:sldChg chg="delCm">
        <pc:chgData name="Davis, James C" userId="84778d94-b1cc-4a48-87ce-749e1d7d6e72" providerId="ADAL" clId="{9C5ED513-8454-B04F-9B3F-AAC1E9F861CE}" dt="2023-09-05T17:01:59.591" v="1915" actId="1592"/>
        <pc:sldMkLst>
          <pc:docMk/>
          <pc:sldMk cId="4223715033" sldId="334"/>
        </pc:sldMkLst>
      </pc:sldChg>
      <pc:sldChg chg="modSp mod delCm">
        <pc:chgData name="Davis, James C" userId="84778d94-b1cc-4a48-87ce-749e1d7d6e72" providerId="ADAL" clId="{9C5ED513-8454-B04F-9B3F-AAC1E9F861CE}" dt="2023-09-05T17:01:46.863" v="1913" actId="1592"/>
        <pc:sldMkLst>
          <pc:docMk/>
          <pc:sldMk cId="1553276905" sldId="1003"/>
        </pc:sldMkLst>
        <pc:spChg chg="mod">
          <ac:chgData name="Davis, James C" userId="84778d94-b1cc-4a48-87ce-749e1d7d6e72" providerId="ADAL" clId="{9C5ED513-8454-B04F-9B3F-AAC1E9F861CE}" dt="2023-09-05T17:01:40.517" v="1912" actId="20577"/>
          <ac:spMkLst>
            <pc:docMk/>
            <pc:sldMk cId="1553276905" sldId="1003"/>
            <ac:spMk id="3" creationId="{11B5184E-6F9A-9073-831D-F20D6BBF893E}"/>
          </ac:spMkLst>
        </pc:spChg>
      </pc:sldChg>
      <pc:sldChg chg="modSp mod">
        <pc:chgData name="Davis, James C" userId="84778d94-b1cc-4a48-87ce-749e1d7d6e72" providerId="ADAL" clId="{9C5ED513-8454-B04F-9B3F-AAC1E9F861CE}" dt="2023-09-05T17:01:28.732" v="1893" actId="20577"/>
        <pc:sldMkLst>
          <pc:docMk/>
          <pc:sldMk cId="515247330" sldId="1063"/>
        </pc:sldMkLst>
        <pc:spChg chg="mod">
          <ac:chgData name="Davis, James C" userId="84778d94-b1cc-4a48-87ce-749e1d7d6e72" providerId="ADAL" clId="{9C5ED513-8454-B04F-9B3F-AAC1E9F861CE}" dt="2023-09-05T17:01:28.732" v="1893" actId="20577"/>
          <ac:spMkLst>
            <pc:docMk/>
            <pc:sldMk cId="515247330" sldId="1063"/>
            <ac:spMk id="4" creationId="{F3A41ADD-D632-F640-9E6E-CB51A14A569D}"/>
          </ac:spMkLst>
        </pc:spChg>
      </pc:sldChg>
      <pc:sldChg chg="delCm">
        <pc:chgData name="Davis, James C" userId="84778d94-b1cc-4a48-87ce-749e1d7d6e72" providerId="ADAL" clId="{9C5ED513-8454-B04F-9B3F-AAC1E9F861CE}" dt="2023-09-05T17:01:56.908" v="1914" actId="1592"/>
        <pc:sldMkLst>
          <pc:docMk/>
          <pc:sldMk cId="341093619" sldId="1133"/>
        </pc:sldMkLst>
      </pc:sldChg>
      <pc:sldChg chg="modSp mod modAnim modNotesTx">
        <pc:chgData name="Davis, James C" userId="84778d94-b1cc-4a48-87ce-749e1d7d6e72" providerId="ADAL" clId="{9C5ED513-8454-B04F-9B3F-AAC1E9F861CE}" dt="2023-09-05T16:43:00.802" v="1753" actId="5793"/>
        <pc:sldMkLst>
          <pc:docMk/>
          <pc:sldMk cId="3724867023" sldId="1135"/>
        </pc:sldMkLst>
        <pc:spChg chg="mod">
          <ac:chgData name="Davis, James C" userId="84778d94-b1cc-4a48-87ce-749e1d7d6e72" providerId="ADAL" clId="{9C5ED513-8454-B04F-9B3F-AAC1E9F861CE}" dt="2023-09-05T16:28:39.363" v="505" actId="20577"/>
          <ac:spMkLst>
            <pc:docMk/>
            <pc:sldMk cId="3724867023" sldId="1135"/>
            <ac:spMk id="3" creationId="{66FEFD99-5DBF-4543-9B1B-FB68C5126B91}"/>
          </ac:spMkLst>
        </pc:spChg>
      </pc:sldChg>
      <pc:sldChg chg="modNotesTx">
        <pc:chgData name="Davis, James C" userId="84778d94-b1cc-4a48-87ce-749e1d7d6e72" providerId="ADAL" clId="{9C5ED513-8454-B04F-9B3F-AAC1E9F861CE}" dt="2023-09-05T16:43:25.065" v="1757" actId="20577"/>
        <pc:sldMkLst>
          <pc:docMk/>
          <pc:sldMk cId="712715287" sldId="1138"/>
        </pc:sldMkLst>
      </pc:sldChg>
      <pc:sldChg chg="modNotesTx">
        <pc:chgData name="Davis, James C" userId="84778d94-b1cc-4a48-87ce-749e1d7d6e72" providerId="ADAL" clId="{9C5ED513-8454-B04F-9B3F-AAC1E9F861CE}" dt="2023-09-05T16:43:08.402" v="1754"/>
        <pc:sldMkLst>
          <pc:docMk/>
          <pc:sldMk cId="493487757" sldId="1139"/>
        </pc:sldMkLst>
      </pc:sldChg>
      <pc:sldChg chg="del">
        <pc:chgData name="Davis, James C" userId="84778d94-b1cc-4a48-87ce-749e1d7d6e72" providerId="ADAL" clId="{9C5ED513-8454-B04F-9B3F-AAC1E9F861CE}" dt="2023-09-05T16:21:04.044" v="5" actId="2696"/>
        <pc:sldMkLst>
          <pc:docMk/>
          <pc:sldMk cId="1482715331" sldId="1140"/>
        </pc:sldMkLst>
      </pc:sldChg>
      <pc:sldChg chg="del">
        <pc:chgData name="Davis, James C" userId="84778d94-b1cc-4a48-87ce-749e1d7d6e72" providerId="ADAL" clId="{9C5ED513-8454-B04F-9B3F-AAC1E9F861CE}" dt="2023-09-05T16:21:04.044" v="5" actId="2696"/>
        <pc:sldMkLst>
          <pc:docMk/>
          <pc:sldMk cId="4069056437" sldId="1141"/>
        </pc:sldMkLst>
      </pc:sldChg>
      <pc:sldChg chg="modNotesTx">
        <pc:chgData name="Davis, James C" userId="84778d94-b1cc-4a48-87ce-749e1d7d6e72" providerId="ADAL" clId="{9C5ED513-8454-B04F-9B3F-AAC1E9F861CE}" dt="2023-09-05T16:43:16.939" v="1755"/>
        <pc:sldMkLst>
          <pc:docMk/>
          <pc:sldMk cId="1316394215" sldId="1142"/>
        </pc:sldMkLst>
      </pc:sldChg>
      <pc:sldChg chg="delSp mod">
        <pc:chgData name="Davis, James C" userId="84778d94-b1cc-4a48-87ce-749e1d7d6e72" providerId="ADAL" clId="{9C5ED513-8454-B04F-9B3F-AAC1E9F861CE}" dt="2023-09-05T16:43:45.652" v="1758" actId="478"/>
        <pc:sldMkLst>
          <pc:docMk/>
          <pc:sldMk cId="738863382" sldId="1143"/>
        </pc:sldMkLst>
        <pc:cxnChg chg="del">
          <ac:chgData name="Davis, James C" userId="84778d94-b1cc-4a48-87ce-749e1d7d6e72" providerId="ADAL" clId="{9C5ED513-8454-B04F-9B3F-AAC1E9F861CE}" dt="2023-09-05T16:43:45.652" v="1758" actId="478"/>
          <ac:cxnSpMkLst>
            <pc:docMk/>
            <pc:sldMk cId="738863382" sldId="1143"/>
            <ac:cxnSpMk id="14" creationId="{113CF4ED-A40B-0448-B6AB-1FBB76A668A9}"/>
          </ac:cxnSpMkLst>
        </pc:cxnChg>
      </pc:sldChg>
      <pc:sldChg chg="delCm">
        <pc:chgData name="Davis, James C" userId="84778d94-b1cc-4a48-87ce-749e1d7d6e72" providerId="ADAL" clId="{9C5ED513-8454-B04F-9B3F-AAC1E9F861CE}" dt="2023-09-05T17:02:01.807" v="1916" actId="1592"/>
        <pc:sldMkLst>
          <pc:docMk/>
          <pc:sldMk cId="426033810" sldId="1144"/>
        </pc:sldMkLst>
      </pc:sldChg>
      <pc:sldChg chg="del">
        <pc:chgData name="Davis, James C" userId="84778d94-b1cc-4a48-87ce-749e1d7d6e72" providerId="ADAL" clId="{9C5ED513-8454-B04F-9B3F-AAC1E9F861CE}" dt="2023-09-05T17:03:09.696" v="2017" actId="2696"/>
        <pc:sldMkLst>
          <pc:docMk/>
          <pc:sldMk cId="1013194619" sldId="1155"/>
        </pc:sldMkLst>
      </pc:sldChg>
      <pc:sldChg chg="add">
        <pc:chgData name="Davis, James C" userId="84778d94-b1cc-4a48-87ce-749e1d7d6e72" providerId="ADAL" clId="{9C5ED513-8454-B04F-9B3F-AAC1E9F861CE}" dt="2023-09-05T17:03:10.349" v="2018"/>
        <pc:sldMkLst>
          <pc:docMk/>
          <pc:sldMk cId="3186081912" sldId="1155"/>
        </pc:sldMkLst>
      </pc:sldChg>
      <pc:sldChg chg="modSp mod">
        <pc:chgData name="Davis, James C" userId="84778d94-b1cc-4a48-87ce-749e1d7d6e72" providerId="ADAL" clId="{9C5ED513-8454-B04F-9B3F-AAC1E9F861CE}" dt="2023-09-05T17:02:53.213" v="2016" actId="20577"/>
        <pc:sldMkLst>
          <pc:docMk/>
          <pc:sldMk cId="3417227811" sldId="1156"/>
        </pc:sldMkLst>
        <pc:spChg chg="mod">
          <ac:chgData name="Davis, James C" userId="84778d94-b1cc-4a48-87ce-749e1d7d6e72" providerId="ADAL" clId="{9C5ED513-8454-B04F-9B3F-AAC1E9F861CE}" dt="2023-09-05T17:02:53.213" v="2016" actId="20577"/>
          <ac:spMkLst>
            <pc:docMk/>
            <pc:sldMk cId="3417227811" sldId="1156"/>
            <ac:spMk id="2" creationId="{05CA1040-B356-CB42-2294-5F00E5F5B0B1}"/>
          </ac:spMkLst>
        </pc:spChg>
      </pc:sldChg>
      <pc:sldChg chg="del">
        <pc:chgData name="Davis, James C" userId="84778d94-b1cc-4a48-87ce-749e1d7d6e72" providerId="ADAL" clId="{9C5ED513-8454-B04F-9B3F-AAC1E9F861CE}" dt="2023-09-05T17:03:29.229" v="2019" actId="2696"/>
        <pc:sldMkLst>
          <pc:docMk/>
          <pc:sldMk cId="88672692" sldId="1159"/>
        </pc:sldMkLst>
      </pc:sldChg>
      <pc:sldChg chg="add">
        <pc:chgData name="Davis, James C" userId="84778d94-b1cc-4a48-87ce-749e1d7d6e72" providerId="ADAL" clId="{9C5ED513-8454-B04F-9B3F-AAC1E9F861CE}" dt="2023-09-05T17:03:31.680" v="2020"/>
        <pc:sldMkLst>
          <pc:docMk/>
          <pc:sldMk cId="296290924" sldId="1159"/>
        </pc:sldMkLst>
      </pc:sldChg>
      <pc:sldChg chg="modSp mod">
        <pc:chgData name="Davis, James C" userId="84778d94-b1cc-4a48-87ce-749e1d7d6e72" providerId="ADAL" clId="{9C5ED513-8454-B04F-9B3F-AAC1E9F861CE}" dt="2023-09-05T16:44:14.168" v="1764" actId="14100"/>
        <pc:sldMkLst>
          <pc:docMk/>
          <pc:sldMk cId="3532773906" sldId="1160"/>
        </pc:sldMkLst>
        <pc:picChg chg="mod modCrop">
          <ac:chgData name="Davis, James C" userId="84778d94-b1cc-4a48-87ce-749e1d7d6e72" providerId="ADAL" clId="{9C5ED513-8454-B04F-9B3F-AAC1E9F861CE}" dt="2023-09-05T16:44:14.168" v="1764" actId="14100"/>
          <ac:picMkLst>
            <pc:docMk/>
            <pc:sldMk cId="3532773906" sldId="1160"/>
            <ac:picMk id="6" creationId="{B139A215-3513-0CDE-19D3-0BEDF8481599}"/>
          </ac:picMkLst>
        </pc:picChg>
      </pc:sldChg>
      <pc:sldChg chg="modSp del mod modAnim">
        <pc:chgData name="Davis, James C" userId="84778d94-b1cc-4a48-87ce-749e1d7d6e72" providerId="ADAL" clId="{9C5ED513-8454-B04F-9B3F-AAC1E9F861CE}" dt="2023-09-05T16:56:58.104" v="1822" actId="2696"/>
        <pc:sldMkLst>
          <pc:docMk/>
          <pc:sldMk cId="2729783942" sldId="1163"/>
        </pc:sldMkLst>
        <pc:spChg chg="mod">
          <ac:chgData name="Davis, James C" userId="84778d94-b1cc-4a48-87ce-749e1d7d6e72" providerId="ADAL" clId="{9C5ED513-8454-B04F-9B3F-AAC1E9F861CE}" dt="2023-09-05T16:56:43.968" v="1820" actId="5793"/>
          <ac:spMkLst>
            <pc:docMk/>
            <pc:sldMk cId="2729783942" sldId="1163"/>
            <ac:spMk id="2" creationId="{17D40B2F-BF49-E742-333E-01B3B16A0F55}"/>
          </ac:spMkLst>
        </pc:spChg>
        <pc:picChg chg="mod modCrop">
          <ac:chgData name="Davis, James C" userId="84778d94-b1cc-4a48-87ce-749e1d7d6e72" providerId="ADAL" clId="{9C5ED513-8454-B04F-9B3F-AAC1E9F861CE}" dt="2023-09-05T16:56:47.039" v="1821" actId="14100"/>
          <ac:picMkLst>
            <pc:docMk/>
            <pc:sldMk cId="2729783942" sldId="1163"/>
            <ac:picMk id="6" creationId="{351528BE-8666-DBAA-9C87-2E7A30324278}"/>
          </ac:picMkLst>
        </pc:picChg>
        <pc:picChg chg="mod">
          <ac:chgData name="Davis, James C" userId="84778d94-b1cc-4a48-87ce-749e1d7d6e72" providerId="ADAL" clId="{9C5ED513-8454-B04F-9B3F-AAC1E9F861CE}" dt="2023-09-05T16:56:11.461" v="1809"/>
          <ac:picMkLst>
            <pc:docMk/>
            <pc:sldMk cId="2729783942" sldId="1163"/>
            <ac:picMk id="10" creationId="{6C3615CA-775A-717D-6964-D00866AF0C11}"/>
          </ac:picMkLst>
        </pc:picChg>
      </pc:sldChg>
      <pc:sldChg chg="modSp add mod">
        <pc:chgData name="Davis, James C" userId="84778d94-b1cc-4a48-87ce-749e1d7d6e72" providerId="ADAL" clId="{9C5ED513-8454-B04F-9B3F-AAC1E9F861CE}" dt="2023-09-05T16:57:24.057" v="1863" actId="20577"/>
        <pc:sldMkLst>
          <pc:docMk/>
          <pc:sldMk cId="3882480052" sldId="1163"/>
        </pc:sldMkLst>
        <pc:spChg chg="mod">
          <ac:chgData name="Davis, James C" userId="84778d94-b1cc-4a48-87ce-749e1d7d6e72" providerId="ADAL" clId="{9C5ED513-8454-B04F-9B3F-AAC1E9F861CE}" dt="2023-09-05T16:57:24.057" v="1863" actId="20577"/>
          <ac:spMkLst>
            <pc:docMk/>
            <pc:sldMk cId="3882480052" sldId="1163"/>
            <ac:spMk id="3" creationId="{1DFFE6EE-7170-E4C3-9867-DFB1213B32EF}"/>
          </ac:spMkLst>
        </pc:spChg>
      </pc:sldChg>
      <pc:sldChg chg="modSp add mod">
        <pc:chgData name="Davis, James C" userId="84778d94-b1cc-4a48-87ce-749e1d7d6e72" providerId="ADAL" clId="{9C5ED513-8454-B04F-9B3F-AAC1E9F861CE}" dt="2023-09-05T16:57:28.112" v="1876" actId="20577"/>
        <pc:sldMkLst>
          <pc:docMk/>
          <pc:sldMk cId="225576999" sldId="1164"/>
        </pc:sldMkLst>
        <pc:spChg chg="mod">
          <ac:chgData name="Davis, James C" userId="84778d94-b1cc-4a48-87ce-749e1d7d6e72" providerId="ADAL" clId="{9C5ED513-8454-B04F-9B3F-AAC1E9F861CE}" dt="2023-09-05T16:57:28.112" v="1876" actId="20577"/>
          <ac:spMkLst>
            <pc:docMk/>
            <pc:sldMk cId="225576999" sldId="1164"/>
            <ac:spMk id="3" creationId="{024184A4-F7CA-800F-C8AD-3E402E8A4E65}"/>
          </ac:spMkLst>
        </pc:spChg>
      </pc:sldChg>
      <pc:sldChg chg="modSp del modAnim">
        <pc:chgData name="Davis, James C" userId="84778d94-b1cc-4a48-87ce-749e1d7d6e72" providerId="ADAL" clId="{9C5ED513-8454-B04F-9B3F-AAC1E9F861CE}" dt="2023-09-05T16:56:58.104" v="1822" actId="2696"/>
        <pc:sldMkLst>
          <pc:docMk/>
          <pc:sldMk cId="3018992613" sldId="1164"/>
        </pc:sldMkLst>
        <pc:spChg chg="mod">
          <ac:chgData name="Davis, James C" userId="84778d94-b1cc-4a48-87ce-749e1d7d6e72" providerId="ADAL" clId="{9C5ED513-8454-B04F-9B3F-AAC1E9F861CE}" dt="2023-09-05T16:55:01.824" v="1765" actId="6549"/>
          <ac:spMkLst>
            <pc:docMk/>
            <pc:sldMk cId="3018992613" sldId="1164"/>
            <ac:spMk id="2" creationId="{1489D49C-3338-D48C-5F08-7F0AB63FA553}"/>
          </ac:spMkLst>
        </pc:spChg>
      </pc:sldChg>
      <pc:sldChg chg="addSp delSp modSp new mod modShow">
        <pc:chgData name="Davis, James C" userId="84778d94-b1cc-4a48-87ce-749e1d7d6e72" providerId="ADAL" clId="{9C5ED513-8454-B04F-9B3F-AAC1E9F861CE}" dt="2023-09-05T16:39:24.286" v="1117" actId="729"/>
        <pc:sldMkLst>
          <pc:docMk/>
          <pc:sldMk cId="3148386254" sldId="1165"/>
        </pc:sldMkLst>
        <pc:spChg chg="del">
          <ac:chgData name="Davis, James C" userId="84778d94-b1cc-4a48-87ce-749e1d7d6e72" providerId="ADAL" clId="{9C5ED513-8454-B04F-9B3F-AAC1E9F861CE}" dt="2023-09-05T16:37:23.390" v="837" actId="478"/>
          <ac:spMkLst>
            <pc:docMk/>
            <pc:sldMk cId="3148386254" sldId="1165"/>
            <ac:spMk id="2" creationId="{3D1ABFBF-1A3B-DEDD-BFB1-CCA0894C7A43}"/>
          </ac:spMkLst>
        </pc:spChg>
        <pc:picChg chg="add mod modCrop">
          <ac:chgData name="Davis, James C" userId="84778d94-b1cc-4a48-87ce-749e1d7d6e72" providerId="ADAL" clId="{9C5ED513-8454-B04F-9B3F-AAC1E9F861CE}" dt="2023-09-05T16:37:55.552" v="853" actId="1076"/>
          <ac:picMkLst>
            <pc:docMk/>
            <pc:sldMk cId="3148386254" sldId="1165"/>
            <ac:picMk id="4" creationId="{E213F758-8B4E-0642-E966-C4A182B93884}"/>
          </ac:picMkLst>
        </pc:picChg>
        <pc:picChg chg="add mod modCrop">
          <ac:chgData name="Davis, James C" userId="84778d94-b1cc-4a48-87ce-749e1d7d6e72" providerId="ADAL" clId="{9C5ED513-8454-B04F-9B3F-AAC1E9F861CE}" dt="2023-09-05T16:37:53.903" v="852" actId="1076"/>
          <ac:picMkLst>
            <pc:docMk/>
            <pc:sldMk cId="3148386254" sldId="1165"/>
            <ac:picMk id="5" creationId="{7F804F46-E296-9BC0-5F00-EA33B998AA22}"/>
          </ac:picMkLst>
        </pc:picChg>
      </pc:sldChg>
      <pc:sldChg chg="addSp delSp new del mod">
        <pc:chgData name="Davis, James C" userId="84778d94-b1cc-4a48-87ce-749e1d7d6e72" providerId="ADAL" clId="{9C5ED513-8454-B04F-9B3F-AAC1E9F861CE}" dt="2023-09-05T16:23:01.086" v="17" actId="2696"/>
        <pc:sldMkLst>
          <pc:docMk/>
          <pc:sldMk cId="3468637290" sldId="1165"/>
        </pc:sldMkLst>
        <pc:spChg chg="add del">
          <ac:chgData name="Davis, James C" userId="84778d94-b1cc-4a48-87ce-749e1d7d6e72" providerId="ADAL" clId="{9C5ED513-8454-B04F-9B3F-AAC1E9F861CE}" dt="2023-09-05T16:22:35.308" v="8" actId="22"/>
          <ac:spMkLst>
            <pc:docMk/>
            <pc:sldMk cId="3468637290" sldId="1165"/>
            <ac:spMk id="7" creationId="{B1748F47-7874-EE33-D056-C34E9CDF6C42}"/>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defRPr sz="2000" b="1"/>
            </a:pPr>
            <a:r>
              <a:rPr lang="en-US" sz="2000" b="1"/>
              <a:t>As the organization grows</a:t>
            </a:r>
          </a:p>
        </c:rich>
      </c:tx>
      <c:overlay val="0"/>
    </c:title>
    <c:autoTitleDeleted val="0"/>
    <c:plotArea>
      <c:layout/>
      <c:lineChart>
        <c:grouping val="standard"/>
        <c:varyColors val="0"/>
        <c:ser>
          <c:idx val="0"/>
          <c:order val="0"/>
          <c:tx>
            <c:v>Engineering capacity</c:v>
          </c:tx>
          <c:spPr>
            <a:ln w="41275">
              <a:solidFill>
                <a:srgbClr val="8E6F3E"/>
              </a:solidFill>
            </a:ln>
          </c:spPr>
          <c:marker>
            <c:symbol val="none"/>
          </c:marker>
          <c:cat>
            <c:strLit>
              <c:ptCount val="10"/>
              <c:pt idx="0">
                <c:v>1</c:v>
              </c:pt>
              <c:pt idx="1">
                <c:v>2</c:v>
              </c:pt>
              <c:pt idx="2">
                <c:v>3</c:v>
              </c:pt>
              <c:pt idx="3">
                <c:v>4</c:v>
              </c:pt>
              <c:pt idx="4">
                <c:v>5</c:v>
              </c:pt>
              <c:pt idx="5">
                <c:v>6</c:v>
              </c:pt>
              <c:pt idx="6">
                <c:v>7</c:v>
              </c:pt>
              <c:pt idx="7">
                <c:v>8</c:v>
              </c:pt>
              <c:pt idx="8">
                <c:v>9</c:v>
              </c:pt>
              <c:pt idx="9">
                <c:v>10</c:v>
              </c:pt>
            </c:strLit>
          </c:cat>
          <c:val>
            <c:numLit>
              <c:formatCode>General</c:formatCode>
              <c:ptCount val="10"/>
              <c:pt idx="0">
                <c:v>1</c:v>
              </c:pt>
              <c:pt idx="1">
                <c:v>2</c:v>
              </c:pt>
              <c:pt idx="2">
                <c:v>3</c:v>
              </c:pt>
              <c:pt idx="3">
                <c:v>4</c:v>
              </c:pt>
              <c:pt idx="4">
                <c:v>5</c:v>
              </c:pt>
              <c:pt idx="5">
                <c:v>6</c:v>
              </c:pt>
              <c:pt idx="6">
                <c:v>7</c:v>
              </c:pt>
              <c:pt idx="7">
                <c:v>8</c:v>
              </c:pt>
              <c:pt idx="8">
                <c:v>9</c:v>
              </c:pt>
              <c:pt idx="9">
                <c:v>10</c:v>
              </c:pt>
            </c:numLit>
          </c:val>
          <c:smooth val="1"/>
          <c:extLst>
            <c:ext xmlns:c16="http://schemas.microsoft.com/office/drawing/2014/chart" uri="{C3380CC4-5D6E-409C-BE32-E72D297353CC}">
              <c16:uniqueId val="{00000000-D9B0-274C-B85B-894A85B67675}"/>
            </c:ext>
          </c:extLst>
        </c:ser>
        <c:ser>
          <c:idx val="1"/>
          <c:order val="1"/>
          <c:tx>
            <c:v>Coordination cost (the goal)</c:v>
          </c:tx>
          <c:spPr>
            <a:ln w="41275">
              <a:solidFill>
                <a:srgbClr val="555960"/>
              </a:solidFill>
              <a:prstDash val="dash"/>
            </a:ln>
          </c:spPr>
          <c:marker>
            <c:symbol val="none"/>
          </c:marker>
          <c:cat>
            <c:strLit>
              <c:ptCount val="10"/>
              <c:pt idx="0">
                <c:v>1</c:v>
              </c:pt>
              <c:pt idx="1">
                <c:v>2</c:v>
              </c:pt>
              <c:pt idx="2">
                <c:v>3</c:v>
              </c:pt>
              <c:pt idx="3">
                <c:v>4</c:v>
              </c:pt>
              <c:pt idx="4">
                <c:v>5</c:v>
              </c:pt>
              <c:pt idx="5">
                <c:v>6</c:v>
              </c:pt>
              <c:pt idx="6">
                <c:v>7</c:v>
              </c:pt>
              <c:pt idx="7">
                <c:v>8</c:v>
              </c:pt>
              <c:pt idx="8">
                <c:v>9</c:v>
              </c:pt>
              <c:pt idx="9">
                <c:v>10</c:v>
              </c:pt>
            </c:strLit>
          </c:cat>
          <c:val>
            <c:numLit>
              <c:formatCode>General</c:formatCode>
              <c:ptCount val="10"/>
              <c:pt idx="0">
                <c:v>1</c:v>
              </c:pt>
              <c:pt idx="1">
                <c:v>1.7</c:v>
              </c:pt>
              <c:pt idx="2">
                <c:v>2.2000000000000002</c:v>
              </c:pt>
              <c:pt idx="3">
                <c:v>2.6</c:v>
              </c:pt>
              <c:pt idx="4">
                <c:v>2.9</c:v>
              </c:pt>
              <c:pt idx="5">
                <c:v>3.1</c:v>
              </c:pt>
              <c:pt idx="6">
                <c:v>3.3</c:v>
              </c:pt>
              <c:pt idx="7">
                <c:v>3.5</c:v>
              </c:pt>
              <c:pt idx="8">
                <c:v>3.6</c:v>
              </c:pt>
              <c:pt idx="9">
                <c:v>3.8</c:v>
              </c:pt>
            </c:numLit>
          </c:val>
          <c:smooth val="1"/>
          <c:extLst>
            <c:ext xmlns:c16="http://schemas.microsoft.com/office/drawing/2014/chart" uri="{C3380CC4-5D6E-409C-BE32-E72D297353CC}">
              <c16:uniqueId val="{00000001-D9B0-274C-B85B-894A85B67675}"/>
            </c:ext>
          </c:extLst>
        </c:ser>
        <c:dLbls>
          <c:showLegendKey val="0"/>
          <c:showVal val="0"/>
          <c:showCatName val="0"/>
          <c:showSerName val="0"/>
          <c:showPercent val="0"/>
          <c:showBubbleSize val="0"/>
        </c:dLbls>
        <c:smooth val="0"/>
        <c:axId val="1"/>
        <c:axId val="2"/>
      </c:lineChart>
      <c:catAx>
        <c:axId val="1"/>
        <c:scaling>
          <c:orientation val="minMax"/>
        </c:scaling>
        <c:delete val="0"/>
        <c:axPos val="b"/>
        <c:title>
          <c:tx>
            <c:rich>
              <a:bodyPr/>
              <a:lstStyle/>
              <a:p>
                <a:pPr>
                  <a:defRPr sz="1600"/>
                </a:pPr>
                <a:r>
                  <a:rPr lang="en-US" sz="2400" dirty="0"/>
                  <a:t>Engineers in the organization</a:t>
                </a:r>
              </a:p>
            </c:rich>
          </c:tx>
          <c:overlay val="0"/>
        </c:title>
        <c:numFmt formatCode="General" sourceLinked="0"/>
        <c:majorTickMark val="none"/>
        <c:minorTickMark val="none"/>
        <c:tickLblPos val="none"/>
        <c:crossAx val="2"/>
        <c:crosses val="autoZero"/>
        <c:auto val="1"/>
        <c:lblAlgn val="ctr"/>
        <c:lblOffset val="100"/>
        <c:noMultiLvlLbl val="1"/>
      </c:catAx>
      <c:valAx>
        <c:axId val="2"/>
        <c:scaling>
          <c:orientation val="minMax"/>
        </c:scaling>
        <c:delete val="0"/>
        <c:axPos val="l"/>
        <c:majorGridlines>
          <c:spPr>
            <a:ln>
              <a:noFill/>
            </a:ln>
          </c:spPr>
        </c:majorGridlines>
        <c:title>
          <c:tx>
            <c:rich>
              <a:bodyPr rot="-5400000" vert="horz"/>
              <a:lstStyle/>
              <a:p>
                <a:pPr>
                  <a:defRPr sz="2000"/>
                </a:pPr>
                <a:r>
                  <a:rPr lang="en-US" sz="2000"/>
                  <a:t>Relative magnitude</a:t>
                </a:r>
              </a:p>
            </c:rich>
          </c:tx>
          <c:overlay val="0"/>
        </c:title>
        <c:numFmt formatCode="General" sourceLinked="1"/>
        <c:majorTickMark val="none"/>
        <c:minorTickMark val="none"/>
        <c:tickLblPos val="none"/>
        <c:crossAx val="1"/>
        <c:crosses val="autoZero"/>
        <c:crossBetween val="between"/>
      </c:valAx>
    </c:plotArea>
    <c:legend>
      <c:legendPos val="t"/>
      <c:overlay val="0"/>
      <c:txPr>
        <a:bodyPr/>
        <a:lstStyle/>
        <a:p>
          <a:pPr>
            <a:defRPr sz="1800"/>
          </a:pPr>
          <a:endParaRPr lang="en-US"/>
        </a:p>
      </c:txPr>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9/1/26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are we talking about this today? (Project part 1 spec released tonight)</a:t>
            </a:r>
          </a:p>
          <a:p>
            <a:endParaRPr lang="en-US"/>
          </a:p>
          <a:p>
            <a:r>
              <a:rPr lang="en-US"/>
              <a:t>Team endeavor</a:t>
            </a:r>
          </a:p>
          <a:p>
            <a:pPr marL="171450" indent="-171450">
              <a:buFont typeface="Arial" panose="020B0604020202020204" pitchFamily="34" charset="0"/>
              <a:buChar char="•"/>
            </a:pPr>
            <a:r>
              <a:rPr lang="en-US"/>
              <a:t>Job roles</a:t>
            </a:r>
          </a:p>
          <a:p>
            <a:pPr marL="171450" indent="-171450">
              <a:buFont typeface="Arial" panose="020B0604020202020204" pitchFamily="34" charset="0"/>
              <a:buChar char="•"/>
            </a:pPr>
            <a:r>
              <a:rPr lang="en-US"/>
              <a:t>What makes a great software engineer?</a:t>
            </a:r>
          </a:p>
          <a:p>
            <a:endParaRPr lang="en-US"/>
          </a:p>
          <a:p>
            <a:r>
              <a:rPr lang="en-US"/>
              <a:t>Social</a:t>
            </a:r>
          </a:p>
          <a:p>
            <a:pPr marL="171450" indent="-171450">
              <a:buFont typeface="Arial" panose="020B0604020202020204" pitchFamily="34" charset="0"/>
              <a:buChar char="•"/>
            </a:pPr>
            <a:r>
              <a:rPr lang="en-US"/>
              <a:t>Some personal and organizational factors that can lead to challenges</a:t>
            </a:r>
          </a:p>
          <a:p>
            <a:endParaRPr lang="en-US"/>
          </a:p>
          <a:p>
            <a:r>
              <a:rPr lang="en-US"/>
              <a:t>Technical</a:t>
            </a:r>
          </a:p>
          <a:p>
            <a:r>
              <a:rPr lang="en-US"/>
              <a:t>- HW on this</a:t>
            </a:r>
          </a:p>
        </p:txBody>
      </p:sp>
      <p:sp>
        <p:nvSpPr>
          <p:cNvPr id="4" name="Slide Number Placeholder 3"/>
          <p:cNvSpPr>
            <a:spLocks noGrp="1"/>
          </p:cNvSpPr>
          <p:nvPr>
            <p:ph type="sldNum" sz="quarter" idx="5"/>
          </p:nvPr>
        </p:nvSpPr>
        <p:spPr/>
        <p:txBody>
          <a:bodyPr/>
          <a:lstStyle/>
          <a:p>
            <a:fld id="{FF209F92-05EE-6F4A-AD9C-ED35F0F76927}" type="slidenum">
              <a:rPr lang="en-US"/>
              <a:t>2</a:t>
            </a:fld>
            <a:endParaRPr lang="en-US"/>
          </a:p>
        </p:txBody>
      </p:sp>
    </p:spTree>
    <p:extLst>
      <p:ext uri="{BB962C8B-B14F-4D97-AF65-F5344CB8AC3E}">
        <p14:creationId xmlns:p14="http://schemas.microsoft.com/office/powerpoint/2010/main" val="1657399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effectLst/>
                <a:latin typeface="TimesNewRomanPS"/>
              </a:rPr>
              <a:t>Baseline: Write, implement, and debug software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effectLst/>
                <a:latin typeface="TimesNewRomanPS"/>
              </a:rPr>
              <a:t>Personal characteristics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effectLst/>
                <a:latin typeface="TimesNewRomanPS"/>
              </a:rPr>
              <a:t>Improving—not satisfied with the status quo: constantly looking to improve themselves, their product, and/or their surroundings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effectLst/>
                <a:latin typeface="TimesNewRomanPSMT"/>
              </a:rPr>
              <a:t>Adaptable—adapting to changes in their environment, including changes in what they do (e.g. the software product) and how they do it (e.g. people, processes, and tools).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effectLst/>
                <a:latin typeface="TimesNewRomanPSMT"/>
              </a:rPr>
              <a:t>Self-reliant—getting things done independently (i.e. not always going to their manager for help); removing roadblocks by leveraging their abilities and resources (e.g. asking experts for help)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Focused—allocating and prioritizing their time for the most impactful work</a:t>
            </a:r>
            <a:r>
              <a:rPr lang="en-US" sz="1800" b="0">
                <a:effectLst/>
                <a:latin typeface="TimesNewRomanPSMT"/>
              </a:rPr>
              <a:t>.</a:t>
            </a:r>
            <a:endParaRPr lang="en-US" sz="1800" b="0"/>
          </a:p>
          <a:p>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effectLst/>
                <a:latin typeface="TimesNewRomanPS"/>
              </a:rPr>
              <a:t>Open-minded—willing to judiciously let new information change how they think </a:t>
            </a:r>
            <a:endParaRPr lang="en-US" b="0"/>
          </a:p>
          <a:p>
            <a:pPr marL="171450" indent="-171450">
              <a:buFontTx/>
              <a:buChar char="-"/>
            </a:pPr>
            <a:r>
              <a:rPr lang="en-US" b="0"/>
              <a:t>Example: “Not invented here” – story from IBM (inter-team competition)</a:t>
            </a:r>
          </a:p>
          <a:p>
            <a:pPr marL="171450" indent="-171450">
              <a:buFontTx/>
              <a:buChar cha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a:effectLst/>
                <a:latin typeface="TimesNewRomanPS"/>
              </a:rPr>
              <a:t>Data-driven </a:t>
            </a:r>
            <a:r>
              <a:rPr lang="en-US" sz="1200" i="0">
                <a:effectLst/>
                <a:latin typeface="+mn-lt"/>
              </a:rPr>
              <a:t>T</a:t>
            </a:r>
            <a:r>
              <a:rPr lang="en-US" sz="1800">
                <a:effectLst/>
                <a:latin typeface="TimesNewRomanPSMT"/>
              </a:rPr>
              <a:t>aking and evaluating measurements of their actions and of the product, creating behavioral feedback loops for optimizing software and processes. </a:t>
            </a:r>
            <a:endParaRPr lang="en-US"/>
          </a:p>
          <a:p>
            <a:pPr marL="0" indent="0">
              <a:buFontTx/>
              <a:buNone/>
            </a:pPr>
            <a:endParaRPr lang="en-US" b="0"/>
          </a:p>
          <a:p>
            <a:pPr marL="171450" indent="-171450">
              <a:buFontTx/>
              <a:buChar char="-"/>
            </a:pPr>
            <a:endParaRPr lang="en-US" b="0"/>
          </a:p>
          <a:p>
            <a:pPr marL="0" indent="0">
              <a:buFontTx/>
              <a:buNone/>
            </a:pPr>
            <a:r>
              <a:rPr lang="en-US" b="0"/>
              <a:t>=======</a:t>
            </a:r>
          </a:p>
          <a:p>
            <a:pPr marL="0" indent="0">
              <a:buFontTx/>
              <a:buNone/>
            </a:pPr>
            <a:endParaRPr lang="en-US" b="0"/>
          </a:p>
          <a:p>
            <a:pPr marL="0" indent="0">
              <a:buFontTx/>
              <a:buNone/>
            </a:pPr>
            <a:r>
              <a:rPr lang="en-US" b="1"/>
              <a:t>Decision-making</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b="1"/>
            </a:br>
            <a:r>
              <a:rPr lang="en-US" sz="1800">
                <a:effectLst/>
                <a:latin typeface="TimesNewRomanPSMT"/>
              </a:rPr>
              <a:t>Informants felt strongly that having </a:t>
            </a:r>
            <a:r>
              <a:rPr lang="en-US" sz="1800" i="1">
                <a:effectLst/>
                <a:latin typeface="TimesNewRomanPS"/>
              </a:rPr>
              <a:t>book </a:t>
            </a:r>
            <a:r>
              <a:rPr lang="en-US" sz="1800">
                <a:effectLst/>
                <a:latin typeface="TimesNewRomanPSMT"/>
              </a:rPr>
              <a:t>knowledge was not sufficient; great engineers understood how decisions play-out in complicated real-world conditions. Great engineers not only knew what </a:t>
            </a:r>
            <a:r>
              <a:rPr lang="en-US" sz="1800" i="1">
                <a:effectLst/>
                <a:latin typeface="TimesNewRomanPS"/>
              </a:rPr>
              <a:t>should </a:t>
            </a:r>
            <a:r>
              <a:rPr lang="en-US" sz="1800">
                <a:effectLst/>
                <a:latin typeface="TimesNewRomanPSMT"/>
              </a:rPr>
              <a:t>happen, but also what </a:t>
            </a:r>
            <a:r>
              <a:rPr lang="en-US" sz="1800" i="1">
                <a:effectLst/>
                <a:latin typeface="TimesNewRomanPS"/>
              </a:rPr>
              <a:t>can and likely will </a:t>
            </a:r>
            <a:r>
              <a:rPr lang="en-US" sz="1800">
                <a:effectLst/>
                <a:latin typeface="TimesNewRomanPSMT"/>
              </a:rPr>
              <a:t>happen </a:t>
            </a:r>
            <a:endParaRPr lang="en-US"/>
          </a:p>
          <a:p>
            <a:pPr marL="0" indent="0">
              <a:buFontTx/>
              <a:buNone/>
            </a:pPr>
            <a:endParaRPr lang="en-US" b="1"/>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1">
                <a:effectLst/>
                <a:latin typeface="TimesNewRomanPS"/>
              </a:rPr>
              <a:t>Knowledgeable about people and the organization</a:t>
            </a:r>
            <a:r>
              <a:rPr lang="en-US" sz="1800" b="0">
                <a:effectLst/>
                <a:latin typeface="TimesNewRomanPS"/>
              </a:rPr>
              <a:t>—informed about the people around them: their responsibilities (i.e. organizational structure), their knowledge, and their tendencies . </a:t>
            </a:r>
            <a:r>
              <a:rPr lang="en-US" sz="1800">
                <a:effectLst/>
                <a:latin typeface="TimesNewRomanPSMT"/>
              </a:rPr>
              <a:t>For example, knowing ownership enabled great engineers to determine key stakeholders for decisions and to communicate with the right people to align their work. This alignment commonly meant their management chain, but informants also discussed aligning with key partner teams (e.g. other parts of a product offering): </a:t>
            </a:r>
            <a:endParaRPr lang="en-US" b="0"/>
          </a:p>
          <a:p>
            <a:pPr marL="0" indent="0">
              <a:buFontTx/>
              <a:buNone/>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effectLst/>
                <a:latin typeface="TimesNewRomanPS"/>
              </a:rPr>
              <a:t>Sees the forest and the trees—considering situations at multiple levels, including technical details, industry trends, company vision, and customer/business needs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a:effectLst/>
              <a:latin typeface="TimesNewRomanPS"/>
            </a:endParaRPr>
          </a:p>
          <a:p>
            <a:r>
              <a:rPr lang="en-US" sz="1800" i="1">
                <a:effectLst/>
                <a:latin typeface="TimesNewRomanPS"/>
              </a:rPr>
              <a:t>Update Their Mental Models </a:t>
            </a:r>
            <a:endParaRPr lang="en-US" sz="2800"/>
          </a:p>
          <a:p>
            <a:r>
              <a:rPr lang="en-US" sz="1800">
                <a:effectLst/>
                <a:latin typeface="TimesNewRomanPSMT"/>
              </a:rPr>
              <a:t>Informants described great engineers as continuously updating their mental models at all levels of abstraction— ranging from technical details to industry trends—by explicitly evaluating changes in their context. </a:t>
            </a:r>
            <a:r>
              <a:rPr lang="en-US" sz="1800" i="1">
                <a:effectLst/>
                <a:latin typeface="TimesNewRomanPS"/>
              </a:rPr>
              <a:t>“You can always follow patterns too much... It's worked in the past, but conditions have changed.”. For example, “</a:t>
            </a:r>
            <a:r>
              <a:rPr lang="en-US" sz="1800" i="0">
                <a:effectLst/>
                <a:latin typeface="TimesNewRomanPS"/>
              </a:rPr>
              <a:t>Sometimes what used to be a second or third order effect comes to dominate. So way back in the day, if you wanted to performance optimize something you counted instructions. Processors got faster and faster, but memory references didn't. There became a day when it made more sense to count memory references than it did to count instructions"</a:t>
            </a:r>
            <a:endParaRPr lang="en-US" sz="2800" i="0"/>
          </a:p>
          <a:p>
            <a:endParaRPr lang="en-US" sz="1800" b="0" i="0">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Knowledgeable about customers and business—conversant about the role their software product plays in the lives of their customer and the business proposition that entails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Knowledgeable about tools and building materials—versed in strengths and limitations of the tools and building materials used to construct their software product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effectLst/>
                <a:latin typeface="TimesNewRomanPSMT"/>
              </a:rPr>
              <a:t>Teammates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1">
                <a:effectLst/>
                <a:latin typeface="TimesNewRomanPSMT"/>
              </a:rPr>
              <a:t>Create shared context</a:t>
            </a:r>
          </a:p>
          <a:p>
            <a:r>
              <a:rPr lang="en-US" sz="1800">
                <a:effectLst/>
                <a:latin typeface="TimesNewRomanPSMT"/>
              </a:rPr>
              <a:t>Adapting to another person’s understanding of a situation, was the most important aspect of “communicating effectively”. This involved tailoring the message to another person’s perspective: </a:t>
            </a:r>
            <a:endParaRPr lang="en-US" sz="2800" i="0">
              <a:effectLst/>
              <a:latin typeface="+mn-lt"/>
            </a:endParaRPr>
          </a:p>
          <a:p>
            <a:r>
              <a:rPr lang="en-US" sz="1800" i="1">
                <a:effectLst/>
                <a:latin typeface="TimesNewRomanPS"/>
              </a:rPr>
              <a:t>One person can only accomplish so much so you've always got to be working as part of the bigger group. People who can't communicate are only going to be sort of so-so effective...”</a:t>
            </a:r>
            <a:endParaRPr lang="en-US" sz="280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great engineers, especially ones at higher-levels, often had to communicate with people that do not have a complete (or the same) understanding of the situation but are critical to success (e.g. partner teams, customers, or management). Therefore, crafting the message such that others can comprehend the situation was important:</a:t>
            </a:r>
            <a:br>
              <a:rPr lang="en-US" sz="1800">
                <a:effectLst/>
                <a:latin typeface="TimesNewRomanPSMT"/>
              </a:rPr>
            </a:br>
            <a:endParaRPr lang="en-US" sz="2800"/>
          </a:p>
          <a:p>
            <a:r>
              <a:rPr lang="en-US" sz="1800" i="1">
                <a:effectLst/>
                <a:latin typeface="TimesNewRomanPS"/>
              </a:rPr>
              <a:t>Creates A Safe Haven </a:t>
            </a:r>
            <a:endParaRPr lang="en-US" sz="2800"/>
          </a:p>
          <a:p>
            <a:r>
              <a:rPr lang="en-US" sz="1800">
                <a:effectLst/>
                <a:latin typeface="TimesNewRomanPSMT"/>
              </a:rPr>
              <a:t>Many informants described great engineers as creating a safe haven where other engineers can learn and improve from mistakes and situations without negative consequences. Usually associated with leaders, informants felt that if engineers are afraid of mistakes, then their growth would slow: </a:t>
            </a:r>
            <a:endParaRPr lang="en-US" sz="280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The </a:t>
            </a:r>
            <a:r>
              <a:rPr lang="en-US" sz="1800" i="1">
                <a:effectLst/>
                <a:latin typeface="TimesNewRomanPS"/>
              </a:rPr>
              <a:t>lack </a:t>
            </a:r>
            <a:r>
              <a:rPr lang="en-US" sz="1800">
                <a:effectLst/>
                <a:latin typeface="TimesNewRomanPSMT"/>
              </a:rPr>
              <a:t>of this attribute as a major contributing factor for talent loss.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Safe haven != “no criticism”. People need to understand the impact of a mistake in order to learn from it – we learn from pain. But great engineers create a space where that kind of learning is possible and doesn’t compromise a career.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TimesNewRomanPSMT"/>
            </a:endParaRPr>
          </a:p>
          <a:p>
            <a:r>
              <a:rPr lang="en-US" sz="1800" i="1">
                <a:effectLst/>
                <a:latin typeface="TimesNewRomanPS"/>
              </a:rPr>
              <a:t>Honest </a:t>
            </a:r>
            <a:endParaRPr lang="en-US" sz="4000"/>
          </a:p>
          <a:p>
            <a:r>
              <a:rPr lang="en-US" sz="1800">
                <a:effectLst/>
                <a:latin typeface="TimesNewRomanPSMT"/>
              </a:rPr>
              <a:t>Informants felt that being honest was the most important attribute related to ‘trust’. This was about great engineers providing credible information. Engineers that presented a version of the situation that suited their own benefits were viewed negatively. Informants felt that they needed to be able to take action based on information that an engineer provided: </a:t>
            </a:r>
            <a:endParaRPr lang="en-US" sz="4000"/>
          </a:p>
          <a:p>
            <a:r>
              <a:rPr lang="en-US" sz="1800" i="1">
                <a:effectLst/>
                <a:latin typeface="TimesNewRomanPS"/>
              </a:rPr>
              <a:t>“Influence comes to someone else trusting you”</a:t>
            </a:r>
            <a:endParaRPr lang="en-US" sz="28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effectLst/>
                <a:latin typeface="TimesNewRomanPSM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effectLst/>
                <a:latin typeface="TimesNewRomanPSMT"/>
              </a:rPr>
              <a:t>Software product</a:t>
            </a:r>
            <a:endParaRPr lang="en-US" b="1"/>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a:effectLst/>
                <a:latin typeface="TimesNewRomanPS"/>
              </a:rPr>
              <a:t>Elegant and Creative (when needed)</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Possessing simple and intuitive designs that another person (or themselves later) could easily understand. </a:t>
            </a:r>
            <a:endParaRPr lang="en-US"/>
          </a:p>
          <a:p>
            <a:endParaRPr lang="en-US" sz="1800">
              <a:effectLst/>
              <a:latin typeface="TimesNewRomanPSMT"/>
            </a:endParaRPr>
          </a:p>
          <a:p>
            <a:r>
              <a:rPr lang="en-US" sz="1800">
                <a:effectLst/>
                <a:latin typeface="TimesNewRomanPSMT"/>
              </a:rPr>
              <a:t>Great engineers knew of and knew when to apply existing solutions (and </a:t>
            </a:r>
            <a:r>
              <a:rPr lang="en-US" sz="1800" i="1">
                <a:effectLst/>
                <a:latin typeface="TimesNewRomanPS"/>
              </a:rPr>
              <a:t>not </a:t>
            </a:r>
            <a:r>
              <a:rPr lang="en-US" sz="1800">
                <a:effectLst/>
                <a:latin typeface="TimesNewRomanPSMT"/>
              </a:rPr>
              <a:t>be creative). This was important because informants felt that known solutions were generally preferable since they were less costly and less error-prone: </a:t>
            </a:r>
            <a:endParaRPr lang="en-US"/>
          </a:p>
          <a:p>
            <a:r>
              <a:rPr lang="en-US" sz="1800" i="1">
                <a:effectLst/>
                <a:latin typeface="TimesNewRomanPS"/>
              </a:rPr>
              <a:t>“You are now using all of your creativity to reinvent things that are already invented and that is just basically wasteful. </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i="1">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a:effectLst/>
                <a:latin typeface="TimesNewRomanPS"/>
              </a:rPr>
              <a:t>Understanding patterns and understanding how to apply something is very important so you don’t recreate wheels all the time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i="1">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a:effectLst/>
                <a:latin typeface="TimesNewRomanP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i="1">
              <a:effectLst/>
              <a:latin typeface="TimesNewRomanPS"/>
            </a:endParaRPr>
          </a:p>
          <a:p>
            <a:pPr marL="171450" indent="-171450">
              <a:buFontTx/>
              <a:buChar char="-"/>
            </a:pPr>
            <a:r>
              <a:rPr lang="en-US"/>
              <a:t>Be humble and open to improvement. You do not know everything! Your design is not perfect. Your implementation is not perfect. Your tests are not perfect. Part of the value of a team is to help everyone on it do their best for the customer.</a:t>
            </a:r>
          </a:p>
          <a:p>
            <a:pPr marL="171450" indent="-171450">
              <a:buFontTx/>
              <a:buChar char="-"/>
            </a:pPr>
            <a:r>
              <a:rPr lang="en-US"/>
              <a:t>Respect others. Care about the other people you work with. Don’t focus on their weaknesses, but recognize their strengths and how you can learn from them.</a:t>
            </a:r>
          </a:p>
          <a:p>
            <a:pPr marL="171450" indent="-171450">
              <a:buFontTx/>
              <a:buChar char="-"/>
            </a:pPr>
            <a:r>
              <a:rPr lang="en-US"/>
              <a:t>Take a default stance of trusting that everyone on your team wants what is best for the team, the customer, and the company. </a:t>
            </a:r>
            <a:r>
              <a:rPr lang="en-US" u="sng"/>
              <a:t>Never attribute to malice what can instead be attributed to a simple mistake</a:t>
            </a:r>
            <a:r>
              <a:rPr lang="en-US"/>
              <a:t>. (There do exist dysfunctional teams where internal politics have come to dominate. If that happens to you, find a new team.)</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F209F92-05EE-6F4A-AD9C-ED35F0F76927}" type="slidenum">
              <a:rPr lang="en-US"/>
              <a:t>5</a:t>
            </a:fld>
            <a:endParaRPr lang="en-US"/>
          </a:p>
        </p:txBody>
      </p:sp>
    </p:spTree>
    <p:extLst>
      <p:ext uri="{BB962C8B-B14F-4D97-AF65-F5344CB8AC3E}">
        <p14:creationId xmlns:p14="http://schemas.microsoft.com/office/powerpoint/2010/main" val="2426863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These</a:t>
            </a:r>
            <a:r>
              <a:rPr lang="en-US" b="0" baseline="0" dirty="0"/>
              <a:t> are the sites involved in the project while I was there.</a:t>
            </a:r>
            <a:endParaRPr lang="en-US" b="0" dirty="0"/>
          </a:p>
          <a:p>
            <a:endParaRPr lang="en-US" b="0" dirty="0"/>
          </a:p>
          <a:p>
            <a:r>
              <a:rPr lang="en-US" b="0" dirty="0"/>
              <a:t>US employees in Poughkeepsie/NY, Austin/TX, Beaverton/OR, and Silicon Valley, CA.</a:t>
            </a:r>
          </a:p>
          <a:p>
            <a:endParaRPr lang="en-US" b="0" dirty="0"/>
          </a:p>
          <a:p>
            <a:r>
              <a:rPr lang="en-US" b="1" dirty="0"/>
              <a:t>2012-2014</a:t>
            </a:r>
            <a:r>
              <a:rPr lang="en-US" dirty="0"/>
              <a:t> Beijing/CN, two sites in India (Pune and Bangalore), as well as Zurich/Switzerland</a:t>
            </a:r>
          </a:p>
          <a:p>
            <a:r>
              <a:rPr lang="en-US" b="1" dirty="0"/>
              <a:t>2015</a:t>
            </a:r>
            <a:r>
              <a:rPr lang="en-US" dirty="0"/>
              <a:t> + Mexico, UK, Germany</a:t>
            </a:r>
          </a:p>
          <a:p>
            <a:endParaRPr lang="en-US" dirty="0"/>
          </a:p>
          <a:p>
            <a:r>
              <a:rPr lang="en-US" dirty="0"/>
              <a:t>And just look at all of those time zones! California, UK, and Beijing are “evenly spaced”, each 8 hours apart from the next.</a:t>
            </a:r>
          </a:p>
          <a:p>
            <a:endParaRPr lang="en-US" dirty="0"/>
          </a:p>
          <a:p>
            <a:r>
              <a:rPr lang="en-US" b="1" dirty="0"/>
              <a:t>Why global teams?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t>Access to skills, e.g: Specialized technologies (experience with a particular HW component), specialized skills (experience adapting a product to meet a particular regulatory requirement – or, e.g., Israel has a huge cybersecurity scene because of the mandatory military service and active threats to that country)</a:t>
            </a:r>
          </a:p>
          <a:p>
            <a:pPr marL="171450" indent="-171450">
              <a:buFontTx/>
              <a:buChar char="-"/>
            </a:pPr>
            <a:r>
              <a:rPr lang="en-US" b="0" dirty="0"/>
              <a:t>Acquisitions –  expanding a product family by buying a company with an appropriate product. Later the products might neeed to collaborate.</a:t>
            </a:r>
          </a:p>
          <a:p>
            <a:pPr marL="171450" indent="-171450">
              <a:buFontTx/>
              <a:buChar char="-"/>
            </a:pPr>
            <a:r>
              <a:rPr lang="en-US" b="0" dirty="0"/>
              <a:t>Proximity to customer – face-to-face feedback, on-site support</a:t>
            </a:r>
          </a:p>
          <a:p>
            <a:pPr marL="171450" indent="-171450">
              <a:buFontTx/>
              <a:buChar char="-"/>
            </a:pPr>
            <a:r>
              <a:rPr lang="en-US" b="0" dirty="0"/>
              <a:t>It can be cheaper. If a company is funded in USD and pays in Rupees, the exchange rate is favorable</a:t>
            </a:r>
          </a:p>
          <a:p>
            <a:pPr marL="171450" indent="-171450">
              <a:buFontTx/>
              <a:buChar char="-"/>
            </a:pPr>
            <a:r>
              <a:rPr lang="en-US" b="0" dirty="0"/>
              <a:t>(These are almost all BUSINESS reasons. Ours is not to question why…)</a:t>
            </a:r>
          </a:p>
          <a:p>
            <a:endParaRPr lang="en-US"/>
          </a:p>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a:t>Unavoidable</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US colleagues: American, Brazil, India, China, Egypt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Team meetings: microcosm of the world</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Collaboration strategies:</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Module (works well)</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Phase-Based (requirements -&gt; Design -&gt;) – Handoffs are hard.</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Huge team / Follow-the-sun</a:t>
            </a:r>
          </a:p>
          <a:p>
            <a:pPr marL="0" marR="0" lvl="0" indent="-457200" algn="l" defTabSz="914400" rtl="0" eaLnBrk="1" fontAlgn="auto" latinLnBrk="0" hangingPunct="1">
              <a:lnSpc>
                <a:spcPct val="100000"/>
              </a:lnSpc>
              <a:spcBef>
                <a:spcPts val="0"/>
              </a:spcBef>
              <a:spcAft>
                <a:spcPts val="0"/>
              </a:spcAft>
              <a:buClrTx/>
              <a:buSzTx/>
              <a:buFontTx/>
              <a:buChar char="-"/>
              <a:tabLst/>
              <a:defRPr/>
            </a:pPr>
            <a:r>
              <a:rPr lang="en-US" dirty="0"/>
              <a:t>Hand-offs are hard! Can work well for customer support, not so good for design/impl.</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573E8D-CDDD-407E-8DC4-91F8096B231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8472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Now, back to our regularly scheduled programming…</a:t>
            </a:r>
          </a:p>
          <a:p>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(Write definitions on the board)</a:t>
            </a:r>
          </a:p>
          <a:p>
            <a:endParaRPr lang="en-US" sz="1200" b="1"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Power distance</a:t>
            </a:r>
            <a:r>
              <a:rPr lang="en-US" sz="1200" b="0" i="0" u="none" strike="noStrike" kern="1200">
                <a:solidFill>
                  <a:schemeClr val="tx1"/>
                </a:solidFill>
                <a:effectLst/>
                <a:latin typeface="+mn-lt"/>
                <a:ea typeface="+mn-ea"/>
                <a:cs typeface="+mn-cs"/>
              </a:rPr>
              <a:t>: This dimension deals with the fact that all individuals in societies are not equal, and it expresses </a:t>
            </a:r>
            <a:r>
              <a:rPr lang="en-US" sz="1200" b="1" i="1" u="none" strike="noStrike" kern="1200">
                <a:solidFill>
                  <a:schemeClr val="tx1"/>
                </a:solidFill>
                <a:effectLst/>
                <a:latin typeface="+mn-lt"/>
                <a:ea typeface="+mn-ea"/>
                <a:cs typeface="+mn-cs"/>
              </a:rPr>
              <a:t>the attitude of the culture toward these power inequalities amongst us</a:t>
            </a:r>
            <a:r>
              <a:rPr lang="en-US" sz="1200" b="0" i="0" u="none" strike="noStrike" kern="1200">
                <a:solidFill>
                  <a:schemeClr val="tx1"/>
                </a:solidFill>
                <a:effectLst/>
                <a:latin typeface="+mn-lt"/>
                <a:ea typeface="+mn-ea"/>
                <a:cs typeface="+mn-cs"/>
              </a:rPr>
              <a:t>. Power distance is defined as the extent to which the less powerful members of institutions and organisations within a country expect and accept that power is distributed unequally. A high score means that you accept power hierarchies; a lower score means that you are more willing to cross the perceived power hierarchies.</a:t>
            </a:r>
            <a:endParaRPr lang="en-US" sz="1200" b="1" i="0" u="none" strike="noStrike" kern="1200">
              <a:solidFill>
                <a:schemeClr val="tx1"/>
              </a:solidFill>
              <a:effectLst/>
              <a:latin typeface="+mn-lt"/>
              <a:ea typeface="+mn-ea"/>
              <a:cs typeface="+mn-cs"/>
            </a:endParaRPr>
          </a:p>
          <a:p>
            <a:endParaRPr lang="en-US" sz="1200" b="1"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Long-term orientation</a:t>
            </a:r>
            <a:r>
              <a:rPr lang="en-US" sz="1200" b="0" i="0" u="none" strike="noStrike" kern="1200">
                <a:solidFill>
                  <a:schemeClr val="tx1"/>
                </a:solidFill>
                <a:effectLst/>
                <a:latin typeface="+mn-lt"/>
                <a:ea typeface="+mn-ea"/>
                <a:cs typeface="+mn-cs"/>
              </a:rPr>
              <a:t> is when you are focused on the future. You are willing to delay short-term material or social success or even short-term emotional gratification in order to prepare for the future. If you have this cultural perspective, you value persistence, perseverance, and adaptability. </a:t>
            </a:r>
          </a:p>
          <a:p>
            <a:r>
              <a:rPr lang="en-US" sz="1200" b="1" i="0" u="none" strike="noStrike" kern="1200">
                <a:solidFill>
                  <a:schemeClr val="tx1"/>
                </a:solidFill>
                <a:effectLst/>
                <a:latin typeface="+mn-lt"/>
                <a:ea typeface="+mn-ea"/>
                <a:cs typeface="+mn-cs"/>
              </a:rPr>
              <a:t>Short-term orientation</a:t>
            </a:r>
            <a:r>
              <a:rPr lang="en-US" sz="1200" b="0" i="0" u="none" strike="noStrike" kern="1200">
                <a:solidFill>
                  <a:schemeClr val="tx1"/>
                </a:solidFill>
                <a:effectLst/>
                <a:latin typeface="+mn-lt"/>
                <a:ea typeface="+mn-ea"/>
                <a:cs typeface="+mn-cs"/>
              </a:rPr>
              <a:t> is when you are focused on the present or past and consider them more important than the future. You care more about immediate gratification than long-term fulfillment.</a:t>
            </a:r>
            <a:endParaRPr lang="en-US"/>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rPr>
              <a:t>Individualism</a:t>
            </a:r>
            <a:r>
              <a:rPr lang="en-US" sz="1200" b="0" i="0" u="none" strike="noStrike" kern="1200">
                <a:solidFill>
                  <a:schemeClr val="tx1"/>
                </a:solidFill>
                <a:effectLst/>
                <a:latin typeface="+mn-lt"/>
                <a:ea typeface="+mn-ea"/>
                <a:cs typeface="+mn-cs"/>
              </a:rPr>
              <a:t>: The fundamental issue addressed by this dimension is</a:t>
            </a:r>
            <a:r>
              <a:rPr lang="en-US" sz="1200" b="0" i="1" u="none" strike="noStrike" kern="1200">
                <a:solidFill>
                  <a:schemeClr val="tx1"/>
                </a:solidFill>
                <a:effectLst/>
                <a:latin typeface="+mn-lt"/>
                <a:ea typeface="+mn-ea"/>
                <a:cs typeface="+mn-cs"/>
              </a:rPr>
              <a:t> </a:t>
            </a:r>
            <a:r>
              <a:rPr lang="en-US" sz="1200" b="1" i="1" u="none" strike="noStrike" kern="1200">
                <a:solidFill>
                  <a:schemeClr val="tx1"/>
                </a:solidFill>
                <a:effectLst/>
                <a:latin typeface="+mn-lt"/>
                <a:ea typeface="+mn-ea"/>
                <a:cs typeface="+mn-cs"/>
              </a:rPr>
              <a:t>the degree of interdependence a society maintains among its members</a:t>
            </a:r>
            <a:r>
              <a:rPr lang="en-US" sz="1200" b="0" i="0" u="none" strike="noStrike" kern="1200">
                <a:solidFill>
                  <a:schemeClr val="tx1"/>
                </a:solidFill>
                <a:effectLst/>
                <a:latin typeface="+mn-lt"/>
                <a:ea typeface="+mn-ea"/>
                <a:cs typeface="+mn-cs"/>
              </a:rPr>
              <a:t>. It has to do with whether people´s self-image is defined in terms of “I” or “We”. A high score means that the individuals are relatively independent from one another. In contrast, a low score reflects a more collective society, where people view themselves in terms of their relationship to others and more as part of a team.</a:t>
            </a:r>
          </a:p>
          <a:p>
            <a:endParaRPr lang="en-US" sz="1200" b="0" i="0" u="none" strike="noStrike" kern="1200">
              <a:solidFill>
                <a:schemeClr val="tx1"/>
              </a:solidFill>
              <a:effectLst/>
              <a:latin typeface="+mn-lt"/>
              <a:ea typeface="+mn-ea"/>
              <a:cs typeface="+mn-cs"/>
            </a:endParaRPr>
          </a:p>
          <a:p>
            <a:r>
              <a:rPr lang="en-US"/>
              <a:t>REMEMBER: This is a </a:t>
            </a:r>
            <a:r>
              <a:rPr lang="en-US" b="0" i="1"/>
              <a:t>model</a:t>
            </a:r>
            <a:r>
              <a:rPr lang="en-US" b="0" i="0"/>
              <a:t>, and scores are </a:t>
            </a:r>
            <a:r>
              <a:rPr lang="en-US" b="0" i="1"/>
              <a:t>averaged</a:t>
            </a:r>
            <a:r>
              <a:rPr lang="en-US" b="0" i="0"/>
              <a:t> across nationalities. Models are useful for interpreting and predicting, and for working with trends, but they may not describe any one individual. But if you’re working with an international team, those ‘averages’ will probably show up.</a:t>
            </a:r>
          </a:p>
          <a:p>
            <a:endParaRPr lang="en-US" b="0" i="0"/>
          </a:p>
          <a:p>
            <a:r>
              <a:rPr lang="en-US" b="0" i="0"/>
              <a:t>=== Other attributes of the model that are hard to connect directly to engineering work ===</a:t>
            </a:r>
          </a:p>
          <a:p>
            <a:endParaRPr lang="en-US" b="0" i="1"/>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mn-lt"/>
                <a:ea typeface="+mn-ea"/>
                <a:cs typeface="+mn-cs"/>
              </a:rPr>
              <a:t>“</a:t>
            </a:r>
            <a:r>
              <a:rPr lang="en-US" sz="1200" b="1" i="0" u="none" strike="noStrike" kern="1200">
                <a:solidFill>
                  <a:schemeClr val="tx1"/>
                </a:solidFill>
                <a:effectLst/>
                <a:latin typeface="+mn-lt"/>
                <a:ea typeface="+mn-ea"/>
                <a:cs typeface="+mn-cs"/>
              </a:rPr>
              <a:t>Masculinity</a:t>
            </a:r>
            <a:r>
              <a:rPr lang="en-US" sz="1200" b="0" i="0" u="none" strike="noStrike" kern="1200">
                <a:solidFill>
                  <a:schemeClr val="tx1"/>
                </a:solidFill>
                <a:effectLst/>
                <a:latin typeface="+mn-lt"/>
                <a:ea typeface="+mn-ea"/>
                <a:cs typeface="+mn-cs"/>
              </a:rPr>
              <a:t> stands for a society in which social gender roles are clearly distinct: Men are supposed to be assertive, tough, and focused on material success; women are supposed to be more modest, tender, and concerned with the quality of life.”“Femininity stands for a society in which social gender roles overlap: Both men and women are supposed to be modest, tender, and concerned with the quality of life.”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rPr>
              <a:t>Uncertainty</a:t>
            </a:r>
            <a:r>
              <a:rPr lang="en-US" sz="1200" b="0" i="0" u="none" strike="noStrike" kern="1200">
                <a:solidFill>
                  <a:schemeClr val="tx1"/>
                </a:solidFill>
                <a:effectLst/>
                <a:latin typeface="+mn-lt"/>
                <a:ea typeface="+mn-ea"/>
                <a:cs typeface="+mn-cs"/>
              </a:rPr>
              <a:t> is a state wherein outcomes and conditions are unknown or unpredictable. Some people are more comfortable with uncertainty than others, and the degree to which individuals participate in certain behaviors to stay in comfortable situations is called </a:t>
            </a:r>
            <a:r>
              <a:rPr lang="en-US" sz="1200" b="1" i="0" u="none" strike="noStrike" kern="1200">
                <a:solidFill>
                  <a:schemeClr val="tx1"/>
                </a:solidFill>
                <a:effectLst/>
                <a:latin typeface="+mn-lt"/>
                <a:ea typeface="+mn-ea"/>
                <a:cs typeface="+mn-cs"/>
              </a:rPr>
              <a:t>uncertainty avoidance</a:t>
            </a:r>
            <a:r>
              <a:rPr lang="en-US" sz="1200" b="0" i="0" u="none" strike="noStrike" kern="1200">
                <a:solidFill>
                  <a:schemeClr val="tx1"/>
                </a:solidFill>
                <a:effectLst/>
                <a:latin typeface="+mn-lt"/>
                <a:ea typeface="+mn-ea"/>
                <a:cs typeface="+mn-cs"/>
              </a:rPr>
              <a:t>. Uncertainty avoidance is one of the five cultural dimensions presented by Geert Hofstede in his 1980 book on the subject, </a:t>
            </a:r>
            <a:r>
              <a:rPr lang="en-US" sz="1200" b="0" i="1" u="none" strike="noStrike" kern="1200">
                <a:solidFill>
                  <a:schemeClr val="tx1"/>
                </a:solidFill>
                <a:effectLst/>
                <a:latin typeface="+mn-lt"/>
                <a:ea typeface="+mn-ea"/>
                <a:cs typeface="+mn-cs"/>
              </a:rPr>
              <a:t>Culture's Consequences</a:t>
            </a:r>
            <a:r>
              <a:rPr lang="en-US" sz="1200" b="0" i="0" u="none" strike="noStrike"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a:solidFill>
                <a:schemeClr val="tx1"/>
              </a:solidFill>
              <a:effectLst/>
              <a:latin typeface="+mn-lt"/>
              <a:ea typeface="+mn-ea"/>
              <a:cs typeface="+mn-cs"/>
            </a:endParaRPr>
          </a:p>
          <a:p>
            <a:endParaRPr lang="en-US" b="0" i="1"/>
          </a:p>
        </p:txBody>
      </p:sp>
      <p:sp>
        <p:nvSpPr>
          <p:cNvPr id="4" name="Slide Number Placeholder 3"/>
          <p:cNvSpPr>
            <a:spLocks noGrp="1"/>
          </p:cNvSpPr>
          <p:nvPr>
            <p:ph type="sldNum" sz="quarter" idx="5"/>
          </p:nvPr>
        </p:nvSpPr>
        <p:spPr/>
        <p:txBody>
          <a:bodyPr/>
          <a:lstStyle/>
          <a:p>
            <a:fld id="{FF209F92-05EE-6F4A-AD9C-ED35F0F76927}" type="slidenum">
              <a:rPr lang="en-US"/>
              <a:t>19</a:t>
            </a:fld>
            <a:endParaRPr lang="en-US"/>
          </a:p>
        </p:txBody>
      </p:sp>
    </p:spTree>
    <p:extLst>
      <p:ext uri="{BB962C8B-B14F-4D97-AF65-F5344CB8AC3E}">
        <p14:creationId xmlns:p14="http://schemas.microsoft.com/office/powerpoint/2010/main" val="2139731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209F92-05EE-6F4A-AD9C-ED35F0F76927}" type="slidenum">
              <a:rPr lang="en-US"/>
              <a:t>25</a:t>
            </a:fld>
            <a:endParaRPr lang="en-US"/>
          </a:p>
        </p:txBody>
      </p:sp>
    </p:spTree>
    <p:extLst>
      <p:ext uri="{BB962C8B-B14F-4D97-AF65-F5344CB8AC3E}">
        <p14:creationId xmlns:p14="http://schemas.microsoft.com/office/powerpoint/2010/main" val="10048036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pic>
        <p:nvPicPr>
          <p:cNvPr id="12"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110838" y="1877220"/>
            <a:ext cx="6128758" cy="1938992"/>
          </a:xfrm>
          <a:prstGeom prst="rect">
            <a:avLst/>
          </a:prstGeom>
          <a:noFill/>
        </p:spPr>
        <p:txBody>
          <a:bodyPr wrap="square" lIns="0" tIns="0" rIns="0" bIns="0" rtlCol="0">
            <a:spAutoFit/>
          </a:bodyPr>
          <a:lstStyle/>
          <a:p>
            <a:r>
              <a:rPr lang="en-US" dirty="0">
                <a:solidFill>
                  <a:schemeClr val="bg1"/>
                </a:solidFill>
                <a:effectLst/>
                <a:latin typeface="Calibri" panose="020F0502020204030204" pitchFamily="34" charset="0"/>
                <a:cs typeface="Calibri" panose="020F0502020204030204" pitchFamily="34" charset="0"/>
              </a:rPr>
              <a:t>Support the Purdue University brand in your presentations by using a brand-friendly template. This template uses an accessible master layout. Please note that some changes </a:t>
            </a:r>
            <a:br>
              <a:rPr lang="en-US" dirty="0">
                <a:solidFill>
                  <a:schemeClr val="bg1"/>
                </a:solidFill>
                <a:effectLst/>
                <a:latin typeface="Calibri" panose="020F0502020204030204" pitchFamily="34" charset="0"/>
                <a:cs typeface="Calibri" panose="020F0502020204030204" pitchFamily="34" charset="0"/>
              </a:rPr>
            </a:br>
            <a:r>
              <a:rPr lang="en-US" dirty="0">
                <a:solidFill>
                  <a:schemeClr val="bg1"/>
                </a:solidFill>
                <a:effectLst/>
                <a:latin typeface="Calibri" panose="020F0502020204030204" pitchFamily="34" charset="0"/>
                <a:cs typeface="Calibri" panose="020F0502020204030204" pitchFamily="34" charset="0"/>
              </a:rPr>
              <a:t>to the PowerPoint template could impact accessibility by those with disabilities. Follow the instructions provided by Microsoft Office to ensure that your PowerPoint presentations are accessible to all users:</a:t>
            </a:r>
            <a:endParaRPr lang="en-US" dirty="0">
              <a:solidFill>
                <a:schemeClr val="bg1"/>
              </a:solidFill>
              <a:latin typeface="Calibri" panose="020F0502020204030204" pitchFamily="34" charset="0"/>
              <a:cs typeface="Calibri" panose="020F0502020204030204" pitchFamily="34" charset="0"/>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110837" y="4133385"/>
            <a:ext cx="5765747" cy="754822"/>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31" name="Purdue Logo" descr="Purdue Logo">
            <a:extLst>
              <a:ext uri="{FF2B5EF4-FFF2-40B4-BE49-F238E27FC236}">
                <a16:creationId xmlns:a16="http://schemas.microsoft.com/office/drawing/2014/main" id="{5776162E-C11B-0945-A3D0-13135D39C15E}"/>
              </a:ext>
            </a:extLst>
          </p:cNvPr>
          <p:cNvPicPr>
            <a:picLocks noChangeAspect="1"/>
          </p:cNvPicPr>
          <p:nvPr/>
        </p:nvPicPr>
        <p:blipFill>
          <a:blip r:embed="rId2"/>
          <a:stretch>
            <a:fillRect/>
          </a:stretch>
        </p:blipFill>
        <p:spPr>
          <a:xfrm>
            <a:off x="383868" y="6059042"/>
            <a:ext cx="1908400" cy="341599"/>
          </a:xfrm>
          <a:prstGeom prst="rect">
            <a:avLst/>
          </a:prstGeom>
        </p:spPr>
      </p:pic>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3"/>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B9D6C85B-3217-C348-9016-4234B383851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ful">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hasCustomPrompt="1"/>
          </p:nvPr>
        </p:nvSpPr>
        <p:spPr bwMode="blackWhite">
          <a:xfrm>
            <a:off x="1116116" y="1626244"/>
            <a:ext cx="7451413" cy="757130"/>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Calibri" panose="020F0502020204030204" pitchFamily="34" charset="0"/>
                <a:cs typeface="Calibri" panose="020F0502020204030204" pitchFamily="34" charset="0"/>
              </a:defRPr>
            </a:lvl1pPr>
          </a:lstStyle>
          <a:p>
            <a:r>
              <a:rPr lang="en-US" dirty="0"/>
              <a:t>Title</a:t>
            </a:r>
          </a:p>
        </p:txBody>
      </p:sp>
      <p:sp>
        <p:nvSpPr>
          <p:cNvPr id="3" name="Subtitle"/>
          <p:cNvSpPr>
            <a:spLocks noGrp="1"/>
          </p:cNvSpPr>
          <p:nvPr>
            <p:ph type="subTitle" idx="1" hasCustomPrompt="1"/>
          </p:nvPr>
        </p:nvSpPr>
        <p:spPr>
          <a:xfrm>
            <a:off x="1121760" y="3990084"/>
            <a:ext cx="5322202" cy="336015"/>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userDrawn="1"/>
        </p:nvPicPr>
        <p:blipFill>
          <a:blip r:embed="rId2"/>
          <a:stretch>
            <a:fillRect/>
          </a:stretch>
        </p:blipFill>
        <p:spPr>
          <a:xfrm>
            <a:off x="7366000" y="0"/>
            <a:ext cx="1778000" cy="6858000"/>
          </a:xfrm>
          <a:prstGeom prst="rect">
            <a:avLst/>
          </a:prstGeom>
        </p:spPr>
      </p:pic>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8"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5257" y="0"/>
            <a:ext cx="8636000" cy="914400"/>
          </a:xfrm>
          <a:prstGeom prst="rect">
            <a:avLst/>
          </a:prstGeom>
        </p:spPr>
      </p:pic>
      <p:sp>
        <p:nvSpPr>
          <p:cNvPr id="2" name="Title"/>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213" y="1345166"/>
            <a:ext cx="5491495" cy="341599"/>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821465" y="1962540"/>
            <a:ext cx="55245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B26B2E09-9A81-1042-9C6F-C9616B2F54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44A82EC6-E211-BD41-BE03-BC086B8288C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5257" y="0"/>
            <a:ext cx="8636000"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679" y="1345166"/>
            <a:ext cx="5466371" cy="338554"/>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128501" y="1917388"/>
            <a:ext cx="3443499"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4765675" y="1920875"/>
            <a:ext cx="3965575" cy="2982913"/>
          </a:xfrm>
        </p:spPr>
        <p:txBody>
          <a:bodyPr lIns="0" tIns="0" rIns="0" bIns="0" anchor="ctr" anchorCtr="0"/>
          <a:lstStyle>
            <a:lvl1pPr algn="ctr">
              <a:defRPr b="0" i="0">
                <a:solidFill>
                  <a:schemeClr val="bg1"/>
                </a:solidFill>
                <a:latin typeface="Calibri" panose="020F0502020204030204" pitchFamily="34" charset="0"/>
                <a:cs typeface="Calibri" panose="020F0502020204030204" pitchFamily="34" charset="0"/>
              </a:defRPr>
            </a:lvl1pPr>
            <a:lvl4pPr marL="685800" indent="0" algn="ctr">
              <a:buNone/>
              <a:defRPr>
                <a:solidFill>
                  <a:schemeClr val="bg1"/>
                </a:solidFill>
              </a:defRPr>
            </a:lvl4pPr>
          </a:lstStyle>
          <a:p>
            <a:pPr lvl="0"/>
            <a:r>
              <a:rPr lang="en-US" dirty="0"/>
              <a:t>Insert picture or chart here</a:t>
            </a:r>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3">
            <a:extLst>
              <a:ext uri="{FF2B5EF4-FFF2-40B4-BE49-F238E27FC236}">
                <a16:creationId xmlns:a16="http://schemas.microsoft.com/office/drawing/2014/main" id="{604E88AE-4DDB-7848-8BFC-689AB08950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A80B4ADB-F607-2245-8FB1-ECFA5F9282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9144000" cy="6858000"/>
          </a:xfrm>
        </p:spPr>
        <p:txBody>
          <a:bodyPr anchor="ctr" anchorCtr="1"/>
          <a:lstStyle>
            <a:lvl1pPr marL="0" indent="0" algn="ctr">
              <a:buFontTx/>
              <a:buNone/>
              <a:defRPr baseline="0">
                <a:solidFill>
                  <a:schemeClr val="bg1"/>
                </a:solidFill>
                <a:latin typeface="Calibri" panose="020F0502020204030204" pitchFamily="34" charset="0"/>
                <a:cs typeface="Calibri" panose="020F0502020204030204" pitchFamily="34" charset="0"/>
              </a:defRPr>
            </a:lvl1pPr>
          </a:lstStyle>
          <a:p>
            <a:r>
              <a:rPr lang="en-US" dirty="0"/>
              <a:t>Click icon to add picture</a:t>
            </a:r>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381000" y="304800"/>
            <a:ext cx="2879168" cy="1253420"/>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Calibri" panose="020F0502020204030204" pitchFamily="34" charset="0"/>
                <a:cs typeface="Calibri" panose="020F0502020204030204" pitchFamily="34" charset="0"/>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Footer Placeholder 3">
            <a:extLst>
              <a:ext uri="{FF2B5EF4-FFF2-40B4-BE49-F238E27FC236}">
                <a16:creationId xmlns:a16="http://schemas.microsoft.com/office/drawing/2014/main" id="{2A56429C-6FAE-3948-90B5-12153EA6B79A}"/>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8" name="Slide Number Placeholder 4">
            <a:extLst>
              <a:ext uri="{FF2B5EF4-FFF2-40B4-BE49-F238E27FC236}">
                <a16:creationId xmlns:a16="http://schemas.microsoft.com/office/drawing/2014/main" id="{9E2E1FAD-26E8-1347-8D53-549E835DE20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2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0" y="0"/>
            <a:ext cx="9143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170159" y="1466566"/>
            <a:ext cx="4814498"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Calibri" panose="020F0502020204030204" pitchFamily="34" charset="0"/>
                <a:cs typeface="Calibri" panose="020F0502020204030204" pitchFamily="34" charset="0"/>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1986208" y="2744421"/>
            <a:ext cx="5179092"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1986207" y="2706475"/>
            <a:ext cx="5171597" cy="553998"/>
          </a:xfrm>
          <a:noFill/>
        </p:spPr>
        <p:txBody>
          <a:bodyPr wrap="square" lIns="0" tIns="0" rIns="0" bIns="0" anchor="t" anchorCtr="0">
            <a:spAutoFit/>
          </a:bodyPr>
          <a:lstStyle>
            <a:lvl1pPr marL="0" indent="0" algn="ctr">
              <a:buNone/>
              <a:defRPr sz="3600" b="1" i="0" spc="300">
                <a:solidFill>
                  <a:schemeClr val="accent4"/>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156451" y="3540352"/>
            <a:ext cx="5008850"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D069DDFF-7A5A-2F4E-B4E3-860E92D12BF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014B5E51-5508-B040-A7DB-BEB27306C8C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p15:clr>
            <a:srgbClr val="FBAE40"/>
          </p15:clr>
        </p15:guide>
        <p15:guide id="8" orient="horz" pos="14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itle"/>
          <p:cNvSpPr>
            <a:spLocks noGrp="1"/>
          </p:cNvSpPr>
          <p:nvPr>
            <p:ph type="ctrTitle" hasCustomPrompt="1"/>
          </p:nvPr>
        </p:nvSpPr>
        <p:spPr bwMode="blackWhite">
          <a:xfrm>
            <a:off x="1089144" y="1557666"/>
            <a:ext cx="5500897"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Calibri" panose="020F0502020204030204" pitchFamily="34" charset="0"/>
                <a:cs typeface="Calibri" panose="020F050202020403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107311" y="2578489"/>
            <a:ext cx="550089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9A77649-773F-A440-9DB2-280E1D970BD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ED0EF5FB-C2A8-AC4E-A6D4-F04BB1C8DA8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8"/>
          <a:stretch>
            <a:fillRect/>
          </a:stretch>
        </p:blipFill>
        <p:spPr>
          <a:xfrm>
            <a:off x="8746670" y="6562249"/>
            <a:ext cx="292555" cy="156273"/>
          </a:xfrm>
          <a:prstGeom prst="rect">
            <a:avLst/>
          </a:prstGeom>
        </p:spPr>
      </p:pic>
      <p:sp>
        <p:nvSpPr>
          <p:cNvPr id="4" name="Footer Placeholder 3">
            <a:extLst>
              <a:ext uri="{FF2B5EF4-FFF2-40B4-BE49-F238E27FC236}">
                <a16:creationId xmlns:a16="http://schemas.microsoft.com/office/drawing/2014/main" id="{ED2C2BF6-1E4A-5E43-AD74-73E00B5111F5}"/>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25" r:id="rId10"/>
    <p:sldLayoutId id="2147483709" r:id="rId11"/>
    <p:sldLayoutId id="2147483720" r:id="rId12"/>
    <p:sldLayoutId id="2147483721" r:id="rId13"/>
    <p:sldLayoutId id="2147483722" r:id="rId14"/>
    <p:sldLayoutId id="2147483723" r:id="rId15"/>
    <p:sldLayoutId id="2147483724" r:id="rId16"/>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A610390-B9F9-1640-9974-0C21350E01C9}"/>
              </a:ext>
            </a:extLst>
          </p:cNvPr>
          <p:cNvSpPr>
            <a:spLocks noGrp="1"/>
          </p:cNvSpPr>
          <p:nvPr>
            <p:ph type="subTitle" idx="1"/>
          </p:nvPr>
        </p:nvSpPr>
        <p:spPr>
          <a:xfrm>
            <a:off x="224171" y="2488406"/>
            <a:ext cx="8695654" cy="1881188"/>
          </a:xfrm>
        </p:spPr>
        <p:txBody>
          <a:bodyPr>
            <a:normAutofit/>
          </a:bodyPr>
          <a:lstStyle/>
          <a:p>
            <a:r>
              <a:rPr lang="en-US" sz="4000" dirty="0"/>
              <a:t>Software Engineering Teamwork</a:t>
            </a:r>
          </a:p>
          <a:p>
            <a:endParaRPr lang="en-US" dirty="0"/>
          </a:p>
          <a:p>
            <a:r>
              <a:rPr lang="en-US" i="1" dirty="0"/>
              <a:t>Prof. James C. Davis</a:t>
            </a:r>
          </a:p>
        </p:txBody>
      </p:sp>
      <p:sp>
        <p:nvSpPr>
          <p:cNvPr id="3" name="Title 2">
            <a:extLst>
              <a:ext uri="{FF2B5EF4-FFF2-40B4-BE49-F238E27FC236}">
                <a16:creationId xmlns:a16="http://schemas.microsoft.com/office/drawing/2014/main" id="{089D1F61-B74F-FD46-9676-D29849AD2577}"/>
              </a:ext>
            </a:extLst>
          </p:cNvPr>
          <p:cNvSpPr>
            <a:spLocks noGrp="1"/>
          </p:cNvSpPr>
          <p:nvPr>
            <p:ph type="ctrTitle"/>
          </p:nvPr>
        </p:nvSpPr>
        <p:spPr>
          <a:xfrm>
            <a:off x="439339" y="565150"/>
            <a:ext cx="8265319" cy="874712"/>
          </a:xfrm>
        </p:spPr>
        <p:txBody>
          <a:bodyPr>
            <a:normAutofit/>
          </a:bodyPr>
          <a:lstStyle/>
          <a:p>
            <a:r>
              <a:rPr lang="en-US" sz="2000" i="1" dirty="0"/>
              <a:t>ECE 461: Software Engineering</a:t>
            </a:r>
          </a:p>
        </p:txBody>
      </p:sp>
      <p:sp>
        <p:nvSpPr>
          <p:cNvPr id="6" name="Slide Number Placeholder 5">
            <a:extLst>
              <a:ext uri="{FF2B5EF4-FFF2-40B4-BE49-F238E27FC236}">
                <a16:creationId xmlns:a16="http://schemas.microsoft.com/office/drawing/2014/main" id="{97B22D48-A395-DA43-BD56-73B6F8BCBF40}"/>
              </a:ext>
            </a:extLst>
          </p:cNvPr>
          <p:cNvSpPr>
            <a:spLocks noGrp="1"/>
          </p:cNvSpPr>
          <p:nvPr>
            <p:ph type="sldNum" sz="quarter" idx="4"/>
          </p:nvPr>
        </p:nvSpPr>
        <p:spPr/>
        <p:txBody>
          <a:bodyPr/>
          <a:lstStyle/>
          <a:p>
            <a:fld id="{B7EB45DA-9A0D-DC49-8E02-F30A5DDC21C3}" type="slidenum">
              <a:rPr/>
              <a:t>1</a:t>
            </a:fld>
            <a:endParaRPr lang="en-US"/>
          </a:p>
        </p:txBody>
      </p:sp>
    </p:spTree>
    <p:extLst>
      <p:ext uri="{BB962C8B-B14F-4D97-AF65-F5344CB8AC3E}">
        <p14:creationId xmlns:p14="http://schemas.microsoft.com/office/powerpoint/2010/main" val="68115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88A84A-C6DE-7B3B-DA3C-B6D291A25830}"/>
              </a:ext>
            </a:extLst>
          </p:cNvPr>
          <p:cNvSpPr>
            <a:spLocks noGrp="1"/>
          </p:cNvSpPr>
          <p:nvPr>
            <p:ph type="title"/>
          </p:nvPr>
        </p:nvSpPr>
        <p:spPr/>
        <p:txBody>
          <a:bodyPr>
            <a:normAutofit fontScale="90000"/>
          </a:bodyPr>
          <a:lstStyle/>
          <a:p>
            <a:r>
              <a:rPr lang="en-US" dirty="0"/>
              <a:t>A team coordinates engineering capability</a:t>
            </a:r>
          </a:p>
        </p:txBody>
      </p:sp>
      <p:sp>
        <p:nvSpPr>
          <p:cNvPr id="3" name="Slide Number Placeholder 2">
            <a:extLst>
              <a:ext uri="{FF2B5EF4-FFF2-40B4-BE49-F238E27FC236}">
                <a16:creationId xmlns:a16="http://schemas.microsoft.com/office/drawing/2014/main" id="{380B0213-20E8-EE4A-A1A0-E5FB6D593B8B}"/>
              </a:ext>
            </a:extLst>
          </p:cNvPr>
          <p:cNvSpPr>
            <a:spLocks noGrp="1"/>
          </p:cNvSpPr>
          <p:nvPr>
            <p:ph type="sldNum" sz="quarter" idx="4"/>
          </p:nvPr>
        </p:nvSpPr>
        <p:spPr/>
        <p:txBody>
          <a:bodyPr/>
          <a:lstStyle/>
          <a:p>
            <a:fld id="{B7EB45DA-9A0D-DC49-8E02-F30A5DDC21C3}" type="slidenum">
              <a:rPr lang="en-US"/>
              <a:t>2</a:t>
            </a:fld>
            <a:endParaRPr lang="en-US"/>
          </a:p>
        </p:txBody>
      </p:sp>
      <p:sp>
        <p:nvSpPr>
          <p:cNvPr id="30" name="Individual capability"/>
          <p:cNvSpPr/>
          <p:nvPr/>
        </p:nvSpPr>
        <p:spPr>
          <a:xfrm>
            <a:off x="330200" y="2717800"/>
            <a:ext cx="2235200" cy="965200"/>
          </a:xfrm>
          <a:prstGeom prst="roundRect">
            <a:avLst/>
          </a:prstGeom>
          <a:solidFill>
            <a:srgbClr val="FFFFFF"/>
          </a:solidFill>
          <a:ln w="19050">
            <a:solidFill>
              <a:srgbClr val="555960"/>
            </a:solidFill>
          </a:ln>
        </p:spPr>
        <p:txBody>
          <a:bodyPr wrap="square" anchor="ctr">
            <a:noAutofit/>
          </a:bodyPr>
          <a:lstStyle/>
          <a:p>
            <a:pPr algn="ctr">
              <a:buNone/>
            </a:pPr>
            <a:r>
              <a:rPr lang="en-US" sz="2200" b="1" dirty="0">
                <a:solidFill>
                  <a:srgbClr val="000000"/>
                </a:solidFill>
              </a:rPr>
              <a:t>Individual capability</a:t>
            </a:r>
          </a:p>
        </p:txBody>
      </p:sp>
      <p:sp>
        <p:nvSpPr>
          <p:cNvPr id="31" name="Arrow 1"/>
          <p:cNvSpPr/>
          <p:nvPr/>
        </p:nvSpPr>
        <p:spPr>
          <a:xfrm>
            <a:off x="2641600" y="3048000"/>
            <a:ext cx="660400" cy="304800"/>
          </a:xfrm>
          <a:prstGeom prst="rightArrow">
            <a:avLst/>
          </a:prstGeom>
          <a:solidFill>
            <a:srgbClr val="555960"/>
          </a:solidFill>
          <a:ln>
            <a:noFill/>
          </a:ln>
        </p:spPr>
        <p:txBody>
          <a:bodyPr wrap="square" anchor="ctr">
            <a:noAutofit/>
          </a:bodyPr>
          <a:lstStyle/>
          <a:p>
            <a:pPr algn="ctr">
              <a:buNone/>
            </a:pPr>
            <a:endParaRPr lang="en-US" sz="1200" dirty="0">
              <a:solidFill>
                <a:srgbClr val="FFFFFF"/>
              </a:solidFill>
            </a:endParaRPr>
          </a:p>
        </p:txBody>
      </p:sp>
      <p:sp>
        <p:nvSpPr>
          <p:cNvPr id="32" name="Interactions"/>
          <p:cNvSpPr/>
          <p:nvPr/>
        </p:nvSpPr>
        <p:spPr>
          <a:xfrm>
            <a:off x="3378200" y="2565400"/>
            <a:ext cx="2387600" cy="1270000"/>
          </a:xfrm>
          <a:prstGeom prst="roundRect">
            <a:avLst/>
          </a:prstGeom>
          <a:solidFill>
            <a:srgbClr val="8E6F3E"/>
          </a:solidFill>
          <a:ln w="19050">
            <a:solidFill>
              <a:srgbClr val="8E6F3E"/>
            </a:solidFill>
          </a:ln>
        </p:spPr>
        <p:txBody>
          <a:bodyPr wrap="square" lIns="63500" rIns="63500" anchor="ctr">
            <a:noAutofit/>
          </a:bodyPr>
          <a:lstStyle/>
          <a:p>
            <a:pPr algn="ctr">
              <a:buNone/>
            </a:pPr>
            <a:r>
              <a:rPr lang="en-US" sz="2400" b="1" dirty="0">
                <a:solidFill>
                  <a:srgbClr val="FFFFFF"/>
                </a:solidFill>
              </a:rPr>
              <a:t>Interactions</a:t>
            </a:r>
          </a:p>
        </p:txBody>
      </p:sp>
      <p:sp>
        <p:nvSpPr>
          <p:cNvPr id="33" name="Arrow 2"/>
          <p:cNvSpPr/>
          <p:nvPr/>
        </p:nvSpPr>
        <p:spPr>
          <a:xfrm>
            <a:off x="5842000" y="3048000"/>
            <a:ext cx="660400" cy="304800"/>
          </a:xfrm>
          <a:prstGeom prst="rightArrow">
            <a:avLst/>
          </a:prstGeom>
          <a:solidFill>
            <a:srgbClr val="555960"/>
          </a:solidFill>
          <a:ln>
            <a:noFill/>
          </a:ln>
        </p:spPr>
        <p:txBody>
          <a:bodyPr wrap="square" lIns="63500" rIns="63500" anchor="ctr">
            <a:noAutofit/>
          </a:bodyPr>
          <a:lstStyle/>
          <a:p>
            <a:pPr algn="ctr">
              <a:buNone/>
            </a:pPr>
            <a:endParaRPr lang="en-US" sz="1200" dirty="0">
              <a:solidFill>
                <a:srgbClr val="FFFFFF"/>
              </a:solidFill>
            </a:endParaRPr>
          </a:p>
        </p:txBody>
      </p:sp>
      <p:sp>
        <p:nvSpPr>
          <p:cNvPr id="34" name="Combined capability"/>
          <p:cNvSpPr/>
          <p:nvPr/>
        </p:nvSpPr>
        <p:spPr>
          <a:xfrm>
            <a:off x="6578600" y="2717800"/>
            <a:ext cx="2235200" cy="965200"/>
          </a:xfrm>
          <a:prstGeom prst="roundRect">
            <a:avLst/>
          </a:prstGeom>
          <a:solidFill>
            <a:srgbClr val="FFFFFF"/>
          </a:solidFill>
          <a:ln w="19050">
            <a:solidFill>
              <a:srgbClr val="555960"/>
            </a:solidFill>
          </a:ln>
        </p:spPr>
        <p:txBody>
          <a:bodyPr wrap="square" lIns="63500" rIns="63500" anchor="ctr">
            <a:noAutofit/>
          </a:bodyPr>
          <a:lstStyle/>
          <a:p>
            <a:pPr algn="ctr">
              <a:buNone/>
            </a:pPr>
            <a:r>
              <a:rPr lang="en-US" sz="2200" b="1" dirty="0">
                <a:solidFill>
                  <a:srgbClr val="000000"/>
                </a:solidFill>
              </a:rPr>
              <a:t>Combined capability</a:t>
            </a:r>
          </a:p>
        </p:txBody>
      </p:sp>
      <p:sp>
        <p:nvSpPr>
          <p:cNvPr id="35" name="Structures and mechanisms"/>
          <p:cNvSpPr/>
          <p:nvPr/>
        </p:nvSpPr>
        <p:spPr>
          <a:xfrm>
            <a:off x="3175000" y="1168400"/>
            <a:ext cx="2794000" cy="762000"/>
          </a:xfrm>
          <a:prstGeom prst="roundRect">
            <a:avLst/>
          </a:prstGeom>
          <a:solidFill>
            <a:srgbClr val="C9B991"/>
          </a:solidFill>
          <a:ln w="19050">
            <a:solidFill>
              <a:srgbClr val="C9B991"/>
            </a:solidFill>
          </a:ln>
        </p:spPr>
        <p:txBody>
          <a:bodyPr wrap="square" lIns="63500" rIns="63500" anchor="ctr">
            <a:noAutofit/>
          </a:bodyPr>
          <a:lstStyle/>
          <a:p>
            <a:pPr algn="ctr">
              <a:buNone/>
            </a:pPr>
            <a:r>
              <a:rPr lang="en-US" sz="2000" b="1" dirty="0">
                <a:solidFill>
                  <a:srgbClr val="000000"/>
                </a:solidFill>
              </a:rPr>
              <a:t>Structures and mechanisms</a:t>
            </a:r>
          </a:p>
        </p:txBody>
      </p:sp>
      <p:sp>
        <p:nvSpPr>
          <p:cNvPr id="36" name="Arrow into interactions"/>
          <p:cNvSpPr/>
          <p:nvPr/>
        </p:nvSpPr>
        <p:spPr>
          <a:xfrm>
            <a:off x="4419600" y="1981200"/>
            <a:ext cx="304800" cy="533400"/>
          </a:xfrm>
          <a:prstGeom prst="downArrow">
            <a:avLst/>
          </a:prstGeom>
          <a:solidFill>
            <a:srgbClr val="555960"/>
          </a:solidFill>
          <a:ln>
            <a:noFill/>
          </a:ln>
        </p:spPr>
        <p:txBody>
          <a:bodyPr wrap="square" lIns="63500" rIns="63500" anchor="ctr">
            <a:noAutofit/>
          </a:bodyPr>
          <a:lstStyle/>
          <a:p>
            <a:pPr algn="ctr">
              <a:buNone/>
            </a:pPr>
            <a:endParaRPr lang="en-US" sz="1200" dirty="0">
              <a:solidFill>
                <a:srgbClr val="FFFFFF"/>
              </a:solidFill>
            </a:endParaRPr>
          </a:p>
        </p:txBody>
      </p:sp>
      <p:sp>
        <p:nvSpPr>
          <p:cNvPr id="37" name="Arrow out to cost"/>
          <p:cNvSpPr/>
          <p:nvPr/>
        </p:nvSpPr>
        <p:spPr>
          <a:xfrm>
            <a:off x="4419600" y="3886200"/>
            <a:ext cx="304800" cy="533400"/>
          </a:xfrm>
          <a:prstGeom prst="downArrow">
            <a:avLst/>
          </a:prstGeom>
          <a:solidFill>
            <a:srgbClr val="555960"/>
          </a:solidFill>
          <a:ln>
            <a:noFill/>
          </a:ln>
        </p:spPr>
        <p:txBody>
          <a:bodyPr wrap="square" lIns="63500" rIns="63500" anchor="ctr">
            <a:noAutofit/>
          </a:bodyPr>
          <a:lstStyle/>
          <a:p>
            <a:pPr algn="ctr">
              <a:buNone/>
            </a:pPr>
            <a:endParaRPr lang="en-US" sz="1200" dirty="0">
              <a:solidFill>
                <a:srgbClr val="FFFFFF"/>
              </a:solidFill>
            </a:endParaRPr>
          </a:p>
        </p:txBody>
      </p:sp>
      <p:sp>
        <p:nvSpPr>
          <p:cNvPr id="38" name="Coordination cost"/>
          <p:cNvSpPr/>
          <p:nvPr/>
        </p:nvSpPr>
        <p:spPr>
          <a:xfrm>
            <a:off x="3175000" y="4470400"/>
            <a:ext cx="2794000" cy="762000"/>
          </a:xfrm>
          <a:prstGeom prst="roundRect">
            <a:avLst/>
          </a:prstGeom>
          <a:solidFill>
            <a:srgbClr val="C9B991"/>
          </a:solidFill>
          <a:ln w="19050">
            <a:solidFill>
              <a:srgbClr val="C9B991"/>
            </a:solidFill>
          </a:ln>
        </p:spPr>
        <p:txBody>
          <a:bodyPr wrap="square" lIns="63500" rIns="63500" anchor="ctr">
            <a:noAutofit/>
          </a:bodyPr>
          <a:lstStyle/>
          <a:p>
            <a:pPr algn="ctr">
              <a:buNone/>
            </a:pPr>
            <a:r>
              <a:rPr lang="en-US" sz="2000" b="1" dirty="0">
                <a:solidFill>
                  <a:srgbClr val="000000"/>
                </a:solidFill>
              </a:rPr>
              <a:t>Coordination costs</a:t>
            </a:r>
          </a:p>
        </p:txBody>
      </p:sp>
      <p:sp>
        <p:nvSpPr>
          <p:cNvPr id="39" name="Note act"/>
          <p:cNvSpPr/>
          <p:nvPr/>
        </p:nvSpPr>
        <p:spPr>
          <a:xfrm>
            <a:off x="6070600" y="1219200"/>
            <a:ext cx="2743200" cy="660400"/>
          </a:xfrm>
          <a:prstGeom prst="rect">
            <a:avLst/>
          </a:prstGeom>
          <a:noFill/>
          <a:ln>
            <a:noFill/>
          </a:ln>
        </p:spPr>
        <p:txBody>
          <a:bodyPr wrap="square" lIns="63500" rIns="63500" anchor="ctr">
            <a:noAutofit/>
          </a:bodyPr>
          <a:lstStyle/>
          <a:p>
            <a:pPr algn="ctr">
              <a:buNone/>
            </a:pPr>
            <a:r>
              <a:rPr lang="en-US" sz="2000" b="0" dirty="0">
                <a:solidFill>
                  <a:srgbClr val="555960"/>
                </a:solidFill>
              </a:rPr>
              <a:t>shape interactions</a:t>
            </a:r>
          </a:p>
        </p:txBody>
      </p:sp>
      <p:sp>
        <p:nvSpPr>
          <p:cNvPr id="40" name="Note emerges"/>
          <p:cNvSpPr/>
          <p:nvPr/>
        </p:nvSpPr>
        <p:spPr>
          <a:xfrm>
            <a:off x="6070600" y="4470400"/>
            <a:ext cx="2743200" cy="660400"/>
          </a:xfrm>
          <a:prstGeom prst="rect">
            <a:avLst/>
          </a:prstGeom>
          <a:noFill/>
          <a:ln>
            <a:noFill/>
          </a:ln>
        </p:spPr>
        <p:txBody>
          <a:bodyPr wrap="square" lIns="63500" rIns="63500" anchor="ctr">
            <a:noAutofit/>
          </a:bodyPr>
          <a:lstStyle/>
          <a:p>
            <a:pPr algn="ctr">
              <a:buNone/>
            </a:pPr>
            <a:r>
              <a:rPr lang="en-US" sz="2000" b="0" dirty="0">
                <a:solidFill>
                  <a:srgbClr val="555960"/>
                </a:solidFill>
              </a:rPr>
              <a:t>emerge from interactions</a:t>
            </a:r>
          </a:p>
        </p:txBody>
      </p:sp>
      <p:sp>
        <p:nvSpPr>
          <p:cNvPr id="2" name="TextBox 1">
            <a:extLst>
              <a:ext uri="{FF2B5EF4-FFF2-40B4-BE49-F238E27FC236}">
                <a16:creationId xmlns:a16="http://schemas.microsoft.com/office/drawing/2014/main" id="{4121A449-45F9-9B40-818B-BF44D050B6BC}"/>
              </a:ext>
            </a:extLst>
          </p:cNvPr>
          <p:cNvSpPr txBox="1"/>
          <p:nvPr/>
        </p:nvSpPr>
        <p:spPr>
          <a:xfrm>
            <a:off x="279400" y="5537200"/>
            <a:ext cx="8559800" cy="762000"/>
          </a:xfrm>
          <a:prstGeom prst="rect">
            <a:avLst/>
          </a:prstGeom>
          <a:noFill/>
        </p:spPr>
        <p:txBody>
          <a:bodyPr vertOverflow="overflow" vert="horz" wrap="square" rtlCol="0" anchor="t">
            <a:spAutoFit/>
          </a:bodyPr>
          <a:lstStyle/>
          <a:p>
            <a:pPr algn="ctr">
              <a:buNone/>
            </a:pPr>
            <a:r>
              <a:rPr lang="en-US" sz="2000" b="1" dirty="0"/>
              <a:t>Today:</a:t>
            </a:r>
            <a:r>
              <a:rPr lang="en-US" sz="2000" dirty="0"/>
              <a:t>  Individual capability · Team capability · Amplifying capability · Engineering coordination · Applying the model</a:t>
            </a:r>
          </a:p>
        </p:txBody>
      </p:sp>
    </p:spTree>
    <p:extLst>
      <p:ext uri="{BB962C8B-B14F-4D97-AF65-F5344CB8AC3E}">
        <p14:creationId xmlns:p14="http://schemas.microsoft.com/office/powerpoint/2010/main" val="972179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13A724-5376-54B7-F5DB-7AC567AADCBB}"/>
              </a:ext>
            </a:extLst>
          </p:cNvPr>
          <p:cNvSpPr>
            <a:spLocks noGrp="1"/>
          </p:cNvSpPr>
          <p:nvPr>
            <p:ph idx="1"/>
          </p:nvPr>
        </p:nvSpPr>
        <p:spPr/>
        <p:txBody>
          <a:bodyPr>
            <a:normAutofit/>
          </a:bodyPr>
          <a:lstStyle/>
          <a:p>
            <a:r>
              <a:rPr lang="en-US" sz="2600" i="1"/>
              <a:t>If interactions impose costs, why not use one engineer?</a:t>
            </a:r>
          </a:p>
        </p:txBody>
      </p:sp>
      <p:sp>
        <p:nvSpPr>
          <p:cNvPr id="3" name="Title 2">
            <a:extLst>
              <a:ext uri="{FF2B5EF4-FFF2-40B4-BE49-F238E27FC236}">
                <a16:creationId xmlns:a16="http://schemas.microsoft.com/office/drawing/2014/main" id="{8D57D970-83CA-ABCE-ED40-9FF697795C5E}"/>
              </a:ext>
            </a:extLst>
          </p:cNvPr>
          <p:cNvSpPr>
            <a:spLocks noGrp="1"/>
          </p:cNvSpPr>
          <p:nvPr>
            <p:ph type="title"/>
          </p:nvPr>
        </p:nvSpPr>
        <p:spPr/>
        <p:txBody>
          <a:bodyPr>
            <a:normAutofit fontScale="90000"/>
          </a:bodyPr>
          <a:lstStyle/>
          <a:p>
            <a:r>
              <a:rPr lang="en-US"/>
              <a:t>Why do we need teams?</a:t>
            </a:r>
          </a:p>
        </p:txBody>
      </p:sp>
      <p:sp>
        <p:nvSpPr>
          <p:cNvPr id="4" name="Slide Number Placeholder 3">
            <a:extLst>
              <a:ext uri="{FF2B5EF4-FFF2-40B4-BE49-F238E27FC236}">
                <a16:creationId xmlns:a16="http://schemas.microsoft.com/office/drawing/2014/main" id="{EFFA5120-B168-2ABA-E454-F721A6410B64}"/>
              </a:ext>
            </a:extLst>
          </p:cNvPr>
          <p:cNvSpPr>
            <a:spLocks noGrp="1"/>
          </p:cNvSpPr>
          <p:nvPr>
            <p:ph type="sldNum" sz="quarter" idx="4"/>
          </p:nvPr>
        </p:nvSpPr>
        <p:spPr/>
        <p:txBody>
          <a:bodyPr/>
          <a:lstStyle/>
          <a:p>
            <a:fld id="{B7EB45DA-9A0D-DC49-8E02-F30A5DDC21C3}" type="slidenum">
              <a:rPr lang="en-US" smtClean="0"/>
              <a:t>3</a:t>
            </a:fld>
            <a:endParaRPr lang="en-US"/>
          </a:p>
        </p:txBody>
      </p:sp>
    </p:spTree>
    <p:extLst>
      <p:ext uri="{BB962C8B-B14F-4D97-AF65-F5344CB8AC3E}">
        <p14:creationId xmlns:p14="http://schemas.microsoft.com/office/powerpoint/2010/main" val="3372332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41C7F-A4C8-7409-A3CC-9337C6BB1B6C}"/>
              </a:ext>
            </a:extLst>
          </p:cNvPr>
          <p:cNvSpPr>
            <a:spLocks noGrp="1"/>
          </p:cNvSpPr>
          <p:nvPr>
            <p:ph type="title"/>
          </p:nvPr>
        </p:nvSpPr>
        <p:spPr>
          <a:xfrm>
            <a:off x="685800" y="1676400"/>
            <a:ext cx="7772400" cy="2362200"/>
          </a:xfrm>
        </p:spPr>
        <p:txBody>
          <a:bodyPr>
            <a:normAutofit/>
          </a:bodyPr>
          <a:lstStyle/>
          <a:p>
            <a:r>
              <a:rPr lang="en-US" sz="8000" dirty="0"/>
              <a:t>1</a:t>
            </a:r>
            <a:br>
              <a:rPr lang="en-US" dirty="0"/>
            </a:br>
            <a:r>
              <a:rPr lang="en-US" dirty="0"/>
              <a:t>Individual capability</a:t>
            </a:r>
          </a:p>
        </p:txBody>
      </p:sp>
      <p:sp>
        <p:nvSpPr>
          <p:cNvPr id="3" name="Slide Number Placeholder 2">
            <a:extLst>
              <a:ext uri="{FF2B5EF4-FFF2-40B4-BE49-F238E27FC236}">
                <a16:creationId xmlns:a16="http://schemas.microsoft.com/office/drawing/2014/main" id="{D93738D0-2CDE-4869-6913-3C50B192A6C4}"/>
              </a:ext>
            </a:extLst>
          </p:cNvPr>
          <p:cNvSpPr>
            <a:spLocks noGrp="1"/>
          </p:cNvSpPr>
          <p:nvPr>
            <p:ph type="sldNum" sz="quarter" idx="4"/>
          </p:nvPr>
        </p:nvSpPr>
        <p:spPr/>
        <p:txBody>
          <a:bodyPr/>
          <a:lstStyle/>
          <a:p>
            <a:fld id="{B7EB45DA-9A0D-DC49-8E02-F30A5DDC21C3}" type="slidenum">
              <a:rPr lang="en-US"/>
              <a:t>4</a:t>
            </a:fld>
            <a:endParaRPr lang="en-US"/>
          </a:p>
        </p:txBody>
      </p:sp>
      <p:sp>
        <p:nvSpPr>
          <p:cNvPr id="4" name="Section question">
            <a:extLst>
              <a:ext uri="{FF2B5EF4-FFF2-40B4-BE49-F238E27FC236}">
                <a16:creationId xmlns:a16="http://schemas.microsoft.com/office/drawing/2014/main" id="{72F63150-D742-E048-81F3-FDDCB02F3FD4}"/>
              </a:ext>
            </a:extLst>
          </p:cNvPr>
          <p:cNvSpPr txBox="1"/>
          <p:nvPr/>
        </p:nvSpPr>
        <p:spPr>
          <a:xfrm>
            <a:off x="685800" y="4267200"/>
            <a:ext cx="7772400" cy="1219200"/>
          </a:xfrm>
          <a:prstGeom prst="rect">
            <a:avLst/>
          </a:prstGeom>
          <a:noFill/>
        </p:spPr>
        <p:txBody>
          <a:bodyPr vertOverflow="overflow" vert="horz" wrap="square" rtlCol="0" anchor="t">
            <a:spAutoFit/>
          </a:bodyPr>
          <a:lstStyle/>
          <a:p>
            <a:pPr algn="ctr"/>
            <a:r>
              <a:rPr lang="en-US" sz="2400" i="1"/>
              <a:t>What makes an engineer effective on a large engineering effort?</a:t>
            </a:r>
          </a:p>
        </p:txBody>
      </p:sp>
    </p:spTree>
    <p:extLst>
      <p:ext uri="{BB962C8B-B14F-4D97-AF65-F5344CB8AC3E}">
        <p14:creationId xmlns:p14="http://schemas.microsoft.com/office/powerpoint/2010/main" val="4067479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40A1C2-4C68-6FF7-0332-5B08FAD879ED}"/>
              </a:ext>
            </a:extLst>
          </p:cNvPr>
          <p:cNvSpPr>
            <a:spLocks noGrp="1"/>
          </p:cNvSpPr>
          <p:nvPr>
            <p:ph type="title"/>
          </p:nvPr>
        </p:nvSpPr>
        <p:spPr/>
        <p:txBody>
          <a:bodyPr>
            <a:normAutofit fontScale="90000"/>
          </a:bodyPr>
          <a:lstStyle/>
          <a:p>
            <a:r>
              <a:rPr lang="en-US" sz="2400" dirty="0"/>
              <a:t>Effective engineers extend beyond implementation</a:t>
            </a:r>
          </a:p>
        </p:txBody>
      </p:sp>
      <p:sp>
        <p:nvSpPr>
          <p:cNvPr id="3" name="Slide Number Placeholder 2">
            <a:extLst>
              <a:ext uri="{FF2B5EF4-FFF2-40B4-BE49-F238E27FC236}">
                <a16:creationId xmlns:a16="http://schemas.microsoft.com/office/drawing/2014/main" id="{2418044C-12EC-C397-D70F-AF684587D661}"/>
              </a:ext>
            </a:extLst>
          </p:cNvPr>
          <p:cNvSpPr>
            <a:spLocks noGrp="1"/>
          </p:cNvSpPr>
          <p:nvPr>
            <p:ph type="sldNum" sz="quarter" idx="4"/>
          </p:nvPr>
        </p:nvSpPr>
        <p:spPr/>
        <p:txBody>
          <a:bodyPr/>
          <a:lstStyle/>
          <a:p>
            <a:fld id="{B7EB45DA-9A0D-DC49-8E02-F30A5DDC21C3}" type="slidenum">
              <a:rPr lang="en-US"/>
              <a:t>5</a:t>
            </a:fld>
            <a:endParaRPr lang="en-US"/>
          </a:p>
        </p:txBody>
      </p:sp>
      <p:sp>
        <p:nvSpPr>
          <p:cNvPr id="2" name="TextBox 1">
            <a:extLst>
              <a:ext uri="{FF2B5EF4-FFF2-40B4-BE49-F238E27FC236}">
                <a16:creationId xmlns:a16="http://schemas.microsoft.com/office/drawing/2014/main" id="{B0F8037A-5531-659D-69AE-57ACB807AE50}"/>
              </a:ext>
            </a:extLst>
          </p:cNvPr>
          <p:cNvSpPr txBox="1"/>
          <p:nvPr/>
        </p:nvSpPr>
        <p:spPr>
          <a:xfrm>
            <a:off x="381000" y="5715000"/>
            <a:ext cx="8191500" cy="635000"/>
          </a:xfrm>
          <a:prstGeom prst="rect">
            <a:avLst/>
          </a:prstGeom>
          <a:noFill/>
        </p:spPr>
        <p:txBody>
          <a:bodyPr wrap="square" rtlCol="0">
            <a:noAutofit/>
          </a:bodyPr>
          <a:lstStyle/>
          <a:p>
            <a:pPr>
              <a:buNone/>
            </a:pPr>
            <a:r>
              <a:rPr lang="en-US" sz="2000" i="1"/>
              <a:t>Clusters adapted from Li, Ko &amp; Zhu, “What makes a great software engineer?”, ICSE 2015</a:t>
            </a:r>
            <a:endParaRPr lang="en-US" sz="2000" i="1" dirty="0"/>
          </a:p>
        </p:txBody>
      </p:sp>
      <p:sp>
        <p:nvSpPr>
          <p:cNvPr id="8" name="TextBox 7">
            <a:extLst>
              <a:ext uri="{FF2B5EF4-FFF2-40B4-BE49-F238E27FC236}">
                <a16:creationId xmlns:a16="http://schemas.microsoft.com/office/drawing/2014/main" id="{E45ECD29-FAF7-0949-BBDF-6607817C1464}"/>
              </a:ext>
            </a:extLst>
          </p:cNvPr>
          <p:cNvSpPr txBox="1"/>
          <p:nvPr/>
        </p:nvSpPr>
        <p:spPr>
          <a:xfrm>
            <a:off x="381000" y="1270000"/>
            <a:ext cx="3886200" cy="533400"/>
          </a:xfrm>
          <a:prstGeom prst="rect">
            <a:avLst/>
          </a:prstGeom>
          <a:noFill/>
        </p:spPr>
        <p:txBody>
          <a:bodyPr vertOverflow="overflow" vert="horz" wrap="square" rtlCol="0" anchor="t">
            <a:spAutoFit/>
          </a:bodyPr>
          <a:lstStyle/>
          <a:p>
            <a:pPr algn="l"/>
            <a:r>
              <a:rPr lang="en-US" sz="2800" b="1">
                <a:solidFill>
                  <a:srgbClr val="8E6F3E"/>
                </a:solidFill>
              </a:rPr>
              <a:t>Learn &amp; adapt</a:t>
            </a:r>
          </a:p>
        </p:txBody>
      </p:sp>
      <p:sp>
        <p:nvSpPr>
          <p:cNvPr id="9" name="TextBox 8">
            <a:extLst>
              <a:ext uri="{FF2B5EF4-FFF2-40B4-BE49-F238E27FC236}">
                <a16:creationId xmlns:a16="http://schemas.microsoft.com/office/drawing/2014/main" id="{22A2D737-B137-CE42-8518-538E13CC8250}"/>
              </a:ext>
            </a:extLst>
          </p:cNvPr>
          <p:cNvSpPr txBox="1"/>
          <p:nvPr/>
        </p:nvSpPr>
        <p:spPr>
          <a:xfrm>
            <a:off x="381000" y="1854200"/>
            <a:ext cx="3886200" cy="1524000"/>
          </a:xfrm>
          <a:prstGeom prst="rect">
            <a:avLst/>
          </a:prstGeom>
          <a:noFill/>
        </p:spPr>
        <p:txBody>
          <a:bodyPr vertOverflow="overflow" vert="horz" wrap="square" rtlCol="0" anchor="t">
            <a:spAutoFit/>
          </a:bodyPr>
          <a:lstStyle/>
          <a:p>
            <a:pPr algn="l">
              <a:buNone/>
            </a:pPr>
            <a:r>
              <a:rPr lang="en-US" sz="2000" dirty="0"/>
              <a:t>Learns unfamiliar domains quickly and updates their model when evidence changes</a:t>
            </a:r>
          </a:p>
        </p:txBody>
      </p:sp>
      <p:sp>
        <p:nvSpPr>
          <p:cNvPr id="12" name="TextBox 11">
            <a:extLst>
              <a:ext uri="{FF2B5EF4-FFF2-40B4-BE49-F238E27FC236}">
                <a16:creationId xmlns:a16="http://schemas.microsoft.com/office/drawing/2014/main" id="{B3EFAF06-4210-C948-8F4A-42A807296F3F}"/>
              </a:ext>
            </a:extLst>
          </p:cNvPr>
          <p:cNvSpPr txBox="1"/>
          <p:nvPr/>
        </p:nvSpPr>
        <p:spPr>
          <a:xfrm>
            <a:off x="4724400" y="1270000"/>
            <a:ext cx="3886200" cy="533400"/>
          </a:xfrm>
          <a:prstGeom prst="rect">
            <a:avLst/>
          </a:prstGeom>
          <a:noFill/>
        </p:spPr>
        <p:txBody>
          <a:bodyPr vertOverflow="overflow" vert="horz" wrap="square" rtlCol="0" anchor="t">
            <a:spAutoFit/>
          </a:bodyPr>
          <a:lstStyle/>
          <a:p>
            <a:pPr algn="l"/>
            <a:r>
              <a:rPr lang="en-US" sz="2800" b="1">
                <a:solidFill>
                  <a:srgbClr val="8E6F3E"/>
                </a:solidFill>
              </a:rPr>
              <a:t>Exercise judgment</a:t>
            </a:r>
          </a:p>
        </p:txBody>
      </p:sp>
      <p:sp>
        <p:nvSpPr>
          <p:cNvPr id="13" name="TextBox 12">
            <a:extLst>
              <a:ext uri="{FF2B5EF4-FFF2-40B4-BE49-F238E27FC236}">
                <a16:creationId xmlns:a16="http://schemas.microsoft.com/office/drawing/2014/main" id="{7B4073FE-6A90-6B47-8211-07B57C2FFBE1}"/>
              </a:ext>
            </a:extLst>
          </p:cNvPr>
          <p:cNvSpPr txBox="1"/>
          <p:nvPr/>
        </p:nvSpPr>
        <p:spPr>
          <a:xfrm>
            <a:off x="4724400" y="1854200"/>
            <a:ext cx="3886200" cy="1524000"/>
          </a:xfrm>
          <a:prstGeom prst="rect">
            <a:avLst/>
          </a:prstGeom>
          <a:noFill/>
        </p:spPr>
        <p:txBody>
          <a:bodyPr vertOverflow="overflow" vert="horz" wrap="square" rtlCol="0" anchor="t">
            <a:spAutoFit/>
          </a:bodyPr>
          <a:lstStyle/>
          <a:p>
            <a:pPr algn="l">
              <a:buNone/>
            </a:pPr>
            <a:r>
              <a:rPr lang="en-US" sz="2000" dirty="0"/>
              <a:t>Makes defensible decisions under incomplete information and knows which decisions are reversible</a:t>
            </a:r>
          </a:p>
        </p:txBody>
      </p:sp>
      <p:sp>
        <p:nvSpPr>
          <p:cNvPr id="14" name="TextBox 13">
            <a:extLst>
              <a:ext uri="{FF2B5EF4-FFF2-40B4-BE49-F238E27FC236}">
                <a16:creationId xmlns:a16="http://schemas.microsoft.com/office/drawing/2014/main" id="{1238E269-0A38-C248-A90E-677F467EC831}"/>
              </a:ext>
            </a:extLst>
          </p:cNvPr>
          <p:cNvSpPr txBox="1"/>
          <p:nvPr/>
        </p:nvSpPr>
        <p:spPr>
          <a:xfrm>
            <a:off x="381000" y="3454400"/>
            <a:ext cx="3886200" cy="533400"/>
          </a:xfrm>
          <a:prstGeom prst="rect">
            <a:avLst/>
          </a:prstGeom>
          <a:noFill/>
        </p:spPr>
        <p:txBody>
          <a:bodyPr vertOverflow="overflow" vert="horz" wrap="square" rtlCol="0" anchor="t">
            <a:spAutoFit/>
          </a:bodyPr>
          <a:lstStyle/>
          <a:p>
            <a:pPr algn="l"/>
            <a:r>
              <a:rPr lang="en-US" sz="2800" b="1">
                <a:solidFill>
                  <a:srgbClr val="8E6F3E"/>
                </a:solidFill>
              </a:rPr>
              <a:t>Understand the system</a:t>
            </a:r>
          </a:p>
        </p:txBody>
      </p:sp>
      <p:sp>
        <p:nvSpPr>
          <p:cNvPr id="15" name="TextBox 14">
            <a:extLst>
              <a:ext uri="{FF2B5EF4-FFF2-40B4-BE49-F238E27FC236}">
                <a16:creationId xmlns:a16="http://schemas.microsoft.com/office/drawing/2014/main" id="{C4879D80-C6FD-0644-ABB3-DCE7D010299A}"/>
              </a:ext>
            </a:extLst>
          </p:cNvPr>
          <p:cNvSpPr txBox="1"/>
          <p:nvPr/>
        </p:nvSpPr>
        <p:spPr>
          <a:xfrm>
            <a:off x="381000" y="4038600"/>
            <a:ext cx="3886200" cy="1524000"/>
          </a:xfrm>
          <a:prstGeom prst="rect">
            <a:avLst/>
          </a:prstGeom>
          <a:noFill/>
        </p:spPr>
        <p:txBody>
          <a:bodyPr vertOverflow="overflow" vert="horz" wrap="square" rtlCol="0" anchor="t">
            <a:spAutoFit/>
          </a:bodyPr>
          <a:lstStyle/>
          <a:p>
            <a:pPr algn="l"/>
            <a:r>
              <a:rPr lang="en-US" sz="2000"/>
              <a:t>Reasons about the product and its consequences, not only the code in front of them</a:t>
            </a:r>
          </a:p>
        </p:txBody>
      </p:sp>
      <p:sp>
        <p:nvSpPr>
          <p:cNvPr id="16" name="TextBox 15">
            <a:extLst>
              <a:ext uri="{FF2B5EF4-FFF2-40B4-BE49-F238E27FC236}">
                <a16:creationId xmlns:a16="http://schemas.microsoft.com/office/drawing/2014/main" id="{253998C5-34BB-E648-8D0A-AAEBD4E0966E}"/>
              </a:ext>
            </a:extLst>
          </p:cNvPr>
          <p:cNvSpPr txBox="1"/>
          <p:nvPr/>
        </p:nvSpPr>
        <p:spPr>
          <a:xfrm>
            <a:off x="4724400" y="3454400"/>
            <a:ext cx="3886200" cy="533400"/>
          </a:xfrm>
          <a:prstGeom prst="rect">
            <a:avLst/>
          </a:prstGeom>
          <a:noFill/>
        </p:spPr>
        <p:txBody>
          <a:bodyPr vertOverflow="overflow" vert="horz" wrap="square" rtlCol="0" anchor="t">
            <a:spAutoFit/>
          </a:bodyPr>
          <a:lstStyle/>
          <a:p>
            <a:pPr algn="l"/>
            <a:r>
              <a:rPr lang="en-US" sz="2800" b="1">
                <a:solidFill>
                  <a:srgbClr val="8E6F3E"/>
                </a:solidFill>
              </a:rPr>
              <a:t>Enable others</a:t>
            </a:r>
          </a:p>
        </p:txBody>
      </p:sp>
      <p:sp>
        <p:nvSpPr>
          <p:cNvPr id="17" name="TextBox 16">
            <a:extLst>
              <a:ext uri="{FF2B5EF4-FFF2-40B4-BE49-F238E27FC236}">
                <a16:creationId xmlns:a16="http://schemas.microsoft.com/office/drawing/2014/main" id="{3850EFE0-B195-7A4D-8EAD-99A7F85D9DA3}"/>
              </a:ext>
            </a:extLst>
          </p:cNvPr>
          <p:cNvSpPr txBox="1"/>
          <p:nvPr/>
        </p:nvSpPr>
        <p:spPr>
          <a:xfrm>
            <a:off x="4724400" y="4038600"/>
            <a:ext cx="3886200" cy="1524000"/>
          </a:xfrm>
          <a:prstGeom prst="rect">
            <a:avLst/>
          </a:prstGeom>
          <a:noFill/>
        </p:spPr>
        <p:txBody>
          <a:bodyPr vertOverflow="overflow" vert="horz" wrap="square" rtlCol="0" anchor="t">
            <a:spAutoFit/>
          </a:bodyPr>
          <a:lstStyle/>
          <a:p>
            <a:pPr algn="l"/>
            <a:r>
              <a:rPr lang="en-US" sz="2000"/>
              <a:t>Raises what the people around them are able to do</a:t>
            </a:r>
          </a:p>
        </p:txBody>
      </p:sp>
    </p:spTree>
    <p:extLst>
      <p:ext uri="{BB962C8B-B14F-4D97-AF65-F5344CB8AC3E}">
        <p14:creationId xmlns:p14="http://schemas.microsoft.com/office/powerpoint/2010/main" val="1915085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2"/>
                                        </p:tgtEl>
                                        <p:attrNameLst>
                                          <p:attrName>style.opacity</p:attrName>
                                        </p:attrNameLst>
                                      </p:cBhvr>
                                      <p:to>
                                        <p:strVal val="0.5"/>
                                      </p:to>
                                    </p:set>
                                    <p:animEffect filter="image" prLst="opacity: 0.5">
                                      <p:cBhvr rctx="IE">
                                        <p:cTn id="7" dur="indefinite"/>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4B418A-A26F-A2B2-938B-6FD111B3504C}"/>
              </a:ext>
            </a:extLst>
          </p:cNvPr>
          <p:cNvSpPr>
            <a:spLocks noGrp="1"/>
          </p:cNvSpPr>
          <p:nvPr>
            <p:ph type="title"/>
          </p:nvPr>
        </p:nvSpPr>
        <p:spPr/>
        <p:txBody>
          <a:bodyPr>
            <a:noAutofit/>
          </a:bodyPr>
          <a:lstStyle/>
          <a:p>
            <a:r>
              <a:rPr lang="en-US" sz="2200"/>
              <a:t>Individual effectiveness becomes team effectiveness</a:t>
            </a:r>
          </a:p>
        </p:txBody>
      </p:sp>
      <p:sp>
        <p:nvSpPr>
          <p:cNvPr id="4" name="Slide Number Placeholder 3">
            <a:extLst>
              <a:ext uri="{FF2B5EF4-FFF2-40B4-BE49-F238E27FC236}">
                <a16:creationId xmlns:a16="http://schemas.microsoft.com/office/drawing/2014/main" id="{174A6AD6-3780-AE0C-791E-4313CB5CDE88}"/>
              </a:ext>
            </a:extLst>
          </p:cNvPr>
          <p:cNvSpPr>
            <a:spLocks noGrp="1"/>
          </p:cNvSpPr>
          <p:nvPr>
            <p:ph type="sldNum" sz="quarter" idx="4"/>
          </p:nvPr>
        </p:nvSpPr>
        <p:spPr/>
        <p:txBody>
          <a:bodyPr/>
          <a:lstStyle/>
          <a:p>
            <a:fld id="{B7EB45DA-9A0D-DC49-8E02-F30A5DDC21C3}" type="slidenum">
              <a:rPr lang="en-US" smtClean="0"/>
              <a:t>6</a:t>
            </a:fld>
            <a:endParaRPr lang="en-US"/>
          </a:p>
        </p:txBody>
      </p:sp>
      <p:sp>
        <p:nvSpPr>
          <p:cNvPr id="5" name="TextBox 4">
            <a:extLst>
              <a:ext uri="{FF2B5EF4-FFF2-40B4-BE49-F238E27FC236}">
                <a16:creationId xmlns:a16="http://schemas.microsoft.com/office/drawing/2014/main" id="{95963AF3-C033-624C-8E22-E92808F9C15C}"/>
              </a:ext>
            </a:extLst>
          </p:cNvPr>
          <p:cNvSpPr txBox="1"/>
          <p:nvPr/>
        </p:nvSpPr>
        <p:spPr>
          <a:xfrm>
            <a:off x="508000" y="965200"/>
            <a:ext cx="8128000" cy="889000"/>
          </a:xfrm>
          <a:prstGeom prst="rect">
            <a:avLst/>
          </a:prstGeom>
          <a:noFill/>
        </p:spPr>
        <p:txBody>
          <a:bodyPr vertOverflow="overflow" vert="horz" wrap="square" rtlCol="0" anchor="t">
            <a:spAutoFit/>
          </a:bodyPr>
          <a:lstStyle/>
          <a:p>
            <a:pPr algn="ctr">
              <a:buNone/>
            </a:pPr>
            <a:r>
              <a:rPr lang="en-US" sz="2000" b="0" dirty="0"/>
              <a:t>Creates shared context  ·  Enables others to succeed  ·  Creates a safe haven  ·  Honest and credible  ·  Knows the organization and its stakeholders</a:t>
            </a:r>
          </a:p>
        </p:txBody>
      </p:sp>
      <p:sp>
        <p:nvSpPr>
          <p:cNvPr id="6" name="TextBox 5">
            <a:extLst>
              <a:ext uri="{FF2B5EF4-FFF2-40B4-BE49-F238E27FC236}">
                <a16:creationId xmlns:a16="http://schemas.microsoft.com/office/drawing/2014/main" id="{24740DDD-03C4-5A46-B2BC-76161056C3C8}"/>
              </a:ext>
            </a:extLst>
          </p:cNvPr>
          <p:cNvSpPr txBox="1"/>
          <p:nvPr/>
        </p:nvSpPr>
        <p:spPr>
          <a:xfrm>
            <a:off x="381000" y="4724400"/>
            <a:ext cx="8382000" cy="1397000"/>
          </a:xfrm>
          <a:prstGeom prst="rect">
            <a:avLst/>
          </a:prstGeom>
          <a:noFill/>
        </p:spPr>
        <p:txBody>
          <a:bodyPr vertOverflow="overflow" vert="horz" wrap="square" rtlCol="0" anchor="t">
            <a:spAutoFit/>
          </a:bodyPr>
          <a:lstStyle/>
          <a:p>
            <a:pPr algn="ctr">
              <a:buNone/>
            </a:pPr>
            <a:r>
              <a:rPr lang="en-US" sz="3200" b="1" dirty="0"/>
              <a:t>A strong engineer increases the effectiveness of the system around them.</a:t>
            </a:r>
          </a:p>
        </p:txBody>
      </p:sp>
      <p:sp>
        <p:nvSpPr>
          <p:cNvPr id="40" name="Engineer"/>
          <p:cNvSpPr/>
          <p:nvPr/>
        </p:nvSpPr>
        <p:spPr>
          <a:xfrm>
            <a:off x="889000" y="2311400"/>
            <a:ext cx="1905000" cy="1905000"/>
          </a:xfrm>
          <a:prstGeom prst="ellipse">
            <a:avLst/>
          </a:prstGeom>
          <a:solidFill>
            <a:srgbClr val="8E6F3E"/>
          </a:solidFill>
          <a:ln w="19050">
            <a:solidFill>
              <a:srgbClr val="8E6F3E"/>
            </a:solidFill>
          </a:ln>
        </p:spPr>
        <p:txBody>
          <a:bodyPr wrap="square" lIns="72000" rIns="72000" anchor="ctr">
            <a:noAutofit/>
          </a:bodyPr>
          <a:lstStyle/>
          <a:p>
            <a:pPr algn="ctr">
              <a:buNone/>
            </a:pPr>
            <a:r>
              <a:rPr lang="en-US" sz="2200" b="1" dirty="0">
                <a:solidFill>
                  <a:srgbClr val="FFFFFF"/>
                </a:solidFill>
              </a:rPr>
              <a:t>One engineer</a:t>
            </a:r>
          </a:p>
        </p:txBody>
      </p:sp>
      <p:sp>
        <p:nvSpPr>
          <p:cNvPr id="41" name="Raises"/>
          <p:cNvSpPr/>
          <p:nvPr/>
        </p:nvSpPr>
        <p:spPr>
          <a:xfrm>
            <a:off x="2946400" y="3048000"/>
            <a:ext cx="838200" cy="431800"/>
          </a:xfrm>
          <a:prstGeom prst="rightArrow">
            <a:avLst/>
          </a:prstGeom>
          <a:solidFill>
            <a:srgbClr val="555960"/>
          </a:solidFill>
          <a:ln>
            <a:noFill/>
          </a:ln>
        </p:spPr>
        <p:txBody>
          <a:bodyPr wrap="square" lIns="72000" rIns="72000" anchor="ctr">
            <a:noAutofit/>
          </a:bodyPr>
          <a:lstStyle/>
          <a:p>
            <a:pPr algn="ctr">
              <a:buNone/>
            </a:pPr>
            <a:endParaRPr lang="en-US" sz="1200" dirty="0">
              <a:solidFill>
                <a:srgbClr val="FFFFFF"/>
              </a:solidFill>
            </a:endParaRPr>
          </a:p>
        </p:txBody>
      </p:sp>
      <p:sp>
        <p:nvSpPr>
          <p:cNvPr id="42" name="The team around them"/>
          <p:cNvSpPr/>
          <p:nvPr/>
        </p:nvSpPr>
        <p:spPr>
          <a:xfrm>
            <a:off x="3962400" y="2260600"/>
            <a:ext cx="4673600" cy="2006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200" b="1" dirty="0">
                <a:solidFill>
                  <a:srgbClr val="000000"/>
                </a:solidFill>
              </a:rPr>
              <a:t>The team around them
shared context · trust · coordination</a:t>
            </a:r>
          </a:p>
        </p:txBody>
      </p:sp>
    </p:spTree>
    <p:extLst>
      <p:ext uri="{BB962C8B-B14F-4D97-AF65-F5344CB8AC3E}">
        <p14:creationId xmlns:p14="http://schemas.microsoft.com/office/powerpoint/2010/main" val="326492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41C7F-A4C8-7409-A3CC-9337C6BB1B6C}"/>
              </a:ext>
            </a:extLst>
          </p:cNvPr>
          <p:cNvSpPr>
            <a:spLocks noGrp="1"/>
          </p:cNvSpPr>
          <p:nvPr>
            <p:ph type="title"/>
          </p:nvPr>
        </p:nvSpPr>
        <p:spPr>
          <a:xfrm>
            <a:off x="685800" y="1676400"/>
            <a:ext cx="7772400" cy="2362200"/>
          </a:xfrm>
        </p:spPr>
        <p:txBody>
          <a:bodyPr>
            <a:normAutofit/>
          </a:bodyPr>
          <a:lstStyle/>
          <a:p>
            <a:r>
              <a:rPr lang="en-US" sz="8000" dirty="0"/>
              <a:t>2</a:t>
            </a:r>
            <a:br>
              <a:rPr lang="en-US" dirty="0"/>
            </a:br>
            <a:r>
              <a:rPr lang="en-US" dirty="0"/>
              <a:t>Team capability</a:t>
            </a:r>
          </a:p>
        </p:txBody>
      </p:sp>
      <p:sp>
        <p:nvSpPr>
          <p:cNvPr id="3" name="Slide Number Placeholder 2">
            <a:extLst>
              <a:ext uri="{FF2B5EF4-FFF2-40B4-BE49-F238E27FC236}">
                <a16:creationId xmlns:a16="http://schemas.microsoft.com/office/drawing/2014/main" id="{D93738D0-2CDE-4869-6913-3C50B192A6C4}"/>
              </a:ext>
            </a:extLst>
          </p:cNvPr>
          <p:cNvSpPr>
            <a:spLocks noGrp="1"/>
          </p:cNvSpPr>
          <p:nvPr>
            <p:ph type="sldNum" sz="quarter" idx="4"/>
          </p:nvPr>
        </p:nvSpPr>
        <p:spPr/>
        <p:txBody>
          <a:bodyPr/>
          <a:lstStyle/>
          <a:p>
            <a:fld id="{B7EB45DA-9A0D-DC49-8E02-F30A5DDC21C3}" type="slidenum">
              <a:rPr lang="en-US"/>
              <a:t>7</a:t>
            </a:fld>
            <a:endParaRPr lang="en-US"/>
          </a:p>
        </p:txBody>
      </p:sp>
      <p:sp>
        <p:nvSpPr>
          <p:cNvPr id="4" name="Section question">
            <a:extLst>
              <a:ext uri="{FF2B5EF4-FFF2-40B4-BE49-F238E27FC236}">
                <a16:creationId xmlns:a16="http://schemas.microsoft.com/office/drawing/2014/main" id="{570463CE-6BBF-384A-84A0-87A85E00DD8B}"/>
              </a:ext>
            </a:extLst>
          </p:cNvPr>
          <p:cNvSpPr txBox="1"/>
          <p:nvPr/>
        </p:nvSpPr>
        <p:spPr>
          <a:xfrm>
            <a:off x="685800" y="4267200"/>
            <a:ext cx="7772400" cy="1219200"/>
          </a:xfrm>
          <a:prstGeom prst="rect">
            <a:avLst/>
          </a:prstGeom>
          <a:noFill/>
        </p:spPr>
        <p:txBody>
          <a:bodyPr vertOverflow="overflow" vert="horz" wrap="square" rtlCol="0" anchor="t">
            <a:spAutoFit/>
          </a:bodyPr>
          <a:lstStyle/>
          <a:p>
            <a:pPr algn="ctr"/>
            <a:r>
              <a:rPr lang="en-US" sz="2400" i="1"/>
              <a:t>How does individual capability become collective capability?</a:t>
            </a:r>
          </a:p>
        </p:txBody>
      </p:sp>
    </p:spTree>
    <p:extLst>
      <p:ext uri="{BB962C8B-B14F-4D97-AF65-F5344CB8AC3E}">
        <p14:creationId xmlns:p14="http://schemas.microsoft.com/office/powerpoint/2010/main" val="1318622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5E0B97-0441-ABA4-D73C-ECA51155DB98}"/>
              </a:ext>
            </a:extLst>
          </p:cNvPr>
          <p:cNvSpPr>
            <a:spLocks noGrp="1"/>
          </p:cNvSpPr>
          <p:nvPr>
            <p:ph idx="1"/>
          </p:nvPr>
        </p:nvSpPr>
        <p:spPr/>
        <p:txBody>
          <a:bodyPr/>
          <a:lstStyle/>
          <a:p>
            <a:pPr marL="0" indent="0">
              <a:buNone/>
            </a:pPr>
            <a:r>
              <a:rPr lang="en-US" sz="2600" i="1" dirty="0"/>
              <a:t>Not “what makes its members effective?”—what properties belong to the team itself?</a:t>
            </a:r>
          </a:p>
        </p:txBody>
      </p:sp>
      <p:sp>
        <p:nvSpPr>
          <p:cNvPr id="3" name="Title 2">
            <a:extLst>
              <a:ext uri="{FF2B5EF4-FFF2-40B4-BE49-F238E27FC236}">
                <a16:creationId xmlns:a16="http://schemas.microsoft.com/office/drawing/2014/main" id="{21D24429-66EC-E34C-1576-6205A8428D83}"/>
              </a:ext>
            </a:extLst>
          </p:cNvPr>
          <p:cNvSpPr>
            <a:spLocks noGrp="1"/>
          </p:cNvSpPr>
          <p:nvPr>
            <p:ph type="title"/>
          </p:nvPr>
        </p:nvSpPr>
        <p:spPr/>
        <p:txBody>
          <a:bodyPr>
            <a:noAutofit/>
          </a:bodyPr>
          <a:lstStyle/>
          <a:p>
            <a:r>
              <a:rPr lang="en-US"/>
              <a:t>What makes a team effective?</a:t>
            </a:r>
          </a:p>
        </p:txBody>
      </p:sp>
      <p:sp>
        <p:nvSpPr>
          <p:cNvPr id="4" name="Slide Number Placeholder 3">
            <a:extLst>
              <a:ext uri="{FF2B5EF4-FFF2-40B4-BE49-F238E27FC236}">
                <a16:creationId xmlns:a16="http://schemas.microsoft.com/office/drawing/2014/main" id="{A0DBFF66-1CEE-0E3E-0025-D649C850B519}"/>
              </a:ext>
            </a:extLst>
          </p:cNvPr>
          <p:cNvSpPr>
            <a:spLocks noGrp="1"/>
          </p:cNvSpPr>
          <p:nvPr>
            <p:ph type="sldNum" sz="quarter" idx="4"/>
          </p:nvPr>
        </p:nvSpPr>
        <p:spPr/>
        <p:txBody>
          <a:bodyPr/>
          <a:lstStyle/>
          <a:p>
            <a:fld id="{B7EB45DA-9A0D-DC49-8E02-F30A5DDC21C3}" type="slidenum">
              <a:rPr lang="en-US" smtClean="0"/>
              <a:t>8</a:t>
            </a:fld>
            <a:endParaRPr lang="en-US"/>
          </a:p>
        </p:txBody>
      </p:sp>
    </p:spTree>
    <p:extLst>
      <p:ext uri="{BB962C8B-B14F-4D97-AF65-F5344CB8AC3E}">
        <p14:creationId xmlns:p14="http://schemas.microsoft.com/office/powerpoint/2010/main" val="1337859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2A8A75-A823-82E4-2CA9-0306C241C6A8}"/>
              </a:ext>
            </a:extLst>
          </p:cNvPr>
          <p:cNvSpPr>
            <a:spLocks noGrp="1"/>
          </p:cNvSpPr>
          <p:nvPr>
            <p:ph type="title"/>
          </p:nvPr>
        </p:nvSpPr>
        <p:spPr/>
        <p:txBody>
          <a:bodyPr>
            <a:noAutofit/>
          </a:bodyPr>
          <a:lstStyle/>
          <a:p>
            <a:r>
              <a:rPr lang="en-US"/>
              <a:t>Effective teams create shared context</a:t>
            </a:r>
          </a:p>
        </p:txBody>
      </p:sp>
      <p:sp>
        <p:nvSpPr>
          <p:cNvPr id="4" name="Slide Number Placeholder 3">
            <a:extLst>
              <a:ext uri="{FF2B5EF4-FFF2-40B4-BE49-F238E27FC236}">
                <a16:creationId xmlns:a16="http://schemas.microsoft.com/office/drawing/2014/main" id="{D7F9318B-BC22-872B-ACD0-6EE52F049948}"/>
              </a:ext>
            </a:extLst>
          </p:cNvPr>
          <p:cNvSpPr>
            <a:spLocks noGrp="1"/>
          </p:cNvSpPr>
          <p:nvPr>
            <p:ph type="sldNum" sz="quarter" idx="4"/>
          </p:nvPr>
        </p:nvSpPr>
        <p:spPr/>
        <p:txBody>
          <a:bodyPr/>
          <a:lstStyle/>
          <a:p>
            <a:fld id="{B7EB45DA-9A0D-DC49-8E02-F30A5DDC21C3}" type="slidenum">
              <a:rPr lang="en-US" smtClean="0"/>
              <a:t>9</a:t>
            </a:fld>
            <a:endParaRPr lang="en-US"/>
          </a:p>
        </p:txBody>
      </p:sp>
      <p:sp>
        <p:nvSpPr>
          <p:cNvPr id="40" name="Model Shared context"/>
          <p:cNvSpPr/>
          <p:nvPr/>
        </p:nvSpPr>
        <p:spPr>
          <a:xfrm>
            <a:off x="381000" y="914400"/>
            <a:ext cx="2616200" cy="736600"/>
          </a:xfrm>
          <a:prstGeom prst="roundRect">
            <a:avLst/>
          </a:prstGeom>
          <a:solidFill>
            <a:srgbClr val="8E6F3E"/>
          </a:solidFill>
          <a:ln w="19050">
            <a:solidFill>
              <a:srgbClr val="8E6F3E"/>
            </a:solidFill>
          </a:ln>
        </p:spPr>
        <p:txBody>
          <a:bodyPr wrap="square" lIns="72000" rIns="72000" anchor="ctr">
            <a:noAutofit/>
          </a:bodyPr>
          <a:lstStyle/>
          <a:p>
            <a:pPr algn="ctr">
              <a:buNone/>
            </a:pPr>
            <a:r>
              <a:rPr lang="en-US" sz="2200" b="1" dirty="0">
                <a:solidFill>
                  <a:srgbClr val="FFFFFF"/>
                </a:solidFill>
              </a:rPr>
              <a:t>Shared context</a:t>
            </a:r>
          </a:p>
        </p:txBody>
      </p:sp>
      <p:sp>
        <p:nvSpPr>
          <p:cNvPr id="41" name="Model Trust"/>
          <p:cNvSpPr/>
          <p:nvPr/>
        </p:nvSpPr>
        <p:spPr>
          <a:xfrm>
            <a:off x="3263900" y="914400"/>
            <a:ext cx="2616200" cy="736600"/>
          </a:xfrm>
          <a:prstGeom prst="roundRect">
            <a:avLst/>
          </a:prstGeom>
          <a:noFill/>
          <a:ln w="19050">
            <a:solidFill>
              <a:srgbClr val="C4BFC0"/>
            </a:solidFill>
          </a:ln>
        </p:spPr>
        <p:txBody>
          <a:bodyPr wrap="square" lIns="72000" rIns="72000" anchor="ctr">
            <a:noAutofit/>
          </a:bodyPr>
          <a:lstStyle/>
          <a:p>
            <a:pPr algn="ctr">
              <a:buNone/>
            </a:pPr>
            <a:r>
              <a:rPr lang="en-US" sz="2200" b="1" dirty="0">
                <a:solidFill>
                  <a:srgbClr val="808080"/>
                </a:solidFill>
              </a:rPr>
              <a:t>Trust</a:t>
            </a:r>
          </a:p>
        </p:txBody>
      </p:sp>
      <p:sp>
        <p:nvSpPr>
          <p:cNvPr id="42" name="Model Coordination"/>
          <p:cNvSpPr/>
          <p:nvPr/>
        </p:nvSpPr>
        <p:spPr>
          <a:xfrm>
            <a:off x="6146800" y="914400"/>
            <a:ext cx="2616200" cy="736600"/>
          </a:xfrm>
          <a:prstGeom prst="roundRect">
            <a:avLst/>
          </a:prstGeom>
          <a:noFill/>
          <a:ln w="19050">
            <a:solidFill>
              <a:srgbClr val="C4BFC0"/>
            </a:solidFill>
          </a:ln>
        </p:spPr>
        <p:txBody>
          <a:bodyPr wrap="square" lIns="72000" rIns="72000" anchor="ctr">
            <a:noAutofit/>
          </a:bodyPr>
          <a:lstStyle/>
          <a:p>
            <a:pPr algn="ctr">
              <a:buNone/>
            </a:pPr>
            <a:r>
              <a:rPr lang="en-US" sz="2200" b="1" dirty="0">
                <a:solidFill>
                  <a:srgbClr val="808080"/>
                </a:solidFill>
              </a:rPr>
              <a:t>Coordination</a:t>
            </a:r>
          </a:p>
        </p:txBody>
      </p:sp>
      <p:sp>
        <p:nvSpPr>
          <p:cNvPr id="43" name="Every member"/>
          <p:cNvSpPr/>
          <p:nvPr/>
        </p:nvSpPr>
        <p:spPr>
          <a:xfrm>
            <a:off x="381000" y="2489200"/>
            <a:ext cx="1651000" cy="762000"/>
          </a:xfrm>
          <a:prstGeom prst="rect">
            <a:avLst/>
          </a:prstGeom>
          <a:noFill/>
          <a:ln>
            <a:noFill/>
          </a:ln>
        </p:spPr>
        <p:txBody>
          <a:bodyPr wrap="square" lIns="72000" rIns="72000" anchor="ctr">
            <a:noAutofit/>
          </a:bodyPr>
          <a:lstStyle/>
          <a:p>
            <a:pPr algn="r">
              <a:buNone/>
            </a:pPr>
            <a:r>
              <a:rPr lang="en-US" sz="2000" b="0" dirty="0">
                <a:solidFill>
                  <a:srgbClr val="000000"/>
                </a:solidFill>
              </a:rPr>
              <a:t>Every member</a:t>
            </a:r>
          </a:p>
        </p:txBody>
      </p:sp>
      <p:sp>
        <p:nvSpPr>
          <p:cNvPr id="44" name="Arrow a"/>
          <p:cNvSpPr/>
          <p:nvPr/>
        </p:nvSpPr>
        <p:spPr>
          <a:xfrm>
            <a:off x="2184400" y="2260600"/>
            <a:ext cx="660400" cy="304800"/>
          </a:xfrm>
          <a:prstGeom prst="rightArrow">
            <a:avLst/>
          </a:prstGeom>
          <a:solidFill>
            <a:srgbClr val="555960"/>
          </a:solidFill>
          <a:ln>
            <a:noFill/>
          </a:ln>
        </p:spPr>
        <p:txBody>
          <a:bodyPr wrap="square" lIns="72000" rIns="72000" anchor="ctr">
            <a:noAutofit/>
          </a:bodyPr>
          <a:lstStyle/>
          <a:p>
            <a:pPr algn="ctr">
              <a:buNone/>
            </a:pPr>
            <a:endParaRPr lang="en-US" sz="1200" dirty="0">
              <a:solidFill>
                <a:srgbClr val="FFFFFF"/>
              </a:solidFill>
            </a:endParaRPr>
          </a:p>
        </p:txBody>
      </p:sp>
      <p:sp>
        <p:nvSpPr>
          <p:cNvPr id="45" name="Arrow b"/>
          <p:cNvSpPr/>
          <p:nvPr/>
        </p:nvSpPr>
        <p:spPr>
          <a:xfrm>
            <a:off x="2184400" y="3022600"/>
            <a:ext cx="660400" cy="304800"/>
          </a:xfrm>
          <a:prstGeom prst="rightArrow">
            <a:avLst/>
          </a:prstGeom>
          <a:solidFill>
            <a:srgbClr val="555960"/>
          </a:solidFill>
          <a:ln>
            <a:noFill/>
          </a:ln>
        </p:spPr>
        <p:txBody>
          <a:bodyPr wrap="square" lIns="72000" rIns="72000" anchor="ctr">
            <a:noAutofit/>
          </a:bodyPr>
          <a:lstStyle/>
          <a:p>
            <a:pPr algn="ctr">
              <a:buNone/>
            </a:pPr>
            <a:endParaRPr lang="en-US" sz="1200" dirty="0">
              <a:solidFill>
                <a:srgbClr val="FFFFFF"/>
              </a:solidFill>
            </a:endParaRPr>
          </a:p>
        </p:txBody>
      </p:sp>
      <p:sp>
        <p:nvSpPr>
          <p:cNvPr id="46" name="Arrow c"/>
          <p:cNvSpPr/>
          <p:nvPr/>
        </p:nvSpPr>
        <p:spPr>
          <a:xfrm>
            <a:off x="2184400" y="3784600"/>
            <a:ext cx="660400" cy="304800"/>
          </a:xfrm>
          <a:prstGeom prst="rightArrow">
            <a:avLst/>
          </a:prstGeom>
          <a:solidFill>
            <a:srgbClr val="555960"/>
          </a:solidFill>
          <a:ln>
            <a:noFill/>
          </a:ln>
        </p:spPr>
        <p:txBody>
          <a:bodyPr wrap="square" lIns="72000" rIns="72000" anchor="ctr">
            <a:noAutofit/>
          </a:bodyPr>
          <a:lstStyle/>
          <a:p>
            <a:pPr algn="ctr">
              <a:buNone/>
            </a:pPr>
            <a:endParaRPr lang="en-US" sz="1200" dirty="0">
              <a:solidFill>
                <a:srgbClr val="FFFFFF"/>
              </a:solidFill>
            </a:endParaRPr>
          </a:p>
        </p:txBody>
      </p:sp>
      <p:sp>
        <p:nvSpPr>
          <p:cNvPr id="47" name="Common understanding"/>
          <p:cNvSpPr/>
          <p:nvPr/>
        </p:nvSpPr>
        <p:spPr>
          <a:xfrm>
            <a:off x="3048000" y="1930400"/>
            <a:ext cx="5715000" cy="24892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solidFill>
                  <a:srgbClr val="000000"/>
                </a:solidFill>
              </a:rPr>
              <a:t>Goals and priorities</a:t>
            </a:r>
          </a:p>
          <a:p>
            <a:pPr algn="ctr">
              <a:buNone/>
            </a:pPr>
            <a:r>
              <a:rPr lang="en-US" sz="2000" b="0" dirty="0">
                <a:solidFill>
                  <a:srgbClr val="000000"/>
                </a:solidFill>
              </a:rPr>
              <a:t>State of the system</a:t>
            </a:r>
          </a:p>
          <a:p>
            <a:pPr algn="ctr">
              <a:buNone/>
            </a:pPr>
            <a:r>
              <a:rPr lang="en-US" sz="2000" b="0" dirty="0">
                <a:solidFill>
                  <a:srgbClr val="000000"/>
                </a:solidFill>
              </a:rPr>
              <a:t>Who owns what</a:t>
            </a:r>
          </a:p>
          <a:p>
            <a:pPr algn="ctr">
              <a:buNone/>
            </a:pPr>
            <a:r>
              <a:rPr lang="en-US" sz="2000" b="0" dirty="0">
                <a:solidFill>
                  <a:srgbClr val="000000"/>
                </a:solidFill>
              </a:rPr>
              <a:t>What was decided, and why</a:t>
            </a:r>
          </a:p>
          <a:p>
            <a:pPr algn="ctr">
              <a:buNone/>
            </a:pPr>
            <a:r>
              <a:rPr lang="en-US" sz="2000" b="0" dirty="0">
                <a:solidFill>
                  <a:srgbClr val="000000"/>
                </a:solidFill>
              </a:rPr>
              <a:t>What is changing right now</a:t>
            </a:r>
          </a:p>
        </p:txBody>
      </p:sp>
      <p:sp>
        <p:nvSpPr>
          <p:cNvPr id="48" name="Payoff"/>
          <p:cNvSpPr/>
          <p:nvPr/>
        </p:nvSpPr>
        <p:spPr>
          <a:xfrm>
            <a:off x="381000" y="4622800"/>
            <a:ext cx="8382000" cy="762000"/>
          </a:xfrm>
          <a:prstGeom prst="rect">
            <a:avLst/>
          </a:prstGeom>
          <a:noFill/>
          <a:ln>
            <a:noFill/>
          </a:ln>
        </p:spPr>
        <p:txBody>
          <a:bodyPr wrap="square" lIns="72000" rIns="72000" anchor="ctr">
            <a:noAutofit/>
          </a:bodyPr>
          <a:lstStyle/>
          <a:p>
            <a:pPr algn="ctr">
              <a:buNone/>
            </a:pPr>
            <a:r>
              <a:rPr lang="en-US" sz="2600" b="1" dirty="0"/>
              <a:t>Understandings must be compatible enough—not identical.</a:t>
            </a:r>
          </a:p>
        </p:txBody>
      </p:sp>
      <p:sp>
        <p:nvSpPr>
          <p:cNvPr id="49" name="Citation"/>
          <p:cNvSpPr/>
          <p:nvPr/>
        </p:nvSpPr>
        <p:spPr>
          <a:xfrm>
            <a:off x="381000" y="5537200"/>
            <a:ext cx="6604000" cy="406400"/>
          </a:xfrm>
          <a:prstGeom prst="rect">
            <a:avLst/>
          </a:prstGeom>
          <a:noFill/>
          <a:ln>
            <a:noFill/>
          </a:ln>
        </p:spPr>
        <p:txBody>
          <a:bodyPr wrap="square" lIns="72000" rIns="72000" anchor="ctr">
            <a:noAutofit/>
          </a:bodyPr>
          <a:lstStyle/>
          <a:p>
            <a:pPr algn="l">
              <a:buNone/>
            </a:pPr>
            <a:r>
              <a:rPr lang="en-US" sz="2000" i="1" dirty="0"/>
              <a:t>Winters, Manshreck &amp; Wright, Software Engineering at Google, Ch. 2–3.</a:t>
            </a:r>
          </a:p>
        </p:txBody>
      </p:sp>
    </p:spTree>
    <p:extLst>
      <p:ext uri="{BB962C8B-B14F-4D97-AF65-F5344CB8AC3E}">
        <p14:creationId xmlns:p14="http://schemas.microsoft.com/office/powerpoint/2010/main" val="1152760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3A5351-20CB-6EBA-3B82-48295709E0B4}"/>
              </a:ext>
            </a:extLst>
          </p:cNvPr>
          <p:cNvSpPr>
            <a:spLocks noGrp="1"/>
          </p:cNvSpPr>
          <p:nvPr>
            <p:ph type="title"/>
          </p:nvPr>
        </p:nvSpPr>
        <p:spPr/>
        <p:txBody>
          <a:bodyPr>
            <a:noAutofit/>
          </a:bodyPr>
          <a:lstStyle/>
          <a:p>
            <a:r>
              <a:rPr lang="en-US"/>
              <a:t>Effective teams create trust</a:t>
            </a:r>
          </a:p>
        </p:txBody>
      </p:sp>
      <p:sp>
        <p:nvSpPr>
          <p:cNvPr id="4" name="Slide Number Placeholder 3">
            <a:extLst>
              <a:ext uri="{FF2B5EF4-FFF2-40B4-BE49-F238E27FC236}">
                <a16:creationId xmlns:a16="http://schemas.microsoft.com/office/drawing/2014/main" id="{B732EE74-1F27-55F0-5718-E77B85EEFC44}"/>
              </a:ext>
            </a:extLst>
          </p:cNvPr>
          <p:cNvSpPr>
            <a:spLocks noGrp="1"/>
          </p:cNvSpPr>
          <p:nvPr>
            <p:ph type="sldNum" sz="quarter" idx="4"/>
          </p:nvPr>
        </p:nvSpPr>
        <p:spPr/>
        <p:txBody>
          <a:bodyPr/>
          <a:lstStyle/>
          <a:p>
            <a:fld id="{B7EB45DA-9A0D-DC49-8E02-F30A5DDC21C3}" type="slidenum">
              <a:rPr lang="en-US" smtClean="0"/>
              <a:t>10</a:t>
            </a:fld>
            <a:endParaRPr lang="en-US"/>
          </a:p>
        </p:txBody>
      </p:sp>
      <p:sp>
        <p:nvSpPr>
          <p:cNvPr id="40" name="Model Shared context"/>
          <p:cNvSpPr/>
          <p:nvPr/>
        </p:nvSpPr>
        <p:spPr>
          <a:xfrm>
            <a:off x="381000" y="914400"/>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200" b="1" dirty="0">
                <a:solidFill>
                  <a:srgbClr val="000000"/>
                </a:solidFill>
              </a:rPr>
              <a:t>Shared context</a:t>
            </a:r>
          </a:p>
        </p:txBody>
      </p:sp>
      <p:sp>
        <p:nvSpPr>
          <p:cNvPr id="41" name="Model Trust"/>
          <p:cNvSpPr/>
          <p:nvPr/>
        </p:nvSpPr>
        <p:spPr>
          <a:xfrm>
            <a:off x="3263900" y="914400"/>
            <a:ext cx="2616200" cy="736600"/>
          </a:xfrm>
          <a:prstGeom prst="roundRect">
            <a:avLst/>
          </a:prstGeom>
          <a:solidFill>
            <a:srgbClr val="8E6F3E"/>
          </a:solidFill>
          <a:ln w="19050">
            <a:solidFill>
              <a:srgbClr val="8E6F3E"/>
            </a:solidFill>
          </a:ln>
        </p:spPr>
        <p:txBody>
          <a:bodyPr wrap="square" lIns="72000" rIns="72000" anchor="ctr">
            <a:noAutofit/>
          </a:bodyPr>
          <a:lstStyle/>
          <a:p>
            <a:pPr algn="ctr">
              <a:buNone/>
            </a:pPr>
            <a:r>
              <a:rPr lang="en-US" sz="2200" b="1" dirty="0">
                <a:solidFill>
                  <a:srgbClr val="FFFFFF"/>
                </a:solidFill>
              </a:rPr>
              <a:t>Trust</a:t>
            </a:r>
          </a:p>
        </p:txBody>
      </p:sp>
      <p:sp>
        <p:nvSpPr>
          <p:cNvPr id="42" name="Model Coordination"/>
          <p:cNvSpPr/>
          <p:nvPr/>
        </p:nvSpPr>
        <p:spPr>
          <a:xfrm>
            <a:off x="6146800" y="914400"/>
            <a:ext cx="2616200" cy="736600"/>
          </a:xfrm>
          <a:prstGeom prst="roundRect">
            <a:avLst/>
          </a:prstGeom>
          <a:noFill/>
          <a:ln w="19050">
            <a:solidFill>
              <a:srgbClr val="C4BFC0"/>
            </a:solidFill>
          </a:ln>
        </p:spPr>
        <p:txBody>
          <a:bodyPr wrap="square" lIns="72000" rIns="72000" anchor="ctr">
            <a:noAutofit/>
          </a:bodyPr>
          <a:lstStyle/>
          <a:p>
            <a:pPr algn="ctr">
              <a:buNone/>
            </a:pPr>
            <a:r>
              <a:rPr lang="en-US" sz="2200" b="1" dirty="0">
                <a:solidFill>
                  <a:srgbClr val="808080"/>
                </a:solidFill>
              </a:rPr>
              <a:t>Coordination</a:t>
            </a:r>
          </a:p>
        </p:txBody>
      </p:sp>
      <p:sp>
        <p:nvSpPr>
          <p:cNvPr id="43" name="Trust a"/>
          <p:cNvSpPr/>
          <p:nvPr/>
        </p:nvSpPr>
        <p:spPr>
          <a:xfrm>
            <a:off x="431800" y="2006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solidFill>
                  <a:srgbClr val="000000"/>
                </a:solidFill>
              </a:rPr>
              <a:t>Honesty about status, risk, and mistakes</a:t>
            </a:r>
          </a:p>
        </p:txBody>
      </p:sp>
      <p:sp>
        <p:nvSpPr>
          <p:cNvPr id="44" name="Trust b"/>
          <p:cNvSpPr/>
          <p:nvPr/>
        </p:nvSpPr>
        <p:spPr>
          <a:xfrm>
            <a:off x="4673600" y="2006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solidFill>
                  <a:srgbClr val="000000"/>
                </a:solidFill>
              </a:rPr>
              <a:t>Uncertainty can be voiced safely</a:t>
            </a:r>
          </a:p>
        </p:txBody>
      </p:sp>
      <p:sp>
        <p:nvSpPr>
          <p:cNvPr id="45" name="Trust c"/>
          <p:cNvSpPr/>
          <p:nvPr/>
        </p:nvSpPr>
        <p:spPr>
          <a:xfrm>
            <a:off x="431800" y="3022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solidFill>
                  <a:srgbClr val="000000"/>
                </a:solidFill>
              </a:rPr>
              <a:t>Information from teammates is credible</a:t>
            </a:r>
          </a:p>
        </p:txBody>
      </p:sp>
      <p:sp>
        <p:nvSpPr>
          <p:cNvPr id="46" name="Trust d"/>
          <p:cNvSpPr/>
          <p:nvPr/>
        </p:nvSpPr>
        <p:spPr>
          <a:xfrm>
            <a:off x="4673600" y="3022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dirty="0"/>
              <a:t>A failure exposes a problem, not a person</a:t>
            </a:r>
          </a:p>
        </p:txBody>
      </p:sp>
      <p:sp>
        <p:nvSpPr>
          <p:cNvPr id="47" name="Payoff"/>
          <p:cNvSpPr/>
          <p:nvPr/>
        </p:nvSpPr>
        <p:spPr>
          <a:xfrm>
            <a:off x="381000" y="4216400"/>
            <a:ext cx="8382000" cy="1219200"/>
          </a:xfrm>
          <a:prstGeom prst="rect">
            <a:avLst/>
          </a:prstGeom>
          <a:noFill/>
          <a:ln>
            <a:noFill/>
          </a:ln>
        </p:spPr>
        <p:txBody>
          <a:bodyPr wrap="square" lIns="72000" rIns="72000" anchor="ctr">
            <a:noAutofit/>
          </a:bodyPr>
          <a:lstStyle/>
          <a:p>
            <a:pPr algn="ctr">
              <a:buNone/>
            </a:pPr>
            <a:r>
              <a:rPr lang="en-US" sz="3000" b="1" dirty="0">
                <a:solidFill>
                  <a:srgbClr val="000000"/>
                </a:solidFill>
              </a:rPr>
              <a:t>Without trust, a status report is a work of fiction.</a:t>
            </a:r>
          </a:p>
        </p:txBody>
      </p:sp>
      <p:sp>
        <p:nvSpPr>
          <p:cNvPr id="48" name="Citation"/>
          <p:cNvSpPr/>
          <p:nvPr/>
        </p:nvSpPr>
        <p:spPr>
          <a:xfrm>
            <a:off x="381000" y="5588000"/>
            <a:ext cx="7874000" cy="406400"/>
          </a:xfrm>
          <a:prstGeom prst="rect">
            <a:avLst/>
          </a:prstGeom>
          <a:noFill/>
          <a:ln>
            <a:noFill/>
          </a:ln>
        </p:spPr>
        <p:txBody>
          <a:bodyPr wrap="square" lIns="72000" rIns="72000" anchor="ctr">
            <a:noAutofit/>
          </a:bodyPr>
          <a:lstStyle/>
          <a:p>
            <a:pPr algn="l">
              <a:buNone/>
            </a:pPr>
            <a:r>
              <a:rPr lang="en-US" sz="2000" i="1" dirty="0"/>
              <a:t>Winters, Manshreck &amp; Wright, Software Engineering at Google, Ch. 2.</a:t>
            </a:r>
          </a:p>
        </p:txBody>
      </p:sp>
    </p:spTree>
    <p:extLst>
      <p:ext uri="{BB962C8B-B14F-4D97-AF65-F5344CB8AC3E}">
        <p14:creationId xmlns:p14="http://schemas.microsoft.com/office/powerpoint/2010/main" val="3352268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333162-E47E-8727-3E79-84666A41F289}"/>
              </a:ext>
            </a:extLst>
          </p:cNvPr>
          <p:cNvSpPr>
            <a:spLocks noGrp="1"/>
          </p:cNvSpPr>
          <p:nvPr>
            <p:ph type="title"/>
          </p:nvPr>
        </p:nvSpPr>
        <p:spPr/>
        <p:txBody>
          <a:bodyPr>
            <a:noAutofit/>
          </a:bodyPr>
          <a:lstStyle/>
          <a:p>
            <a:r>
              <a:rPr lang="en-US"/>
              <a:t>Effective teams coordinate action</a:t>
            </a:r>
          </a:p>
        </p:txBody>
      </p:sp>
      <p:sp>
        <p:nvSpPr>
          <p:cNvPr id="4" name="Slide Number Placeholder 3">
            <a:extLst>
              <a:ext uri="{FF2B5EF4-FFF2-40B4-BE49-F238E27FC236}">
                <a16:creationId xmlns:a16="http://schemas.microsoft.com/office/drawing/2014/main" id="{3E736126-0132-75AE-726A-0146DE0E2AE5}"/>
              </a:ext>
            </a:extLst>
          </p:cNvPr>
          <p:cNvSpPr>
            <a:spLocks noGrp="1"/>
          </p:cNvSpPr>
          <p:nvPr>
            <p:ph type="sldNum" sz="quarter" idx="4"/>
          </p:nvPr>
        </p:nvSpPr>
        <p:spPr/>
        <p:txBody>
          <a:bodyPr/>
          <a:lstStyle/>
          <a:p>
            <a:fld id="{B7EB45DA-9A0D-DC49-8E02-F30A5DDC21C3}" type="slidenum">
              <a:rPr lang="en-US" smtClean="0"/>
              <a:t>11</a:t>
            </a:fld>
            <a:endParaRPr lang="en-US"/>
          </a:p>
        </p:txBody>
      </p:sp>
      <p:sp>
        <p:nvSpPr>
          <p:cNvPr id="40" name="Model Shared context"/>
          <p:cNvSpPr/>
          <p:nvPr/>
        </p:nvSpPr>
        <p:spPr>
          <a:xfrm>
            <a:off x="381000" y="914400"/>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200" b="1" dirty="0">
                <a:solidFill>
                  <a:srgbClr val="000000"/>
                </a:solidFill>
              </a:rPr>
              <a:t>Shared context</a:t>
            </a:r>
          </a:p>
        </p:txBody>
      </p:sp>
      <p:sp>
        <p:nvSpPr>
          <p:cNvPr id="41" name="Model Trust"/>
          <p:cNvSpPr/>
          <p:nvPr/>
        </p:nvSpPr>
        <p:spPr>
          <a:xfrm>
            <a:off x="3263900" y="914400"/>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200" b="1" dirty="0">
                <a:solidFill>
                  <a:srgbClr val="000000"/>
                </a:solidFill>
              </a:rPr>
              <a:t>Trust</a:t>
            </a:r>
          </a:p>
        </p:txBody>
      </p:sp>
      <p:sp>
        <p:nvSpPr>
          <p:cNvPr id="42" name="Model Coordination"/>
          <p:cNvSpPr/>
          <p:nvPr/>
        </p:nvSpPr>
        <p:spPr>
          <a:xfrm>
            <a:off x="6146800" y="914400"/>
            <a:ext cx="2616200" cy="736600"/>
          </a:xfrm>
          <a:prstGeom prst="roundRect">
            <a:avLst/>
          </a:prstGeom>
          <a:solidFill>
            <a:srgbClr val="8E6F3E"/>
          </a:solidFill>
          <a:ln w="19050">
            <a:solidFill>
              <a:srgbClr val="8E6F3E"/>
            </a:solidFill>
          </a:ln>
        </p:spPr>
        <p:txBody>
          <a:bodyPr wrap="square" lIns="72000" rIns="72000" anchor="ctr">
            <a:noAutofit/>
          </a:bodyPr>
          <a:lstStyle/>
          <a:p>
            <a:pPr algn="ctr">
              <a:buNone/>
            </a:pPr>
            <a:r>
              <a:rPr lang="en-US" sz="2200" b="1" dirty="0">
                <a:solidFill>
                  <a:srgbClr val="FFFFFF"/>
                </a:solidFill>
              </a:rPr>
              <a:t>Coordination</a:t>
            </a:r>
          </a:p>
        </p:txBody>
      </p:sp>
      <p:sp>
        <p:nvSpPr>
          <p:cNvPr id="43" name="Ownership"/>
          <p:cNvSpPr/>
          <p:nvPr/>
        </p:nvSpPr>
        <p:spPr>
          <a:xfrm>
            <a:off x="431800" y="2006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t>Ownership—who decides, who answers for it</a:t>
            </a:r>
          </a:p>
        </p:txBody>
      </p:sp>
      <p:sp>
        <p:nvSpPr>
          <p:cNvPr id="44" name="Dependencies"/>
          <p:cNvSpPr/>
          <p:nvPr/>
        </p:nvSpPr>
        <p:spPr>
          <a:xfrm>
            <a:off x="4673600" y="2006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t>Dependencies—what depends on what</a:t>
            </a:r>
          </a:p>
        </p:txBody>
      </p:sp>
      <p:sp>
        <p:nvSpPr>
          <p:cNvPr id="45" name="Division"/>
          <p:cNvSpPr/>
          <p:nvPr/>
        </p:nvSpPr>
        <p:spPr>
          <a:xfrm>
            <a:off x="431800" y="3022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t>Division of work—who does what, in parallel</a:t>
            </a:r>
          </a:p>
        </p:txBody>
      </p:sp>
      <p:sp>
        <p:nvSpPr>
          <p:cNvPr id="46" name="Integration"/>
          <p:cNvSpPr/>
          <p:nvPr/>
        </p:nvSpPr>
        <p:spPr>
          <a:xfrm>
            <a:off x="4673600" y="3022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t>Integration—how the pieces come back together</a:t>
            </a:r>
          </a:p>
        </p:txBody>
      </p:sp>
      <p:sp>
        <p:nvSpPr>
          <p:cNvPr id="47" name="Payoff"/>
          <p:cNvSpPr/>
          <p:nvPr/>
        </p:nvSpPr>
        <p:spPr>
          <a:xfrm>
            <a:off x="381000" y="4267200"/>
            <a:ext cx="8382000" cy="1219200"/>
          </a:xfrm>
          <a:prstGeom prst="rect">
            <a:avLst/>
          </a:prstGeom>
          <a:noFill/>
          <a:ln>
            <a:noFill/>
          </a:ln>
        </p:spPr>
        <p:txBody>
          <a:bodyPr wrap="square" lIns="72000" rIns="72000" anchor="ctr">
            <a:noAutofit/>
          </a:bodyPr>
          <a:lstStyle/>
          <a:p>
            <a:pPr algn="ctr">
              <a:buNone/>
            </a:pPr>
            <a:r>
              <a:rPr lang="en-US" sz="2600" b="1" dirty="0">
                <a:solidFill>
                  <a:srgbClr val="000000"/>
                </a:solidFill>
              </a:rPr>
              <a:t>A team must produce all three. Every mechanism today serves one of them.</a:t>
            </a:r>
          </a:p>
        </p:txBody>
      </p:sp>
    </p:spTree>
    <p:extLst>
      <p:ext uri="{BB962C8B-B14F-4D97-AF65-F5344CB8AC3E}">
        <p14:creationId xmlns:p14="http://schemas.microsoft.com/office/powerpoint/2010/main" val="644330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7706EC-6BDA-B429-1430-8FAD74E297A0}"/>
              </a:ext>
            </a:extLst>
          </p:cNvPr>
          <p:cNvSpPr>
            <a:spLocks noGrp="1"/>
          </p:cNvSpPr>
          <p:nvPr>
            <p:ph idx="1"/>
          </p:nvPr>
        </p:nvSpPr>
        <p:spPr/>
        <p:txBody>
          <a:bodyPr/>
          <a:lstStyle/>
          <a:p>
            <a:pPr marL="0" indent="0">
              <a:buNone/>
            </a:pPr>
            <a:r>
              <a:rPr lang="en-US" sz="3200" i="1" dirty="0"/>
              <a:t>If 5 engineers are productive, why aren’t 50 engineers 10× as productive?</a:t>
            </a:r>
          </a:p>
        </p:txBody>
      </p:sp>
      <p:sp>
        <p:nvSpPr>
          <p:cNvPr id="3" name="Title 2">
            <a:extLst>
              <a:ext uri="{FF2B5EF4-FFF2-40B4-BE49-F238E27FC236}">
                <a16:creationId xmlns:a16="http://schemas.microsoft.com/office/drawing/2014/main" id="{B2BE03FF-717F-2D7E-56BD-D1C5DF18BBC4}"/>
              </a:ext>
            </a:extLst>
          </p:cNvPr>
          <p:cNvSpPr>
            <a:spLocks noGrp="1"/>
          </p:cNvSpPr>
          <p:nvPr>
            <p:ph type="title"/>
          </p:nvPr>
        </p:nvSpPr>
        <p:spPr/>
        <p:txBody>
          <a:bodyPr>
            <a:noAutofit/>
          </a:bodyPr>
          <a:lstStyle/>
          <a:p>
            <a:r>
              <a:rPr lang="en-US"/>
              <a:t>Why don’t teams scale linearly?</a:t>
            </a:r>
          </a:p>
        </p:txBody>
      </p:sp>
      <p:sp>
        <p:nvSpPr>
          <p:cNvPr id="4" name="Slide Number Placeholder 3">
            <a:extLst>
              <a:ext uri="{FF2B5EF4-FFF2-40B4-BE49-F238E27FC236}">
                <a16:creationId xmlns:a16="http://schemas.microsoft.com/office/drawing/2014/main" id="{F2714EC9-0D12-BD6D-1657-7D507E0E4E44}"/>
              </a:ext>
            </a:extLst>
          </p:cNvPr>
          <p:cNvSpPr>
            <a:spLocks noGrp="1"/>
          </p:cNvSpPr>
          <p:nvPr>
            <p:ph type="sldNum" sz="quarter" idx="4"/>
          </p:nvPr>
        </p:nvSpPr>
        <p:spPr/>
        <p:txBody>
          <a:bodyPr/>
          <a:lstStyle/>
          <a:p>
            <a:fld id="{B7EB45DA-9A0D-DC49-8E02-F30A5DDC21C3}" type="slidenum">
              <a:rPr lang="en-US" smtClean="0"/>
              <a:t>12</a:t>
            </a:fld>
            <a:endParaRPr lang="en-US"/>
          </a:p>
        </p:txBody>
      </p:sp>
    </p:spTree>
    <p:extLst>
      <p:ext uri="{BB962C8B-B14F-4D97-AF65-F5344CB8AC3E}">
        <p14:creationId xmlns:p14="http://schemas.microsoft.com/office/powerpoint/2010/main" val="662191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BF36815-ED37-3A36-2AF0-3BFC07C66A24}"/>
              </a:ext>
            </a:extLst>
          </p:cNvPr>
          <p:cNvSpPr>
            <a:spLocks noGrp="1"/>
          </p:cNvSpPr>
          <p:nvPr>
            <p:ph type="title"/>
          </p:nvPr>
        </p:nvSpPr>
        <p:spPr/>
        <p:txBody>
          <a:bodyPr>
            <a:noAutofit/>
          </a:bodyPr>
          <a:lstStyle/>
          <a:p>
            <a:r>
              <a:rPr lang="en-US"/>
              <a:t>Adding capability also adds coordination</a:t>
            </a:r>
          </a:p>
        </p:txBody>
      </p:sp>
      <p:sp>
        <p:nvSpPr>
          <p:cNvPr id="4" name="Slide Number Placeholder 3">
            <a:extLst>
              <a:ext uri="{FF2B5EF4-FFF2-40B4-BE49-F238E27FC236}">
                <a16:creationId xmlns:a16="http://schemas.microsoft.com/office/drawing/2014/main" id="{563F38E4-886F-FE54-191C-1487537C37F6}"/>
              </a:ext>
            </a:extLst>
          </p:cNvPr>
          <p:cNvSpPr>
            <a:spLocks noGrp="1"/>
          </p:cNvSpPr>
          <p:nvPr>
            <p:ph type="sldNum" sz="quarter" idx="4"/>
          </p:nvPr>
        </p:nvSpPr>
        <p:spPr/>
        <p:txBody>
          <a:bodyPr/>
          <a:lstStyle/>
          <a:p>
            <a:fld id="{B7EB45DA-9A0D-DC49-8E02-F30A5DDC21C3}" type="slidenum">
              <a:rPr lang="en-US" smtClean="0"/>
              <a:t>13</a:t>
            </a:fld>
            <a:endParaRPr lang="en-US"/>
          </a:p>
        </p:txBody>
      </p:sp>
      <p:sp>
        <p:nvSpPr>
          <p:cNvPr id="40" name="Label"/>
          <p:cNvSpPr txBox="1"/>
          <p:nvPr/>
        </p:nvSpPr>
        <p:spPr>
          <a:xfrm>
            <a:off x="381000" y="939800"/>
            <a:ext cx="8382000" cy="558800"/>
          </a:xfrm>
          <a:prstGeom prst="rect">
            <a:avLst/>
          </a:prstGeom>
          <a:noFill/>
        </p:spPr>
        <p:txBody>
          <a:bodyPr wrap="square" lIns="0" rIns="0" anchor="t">
            <a:noAutofit/>
          </a:bodyPr>
          <a:lstStyle/>
          <a:p>
            <a:pPr algn="ctr">
              <a:buNone/>
            </a:pPr>
            <a:r>
              <a:rPr lang="en-US" sz="2000" b="0" dirty="0">
                <a:solidFill>
                  <a:srgbClr val="000000"/>
                </a:solidFill>
              </a:rPr>
              <a:t>Communication paths  ·  Dependencies  ·  Onboarding  ·  Integration  ·  Maintaining shared context</a:t>
            </a:r>
          </a:p>
        </p:txBody>
      </p:sp>
      <p:sp>
        <p:nvSpPr>
          <p:cNvPr id="41" name="Edge"/>
          <p:cNvSpPr/>
          <p:nvPr/>
        </p:nvSpPr>
        <p:spPr>
          <a:xfrm>
            <a:off x="2222500" y="2463800"/>
            <a:ext cx="893803" cy="649386"/>
          </a:xfrm>
          <a:prstGeom prst="line">
            <a:avLst/>
          </a:prstGeom>
          <a:ln w="19050">
            <a:solidFill>
              <a:srgbClr val="8E6F3E"/>
            </a:solidFill>
          </a:ln>
        </p:spPr>
        <p:txBody>
          <a:bodyPr/>
          <a:lstStyle/>
          <a:p>
            <a:endParaRPr lang="en-US" sz="1200">
              <a:solidFill>
                <a:srgbClr val="FFFFFF"/>
              </a:solidFill>
            </a:endParaRPr>
          </a:p>
        </p:txBody>
      </p:sp>
      <p:sp>
        <p:nvSpPr>
          <p:cNvPr id="42" name="Edge"/>
          <p:cNvSpPr/>
          <p:nvPr/>
        </p:nvSpPr>
        <p:spPr>
          <a:xfrm>
            <a:off x="2222500" y="2463800"/>
            <a:ext cx="552401" cy="1700114"/>
          </a:xfrm>
          <a:prstGeom prst="line">
            <a:avLst/>
          </a:prstGeom>
          <a:ln w="19050">
            <a:solidFill>
              <a:srgbClr val="8E6F3E"/>
            </a:solidFill>
          </a:ln>
        </p:spPr>
        <p:txBody>
          <a:bodyPr/>
          <a:lstStyle/>
          <a:p>
            <a:endParaRPr lang="en-US" sz="1200">
              <a:solidFill>
                <a:srgbClr val="FFFFFF"/>
              </a:solidFill>
            </a:endParaRPr>
          </a:p>
        </p:txBody>
      </p:sp>
      <p:sp>
        <p:nvSpPr>
          <p:cNvPr id="43" name="Edge"/>
          <p:cNvSpPr/>
          <p:nvPr/>
        </p:nvSpPr>
        <p:spPr>
          <a:xfrm flipH="1">
            <a:off x="1670099" y="2463800"/>
            <a:ext cx="552401" cy="1700114"/>
          </a:xfrm>
          <a:prstGeom prst="line">
            <a:avLst/>
          </a:prstGeom>
          <a:ln w="19050">
            <a:solidFill>
              <a:srgbClr val="8E6F3E"/>
            </a:solidFill>
          </a:ln>
        </p:spPr>
        <p:txBody>
          <a:bodyPr/>
          <a:lstStyle/>
          <a:p>
            <a:endParaRPr lang="en-US" sz="1200">
              <a:solidFill>
                <a:srgbClr val="FFFFFF"/>
              </a:solidFill>
            </a:endParaRPr>
          </a:p>
        </p:txBody>
      </p:sp>
      <p:sp>
        <p:nvSpPr>
          <p:cNvPr id="44" name="Edge"/>
          <p:cNvSpPr/>
          <p:nvPr/>
        </p:nvSpPr>
        <p:spPr>
          <a:xfrm flipH="1">
            <a:off x="1328697" y="2463800"/>
            <a:ext cx="893803" cy="649386"/>
          </a:xfrm>
          <a:prstGeom prst="line">
            <a:avLst/>
          </a:prstGeom>
          <a:ln w="19050">
            <a:solidFill>
              <a:srgbClr val="8E6F3E"/>
            </a:solidFill>
          </a:ln>
        </p:spPr>
        <p:txBody>
          <a:bodyPr/>
          <a:lstStyle/>
          <a:p>
            <a:endParaRPr lang="en-US" sz="1200">
              <a:solidFill>
                <a:srgbClr val="FFFFFF"/>
              </a:solidFill>
            </a:endParaRPr>
          </a:p>
        </p:txBody>
      </p:sp>
      <p:sp>
        <p:nvSpPr>
          <p:cNvPr id="45" name="Edge"/>
          <p:cNvSpPr/>
          <p:nvPr/>
        </p:nvSpPr>
        <p:spPr>
          <a:xfrm flipH="1">
            <a:off x="2774901" y="3113186"/>
            <a:ext cx="341402" cy="1050728"/>
          </a:xfrm>
          <a:prstGeom prst="line">
            <a:avLst/>
          </a:prstGeom>
          <a:ln w="19050">
            <a:solidFill>
              <a:srgbClr val="8E6F3E"/>
            </a:solidFill>
          </a:ln>
        </p:spPr>
        <p:txBody>
          <a:bodyPr/>
          <a:lstStyle/>
          <a:p>
            <a:endParaRPr lang="en-US" sz="1200">
              <a:solidFill>
                <a:srgbClr val="FFFFFF"/>
              </a:solidFill>
            </a:endParaRPr>
          </a:p>
        </p:txBody>
      </p:sp>
      <p:sp>
        <p:nvSpPr>
          <p:cNvPr id="46" name="Edge"/>
          <p:cNvSpPr/>
          <p:nvPr/>
        </p:nvSpPr>
        <p:spPr>
          <a:xfrm flipH="1">
            <a:off x="1670099" y="3113186"/>
            <a:ext cx="1446203" cy="1050728"/>
          </a:xfrm>
          <a:prstGeom prst="line">
            <a:avLst/>
          </a:prstGeom>
          <a:ln w="19050">
            <a:solidFill>
              <a:srgbClr val="8E6F3E"/>
            </a:solidFill>
          </a:ln>
        </p:spPr>
        <p:txBody>
          <a:bodyPr/>
          <a:lstStyle/>
          <a:p>
            <a:endParaRPr lang="en-US" sz="1200">
              <a:solidFill>
                <a:srgbClr val="FFFFFF"/>
              </a:solidFill>
            </a:endParaRPr>
          </a:p>
        </p:txBody>
      </p:sp>
      <p:sp>
        <p:nvSpPr>
          <p:cNvPr id="47" name="Edge"/>
          <p:cNvSpPr/>
          <p:nvPr/>
        </p:nvSpPr>
        <p:spPr>
          <a:xfrm flipH="1">
            <a:off x="1328697" y="3113186"/>
            <a:ext cx="1787606" cy="5080"/>
          </a:xfrm>
          <a:prstGeom prst="line">
            <a:avLst/>
          </a:prstGeom>
          <a:ln w="19050">
            <a:solidFill>
              <a:srgbClr val="8E6F3E"/>
            </a:solidFill>
          </a:ln>
        </p:spPr>
        <p:txBody>
          <a:bodyPr/>
          <a:lstStyle/>
          <a:p>
            <a:endParaRPr lang="en-US" sz="1200">
              <a:solidFill>
                <a:srgbClr val="FFFFFF"/>
              </a:solidFill>
            </a:endParaRPr>
          </a:p>
        </p:txBody>
      </p:sp>
      <p:sp>
        <p:nvSpPr>
          <p:cNvPr id="48" name="Edge"/>
          <p:cNvSpPr/>
          <p:nvPr/>
        </p:nvSpPr>
        <p:spPr>
          <a:xfrm flipH="1">
            <a:off x="1670099" y="4163914"/>
            <a:ext cx="1104801" cy="5080"/>
          </a:xfrm>
          <a:prstGeom prst="line">
            <a:avLst/>
          </a:prstGeom>
          <a:ln w="19050">
            <a:solidFill>
              <a:srgbClr val="8E6F3E"/>
            </a:solidFill>
          </a:ln>
        </p:spPr>
        <p:txBody>
          <a:bodyPr/>
          <a:lstStyle/>
          <a:p>
            <a:endParaRPr lang="en-US" sz="1200">
              <a:solidFill>
                <a:srgbClr val="FFFFFF"/>
              </a:solidFill>
            </a:endParaRPr>
          </a:p>
        </p:txBody>
      </p:sp>
      <p:sp>
        <p:nvSpPr>
          <p:cNvPr id="49" name="Edge"/>
          <p:cNvSpPr/>
          <p:nvPr/>
        </p:nvSpPr>
        <p:spPr>
          <a:xfrm flipH="1" flipV="1">
            <a:off x="1328697" y="3113186"/>
            <a:ext cx="1446203" cy="1050728"/>
          </a:xfrm>
          <a:prstGeom prst="line">
            <a:avLst/>
          </a:prstGeom>
          <a:ln w="19050">
            <a:solidFill>
              <a:srgbClr val="8E6F3E"/>
            </a:solidFill>
          </a:ln>
        </p:spPr>
        <p:txBody>
          <a:bodyPr/>
          <a:lstStyle/>
          <a:p>
            <a:endParaRPr lang="en-US" sz="1200">
              <a:solidFill>
                <a:srgbClr val="FFFFFF"/>
              </a:solidFill>
            </a:endParaRPr>
          </a:p>
        </p:txBody>
      </p:sp>
      <p:sp>
        <p:nvSpPr>
          <p:cNvPr id="50" name="Edge"/>
          <p:cNvSpPr/>
          <p:nvPr/>
        </p:nvSpPr>
        <p:spPr>
          <a:xfrm flipH="1" flipV="1">
            <a:off x="1328697" y="3113186"/>
            <a:ext cx="341402" cy="1050728"/>
          </a:xfrm>
          <a:prstGeom prst="line">
            <a:avLst/>
          </a:prstGeom>
          <a:ln w="19050">
            <a:solidFill>
              <a:srgbClr val="8E6F3E"/>
            </a:solidFill>
          </a:ln>
        </p:spPr>
        <p:txBody>
          <a:bodyPr/>
          <a:lstStyle/>
          <a:p>
            <a:endParaRPr lang="en-US" sz="1200">
              <a:solidFill>
                <a:srgbClr val="FFFFFF"/>
              </a:solidFill>
            </a:endParaRPr>
          </a:p>
        </p:txBody>
      </p:sp>
      <p:sp>
        <p:nvSpPr>
          <p:cNvPr id="51" name="Engineer"/>
          <p:cNvSpPr/>
          <p:nvPr/>
        </p:nvSpPr>
        <p:spPr>
          <a:xfrm>
            <a:off x="2057400" y="2298700"/>
            <a:ext cx="330200" cy="3302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52" name="Engineer"/>
          <p:cNvSpPr/>
          <p:nvPr/>
        </p:nvSpPr>
        <p:spPr>
          <a:xfrm>
            <a:off x="2951203" y="2948086"/>
            <a:ext cx="330200" cy="3302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53" name="Engineer"/>
          <p:cNvSpPr/>
          <p:nvPr/>
        </p:nvSpPr>
        <p:spPr>
          <a:xfrm>
            <a:off x="2609801" y="3998814"/>
            <a:ext cx="330200" cy="3302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54" name="Engineer"/>
          <p:cNvSpPr/>
          <p:nvPr/>
        </p:nvSpPr>
        <p:spPr>
          <a:xfrm>
            <a:off x="1504999" y="3998814"/>
            <a:ext cx="330200" cy="3302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55" name="Engineer"/>
          <p:cNvSpPr/>
          <p:nvPr/>
        </p:nvSpPr>
        <p:spPr>
          <a:xfrm>
            <a:off x="1163597" y="2948086"/>
            <a:ext cx="330200" cy="3302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56" name="Edge"/>
          <p:cNvSpPr/>
          <p:nvPr/>
        </p:nvSpPr>
        <p:spPr>
          <a:xfrm>
            <a:off x="6604000" y="2032000"/>
            <a:ext cx="557880" cy="118581"/>
          </a:xfrm>
          <a:prstGeom prst="line">
            <a:avLst/>
          </a:prstGeom>
          <a:ln w="6350">
            <a:solidFill>
              <a:srgbClr val="8E6F3E"/>
            </a:solidFill>
          </a:ln>
        </p:spPr>
        <p:txBody>
          <a:bodyPr/>
          <a:lstStyle/>
          <a:p>
            <a:endParaRPr lang="en-US" sz="1200">
              <a:solidFill>
                <a:srgbClr val="FFFFFF"/>
              </a:solidFill>
            </a:endParaRPr>
          </a:p>
        </p:txBody>
      </p:sp>
      <p:sp>
        <p:nvSpPr>
          <p:cNvPr id="57" name="Edge"/>
          <p:cNvSpPr/>
          <p:nvPr/>
        </p:nvSpPr>
        <p:spPr>
          <a:xfrm>
            <a:off x="6604000" y="2032000"/>
            <a:ext cx="1019297" cy="453820"/>
          </a:xfrm>
          <a:prstGeom prst="line">
            <a:avLst/>
          </a:prstGeom>
          <a:ln w="6350">
            <a:solidFill>
              <a:srgbClr val="8E6F3E"/>
            </a:solidFill>
          </a:ln>
        </p:spPr>
        <p:txBody>
          <a:bodyPr/>
          <a:lstStyle/>
          <a:p>
            <a:endParaRPr lang="en-US" sz="1200">
              <a:solidFill>
                <a:srgbClr val="FFFFFF"/>
              </a:solidFill>
            </a:endParaRPr>
          </a:p>
        </p:txBody>
      </p:sp>
      <p:sp>
        <p:nvSpPr>
          <p:cNvPr id="58" name="Edge"/>
          <p:cNvSpPr/>
          <p:nvPr/>
        </p:nvSpPr>
        <p:spPr>
          <a:xfrm>
            <a:off x="6604000" y="2032000"/>
            <a:ext cx="1304469" cy="947752"/>
          </a:xfrm>
          <a:prstGeom prst="line">
            <a:avLst/>
          </a:prstGeom>
          <a:ln w="6350">
            <a:solidFill>
              <a:srgbClr val="8E6F3E"/>
            </a:solidFill>
          </a:ln>
        </p:spPr>
        <p:txBody>
          <a:bodyPr/>
          <a:lstStyle/>
          <a:p>
            <a:endParaRPr lang="en-US" sz="1200">
              <a:solidFill>
                <a:srgbClr val="FFFFFF"/>
              </a:solidFill>
            </a:endParaRPr>
          </a:p>
        </p:txBody>
      </p:sp>
      <p:sp>
        <p:nvSpPr>
          <p:cNvPr id="59" name="Edge"/>
          <p:cNvSpPr/>
          <p:nvPr/>
        </p:nvSpPr>
        <p:spPr>
          <a:xfrm>
            <a:off x="6604000" y="2032000"/>
            <a:ext cx="1364086" cy="1514971"/>
          </a:xfrm>
          <a:prstGeom prst="line">
            <a:avLst/>
          </a:prstGeom>
          <a:ln w="6350">
            <a:solidFill>
              <a:srgbClr val="8E6F3E"/>
            </a:solidFill>
          </a:ln>
        </p:spPr>
        <p:txBody>
          <a:bodyPr/>
          <a:lstStyle/>
          <a:p>
            <a:endParaRPr lang="en-US" sz="1200">
              <a:solidFill>
                <a:srgbClr val="FFFFFF"/>
              </a:solidFill>
            </a:endParaRPr>
          </a:p>
        </p:txBody>
      </p:sp>
      <p:sp>
        <p:nvSpPr>
          <p:cNvPr id="60" name="Edge"/>
          <p:cNvSpPr/>
          <p:nvPr/>
        </p:nvSpPr>
        <p:spPr>
          <a:xfrm>
            <a:off x="6604000" y="2032000"/>
            <a:ext cx="1187840" cy="2057400"/>
          </a:xfrm>
          <a:prstGeom prst="line">
            <a:avLst/>
          </a:prstGeom>
          <a:ln w="6350">
            <a:solidFill>
              <a:srgbClr val="8E6F3E"/>
            </a:solidFill>
          </a:ln>
        </p:spPr>
        <p:txBody>
          <a:bodyPr/>
          <a:lstStyle/>
          <a:p>
            <a:endParaRPr lang="en-US" sz="1200">
              <a:solidFill>
                <a:srgbClr val="FFFFFF"/>
              </a:solidFill>
            </a:endParaRPr>
          </a:p>
        </p:txBody>
      </p:sp>
      <p:sp>
        <p:nvSpPr>
          <p:cNvPr id="61" name="Edge"/>
          <p:cNvSpPr/>
          <p:nvPr/>
        </p:nvSpPr>
        <p:spPr>
          <a:xfrm>
            <a:off x="6604000" y="2032000"/>
            <a:ext cx="806206" cy="2481248"/>
          </a:xfrm>
          <a:prstGeom prst="line">
            <a:avLst/>
          </a:prstGeom>
          <a:ln w="6350">
            <a:solidFill>
              <a:srgbClr val="8E6F3E"/>
            </a:solidFill>
          </a:ln>
        </p:spPr>
        <p:txBody>
          <a:bodyPr/>
          <a:lstStyle/>
          <a:p>
            <a:endParaRPr lang="en-US" sz="1200">
              <a:solidFill>
                <a:srgbClr val="FFFFFF"/>
              </a:solidFill>
            </a:endParaRPr>
          </a:p>
        </p:txBody>
      </p:sp>
      <p:sp>
        <p:nvSpPr>
          <p:cNvPr id="62" name="Edge"/>
          <p:cNvSpPr/>
          <p:nvPr/>
        </p:nvSpPr>
        <p:spPr>
          <a:xfrm>
            <a:off x="6604000" y="2032000"/>
            <a:ext cx="285172" cy="2713227"/>
          </a:xfrm>
          <a:prstGeom prst="line">
            <a:avLst/>
          </a:prstGeom>
          <a:ln w="6350">
            <a:solidFill>
              <a:srgbClr val="8E6F3E"/>
            </a:solidFill>
          </a:ln>
        </p:spPr>
        <p:txBody>
          <a:bodyPr/>
          <a:lstStyle/>
          <a:p>
            <a:endParaRPr lang="en-US" sz="1200">
              <a:solidFill>
                <a:srgbClr val="FFFFFF"/>
              </a:solidFill>
            </a:endParaRPr>
          </a:p>
        </p:txBody>
      </p:sp>
      <p:sp>
        <p:nvSpPr>
          <p:cNvPr id="63" name="Edge"/>
          <p:cNvSpPr/>
          <p:nvPr/>
        </p:nvSpPr>
        <p:spPr>
          <a:xfrm flipH="1">
            <a:off x="6318828" y="2032000"/>
            <a:ext cx="285172" cy="2713227"/>
          </a:xfrm>
          <a:prstGeom prst="line">
            <a:avLst/>
          </a:prstGeom>
          <a:ln w="6350">
            <a:solidFill>
              <a:srgbClr val="8E6F3E"/>
            </a:solidFill>
          </a:ln>
        </p:spPr>
        <p:txBody>
          <a:bodyPr/>
          <a:lstStyle/>
          <a:p>
            <a:endParaRPr lang="en-US" sz="1200">
              <a:solidFill>
                <a:srgbClr val="FFFFFF"/>
              </a:solidFill>
            </a:endParaRPr>
          </a:p>
        </p:txBody>
      </p:sp>
      <p:sp>
        <p:nvSpPr>
          <p:cNvPr id="64" name="Edge"/>
          <p:cNvSpPr/>
          <p:nvPr/>
        </p:nvSpPr>
        <p:spPr>
          <a:xfrm flipH="1">
            <a:off x="5797794" y="2032000"/>
            <a:ext cx="806206" cy="2481248"/>
          </a:xfrm>
          <a:prstGeom prst="line">
            <a:avLst/>
          </a:prstGeom>
          <a:ln w="6350">
            <a:solidFill>
              <a:srgbClr val="8E6F3E"/>
            </a:solidFill>
          </a:ln>
        </p:spPr>
        <p:txBody>
          <a:bodyPr/>
          <a:lstStyle/>
          <a:p>
            <a:endParaRPr lang="en-US" sz="1200">
              <a:solidFill>
                <a:srgbClr val="FFFFFF"/>
              </a:solidFill>
            </a:endParaRPr>
          </a:p>
        </p:txBody>
      </p:sp>
      <p:sp>
        <p:nvSpPr>
          <p:cNvPr id="65" name="Edge"/>
          <p:cNvSpPr/>
          <p:nvPr/>
        </p:nvSpPr>
        <p:spPr>
          <a:xfrm flipH="1">
            <a:off x="5416160" y="2032000"/>
            <a:ext cx="1187840" cy="2057400"/>
          </a:xfrm>
          <a:prstGeom prst="line">
            <a:avLst/>
          </a:prstGeom>
          <a:ln w="6350">
            <a:solidFill>
              <a:srgbClr val="8E6F3E"/>
            </a:solidFill>
          </a:ln>
        </p:spPr>
        <p:txBody>
          <a:bodyPr/>
          <a:lstStyle/>
          <a:p>
            <a:endParaRPr lang="en-US" sz="1200">
              <a:solidFill>
                <a:srgbClr val="FFFFFF"/>
              </a:solidFill>
            </a:endParaRPr>
          </a:p>
        </p:txBody>
      </p:sp>
      <p:sp>
        <p:nvSpPr>
          <p:cNvPr id="66" name="Edge"/>
          <p:cNvSpPr/>
          <p:nvPr/>
        </p:nvSpPr>
        <p:spPr>
          <a:xfrm flipH="1">
            <a:off x="5239914" y="2032000"/>
            <a:ext cx="1364086" cy="1514971"/>
          </a:xfrm>
          <a:prstGeom prst="line">
            <a:avLst/>
          </a:prstGeom>
          <a:ln w="6350">
            <a:solidFill>
              <a:srgbClr val="8E6F3E"/>
            </a:solidFill>
          </a:ln>
        </p:spPr>
        <p:txBody>
          <a:bodyPr/>
          <a:lstStyle/>
          <a:p>
            <a:endParaRPr lang="en-US" sz="1200">
              <a:solidFill>
                <a:srgbClr val="FFFFFF"/>
              </a:solidFill>
            </a:endParaRPr>
          </a:p>
        </p:txBody>
      </p:sp>
      <p:sp>
        <p:nvSpPr>
          <p:cNvPr id="67" name="Edge"/>
          <p:cNvSpPr/>
          <p:nvPr/>
        </p:nvSpPr>
        <p:spPr>
          <a:xfrm flipH="1">
            <a:off x="5299531" y="2032000"/>
            <a:ext cx="1304469" cy="947752"/>
          </a:xfrm>
          <a:prstGeom prst="line">
            <a:avLst/>
          </a:prstGeom>
          <a:ln w="6350">
            <a:solidFill>
              <a:srgbClr val="8E6F3E"/>
            </a:solidFill>
          </a:ln>
        </p:spPr>
        <p:txBody>
          <a:bodyPr/>
          <a:lstStyle/>
          <a:p>
            <a:endParaRPr lang="en-US" sz="1200">
              <a:solidFill>
                <a:srgbClr val="FFFFFF"/>
              </a:solidFill>
            </a:endParaRPr>
          </a:p>
        </p:txBody>
      </p:sp>
      <p:sp>
        <p:nvSpPr>
          <p:cNvPr id="68" name="Edge"/>
          <p:cNvSpPr/>
          <p:nvPr/>
        </p:nvSpPr>
        <p:spPr>
          <a:xfrm flipH="1">
            <a:off x="5584703" y="2032000"/>
            <a:ext cx="1019297" cy="453820"/>
          </a:xfrm>
          <a:prstGeom prst="line">
            <a:avLst/>
          </a:prstGeom>
          <a:ln w="6350">
            <a:solidFill>
              <a:srgbClr val="8E6F3E"/>
            </a:solidFill>
          </a:ln>
        </p:spPr>
        <p:txBody>
          <a:bodyPr/>
          <a:lstStyle/>
          <a:p>
            <a:endParaRPr lang="en-US" sz="1200">
              <a:solidFill>
                <a:srgbClr val="FFFFFF"/>
              </a:solidFill>
            </a:endParaRPr>
          </a:p>
        </p:txBody>
      </p:sp>
      <p:sp>
        <p:nvSpPr>
          <p:cNvPr id="69" name="Edge"/>
          <p:cNvSpPr/>
          <p:nvPr/>
        </p:nvSpPr>
        <p:spPr>
          <a:xfrm flipH="1">
            <a:off x="6046120" y="2032000"/>
            <a:ext cx="557880" cy="118581"/>
          </a:xfrm>
          <a:prstGeom prst="line">
            <a:avLst/>
          </a:prstGeom>
          <a:ln w="6350">
            <a:solidFill>
              <a:srgbClr val="8E6F3E"/>
            </a:solidFill>
          </a:ln>
        </p:spPr>
        <p:txBody>
          <a:bodyPr/>
          <a:lstStyle/>
          <a:p>
            <a:endParaRPr lang="en-US" sz="1200">
              <a:solidFill>
                <a:srgbClr val="FFFFFF"/>
              </a:solidFill>
            </a:endParaRPr>
          </a:p>
        </p:txBody>
      </p:sp>
      <p:sp>
        <p:nvSpPr>
          <p:cNvPr id="70" name="Edge"/>
          <p:cNvSpPr/>
          <p:nvPr/>
        </p:nvSpPr>
        <p:spPr>
          <a:xfrm>
            <a:off x="7161880" y="2150581"/>
            <a:ext cx="461417" cy="335239"/>
          </a:xfrm>
          <a:prstGeom prst="line">
            <a:avLst/>
          </a:prstGeom>
          <a:ln w="6350">
            <a:solidFill>
              <a:srgbClr val="8E6F3E"/>
            </a:solidFill>
          </a:ln>
        </p:spPr>
        <p:txBody>
          <a:bodyPr/>
          <a:lstStyle/>
          <a:p>
            <a:endParaRPr lang="en-US" sz="1200">
              <a:solidFill>
                <a:srgbClr val="FFFFFF"/>
              </a:solidFill>
            </a:endParaRPr>
          </a:p>
        </p:txBody>
      </p:sp>
      <p:sp>
        <p:nvSpPr>
          <p:cNvPr id="71" name="Edge"/>
          <p:cNvSpPr/>
          <p:nvPr/>
        </p:nvSpPr>
        <p:spPr>
          <a:xfrm>
            <a:off x="7161880" y="2150581"/>
            <a:ext cx="746589" cy="829171"/>
          </a:xfrm>
          <a:prstGeom prst="line">
            <a:avLst/>
          </a:prstGeom>
          <a:ln w="6350">
            <a:solidFill>
              <a:srgbClr val="8E6F3E"/>
            </a:solidFill>
          </a:ln>
        </p:spPr>
        <p:txBody>
          <a:bodyPr/>
          <a:lstStyle/>
          <a:p>
            <a:endParaRPr lang="en-US" sz="1200">
              <a:solidFill>
                <a:srgbClr val="FFFFFF"/>
              </a:solidFill>
            </a:endParaRPr>
          </a:p>
        </p:txBody>
      </p:sp>
      <p:sp>
        <p:nvSpPr>
          <p:cNvPr id="72" name="Edge"/>
          <p:cNvSpPr/>
          <p:nvPr/>
        </p:nvSpPr>
        <p:spPr>
          <a:xfrm>
            <a:off x="7161880" y="2150581"/>
            <a:ext cx="806206" cy="1396390"/>
          </a:xfrm>
          <a:prstGeom prst="line">
            <a:avLst/>
          </a:prstGeom>
          <a:ln w="6350">
            <a:solidFill>
              <a:srgbClr val="8E6F3E"/>
            </a:solidFill>
          </a:ln>
        </p:spPr>
        <p:txBody>
          <a:bodyPr/>
          <a:lstStyle/>
          <a:p>
            <a:endParaRPr lang="en-US" sz="1200">
              <a:solidFill>
                <a:srgbClr val="FFFFFF"/>
              </a:solidFill>
            </a:endParaRPr>
          </a:p>
        </p:txBody>
      </p:sp>
      <p:sp>
        <p:nvSpPr>
          <p:cNvPr id="73" name="Edge"/>
          <p:cNvSpPr/>
          <p:nvPr/>
        </p:nvSpPr>
        <p:spPr>
          <a:xfrm>
            <a:off x="7161880" y="2150581"/>
            <a:ext cx="629960" cy="1938819"/>
          </a:xfrm>
          <a:prstGeom prst="line">
            <a:avLst/>
          </a:prstGeom>
          <a:ln w="6350">
            <a:solidFill>
              <a:srgbClr val="8E6F3E"/>
            </a:solidFill>
          </a:ln>
        </p:spPr>
        <p:txBody>
          <a:bodyPr/>
          <a:lstStyle/>
          <a:p>
            <a:endParaRPr lang="en-US" sz="1200">
              <a:solidFill>
                <a:srgbClr val="FFFFFF"/>
              </a:solidFill>
            </a:endParaRPr>
          </a:p>
        </p:txBody>
      </p:sp>
      <p:sp>
        <p:nvSpPr>
          <p:cNvPr id="74" name="Edge"/>
          <p:cNvSpPr/>
          <p:nvPr/>
        </p:nvSpPr>
        <p:spPr>
          <a:xfrm>
            <a:off x="7161880" y="2150581"/>
            <a:ext cx="248326" cy="2362667"/>
          </a:xfrm>
          <a:prstGeom prst="line">
            <a:avLst/>
          </a:prstGeom>
          <a:ln w="6350">
            <a:solidFill>
              <a:srgbClr val="8E6F3E"/>
            </a:solidFill>
          </a:ln>
        </p:spPr>
        <p:txBody>
          <a:bodyPr/>
          <a:lstStyle/>
          <a:p>
            <a:endParaRPr lang="en-US" sz="1200">
              <a:solidFill>
                <a:srgbClr val="FFFFFF"/>
              </a:solidFill>
            </a:endParaRPr>
          </a:p>
        </p:txBody>
      </p:sp>
      <p:sp>
        <p:nvSpPr>
          <p:cNvPr id="75" name="Edge"/>
          <p:cNvSpPr/>
          <p:nvPr/>
        </p:nvSpPr>
        <p:spPr>
          <a:xfrm flipH="1">
            <a:off x="6889172" y="2150581"/>
            <a:ext cx="272708" cy="2594646"/>
          </a:xfrm>
          <a:prstGeom prst="line">
            <a:avLst/>
          </a:prstGeom>
          <a:ln w="6350">
            <a:solidFill>
              <a:srgbClr val="8E6F3E"/>
            </a:solidFill>
          </a:ln>
        </p:spPr>
        <p:txBody>
          <a:bodyPr/>
          <a:lstStyle/>
          <a:p>
            <a:endParaRPr lang="en-US" sz="1200">
              <a:solidFill>
                <a:srgbClr val="FFFFFF"/>
              </a:solidFill>
            </a:endParaRPr>
          </a:p>
        </p:txBody>
      </p:sp>
      <p:sp>
        <p:nvSpPr>
          <p:cNvPr id="76" name="Edge"/>
          <p:cNvSpPr/>
          <p:nvPr/>
        </p:nvSpPr>
        <p:spPr>
          <a:xfrm flipH="1">
            <a:off x="6318828" y="2150581"/>
            <a:ext cx="843052" cy="2594646"/>
          </a:xfrm>
          <a:prstGeom prst="line">
            <a:avLst/>
          </a:prstGeom>
          <a:ln w="6350">
            <a:solidFill>
              <a:srgbClr val="8E6F3E"/>
            </a:solidFill>
          </a:ln>
        </p:spPr>
        <p:txBody>
          <a:bodyPr/>
          <a:lstStyle/>
          <a:p>
            <a:endParaRPr lang="en-US" sz="1200">
              <a:solidFill>
                <a:srgbClr val="FFFFFF"/>
              </a:solidFill>
            </a:endParaRPr>
          </a:p>
        </p:txBody>
      </p:sp>
      <p:sp>
        <p:nvSpPr>
          <p:cNvPr id="77" name="Edge"/>
          <p:cNvSpPr/>
          <p:nvPr/>
        </p:nvSpPr>
        <p:spPr>
          <a:xfrm flipH="1">
            <a:off x="5797794" y="2150581"/>
            <a:ext cx="1364086" cy="2362667"/>
          </a:xfrm>
          <a:prstGeom prst="line">
            <a:avLst/>
          </a:prstGeom>
          <a:ln w="6350">
            <a:solidFill>
              <a:srgbClr val="8E6F3E"/>
            </a:solidFill>
          </a:ln>
        </p:spPr>
        <p:txBody>
          <a:bodyPr/>
          <a:lstStyle/>
          <a:p>
            <a:endParaRPr lang="en-US" sz="1200">
              <a:solidFill>
                <a:srgbClr val="FFFFFF"/>
              </a:solidFill>
            </a:endParaRPr>
          </a:p>
        </p:txBody>
      </p:sp>
      <p:sp>
        <p:nvSpPr>
          <p:cNvPr id="78" name="Edge"/>
          <p:cNvSpPr/>
          <p:nvPr/>
        </p:nvSpPr>
        <p:spPr>
          <a:xfrm flipH="1">
            <a:off x="5416160" y="2150581"/>
            <a:ext cx="1745720" cy="1938819"/>
          </a:xfrm>
          <a:prstGeom prst="line">
            <a:avLst/>
          </a:prstGeom>
          <a:ln w="6350">
            <a:solidFill>
              <a:srgbClr val="8E6F3E"/>
            </a:solidFill>
          </a:ln>
        </p:spPr>
        <p:txBody>
          <a:bodyPr/>
          <a:lstStyle/>
          <a:p>
            <a:endParaRPr lang="en-US" sz="1200">
              <a:solidFill>
                <a:srgbClr val="FFFFFF"/>
              </a:solidFill>
            </a:endParaRPr>
          </a:p>
        </p:txBody>
      </p:sp>
      <p:sp>
        <p:nvSpPr>
          <p:cNvPr id="79" name="Edge"/>
          <p:cNvSpPr/>
          <p:nvPr/>
        </p:nvSpPr>
        <p:spPr>
          <a:xfrm flipH="1">
            <a:off x="5239914" y="2150581"/>
            <a:ext cx="1921966" cy="1396390"/>
          </a:xfrm>
          <a:prstGeom prst="line">
            <a:avLst/>
          </a:prstGeom>
          <a:ln w="6350">
            <a:solidFill>
              <a:srgbClr val="8E6F3E"/>
            </a:solidFill>
          </a:ln>
        </p:spPr>
        <p:txBody>
          <a:bodyPr/>
          <a:lstStyle/>
          <a:p>
            <a:endParaRPr lang="en-US" sz="1200">
              <a:solidFill>
                <a:srgbClr val="FFFFFF"/>
              </a:solidFill>
            </a:endParaRPr>
          </a:p>
        </p:txBody>
      </p:sp>
      <p:sp>
        <p:nvSpPr>
          <p:cNvPr id="80" name="Edge"/>
          <p:cNvSpPr/>
          <p:nvPr/>
        </p:nvSpPr>
        <p:spPr>
          <a:xfrm flipH="1">
            <a:off x="5299531" y="2150581"/>
            <a:ext cx="1862349" cy="829171"/>
          </a:xfrm>
          <a:prstGeom prst="line">
            <a:avLst/>
          </a:prstGeom>
          <a:ln w="6350">
            <a:solidFill>
              <a:srgbClr val="8E6F3E"/>
            </a:solidFill>
          </a:ln>
        </p:spPr>
        <p:txBody>
          <a:bodyPr/>
          <a:lstStyle/>
          <a:p>
            <a:endParaRPr lang="en-US" sz="1200">
              <a:solidFill>
                <a:srgbClr val="FFFFFF"/>
              </a:solidFill>
            </a:endParaRPr>
          </a:p>
        </p:txBody>
      </p:sp>
      <p:sp>
        <p:nvSpPr>
          <p:cNvPr id="81" name="Edge"/>
          <p:cNvSpPr/>
          <p:nvPr/>
        </p:nvSpPr>
        <p:spPr>
          <a:xfrm flipH="1">
            <a:off x="5584703" y="2150581"/>
            <a:ext cx="1577177" cy="335239"/>
          </a:xfrm>
          <a:prstGeom prst="line">
            <a:avLst/>
          </a:prstGeom>
          <a:ln w="6350">
            <a:solidFill>
              <a:srgbClr val="8E6F3E"/>
            </a:solidFill>
          </a:ln>
        </p:spPr>
        <p:txBody>
          <a:bodyPr/>
          <a:lstStyle/>
          <a:p>
            <a:endParaRPr lang="en-US" sz="1200">
              <a:solidFill>
                <a:srgbClr val="FFFFFF"/>
              </a:solidFill>
            </a:endParaRPr>
          </a:p>
        </p:txBody>
      </p:sp>
      <p:sp>
        <p:nvSpPr>
          <p:cNvPr id="82" name="Edge"/>
          <p:cNvSpPr/>
          <p:nvPr/>
        </p:nvSpPr>
        <p:spPr>
          <a:xfrm flipH="1" flipV="1">
            <a:off x="6046120" y="2150581"/>
            <a:ext cx="1115760" cy="5080"/>
          </a:xfrm>
          <a:prstGeom prst="line">
            <a:avLst/>
          </a:prstGeom>
          <a:ln w="6350">
            <a:solidFill>
              <a:srgbClr val="8E6F3E"/>
            </a:solidFill>
          </a:ln>
        </p:spPr>
        <p:txBody>
          <a:bodyPr/>
          <a:lstStyle/>
          <a:p>
            <a:endParaRPr lang="en-US" sz="1200">
              <a:solidFill>
                <a:srgbClr val="FFFFFF"/>
              </a:solidFill>
            </a:endParaRPr>
          </a:p>
        </p:txBody>
      </p:sp>
      <p:sp>
        <p:nvSpPr>
          <p:cNvPr id="83" name="Edge"/>
          <p:cNvSpPr/>
          <p:nvPr/>
        </p:nvSpPr>
        <p:spPr>
          <a:xfrm>
            <a:off x="7623297" y="2485820"/>
            <a:ext cx="285172" cy="493932"/>
          </a:xfrm>
          <a:prstGeom prst="line">
            <a:avLst/>
          </a:prstGeom>
          <a:ln w="6350">
            <a:solidFill>
              <a:srgbClr val="8E6F3E"/>
            </a:solidFill>
          </a:ln>
        </p:spPr>
        <p:txBody>
          <a:bodyPr/>
          <a:lstStyle/>
          <a:p>
            <a:endParaRPr lang="en-US" sz="1200">
              <a:solidFill>
                <a:srgbClr val="FFFFFF"/>
              </a:solidFill>
            </a:endParaRPr>
          </a:p>
        </p:txBody>
      </p:sp>
      <p:sp>
        <p:nvSpPr>
          <p:cNvPr id="84" name="Edge"/>
          <p:cNvSpPr/>
          <p:nvPr/>
        </p:nvSpPr>
        <p:spPr>
          <a:xfrm>
            <a:off x="7623297" y="2485820"/>
            <a:ext cx="344789" cy="1061151"/>
          </a:xfrm>
          <a:prstGeom prst="line">
            <a:avLst/>
          </a:prstGeom>
          <a:ln w="6350">
            <a:solidFill>
              <a:srgbClr val="8E6F3E"/>
            </a:solidFill>
          </a:ln>
        </p:spPr>
        <p:txBody>
          <a:bodyPr/>
          <a:lstStyle/>
          <a:p>
            <a:endParaRPr lang="en-US" sz="1200">
              <a:solidFill>
                <a:srgbClr val="FFFFFF"/>
              </a:solidFill>
            </a:endParaRPr>
          </a:p>
        </p:txBody>
      </p:sp>
      <p:sp>
        <p:nvSpPr>
          <p:cNvPr id="85" name="Edge"/>
          <p:cNvSpPr/>
          <p:nvPr/>
        </p:nvSpPr>
        <p:spPr>
          <a:xfrm>
            <a:off x="7623297" y="2485820"/>
            <a:ext cx="168543" cy="1603580"/>
          </a:xfrm>
          <a:prstGeom prst="line">
            <a:avLst/>
          </a:prstGeom>
          <a:ln w="6350">
            <a:solidFill>
              <a:srgbClr val="8E6F3E"/>
            </a:solidFill>
          </a:ln>
        </p:spPr>
        <p:txBody>
          <a:bodyPr/>
          <a:lstStyle/>
          <a:p>
            <a:endParaRPr lang="en-US" sz="1200">
              <a:solidFill>
                <a:srgbClr val="FFFFFF"/>
              </a:solidFill>
            </a:endParaRPr>
          </a:p>
        </p:txBody>
      </p:sp>
      <p:sp>
        <p:nvSpPr>
          <p:cNvPr id="86" name="Edge"/>
          <p:cNvSpPr/>
          <p:nvPr/>
        </p:nvSpPr>
        <p:spPr>
          <a:xfrm flipH="1">
            <a:off x="7410206" y="2485820"/>
            <a:ext cx="213091" cy="2027427"/>
          </a:xfrm>
          <a:prstGeom prst="line">
            <a:avLst/>
          </a:prstGeom>
          <a:ln w="6350">
            <a:solidFill>
              <a:srgbClr val="8E6F3E"/>
            </a:solidFill>
          </a:ln>
        </p:spPr>
        <p:txBody>
          <a:bodyPr/>
          <a:lstStyle/>
          <a:p>
            <a:endParaRPr lang="en-US" sz="1200">
              <a:solidFill>
                <a:srgbClr val="FFFFFF"/>
              </a:solidFill>
            </a:endParaRPr>
          </a:p>
        </p:txBody>
      </p:sp>
      <p:sp>
        <p:nvSpPr>
          <p:cNvPr id="87" name="Edge"/>
          <p:cNvSpPr/>
          <p:nvPr/>
        </p:nvSpPr>
        <p:spPr>
          <a:xfrm flipH="1">
            <a:off x="6889172" y="2485820"/>
            <a:ext cx="734126" cy="2259407"/>
          </a:xfrm>
          <a:prstGeom prst="line">
            <a:avLst/>
          </a:prstGeom>
          <a:ln w="6350">
            <a:solidFill>
              <a:srgbClr val="8E6F3E"/>
            </a:solidFill>
          </a:ln>
        </p:spPr>
        <p:txBody>
          <a:bodyPr/>
          <a:lstStyle/>
          <a:p>
            <a:endParaRPr lang="en-US" sz="1200">
              <a:solidFill>
                <a:srgbClr val="FFFFFF"/>
              </a:solidFill>
            </a:endParaRPr>
          </a:p>
        </p:txBody>
      </p:sp>
      <p:sp>
        <p:nvSpPr>
          <p:cNvPr id="88" name="Edge"/>
          <p:cNvSpPr/>
          <p:nvPr/>
        </p:nvSpPr>
        <p:spPr>
          <a:xfrm flipH="1">
            <a:off x="6318828" y="2485820"/>
            <a:ext cx="1304469" cy="2259407"/>
          </a:xfrm>
          <a:prstGeom prst="line">
            <a:avLst/>
          </a:prstGeom>
          <a:ln w="6350">
            <a:solidFill>
              <a:srgbClr val="8E6F3E"/>
            </a:solidFill>
          </a:ln>
        </p:spPr>
        <p:txBody>
          <a:bodyPr/>
          <a:lstStyle/>
          <a:p>
            <a:endParaRPr lang="en-US" sz="1200">
              <a:solidFill>
                <a:srgbClr val="FFFFFF"/>
              </a:solidFill>
            </a:endParaRPr>
          </a:p>
        </p:txBody>
      </p:sp>
      <p:sp>
        <p:nvSpPr>
          <p:cNvPr id="89" name="Edge"/>
          <p:cNvSpPr/>
          <p:nvPr/>
        </p:nvSpPr>
        <p:spPr>
          <a:xfrm flipH="1">
            <a:off x="5797794" y="2485820"/>
            <a:ext cx="1825504" cy="2027427"/>
          </a:xfrm>
          <a:prstGeom prst="line">
            <a:avLst/>
          </a:prstGeom>
          <a:ln w="6350">
            <a:solidFill>
              <a:srgbClr val="8E6F3E"/>
            </a:solidFill>
          </a:ln>
        </p:spPr>
        <p:txBody>
          <a:bodyPr/>
          <a:lstStyle/>
          <a:p>
            <a:endParaRPr lang="en-US" sz="1200">
              <a:solidFill>
                <a:srgbClr val="FFFFFF"/>
              </a:solidFill>
            </a:endParaRPr>
          </a:p>
        </p:txBody>
      </p:sp>
      <p:sp>
        <p:nvSpPr>
          <p:cNvPr id="90" name="Edge"/>
          <p:cNvSpPr/>
          <p:nvPr/>
        </p:nvSpPr>
        <p:spPr>
          <a:xfrm flipH="1">
            <a:off x="5416160" y="2485820"/>
            <a:ext cx="2207138" cy="1603580"/>
          </a:xfrm>
          <a:prstGeom prst="line">
            <a:avLst/>
          </a:prstGeom>
          <a:ln w="6350">
            <a:solidFill>
              <a:srgbClr val="8E6F3E"/>
            </a:solidFill>
          </a:ln>
        </p:spPr>
        <p:txBody>
          <a:bodyPr/>
          <a:lstStyle/>
          <a:p>
            <a:endParaRPr lang="en-US" sz="1200">
              <a:solidFill>
                <a:srgbClr val="FFFFFF"/>
              </a:solidFill>
            </a:endParaRPr>
          </a:p>
        </p:txBody>
      </p:sp>
      <p:sp>
        <p:nvSpPr>
          <p:cNvPr id="91" name="Edge"/>
          <p:cNvSpPr/>
          <p:nvPr/>
        </p:nvSpPr>
        <p:spPr>
          <a:xfrm flipH="1">
            <a:off x="5239914" y="2485820"/>
            <a:ext cx="2383384" cy="1061151"/>
          </a:xfrm>
          <a:prstGeom prst="line">
            <a:avLst/>
          </a:prstGeom>
          <a:ln w="6350">
            <a:solidFill>
              <a:srgbClr val="8E6F3E"/>
            </a:solidFill>
          </a:ln>
        </p:spPr>
        <p:txBody>
          <a:bodyPr/>
          <a:lstStyle/>
          <a:p>
            <a:endParaRPr lang="en-US" sz="1200">
              <a:solidFill>
                <a:srgbClr val="FFFFFF"/>
              </a:solidFill>
            </a:endParaRPr>
          </a:p>
        </p:txBody>
      </p:sp>
      <p:sp>
        <p:nvSpPr>
          <p:cNvPr id="92" name="Edge"/>
          <p:cNvSpPr/>
          <p:nvPr/>
        </p:nvSpPr>
        <p:spPr>
          <a:xfrm flipH="1">
            <a:off x="5299531" y="2485820"/>
            <a:ext cx="2323767" cy="493932"/>
          </a:xfrm>
          <a:prstGeom prst="line">
            <a:avLst/>
          </a:prstGeom>
          <a:ln w="6350">
            <a:solidFill>
              <a:srgbClr val="8E6F3E"/>
            </a:solidFill>
          </a:ln>
        </p:spPr>
        <p:txBody>
          <a:bodyPr/>
          <a:lstStyle/>
          <a:p>
            <a:endParaRPr lang="en-US" sz="1200">
              <a:solidFill>
                <a:srgbClr val="FFFFFF"/>
              </a:solidFill>
            </a:endParaRPr>
          </a:p>
        </p:txBody>
      </p:sp>
      <p:sp>
        <p:nvSpPr>
          <p:cNvPr id="93" name="Edge"/>
          <p:cNvSpPr/>
          <p:nvPr/>
        </p:nvSpPr>
        <p:spPr>
          <a:xfrm flipH="1" flipV="1">
            <a:off x="5584703" y="2485820"/>
            <a:ext cx="2038595" cy="5080"/>
          </a:xfrm>
          <a:prstGeom prst="line">
            <a:avLst/>
          </a:prstGeom>
          <a:ln w="6350">
            <a:solidFill>
              <a:srgbClr val="8E6F3E"/>
            </a:solidFill>
          </a:ln>
        </p:spPr>
        <p:txBody>
          <a:bodyPr/>
          <a:lstStyle/>
          <a:p>
            <a:endParaRPr lang="en-US" sz="1200">
              <a:solidFill>
                <a:srgbClr val="FFFFFF"/>
              </a:solidFill>
            </a:endParaRPr>
          </a:p>
        </p:txBody>
      </p:sp>
      <p:sp>
        <p:nvSpPr>
          <p:cNvPr id="94" name="Edge"/>
          <p:cNvSpPr/>
          <p:nvPr/>
        </p:nvSpPr>
        <p:spPr>
          <a:xfrm flipH="1" flipV="1">
            <a:off x="6046120" y="2150581"/>
            <a:ext cx="1577177" cy="335239"/>
          </a:xfrm>
          <a:prstGeom prst="line">
            <a:avLst/>
          </a:prstGeom>
          <a:ln w="6350">
            <a:solidFill>
              <a:srgbClr val="8E6F3E"/>
            </a:solidFill>
          </a:ln>
        </p:spPr>
        <p:txBody>
          <a:bodyPr/>
          <a:lstStyle/>
          <a:p>
            <a:endParaRPr lang="en-US" sz="1200">
              <a:solidFill>
                <a:srgbClr val="FFFFFF"/>
              </a:solidFill>
            </a:endParaRPr>
          </a:p>
        </p:txBody>
      </p:sp>
      <p:sp>
        <p:nvSpPr>
          <p:cNvPr id="95" name="Edge"/>
          <p:cNvSpPr/>
          <p:nvPr/>
        </p:nvSpPr>
        <p:spPr>
          <a:xfrm>
            <a:off x="7908469" y="2979752"/>
            <a:ext cx="59617" cy="567219"/>
          </a:xfrm>
          <a:prstGeom prst="line">
            <a:avLst/>
          </a:prstGeom>
          <a:ln w="6350">
            <a:solidFill>
              <a:srgbClr val="8E6F3E"/>
            </a:solidFill>
          </a:ln>
        </p:spPr>
        <p:txBody>
          <a:bodyPr/>
          <a:lstStyle/>
          <a:p>
            <a:endParaRPr lang="en-US" sz="1200">
              <a:solidFill>
                <a:srgbClr val="FFFFFF"/>
              </a:solidFill>
            </a:endParaRPr>
          </a:p>
        </p:txBody>
      </p:sp>
      <p:sp>
        <p:nvSpPr>
          <p:cNvPr id="96" name="Edge"/>
          <p:cNvSpPr/>
          <p:nvPr/>
        </p:nvSpPr>
        <p:spPr>
          <a:xfrm flipH="1">
            <a:off x="7791840" y="2979752"/>
            <a:ext cx="116629" cy="1109648"/>
          </a:xfrm>
          <a:prstGeom prst="line">
            <a:avLst/>
          </a:prstGeom>
          <a:ln w="6350">
            <a:solidFill>
              <a:srgbClr val="8E6F3E"/>
            </a:solidFill>
          </a:ln>
        </p:spPr>
        <p:txBody>
          <a:bodyPr/>
          <a:lstStyle/>
          <a:p>
            <a:endParaRPr lang="en-US" sz="1200">
              <a:solidFill>
                <a:srgbClr val="FFFFFF"/>
              </a:solidFill>
            </a:endParaRPr>
          </a:p>
        </p:txBody>
      </p:sp>
      <p:sp>
        <p:nvSpPr>
          <p:cNvPr id="97" name="Edge"/>
          <p:cNvSpPr/>
          <p:nvPr/>
        </p:nvSpPr>
        <p:spPr>
          <a:xfrm flipH="1">
            <a:off x="7410206" y="2979752"/>
            <a:ext cx="498263" cy="1533495"/>
          </a:xfrm>
          <a:prstGeom prst="line">
            <a:avLst/>
          </a:prstGeom>
          <a:ln w="6350">
            <a:solidFill>
              <a:srgbClr val="8E6F3E"/>
            </a:solidFill>
          </a:ln>
        </p:spPr>
        <p:txBody>
          <a:bodyPr/>
          <a:lstStyle/>
          <a:p>
            <a:endParaRPr lang="en-US" sz="1200">
              <a:solidFill>
                <a:srgbClr val="FFFFFF"/>
              </a:solidFill>
            </a:endParaRPr>
          </a:p>
        </p:txBody>
      </p:sp>
      <p:sp>
        <p:nvSpPr>
          <p:cNvPr id="98" name="Edge"/>
          <p:cNvSpPr/>
          <p:nvPr/>
        </p:nvSpPr>
        <p:spPr>
          <a:xfrm flipH="1">
            <a:off x="6889172" y="2979752"/>
            <a:ext cx="1019297" cy="1765475"/>
          </a:xfrm>
          <a:prstGeom prst="line">
            <a:avLst/>
          </a:prstGeom>
          <a:ln w="6350">
            <a:solidFill>
              <a:srgbClr val="8E6F3E"/>
            </a:solidFill>
          </a:ln>
        </p:spPr>
        <p:txBody>
          <a:bodyPr/>
          <a:lstStyle/>
          <a:p>
            <a:endParaRPr lang="en-US" sz="1200">
              <a:solidFill>
                <a:srgbClr val="FFFFFF"/>
              </a:solidFill>
            </a:endParaRPr>
          </a:p>
        </p:txBody>
      </p:sp>
      <p:sp>
        <p:nvSpPr>
          <p:cNvPr id="99" name="Edge"/>
          <p:cNvSpPr/>
          <p:nvPr/>
        </p:nvSpPr>
        <p:spPr>
          <a:xfrm flipH="1">
            <a:off x="6318828" y="2979752"/>
            <a:ext cx="1589641" cy="1765475"/>
          </a:xfrm>
          <a:prstGeom prst="line">
            <a:avLst/>
          </a:prstGeom>
          <a:ln w="6350">
            <a:solidFill>
              <a:srgbClr val="8E6F3E"/>
            </a:solidFill>
          </a:ln>
        </p:spPr>
        <p:txBody>
          <a:bodyPr/>
          <a:lstStyle/>
          <a:p>
            <a:endParaRPr lang="en-US" sz="1200">
              <a:solidFill>
                <a:srgbClr val="FFFFFF"/>
              </a:solidFill>
            </a:endParaRPr>
          </a:p>
        </p:txBody>
      </p:sp>
      <p:sp>
        <p:nvSpPr>
          <p:cNvPr id="100" name="Edge"/>
          <p:cNvSpPr/>
          <p:nvPr/>
        </p:nvSpPr>
        <p:spPr>
          <a:xfrm flipH="1">
            <a:off x="5797794" y="2979752"/>
            <a:ext cx="2110675" cy="1533495"/>
          </a:xfrm>
          <a:prstGeom prst="line">
            <a:avLst/>
          </a:prstGeom>
          <a:ln w="6350">
            <a:solidFill>
              <a:srgbClr val="8E6F3E"/>
            </a:solidFill>
          </a:ln>
        </p:spPr>
        <p:txBody>
          <a:bodyPr/>
          <a:lstStyle/>
          <a:p>
            <a:endParaRPr lang="en-US" sz="1200">
              <a:solidFill>
                <a:srgbClr val="FFFFFF"/>
              </a:solidFill>
            </a:endParaRPr>
          </a:p>
        </p:txBody>
      </p:sp>
      <p:sp>
        <p:nvSpPr>
          <p:cNvPr id="101" name="Edge"/>
          <p:cNvSpPr/>
          <p:nvPr/>
        </p:nvSpPr>
        <p:spPr>
          <a:xfrm flipH="1">
            <a:off x="5416160" y="2979752"/>
            <a:ext cx="2492310" cy="1109648"/>
          </a:xfrm>
          <a:prstGeom prst="line">
            <a:avLst/>
          </a:prstGeom>
          <a:ln w="6350">
            <a:solidFill>
              <a:srgbClr val="8E6F3E"/>
            </a:solidFill>
          </a:ln>
        </p:spPr>
        <p:txBody>
          <a:bodyPr/>
          <a:lstStyle/>
          <a:p>
            <a:endParaRPr lang="en-US" sz="1200">
              <a:solidFill>
                <a:srgbClr val="FFFFFF"/>
              </a:solidFill>
            </a:endParaRPr>
          </a:p>
        </p:txBody>
      </p:sp>
      <p:sp>
        <p:nvSpPr>
          <p:cNvPr id="102" name="Edge"/>
          <p:cNvSpPr/>
          <p:nvPr/>
        </p:nvSpPr>
        <p:spPr>
          <a:xfrm flipH="1">
            <a:off x="5239914" y="2979752"/>
            <a:ext cx="2668555" cy="567219"/>
          </a:xfrm>
          <a:prstGeom prst="line">
            <a:avLst/>
          </a:prstGeom>
          <a:ln w="6350">
            <a:solidFill>
              <a:srgbClr val="8E6F3E"/>
            </a:solidFill>
          </a:ln>
        </p:spPr>
        <p:txBody>
          <a:bodyPr/>
          <a:lstStyle/>
          <a:p>
            <a:endParaRPr lang="en-US" sz="1200">
              <a:solidFill>
                <a:srgbClr val="FFFFFF"/>
              </a:solidFill>
            </a:endParaRPr>
          </a:p>
        </p:txBody>
      </p:sp>
      <p:sp>
        <p:nvSpPr>
          <p:cNvPr id="103" name="Edge"/>
          <p:cNvSpPr/>
          <p:nvPr/>
        </p:nvSpPr>
        <p:spPr>
          <a:xfrm flipH="1">
            <a:off x="5299531" y="2979752"/>
            <a:ext cx="2608938" cy="5080"/>
          </a:xfrm>
          <a:prstGeom prst="line">
            <a:avLst/>
          </a:prstGeom>
          <a:ln w="6350">
            <a:solidFill>
              <a:srgbClr val="8E6F3E"/>
            </a:solidFill>
          </a:ln>
        </p:spPr>
        <p:txBody>
          <a:bodyPr/>
          <a:lstStyle/>
          <a:p>
            <a:endParaRPr lang="en-US" sz="1200">
              <a:solidFill>
                <a:srgbClr val="FFFFFF"/>
              </a:solidFill>
            </a:endParaRPr>
          </a:p>
        </p:txBody>
      </p:sp>
      <p:sp>
        <p:nvSpPr>
          <p:cNvPr id="104" name="Edge"/>
          <p:cNvSpPr/>
          <p:nvPr/>
        </p:nvSpPr>
        <p:spPr>
          <a:xfrm flipH="1" flipV="1">
            <a:off x="5584703" y="2485820"/>
            <a:ext cx="2323767" cy="493932"/>
          </a:xfrm>
          <a:prstGeom prst="line">
            <a:avLst/>
          </a:prstGeom>
          <a:ln w="6350">
            <a:solidFill>
              <a:srgbClr val="8E6F3E"/>
            </a:solidFill>
          </a:ln>
        </p:spPr>
        <p:txBody>
          <a:bodyPr/>
          <a:lstStyle/>
          <a:p>
            <a:endParaRPr lang="en-US" sz="1200">
              <a:solidFill>
                <a:srgbClr val="FFFFFF"/>
              </a:solidFill>
            </a:endParaRPr>
          </a:p>
        </p:txBody>
      </p:sp>
      <p:sp>
        <p:nvSpPr>
          <p:cNvPr id="105" name="Edge"/>
          <p:cNvSpPr/>
          <p:nvPr/>
        </p:nvSpPr>
        <p:spPr>
          <a:xfrm flipH="1" flipV="1">
            <a:off x="6046120" y="2150581"/>
            <a:ext cx="1862349" cy="829171"/>
          </a:xfrm>
          <a:prstGeom prst="line">
            <a:avLst/>
          </a:prstGeom>
          <a:ln w="6350">
            <a:solidFill>
              <a:srgbClr val="8E6F3E"/>
            </a:solidFill>
          </a:ln>
        </p:spPr>
        <p:txBody>
          <a:bodyPr/>
          <a:lstStyle/>
          <a:p>
            <a:endParaRPr lang="en-US" sz="1200">
              <a:solidFill>
                <a:srgbClr val="FFFFFF"/>
              </a:solidFill>
            </a:endParaRPr>
          </a:p>
        </p:txBody>
      </p:sp>
      <p:sp>
        <p:nvSpPr>
          <p:cNvPr id="106" name="Edge"/>
          <p:cNvSpPr/>
          <p:nvPr/>
        </p:nvSpPr>
        <p:spPr>
          <a:xfrm flipH="1">
            <a:off x="7791840" y="3546971"/>
            <a:ext cx="176246" cy="542429"/>
          </a:xfrm>
          <a:prstGeom prst="line">
            <a:avLst/>
          </a:prstGeom>
          <a:ln w="6350">
            <a:solidFill>
              <a:srgbClr val="8E6F3E"/>
            </a:solidFill>
          </a:ln>
        </p:spPr>
        <p:txBody>
          <a:bodyPr/>
          <a:lstStyle/>
          <a:p>
            <a:endParaRPr lang="en-US" sz="1200">
              <a:solidFill>
                <a:srgbClr val="FFFFFF"/>
              </a:solidFill>
            </a:endParaRPr>
          </a:p>
        </p:txBody>
      </p:sp>
      <p:sp>
        <p:nvSpPr>
          <p:cNvPr id="107" name="Edge"/>
          <p:cNvSpPr/>
          <p:nvPr/>
        </p:nvSpPr>
        <p:spPr>
          <a:xfrm flipH="1">
            <a:off x="7410206" y="3546971"/>
            <a:ext cx="557880" cy="966276"/>
          </a:xfrm>
          <a:prstGeom prst="line">
            <a:avLst/>
          </a:prstGeom>
          <a:ln w="6350">
            <a:solidFill>
              <a:srgbClr val="8E6F3E"/>
            </a:solidFill>
          </a:ln>
        </p:spPr>
        <p:txBody>
          <a:bodyPr/>
          <a:lstStyle/>
          <a:p>
            <a:endParaRPr lang="en-US" sz="1200">
              <a:solidFill>
                <a:srgbClr val="FFFFFF"/>
              </a:solidFill>
            </a:endParaRPr>
          </a:p>
        </p:txBody>
      </p:sp>
      <p:sp>
        <p:nvSpPr>
          <p:cNvPr id="108" name="Edge"/>
          <p:cNvSpPr/>
          <p:nvPr/>
        </p:nvSpPr>
        <p:spPr>
          <a:xfrm flipH="1">
            <a:off x="6889172" y="3546971"/>
            <a:ext cx="1078915" cy="1198256"/>
          </a:xfrm>
          <a:prstGeom prst="line">
            <a:avLst/>
          </a:prstGeom>
          <a:ln w="6350">
            <a:solidFill>
              <a:srgbClr val="8E6F3E"/>
            </a:solidFill>
          </a:ln>
        </p:spPr>
        <p:txBody>
          <a:bodyPr/>
          <a:lstStyle/>
          <a:p>
            <a:endParaRPr lang="en-US" sz="1200">
              <a:solidFill>
                <a:srgbClr val="FFFFFF"/>
              </a:solidFill>
            </a:endParaRPr>
          </a:p>
        </p:txBody>
      </p:sp>
      <p:sp>
        <p:nvSpPr>
          <p:cNvPr id="109" name="Edge"/>
          <p:cNvSpPr/>
          <p:nvPr/>
        </p:nvSpPr>
        <p:spPr>
          <a:xfrm flipH="1">
            <a:off x="6318828" y="3546971"/>
            <a:ext cx="1649258" cy="1198256"/>
          </a:xfrm>
          <a:prstGeom prst="line">
            <a:avLst/>
          </a:prstGeom>
          <a:ln w="6350">
            <a:solidFill>
              <a:srgbClr val="8E6F3E"/>
            </a:solidFill>
          </a:ln>
        </p:spPr>
        <p:txBody>
          <a:bodyPr/>
          <a:lstStyle/>
          <a:p>
            <a:endParaRPr lang="en-US" sz="1200">
              <a:solidFill>
                <a:srgbClr val="FFFFFF"/>
              </a:solidFill>
            </a:endParaRPr>
          </a:p>
        </p:txBody>
      </p:sp>
      <p:sp>
        <p:nvSpPr>
          <p:cNvPr id="110" name="Edge"/>
          <p:cNvSpPr/>
          <p:nvPr/>
        </p:nvSpPr>
        <p:spPr>
          <a:xfrm flipH="1">
            <a:off x="5797794" y="3546971"/>
            <a:ext cx="2170292" cy="966276"/>
          </a:xfrm>
          <a:prstGeom prst="line">
            <a:avLst/>
          </a:prstGeom>
          <a:ln w="6350">
            <a:solidFill>
              <a:srgbClr val="8E6F3E"/>
            </a:solidFill>
          </a:ln>
        </p:spPr>
        <p:txBody>
          <a:bodyPr/>
          <a:lstStyle/>
          <a:p>
            <a:endParaRPr lang="en-US" sz="1200">
              <a:solidFill>
                <a:srgbClr val="FFFFFF"/>
              </a:solidFill>
            </a:endParaRPr>
          </a:p>
        </p:txBody>
      </p:sp>
      <p:sp>
        <p:nvSpPr>
          <p:cNvPr id="111" name="Edge"/>
          <p:cNvSpPr/>
          <p:nvPr/>
        </p:nvSpPr>
        <p:spPr>
          <a:xfrm flipH="1">
            <a:off x="5416160" y="3546971"/>
            <a:ext cx="2551927" cy="542429"/>
          </a:xfrm>
          <a:prstGeom prst="line">
            <a:avLst/>
          </a:prstGeom>
          <a:ln w="6350">
            <a:solidFill>
              <a:srgbClr val="8E6F3E"/>
            </a:solidFill>
          </a:ln>
        </p:spPr>
        <p:txBody>
          <a:bodyPr/>
          <a:lstStyle/>
          <a:p>
            <a:endParaRPr lang="en-US" sz="1200">
              <a:solidFill>
                <a:srgbClr val="FFFFFF"/>
              </a:solidFill>
            </a:endParaRPr>
          </a:p>
        </p:txBody>
      </p:sp>
      <p:sp>
        <p:nvSpPr>
          <p:cNvPr id="112" name="Edge"/>
          <p:cNvSpPr/>
          <p:nvPr/>
        </p:nvSpPr>
        <p:spPr>
          <a:xfrm flipH="1">
            <a:off x="5239914" y="3546971"/>
            <a:ext cx="2728172" cy="5080"/>
          </a:xfrm>
          <a:prstGeom prst="line">
            <a:avLst/>
          </a:prstGeom>
          <a:ln w="6350">
            <a:solidFill>
              <a:srgbClr val="8E6F3E"/>
            </a:solidFill>
          </a:ln>
        </p:spPr>
        <p:txBody>
          <a:bodyPr/>
          <a:lstStyle/>
          <a:p>
            <a:endParaRPr lang="en-US" sz="1200">
              <a:solidFill>
                <a:srgbClr val="FFFFFF"/>
              </a:solidFill>
            </a:endParaRPr>
          </a:p>
        </p:txBody>
      </p:sp>
      <p:sp>
        <p:nvSpPr>
          <p:cNvPr id="113" name="Edge"/>
          <p:cNvSpPr/>
          <p:nvPr/>
        </p:nvSpPr>
        <p:spPr>
          <a:xfrm flipH="1" flipV="1">
            <a:off x="5299531" y="2979752"/>
            <a:ext cx="2668555" cy="567219"/>
          </a:xfrm>
          <a:prstGeom prst="line">
            <a:avLst/>
          </a:prstGeom>
          <a:ln w="6350">
            <a:solidFill>
              <a:srgbClr val="8E6F3E"/>
            </a:solidFill>
          </a:ln>
        </p:spPr>
        <p:txBody>
          <a:bodyPr/>
          <a:lstStyle/>
          <a:p>
            <a:endParaRPr lang="en-US" sz="1200">
              <a:solidFill>
                <a:srgbClr val="FFFFFF"/>
              </a:solidFill>
            </a:endParaRPr>
          </a:p>
        </p:txBody>
      </p:sp>
      <p:sp>
        <p:nvSpPr>
          <p:cNvPr id="114" name="Edge"/>
          <p:cNvSpPr/>
          <p:nvPr/>
        </p:nvSpPr>
        <p:spPr>
          <a:xfrm flipH="1" flipV="1">
            <a:off x="5584703" y="2485820"/>
            <a:ext cx="2383384" cy="1061151"/>
          </a:xfrm>
          <a:prstGeom prst="line">
            <a:avLst/>
          </a:prstGeom>
          <a:ln w="6350">
            <a:solidFill>
              <a:srgbClr val="8E6F3E"/>
            </a:solidFill>
          </a:ln>
        </p:spPr>
        <p:txBody>
          <a:bodyPr/>
          <a:lstStyle/>
          <a:p>
            <a:endParaRPr lang="en-US" sz="1200">
              <a:solidFill>
                <a:srgbClr val="FFFFFF"/>
              </a:solidFill>
            </a:endParaRPr>
          </a:p>
        </p:txBody>
      </p:sp>
      <p:sp>
        <p:nvSpPr>
          <p:cNvPr id="115" name="Edge"/>
          <p:cNvSpPr/>
          <p:nvPr/>
        </p:nvSpPr>
        <p:spPr>
          <a:xfrm flipH="1" flipV="1">
            <a:off x="6046120" y="2150581"/>
            <a:ext cx="1921966" cy="1396390"/>
          </a:xfrm>
          <a:prstGeom prst="line">
            <a:avLst/>
          </a:prstGeom>
          <a:ln w="6350">
            <a:solidFill>
              <a:srgbClr val="8E6F3E"/>
            </a:solidFill>
          </a:ln>
        </p:spPr>
        <p:txBody>
          <a:bodyPr/>
          <a:lstStyle/>
          <a:p>
            <a:endParaRPr lang="en-US" sz="1200">
              <a:solidFill>
                <a:srgbClr val="FFFFFF"/>
              </a:solidFill>
            </a:endParaRPr>
          </a:p>
        </p:txBody>
      </p:sp>
      <p:sp>
        <p:nvSpPr>
          <p:cNvPr id="116" name="Edge"/>
          <p:cNvSpPr/>
          <p:nvPr/>
        </p:nvSpPr>
        <p:spPr>
          <a:xfrm flipH="1">
            <a:off x="7410206" y="4089400"/>
            <a:ext cx="381634" cy="423848"/>
          </a:xfrm>
          <a:prstGeom prst="line">
            <a:avLst/>
          </a:prstGeom>
          <a:ln w="6350">
            <a:solidFill>
              <a:srgbClr val="8E6F3E"/>
            </a:solidFill>
          </a:ln>
        </p:spPr>
        <p:txBody>
          <a:bodyPr/>
          <a:lstStyle/>
          <a:p>
            <a:endParaRPr lang="en-US" sz="1200">
              <a:solidFill>
                <a:srgbClr val="FFFFFF"/>
              </a:solidFill>
            </a:endParaRPr>
          </a:p>
        </p:txBody>
      </p:sp>
      <p:sp>
        <p:nvSpPr>
          <p:cNvPr id="117" name="Edge"/>
          <p:cNvSpPr/>
          <p:nvPr/>
        </p:nvSpPr>
        <p:spPr>
          <a:xfrm flipH="1">
            <a:off x="6889172" y="4089400"/>
            <a:ext cx="902669" cy="655827"/>
          </a:xfrm>
          <a:prstGeom prst="line">
            <a:avLst/>
          </a:prstGeom>
          <a:ln w="6350">
            <a:solidFill>
              <a:srgbClr val="8E6F3E"/>
            </a:solidFill>
          </a:ln>
        </p:spPr>
        <p:txBody>
          <a:bodyPr/>
          <a:lstStyle/>
          <a:p>
            <a:endParaRPr lang="en-US" sz="1200">
              <a:solidFill>
                <a:srgbClr val="FFFFFF"/>
              </a:solidFill>
            </a:endParaRPr>
          </a:p>
        </p:txBody>
      </p:sp>
      <p:sp>
        <p:nvSpPr>
          <p:cNvPr id="118" name="Edge"/>
          <p:cNvSpPr/>
          <p:nvPr/>
        </p:nvSpPr>
        <p:spPr>
          <a:xfrm flipH="1">
            <a:off x="6318828" y="4089400"/>
            <a:ext cx="1473012" cy="655827"/>
          </a:xfrm>
          <a:prstGeom prst="line">
            <a:avLst/>
          </a:prstGeom>
          <a:ln w="6350">
            <a:solidFill>
              <a:srgbClr val="8E6F3E"/>
            </a:solidFill>
          </a:ln>
        </p:spPr>
        <p:txBody>
          <a:bodyPr/>
          <a:lstStyle/>
          <a:p>
            <a:endParaRPr lang="en-US" sz="1200">
              <a:solidFill>
                <a:srgbClr val="FFFFFF"/>
              </a:solidFill>
            </a:endParaRPr>
          </a:p>
        </p:txBody>
      </p:sp>
      <p:sp>
        <p:nvSpPr>
          <p:cNvPr id="119" name="Edge"/>
          <p:cNvSpPr/>
          <p:nvPr/>
        </p:nvSpPr>
        <p:spPr>
          <a:xfrm flipH="1">
            <a:off x="5797794" y="4089400"/>
            <a:ext cx="1994047" cy="423848"/>
          </a:xfrm>
          <a:prstGeom prst="line">
            <a:avLst/>
          </a:prstGeom>
          <a:ln w="6350">
            <a:solidFill>
              <a:srgbClr val="8E6F3E"/>
            </a:solidFill>
          </a:ln>
        </p:spPr>
        <p:txBody>
          <a:bodyPr/>
          <a:lstStyle/>
          <a:p>
            <a:endParaRPr lang="en-US" sz="1200">
              <a:solidFill>
                <a:srgbClr val="FFFFFF"/>
              </a:solidFill>
            </a:endParaRPr>
          </a:p>
        </p:txBody>
      </p:sp>
      <p:sp>
        <p:nvSpPr>
          <p:cNvPr id="120" name="Edge"/>
          <p:cNvSpPr/>
          <p:nvPr/>
        </p:nvSpPr>
        <p:spPr>
          <a:xfrm flipH="1">
            <a:off x="5416160" y="4089400"/>
            <a:ext cx="2375681" cy="5080"/>
          </a:xfrm>
          <a:prstGeom prst="line">
            <a:avLst/>
          </a:prstGeom>
          <a:ln w="6350">
            <a:solidFill>
              <a:srgbClr val="8E6F3E"/>
            </a:solidFill>
          </a:ln>
        </p:spPr>
        <p:txBody>
          <a:bodyPr/>
          <a:lstStyle/>
          <a:p>
            <a:endParaRPr lang="en-US" sz="1200">
              <a:solidFill>
                <a:srgbClr val="FFFFFF"/>
              </a:solidFill>
            </a:endParaRPr>
          </a:p>
        </p:txBody>
      </p:sp>
      <p:sp>
        <p:nvSpPr>
          <p:cNvPr id="121" name="Edge"/>
          <p:cNvSpPr/>
          <p:nvPr/>
        </p:nvSpPr>
        <p:spPr>
          <a:xfrm flipH="1" flipV="1">
            <a:off x="5239914" y="3546971"/>
            <a:ext cx="2551927" cy="542429"/>
          </a:xfrm>
          <a:prstGeom prst="line">
            <a:avLst/>
          </a:prstGeom>
          <a:ln w="6350">
            <a:solidFill>
              <a:srgbClr val="8E6F3E"/>
            </a:solidFill>
          </a:ln>
        </p:spPr>
        <p:txBody>
          <a:bodyPr/>
          <a:lstStyle/>
          <a:p>
            <a:endParaRPr lang="en-US" sz="1200">
              <a:solidFill>
                <a:srgbClr val="FFFFFF"/>
              </a:solidFill>
            </a:endParaRPr>
          </a:p>
        </p:txBody>
      </p:sp>
      <p:sp>
        <p:nvSpPr>
          <p:cNvPr id="122" name="Edge"/>
          <p:cNvSpPr/>
          <p:nvPr/>
        </p:nvSpPr>
        <p:spPr>
          <a:xfrm flipH="1" flipV="1">
            <a:off x="5299531" y="2979752"/>
            <a:ext cx="2492310" cy="1109648"/>
          </a:xfrm>
          <a:prstGeom prst="line">
            <a:avLst/>
          </a:prstGeom>
          <a:ln w="6350">
            <a:solidFill>
              <a:srgbClr val="8E6F3E"/>
            </a:solidFill>
          </a:ln>
        </p:spPr>
        <p:txBody>
          <a:bodyPr/>
          <a:lstStyle/>
          <a:p>
            <a:endParaRPr lang="en-US" sz="1200">
              <a:solidFill>
                <a:srgbClr val="FFFFFF"/>
              </a:solidFill>
            </a:endParaRPr>
          </a:p>
        </p:txBody>
      </p:sp>
      <p:sp>
        <p:nvSpPr>
          <p:cNvPr id="123" name="Edge"/>
          <p:cNvSpPr/>
          <p:nvPr/>
        </p:nvSpPr>
        <p:spPr>
          <a:xfrm flipH="1" flipV="1">
            <a:off x="5584703" y="2485820"/>
            <a:ext cx="2207138" cy="1603580"/>
          </a:xfrm>
          <a:prstGeom prst="line">
            <a:avLst/>
          </a:prstGeom>
          <a:ln w="6350">
            <a:solidFill>
              <a:srgbClr val="8E6F3E"/>
            </a:solidFill>
          </a:ln>
        </p:spPr>
        <p:txBody>
          <a:bodyPr/>
          <a:lstStyle/>
          <a:p>
            <a:endParaRPr lang="en-US" sz="1200">
              <a:solidFill>
                <a:srgbClr val="FFFFFF"/>
              </a:solidFill>
            </a:endParaRPr>
          </a:p>
        </p:txBody>
      </p:sp>
      <p:sp>
        <p:nvSpPr>
          <p:cNvPr id="124" name="Edge"/>
          <p:cNvSpPr/>
          <p:nvPr/>
        </p:nvSpPr>
        <p:spPr>
          <a:xfrm flipH="1" flipV="1">
            <a:off x="6046120" y="2150581"/>
            <a:ext cx="1745720" cy="1938819"/>
          </a:xfrm>
          <a:prstGeom prst="line">
            <a:avLst/>
          </a:prstGeom>
          <a:ln w="6350">
            <a:solidFill>
              <a:srgbClr val="8E6F3E"/>
            </a:solidFill>
          </a:ln>
        </p:spPr>
        <p:txBody>
          <a:bodyPr/>
          <a:lstStyle/>
          <a:p>
            <a:endParaRPr lang="en-US" sz="1200">
              <a:solidFill>
                <a:srgbClr val="FFFFFF"/>
              </a:solidFill>
            </a:endParaRPr>
          </a:p>
        </p:txBody>
      </p:sp>
      <p:sp>
        <p:nvSpPr>
          <p:cNvPr id="125" name="Edge"/>
          <p:cNvSpPr/>
          <p:nvPr/>
        </p:nvSpPr>
        <p:spPr>
          <a:xfrm flipH="1">
            <a:off x="6889172" y="4513248"/>
            <a:ext cx="521035" cy="231980"/>
          </a:xfrm>
          <a:prstGeom prst="line">
            <a:avLst/>
          </a:prstGeom>
          <a:ln w="6350">
            <a:solidFill>
              <a:srgbClr val="8E6F3E"/>
            </a:solidFill>
          </a:ln>
        </p:spPr>
        <p:txBody>
          <a:bodyPr/>
          <a:lstStyle/>
          <a:p>
            <a:endParaRPr lang="en-US" sz="1200">
              <a:solidFill>
                <a:srgbClr val="FFFFFF"/>
              </a:solidFill>
            </a:endParaRPr>
          </a:p>
        </p:txBody>
      </p:sp>
      <p:sp>
        <p:nvSpPr>
          <p:cNvPr id="126" name="Edge"/>
          <p:cNvSpPr/>
          <p:nvPr/>
        </p:nvSpPr>
        <p:spPr>
          <a:xfrm flipH="1">
            <a:off x="6318828" y="4513248"/>
            <a:ext cx="1091378" cy="231980"/>
          </a:xfrm>
          <a:prstGeom prst="line">
            <a:avLst/>
          </a:prstGeom>
          <a:ln w="6350">
            <a:solidFill>
              <a:srgbClr val="8E6F3E"/>
            </a:solidFill>
          </a:ln>
        </p:spPr>
        <p:txBody>
          <a:bodyPr/>
          <a:lstStyle/>
          <a:p>
            <a:endParaRPr lang="en-US" sz="1200">
              <a:solidFill>
                <a:srgbClr val="FFFFFF"/>
              </a:solidFill>
            </a:endParaRPr>
          </a:p>
        </p:txBody>
      </p:sp>
      <p:sp>
        <p:nvSpPr>
          <p:cNvPr id="127" name="Edge"/>
          <p:cNvSpPr/>
          <p:nvPr/>
        </p:nvSpPr>
        <p:spPr>
          <a:xfrm flipH="1">
            <a:off x="5797794" y="4513248"/>
            <a:ext cx="1612413" cy="5080"/>
          </a:xfrm>
          <a:prstGeom prst="line">
            <a:avLst/>
          </a:prstGeom>
          <a:ln w="6350">
            <a:solidFill>
              <a:srgbClr val="8E6F3E"/>
            </a:solidFill>
          </a:ln>
        </p:spPr>
        <p:txBody>
          <a:bodyPr/>
          <a:lstStyle/>
          <a:p>
            <a:endParaRPr lang="en-US" sz="1200">
              <a:solidFill>
                <a:srgbClr val="FFFFFF"/>
              </a:solidFill>
            </a:endParaRPr>
          </a:p>
        </p:txBody>
      </p:sp>
      <p:sp>
        <p:nvSpPr>
          <p:cNvPr id="128" name="Edge"/>
          <p:cNvSpPr/>
          <p:nvPr/>
        </p:nvSpPr>
        <p:spPr>
          <a:xfrm flipH="1" flipV="1">
            <a:off x="5416160" y="4089400"/>
            <a:ext cx="1994047" cy="423848"/>
          </a:xfrm>
          <a:prstGeom prst="line">
            <a:avLst/>
          </a:prstGeom>
          <a:ln w="6350">
            <a:solidFill>
              <a:srgbClr val="8E6F3E"/>
            </a:solidFill>
          </a:ln>
        </p:spPr>
        <p:txBody>
          <a:bodyPr/>
          <a:lstStyle/>
          <a:p>
            <a:endParaRPr lang="en-US" sz="1200">
              <a:solidFill>
                <a:srgbClr val="FFFFFF"/>
              </a:solidFill>
            </a:endParaRPr>
          </a:p>
        </p:txBody>
      </p:sp>
      <p:sp>
        <p:nvSpPr>
          <p:cNvPr id="129" name="Edge"/>
          <p:cNvSpPr/>
          <p:nvPr/>
        </p:nvSpPr>
        <p:spPr>
          <a:xfrm flipH="1" flipV="1">
            <a:off x="5239914" y="3546971"/>
            <a:ext cx="2170292" cy="966276"/>
          </a:xfrm>
          <a:prstGeom prst="line">
            <a:avLst/>
          </a:prstGeom>
          <a:ln w="6350">
            <a:solidFill>
              <a:srgbClr val="8E6F3E"/>
            </a:solidFill>
          </a:ln>
        </p:spPr>
        <p:txBody>
          <a:bodyPr/>
          <a:lstStyle/>
          <a:p>
            <a:endParaRPr lang="en-US" sz="1200">
              <a:solidFill>
                <a:srgbClr val="FFFFFF"/>
              </a:solidFill>
            </a:endParaRPr>
          </a:p>
        </p:txBody>
      </p:sp>
      <p:sp>
        <p:nvSpPr>
          <p:cNvPr id="130" name="Edge"/>
          <p:cNvSpPr/>
          <p:nvPr/>
        </p:nvSpPr>
        <p:spPr>
          <a:xfrm flipH="1" flipV="1">
            <a:off x="5299531" y="2979752"/>
            <a:ext cx="2110675" cy="1533495"/>
          </a:xfrm>
          <a:prstGeom prst="line">
            <a:avLst/>
          </a:prstGeom>
          <a:ln w="6350">
            <a:solidFill>
              <a:srgbClr val="8E6F3E"/>
            </a:solidFill>
          </a:ln>
        </p:spPr>
        <p:txBody>
          <a:bodyPr/>
          <a:lstStyle/>
          <a:p>
            <a:endParaRPr lang="en-US" sz="1200">
              <a:solidFill>
                <a:srgbClr val="FFFFFF"/>
              </a:solidFill>
            </a:endParaRPr>
          </a:p>
        </p:txBody>
      </p:sp>
      <p:sp>
        <p:nvSpPr>
          <p:cNvPr id="131" name="Edge"/>
          <p:cNvSpPr/>
          <p:nvPr/>
        </p:nvSpPr>
        <p:spPr>
          <a:xfrm flipH="1" flipV="1">
            <a:off x="5584703" y="2485820"/>
            <a:ext cx="1825504" cy="2027427"/>
          </a:xfrm>
          <a:prstGeom prst="line">
            <a:avLst/>
          </a:prstGeom>
          <a:ln w="6350">
            <a:solidFill>
              <a:srgbClr val="8E6F3E"/>
            </a:solidFill>
          </a:ln>
        </p:spPr>
        <p:txBody>
          <a:bodyPr/>
          <a:lstStyle/>
          <a:p>
            <a:endParaRPr lang="en-US" sz="1200">
              <a:solidFill>
                <a:srgbClr val="FFFFFF"/>
              </a:solidFill>
            </a:endParaRPr>
          </a:p>
        </p:txBody>
      </p:sp>
      <p:sp>
        <p:nvSpPr>
          <p:cNvPr id="132" name="Edge"/>
          <p:cNvSpPr/>
          <p:nvPr/>
        </p:nvSpPr>
        <p:spPr>
          <a:xfrm flipH="1" flipV="1">
            <a:off x="6046120" y="2150581"/>
            <a:ext cx="1364086" cy="2362667"/>
          </a:xfrm>
          <a:prstGeom prst="line">
            <a:avLst/>
          </a:prstGeom>
          <a:ln w="6350">
            <a:solidFill>
              <a:srgbClr val="8E6F3E"/>
            </a:solidFill>
          </a:ln>
        </p:spPr>
        <p:txBody>
          <a:bodyPr/>
          <a:lstStyle/>
          <a:p>
            <a:endParaRPr lang="en-US" sz="1200">
              <a:solidFill>
                <a:srgbClr val="FFFFFF"/>
              </a:solidFill>
            </a:endParaRPr>
          </a:p>
        </p:txBody>
      </p:sp>
      <p:sp>
        <p:nvSpPr>
          <p:cNvPr id="133" name="Edge"/>
          <p:cNvSpPr/>
          <p:nvPr/>
        </p:nvSpPr>
        <p:spPr>
          <a:xfrm flipH="1">
            <a:off x="6318828" y="4745227"/>
            <a:ext cx="570343" cy="5080"/>
          </a:xfrm>
          <a:prstGeom prst="line">
            <a:avLst/>
          </a:prstGeom>
          <a:ln w="6350">
            <a:solidFill>
              <a:srgbClr val="8E6F3E"/>
            </a:solidFill>
          </a:ln>
        </p:spPr>
        <p:txBody>
          <a:bodyPr/>
          <a:lstStyle/>
          <a:p>
            <a:endParaRPr lang="en-US" sz="1200">
              <a:solidFill>
                <a:srgbClr val="FFFFFF"/>
              </a:solidFill>
            </a:endParaRPr>
          </a:p>
        </p:txBody>
      </p:sp>
      <p:sp>
        <p:nvSpPr>
          <p:cNvPr id="134" name="Edge"/>
          <p:cNvSpPr/>
          <p:nvPr/>
        </p:nvSpPr>
        <p:spPr>
          <a:xfrm flipH="1" flipV="1">
            <a:off x="5797794" y="4513248"/>
            <a:ext cx="1091378" cy="231980"/>
          </a:xfrm>
          <a:prstGeom prst="line">
            <a:avLst/>
          </a:prstGeom>
          <a:ln w="6350">
            <a:solidFill>
              <a:srgbClr val="8E6F3E"/>
            </a:solidFill>
          </a:ln>
        </p:spPr>
        <p:txBody>
          <a:bodyPr/>
          <a:lstStyle/>
          <a:p>
            <a:endParaRPr lang="en-US" sz="1200">
              <a:solidFill>
                <a:srgbClr val="FFFFFF"/>
              </a:solidFill>
            </a:endParaRPr>
          </a:p>
        </p:txBody>
      </p:sp>
      <p:sp>
        <p:nvSpPr>
          <p:cNvPr id="135" name="Edge"/>
          <p:cNvSpPr/>
          <p:nvPr/>
        </p:nvSpPr>
        <p:spPr>
          <a:xfrm flipH="1" flipV="1">
            <a:off x="5416160" y="4089400"/>
            <a:ext cx="1473012" cy="655827"/>
          </a:xfrm>
          <a:prstGeom prst="line">
            <a:avLst/>
          </a:prstGeom>
          <a:ln w="6350">
            <a:solidFill>
              <a:srgbClr val="8E6F3E"/>
            </a:solidFill>
          </a:ln>
        </p:spPr>
        <p:txBody>
          <a:bodyPr/>
          <a:lstStyle/>
          <a:p>
            <a:endParaRPr lang="en-US" sz="1200">
              <a:solidFill>
                <a:srgbClr val="FFFFFF"/>
              </a:solidFill>
            </a:endParaRPr>
          </a:p>
        </p:txBody>
      </p:sp>
      <p:sp>
        <p:nvSpPr>
          <p:cNvPr id="136" name="Edge"/>
          <p:cNvSpPr/>
          <p:nvPr/>
        </p:nvSpPr>
        <p:spPr>
          <a:xfrm flipH="1" flipV="1">
            <a:off x="5239914" y="3546971"/>
            <a:ext cx="1649258" cy="1198256"/>
          </a:xfrm>
          <a:prstGeom prst="line">
            <a:avLst/>
          </a:prstGeom>
          <a:ln w="6350">
            <a:solidFill>
              <a:srgbClr val="8E6F3E"/>
            </a:solidFill>
          </a:ln>
        </p:spPr>
        <p:txBody>
          <a:bodyPr/>
          <a:lstStyle/>
          <a:p>
            <a:endParaRPr lang="en-US" sz="1200">
              <a:solidFill>
                <a:srgbClr val="FFFFFF"/>
              </a:solidFill>
            </a:endParaRPr>
          </a:p>
        </p:txBody>
      </p:sp>
      <p:sp>
        <p:nvSpPr>
          <p:cNvPr id="137" name="Edge"/>
          <p:cNvSpPr/>
          <p:nvPr/>
        </p:nvSpPr>
        <p:spPr>
          <a:xfrm flipH="1" flipV="1">
            <a:off x="5299531" y="2979752"/>
            <a:ext cx="1589641" cy="1765475"/>
          </a:xfrm>
          <a:prstGeom prst="line">
            <a:avLst/>
          </a:prstGeom>
          <a:ln w="6350">
            <a:solidFill>
              <a:srgbClr val="8E6F3E"/>
            </a:solidFill>
          </a:ln>
        </p:spPr>
        <p:txBody>
          <a:bodyPr/>
          <a:lstStyle/>
          <a:p>
            <a:endParaRPr lang="en-US" sz="1200">
              <a:solidFill>
                <a:srgbClr val="FFFFFF"/>
              </a:solidFill>
            </a:endParaRPr>
          </a:p>
        </p:txBody>
      </p:sp>
      <p:sp>
        <p:nvSpPr>
          <p:cNvPr id="138" name="Edge"/>
          <p:cNvSpPr/>
          <p:nvPr/>
        </p:nvSpPr>
        <p:spPr>
          <a:xfrm flipH="1" flipV="1">
            <a:off x="5584703" y="2485820"/>
            <a:ext cx="1304469" cy="2259407"/>
          </a:xfrm>
          <a:prstGeom prst="line">
            <a:avLst/>
          </a:prstGeom>
          <a:ln w="6350">
            <a:solidFill>
              <a:srgbClr val="8E6F3E"/>
            </a:solidFill>
          </a:ln>
        </p:spPr>
        <p:txBody>
          <a:bodyPr/>
          <a:lstStyle/>
          <a:p>
            <a:endParaRPr lang="en-US" sz="1200">
              <a:solidFill>
                <a:srgbClr val="FFFFFF"/>
              </a:solidFill>
            </a:endParaRPr>
          </a:p>
        </p:txBody>
      </p:sp>
      <p:sp>
        <p:nvSpPr>
          <p:cNvPr id="139" name="Edge"/>
          <p:cNvSpPr/>
          <p:nvPr/>
        </p:nvSpPr>
        <p:spPr>
          <a:xfrm flipH="1" flipV="1">
            <a:off x="6046120" y="2150581"/>
            <a:ext cx="843052" cy="2594646"/>
          </a:xfrm>
          <a:prstGeom prst="line">
            <a:avLst/>
          </a:prstGeom>
          <a:ln w="6350">
            <a:solidFill>
              <a:srgbClr val="8E6F3E"/>
            </a:solidFill>
          </a:ln>
        </p:spPr>
        <p:txBody>
          <a:bodyPr/>
          <a:lstStyle/>
          <a:p>
            <a:endParaRPr lang="en-US" sz="1200">
              <a:solidFill>
                <a:srgbClr val="FFFFFF"/>
              </a:solidFill>
            </a:endParaRPr>
          </a:p>
        </p:txBody>
      </p:sp>
      <p:sp>
        <p:nvSpPr>
          <p:cNvPr id="140" name="Edge"/>
          <p:cNvSpPr/>
          <p:nvPr/>
        </p:nvSpPr>
        <p:spPr>
          <a:xfrm flipH="1" flipV="1">
            <a:off x="5797794" y="4513248"/>
            <a:ext cx="521035" cy="231980"/>
          </a:xfrm>
          <a:prstGeom prst="line">
            <a:avLst/>
          </a:prstGeom>
          <a:ln w="6350">
            <a:solidFill>
              <a:srgbClr val="8E6F3E"/>
            </a:solidFill>
          </a:ln>
        </p:spPr>
        <p:txBody>
          <a:bodyPr/>
          <a:lstStyle/>
          <a:p>
            <a:endParaRPr lang="en-US" sz="1200">
              <a:solidFill>
                <a:srgbClr val="FFFFFF"/>
              </a:solidFill>
            </a:endParaRPr>
          </a:p>
        </p:txBody>
      </p:sp>
      <p:sp>
        <p:nvSpPr>
          <p:cNvPr id="141" name="Edge"/>
          <p:cNvSpPr/>
          <p:nvPr/>
        </p:nvSpPr>
        <p:spPr>
          <a:xfrm flipH="1" flipV="1">
            <a:off x="5416160" y="4089400"/>
            <a:ext cx="902669" cy="655827"/>
          </a:xfrm>
          <a:prstGeom prst="line">
            <a:avLst/>
          </a:prstGeom>
          <a:ln w="6350">
            <a:solidFill>
              <a:srgbClr val="8E6F3E"/>
            </a:solidFill>
          </a:ln>
        </p:spPr>
        <p:txBody>
          <a:bodyPr/>
          <a:lstStyle/>
          <a:p>
            <a:endParaRPr lang="en-US" sz="1200">
              <a:solidFill>
                <a:srgbClr val="FFFFFF"/>
              </a:solidFill>
            </a:endParaRPr>
          </a:p>
        </p:txBody>
      </p:sp>
      <p:sp>
        <p:nvSpPr>
          <p:cNvPr id="142" name="Edge"/>
          <p:cNvSpPr/>
          <p:nvPr/>
        </p:nvSpPr>
        <p:spPr>
          <a:xfrm flipH="1" flipV="1">
            <a:off x="5239914" y="3546971"/>
            <a:ext cx="1078915" cy="1198256"/>
          </a:xfrm>
          <a:prstGeom prst="line">
            <a:avLst/>
          </a:prstGeom>
          <a:ln w="6350">
            <a:solidFill>
              <a:srgbClr val="8E6F3E"/>
            </a:solidFill>
          </a:ln>
        </p:spPr>
        <p:txBody>
          <a:bodyPr/>
          <a:lstStyle/>
          <a:p>
            <a:endParaRPr lang="en-US" sz="1200">
              <a:solidFill>
                <a:srgbClr val="FFFFFF"/>
              </a:solidFill>
            </a:endParaRPr>
          </a:p>
        </p:txBody>
      </p:sp>
      <p:sp>
        <p:nvSpPr>
          <p:cNvPr id="143" name="Edge"/>
          <p:cNvSpPr/>
          <p:nvPr/>
        </p:nvSpPr>
        <p:spPr>
          <a:xfrm flipH="1" flipV="1">
            <a:off x="5299531" y="2979752"/>
            <a:ext cx="1019297" cy="1765475"/>
          </a:xfrm>
          <a:prstGeom prst="line">
            <a:avLst/>
          </a:prstGeom>
          <a:ln w="6350">
            <a:solidFill>
              <a:srgbClr val="8E6F3E"/>
            </a:solidFill>
          </a:ln>
        </p:spPr>
        <p:txBody>
          <a:bodyPr/>
          <a:lstStyle/>
          <a:p>
            <a:endParaRPr lang="en-US" sz="1200">
              <a:solidFill>
                <a:srgbClr val="FFFFFF"/>
              </a:solidFill>
            </a:endParaRPr>
          </a:p>
        </p:txBody>
      </p:sp>
      <p:sp>
        <p:nvSpPr>
          <p:cNvPr id="144" name="Edge"/>
          <p:cNvSpPr/>
          <p:nvPr/>
        </p:nvSpPr>
        <p:spPr>
          <a:xfrm flipH="1" flipV="1">
            <a:off x="5584703" y="2485820"/>
            <a:ext cx="734126" cy="2259407"/>
          </a:xfrm>
          <a:prstGeom prst="line">
            <a:avLst/>
          </a:prstGeom>
          <a:ln w="6350">
            <a:solidFill>
              <a:srgbClr val="8E6F3E"/>
            </a:solidFill>
          </a:ln>
        </p:spPr>
        <p:txBody>
          <a:bodyPr/>
          <a:lstStyle/>
          <a:p>
            <a:endParaRPr lang="en-US" sz="1200">
              <a:solidFill>
                <a:srgbClr val="FFFFFF"/>
              </a:solidFill>
            </a:endParaRPr>
          </a:p>
        </p:txBody>
      </p:sp>
      <p:sp>
        <p:nvSpPr>
          <p:cNvPr id="145" name="Edge"/>
          <p:cNvSpPr/>
          <p:nvPr/>
        </p:nvSpPr>
        <p:spPr>
          <a:xfrm flipH="1" flipV="1">
            <a:off x="6046120" y="2150581"/>
            <a:ext cx="272708" cy="2594646"/>
          </a:xfrm>
          <a:prstGeom prst="line">
            <a:avLst/>
          </a:prstGeom>
          <a:ln w="6350">
            <a:solidFill>
              <a:srgbClr val="8E6F3E"/>
            </a:solidFill>
          </a:ln>
        </p:spPr>
        <p:txBody>
          <a:bodyPr/>
          <a:lstStyle/>
          <a:p>
            <a:endParaRPr lang="en-US" sz="1200">
              <a:solidFill>
                <a:srgbClr val="FFFFFF"/>
              </a:solidFill>
            </a:endParaRPr>
          </a:p>
        </p:txBody>
      </p:sp>
      <p:sp>
        <p:nvSpPr>
          <p:cNvPr id="146" name="Edge"/>
          <p:cNvSpPr/>
          <p:nvPr/>
        </p:nvSpPr>
        <p:spPr>
          <a:xfrm flipH="1" flipV="1">
            <a:off x="5416160" y="4089400"/>
            <a:ext cx="381634" cy="423848"/>
          </a:xfrm>
          <a:prstGeom prst="line">
            <a:avLst/>
          </a:prstGeom>
          <a:ln w="6350">
            <a:solidFill>
              <a:srgbClr val="8E6F3E"/>
            </a:solidFill>
          </a:ln>
        </p:spPr>
        <p:txBody>
          <a:bodyPr/>
          <a:lstStyle/>
          <a:p>
            <a:endParaRPr lang="en-US" sz="1200">
              <a:solidFill>
                <a:srgbClr val="FFFFFF"/>
              </a:solidFill>
            </a:endParaRPr>
          </a:p>
        </p:txBody>
      </p:sp>
      <p:sp>
        <p:nvSpPr>
          <p:cNvPr id="147" name="Edge"/>
          <p:cNvSpPr/>
          <p:nvPr/>
        </p:nvSpPr>
        <p:spPr>
          <a:xfrm flipH="1" flipV="1">
            <a:off x="5239914" y="3546971"/>
            <a:ext cx="557880" cy="966276"/>
          </a:xfrm>
          <a:prstGeom prst="line">
            <a:avLst/>
          </a:prstGeom>
          <a:ln w="6350">
            <a:solidFill>
              <a:srgbClr val="8E6F3E"/>
            </a:solidFill>
          </a:ln>
        </p:spPr>
        <p:txBody>
          <a:bodyPr/>
          <a:lstStyle/>
          <a:p>
            <a:endParaRPr lang="en-US" sz="1200">
              <a:solidFill>
                <a:srgbClr val="FFFFFF"/>
              </a:solidFill>
            </a:endParaRPr>
          </a:p>
        </p:txBody>
      </p:sp>
      <p:sp>
        <p:nvSpPr>
          <p:cNvPr id="148" name="Edge"/>
          <p:cNvSpPr/>
          <p:nvPr/>
        </p:nvSpPr>
        <p:spPr>
          <a:xfrm flipH="1" flipV="1">
            <a:off x="5299531" y="2979752"/>
            <a:ext cx="498263" cy="1533495"/>
          </a:xfrm>
          <a:prstGeom prst="line">
            <a:avLst/>
          </a:prstGeom>
          <a:ln w="6350">
            <a:solidFill>
              <a:srgbClr val="8E6F3E"/>
            </a:solidFill>
          </a:ln>
        </p:spPr>
        <p:txBody>
          <a:bodyPr/>
          <a:lstStyle/>
          <a:p>
            <a:endParaRPr lang="en-US" sz="1200">
              <a:solidFill>
                <a:srgbClr val="FFFFFF"/>
              </a:solidFill>
            </a:endParaRPr>
          </a:p>
        </p:txBody>
      </p:sp>
      <p:sp>
        <p:nvSpPr>
          <p:cNvPr id="149" name="Edge"/>
          <p:cNvSpPr/>
          <p:nvPr/>
        </p:nvSpPr>
        <p:spPr>
          <a:xfrm flipH="1" flipV="1">
            <a:off x="5584703" y="2485820"/>
            <a:ext cx="213091" cy="2027427"/>
          </a:xfrm>
          <a:prstGeom prst="line">
            <a:avLst/>
          </a:prstGeom>
          <a:ln w="6350">
            <a:solidFill>
              <a:srgbClr val="8E6F3E"/>
            </a:solidFill>
          </a:ln>
        </p:spPr>
        <p:txBody>
          <a:bodyPr/>
          <a:lstStyle/>
          <a:p>
            <a:endParaRPr lang="en-US" sz="1200">
              <a:solidFill>
                <a:srgbClr val="FFFFFF"/>
              </a:solidFill>
            </a:endParaRPr>
          </a:p>
        </p:txBody>
      </p:sp>
      <p:sp>
        <p:nvSpPr>
          <p:cNvPr id="150" name="Edge"/>
          <p:cNvSpPr/>
          <p:nvPr/>
        </p:nvSpPr>
        <p:spPr>
          <a:xfrm flipV="1">
            <a:off x="5797794" y="2150581"/>
            <a:ext cx="248326" cy="2362667"/>
          </a:xfrm>
          <a:prstGeom prst="line">
            <a:avLst/>
          </a:prstGeom>
          <a:ln w="6350">
            <a:solidFill>
              <a:srgbClr val="8E6F3E"/>
            </a:solidFill>
          </a:ln>
        </p:spPr>
        <p:txBody>
          <a:bodyPr/>
          <a:lstStyle/>
          <a:p>
            <a:endParaRPr lang="en-US" sz="1200">
              <a:solidFill>
                <a:srgbClr val="FFFFFF"/>
              </a:solidFill>
            </a:endParaRPr>
          </a:p>
        </p:txBody>
      </p:sp>
      <p:sp>
        <p:nvSpPr>
          <p:cNvPr id="151" name="Edge"/>
          <p:cNvSpPr/>
          <p:nvPr/>
        </p:nvSpPr>
        <p:spPr>
          <a:xfrm flipH="1" flipV="1">
            <a:off x="5239914" y="3546971"/>
            <a:ext cx="176246" cy="542429"/>
          </a:xfrm>
          <a:prstGeom prst="line">
            <a:avLst/>
          </a:prstGeom>
          <a:ln w="6350">
            <a:solidFill>
              <a:srgbClr val="8E6F3E"/>
            </a:solidFill>
          </a:ln>
        </p:spPr>
        <p:txBody>
          <a:bodyPr/>
          <a:lstStyle/>
          <a:p>
            <a:endParaRPr lang="en-US" sz="1200">
              <a:solidFill>
                <a:srgbClr val="FFFFFF"/>
              </a:solidFill>
            </a:endParaRPr>
          </a:p>
        </p:txBody>
      </p:sp>
      <p:sp>
        <p:nvSpPr>
          <p:cNvPr id="152" name="Edge"/>
          <p:cNvSpPr/>
          <p:nvPr/>
        </p:nvSpPr>
        <p:spPr>
          <a:xfrm flipH="1" flipV="1">
            <a:off x="5299531" y="2979752"/>
            <a:ext cx="116629" cy="1109648"/>
          </a:xfrm>
          <a:prstGeom prst="line">
            <a:avLst/>
          </a:prstGeom>
          <a:ln w="6350">
            <a:solidFill>
              <a:srgbClr val="8E6F3E"/>
            </a:solidFill>
          </a:ln>
        </p:spPr>
        <p:txBody>
          <a:bodyPr/>
          <a:lstStyle/>
          <a:p>
            <a:endParaRPr lang="en-US" sz="1200">
              <a:solidFill>
                <a:srgbClr val="FFFFFF"/>
              </a:solidFill>
            </a:endParaRPr>
          </a:p>
        </p:txBody>
      </p:sp>
      <p:sp>
        <p:nvSpPr>
          <p:cNvPr id="153" name="Edge"/>
          <p:cNvSpPr/>
          <p:nvPr/>
        </p:nvSpPr>
        <p:spPr>
          <a:xfrm flipV="1">
            <a:off x="5416160" y="2485820"/>
            <a:ext cx="168543" cy="1603580"/>
          </a:xfrm>
          <a:prstGeom prst="line">
            <a:avLst/>
          </a:prstGeom>
          <a:ln w="6350">
            <a:solidFill>
              <a:srgbClr val="8E6F3E"/>
            </a:solidFill>
          </a:ln>
        </p:spPr>
        <p:txBody>
          <a:bodyPr/>
          <a:lstStyle/>
          <a:p>
            <a:endParaRPr lang="en-US" sz="1200">
              <a:solidFill>
                <a:srgbClr val="FFFFFF"/>
              </a:solidFill>
            </a:endParaRPr>
          </a:p>
        </p:txBody>
      </p:sp>
      <p:sp>
        <p:nvSpPr>
          <p:cNvPr id="154" name="Edge"/>
          <p:cNvSpPr/>
          <p:nvPr/>
        </p:nvSpPr>
        <p:spPr>
          <a:xfrm flipV="1">
            <a:off x="5416160" y="2150581"/>
            <a:ext cx="629960" cy="1938819"/>
          </a:xfrm>
          <a:prstGeom prst="line">
            <a:avLst/>
          </a:prstGeom>
          <a:ln w="6350">
            <a:solidFill>
              <a:srgbClr val="8E6F3E"/>
            </a:solidFill>
          </a:ln>
        </p:spPr>
        <p:txBody>
          <a:bodyPr/>
          <a:lstStyle/>
          <a:p>
            <a:endParaRPr lang="en-US" sz="1200">
              <a:solidFill>
                <a:srgbClr val="FFFFFF"/>
              </a:solidFill>
            </a:endParaRPr>
          </a:p>
        </p:txBody>
      </p:sp>
      <p:sp>
        <p:nvSpPr>
          <p:cNvPr id="155" name="Edge"/>
          <p:cNvSpPr/>
          <p:nvPr/>
        </p:nvSpPr>
        <p:spPr>
          <a:xfrm flipV="1">
            <a:off x="5239914" y="2979752"/>
            <a:ext cx="59617" cy="567219"/>
          </a:xfrm>
          <a:prstGeom prst="line">
            <a:avLst/>
          </a:prstGeom>
          <a:ln w="6350">
            <a:solidFill>
              <a:srgbClr val="8E6F3E"/>
            </a:solidFill>
          </a:ln>
        </p:spPr>
        <p:txBody>
          <a:bodyPr/>
          <a:lstStyle/>
          <a:p>
            <a:endParaRPr lang="en-US" sz="1200">
              <a:solidFill>
                <a:srgbClr val="FFFFFF"/>
              </a:solidFill>
            </a:endParaRPr>
          </a:p>
        </p:txBody>
      </p:sp>
      <p:sp>
        <p:nvSpPr>
          <p:cNvPr id="156" name="Edge"/>
          <p:cNvSpPr/>
          <p:nvPr/>
        </p:nvSpPr>
        <p:spPr>
          <a:xfrm flipV="1">
            <a:off x="5239914" y="2485820"/>
            <a:ext cx="344789" cy="1061151"/>
          </a:xfrm>
          <a:prstGeom prst="line">
            <a:avLst/>
          </a:prstGeom>
          <a:ln w="6350">
            <a:solidFill>
              <a:srgbClr val="8E6F3E"/>
            </a:solidFill>
          </a:ln>
        </p:spPr>
        <p:txBody>
          <a:bodyPr/>
          <a:lstStyle/>
          <a:p>
            <a:endParaRPr lang="en-US" sz="1200">
              <a:solidFill>
                <a:srgbClr val="FFFFFF"/>
              </a:solidFill>
            </a:endParaRPr>
          </a:p>
        </p:txBody>
      </p:sp>
      <p:sp>
        <p:nvSpPr>
          <p:cNvPr id="157" name="Edge"/>
          <p:cNvSpPr/>
          <p:nvPr/>
        </p:nvSpPr>
        <p:spPr>
          <a:xfrm flipV="1">
            <a:off x="5239914" y="2150581"/>
            <a:ext cx="806206" cy="1396390"/>
          </a:xfrm>
          <a:prstGeom prst="line">
            <a:avLst/>
          </a:prstGeom>
          <a:ln w="6350">
            <a:solidFill>
              <a:srgbClr val="8E6F3E"/>
            </a:solidFill>
          </a:ln>
        </p:spPr>
        <p:txBody>
          <a:bodyPr/>
          <a:lstStyle/>
          <a:p>
            <a:endParaRPr lang="en-US" sz="1200">
              <a:solidFill>
                <a:srgbClr val="FFFFFF"/>
              </a:solidFill>
            </a:endParaRPr>
          </a:p>
        </p:txBody>
      </p:sp>
      <p:sp>
        <p:nvSpPr>
          <p:cNvPr id="158" name="Edge"/>
          <p:cNvSpPr/>
          <p:nvPr/>
        </p:nvSpPr>
        <p:spPr>
          <a:xfrm flipV="1">
            <a:off x="5299531" y="2485820"/>
            <a:ext cx="285172" cy="493932"/>
          </a:xfrm>
          <a:prstGeom prst="line">
            <a:avLst/>
          </a:prstGeom>
          <a:ln w="6350">
            <a:solidFill>
              <a:srgbClr val="8E6F3E"/>
            </a:solidFill>
          </a:ln>
        </p:spPr>
        <p:txBody>
          <a:bodyPr/>
          <a:lstStyle/>
          <a:p>
            <a:endParaRPr lang="en-US" sz="1200">
              <a:solidFill>
                <a:srgbClr val="FFFFFF"/>
              </a:solidFill>
            </a:endParaRPr>
          </a:p>
        </p:txBody>
      </p:sp>
      <p:sp>
        <p:nvSpPr>
          <p:cNvPr id="159" name="Edge"/>
          <p:cNvSpPr/>
          <p:nvPr/>
        </p:nvSpPr>
        <p:spPr>
          <a:xfrm flipV="1">
            <a:off x="5299531" y="2150581"/>
            <a:ext cx="746589" cy="829171"/>
          </a:xfrm>
          <a:prstGeom prst="line">
            <a:avLst/>
          </a:prstGeom>
          <a:ln w="6350">
            <a:solidFill>
              <a:srgbClr val="8E6F3E"/>
            </a:solidFill>
          </a:ln>
        </p:spPr>
        <p:txBody>
          <a:bodyPr/>
          <a:lstStyle/>
          <a:p>
            <a:endParaRPr lang="en-US" sz="1200">
              <a:solidFill>
                <a:srgbClr val="FFFFFF"/>
              </a:solidFill>
            </a:endParaRPr>
          </a:p>
        </p:txBody>
      </p:sp>
      <p:sp>
        <p:nvSpPr>
          <p:cNvPr id="160" name="Edge"/>
          <p:cNvSpPr/>
          <p:nvPr/>
        </p:nvSpPr>
        <p:spPr>
          <a:xfrm flipV="1">
            <a:off x="5584703" y="2150581"/>
            <a:ext cx="461417" cy="335239"/>
          </a:xfrm>
          <a:prstGeom prst="line">
            <a:avLst/>
          </a:prstGeom>
          <a:ln w="6350">
            <a:solidFill>
              <a:srgbClr val="8E6F3E"/>
            </a:solidFill>
          </a:ln>
        </p:spPr>
        <p:txBody>
          <a:bodyPr/>
          <a:lstStyle/>
          <a:p>
            <a:endParaRPr lang="en-US" sz="1200">
              <a:solidFill>
                <a:srgbClr val="FFFFFF"/>
              </a:solidFill>
            </a:endParaRPr>
          </a:p>
        </p:txBody>
      </p:sp>
      <p:sp>
        <p:nvSpPr>
          <p:cNvPr id="161" name="Engineer"/>
          <p:cNvSpPr/>
          <p:nvPr/>
        </p:nvSpPr>
        <p:spPr>
          <a:xfrm>
            <a:off x="6489700" y="1917700"/>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2" name="Engineer"/>
          <p:cNvSpPr/>
          <p:nvPr/>
        </p:nvSpPr>
        <p:spPr>
          <a:xfrm>
            <a:off x="7047580" y="2036281"/>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3" name="Engineer"/>
          <p:cNvSpPr/>
          <p:nvPr/>
        </p:nvSpPr>
        <p:spPr>
          <a:xfrm>
            <a:off x="7508997" y="2371520"/>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4" name="Engineer"/>
          <p:cNvSpPr/>
          <p:nvPr/>
        </p:nvSpPr>
        <p:spPr>
          <a:xfrm>
            <a:off x="7794169" y="2865452"/>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5" name="Engineer"/>
          <p:cNvSpPr/>
          <p:nvPr/>
        </p:nvSpPr>
        <p:spPr>
          <a:xfrm>
            <a:off x="7853786" y="3432671"/>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6" name="Engineer"/>
          <p:cNvSpPr/>
          <p:nvPr/>
        </p:nvSpPr>
        <p:spPr>
          <a:xfrm>
            <a:off x="7677540" y="3975100"/>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7" name="Engineer"/>
          <p:cNvSpPr/>
          <p:nvPr/>
        </p:nvSpPr>
        <p:spPr>
          <a:xfrm>
            <a:off x="7295906" y="4398948"/>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8" name="Engineer"/>
          <p:cNvSpPr/>
          <p:nvPr/>
        </p:nvSpPr>
        <p:spPr>
          <a:xfrm>
            <a:off x="6774872" y="4630927"/>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9" name="Engineer"/>
          <p:cNvSpPr/>
          <p:nvPr/>
        </p:nvSpPr>
        <p:spPr>
          <a:xfrm>
            <a:off x="6204528" y="4630927"/>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0" name="Engineer"/>
          <p:cNvSpPr/>
          <p:nvPr/>
        </p:nvSpPr>
        <p:spPr>
          <a:xfrm>
            <a:off x="5683494" y="4398948"/>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1" name="Engineer"/>
          <p:cNvSpPr/>
          <p:nvPr/>
        </p:nvSpPr>
        <p:spPr>
          <a:xfrm>
            <a:off x="5301860" y="3975100"/>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2" name="Engineer"/>
          <p:cNvSpPr/>
          <p:nvPr/>
        </p:nvSpPr>
        <p:spPr>
          <a:xfrm>
            <a:off x="5125614" y="3432671"/>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3" name="Engineer"/>
          <p:cNvSpPr/>
          <p:nvPr/>
        </p:nvSpPr>
        <p:spPr>
          <a:xfrm>
            <a:off x="5185231" y="2865452"/>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4" name="Engineer"/>
          <p:cNvSpPr/>
          <p:nvPr/>
        </p:nvSpPr>
        <p:spPr>
          <a:xfrm>
            <a:off x="5470403" y="2371520"/>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5" name="Engineer"/>
          <p:cNvSpPr/>
          <p:nvPr/>
        </p:nvSpPr>
        <p:spPr>
          <a:xfrm>
            <a:off x="5931820" y="2036281"/>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6" name="Label"/>
          <p:cNvSpPr txBox="1"/>
          <p:nvPr/>
        </p:nvSpPr>
        <p:spPr>
          <a:xfrm>
            <a:off x="762000" y="4978400"/>
            <a:ext cx="2921000" cy="508000"/>
          </a:xfrm>
          <a:prstGeom prst="rect">
            <a:avLst/>
          </a:prstGeom>
          <a:noFill/>
        </p:spPr>
        <p:txBody>
          <a:bodyPr wrap="square" lIns="0" rIns="0" anchor="t">
            <a:noAutofit/>
          </a:bodyPr>
          <a:lstStyle/>
          <a:p>
            <a:pPr algn="ctr">
              <a:buNone/>
            </a:pPr>
            <a:r>
              <a:rPr lang="en-US" sz="2200" b="1" dirty="0">
                <a:solidFill>
                  <a:srgbClr val="000000"/>
                </a:solidFill>
              </a:rPr>
              <a:t>5 engineers → 10 pairs</a:t>
            </a:r>
          </a:p>
        </p:txBody>
      </p:sp>
      <p:sp>
        <p:nvSpPr>
          <p:cNvPr id="177" name="Label"/>
          <p:cNvSpPr txBox="1"/>
          <p:nvPr/>
        </p:nvSpPr>
        <p:spPr>
          <a:xfrm>
            <a:off x="5080000" y="4978400"/>
            <a:ext cx="3048000" cy="508000"/>
          </a:xfrm>
          <a:prstGeom prst="rect">
            <a:avLst/>
          </a:prstGeom>
          <a:noFill/>
        </p:spPr>
        <p:txBody>
          <a:bodyPr wrap="square" lIns="0" rIns="0" anchor="t">
            <a:noAutofit/>
          </a:bodyPr>
          <a:lstStyle/>
          <a:p>
            <a:pPr algn="ctr">
              <a:buNone/>
            </a:pPr>
            <a:r>
              <a:rPr lang="en-US" sz="2200" b="1" dirty="0">
                <a:solidFill>
                  <a:srgbClr val="000000"/>
                </a:solidFill>
              </a:rPr>
              <a:t>15 engineers → 105 pairs</a:t>
            </a:r>
          </a:p>
        </p:txBody>
      </p:sp>
      <p:sp>
        <p:nvSpPr>
          <p:cNvPr id="178" name="Label"/>
          <p:cNvSpPr txBox="1"/>
          <p:nvPr/>
        </p:nvSpPr>
        <p:spPr>
          <a:xfrm>
            <a:off x="290051" y="5613400"/>
            <a:ext cx="8563897" cy="736600"/>
          </a:xfrm>
          <a:prstGeom prst="rect">
            <a:avLst/>
          </a:prstGeom>
          <a:noFill/>
        </p:spPr>
        <p:txBody>
          <a:bodyPr wrap="square" lIns="0" rIns="0" anchor="t">
            <a:noAutofit/>
          </a:bodyPr>
          <a:lstStyle/>
          <a:p>
            <a:pPr algn="ctr">
              <a:buNone/>
            </a:pPr>
            <a:r>
              <a:rPr lang="en-US" sz="2000" dirty="0"/>
              <a:t>N*(N−1)/2 possible pairs – Communication can become quadratic in the team size. </a:t>
            </a:r>
          </a:p>
          <a:p>
            <a:pPr algn="ctr">
              <a:buNone/>
            </a:pPr>
            <a:r>
              <a:rPr lang="en-US" sz="2000" i="1" dirty="0"/>
              <a:t>Brooks, The Mythical Man-Month, 1975.</a:t>
            </a:r>
          </a:p>
        </p:txBody>
      </p:sp>
    </p:spTree>
    <p:extLst>
      <p:ext uri="{BB962C8B-B14F-4D97-AF65-F5344CB8AC3E}">
        <p14:creationId xmlns:p14="http://schemas.microsoft.com/office/powerpoint/2010/main" val="2640047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FCEEB48-1FF0-D5C3-CABF-C868D966489E}"/>
              </a:ext>
            </a:extLst>
          </p:cNvPr>
          <p:cNvSpPr>
            <a:spLocks noGrp="1"/>
          </p:cNvSpPr>
          <p:nvPr>
            <p:ph type="title"/>
          </p:nvPr>
        </p:nvSpPr>
        <p:spPr/>
        <p:txBody>
          <a:bodyPr>
            <a:noAutofit/>
          </a:bodyPr>
          <a:lstStyle/>
          <a:p>
            <a:r>
              <a:rPr lang="en-US" sz="2600" dirty="0"/>
              <a:t>Goal: Make coordination costs grow sublinearly</a:t>
            </a:r>
          </a:p>
        </p:txBody>
      </p:sp>
      <p:sp>
        <p:nvSpPr>
          <p:cNvPr id="4" name="Slide Number Placeholder 3">
            <a:extLst>
              <a:ext uri="{FF2B5EF4-FFF2-40B4-BE49-F238E27FC236}">
                <a16:creationId xmlns:a16="http://schemas.microsoft.com/office/drawing/2014/main" id="{155A0354-1FB4-A8F7-3972-1782E62F05F9}"/>
              </a:ext>
            </a:extLst>
          </p:cNvPr>
          <p:cNvSpPr>
            <a:spLocks noGrp="1"/>
          </p:cNvSpPr>
          <p:nvPr>
            <p:ph type="sldNum" sz="quarter" idx="4"/>
          </p:nvPr>
        </p:nvSpPr>
        <p:spPr/>
        <p:txBody>
          <a:bodyPr/>
          <a:lstStyle/>
          <a:p>
            <a:fld id="{B7EB45DA-9A0D-DC49-8E02-F30A5DDC21C3}" type="slidenum">
              <a:rPr lang="en-US" smtClean="0"/>
              <a:t>14</a:t>
            </a:fld>
            <a:endParaRPr lang="en-US"/>
          </a:p>
        </p:txBody>
      </p:sp>
      <p:graphicFrame>
        <p:nvGraphicFramePr>
          <p:cNvPr id="60" name="Scaling chart" descr="Conceptual line chart: engineering capacity rises roughly linearly with the number of engineers, while the target coordination cost curve flattens — growing sublinearly."/>
          <p:cNvGraphicFramePr/>
          <p:nvPr>
            <p:extLst>
              <p:ext uri="{D42A27DB-BD31-4B8C-83A1-F6EECF244321}">
                <p14:modId xmlns:p14="http://schemas.microsoft.com/office/powerpoint/2010/main" val="1552475647"/>
              </p:ext>
            </p:extLst>
          </p:nvPr>
        </p:nvGraphicFramePr>
        <p:xfrm>
          <a:off x="211138" y="1069383"/>
          <a:ext cx="8551862" cy="3905573"/>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FAEAE3BC-A23C-7D4D-B452-C29401F551DC}"/>
              </a:ext>
            </a:extLst>
          </p:cNvPr>
          <p:cNvSpPr txBox="1"/>
          <p:nvPr/>
        </p:nvSpPr>
        <p:spPr>
          <a:xfrm>
            <a:off x="381000" y="5332473"/>
            <a:ext cx="8382000" cy="461665"/>
          </a:xfrm>
          <a:prstGeom prst="rect">
            <a:avLst/>
          </a:prstGeom>
          <a:noFill/>
        </p:spPr>
        <p:txBody>
          <a:bodyPr vertOverflow="overflow" vert="horz" wrap="square" rtlCol="0" anchor="t">
            <a:spAutoFit/>
          </a:bodyPr>
          <a:lstStyle/>
          <a:p>
            <a:pPr algn="ctr">
              <a:buNone/>
            </a:pPr>
            <a:r>
              <a:rPr lang="en-US" sz="2400" b="1" i="0" dirty="0"/>
              <a:t>Capacity should grow with people.</a:t>
            </a:r>
          </a:p>
        </p:txBody>
      </p:sp>
      <p:sp>
        <p:nvSpPr>
          <p:cNvPr id="5" name="TextBox 4">
            <a:extLst>
              <a:ext uri="{FF2B5EF4-FFF2-40B4-BE49-F238E27FC236}">
                <a16:creationId xmlns:a16="http://schemas.microsoft.com/office/drawing/2014/main" id="{D5FD3394-FC06-1B41-AB09-D5188B9999A6}"/>
              </a:ext>
            </a:extLst>
          </p:cNvPr>
          <p:cNvSpPr txBox="1"/>
          <p:nvPr/>
        </p:nvSpPr>
        <p:spPr>
          <a:xfrm>
            <a:off x="381000" y="5759773"/>
            <a:ext cx="8382000" cy="400110"/>
          </a:xfrm>
          <a:prstGeom prst="rect">
            <a:avLst/>
          </a:prstGeom>
          <a:noFill/>
        </p:spPr>
        <p:txBody>
          <a:bodyPr vertOverflow="overflow" vert="horz" wrap="square" rtlCol="0" anchor="t">
            <a:spAutoFit/>
          </a:bodyPr>
          <a:lstStyle/>
          <a:p>
            <a:pPr algn="ctr">
              <a:buNone/>
            </a:pPr>
            <a:r>
              <a:rPr lang="en-US" sz="2000" b="0" i="1" dirty="0"/>
              <a:t>Software Engineering at Google, Ch. 1.</a:t>
            </a:r>
          </a:p>
        </p:txBody>
      </p:sp>
    </p:spTree>
    <p:extLst>
      <p:ext uri="{BB962C8B-B14F-4D97-AF65-F5344CB8AC3E}">
        <p14:creationId xmlns:p14="http://schemas.microsoft.com/office/powerpoint/2010/main" val="1240975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C94BD8-F61F-1F45-4154-BE24FB32AA81}"/>
              </a:ext>
            </a:extLst>
          </p:cNvPr>
          <p:cNvSpPr>
            <a:spLocks noGrp="1"/>
          </p:cNvSpPr>
          <p:nvPr>
            <p:ph type="title"/>
          </p:nvPr>
        </p:nvSpPr>
        <p:spPr/>
        <p:txBody>
          <a:bodyPr>
            <a:noAutofit/>
          </a:bodyPr>
          <a:lstStyle/>
          <a:p>
            <a:r>
              <a:rPr lang="en-US"/>
              <a:t>Engineer coordination for sublinear scaling</a:t>
            </a:r>
          </a:p>
        </p:txBody>
      </p:sp>
      <p:sp>
        <p:nvSpPr>
          <p:cNvPr id="4" name="Slide Number Placeholder 3">
            <a:extLst>
              <a:ext uri="{FF2B5EF4-FFF2-40B4-BE49-F238E27FC236}">
                <a16:creationId xmlns:a16="http://schemas.microsoft.com/office/drawing/2014/main" id="{AC818EE2-CF76-D38F-2746-88E2DE8D443D}"/>
              </a:ext>
            </a:extLst>
          </p:cNvPr>
          <p:cNvSpPr>
            <a:spLocks noGrp="1"/>
          </p:cNvSpPr>
          <p:nvPr>
            <p:ph type="sldNum" sz="quarter" idx="4"/>
          </p:nvPr>
        </p:nvSpPr>
        <p:spPr/>
        <p:txBody>
          <a:bodyPr/>
          <a:lstStyle/>
          <a:p>
            <a:fld id="{B7EB45DA-9A0D-DC49-8E02-F30A5DDC21C3}" type="slidenum">
              <a:rPr lang="en-US" smtClean="0"/>
              <a:t>15</a:t>
            </a:fld>
            <a:endParaRPr lang="en-US"/>
          </a:p>
        </p:txBody>
      </p:sp>
      <p:graphicFrame>
        <p:nvGraphicFramePr>
          <p:cNvPr id="6" name="Table 5">
            <a:extLst>
              <a:ext uri="{FF2B5EF4-FFF2-40B4-BE49-F238E27FC236}">
                <a16:creationId xmlns:a16="http://schemas.microsoft.com/office/drawing/2014/main" id="{F257F6A8-D162-1D49-8AA1-D44FBCF64088}"/>
              </a:ext>
            </a:extLst>
          </p:cNvPr>
          <p:cNvGraphicFramePr>
            <a:graphicFrameLocks noGrp="1"/>
          </p:cNvGraphicFramePr>
          <p:nvPr>
            <p:extLst>
              <p:ext uri="{D42A27DB-BD31-4B8C-83A1-F6EECF244321}">
                <p14:modId xmlns:p14="http://schemas.microsoft.com/office/powerpoint/2010/main" val="3375315955"/>
              </p:ext>
            </p:extLst>
          </p:nvPr>
        </p:nvGraphicFramePr>
        <p:xfrm>
          <a:off x="279400" y="1117600"/>
          <a:ext cx="8559800" cy="36830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3817182292"/>
                    </a:ext>
                  </a:extLst>
                </a:gridCol>
                <a:gridCol w="5384800">
                  <a:extLst>
                    <a:ext uri="{9D8B030D-6E8A-4147-A177-3AD203B41FA5}">
                      <a16:colId xmlns:a16="http://schemas.microsoft.com/office/drawing/2014/main" val="3643320496"/>
                    </a:ext>
                  </a:extLst>
                </a:gridCol>
              </a:tblGrid>
              <a:tr h="736600">
                <a:tc>
                  <a:txBody>
                    <a:bodyPr/>
                    <a:lstStyle/>
                    <a:p>
                      <a:pPr algn="l"/>
                      <a:r>
                        <a:rPr lang="en-US" sz="2000" b="1">
                          <a:solidFill>
                            <a:srgbClr val="FFFFFF"/>
                          </a:solidFill>
                        </a:rPr>
                        <a:t>Strategy</a:t>
                      </a:r>
                    </a:p>
                  </a:txBody>
                  <a:tcPr anchor="ctr"/>
                </a:tc>
                <a:tc>
                  <a:txBody>
                    <a:bodyPr/>
                    <a:lstStyle/>
                    <a:p>
                      <a:pPr algn="l"/>
                      <a:r>
                        <a:rPr lang="en-US" sz="2000" b="1">
                          <a:solidFill>
                            <a:srgbClr val="FFFFFF"/>
                          </a:solidFill>
                        </a:rPr>
                        <a:t>Mechanisms</a:t>
                      </a:r>
                    </a:p>
                  </a:txBody>
                  <a:tcPr anchor="ctr"/>
                </a:tc>
                <a:extLst>
                  <a:ext uri="{0D108BD9-81ED-4DB2-BD59-A6C34878D82A}">
                    <a16:rowId xmlns:a16="http://schemas.microsoft.com/office/drawing/2014/main" val="998728845"/>
                  </a:ext>
                </a:extLst>
              </a:tr>
              <a:tr h="736600">
                <a:tc>
                  <a:txBody>
                    <a:bodyPr/>
                    <a:lstStyle/>
                    <a:p>
                      <a:pPr algn="l"/>
                      <a:r>
                        <a:rPr lang="en-US" sz="2000" b="1"/>
                        <a:t>Reduce dependencies</a:t>
                      </a:r>
                    </a:p>
                  </a:txBody>
                  <a:tcPr anchor="ctr"/>
                </a:tc>
                <a:tc>
                  <a:txBody>
                    <a:bodyPr/>
                    <a:lstStyle/>
                    <a:p>
                      <a:pPr algn="l"/>
                      <a:r>
                        <a:rPr lang="en-US" sz="2000"/>
                        <a:t>Clear ownership · stable interfaces · modularity</a:t>
                      </a:r>
                    </a:p>
                  </a:txBody>
                  <a:tcPr anchor="ctr"/>
                </a:tc>
                <a:extLst>
                  <a:ext uri="{0D108BD9-81ED-4DB2-BD59-A6C34878D82A}">
                    <a16:rowId xmlns:a16="http://schemas.microsoft.com/office/drawing/2014/main" val="3524026651"/>
                  </a:ext>
                </a:extLst>
              </a:tr>
              <a:tr h="736600">
                <a:tc>
                  <a:txBody>
                    <a:bodyPr/>
                    <a:lstStyle/>
                    <a:p>
                      <a:pPr algn="l"/>
                      <a:r>
                        <a:rPr lang="en-US" sz="2000" b="1"/>
                        <a:t>Make knowledge reusable</a:t>
                      </a:r>
                    </a:p>
                  </a:txBody>
                  <a:tcPr anchor="ctr"/>
                </a:tc>
                <a:tc>
                  <a:txBody>
                    <a:bodyPr/>
                    <a:lstStyle/>
                    <a:p>
                      <a:pPr algn="l"/>
                      <a:r>
                        <a:rPr lang="en-US" sz="2000"/>
                        <a:t>Documentation · shared conventions · discoverable expertise</a:t>
                      </a:r>
                    </a:p>
                  </a:txBody>
                  <a:tcPr anchor="ctr"/>
                </a:tc>
                <a:extLst>
                  <a:ext uri="{0D108BD9-81ED-4DB2-BD59-A6C34878D82A}">
                    <a16:rowId xmlns:a16="http://schemas.microsoft.com/office/drawing/2014/main" val="2869490516"/>
                  </a:ext>
                </a:extLst>
              </a:tr>
              <a:tr h="736600">
                <a:tc>
                  <a:txBody>
                    <a:bodyPr/>
                    <a:lstStyle/>
                    <a:p>
                      <a:pPr algn="l"/>
                      <a:r>
                        <a:rPr lang="en-US" sz="2000" b="1"/>
                        <a:t>Automate coordination</a:t>
                      </a:r>
                    </a:p>
                  </a:txBody>
                  <a:tcPr anchor="ctr"/>
                </a:tc>
                <a:tc>
                  <a:txBody>
                    <a:bodyPr/>
                    <a:lstStyle/>
                    <a:p>
                      <a:pPr algn="l"/>
                      <a:r>
                        <a:rPr lang="en-US" sz="2000"/>
                        <a:t>Version control · automated tests · CI · tooling</a:t>
                      </a:r>
                    </a:p>
                  </a:txBody>
                  <a:tcPr anchor="ctr"/>
                </a:tc>
                <a:extLst>
                  <a:ext uri="{0D108BD9-81ED-4DB2-BD59-A6C34878D82A}">
                    <a16:rowId xmlns:a16="http://schemas.microsoft.com/office/drawing/2014/main" val="2511793753"/>
                  </a:ext>
                </a:extLst>
              </a:tr>
              <a:tr h="736600">
                <a:tc>
                  <a:txBody>
                    <a:bodyPr/>
                    <a:lstStyle/>
                    <a:p>
                      <a:pPr algn="l"/>
                      <a:r>
                        <a:rPr lang="en-US" sz="2000" b="1"/>
                        <a:t>Scale decision structures</a:t>
                      </a:r>
                    </a:p>
                  </a:txBody>
                  <a:tcPr anchor="ctr"/>
                </a:tc>
                <a:tc>
                  <a:txBody>
                    <a:bodyPr/>
                    <a:lstStyle/>
                    <a:p>
                      <a:pPr algn="l"/>
                      <a:r>
                        <a:rPr lang="en-US" sz="2000"/>
                        <a:t>Code review · ownership and reviewer rules · team boundaries</a:t>
                      </a:r>
                    </a:p>
                  </a:txBody>
                  <a:tcPr anchor="ctr"/>
                </a:tc>
                <a:extLst>
                  <a:ext uri="{0D108BD9-81ED-4DB2-BD59-A6C34878D82A}">
                    <a16:rowId xmlns:a16="http://schemas.microsoft.com/office/drawing/2014/main" val="1316540863"/>
                  </a:ext>
                </a:extLst>
              </a:tr>
            </a:tbl>
          </a:graphicData>
        </a:graphic>
      </p:graphicFrame>
      <p:sp>
        <p:nvSpPr>
          <p:cNvPr id="7" name="TextBox 6">
            <a:extLst>
              <a:ext uri="{FF2B5EF4-FFF2-40B4-BE49-F238E27FC236}">
                <a16:creationId xmlns:a16="http://schemas.microsoft.com/office/drawing/2014/main" id="{361198C1-0A81-E74B-932E-76BB542FC681}"/>
              </a:ext>
            </a:extLst>
          </p:cNvPr>
          <p:cNvSpPr txBox="1"/>
          <p:nvPr/>
        </p:nvSpPr>
        <p:spPr>
          <a:xfrm>
            <a:off x="279400" y="4978400"/>
            <a:ext cx="8559800" cy="571500"/>
          </a:xfrm>
          <a:prstGeom prst="rect">
            <a:avLst/>
          </a:prstGeom>
          <a:noFill/>
        </p:spPr>
        <p:txBody>
          <a:bodyPr vertOverflow="overflow" vert="horz" wrap="square" rtlCol="0" anchor="t">
            <a:spAutoFit/>
          </a:bodyPr>
          <a:lstStyle/>
          <a:p>
            <a:pPr algn="l"/>
            <a:r>
              <a:rPr lang="en-US" sz="2400" b="1"/>
              <a:t>One decision should serve many future interactions.</a:t>
            </a:r>
          </a:p>
        </p:txBody>
      </p:sp>
      <p:sp>
        <p:nvSpPr>
          <p:cNvPr id="8" name="TextBox 7">
            <a:extLst>
              <a:ext uri="{FF2B5EF4-FFF2-40B4-BE49-F238E27FC236}">
                <a16:creationId xmlns:a16="http://schemas.microsoft.com/office/drawing/2014/main" id="{8D9AB725-31BA-5942-BDBA-9DC5E37552CB}"/>
              </a:ext>
            </a:extLst>
          </p:cNvPr>
          <p:cNvSpPr txBox="1"/>
          <p:nvPr/>
        </p:nvSpPr>
        <p:spPr>
          <a:xfrm>
            <a:off x="279400" y="5613400"/>
            <a:ext cx="7620000" cy="698500"/>
          </a:xfrm>
          <a:prstGeom prst="rect">
            <a:avLst/>
          </a:prstGeom>
          <a:noFill/>
        </p:spPr>
        <p:txBody>
          <a:bodyPr vertOverflow="overflow" vert="horz" wrap="square" rtlCol="0" anchor="t">
            <a:spAutoFit/>
          </a:bodyPr>
          <a:lstStyle/>
          <a:p>
            <a:pPr algn="l"/>
            <a:r>
              <a:rPr lang="en-US" sz="2000"/>
              <a:t>The scalability criterion is from Software Engineering at Google, Ch. 1; the mechanisms are general software engineering practice.</a:t>
            </a:r>
          </a:p>
        </p:txBody>
      </p:sp>
    </p:spTree>
    <p:extLst>
      <p:ext uri="{BB962C8B-B14F-4D97-AF65-F5344CB8AC3E}">
        <p14:creationId xmlns:p14="http://schemas.microsoft.com/office/powerpoint/2010/main" val="2446860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FE1922-4618-2785-C5AF-0443B90DBFF0}"/>
              </a:ext>
            </a:extLst>
          </p:cNvPr>
          <p:cNvSpPr>
            <a:spLocks noGrp="1"/>
          </p:cNvSpPr>
          <p:nvPr>
            <p:ph type="title"/>
          </p:nvPr>
        </p:nvSpPr>
        <p:spPr/>
        <p:txBody>
          <a:bodyPr>
            <a:noAutofit/>
          </a:bodyPr>
          <a:lstStyle/>
          <a:p>
            <a:r>
              <a:rPr lang="en-US"/>
              <a:t>Architecture changes the coordination topology</a:t>
            </a:r>
          </a:p>
        </p:txBody>
      </p:sp>
      <p:sp>
        <p:nvSpPr>
          <p:cNvPr id="4" name="Slide Number Placeholder 3">
            <a:extLst>
              <a:ext uri="{FF2B5EF4-FFF2-40B4-BE49-F238E27FC236}">
                <a16:creationId xmlns:a16="http://schemas.microsoft.com/office/drawing/2014/main" id="{D5AD9436-00D3-1FD3-78C3-EFE9CE59E805}"/>
              </a:ext>
            </a:extLst>
          </p:cNvPr>
          <p:cNvSpPr>
            <a:spLocks noGrp="1"/>
          </p:cNvSpPr>
          <p:nvPr>
            <p:ph type="sldNum" sz="quarter" idx="4"/>
          </p:nvPr>
        </p:nvSpPr>
        <p:spPr/>
        <p:txBody>
          <a:bodyPr/>
          <a:lstStyle/>
          <a:p>
            <a:fld id="{B7EB45DA-9A0D-DC49-8E02-F30A5DDC21C3}" type="slidenum">
              <a:rPr lang="en-US" smtClean="0"/>
              <a:t>16</a:t>
            </a:fld>
            <a:endParaRPr lang="en-US"/>
          </a:p>
        </p:txBody>
      </p:sp>
      <p:sp>
        <p:nvSpPr>
          <p:cNvPr id="40" name="Label left"/>
          <p:cNvSpPr/>
          <p:nvPr/>
        </p:nvSpPr>
        <p:spPr>
          <a:xfrm>
            <a:off x="381000" y="1092200"/>
            <a:ext cx="3810000" cy="457200"/>
          </a:xfrm>
          <a:prstGeom prst="rect">
            <a:avLst/>
          </a:prstGeom>
          <a:noFill/>
          <a:ln>
            <a:noFill/>
          </a:ln>
        </p:spPr>
        <p:txBody>
          <a:bodyPr wrap="square" lIns="45720" rIns="45720" anchor="ctr">
            <a:noAutofit/>
          </a:bodyPr>
          <a:lstStyle/>
          <a:p>
            <a:pPr algn="ctr">
              <a:buNone/>
            </a:pPr>
            <a:r>
              <a:rPr lang="en-US" sz="2200" b="1" dirty="0">
                <a:solidFill>
                  <a:srgbClr val="000000"/>
                </a:solidFill>
              </a:rPr>
              <a:t>Everyone ↔ everyone</a:t>
            </a:r>
          </a:p>
        </p:txBody>
      </p:sp>
      <p:sp>
        <p:nvSpPr>
          <p:cNvPr id="41" name="Edge"/>
          <p:cNvSpPr/>
          <p:nvPr/>
        </p:nvSpPr>
        <p:spPr>
          <a:xfrm>
            <a:off x="2286000" y="2108200"/>
            <a:ext cx="772302" cy="319898"/>
          </a:xfrm>
          <a:prstGeom prst="line">
            <a:avLst/>
          </a:prstGeom>
          <a:ln w="9525">
            <a:solidFill>
              <a:srgbClr val="8E6F3E"/>
            </a:solidFill>
          </a:ln>
        </p:spPr>
        <p:txBody>
          <a:bodyPr/>
          <a:lstStyle/>
          <a:p>
            <a:endParaRPr lang="en-US" sz="1200">
              <a:solidFill>
                <a:srgbClr val="FFFFFF"/>
              </a:solidFill>
            </a:endParaRPr>
          </a:p>
        </p:txBody>
      </p:sp>
      <p:sp>
        <p:nvSpPr>
          <p:cNvPr id="42" name="Edge"/>
          <p:cNvSpPr/>
          <p:nvPr/>
        </p:nvSpPr>
        <p:spPr>
          <a:xfrm>
            <a:off x="2286000" y="2108200"/>
            <a:ext cx="1092200" cy="1092200"/>
          </a:xfrm>
          <a:prstGeom prst="line">
            <a:avLst/>
          </a:prstGeom>
          <a:ln w="9525">
            <a:solidFill>
              <a:srgbClr val="8E6F3E"/>
            </a:solidFill>
          </a:ln>
        </p:spPr>
        <p:txBody>
          <a:bodyPr/>
          <a:lstStyle/>
          <a:p>
            <a:endParaRPr lang="en-US" sz="1200">
              <a:solidFill>
                <a:srgbClr val="FFFFFF"/>
              </a:solidFill>
            </a:endParaRPr>
          </a:p>
        </p:txBody>
      </p:sp>
      <p:sp>
        <p:nvSpPr>
          <p:cNvPr id="43" name="Edge"/>
          <p:cNvSpPr/>
          <p:nvPr/>
        </p:nvSpPr>
        <p:spPr>
          <a:xfrm>
            <a:off x="2286000" y="2108200"/>
            <a:ext cx="772302" cy="1864502"/>
          </a:xfrm>
          <a:prstGeom prst="line">
            <a:avLst/>
          </a:prstGeom>
          <a:ln w="9525">
            <a:solidFill>
              <a:srgbClr val="8E6F3E"/>
            </a:solidFill>
          </a:ln>
        </p:spPr>
        <p:txBody>
          <a:bodyPr/>
          <a:lstStyle/>
          <a:p>
            <a:endParaRPr lang="en-US" sz="1200">
              <a:solidFill>
                <a:srgbClr val="FFFFFF"/>
              </a:solidFill>
            </a:endParaRPr>
          </a:p>
        </p:txBody>
      </p:sp>
      <p:sp>
        <p:nvSpPr>
          <p:cNvPr id="44" name="Edge"/>
          <p:cNvSpPr/>
          <p:nvPr/>
        </p:nvSpPr>
        <p:spPr>
          <a:xfrm>
            <a:off x="2286000" y="2108200"/>
            <a:ext cx="5080" cy="2184400"/>
          </a:xfrm>
          <a:prstGeom prst="line">
            <a:avLst/>
          </a:prstGeom>
          <a:ln w="9525">
            <a:solidFill>
              <a:srgbClr val="8E6F3E"/>
            </a:solidFill>
          </a:ln>
        </p:spPr>
        <p:txBody>
          <a:bodyPr/>
          <a:lstStyle/>
          <a:p>
            <a:endParaRPr lang="en-US" sz="1200">
              <a:solidFill>
                <a:srgbClr val="FFFFFF"/>
              </a:solidFill>
            </a:endParaRPr>
          </a:p>
        </p:txBody>
      </p:sp>
      <p:sp>
        <p:nvSpPr>
          <p:cNvPr id="45" name="Edge"/>
          <p:cNvSpPr/>
          <p:nvPr/>
        </p:nvSpPr>
        <p:spPr>
          <a:xfrm flipH="1">
            <a:off x="1513698" y="2108200"/>
            <a:ext cx="772302" cy="1864502"/>
          </a:xfrm>
          <a:prstGeom prst="line">
            <a:avLst/>
          </a:prstGeom>
          <a:ln w="9525">
            <a:solidFill>
              <a:srgbClr val="8E6F3E"/>
            </a:solidFill>
          </a:ln>
        </p:spPr>
        <p:txBody>
          <a:bodyPr/>
          <a:lstStyle/>
          <a:p>
            <a:endParaRPr lang="en-US" sz="1200">
              <a:solidFill>
                <a:srgbClr val="FFFFFF"/>
              </a:solidFill>
            </a:endParaRPr>
          </a:p>
        </p:txBody>
      </p:sp>
      <p:sp>
        <p:nvSpPr>
          <p:cNvPr id="46" name="Edge"/>
          <p:cNvSpPr/>
          <p:nvPr/>
        </p:nvSpPr>
        <p:spPr>
          <a:xfrm flipH="1">
            <a:off x="1193800" y="2108200"/>
            <a:ext cx="1092200" cy="1092200"/>
          </a:xfrm>
          <a:prstGeom prst="line">
            <a:avLst/>
          </a:prstGeom>
          <a:ln w="9525">
            <a:solidFill>
              <a:srgbClr val="8E6F3E"/>
            </a:solidFill>
          </a:ln>
        </p:spPr>
        <p:txBody>
          <a:bodyPr/>
          <a:lstStyle/>
          <a:p>
            <a:endParaRPr lang="en-US" sz="1200">
              <a:solidFill>
                <a:srgbClr val="FFFFFF"/>
              </a:solidFill>
            </a:endParaRPr>
          </a:p>
        </p:txBody>
      </p:sp>
      <p:sp>
        <p:nvSpPr>
          <p:cNvPr id="47" name="Edge"/>
          <p:cNvSpPr/>
          <p:nvPr/>
        </p:nvSpPr>
        <p:spPr>
          <a:xfrm flipH="1">
            <a:off x="1513698" y="2108200"/>
            <a:ext cx="772302" cy="319898"/>
          </a:xfrm>
          <a:prstGeom prst="line">
            <a:avLst/>
          </a:prstGeom>
          <a:ln w="9525">
            <a:solidFill>
              <a:srgbClr val="8E6F3E"/>
            </a:solidFill>
          </a:ln>
        </p:spPr>
        <p:txBody>
          <a:bodyPr/>
          <a:lstStyle/>
          <a:p>
            <a:endParaRPr lang="en-US" sz="1200">
              <a:solidFill>
                <a:srgbClr val="FFFFFF"/>
              </a:solidFill>
            </a:endParaRPr>
          </a:p>
        </p:txBody>
      </p:sp>
      <p:sp>
        <p:nvSpPr>
          <p:cNvPr id="48" name="Edge"/>
          <p:cNvSpPr/>
          <p:nvPr/>
        </p:nvSpPr>
        <p:spPr>
          <a:xfrm>
            <a:off x="3058302" y="2428098"/>
            <a:ext cx="319898" cy="772302"/>
          </a:xfrm>
          <a:prstGeom prst="line">
            <a:avLst/>
          </a:prstGeom>
          <a:ln w="9525">
            <a:solidFill>
              <a:srgbClr val="8E6F3E"/>
            </a:solidFill>
          </a:ln>
        </p:spPr>
        <p:txBody>
          <a:bodyPr/>
          <a:lstStyle/>
          <a:p>
            <a:endParaRPr lang="en-US" sz="1200">
              <a:solidFill>
                <a:srgbClr val="FFFFFF"/>
              </a:solidFill>
            </a:endParaRPr>
          </a:p>
        </p:txBody>
      </p:sp>
      <p:sp>
        <p:nvSpPr>
          <p:cNvPr id="49" name="Edge"/>
          <p:cNvSpPr/>
          <p:nvPr/>
        </p:nvSpPr>
        <p:spPr>
          <a:xfrm>
            <a:off x="3058302" y="2428098"/>
            <a:ext cx="5080" cy="1544604"/>
          </a:xfrm>
          <a:prstGeom prst="line">
            <a:avLst/>
          </a:prstGeom>
          <a:ln w="9525">
            <a:solidFill>
              <a:srgbClr val="8E6F3E"/>
            </a:solidFill>
          </a:ln>
        </p:spPr>
        <p:txBody>
          <a:bodyPr/>
          <a:lstStyle/>
          <a:p>
            <a:endParaRPr lang="en-US" sz="1200">
              <a:solidFill>
                <a:srgbClr val="FFFFFF"/>
              </a:solidFill>
            </a:endParaRPr>
          </a:p>
        </p:txBody>
      </p:sp>
      <p:sp>
        <p:nvSpPr>
          <p:cNvPr id="50" name="Edge"/>
          <p:cNvSpPr/>
          <p:nvPr/>
        </p:nvSpPr>
        <p:spPr>
          <a:xfrm flipH="1">
            <a:off x="2286000" y="2428098"/>
            <a:ext cx="772302" cy="1864502"/>
          </a:xfrm>
          <a:prstGeom prst="line">
            <a:avLst/>
          </a:prstGeom>
          <a:ln w="9525">
            <a:solidFill>
              <a:srgbClr val="8E6F3E"/>
            </a:solidFill>
          </a:ln>
        </p:spPr>
        <p:txBody>
          <a:bodyPr/>
          <a:lstStyle/>
          <a:p>
            <a:endParaRPr lang="en-US" sz="1200">
              <a:solidFill>
                <a:srgbClr val="FFFFFF"/>
              </a:solidFill>
            </a:endParaRPr>
          </a:p>
        </p:txBody>
      </p:sp>
      <p:sp>
        <p:nvSpPr>
          <p:cNvPr id="51" name="Edge"/>
          <p:cNvSpPr/>
          <p:nvPr/>
        </p:nvSpPr>
        <p:spPr>
          <a:xfrm flipH="1">
            <a:off x="1513698" y="2428098"/>
            <a:ext cx="1544604" cy="1544604"/>
          </a:xfrm>
          <a:prstGeom prst="line">
            <a:avLst/>
          </a:prstGeom>
          <a:ln w="9525">
            <a:solidFill>
              <a:srgbClr val="8E6F3E"/>
            </a:solidFill>
          </a:ln>
        </p:spPr>
        <p:txBody>
          <a:bodyPr/>
          <a:lstStyle/>
          <a:p>
            <a:endParaRPr lang="en-US" sz="1200">
              <a:solidFill>
                <a:srgbClr val="FFFFFF"/>
              </a:solidFill>
            </a:endParaRPr>
          </a:p>
        </p:txBody>
      </p:sp>
      <p:sp>
        <p:nvSpPr>
          <p:cNvPr id="52" name="Edge"/>
          <p:cNvSpPr/>
          <p:nvPr/>
        </p:nvSpPr>
        <p:spPr>
          <a:xfrm flipH="1">
            <a:off x="1193800" y="2428098"/>
            <a:ext cx="1864502" cy="772302"/>
          </a:xfrm>
          <a:prstGeom prst="line">
            <a:avLst/>
          </a:prstGeom>
          <a:ln w="9525">
            <a:solidFill>
              <a:srgbClr val="8E6F3E"/>
            </a:solidFill>
          </a:ln>
        </p:spPr>
        <p:txBody>
          <a:bodyPr/>
          <a:lstStyle/>
          <a:p>
            <a:endParaRPr lang="en-US" sz="1200">
              <a:solidFill>
                <a:srgbClr val="FFFFFF"/>
              </a:solidFill>
            </a:endParaRPr>
          </a:p>
        </p:txBody>
      </p:sp>
      <p:sp>
        <p:nvSpPr>
          <p:cNvPr id="53" name="Edge"/>
          <p:cNvSpPr/>
          <p:nvPr/>
        </p:nvSpPr>
        <p:spPr>
          <a:xfrm flipH="1">
            <a:off x="1513698" y="2428098"/>
            <a:ext cx="1544604" cy="5080"/>
          </a:xfrm>
          <a:prstGeom prst="line">
            <a:avLst/>
          </a:prstGeom>
          <a:ln w="9525">
            <a:solidFill>
              <a:srgbClr val="8E6F3E"/>
            </a:solidFill>
          </a:ln>
        </p:spPr>
        <p:txBody>
          <a:bodyPr/>
          <a:lstStyle/>
          <a:p>
            <a:endParaRPr lang="en-US" sz="1200">
              <a:solidFill>
                <a:srgbClr val="FFFFFF"/>
              </a:solidFill>
            </a:endParaRPr>
          </a:p>
        </p:txBody>
      </p:sp>
      <p:sp>
        <p:nvSpPr>
          <p:cNvPr id="54" name="Edge"/>
          <p:cNvSpPr/>
          <p:nvPr/>
        </p:nvSpPr>
        <p:spPr>
          <a:xfrm flipH="1">
            <a:off x="3058302" y="3200400"/>
            <a:ext cx="319898" cy="772302"/>
          </a:xfrm>
          <a:prstGeom prst="line">
            <a:avLst/>
          </a:prstGeom>
          <a:ln w="9525">
            <a:solidFill>
              <a:srgbClr val="8E6F3E"/>
            </a:solidFill>
          </a:ln>
        </p:spPr>
        <p:txBody>
          <a:bodyPr/>
          <a:lstStyle/>
          <a:p>
            <a:endParaRPr lang="en-US" sz="1200">
              <a:solidFill>
                <a:srgbClr val="FFFFFF"/>
              </a:solidFill>
            </a:endParaRPr>
          </a:p>
        </p:txBody>
      </p:sp>
      <p:sp>
        <p:nvSpPr>
          <p:cNvPr id="55" name="Edge"/>
          <p:cNvSpPr/>
          <p:nvPr/>
        </p:nvSpPr>
        <p:spPr>
          <a:xfrm flipH="1">
            <a:off x="2286000" y="3200400"/>
            <a:ext cx="1092200" cy="1092200"/>
          </a:xfrm>
          <a:prstGeom prst="line">
            <a:avLst/>
          </a:prstGeom>
          <a:ln w="9525">
            <a:solidFill>
              <a:srgbClr val="8E6F3E"/>
            </a:solidFill>
          </a:ln>
        </p:spPr>
        <p:txBody>
          <a:bodyPr/>
          <a:lstStyle/>
          <a:p>
            <a:endParaRPr lang="en-US" sz="1200">
              <a:solidFill>
                <a:srgbClr val="FFFFFF"/>
              </a:solidFill>
            </a:endParaRPr>
          </a:p>
        </p:txBody>
      </p:sp>
      <p:sp>
        <p:nvSpPr>
          <p:cNvPr id="56" name="Edge"/>
          <p:cNvSpPr/>
          <p:nvPr/>
        </p:nvSpPr>
        <p:spPr>
          <a:xfrm flipH="1">
            <a:off x="1513698" y="3200400"/>
            <a:ext cx="1864502" cy="772302"/>
          </a:xfrm>
          <a:prstGeom prst="line">
            <a:avLst/>
          </a:prstGeom>
          <a:ln w="9525">
            <a:solidFill>
              <a:srgbClr val="8E6F3E"/>
            </a:solidFill>
          </a:ln>
        </p:spPr>
        <p:txBody>
          <a:bodyPr/>
          <a:lstStyle/>
          <a:p>
            <a:endParaRPr lang="en-US" sz="1200">
              <a:solidFill>
                <a:srgbClr val="FFFFFF"/>
              </a:solidFill>
            </a:endParaRPr>
          </a:p>
        </p:txBody>
      </p:sp>
      <p:sp>
        <p:nvSpPr>
          <p:cNvPr id="57" name="Edge"/>
          <p:cNvSpPr/>
          <p:nvPr/>
        </p:nvSpPr>
        <p:spPr>
          <a:xfrm flipH="1">
            <a:off x="1193800" y="3200400"/>
            <a:ext cx="2184400" cy="5080"/>
          </a:xfrm>
          <a:prstGeom prst="line">
            <a:avLst/>
          </a:prstGeom>
          <a:ln w="9525">
            <a:solidFill>
              <a:srgbClr val="8E6F3E"/>
            </a:solidFill>
          </a:ln>
        </p:spPr>
        <p:txBody>
          <a:bodyPr/>
          <a:lstStyle/>
          <a:p>
            <a:endParaRPr lang="en-US" sz="1200">
              <a:solidFill>
                <a:srgbClr val="FFFFFF"/>
              </a:solidFill>
            </a:endParaRPr>
          </a:p>
        </p:txBody>
      </p:sp>
      <p:sp>
        <p:nvSpPr>
          <p:cNvPr id="58" name="Edge"/>
          <p:cNvSpPr/>
          <p:nvPr/>
        </p:nvSpPr>
        <p:spPr>
          <a:xfrm flipH="1" flipV="1">
            <a:off x="1513698" y="2428098"/>
            <a:ext cx="1864502" cy="772302"/>
          </a:xfrm>
          <a:prstGeom prst="line">
            <a:avLst/>
          </a:prstGeom>
          <a:ln w="9525">
            <a:solidFill>
              <a:srgbClr val="8E6F3E"/>
            </a:solidFill>
          </a:ln>
        </p:spPr>
        <p:txBody>
          <a:bodyPr/>
          <a:lstStyle/>
          <a:p>
            <a:endParaRPr lang="en-US" sz="1200">
              <a:solidFill>
                <a:srgbClr val="FFFFFF"/>
              </a:solidFill>
            </a:endParaRPr>
          </a:p>
        </p:txBody>
      </p:sp>
      <p:sp>
        <p:nvSpPr>
          <p:cNvPr id="59" name="Edge"/>
          <p:cNvSpPr/>
          <p:nvPr/>
        </p:nvSpPr>
        <p:spPr>
          <a:xfrm flipH="1">
            <a:off x="2286000" y="3972702"/>
            <a:ext cx="772302" cy="319898"/>
          </a:xfrm>
          <a:prstGeom prst="line">
            <a:avLst/>
          </a:prstGeom>
          <a:ln w="9525">
            <a:solidFill>
              <a:srgbClr val="8E6F3E"/>
            </a:solidFill>
          </a:ln>
        </p:spPr>
        <p:txBody>
          <a:bodyPr/>
          <a:lstStyle/>
          <a:p>
            <a:endParaRPr lang="en-US" sz="1200">
              <a:solidFill>
                <a:srgbClr val="FFFFFF"/>
              </a:solidFill>
            </a:endParaRPr>
          </a:p>
        </p:txBody>
      </p:sp>
      <p:sp>
        <p:nvSpPr>
          <p:cNvPr id="60" name="Edge"/>
          <p:cNvSpPr/>
          <p:nvPr/>
        </p:nvSpPr>
        <p:spPr>
          <a:xfrm flipH="1">
            <a:off x="1513698" y="3972702"/>
            <a:ext cx="1544604" cy="5080"/>
          </a:xfrm>
          <a:prstGeom prst="line">
            <a:avLst/>
          </a:prstGeom>
          <a:ln w="9525">
            <a:solidFill>
              <a:srgbClr val="8E6F3E"/>
            </a:solidFill>
          </a:ln>
        </p:spPr>
        <p:txBody>
          <a:bodyPr/>
          <a:lstStyle/>
          <a:p>
            <a:endParaRPr lang="en-US" sz="1200">
              <a:solidFill>
                <a:srgbClr val="FFFFFF"/>
              </a:solidFill>
            </a:endParaRPr>
          </a:p>
        </p:txBody>
      </p:sp>
      <p:sp>
        <p:nvSpPr>
          <p:cNvPr id="61" name="Edge"/>
          <p:cNvSpPr/>
          <p:nvPr/>
        </p:nvSpPr>
        <p:spPr>
          <a:xfrm flipH="1" flipV="1">
            <a:off x="1193800" y="3200400"/>
            <a:ext cx="1864502" cy="772302"/>
          </a:xfrm>
          <a:prstGeom prst="line">
            <a:avLst/>
          </a:prstGeom>
          <a:ln w="9525">
            <a:solidFill>
              <a:srgbClr val="8E6F3E"/>
            </a:solidFill>
          </a:ln>
        </p:spPr>
        <p:txBody>
          <a:bodyPr/>
          <a:lstStyle/>
          <a:p>
            <a:endParaRPr lang="en-US" sz="1200">
              <a:solidFill>
                <a:srgbClr val="FFFFFF"/>
              </a:solidFill>
            </a:endParaRPr>
          </a:p>
        </p:txBody>
      </p:sp>
      <p:sp>
        <p:nvSpPr>
          <p:cNvPr id="62" name="Edge"/>
          <p:cNvSpPr/>
          <p:nvPr/>
        </p:nvSpPr>
        <p:spPr>
          <a:xfrm flipH="1" flipV="1">
            <a:off x="1513698" y="2428098"/>
            <a:ext cx="1544604" cy="1544604"/>
          </a:xfrm>
          <a:prstGeom prst="line">
            <a:avLst/>
          </a:prstGeom>
          <a:ln w="9525">
            <a:solidFill>
              <a:srgbClr val="8E6F3E"/>
            </a:solidFill>
          </a:ln>
        </p:spPr>
        <p:txBody>
          <a:bodyPr/>
          <a:lstStyle/>
          <a:p>
            <a:endParaRPr lang="en-US" sz="1200">
              <a:solidFill>
                <a:srgbClr val="FFFFFF"/>
              </a:solidFill>
            </a:endParaRPr>
          </a:p>
        </p:txBody>
      </p:sp>
      <p:sp>
        <p:nvSpPr>
          <p:cNvPr id="63" name="Edge"/>
          <p:cNvSpPr/>
          <p:nvPr/>
        </p:nvSpPr>
        <p:spPr>
          <a:xfrm flipH="1" flipV="1">
            <a:off x="1513698" y="3972702"/>
            <a:ext cx="772302" cy="319898"/>
          </a:xfrm>
          <a:prstGeom prst="line">
            <a:avLst/>
          </a:prstGeom>
          <a:ln w="9525">
            <a:solidFill>
              <a:srgbClr val="8E6F3E"/>
            </a:solidFill>
          </a:ln>
        </p:spPr>
        <p:txBody>
          <a:bodyPr/>
          <a:lstStyle/>
          <a:p>
            <a:endParaRPr lang="en-US" sz="1200">
              <a:solidFill>
                <a:srgbClr val="FFFFFF"/>
              </a:solidFill>
            </a:endParaRPr>
          </a:p>
        </p:txBody>
      </p:sp>
      <p:sp>
        <p:nvSpPr>
          <p:cNvPr id="64" name="Edge"/>
          <p:cNvSpPr/>
          <p:nvPr/>
        </p:nvSpPr>
        <p:spPr>
          <a:xfrm flipH="1" flipV="1">
            <a:off x="1193800" y="3200400"/>
            <a:ext cx="1092200" cy="1092200"/>
          </a:xfrm>
          <a:prstGeom prst="line">
            <a:avLst/>
          </a:prstGeom>
          <a:ln w="9525">
            <a:solidFill>
              <a:srgbClr val="8E6F3E"/>
            </a:solidFill>
          </a:ln>
        </p:spPr>
        <p:txBody>
          <a:bodyPr/>
          <a:lstStyle/>
          <a:p>
            <a:endParaRPr lang="en-US" sz="1200">
              <a:solidFill>
                <a:srgbClr val="FFFFFF"/>
              </a:solidFill>
            </a:endParaRPr>
          </a:p>
        </p:txBody>
      </p:sp>
      <p:sp>
        <p:nvSpPr>
          <p:cNvPr id="65" name="Edge"/>
          <p:cNvSpPr/>
          <p:nvPr/>
        </p:nvSpPr>
        <p:spPr>
          <a:xfrm flipH="1" flipV="1">
            <a:off x="1513698" y="2428098"/>
            <a:ext cx="772302" cy="1864502"/>
          </a:xfrm>
          <a:prstGeom prst="line">
            <a:avLst/>
          </a:prstGeom>
          <a:ln w="9525">
            <a:solidFill>
              <a:srgbClr val="8E6F3E"/>
            </a:solidFill>
          </a:ln>
        </p:spPr>
        <p:txBody>
          <a:bodyPr/>
          <a:lstStyle/>
          <a:p>
            <a:endParaRPr lang="en-US" sz="1200">
              <a:solidFill>
                <a:srgbClr val="FFFFFF"/>
              </a:solidFill>
            </a:endParaRPr>
          </a:p>
        </p:txBody>
      </p:sp>
      <p:sp>
        <p:nvSpPr>
          <p:cNvPr id="66" name="Edge"/>
          <p:cNvSpPr/>
          <p:nvPr/>
        </p:nvSpPr>
        <p:spPr>
          <a:xfrm flipH="1" flipV="1">
            <a:off x="1193800" y="3200400"/>
            <a:ext cx="319898" cy="772302"/>
          </a:xfrm>
          <a:prstGeom prst="line">
            <a:avLst/>
          </a:prstGeom>
          <a:ln w="9525">
            <a:solidFill>
              <a:srgbClr val="8E6F3E"/>
            </a:solidFill>
          </a:ln>
        </p:spPr>
        <p:txBody>
          <a:bodyPr/>
          <a:lstStyle/>
          <a:p>
            <a:endParaRPr lang="en-US" sz="1200">
              <a:solidFill>
                <a:srgbClr val="FFFFFF"/>
              </a:solidFill>
            </a:endParaRPr>
          </a:p>
        </p:txBody>
      </p:sp>
      <p:sp>
        <p:nvSpPr>
          <p:cNvPr id="67" name="Edge"/>
          <p:cNvSpPr/>
          <p:nvPr/>
        </p:nvSpPr>
        <p:spPr>
          <a:xfrm flipH="1" flipV="1">
            <a:off x="1513698" y="2428098"/>
            <a:ext cx="5080" cy="1544604"/>
          </a:xfrm>
          <a:prstGeom prst="line">
            <a:avLst/>
          </a:prstGeom>
          <a:ln w="9525">
            <a:solidFill>
              <a:srgbClr val="8E6F3E"/>
            </a:solidFill>
          </a:ln>
        </p:spPr>
        <p:txBody>
          <a:bodyPr/>
          <a:lstStyle/>
          <a:p>
            <a:endParaRPr lang="en-US" sz="1200">
              <a:solidFill>
                <a:srgbClr val="FFFFFF"/>
              </a:solidFill>
            </a:endParaRPr>
          </a:p>
        </p:txBody>
      </p:sp>
      <p:sp>
        <p:nvSpPr>
          <p:cNvPr id="68" name="Edge"/>
          <p:cNvSpPr/>
          <p:nvPr/>
        </p:nvSpPr>
        <p:spPr>
          <a:xfrm flipV="1">
            <a:off x="1193800" y="2428098"/>
            <a:ext cx="319898" cy="772302"/>
          </a:xfrm>
          <a:prstGeom prst="line">
            <a:avLst/>
          </a:prstGeom>
          <a:ln w="9525">
            <a:solidFill>
              <a:srgbClr val="8E6F3E"/>
            </a:solidFill>
          </a:ln>
        </p:spPr>
        <p:txBody>
          <a:bodyPr/>
          <a:lstStyle/>
          <a:p>
            <a:endParaRPr lang="en-US" sz="1200">
              <a:solidFill>
                <a:srgbClr val="FFFFFF"/>
              </a:solidFill>
            </a:endParaRPr>
          </a:p>
        </p:txBody>
      </p:sp>
      <p:sp>
        <p:nvSpPr>
          <p:cNvPr id="69" name="Engineer"/>
          <p:cNvSpPr/>
          <p:nvPr/>
        </p:nvSpPr>
        <p:spPr>
          <a:xfrm>
            <a:off x="2146300" y="1968500"/>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0" name="Engineer"/>
          <p:cNvSpPr/>
          <p:nvPr/>
        </p:nvSpPr>
        <p:spPr>
          <a:xfrm>
            <a:off x="2918602" y="2288398"/>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1" name="Engineer"/>
          <p:cNvSpPr/>
          <p:nvPr/>
        </p:nvSpPr>
        <p:spPr>
          <a:xfrm>
            <a:off x="3238500" y="3060700"/>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2" name="Engineer"/>
          <p:cNvSpPr/>
          <p:nvPr/>
        </p:nvSpPr>
        <p:spPr>
          <a:xfrm>
            <a:off x="2918602" y="3833002"/>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3" name="Engineer"/>
          <p:cNvSpPr/>
          <p:nvPr/>
        </p:nvSpPr>
        <p:spPr>
          <a:xfrm>
            <a:off x="2146300" y="4152900"/>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4" name="Engineer"/>
          <p:cNvSpPr/>
          <p:nvPr/>
        </p:nvSpPr>
        <p:spPr>
          <a:xfrm>
            <a:off x="1373998" y="3833002"/>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5" name="Engineer"/>
          <p:cNvSpPr/>
          <p:nvPr/>
        </p:nvSpPr>
        <p:spPr>
          <a:xfrm>
            <a:off x="1054100" y="3060700"/>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6" name="Engineer"/>
          <p:cNvSpPr/>
          <p:nvPr/>
        </p:nvSpPr>
        <p:spPr>
          <a:xfrm>
            <a:off x="1373998" y="2288398"/>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7" name="Count left"/>
          <p:cNvSpPr/>
          <p:nvPr/>
        </p:nvSpPr>
        <p:spPr>
          <a:xfrm>
            <a:off x="381000" y="4597400"/>
            <a:ext cx="3810000" cy="406400"/>
          </a:xfrm>
          <a:prstGeom prst="rect">
            <a:avLst/>
          </a:prstGeom>
          <a:noFill/>
          <a:ln>
            <a:noFill/>
          </a:ln>
        </p:spPr>
        <p:txBody>
          <a:bodyPr wrap="square" lIns="45720" rIns="45720" anchor="ctr">
            <a:noAutofit/>
          </a:bodyPr>
          <a:lstStyle/>
          <a:p>
            <a:pPr algn="ctr">
              <a:buNone/>
            </a:pPr>
            <a:r>
              <a:rPr lang="en-US" sz="2000" b="0" dirty="0">
                <a:solidFill>
                  <a:srgbClr val="555960"/>
                </a:solidFill>
              </a:rPr>
              <a:t>28 possible paths</a:t>
            </a:r>
          </a:p>
        </p:txBody>
      </p:sp>
      <p:sp>
        <p:nvSpPr>
          <p:cNvPr id="78" name="Label right"/>
          <p:cNvSpPr/>
          <p:nvPr/>
        </p:nvSpPr>
        <p:spPr>
          <a:xfrm>
            <a:off x="4953000" y="1092200"/>
            <a:ext cx="3810000" cy="457200"/>
          </a:xfrm>
          <a:prstGeom prst="rect">
            <a:avLst/>
          </a:prstGeom>
          <a:noFill/>
          <a:ln>
            <a:noFill/>
          </a:ln>
        </p:spPr>
        <p:txBody>
          <a:bodyPr wrap="square" lIns="45720" rIns="45720" anchor="ctr">
            <a:noAutofit/>
          </a:bodyPr>
          <a:lstStyle/>
          <a:p>
            <a:pPr algn="ctr">
              <a:buNone/>
            </a:pPr>
            <a:r>
              <a:rPr lang="en-US" sz="2200" b="1" dirty="0">
                <a:solidFill>
                  <a:srgbClr val="000000"/>
                </a:solidFill>
              </a:rPr>
              <a:t>Teams behind interfaces</a:t>
            </a:r>
          </a:p>
        </p:txBody>
      </p:sp>
      <p:sp>
        <p:nvSpPr>
          <p:cNvPr id="79" name="Module A"/>
          <p:cNvSpPr/>
          <p:nvPr/>
        </p:nvSpPr>
        <p:spPr>
          <a:xfrm>
            <a:off x="4724400" y="2108200"/>
            <a:ext cx="1219200" cy="2133600"/>
          </a:xfrm>
          <a:prstGeom prst="roundRect">
            <a:avLst/>
          </a:prstGeom>
          <a:noFill/>
          <a:ln w="19050">
            <a:solidFill>
              <a:srgbClr val="555960"/>
            </a:solidFill>
          </a:ln>
        </p:spPr>
        <p:txBody>
          <a:bodyPr wrap="square" lIns="45720" rIns="45720" anchor="t">
            <a:noAutofit/>
          </a:bodyPr>
          <a:lstStyle/>
          <a:p>
            <a:pPr algn="ctr">
              <a:buNone/>
            </a:pPr>
            <a:r>
              <a:rPr lang="en-US" sz="2000" b="1" dirty="0">
                <a:solidFill>
                  <a:srgbClr val="000000"/>
                </a:solidFill>
              </a:rPr>
              <a:t>Module A</a:t>
            </a:r>
          </a:p>
        </p:txBody>
      </p:sp>
      <p:sp>
        <p:nvSpPr>
          <p:cNvPr id="80" name="Engineer"/>
          <p:cNvSpPr/>
          <p:nvPr/>
        </p:nvSpPr>
        <p:spPr>
          <a:xfrm>
            <a:off x="5207000" y="29718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1" name="Engineer"/>
          <p:cNvSpPr/>
          <p:nvPr/>
        </p:nvSpPr>
        <p:spPr>
          <a:xfrm>
            <a:off x="5207000" y="33782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2" name="Engineer"/>
          <p:cNvSpPr/>
          <p:nvPr/>
        </p:nvSpPr>
        <p:spPr>
          <a:xfrm>
            <a:off x="5207000" y="37846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3" name="Module B"/>
          <p:cNvSpPr/>
          <p:nvPr/>
        </p:nvSpPr>
        <p:spPr>
          <a:xfrm>
            <a:off x="6248400" y="2108200"/>
            <a:ext cx="1219200" cy="2133600"/>
          </a:xfrm>
          <a:prstGeom prst="roundRect">
            <a:avLst/>
          </a:prstGeom>
          <a:noFill/>
          <a:ln w="19050">
            <a:solidFill>
              <a:srgbClr val="555960"/>
            </a:solidFill>
          </a:ln>
        </p:spPr>
        <p:txBody>
          <a:bodyPr wrap="square" lIns="45720" rIns="45720" anchor="t">
            <a:noAutofit/>
          </a:bodyPr>
          <a:lstStyle/>
          <a:p>
            <a:pPr algn="ctr">
              <a:buNone/>
            </a:pPr>
            <a:r>
              <a:rPr lang="en-US" sz="2000" b="1" dirty="0">
                <a:solidFill>
                  <a:srgbClr val="000000"/>
                </a:solidFill>
              </a:rPr>
              <a:t>Module B</a:t>
            </a:r>
          </a:p>
        </p:txBody>
      </p:sp>
      <p:sp>
        <p:nvSpPr>
          <p:cNvPr id="84" name="Engineer"/>
          <p:cNvSpPr/>
          <p:nvPr/>
        </p:nvSpPr>
        <p:spPr>
          <a:xfrm>
            <a:off x="6731000" y="29718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5" name="Engineer"/>
          <p:cNvSpPr/>
          <p:nvPr/>
        </p:nvSpPr>
        <p:spPr>
          <a:xfrm>
            <a:off x="6731000" y="33782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6" name="Engineer"/>
          <p:cNvSpPr/>
          <p:nvPr/>
        </p:nvSpPr>
        <p:spPr>
          <a:xfrm>
            <a:off x="6731000" y="37846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7" name="Module C"/>
          <p:cNvSpPr/>
          <p:nvPr/>
        </p:nvSpPr>
        <p:spPr>
          <a:xfrm>
            <a:off x="7772400" y="2108200"/>
            <a:ext cx="1219200" cy="2133600"/>
          </a:xfrm>
          <a:prstGeom prst="roundRect">
            <a:avLst/>
          </a:prstGeom>
          <a:noFill/>
          <a:ln w="19050">
            <a:solidFill>
              <a:srgbClr val="555960"/>
            </a:solidFill>
          </a:ln>
        </p:spPr>
        <p:txBody>
          <a:bodyPr wrap="square" lIns="45720" rIns="45720" anchor="t">
            <a:noAutofit/>
          </a:bodyPr>
          <a:lstStyle/>
          <a:p>
            <a:pPr algn="ctr">
              <a:buNone/>
            </a:pPr>
            <a:r>
              <a:rPr lang="en-US" sz="2000" b="1" dirty="0">
                <a:solidFill>
                  <a:srgbClr val="000000"/>
                </a:solidFill>
              </a:rPr>
              <a:t>Module C</a:t>
            </a:r>
          </a:p>
        </p:txBody>
      </p:sp>
      <p:sp>
        <p:nvSpPr>
          <p:cNvPr id="88" name="Engineer"/>
          <p:cNvSpPr/>
          <p:nvPr/>
        </p:nvSpPr>
        <p:spPr>
          <a:xfrm>
            <a:off x="8255000" y="29718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9" name="Engineer"/>
          <p:cNvSpPr/>
          <p:nvPr/>
        </p:nvSpPr>
        <p:spPr>
          <a:xfrm>
            <a:off x="8255000" y="33782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0" name="Engineer"/>
          <p:cNvSpPr/>
          <p:nvPr/>
        </p:nvSpPr>
        <p:spPr>
          <a:xfrm>
            <a:off x="8255000" y="37846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1" name="Edge"/>
          <p:cNvSpPr/>
          <p:nvPr/>
        </p:nvSpPr>
        <p:spPr>
          <a:xfrm>
            <a:off x="5943600" y="3175000"/>
            <a:ext cx="304800" cy="5080"/>
          </a:xfrm>
          <a:prstGeom prst="line">
            <a:avLst/>
          </a:prstGeom>
          <a:ln w="28575">
            <a:solidFill>
              <a:srgbClr val="8E6F3E"/>
            </a:solidFill>
          </a:ln>
        </p:spPr>
        <p:txBody>
          <a:bodyPr/>
          <a:lstStyle/>
          <a:p>
            <a:endParaRPr lang="en-US" sz="1200">
              <a:solidFill>
                <a:srgbClr val="FFFFFF"/>
              </a:solidFill>
            </a:endParaRPr>
          </a:p>
        </p:txBody>
      </p:sp>
      <p:sp>
        <p:nvSpPr>
          <p:cNvPr id="92" name="Edge"/>
          <p:cNvSpPr/>
          <p:nvPr/>
        </p:nvSpPr>
        <p:spPr>
          <a:xfrm>
            <a:off x="7467600" y="3175000"/>
            <a:ext cx="304800" cy="5080"/>
          </a:xfrm>
          <a:prstGeom prst="line">
            <a:avLst/>
          </a:prstGeom>
          <a:ln w="28575">
            <a:solidFill>
              <a:srgbClr val="8E6F3E"/>
            </a:solidFill>
          </a:ln>
        </p:spPr>
        <p:txBody>
          <a:bodyPr/>
          <a:lstStyle/>
          <a:p>
            <a:endParaRPr lang="en-US" sz="1200">
              <a:solidFill>
                <a:srgbClr val="FFFFFF"/>
              </a:solidFill>
            </a:endParaRPr>
          </a:p>
        </p:txBody>
      </p:sp>
      <p:sp>
        <p:nvSpPr>
          <p:cNvPr id="93" name="Count right"/>
          <p:cNvSpPr/>
          <p:nvPr/>
        </p:nvSpPr>
        <p:spPr>
          <a:xfrm>
            <a:off x="4953000" y="4597400"/>
            <a:ext cx="3810000" cy="406400"/>
          </a:xfrm>
          <a:prstGeom prst="rect">
            <a:avLst/>
          </a:prstGeom>
          <a:noFill/>
          <a:ln>
            <a:noFill/>
          </a:ln>
        </p:spPr>
        <p:txBody>
          <a:bodyPr wrap="square" lIns="45720" rIns="45720" anchor="ctr">
            <a:noAutofit/>
          </a:bodyPr>
          <a:lstStyle/>
          <a:p>
            <a:pPr algn="ctr">
              <a:buNone/>
            </a:pPr>
            <a:r>
              <a:rPr lang="en-US" sz="2000" b="0" dirty="0">
                <a:solidFill>
                  <a:srgbClr val="555960"/>
                </a:solidFill>
              </a:rPr>
              <a:t>2 inter-team interfaces</a:t>
            </a:r>
          </a:p>
        </p:txBody>
      </p:sp>
      <p:sp>
        <p:nvSpPr>
          <p:cNvPr id="94" name="Payoff"/>
          <p:cNvSpPr/>
          <p:nvPr/>
        </p:nvSpPr>
        <p:spPr>
          <a:xfrm>
            <a:off x="381000" y="5130800"/>
            <a:ext cx="8382000" cy="711200"/>
          </a:xfrm>
          <a:prstGeom prst="rect">
            <a:avLst/>
          </a:prstGeom>
          <a:noFill/>
          <a:ln>
            <a:noFill/>
          </a:ln>
        </p:spPr>
        <p:txBody>
          <a:bodyPr wrap="square" lIns="45720" rIns="45720" anchor="ctr">
            <a:noAutofit/>
          </a:bodyPr>
          <a:lstStyle/>
          <a:p>
            <a:pPr algn="ctr">
              <a:buNone/>
            </a:pPr>
            <a:r>
              <a:rPr lang="en-US" sz="2400" b="1" dirty="0">
                <a:solidFill>
                  <a:srgbClr val="000000"/>
                </a:solidFill>
              </a:rPr>
              <a:t>Interfaces let teams work with bounded knowledge and bounded coordination.</a:t>
            </a:r>
          </a:p>
        </p:txBody>
      </p:sp>
      <p:sp>
        <p:nvSpPr>
          <p:cNvPr id="95" name="Citation"/>
          <p:cNvSpPr/>
          <p:nvPr/>
        </p:nvSpPr>
        <p:spPr>
          <a:xfrm>
            <a:off x="381000" y="5867400"/>
            <a:ext cx="6858000" cy="406400"/>
          </a:xfrm>
          <a:prstGeom prst="rect">
            <a:avLst/>
          </a:prstGeom>
          <a:noFill/>
          <a:ln>
            <a:noFill/>
          </a:ln>
        </p:spPr>
        <p:txBody>
          <a:bodyPr wrap="square" lIns="45720" rIns="45720" anchor="ctr">
            <a:noAutofit/>
          </a:bodyPr>
          <a:lstStyle/>
          <a:p>
            <a:pPr algn="l">
              <a:buNone/>
            </a:pPr>
            <a:r>
              <a:rPr lang="en-US" sz="2000" i="1" dirty="0"/>
              <a:t>Conway, “How do committees invent?”, 1968.</a:t>
            </a:r>
          </a:p>
        </p:txBody>
      </p:sp>
    </p:spTree>
    <p:extLst>
      <p:ext uri="{BB962C8B-B14F-4D97-AF65-F5344CB8AC3E}">
        <p14:creationId xmlns:p14="http://schemas.microsoft.com/office/powerpoint/2010/main" val="3992706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p:cNvPicPr>
          <p:nvPr/>
        </p:nvPicPr>
        <p:blipFill>
          <a:blip r:embed="rId3">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3" name="Rectangle 2">
            <a:extLst>
              <a:ext uri="{FF2B5EF4-FFF2-40B4-BE49-F238E27FC236}">
                <a16:creationId xmlns:a16="http://schemas.microsoft.com/office/drawing/2014/main" id="{18EE15FA-1AB3-224A-B8E1-7633FE8883A1}"/>
              </a:ext>
            </a:extLst>
          </p:cNvPr>
          <p:cNvSpPr/>
          <p:nvPr/>
        </p:nvSpPr>
        <p:spPr>
          <a:xfrm>
            <a:off x="6833062" y="1403211"/>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+ 8</a:t>
            </a:r>
          </a:p>
        </p:txBody>
      </p:sp>
      <p:sp>
        <p:nvSpPr>
          <p:cNvPr id="7" name="Rectangle 6">
            <a:extLst>
              <a:ext uri="{FF2B5EF4-FFF2-40B4-BE49-F238E27FC236}">
                <a16:creationId xmlns:a16="http://schemas.microsoft.com/office/drawing/2014/main" id="{38AC71B8-1DF3-2E4F-8639-DC46D7E74C5B}"/>
              </a:ext>
            </a:extLst>
          </p:cNvPr>
          <p:cNvSpPr/>
          <p:nvPr/>
        </p:nvSpPr>
        <p:spPr>
          <a:xfrm>
            <a:off x="5523809" y="3175600"/>
            <a:ext cx="1866206"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+ 5h30</a:t>
            </a:r>
          </a:p>
        </p:txBody>
      </p:sp>
      <p:sp>
        <p:nvSpPr>
          <p:cNvPr id="8" name="Rectangle 7">
            <a:extLst>
              <a:ext uri="{FF2B5EF4-FFF2-40B4-BE49-F238E27FC236}">
                <a16:creationId xmlns:a16="http://schemas.microsoft.com/office/drawing/2014/main" id="{08B4FB12-E9B4-C245-AF55-6BF4E3695B83}"/>
              </a:ext>
            </a:extLst>
          </p:cNvPr>
          <p:cNvSpPr/>
          <p:nvPr/>
        </p:nvSpPr>
        <p:spPr>
          <a:xfrm>
            <a:off x="4783974" y="1140021"/>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+ 1</a:t>
            </a:r>
          </a:p>
        </p:txBody>
      </p:sp>
      <p:sp>
        <p:nvSpPr>
          <p:cNvPr id="9" name="Rectangle 8">
            <a:extLst>
              <a:ext uri="{FF2B5EF4-FFF2-40B4-BE49-F238E27FC236}">
                <a16:creationId xmlns:a16="http://schemas.microsoft.com/office/drawing/2014/main" id="{9CF0678F-F0D4-0146-B1C4-5067B71503FB}"/>
              </a:ext>
            </a:extLst>
          </p:cNvPr>
          <p:cNvSpPr/>
          <p:nvPr/>
        </p:nvSpPr>
        <p:spPr>
          <a:xfrm>
            <a:off x="3325090" y="1098594"/>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a:t>
            </a:r>
          </a:p>
        </p:txBody>
      </p:sp>
      <p:sp>
        <p:nvSpPr>
          <p:cNvPr id="10" name="Rectangle 9">
            <a:extLst>
              <a:ext uri="{FF2B5EF4-FFF2-40B4-BE49-F238E27FC236}">
                <a16:creationId xmlns:a16="http://schemas.microsoft.com/office/drawing/2014/main" id="{084E7D00-5A32-F443-BEC7-6A5A195416F9}"/>
              </a:ext>
            </a:extLst>
          </p:cNvPr>
          <p:cNvSpPr/>
          <p:nvPr/>
        </p:nvSpPr>
        <p:spPr>
          <a:xfrm>
            <a:off x="1957648" y="1237833"/>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- 5</a:t>
            </a:r>
          </a:p>
        </p:txBody>
      </p:sp>
      <p:sp>
        <p:nvSpPr>
          <p:cNvPr id="11" name="Rectangle 10">
            <a:extLst>
              <a:ext uri="{FF2B5EF4-FFF2-40B4-BE49-F238E27FC236}">
                <a16:creationId xmlns:a16="http://schemas.microsoft.com/office/drawing/2014/main" id="{82585655-6579-DB45-B7FD-D484D05218FB}"/>
              </a:ext>
            </a:extLst>
          </p:cNvPr>
          <p:cNvSpPr/>
          <p:nvPr/>
        </p:nvSpPr>
        <p:spPr>
          <a:xfrm>
            <a:off x="203662" y="1308465"/>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- 8</a:t>
            </a:r>
          </a:p>
        </p:txBody>
      </p:sp>
      <p:sp>
        <p:nvSpPr>
          <p:cNvPr id="12" name="Rectangle 11">
            <a:extLst>
              <a:ext uri="{FF2B5EF4-FFF2-40B4-BE49-F238E27FC236}">
                <a16:creationId xmlns:a16="http://schemas.microsoft.com/office/drawing/2014/main" id="{215DDBBB-94BE-074B-93EA-423836F475C9}"/>
              </a:ext>
            </a:extLst>
          </p:cNvPr>
          <p:cNvSpPr/>
          <p:nvPr/>
        </p:nvSpPr>
        <p:spPr>
          <a:xfrm>
            <a:off x="1228206" y="2902619"/>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- 6</a:t>
            </a:r>
          </a:p>
        </p:txBody>
      </p:sp>
      <p:sp>
        <p:nvSpPr>
          <p:cNvPr id="13" name="Title 3">
            <a:extLst>
              <a:ext uri="{FF2B5EF4-FFF2-40B4-BE49-F238E27FC236}">
                <a16:creationId xmlns:a16="http://schemas.microsoft.com/office/drawing/2014/main" id="{F6EF77E5-10CF-6746-996F-328029BBD38F}"/>
              </a:ext>
            </a:extLst>
          </p:cNvPr>
          <p:cNvSpPr>
            <a:spLocks noGrp="1"/>
          </p:cNvSpPr>
          <p:nvPr>
            <p:ph type="title" idx="4294967295"/>
          </p:nvPr>
        </p:nvSpPr>
        <p:spPr>
          <a:xfrm>
            <a:off x="279400" y="114300"/>
            <a:ext cx="8382000" cy="635000"/>
          </a:xfrm>
          <a:ln>
            <a:noFill/>
          </a:ln>
        </p:spPr>
        <p:txBody>
          <a:bodyPr>
            <a:noAutofit/>
          </a:bodyPr>
          <a:lstStyle/>
          <a:p>
            <a:r>
              <a:rPr lang="en-US" sz="2400"/>
              <a:t>Global engineering exposes coordination costs</a:t>
            </a:r>
            <a:endParaRPr lang="en-US" sz="2400" dirty="0"/>
          </a:p>
        </p:txBody>
      </p:sp>
      <p:sp>
        <p:nvSpPr>
          <p:cNvPr id="5" name="TextBox 4">
            <a:extLst>
              <a:ext uri="{FF2B5EF4-FFF2-40B4-BE49-F238E27FC236}">
                <a16:creationId xmlns:a16="http://schemas.microsoft.com/office/drawing/2014/main" id="{C0822064-65C5-57CD-96D5-B6518C790A44}"/>
              </a:ext>
            </a:extLst>
          </p:cNvPr>
          <p:cNvSpPr txBox="1"/>
          <p:nvPr/>
        </p:nvSpPr>
        <p:spPr>
          <a:xfrm>
            <a:off x="101600" y="6045200"/>
            <a:ext cx="8763000" cy="461665"/>
          </a:xfrm>
          <a:prstGeom prst="rect">
            <a:avLst/>
          </a:prstGeom>
          <a:noFill/>
        </p:spPr>
        <p:txBody>
          <a:bodyPr wrap="square" rtlCol="0">
            <a:spAutoFit/>
          </a:bodyPr>
          <a:lstStyle/>
          <a:p>
            <a:pPr>
              <a:buNone/>
            </a:pPr>
            <a:r>
              <a:rPr lang="en-US" sz="2400" b="1" i="1" dirty="0"/>
              <a:t>What becomes harder when coordination spans these sites?</a:t>
            </a:r>
          </a:p>
        </p:txBody>
      </p:sp>
      <p:sp>
        <p:nvSpPr>
          <p:cNvPr id="14" name="TextBox 13">
            <a:extLst>
              <a:ext uri="{FF2B5EF4-FFF2-40B4-BE49-F238E27FC236}">
                <a16:creationId xmlns:a16="http://schemas.microsoft.com/office/drawing/2014/main" id="{BA456E71-588F-A935-1652-386E7980037D}"/>
              </a:ext>
            </a:extLst>
          </p:cNvPr>
          <p:cNvSpPr txBox="1"/>
          <p:nvPr/>
        </p:nvSpPr>
        <p:spPr>
          <a:xfrm>
            <a:off x="101600" y="6527800"/>
            <a:ext cx="5461000" cy="330200"/>
          </a:xfrm>
          <a:prstGeom prst="rect">
            <a:avLst/>
          </a:prstGeom>
          <a:noFill/>
        </p:spPr>
        <p:txBody>
          <a:bodyPr wrap="square" rtlCol="0">
            <a:spAutoFit/>
          </a:bodyPr>
          <a:lstStyle/>
          <a:p>
            <a:pPr>
              <a:buNone/>
            </a:pPr>
            <a:r>
              <a:rPr lang="en-US" sz="2000" dirty="0"/>
              <a:t>Carmel, Global Software Teams, 1999.</a:t>
            </a:r>
          </a:p>
        </p:txBody>
      </p:sp>
    </p:spTree>
    <p:extLst>
      <p:ext uri="{BB962C8B-B14F-4D97-AF65-F5344CB8AC3E}">
        <p14:creationId xmlns:p14="http://schemas.microsoft.com/office/powerpoint/2010/main" val="394172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0" grpId="0" animBg="1"/>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324FF3-CBF8-5DFE-2995-DD4F87C51CE5}"/>
              </a:ext>
            </a:extLst>
          </p:cNvPr>
          <p:cNvSpPr>
            <a:spLocks noGrp="1"/>
          </p:cNvSpPr>
          <p:nvPr>
            <p:ph type="title"/>
          </p:nvPr>
        </p:nvSpPr>
        <p:spPr/>
        <p:txBody>
          <a:bodyPr>
            <a:noAutofit/>
          </a:bodyPr>
          <a:lstStyle/>
          <a:p>
            <a:r>
              <a:rPr lang="en-US"/>
              <a:t>Follow-the-sun: parallelism versus handoff cost</a:t>
            </a:r>
          </a:p>
        </p:txBody>
      </p:sp>
      <p:sp>
        <p:nvSpPr>
          <p:cNvPr id="4" name="Slide Number Placeholder 3">
            <a:extLst>
              <a:ext uri="{FF2B5EF4-FFF2-40B4-BE49-F238E27FC236}">
                <a16:creationId xmlns:a16="http://schemas.microsoft.com/office/drawing/2014/main" id="{200753C3-C55F-D69C-AB6D-178F997C0F98}"/>
              </a:ext>
            </a:extLst>
          </p:cNvPr>
          <p:cNvSpPr>
            <a:spLocks noGrp="1"/>
          </p:cNvSpPr>
          <p:nvPr>
            <p:ph type="sldNum" sz="quarter" idx="4"/>
          </p:nvPr>
        </p:nvSpPr>
        <p:spPr/>
        <p:txBody>
          <a:bodyPr/>
          <a:lstStyle/>
          <a:p>
            <a:fld id="{B7EB45DA-9A0D-DC49-8E02-F30A5DDC21C3}" type="slidenum">
              <a:rPr lang="en-US" smtClean="0"/>
              <a:t>18</a:t>
            </a:fld>
            <a:endParaRPr lang="en-US"/>
          </a:p>
        </p:txBody>
      </p:sp>
      <p:sp>
        <p:nvSpPr>
          <p:cNvPr id="40" name="Promise"/>
          <p:cNvSpPr/>
          <p:nvPr/>
        </p:nvSpPr>
        <p:spPr>
          <a:xfrm>
            <a:off x="381000" y="939800"/>
            <a:ext cx="8382000" cy="431800"/>
          </a:xfrm>
          <a:prstGeom prst="rect">
            <a:avLst/>
          </a:prstGeom>
          <a:noFill/>
          <a:ln>
            <a:noFill/>
          </a:ln>
        </p:spPr>
        <p:txBody>
          <a:bodyPr wrap="square" lIns="45720" rIns="45720" anchor="ctr">
            <a:noAutofit/>
          </a:bodyPr>
          <a:lstStyle/>
          <a:p>
            <a:pPr algn="ctr">
              <a:buNone/>
            </a:pPr>
            <a:r>
              <a:rPr lang="en-US" sz="2200" b="0" i="1" dirty="0"/>
              <a:t>Three sites, eight hours each—the promise of 24-hour progress</a:t>
            </a:r>
          </a:p>
        </p:txBody>
      </p:sp>
      <p:sp>
        <p:nvSpPr>
          <p:cNvPr id="41" name="Site A"/>
          <p:cNvSpPr/>
          <p:nvPr/>
        </p:nvSpPr>
        <p:spPr>
          <a:xfrm>
            <a:off x="762000" y="1828800"/>
            <a:ext cx="2616200" cy="990600"/>
          </a:xfrm>
          <a:prstGeom prst="rect">
            <a:avLst/>
          </a:prstGeom>
          <a:solidFill>
            <a:srgbClr val="8E6F3E"/>
          </a:solidFill>
          <a:ln w="19050">
            <a:solidFill>
              <a:srgbClr val="8E6F3E"/>
            </a:solidFill>
          </a:ln>
        </p:spPr>
        <p:txBody>
          <a:bodyPr wrap="square" lIns="45720" rIns="45720" anchor="ctr">
            <a:noAutofit/>
          </a:bodyPr>
          <a:lstStyle/>
          <a:p>
            <a:pPr algn="ctr">
              <a:buNone/>
            </a:pPr>
            <a:r>
              <a:rPr lang="en-US" sz="2200" b="1" i="0" dirty="0">
                <a:solidFill>
                  <a:srgbClr val="FFFFFF"/>
                </a:solidFill>
              </a:rPr>
              <a:t>Site A</a:t>
            </a:r>
          </a:p>
          <a:p>
            <a:pPr algn="ctr">
              <a:buNone/>
            </a:pPr>
            <a:r>
              <a:rPr lang="en-US" sz="2000" b="0" i="0" dirty="0">
                <a:solidFill>
                  <a:srgbClr val="FFFFFF"/>
                </a:solidFill>
              </a:rPr>
              <a:t>00:00 – 08:00</a:t>
            </a:r>
          </a:p>
        </p:txBody>
      </p:sp>
      <p:sp>
        <p:nvSpPr>
          <p:cNvPr id="42" name="Site B"/>
          <p:cNvSpPr/>
          <p:nvPr/>
        </p:nvSpPr>
        <p:spPr>
          <a:xfrm>
            <a:off x="3403600" y="1828800"/>
            <a:ext cx="2616200" cy="990600"/>
          </a:xfrm>
          <a:prstGeom prst="rect">
            <a:avLst/>
          </a:prstGeom>
          <a:solidFill>
            <a:srgbClr val="555960"/>
          </a:solidFill>
          <a:ln w="19050">
            <a:solidFill>
              <a:srgbClr val="555960"/>
            </a:solidFill>
          </a:ln>
        </p:spPr>
        <p:txBody>
          <a:bodyPr wrap="square" lIns="45720" rIns="45720" anchor="ctr">
            <a:noAutofit/>
          </a:bodyPr>
          <a:lstStyle/>
          <a:p>
            <a:pPr algn="ctr">
              <a:buNone/>
            </a:pPr>
            <a:r>
              <a:rPr lang="en-US" sz="2200" b="1" i="0" dirty="0">
                <a:solidFill>
                  <a:srgbClr val="FFFFFF"/>
                </a:solidFill>
              </a:rPr>
              <a:t>Site B</a:t>
            </a:r>
          </a:p>
          <a:p>
            <a:pPr algn="ctr">
              <a:buNone/>
            </a:pPr>
            <a:r>
              <a:rPr lang="en-US" sz="2000" b="0" i="0" dirty="0">
                <a:solidFill>
                  <a:srgbClr val="FFFFFF"/>
                </a:solidFill>
              </a:rPr>
              <a:t>08:00 – 16:00</a:t>
            </a:r>
          </a:p>
        </p:txBody>
      </p:sp>
      <p:sp>
        <p:nvSpPr>
          <p:cNvPr id="43" name="Site C"/>
          <p:cNvSpPr/>
          <p:nvPr/>
        </p:nvSpPr>
        <p:spPr>
          <a:xfrm>
            <a:off x="6045200" y="1828800"/>
            <a:ext cx="2616200" cy="990600"/>
          </a:xfrm>
          <a:prstGeom prst="rect">
            <a:avLst/>
          </a:prstGeom>
          <a:solidFill>
            <a:srgbClr val="C9B991"/>
          </a:solidFill>
          <a:ln w="19050">
            <a:solidFill>
              <a:srgbClr val="C9B991"/>
            </a:solidFill>
          </a:ln>
        </p:spPr>
        <p:txBody>
          <a:bodyPr wrap="square" lIns="45720" rIns="45720" anchor="ctr">
            <a:noAutofit/>
          </a:bodyPr>
          <a:lstStyle/>
          <a:p>
            <a:pPr algn="ctr">
              <a:buNone/>
            </a:pPr>
            <a:r>
              <a:rPr lang="en-US" sz="2200" b="1" i="0" dirty="0">
                <a:solidFill>
                  <a:srgbClr val="000000"/>
                </a:solidFill>
              </a:rPr>
              <a:t>Site C</a:t>
            </a:r>
          </a:p>
          <a:p>
            <a:pPr algn="ctr">
              <a:buNone/>
            </a:pPr>
            <a:r>
              <a:rPr lang="en-US" sz="2000" b="0" i="0" dirty="0">
                <a:solidFill>
                  <a:srgbClr val="000000"/>
                </a:solidFill>
              </a:rPr>
              <a:t>16:00 – 24:00</a:t>
            </a:r>
          </a:p>
        </p:txBody>
      </p:sp>
      <p:sp>
        <p:nvSpPr>
          <p:cNvPr id="44" name="Handoff arrow 1"/>
          <p:cNvSpPr/>
          <p:nvPr/>
        </p:nvSpPr>
        <p:spPr>
          <a:xfrm>
            <a:off x="3251200" y="2921000"/>
            <a:ext cx="304800" cy="508000"/>
          </a:xfrm>
          <a:prstGeom prst="downArrow">
            <a:avLst/>
          </a:prstGeom>
          <a:solidFill>
            <a:srgbClr val="8E6F3E"/>
          </a:solidFill>
          <a:ln>
            <a:noFill/>
          </a:ln>
        </p:spPr>
        <p:txBody>
          <a:bodyPr wrap="square" lIns="45720" rIns="45720" anchor="ctr">
            <a:noAutofit/>
          </a:bodyPr>
          <a:lstStyle/>
          <a:p>
            <a:pPr algn="ctr">
              <a:buNone/>
            </a:pPr>
            <a:endParaRPr lang="en-US" sz="1200" dirty="0">
              <a:solidFill>
                <a:srgbClr val="FFFFFF"/>
              </a:solidFill>
            </a:endParaRPr>
          </a:p>
        </p:txBody>
      </p:sp>
      <p:sp>
        <p:nvSpPr>
          <p:cNvPr id="45" name="Handoff arrow 2"/>
          <p:cNvSpPr/>
          <p:nvPr/>
        </p:nvSpPr>
        <p:spPr>
          <a:xfrm>
            <a:off x="5892800" y="2921000"/>
            <a:ext cx="304800" cy="508000"/>
          </a:xfrm>
          <a:prstGeom prst="downArrow">
            <a:avLst/>
          </a:prstGeom>
          <a:solidFill>
            <a:srgbClr val="8E6F3E"/>
          </a:solidFill>
          <a:ln>
            <a:noFill/>
          </a:ln>
        </p:spPr>
        <p:txBody>
          <a:bodyPr wrap="square" lIns="45720" rIns="45720" anchor="ctr">
            <a:noAutofit/>
          </a:bodyPr>
          <a:lstStyle/>
          <a:p>
            <a:pPr algn="ctr">
              <a:buNone/>
            </a:pPr>
            <a:endParaRPr lang="en-US" sz="1200" dirty="0">
              <a:solidFill>
                <a:srgbClr val="FFFFFF"/>
              </a:solidFill>
            </a:endParaRPr>
          </a:p>
        </p:txBody>
      </p:sp>
      <p:sp>
        <p:nvSpPr>
          <p:cNvPr id="46" name="Handoff label 1"/>
          <p:cNvSpPr/>
          <p:nvPr/>
        </p:nvSpPr>
        <p:spPr>
          <a:xfrm>
            <a:off x="2641600" y="3454400"/>
            <a:ext cx="1524000" cy="381000"/>
          </a:xfrm>
          <a:prstGeom prst="rect">
            <a:avLst/>
          </a:prstGeom>
          <a:noFill/>
          <a:ln>
            <a:noFill/>
          </a:ln>
        </p:spPr>
        <p:txBody>
          <a:bodyPr wrap="square" lIns="45720" rIns="45720" anchor="ctr">
            <a:noAutofit/>
          </a:bodyPr>
          <a:lstStyle/>
          <a:p>
            <a:pPr algn="ctr">
              <a:buNone/>
            </a:pPr>
            <a:r>
              <a:rPr lang="en-US" sz="2000" b="1" i="0" dirty="0">
                <a:solidFill>
                  <a:srgbClr val="000000"/>
                </a:solidFill>
              </a:rPr>
              <a:t>handoff</a:t>
            </a:r>
          </a:p>
        </p:txBody>
      </p:sp>
      <p:sp>
        <p:nvSpPr>
          <p:cNvPr id="47" name="Handoff label 2"/>
          <p:cNvSpPr/>
          <p:nvPr/>
        </p:nvSpPr>
        <p:spPr>
          <a:xfrm>
            <a:off x="5283200" y="3454400"/>
            <a:ext cx="1524000" cy="381000"/>
          </a:xfrm>
          <a:prstGeom prst="rect">
            <a:avLst/>
          </a:prstGeom>
          <a:noFill/>
          <a:ln>
            <a:noFill/>
          </a:ln>
        </p:spPr>
        <p:txBody>
          <a:bodyPr wrap="square" lIns="45720" rIns="45720" anchor="ctr">
            <a:noAutofit/>
          </a:bodyPr>
          <a:lstStyle/>
          <a:p>
            <a:pPr algn="ctr">
              <a:buNone/>
            </a:pPr>
            <a:r>
              <a:rPr lang="en-US" sz="2000" b="1" i="0" dirty="0">
                <a:solidFill>
                  <a:srgbClr val="000000"/>
                </a:solidFill>
              </a:rPr>
              <a:t>handoff</a:t>
            </a:r>
          </a:p>
        </p:txBody>
      </p:sp>
      <p:sp>
        <p:nvSpPr>
          <p:cNvPr id="48" name="Cost"/>
          <p:cNvSpPr/>
          <p:nvPr/>
        </p:nvSpPr>
        <p:spPr>
          <a:xfrm>
            <a:off x="381000" y="3987800"/>
            <a:ext cx="8382000" cy="914400"/>
          </a:xfrm>
          <a:prstGeom prst="rect">
            <a:avLst/>
          </a:prstGeom>
          <a:noFill/>
          <a:ln>
            <a:noFill/>
          </a:ln>
        </p:spPr>
        <p:txBody>
          <a:bodyPr wrap="square" lIns="45720" rIns="45720" anchor="ctr">
            <a:noAutofit/>
          </a:bodyPr>
          <a:lstStyle/>
          <a:p>
            <a:pPr algn="ctr">
              <a:buNone/>
            </a:pPr>
            <a:r>
              <a:rPr lang="en-US" sz="2200" b="0" i="0" dirty="0">
                <a:solidFill>
                  <a:srgbClr val="000000"/>
                </a:solidFill>
              </a:rPr>
              <a:t>Every handoff must transfer enough context for another engineer to continue correctly.</a:t>
            </a:r>
          </a:p>
        </p:txBody>
      </p:sp>
      <p:sp>
        <p:nvSpPr>
          <p:cNvPr id="49" name="Punchline"/>
          <p:cNvSpPr/>
          <p:nvPr/>
        </p:nvSpPr>
        <p:spPr>
          <a:xfrm>
            <a:off x="381000" y="5029200"/>
            <a:ext cx="8382000" cy="812800"/>
          </a:xfrm>
          <a:prstGeom prst="rect">
            <a:avLst/>
          </a:prstGeom>
          <a:noFill/>
          <a:ln>
            <a:noFill/>
          </a:ln>
        </p:spPr>
        <p:txBody>
          <a:bodyPr wrap="square" lIns="45720" rIns="45720" anchor="ctr">
            <a:noAutofit/>
          </a:bodyPr>
          <a:lstStyle/>
          <a:p>
            <a:pPr algn="ctr">
              <a:buNone/>
            </a:pPr>
            <a:r>
              <a:rPr lang="en-US" sz="3000" b="1" i="0" dirty="0">
                <a:solidFill>
                  <a:srgbClr val="000000"/>
                </a:solidFill>
              </a:rPr>
              <a:t>Handoff cost is the price of parallelism.</a:t>
            </a:r>
          </a:p>
        </p:txBody>
      </p:sp>
    </p:spTree>
    <p:extLst>
      <p:ext uri="{BB962C8B-B14F-4D97-AF65-F5344CB8AC3E}">
        <p14:creationId xmlns:p14="http://schemas.microsoft.com/office/powerpoint/2010/main" val="477433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FEFD99-5DBF-4543-9B1B-FB68C5126B91}"/>
              </a:ext>
            </a:extLst>
          </p:cNvPr>
          <p:cNvSpPr>
            <a:spLocks noGrp="1"/>
          </p:cNvSpPr>
          <p:nvPr>
            <p:ph type="title"/>
          </p:nvPr>
        </p:nvSpPr>
        <p:spPr/>
        <p:txBody>
          <a:bodyPr>
            <a:normAutofit fontScale="90000"/>
          </a:bodyPr>
          <a:lstStyle/>
          <a:p>
            <a:r>
              <a:rPr lang="en-US" sz="2400" dirty="0"/>
              <a:t>People don’t share all of your assumptions</a:t>
            </a:r>
          </a:p>
        </p:txBody>
      </p:sp>
      <p:sp>
        <p:nvSpPr>
          <p:cNvPr id="4" name="Slide Number Placeholder 3">
            <a:extLst>
              <a:ext uri="{FF2B5EF4-FFF2-40B4-BE49-F238E27FC236}">
                <a16:creationId xmlns:a16="http://schemas.microsoft.com/office/drawing/2014/main" id="{BA96BE23-AC7C-D140-9660-3752650C9204}"/>
              </a:ext>
            </a:extLst>
          </p:cNvPr>
          <p:cNvSpPr>
            <a:spLocks noGrp="1"/>
          </p:cNvSpPr>
          <p:nvPr>
            <p:ph type="sldNum" sz="quarter" idx="4"/>
          </p:nvPr>
        </p:nvSpPr>
        <p:spPr/>
        <p:txBody>
          <a:bodyPr/>
          <a:lstStyle/>
          <a:p>
            <a:fld id="{B7EB45DA-9A0D-DC49-8E02-F30A5DDC21C3}" type="slidenum">
              <a:rPr lang="en-US"/>
              <a:t>19</a:t>
            </a:fld>
            <a:endParaRPr lang="en-US"/>
          </a:p>
        </p:txBody>
      </p:sp>
      <p:sp>
        <p:nvSpPr>
          <p:cNvPr id="40" name="You"/>
          <p:cNvSpPr/>
          <p:nvPr/>
        </p:nvSpPr>
        <p:spPr>
          <a:xfrm>
            <a:off x="279400" y="2616200"/>
            <a:ext cx="1676400" cy="1676400"/>
          </a:xfrm>
          <a:prstGeom prst="ellipse">
            <a:avLst/>
          </a:prstGeom>
          <a:solidFill>
            <a:srgbClr val="8E6F3E"/>
          </a:solidFill>
          <a:ln w="19050">
            <a:solidFill>
              <a:srgbClr val="8E6F3E"/>
            </a:solidFill>
          </a:ln>
        </p:spPr>
        <p:txBody>
          <a:bodyPr wrap="square" lIns="45720" rIns="45720" anchor="ctr">
            <a:noAutofit/>
          </a:bodyPr>
          <a:lstStyle/>
          <a:p>
            <a:pPr algn="ctr">
              <a:buNone/>
            </a:pPr>
            <a:r>
              <a:rPr lang="en-US" sz="2200" b="1" i="0" dirty="0">
                <a:solidFill>
                  <a:srgbClr val="FFFFFF"/>
                </a:solidFill>
              </a:rPr>
              <a:t>You</a:t>
            </a:r>
          </a:p>
        </p:txBody>
      </p:sp>
      <p:sp>
        <p:nvSpPr>
          <p:cNvPr id="41" name="Assumption 1"/>
          <p:cNvSpPr/>
          <p:nvPr/>
        </p:nvSpPr>
        <p:spPr>
          <a:xfrm>
            <a:off x="2057400" y="1574800"/>
            <a:ext cx="5054600" cy="533400"/>
          </a:xfrm>
          <a:prstGeom prst="roundRect">
            <a:avLst/>
          </a:prstGeom>
          <a:solidFill>
            <a:srgbClr val="C9B991"/>
          </a:solidFill>
          <a:ln w="19050">
            <a:solidFill>
              <a:srgbClr val="C9B991"/>
            </a:solidFill>
          </a:ln>
        </p:spPr>
        <p:txBody>
          <a:bodyPr wrap="square" lIns="45720" rIns="45720" anchor="ctr">
            <a:noAutofit/>
          </a:bodyPr>
          <a:lstStyle/>
          <a:p>
            <a:pPr algn="ctr">
              <a:buNone/>
            </a:pPr>
            <a:r>
              <a:rPr lang="en-US" sz="2000" dirty="0"/>
              <a:t>Language and working-language fluency</a:t>
            </a:r>
          </a:p>
        </p:txBody>
      </p:sp>
      <p:sp>
        <p:nvSpPr>
          <p:cNvPr id="42" name="Assumption 2"/>
          <p:cNvSpPr/>
          <p:nvPr/>
        </p:nvSpPr>
        <p:spPr>
          <a:xfrm>
            <a:off x="2057400" y="2209800"/>
            <a:ext cx="5054600" cy="533400"/>
          </a:xfrm>
          <a:prstGeom prst="roundRect">
            <a:avLst/>
          </a:prstGeom>
          <a:solidFill>
            <a:srgbClr val="C9B991"/>
          </a:solidFill>
          <a:ln w="19050">
            <a:solidFill>
              <a:srgbClr val="C9B991"/>
            </a:solidFill>
          </a:ln>
        </p:spPr>
        <p:txBody>
          <a:bodyPr wrap="square" lIns="45720" rIns="45720" anchor="ctr">
            <a:noAutofit/>
          </a:bodyPr>
          <a:lstStyle/>
          <a:p>
            <a:pPr algn="ctr">
              <a:buNone/>
            </a:pPr>
            <a:r>
              <a:rPr lang="en-US" sz="2000" dirty="0"/>
              <a:t>Hierarchy—who may be contradicted</a:t>
            </a:r>
          </a:p>
        </p:txBody>
      </p:sp>
      <p:sp>
        <p:nvSpPr>
          <p:cNvPr id="43" name="Assumption 3"/>
          <p:cNvSpPr/>
          <p:nvPr/>
        </p:nvSpPr>
        <p:spPr>
          <a:xfrm>
            <a:off x="2057400" y="2844800"/>
            <a:ext cx="5054600" cy="533400"/>
          </a:xfrm>
          <a:prstGeom prst="roundRect">
            <a:avLst/>
          </a:prstGeom>
          <a:solidFill>
            <a:srgbClr val="C9B991"/>
          </a:solidFill>
          <a:ln w="19050">
            <a:solidFill>
              <a:srgbClr val="C9B991"/>
            </a:solidFill>
          </a:ln>
        </p:spPr>
        <p:txBody>
          <a:bodyPr wrap="square" lIns="45720" rIns="45720" anchor="ctr">
            <a:noAutofit/>
          </a:bodyPr>
          <a:lstStyle/>
          <a:p>
            <a:pPr algn="ctr">
              <a:buNone/>
            </a:pPr>
            <a:r>
              <a:rPr lang="en-US" sz="2000" dirty="0"/>
              <a:t>Willingness to challenge in public</a:t>
            </a:r>
          </a:p>
        </p:txBody>
      </p:sp>
      <p:sp>
        <p:nvSpPr>
          <p:cNvPr id="44" name="Assumption 4"/>
          <p:cNvSpPr/>
          <p:nvPr/>
        </p:nvSpPr>
        <p:spPr>
          <a:xfrm>
            <a:off x="2057400" y="3479800"/>
            <a:ext cx="5054600" cy="533400"/>
          </a:xfrm>
          <a:prstGeom prst="roundRect">
            <a:avLst/>
          </a:prstGeom>
          <a:solidFill>
            <a:srgbClr val="C9B991"/>
          </a:solidFill>
          <a:ln w="19050">
            <a:solidFill>
              <a:srgbClr val="C9B991"/>
            </a:solidFill>
          </a:ln>
        </p:spPr>
        <p:txBody>
          <a:bodyPr wrap="square" lIns="45720" rIns="45720" anchor="ctr">
            <a:noAutofit/>
          </a:bodyPr>
          <a:lstStyle/>
          <a:p>
            <a:pPr algn="ctr">
              <a:buNone/>
            </a:pPr>
            <a:r>
              <a:rPr lang="en-US" sz="2000" dirty="0"/>
              <a:t>Communication norms—directness, silence, written versus spoken</a:t>
            </a:r>
          </a:p>
        </p:txBody>
      </p:sp>
      <p:sp>
        <p:nvSpPr>
          <p:cNvPr id="45" name="Assumption 5"/>
          <p:cNvSpPr/>
          <p:nvPr/>
        </p:nvSpPr>
        <p:spPr>
          <a:xfrm>
            <a:off x="2057400" y="4114800"/>
            <a:ext cx="5054600" cy="533400"/>
          </a:xfrm>
          <a:prstGeom prst="roundRect">
            <a:avLst/>
          </a:prstGeom>
          <a:solidFill>
            <a:srgbClr val="C9B991"/>
          </a:solidFill>
          <a:ln w="19050">
            <a:solidFill>
              <a:srgbClr val="C9B991"/>
            </a:solidFill>
          </a:ln>
        </p:spPr>
        <p:txBody>
          <a:bodyPr wrap="square" lIns="45720" rIns="45720" anchor="ctr">
            <a:noAutofit/>
          </a:bodyPr>
          <a:lstStyle/>
          <a:p>
            <a:pPr algn="ctr">
              <a:buNone/>
            </a:pPr>
            <a:r>
              <a:rPr lang="en-US" sz="2000" dirty="0"/>
              <a:t>Educational and professional background</a:t>
            </a:r>
          </a:p>
        </p:txBody>
      </p:sp>
      <p:sp>
        <p:nvSpPr>
          <p:cNvPr id="46" name="Teammate"/>
          <p:cNvSpPr/>
          <p:nvPr/>
        </p:nvSpPr>
        <p:spPr>
          <a:xfrm>
            <a:off x="7188200" y="2616200"/>
            <a:ext cx="1676400" cy="1676400"/>
          </a:xfrm>
          <a:prstGeom prst="ellipse">
            <a:avLst/>
          </a:prstGeom>
          <a:noFill/>
          <a:ln w="19050">
            <a:solidFill>
              <a:srgbClr val="555960"/>
            </a:solidFill>
          </a:ln>
        </p:spPr>
        <p:txBody>
          <a:bodyPr wrap="square" lIns="45720" rIns="45720" anchor="ctr">
            <a:noAutofit/>
          </a:bodyPr>
          <a:lstStyle/>
          <a:p>
            <a:pPr algn="ctr">
              <a:buNone/>
            </a:pPr>
            <a:r>
              <a:rPr lang="en-US" sz="2000" b="1" i="0" dirty="0">
                <a:solidFill>
                  <a:srgbClr val="000000"/>
                </a:solidFill>
              </a:rPr>
              <a:t>A teammate</a:t>
            </a:r>
          </a:p>
        </p:txBody>
      </p:sp>
      <p:sp>
        <p:nvSpPr>
          <p:cNvPr id="47" name="Caveat"/>
          <p:cNvSpPr/>
          <p:nvPr/>
        </p:nvSpPr>
        <p:spPr>
          <a:xfrm>
            <a:off x="330200" y="4978400"/>
            <a:ext cx="8483600" cy="914400"/>
          </a:xfrm>
          <a:prstGeom prst="rect">
            <a:avLst/>
          </a:prstGeom>
          <a:noFill/>
          <a:ln>
            <a:noFill/>
          </a:ln>
        </p:spPr>
        <p:txBody>
          <a:bodyPr wrap="square" lIns="45720" rIns="45720" anchor="ctr">
            <a:noAutofit/>
          </a:bodyPr>
          <a:lstStyle/>
          <a:p>
            <a:pPr algn="ctr">
              <a:buNone/>
            </a:pPr>
            <a:r>
              <a:rPr lang="en-US" sz="2000" b="0" i="1" dirty="0">
                <a:solidFill>
                  <a:srgbClr val="000000"/>
                </a:solidFill>
              </a:rPr>
              <a:t>Cultural models such as Hofstede’s are population-level lenses. They are not predictions about the person in front of you.</a:t>
            </a:r>
          </a:p>
        </p:txBody>
      </p:sp>
    </p:spTree>
    <p:extLst>
      <p:ext uri="{BB962C8B-B14F-4D97-AF65-F5344CB8AC3E}">
        <p14:creationId xmlns:p14="http://schemas.microsoft.com/office/powerpoint/2010/main" val="3055871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C626C-4425-7883-9A24-6769EBA22B74}"/>
              </a:ext>
            </a:extLst>
          </p:cNvPr>
          <p:cNvSpPr>
            <a:spLocks noGrp="1"/>
          </p:cNvSpPr>
          <p:nvPr>
            <p:ph type="title"/>
          </p:nvPr>
        </p:nvSpPr>
        <p:spPr>
          <a:xfrm>
            <a:off x="685800" y="1676400"/>
            <a:ext cx="7772400" cy="2362200"/>
          </a:xfrm>
        </p:spPr>
        <p:txBody>
          <a:bodyPr>
            <a:normAutofit/>
          </a:bodyPr>
          <a:lstStyle/>
          <a:p>
            <a:r>
              <a:rPr lang="en-US" sz="8000" dirty="0"/>
              <a:t>3</a:t>
            </a:r>
            <a:br>
              <a:rPr lang="en-US" dirty="0"/>
            </a:br>
            <a:r>
              <a:rPr lang="en-US" dirty="0"/>
              <a:t>Amplifying capability</a:t>
            </a:r>
          </a:p>
        </p:txBody>
      </p:sp>
      <p:sp>
        <p:nvSpPr>
          <p:cNvPr id="3" name="Slide Number Placeholder 2">
            <a:extLst>
              <a:ext uri="{FF2B5EF4-FFF2-40B4-BE49-F238E27FC236}">
                <a16:creationId xmlns:a16="http://schemas.microsoft.com/office/drawing/2014/main" id="{626C6B15-643B-57AB-8671-D799D8AC9AED}"/>
              </a:ext>
            </a:extLst>
          </p:cNvPr>
          <p:cNvSpPr>
            <a:spLocks noGrp="1"/>
          </p:cNvSpPr>
          <p:nvPr>
            <p:ph type="sldNum" sz="quarter" idx="4"/>
          </p:nvPr>
        </p:nvSpPr>
        <p:spPr/>
        <p:txBody>
          <a:bodyPr/>
          <a:lstStyle/>
          <a:p>
            <a:fld id="{B7EB45DA-9A0D-DC49-8E02-F30A5DDC21C3}" type="slidenum">
              <a:rPr lang="en-US" smtClean="0"/>
              <a:t>20</a:t>
            </a:fld>
            <a:endParaRPr lang="en-US"/>
          </a:p>
        </p:txBody>
      </p:sp>
      <p:sp>
        <p:nvSpPr>
          <p:cNvPr id="4" name="Section question">
            <a:extLst>
              <a:ext uri="{FF2B5EF4-FFF2-40B4-BE49-F238E27FC236}">
                <a16:creationId xmlns:a16="http://schemas.microsoft.com/office/drawing/2014/main" id="{F2F76391-003C-EB47-87B4-A3B6B44DA696}"/>
              </a:ext>
            </a:extLst>
          </p:cNvPr>
          <p:cNvSpPr txBox="1"/>
          <p:nvPr/>
        </p:nvSpPr>
        <p:spPr>
          <a:xfrm>
            <a:off x="685800" y="4267200"/>
            <a:ext cx="7772400" cy="1219200"/>
          </a:xfrm>
          <a:prstGeom prst="rect">
            <a:avLst/>
          </a:prstGeom>
          <a:noFill/>
        </p:spPr>
        <p:txBody>
          <a:bodyPr vertOverflow="overflow" vert="horz" wrap="square" rtlCol="0" anchor="t">
            <a:spAutoFit/>
          </a:bodyPr>
          <a:lstStyle/>
          <a:p>
            <a:pPr algn="ctr"/>
            <a:r>
              <a:rPr lang="en-US" sz="2400" i="1"/>
              <a:t>What happens to coordination when individuals can produce much more?</a:t>
            </a:r>
          </a:p>
        </p:txBody>
      </p:sp>
    </p:spTree>
    <p:extLst>
      <p:ext uri="{BB962C8B-B14F-4D97-AF65-F5344CB8AC3E}">
        <p14:creationId xmlns:p14="http://schemas.microsoft.com/office/powerpoint/2010/main" val="736288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42E8FC-25C5-721C-7C58-A485BF20580B}"/>
              </a:ext>
            </a:extLst>
          </p:cNvPr>
          <p:cNvSpPr>
            <a:spLocks noGrp="1"/>
          </p:cNvSpPr>
          <p:nvPr>
            <p:ph idx="1"/>
          </p:nvPr>
        </p:nvSpPr>
        <p:spPr>
          <a:xfrm>
            <a:off x="277148" y="1305004"/>
            <a:ext cx="8557768" cy="2460172"/>
          </a:xfrm>
        </p:spPr>
        <p:txBody>
          <a:bodyPr anchor="ctr"/>
          <a:lstStyle/>
          <a:p>
            <a:pPr marL="0" indent="0" algn="ctr">
              <a:spcBef>
                <a:spcPts val="1200"/>
              </a:spcBef>
              <a:buNone/>
            </a:pPr>
            <a:r>
              <a:rPr lang="en-US" sz="4000" b="1" dirty="0"/>
              <a:t>What breaks in teamwork first?</a:t>
            </a:r>
          </a:p>
        </p:txBody>
      </p:sp>
      <p:sp>
        <p:nvSpPr>
          <p:cNvPr id="3" name="Title 2">
            <a:extLst>
              <a:ext uri="{FF2B5EF4-FFF2-40B4-BE49-F238E27FC236}">
                <a16:creationId xmlns:a16="http://schemas.microsoft.com/office/drawing/2014/main" id="{CC3EAD80-16E4-E6E4-3C73-A6729D9CF830}"/>
              </a:ext>
            </a:extLst>
          </p:cNvPr>
          <p:cNvSpPr>
            <a:spLocks noGrp="1"/>
          </p:cNvSpPr>
          <p:nvPr>
            <p:ph type="title"/>
          </p:nvPr>
        </p:nvSpPr>
        <p:spPr>
          <a:xfrm>
            <a:off x="92990" y="136525"/>
            <a:ext cx="9368877" cy="638175"/>
          </a:xfrm>
        </p:spPr>
        <p:txBody>
          <a:bodyPr>
            <a:noAutofit/>
          </a:bodyPr>
          <a:lstStyle/>
          <a:p>
            <a:r>
              <a:rPr lang="en-US"/>
              <a:t>Suppose </a:t>
            </a:r>
            <a:r>
              <a:rPr lang="en-US" dirty="0"/>
              <a:t>every engineer is 10× more productive</a:t>
            </a:r>
          </a:p>
        </p:txBody>
      </p:sp>
      <p:sp>
        <p:nvSpPr>
          <p:cNvPr id="4" name="Slide Number Placeholder 3">
            <a:extLst>
              <a:ext uri="{FF2B5EF4-FFF2-40B4-BE49-F238E27FC236}">
                <a16:creationId xmlns:a16="http://schemas.microsoft.com/office/drawing/2014/main" id="{682DA05D-5BBB-FACC-276E-404AD93BF260}"/>
              </a:ext>
            </a:extLst>
          </p:cNvPr>
          <p:cNvSpPr>
            <a:spLocks noGrp="1"/>
          </p:cNvSpPr>
          <p:nvPr>
            <p:ph type="sldNum" sz="quarter" idx="4"/>
          </p:nvPr>
        </p:nvSpPr>
        <p:spPr/>
        <p:txBody>
          <a:bodyPr/>
          <a:lstStyle/>
          <a:p>
            <a:fld id="{B7EB45DA-9A0D-DC49-8E02-F30A5DDC21C3}" type="slidenum">
              <a:rPr lang="en-US" smtClean="0"/>
              <a:t>21</a:t>
            </a:fld>
            <a:endParaRPr lang="en-US"/>
          </a:p>
        </p:txBody>
      </p:sp>
      <p:sp>
        <p:nvSpPr>
          <p:cNvPr id="5" name="TextBox 4">
            <a:extLst>
              <a:ext uri="{FF2B5EF4-FFF2-40B4-BE49-F238E27FC236}">
                <a16:creationId xmlns:a16="http://schemas.microsoft.com/office/drawing/2014/main" id="{84E4367A-11D7-A482-F1F1-B08D2AFCECE2}"/>
              </a:ext>
            </a:extLst>
          </p:cNvPr>
          <p:cNvSpPr txBox="1"/>
          <p:nvPr/>
        </p:nvSpPr>
        <p:spPr>
          <a:xfrm>
            <a:off x="277148" y="1055449"/>
            <a:ext cx="2718373" cy="830997"/>
          </a:xfrm>
          <a:prstGeom prst="rect">
            <a:avLst/>
          </a:prstGeom>
          <a:noFill/>
        </p:spPr>
        <p:txBody>
          <a:bodyPr wrap="none" rtlCol="0" anchor="ctr">
            <a:spAutoFit/>
          </a:bodyPr>
          <a:lstStyle/>
          <a:p>
            <a:r>
              <a:rPr lang="en-US" sz="4800" dirty="0"/>
              <a:t>🧙</a:t>
            </a:r>
            <a:r>
              <a:rPr lang="en-US" sz="2400" i="1" dirty="0"/>
              <a:t>MAGE Moment</a:t>
            </a:r>
          </a:p>
        </p:txBody>
      </p:sp>
      <p:pic>
        <p:nvPicPr>
          <p:cNvPr id="6" name="Picture 5">
            <a:extLst>
              <a:ext uri="{FF2B5EF4-FFF2-40B4-BE49-F238E27FC236}">
                <a16:creationId xmlns:a16="http://schemas.microsoft.com/office/drawing/2014/main" id="{8312816C-7443-A5F4-062B-7B27D6A213CB}"/>
              </a:ext>
            </a:extLst>
          </p:cNvPr>
          <p:cNvPicPr>
            <a:picLocks noChangeAspect="1"/>
          </p:cNvPicPr>
          <p:nvPr/>
        </p:nvPicPr>
        <p:blipFill>
          <a:blip r:embed="rId2"/>
          <a:stretch>
            <a:fillRect/>
          </a:stretch>
        </p:blipFill>
        <p:spPr>
          <a:xfrm>
            <a:off x="2661379" y="3182155"/>
            <a:ext cx="4232098" cy="1214427"/>
          </a:xfrm>
          <a:prstGeom prst="rect">
            <a:avLst/>
          </a:prstGeom>
        </p:spPr>
      </p:pic>
      <p:sp>
        <p:nvSpPr>
          <p:cNvPr id="7" name="Model Shared context">
            <a:extLst>
              <a:ext uri="{FF2B5EF4-FFF2-40B4-BE49-F238E27FC236}">
                <a16:creationId xmlns:a16="http://schemas.microsoft.com/office/drawing/2014/main" id="{FC5765F6-7A3D-975C-5D7C-F75C0474656B}"/>
              </a:ext>
            </a:extLst>
          </p:cNvPr>
          <p:cNvSpPr/>
          <p:nvPr/>
        </p:nvSpPr>
        <p:spPr>
          <a:xfrm>
            <a:off x="379321" y="5065951"/>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200" b="1" dirty="0">
                <a:solidFill>
                  <a:srgbClr val="000000"/>
                </a:solidFill>
              </a:rPr>
              <a:t>Shared context</a:t>
            </a:r>
          </a:p>
        </p:txBody>
      </p:sp>
      <p:sp>
        <p:nvSpPr>
          <p:cNvPr id="8" name="Model Trust">
            <a:extLst>
              <a:ext uri="{FF2B5EF4-FFF2-40B4-BE49-F238E27FC236}">
                <a16:creationId xmlns:a16="http://schemas.microsoft.com/office/drawing/2014/main" id="{5D21482B-35F0-6A76-E593-44C77F290D78}"/>
              </a:ext>
            </a:extLst>
          </p:cNvPr>
          <p:cNvSpPr/>
          <p:nvPr/>
        </p:nvSpPr>
        <p:spPr>
          <a:xfrm>
            <a:off x="3262221" y="5065951"/>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200" b="1" dirty="0">
                <a:solidFill>
                  <a:srgbClr val="000000"/>
                </a:solidFill>
              </a:rPr>
              <a:t>Trust</a:t>
            </a:r>
          </a:p>
        </p:txBody>
      </p:sp>
      <p:sp>
        <p:nvSpPr>
          <p:cNvPr id="10" name="Model Trust">
            <a:extLst>
              <a:ext uri="{FF2B5EF4-FFF2-40B4-BE49-F238E27FC236}">
                <a16:creationId xmlns:a16="http://schemas.microsoft.com/office/drawing/2014/main" id="{0F929A45-0558-6FE9-31CD-C4117FD22D5B}"/>
              </a:ext>
            </a:extLst>
          </p:cNvPr>
          <p:cNvSpPr/>
          <p:nvPr/>
        </p:nvSpPr>
        <p:spPr>
          <a:xfrm>
            <a:off x="6145121" y="5065951"/>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200" b="1" dirty="0">
                <a:solidFill>
                  <a:srgbClr val="000000"/>
                </a:solidFill>
              </a:rPr>
              <a:t>Coordination</a:t>
            </a:r>
          </a:p>
        </p:txBody>
      </p:sp>
    </p:spTree>
    <p:extLst>
      <p:ext uri="{BB962C8B-B14F-4D97-AF65-F5344CB8AC3E}">
        <p14:creationId xmlns:p14="http://schemas.microsoft.com/office/powerpoint/2010/main" val="3817026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5FBBFC-CC67-31F4-20C1-DC20AA6F7CE4}"/>
              </a:ext>
            </a:extLst>
          </p:cNvPr>
          <p:cNvSpPr>
            <a:spLocks noGrp="1"/>
          </p:cNvSpPr>
          <p:nvPr>
            <p:ph type="title"/>
          </p:nvPr>
        </p:nvSpPr>
        <p:spPr/>
        <p:txBody>
          <a:bodyPr>
            <a:noAutofit/>
          </a:bodyPr>
          <a:lstStyle/>
          <a:p>
            <a:r>
              <a:rPr lang="en-US"/>
              <a:t>GenAI can amplify individual capability</a:t>
            </a:r>
          </a:p>
        </p:txBody>
      </p:sp>
      <p:sp>
        <p:nvSpPr>
          <p:cNvPr id="4" name="Slide Number Placeholder 3">
            <a:extLst>
              <a:ext uri="{FF2B5EF4-FFF2-40B4-BE49-F238E27FC236}">
                <a16:creationId xmlns:a16="http://schemas.microsoft.com/office/drawing/2014/main" id="{6AF11432-EBDD-90A5-8AC8-F310B7D4F59F}"/>
              </a:ext>
            </a:extLst>
          </p:cNvPr>
          <p:cNvSpPr>
            <a:spLocks noGrp="1"/>
          </p:cNvSpPr>
          <p:nvPr>
            <p:ph type="sldNum" sz="quarter" idx="4"/>
          </p:nvPr>
        </p:nvSpPr>
        <p:spPr/>
        <p:txBody>
          <a:bodyPr/>
          <a:lstStyle/>
          <a:p>
            <a:fld id="{B7EB45DA-9A0D-DC49-8E02-F30A5DDC21C3}" type="slidenum">
              <a:rPr lang="en-US" smtClean="0"/>
              <a:t>22</a:t>
            </a:fld>
            <a:endParaRPr lang="en-US"/>
          </a:p>
        </p:txBody>
      </p:sp>
      <p:sp>
        <p:nvSpPr>
          <p:cNvPr id="40" name="Node 1"/>
          <p:cNvSpPr/>
          <p:nvPr/>
        </p:nvSpPr>
        <p:spPr>
          <a:xfrm>
            <a:off x="381000" y="1778000"/>
            <a:ext cx="2413000" cy="1397000"/>
          </a:xfrm>
          <a:prstGeom prst="roundRect">
            <a:avLst/>
          </a:prstGeom>
          <a:solidFill>
            <a:srgbClr val="FFFFFF"/>
          </a:solidFill>
          <a:ln w="19050">
            <a:solidFill>
              <a:srgbClr val="555960"/>
            </a:solidFill>
          </a:ln>
        </p:spPr>
        <p:txBody>
          <a:bodyPr wrap="square" lIns="45720" rIns="45720" anchor="ctr">
            <a:noAutofit/>
          </a:bodyPr>
          <a:lstStyle/>
          <a:p>
            <a:pPr algn="ctr">
              <a:buNone/>
            </a:pPr>
            <a:r>
              <a:rPr lang="en-US" sz="2200" b="1" i="0" dirty="0">
                <a:solidFill>
                  <a:srgbClr val="000000"/>
                </a:solidFill>
              </a:rPr>
              <a:t>One engineer</a:t>
            </a:r>
          </a:p>
        </p:txBody>
      </p:sp>
      <p:sp>
        <p:nvSpPr>
          <p:cNvPr id="41" name="Connector 1"/>
          <p:cNvSpPr/>
          <p:nvPr/>
        </p:nvSpPr>
        <p:spPr>
          <a:xfrm>
            <a:off x="2946400" y="2260600"/>
            <a:ext cx="584200" cy="431800"/>
          </a:xfrm>
          <a:prstGeom prst="rect">
            <a:avLst/>
          </a:prstGeom>
          <a:noFill/>
          <a:ln>
            <a:noFill/>
          </a:ln>
        </p:spPr>
        <p:txBody>
          <a:bodyPr wrap="square" lIns="45720" rIns="45720" anchor="ctr">
            <a:noAutofit/>
          </a:bodyPr>
          <a:lstStyle/>
          <a:p>
            <a:pPr algn="ctr">
              <a:buNone/>
            </a:pPr>
            <a:r>
              <a:rPr lang="en-US" sz="3200" b="1" i="0" dirty="0">
                <a:solidFill>
                  <a:srgbClr val="FFFFFF"/>
                </a:solidFill>
              </a:rPr>
              <a:t>+</a:t>
            </a:r>
          </a:p>
        </p:txBody>
      </p:sp>
      <p:sp>
        <p:nvSpPr>
          <p:cNvPr id="42" name="Node 2"/>
          <p:cNvSpPr/>
          <p:nvPr/>
        </p:nvSpPr>
        <p:spPr>
          <a:xfrm>
            <a:off x="3683000" y="1778000"/>
            <a:ext cx="2413000" cy="1397000"/>
          </a:xfrm>
          <a:prstGeom prst="roundRect">
            <a:avLst/>
          </a:prstGeom>
          <a:solidFill>
            <a:srgbClr val="FFFFFF"/>
          </a:solidFill>
          <a:ln w="19050">
            <a:solidFill>
              <a:srgbClr val="555960"/>
            </a:solidFill>
          </a:ln>
        </p:spPr>
        <p:txBody>
          <a:bodyPr wrap="square" lIns="45720" rIns="45720" anchor="ctr">
            <a:noAutofit/>
          </a:bodyPr>
          <a:lstStyle/>
          <a:p>
            <a:pPr algn="ctr">
              <a:buNone/>
            </a:pPr>
            <a:r>
              <a:rPr lang="en-US" sz="2200" b="1" i="0" dirty="0">
                <a:solidFill>
                  <a:srgbClr val="000000"/>
                </a:solidFill>
              </a:rPr>
              <a:t>Coding agents</a:t>
            </a:r>
          </a:p>
        </p:txBody>
      </p:sp>
      <p:sp>
        <p:nvSpPr>
          <p:cNvPr id="43" name="Connector 2"/>
          <p:cNvSpPr/>
          <p:nvPr/>
        </p:nvSpPr>
        <p:spPr>
          <a:xfrm>
            <a:off x="6248400" y="2298700"/>
            <a:ext cx="584200" cy="355600"/>
          </a:xfrm>
          <a:prstGeom prst="rightArrow">
            <a:avLst/>
          </a:prstGeom>
          <a:solidFill>
            <a:srgbClr val="555960"/>
          </a:solidFill>
          <a:ln>
            <a:noFill/>
          </a:ln>
        </p:spPr>
        <p:txBody>
          <a:bodyPr wrap="square" lIns="45720" rIns="45720" anchor="ctr">
            <a:noAutofit/>
          </a:bodyPr>
          <a:lstStyle/>
          <a:p>
            <a:pPr algn="ctr">
              <a:buNone/>
            </a:pPr>
            <a:endParaRPr lang="en-US" sz="1200" dirty="0">
              <a:solidFill>
                <a:srgbClr val="FFFFFF"/>
              </a:solidFill>
            </a:endParaRPr>
          </a:p>
        </p:txBody>
      </p:sp>
      <p:sp>
        <p:nvSpPr>
          <p:cNvPr id="44" name="Node 3"/>
          <p:cNvSpPr/>
          <p:nvPr/>
        </p:nvSpPr>
        <p:spPr>
          <a:xfrm>
            <a:off x="6985000" y="1778000"/>
            <a:ext cx="1778000" cy="1397000"/>
          </a:xfrm>
          <a:prstGeom prst="roundRect">
            <a:avLst/>
          </a:prstGeom>
          <a:solidFill>
            <a:srgbClr val="8E6F3E"/>
          </a:solidFill>
          <a:ln w="19050">
            <a:solidFill>
              <a:srgbClr val="8E6F3E"/>
            </a:solidFill>
          </a:ln>
        </p:spPr>
        <p:txBody>
          <a:bodyPr wrap="square" lIns="45720" rIns="45720" anchor="ctr">
            <a:noAutofit/>
          </a:bodyPr>
          <a:lstStyle/>
          <a:p>
            <a:pPr algn="ctr">
              <a:buNone/>
            </a:pPr>
            <a:r>
              <a:rPr lang="en-US" sz="2000" b="1" i="0" dirty="0">
                <a:solidFill>
                  <a:srgbClr val="FFFFFF"/>
                </a:solidFill>
              </a:rPr>
              <a:t>A larger owned surface</a:t>
            </a:r>
          </a:p>
        </p:txBody>
      </p:sp>
      <p:sp>
        <p:nvSpPr>
          <p:cNvPr id="45" name="Detail"/>
          <p:cNvSpPr/>
          <p:nvPr/>
        </p:nvSpPr>
        <p:spPr>
          <a:xfrm>
            <a:off x="381000" y="3378200"/>
            <a:ext cx="8382000" cy="558800"/>
          </a:xfrm>
          <a:prstGeom prst="rect">
            <a:avLst/>
          </a:prstGeom>
          <a:noFill/>
          <a:ln>
            <a:noFill/>
          </a:ln>
        </p:spPr>
        <p:txBody>
          <a:bodyPr wrap="square" lIns="45720" rIns="45720" anchor="ctr">
            <a:noAutofit/>
          </a:bodyPr>
          <a:lstStyle/>
          <a:p>
            <a:pPr algn="ctr">
              <a:buNone/>
            </a:pPr>
            <a:r>
              <a:rPr lang="en-US" sz="2000" b="0" i="0" dirty="0"/>
              <a:t>Understand unfamiliar code faster  ·  Produce and test more  ·  Explore more alternatives before committing</a:t>
            </a:r>
          </a:p>
        </p:txBody>
      </p:sp>
      <p:sp>
        <p:nvSpPr>
          <p:cNvPr id="46" name="Punchline"/>
          <p:cNvSpPr/>
          <p:nvPr/>
        </p:nvSpPr>
        <p:spPr>
          <a:xfrm>
            <a:off x="381000" y="4140200"/>
            <a:ext cx="8382000" cy="812800"/>
          </a:xfrm>
          <a:prstGeom prst="rect">
            <a:avLst/>
          </a:prstGeom>
          <a:noFill/>
          <a:ln>
            <a:noFill/>
          </a:ln>
        </p:spPr>
        <p:txBody>
          <a:bodyPr wrap="square" lIns="45720" rIns="45720" anchor="ctr">
            <a:noAutofit/>
          </a:bodyPr>
          <a:lstStyle/>
          <a:p>
            <a:pPr algn="ctr">
              <a:buNone/>
            </a:pPr>
            <a:r>
              <a:rPr lang="en-US" sz="3000" b="1" i="0" dirty="0">
                <a:solidFill>
                  <a:srgbClr val="000000"/>
                </a:solidFill>
              </a:rPr>
              <a:t>Fewer people can mean genuinely less coordination.</a:t>
            </a:r>
          </a:p>
        </p:txBody>
      </p:sp>
      <p:sp>
        <p:nvSpPr>
          <p:cNvPr id="47" name="Note"/>
          <p:cNvSpPr/>
          <p:nvPr/>
        </p:nvSpPr>
        <p:spPr>
          <a:xfrm>
            <a:off x="381000" y="5130800"/>
            <a:ext cx="8382000" cy="762000"/>
          </a:xfrm>
          <a:prstGeom prst="rect">
            <a:avLst/>
          </a:prstGeom>
          <a:noFill/>
          <a:ln>
            <a:noFill/>
          </a:ln>
        </p:spPr>
        <p:txBody>
          <a:bodyPr wrap="square" lIns="45720" rIns="45720" anchor="ctr">
            <a:noAutofit/>
          </a:bodyPr>
          <a:lstStyle/>
          <a:p>
            <a:pPr algn="ctr">
              <a:buNone/>
            </a:pPr>
            <a:r>
              <a:rPr lang="en-US" sz="2000" b="0" i="1" dirty="0"/>
              <a:t>Some coordination costs disappear rather than being managed.</a:t>
            </a:r>
          </a:p>
        </p:txBody>
      </p:sp>
    </p:spTree>
    <p:extLst>
      <p:ext uri="{BB962C8B-B14F-4D97-AF65-F5344CB8AC3E}">
        <p14:creationId xmlns:p14="http://schemas.microsoft.com/office/powerpoint/2010/main" val="1260899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710783-6824-9BBF-1850-5D5792BFC788}"/>
              </a:ext>
            </a:extLst>
          </p:cNvPr>
          <p:cNvSpPr>
            <a:spLocks noGrp="1"/>
          </p:cNvSpPr>
          <p:nvPr>
            <p:ph type="title"/>
          </p:nvPr>
        </p:nvSpPr>
        <p:spPr/>
        <p:txBody>
          <a:bodyPr>
            <a:noAutofit/>
          </a:bodyPr>
          <a:lstStyle/>
          <a:p>
            <a:r>
              <a:rPr lang="en-US" sz="2800" dirty="0"/>
              <a:t>Individual throughput ≠ team throughput</a:t>
            </a:r>
          </a:p>
        </p:txBody>
      </p:sp>
      <p:sp>
        <p:nvSpPr>
          <p:cNvPr id="4" name="Slide Number Placeholder 3">
            <a:extLst>
              <a:ext uri="{FF2B5EF4-FFF2-40B4-BE49-F238E27FC236}">
                <a16:creationId xmlns:a16="http://schemas.microsoft.com/office/drawing/2014/main" id="{2ACB2906-89A9-70A8-B3D5-888CF32BA15F}"/>
              </a:ext>
            </a:extLst>
          </p:cNvPr>
          <p:cNvSpPr>
            <a:spLocks noGrp="1"/>
          </p:cNvSpPr>
          <p:nvPr>
            <p:ph type="sldNum" sz="quarter" idx="4"/>
          </p:nvPr>
        </p:nvSpPr>
        <p:spPr/>
        <p:txBody>
          <a:bodyPr/>
          <a:lstStyle/>
          <a:p>
            <a:fld id="{B7EB45DA-9A0D-DC49-8E02-F30A5DDC21C3}" type="slidenum">
              <a:rPr lang="en-US" smtClean="0"/>
              <a:t>23</a:t>
            </a:fld>
            <a:endParaRPr lang="en-US"/>
          </a:p>
        </p:txBody>
      </p:sp>
      <p:sp>
        <p:nvSpPr>
          <p:cNvPr id="40" name="Node 1"/>
          <p:cNvSpPr/>
          <p:nvPr/>
        </p:nvSpPr>
        <p:spPr>
          <a:xfrm>
            <a:off x="381000" y="1778000"/>
            <a:ext cx="2413000" cy="1397000"/>
          </a:xfrm>
          <a:prstGeom prst="roundRect">
            <a:avLst/>
          </a:prstGeom>
          <a:solidFill>
            <a:srgbClr val="FFFFFF"/>
          </a:solidFill>
          <a:ln w="19050">
            <a:solidFill>
              <a:srgbClr val="555960"/>
            </a:solidFill>
          </a:ln>
        </p:spPr>
        <p:txBody>
          <a:bodyPr wrap="square" lIns="45720" rIns="45720" anchor="ctr">
            <a:noAutofit/>
          </a:bodyPr>
          <a:lstStyle/>
          <a:p>
            <a:pPr algn="ctr">
              <a:buNone/>
            </a:pPr>
            <a:r>
              <a:rPr lang="en-US" sz="2200" b="1" i="0" dirty="0">
                <a:solidFill>
                  <a:srgbClr val="000000"/>
                </a:solidFill>
              </a:rPr>
              <a:t>More changes produced</a:t>
            </a:r>
          </a:p>
        </p:txBody>
      </p:sp>
      <p:sp>
        <p:nvSpPr>
          <p:cNvPr id="41" name="Connector 1"/>
          <p:cNvSpPr/>
          <p:nvPr/>
        </p:nvSpPr>
        <p:spPr>
          <a:xfrm>
            <a:off x="2946400" y="2298700"/>
            <a:ext cx="584200" cy="355600"/>
          </a:xfrm>
          <a:prstGeom prst="rightArrow">
            <a:avLst/>
          </a:prstGeom>
          <a:solidFill>
            <a:srgbClr val="555960"/>
          </a:solidFill>
          <a:ln>
            <a:noFill/>
          </a:ln>
        </p:spPr>
        <p:txBody>
          <a:bodyPr wrap="square" lIns="45720" rIns="45720" anchor="ctr">
            <a:noAutofit/>
          </a:bodyPr>
          <a:lstStyle/>
          <a:p>
            <a:pPr algn="ctr">
              <a:buNone/>
            </a:pPr>
            <a:endParaRPr lang="en-US" sz="1200" dirty="0">
              <a:solidFill>
                <a:srgbClr val="FFFFFF"/>
              </a:solidFill>
            </a:endParaRPr>
          </a:p>
        </p:txBody>
      </p:sp>
      <p:sp>
        <p:nvSpPr>
          <p:cNvPr id="42" name="Node 2"/>
          <p:cNvSpPr/>
          <p:nvPr/>
        </p:nvSpPr>
        <p:spPr>
          <a:xfrm>
            <a:off x="3683000" y="1778000"/>
            <a:ext cx="2413000" cy="1397000"/>
          </a:xfrm>
          <a:prstGeom prst="roundRect">
            <a:avLst/>
          </a:prstGeom>
          <a:solidFill>
            <a:srgbClr val="FFFFFF"/>
          </a:solidFill>
          <a:ln w="19050">
            <a:solidFill>
              <a:srgbClr val="555960"/>
            </a:solidFill>
          </a:ln>
        </p:spPr>
        <p:txBody>
          <a:bodyPr wrap="square" lIns="45720" rIns="45720" anchor="ctr">
            <a:noAutofit/>
          </a:bodyPr>
          <a:lstStyle/>
          <a:p>
            <a:pPr algn="ctr">
              <a:buNone/>
            </a:pPr>
            <a:r>
              <a:rPr lang="en-US" sz="2000" b="1" i="0" dirty="0">
                <a:solidFill>
                  <a:srgbClr val="000000"/>
                </a:solidFill>
              </a:rPr>
              <a:t>More to review, decide, record, integrate</a:t>
            </a:r>
          </a:p>
        </p:txBody>
      </p:sp>
      <p:sp>
        <p:nvSpPr>
          <p:cNvPr id="43" name="Connector 2"/>
          <p:cNvSpPr/>
          <p:nvPr/>
        </p:nvSpPr>
        <p:spPr>
          <a:xfrm>
            <a:off x="6248400" y="2298700"/>
            <a:ext cx="584200" cy="355600"/>
          </a:xfrm>
          <a:prstGeom prst="rightArrow">
            <a:avLst/>
          </a:prstGeom>
          <a:solidFill>
            <a:srgbClr val="555960"/>
          </a:solidFill>
          <a:ln>
            <a:noFill/>
          </a:ln>
        </p:spPr>
        <p:txBody>
          <a:bodyPr wrap="square" lIns="45720" rIns="45720" anchor="ctr">
            <a:noAutofit/>
          </a:bodyPr>
          <a:lstStyle/>
          <a:p>
            <a:pPr algn="ctr">
              <a:buNone/>
            </a:pPr>
            <a:endParaRPr lang="en-US" sz="1200" dirty="0">
              <a:solidFill>
                <a:srgbClr val="FFFFFF"/>
              </a:solidFill>
            </a:endParaRPr>
          </a:p>
        </p:txBody>
      </p:sp>
      <p:sp>
        <p:nvSpPr>
          <p:cNvPr id="44" name="Node 3"/>
          <p:cNvSpPr/>
          <p:nvPr/>
        </p:nvSpPr>
        <p:spPr>
          <a:xfrm>
            <a:off x="6985000" y="1778000"/>
            <a:ext cx="1778000" cy="1397000"/>
          </a:xfrm>
          <a:prstGeom prst="roundRect">
            <a:avLst/>
          </a:prstGeom>
          <a:solidFill>
            <a:srgbClr val="555960"/>
          </a:solidFill>
          <a:ln w="19050">
            <a:solidFill>
              <a:srgbClr val="555960"/>
            </a:solidFill>
          </a:ln>
        </p:spPr>
        <p:txBody>
          <a:bodyPr wrap="square" lIns="45720" rIns="45720" anchor="ctr">
            <a:noAutofit/>
          </a:bodyPr>
          <a:lstStyle/>
          <a:p>
            <a:pPr algn="ctr">
              <a:buNone/>
            </a:pPr>
            <a:r>
              <a:rPr lang="en-US" sz="2000" b="1" i="0" dirty="0">
                <a:solidFill>
                  <a:srgbClr val="FFFFFF"/>
                </a:solidFill>
              </a:rPr>
              <a:t>Higher coordination load</a:t>
            </a:r>
          </a:p>
        </p:txBody>
      </p:sp>
      <p:sp>
        <p:nvSpPr>
          <p:cNvPr id="46" name="Punchline"/>
          <p:cNvSpPr/>
          <p:nvPr/>
        </p:nvSpPr>
        <p:spPr>
          <a:xfrm>
            <a:off x="381000" y="3810000"/>
            <a:ext cx="8382000" cy="1651000"/>
          </a:xfrm>
          <a:prstGeom prst="rect">
            <a:avLst/>
          </a:prstGeom>
          <a:noFill/>
          <a:ln>
            <a:noFill/>
          </a:ln>
        </p:spPr>
        <p:txBody>
          <a:bodyPr wrap="square" lIns="45720" rIns="45720" anchor="ctr">
            <a:noAutofit/>
          </a:bodyPr>
          <a:lstStyle/>
          <a:p>
            <a:pPr algn="ctr">
              <a:buNone/>
            </a:pPr>
            <a:r>
              <a:rPr lang="en-US" sz="2800" b="1" dirty="0"/>
              <a:t>An amplifier amplifies a well-designed coordination system—or overwhelms a bad one.</a:t>
            </a:r>
          </a:p>
        </p:txBody>
      </p:sp>
    </p:spTree>
    <p:extLst>
      <p:ext uri="{BB962C8B-B14F-4D97-AF65-F5344CB8AC3E}">
        <p14:creationId xmlns:p14="http://schemas.microsoft.com/office/powerpoint/2010/main" val="3560336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29F4AB-05E9-BF42-79DA-036C63B6EDF7}"/>
              </a:ext>
            </a:extLst>
          </p:cNvPr>
          <p:cNvSpPr>
            <a:spLocks noGrp="1"/>
          </p:cNvSpPr>
          <p:nvPr>
            <p:ph type="title"/>
          </p:nvPr>
        </p:nvSpPr>
        <p:spPr/>
        <p:txBody>
          <a:bodyPr>
            <a:noAutofit/>
          </a:bodyPr>
          <a:lstStyle/>
          <a:p>
            <a:r>
              <a:rPr lang="en-US" sz="2800"/>
              <a:t>Four dimensions of coordination</a:t>
            </a:r>
          </a:p>
        </p:txBody>
      </p:sp>
      <p:sp>
        <p:nvSpPr>
          <p:cNvPr id="4" name="Slide Number Placeholder 3">
            <a:extLst>
              <a:ext uri="{FF2B5EF4-FFF2-40B4-BE49-F238E27FC236}">
                <a16:creationId xmlns:a16="http://schemas.microsoft.com/office/drawing/2014/main" id="{A905D93B-F8EF-B6E2-7E7D-894EC2435856}"/>
              </a:ext>
            </a:extLst>
          </p:cNvPr>
          <p:cNvSpPr>
            <a:spLocks noGrp="1"/>
          </p:cNvSpPr>
          <p:nvPr>
            <p:ph type="sldNum" sz="quarter" idx="4"/>
          </p:nvPr>
        </p:nvSpPr>
        <p:spPr/>
        <p:txBody>
          <a:bodyPr/>
          <a:lstStyle/>
          <a:p>
            <a:fld id="{B7EB45DA-9A0D-DC49-8E02-F30A5DDC21C3}" type="slidenum">
              <a:rPr lang="en-US" smtClean="0"/>
              <a:t>24</a:t>
            </a:fld>
            <a:endParaRPr lang="en-US"/>
          </a:p>
        </p:txBody>
      </p:sp>
      <p:sp>
        <p:nvSpPr>
          <p:cNvPr id="60" name="Topology"/>
          <p:cNvSpPr/>
          <p:nvPr/>
        </p:nvSpPr>
        <p:spPr>
          <a:xfrm>
            <a:off x="381000" y="1219200"/>
            <a:ext cx="1905000" cy="2006600"/>
          </a:xfrm>
          <a:prstGeom prst="roundRect">
            <a:avLst/>
          </a:prstGeom>
          <a:solidFill>
            <a:srgbClr val="C9B991"/>
          </a:solidFill>
          <a:ln w="19050">
            <a:solidFill>
              <a:srgbClr val="C9B991"/>
            </a:solidFill>
          </a:ln>
        </p:spPr>
        <p:txBody>
          <a:bodyPr wrap="square" lIns="45720" tIns="228600" rIns="45720" anchor="t">
            <a:noAutofit/>
          </a:bodyPr>
          <a:lstStyle/>
          <a:p>
            <a:pPr algn="ctr">
              <a:buNone/>
            </a:pPr>
            <a:r>
              <a:rPr lang="en-US" sz="2600" b="1" dirty="0">
                <a:solidFill>
                  <a:srgbClr val="000000"/>
                </a:solidFill>
              </a:rPr>
              <a:t>Topology</a:t>
            </a:r>
          </a:p>
          <a:p>
            <a:pPr algn="ctr">
              <a:spcBef>
                <a:spcPts val="1200"/>
              </a:spcBef>
              <a:buNone/>
            </a:pPr>
            <a:r>
              <a:rPr lang="en-US" sz="2000" dirty="0">
                <a:solidFill>
                  <a:srgbClr val="000000"/>
                </a:solidFill>
              </a:rPr>
              <a:t>who must coordinate with whom</a:t>
            </a:r>
          </a:p>
        </p:txBody>
      </p:sp>
      <p:sp>
        <p:nvSpPr>
          <p:cNvPr id="61" name="Frequency"/>
          <p:cNvSpPr/>
          <p:nvPr/>
        </p:nvSpPr>
        <p:spPr>
          <a:xfrm>
            <a:off x="2540000" y="1219200"/>
            <a:ext cx="1905000" cy="2006600"/>
          </a:xfrm>
          <a:prstGeom prst="roundRect">
            <a:avLst/>
          </a:prstGeom>
          <a:solidFill>
            <a:srgbClr val="C9B991"/>
          </a:solidFill>
          <a:ln w="19050">
            <a:solidFill>
              <a:srgbClr val="C9B991"/>
            </a:solidFill>
          </a:ln>
        </p:spPr>
        <p:txBody>
          <a:bodyPr wrap="square" lIns="45720" tIns="228600" rIns="45720" anchor="t">
            <a:noAutofit/>
          </a:bodyPr>
          <a:lstStyle/>
          <a:p>
            <a:pPr algn="ctr">
              <a:buNone/>
            </a:pPr>
            <a:r>
              <a:rPr lang="en-US" sz="2600" b="1" dirty="0">
                <a:solidFill>
                  <a:srgbClr val="000000"/>
                </a:solidFill>
              </a:rPr>
              <a:t>Frequency</a:t>
            </a:r>
          </a:p>
          <a:p>
            <a:pPr algn="ctr">
              <a:spcBef>
                <a:spcPts val="1200"/>
              </a:spcBef>
              <a:buNone/>
            </a:pPr>
            <a:r>
              <a:rPr lang="en-US" sz="2000" dirty="0">
                <a:solidFill>
                  <a:srgbClr val="000000"/>
                </a:solidFill>
              </a:rPr>
              <a:t>how often coordination occurs</a:t>
            </a:r>
          </a:p>
        </p:txBody>
      </p:sp>
      <p:sp>
        <p:nvSpPr>
          <p:cNvPr id="62" name="Cost"/>
          <p:cNvSpPr/>
          <p:nvPr/>
        </p:nvSpPr>
        <p:spPr>
          <a:xfrm>
            <a:off x="4699000" y="1219200"/>
            <a:ext cx="1905000" cy="2006600"/>
          </a:xfrm>
          <a:prstGeom prst="roundRect">
            <a:avLst/>
          </a:prstGeom>
          <a:solidFill>
            <a:srgbClr val="C9B991"/>
          </a:solidFill>
          <a:ln w="19050">
            <a:solidFill>
              <a:srgbClr val="C9B991"/>
            </a:solidFill>
          </a:ln>
        </p:spPr>
        <p:txBody>
          <a:bodyPr wrap="square" lIns="45720" tIns="228600" rIns="45720" anchor="t">
            <a:noAutofit/>
          </a:bodyPr>
          <a:lstStyle/>
          <a:p>
            <a:pPr algn="ctr">
              <a:buNone/>
            </a:pPr>
            <a:r>
              <a:rPr lang="en-US" sz="2600" b="1" dirty="0">
                <a:solidFill>
                  <a:srgbClr val="000000"/>
                </a:solidFill>
              </a:rPr>
              <a:t>Cost</a:t>
            </a:r>
          </a:p>
          <a:p>
            <a:pPr algn="ctr">
              <a:spcBef>
                <a:spcPts val="1200"/>
              </a:spcBef>
              <a:buNone/>
            </a:pPr>
            <a:r>
              <a:rPr lang="en-US" sz="2000" dirty="0">
                <a:solidFill>
                  <a:srgbClr val="000000"/>
                </a:solidFill>
              </a:rPr>
              <a:t>how expensive each one is</a:t>
            </a:r>
          </a:p>
        </p:txBody>
      </p:sp>
      <p:sp>
        <p:nvSpPr>
          <p:cNvPr id="63" name="Reliability"/>
          <p:cNvSpPr/>
          <p:nvPr/>
        </p:nvSpPr>
        <p:spPr>
          <a:xfrm>
            <a:off x="6858000" y="1219200"/>
            <a:ext cx="1905000" cy="2006600"/>
          </a:xfrm>
          <a:prstGeom prst="roundRect">
            <a:avLst/>
          </a:prstGeom>
          <a:solidFill>
            <a:srgbClr val="C9B991"/>
          </a:solidFill>
          <a:ln w="19050">
            <a:solidFill>
              <a:srgbClr val="C9B991"/>
            </a:solidFill>
          </a:ln>
        </p:spPr>
        <p:txBody>
          <a:bodyPr wrap="square" lIns="45720" tIns="228600" rIns="45720" anchor="t">
            <a:noAutofit/>
          </a:bodyPr>
          <a:lstStyle/>
          <a:p>
            <a:pPr algn="ctr">
              <a:buNone/>
            </a:pPr>
            <a:r>
              <a:rPr lang="en-US" sz="2600" b="1" dirty="0">
                <a:solidFill>
                  <a:srgbClr val="000000"/>
                </a:solidFill>
              </a:rPr>
              <a:t>Reliability</a:t>
            </a:r>
          </a:p>
          <a:p>
            <a:pPr algn="ctr">
              <a:spcBef>
                <a:spcPts val="1200"/>
              </a:spcBef>
              <a:buNone/>
            </a:pPr>
            <a:r>
              <a:rPr lang="en-US" sz="2000" dirty="0">
                <a:solidFill>
                  <a:srgbClr val="000000"/>
                </a:solidFill>
              </a:rPr>
              <a:t>whether it happens correctly</a:t>
            </a:r>
          </a:p>
        </p:txBody>
      </p:sp>
      <p:sp>
        <p:nvSpPr>
          <p:cNvPr id="64" name="Payoff"/>
          <p:cNvSpPr/>
          <p:nvPr/>
        </p:nvSpPr>
        <p:spPr>
          <a:xfrm>
            <a:off x="381000" y="3581400"/>
            <a:ext cx="8382000" cy="914400"/>
          </a:xfrm>
          <a:prstGeom prst="rect">
            <a:avLst/>
          </a:prstGeom>
          <a:noFill/>
          <a:ln>
            <a:noFill/>
          </a:ln>
        </p:spPr>
        <p:txBody>
          <a:bodyPr wrap="square" lIns="45720" tIns="45720" rIns="45720" anchor="ctr">
            <a:noAutofit/>
          </a:bodyPr>
          <a:lstStyle/>
          <a:p>
            <a:pPr algn="ctr">
              <a:buNone/>
            </a:pPr>
            <a:r>
              <a:rPr lang="en-US" sz="2400" b="1" i="0" dirty="0">
                <a:solidFill>
                  <a:srgbClr val="000000"/>
                </a:solidFill>
              </a:rPr>
              <a:t>We cannot eliminate coordination. We can engineer it.</a:t>
            </a:r>
          </a:p>
        </p:txBody>
      </p:sp>
      <p:sp>
        <p:nvSpPr>
          <p:cNvPr id="65" name="Habit"/>
          <p:cNvSpPr/>
          <p:nvPr/>
        </p:nvSpPr>
        <p:spPr>
          <a:xfrm>
            <a:off x="381000" y="4749800"/>
            <a:ext cx="8382000" cy="762000"/>
          </a:xfrm>
          <a:prstGeom prst="rect">
            <a:avLst/>
          </a:prstGeom>
          <a:noFill/>
          <a:ln>
            <a:noFill/>
          </a:ln>
        </p:spPr>
        <p:txBody>
          <a:bodyPr wrap="square" lIns="45720" tIns="45720" rIns="45720" anchor="ctr">
            <a:noAutofit/>
          </a:bodyPr>
          <a:lstStyle/>
          <a:p>
            <a:pPr algn="ctr">
              <a:buNone/>
            </a:pPr>
            <a:r>
              <a:rPr lang="en-US" sz="2200" i="1" dirty="0"/>
              <a:t>For any mechanism, ask: which dimension does it change?</a:t>
            </a:r>
          </a:p>
        </p:txBody>
      </p:sp>
    </p:spTree>
    <p:extLst>
      <p:ext uri="{BB962C8B-B14F-4D97-AF65-F5344CB8AC3E}">
        <p14:creationId xmlns:p14="http://schemas.microsoft.com/office/powerpoint/2010/main" val="1097323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09AAC26-7A87-494B-B7B6-460B706AB487}"/>
              </a:ext>
            </a:extLst>
          </p:cNvPr>
          <p:cNvSpPr>
            <a:spLocks noGrp="1"/>
          </p:cNvSpPr>
          <p:nvPr>
            <p:ph type="title"/>
          </p:nvPr>
        </p:nvSpPr>
        <p:spPr>
          <a:xfrm>
            <a:off x="685800" y="1676400"/>
            <a:ext cx="7772400" cy="2362200"/>
          </a:xfrm>
        </p:spPr>
        <p:txBody>
          <a:bodyPr>
            <a:normAutofit/>
          </a:bodyPr>
          <a:lstStyle/>
          <a:p>
            <a:r>
              <a:rPr lang="en-US" sz="8000" dirty="0"/>
              <a:t>4</a:t>
            </a:r>
            <a:br>
              <a:rPr lang="en-US" dirty="0"/>
            </a:br>
            <a:r>
              <a:rPr lang="en-US" dirty="0"/>
              <a:t>Engineering coordination</a:t>
            </a:r>
          </a:p>
        </p:txBody>
      </p:sp>
      <p:sp>
        <p:nvSpPr>
          <p:cNvPr id="5" name="Slide Number Placeholder 4">
            <a:extLst>
              <a:ext uri="{FF2B5EF4-FFF2-40B4-BE49-F238E27FC236}">
                <a16:creationId xmlns:a16="http://schemas.microsoft.com/office/drawing/2014/main" id="{3A6104FF-B238-764A-8A30-DB530B31F78E}"/>
              </a:ext>
            </a:extLst>
          </p:cNvPr>
          <p:cNvSpPr>
            <a:spLocks noGrp="1"/>
          </p:cNvSpPr>
          <p:nvPr>
            <p:ph type="sldNum" sz="quarter" idx="4"/>
          </p:nvPr>
        </p:nvSpPr>
        <p:spPr/>
        <p:txBody>
          <a:bodyPr/>
          <a:lstStyle/>
          <a:p>
            <a:fld id="{B7EB45DA-9A0D-DC49-8E02-F30A5DDC21C3}" type="slidenum">
              <a:rPr lang="en-US"/>
              <a:t>25</a:t>
            </a:fld>
            <a:endParaRPr lang="en-US"/>
          </a:p>
        </p:txBody>
      </p:sp>
      <p:sp>
        <p:nvSpPr>
          <p:cNvPr id="2" name="Section question">
            <a:extLst>
              <a:ext uri="{FF2B5EF4-FFF2-40B4-BE49-F238E27FC236}">
                <a16:creationId xmlns:a16="http://schemas.microsoft.com/office/drawing/2014/main" id="{FCAA5EC1-EE1B-5D44-917D-3CA5E8960BD7}"/>
              </a:ext>
            </a:extLst>
          </p:cNvPr>
          <p:cNvSpPr txBox="1"/>
          <p:nvPr/>
        </p:nvSpPr>
        <p:spPr>
          <a:xfrm>
            <a:off x="685800" y="4267200"/>
            <a:ext cx="7772400" cy="1219200"/>
          </a:xfrm>
          <a:prstGeom prst="rect">
            <a:avLst/>
          </a:prstGeom>
          <a:noFill/>
        </p:spPr>
        <p:txBody>
          <a:bodyPr vertOverflow="overflow" vert="horz" wrap="square" rtlCol="0" anchor="t">
            <a:spAutoFit/>
          </a:bodyPr>
          <a:lstStyle/>
          <a:p>
            <a:pPr algn="ctr"/>
            <a:r>
              <a:rPr lang="en-US" sz="2400" i="1"/>
              <a:t>How can we deliberately change the cost and structure of interaction?</a:t>
            </a:r>
          </a:p>
        </p:txBody>
      </p:sp>
    </p:spTree>
    <p:extLst>
      <p:ext uri="{BB962C8B-B14F-4D97-AF65-F5344CB8AC3E}">
        <p14:creationId xmlns:p14="http://schemas.microsoft.com/office/powerpoint/2010/main" val="2289466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D86E-B265-D51F-4FFF-D5F2BEBA91B1}"/>
              </a:ext>
            </a:extLst>
          </p:cNvPr>
          <p:cNvSpPr>
            <a:spLocks noGrp="1"/>
          </p:cNvSpPr>
          <p:nvPr>
            <p:ph type="title"/>
          </p:nvPr>
        </p:nvSpPr>
        <p:spPr/>
        <p:txBody>
          <a:bodyPr>
            <a:normAutofit fontScale="90000"/>
          </a:bodyPr>
          <a:lstStyle/>
          <a:p>
            <a:r>
              <a:rPr lang="en-US" sz="2400" dirty="0"/>
              <a:t>Communication is an engineering mechanism</a:t>
            </a:r>
          </a:p>
        </p:txBody>
      </p:sp>
      <p:sp>
        <p:nvSpPr>
          <p:cNvPr id="3" name="Slide Number Placeholder 2">
            <a:extLst>
              <a:ext uri="{FF2B5EF4-FFF2-40B4-BE49-F238E27FC236}">
                <a16:creationId xmlns:a16="http://schemas.microsoft.com/office/drawing/2014/main" id="{694B66A5-6910-457F-E9A4-E648A0008978}"/>
              </a:ext>
            </a:extLst>
          </p:cNvPr>
          <p:cNvSpPr>
            <a:spLocks noGrp="1"/>
          </p:cNvSpPr>
          <p:nvPr>
            <p:ph type="sldNum" sz="quarter" idx="4"/>
          </p:nvPr>
        </p:nvSpPr>
        <p:spPr/>
        <p:txBody>
          <a:bodyPr/>
          <a:lstStyle/>
          <a:p>
            <a:fld id="{B7EB45DA-9A0D-DC49-8E02-F30A5DDC21C3}" type="slidenum">
              <a:rPr lang="en-US"/>
              <a:t>26</a:t>
            </a:fld>
            <a:endParaRPr lang="en-US"/>
          </a:p>
        </p:txBody>
      </p:sp>
      <p:sp>
        <p:nvSpPr>
          <p:cNvPr id="40" name="Question 1"/>
          <p:cNvSpPr/>
          <p:nvPr/>
        </p:nvSpPr>
        <p:spPr>
          <a:xfrm>
            <a:off x="330200" y="1473200"/>
            <a:ext cx="2260600" cy="1168400"/>
          </a:xfrm>
          <a:prstGeom prst="homePlate">
            <a:avLst/>
          </a:prstGeom>
          <a:solidFill>
            <a:srgbClr val="8E6F3E"/>
          </a:solidFill>
          <a:ln w="19050">
            <a:solidFill>
              <a:srgbClr val="8E6F3E"/>
            </a:solidFill>
          </a:ln>
        </p:spPr>
        <p:txBody>
          <a:bodyPr wrap="square" lIns="63500" rIns="45720" anchor="ctr">
            <a:noAutofit/>
          </a:bodyPr>
          <a:lstStyle/>
          <a:p>
            <a:pPr algn="ctr">
              <a:buNone/>
            </a:pPr>
            <a:r>
              <a:rPr lang="en-US" sz="2000" b="1" i="0" dirty="0">
                <a:solidFill>
                  <a:srgbClr val="FFFFFF"/>
                </a:solidFill>
              </a:rPr>
              <a:t>What information</a:t>
            </a:r>
          </a:p>
          <a:p>
            <a:pPr algn="ctr">
              <a:buNone/>
            </a:pPr>
            <a:r>
              <a:rPr lang="en-US" sz="2000" b="1" i="0" dirty="0">
                <a:solidFill>
                  <a:srgbClr val="FFFFFF"/>
                </a:solidFill>
              </a:rPr>
              <a:t>must move?</a:t>
            </a:r>
          </a:p>
        </p:txBody>
      </p:sp>
      <p:sp>
        <p:nvSpPr>
          <p:cNvPr id="41" name="Question 2"/>
          <p:cNvSpPr/>
          <p:nvPr/>
        </p:nvSpPr>
        <p:spPr>
          <a:xfrm>
            <a:off x="2489200" y="1473200"/>
            <a:ext cx="2260600" cy="1168400"/>
          </a:xfrm>
          <a:prstGeom prst="chevron">
            <a:avLst/>
          </a:prstGeom>
          <a:solidFill>
            <a:srgbClr val="8E6F3E"/>
          </a:solidFill>
          <a:ln w="19050">
            <a:solidFill>
              <a:srgbClr val="8E6F3E"/>
            </a:solidFill>
          </a:ln>
        </p:spPr>
        <p:txBody>
          <a:bodyPr wrap="square" lIns="63500" rIns="45720" anchor="ctr">
            <a:noAutofit/>
          </a:bodyPr>
          <a:lstStyle/>
          <a:p>
            <a:pPr algn="ctr">
              <a:buNone/>
            </a:pPr>
            <a:r>
              <a:rPr lang="en-US" sz="2000" b="1" i="0" dirty="0">
                <a:solidFill>
                  <a:srgbClr val="FFFFFF"/>
                </a:solidFill>
              </a:rPr>
              <a:t>Between whom?</a:t>
            </a:r>
          </a:p>
        </p:txBody>
      </p:sp>
      <p:sp>
        <p:nvSpPr>
          <p:cNvPr id="42" name="Question 3"/>
          <p:cNvSpPr/>
          <p:nvPr/>
        </p:nvSpPr>
        <p:spPr>
          <a:xfrm>
            <a:off x="4648200" y="1473200"/>
            <a:ext cx="2260600" cy="1168400"/>
          </a:xfrm>
          <a:prstGeom prst="chevron">
            <a:avLst/>
          </a:prstGeom>
          <a:solidFill>
            <a:srgbClr val="8E6F3E"/>
          </a:solidFill>
          <a:ln w="19050">
            <a:solidFill>
              <a:srgbClr val="8E6F3E"/>
            </a:solidFill>
          </a:ln>
        </p:spPr>
        <p:txBody>
          <a:bodyPr wrap="square" lIns="63500" rIns="45720" anchor="ctr">
            <a:noAutofit/>
          </a:bodyPr>
          <a:lstStyle/>
          <a:p>
            <a:pPr algn="ctr">
              <a:buNone/>
            </a:pPr>
            <a:r>
              <a:rPr lang="en-US" sz="2000" b="1" i="0" dirty="0">
                <a:solidFill>
                  <a:srgbClr val="FFFFFF"/>
                </a:solidFill>
              </a:rPr>
              <a:t>How quickly?</a:t>
            </a:r>
          </a:p>
        </p:txBody>
      </p:sp>
      <p:sp>
        <p:nvSpPr>
          <p:cNvPr id="43" name="Question 4"/>
          <p:cNvSpPr/>
          <p:nvPr/>
        </p:nvSpPr>
        <p:spPr>
          <a:xfrm>
            <a:off x="6807200" y="1473200"/>
            <a:ext cx="2286000" cy="1168400"/>
          </a:xfrm>
          <a:prstGeom prst="chevron">
            <a:avLst/>
          </a:prstGeom>
          <a:solidFill>
            <a:srgbClr val="8E6F3E"/>
          </a:solidFill>
          <a:ln w="19050">
            <a:solidFill>
              <a:srgbClr val="8E6F3E"/>
            </a:solidFill>
          </a:ln>
        </p:spPr>
        <p:txBody>
          <a:bodyPr wrap="square" lIns="63500" rIns="45720" anchor="ctr">
            <a:noAutofit/>
          </a:bodyPr>
          <a:lstStyle/>
          <a:p>
            <a:pPr algn="ctr">
              <a:buNone/>
            </a:pPr>
            <a:r>
              <a:rPr lang="en-US" sz="2000" b="1" dirty="0">
                <a:solidFill>
                  <a:srgbClr val="FFFFFF"/>
                </a:solidFill>
              </a:rPr>
              <a:t>How long</a:t>
            </a:r>
          </a:p>
          <a:p>
            <a:pPr algn="ctr">
              <a:buNone/>
            </a:pPr>
            <a:r>
              <a:rPr lang="en-US" sz="2000" b="1" dirty="0">
                <a:solidFill>
                  <a:srgbClr val="FFFFFF"/>
                </a:solidFill>
              </a:rPr>
              <a:t>must it last?</a:t>
            </a:r>
          </a:p>
        </p:txBody>
      </p:sp>
      <p:sp>
        <p:nvSpPr>
          <p:cNvPr id="44" name="Down 3"/>
          <p:cNvSpPr/>
          <p:nvPr/>
        </p:nvSpPr>
        <p:spPr>
          <a:xfrm>
            <a:off x="5664200" y="2717800"/>
            <a:ext cx="254000" cy="431800"/>
          </a:xfrm>
          <a:prstGeom prst="downArrow">
            <a:avLst/>
          </a:prstGeom>
          <a:solidFill>
            <a:srgbClr val="555960"/>
          </a:solidFill>
          <a:ln>
            <a:noFill/>
          </a:ln>
        </p:spPr>
        <p:txBody>
          <a:bodyPr wrap="square" lIns="63500" rIns="45720" anchor="ctr">
            <a:noAutofit/>
          </a:bodyPr>
          <a:lstStyle/>
          <a:p>
            <a:pPr algn="ctr">
              <a:buNone/>
            </a:pPr>
            <a:endParaRPr lang="en-US" sz="1200" dirty="0">
              <a:solidFill>
                <a:srgbClr val="FFFFFF"/>
              </a:solidFill>
            </a:endParaRPr>
          </a:p>
        </p:txBody>
      </p:sp>
      <p:sp>
        <p:nvSpPr>
          <p:cNvPr id="45" name="Down 4"/>
          <p:cNvSpPr/>
          <p:nvPr/>
        </p:nvSpPr>
        <p:spPr>
          <a:xfrm>
            <a:off x="7823200" y="2717800"/>
            <a:ext cx="254000" cy="431800"/>
          </a:xfrm>
          <a:prstGeom prst="downArrow">
            <a:avLst/>
          </a:prstGeom>
          <a:solidFill>
            <a:srgbClr val="555960"/>
          </a:solidFill>
          <a:ln>
            <a:noFill/>
          </a:ln>
        </p:spPr>
        <p:txBody>
          <a:bodyPr wrap="square" lIns="63500" rIns="45720" anchor="ctr">
            <a:noAutofit/>
          </a:bodyPr>
          <a:lstStyle/>
          <a:p>
            <a:pPr algn="ctr">
              <a:buNone/>
            </a:pPr>
            <a:endParaRPr lang="en-US" sz="1200" dirty="0">
              <a:solidFill>
                <a:srgbClr val="FFFFFF"/>
              </a:solidFill>
            </a:endParaRPr>
          </a:p>
        </p:txBody>
      </p:sp>
      <p:sp>
        <p:nvSpPr>
          <p:cNvPr id="46" name="Outcome 3"/>
          <p:cNvSpPr/>
          <p:nvPr/>
        </p:nvSpPr>
        <p:spPr>
          <a:xfrm>
            <a:off x="4648200" y="3225800"/>
            <a:ext cx="2260600" cy="990600"/>
          </a:xfrm>
          <a:prstGeom prst="roundRect">
            <a:avLst/>
          </a:prstGeom>
          <a:solidFill>
            <a:srgbClr val="FFFFFF"/>
          </a:solidFill>
          <a:ln w="19050">
            <a:solidFill>
              <a:srgbClr val="555960"/>
            </a:solidFill>
          </a:ln>
        </p:spPr>
        <p:txBody>
          <a:bodyPr wrap="square" lIns="63500" rIns="45720" anchor="ctr">
            <a:noAutofit/>
          </a:bodyPr>
          <a:lstStyle/>
          <a:p>
            <a:pPr algn="ctr">
              <a:buNone/>
            </a:pPr>
            <a:r>
              <a:rPr lang="en-US" sz="2000" b="0" i="0" dirty="0">
                <a:solidFill>
                  <a:srgbClr val="000000"/>
                </a:solidFill>
              </a:rPr>
              <a:t>Synchronous</a:t>
            </a:r>
          </a:p>
          <a:p>
            <a:pPr algn="ctr">
              <a:buNone/>
            </a:pPr>
            <a:r>
              <a:rPr lang="en-US" sz="2000" b="0" i="0" dirty="0">
                <a:solidFill>
                  <a:srgbClr val="000000"/>
                </a:solidFill>
              </a:rPr>
              <a:t>or asynchronous</a:t>
            </a:r>
          </a:p>
        </p:txBody>
      </p:sp>
      <p:sp>
        <p:nvSpPr>
          <p:cNvPr id="47" name="Outcome 4"/>
          <p:cNvSpPr/>
          <p:nvPr/>
        </p:nvSpPr>
        <p:spPr>
          <a:xfrm>
            <a:off x="6807200" y="3225800"/>
            <a:ext cx="2260600" cy="990600"/>
          </a:xfrm>
          <a:prstGeom prst="roundRect">
            <a:avLst/>
          </a:prstGeom>
          <a:solidFill>
            <a:srgbClr val="FFFFFF"/>
          </a:solidFill>
          <a:ln w="19050">
            <a:solidFill>
              <a:srgbClr val="555960"/>
            </a:solidFill>
          </a:ln>
        </p:spPr>
        <p:txBody>
          <a:bodyPr wrap="square" lIns="63500" rIns="45720" anchor="ctr">
            <a:noAutofit/>
          </a:bodyPr>
          <a:lstStyle/>
          <a:p>
            <a:pPr algn="ctr">
              <a:buNone/>
            </a:pPr>
            <a:r>
              <a:rPr lang="en-US" sz="2000" b="0" i="0" dirty="0">
                <a:solidFill>
                  <a:srgbClr val="000000"/>
                </a:solidFill>
              </a:rPr>
              <a:t>Ephemeral</a:t>
            </a:r>
          </a:p>
          <a:p>
            <a:pPr algn="ctr">
              <a:buNone/>
            </a:pPr>
            <a:r>
              <a:rPr lang="en-US" sz="2000" b="0" i="0" dirty="0">
                <a:solidFill>
                  <a:srgbClr val="000000"/>
                </a:solidFill>
              </a:rPr>
              <a:t>or durable</a:t>
            </a:r>
          </a:p>
        </p:txBody>
      </p:sp>
      <p:sp>
        <p:nvSpPr>
          <p:cNvPr id="48" name="Payoff"/>
          <p:cNvSpPr/>
          <p:nvPr/>
        </p:nvSpPr>
        <p:spPr>
          <a:xfrm>
            <a:off x="330200" y="4470400"/>
            <a:ext cx="8737600" cy="914400"/>
          </a:xfrm>
          <a:prstGeom prst="rect">
            <a:avLst/>
          </a:prstGeom>
          <a:noFill/>
          <a:ln>
            <a:noFill/>
          </a:ln>
        </p:spPr>
        <p:txBody>
          <a:bodyPr wrap="square" lIns="63500" rIns="45720" anchor="ctr">
            <a:noAutofit/>
          </a:bodyPr>
          <a:lstStyle/>
          <a:p>
            <a:pPr algn="ctr">
              <a:buNone/>
            </a:pPr>
            <a:r>
              <a:rPr lang="en-US" sz="2600" b="1" i="0" dirty="0"/>
              <a:t>The medium follows from these answers; it is not the starting point.</a:t>
            </a:r>
          </a:p>
        </p:txBody>
      </p:sp>
      <p:sp>
        <p:nvSpPr>
          <p:cNvPr id="49" name="Note"/>
          <p:cNvSpPr/>
          <p:nvPr/>
        </p:nvSpPr>
        <p:spPr>
          <a:xfrm>
            <a:off x="330200" y="5461000"/>
            <a:ext cx="8737600" cy="685800"/>
          </a:xfrm>
          <a:prstGeom prst="rect">
            <a:avLst/>
          </a:prstGeom>
          <a:noFill/>
          <a:ln>
            <a:noFill/>
          </a:ln>
        </p:spPr>
        <p:txBody>
          <a:bodyPr wrap="square" lIns="63500" rIns="45720" anchor="ctr">
            <a:noAutofit/>
          </a:bodyPr>
          <a:lstStyle/>
          <a:p>
            <a:pPr algn="ctr">
              <a:buNone/>
            </a:pPr>
            <a:r>
              <a:rPr lang="en-US" sz="2000" b="0" i="1" dirty="0">
                <a:solidFill>
                  <a:srgbClr val="000000"/>
                </a:solidFill>
              </a:rPr>
              <a:t>A meeting, a message, a document, a ticket — each answers these four questions differently.</a:t>
            </a:r>
          </a:p>
        </p:txBody>
      </p:sp>
    </p:spTree>
    <p:extLst>
      <p:ext uri="{BB962C8B-B14F-4D97-AF65-F5344CB8AC3E}">
        <p14:creationId xmlns:p14="http://schemas.microsoft.com/office/powerpoint/2010/main" val="818609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D86E-B265-D51F-4FFF-D5F2BEBA91B1}"/>
              </a:ext>
            </a:extLst>
          </p:cNvPr>
          <p:cNvSpPr>
            <a:spLocks noGrp="1"/>
          </p:cNvSpPr>
          <p:nvPr>
            <p:ph type="title"/>
          </p:nvPr>
        </p:nvSpPr>
        <p:spPr/>
        <p:txBody>
          <a:bodyPr>
            <a:normAutofit fontScale="90000"/>
          </a:bodyPr>
          <a:lstStyle/>
          <a:p>
            <a:r>
              <a:rPr lang="en-US" sz="2400" dirty="0"/>
              <a:t>Meetings are expensive synchronization points</a:t>
            </a:r>
          </a:p>
        </p:txBody>
      </p:sp>
      <p:sp>
        <p:nvSpPr>
          <p:cNvPr id="3" name="Slide Number Placeholder 2">
            <a:extLst>
              <a:ext uri="{FF2B5EF4-FFF2-40B4-BE49-F238E27FC236}">
                <a16:creationId xmlns:a16="http://schemas.microsoft.com/office/drawing/2014/main" id="{694B66A5-6910-457F-E9A4-E648A0008978}"/>
              </a:ext>
            </a:extLst>
          </p:cNvPr>
          <p:cNvSpPr>
            <a:spLocks noGrp="1"/>
          </p:cNvSpPr>
          <p:nvPr>
            <p:ph type="sldNum" sz="quarter" idx="4"/>
          </p:nvPr>
        </p:nvSpPr>
        <p:spPr/>
        <p:txBody>
          <a:bodyPr/>
          <a:lstStyle/>
          <a:p>
            <a:fld id="{B7EB45DA-9A0D-DC49-8E02-F30A5DDC21C3}" type="slidenum">
              <a:rPr lang="en-US"/>
              <a:t>27</a:t>
            </a:fld>
            <a:endParaRPr lang="en-US"/>
          </a:p>
        </p:txBody>
      </p:sp>
      <p:sp>
        <p:nvSpPr>
          <p:cNvPr id="4" name="TextBox 3">
            <a:extLst>
              <a:ext uri="{FF2B5EF4-FFF2-40B4-BE49-F238E27FC236}">
                <a16:creationId xmlns:a16="http://schemas.microsoft.com/office/drawing/2014/main" id="{DCADB256-0785-8E1F-D8C4-C1F8CDC3A3E8}"/>
              </a:ext>
            </a:extLst>
          </p:cNvPr>
          <p:cNvSpPr txBox="1"/>
          <p:nvPr/>
        </p:nvSpPr>
        <p:spPr>
          <a:xfrm>
            <a:off x="330200" y="5740400"/>
            <a:ext cx="6350000" cy="381000"/>
          </a:xfrm>
          <a:prstGeom prst="rect">
            <a:avLst/>
          </a:prstGeom>
          <a:noFill/>
        </p:spPr>
        <p:txBody>
          <a:bodyPr wrap="none" rtlCol="0">
            <a:spAutoFit/>
          </a:bodyPr>
          <a:lstStyle/>
          <a:p>
            <a:pPr>
              <a:buNone/>
            </a:pPr>
            <a:r>
              <a:rPr lang="en-US" sz="2000" dirty="0"/>
              <a:t>Credit: Greg Wilson, third-bit.com</a:t>
            </a:r>
          </a:p>
        </p:txBody>
      </p:sp>
      <p:sp>
        <p:nvSpPr>
          <p:cNvPr id="40" name="Trade"/>
          <p:cNvSpPr/>
          <p:nvPr/>
        </p:nvSpPr>
        <p:spPr>
          <a:xfrm>
            <a:off x="330200" y="939800"/>
            <a:ext cx="8737600" cy="685800"/>
          </a:xfrm>
          <a:prstGeom prst="rect">
            <a:avLst/>
          </a:prstGeom>
          <a:noFill/>
          <a:ln>
            <a:noFill/>
          </a:ln>
        </p:spPr>
        <p:txBody>
          <a:bodyPr wrap="square" lIns="54000" tIns="63500" rIns="54000" anchor="ctr">
            <a:noAutofit/>
          </a:bodyPr>
          <a:lstStyle/>
          <a:p>
            <a:pPr algn="ctr">
              <a:buNone/>
            </a:pPr>
            <a:r>
              <a:rPr lang="en-US" sz="2200" b="0" i="1" dirty="0">
                <a:solidFill>
                  <a:srgbClr val="000000"/>
                </a:solidFill>
              </a:rPr>
              <a:t>A meeting trades simultaneous attention from several people for rapid shared context and decisions.</a:t>
            </a:r>
          </a:p>
        </p:txBody>
      </p:sp>
      <p:sp>
        <p:nvSpPr>
          <p:cNvPr id="41" name="Purpose"/>
          <p:cNvSpPr/>
          <p:nvPr/>
        </p:nvSpPr>
        <p:spPr>
          <a:xfrm>
            <a:off x="330200" y="1803400"/>
            <a:ext cx="2260600" cy="2006600"/>
          </a:xfrm>
          <a:prstGeom prst="roundRect">
            <a:avLst/>
          </a:prstGeom>
          <a:solidFill>
            <a:srgbClr val="FFFFFF"/>
          </a:solidFill>
          <a:ln w="19050">
            <a:solidFill>
              <a:srgbClr val="555960"/>
            </a:solidFill>
          </a:ln>
        </p:spPr>
        <p:txBody>
          <a:bodyPr wrap="square" lIns="54000" tIns="63500" rIns="54000" anchor="t">
            <a:noAutofit/>
          </a:bodyPr>
          <a:lstStyle/>
          <a:p>
            <a:pPr algn="ctr">
              <a:buNone/>
            </a:pPr>
            <a:r>
              <a:rPr lang="en-US" sz="2400" b="1" dirty="0"/>
              <a:t>Purpose</a:t>
            </a:r>
          </a:p>
          <a:p>
            <a:pPr algn="ctr">
              <a:buNone/>
            </a:pPr>
            <a:r>
              <a:rPr lang="en-US" sz="2000" dirty="0"/>
              <a:t>inform, consult, or decide—name which</a:t>
            </a:r>
          </a:p>
        </p:txBody>
      </p:sp>
      <p:sp>
        <p:nvSpPr>
          <p:cNvPr id="42" name="Agenda"/>
          <p:cNvSpPr/>
          <p:nvPr/>
        </p:nvSpPr>
        <p:spPr>
          <a:xfrm>
            <a:off x="2489200" y="1803400"/>
            <a:ext cx="2260600" cy="2006600"/>
          </a:xfrm>
          <a:prstGeom prst="roundRect">
            <a:avLst/>
          </a:prstGeom>
          <a:solidFill>
            <a:srgbClr val="FFFFFF"/>
          </a:solidFill>
          <a:ln w="19050">
            <a:solidFill>
              <a:srgbClr val="555960"/>
            </a:solidFill>
          </a:ln>
        </p:spPr>
        <p:txBody>
          <a:bodyPr wrap="square" lIns="54000" tIns="63500" rIns="54000" anchor="t">
            <a:noAutofit/>
          </a:bodyPr>
          <a:lstStyle/>
          <a:p>
            <a:pPr algn="ctr">
              <a:buNone/>
            </a:pPr>
            <a:r>
              <a:rPr lang="en-US" sz="2400" b="1" i="0" dirty="0">
                <a:solidFill>
                  <a:srgbClr val="000000"/>
                </a:solidFill>
              </a:rPr>
              <a:t>Agenda</a:t>
            </a:r>
          </a:p>
          <a:p>
            <a:pPr algn="ctr">
              <a:buNone/>
            </a:pPr>
            <a:r>
              <a:rPr lang="en-US" sz="2000" b="0" i="0" dirty="0">
                <a:solidFill>
                  <a:srgbClr val="000000"/>
                </a:solidFill>
              </a:rPr>
              <a:t>no list, no meeting</a:t>
            </a:r>
          </a:p>
        </p:txBody>
      </p:sp>
      <p:sp>
        <p:nvSpPr>
          <p:cNvPr id="43" name="Timing"/>
          <p:cNvSpPr/>
          <p:nvPr/>
        </p:nvSpPr>
        <p:spPr>
          <a:xfrm>
            <a:off x="4648200" y="1803400"/>
            <a:ext cx="2260600" cy="2006600"/>
          </a:xfrm>
          <a:prstGeom prst="roundRect">
            <a:avLst/>
          </a:prstGeom>
          <a:solidFill>
            <a:srgbClr val="FFFFFF"/>
          </a:solidFill>
          <a:ln w="19050">
            <a:solidFill>
              <a:srgbClr val="555960"/>
            </a:solidFill>
          </a:ln>
        </p:spPr>
        <p:txBody>
          <a:bodyPr wrap="square" lIns="54000" tIns="63500" rIns="54000" anchor="t">
            <a:noAutofit/>
          </a:bodyPr>
          <a:lstStyle/>
          <a:p>
            <a:pPr algn="ctr">
              <a:buNone/>
            </a:pPr>
            <a:r>
              <a:rPr lang="en-US" sz="2400" b="1" i="0" dirty="0">
                <a:solidFill>
                  <a:srgbClr val="000000"/>
                </a:solidFill>
              </a:rPr>
              <a:t>Timing</a:t>
            </a:r>
          </a:p>
          <a:p>
            <a:pPr algn="ctr">
              <a:buNone/>
            </a:pPr>
            <a:r>
              <a:rPr lang="en-US" sz="2000" b="0" i="0" dirty="0">
                <a:solidFill>
                  <a:srgbClr val="000000"/>
                </a:solidFill>
              </a:rPr>
              <a:t>fixed length; plan to end early</a:t>
            </a:r>
          </a:p>
        </p:txBody>
      </p:sp>
      <p:sp>
        <p:nvSpPr>
          <p:cNvPr id="44" name="Record"/>
          <p:cNvSpPr/>
          <p:nvPr/>
        </p:nvSpPr>
        <p:spPr>
          <a:xfrm>
            <a:off x="6807200" y="1803400"/>
            <a:ext cx="2260600" cy="2006600"/>
          </a:xfrm>
          <a:prstGeom prst="roundRect">
            <a:avLst/>
          </a:prstGeom>
          <a:solidFill>
            <a:srgbClr val="FFFFFF"/>
          </a:solidFill>
          <a:ln w="19050">
            <a:solidFill>
              <a:srgbClr val="555960"/>
            </a:solidFill>
          </a:ln>
        </p:spPr>
        <p:txBody>
          <a:bodyPr wrap="square" lIns="54000" tIns="63500" rIns="54000" anchor="t">
            <a:noAutofit/>
          </a:bodyPr>
          <a:lstStyle/>
          <a:p>
            <a:pPr algn="ctr">
              <a:buNone/>
            </a:pPr>
            <a:r>
              <a:rPr lang="en-US" sz="2400" b="1" i="0" dirty="0">
                <a:solidFill>
                  <a:srgbClr val="000000"/>
                </a:solidFill>
              </a:rPr>
              <a:t>Record</a:t>
            </a:r>
          </a:p>
          <a:p>
            <a:pPr algn="ctr">
              <a:buNone/>
            </a:pPr>
            <a:r>
              <a:rPr lang="en-US" sz="2000" b="0" i="0" dirty="0">
                <a:solidFill>
                  <a:srgbClr val="000000"/>
                </a:solidFill>
              </a:rPr>
              <a:t>decisions and actions, written down</a:t>
            </a:r>
          </a:p>
        </p:txBody>
      </p:sp>
      <p:sp>
        <p:nvSpPr>
          <p:cNvPr id="45" name="Payoff"/>
          <p:cNvSpPr/>
          <p:nvPr/>
        </p:nvSpPr>
        <p:spPr>
          <a:xfrm>
            <a:off x="330200" y="4140200"/>
            <a:ext cx="8737600" cy="914400"/>
          </a:xfrm>
          <a:prstGeom prst="rect">
            <a:avLst/>
          </a:prstGeom>
          <a:noFill/>
          <a:ln>
            <a:noFill/>
          </a:ln>
        </p:spPr>
        <p:txBody>
          <a:bodyPr wrap="square" lIns="54000" tIns="63500" rIns="54000" anchor="ctr">
            <a:noAutofit/>
          </a:bodyPr>
          <a:lstStyle/>
          <a:p>
            <a:pPr algn="ctr">
              <a:buNone/>
            </a:pPr>
            <a:r>
              <a:rPr lang="en-US" sz="3000" b="1" i="0" dirty="0">
                <a:solidFill>
                  <a:srgbClr val="000000"/>
                </a:solidFill>
              </a:rPr>
              <a:t>Is this meeting worth the attention it costs?</a:t>
            </a:r>
          </a:p>
        </p:txBody>
      </p:sp>
    </p:spTree>
    <p:extLst>
      <p:ext uri="{BB962C8B-B14F-4D97-AF65-F5344CB8AC3E}">
        <p14:creationId xmlns:p14="http://schemas.microsoft.com/office/powerpoint/2010/main" val="6198763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C93538-9697-2728-1AAE-41DA059654DB}"/>
              </a:ext>
            </a:extLst>
          </p:cNvPr>
          <p:cNvSpPr>
            <a:spLocks noGrp="1"/>
          </p:cNvSpPr>
          <p:nvPr>
            <p:ph type="title"/>
          </p:nvPr>
        </p:nvSpPr>
        <p:spPr/>
        <p:txBody>
          <a:bodyPr>
            <a:noAutofit/>
          </a:bodyPr>
          <a:lstStyle/>
          <a:p>
            <a:r>
              <a:rPr lang="en-US"/>
              <a:t>Durable decisions reduce repeated coordination</a:t>
            </a:r>
          </a:p>
        </p:txBody>
      </p:sp>
      <p:sp>
        <p:nvSpPr>
          <p:cNvPr id="4" name="Slide Number Placeholder 3">
            <a:extLst>
              <a:ext uri="{FF2B5EF4-FFF2-40B4-BE49-F238E27FC236}">
                <a16:creationId xmlns:a16="http://schemas.microsoft.com/office/drawing/2014/main" id="{D2B30C26-530E-D67E-BCBD-63EC189AD59D}"/>
              </a:ext>
            </a:extLst>
          </p:cNvPr>
          <p:cNvSpPr>
            <a:spLocks noGrp="1"/>
          </p:cNvSpPr>
          <p:nvPr>
            <p:ph type="sldNum" sz="quarter" idx="4"/>
          </p:nvPr>
        </p:nvSpPr>
        <p:spPr/>
        <p:txBody>
          <a:bodyPr/>
          <a:lstStyle/>
          <a:p>
            <a:fld id="{B7EB45DA-9A0D-DC49-8E02-F30A5DDC21C3}" type="slidenum">
              <a:rPr lang="en-US" smtClean="0"/>
              <a:t>28</a:t>
            </a:fld>
            <a:endParaRPr lang="en-US"/>
          </a:p>
        </p:txBody>
      </p:sp>
      <p:sp>
        <p:nvSpPr>
          <p:cNvPr id="40" name="Decision 1"/>
          <p:cNvSpPr/>
          <p:nvPr/>
        </p:nvSpPr>
        <p:spPr>
          <a:xfrm>
            <a:off x="330200" y="1320800"/>
            <a:ext cx="2133600" cy="990600"/>
          </a:xfrm>
          <a:prstGeom prst="roundRect">
            <a:avLst/>
          </a:prstGeom>
          <a:solidFill>
            <a:srgbClr val="FFFFFF"/>
          </a:solidFill>
          <a:ln w="19050">
            <a:solidFill>
              <a:srgbClr val="555960"/>
            </a:solidFill>
          </a:ln>
        </p:spPr>
        <p:txBody>
          <a:bodyPr wrap="square" lIns="54000" rIns="54000" anchor="ctr">
            <a:noAutofit/>
          </a:bodyPr>
          <a:lstStyle/>
          <a:p>
            <a:pPr algn="ctr">
              <a:buNone/>
            </a:pPr>
            <a:r>
              <a:rPr lang="en-US" sz="2200" b="1" i="0" dirty="0">
                <a:solidFill>
                  <a:srgbClr val="000000"/>
                </a:solidFill>
              </a:rPr>
              <a:t>A decision</a:t>
            </a:r>
          </a:p>
        </p:txBody>
      </p:sp>
      <p:sp>
        <p:nvSpPr>
          <p:cNvPr id="41" name="Arrow 1a"/>
          <p:cNvSpPr/>
          <p:nvPr/>
        </p:nvSpPr>
        <p:spPr>
          <a:xfrm>
            <a:off x="2565400" y="1663700"/>
            <a:ext cx="508000" cy="330200"/>
          </a:xfrm>
          <a:prstGeom prst="rightArrow">
            <a:avLst/>
          </a:prstGeom>
          <a:solidFill>
            <a:srgbClr val="555960"/>
          </a:solidFill>
          <a:ln>
            <a:noFill/>
          </a:ln>
        </p:spPr>
        <p:txBody>
          <a:bodyPr wrap="square" lIns="54000" rIns="54000" anchor="ctr">
            <a:noAutofit/>
          </a:bodyPr>
          <a:lstStyle/>
          <a:p>
            <a:pPr algn="ctr">
              <a:buNone/>
            </a:pPr>
            <a:endParaRPr lang="en-US" sz="1200" dirty="0">
              <a:solidFill>
                <a:srgbClr val="FFFFFF"/>
              </a:solidFill>
            </a:endParaRPr>
          </a:p>
        </p:txBody>
      </p:sp>
      <p:sp>
        <p:nvSpPr>
          <p:cNvPr id="42" name="Durable artifact"/>
          <p:cNvSpPr/>
          <p:nvPr/>
        </p:nvSpPr>
        <p:spPr>
          <a:xfrm>
            <a:off x="3175000" y="1320800"/>
            <a:ext cx="2540000" cy="990600"/>
          </a:xfrm>
          <a:prstGeom prst="roundRect">
            <a:avLst/>
          </a:prstGeom>
          <a:solidFill>
            <a:srgbClr val="8E6F3E"/>
          </a:solidFill>
          <a:ln w="19050">
            <a:solidFill>
              <a:srgbClr val="8E6F3E"/>
            </a:solidFill>
          </a:ln>
        </p:spPr>
        <p:txBody>
          <a:bodyPr wrap="square" lIns="54000" rIns="54000" anchor="ctr">
            <a:noAutofit/>
          </a:bodyPr>
          <a:lstStyle/>
          <a:p>
            <a:pPr algn="ctr">
              <a:buNone/>
            </a:pPr>
            <a:r>
              <a:rPr lang="en-US" sz="2200" b="1" i="0" dirty="0">
                <a:solidFill>
                  <a:srgbClr val="FFFFFF"/>
                </a:solidFill>
              </a:rPr>
              <a:t>Written down</a:t>
            </a:r>
          </a:p>
        </p:txBody>
      </p:sp>
      <p:sp>
        <p:nvSpPr>
          <p:cNvPr id="43" name="Arrow 1b"/>
          <p:cNvSpPr/>
          <p:nvPr/>
        </p:nvSpPr>
        <p:spPr>
          <a:xfrm>
            <a:off x="5816600" y="1663700"/>
            <a:ext cx="508000" cy="330200"/>
          </a:xfrm>
          <a:prstGeom prst="rightArrow">
            <a:avLst/>
          </a:prstGeom>
          <a:solidFill>
            <a:srgbClr val="555960"/>
          </a:solidFill>
          <a:ln>
            <a:noFill/>
          </a:ln>
        </p:spPr>
        <p:txBody>
          <a:bodyPr wrap="square" lIns="54000" rIns="54000" anchor="ctr">
            <a:noAutofit/>
          </a:bodyPr>
          <a:lstStyle/>
          <a:p>
            <a:pPr algn="ctr">
              <a:buNone/>
            </a:pPr>
            <a:endParaRPr lang="en-US" sz="1200" dirty="0">
              <a:solidFill>
                <a:srgbClr val="FFFFFF"/>
              </a:solidFill>
            </a:endParaRPr>
          </a:p>
        </p:txBody>
      </p:sp>
      <p:sp>
        <p:nvSpPr>
          <p:cNvPr id="44" name="Reused"/>
          <p:cNvSpPr/>
          <p:nvPr/>
        </p:nvSpPr>
        <p:spPr>
          <a:xfrm>
            <a:off x="6426200" y="1320800"/>
            <a:ext cx="2387600" cy="990600"/>
          </a:xfrm>
          <a:prstGeom prst="roundRect">
            <a:avLst/>
          </a:prstGeom>
          <a:solidFill>
            <a:srgbClr val="FFFFFF"/>
          </a:solidFill>
          <a:ln w="19050">
            <a:solidFill>
              <a:srgbClr val="555960"/>
            </a:solidFill>
          </a:ln>
        </p:spPr>
        <p:txBody>
          <a:bodyPr wrap="square" lIns="54000" rIns="54000" anchor="ctr">
            <a:noAutofit/>
          </a:bodyPr>
          <a:lstStyle/>
          <a:p>
            <a:pPr algn="ctr">
              <a:buNone/>
            </a:pPr>
            <a:r>
              <a:rPr lang="en-US" sz="2000" b="1" dirty="0">
                <a:solidFill>
                  <a:srgbClr val="000000"/>
                </a:solidFill>
              </a:rPr>
              <a:t>Others can use it later</a:t>
            </a:r>
          </a:p>
        </p:txBody>
      </p:sp>
      <p:sp>
        <p:nvSpPr>
          <p:cNvPr id="45" name="Artifact examples"/>
          <p:cNvSpPr/>
          <p:nvPr/>
        </p:nvSpPr>
        <p:spPr>
          <a:xfrm>
            <a:off x="3048000" y="2413000"/>
            <a:ext cx="2794000" cy="660400"/>
          </a:xfrm>
          <a:prstGeom prst="rect">
            <a:avLst/>
          </a:prstGeom>
          <a:noFill/>
          <a:ln>
            <a:noFill/>
          </a:ln>
        </p:spPr>
        <p:txBody>
          <a:bodyPr wrap="square" lIns="54000" rIns="54000" anchor="ctr">
            <a:noAutofit/>
          </a:bodyPr>
          <a:lstStyle/>
          <a:p>
            <a:pPr algn="ctr">
              <a:buNone/>
            </a:pPr>
            <a:r>
              <a:rPr lang="en-US" sz="2000" b="0" i="0" dirty="0">
                <a:solidFill>
                  <a:srgbClr val="000000"/>
                </a:solidFill>
              </a:rPr>
              <a:t>minutes · decision records · tickets · documentation</a:t>
            </a:r>
          </a:p>
        </p:txBody>
      </p:sp>
      <p:sp>
        <p:nvSpPr>
          <p:cNvPr id="46" name="Decision 2"/>
          <p:cNvSpPr/>
          <p:nvPr/>
        </p:nvSpPr>
        <p:spPr>
          <a:xfrm>
            <a:off x="330200" y="3276600"/>
            <a:ext cx="2133600" cy="990600"/>
          </a:xfrm>
          <a:prstGeom prst="roundRect">
            <a:avLst/>
          </a:prstGeom>
          <a:solidFill>
            <a:srgbClr val="FFFFFF"/>
          </a:solidFill>
          <a:ln w="19050">
            <a:solidFill>
              <a:srgbClr val="555960"/>
            </a:solidFill>
          </a:ln>
        </p:spPr>
        <p:txBody>
          <a:bodyPr wrap="square" lIns="54000" rIns="54000" anchor="ctr">
            <a:noAutofit/>
          </a:bodyPr>
          <a:lstStyle/>
          <a:p>
            <a:pPr algn="ctr">
              <a:buNone/>
            </a:pPr>
            <a:r>
              <a:rPr lang="en-US" sz="2200" b="1" i="0" dirty="0">
                <a:solidFill>
                  <a:srgbClr val="000000"/>
                </a:solidFill>
              </a:rPr>
              <a:t>A decision</a:t>
            </a:r>
          </a:p>
        </p:txBody>
      </p:sp>
      <p:sp>
        <p:nvSpPr>
          <p:cNvPr id="47" name="Arrow 2a"/>
          <p:cNvSpPr/>
          <p:nvPr/>
        </p:nvSpPr>
        <p:spPr>
          <a:xfrm>
            <a:off x="2565400" y="3619500"/>
            <a:ext cx="508000" cy="330200"/>
          </a:xfrm>
          <a:prstGeom prst="rightArrow">
            <a:avLst/>
          </a:prstGeom>
          <a:solidFill>
            <a:srgbClr val="555960"/>
          </a:solidFill>
          <a:ln>
            <a:noFill/>
          </a:ln>
        </p:spPr>
        <p:txBody>
          <a:bodyPr wrap="square" lIns="54000" rIns="54000" anchor="ctr">
            <a:noAutofit/>
          </a:bodyPr>
          <a:lstStyle/>
          <a:p>
            <a:pPr algn="ctr">
              <a:buNone/>
            </a:pPr>
            <a:endParaRPr lang="en-US" sz="1200" dirty="0">
              <a:solidFill>
                <a:srgbClr val="FFFFFF"/>
              </a:solidFill>
            </a:endParaRPr>
          </a:p>
        </p:txBody>
      </p:sp>
      <p:sp>
        <p:nvSpPr>
          <p:cNvPr id="48" name="Memory only"/>
          <p:cNvSpPr/>
          <p:nvPr/>
        </p:nvSpPr>
        <p:spPr>
          <a:xfrm>
            <a:off x="3175000" y="3276600"/>
            <a:ext cx="2540000" cy="990600"/>
          </a:xfrm>
          <a:prstGeom prst="roundRect">
            <a:avLst/>
          </a:prstGeom>
          <a:noFill/>
          <a:ln w="19050">
            <a:solidFill>
              <a:srgbClr val="555960"/>
            </a:solidFill>
          </a:ln>
        </p:spPr>
        <p:txBody>
          <a:bodyPr wrap="square" lIns="54000" rIns="54000" anchor="ctr">
            <a:noAutofit/>
          </a:bodyPr>
          <a:lstStyle/>
          <a:p>
            <a:pPr algn="ctr">
              <a:buNone/>
            </a:pPr>
            <a:r>
              <a:rPr lang="en-US" sz="2200" b="1" i="0" dirty="0">
                <a:solidFill>
                  <a:srgbClr val="555960"/>
                </a:solidFill>
              </a:rPr>
              <a:t>Left in memory</a:t>
            </a:r>
          </a:p>
        </p:txBody>
      </p:sp>
      <p:sp>
        <p:nvSpPr>
          <p:cNvPr id="49" name="Reconstructed"/>
          <p:cNvSpPr/>
          <p:nvPr/>
        </p:nvSpPr>
        <p:spPr>
          <a:xfrm>
            <a:off x="5816600" y="3619500"/>
            <a:ext cx="508000" cy="330200"/>
          </a:xfrm>
          <a:prstGeom prst="rightArrow">
            <a:avLst/>
          </a:prstGeom>
          <a:solidFill>
            <a:srgbClr val="555960"/>
          </a:solidFill>
          <a:ln>
            <a:noFill/>
          </a:ln>
        </p:spPr>
        <p:txBody>
          <a:bodyPr wrap="square" lIns="54000" rIns="54000" anchor="ctr">
            <a:noAutofit/>
          </a:bodyPr>
          <a:lstStyle/>
          <a:p>
            <a:pPr algn="ctr">
              <a:buNone/>
            </a:pPr>
            <a:endParaRPr lang="en-US" sz="1200" dirty="0">
              <a:solidFill>
                <a:srgbClr val="FFFFFF"/>
              </a:solidFill>
            </a:endParaRPr>
          </a:p>
        </p:txBody>
      </p:sp>
      <p:sp>
        <p:nvSpPr>
          <p:cNvPr id="50" name="Lost"/>
          <p:cNvSpPr/>
          <p:nvPr/>
        </p:nvSpPr>
        <p:spPr>
          <a:xfrm>
            <a:off x="6426200" y="3276600"/>
            <a:ext cx="2387600" cy="990600"/>
          </a:xfrm>
          <a:prstGeom prst="roundRect">
            <a:avLst/>
          </a:prstGeom>
          <a:noFill/>
          <a:ln w="19050">
            <a:solidFill>
              <a:srgbClr val="555960"/>
            </a:solidFill>
          </a:ln>
        </p:spPr>
        <p:txBody>
          <a:bodyPr wrap="square" lIns="54000" rIns="54000" anchor="ctr">
            <a:noAutofit/>
          </a:bodyPr>
          <a:lstStyle/>
          <a:p>
            <a:pPr algn="ctr">
              <a:buNone/>
            </a:pPr>
            <a:r>
              <a:rPr lang="en-US" sz="2000" b="1" i="0" dirty="0">
                <a:solidFill>
                  <a:srgbClr val="555960"/>
                </a:solidFill>
              </a:rPr>
              <a:t>Reconstructed later, or lost</a:t>
            </a:r>
          </a:p>
        </p:txBody>
      </p:sp>
      <p:sp>
        <p:nvSpPr>
          <p:cNvPr id="51" name="Payoff"/>
          <p:cNvSpPr/>
          <p:nvPr/>
        </p:nvSpPr>
        <p:spPr>
          <a:xfrm>
            <a:off x="330200" y="4521200"/>
            <a:ext cx="8737600" cy="863600"/>
          </a:xfrm>
          <a:prstGeom prst="rect">
            <a:avLst/>
          </a:prstGeom>
          <a:noFill/>
          <a:ln>
            <a:noFill/>
          </a:ln>
        </p:spPr>
        <p:txBody>
          <a:bodyPr wrap="square" lIns="54000" rIns="54000" anchor="ctr">
            <a:noAutofit/>
          </a:bodyPr>
          <a:lstStyle/>
          <a:p>
            <a:pPr algn="ctr">
              <a:buNone/>
            </a:pPr>
            <a:r>
              <a:rPr lang="en-US" sz="2800" b="1" i="0" dirty="0">
                <a:solidFill>
                  <a:srgbClr val="000000"/>
                </a:solidFill>
              </a:rPr>
              <a:t>A decision that exists only in memory has to be reconstructed.</a:t>
            </a:r>
          </a:p>
        </p:txBody>
      </p:sp>
      <p:sp>
        <p:nvSpPr>
          <p:cNvPr id="52" name="Note"/>
          <p:cNvSpPr/>
          <p:nvPr/>
        </p:nvSpPr>
        <p:spPr>
          <a:xfrm>
            <a:off x="330200" y="5486400"/>
            <a:ext cx="8737600" cy="660400"/>
          </a:xfrm>
          <a:prstGeom prst="rect">
            <a:avLst/>
          </a:prstGeom>
          <a:noFill/>
          <a:ln>
            <a:noFill/>
          </a:ln>
        </p:spPr>
        <p:txBody>
          <a:bodyPr wrap="square" lIns="54000" rIns="54000" anchor="ctr">
            <a:noAutofit/>
          </a:bodyPr>
          <a:lstStyle/>
          <a:p>
            <a:pPr algn="ctr">
              <a:buNone/>
            </a:pPr>
            <a:r>
              <a:rPr lang="en-US" sz="2000" b="0" i="1" dirty="0">
                <a:solidFill>
                  <a:srgbClr val="000000"/>
                </a:solidFill>
              </a:rPr>
              <a:t>A durable decision turns one act of coordination into many future uses.</a:t>
            </a:r>
          </a:p>
        </p:txBody>
      </p:sp>
    </p:spTree>
    <p:extLst>
      <p:ext uri="{BB962C8B-B14F-4D97-AF65-F5344CB8AC3E}">
        <p14:creationId xmlns:p14="http://schemas.microsoft.com/office/powerpoint/2010/main" val="4102740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hat&#10;&#10;Description automatically generated">
            <a:extLst>
              <a:ext uri="{FF2B5EF4-FFF2-40B4-BE49-F238E27FC236}">
                <a16:creationId xmlns:a16="http://schemas.microsoft.com/office/drawing/2014/main" id="{1D8B4120-89FD-43A6-0F99-429358BC26B0}"/>
              </a:ext>
            </a:extLst>
          </p:cNvPr>
          <p:cNvPicPr>
            <a:picLocks noGrp="1" noChangeAspect="1"/>
          </p:cNvPicPr>
          <p:nvPr>
            <p:ph idx="1"/>
          </p:nvPr>
        </p:nvPicPr>
        <p:blipFill>
          <a:blip r:embed="rId2"/>
          <a:stretch>
            <a:fillRect/>
          </a:stretch>
        </p:blipFill>
        <p:spPr>
          <a:xfrm>
            <a:off x="2743200" y="1270000"/>
            <a:ext cx="6299200" cy="3784600"/>
          </a:xfrm>
        </p:spPr>
      </p:pic>
      <p:sp>
        <p:nvSpPr>
          <p:cNvPr id="3" name="Title 2">
            <a:extLst>
              <a:ext uri="{FF2B5EF4-FFF2-40B4-BE49-F238E27FC236}">
                <a16:creationId xmlns:a16="http://schemas.microsoft.com/office/drawing/2014/main" id="{1CDA6A58-078E-B635-2DC5-FD89E4E927FD}"/>
              </a:ext>
            </a:extLst>
          </p:cNvPr>
          <p:cNvSpPr>
            <a:spLocks noGrp="1"/>
          </p:cNvSpPr>
          <p:nvPr>
            <p:ph type="title"/>
          </p:nvPr>
        </p:nvSpPr>
        <p:spPr/>
        <p:txBody>
          <a:bodyPr>
            <a:normAutofit fontScale="90000"/>
          </a:bodyPr>
          <a:lstStyle/>
          <a:p>
            <a:r>
              <a:rPr lang="en-US" sz="2400" dirty="0"/>
              <a:t>Project management makes work state visible</a:t>
            </a:r>
          </a:p>
        </p:txBody>
      </p:sp>
      <p:sp>
        <p:nvSpPr>
          <p:cNvPr id="4" name="Slide Number Placeholder 3">
            <a:extLst>
              <a:ext uri="{FF2B5EF4-FFF2-40B4-BE49-F238E27FC236}">
                <a16:creationId xmlns:a16="http://schemas.microsoft.com/office/drawing/2014/main" id="{13621F90-8437-4447-023A-F6235A7CA840}"/>
              </a:ext>
            </a:extLst>
          </p:cNvPr>
          <p:cNvSpPr>
            <a:spLocks noGrp="1"/>
          </p:cNvSpPr>
          <p:nvPr>
            <p:ph type="sldNum" sz="quarter" idx="4"/>
          </p:nvPr>
        </p:nvSpPr>
        <p:spPr/>
        <p:txBody>
          <a:bodyPr/>
          <a:lstStyle/>
          <a:p>
            <a:fld id="{B7EB45DA-9A0D-DC49-8E02-F30A5DDC21C3}" type="slidenum">
              <a:rPr lang="en-US" smtClean="0"/>
              <a:t>29</a:t>
            </a:fld>
            <a:endParaRPr lang="en-US"/>
          </a:p>
        </p:txBody>
      </p:sp>
      <p:sp>
        <p:nvSpPr>
          <p:cNvPr id="2" name="TextBox 1">
            <a:extLst>
              <a:ext uri="{FF2B5EF4-FFF2-40B4-BE49-F238E27FC236}">
                <a16:creationId xmlns:a16="http://schemas.microsoft.com/office/drawing/2014/main" id="{65F824CA-BEB8-A942-846C-192C51DF17FF}"/>
              </a:ext>
            </a:extLst>
          </p:cNvPr>
          <p:cNvSpPr txBox="1"/>
          <p:nvPr/>
        </p:nvSpPr>
        <p:spPr>
          <a:xfrm>
            <a:off x="279400" y="1270000"/>
            <a:ext cx="2362200" cy="3810000"/>
          </a:xfrm>
          <a:prstGeom prst="rect">
            <a:avLst/>
          </a:prstGeom>
          <a:noFill/>
        </p:spPr>
        <p:txBody>
          <a:bodyPr vertOverflow="overflow" vert="horz" wrap="square" rtlCol="0" anchor="t">
            <a:spAutoFit/>
          </a:bodyPr>
          <a:lstStyle/>
          <a:p>
            <a:pPr>
              <a:spcBef>
                <a:spcPts val="2000"/>
              </a:spcBef>
              <a:buNone/>
            </a:pPr>
            <a:r>
              <a:rPr lang="en-US" sz="2200" b="1" dirty="0"/>
              <a:t>What exists?</a:t>
            </a:r>
          </a:p>
          <a:p>
            <a:pPr>
              <a:spcBef>
                <a:spcPts val="2000"/>
              </a:spcBef>
              <a:buNone/>
            </a:pPr>
            <a:r>
              <a:rPr lang="en-US" sz="2200" b="1" dirty="0"/>
              <a:t>Who owns it?</a:t>
            </a:r>
          </a:p>
          <a:p>
            <a:pPr>
              <a:spcBef>
                <a:spcPts val="2000"/>
              </a:spcBef>
              <a:buNone/>
            </a:pPr>
            <a:r>
              <a:rPr lang="en-US" sz="2200" b="1" dirty="0"/>
              <a:t>What state is it in?</a:t>
            </a:r>
          </a:p>
          <a:p>
            <a:pPr>
              <a:spcBef>
                <a:spcPts val="2000"/>
              </a:spcBef>
              <a:buNone/>
            </a:pPr>
            <a:r>
              <a:rPr lang="en-US" sz="2200" b="1" dirty="0"/>
              <a:t>What blocks it?</a:t>
            </a:r>
          </a:p>
          <a:p>
            <a:pPr>
              <a:spcBef>
                <a:spcPts val="2000"/>
              </a:spcBef>
              <a:buNone/>
            </a:pPr>
            <a:r>
              <a:rPr lang="en-US" sz="2200" b="1" dirty="0"/>
              <a:t>What happens next?</a:t>
            </a:r>
          </a:p>
        </p:txBody>
      </p:sp>
    </p:spTree>
    <p:extLst>
      <p:ext uri="{BB962C8B-B14F-4D97-AF65-F5344CB8AC3E}">
        <p14:creationId xmlns:p14="http://schemas.microsoft.com/office/powerpoint/2010/main" val="3982248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D2D3E3-DBED-33CA-7CE1-18C3BEDB5D4C}"/>
              </a:ext>
            </a:extLst>
          </p:cNvPr>
          <p:cNvSpPr>
            <a:spLocks noGrp="1"/>
          </p:cNvSpPr>
          <p:nvPr>
            <p:ph type="title"/>
          </p:nvPr>
        </p:nvSpPr>
        <p:spPr/>
        <p:txBody>
          <a:bodyPr>
            <a:noAutofit/>
          </a:bodyPr>
          <a:lstStyle/>
          <a:p>
            <a:r>
              <a:rPr lang="en-US"/>
              <a:t>Git is a protocol for concurrent change</a:t>
            </a:r>
          </a:p>
        </p:txBody>
      </p:sp>
      <p:sp>
        <p:nvSpPr>
          <p:cNvPr id="4" name="Slide Number Placeholder 3">
            <a:extLst>
              <a:ext uri="{FF2B5EF4-FFF2-40B4-BE49-F238E27FC236}">
                <a16:creationId xmlns:a16="http://schemas.microsoft.com/office/drawing/2014/main" id="{020878E7-02ED-706A-6092-4D675A3B445E}"/>
              </a:ext>
            </a:extLst>
          </p:cNvPr>
          <p:cNvSpPr>
            <a:spLocks noGrp="1"/>
          </p:cNvSpPr>
          <p:nvPr>
            <p:ph type="sldNum" sz="quarter" idx="4"/>
          </p:nvPr>
        </p:nvSpPr>
        <p:spPr/>
        <p:txBody>
          <a:bodyPr/>
          <a:lstStyle/>
          <a:p>
            <a:fld id="{B7EB45DA-9A0D-DC49-8E02-F30A5DDC21C3}" type="slidenum">
              <a:rPr lang="en-US" smtClean="0"/>
              <a:t>30</a:t>
            </a:fld>
            <a:endParaRPr lang="en-US"/>
          </a:p>
        </p:txBody>
      </p:sp>
      <p:graphicFrame>
        <p:nvGraphicFramePr>
          <p:cNvPr id="6" name="Table 5">
            <a:extLst>
              <a:ext uri="{FF2B5EF4-FFF2-40B4-BE49-F238E27FC236}">
                <a16:creationId xmlns:a16="http://schemas.microsoft.com/office/drawing/2014/main" id="{46130FD6-2AF3-6E44-B4E2-34F492326602}"/>
              </a:ext>
            </a:extLst>
          </p:cNvPr>
          <p:cNvGraphicFramePr>
            <a:graphicFrameLocks noGrp="1"/>
          </p:cNvGraphicFramePr>
          <p:nvPr>
            <p:extLst>
              <p:ext uri="{D42A27DB-BD31-4B8C-83A1-F6EECF244321}">
                <p14:modId xmlns:p14="http://schemas.microsoft.com/office/powerpoint/2010/main" val="4036278114"/>
              </p:ext>
            </p:extLst>
          </p:nvPr>
        </p:nvGraphicFramePr>
        <p:xfrm>
          <a:off x="279400" y="1168400"/>
          <a:ext cx="8559800" cy="3683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685928332"/>
                    </a:ext>
                  </a:extLst>
                </a:gridCol>
                <a:gridCol w="5765800">
                  <a:extLst>
                    <a:ext uri="{9D8B030D-6E8A-4147-A177-3AD203B41FA5}">
                      <a16:colId xmlns:a16="http://schemas.microsoft.com/office/drawing/2014/main" val="62233904"/>
                    </a:ext>
                  </a:extLst>
                </a:gridCol>
              </a:tblGrid>
              <a:tr h="736600">
                <a:tc>
                  <a:txBody>
                    <a:bodyPr/>
                    <a:lstStyle/>
                    <a:p>
                      <a:pPr algn="l"/>
                      <a:r>
                        <a:rPr lang="en-US" sz="2000" b="1">
                          <a:solidFill>
                            <a:srgbClr val="FFFFFF"/>
                          </a:solidFill>
                        </a:rPr>
                        <a:t>Mechanism</a:t>
                      </a:r>
                    </a:p>
                  </a:txBody>
                  <a:tcPr anchor="ctr"/>
                </a:tc>
                <a:tc>
                  <a:txBody>
                    <a:bodyPr/>
                    <a:lstStyle/>
                    <a:p>
                      <a:pPr algn="l"/>
                      <a:r>
                        <a:rPr lang="en-US" sz="2000" b="1">
                          <a:solidFill>
                            <a:srgbClr val="FFFFFF"/>
                          </a:solidFill>
                        </a:rPr>
                        <a:t>Coordination job</a:t>
                      </a:r>
                    </a:p>
                  </a:txBody>
                  <a:tcPr anchor="ctr"/>
                </a:tc>
                <a:extLst>
                  <a:ext uri="{0D108BD9-81ED-4DB2-BD59-A6C34878D82A}">
                    <a16:rowId xmlns:a16="http://schemas.microsoft.com/office/drawing/2014/main" val="1273348704"/>
                  </a:ext>
                </a:extLst>
              </a:tr>
              <a:tr h="736600">
                <a:tc>
                  <a:txBody>
                    <a:bodyPr/>
                    <a:lstStyle/>
                    <a:p>
                      <a:pPr algn="l"/>
                      <a:r>
                        <a:rPr lang="en-US" sz="2000" b="1"/>
                        <a:t>Branch</a:t>
                      </a:r>
                    </a:p>
                  </a:txBody>
                  <a:tcPr anchor="ctr"/>
                </a:tc>
                <a:tc>
                  <a:txBody>
                    <a:bodyPr/>
                    <a:lstStyle/>
                    <a:p>
                      <a:r>
                        <a:rPr lang="en-US" sz="2000"/>
                        <a:t>Isolates work in progress from the shared integration state</a:t>
                      </a:r>
                    </a:p>
                  </a:txBody>
                  <a:tcPr anchor="ctr"/>
                </a:tc>
                <a:extLst>
                  <a:ext uri="{0D108BD9-81ED-4DB2-BD59-A6C34878D82A}">
                    <a16:rowId xmlns:a16="http://schemas.microsoft.com/office/drawing/2014/main" val="3263051906"/>
                  </a:ext>
                </a:extLst>
              </a:tr>
              <a:tr h="736600">
                <a:tc>
                  <a:txBody>
                    <a:bodyPr/>
                    <a:lstStyle/>
                    <a:p>
                      <a:pPr algn="l"/>
                      <a:r>
                        <a:rPr lang="en-US" sz="2000" b="1"/>
                        <a:t>Commit</a:t>
                      </a:r>
                    </a:p>
                  </a:txBody>
                  <a:tcPr anchor="ctr"/>
                </a:tc>
                <a:tc>
                  <a:txBody>
                    <a:bodyPr/>
                    <a:lstStyle/>
                    <a:p>
                      <a:r>
                        <a:rPr lang="en-US" sz="2000"/>
                        <a:t>Records a discrete change and its history</a:t>
                      </a:r>
                    </a:p>
                  </a:txBody>
                  <a:tcPr anchor="ctr"/>
                </a:tc>
                <a:extLst>
                  <a:ext uri="{0D108BD9-81ED-4DB2-BD59-A6C34878D82A}">
                    <a16:rowId xmlns:a16="http://schemas.microsoft.com/office/drawing/2014/main" val="197742039"/>
                  </a:ext>
                </a:extLst>
              </a:tr>
              <a:tr h="736600">
                <a:tc>
                  <a:txBody>
                    <a:bodyPr/>
                    <a:lstStyle/>
                    <a:p>
                      <a:pPr algn="l"/>
                      <a:r>
                        <a:rPr lang="en-US" sz="2000" b="1"/>
                        <a:t>Pull request</a:t>
                      </a:r>
                    </a:p>
                  </a:txBody>
                  <a:tcPr anchor="ctr"/>
                </a:tc>
                <a:tc>
                  <a:txBody>
                    <a:bodyPr/>
                    <a:lstStyle/>
                    <a:p>
                      <a:pPr algn="l"/>
                      <a:r>
                        <a:rPr lang="en-US" sz="2000"/>
                        <a:t>Exposes a proposed integration for inspection</a:t>
                      </a:r>
                    </a:p>
                  </a:txBody>
                  <a:tcPr anchor="ctr"/>
                </a:tc>
                <a:extLst>
                  <a:ext uri="{0D108BD9-81ED-4DB2-BD59-A6C34878D82A}">
                    <a16:rowId xmlns:a16="http://schemas.microsoft.com/office/drawing/2014/main" val="53371482"/>
                  </a:ext>
                </a:extLst>
              </a:tr>
              <a:tr h="736600">
                <a:tc>
                  <a:txBody>
                    <a:bodyPr/>
                    <a:lstStyle/>
                    <a:p>
                      <a:pPr algn="l"/>
                      <a:r>
                        <a:rPr lang="en-US" sz="2000" b="1"/>
                        <a:t>Review, then merge</a:t>
                      </a:r>
                    </a:p>
                  </a:txBody>
                  <a:tcPr anchor="ctr"/>
                </a:tc>
                <a:tc>
                  <a:txBody>
                    <a:bodyPr/>
                    <a:lstStyle/>
                    <a:p>
                      <a:pPr algn="l"/>
                      <a:r>
                        <a:rPr lang="en-US" sz="2000"/>
                        <a:t>Supplies a decision point, then establishes shared state</a:t>
                      </a:r>
                    </a:p>
                  </a:txBody>
                  <a:tcPr anchor="ctr"/>
                </a:tc>
                <a:extLst>
                  <a:ext uri="{0D108BD9-81ED-4DB2-BD59-A6C34878D82A}">
                    <a16:rowId xmlns:a16="http://schemas.microsoft.com/office/drawing/2014/main" val="4023192889"/>
                  </a:ext>
                </a:extLst>
              </a:tr>
            </a:tbl>
          </a:graphicData>
        </a:graphic>
      </p:graphicFrame>
      <p:sp>
        <p:nvSpPr>
          <p:cNvPr id="7" name="TextBox 6">
            <a:extLst>
              <a:ext uri="{FF2B5EF4-FFF2-40B4-BE49-F238E27FC236}">
                <a16:creationId xmlns:a16="http://schemas.microsoft.com/office/drawing/2014/main" id="{96F4B507-D00F-7A4A-8F0E-4C351BD75A01}"/>
              </a:ext>
            </a:extLst>
          </p:cNvPr>
          <p:cNvSpPr txBox="1"/>
          <p:nvPr/>
        </p:nvSpPr>
        <p:spPr>
          <a:xfrm>
            <a:off x="279400" y="5029200"/>
            <a:ext cx="8559800" cy="892552"/>
          </a:xfrm>
          <a:prstGeom prst="rect">
            <a:avLst/>
          </a:prstGeom>
          <a:noFill/>
        </p:spPr>
        <p:txBody>
          <a:bodyPr vertOverflow="overflow" vert="horz" wrap="square" rtlCol="0" anchor="t">
            <a:spAutoFit/>
          </a:bodyPr>
          <a:lstStyle/>
          <a:p>
            <a:pPr algn="ctr">
              <a:buNone/>
            </a:pPr>
            <a:r>
              <a:rPr lang="en-US" sz="2600" b="1" dirty="0"/>
              <a:t>Version control turns important coordination conventions into explicit, inspectable mechanisms.</a:t>
            </a:r>
          </a:p>
        </p:txBody>
      </p:sp>
    </p:spTree>
    <p:extLst>
      <p:ext uri="{BB962C8B-B14F-4D97-AF65-F5344CB8AC3E}">
        <p14:creationId xmlns:p14="http://schemas.microsoft.com/office/powerpoint/2010/main" val="2452882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FFE6EE-7170-E4C3-9867-DFB1213B32EF}"/>
              </a:ext>
            </a:extLst>
          </p:cNvPr>
          <p:cNvSpPr>
            <a:spLocks noGrp="1"/>
          </p:cNvSpPr>
          <p:nvPr>
            <p:ph type="title"/>
          </p:nvPr>
        </p:nvSpPr>
        <p:spPr/>
        <p:txBody>
          <a:bodyPr>
            <a:normAutofit fontScale="90000"/>
          </a:bodyPr>
          <a:lstStyle/>
          <a:p>
            <a:r>
              <a:rPr lang="en-US" sz="2400" dirty="0"/>
              <a:t>A change moves through coordination boundaries</a:t>
            </a:r>
          </a:p>
        </p:txBody>
      </p:sp>
      <p:sp>
        <p:nvSpPr>
          <p:cNvPr id="4" name="Slide Number Placeholder 3">
            <a:extLst>
              <a:ext uri="{FF2B5EF4-FFF2-40B4-BE49-F238E27FC236}">
                <a16:creationId xmlns:a16="http://schemas.microsoft.com/office/drawing/2014/main" id="{E9EA7529-0E1A-6DC0-B4D0-8D01D4BB92B0}"/>
              </a:ext>
            </a:extLst>
          </p:cNvPr>
          <p:cNvSpPr>
            <a:spLocks noGrp="1"/>
          </p:cNvSpPr>
          <p:nvPr>
            <p:ph type="sldNum" sz="quarter" idx="4"/>
          </p:nvPr>
        </p:nvSpPr>
        <p:spPr/>
        <p:txBody>
          <a:bodyPr/>
          <a:lstStyle/>
          <a:p>
            <a:fld id="{B7EB45DA-9A0D-DC49-8E02-F30A5DDC21C3}" type="slidenum">
              <a:rPr lang="en-US" smtClean="0"/>
              <a:t>31</a:t>
            </a:fld>
            <a:endParaRPr lang="en-US"/>
          </a:p>
        </p:txBody>
      </p:sp>
      <p:sp>
        <p:nvSpPr>
          <p:cNvPr id="40" name="Stage Issue"/>
          <p:cNvSpPr/>
          <p:nvPr/>
        </p:nvSpPr>
        <p:spPr>
          <a:xfrm>
            <a:off x="330200" y="1346200"/>
            <a:ext cx="2057400" cy="1041400"/>
          </a:xfrm>
          <a:prstGeom prst="homePlate">
            <a:avLst/>
          </a:prstGeom>
          <a:solidFill>
            <a:srgbClr val="8E6F3E"/>
          </a:solidFill>
          <a:ln w="19050">
            <a:solidFill>
              <a:srgbClr val="8E6F3E"/>
            </a:solidFill>
          </a:ln>
        </p:spPr>
        <p:txBody>
          <a:bodyPr wrap="square" lIns="72000" rIns="45720" anchor="ctr">
            <a:noAutofit/>
          </a:bodyPr>
          <a:lstStyle/>
          <a:p>
            <a:pPr algn="ctr">
              <a:buNone/>
            </a:pPr>
            <a:r>
              <a:rPr lang="en-US" sz="2200" b="1" i="0" dirty="0">
                <a:solidFill>
                  <a:srgbClr val="FFFFFF"/>
                </a:solidFill>
              </a:rPr>
              <a:t>Issue</a:t>
            </a:r>
          </a:p>
        </p:txBody>
      </p:sp>
      <p:sp>
        <p:nvSpPr>
          <p:cNvPr id="41" name="Stage Owner"/>
          <p:cNvSpPr/>
          <p:nvPr/>
        </p:nvSpPr>
        <p:spPr>
          <a:xfrm>
            <a:off x="2489200" y="1346200"/>
            <a:ext cx="2057400" cy="1041400"/>
          </a:xfrm>
          <a:prstGeom prst="chevron">
            <a:avLst/>
          </a:prstGeom>
          <a:solidFill>
            <a:srgbClr val="8E6F3E"/>
          </a:solidFill>
          <a:ln w="19050">
            <a:solidFill>
              <a:srgbClr val="8E6F3E"/>
            </a:solidFill>
          </a:ln>
        </p:spPr>
        <p:txBody>
          <a:bodyPr wrap="square" lIns="72000" rIns="45720" anchor="ctr">
            <a:noAutofit/>
          </a:bodyPr>
          <a:lstStyle/>
          <a:p>
            <a:pPr algn="ctr">
              <a:buNone/>
            </a:pPr>
            <a:r>
              <a:rPr lang="en-US" sz="2200" b="1" i="0" dirty="0">
                <a:solidFill>
                  <a:srgbClr val="FFFFFF"/>
                </a:solidFill>
              </a:rPr>
              <a:t>Owner</a:t>
            </a:r>
          </a:p>
        </p:txBody>
      </p:sp>
      <p:sp>
        <p:nvSpPr>
          <p:cNvPr id="42" name="Stage Branch"/>
          <p:cNvSpPr/>
          <p:nvPr/>
        </p:nvSpPr>
        <p:spPr>
          <a:xfrm>
            <a:off x="4648200" y="1346200"/>
            <a:ext cx="2057400" cy="1041400"/>
          </a:xfrm>
          <a:prstGeom prst="chevron">
            <a:avLst/>
          </a:prstGeom>
          <a:solidFill>
            <a:srgbClr val="555960"/>
          </a:solidFill>
          <a:ln w="19050">
            <a:solidFill>
              <a:srgbClr val="555960"/>
            </a:solidFill>
          </a:ln>
        </p:spPr>
        <p:txBody>
          <a:bodyPr wrap="square" lIns="72000" rIns="45720" anchor="ctr">
            <a:noAutofit/>
          </a:bodyPr>
          <a:lstStyle/>
          <a:p>
            <a:pPr algn="ctr">
              <a:buNone/>
            </a:pPr>
            <a:r>
              <a:rPr lang="en-US" sz="2200" b="1" i="0" dirty="0">
                <a:solidFill>
                  <a:srgbClr val="FFFFFF"/>
                </a:solidFill>
              </a:rPr>
              <a:t>Branch</a:t>
            </a:r>
          </a:p>
        </p:txBody>
      </p:sp>
      <p:sp>
        <p:nvSpPr>
          <p:cNvPr id="43" name="Stage Code"/>
          <p:cNvSpPr/>
          <p:nvPr/>
        </p:nvSpPr>
        <p:spPr>
          <a:xfrm>
            <a:off x="6807200" y="1346200"/>
            <a:ext cx="2057400" cy="1041400"/>
          </a:xfrm>
          <a:prstGeom prst="chevron">
            <a:avLst/>
          </a:prstGeom>
          <a:solidFill>
            <a:srgbClr val="8E6F3E"/>
          </a:solidFill>
          <a:ln w="19050">
            <a:solidFill>
              <a:srgbClr val="8E6F3E"/>
            </a:solidFill>
          </a:ln>
        </p:spPr>
        <p:txBody>
          <a:bodyPr wrap="square" lIns="72000" rIns="45720" anchor="ctr">
            <a:noAutofit/>
          </a:bodyPr>
          <a:lstStyle/>
          <a:p>
            <a:pPr algn="ctr">
              <a:buNone/>
            </a:pPr>
            <a:r>
              <a:rPr lang="en-US" sz="2200" b="1" i="0" dirty="0">
                <a:solidFill>
                  <a:srgbClr val="FFFFFF"/>
                </a:solidFill>
              </a:rPr>
              <a:t>Code</a:t>
            </a:r>
          </a:p>
        </p:txBody>
      </p:sp>
      <p:sp>
        <p:nvSpPr>
          <p:cNvPr id="44" name="Stage Pull request"/>
          <p:cNvSpPr/>
          <p:nvPr/>
        </p:nvSpPr>
        <p:spPr>
          <a:xfrm>
            <a:off x="330200" y="2540000"/>
            <a:ext cx="2057400" cy="1041400"/>
          </a:xfrm>
          <a:prstGeom prst="chevron">
            <a:avLst/>
          </a:prstGeom>
          <a:solidFill>
            <a:srgbClr val="8E6F3E"/>
          </a:solidFill>
          <a:ln w="19050">
            <a:solidFill>
              <a:srgbClr val="8E6F3E"/>
            </a:solidFill>
          </a:ln>
        </p:spPr>
        <p:txBody>
          <a:bodyPr wrap="square" lIns="72000" rIns="45720" anchor="ctr">
            <a:noAutofit/>
          </a:bodyPr>
          <a:lstStyle/>
          <a:p>
            <a:pPr algn="ctr">
              <a:buNone/>
            </a:pPr>
            <a:r>
              <a:rPr lang="en-US" sz="2200" b="1" i="0" dirty="0">
                <a:solidFill>
                  <a:srgbClr val="FFFFFF"/>
                </a:solidFill>
              </a:rPr>
              <a:t>Pull request</a:t>
            </a:r>
          </a:p>
        </p:txBody>
      </p:sp>
      <p:sp>
        <p:nvSpPr>
          <p:cNvPr id="45" name="Stage Checks"/>
          <p:cNvSpPr/>
          <p:nvPr/>
        </p:nvSpPr>
        <p:spPr>
          <a:xfrm>
            <a:off x="2489200" y="2540000"/>
            <a:ext cx="2057400" cy="1041400"/>
          </a:xfrm>
          <a:prstGeom prst="chevron">
            <a:avLst/>
          </a:prstGeom>
          <a:solidFill>
            <a:srgbClr val="555960"/>
          </a:solidFill>
          <a:ln w="19050">
            <a:solidFill>
              <a:srgbClr val="555960"/>
            </a:solidFill>
          </a:ln>
        </p:spPr>
        <p:txBody>
          <a:bodyPr wrap="square" lIns="72000" rIns="45720" anchor="ctr">
            <a:noAutofit/>
          </a:bodyPr>
          <a:lstStyle/>
          <a:p>
            <a:pPr algn="ctr">
              <a:buNone/>
            </a:pPr>
            <a:r>
              <a:rPr lang="en-US" sz="2200" b="1" i="0" dirty="0">
                <a:solidFill>
                  <a:srgbClr val="FFFFFF"/>
                </a:solidFill>
              </a:rPr>
              <a:t>Checks</a:t>
            </a:r>
          </a:p>
        </p:txBody>
      </p:sp>
      <p:sp>
        <p:nvSpPr>
          <p:cNvPr id="46" name="Stage Review"/>
          <p:cNvSpPr/>
          <p:nvPr/>
        </p:nvSpPr>
        <p:spPr>
          <a:xfrm>
            <a:off x="4648200" y="2540000"/>
            <a:ext cx="2057400" cy="1041400"/>
          </a:xfrm>
          <a:prstGeom prst="chevron">
            <a:avLst/>
          </a:prstGeom>
          <a:solidFill>
            <a:srgbClr val="8E6F3E"/>
          </a:solidFill>
          <a:ln w="19050">
            <a:solidFill>
              <a:srgbClr val="8E6F3E"/>
            </a:solidFill>
          </a:ln>
        </p:spPr>
        <p:txBody>
          <a:bodyPr wrap="square" lIns="72000" rIns="45720" anchor="ctr">
            <a:noAutofit/>
          </a:bodyPr>
          <a:lstStyle/>
          <a:p>
            <a:pPr algn="ctr">
              <a:buNone/>
            </a:pPr>
            <a:r>
              <a:rPr lang="en-US" sz="2200" b="1" i="0" dirty="0">
                <a:solidFill>
                  <a:srgbClr val="FFFFFF"/>
                </a:solidFill>
              </a:rPr>
              <a:t>Review</a:t>
            </a:r>
          </a:p>
        </p:txBody>
      </p:sp>
      <p:sp>
        <p:nvSpPr>
          <p:cNvPr id="47" name="Stage Merge"/>
          <p:cNvSpPr/>
          <p:nvPr/>
        </p:nvSpPr>
        <p:spPr>
          <a:xfrm>
            <a:off x="6807200" y="2540000"/>
            <a:ext cx="2057400" cy="1041400"/>
          </a:xfrm>
          <a:prstGeom prst="chevron">
            <a:avLst/>
          </a:prstGeom>
          <a:solidFill>
            <a:srgbClr val="555960"/>
          </a:solidFill>
          <a:ln w="19050">
            <a:solidFill>
              <a:srgbClr val="555960"/>
            </a:solidFill>
          </a:ln>
        </p:spPr>
        <p:txBody>
          <a:bodyPr wrap="square" lIns="72000" rIns="45720" anchor="ctr">
            <a:noAutofit/>
          </a:bodyPr>
          <a:lstStyle/>
          <a:p>
            <a:pPr algn="ctr">
              <a:buNone/>
            </a:pPr>
            <a:r>
              <a:rPr lang="en-US" sz="2200" b="1" i="0" dirty="0">
                <a:solidFill>
                  <a:srgbClr val="FFFFFF"/>
                </a:solidFill>
              </a:rPr>
              <a:t>Merge</a:t>
            </a:r>
          </a:p>
        </p:txBody>
      </p:sp>
      <p:sp>
        <p:nvSpPr>
          <p:cNvPr id="49" name="Legend gold"/>
          <p:cNvSpPr/>
          <p:nvPr/>
        </p:nvSpPr>
        <p:spPr>
          <a:xfrm>
            <a:off x="1524000" y="3759200"/>
            <a:ext cx="812800" cy="431800"/>
          </a:xfrm>
          <a:prstGeom prst="chevron">
            <a:avLst/>
          </a:prstGeom>
          <a:solidFill>
            <a:srgbClr val="8E6F3E"/>
          </a:solidFill>
          <a:ln w="19050">
            <a:solidFill>
              <a:srgbClr val="8E6F3E"/>
            </a:solidFill>
          </a:ln>
        </p:spPr>
        <p:txBody>
          <a:bodyPr wrap="square" lIns="72000" rIns="45720" anchor="ctr">
            <a:noAutofit/>
          </a:bodyPr>
          <a:lstStyle/>
          <a:p>
            <a:pPr algn="ctr">
              <a:buNone/>
            </a:pPr>
            <a:endParaRPr lang="en-US" sz="1200" dirty="0">
              <a:solidFill>
                <a:srgbClr val="FFFFFF"/>
              </a:solidFill>
            </a:endParaRPr>
          </a:p>
        </p:txBody>
      </p:sp>
      <p:sp>
        <p:nvSpPr>
          <p:cNvPr id="50" name="Legend gold label"/>
          <p:cNvSpPr/>
          <p:nvPr/>
        </p:nvSpPr>
        <p:spPr>
          <a:xfrm>
            <a:off x="2438400" y="3784600"/>
            <a:ext cx="2413000" cy="381000"/>
          </a:xfrm>
          <a:prstGeom prst="rect">
            <a:avLst/>
          </a:prstGeom>
          <a:noFill/>
          <a:ln>
            <a:noFill/>
          </a:ln>
        </p:spPr>
        <p:txBody>
          <a:bodyPr wrap="square" lIns="72000" rIns="45720" anchor="ctr">
            <a:noAutofit/>
          </a:bodyPr>
          <a:lstStyle/>
          <a:p>
            <a:pPr algn="l">
              <a:buNone/>
            </a:pPr>
            <a:r>
              <a:rPr lang="en-US" sz="2000" b="1" dirty="0"/>
              <a:t>Human decision</a:t>
            </a:r>
          </a:p>
        </p:txBody>
      </p:sp>
      <p:sp>
        <p:nvSpPr>
          <p:cNvPr id="51" name="Legend gray"/>
          <p:cNvSpPr/>
          <p:nvPr/>
        </p:nvSpPr>
        <p:spPr>
          <a:xfrm>
            <a:off x="5029200" y="3759200"/>
            <a:ext cx="812800" cy="431800"/>
          </a:xfrm>
          <a:prstGeom prst="chevron">
            <a:avLst/>
          </a:prstGeom>
          <a:solidFill>
            <a:srgbClr val="555960"/>
          </a:solidFill>
          <a:ln w="19050">
            <a:solidFill>
              <a:srgbClr val="555960"/>
            </a:solidFill>
          </a:ln>
        </p:spPr>
        <p:txBody>
          <a:bodyPr wrap="square" lIns="72000" rIns="45720" anchor="ctr">
            <a:noAutofit/>
          </a:bodyPr>
          <a:lstStyle/>
          <a:p>
            <a:pPr algn="ctr">
              <a:buNone/>
            </a:pPr>
            <a:endParaRPr lang="en-US" sz="1200" dirty="0">
              <a:solidFill>
                <a:srgbClr val="FFFFFF"/>
              </a:solidFill>
            </a:endParaRPr>
          </a:p>
        </p:txBody>
      </p:sp>
      <p:sp>
        <p:nvSpPr>
          <p:cNvPr id="52" name="Legend gray label"/>
          <p:cNvSpPr/>
          <p:nvPr/>
        </p:nvSpPr>
        <p:spPr>
          <a:xfrm>
            <a:off x="5943600" y="3784600"/>
            <a:ext cx="2794000" cy="381000"/>
          </a:xfrm>
          <a:prstGeom prst="rect">
            <a:avLst/>
          </a:prstGeom>
          <a:noFill/>
          <a:ln>
            <a:noFill/>
          </a:ln>
        </p:spPr>
        <p:txBody>
          <a:bodyPr wrap="square" lIns="72000" rIns="45720" anchor="ctr">
            <a:noAutofit/>
          </a:bodyPr>
          <a:lstStyle/>
          <a:p>
            <a:pPr algn="l">
              <a:buNone/>
            </a:pPr>
            <a:r>
              <a:rPr lang="en-US" sz="2000" b="1" dirty="0"/>
              <a:t>Automated check</a:t>
            </a:r>
          </a:p>
        </p:txBody>
      </p:sp>
      <p:sp>
        <p:nvSpPr>
          <p:cNvPr id="53" name="Payoff"/>
          <p:cNvSpPr/>
          <p:nvPr/>
        </p:nvSpPr>
        <p:spPr>
          <a:xfrm>
            <a:off x="330200" y="4394200"/>
            <a:ext cx="8737600" cy="762000"/>
          </a:xfrm>
          <a:prstGeom prst="rect">
            <a:avLst/>
          </a:prstGeom>
          <a:noFill/>
          <a:ln>
            <a:noFill/>
          </a:ln>
        </p:spPr>
        <p:txBody>
          <a:bodyPr wrap="square" lIns="72000" rIns="45720" anchor="ctr">
            <a:noAutofit/>
          </a:bodyPr>
          <a:lstStyle/>
          <a:p>
            <a:pPr algn="ctr">
              <a:buNone/>
            </a:pPr>
            <a:r>
              <a:rPr lang="en-US" sz="2800" b="1" i="0" dirty="0">
                <a:solidFill>
                  <a:srgbClr val="000000"/>
                </a:solidFill>
              </a:rPr>
              <a:t>Every boundary is a place where coordination happens.</a:t>
            </a:r>
          </a:p>
        </p:txBody>
      </p:sp>
      <p:sp>
        <p:nvSpPr>
          <p:cNvPr id="54" name="Note"/>
          <p:cNvSpPr/>
          <p:nvPr/>
        </p:nvSpPr>
        <p:spPr>
          <a:xfrm>
            <a:off x="330200" y="5283200"/>
            <a:ext cx="8737600" cy="762000"/>
          </a:xfrm>
          <a:prstGeom prst="rect">
            <a:avLst/>
          </a:prstGeom>
          <a:noFill/>
          <a:ln>
            <a:noFill/>
          </a:ln>
        </p:spPr>
        <p:txBody>
          <a:bodyPr wrap="square" lIns="72000" rIns="45720" anchor="ctr">
            <a:noAutofit/>
          </a:bodyPr>
          <a:lstStyle/>
          <a:p>
            <a:pPr algn="ctr">
              <a:buNone/>
            </a:pPr>
            <a:r>
              <a:rPr lang="en-US" sz="2200" b="0" i="1" dirty="0"/>
              <a:t>Automated checks move some coordination from human judgment into enforced machinery.</a:t>
            </a:r>
          </a:p>
        </p:txBody>
      </p:sp>
    </p:spTree>
    <p:extLst>
      <p:ext uri="{BB962C8B-B14F-4D97-AF65-F5344CB8AC3E}">
        <p14:creationId xmlns:p14="http://schemas.microsoft.com/office/powerpoint/2010/main" val="21925598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09742-A20D-24C6-87A5-68240FCFBAB8}"/>
              </a:ext>
            </a:extLst>
          </p:cNvPr>
          <p:cNvSpPr>
            <a:spLocks noGrp="1"/>
          </p:cNvSpPr>
          <p:nvPr>
            <p:ph type="title"/>
          </p:nvPr>
        </p:nvSpPr>
        <p:spPr>
          <a:xfrm>
            <a:off x="685800" y="1676400"/>
            <a:ext cx="7772400" cy="2362200"/>
          </a:xfrm>
        </p:spPr>
        <p:txBody>
          <a:bodyPr>
            <a:normAutofit/>
          </a:bodyPr>
          <a:lstStyle/>
          <a:p>
            <a:r>
              <a:rPr lang="en-US" sz="8000" dirty="0"/>
              <a:t>5</a:t>
            </a:r>
            <a:br>
              <a:rPr lang="en-US" dirty="0"/>
            </a:br>
            <a:r>
              <a:rPr lang="en-US" dirty="0"/>
              <a:t>Applying the model</a:t>
            </a:r>
          </a:p>
        </p:txBody>
      </p:sp>
      <p:sp>
        <p:nvSpPr>
          <p:cNvPr id="3" name="Slide Number Placeholder 2">
            <a:extLst>
              <a:ext uri="{FF2B5EF4-FFF2-40B4-BE49-F238E27FC236}">
                <a16:creationId xmlns:a16="http://schemas.microsoft.com/office/drawing/2014/main" id="{0DF186F7-49A6-2E17-CC71-9CC806EF774B}"/>
              </a:ext>
            </a:extLst>
          </p:cNvPr>
          <p:cNvSpPr>
            <a:spLocks noGrp="1"/>
          </p:cNvSpPr>
          <p:nvPr>
            <p:ph type="sldNum" sz="quarter" idx="4"/>
          </p:nvPr>
        </p:nvSpPr>
        <p:spPr/>
        <p:txBody>
          <a:bodyPr/>
          <a:lstStyle/>
          <a:p>
            <a:fld id="{B7EB45DA-9A0D-DC49-8E02-F30A5DDC21C3}" type="slidenum">
              <a:rPr lang="en-US" smtClean="0"/>
              <a:t>32</a:t>
            </a:fld>
            <a:endParaRPr lang="en-US"/>
          </a:p>
        </p:txBody>
      </p:sp>
      <p:sp>
        <p:nvSpPr>
          <p:cNvPr id="4" name="Section question">
            <a:extLst>
              <a:ext uri="{FF2B5EF4-FFF2-40B4-BE49-F238E27FC236}">
                <a16:creationId xmlns:a16="http://schemas.microsoft.com/office/drawing/2014/main" id="{8890218B-8C0A-AF46-86AE-BAF4E5590307}"/>
              </a:ext>
            </a:extLst>
          </p:cNvPr>
          <p:cNvSpPr txBox="1"/>
          <p:nvPr/>
        </p:nvSpPr>
        <p:spPr>
          <a:xfrm>
            <a:off x="685800" y="4267200"/>
            <a:ext cx="7772400" cy="1219200"/>
          </a:xfrm>
          <a:prstGeom prst="rect">
            <a:avLst/>
          </a:prstGeom>
          <a:noFill/>
        </p:spPr>
        <p:txBody>
          <a:bodyPr vertOverflow="overflow" vert="horz" wrap="square" rtlCol="0" anchor="t">
            <a:spAutoFit/>
          </a:bodyPr>
          <a:lstStyle/>
          <a:p>
            <a:pPr algn="ctr"/>
            <a:r>
              <a:rPr lang="en-US" sz="2400" i="1"/>
              <a:t>How should you design coordination within your team and across your pod?</a:t>
            </a:r>
          </a:p>
        </p:txBody>
      </p:sp>
    </p:spTree>
    <p:extLst>
      <p:ext uri="{BB962C8B-B14F-4D97-AF65-F5344CB8AC3E}">
        <p14:creationId xmlns:p14="http://schemas.microsoft.com/office/powerpoint/2010/main" val="2180874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3F37AB-EF5E-6A5D-9894-FD99F1EB4107}"/>
              </a:ext>
            </a:extLst>
          </p:cNvPr>
          <p:cNvSpPr>
            <a:spLocks noGrp="1"/>
          </p:cNvSpPr>
          <p:nvPr>
            <p:ph type="title"/>
          </p:nvPr>
        </p:nvSpPr>
        <p:spPr/>
        <p:txBody>
          <a:bodyPr>
            <a:noAutofit/>
          </a:bodyPr>
          <a:lstStyle/>
          <a:p>
            <a:r>
              <a:rPr lang="en-US"/>
              <a:t>Your project has coordination at two scales</a:t>
            </a:r>
          </a:p>
        </p:txBody>
      </p:sp>
      <p:sp>
        <p:nvSpPr>
          <p:cNvPr id="4" name="Slide Number Placeholder 3">
            <a:extLst>
              <a:ext uri="{FF2B5EF4-FFF2-40B4-BE49-F238E27FC236}">
                <a16:creationId xmlns:a16="http://schemas.microsoft.com/office/drawing/2014/main" id="{AB246FDD-5388-7DC9-4C35-7D8CB280909F}"/>
              </a:ext>
            </a:extLst>
          </p:cNvPr>
          <p:cNvSpPr>
            <a:spLocks noGrp="1"/>
          </p:cNvSpPr>
          <p:nvPr>
            <p:ph type="sldNum" sz="quarter" idx="4"/>
          </p:nvPr>
        </p:nvSpPr>
        <p:spPr/>
        <p:txBody>
          <a:bodyPr/>
          <a:lstStyle/>
          <a:p>
            <a:fld id="{B7EB45DA-9A0D-DC49-8E02-F30A5DDC21C3}" type="slidenum">
              <a:rPr lang="en-US" smtClean="0"/>
              <a:t>33</a:t>
            </a:fld>
            <a:endParaRPr lang="en-US"/>
          </a:p>
        </p:txBody>
      </p:sp>
      <p:sp>
        <p:nvSpPr>
          <p:cNvPr id="40" name="Pod"/>
          <p:cNvSpPr/>
          <p:nvPr/>
        </p:nvSpPr>
        <p:spPr>
          <a:xfrm>
            <a:off x="254000" y="1422400"/>
            <a:ext cx="8763000" cy="2235200"/>
          </a:xfrm>
          <a:prstGeom prst="roundRect">
            <a:avLst/>
          </a:prstGeom>
          <a:noFill/>
          <a:ln w="19050">
            <a:solidFill>
              <a:srgbClr val="555960"/>
            </a:solidFill>
            <a:prstDash val="dash"/>
          </a:ln>
        </p:spPr>
        <p:txBody>
          <a:bodyPr wrap="square" lIns="45720" tIns="45720" rIns="45720" anchor="t">
            <a:noAutofit/>
          </a:bodyPr>
          <a:lstStyle/>
          <a:p>
            <a:pPr algn="l">
              <a:buNone/>
            </a:pPr>
            <a:r>
              <a:rPr lang="en-US" sz="2000" b="1" dirty="0">
                <a:solidFill>
                  <a:srgbClr val="555960"/>
                </a:solidFill>
              </a:rPr>
              <a:t>Pod</a:t>
            </a:r>
          </a:p>
        </p:txBody>
      </p:sp>
      <p:sp>
        <p:nvSpPr>
          <p:cNvPr id="41" name="Team A"/>
          <p:cNvSpPr/>
          <p:nvPr/>
        </p:nvSpPr>
        <p:spPr>
          <a:xfrm>
            <a:off x="508000" y="1854200"/>
            <a:ext cx="1905000" cy="1574800"/>
          </a:xfrm>
          <a:prstGeom prst="roundRect">
            <a:avLst/>
          </a:prstGeom>
          <a:noFill/>
          <a:ln w="19050">
            <a:solidFill>
              <a:srgbClr val="8E6F3E"/>
            </a:solidFill>
          </a:ln>
        </p:spPr>
        <p:txBody>
          <a:bodyPr wrap="square" lIns="45720" tIns="45720" rIns="45720" anchor="t">
            <a:noAutofit/>
          </a:bodyPr>
          <a:lstStyle/>
          <a:p>
            <a:pPr algn="ctr">
              <a:buNone/>
            </a:pPr>
            <a:r>
              <a:rPr lang="en-US" sz="2000" b="1" i="0" dirty="0">
                <a:solidFill>
                  <a:srgbClr val="000000"/>
                </a:solidFill>
              </a:rPr>
              <a:t>Team A</a:t>
            </a:r>
          </a:p>
        </p:txBody>
      </p:sp>
      <p:sp>
        <p:nvSpPr>
          <p:cNvPr id="45" name="Team B"/>
          <p:cNvSpPr/>
          <p:nvPr/>
        </p:nvSpPr>
        <p:spPr>
          <a:xfrm>
            <a:off x="2641600" y="1854200"/>
            <a:ext cx="1905000" cy="1574800"/>
          </a:xfrm>
          <a:prstGeom prst="roundRect">
            <a:avLst/>
          </a:prstGeom>
          <a:noFill/>
          <a:ln w="19050">
            <a:solidFill>
              <a:srgbClr val="8E6F3E"/>
            </a:solidFill>
          </a:ln>
        </p:spPr>
        <p:txBody>
          <a:bodyPr wrap="square" lIns="45720" tIns="45720" rIns="45720" anchor="t">
            <a:noAutofit/>
          </a:bodyPr>
          <a:lstStyle/>
          <a:p>
            <a:pPr algn="ctr">
              <a:buNone/>
            </a:pPr>
            <a:r>
              <a:rPr lang="en-US" sz="2000" b="1" i="0" dirty="0">
                <a:solidFill>
                  <a:srgbClr val="000000"/>
                </a:solidFill>
              </a:rPr>
              <a:t>Team B</a:t>
            </a:r>
          </a:p>
        </p:txBody>
      </p:sp>
      <p:sp>
        <p:nvSpPr>
          <p:cNvPr id="49" name="Team C"/>
          <p:cNvSpPr/>
          <p:nvPr/>
        </p:nvSpPr>
        <p:spPr>
          <a:xfrm>
            <a:off x="4775200" y="1854200"/>
            <a:ext cx="1905000" cy="1574800"/>
          </a:xfrm>
          <a:prstGeom prst="roundRect">
            <a:avLst/>
          </a:prstGeom>
          <a:noFill/>
          <a:ln w="19050">
            <a:solidFill>
              <a:srgbClr val="8E6F3E"/>
            </a:solidFill>
          </a:ln>
        </p:spPr>
        <p:txBody>
          <a:bodyPr wrap="square" lIns="45720" tIns="45720" rIns="45720" anchor="t">
            <a:noAutofit/>
          </a:bodyPr>
          <a:lstStyle/>
          <a:p>
            <a:pPr algn="ctr">
              <a:buNone/>
            </a:pPr>
            <a:r>
              <a:rPr lang="en-US" sz="2000" b="1" i="0" dirty="0">
                <a:solidFill>
                  <a:srgbClr val="000000"/>
                </a:solidFill>
              </a:rPr>
              <a:t>Team C</a:t>
            </a:r>
          </a:p>
        </p:txBody>
      </p:sp>
      <p:sp>
        <p:nvSpPr>
          <p:cNvPr id="53" name="Team D"/>
          <p:cNvSpPr/>
          <p:nvPr/>
        </p:nvSpPr>
        <p:spPr>
          <a:xfrm>
            <a:off x="6908800" y="1854200"/>
            <a:ext cx="1905000" cy="1574800"/>
          </a:xfrm>
          <a:prstGeom prst="roundRect">
            <a:avLst/>
          </a:prstGeom>
          <a:noFill/>
          <a:ln w="19050">
            <a:solidFill>
              <a:srgbClr val="8E6F3E"/>
            </a:solidFill>
          </a:ln>
        </p:spPr>
        <p:txBody>
          <a:bodyPr wrap="square" lIns="45720" tIns="45720" rIns="45720" anchor="t">
            <a:noAutofit/>
          </a:bodyPr>
          <a:lstStyle/>
          <a:p>
            <a:pPr algn="ctr">
              <a:buNone/>
            </a:pPr>
            <a:r>
              <a:rPr lang="en-US" sz="2000" b="1" i="0" dirty="0">
                <a:solidFill>
                  <a:srgbClr val="000000"/>
                </a:solidFill>
              </a:rPr>
              <a:t>Team D</a:t>
            </a:r>
          </a:p>
        </p:txBody>
      </p:sp>
      <p:sp>
        <p:nvSpPr>
          <p:cNvPr id="80" name="Link"/>
          <p:cNvSpPr/>
          <p:nvPr/>
        </p:nvSpPr>
        <p:spPr>
          <a:xfrm>
            <a:off x="9906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81" name="Link"/>
          <p:cNvSpPr/>
          <p:nvPr/>
        </p:nvSpPr>
        <p:spPr>
          <a:xfrm>
            <a:off x="14605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83" name="Member"/>
          <p:cNvSpPr/>
          <p:nvPr/>
        </p:nvSpPr>
        <p:spPr>
          <a:xfrm>
            <a:off x="8763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4" name="Member"/>
          <p:cNvSpPr/>
          <p:nvPr/>
        </p:nvSpPr>
        <p:spPr>
          <a:xfrm>
            <a:off x="13462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5" name="Member"/>
          <p:cNvSpPr/>
          <p:nvPr/>
        </p:nvSpPr>
        <p:spPr>
          <a:xfrm>
            <a:off x="18161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6" name="Link"/>
          <p:cNvSpPr/>
          <p:nvPr/>
        </p:nvSpPr>
        <p:spPr>
          <a:xfrm>
            <a:off x="31242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87" name="Link"/>
          <p:cNvSpPr/>
          <p:nvPr/>
        </p:nvSpPr>
        <p:spPr>
          <a:xfrm>
            <a:off x="35941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89" name="Member"/>
          <p:cNvSpPr/>
          <p:nvPr/>
        </p:nvSpPr>
        <p:spPr>
          <a:xfrm>
            <a:off x="30099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0" name="Member"/>
          <p:cNvSpPr/>
          <p:nvPr/>
        </p:nvSpPr>
        <p:spPr>
          <a:xfrm>
            <a:off x="34798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1" name="Member"/>
          <p:cNvSpPr/>
          <p:nvPr/>
        </p:nvSpPr>
        <p:spPr>
          <a:xfrm>
            <a:off x="39497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2" name="Link"/>
          <p:cNvSpPr/>
          <p:nvPr/>
        </p:nvSpPr>
        <p:spPr>
          <a:xfrm>
            <a:off x="52578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93" name="Link"/>
          <p:cNvSpPr/>
          <p:nvPr/>
        </p:nvSpPr>
        <p:spPr>
          <a:xfrm>
            <a:off x="57277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95" name="Member"/>
          <p:cNvSpPr/>
          <p:nvPr/>
        </p:nvSpPr>
        <p:spPr>
          <a:xfrm>
            <a:off x="51435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6" name="Member"/>
          <p:cNvSpPr/>
          <p:nvPr/>
        </p:nvSpPr>
        <p:spPr>
          <a:xfrm>
            <a:off x="56134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7" name="Member"/>
          <p:cNvSpPr/>
          <p:nvPr/>
        </p:nvSpPr>
        <p:spPr>
          <a:xfrm>
            <a:off x="60833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8" name="Link"/>
          <p:cNvSpPr/>
          <p:nvPr/>
        </p:nvSpPr>
        <p:spPr>
          <a:xfrm>
            <a:off x="73914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99" name="Link"/>
          <p:cNvSpPr/>
          <p:nvPr/>
        </p:nvSpPr>
        <p:spPr>
          <a:xfrm>
            <a:off x="78613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101" name="Member"/>
          <p:cNvSpPr/>
          <p:nvPr/>
        </p:nvSpPr>
        <p:spPr>
          <a:xfrm>
            <a:off x="72771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102" name="Member"/>
          <p:cNvSpPr/>
          <p:nvPr/>
        </p:nvSpPr>
        <p:spPr>
          <a:xfrm>
            <a:off x="77470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103" name="Member"/>
          <p:cNvSpPr/>
          <p:nvPr/>
        </p:nvSpPr>
        <p:spPr>
          <a:xfrm>
            <a:off x="82169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104" name="Link"/>
          <p:cNvSpPr/>
          <p:nvPr/>
        </p:nvSpPr>
        <p:spPr>
          <a:xfrm>
            <a:off x="2413000" y="2540000"/>
            <a:ext cx="228600" cy="5080"/>
          </a:xfrm>
          <a:prstGeom prst="line">
            <a:avLst/>
          </a:prstGeom>
          <a:ln w="28575">
            <a:solidFill>
              <a:srgbClr val="8E6F3E"/>
            </a:solidFill>
          </a:ln>
        </p:spPr>
        <p:txBody>
          <a:bodyPr/>
          <a:lstStyle/>
          <a:p>
            <a:endParaRPr lang="en-US" sz="1200">
              <a:solidFill>
                <a:srgbClr val="FFFFFF"/>
              </a:solidFill>
            </a:endParaRPr>
          </a:p>
        </p:txBody>
      </p:sp>
      <p:sp>
        <p:nvSpPr>
          <p:cNvPr id="105" name="Link"/>
          <p:cNvSpPr/>
          <p:nvPr/>
        </p:nvSpPr>
        <p:spPr>
          <a:xfrm>
            <a:off x="4546600" y="2540000"/>
            <a:ext cx="228600" cy="5080"/>
          </a:xfrm>
          <a:prstGeom prst="line">
            <a:avLst/>
          </a:prstGeom>
          <a:ln w="28575">
            <a:solidFill>
              <a:srgbClr val="8E6F3E"/>
            </a:solidFill>
          </a:ln>
        </p:spPr>
        <p:txBody>
          <a:bodyPr/>
          <a:lstStyle/>
          <a:p>
            <a:endParaRPr lang="en-US" sz="1200">
              <a:solidFill>
                <a:srgbClr val="FFFFFF"/>
              </a:solidFill>
            </a:endParaRPr>
          </a:p>
        </p:txBody>
      </p:sp>
      <p:sp>
        <p:nvSpPr>
          <p:cNvPr id="106" name="Link"/>
          <p:cNvSpPr/>
          <p:nvPr/>
        </p:nvSpPr>
        <p:spPr>
          <a:xfrm>
            <a:off x="6680200" y="2540000"/>
            <a:ext cx="228600" cy="5080"/>
          </a:xfrm>
          <a:prstGeom prst="line">
            <a:avLst/>
          </a:prstGeom>
          <a:ln w="28575">
            <a:solidFill>
              <a:srgbClr val="8E6F3E"/>
            </a:solidFill>
          </a:ln>
        </p:spPr>
        <p:txBody>
          <a:bodyPr/>
          <a:lstStyle/>
          <a:p>
            <a:endParaRPr lang="en-US" sz="1200">
              <a:solidFill>
                <a:srgbClr val="FFFFFF"/>
              </a:solidFill>
            </a:endParaRPr>
          </a:p>
        </p:txBody>
      </p:sp>
      <p:sp>
        <p:nvSpPr>
          <p:cNvPr id="107" name="Scale 1"/>
          <p:cNvSpPr/>
          <p:nvPr/>
        </p:nvSpPr>
        <p:spPr>
          <a:xfrm>
            <a:off x="330200" y="3759200"/>
            <a:ext cx="8737600" cy="406400"/>
          </a:xfrm>
          <a:prstGeom prst="rect">
            <a:avLst/>
          </a:prstGeom>
          <a:noFill/>
          <a:ln>
            <a:noFill/>
          </a:ln>
        </p:spPr>
        <p:txBody>
          <a:bodyPr wrap="square" lIns="45720" rIns="45720" anchor="ctr">
            <a:noAutofit/>
          </a:bodyPr>
          <a:lstStyle/>
          <a:p>
            <a:pPr algn="ctr">
              <a:buNone/>
            </a:pPr>
            <a:r>
              <a:rPr lang="en-US" sz="2200" dirty="0"/>
              <a:t>Inside your team—ownership, branches, review, meetings</a:t>
            </a:r>
          </a:p>
        </p:txBody>
      </p:sp>
      <p:sp>
        <p:nvSpPr>
          <p:cNvPr id="108" name="Scale 2"/>
          <p:cNvSpPr/>
          <p:nvPr/>
        </p:nvSpPr>
        <p:spPr>
          <a:xfrm>
            <a:off x="330200" y="4191000"/>
            <a:ext cx="8737600" cy="406400"/>
          </a:xfrm>
          <a:prstGeom prst="rect">
            <a:avLst/>
          </a:prstGeom>
          <a:noFill/>
          <a:ln>
            <a:noFill/>
          </a:ln>
        </p:spPr>
        <p:txBody>
          <a:bodyPr wrap="square" lIns="45720" rIns="45720" anchor="ctr">
            <a:noAutofit/>
          </a:bodyPr>
          <a:lstStyle/>
          <a:p>
            <a:pPr algn="ctr">
              <a:buNone/>
            </a:pPr>
            <a:r>
              <a:rPr lang="en-US" sz="2200" dirty="0"/>
              <a:t>Across the pod—interfaces, dependencies, integration, schedule</a:t>
            </a:r>
          </a:p>
        </p:txBody>
      </p:sp>
      <p:sp>
        <p:nvSpPr>
          <p:cNvPr id="109" name="Question"/>
          <p:cNvSpPr/>
          <p:nvPr/>
        </p:nvSpPr>
        <p:spPr>
          <a:xfrm>
            <a:off x="330200" y="4800600"/>
            <a:ext cx="8737600" cy="838200"/>
          </a:xfrm>
          <a:prstGeom prst="rect">
            <a:avLst/>
          </a:prstGeom>
          <a:noFill/>
          <a:ln>
            <a:noFill/>
          </a:ln>
        </p:spPr>
        <p:txBody>
          <a:bodyPr wrap="square" lIns="45720" rIns="45720" anchor="ctr">
            <a:noAutofit/>
          </a:bodyPr>
          <a:lstStyle/>
          <a:p>
            <a:pPr algn="ctr">
              <a:buNone/>
            </a:pPr>
            <a:r>
              <a:rPr lang="en-US" sz="2600" b="1" i="1" dirty="0">
                <a:solidFill>
                  <a:srgbClr val="000000"/>
                </a:solidFill>
              </a:rPr>
              <a:t>Which coordination problems from today can actually occur here?</a:t>
            </a:r>
          </a:p>
        </p:txBody>
      </p:sp>
    </p:spTree>
    <p:extLst>
      <p:ext uri="{BB962C8B-B14F-4D97-AF65-F5344CB8AC3E}">
        <p14:creationId xmlns:p14="http://schemas.microsoft.com/office/powerpoint/2010/main" val="9401963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FBCF0-F013-C6BB-A86F-0C45B90E59C3}"/>
              </a:ext>
            </a:extLst>
          </p:cNvPr>
          <p:cNvSpPr>
            <a:spLocks noGrp="1"/>
          </p:cNvSpPr>
          <p:nvPr>
            <p:ph type="title"/>
          </p:nvPr>
        </p:nvSpPr>
        <p:spPr/>
        <p:txBody>
          <a:bodyPr>
            <a:noAutofit/>
          </a:bodyPr>
          <a:lstStyle/>
          <a:p>
            <a:r>
              <a:rPr lang="en-US"/>
              <a:t>Design the interface between teams</a:t>
            </a:r>
          </a:p>
        </p:txBody>
      </p:sp>
      <p:sp>
        <p:nvSpPr>
          <p:cNvPr id="4" name="Slide Number Placeholder 3">
            <a:extLst>
              <a:ext uri="{FF2B5EF4-FFF2-40B4-BE49-F238E27FC236}">
                <a16:creationId xmlns:a16="http://schemas.microsoft.com/office/drawing/2014/main" id="{38AF4164-EAC2-7C20-EAE7-42361972A6CA}"/>
              </a:ext>
            </a:extLst>
          </p:cNvPr>
          <p:cNvSpPr>
            <a:spLocks noGrp="1"/>
          </p:cNvSpPr>
          <p:nvPr>
            <p:ph type="sldNum" sz="quarter" idx="4"/>
          </p:nvPr>
        </p:nvSpPr>
        <p:spPr/>
        <p:txBody>
          <a:bodyPr/>
          <a:lstStyle/>
          <a:p>
            <a:fld id="{B7EB45DA-9A0D-DC49-8E02-F30A5DDC21C3}" type="slidenum">
              <a:rPr lang="en-US" smtClean="0"/>
              <a:t>34</a:t>
            </a:fld>
            <a:endParaRPr lang="en-US"/>
          </a:p>
        </p:txBody>
      </p:sp>
      <p:sp>
        <p:nvSpPr>
          <p:cNvPr id="40" name="Label left"/>
          <p:cNvSpPr/>
          <p:nvPr/>
        </p:nvSpPr>
        <p:spPr>
          <a:xfrm>
            <a:off x="330200" y="965200"/>
            <a:ext cx="4064000" cy="406400"/>
          </a:xfrm>
          <a:prstGeom prst="rect">
            <a:avLst/>
          </a:prstGeom>
          <a:noFill/>
          <a:ln>
            <a:noFill/>
          </a:ln>
        </p:spPr>
        <p:txBody>
          <a:bodyPr wrap="square" lIns="45720" rIns="45720" anchor="ctr">
            <a:noAutofit/>
          </a:bodyPr>
          <a:lstStyle/>
          <a:p>
            <a:pPr algn="ctr">
              <a:buNone/>
            </a:pPr>
            <a:r>
              <a:rPr lang="en-US" sz="2200" b="1" i="0" dirty="0">
                <a:solidFill>
                  <a:srgbClr val="000000"/>
                </a:solidFill>
              </a:rPr>
              <a:t>Everyone ↔ everyone</a:t>
            </a:r>
          </a:p>
        </p:txBody>
      </p:sp>
      <p:sp>
        <p:nvSpPr>
          <p:cNvPr id="41" name="Link"/>
          <p:cNvSpPr/>
          <p:nvPr/>
        </p:nvSpPr>
        <p:spPr>
          <a:xfrm>
            <a:off x="1117600" y="1625600"/>
            <a:ext cx="2514600" cy="5080"/>
          </a:xfrm>
          <a:prstGeom prst="line">
            <a:avLst/>
          </a:prstGeom>
          <a:ln w="9525">
            <a:solidFill>
              <a:srgbClr val="8E6F3E"/>
            </a:solidFill>
          </a:ln>
        </p:spPr>
        <p:txBody>
          <a:bodyPr/>
          <a:lstStyle/>
          <a:p>
            <a:endParaRPr lang="en-US" sz="1200">
              <a:solidFill>
                <a:srgbClr val="FFFFFF"/>
              </a:solidFill>
            </a:endParaRPr>
          </a:p>
        </p:txBody>
      </p:sp>
      <p:sp>
        <p:nvSpPr>
          <p:cNvPr id="42" name="Link"/>
          <p:cNvSpPr/>
          <p:nvPr/>
        </p:nvSpPr>
        <p:spPr>
          <a:xfrm>
            <a:off x="1117600" y="1625600"/>
            <a:ext cx="2514600" cy="533400"/>
          </a:xfrm>
          <a:prstGeom prst="line">
            <a:avLst/>
          </a:prstGeom>
          <a:ln w="9525">
            <a:solidFill>
              <a:srgbClr val="8E6F3E"/>
            </a:solidFill>
          </a:ln>
        </p:spPr>
        <p:txBody>
          <a:bodyPr/>
          <a:lstStyle/>
          <a:p>
            <a:endParaRPr lang="en-US" sz="1200">
              <a:solidFill>
                <a:srgbClr val="FFFFFF"/>
              </a:solidFill>
            </a:endParaRPr>
          </a:p>
        </p:txBody>
      </p:sp>
      <p:sp>
        <p:nvSpPr>
          <p:cNvPr id="43" name="Link"/>
          <p:cNvSpPr/>
          <p:nvPr/>
        </p:nvSpPr>
        <p:spPr>
          <a:xfrm>
            <a:off x="1117600" y="1625600"/>
            <a:ext cx="2514600" cy="1066800"/>
          </a:xfrm>
          <a:prstGeom prst="line">
            <a:avLst/>
          </a:prstGeom>
          <a:ln w="9525">
            <a:solidFill>
              <a:srgbClr val="8E6F3E"/>
            </a:solidFill>
          </a:ln>
        </p:spPr>
        <p:txBody>
          <a:bodyPr/>
          <a:lstStyle/>
          <a:p>
            <a:endParaRPr lang="en-US" sz="1200">
              <a:solidFill>
                <a:srgbClr val="FFFFFF"/>
              </a:solidFill>
            </a:endParaRPr>
          </a:p>
        </p:txBody>
      </p:sp>
      <p:sp>
        <p:nvSpPr>
          <p:cNvPr id="44" name="Link"/>
          <p:cNvSpPr/>
          <p:nvPr/>
        </p:nvSpPr>
        <p:spPr>
          <a:xfrm flipV="1">
            <a:off x="1117600" y="1625600"/>
            <a:ext cx="2514600" cy="533400"/>
          </a:xfrm>
          <a:prstGeom prst="line">
            <a:avLst/>
          </a:prstGeom>
          <a:ln w="9525">
            <a:solidFill>
              <a:srgbClr val="8E6F3E"/>
            </a:solidFill>
          </a:ln>
        </p:spPr>
        <p:txBody>
          <a:bodyPr/>
          <a:lstStyle/>
          <a:p>
            <a:endParaRPr lang="en-US" sz="1200">
              <a:solidFill>
                <a:srgbClr val="FFFFFF"/>
              </a:solidFill>
            </a:endParaRPr>
          </a:p>
        </p:txBody>
      </p:sp>
      <p:sp>
        <p:nvSpPr>
          <p:cNvPr id="45" name="Link"/>
          <p:cNvSpPr/>
          <p:nvPr/>
        </p:nvSpPr>
        <p:spPr>
          <a:xfrm>
            <a:off x="1117600" y="2159000"/>
            <a:ext cx="2514600" cy="5080"/>
          </a:xfrm>
          <a:prstGeom prst="line">
            <a:avLst/>
          </a:prstGeom>
          <a:ln w="9525">
            <a:solidFill>
              <a:srgbClr val="8E6F3E"/>
            </a:solidFill>
          </a:ln>
        </p:spPr>
        <p:txBody>
          <a:bodyPr/>
          <a:lstStyle/>
          <a:p>
            <a:endParaRPr lang="en-US" sz="1200">
              <a:solidFill>
                <a:srgbClr val="FFFFFF"/>
              </a:solidFill>
            </a:endParaRPr>
          </a:p>
        </p:txBody>
      </p:sp>
      <p:sp>
        <p:nvSpPr>
          <p:cNvPr id="46" name="Link"/>
          <p:cNvSpPr/>
          <p:nvPr/>
        </p:nvSpPr>
        <p:spPr>
          <a:xfrm>
            <a:off x="1117600" y="2159000"/>
            <a:ext cx="2514600" cy="533400"/>
          </a:xfrm>
          <a:prstGeom prst="line">
            <a:avLst/>
          </a:prstGeom>
          <a:ln w="9525">
            <a:solidFill>
              <a:srgbClr val="8E6F3E"/>
            </a:solidFill>
          </a:ln>
        </p:spPr>
        <p:txBody>
          <a:bodyPr/>
          <a:lstStyle/>
          <a:p>
            <a:endParaRPr lang="en-US" sz="1200">
              <a:solidFill>
                <a:srgbClr val="FFFFFF"/>
              </a:solidFill>
            </a:endParaRPr>
          </a:p>
        </p:txBody>
      </p:sp>
      <p:sp>
        <p:nvSpPr>
          <p:cNvPr id="47" name="Link"/>
          <p:cNvSpPr/>
          <p:nvPr/>
        </p:nvSpPr>
        <p:spPr>
          <a:xfrm flipV="1">
            <a:off x="1117600" y="1625600"/>
            <a:ext cx="2514600" cy="1066800"/>
          </a:xfrm>
          <a:prstGeom prst="line">
            <a:avLst/>
          </a:prstGeom>
          <a:ln w="9525">
            <a:solidFill>
              <a:srgbClr val="8E6F3E"/>
            </a:solidFill>
          </a:ln>
        </p:spPr>
        <p:txBody>
          <a:bodyPr/>
          <a:lstStyle/>
          <a:p>
            <a:endParaRPr lang="en-US" sz="1200">
              <a:solidFill>
                <a:srgbClr val="FFFFFF"/>
              </a:solidFill>
            </a:endParaRPr>
          </a:p>
        </p:txBody>
      </p:sp>
      <p:sp>
        <p:nvSpPr>
          <p:cNvPr id="48" name="Link"/>
          <p:cNvSpPr/>
          <p:nvPr/>
        </p:nvSpPr>
        <p:spPr>
          <a:xfrm flipV="1">
            <a:off x="1117600" y="2159000"/>
            <a:ext cx="2514600" cy="533400"/>
          </a:xfrm>
          <a:prstGeom prst="line">
            <a:avLst/>
          </a:prstGeom>
          <a:ln w="9525">
            <a:solidFill>
              <a:srgbClr val="8E6F3E"/>
            </a:solidFill>
          </a:ln>
        </p:spPr>
        <p:txBody>
          <a:bodyPr/>
          <a:lstStyle/>
          <a:p>
            <a:endParaRPr lang="en-US" sz="1200">
              <a:solidFill>
                <a:srgbClr val="FFFFFF"/>
              </a:solidFill>
            </a:endParaRPr>
          </a:p>
        </p:txBody>
      </p:sp>
      <p:sp>
        <p:nvSpPr>
          <p:cNvPr id="49" name="Link"/>
          <p:cNvSpPr/>
          <p:nvPr/>
        </p:nvSpPr>
        <p:spPr>
          <a:xfrm>
            <a:off x="1117600" y="2692400"/>
            <a:ext cx="2514600" cy="5080"/>
          </a:xfrm>
          <a:prstGeom prst="line">
            <a:avLst/>
          </a:prstGeom>
          <a:ln w="9525">
            <a:solidFill>
              <a:srgbClr val="8E6F3E"/>
            </a:solidFill>
          </a:ln>
        </p:spPr>
        <p:txBody>
          <a:bodyPr/>
          <a:lstStyle/>
          <a:p>
            <a:endParaRPr lang="en-US" sz="1200">
              <a:solidFill>
                <a:srgbClr val="FFFFFF"/>
              </a:solidFill>
            </a:endParaRPr>
          </a:p>
        </p:txBody>
      </p:sp>
      <p:sp>
        <p:nvSpPr>
          <p:cNvPr id="50" name="Member"/>
          <p:cNvSpPr/>
          <p:nvPr/>
        </p:nvSpPr>
        <p:spPr>
          <a:xfrm>
            <a:off x="1003300" y="151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1" name="Member"/>
          <p:cNvSpPr/>
          <p:nvPr/>
        </p:nvSpPr>
        <p:spPr>
          <a:xfrm>
            <a:off x="1003300" y="20447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2" name="Member"/>
          <p:cNvSpPr/>
          <p:nvPr/>
        </p:nvSpPr>
        <p:spPr>
          <a:xfrm>
            <a:off x="1003300" y="25781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3" name="Member"/>
          <p:cNvSpPr/>
          <p:nvPr/>
        </p:nvSpPr>
        <p:spPr>
          <a:xfrm>
            <a:off x="3517900" y="151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4" name="Member"/>
          <p:cNvSpPr/>
          <p:nvPr/>
        </p:nvSpPr>
        <p:spPr>
          <a:xfrm>
            <a:off x="3517900" y="20447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5" name="Member"/>
          <p:cNvSpPr/>
          <p:nvPr/>
        </p:nvSpPr>
        <p:spPr>
          <a:xfrm>
            <a:off x="3517900" y="25781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6" name="Count left"/>
          <p:cNvSpPr/>
          <p:nvPr/>
        </p:nvSpPr>
        <p:spPr>
          <a:xfrm>
            <a:off x="330200" y="2946400"/>
            <a:ext cx="4064000" cy="381000"/>
          </a:xfrm>
          <a:prstGeom prst="rect">
            <a:avLst/>
          </a:prstGeom>
          <a:noFill/>
          <a:ln>
            <a:noFill/>
          </a:ln>
        </p:spPr>
        <p:txBody>
          <a:bodyPr wrap="square" lIns="45720" rIns="45720" anchor="ctr">
            <a:noAutofit/>
          </a:bodyPr>
          <a:lstStyle/>
          <a:p>
            <a:pPr algn="ctr">
              <a:buNone/>
            </a:pPr>
            <a:r>
              <a:rPr lang="en-US" sz="2000" dirty="0">
                <a:solidFill>
                  <a:srgbClr val="555960"/>
                </a:solidFill>
              </a:rPr>
              <a:t>9 possible cross-team relationships</a:t>
            </a:r>
          </a:p>
        </p:txBody>
      </p:sp>
      <p:sp>
        <p:nvSpPr>
          <p:cNvPr id="57" name="Label right"/>
          <p:cNvSpPr/>
          <p:nvPr/>
        </p:nvSpPr>
        <p:spPr>
          <a:xfrm>
            <a:off x="4749800" y="965200"/>
            <a:ext cx="4064000" cy="406400"/>
          </a:xfrm>
          <a:prstGeom prst="rect">
            <a:avLst/>
          </a:prstGeom>
          <a:noFill/>
          <a:ln>
            <a:noFill/>
          </a:ln>
        </p:spPr>
        <p:txBody>
          <a:bodyPr wrap="square" lIns="45720" rIns="45720" anchor="ctr">
            <a:noAutofit/>
          </a:bodyPr>
          <a:lstStyle/>
          <a:p>
            <a:pPr algn="ctr">
              <a:buNone/>
            </a:pPr>
            <a:r>
              <a:rPr lang="en-US" sz="2200" b="1" i="0" dirty="0">
                <a:solidFill>
                  <a:srgbClr val="000000"/>
                </a:solidFill>
              </a:rPr>
              <a:t>Through points of contact</a:t>
            </a:r>
          </a:p>
        </p:txBody>
      </p:sp>
      <p:sp>
        <p:nvSpPr>
          <p:cNvPr id="58" name="Link"/>
          <p:cNvSpPr/>
          <p:nvPr/>
        </p:nvSpPr>
        <p:spPr>
          <a:xfrm>
            <a:off x="5384800" y="1625600"/>
            <a:ext cx="660400" cy="533400"/>
          </a:xfrm>
          <a:prstGeom prst="line">
            <a:avLst/>
          </a:prstGeom>
          <a:ln w="9525">
            <a:solidFill>
              <a:srgbClr val="555960"/>
            </a:solidFill>
          </a:ln>
        </p:spPr>
        <p:txBody>
          <a:bodyPr/>
          <a:lstStyle/>
          <a:p>
            <a:endParaRPr lang="en-US" sz="1200">
              <a:solidFill>
                <a:srgbClr val="FFFFFF"/>
              </a:solidFill>
            </a:endParaRPr>
          </a:p>
        </p:txBody>
      </p:sp>
      <p:sp>
        <p:nvSpPr>
          <p:cNvPr id="59" name="Link"/>
          <p:cNvSpPr/>
          <p:nvPr/>
        </p:nvSpPr>
        <p:spPr>
          <a:xfrm>
            <a:off x="5384800" y="2159000"/>
            <a:ext cx="660400" cy="5080"/>
          </a:xfrm>
          <a:prstGeom prst="line">
            <a:avLst/>
          </a:prstGeom>
          <a:ln w="9525">
            <a:solidFill>
              <a:srgbClr val="555960"/>
            </a:solidFill>
          </a:ln>
        </p:spPr>
        <p:txBody>
          <a:bodyPr/>
          <a:lstStyle/>
          <a:p>
            <a:endParaRPr lang="en-US" sz="1200">
              <a:solidFill>
                <a:srgbClr val="FFFFFF"/>
              </a:solidFill>
            </a:endParaRPr>
          </a:p>
        </p:txBody>
      </p:sp>
      <p:sp>
        <p:nvSpPr>
          <p:cNvPr id="60" name="Link"/>
          <p:cNvSpPr/>
          <p:nvPr/>
        </p:nvSpPr>
        <p:spPr>
          <a:xfrm flipV="1">
            <a:off x="5384800" y="2159000"/>
            <a:ext cx="660400" cy="533400"/>
          </a:xfrm>
          <a:prstGeom prst="line">
            <a:avLst/>
          </a:prstGeom>
          <a:ln w="9525">
            <a:solidFill>
              <a:srgbClr val="555960"/>
            </a:solidFill>
          </a:ln>
        </p:spPr>
        <p:txBody>
          <a:bodyPr/>
          <a:lstStyle/>
          <a:p>
            <a:endParaRPr lang="en-US" sz="1200">
              <a:solidFill>
                <a:srgbClr val="FFFFFF"/>
              </a:solidFill>
            </a:endParaRPr>
          </a:p>
        </p:txBody>
      </p:sp>
      <p:sp>
        <p:nvSpPr>
          <p:cNvPr id="61" name="Link"/>
          <p:cNvSpPr/>
          <p:nvPr/>
        </p:nvSpPr>
        <p:spPr>
          <a:xfrm flipV="1">
            <a:off x="7518400" y="1625600"/>
            <a:ext cx="660400" cy="533400"/>
          </a:xfrm>
          <a:prstGeom prst="line">
            <a:avLst/>
          </a:prstGeom>
          <a:ln w="9525">
            <a:solidFill>
              <a:srgbClr val="555960"/>
            </a:solidFill>
          </a:ln>
        </p:spPr>
        <p:txBody>
          <a:bodyPr/>
          <a:lstStyle/>
          <a:p>
            <a:endParaRPr lang="en-US" sz="1200">
              <a:solidFill>
                <a:srgbClr val="FFFFFF"/>
              </a:solidFill>
            </a:endParaRPr>
          </a:p>
        </p:txBody>
      </p:sp>
      <p:sp>
        <p:nvSpPr>
          <p:cNvPr id="62" name="Link"/>
          <p:cNvSpPr/>
          <p:nvPr/>
        </p:nvSpPr>
        <p:spPr>
          <a:xfrm>
            <a:off x="7518400" y="2159000"/>
            <a:ext cx="660400" cy="5080"/>
          </a:xfrm>
          <a:prstGeom prst="line">
            <a:avLst/>
          </a:prstGeom>
          <a:ln w="9525">
            <a:solidFill>
              <a:srgbClr val="555960"/>
            </a:solidFill>
          </a:ln>
        </p:spPr>
        <p:txBody>
          <a:bodyPr/>
          <a:lstStyle/>
          <a:p>
            <a:endParaRPr lang="en-US" sz="1200">
              <a:solidFill>
                <a:srgbClr val="FFFFFF"/>
              </a:solidFill>
            </a:endParaRPr>
          </a:p>
        </p:txBody>
      </p:sp>
      <p:sp>
        <p:nvSpPr>
          <p:cNvPr id="63" name="Link"/>
          <p:cNvSpPr/>
          <p:nvPr/>
        </p:nvSpPr>
        <p:spPr>
          <a:xfrm>
            <a:off x="7518400" y="2159000"/>
            <a:ext cx="660400" cy="533400"/>
          </a:xfrm>
          <a:prstGeom prst="line">
            <a:avLst/>
          </a:prstGeom>
          <a:ln w="9525">
            <a:solidFill>
              <a:srgbClr val="555960"/>
            </a:solidFill>
          </a:ln>
        </p:spPr>
        <p:txBody>
          <a:bodyPr/>
          <a:lstStyle/>
          <a:p>
            <a:endParaRPr lang="en-US" sz="1200">
              <a:solidFill>
                <a:srgbClr val="FFFFFF"/>
              </a:solidFill>
            </a:endParaRPr>
          </a:p>
        </p:txBody>
      </p:sp>
      <p:sp>
        <p:nvSpPr>
          <p:cNvPr id="64" name="Link"/>
          <p:cNvSpPr/>
          <p:nvPr/>
        </p:nvSpPr>
        <p:spPr>
          <a:xfrm>
            <a:off x="6273800" y="2159000"/>
            <a:ext cx="1016000" cy="5080"/>
          </a:xfrm>
          <a:prstGeom prst="line">
            <a:avLst/>
          </a:prstGeom>
          <a:ln w="28575">
            <a:solidFill>
              <a:srgbClr val="8E6F3E"/>
            </a:solidFill>
          </a:ln>
        </p:spPr>
        <p:txBody>
          <a:bodyPr/>
          <a:lstStyle/>
          <a:p>
            <a:endParaRPr lang="en-US" sz="1200">
              <a:solidFill>
                <a:srgbClr val="FFFFFF"/>
              </a:solidFill>
            </a:endParaRPr>
          </a:p>
        </p:txBody>
      </p:sp>
      <p:sp>
        <p:nvSpPr>
          <p:cNvPr id="65" name="Member"/>
          <p:cNvSpPr/>
          <p:nvPr/>
        </p:nvSpPr>
        <p:spPr>
          <a:xfrm>
            <a:off x="5270500" y="151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66" name="Member"/>
          <p:cNvSpPr/>
          <p:nvPr/>
        </p:nvSpPr>
        <p:spPr>
          <a:xfrm>
            <a:off x="5270500" y="20447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67" name="Member"/>
          <p:cNvSpPr/>
          <p:nvPr/>
        </p:nvSpPr>
        <p:spPr>
          <a:xfrm>
            <a:off x="5270500" y="25781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68" name="POC A"/>
          <p:cNvSpPr/>
          <p:nvPr/>
        </p:nvSpPr>
        <p:spPr>
          <a:xfrm>
            <a:off x="5930900" y="1930400"/>
            <a:ext cx="457200" cy="457200"/>
          </a:xfrm>
          <a:prstGeom prst="ellipse">
            <a:avLst/>
          </a:prstGeom>
          <a:solidFill>
            <a:srgbClr val="8E6F3E"/>
          </a:solidFill>
          <a:ln w="19050">
            <a:solidFill>
              <a:srgbClr val="8E6F3E"/>
            </a:solidFill>
          </a:ln>
        </p:spPr>
        <p:txBody>
          <a:bodyPr wrap="square" lIns="45720" rIns="45720" anchor="ctr">
            <a:noAutofit/>
          </a:bodyPr>
          <a:lstStyle/>
          <a:p>
            <a:pPr algn="ctr">
              <a:buNone/>
            </a:pPr>
            <a:endParaRPr lang="en-US" sz="1200" dirty="0">
              <a:solidFill>
                <a:srgbClr val="FFFFFF"/>
              </a:solidFill>
            </a:endParaRPr>
          </a:p>
        </p:txBody>
      </p:sp>
      <p:sp>
        <p:nvSpPr>
          <p:cNvPr id="69" name="POC B"/>
          <p:cNvSpPr/>
          <p:nvPr/>
        </p:nvSpPr>
        <p:spPr>
          <a:xfrm>
            <a:off x="7175500" y="1930400"/>
            <a:ext cx="457200" cy="457200"/>
          </a:xfrm>
          <a:prstGeom prst="ellipse">
            <a:avLst/>
          </a:prstGeom>
          <a:solidFill>
            <a:srgbClr val="8E6F3E"/>
          </a:solidFill>
          <a:ln w="19050">
            <a:solidFill>
              <a:srgbClr val="8E6F3E"/>
            </a:solidFill>
          </a:ln>
        </p:spPr>
        <p:txBody>
          <a:bodyPr wrap="square" lIns="45720" rIns="45720" anchor="ctr">
            <a:noAutofit/>
          </a:bodyPr>
          <a:lstStyle/>
          <a:p>
            <a:pPr algn="ctr">
              <a:buNone/>
            </a:pPr>
            <a:endParaRPr lang="en-US" sz="1200" dirty="0">
              <a:solidFill>
                <a:srgbClr val="FFFFFF"/>
              </a:solidFill>
            </a:endParaRPr>
          </a:p>
        </p:txBody>
      </p:sp>
      <p:sp>
        <p:nvSpPr>
          <p:cNvPr id="70" name="Member"/>
          <p:cNvSpPr/>
          <p:nvPr/>
        </p:nvSpPr>
        <p:spPr>
          <a:xfrm>
            <a:off x="8064500" y="151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1" name="Member"/>
          <p:cNvSpPr/>
          <p:nvPr/>
        </p:nvSpPr>
        <p:spPr>
          <a:xfrm>
            <a:off x="8064500" y="20447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2" name="Member"/>
          <p:cNvSpPr/>
          <p:nvPr/>
        </p:nvSpPr>
        <p:spPr>
          <a:xfrm>
            <a:off x="8064500" y="25781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3" name="POC label A"/>
          <p:cNvSpPr/>
          <p:nvPr/>
        </p:nvSpPr>
        <p:spPr>
          <a:xfrm>
            <a:off x="5588000" y="2489200"/>
            <a:ext cx="1143000" cy="355600"/>
          </a:xfrm>
          <a:prstGeom prst="rect">
            <a:avLst/>
          </a:prstGeom>
          <a:noFill/>
          <a:ln>
            <a:noFill/>
          </a:ln>
        </p:spPr>
        <p:txBody>
          <a:bodyPr wrap="square" lIns="45720" rIns="45720" anchor="ctr">
            <a:noAutofit/>
          </a:bodyPr>
          <a:lstStyle/>
          <a:p>
            <a:pPr algn="ctr">
              <a:buNone/>
            </a:pPr>
            <a:r>
              <a:rPr lang="en-US" sz="2000" b="1" i="0" dirty="0">
                <a:solidFill>
                  <a:srgbClr val="8E6F3E"/>
                </a:solidFill>
              </a:rPr>
              <a:t>POC</a:t>
            </a:r>
          </a:p>
        </p:txBody>
      </p:sp>
      <p:sp>
        <p:nvSpPr>
          <p:cNvPr id="74" name="POC label B"/>
          <p:cNvSpPr/>
          <p:nvPr/>
        </p:nvSpPr>
        <p:spPr>
          <a:xfrm>
            <a:off x="6832600" y="2489200"/>
            <a:ext cx="1143000" cy="355600"/>
          </a:xfrm>
          <a:prstGeom prst="rect">
            <a:avLst/>
          </a:prstGeom>
          <a:noFill/>
          <a:ln>
            <a:noFill/>
          </a:ln>
        </p:spPr>
        <p:txBody>
          <a:bodyPr wrap="square" lIns="45720" rIns="45720" anchor="ctr">
            <a:noAutofit/>
          </a:bodyPr>
          <a:lstStyle/>
          <a:p>
            <a:pPr algn="ctr">
              <a:buNone/>
            </a:pPr>
            <a:r>
              <a:rPr lang="en-US" sz="2000" b="1" i="0" dirty="0">
                <a:solidFill>
                  <a:srgbClr val="8E6F3E"/>
                </a:solidFill>
              </a:rPr>
              <a:t>POC</a:t>
            </a:r>
          </a:p>
        </p:txBody>
      </p:sp>
      <p:sp>
        <p:nvSpPr>
          <p:cNvPr id="75" name="Count right"/>
          <p:cNvSpPr/>
          <p:nvPr/>
        </p:nvSpPr>
        <p:spPr>
          <a:xfrm>
            <a:off x="4749800" y="2946400"/>
            <a:ext cx="4064000" cy="381000"/>
          </a:xfrm>
          <a:prstGeom prst="rect">
            <a:avLst/>
          </a:prstGeom>
          <a:noFill/>
          <a:ln>
            <a:noFill/>
          </a:ln>
        </p:spPr>
        <p:txBody>
          <a:bodyPr wrap="square" lIns="45720" rIns="45720" anchor="ctr">
            <a:noAutofit/>
          </a:bodyPr>
          <a:lstStyle/>
          <a:p>
            <a:pPr algn="ctr">
              <a:buNone/>
            </a:pPr>
            <a:r>
              <a:rPr lang="en-US" sz="2000" dirty="0">
                <a:solidFill>
                  <a:srgbClr val="555960"/>
                </a:solidFill>
              </a:rPr>
              <a:t>1 designated interface per team</a:t>
            </a:r>
          </a:p>
        </p:txBody>
      </p:sp>
      <p:graphicFrame>
        <p:nvGraphicFramePr>
          <p:cNvPr id="5" name="Table 4">
            <a:extLst>
              <a:ext uri="{FF2B5EF4-FFF2-40B4-BE49-F238E27FC236}">
                <a16:creationId xmlns:a16="http://schemas.microsoft.com/office/drawing/2014/main" id="{3EC6A1DC-69B8-C84D-A0C7-31EC38AD7419}"/>
              </a:ext>
            </a:extLst>
          </p:cNvPr>
          <p:cNvGraphicFramePr>
            <a:graphicFrameLocks noGrp="1"/>
          </p:cNvGraphicFramePr>
          <p:nvPr>
            <p:extLst>
              <p:ext uri="{D42A27DB-BD31-4B8C-83A1-F6EECF244321}">
                <p14:modId xmlns:p14="http://schemas.microsoft.com/office/powerpoint/2010/main" val="871950587"/>
              </p:ext>
            </p:extLst>
          </p:nvPr>
        </p:nvGraphicFramePr>
        <p:xfrm>
          <a:off x="330200" y="3454400"/>
          <a:ext cx="8737600" cy="1952413"/>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1097333780"/>
                    </a:ext>
                  </a:extLst>
                </a:gridCol>
                <a:gridCol w="3302000">
                  <a:extLst>
                    <a:ext uri="{9D8B030D-6E8A-4147-A177-3AD203B41FA5}">
                      <a16:colId xmlns:a16="http://schemas.microsoft.com/office/drawing/2014/main" val="3249394467"/>
                    </a:ext>
                  </a:extLst>
                </a:gridCol>
                <a:gridCol w="3302000">
                  <a:extLst>
                    <a:ext uri="{9D8B030D-6E8A-4147-A177-3AD203B41FA5}">
                      <a16:colId xmlns:a16="http://schemas.microsoft.com/office/drawing/2014/main" val="1738350383"/>
                    </a:ext>
                  </a:extLst>
                </a:gridCol>
              </a:tblGrid>
              <a:tr h="550333">
                <a:tc>
                  <a:txBody>
                    <a:bodyPr/>
                    <a:lstStyle/>
                    <a:p>
                      <a:pPr algn="l"/>
                      <a:r>
                        <a:rPr lang="en-US" sz="2000" b="1">
                          <a:solidFill>
                            <a:srgbClr val="FFFFFF"/>
                          </a:solidFill>
                        </a:rPr>
                        <a:t>Choice</a:t>
                      </a:r>
                    </a:p>
                  </a:txBody>
                  <a:tcPr anchor="ctr"/>
                </a:tc>
                <a:tc>
                  <a:txBody>
                    <a:bodyPr/>
                    <a:lstStyle/>
                    <a:p>
                      <a:pPr algn="l"/>
                      <a:r>
                        <a:rPr lang="en-US" sz="2000" b="1">
                          <a:solidFill>
                            <a:srgbClr val="FFFFFF"/>
                          </a:solidFill>
                        </a:rPr>
                        <a:t>Gains</a:t>
                      </a:r>
                    </a:p>
                  </a:txBody>
                  <a:tcPr anchor="ctr"/>
                </a:tc>
                <a:tc>
                  <a:txBody>
                    <a:bodyPr/>
                    <a:lstStyle/>
                    <a:p>
                      <a:pPr algn="l"/>
                      <a:r>
                        <a:rPr lang="en-US" sz="2000" b="1">
                          <a:solidFill>
                            <a:srgbClr val="FFFFFF"/>
                          </a:solidFill>
                        </a:rPr>
                        <a:t>Costs</a:t>
                      </a:r>
                    </a:p>
                  </a:txBody>
                  <a:tcPr anchor="ctr"/>
                </a:tc>
                <a:extLst>
                  <a:ext uri="{0D108BD9-81ED-4DB2-BD59-A6C34878D82A}">
                    <a16:rowId xmlns:a16="http://schemas.microsoft.com/office/drawing/2014/main" val="1180099523"/>
                  </a:ext>
                </a:extLst>
              </a:tr>
              <a:tr h="550333">
                <a:tc>
                  <a:txBody>
                    <a:bodyPr/>
                    <a:lstStyle/>
                    <a:p>
                      <a:pPr algn="l"/>
                      <a:r>
                        <a:rPr lang="en-US" sz="2000" b="1"/>
                        <a:t>Stable POC</a:t>
                      </a:r>
                    </a:p>
                  </a:txBody>
                  <a:tcPr anchor="ctr"/>
                </a:tc>
                <a:tc>
                  <a:txBody>
                    <a:bodyPr/>
                    <a:lstStyle/>
                    <a:p>
                      <a:pPr algn="l"/>
                      <a:r>
                        <a:rPr lang="en-US" sz="2000"/>
                        <a:t>Accumulated context, fewer handoffs</a:t>
                      </a:r>
                    </a:p>
                  </a:txBody>
                  <a:tcPr anchor="ctr"/>
                </a:tc>
                <a:tc>
                  <a:txBody>
                    <a:bodyPr/>
                    <a:lstStyle/>
                    <a:p>
                      <a:pPr algn="l"/>
                      <a:r>
                        <a:rPr lang="en-US" sz="2000"/>
                        <a:t>Bottleneck, key-person risk</a:t>
                      </a:r>
                    </a:p>
                  </a:txBody>
                  <a:tcPr anchor="ctr"/>
                </a:tc>
                <a:extLst>
                  <a:ext uri="{0D108BD9-81ED-4DB2-BD59-A6C34878D82A}">
                    <a16:rowId xmlns:a16="http://schemas.microsoft.com/office/drawing/2014/main" val="3801136180"/>
                  </a:ext>
                </a:extLst>
              </a:tr>
              <a:tr h="550333">
                <a:tc>
                  <a:txBody>
                    <a:bodyPr/>
                    <a:lstStyle/>
                    <a:p>
                      <a:pPr algn="l"/>
                      <a:r>
                        <a:rPr lang="en-US" sz="2000" b="1"/>
                        <a:t>Rotating POC</a:t>
                      </a:r>
                    </a:p>
                  </a:txBody>
                  <a:tcPr anchor="ctr"/>
                </a:tc>
                <a:tc>
                  <a:txBody>
                    <a:bodyPr/>
                    <a:lstStyle/>
                    <a:p>
                      <a:pPr algn="l"/>
                      <a:r>
                        <a:rPr lang="en-US" sz="2000"/>
                        <a:t>Distributed knowledge, no bottleneck</a:t>
                      </a:r>
                    </a:p>
                  </a:txBody>
                  <a:tcPr anchor="ctr"/>
                </a:tc>
                <a:tc>
                  <a:txBody>
                    <a:bodyPr/>
                    <a:lstStyle/>
                    <a:p>
                      <a:r>
                        <a:rPr lang="en-US" sz="2000"/>
                        <a:t>Context must be transferred at each rotation</a:t>
                      </a:r>
                    </a:p>
                  </a:txBody>
                  <a:tcPr anchor="ctr"/>
                </a:tc>
                <a:extLst>
                  <a:ext uri="{0D108BD9-81ED-4DB2-BD59-A6C34878D82A}">
                    <a16:rowId xmlns:a16="http://schemas.microsoft.com/office/drawing/2014/main" val="3809900949"/>
                  </a:ext>
                </a:extLst>
              </a:tr>
            </a:tbl>
          </a:graphicData>
        </a:graphic>
      </p:graphicFrame>
      <p:sp>
        <p:nvSpPr>
          <p:cNvPr id="6" name="TextBox 5">
            <a:extLst>
              <a:ext uri="{FF2B5EF4-FFF2-40B4-BE49-F238E27FC236}">
                <a16:creationId xmlns:a16="http://schemas.microsoft.com/office/drawing/2014/main" id="{8ACCA6D4-C52B-F34F-87BB-66130DD45FAD}"/>
              </a:ext>
            </a:extLst>
          </p:cNvPr>
          <p:cNvSpPr txBox="1"/>
          <p:nvPr/>
        </p:nvSpPr>
        <p:spPr>
          <a:xfrm>
            <a:off x="330200" y="5384800"/>
            <a:ext cx="8737600" cy="762000"/>
          </a:xfrm>
          <a:prstGeom prst="rect">
            <a:avLst/>
          </a:prstGeom>
          <a:noFill/>
        </p:spPr>
        <p:txBody>
          <a:bodyPr vertOverflow="overflow" vert="horz" wrap="square" rtlCol="0" anchor="t">
            <a:spAutoFit/>
          </a:bodyPr>
          <a:lstStyle/>
          <a:p>
            <a:pPr algn="l"/>
            <a:r>
              <a:rPr lang="en-US" sz="2400" b="1" i="1"/>
              <a:t>Should your team designate a pod point of contact? Should it rotate?</a:t>
            </a:r>
          </a:p>
        </p:txBody>
      </p:sp>
    </p:spTree>
    <p:extLst>
      <p:ext uri="{BB962C8B-B14F-4D97-AF65-F5344CB8AC3E}">
        <p14:creationId xmlns:p14="http://schemas.microsoft.com/office/powerpoint/2010/main" val="24586160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87D4C8-D0A5-EAE7-9C20-C4236E4A544B}"/>
              </a:ext>
            </a:extLst>
          </p:cNvPr>
          <p:cNvSpPr>
            <a:spLocks noGrp="1"/>
          </p:cNvSpPr>
          <p:nvPr>
            <p:ph type="title"/>
          </p:nvPr>
        </p:nvSpPr>
        <p:spPr/>
        <p:txBody>
          <a:bodyPr>
            <a:noAutofit/>
          </a:bodyPr>
          <a:lstStyle/>
          <a:p>
            <a:r>
              <a:rPr lang="en-US"/>
              <a:t>Your Team Contract is a coordination design</a:t>
            </a:r>
          </a:p>
        </p:txBody>
      </p:sp>
      <p:sp>
        <p:nvSpPr>
          <p:cNvPr id="4" name="Slide Number Placeholder 3">
            <a:extLst>
              <a:ext uri="{FF2B5EF4-FFF2-40B4-BE49-F238E27FC236}">
                <a16:creationId xmlns:a16="http://schemas.microsoft.com/office/drawing/2014/main" id="{97052C53-D1A5-259C-7438-5ED4B654BBE4}"/>
              </a:ext>
            </a:extLst>
          </p:cNvPr>
          <p:cNvSpPr>
            <a:spLocks noGrp="1"/>
          </p:cNvSpPr>
          <p:nvPr>
            <p:ph type="sldNum" sz="quarter" idx="4"/>
          </p:nvPr>
        </p:nvSpPr>
        <p:spPr/>
        <p:txBody>
          <a:bodyPr/>
          <a:lstStyle/>
          <a:p>
            <a:fld id="{B7EB45DA-9A0D-DC49-8E02-F30A5DDC21C3}" type="slidenum">
              <a:rPr lang="en-US" smtClean="0"/>
              <a:t>35</a:t>
            </a:fld>
            <a:endParaRPr lang="en-US"/>
          </a:p>
        </p:txBody>
      </p:sp>
      <p:sp>
        <p:nvSpPr>
          <p:cNvPr id="40" name="Lead"/>
          <p:cNvSpPr/>
          <p:nvPr/>
        </p:nvSpPr>
        <p:spPr>
          <a:xfrm>
            <a:off x="330200" y="889000"/>
            <a:ext cx="8737600" cy="381000"/>
          </a:xfrm>
          <a:prstGeom prst="rect">
            <a:avLst/>
          </a:prstGeom>
          <a:noFill/>
          <a:ln>
            <a:noFill/>
          </a:ln>
        </p:spPr>
        <p:txBody>
          <a:bodyPr wrap="square" lIns="36000" rIns="36000" anchor="ctr">
            <a:noAutofit/>
          </a:bodyPr>
          <a:lstStyle/>
          <a:p>
            <a:pPr algn="ctr">
              <a:buNone/>
            </a:pPr>
            <a:r>
              <a:rPr lang="en-US" sz="2200" b="0" i="1" dirty="0">
                <a:solidFill>
                  <a:srgbClr val="000000"/>
                </a:solidFill>
              </a:rPr>
              <a:t>Make each of these a deliberate choice, not a default:</a:t>
            </a:r>
          </a:p>
        </p:txBody>
      </p:sp>
      <p:sp>
        <p:nvSpPr>
          <p:cNvPr id="41" name="Item"/>
          <p:cNvSpPr/>
          <p:nvPr/>
        </p:nvSpPr>
        <p:spPr>
          <a:xfrm>
            <a:off x="330200" y="13716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Communication</a:t>
            </a:r>
          </a:p>
        </p:txBody>
      </p:sp>
      <p:sp>
        <p:nvSpPr>
          <p:cNvPr id="42" name="Item"/>
          <p:cNvSpPr/>
          <p:nvPr/>
        </p:nvSpPr>
        <p:spPr>
          <a:xfrm>
            <a:off x="2489200" y="13716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Meetings</a:t>
            </a:r>
          </a:p>
        </p:txBody>
      </p:sp>
      <p:sp>
        <p:nvSpPr>
          <p:cNvPr id="43" name="Item"/>
          <p:cNvSpPr/>
          <p:nvPr/>
        </p:nvSpPr>
        <p:spPr>
          <a:xfrm>
            <a:off x="4648200" y="13716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Ownership</a:t>
            </a:r>
          </a:p>
        </p:txBody>
      </p:sp>
      <p:sp>
        <p:nvSpPr>
          <p:cNvPr id="44" name="Item"/>
          <p:cNvSpPr/>
          <p:nvPr/>
        </p:nvSpPr>
        <p:spPr>
          <a:xfrm>
            <a:off x="6807200" y="13716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Work tracking</a:t>
            </a:r>
          </a:p>
        </p:txBody>
      </p:sp>
      <p:sp>
        <p:nvSpPr>
          <p:cNvPr id="45" name="Item"/>
          <p:cNvSpPr/>
          <p:nvPr/>
        </p:nvSpPr>
        <p:spPr>
          <a:xfrm>
            <a:off x="1409700" y="23368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Git &amp; review</a:t>
            </a:r>
          </a:p>
        </p:txBody>
      </p:sp>
      <p:sp>
        <p:nvSpPr>
          <p:cNvPr id="46" name="Item"/>
          <p:cNvSpPr/>
          <p:nvPr/>
        </p:nvSpPr>
        <p:spPr>
          <a:xfrm>
            <a:off x="3568700" y="23368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Blockers</a:t>
            </a:r>
          </a:p>
        </p:txBody>
      </p:sp>
      <p:sp>
        <p:nvSpPr>
          <p:cNvPr id="47" name="Item"/>
          <p:cNvSpPr/>
          <p:nvPr/>
        </p:nvSpPr>
        <p:spPr>
          <a:xfrm>
            <a:off x="5727700" y="23368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Pod coordination</a:t>
            </a:r>
          </a:p>
        </p:txBody>
      </p:sp>
      <p:sp>
        <p:nvSpPr>
          <p:cNvPr id="48" name="Rule"/>
          <p:cNvSpPr/>
          <p:nvPr/>
        </p:nvSpPr>
        <p:spPr>
          <a:xfrm>
            <a:off x="1524000" y="3632200"/>
            <a:ext cx="6096000" cy="38100"/>
          </a:xfrm>
          <a:prstGeom prst="rect">
            <a:avLst/>
          </a:prstGeom>
          <a:solidFill>
            <a:srgbClr val="8E6F3E"/>
          </a:solidFill>
          <a:ln w="19050">
            <a:solidFill>
              <a:srgbClr val="8E6F3E"/>
            </a:solidFill>
          </a:ln>
        </p:spPr>
        <p:txBody>
          <a:bodyPr wrap="square" lIns="36000" rIns="36000" anchor="ctr">
            <a:noAutofit/>
          </a:bodyPr>
          <a:lstStyle/>
          <a:p>
            <a:pPr algn="ctr">
              <a:buNone/>
            </a:pPr>
            <a:endParaRPr lang="en-US" sz="1200" dirty="0">
              <a:solidFill>
                <a:srgbClr val="FFFFFF"/>
              </a:solidFill>
            </a:endParaRPr>
          </a:p>
        </p:txBody>
      </p:sp>
      <p:sp>
        <p:nvSpPr>
          <p:cNvPr id="49" name="Conclusion"/>
          <p:cNvSpPr/>
          <p:nvPr/>
        </p:nvSpPr>
        <p:spPr>
          <a:xfrm>
            <a:off x="330200" y="3886200"/>
            <a:ext cx="8737600" cy="2032000"/>
          </a:xfrm>
          <a:prstGeom prst="rect">
            <a:avLst/>
          </a:prstGeom>
          <a:noFill/>
          <a:ln>
            <a:noFill/>
          </a:ln>
        </p:spPr>
        <p:txBody>
          <a:bodyPr wrap="square" lIns="36000" rIns="36000" anchor="ctr">
            <a:noAutofit/>
          </a:bodyPr>
          <a:lstStyle/>
          <a:p>
            <a:pPr algn="ctr">
              <a:buNone/>
            </a:pPr>
            <a:r>
              <a:rPr lang="en-US" sz="2400" dirty="0"/>
              <a:t>Teams don’t scale simply by adding capability.</a:t>
            </a:r>
          </a:p>
          <a:p>
            <a:pPr algn="ctr">
              <a:spcBef>
                <a:spcPts val="1000"/>
              </a:spcBef>
              <a:buNone/>
            </a:pPr>
            <a:r>
              <a:rPr lang="en-US" sz="3600" b="1" dirty="0"/>
              <a:t>They scale by engineering coordination.</a:t>
            </a:r>
          </a:p>
        </p:txBody>
      </p:sp>
    </p:spTree>
    <p:extLst>
      <p:ext uri="{BB962C8B-B14F-4D97-AF65-F5344CB8AC3E}">
        <p14:creationId xmlns:p14="http://schemas.microsoft.com/office/powerpoint/2010/main" val="2887510102"/>
      </p:ext>
    </p:extLst>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0CDE23E-8E10-9246-BB6E-CA16334C089F}">
  <we:reference id="WA200010001" version="1.0.0.1" store="Omex" storeType="OMEX"/>
  <we:alternateReferences>
    <we:reference id="WA200010001" version="1.0.0.1" store="WA200010001" storeType="OMEX"/>
  </we:alternateReferences>
  <we:properties>
    <we:property name="claude.fileId" value="&quot;87ee7ad3-aed9-4c23-8be9-73615f51f82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10453</TotalTime>
  <Words>3413</Words>
  <Application>Microsoft Macintosh PowerPoint</Application>
  <PresentationFormat>On-screen Show (4:3)</PresentationFormat>
  <Paragraphs>436</Paragraphs>
  <Slides>35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Acumin Pro</vt:lpstr>
      <vt:lpstr>Arial</vt:lpstr>
      <vt:lpstr>Calibri</vt:lpstr>
      <vt:lpstr>Times</vt:lpstr>
      <vt:lpstr>TimesNewRomanPS</vt:lpstr>
      <vt:lpstr>TimesNewRomanPSMT</vt:lpstr>
      <vt:lpstr>Wingdings</vt:lpstr>
      <vt:lpstr>Purdue1</vt:lpstr>
      <vt:lpstr>ECE 461: Software Engineering</vt:lpstr>
      <vt:lpstr>A team coordinates engineering capability</vt:lpstr>
      <vt:lpstr>Why do we need teams?</vt:lpstr>
      <vt:lpstr>1 Individual capability</vt:lpstr>
      <vt:lpstr>Effective engineers extend beyond implementation</vt:lpstr>
      <vt:lpstr>Individual effectiveness becomes team effectiveness</vt:lpstr>
      <vt:lpstr>2 Team capability</vt:lpstr>
      <vt:lpstr>What makes a team effective?</vt:lpstr>
      <vt:lpstr>Effective teams create shared context</vt:lpstr>
      <vt:lpstr>Effective teams create trust</vt:lpstr>
      <vt:lpstr>Effective teams coordinate action</vt:lpstr>
      <vt:lpstr>Why don’t teams scale linearly?</vt:lpstr>
      <vt:lpstr>Adding capability also adds coordination</vt:lpstr>
      <vt:lpstr>Goal: Make coordination costs grow sublinearly</vt:lpstr>
      <vt:lpstr>Engineer coordination for sublinear scaling</vt:lpstr>
      <vt:lpstr>Architecture changes the coordination topology</vt:lpstr>
      <vt:lpstr>Global engineering exposes coordination costs</vt:lpstr>
      <vt:lpstr>Follow-the-sun: parallelism versus handoff cost</vt:lpstr>
      <vt:lpstr>People don’t share all of your assumptions</vt:lpstr>
      <vt:lpstr>3 Amplifying capability</vt:lpstr>
      <vt:lpstr>Suppose every engineer is 10× more productive</vt:lpstr>
      <vt:lpstr>GenAI can amplify individual capability</vt:lpstr>
      <vt:lpstr>Individual throughput ≠ team throughput</vt:lpstr>
      <vt:lpstr>Four dimensions of coordination</vt:lpstr>
      <vt:lpstr>4 Engineering coordination</vt:lpstr>
      <vt:lpstr>Communication is an engineering mechanism</vt:lpstr>
      <vt:lpstr>Meetings are expensive synchronization points</vt:lpstr>
      <vt:lpstr>Durable decisions reduce repeated coordination</vt:lpstr>
      <vt:lpstr>Project management makes work state visible</vt:lpstr>
      <vt:lpstr>Git is a protocol for concurrent change</vt:lpstr>
      <vt:lpstr>A change moves through coordination boundaries</vt:lpstr>
      <vt:lpstr>5 Applying the model</vt:lpstr>
      <vt:lpstr>Your project has coordination at two scales</vt:lpstr>
      <vt:lpstr>Design the interface between teams</vt:lpstr>
      <vt:lpstr>Your Team Contract is a coordination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Bowers, Anna K</dc:creator>
  <cp:lastModifiedBy>James C Davis</cp:lastModifiedBy>
  <cp:revision>209</cp:revision>
  <dcterms:created xsi:type="dcterms:W3CDTF">2020-02-21T23:00:33Z</dcterms:created>
  <dcterms:modified xsi:type="dcterms:W3CDTF">2026-09-02T20:48:22Z</dcterms:modified>
</cp:coreProperties>
</file>