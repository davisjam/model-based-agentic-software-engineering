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2"/>
    <p:sldId id="271" r:id="rId16"/>
    <p:sldId id="294" r:id="rId44"/>
    <p:sldId id="295" r:id="rId45"/>
    <p:sldId id="296" r:id="rId46"/>
    <p:sldId id="270" r:id="rId15"/>
    <p:sldId id="268" r:id="rId13"/>
    <p:sldId id="269" r:id="rId14"/>
    <p:sldId id="274" r:id="rId19"/>
    <p:sldId id="275" r:id="rId20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283" r:id="rId28"/>
    <p:sldId id="307" r:id="rId57"/>
    <p:sldId id="276" r:id="rId21"/>
    <p:sldId id="277" r:id="rId22"/>
    <p:sldId id="278" r:id="rId23"/>
    <p:sldId id="279" r:id="rId24"/>
    <p:sldId id="280" r:id="rId25"/>
    <p:sldId id="281" r:id="rId26"/>
    <p:sldId id="284" r:id="rId29"/>
    <p:sldId id="272" r:id="rId17"/>
    <p:sldId id="287" r:id="rId32"/>
    <p:sldId id="288" r:id="rId33"/>
    <p:sldId id="289" r:id="rId34"/>
    <p:sldId id="290" r:id="rId35"/>
    <p:sldId id="291" r:id="rId36"/>
    <p:sldId id="273" r:id="rId18"/>
    <p:sldId id="292" r:id="rId37"/>
    <p:sldId id="293" r:id="rId3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>
        <p:scale>
          <a:sx n="72" d="100"/>
          <a:sy n="72" d="100"/>
        </p:scale>
        <p:origin x="28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move: validation supports a DECISION, not a proof.</a:t>
            </a:r>
          </a:p>
          <a:p>
            <a:r>
              <a:t>Do not mention testing yet — evidence mechanisms come in Section 3.</a:t>
            </a:r>
          </a:p>
          <a:p>
            <a:r>
              <a:t>'Move fast and break things' is a real strategy — ask when it is defensible.</a:t>
            </a:r>
          </a:p>
          <a:p>
            <a:r>
              <a:t>Pivot on the third panel: an update repairs the software, not the past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Callback to the Requirements + Specification lectures: requirements = world outcomes; specification = machine obligations under environment assumptions.</a:t>
            </a:r>
          </a:p>
          <a:p>
            <a:r>
              <a:t>Point: 'what must be true?' is not a fresh question here — it was answered upstream.</a:t>
            </a:r>
          </a:p>
          <a:p>
            <a:r>
              <a:t>Evidence for one claim may say nothing about another: 'it has been tested' is not an answer.</a:t>
            </a:r>
          </a:p>
          <a:p>
            <a:r>
              <a:t>Keep the payment service on the board — it runs through the rest of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only this leg. There is no reason to draw a V yet — the right side has to be earned.</a:t>
            </a:r>
          </a:p>
          <a:p>
            <a:r>
              <a:t>The chain is the payoff of the previous four lectures, compressed.</a:t>
            </a:r>
          </a:p>
          <a:p>
            <a:r>
              <a:t>Cut slide (old 10) folded into the right-hand panel: levels are convenient, not a 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Jackson's machine / environment / world, now aimed at evidence.</a:t>
            </a:r>
          </a:p>
          <a:p>
            <a:r>
              <a:t>The obligation is the thing we have to establish; everything after this is HOW.</a:t>
            </a:r>
          </a:p>
          <a:p>
            <a:r>
              <a:t>Payment specification stated once here, in the emphasis box — it recurs for three slides.</a:t>
            </a:r>
          </a:p>
          <a:p>
            <a:r>
              <a:t>A false environment assumption fails the requirement while the machine satisfies its spec.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room, do not answer. Most students will feel the system test is obviously best.</a:t>
            </a:r>
          </a:p>
          <a:p>
            <a:r>
              <a:t>Let them defend it — the three panels are their argument, made for them.</a:t>
            </a:r>
          </a:p>
          <a:p>
            <a:r>
              <a:t>Advance only once someone says 'but then you don't know what broke'.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motivates the whole taxonomy. Do not rush it.</a:t>
            </a:r>
          </a:p>
          <a:p>
            <a:r>
              <a:t>Ask: the end-to-end payment test failed. What do you do next Monday morning?</a:t>
            </a:r>
          </a:p>
          <a:p>
            <a:r>
              <a:t>Cost of diagnosis, not correctness, is what drives decomposition of evidence.</a:t>
            </a:r>
          </a:p>
          <a:p>
            <a:r>
              <a:t>Second reason: some properties are simply cheaper to exercise in the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specification, four questions. Walk down the rows in order.</a:t>
            </a:r>
          </a:p>
          <a:p>
            <a:r>
              <a:t>LOCAL: a unit-sized check of the idempotency key.</a:t>
            </a:r>
          </a:p>
          <a:p>
            <a:r>
              <a:t>COMPOSITION: the classic retry-times-retry defect — neither component is wrong alone.</a:t>
            </a:r>
          </a:p>
          <a:p>
            <a:r>
              <a:t>SYSTEM: the claim as the customer would state it, at the real boundary.</a:t>
            </a:r>
          </a:p>
          <a:p>
            <a:r>
              <a:t>WORLD: provider semantics — at-least-once delivery can still double-charge.</a:t>
            </a:r>
          </a:p>
          <a:p>
            <a:r>
              <a:t>Note no technique has been named yet. Scope first; mechanism is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end-to-end principle, arrived at rather than announced.</a:t>
            </a:r>
          </a:p>
          <a:p>
            <a:r>
              <a:t>Each example: locally correct, globally wrong. Ask which scope could have caught it.</a:t>
            </a:r>
          </a:p>
          <a:p>
            <a:r>
              <a:t>'But no lower' is the half students forget — cheapness is not the only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— and only now — draw the right leg. The aha is that the V is a summary, not a doctrine.</a:t>
            </a:r>
          </a:p>
          <a:p>
            <a:r>
              <a:t>Acceptance sits at the top of the right leg because it pairs with requirements.</a:t>
            </a:r>
          </a:p>
          <a:p>
            <a:r>
              <a:t>Do not say unit / integration / system / acceptance yet.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Ordered to match the V: acceptance at the top, unit at the bottom.</a:t>
            </a:r>
          </a:p>
          <a:p>
            <a:r>
              <a:t>Vocabulary attaches to a concept students already have — not four definitions to memorize.</a:t>
            </a:r>
          </a:p>
          <a:p>
            <a:r>
              <a:t>Stress the relativity: your 'unit' is somebody else's 'system'.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slide for Section 3 — four families, one per instrument.</a:t>
            </a:r>
          </a:p>
          <a:p>
            <a:r>
              <a:t>The orthogonality point is the one students most often get wrong: unit testing is a scope and a mechanism glued together by habit.</a:t>
            </a:r>
          </a:p>
          <a:p>
            <a:r>
              <a:t>Each family gets taught differently: they can predict testing's limit, not static analysis's.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 students produce the limitation. Ask the E-box question and wait.</a:t>
            </a:r>
          </a:p>
          <a:p>
            <a:r>
              <a:t>Expected answers: 'nothing about other inputs', 'only that one path worked'. Accept both.</a:t>
            </a:r>
          </a:p>
          <a:p>
            <a:r>
              <a:t>Name the oracle here but do not develop it — Section 4 opens on the oracle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Think-pair-share: hand them the 100% result and ask what it licenses.</a:t>
            </a:r>
          </a:p>
          <a:p>
            <a:r>
              <a:t>Harvest the taxonomy from them if possible — statement, branch, path, input/state, claim.</a:t>
            </a:r>
          </a:p>
          <a:p>
            <a:r>
              <a:t>The distinction that matters: EXECUTION coverage versus CLAIM coverage.</a:t>
            </a:r>
          </a:p>
          <a:p>
            <a:r>
              <a:t>Industry numbers are context, not a target: 100% statement coverage with weak assertions is a great deal of execution and very little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cannot predict this limitation, so teach it directly.</a:t>
            </a:r>
          </a:p>
          <a:p>
            <a:r>
              <a:t>Walk the example: the dereference is unreachable because of a fact outside the code.</a:t>
            </a:r>
          </a:p>
          <a:p>
            <a:r>
              <a:t>False positive / false negative first; soundness and completeness second.</a:t>
            </a:r>
          </a:p>
          <a:p>
            <a:r>
              <a:t>Anchor soundness/completeness to the TOOL'S promise — orientation flips between verification and bug-finding, so a universal slogan misleads.</a:t>
            </a:r>
          </a:p>
          <a:p>
            <a:r>
              <a:t>Punchline: evidence from static analysis is an inference under an abstraction.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what only people can do — code review, design review, requirements inspection.</a:t>
            </a:r>
          </a:p>
          <a:p>
            <a:r>
              <a:t>Then the chain on the right, one step at a time; it is an argument, not a list.</a:t>
            </a:r>
          </a:p>
          <a:p>
            <a:r>
              <a:t>Ground it in the literature rather than asserting 'humans are bad': prevalence effects in visual search (Wolfe 2005) and the attentional cost of sustained vigilance (Warm 2008).</a:t>
            </a:r>
          </a:p>
          <a:p>
            <a:r>
              <a:t>Next slide makes them live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poll. Give them sixty seconds and take a show of hands per number.</a:t>
            </a:r>
          </a:p>
          <a:p>
            <a:r>
              <a:t>Ten near-identical artifacts, one violation — a rare-target visual search.</a:t>
            </a:r>
          </a:p>
          <a:p>
            <a:r>
              <a:t>Record the vote spread before revealing; the spread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#7. Expect a substantial miss rate even with the rule on screen.</a:t>
            </a:r>
          </a:p>
          <a:p>
            <a:r>
              <a:t>Ask how long ten items took, then ask about a hundred.</a:t>
            </a:r>
          </a:p>
          <a:p>
            <a:r>
              <a:t>Do not moralize — the next slide draws the engineering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straight back to the vote they just lost.</a:t>
            </a:r>
          </a:p>
          <a:p>
            <a:r>
              <a:t>Three layers of evidence: experiment, human-factors synthesis, operational practice.</a:t>
            </a:r>
          </a:p>
          <a:p>
            <a:r>
              <a:t>The conclusion is NOT 'remove humans'. It is where to spend a scarce resource.</a:t>
            </a:r>
          </a:p>
          <a:p>
            <a:r>
              <a:t>Forward reference: Section 5 has the other half — volume of generated evidence is not independence of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students have never seen this family; give it real airtime.</a:t>
            </a:r>
          </a:p>
          <a:p>
            <a:r>
              <a:t>The contrast that matters: sample executions versus search behaviors.</a:t>
            </a:r>
          </a:p>
          <a:p>
            <a:r>
              <a:t>Be precise about what is verified — a model, under assumptions, sometimes within a bound.</a:t>
            </a:r>
          </a:p>
          <a:p>
            <a:r>
              <a:t>We return to this later in the course; today they need the shape of the bargain.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Easiest entry point to formal methods: no temporal logic, no proofs.</a:t>
            </a:r>
          </a:p>
          <a:p>
            <a:r>
              <a:t>Walk the two columns side by side — same assertion, different question.</a:t>
            </a:r>
          </a:p>
          <a:p>
            <a:r>
              <a:t>A counterexample trace is the most useful output a validation tool can produce.</a:t>
            </a:r>
          </a:p>
          <a:p>
            <a:r>
              <a:t>Be careful not to conflate mechanisms: SPIN enumerates states; BMC unrolls to depth k and asks a solver. Same idea, different machinery.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 minutes. The pedagogical twist: the artifact under validation need not be the code.</a:t>
            </a:r>
          </a:p>
          <a:p>
            <a:r>
              <a:t>Verified facts only — SPIN is Holzmann's, built at Bell Labs, ACM Software System Award 2001; he later led JPL's Laboratory for Reliable Software.</a:t>
            </a:r>
          </a:p>
          <a:p>
            <a:r>
              <a:t>MSL/Curiosity: model checking of critical multithreaded code plus hand-built SPIN models; the 45k-line C module reduced to a ~1,600-line model is the memorable number.</a:t>
            </a:r>
          </a:p>
          <a:p>
            <a:r>
              <a:t>Do not say 'the flight software was proven correct'. It was not, and that is the lesson.</a:t>
            </a:r>
          </a:p>
          <a:p>
            <a:r>
              <a:t>MAGE connection: explicit models are validation targets, not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 slide for Section 3: four instruments, four sources of evidence.</a:t>
            </a:r>
          </a:p>
          <a:p>
            <a:r>
              <a:t>The bottom line is the one to repeat: mechanism and scope are independent axes.</a:t>
            </a:r>
          </a:p>
          <a:p>
            <a:r>
              <a:t>Transition: instruments chosen, we still have to decide how to SEARCH for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Hinge from mechanisms to strategies.</a:t>
            </a:r>
          </a:p>
          <a:p>
            <a:r>
              <a:t>Sections 4-6 are rebuilt separately; this divider keeps the numbering coherent.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"/>
          <p:cNvSpPr txBox="1"/>
          <p:nvPr/>
        </p:nvSpPr>
        <p:spPr>
          <a:xfrm>
            <a:off x="439339" y="565150"/>
            <a:ext cx="8265319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ECE 30861/46100: Software Engineering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224171" y="1420000"/>
            <a:ext cx="8695654" cy="2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0" i="0" dirty="0">
                <a:solidFill>
                  <a:srgbClr val="000000"/>
                </a:solidFill>
              </a:rPr>
              <a:t>Software Validation</a:t>
            </a:r>
          </a:p>
          <a:p>
            <a:pPr algn="ctr">
              <a:spcBef>
                <a:spcPts val="600"/>
              </a:spcBef>
              <a:buNone/>
            </a:pPr>
            <a:r>
              <a:rPr lang="en-US" sz="2400" b="0" i="1" dirty="0">
                <a:solidFill>
                  <a:srgbClr val="555960"/>
                </a:solidFill>
              </a:rPr>
              <a:t>What evidence is sufficient to deliver a system into the world?</a:t>
            </a:r>
          </a:p>
          <a:p>
            <a:pPr algn="ctr">
              <a:spcBef>
                <a:spcPts val="90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224171" y="3760000"/>
            <a:ext cx="8695654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EVERY PRIOR DECISION NOW MEETS EVIDENCE</a:t>
            </a:r>
          </a:p>
        </p:txBody>
      </p:sp>
      <p:sp>
        <p:nvSpPr>
          <p:cNvPr id="110" name="B110"/>
          <p:cNvSpPr/>
          <p:nvPr/>
        </p:nvSpPr>
        <p:spPr>
          <a:xfrm>
            <a:off x="713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2373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B112"/>
          <p:cNvSpPr/>
          <p:nvPr/>
        </p:nvSpPr>
        <p:spPr>
          <a:xfrm>
            <a:off x="2717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EVIDENCE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4377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B114"/>
          <p:cNvSpPr/>
          <p:nvPr/>
        </p:nvSpPr>
        <p:spPr>
          <a:xfrm>
            <a:off x="4721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15" name="C115"/>
          <p:cNvCxnSpPr/>
          <p:nvPr/>
        </p:nvCxnSpPr>
        <p:spPr>
          <a:xfrm>
            <a:off x="6381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6" name="B116"/>
          <p:cNvSpPr/>
          <p:nvPr/>
        </p:nvSpPr>
        <p:spPr>
          <a:xfrm>
            <a:off x="6725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DELIVER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224171" y="5000000"/>
            <a:ext cx="8695654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Design produced a realization. Validation asks whether the evidence is enough to deliver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What is at stake?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How much assurance should we demand before delivery?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would justify delivering this system?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2122000" y="1120000"/>
            <a:ext cx="4900000" cy="90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THE ASSURANCE CASE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 structured argument connecting consequential claims to evidence</a:t>
            </a:r>
          </a:p>
        </p:txBody>
      </p:sp>
      <p:sp>
        <p:nvSpPr>
          <p:cNvPr id="101" name="B101"/>
          <p:cNvSpPr/>
          <p:nvPr/>
        </p:nvSpPr>
        <p:spPr>
          <a:xfrm>
            <a:off x="3372000" y="2360000"/>
            <a:ext cx="2400000" cy="56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02" name="C102"/>
          <p:cNvCxnSpPr/>
          <p:nvPr/>
        </p:nvCxnSpPr>
        <p:spPr>
          <a:xfrm>
            <a:off x="4572000" y="2960000"/>
            <a:ext cx="0" cy="6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T103"/>
          <p:cNvSpPr txBox="1"/>
          <p:nvPr/>
        </p:nvSpPr>
        <p:spPr>
          <a:xfrm>
            <a:off x="4700000" y="3060000"/>
            <a:ext cx="3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b="0" i="1" dirty="0">
                <a:solidFill>
                  <a:srgbClr val="555960"/>
                </a:solidFill>
              </a:rPr>
              <a:t>why should we believe it?</a:t>
            </a:r>
          </a:p>
        </p:txBody>
      </p:sp>
      <p:sp>
        <p:nvSpPr>
          <p:cNvPr id="104" name="P104"/>
          <p:cNvSpPr/>
          <p:nvPr/>
        </p:nvSpPr>
        <p:spPr>
          <a:xfrm>
            <a:off x="3372000" y="3660000"/>
            <a:ext cx="2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EVIDENCE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514350" y="4502160"/>
            <a:ext cx="8001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Validation is the discipline of building the appropriate argument for the claim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will build one Assurance Case through this lecture.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How sure do we need to be?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408948" y="3036911"/>
            <a:ext cx="84582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0" i="0" dirty="0">
                <a:solidFill>
                  <a:srgbClr val="000000"/>
                </a:solidFill>
              </a:rPr>
              <a:t>How confident must you be before </a:t>
            </a:r>
            <a:r>
              <a:rPr lang="en-US" sz="2800" dirty="0">
                <a:solidFill>
                  <a:srgbClr val="000000"/>
                </a:solidFill>
              </a:rPr>
              <a:t>shipping a product</a:t>
            </a:r>
            <a:r>
              <a:rPr lang="en-US" sz="2800" b="0" i="0" dirty="0">
                <a:solidFill>
                  <a:srgbClr val="000000"/>
                </a:solidFill>
              </a:rPr>
              <a:t>?</a:t>
            </a:r>
          </a:p>
          <a:p>
            <a:pPr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What kind of confidence is needed?</a:t>
            </a:r>
            <a:endParaRPr lang="en-US" sz="2800" b="0" i="0" dirty="0">
              <a:solidFill>
                <a:srgbClr val="000000"/>
              </a:solidFill>
            </a:endParaRPr>
          </a:p>
        </p:txBody>
      </p:sp>
      <p:sp>
        <p:nvSpPr>
          <p:cNvPr id="101" name="T101"/>
          <p:cNvSpPr txBox="1"/>
          <p:nvPr/>
        </p:nvSpPr>
        <p:spPr>
          <a:xfrm>
            <a:off x="547374" y="4092529"/>
            <a:ext cx="8181348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TODO app, a payroll system, and a radiation-control system are all software.</a:t>
            </a:r>
          </a:p>
        </p:txBody>
      </p:sp>
      <p:pic>
        <p:nvPicPr>
          <p:cNvPr id="4" name="Think Pair Share banner" descr="Think, Pair, Share">
            <a:extLst>
              <a:ext uri="{FF2B5EF4-FFF2-40B4-BE49-F238E27FC236}">
                <a16:creationId xmlns:a16="http://schemas.microsoft.com/office/drawing/2014/main" id="{9ED59124-F5ED-9B82-55A8-6D593C16C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500" y="1308972"/>
            <a:ext cx="4191000" cy="1206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“It depends” is the beginning of the answer, not the end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122000" y="108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Depends on what?</a:t>
            </a:r>
          </a:p>
        </p:txBody>
      </p:sp>
      <p:sp>
        <p:nvSpPr>
          <p:cNvPr id="101" name="P101"/>
          <p:cNvSpPr/>
          <p:nvPr/>
        </p:nvSpPr>
        <p:spPr>
          <a:xfrm>
            <a:off x="1122000" y="174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would you know how sure is enough?</a:t>
            </a:r>
          </a:p>
        </p:txBody>
      </p:sp>
      <p:sp>
        <p:nvSpPr>
          <p:cNvPr id="102" name="P102"/>
          <p:cNvSpPr/>
          <p:nvPr/>
        </p:nvSpPr>
        <p:spPr>
          <a:xfrm>
            <a:off x="1122000" y="240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should the evidence you seek change?</a:t>
            </a:r>
          </a:p>
        </p:txBody>
      </p:sp>
      <p:sp>
        <p:nvSpPr>
          <p:cNvPr id="103" name="P103"/>
          <p:cNvSpPr/>
          <p:nvPr/>
        </p:nvSpPr>
        <p:spPr>
          <a:xfrm>
            <a:off x="680000" y="3240000"/>
            <a:ext cx="244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TODO app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annoyance</a:t>
            </a:r>
          </a:p>
        </p:txBody>
      </p:sp>
      <p:sp>
        <p:nvSpPr>
          <p:cNvPr id="104" name="P104"/>
          <p:cNvSpPr/>
          <p:nvPr/>
        </p:nvSpPr>
        <p:spPr>
          <a:xfrm>
            <a:off x="3300000" y="3240000"/>
            <a:ext cx="2440000" cy="9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Payroll system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money, trust</a:t>
            </a:r>
          </a:p>
        </p:txBody>
      </p:sp>
      <p:sp>
        <p:nvSpPr>
          <p:cNvPr id="105" name="P105"/>
          <p:cNvSpPr/>
          <p:nvPr/>
        </p:nvSpPr>
        <p:spPr>
          <a:xfrm>
            <a:off x="5920000" y="3240000"/>
            <a:ext cx="2440000" cy="900000"/>
          </a:xfrm>
          <a:prstGeom prst="rect">
            <a:avLst/>
          </a:prstGeom>
          <a:solidFill>
            <a:srgbClr val="F3E7DE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X-Ray control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human safety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80000" y="4260000"/>
            <a:ext cx="794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Not the same strategy — because being wrong does not cost the same.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519088"/>
            <a:ext cx="859536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400" i="0" dirty="0">
                <a:solidFill>
                  <a:srgbClr val="FFFFFF"/>
                </a:solidFill>
              </a:rPr>
              <a:t>Engineers say what it depends </a:t>
            </a:r>
            <a:r>
              <a:rPr lang="en-US" sz="2400" b="1" i="1" dirty="0">
                <a:solidFill>
                  <a:srgbClr val="FFFFFF"/>
                </a:solidFill>
              </a:rPr>
              <a:t>on</a:t>
            </a:r>
            <a:r>
              <a:rPr lang="en-US" sz="2400" b="1" i="0" dirty="0">
                <a:solidFill>
                  <a:srgbClr val="FFFFFF"/>
                </a:solidFill>
              </a:rPr>
              <a:t>, </a:t>
            </a:r>
            <a:r>
              <a:rPr lang="en-US" sz="2400" i="0" dirty="0">
                <a:solidFill>
                  <a:srgbClr val="FFFFFF"/>
                </a:solidFill>
              </a:rPr>
              <a:t>and</a:t>
            </a:r>
          </a:p>
          <a:p>
            <a:pPr algn="ctr">
              <a:buNone/>
            </a:pPr>
            <a:r>
              <a:rPr lang="en-US" sz="2400" i="0" dirty="0">
                <a:solidFill>
                  <a:srgbClr val="FFFFFF"/>
                </a:solidFill>
              </a:rPr>
              <a:t>how that changes the evidence we require.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Consequence changes the burden of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48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GAME</a:t>
            </a:r>
          </a:p>
        </p:txBody>
      </p:sp>
      <p:sp>
        <p:nvSpPr>
          <p:cNvPr id="101" name="P101"/>
          <p:cNvSpPr/>
          <p:nvPr/>
        </p:nvSpPr>
        <p:spPr>
          <a:xfrm>
            <a:off x="482000" y="1860000"/>
            <a:ext cx="2560000" cy="1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draws a character wrong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annoys a player</a:t>
            </a:r>
          </a:p>
        </p:txBody>
      </p:sp>
      <p:sp>
        <p:nvSpPr>
          <p:cNvPr id="102" name="B102"/>
          <p:cNvSpPr/>
          <p:nvPr/>
        </p:nvSpPr>
        <p:spPr>
          <a:xfrm>
            <a:off x="329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TODO APP</a:t>
            </a:r>
          </a:p>
        </p:txBody>
      </p:sp>
      <p:sp>
        <p:nvSpPr>
          <p:cNvPr id="103" name="P103"/>
          <p:cNvSpPr/>
          <p:nvPr/>
        </p:nvSpPr>
        <p:spPr>
          <a:xfrm>
            <a:off x="3292000" y="1860000"/>
            <a:ext cx="2560000" cy="19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occasionally loses a task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destroys information a user depends on</a:t>
            </a:r>
          </a:p>
        </p:txBody>
      </p:sp>
      <p:sp>
        <p:nvSpPr>
          <p:cNvPr id="104" name="B104"/>
          <p:cNvSpPr/>
          <p:nvPr/>
        </p:nvSpPr>
        <p:spPr>
          <a:xfrm>
            <a:off x="610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X-Ray Control</a:t>
            </a:r>
          </a:p>
        </p:txBody>
      </p:sp>
      <p:sp>
        <p:nvSpPr>
          <p:cNvPr id="105" name="P105"/>
          <p:cNvSpPr/>
          <p:nvPr/>
        </p:nvSpPr>
        <p:spPr>
          <a:xfrm>
            <a:off x="6102000" y="1860000"/>
            <a:ext cx="2560000" cy="1900000"/>
          </a:xfrm>
          <a:prstGeom prst="rect">
            <a:avLst/>
          </a:prstGeom>
          <a:solidFill>
            <a:srgbClr val="F3E7DE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delivers an incorrect dose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directly injures its user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482000" y="3960000"/>
            <a:ext cx="818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Severity and causal distance both matter: almost any defect connects to harm through some chain,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but a graphical glitch is not safety-critical merely because frustrated players sometimes behave badly.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more substantial and direct the possible consequence, the more evidence we should demand.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Validation is a decision under uncertainty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2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Validation does not demand certainty.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It asks whether the available evidence justifies acting under the remaining uncertainty.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228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Software is updateable.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Sometimes it is right to deliver under known uncertainty, observe, and repair — delivery can itself be part of learning.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344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But an update repairs the software,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not the consequences of its past behavior. It cannot recover lost money or reverse an injury.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asks what evidence is sufficient for THIS delivery —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uncertainty can we afford to carry?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Where should evidence attach?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Start from the specification; find the scope that can establish the claim.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claims come from the specification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96112"/>
            <a:ext cx="80101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The payment service specification already says what must be true:</a:t>
            </a:r>
          </a:p>
        </p:txBody>
      </p:sp>
      <p:sp>
        <p:nvSpPr>
          <p:cNvPr id="101" name="P101"/>
          <p:cNvSpPr/>
          <p:nvPr/>
        </p:nvSpPr>
        <p:spPr>
          <a:xfrm>
            <a:off x="566928" y="1417320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payment submitted once is charged at most once</a:t>
            </a:r>
          </a:p>
        </p:txBody>
      </p:sp>
      <p:sp>
        <p:nvSpPr>
          <p:cNvPr id="102" name="P102"/>
          <p:cNvSpPr/>
          <p:nvPr/>
        </p:nvSpPr>
        <p:spPr>
          <a:xfrm>
            <a:off x="566928" y="2112264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An unauthorized user cannot initiate a payment</a:t>
            </a:r>
          </a:p>
        </p:txBody>
      </p:sp>
      <p:sp>
        <p:nvSpPr>
          <p:cNvPr id="103" name="P103"/>
          <p:cNvSpPr/>
          <p:nvPr/>
        </p:nvSpPr>
        <p:spPr>
          <a:xfrm>
            <a:off x="566928" y="2807208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completed payment appears in the account history</a:t>
            </a:r>
          </a:p>
        </p:txBody>
      </p:sp>
      <p:sp>
        <p:nvSpPr>
          <p:cNvPr id="104" name="P104"/>
          <p:cNvSpPr/>
          <p:nvPr/>
        </p:nvSpPr>
        <p:spPr>
          <a:xfrm>
            <a:off x="566928" y="3502152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normal request completes within an acceptable time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566928" y="4343400"/>
            <a:ext cx="8010144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Requirements state outcomes in the world. A specification states the machine’s obligations under assumptions about its environment.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Validation inherits these claims. Its question is which of them are consequential — and what evidence could expose a violation.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do not invent claims during validation. We inherit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Engineering models grow more precise toward the code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50" name="L150"/>
          <p:cNvSpPr/>
          <p:nvPr/>
        </p:nvSpPr>
        <p:spPr>
          <a:xfrm>
            <a:off x="235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0" y="0"/>
                </a:moveTo>
                <a:lnTo>
                  <a:pt x="195000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T110"/>
          <p:cNvSpPr txBox="1"/>
          <p:nvPr/>
        </p:nvSpPr>
        <p:spPr>
          <a:xfrm>
            <a:off x="300000" y="94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Requirements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world outcomes</a:t>
            </a:r>
          </a:p>
        </p:txBody>
      </p:sp>
      <p:sp>
        <p:nvSpPr>
          <p:cNvPr id="111" name="T111"/>
          <p:cNvSpPr txBox="1"/>
          <p:nvPr/>
        </p:nvSpPr>
        <p:spPr>
          <a:xfrm>
            <a:off x="300000" y="15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Specification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machine obligations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environment assumptions</a:t>
            </a:r>
          </a:p>
        </p:txBody>
      </p:sp>
      <p:sp>
        <p:nvSpPr>
          <p:cNvPr id="112" name="T112"/>
          <p:cNvSpPr txBox="1"/>
          <p:nvPr/>
        </p:nvSpPr>
        <p:spPr>
          <a:xfrm>
            <a:off x="300000" y="23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Architecture + Design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progressively more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precise engineering models</a:t>
            </a:r>
          </a:p>
        </p:txBody>
      </p:sp>
      <p:sp>
        <p:nvSpPr>
          <p:cNvPr id="113" name="P113"/>
          <p:cNvSpPr/>
          <p:nvPr/>
        </p:nvSpPr>
        <p:spPr>
          <a:xfrm>
            <a:off x="1780000" y="3060000"/>
            <a:ext cx="160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system organization</a:t>
            </a:r>
          </a:p>
        </p:txBody>
      </p:sp>
      <p:sp>
        <p:nvSpPr>
          <p:cNvPr id="114" name="P114"/>
          <p:cNvSpPr/>
          <p:nvPr/>
        </p:nvSpPr>
        <p:spPr>
          <a:xfrm>
            <a:off x="1920000" y="3400000"/>
            <a:ext cx="132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subsystem</a:t>
            </a:r>
          </a:p>
        </p:txBody>
      </p:sp>
      <p:sp>
        <p:nvSpPr>
          <p:cNvPr id="115" name="P115"/>
          <p:cNvSpPr/>
          <p:nvPr/>
        </p:nvSpPr>
        <p:spPr>
          <a:xfrm>
            <a:off x="2060000" y="3740000"/>
            <a:ext cx="104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16" name="T116"/>
          <p:cNvSpPr txBox="1"/>
          <p:nvPr/>
        </p:nvSpPr>
        <p:spPr>
          <a:xfrm>
            <a:off x="1780000" y="4090000"/>
            <a:ext cx="1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>(no fixed number of levels)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3500000" y="4620000"/>
            <a:ext cx="1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Realization</a:t>
            </a:r>
          </a:p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Implementation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chain of models growing more precise — not a schedule of phases.</a:t>
            </a:r>
          </a:p>
        </p:txBody>
      </p:sp>
      <p:sp>
        <p:nvSpPr>
          <p:cNvPr id="130" name="P130"/>
          <p:cNvSpPr/>
          <p:nvPr/>
        </p:nvSpPr>
        <p:spPr>
          <a:xfrm>
            <a:off x="4754880" y="941832"/>
            <a:ext cx="3703320" cy="2194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READ IT AS A CHAIN OF MODELS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Requirements say what the world must get. The specification says what the machine must do, under stated environment assumptions. Architecture and design say how. The implementation is the realized machine.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The middle has no fixed number of levels — refine as far as the engineering problem requires.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/>
      <p:bldP spid="111" grpId="1"/>
      <p:bldP spid="112" grpId="2"/>
      <p:bldP spid="113" grpId="3" animBg="1"/>
      <p:bldP spid="114" grpId="4" animBg="1"/>
      <p:bldP spid="115" grpId="5" animBg="1"/>
      <p:bldP spid="116" grpId="6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V is the summary: models left, evidence at matching scopes right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50" name="L150"/>
          <p:cNvSpPr/>
          <p:nvPr/>
        </p:nvSpPr>
        <p:spPr>
          <a:xfrm>
            <a:off x="235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0" y="0"/>
                </a:moveTo>
                <a:lnTo>
                  <a:pt x="195000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1" name="L151"/>
          <p:cNvSpPr/>
          <p:nvPr/>
        </p:nvSpPr>
        <p:spPr>
          <a:xfrm>
            <a:off x="430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1950000" y="0"/>
                </a:moveTo>
                <a:lnTo>
                  <a:pt x="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T110"/>
          <p:cNvSpPr txBox="1"/>
          <p:nvPr/>
        </p:nvSpPr>
        <p:spPr>
          <a:xfrm>
            <a:off x="300000" y="94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Requirements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world outcomes</a:t>
            </a:r>
          </a:p>
        </p:txBody>
      </p:sp>
      <p:sp>
        <p:nvSpPr>
          <p:cNvPr id="111" name="T111"/>
          <p:cNvSpPr txBox="1"/>
          <p:nvPr/>
        </p:nvSpPr>
        <p:spPr>
          <a:xfrm>
            <a:off x="300000" y="15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Specification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machine obligations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environment assumptions</a:t>
            </a:r>
          </a:p>
        </p:txBody>
      </p:sp>
      <p:sp>
        <p:nvSpPr>
          <p:cNvPr id="112" name="T112"/>
          <p:cNvSpPr txBox="1"/>
          <p:nvPr/>
        </p:nvSpPr>
        <p:spPr>
          <a:xfrm>
            <a:off x="300000" y="23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Architecture + Design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progressively more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precise engineering models</a:t>
            </a:r>
          </a:p>
        </p:txBody>
      </p:sp>
      <p:sp>
        <p:nvSpPr>
          <p:cNvPr id="113" name="P113"/>
          <p:cNvSpPr/>
          <p:nvPr/>
        </p:nvSpPr>
        <p:spPr>
          <a:xfrm>
            <a:off x="1780000" y="3060000"/>
            <a:ext cx="160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system organization</a:t>
            </a:r>
          </a:p>
        </p:txBody>
      </p:sp>
      <p:sp>
        <p:nvSpPr>
          <p:cNvPr id="114" name="P114"/>
          <p:cNvSpPr/>
          <p:nvPr/>
        </p:nvSpPr>
        <p:spPr>
          <a:xfrm>
            <a:off x="1920000" y="3400000"/>
            <a:ext cx="132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subsystem</a:t>
            </a:r>
          </a:p>
        </p:txBody>
      </p:sp>
      <p:sp>
        <p:nvSpPr>
          <p:cNvPr id="115" name="P115"/>
          <p:cNvSpPr/>
          <p:nvPr/>
        </p:nvSpPr>
        <p:spPr>
          <a:xfrm>
            <a:off x="2060000" y="3740000"/>
            <a:ext cx="104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3500000" y="4620000"/>
            <a:ext cx="1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Realization</a:t>
            </a:r>
          </a:p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Implementation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420000" y="94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World evidence</a:t>
            </a:r>
          </a:p>
        </p:txBody>
      </p:sp>
      <p:sp>
        <p:nvSpPr>
          <p:cNvPr id="121" name="T121"/>
          <p:cNvSpPr txBox="1"/>
          <p:nvPr/>
        </p:nvSpPr>
        <p:spPr>
          <a:xfrm>
            <a:off x="6420000" y="15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System evidence</a:t>
            </a:r>
          </a:p>
        </p:txBody>
      </p:sp>
      <p:sp>
        <p:nvSpPr>
          <p:cNvPr id="122" name="T122"/>
          <p:cNvSpPr txBox="1"/>
          <p:nvPr/>
        </p:nvSpPr>
        <p:spPr>
          <a:xfrm>
            <a:off x="6420000" y="23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Composition evidence</a:t>
            </a:r>
          </a:p>
        </p:txBody>
      </p:sp>
      <p:sp>
        <p:nvSpPr>
          <p:cNvPr id="123" name="T123"/>
          <p:cNvSpPr txBox="1"/>
          <p:nvPr/>
        </p:nvSpPr>
        <p:spPr>
          <a:xfrm>
            <a:off x="6420000" y="35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Local evidence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Left: models growing more precise. Right: evidence where each property lives.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5138928"/>
            <a:ext cx="801014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The diagram summarizes an argument we already made — it is not a process to memorize.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/>
      <p:bldP spid="121" grpId="1"/>
      <p:bldP spid="122" grpId="2"/>
      <p:bldP spid="123" grpId="3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Now the conventional vocabulary has something to attach to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76656" y="1115568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Acceptance</a:t>
            </a:r>
          </a:p>
        </p:txBody>
      </p:sp>
      <p:sp>
        <p:nvSpPr>
          <p:cNvPr id="101" name="P101"/>
          <p:cNvSpPr/>
          <p:nvPr/>
        </p:nvSpPr>
        <p:spPr>
          <a:xfrm>
            <a:off x="3163824" y="1115568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that the system is acceptable for its intended use</a:t>
            </a:r>
          </a:p>
        </p:txBody>
      </p:sp>
      <p:sp>
        <p:nvSpPr>
          <p:cNvPr id="102" name="B102"/>
          <p:cNvSpPr/>
          <p:nvPr/>
        </p:nvSpPr>
        <p:spPr>
          <a:xfrm>
            <a:off x="676656" y="1856232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103" name="P103"/>
          <p:cNvSpPr/>
          <p:nvPr/>
        </p:nvSpPr>
        <p:spPr>
          <a:xfrm>
            <a:off x="3163824" y="1856232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the assembled system at a chosen boundary</a:t>
            </a:r>
          </a:p>
        </p:txBody>
      </p:sp>
      <p:sp>
        <p:nvSpPr>
          <p:cNvPr id="104" name="B104"/>
          <p:cNvSpPr/>
          <p:nvPr/>
        </p:nvSpPr>
        <p:spPr>
          <a:xfrm>
            <a:off x="676656" y="2596896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105" name="P105"/>
          <p:cNvSpPr/>
          <p:nvPr/>
        </p:nvSpPr>
        <p:spPr>
          <a:xfrm>
            <a:off x="3163824" y="2596896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interactions among parts</a:t>
            </a:r>
          </a:p>
        </p:txBody>
      </p:sp>
      <p:sp>
        <p:nvSpPr>
          <p:cNvPr id="106" name="B106"/>
          <p:cNvSpPr/>
          <p:nvPr/>
        </p:nvSpPr>
        <p:spPr>
          <a:xfrm>
            <a:off x="676656" y="3337560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Unit</a:t>
            </a:r>
          </a:p>
        </p:txBody>
      </p:sp>
      <p:sp>
        <p:nvSpPr>
          <p:cNvPr id="107" name="P107"/>
          <p:cNvSpPr/>
          <p:nvPr/>
        </p:nvSpPr>
        <p:spPr>
          <a:xfrm>
            <a:off x="3163824" y="3337560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a chosen part in isolation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76656" y="4206240"/>
            <a:ext cx="793699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These name scopes of evidence. A subsystem may be a “unit” from one perspective and a “system” with its own architecture from another.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The words are relative. The question they answer — where does this property live? — is not.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will hear these words constantly. Now you know what they describe.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Check a property at the lowest scope that can establish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96112"/>
            <a:ext cx="80101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Local evidence is cheaper. But some properties do not exist locally at all.</a:t>
            </a:r>
          </a:p>
        </p:txBody>
      </p:sp>
      <p:sp>
        <p:nvSpPr>
          <p:cNvPr id="101" name="P101"/>
          <p:cNvSpPr/>
          <p:nvPr/>
        </p:nvSpPr>
        <p:spPr>
          <a:xfrm>
            <a:off x="566928" y="1417320"/>
            <a:ext cx="8010144" cy="69494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Three services each meet their local latency budget — the end-to-end path exceeds the system budget.</a:t>
            </a:r>
          </a:p>
        </p:txBody>
      </p:sp>
      <p:sp>
        <p:nvSpPr>
          <p:cNvPr id="102" name="P102"/>
          <p:cNvSpPr/>
          <p:nvPr/>
        </p:nvSpPr>
        <p:spPr>
          <a:xfrm>
            <a:off x="566928" y="2221992"/>
            <a:ext cx="8010144" cy="69494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Two components each behave correctly — their assumptions leave one responsibility owned by neither.</a:t>
            </a:r>
          </a:p>
        </p:txBody>
      </p:sp>
      <p:sp>
        <p:nvSpPr>
          <p:cNvPr id="103" name="P103"/>
          <p:cNvSpPr/>
          <p:nvPr/>
        </p:nvSpPr>
        <p:spPr>
          <a:xfrm>
            <a:off x="566928" y="3026664"/>
            <a:ext cx="8010144" cy="69494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Two retry mechanisms are each correct — their interaction lets the same operation happen twice.</a:t>
            </a:r>
          </a:p>
        </p:txBody>
      </p:sp>
      <p:sp>
        <p:nvSpPr>
          <p:cNvPr id="120" name="E120"/>
          <p:cNvSpPr/>
          <p:nvPr/>
        </p:nvSpPr>
        <p:spPr>
          <a:xfrm>
            <a:off x="566928" y="3931920"/>
            <a:ext cx="8010144" cy="10058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Check a property at the lowest scope that can actually establish it — but no lower.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You cannot decompose away a property that exists only in composition.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The cheapest scope that can establish the property — never cheaper than the property itself.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specification hands us a system-level obligation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21792" y="1188720"/>
            <a:ext cx="2359152" cy="89611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MACHINE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FFFFFF"/>
                </a:solidFill>
              </a:rPr>
              <a:t>what we build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3017520" y="1435608"/>
            <a:ext cx="356616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+</a:t>
            </a:r>
          </a:p>
        </p:txBody>
      </p:sp>
      <p:sp>
        <p:nvSpPr>
          <p:cNvPr id="102" name="B102"/>
          <p:cNvSpPr/>
          <p:nvPr/>
        </p:nvSpPr>
        <p:spPr>
          <a:xfrm>
            <a:off x="3419856" y="1188720"/>
            <a:ext cx="2359152" cy="89611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ENVIRONMENT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FFFFFF"/>
                </a:solidFill>
              </a:rPr>
              <a:t>domain assumptions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5861304" y="1636776"/>
            <a:ext cx="521208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E104"/>
          <p:cNvSpPr/>
          <p:nvPr/>
        </p:nvSpPr>
        <p:spPr>
          <a:xfrm>
            <a:off x="6483096" y="1188720"/>
            <a:ext cx="2139696" cy="896112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WORLD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the required outcome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2468880"/>
            <a:ext cx="8010144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Evidence must establish that the machine meets its specification under the environment assumptions — and that this produces the required outcome in the world.</a:t>
            </a:r>
          </a:p>
        </p:txBody>
      </p:sp>
      <p:sp>
        <p:nvSpPr>
          <p:cNvPr id="120" name="E120"/>
          <p:cNvSpPr/>
          <p:nvPr/>
        </p:nvSpPr>
        <p:spPr>
          <a:xfrm>
            <a:off x="1188720" y="3703320"/>
            <a:ext cx="6766560" cy="7772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A submitted payment shall cause at most one charge.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4663440"/>
            <a:ext cx="801014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Most evidence attaches to the machine. The requirement lives in the world, and the link between them runs through assumptions we have not tested.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Machine-side evidence cannot expose a false domain assumption. World evidence can.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measurement is not evidence by itself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9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MODEL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151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T102"/>
          <p:cNvSpPr txBox="1"/>
          <p:nvPr/>
        </p:nvSpPr>
        <p:spPr>
          <a:xfrm>
            <a:off x="114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represents</a:t>
            </a:r>
          </a:p>
        </p:txBody>
      </p:sp>
      <p:sp>
        <p:nvSpPr>
          <p:cNvPr id="103" name="P103"/>
          <p:cNvSpPr/>
          <p:nvPr/>
        </p:nvSpPr>
        <p:spPr>
          <a:xfrm>
            <a:off x="168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PROPERTY</a:t>
            </a:r>
          </a:p>
        </p:txBody>
      </p:sp>
      <p:cxnSp>
        <p:nvCxnSpPr>
          <p:cNvPr id="104" name="C104"/>
          <p:cNvCxnSpPr/>
          <p:nvPr/>
        </p:nvCxnSpPr>
        <p:spPr>
          <a:xfrm>
            <a:off x="300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5" name="T105"/>
          <p:cNvSpPr txBox="1"/>
          <p:nvPr/>
        </p:nvSpPr>
        <p:spPr>
          <a:xfrm>
            <a:off x="263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assessed by</a:t>
            </a:r>
          </a:p>
        </p:txBody>
      </p:sp>
      <p:sp>
        <p:nvSpPr>
          <p:cNvPr id="106" name="P106"/>
          <p:cNvSpPr/>
          <p:nvPr/>
        </p:nvSpPr>
        <p:spPr>
          <a:xfrm>
            <a:off x="317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METRIC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49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8" name="T108"/>
          <p:cNvSpPr txBox="1"/>
          <p:nvPr/>
        </p:nvSpPr>
        <p:spPr>
          <a:xfrm>
            <a:off x="412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applied</a:t>
            </a:r>
          </a:p>
        </p:txBody>
      </p:sp>
      <p:sp>
        <p:nvSpPr>
          <p:cNvPr id="109" name="P109"/>
          <p:cNvSpPr/>
          <p:nvPr/>
        </p:nvSpPr>
        <p:spPr>
          <a:xfrm>
            <a:off x="466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MEASUREMENT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598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1" name="T111"/>
          <p:cNvSpPr txBox="1"/>
          <p:nvPr/>
        </p:nvSpPr>
        <p:spPr>
          <a:xfrm>
            <a:off x="561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bears on</a:t>
            </a:r>
          </a:p>
        </p:txBody>
      </p:sp>
      <p:sp>
        <p:nvSpPr>
          <p:cNvPr id="112" name="P112"/>
          <p:cNvSpPr/>
          <p:nvPr/>
        </p:nvSpPr>
        <p:spPr>
          <a:xfrm>
            <a:off x="615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EVIDENCE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747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T114"/>
          <p:cNvSpPr txBox="1"/>
          <p:nvPr/>
        </p:nvSpPr>
        <p:spPr>
          <a:xfrm>
            <a:off x="710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interpreted</a:t>
            </a:r>
          </a:p>
        </p:txBody>
      </p:sp>
      <p:sp>
        <p:nvSpPr>
          <p:cNvPr id="115" name="P115"/>
          <p:cNvSpPr/>
          <p:nvPr/>
        </p:nvSpPr>
        <p:spPr>
          <a:xfrm>
            <a:off x="764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JUDGMENT</a:t>
            </a:r>
          </a:p>
        </p:txBody>
      </p:sp>
      <p:sp>
        <p:nvSpPr>
          <p:cNvPr id="180" name="T180"/>
          <p:cNvSpPr txBox="1"/>
          <p:nvPr/>
        </p:nvSpPr>
        <p:spPr>
          <a:xfrm>
            <a:off x="680000" y="3060000"/>
            <a:ext cx="79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model predicts a request path stays under 500 ms; the metric is p99 latency under workload W.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measurement is 420 ms — meaningless without the property, metric, and conditions that give it meaning.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mismatch is information: a defect, an incomplete model, a false assumption, or a poor metric.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 Assurance Case makes this reasoning inspectable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172000" y="1180000"/>
            <a:ext cx="280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572000" y="1880000"/>
            <a:ext cx="0" cy="64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T102"/>
          <p:cNvSpPr txBox="1"/>
          <p:nvPr/>
        </p:nvSpPr>
        <p:spPr>
          <a:xfrm>
            <a:off x="4720000" y="1980000"/>
            <a:ext cx="34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why should we believe it?</a:t>
            </a:r>
          </a:p>
        </p:txBody>
      </p:sp>
      <p:sp>
        <p:nvSpPr>
          <p:cNvPr id="103" name="P103"/>
          <p:cNvSpPr/>
          <p:nvPr/>
        </p:nvSpPr>
        <p:spPr>
          <a:xfrm>
            <a:off x="3172000" y="260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EVIDENCE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3560000"/>
            <a:ext cx="794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Every consequential claim owes an argument from evidence, under stated assumptions.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No notation yet — just the discipline. We will make the argument explicit at the end.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pile of green tests is not an argument until you can say which claim they support, and why.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900" b="0" i="0" dirty="0">
                <a:solidFill>
                  <a:srgbClr val="000000"/>
                </a:solidFill>
              </a:rPr>
              <a:t>How can we obtain evidence?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Four ways engineers come to know things about software.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Four ways to obtain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96112"/>
            <a:ext cx="80101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claim and a scope say WHERE evidence must attach. They do not say how to get it.</a:t>
            </a:r>
          </a:p>
        </p:txBody>
      </p:sp>
      <p:sp>
        <p:nvSpPr>
          <p:cNvPr id="110" name="B110"/>
          <p:cNvSpPr/>
          <p:nvPr/>
        </p:nvSpPr>
        <p:spPr>
          <a:xfrm>
            <a:off x="566928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DYNAMIC TESTING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1" dirty="0">
                <a:solidFill>
                  <a:srgbClr val="000000"/>
                </a:solidFill>
              </a:rPr>
              <a:t>run it and observe what happens</a:t>
            </a:r>
          </a:p>
        </p:txBody>
      </p:sp>
      <p:sp>
        <p:nvSpPr>
          <p:cNvPr id="111" name="B111"/>
          <p:cNvSpPr/>
          <p:nvPr/>
        </p:nvSpPr>
        <p:spPr>
          <a:xfrm>
            <a:off x="2615184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121" name="P121"/>
          <p:cNvSpPr/>
          <p:nvPr/>
        </p:nvSpPr>
        <p:spPr>
          <a:xfrm>
            <a:off x="2615184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1" dirty="0">
                <a:solidFill>
                  <a:srgbClr val="000000"/>
                </a:solidFill>
              </a:rPr>
              <a:t>infer properties without running it</a:t>
            </a:r>
          </a:p>
        </p:txBody>
      </p:sp>
      <p:sp>
        <p:nvSpPr>
          <p:cNvPr id="112" name="B112"/>
          <p:cNvSpPr/>
          <p:nvPr/>
        </p:nvSpPr>
        <p:spPr>
          <a:xfrm>
            <a:off x="4663440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HUMAN INSPECTION</a:t>
            </a:r>
          </a:p>
        </p:txBody>
      </p:sp>
      <p:sp>
        <p:nvSpPr>
          <p:cNvPr id="122" name="P122"/>
          <p:cNvSpPr/>
          <p:nvPr/>
        </p:nvSpPr>
        <p:spPr>
          <a:xfrm>
            <a:off x="4663440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1" dirty="0">
                <a:solidFill>
                  <a:srgbClr val="000000"/>
                </a:solidFill>
              </a:rPr>
              <a:t>people read it and judge</a:t>
            </a:r>
          </a:p>
        </p:txBody>
      </p:sp>
      <p:sp>
        <p:nvSpPr>
          <p:cNvPr id="113" name="B113"/>
          <p:cNvSpPr/>
          <p:nvPr/>
        </p:nvSpPr>
        <p:spPr>
          <a:xfrm>
            <a:off x="6711696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FORMAL METHODS</a:t>
            </a:r>
          </a:p>
        </p:txBody>
      </p:sp>
      <p:sp>
        <p:nvSpPr>
          <p:cNvPr id="123" name="P123"/>
          <p:cNvSpPr/>
          <p:nvPr/>
        </p:nvSpPr>
        <p:spPr>
          <a:xfrm>
            <a:off x="6711696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1" dirty="0">
                <a:solidFill>
                  <a:srgbClr val="000000"/>
                </a:solidFill>
              </a:rPr>
              <a:t>reason mechanically over a model</a:t>
            </a:r>
          </a:p>
        </p:txBody>
      </p:sp>
      <p:sp>
        <p:nvSpPr>
          <p:cNvPr id="130" name="E130"/>
          <p:cNvSpPr/>
          <p:nvPr/>
        </p:nvSpPr>
        <p:spPr>
          <a:xfrm>
            <a:off x="566928" y="3520440"/>
            <a:ext cx="8010144" cy="105156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Mechanism and scope are independent choices.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 unit, a subsystem, or the whole system can be tested, analyzed, inspected, or modeled.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4754880"/>
            <a:ext cx="801014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Each buys a different kind of knowledge — and each has a limitation you should be able to state.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“Unit” says where the evidence attaches. “Testing” says how it was obtained.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Known answers → example-based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We know the important cases and their expected results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Example-based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Direct and cheap when the cases and their answers are known — and silent about every case we did not select.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Strong where you looked. It says nothing about the inputs you never chose.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General properties → property-based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 property should hold across a whole class of inputs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Property-based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State what must be true in general; let the tool generate inputs and search for a counterexample.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trade hand-picked examples for the harder work of stating the property.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oracle is often the expensive part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300000"/>
            <a:ext cx="372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Generating inputs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1" dirty="0">
                <a:solidFill>
                  <a:srgbClr val="57534E"/>
                </a:solidFill>
              </a:rPr>
              <a:t>often cheap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4360000" y="1520000"/>
            <a:ext cx="420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vs</a:t>
            </a:r>
          </a:p>
        </p:txBody>
      </p:sp>
      <p:sp>
        <p:nvSpPr>
          <p:cNvPr id="102" name="P102"/>
          <p:cNvSpPr/>
          <p:nvPr/>
        </p:nvSpPr>
        <p:spPr>
          <a:xfrm>
            <a:off x="4900000" y="1300000"/>
            <a:ext cx="372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Stating the correct answer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1" dirty="0">
                <a:solidFill>
                  <a:srgbClr val="57534E"/>
                </a:solidFill>
              </a:rPr>
              <a:t>often expensive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500000"/>
            <a:ext cx="794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0" dirty="0">
                <a:solidFill>
                  <a:srgbClr val="000000"/>
                </a:solidFill>
              </a:rPr>
              <a:t>Several techniques are really answers to this one difficulty:</a:t>
            </a:r>
          </a:p>
        </p:txBody>
      </p:sp>
      <p:sp>
        <p:nvSpPr>
          <p:cNvPr id="120" name="P120"/>
          <p:cNvSpPr/>
          <p:nvPr/>
        </p:nvSpPr>
        <p:spPr>
          <a:xfrm>
            <a:off x="680000" y="30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Property-based testing — state the answer as a property</a:t>
            </a:r>
          </a:p>
        </p:txBody>
      </p:sp>
      <p:sp>
        <p:nvSpPr>
          <p:cNvPr id="121" name="P121"/>
          <p:cNvSpPr/>
          <p:nvPr/>
        </p:nvSpPr>
        <p:spPr>
          <a:xfrm>
            <a:off x="680000" y="36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Differential testing — let an independent implementation flag disagreements</a:t>
            </a:r>
          </a:p>
        </p:txBody>
      </p:sp>
      <p:sp>
        <p:nvSpPr>
          <p:cNvPr id="122" name="P122"/>
          <p:cNvSpPr/>
          <p:nvPr/>
        </p:nvSpPr>
        <p:spPr>
          <a:xfrm>
            <a:off x="680000" y="42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Metamorphic testing — check how related runs must relate when the answer is unavailable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Recognize the shared oracle problem — the next technique you meet will be answering it too.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Another implementation → differential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The correct answer is expensive to state case by case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Differential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Run the same inputs through independently developed implementations; investigate every disagreement.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An independent implementation becomes a partial oracle — disagreement is the signal.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Related executions → metamorphic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We cannot state the answer, but we know how related runs must relate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Metamorphic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Check a relation between runs: sorting a shuffled list yields the same result; doubling every input scales the total.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can test without an oracle when outputs must relate in a known way.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Search for unexpected behavior → fuzzing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The dangerous inputs are ones we did not anticipate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Fuzzing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Explore large or unusual input spaces, needing only a weak notion of failure such as a crash or a hang.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Cheap evidence about robustness. It says little about functional correctness.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Different mechanisms observe different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76656" y="896112"/>
            <a:ext cx="79369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Evidence comes from:</a:t>
            </a:r>
          </a:p>
        </p:txBody>
      </p:sp>
      <p:sp>
        <p:nvSpPr>
          <p:cNvPr id="110" name="B110"/>
          <p:cNvSpPr/>
          <p:nvPr/>
        </p:nvSpPr>
        <p:spPr>
          <a:xfrm>
            <a:off x="676656" y="132588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Dynamic testing</a:t>
            </a:r>
          </a:p>
        </p:txBody>
      </p:sp>
      <p:sp>
        <p:nvSpPr>
          <p:cNvPr id="111" name="P111"/>
          <p:cNvSpPr/>
          <p:nvPr/>
        </p:nvSpPr>
        <p:spPr>
          <a:xfrm>
            <a:off x="4389120" y="132588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executions we actually performed</a:t>
            </a:r>
          </a:p>
        </p:txBody>
      </p:sp>
      <p:sp>
        <p:nvSpPr>
          <p:cNvPr id="112" name="B112"/>
          <p:cNvSpPr/>
          <p:nvPr/>
        </p:nvSpPr>
        <p:spPr>
          <a:xfrm>
            <a:off x="676656" y="205740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113" name="P113"/>
          <p:cNvSpPr/>
          <p:nvPr/>
        </p:nvSpPr>
        <p:spPr>
          <a:xfrm>
            <a:off x="4389120" y="205740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inference over an abstraction of the code</a:t>
            </a:r>
          </a:p>
        </p:txBody>
      </p:sp>
      <p:sp>
        <p:nvSpPr>
          <p:cNvPr id="114" name="B114"/>
          <p:cNvSpPr/>
          <p:nvPr/>
        </p:nvSpPr>
        <p:spPr>
          <a:xfrm>
            <a:off x="676656" y="278892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Human inspection</a:t>
            </a:r>
          </a:p>
        </p:txBody>
      </p:sp>
      <p:sp>
        <p:nvSpPr>
          <p:cNvPr id="115" name="P115"/>
          <p:cNvSpPr/>
          <p:nvPr/>
        </p:nvSpPr>
        <p:spPr>
          <a:xfrm>
            <a:off x="4389120" y="278892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expert interpretation of an artifact</a:t>
            </a:r>
          </a:p>
        </p:txBody>
      </p:sp>
      <p:sp>
        <p:nvSpPr>
          <p:cNvPr id="116" name="B116"/>
          <p:cNvSpPr/>
          <p:nvPr/>
        </p:nvSpPr>
        <p:spPr>
          <a:xfrm>
            <a:off x="676656" y="352044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Formal methods</a:t>
            </a:r>
          </a:p>
        </p:txBody>
      </p:sp>
      <p:sp>
        <p:nvSpPr>
          <p:cNvPr id="117" name="P117"/>
          <p:cNvSpPr/>
          <p:nvPr/>
        </p:nvSpPr>
        <p:spPr>
          <a:xfrm>
            <a:off x="4389120" y="352044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mechanical search of a model’s behaviors</a:t>
            </a:r>
          </a:p>
        </p:txBody>
      </p:sp>
      <p:sp>
        <p:nvSpPr>
          <p:cNvPr id="130" name="E130"/>
          <p:cNvSpPr/>
          <p:nvPr/>
        </p:nvSpPr>
        <p:spPr>
          <a:xfrm>
            <a:off x="676656" y="4389120"/>
            <a:ext cx="7936992" cy="9601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These mechanisms are orthogonal to scope.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 unit, a subsystem, or the whole system can be tested, analyzed, inspected, or modeled.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Ask what each mechanism can observe — and what it cannot see at all.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How strong is the evidence?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Volume is not strength.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Evidence multiplies; independence does not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872000" y="1120000"/>
            <a:ext cx="7400000" cy="9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0" i="0" dirty="0">
                <a:solidFill>
                  <a:srgbClr val="5C4826"/>
                </a:solidFill>
              </a:rPr>
              <a:t>A thousand tests from one mistaken interpretation are not a thousand reasons.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900" b="1" i="1" dirty="0">
                <a:solidFill>
                  <a:srgbClr val="5C4826"/>
                </a:solidFill>
              </a:rPr>
              <a:t>They are one reason, repeated.</a:t>
            </a:r>
          </a:p>
        </p:txBody>
      </p:sp>
      <p:sp>
        <p:nvSpPr>
          <p:cNvPr id="110" name="P110"/>
          <p:cNvSpPr/>
          <p:nvPr/>
        </p:nvSpPr>
        <p:spPr>
          <a:xfrm>
            <a:off x="872000" y="23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Independent evidence, resting on different assumptions, reduces shared error.</a:t>
            </a:r>
          </a:p>
        </p:txBody>
      </p:sp>
      <p:sp>
        <p:nvSpPr>
          <p:cNvPr id="111" name="P111"/>
          <p:cNvSpPr/>
          <p:nvPr/>
        </p:nvSpPr>
        <p:spPr>
          <a:xfrm>
            <a:off x="872000" y="30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Ask of every body of evidence: what assumptions does it inherit?</a:t>
            </a:r>
          </a:p>
        </p:txBody>
      </p:sp>
      <p:sp>
        <p:nvSpPr>
          <p:cNvPr id="112" name="P112"/>
          <p:cNvSpPr/>
          <p:nvPr/>
        </p:nvSpPr>
        <p:spPr>
          <a:xfrm>
            <a:off x="872000" y="37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Strong validation triangulates — several kinds of evidence whose failure modes are uncorrelated.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Strength grows with the diversity of the assumptions, not with the count.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🧙  MAGE Moment: GenAI can make weak evidence very cheap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572000" y="900000"/>
            <a:ext cx="20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110" name="P110"/>
          <p:cNvSpPr/>
          <p:nvPr/>
        </p:nvSpPr>
        <p:spPr>
          <a:xfrm>
            <a:off x="800000" y="190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Agent interpretation X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2500000" y="247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P112"/>
          <p:cNvSpPr/>
          <p:nvPr/>
        </p:nvSpPr>
        <p:spPr>
          <a:xfrm>
            <a:off x="800000" y="285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10,000 generated tests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2500000" y="342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P114"/>
          <p:cNvSpPr/>
          <p:nvPr/>
        </p:nvSpPr>
        <p:spPr>
          <a:xfrm>
            <a:off x="800000" y="3800000"/>
            <a:ext cx="34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EVIDENCE A</a:t>
            </a:r>
          </a:p>
        </p:txBody>
      </p:sp>
      <p:sp>
        <p:nvSpPr>
          <p:cNvPr id="120" name="P120"/>
          <p:cNvSpPr/>
          <p:nvPr/>
        </p:nvSpPr>
        <p:spPr>
          <a:xfrm>
            <a:off x="4940000" y="190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Independent model Y</a:t>
            </a:r>
          </a:p>
        </p:txBody>
      </p:sp>
      <p:cxnSp>
        <p:nvCxnSpPr>
          <p:cNvPr id="121" name="C121"/>
          <p:cNvCxnSpPr/>
          <p:nvPr/>
        </p:nvCxnSpPr>
        <p:spPr>
          <a:xfrm>
            <a:off x="6640000" y="247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2" name="P122"/>
          <p:cNvSpPr/>
          <p:nvPr/>
        </p:nvSpPr>
        <p:spPr>
          <a:xfrm>
            <a:off x="4940000" y="285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analysis</a:t>
            </a:r>
          </a:p>
        </p:txBody>
      </p:sp>
      <p:cxnSp>
        <p:nvCxnSpPr>
          <p:cNvPr id="123" name="C123"/>
          <p:cNvCxnSpPr/>
          <p:nvPr/>
        </p:nvCxnSpPr>
        <p:spPr>
          <a:xfrm>
            <a:off x="6640000" y="342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4" name="P124"/>
          <p:cNvSpPr/>
          <p:nvPr/>
        </p:nvSpPr>
        <p:spPr>
          <a:xfrm>
            <a:off x="4940000" y="3800000"/>
            <a:ext cx="34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EVIDENCE B</a:t>
            </a:r>
          </a:p>
        </p:txBody>
      </p:sp>
      <p:sp>
        <p:nvSpPr>
          <p:cNvPr id="130" name="L130"/>
          <p:cNvSpPr/>
          <p:nvPr/>
        </p:nvSpPr>
        <p:spPr>
          <a:xfrm>
            <a:off x="2500000" y="1420000"/>
            <a:ext cx="2072000" cy="480000"/>
          </a:xfrm>
          <a:custGeom>
            <a:avLst/>
            <a:gdLst/>
            <a:ahLst/>
            <a:cxnLst/>
            <a:rect l="l" t="t" r="r" b="b"/>
            <a:pathLst>
              <a:path w="2072000" h="480000" fill="none">
                <a:moveTo>
                  <a:pt x="2072000" y="0"/>
                </a:moveTo>
                <a:lnTo>
                  <a:pt x="0" y="0"/>
                </a:lnTo>
                <a:lnTo>
                  <a:pt x="0" y="48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L131"/>
          <p:cNvSpPr/>
          <p:nvPr/>
        </p:nvSpPr>
        <p:spPr>
          <a:xfrm>
            <a:off x="4572000" y="1420000"/>
            <a:ext cx="2068000" cy="480000"/>
          </a:xfrm>
          <a:custGeom>
            <a:avLst/>
            <a:gdLst/>
            <a:ahLst/>
            <a:cxnLst/>
            <a:rect l="l" t="t" r="r" b="b"/>
            <a:pathLst>
              <a:path w="2068000" h="480000" fill="none">
                <a:moveTo>
                  <a:pt x="0" y="0"/>
                </a:moveTo>
                <a:lnTo>
                  <a:pt x="2068000" y="0"/>
                </a:lnTo>
                <a:lnTo>
                  <a:pt x="2068000" y="48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T140"/>
          <p:cNvSpPr txBox="1"/>
          <p:nvPr/>
        </p:nvSpPr>
        <p:spPr>
          <a:xfrm>
            <a:off x="800000" y="4440000"/>
            <a:ext cx="754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Two branches on different assumptions catch each other's mistakes. Ten thousand tests on ONE interpretation are one reason, repeated.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An agent can cheaply produce 10,000 tests.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If all inherit the same mistaken interpretation, what did we learn?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When is the evidence enough?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33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6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Judge the evidence against what is at stake.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Enough is judged against what is at stake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34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2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Evidence is judged against consequence.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The same residual uncertainty can justify delivery for a scratchpad and forbid it for a medical device.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228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Some uncertainty is resolved after delivery.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Use in the real environment generates knowledge that would have been expensive, or even impossible, to obtain before delivery.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344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Operational evidence can reopen the decision.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 justification made under an old state of knowledge cannot simply be reused under a new one.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does not end at first delivery — evidence keeps arriving.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should we do now?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35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980000"/>
            <a:ext cx="8000000" cy="11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THE EVIDENCE ON THE TABLE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Property tests pass. A load model predicts p99 &lt; 500 ms, but production workload is untested.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One incident report suggests a rare double-charge. Consequence: real money.</a:t>
            </a:r>
          </a:p>
        </p:txBody>
      </p:sp>
      <p:sp>
        <p:nvSpPr>
          <p:cNvPr id="110" name="B110"/>
          <p:cNvSpPr/>
          <p:nvPr/>
        </p:nvSpPr>
        <p:spPr>
          <a:xfrm>
            <a:off x="43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DELIVER</a:t>
            </a:r>
          </a:p>
        </p:txBody>
      </p:sp>
      <p:sp>
        <p:nvSpPr>
          <p:cNvPr id="111" name="B111"/>
          <p:cNvSpPr/>
          <p:nvPr/>
        </p:nvSpPr>
        <p:spPr>
          <a:xfrm>
            <a:off x="211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GATHER MORE</a:t>
            </a:r>
          </a:p>
        </p:txBody>
      </p:sp>
      <p:sp>
        <p:nvSpPr>
          <p:cNvPr id="112" name="B112"/>
          <p:cNvSpPr/>
          <p:nvPr/>
        </p:nvSpPr>
        <p:spPr>
          <a:xfrm>
            <a:off x="379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CHANGE</a:t>
            </a:r>
          </a:p>
        </p:txBody>
      </p:sp>
      <p:sp>
        <p:nvSpPr>
          <p:cNvPr id="113" name="B113"/>
          <p:cNvSpPr/>
          <p:nvPr/>
        </p:nvSpPr>
        <p:spPr>
          <a:xfrm>
            <a:off x="547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REVISIT UPSTREAM</a:t>
            </a:r>
          </a:p>
        </p:txBody>
      </p:sp>
      <p:sp>
        <p:nvSpPr>
          <p:cNvPr id="114" name="B114"/>
          <p:cNvSpPr/>
          <p:nvPr/>
        </p:nvSpPr>
        <p:spPr>
          <a:xfrm>
            <a:off x="715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REFUSE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620000" y="4716227"/>
            <a:ext cx="8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Choose one. Defend it from the evidence and the consequence — not from habit.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decision is not binary. Which action follows from what we now know?</a:t>
            </a:r>
          </a:p>
        </p:txBody>
      </p:sp>
      <p:pic>
        <p:nvPicPr>
          <p:cNvPr id="7" name="Think Pair Share banner" descr="Think, Pair, Share">
            <a:extLst>
              <a:ext uri="{FF2B5EF4-FFF2-40B4-BE49-F238E27FC236}">
                <a16:creationId xmlns:a16="http://schemas.microsoft.com/office/drawing/2014/main" id="{0EFA98E1-0C18-D839-ECB8-B98ADB983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500" y="2332830"/>
            <a:ext cx="4191000" cy="1206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111" grpId="1" animBg="1"/>
      <p:bldP spid="112" grpId="2" animBg="1"/>
      <p:bldP spid="113" grpId="3" animBg="1"/>
      <p:bldP spid="114" grpId="4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 Assurance Case makes the judgment inspectable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272000" y="900000"/>
            <a:ext cx="2600000" cy="6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CLAIM: ready to deliver</a:t>
            </a:r>
          </a:p>
        </p:txBody>
      </p:sp>
      <p:sp>
        <p:nvSpPr>
          <p:cNvPr id="110" name="P110"/>
          <p:cNvSpPr/>
          <p:nvPr/>
        </p:nvSpPr>
        <p:spPr>
          <a:xfrm>
            <a:off x="900000" y="192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payment charged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at most once</a:t>
            </a:r>
          </a:p>
        </p:txBody>
      </p:sp>
      <p:sp>
        <p:nvSpPr>
          <p:cNvPr id="111" name="P111"/>
          <p:cNvSpPr/>
          <p:nvPr/>
        </p:nvSpPr>
        <p:spPr>
          <a:xfrm>
            <a:off x="4720000" y="192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p99 latency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&lt; 500 ms</a:t>
            </a:r>
          </a:p>
        </p:txBody>
      </p:sp>
      <p:cxnSp>
        <p:nvCxnSpPr>
          <p:cNvPr id="120" name="C120"/>
          <p:cNvCxnSpPr/>
          <p:nvPr/>
        </p:nvCxnSpPr>
        <p:spPr>
          <a:xfrm>
            <a:off x="160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C121"/>
          <p:cNvCxnSpPr/>
          <p:nvPr/>
        </p:nvCxnSpPr>
        <p:spPr>
          <a:xfrm>
            <a:off x="300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2" name="P122"/>
          <p:cNvSpPr/>
          <p:nvPr/>
        </p:nvSpPr>
        <p:spPr>
          <a:xfrm>
            <a:off x="90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property tests</a:t>
            </a:r>
          </a:p>
        </p:txBody>
      </p:sp>
      <p:sp>
        <p:nvSpPr>
          <p:cNvPr id="123" name="P123"/>
          <p:cNvSpPr/>
          <p:nvPr/>
        </p:nvSpPr>
        <p:spPr>
          <a:xfrm>
            <a:off x="234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model checking</a:t>
            </a:r>
          </a:p>
        </p:txBody>
      </p:sp>
      <p:cxnSp>
        <p:nvCxnSpPr>
          <p:cNvPr id="124" name="C124"/>
          <p:cNvCxnSpPr/>
          <p:nvPr/>
        </p:nvCxnSpPr>
        <p:spPr>
          <a:xfrm>
            <a:off x="542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25" name="C125"/>
          <p:cNvCxnSpPr/>
          <p:nvPr/>
        </p:nvCxnSpPr>
        <p:spPr>
          <a:xfrm>
            <a:off x="682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6" name="P126"/>
          <p:cNvSpPr/>
          <p:nvPr/>
        </p:nvSpPr>
        <p:spPr>
          <a:xfrm>
            <a:off x="472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load model</a:t>
            </a:r>
          </a:p>
        </p:txBody>
      </p:sp>
      <p:sp>
        <p:nvSpPr>
          <p:cNvPr id="127" name="P127"/>
          <p:cNvSpPr/>
          <p:nvPr/>
        </p:nvSpPr>
        <p:spPr>
          <a:xfrm>
            <a:off x="616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measured result</a:t>
            </a:r>
          </a:p>
        </p:txBody>
      </p:sp>
      <p:cxnSp>
        <p:nvCxnSpPr>
          <p:cNvPr id="130" name="C130"/>
          <p:cNvCxnSpPr/>
          <p:nvPr/>
        </p:nvCxnSpPr>
        <p:spPr>
          <a:xfrm>
            <a:off x="158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1" name="C131"/>
          <p:cNvCxnSpPr/>
          <p:nvPr/>
        </p:nvCxnSpPr>
        <p:spPr>
          <a:xfrm>
            <a:off x="302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2" name="C132"/>
          <p:cNvCxnSpPr/>
          <p:nvPr/>
        </p:nvCxnSpPr>
        <p:spPr>
          <a:xfrm>
            <a:off x="540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3" name="C133"/>
          <p:cNvCxnSpPr/>
          <p:nvPr/>
        </p:nvCxnSpPr>
        <p:spPr>
          <a:xfrm>
            <a:off x="684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4" name="C134"/>
          <p:cNvCxnSpPr/>
          <p:nvPr/>
        </p:nvCxnSpPr>
        <p:spPr>
          <a:xfrm>
            <a:off x="1580000" y="3900000"/>
            <a:ext cx="5260000" cy="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5" name="C135"/>
          <p:cNvCxnSpPr/>
          <p:nvPr/>
        </p:nvCxnSpPr>
        <p:spPr>
          <a:xfrm>
            <a:off x="4572000" y="3900000"/>
            <a:ext cx="0" cy="28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40" name="B140"/>
          <p:cNvSpPr/>
          <p:nvPr/>
        </p:nvSpPr>
        <p:spPr>
          <a:xfrm>
            <a:off x="3872000" y="4180000"/>
            <a:ext cx="14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41" name="C141"/>
          <p:cNvCxnSpPr/>
          <p:nvPr/>
        </p:nvCxnSpPr>
        <p:spPr>
          <a:xfrm>
            <a:off x="4572000" y="4700000"/>
            <a:ext cx="0" cy="30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42" name="E142"/>
          <p:cNvSpPr/>
          <p:nvPr/>
        </p:nvSpPr>
        <p:spPr>
          <a:xfrm>
            <a:off x="3972000" y="5000000"/>
            <a:ext cx="1200000" cy="4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DELIVER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started by asking what would justify delivery. Everything today has been constructing this.</a:t>
            </a: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782FD6B7-3E42-E711-C90C-27E6D1360FA6}"/>
              </a:ext>
            </a:extLst>
          </p:cNvPr>
          <p:cNvCxnSpPr>
            <a:stCxn id="100" idx="1"/>
            <a:endCxn id="110" idx="0"/>
          </p:cNvCxnSpPr>
          <p:nvPr/>
        </p:nvCxnSpPr>
        <p:spPr>
          <a:xfrm rot="10800000" flipV="1">
            <a:off x="2300000" y="1200000"/>
            <a:ext cx="972000" cy="7200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21C0A1B5-59B7-1E91-456F-6E32303C7D37}"/>
              </a:ext>
            </a:extLst>
          </p:cNvPr>
          <p:cNvCxnSpPr>
            <a:cxnSpLocks/>
            <a:stCxn id="100" idx="3"/>
            <a:endCxn id="111" idx="0"/>
          </p:cNvCxnSpPr>
          <p:nvPr/>
        </p:nvCxnSpPr>
        <p:spPr>
          <a:xfrm>
            <a:off x="5872000" y="1200000"/>
            <a:ext cx="248000" cy="7200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reasoning you can reuse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37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372000" y="116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is at stake?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572000" y="176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1372000" y="200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must be true?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4572000" y="260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P104"/>
          <p:cNvSpPr/>
          <p:nvPr/>
        </p:nvSpPr>
        <p:spPr>
          <a:xfrm>
            <a:off x="1372000" y="284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evidence supports it?</a:t>
            </a:r>
          </a:p>
        </p:txBody>
      </p:sp>
      <p:cxnSp>
        <p:nvCxnSpPr>
          <p:cNvPr id="105" name="C105"/>
          <p:cNvCxnSpPr/>
          <p:nvPr/>
        </p:nvCxnSpPr>
        <p:spPr>
          <a:xfrm>
            <a:off x="4572000" y="344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6" name="P106"/>
          <p:cNvSpPr/>
          <p:nvPr/>
        </p:nvSpPr>
        <p:spPr>
          <a:xfrm>
            <a:off x="1372000" y="368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How strong is that evidence?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572000" y="428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8" name="E108"/>
          <p:cNvSpPr/>
          <p:nvPr/>
        </p:nvSpPr>
        <p:spPr>
          <a:xfrm>
            <a:off x="1372000" y="4520000"/>
            <a:ext cx="6400000" cy="66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Is the Assurance Case sufficient to act?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turns evidence into engineering judgment.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Why not just test the whole system?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14400"/>
            <a:ext cx="8010144" cy="8961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THE OBVIOUS STRATEGY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Assemble the service, submit a payment, and check that exactly one charge appears.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566928" y="1965960"/>
            <a:ext cx="801014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In principle this is exactly what we want: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377440"/>
            <a:ext cx="2487168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it observes the behavior we actually care about</a:t>
            </a:r>
          </a:p>
        </p:txBody>
      </p:sp>
      <p:sp>
        <p:nvSpPr>
          <p:cNvPr id="121" name="P121"/>
          <p:cNvSpPr/>
          <p:nvPr/>
        </p:nvSpPr>
        <p:spPr>
          <a:xfrm>
            <a:off x="3328416" y="2377440"/>
            <a:ext cx="2487168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at the real boundary, where the claim lives</a:t>
            </a:r>
          </a:p>
        </p:txBody>
      </p:sp>
      <p:sp>
        <p:nvSpPr>
          <p:cNvPr id="122" name="P122"/>
          <p:cNvSpPr/>
          <p:nvPr/>
        </p:nvSpPr>
        <p:spPr>
          <a:xfrm>
            <a:off x="6089904" y="2377440"/>
            <a:ext cx="2487168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under conditions close to delivery</a:t>
            </a:r>
          </a:p>
        </p:txBody>
      </p:sp>
      <p:sp>
        <p:nvSpPr>
          <p:cNvPr id="130" name="E130"/>
          <p:cNvSpPr/>
          <p:nvPr/>
        </p:nvSpPr>
        <p:spPr>
          <a:xfrm>
            <a:off x="1188720" y="3749040"/>
            <a:ext cx="6766560" cy="86868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So why do engineers spend so much effort obtaining evidence about the parts?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Hold the question. First: suppose that system test just failed.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When the end-to-end test fails, where is the defect?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client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0025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1" name="B101"/>
          <p:cNvSpPr/>
          <p:nvPr/>
        </p:nvSpPr>
        <p:spPr>
          <a:xfrm>
            <a:off x="21671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API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36027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37673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payments</a:t>
            </a:r>
          </a:p>
        </p:txBody>
      </p:sp>
      <p:cxnSp>
        <p:nvCxnSpPr>
          <p:cNvPr id="112" name="C112"/>
          <p:cNvCxnSpPr/>
          <p:nvPr/>
        </p:nvCxnSpPr>
        <p:spPr>
          <a:xfrm>
            <a:off x="52029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B103"/>
          <p:cNvSpPr/>
          <p:nvPr/>
        </p:nvSpPr>
        <p:spPr>
          <a:xfrm>
            <a:off x="53675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ledger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68031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B104"/>
          <p:cNvSpPr/>
          <p:nvPr/>
        </p:nvSpPr>
        <p:spPr>
          <a:xfrm>
            <a:off x="69677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566928" y="1572768"/>
            <a:ext cx="801014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One failing system test. Any of these — or any interaction between them — could be responsible.</a:t>
            </a:r>
          </a:p>
        </p:txBody>
      </p:sp>
      <p:sp>
        <p:nvSpPr>
          <p:cNvPr id="130" name="P130"/>
          <p:cNvSpPr/>
          <p:nvPr/>
        </p:nvSpPr>
        <p:spPr>
          <a:xfrm>
            <a:off x="566928" y="2029968"/>
            <a:ext cx="2487168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LOCALIZE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The failure names a symptom, not a part.</a:t>
            </a:r>
          </a:p>
        </p:txBody>
      </p:sp>
      <p:sp>
        <p:nvSpPr>
          <p:cNvPr id="131" name="P131"/>
          <p:cNvSpPr/>
          <p:nvPr/>
        </p:nvSpPr>
        <p:spPr>
          <a:xfrm>
            <a:off x="3328416" y="2029968"/>
            <a:ext cx="2487168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REPRODUCE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Timing, state, and environment may not repeat on demand.</a:t>
            </a:r>
          </a:p>
        </p:txBody>
      </p:sp>
      <p:sp>
        <p:nvSpPr>
          <p:cNvPr id="132" name="P132"/>
          <p:cNvSpPr/>
          <p:nvPr/>
        </p:nvSpPr>
        <p:spPr>
          <a:xfrm>
            <a:off x="6089904" y="2029968"/>
            <a:ext cx="2487168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DIAGNOSE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The further the observation sits from the fault, the more it costs to explain.</a:t>
            </a:r>
          </a:p>
        </p:txBody>
      </p:sp>
      <p:sp>
        <p:nvSpPr>
          <p:cNvPr id="140" name="P140"/>
          <p:cNvSpPr/>
          <p:nvPr/>
        </p:nvSpPr>
        <p:spPr>
          <a:xfrm>
            <a:off x="566928" y="3429000"/>
            <a:ext cx="80101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And some properties are far cheaper to exercise at a smaller scope: rejecting a duplicate payment id needs one component, not a deployment.</a:t>
            </a:r>
          </a:p>
        </p:txBody>
      </p:sp>
      <p:sp>
        <p:nvSpPr>
          <p:cNvPr id="150" name="E150"/>
          <p:cNvSpPr/>
          <p:nvPr/>
        </p:nvSpPr>
        <p:spPr>
          <a:xfrm>
            <a:off x="1188720" y="4434840"/>
            <a:ext cx="6766560" cy="7772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So we deliberately obtain evidence at more than one scope.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System evidence is the most realistic — and the most expensive to act 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One claim, four scopes of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566928" y="896112"/>
            <a:ext cx="8010144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SPECIFICATION:  a submitted payment shall cause at most one charge.</a:t>
            </a:r>
          </a:p>
        </p:txBody>
      </p:sp>
      <p:sp>
        <p:nvSpPr>
          <p:cNvPr id="110" name="B110"/>
          <p:cNvSpPr/>
          <p:nvPr/>
        </p:nvSpPr>
        <p:spPr>
          <a:xfrm>
            <a:off x="566928" y="1645920"/>
            <a:ext cx="201168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LOCAL</a:t>
            </a:r>
          </a:p>
        </p:txBody>
      </p:sp>
      <p:sp>
        <p:nvSpPr>
          <p:cNvPr id="120" name="P120"/>
          <p:cNvSpPr/>
          <p:nvPr/>
        </p:nvSpPr>
        <p:spPr>
          <a:xfrm>
            <a:off x="2743200" y="1645920"/>
            <a:ext cx="5833872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Does the idempotency component reject a duplicate payment id?</a:t>
            </a:r>
          </a:p>
        </p:txBody>
      </p:sp>
      <p:sp>
        <p:nvSpPr>
          <p:cNvPr id="111" name="B111"/>
          <p:cNvSpPr/>
          <p:nvPr/>
        </p:nvSpPr>
        <p:spPr>
          <a:xfrm>
            <a:off x="566928" y="2313432"/>
            <a:ext cx="201168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COMPOSITION</a:t>
            </a:r>
          </a:p>
        </p:txBody>
      </p:sp>
      <p:sp>
        <p:nvSpPr>
          <p:cNvPr id="121" name="P121"/>
          <p:cNvSpPr/>
          <p:nvPr/>
        </p:nvSpPr>
        <p:spPr>
          <a:xfrm>
            <a:off x="2743200" y="2313432"/>
            <a:ext cx="5833872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When client retry and server retry interact, can one payment be submitted twice?</a:t>
            </a:r>
          </a:p>
        </p:txBody>
      </p:sp>
      <p:sp>
        <p:nvSpPr>
          <p:cNvPr id="112" name="B112"/>
          <p:cNvSpPr/>
          <p:nvPr/>
        </p:nvSpPr>
        <p:spPr>
          <a:xfrm>
            <a:off x="566928" y="2980944"/>
            <a:ext cx="201168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122" name="P122"/>
          <p:cNvSpPr/>
          <p:nvPr/>
        </p:nvSpPr>
        <p:spPr>
          <a:xfrm>
            <a:off x="2743200" y="2980944"/>
            <a:ext cx="5833872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Can one submitted payment ever produce two charges at the service boundary?</a:t>
            </a:r>
          </a:p>
        </p:txBody>
      </p:sp>
      <p:sp>
        <p:nvSpPr>
          <p:cNvPr id="113" name="B113"/>
          <p:cNvSpPr/>
          <p:nvPr/>
        </p:nvSpPr>
        <p:spPr>
          <a:xfrm>
            <a:off x="566928" y="3648456"/>
            <a:ext cx="201168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WORLD</a:t>
            </a:r>
          </a:p>
        </p:txBody>
      </p:sp>
      <p:sp>
        <p:nvSpPr>
          <p:cNvPr id="123" name="P123"/>
          <p:cNvSpPr/>
          <p:nvPr/>
        </p:nvSpPr>
        <p:spPr>
          <a:xfrm>
            <a:off x="2743200" y="3648456"/>
            <a:ext cx="5833872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Under the provider’s actual semantics, can the customer still be charged twice?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4434840"/>
            <a:ext cx="801014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Local evidence makes a failure cheap to isolate. Only the assembled system can expose the interaction.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Only evidence about the world can expose a false assumption about the provider.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Same claim. Four kinds of evidence — each exposing failures the others cannot.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Dynamic testing observes executions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CHOOSE INPUTS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404872" y="1298448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1" name="B101"/>
          <p:cNvSpPr/>
          <p:nvPr/>
        </p:nvSpPr>
        <p:spPr>
          <a:xfrm>
            <a:off x="2596896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RUN THE SYSTEM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4434840" y="1298448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626864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OBSERVE BEHAVIOR</a:t>
            </a:r>
          </a:p>
        </p:txBody>
      </p:sp>
      <p:cxnSp>
        <p:nvCxnSpPr>
          <p:cNvPr id="112" name="C112"/>
          <p:cNvCxnSpPr/>
          <p:nvPr/>
        </p:nvCxnSpPr>
        <p:spPr>
          <a:xfrm>
            <a:off x="6464808" y="1298448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B103"/>
          <p:cNvSpPr/>
          <p:nvPr/>
        </p:nvSpPr>
        <p:spPr>
          <a:xfrm>
            <a:off x="6656832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COMPARE TO AN ORACLE</a:t>
            </a:r>
          </a:p>
        </p:txBody>
      </p:sp>
      <p:sp>
        <p:nvSpPr>
          <p:cNvPr id="120" name="E120"/>
          <p:cNvSpPr/>
          <p:nvPr/>
        </p:nvSpPr>
        <p:spPr>
          <a:xfrm>
            <a:off x="1005840" y="2103120"/>
            <a:ext cx="7132320" cy="9144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The test passes.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1" dirty="0">
                <a:solidFill>
                  <a:srgbClr val="57534E"/>
                </a:solidFill>
              </a:rPr>
              <a:t>What does that tell us about the executions we did not run?</a:t>
            </a:r>
          </a:p>
        </p:txBody>
      </p:sp>
      <p:sp>
        <p:nvSpPr>
          <p:cNvPr id="130" name="P130"/>
          <p:cNvSpPr/>
          <p:nvPr/>
        </p:nvSpPr>
        <p:spPr>
          <a:xfrm>
            <a:off x="566928" y="3291840"/>
            <a:ext cx="80101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Every execution we run is one sample of the behavior. The ones we did not choose are unobserved — not shown to be correct.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4251960"/>
            <a:ext cx="80101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Two things are always required: inputs to run, and an oracle that says what counts as correct.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When stating the correct answer is itself hard, we need search strategies — Section 4.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Testing observes executions. It does not observe the executions you didn’t run.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Coverage tells us where we looked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68680"/>
            <a:ext cx="801014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Statement and condition coverage both reached 100%.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What have we established — and what have we not?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566928" y="2926080"/>
            <a:ext cx="80101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Different notions of “how much did we look at?”</a:t>
            </a:r>
          </a:p>
        </p:txBody>
      </p:sp>
      <p:sp>
        <p:nvSpPr>
          <p:cNvPr id="130" name="P130"/>
          <p:cNvSpPr/>
          <p:nvPr/>
        </p:nvSpPr>
        <p:spPr>
          <a:xfrm>
            <a:off x="676656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statement</a:t>
            </a:r>
          </a:p>
        </p:txBody>
      </p:sp>
      <p:sp>
        <p:nvSpPr>
          <p:cNvPr id="131" name="P131"/>
          <p:cNvSpPr/>
          <p:nvPr/>
        </p:nvSpPr>
        <p:spPr>
          <a:xfrm>
            <a:off x="2258568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branch / condition</a:t>
            </a:r>
          </a:p>
        </p:txBody>
      </p:sp>
      <p:sp>
        <p:nvSpPr>
          <p:cNvPr id="132" name="P132"/>
          <p:cNvSpPr/>
          <p:nvPr/>
        </p:nvSpPr>
        <p:spPr>
          <a:xfrm>
            <a:off x="3840480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path</a:t>
            </a:r>
          </a:p>
        </p:txBody>
      </p:sp>
      <p:sp>
        <p:nvSpPr>
          <p:cNvPr id="133" name="P133"/>
          <p:cNvSpPr/>
          <p:nvPr/>
        </p:nvSpPr>
        <p:spPr>
          <a:xfrm>
            <a:off x="5422392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input &amp; state space</a:t>
            </a:r>
          </a:p>
        </p:txBody>
      </p:sp>
      <p:sp>
        <p:nvSpPr>
          <p:cNvPr id="134" name="P134"/>
          <p:cNvSpPr/>
          <p:nvPr/>
        </p:nvSpPr>
        <p:spPr>
          <a:xfrm>
            <a:off x="7004304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claim</a:t>
            </a:r>
          </a:p>
        </p:txBody>
      </p:sp>
      <p:sp>
        <p:nvSpPr>
          <p:cNvPr id="120" name="E120"/>
          <p:cNvSpPr/>
          <p:nvPr/>
        </p:nvSpPr>
        <p:spPr>
          <a:xfrm>
            <a:off x="1005840" y="4023360"/>
            <a:ext cx="7132320" cy="9601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Coverage tells us WHERE WE LOOKED.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None of these says the code is correct — a reached line with no consequential assertion is execution, not evidence.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5120640"/>
            <a:ext cx="80101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Google and Microsoft report ~80–90% statement coverage; DO-178C Level A avionics requires 100% MC/DC.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Execution coverage is not claim coverage.</a:t>
            </a:r>
          </a:p>
        </p:txBody>
      </p:sp>
      <p:pic>
        <p:nvPicPr>
          <p:cNvPr id="151" name="Picture 1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024" y="1554480"/>
            <a:ext cx="4187952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Static analysis reasons without executing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60120"/>
            <a:ext cx="3895344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00" b="0" i="0" dirty="0">
                <a:solidFill>
                  <a:srgbClr val="000000"/>
                </a:solidFill>
                <a:latin typeface="Consolas"/>
              </a:rPr>
              <a:t>Config c = loadConfig();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  <a:latin typeface="Consolas"/>
              </a:rPr>
              <a:t>return c.timeoutMs;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loadConfig() never returns null: startup validates the file.</a:t>
            </a:r>
          </a:p>
        </p:txBody>
      </p:sp>
      <p:sp>
        <p:nvSpPr>
          <p:cNvPr id="101" name="P101"/>
          <p:cNvSpPr/>
          <p:nvPr/>
        </p:nvSpPr>
        <p:spPr>
          <a:xfrm>
            <a:off x="4681728" y="960120"/>
            <a:ext cx="3895344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THE ANALYZER REPORTS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“possible null dereference”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It cannot happen here — and nothing in the code says so.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2450592"/>
            <a:ext cx="38953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7534E"/>
                </a:solidFill>
              </a:rPr>
              <a:t>FALSE POSITIVE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a reported violation that cannot actually occur</a:t>
            </a:r>
          </a:p>
        </p:txBody>
      </p:sp>
      <p:sp>
        <p:nvSpPr>
          <p:cNvPr id="111" name="P111"/>
          <p:cNvSpPr/>
          <p:nvPr/>
        </p:nvSpPr>
        <p:spPr>
          <a:xfrm>
            <a:off x="4681728" y="2450592"/>
            <a:ext cx="38953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COMPLETE for what it models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reports no violation that cannot occur — so it may miss some that can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3364992"/>
            <a:ext cx="3895344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7534E"/>
                </a:solidFill>
              </a:rPr>
              <a:t>FALSE NEGATIVE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a real violation the analysis never reports</a:t>
            </a:r>
          </a:p>
        </p:txBody>
      </p:sp>
      <p:sp>
        <p:nvSpPr>
          <p:cNvPr id="121" name="P121"/>
          <p:cNvSpPr/>
          <p:nvPr/>
        </p:nvSpPr>
        <p:spPr>
          <a:xfrm>
            <a:off x="4681728" y="3364992"/>
            <a:ext cx="3895344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SOUND for what it models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misses no violation its model covers — so it may report some that cannot occur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4526280"/>
            <a:ext cx="801014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Which promise a tool makes, and over which behaviors, is a property of that tool.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Read the analyzer’s claim. There is no universal slogan here.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Static analysis is inference under an abstraction — and only as informed as the abstraction.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Human inspection contributes judgment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32688"/>
            <a:ext cx="3895344" cy="3017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WHAT PEOPLE NOTICE THAT MACHINES DO NOT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the wrong problem has been solved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an assumption is unstated, or wrong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 requirement is ambiguous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 design choice will not survive change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 concern nobody wrote down is missing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an interface contract is only implied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the requirement itself is the wrong one</a:t>
            </a:r>
          </a:p>
        </p:txBody>
      </p:sp>
      <p:sp>
        <p:nvSpPr>
          <p:cNvPr id="110" name="P110"/>
          <p:cNvSpPr/>
          <p:nvPr/>
        </p:nvSpPr>
        <p:spPr>
          <a:xfrm>
            <a:off x="4681728" y="932688"/>
            <a:ext cx="3895344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People recognize semantic problems machines do not know to ask about</a:t>
            </a:r>
          </a:p>
        </p:txBody>
      </p:sp>
      <p:cxnSp>
        <p:nvCxnSpPr>
          <p:cNvPr id="120" name="C120"/>
          <p:cNvCxnSpPr/>
          <p:nvPr/>
        </p:nvCxnSpPr>
        <p:spPr>
          <a:xfrm>
            <a:off x="6629400" y="1609344"/>
            <a:ext cx="0" cy="9144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1" name="P111"/>
          <p:cNvSpPr/>
          <p:nvPr/>
        </p:nvSpPr>
        <p:spPr>
          <a:xfrm>
            <a:off x="4681728" y="1719072"/>
            <a:ext cx="3895344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But attention and vigilance are finite</a:t>
            </a:r>
          </a:p>
        </p:txBody>
      </p:sp>
      <p:cxnSp>
        <p:nvCxnSpPr>
          <p:cNvPr id="121" name="C121"/>
          <p:cNvCxnSpPr/>
          <p:nvPr/>
        </p:nvCxnSpPr>
        <p:spPr>
          <a:xfrm>
            <a:off x="6629400" y="2395728"/>
            <a:ext cx="0" cy="9144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P112"/>
          <p:cNvSpPr/>
          <p:nvPr/>
        </p:nvSpPr>
        <p:spPr>
          <a:xfrm>
            <a:off x="4681728" y="2505456"/>
            <a:ext cx="3895344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Rare-event detection degrades under repetitive inspection</a:t>
            </a:r>
          </a:p>
        </p:txBody>
      </p:sp>
      <p:cxnSp>
        <p:nvCxnSpPr>
          <p:cNvPr id="122" name="C122"/>
          <p:cNvCxnSpPr/>
          <p:nvPr/>
        </p:nvCxnSpPr>
        <p:spPr>
          <a:xfrm>
            <a:off x="6629400" y="3182112"/>
            <a:ext cx="0" cy="9144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30" name="E130"/>
          <p:cNvSpPr/>
          <p:nvPr/>
        </p:nvSpPr>
        <p:spPr>
          <a:xfrm>
            <a:off x="4681728" y="3291840"/>
            <a:ext cx="3895344" cy="65836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C4826"/>
                </a:solidFill>
              </a:rPr>
              <a:t>So review is valuable evidence — not exhaustive coverage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4206240"/>
            <a:ext cx="801014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" b="0" i="1" dirty="0">
                <a:solidFill>
                  <a:srgbClr val="78716C"/>
                </a:solidFill>
              </a:rPr>
              <a:t>Wolfe, Horowitz &amp; Kenner, “Rare Items Often Missed in Visual Searches,” Nature 435 (2005).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200" b="0" i="1" dirty="0">
                <a:solidFill>
                  <a:srgbClr val="78716C"/>
                </a:solidFill>
              </a:rPr>
              <a:t>Warm, Parasuraman &amp; Matthews, “Vigilance Requires Hard Mental Work and Is Stressful,” Human Factors 50, no. 3 (2008).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Human review is evidence from judgment — not a scalable exhaustive detector.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Can you find the defect?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566928" y="868680"/>
            <a:ext cx="8010144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RULE: record the payment id BEFORE charging it — a retry must never charge twice.</a:t>
            </a:r>
          </a:p>
        </p:txBody>
      </p:sp>
      <p:sp>
        <p:nvSpPr>
          <p:cNvPr id="201" name="P201"/>
          <p:cNvSpPr/>
          <p:nvPr/>
        </p:nvSpPr>
        <p:spPr>
          <a:xfrm>
            <a:off x="676656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1.    mark(id); charge(id);</a:t>
            </a:r>
          </a:p>
        </p:txBody>
      </p:sp>
      <p:sp>
        <p:nvSpPr>
          <p:cNvPr id="202" name="P202"/>
          <p:cNvSpPr/>
          <p:nvPr/>
        </p:nvSpPr>
        <p:spPr>
          <a:xfrm>
            <a:off x="676656" y="2386584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2.    mark(id); charge(id);</a:t>
            </a:r>
          </a:p>
        </p:txBody>
      </p:sp>
      <p:sp>
        <p:nvSpPr>
          <p:cNvPr id="203" name="P203"/>
          <p:cNvSpPr/>
          <p:nvPr/>
        </p:nvSpPr>
        <p:spPr>
          <a:xfrm>
            <a:off x="676656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3.    mark(id); charge(id);</a:t>
            </a:r>
          </a:p>
        </p:txBody>
      </p:sp>
      <p:sp>
        <p:nvSpPr>
          <p:cNvPr id="204" name="P204"/>
          <p:cNvSpPr/>
          <p:nvPr/>
        </p:nvSpPr>
        <p:spPr>
          <a:xfrm>
            <a:off x="676656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4.    mark(id); charge(id);</a:t>
            </a:r>
          </a:p>
        </p:txBody>
      </p:sp>
      <p:sp>
        <p:nvSpPr>
          <p:cNvPr id="205" name="P205"/>
          <p:cNvSpPr/>
          <p:nvPr/>
        </p:nvSpPr>
        <p:spPr>
          <a:xfrm>
            <a:off x="676656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5.    mark(id); charge(id);</a:t>
            </a:r>
          </a:p>
        </p:txBody>
      </p:sp>
      <p:sp>
        <p:nvSpPr>
          <p:cNvPr id="206" name="P206"/>
          <p:cNvSpPr/>
          <p:nvPr/>
        </p:nvSpPr>
        <p:spPr>
          <a:xfrm>
            <a:off x="4690872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6.    mark(id); charge(id);</a:t>
            </a:r>
          </a:p>
        </p:txBody>
      </p:sp>
      <p:sp>
        <p:nvSpPr>
          <p:cNvPr id="207" name="P207"/>
          <p:cNvSpPr/>
          <p:nvPr/>
        </p:nvSpPr>
        <p:spPr>
          <a:xfrm>
            <a:off x="4690872" y="2386584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7.    charge(id); mark(id);</a:t>
            </a:r>
          </a:p>
        </p:txBody>
      </p:sp>
      <p:sp>
        <p:nvSpPr>
          <p:cNvPr id="208" name="P208"/>
          <p:cNvSpPr/>
          <p:nvPr/>
        </p:nvSpPr>
        <p:spPr>
          <a:xfrm>
            <a:off x="4690872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8.    mark(id); charge(id);</a:t>
            </a:r>
          </a:p>
        </p:txBody>
      </p:sp>
      <p:sp>
        <p:nvSpPr>
          <p:cNvPr id="209" name="P209"/>
          <p:cNvSpPr/>
          <p:nvPr/>
        </p:nvSpPr>
        <p:spPr>
          <a:xfrm>
            <a:off x="4690872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9.    mark(id); charge(id);</a:t>
            </a:r>
          </a:p>
        </p:txBody>
      </p:sp>
      <p:sp>
        <p:nvSpPr>
          <p:cNvPr id="210" name="P210"/>
          <p:cNvSpPr/>
          <p:nvPr/>
        </p:nvSpPr>
        <p:spPr>
          <a:xfrm>
            <a:off x="4690872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10.   mark(id); charge(id);</a:t>
            </a:r>
          </a:p>
        </p:txBody>
      </p:sp>
      <p:sp>
        <p:nvSpPr>
          <p:cNvPr id="30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Which one violates the rule? Vote now — then we will check.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Can you find the defect?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566928" y="868680"/>
            <a:ext cx="8010144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RULE: record the payment id BEFORE charging it — a retry must never charge twice.</a:t>
            </a:r>
          </a:p>
        </p:txBody>
      </p:sp>
      <p:sp>
        <p:nvSpPr>
          <p:cNvPr id="201" name="P201"/>
          <p:cNvSpPr/>
          <p:nvPr/>
        </p:nvSpPr>
        <p:spPr>
          <a:xfrm>
            <a:off x="676656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1.    mark(id); charge(id);</a:t>
            </a:r>
          </a:p>
        </p:txBody>
      </p:sp>
      <p:sp>
        <p:nvSpPr>
          <p:cNvPr id="202" name="P202"/>
          <p:cNvSpPr/>
          <p:nvPr/>
        </p:nvSpPr>
        <p:spPr>
          <a:xfrm>
            <a:off x="676656" y="2386584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2.    mark(id); charge(id);</a:t>
            </a:r>
          </a:p>
        </p:txBody>
      </p:sp>
      <p:sp>
        <p:nvSpPr>
          <p:cNvPr id="203" name="P203"/>
          <p:cNvSpPr/>
          <p:nvPr/>
        </p:nvSpPr>
        <p:spPr>
          <a:xfrm>
            <a:off x="676656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3.    mark(id); charge(id);</a:t>
            </a:r>
          </a:p>
        </p:txBody>
      </p:sp>
      <p:sp>
        <p:nvSpPr>
          <p:cNvPr id="204" name="P204"/>
          <p:cNvSpPr/>
          <p:nvPr/>
        </p:nvSpPr>
        <p:spPr>
          <a:xfrm>
            <a:off x="676656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4.    mark(id); charge(id);</a:t>
            </a:r>
          </a:p>
        </p:txBody>
      </p:sp>
      <p:sp>
        <p:nvSpPr>
          <p:cNvPr id="205" name="P205"/>
          <p:cNvSpPr/>
          <p:nvPr/>
        </p:nvSpPr>
        <p:spPr>
          <a:xfrm>
            <a:off x="676656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5.    mark(id); charge(id);</a:t>
            </a:r>
          </a:p>
        </p:txBody>
      </p:sp>
      <p:sp>
        <p:nvSpPr>
          <p:cNvPr id="206" name="P206"/>
          <p:cNvSpPr/>
          <p:nvPr/>
        </p:nvSpPr>
        <p:spPr>
          <a:xfrm>
            <a:off x="4690872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6.    mark(id); charge(id);</a:t>
            </a:r>
          </a:p>
        </p:txBody>
      </p:sp>
      <p:sp>
        <p:nvSpPr>
          <p:cNvPr id="207" name="B207"/>
          <p:cNvSpPr/>
          <p:nvPr/>
        </p:nvSpPr>
        <p:spPr>
          <a:xfrm>
            <a:off x="4690872" y="2386584"/>
            <a:ext cx="3776472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1" i="0" dirty="0">
                <a:solidFill>
                  <a:srgbClr val="FFFFFF"/>
                </a:solidFill>
                <a:latin typeface="Consolas"/>
              </a:rPr>
              <a:t>7.    charge(id); mark(id);</a:t>
            </a:r>
          </a:p>
        </p:txBody>
      </p:sp>
      <p:sp>
        <p:nvSpPr>
          <p:cNvPr id="208" name="P208"/>
          <p:cNvSpPr/>
          <p:nvPr/>
        </p:nvSpPr>
        <p:spPr>
          <a:xfrm>
            <a:off x="4690872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8.    mark(id); charge(id);</a:t>
            </a:r>
          </a:p>
        </p:txBody>
      </p:sp>
      <p:sp>
        <p:nvSpPr>
          <p:cNvPr id="209" name="P209"/>
          <p:cNvSpPr/>
          <p:nvPr/>
        </p:nvSpPr>
        <p:spPr>
          <a:xfrm>
            <a:off x="4690872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9.    mark(id); charge(id);</a:t>
            </a:r>
          </a:p>
        </p:txBody>
      </p:sp>
      <p:sp>
        <p:nvSpPr>
          <p:cNvPr id="210" name="P210"/>
          <p:cNvSpPr/>
          <p:nvPr/>
        </p:nvSpPr>
        <p:spPr>
          <a:xfrm>
            <a:off x="4690872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10.   mark(id); charge(id);</a:t>
            </a:r>
          </a:p>
        </p:txBody>
      </p:sp>
      <p:sp>
        <p:nvSpPr>
          <p:cNvPr id="300" name="FooterBand"/>
          <p:cNvSpPr/>
          <p:nvPr/>
        </p:nvSpPr>
        <p:spPr>
          <a:xfrm>
            <a:off x="274320" y="5852160"/>
            <a:ext cx="85953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#7 charges before it records. A retried request finds no record — and charges again.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Ten items, one difference, and a full minute of your undivided attention.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🧙  MAGE Moment: human attention is not scalable enforcement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1005840" y="914400"/>
            <a:ext cx="25603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10 artifacts · 1 defect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3657600" y="1234440"/>
            <a:ext cx="178308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5577840" y="914400"/>
            <a:ext cx="25603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10,000 artifacts · ?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566928" y="1691640"/>
            <a:ext cx="801014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“A human reviews everything” sounds like governance. As volume grows, it stops being credible assurance.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148840"/>
            <a:ext cx="2487168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57534E"/>
                </a:solidFill>
              </a:rPr>
              <a:t>CONTROLLED EXPERIMENT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Rare targets are disproportionately missed in visual search.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100" b="0" i="1" dirty="0">
                <a:solidFill>
                  <a:srgbClr val="78716C"/>
                </a:solidFill>
              </a:rPr>
              <a:t>Wolfe et al., Nature (2005)</a:t>
            </a:r>
          </a:p>
        </p:txBody>
      </p:sp>
      <p:sp>
        <p:nvSpPr>
          <p:cNvPr id="121" name="P121"/>
          <p:cNvSpPr/>
          <p:nvPr/>
        </p:nvSpPr>
        <p:spPr>
          <a:xfrm>
            <a:off x="3328416" y="2148840"/>
            <a:ext cx="2487168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57534E"/>
                </a:solidFill>
              </a:rPr>
              <a:t>HUMAN-FACTORS SYNTHESIS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Sustained vigilance is hard mental work: it consumes attention and produces workload and stress.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100" b="0" i="1" dirty="0">
                <a:solidFill>
                  <a:srgbClr val="78716C"/>
                </a:solidFill>
              </a:rPr>
              <a:t>Warm, Parasuraman &amp; Matthews (2008)</a:t>
            </a:r>
          </a:p>
        </p:txBody>
      </p:sp>
      <p:sp>
        <p:nvSpPr>
          <p:cNvPr id="122" name="P122"/>
          <p:cNvSpPr/>
          <p:nvPr/>
        </p:nvSpPr>
        <p:spPr>
          <a:xfrm>
            <a:off x="6089904" y="2148840"/>
            <a:ext cx="2487168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57534E"/>
                </a:solidFill>
              </a:rPr>
              <a:t>OPERATIONAL PRACTICE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Screening agencies run covert tests of their own trained inspectors: professional inspection is a capacity-limited control.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100" b="0" i="1" dirty="0">
                <a:solidFill>
                  <a:srgbClr val="78716C"/>
                </a:solidFill>
              </a:rPr>
              <a:t>GAO-19-374 (2019)</a:t>
            </a:r>
          </a:p>
        </p:txBody>
      </p:sp>
      <p:sp>
        <p:nvSpPr>
          <p:cNvPr id="130" name="E130"/>
          <p:cNvSpPr/>
          <p:nvPr/>
        </p:nvSpPr>
        <p:spPr>
          <a:xfrm>
            <a:off x="566928" y="3703320"/>
            <a:ext cx="8010144" cy="9601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Spend human judgment where judgment is required.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Don’t use human attention as a substitute for scalable enforcement.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lesson is not that humans are bad validators — attention is finite.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Formal methods reason over modeled behaviors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60120"/>
            <a:ext cx="3895344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TESTING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choose some executions and observe what happens</a:t>
            </a:r>
          </a:p>
        </p:txBody>
      </p:sp>
      <p:sp>
        <p:nvSpPr>
          <p:cNvPr id="101" name="P101"/>
          <p:cNvSpPr/>
          <p:nvPr/>
        </p:nvSpPr>
        <p:spPr>
          <a:xfrm>
            <a:off x="4681728" y="960120"/>
            <a:ext cx="3895344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FORMAL METHODS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state a property and search every behavior the model permits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2286000"/>
            <a:ext cx="80101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What is searched is a MODEL: a state machine, a protocol, or a program under an explicit semantics — together with the assumptions and bounds you stated.</a:t>
            </a:r>
          </a:p>
        </p:txBody>
      </p:sp>
      <p:sp>
        <p:nvSpPr>
          <p:cNvPr id="120" name="E120"/>
          <p:cNvSpPr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Formal evidence covers every behavior the model permits — and nothing outside it.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The model, the property, the assumptions, and the bound are all part of the claim.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Strong evidence about the model you wrote, under the assumptions it contains.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Bounded model checking asks for a counterexample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2788920" y="896112"/>
            <a:ext cx="3566160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  <a:latin typeface="Consolas"/>
              </a:rPr>
              <a:t>assert(balance &gt;= 0);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1645920"/>
            <a:ext cx="3895344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ORDINARY TESTING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Try some sequences of deposits and withdrawals. Did we see the assertion fail?</a:t>
            </a:r>
          </a:p>
        </p:txBody>
      </p:sp>
      <p:sp>
        <p:nvSpPr>
          <p:cNvPr id="111" name="P111"/>
          <p:cNvSpPr/>
          <p:nvPr/>
        </p:nvSpPr>
        <p:spPr>
          <a:xfrm>
            <a:off x="4681728" y="1645920"/>
            <a:ext cx="3895344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BOUNDED MODEL CHECKING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Is there ANY sequence of choices, up to depth k, that makes it fail?</a:t>
            </a:r>
          </a:p>
        </p:txBody>
      </p:sp>
      <p:sp>
        <p:nvSpPr>
          <p:cNvPr id="120" name="B120"/>
          <p:cNvSpPr/>
          <p:nvPr/>
        </p:nvSpPr>
        <p:spPr>
          <a:xfrm>
            <a:off x="566928" y="3017520"/>
            <a:ext cx="3895344" cy="8686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YES → a counterexample trace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50" b="0" i="0" dirty="0">
                <a:solidFill>
                  <a:srgbClr val="FFFFFF"/>
                </a:solidFill>
              </a:rPr>
              <a:t>the exact sequence of choices that breaks it</a:t>
            </a:r>
          </a:p>
        </p:txBody>
      </p:sp>
      <p:sp>
        <p:nvSpPr>
          <p:cNvPr id="121" name="P121"/>
          <p:cNvSpPr/>
          <p:nvPr/>
        </p:nvSpPr>
        <p:spPr>
          <a:xfrm>
            <a:off x="4681728" y="3017520"/>
            <a:ext cx="3895344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NO → no violation up to k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within the modeled behaviors and that bound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4069080"/>
            <a:ext cx="80101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Mechanizations differ: an explicit-state checker enumerates a model’s reachable states; bounded model checking asks a solver about executions up to depth k.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Both search the behaviors instead of sampling them.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“No counterexample up to k” is a precise claim — and it is not “the program is correct”.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Models themselves can be validated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a protocol or state machine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459736" y="1709928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1" name="P101"/>
          <p:cNvSpPr/>
          <p:nvPr/>
        </p:nvSpPr>
        <p:spPr>
          <a:xfrm>
            <a:off x="26243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an explicit model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4517136" y="1709928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46817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properties it must satisfy</a:t>
            </a:r>
          </a:p>
        </p:txBody>
      </p:sp>
      <p:cxnSp>
        <p:nvCxnSpPr>
          <p:cNvPr id="112" name="C112"/>
          <p:cNvCxnSpPr/>
          <p:nvPr/>
        </p:nvCxnSpPr>
        <p:spPr>
          <a:xfrm>
            <a:off x="6574536" y="1709928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P103"/>
          <p:cNvSpPr/>
          <p:nvPr/>
        </p:nvSpPr>
        <p:spPr>
          <a:xfrm>
            <a:off x="67391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mechanical search of its behaviors</a:t>
            </a:r>
          </a:p>
        </p:txBody>
      </p:sp>
      <p:sp>
        <p:nvSpPr>
          <p:cNvPr id="100" name="T100"/>
          <p:cNvSpPr txBox="1"/>
          <p:nvPr/>
        </p:nvSpPr>
        <p:spPr>
          <a:xfrm>
            <a:off x="566928" y="868680"/>
            <a:ext cx="801014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What we verify need not be the implementation.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359152"/>
            <a:ext cx="8010144" cy="1874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BEFORE MARS: CHECK THE MODEL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Gerard Holzmann built the SPIN model checker at Bell Labs; it received the ACM Software System Award in 2001. He later led NASA/JPL’s Laboratory for Reliable Software.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For the Mars Science Laboratory mission, JPL model-checked critical multithreaded algorithms and hand-built SPIN models of larger subsystems — a ~45,000-line C data-management module became a ~1,600-line verification model. The runs exposed subtle concurrency defects, and for the file-system software model checking became part of routine regression testing.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150" b="0" i="1" dirty="0">
                <a:solidFill>
                  <a:srgbClr val="78716C"/>
                </a:solidFill>
              </a:rPr>
              <a:t>Holzmann, “Mars Code,” Communications of the ACM 57, no. 2 (2014).</a:t>
            </a:r>
          </a:p>
        </p:txBody>
      </p:sp>
      <p:sp>
        <p:nvSpPr>
          <p:cNvPr id="130" name="E130"/>
          <p:cNvSpPr/>
          <p:nvPr/>
        </p:nvSpPr>
        <p:spPr>
          <a:xfrm>
            <a:off x="566928" y="4370832"/>
            <a:ext cx="8010144" cy="84124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1" i="0" dirty="0">
                <a:solidFill>
                  <a:srgbClr val="5C4826"/>
                </a:solidFill>
              </a:rPr>
              <a:t>🧙  An explicit engineering model can be a first-class validation target.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1" dirty="0">
                <a:solidFill>
                  <a:srgbClr val="57534E"/>
                </a:solidFill>
              </a:rPr>
              <a:t>We can obtain evidence about the model before we rely on the realized system.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The artifact under validation is a choice. Sometimes the best one is the model.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How should we search for failures?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Different uncertainties call for different search strategies.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8603</TotalTime>
  <Words>2303</Words>
  <Application>Microsoft Macintosh PowerPoint</Application>
  <PresentationFormat>On-screen Show (4:3)</PresentationFormat>
  <Paragraphs>383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Calibri</vt:lpstr>
      <vt:lpstr>Times</vt:lpstr>
      <vt:lpstr>Purdue1</vt:lpstr>
      <vt:lpstr>PowerPoint Presentation</vt:lpstr>
      <vt:lpstr>What is at stake?</vt:lpstr>
      <vt:lpstr>What would justify delivering this system?</vt:lpstr>
      <vt:lpstr>How sure do we need to be?</vt:lpstr>
      <vt:lpstr>“It depends” is the beginning of the answer, not the end</vt:lpstr>
      <vt:lpstr>Consequence changes the burden of evidence</vt:lpstr>
      <vt:lpstr>Validation is broader than testing — and it does not demand certainty</vt:lpstr>
      <vt:lpstr>What must we establish?</vt:lpstr>
      <vt:lpstr>Validation begins with claims, not techniques</vt:lpstr>
      <vt:lpstr>Remember: the middle has no fixed number of levels</vt:lpstr>
      <vt:lpstr>Models and properties become more precise toward realization</vt:lpstr>
      <vt:lpstr>Evidence bears on properties at the scope where they live</vt:lpstr>
      <vt:lpstr>The familiar testing levels are relative</vt:lpstr>
      <vt:lpstr>Validate a property at the scope where it lives</vt:lpstr>
      <vt:lpstr>The final claim reaches the world</vt:lpstr>
      <vt:lpstr>A measurement is not evidence by itself</vt:lpstr>
      <vt:lpstr>An Assurance Case makes this reasoning inspectable</vt:lpstr>
      <vt:lpstr>What evidence could bear on the claim?</vt:lpstr>
      <vt:lpstr>Choose evidence for the uncertainty you need to reduce</vt:lpstr>
      <vt:lpstr>Known answers → example-based testing</vt:lpstr>
      <vt:lpstr>General properties → property-based testing</vt:lpstr>
      <vt:lpstr>The oracle is often the expensive part</vt:lpstr>
      <vt:lpstr>Another implementation → differential testing</vt:lpstr>
      <vt:lpstr>Related executions → metamorphic testing</vt:lpstr>
      <vt:lpstr>Search for unexpected behavior → fuzzing</vt:lpstr>
      <vt:lpstr>Explore modeled behaviors → static analysis &amp; model checking</vt:lpstr>
      <vt:lpstr>Different techniques establish different things</vt:lpstr>
      <vt:lpstr>How strong is the evidence?</vt:lpstr>
      <vt:lpstr>Executing code is not the same as checking it</vt:lpstr>
      <vt:lpstr>What does coverage actually establish?</vt:lpstr>
      <vt:lpstr>Evidence multiplies; independence does not</vt:lpstr>
      <vt:lpstr>🧙  MAGE Moment: GenAI can make weak evidence very cheap</vt:lpstr>
      <vt:lpstr>When is the evidence enough?</vt:lpstr>
      <vt:lpstr>Enough is judged against what is at stake</vt:lpstr>
      <vt:lpstr>What should we do now?</vt:lpstr>
      <vt:lpstr>An Assurance Case makes the judgment inspectable</vt:lpstr>
      <vt:lpstr>The reasoning you can reuse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407</cp:revision>
  <dcterms:created xsi:type="dcterms:W3CDTF">2020-02-21T23:00:33Z</dcterms:created>
  <dcterms:modified xsi:type="dcterms:W3CDTF">2026-09-19T04:24:54Z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