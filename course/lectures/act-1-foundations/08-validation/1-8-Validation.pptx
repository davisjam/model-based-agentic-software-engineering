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41.xml" ContentType="application/vnd.openxmlformats-officedocument.presentationml.slide+xml"/>
  <Override PartName="/ppt/slides/slide45.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4.xml" ContentType="application/vnd.openxmlformats-officedocument.presentationml.notesSlide+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9"/>
  </p:notesMasterIdLst>
  <p:sldIdLst>
    <p:sldId id="257" r:id="rId2"/>
    <p:sldId id="259" r:id="rId4"/>
    <p:sldId id="260" r:id="rId5"/>
    <p:sldId id="263" r:id="rId8"/>
    <p:sldId id="267" r:id="rId12"/>
    <p:sldId id="271" r:id="rId16"/>
    <p:sldId id="295" r:id="rId45"/>
    <p:sldId id="296" r:id="rId46"/>
    <p:sldId id="268" r:id="rId13"/>
    <p:sldId id="275" r:id="rId20"/>
    <p:sldId id="301" r:id="rId51"/>
    <p:sldId id="302" r:id="rId52"/>
    <p:sldId id="303" r:id="rId53"/>
    <p:sldId id="304" r:id="rId54"/>
    <p:sldId id="299" r:id="rId49"/>
    <p:sldId id="305" r:id="rId55"/>
    <p:sldId id="297" r:id="rId47"/>
    <p:sldId id="307" r:id="rId57"/>
    <p:sldId id="308" r:id="rId31"/>
    <p:sldId id="309" r:id="rId30"/>
    <p:sldId id="312" r:id="rId25"/>
    <p:sldId id="313" r:id="rId24"/>
    <p:sldId id="311" r:id="rId26"/>
    <p:sldId id="314" r:id="rId23"/>
    <p:sldId id="315" r:id="rId22"/>
    <p:sldId id="288" r:id="rId33"/>
    <p:sldId id="321" r:id="rId60"/>
    <p:sldId id="291" r:id="rId36"/>
    <p:sldId id="292"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72" d="100"/>
          <a:sy n="72" d="100"/>
        </p:scale>
        <p:origin x="2832" y="7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5" Type="http://schemas.openxmlformats.org/officeDocument/2006/relationships/slide" Target="slides/slide4.xml"/><Relationship Id="rId8" Type="http://schemas.openxmlformats.org/officeDocument/2006/relationships/slide" Target="slides/slide7.xml"/><Relationship Id="rId12" Type="http://schemas.openxmlformats.org/officeDocument/2006/relationships/slide" Target="slides/slide10.xml"/><Relationship Id="rId13" Type="http://schemas.openxmlformats.org/officeDocument/2006/relationships/slide" Target="slides/slide16.xml"/><Relationship Id="rId16" Type="http://schemas.openxmlformats.org/officeDocument/2006/relationships/slide" Target="slides/slide11.xml"/><Relationship Id="rId20" Type="http://schemas.openxmlformats.org/officeDocument/2006/relationships/slide" Target="slides/slide19.xml"/><Relationship Id="rId22" Type="http://schemas.openxmlformats.org/officeDocument/2006/relationships/slide" Target="slides/slide41.xml"/><Relationship Id="rId23" Type="http://schemas.openxmlformats.org/officeDocument/2006/relationships/slide" Target="slides/slide38.xml"/><Relationship Id="rId24" Type="http://schemas.openxmlformats.org/officeDocument/2006/relationships/slide" Target="slides/slide37.xml"/><Relationship Id="rId25" Type="http://schemas.openxmlformats.org/officeDocument/2006/relationships/slide" Target="slides/slide36.xml"/><Relationship Id="rId26" Type="http://schemas.openxmlformats.org/officeDocument/2006/relationships/slide" Target="slides/slide35.xml"/><Relationship Id="rId30" Type="http://schemas.openxmlformats.org/officeDocument/2006/relationships/slide" Target="slides/slide33.xml"/><Relationship Id="rId31" Type="http://schemas.openxmlformats.org/officeDocument/2006/relationships/slide" Target="slides/slide32.xml"/><Relationship Id="rId33" Type="http://schemas.openxmlformats.org/officeDocument/2006/relationships/slide" Target="slides/slide45.xml"/><Relationship Id="rId36" Type="http://schemas.openxmlformats.org/officeDocument/2006/relationships/slide" Target="slides/slide53.xml"/><Relationship Id="rId37" Type="http://schemas.openxmlformats.org/officeDocument/2006/relationships/slide" Target="slides/slide54.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5" Type="http://schemas.openxmlformats.org/officeDocument/2006/relationships/slide" Target="slides/slide13.xml"/><Relationship Id="rId46" Type="http://schemas.openxmlformats.org/officeDocument/2006/relationships/slide" Target="slides/slide14.xml"/><Relationship Id="rId47" Type="http://schemas.openxmlformats.org/officeDocument/2006/relationships/slide" Target="slides/slide20.xml"/><Relationship Id="rId49" Type="http://schemas.openxmlformats.org/officeDocument/2006/relationships/slide" Target="slides/slide22.xml"/><Relationship Id="rId51" Type="http://schemas.openxmlformats.org/officeDocument/2006/relationships/slide" Target="slides/slide24.xml"/><Relationship Id="rId52" Type="http://schemas.openxmlformats.org/officeDocument/2006/relationships/slide" Target="slides/slide25.xml"/><Relationship Id="rId53" Type="http://schemas.openxmlformats.org/officeDocument/2006/relationships/slide" Target="slides/slide26.xml"/><Relationship Id="rId54" Type="http://schemas.openxmlformats.org/officeDocument/2006/relationships/slide" Target="slides/slide27.xml"/><Relationship Id="rId55" Type="http://schemas.openxmlformats.org/officeDocument/2006/relationships/slide" Target="slides/slide28.xml"/><Relationship Id="rId57" Type="http://schemas.openxmlformats.org/officeDocument/2006/relationships/slide" Target="slides/slide31.xml"/><Relationship Id="rId60" Type="http://schemas.openxmlformats.org/officeDocument/2006/relationships/slide" Target="slides/slide5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Reframe validation as a decision under uncertainty, not a proof.</a:t>
            </a:r>
          </a:p>
          <a:p>
            <a:endParaRPr lang="en-US"/>
          </a:p>
          <a:p>
            <a:r>
              <a:rPr lang="en-US" b="0" i="0" dirty="0"/>
              <a:t>• Core move: validation supports a DECISION, not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a:p>
          <a:p>
            <a:r>
              <a:rPr lang="en-US" b="0" i="0" dirty="0"/>
              <a:t>=====</a:t>
            </a:r>
          </a:p>
          <a:p>
            <a:endParaRPr lang="en-US"/>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Recover the chain of models — the left leg, earned before any V is drawn.</a:t>
            </a:r>
          </a:p>
          <a:p>
            <a:endParaRPr lang="en-US"/>
          </a:p>
          <a:p>
            <a:r>
              <a:rPr lang="en-US" b="0" i="0" dirty="0"/>
              <a:t>• Draw only this leg. There is no reason to draw a V yet — the right side has to be earned.</a:t>
            </a:r>
          </a:p>
          <a:p>
            <a:r>
              <a:rPr lang="en-US" b="0" i="0" dirty="0"/>
              <a:t>• The chain is the payoff of the previous four lectures, compressed.</a:t>
            </a:r>
          </a:p>
          <a:p>
            <a:r>
              <a:rPr lang="en-US" b="0" i="0" dirty="0"/>
              <a:t>• The running claim enters here, attached to the Specification: a submitted payment shall cause at most one charge. It stays on the board for the rest of the lecture.</a:t>
            </a:r>
          </a:p>
          <a:p>
            <a:r>
              <a:rPr lang="en-US" b="0" i="0" dirty="0"/>
              <a:t>• Validation does not invent consequential claims. It inherits them from the engineering models that led to the implementation.</a:t>
            </a:r>
          </a:p>
          <a:p>
            <a:r>
              <a:rPr lang="en-US" b="0" i="0" dirty="0"/>
              <a:t>• Levels are convenient, not a law: the middle refines as far as the engineering problem requires. The nadir is the Implementation.</a:t>
            </a:r>
          </a:p>
          <a:p>
            <a:endParaRPr lang="en-US"/>
          </a:p>
          <a:p>
            <a:r>
              <a:rPr lang="en-US" b="0" i="0" dirty="0"/>
              <a:t>=====</a:t>
            </a:r>
          </a:p>
          <a:p>
            <a:endParaRPr lang="en-US"/>
          </a:p>
          <a:p>
            <a:r>
              <a:rPr lang="en-US" b="0" i="0" dirty="0"/>
              <a:t>Before we can say where evidence attaches, we need the thing it attaches to. This is the chain you have been building all term.</a:t>
            </a:r>
          </a:p>
          <a:p>
            <a:endParaRPr lang="en-US"/>
          </a:p>
          <a:p>
            <a:r>
              <a:rPr lang="en-US" b="0" i="0" dirty="0"/>
              <a:t>ANIMATE</a:t>
            </a:r>
          </a:p>
          <a:p>
            <a:endParaRPr lang="en-US"/>
          </a:p>
          <a:p>
            <a:r>
              <a:rPr lang="en-US" b="0" i="0" dirty="0"/>
              <a:t>Requirements: what the world must get.</a:t>
            </a:r>
          </a:p>
          <a:p>
            <a:endParaRPr lang="en-US"/>
          </a:p>
          <a:p>
            <a:r>
              <a:rPr lang="en-US" b="0" i="0" dirty="0"/>
              <a:t>ANIMATE</a:t>
            </a:r>
          </a:p>
          <a:p>
            <a:endParaRPr lang="en-US"/>
          </a:p>
          <a:p>
            <a:r>
              <a:rPr lang="en-US" b="0" i="0" dirty="0"/>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endParaRPr lang="en-US"/>
          </a:p>
          <a:p>
            <a:r>
              <a:rPr lang="en-US" b="0" i="0" dirty="0"/>
              <a:t>ANIMATE</a:t>
            </a:r>
          </a:p>
          <a:p>
            <a:endParaRPr lang="en-US"/>
          </a:p>
          <a:p>
            <a:r>
              <a:rPr lang="en-US" b="0" i="0" dirty="0"/>
              <a:t>Architecture and design: how. And these refine —</a:t>
            </a:r>
          </a:p>
          <a:p>
            <a:endParaRPr lang="en-US"/>
          </a:p>
          <a:p>
            <a:r>
              <a:rPr lang="en-US" b="0" i="0" dirty="0"/>
              <a:t>ANIMATE</a:t>
            </a:r>
          </a:p>
          <a:p>
            <a:endParaRPr lang="en-US"/>
          </a:p>
          <a:p>
            <a:r>
              <a:rPr lang="en-US" b="0" i="0" dirty="0"/>
              <a:t>— system organization, subsystem, mechanism. The number of levels is not fixed by anything; you refine as far as the engineering problem requires.</a:t>
            </a:r>
          </a:p>
          <a:p>
            <a:endParaRPr lang="en-US"/>
          </a:p>
          <a:p>
            <a:r>
              <a:rPr lang="en-US" b="0" i="0" dirty="0"/>
              <a:t>ANIMATE</a:t>
            </a:r>
          </a:p>
          <a:p>
            <a:endParaRPr lang="en-US"/>
          </a:p>
          <a:p>
            <a:r>
              <a:rPr lang="en-US" b="0" i="0" dirty="0"/>
              <a:t>And the implementation: the machine you actually built.</a:t>
            </a:r>
          </a:p>
          <a:p>
            <a:endParaRPr lang="en-US"/>
          </a:p>
          <a:p>
            <a:r>
              <a:rPr lang="en-US" b="0" i="0" dirty="0"/>
              <a:t>ANIMATE</a:t>
            </a:r>
          </a:p>
          <a:p>
            <a:endParaRPr lang="en-US"/>
          </a:p>
          <a:p>
            <a:r>
              <a:rPr lang="en-US" b="0" i="0" dirty="0"/>
              <a:t>A chain of models growing more precise toward the code. Not a schedule of phases — read it as a structure, not a calendar.</a:t>
            </a: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The specification's obligation only produces the world outcome via assumptions.</a:t>
            </a:r>
          </a:p>
          <a:p>
            <a:endParaRPr lang="en-US"/>
          </a:p>
          <a:p>
            <a:r>
              <a:rPr lang="en-US" b="0" i="0" dirty="0"/>
              <a:t>• This is the Jackson framing: machine plus environment yields the world outcome.</a:t>
            </a:r>
          </a:p>
          <a:p>
            <a:r>
              <a:rPr lang="en-US" b="0" i="0" dirty="0"/>
              <a:t>• Requirements state required outcomes in the world; the specification states what the machine must do under assumptions about its environment; architecture and design progressively refine how.</a:t>
            </a:r>
          </a:p>
          <a:p>
            <a:r>
              <a:rPr lang="en-US" b="0" i="0" dirty="0"/>
              <a:t>• The load-bearing point: machine-side evidence can establish properties of what we built. It cannot by itself establish that our assumptions about the world are true.</a:t>
            </a:r>
          </a:p>
          <a:p>
            <a:r>
              <a:rPr lang="en-US" b="0" i="0" dirty="0"/>
              <a:t>• Keep the payment claim concrete: the provider's actual semantics are part of the environment.</a:t>
            </a:r>
          </a:p>
          <a:p>
            <a:r>
              <a:rPr lang="en-US" b="0" i="0" dirty="0"/>
              <a:t>• This motivates evidence at different scopes — the next three slides.</a:t>
            </a:r>
          </a:p>
          <a:p>
            <a:endParaRPr lang="en-US"/>
          </a:p>
          <a:p>
            <a:r>
              <a:rPr lang="en-US" b="0" i="0" dirty="0"/>
              <a:t>=====</a:t>
            </a:r>
          </a:p>
          <a:p>
            <a:endParaRPr lang="en-US"/>
          </a:p>
          <a:p>
            <a:r>
              <a:rPr lang="en-US" b="0" i="0" dirty="0"/>
              <a:t>Take one claim and ask what actually has to hold for it to be true in the world.</a:t>
            </a:r>
          </a:p>
          <a:p>
            <a:endParaRPr lang="en-US"/>
          </a:p>
          <a:p>
            <a:r>
              <a:rPr lang="en-US" b="0" i="0" dirty="0"/>
              <a:t>ANIMATE</a:t>
            </a:r>
          </a:p>
          <a:p>
            <a:endParaRPr lang="en-US"/>
          </a:p>
          <a:p>
            <a:r>
              <a:rPr lang="en-US" b="0" i="0" dirty="0"/>
              <a:t>The machine — the thing we build and the thing we can run.</a:t>
            </a:r>
          </a:p>
          <a:p>
            <a:endParaRPr lang="en-US"/>
          </a:p>
          <a:p>
            <a:r>
              <a:rPr lang="en-US" b="0" i="0" dirty="0"/>
              <a:t>ANIMATE</a:t>
            </a:r>
          </a:p>
          <a:p>
            <a:endParaRPr lang="en-US"/>
          </a:p>
          <a:p>
            <a:r>
              <a:rPr lang="en-US" b="0" i="0" dirty="0"/>
              <a:t>Plus the environment: the domain assumptions. The provider's retry semantics. The network. The operator's behavior.</a:t>
            </a:r>
          </a:p>
          <a:p>
            <a:endParaRPr lang="en-US"/>
          </a:p>
          <a:p>
            <a:r>
              <a:rPr lang="en-US" b="0" i="0" dirty="0"/>
              <a:t>ANIMATE</a:t>
            </a:r>
          </a:p>
          <a:p>
            <a:endParaRPr lang="en-US"/>
          </a:p>
          <a:p>
            <a:r>
              <a:rPr lang="en-US" b="0" i="0" dirty="0"/>
              <a:t>Together those give the required outcome in the world.</a:t>
            </a:r>
          </a:p>
          <a:p>
            <a:endParaRPr lang="en-US"/>
          </a:p>
          <a:p>
            <a:r>
              <a:rPr lang="en-US" b="0" i="0" dirty="0"/>
              <a:t>ANIMATE</a:t>
            </a:r>
          </a:p>
          <a:p>
            <a:endParaRPr lang="en-US"/>
          </a:p>
          <a:p>
            <a:r>
              <a:rPr lang="en-US" b="0" i="0" dirty="0"/>
              <a:t>So evidence has to establish two things: that the machine meets its specification, and that the specification plus the assumptions actually produces the outcome. Our concrete claim: a submitted payment shall cause at most one charge.</a:t>
            </a:r>
          </a:p>
          <a:p>
            <a:endParaRPr lang="en-US"/>
          </a:p>
          <a:p>
            <a:r>
              <a:rPr lang="en-US" b="0" i="0" dirty="0"/>
              <a:t>ANIMATE</a:t>
            </a:r>
          </a:p>
          <a:p>
            <a:endParaRPr lang="en-US"/>
          </a:p>
          <a:p>
            <a:r>
              <a:rPr lang="en-US" b="0" i="0" dirty="0"/>
              <a:t>Here is the part to take away. Almost all of the evidence you will ever collect attaches to the machine. The requirement lives in the world. The link between them runs through assumptions you have not tested — the payment provider's ACTUAL semantics, not the ones in their documentation, are part of the environment. Machine-side evidence cannot expose a false one.</a:t>
            </a: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The V is a summary of what we just derived — and the industry vocabulary names its scopes.</a:t>
            </a:r>
          </a:p>
          <a:p>
            <a:endParaRPr lang="en-US"/>
          </a:p>
          <a:p>
            <a:r>
              <a:rPr lang="en-US" b="0" i="0" dirty="0"/>
              <a:t>• Now — and only now — draw the right leg. The aha is that the V is a summary, not a doctrine.</a:t>
            </a:r>
          </a:p>
          <a:p>
            <a:r>
              <a:rPr lang="en-US" b="0" i="0" dirty="0"/>
              <a:t>• The dotted lines are the content: a property expressed at one modeling scope requires evidence capable of establishing it at the corresponding scope.</a:t>
            </a:r>
          </a:p>
          <a:p>
            <a:r>
              <a:rPr lang="en-US" b="0" i="0" dirty="0"/>
              <a:t>• Acceptance sits at the top of the right leg because it pairs with requirements.</a:t>
            </a:r>
          </a:p>
          <a:p>
            <a:r>
              <a:rPr lang="en-US" b="0" i="0" dirty="0"/>
              <a:t>• Then attach the conventional vocabulary — unit, integration, system, acceptance — to the concept they already hold. These words name SCOPES, not evidence mechanisms.</a:t>
            </a:r>
          </a:p>
          <a:p>
            <a:r>
              <a:rPr lang="en-US" b="0" i="0" dirty="0"/>
              <a:t>• Stress the relativity: your "unit" is somebody else's "system". Arguing about which word is correct is wasted time; the question underneath — where does this property live? — is not relative.</a:t>
            </a:r>
          </a:p>
          <a:p>
            <a:endParaRPr lang="en-US"/>
          </a:p>
          <a:p>
            <a:r>
              <a:rPr lang="en-US" b="0" i="0" dirty="0"/>
              <a:t>=====</a:t>
            </a:r>
          </a:p>
          <a:p>
            <a:endParaRPr lang="en-US"/>
          </a:p>
          <a:p>
            <a:r>
              <a:rPr lang="en-US" b="0" i="0" dirty="0"/>
              <a:t>You have seen a V before, probably presented as a process. Watch where this one comes from. Left leg: the chain of models we recovered two slides ago. Nothing new.</a:t>
            </a:r>
          </a:p>
          <a:p>
            <a:endParaRPr lang="en-US"/>
          </a:p>
          <a:p>
            <a:r>
              <a:rPr lang="en-US" b="0" i="0" dirty="0"/>
              <a:t>ANIMATE</a:t>
            </a:r>
          </a:p>
          <a:p>
            <a:endParaRPr lang="en-US"/>
          </a:p>
          <a:p>
            <a:r>
              <a:rPr lang="en-US" b="0" i="0" dirty="0"/>
              <a:t>Now the right. World and acceptance evidence pair with requirements, because that is where the required outcome lives. Follow the dotted line: property at one scope, evidence at the matching scope.</a:t>
            </a:r>
          </a:p>
          <a:p>
            <a:endParaRPr lang="en-US"/>
          </a:p>
          <a:p>
            <a:r>
              <a:rPr lang="en-US" b="0" i="0" dirty="0"/>
              <a:t>ANIMATE</a:t>
            </a:r>
          </a:p>
          <a:p>
            <a:endParaRPr lang="en-US"/>
          </a:p>
          <a:p>
            <a:r>
              <a:rPr lang="en-US" b="0" i="0" dirty="0"/>
              <a:t>System evidence pairs with the specification — the machine's obligations at its boundary.</a:t>
            </a:r>
          </a:p>
          <a:p>
            <a:endParaRPr lang="en-US"/>
          </a:p>
          <a:p>
            <a:r>
              <a:rPr lang="en-US" b="0" i="0" dirty="0"/>
              <a:t>ANIMATE</a:t>
            </a:r>
          </a:p>
          <a:p>
            <a:endParaRPr lang="en-US"/>
          </a:p>
          <a:p>
            <a:r>
              <a:rPr lang="en-US" b="0" i="0" dirty="0"/>
              <a:t>Composition, or integration, evidence pairs with the architecture: the parts and their interactions.</a:t>
            </a:r>
          </a:p>
          <a:p>
            <a:endParaRPr lang="en-US"/>
          </a:p>
          <a:p>
            <a:r>
              <a:rPr lang="en-US" b="0" i="0" dirty="0"/>
              <a:t>ANIMATE</a:t>
            </a:r>
          </a:p>
          <a:p>
            <a:endParaRPr lang="en-US"/>
          </a:p>
          <a:p>
            <a:r>
              <a:rPr lang="en-US" b="0" i="0" dirty="0"/>
              <a:t>Local, or unit, evidence pairs with the mechanism and the implementation.</a:t>
            </a:r>
          </a:p>
          <a:p>
            <a:r>
              <a:rPr lang="en-US" b="0" i="0" dirty="0"/>
              <a:t>The V is not a development process anybody has to follow. It is a summary of a relationship we derived: each model has a scope at which its claims can actually be checked.</a:t>
            </a:r>
          </a:p>
          <a:p>
            <a:endParaRPr lang="en-US"/>
          </a:p>
          <a:p>
            <a:r>
              <a:rPr lang="en-US" b="0" i="0" dirty="0"/>
              <a:t>ANIMATE</a:t>
            </a:r>
          </a:p>
          <a:p>
            <a:endParaRPr lang="en-US"/>
          </a:p>
          <a:p>
            <a:r>
              <a:rPr lang="en-US" b="0" i="0" dirty="0"/>
              <a:t>And now the vocabulary you will hear constantly, attached to a concept you already hold. Unit: a chosen part in isolation. Integration: interactions among parts. System: the assembled system at a boundary. Acceptance: the delivered system achieving its purpose in the world.</a:t>
            </a:r>
          </a:p>
          <a:p>
            <a:r>
              <a:rPr lang="en-US" b="0" i="0" dirty="0"/>
              <a:t>Two cautions. These words are relative — your team's unit is, from inside, a system with its own architecture. And they name scopes of evidence, not how the evidence was obtained. How to obtain it is the next section.</a:t>
            </a: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4 minutes — Observing execution: the flow, the fidelity dimension, and the coverage TPS.</a:t>
            </a:r>
          </a:p>
          <a:p>
            <a:endParaRPr lang="en-US"/>
          </a:p>
          <a:p>
            <a:r>
              <a:rPr lang="en-US" b="0" i="0" dirty="0"/>
              <a:t>• The four-step flow first: choose inputs, run, observe, oracle. Everybody in the room has done all four.</a:t>
            </a:r>
          </a:p>
          <a:p>
            <a:r>
              <a:rPr lang="en-US" b="0" i="0" dirty="0"/>
              <a:t>• Then the environmental-fidelity dimension: engineers routinely simulate parts of the environment — localhost servers, filesystem-backed queues, simulated services, generated workloads, controlled failure injection.</a:t>
            </a:r>
          </a:p>
          <a:p>
            <a:r>
              <a:rPr lang="en-US" b="0" i="0" dirty="0"/>
              <a:t>• The continuum: more simulated to more real. Simulation buys speed, repeatability, controllability, cost. Fidelity buys evidence about actual delivery conditions. Evidence inherits the differences — this foreshadows representativeness in the evidence-strength section.</a:t>
            </a:r>
          </a:p>
          <a:p>
            <a:r>
              <a:rPr lang="en-US" b="0" i="0" dirty="0"/>
              <a:t>• Then the TPS. Hand them the 100% coverage result and ask what it licenses. Let pairs run about ninety seconds; take three or four answers. Expected: "every line ran", "every branch went both ways", and — from somebody — "so it's tested." That third one is the misconception.</a:t>
            </a:r>
          </a:p>
          <a:p>
            <a:r>
              <a:rPr lang="en-US" b="0" i="0" dirty="0"/>
              <a:t>• Stop collecting the moment someone says "but it doesn't mean it's right" — that is the debrief cue.</a:t>
            </a:r>
          </a:p>
          <a:p>
            <a:r>
              <a:rPr lang="en-US" b="0" i="0" dirty="0"/>
              <a:t>• Debrief with the footer: testing observes executions; it does not observe the executions we didn't run. Coverage tells us where we looked, not that the code is correct.</a:t>
            </a:r>
          </a:p>
          <a:p>
            <a:endParaRPr lang="en-US"/>
          </a:p>
          <a:p>
            <a:r>
              <a:rPr lang="en-US" b="0" i="0" dirty="0"/>
              <a:t>=====</a:t>
            </a:r>
          </a:p>
          <a:p>
            <a:endParaRPr lang="en-US"/>
          </a:p>
          <a:p>
            <a:r>
              <a:rPr lang="en-US" b="0" i="0" dirty="0"/>
              <a:t>Run the software and observe what happens. Four steps: choose inputs, run, observe the behavior, compare against an oracle. Everyone here has done all four.</a:t>
            </a:r>
          </a:p>
          <a:p>
            <a:endParaRPr lang="en-US"/>
          </a:p>
          <a:p>
            <a:r>
              <a:rPr lang="en-US" b="0" i="0" dirty="0"/>
              <a:t>ANIMATE</a:t>
            </a:r>
          </a:p>
          <a:p>
            <a:endParaRPr lang="en-US"/>
          </a:p>
          <a:p>
            <a:r>
              <a:rPr lang="en-US" b="0" i="0" dirty="0"/>
              <a:t>Now the dimension people forget: testing need not execute in the actual delivery environment. We substitute constantly — the network becomes servers on localhost, the message queue becomes a filesystem, the external service becomes a local simulation, the workload is generated, failures and time are injected on demand.</a:t>
            </a:r>
          </a:p>
          <a:p>
            <a:endParaRPr lang="en-US"/>
          </a:p>
          <a:p>
            <a:r>
              <a:rPr lang="en-US" b="0" i="0" dirty="0"/>
              <a:t>ANIMATE</a:t>
            </a:r>
          </a:p>
          <a:p>
            <a:endParaRPr lang="en-US"/>
          </a:p>
          <a:p>
            <a:r>
              <a:rPr lang="en-US" b="0" i="0" dirty="0"/>
              <a:t>That is a trade. Simulation buys speed, repeatability, controllability, and cost. Fidelity buys the thing simulation cannot: evidence about behavior under the actual delivery conditions.</a:t>
            </a:r>
          </a:p>
          <a:p>
            <a:endParaRPr lang="en-US"/>
          </a:p>
          <a:p>
            <a:r>
              <a:rPr lang="en-US" b="0" i="0" dirty="0"/>
              <a:t>ANIMATE</a:t>
            </a:r>
          </a:p>
          <a:p>
            <a:endParaRPr lang="en-US"/>
          </a:p>
          <a:p>
            <a:r>
              <a:rPr lang="en-US" b="0" i="0" dirty="0"/>
              <a:t>So place any test you run on this continuum — and remember the price: the evidence inherits the differences between the simulated environment and the real one. We will meet this again as representativeness.</a:t>
            </a:r>
          </a:p>
          <a:p>
            <a:endParaRPr lang="en-US"/>
          </a:p>
          <a:p>
            <a:r>
              <a:rPr lang="en-US" b="0" i="0" dirty="0"/>
              <a:t>ANIMATE</a:t>
            </a:r>
          </a:p>
          <a:p>
            <a:endParaRPr lang="en-US"/>
          </a:p>
          <a:p>
            <a:r>
              <a:rPr lang="en-US" b="0" i="0" dirty="0"/>
              <a:t>Now — think, pair, share. Statement and condition coverage both reached 100 percent. What have we established, and what have we not? Ninety seconds.</a:t>
            </a:r>
          </a:p>
          <a:p>
            <a:r>
              <a:rPr lang="en-US" b="0" i="0" dirty="0"/>
              <a:t>Take answers. Every line ran. Every branch went both ways. And — someone will say it — "so it's tested." Push once: does a line running tell you anything checked what it did? Stop the moment someone says "it doesn't mean it's right."</a:t>
            </a:r>
          </a:p>
          <a:p>
            <a:endParaRPr lang="en-US"/>
          </a:p>
          <a:p>
            <a:r>
              <a:rPr lang="en-US" b="0" i="0" dirty="0"/>
              <a:t>ANIMATE</a:t>
            </a:r>
          </a:p>
          <a:p>
            <a:endParaRPr lang="en-US"/>
          </a:p>
          <a:p>
            <a:r>
              <a:rPr lang="en-US" b="0" i="0" dirty="0"/>
              <a:t>That is the debrief: testing observes executions. It does not observe the executions we didn't run — and a reached line with no consequential assertion is execution, not evidence.</a:t>
            </a: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Static analysis, taught from a tiny program rather than from terminology.</a:t>
            </a:r>
          </a:p>
          <a:p>
            <a:endParaRPr lang="en-US"/>
          </a:p>
          <a:p>
            <a:r>
              <a:rPr lang="en-US" b="0" i="0" dirty="0"/>
              <a:t>• Students have not learned static analysis precisely enough for a soundness/completeness table to land cold. Start with the program and the consequential question.</a:t>
            </a:r>
          </a:p>
          <a:p>
            <a:r>
              <a:rPr lang="en-US" b="0" i="0" dirty="0"/>
              <a:t>• Dynamic testing chooses particular values of x. Static analysis constructs an abstraction — sets of possible values and control-flow states — and reasons about the possibilities without running each execution.</a:t>
            </a:r>
          </a:p>
          <a:p>
            <a:r>
              <a:rPr lang="en-US" b="0" i="0" dirty="0"/>
              <a:t>• Then the cost of abstraction, felt through the false positive: the validated-configuration example. The analyzer is not stupid; it is reasoning over an abstraction, and nothing in the code told it what you know.</a:t>
            </a:r>
          </a:p>
          <a:p>
            <a:r>
              <a:rPr lang="en-US" b="0" i="0" dirty="0"/>
              <a:t>• Only after the mechanism is felt, introduce the guarantee: sound for the modeled property — misses no real violation the analysis represents, but may report impossible ones. Say "for the modeled property" every time.</a:t>
            </a:r>
          </a:p>
          <a:p>
            <a:r>
              <a:rPr lang="en-US" b="0" i="0" dirty="0"/>
              <a:t>• Do not spend space on completeness terminology unless a question forces it. The undergraduate lesson: the abstraction determines what the analysis can establish and what false alarms it may introduce.</a:t>
            </a:r>
          </a:p>
          <a:p>
            <a:endParaRPr lang="en-US"/>
          </a:p>
          <a:p>
            <a:r>
              <a:rPr lang="en-US" b="0" i="0" dirty="0"/>
              <a:t>=====</a:t>
            </a:r>
          </a:p>
          <a:p>
            <a:endParaRPr lang="en-US"/>
          </a:p>
          <a:p>
            <a:r>
              <a:rPr lang="en-US" b="0" i="0" dirty="0"/>
              <a:t>Four lines. Read them, then the question on the right: can execution reach charge(x) with an amount above the limit? That is a consequential question — real money.</a:t>
            </a:r>
          </a:p>
          <a:p>
            <a:endParaRPr lang="en-US"/>
          </a:p>
          <a:p>
            <a:r>
              <a:rPr lang="en-US" b="0" i="0" dirty="0"/>
              <a:t>ANIMATE</a:t>
            </a:r>
          </a:p>
          <a:p>
            <a:endParaRPr lang="en-US"/>
          </a:p>
          <a:p>
            <a:r>
              <a:rPr lang="en-US" b="0" i="0" dirty="0"/>
              <a:t>How would you answer it? Dynamic testing chooses particular values of x — a hundred, a million, the limit exactly — and runs them. Each run answers for one value.</a:t>
            </a:r>
          </a:p>
          <a:p>
            <a:r>
              <a:rPr lang="en-US" b="0" i="0" dirty="0"/>
              <a:t>Static analysis makes a different move: build an abstraction that stands for SETS of possible values and paths, and reason about all of them at once, without running any execution.</a:t>
            </a:r>
          </a:p>
          <a:p>
            <a:endParaRPr lang="en-US"/>
          </a:p>
          <a:p>
            <a:r>
              <a:rPr lang="en-US" b="0" i="0" dirty="0"/>
              <a:t>ANIMATE</a:t>
            </a:r>
          </a:p>
          <a:p>
            <a:endParaRPr lang="en-US"/>
          </a:p>
          <a:p>
            <a:r>
              <a:rPr lang="en-US" b="0" i="0" dirty="0"/>
              <a:t>Now the price, and you should feel it rather than memorize it. Elsewhere in this system: startup validates the config file, so loadConfig never returns null. You know that. The analyzer still reports "possible null dereference" — because nothing in the code says what you just told me. It is reasoning over an abstraction, and the abstraction includes behaviors the real system cannot exhibit. That report is a false positive.</a:t>
            </a:r>
          </a:p>
          <a:p>
            <a:endParaRPr lang="en-US"/>
          </a:p>
          <a:p>
            <a:r>
              <a:rPr lang="en-US" b="0" i="0" dirty="0"/>
              <a:t>ANIMATE</a:t>
            </a:r>
          </a:p>
          <a:p>
            <a:endParaRPr lang="en-US"/>
          </a:p>
          <a:p>
            <a:r>
              <a:rPr lang="en-US" b="0" i="0" dirty="0"/>
              <a:t>With the mechanism in hand, the guarantee makes sense: an analysis that is SOUND for the modeled property misses no real violation the abstraction represents — and pays for it by reporting some that cannot occur. Say the qualifier every time: sound FOR WHAT IT MODELS. It is a directional guarantee under a model, not a synonym for trustworthy.</a:t>
            </a:r>
          </a:p>
          <a:p>
            <a:r>
              <a:rPr lang="en-US" b="0" i="0" dirty="0"/>
              <a:t>The abstraction determines what the analysis can establish, and what false alarms it may introduce.</a:t>
            </a: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Earned conclusion: human attention is evidence, not enforcement.</a:t>
            </a:r>
          </a:p>
          <a:p>
            <a:endParaRPr lang="en-US"/>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three layers of evidence on screen: controlled experiment (rare targets are disproportionately missed in visual search — Wolfe et al., Nature 2005), human-factors synthesis (sustained vigilance is hard mental work — Warm, Parasuraman &amp; Matthews 2008), operational practice (screening agencies covertly test their own trained inspectors — GAO-19-374).</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a:p>
          <a:p>
            <a:r>
              <a:rPr lang="en-US" b="0" i="0" dirty="0"/>
              <a:t>=====</a:t>
            </a:r>
          </a:p>
          <a:p>
            <a:endParaRPr lang="en-US"/>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a:p>
          <a:p>
            <a:r>
              <a:rPr lang="en-US" b="0" i="0" dirty="0"/>
              <a:t>ANIMATE</a:t>
            </a:r>
          </a:p>
          <a:p>
            <a:endParaRPr lang="en-US"/>
          </a:p>
          <a:p>
            <a:r>
              <a:rPr lang="en-US" b="0" i="0" dirty="0"/>
              <a:t>Twelve artifacts and one defect is already hard. Now scale the axis: ten thousand artifacts. What is the detection rate, and who is doing the looking?</a:t>
            </a:r>
          </a:p>
          <a:p>
            <a:endParaRPr lang="en-US"/>
          </a:p>
          <a:p>
            <a:r>
              <a:rPr lang="en-US" b="0" i="0" dirty="0"/>
              <a:t>ANIMATE</a:t>
            </a:r>
          </a:p>
          <a:p>
            <a:endParaRPr lang="en-US"/>
          </a:p>
          <a:p>
            <a:r>
              <a:rPr lang="en-US" b="0" i="0" dirty="0"/>
              <a:t>Three independent lines of evidence, and notice they are different KINDS. A controlled experiment: rare targets are disproportionately missed in visual search — Wolfe and colleagues in Nature. A human-factors synthesis: sustained vigilance is hard mental work that consumes attention and produces workload and stress — Warm, Parasuraman and Matthews. And operational practice: screening agencies run covert tests against their own trained inspectors, precisely because professional inspection is a capacity-limited control.</a:t>
            </a:r>
          </a:p>
          <a:p>
            <a:endParaRPr lang="en-US"/>
          </a:p>
          <a:p>
            <a:r>
              <a:rPr lang="en-US" b="0" i="0" dirty="0"/>
              <a:t>ANIMATE</a:t>
            </a:r>
          </a:p>
          <a:p>
            <a:endParaRPr lang="en-US"/>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The common idea behind static analysis and model checking.</a:t>
            </a:r>
          </a:p>
          <a:p>
            <a:endParaRPr lang="en-US"/>
          </a:p>
          <a:p>
            <a:r>
              <a:rPr lang="en-US" b="0" i="0" dirty="0"/>
              <a:t>• Land the central contrast first: observe selected executions versus reason over a representation of possible executions. Sampling versus reasoning.</a:t>
            </a:r>
          </a:p>
          <a:p>
            <a:r>
              <a:rPr lang="en-US" b="0" i="0" dirty="0"/>
              <a:t>• Then the choices every formal technique makes: the representation, which behaviors it includes, the property, the assumptions, the bounds or approximations. Those choices ARE the technique.</a:t>
            </a:r>
          </a:p>
          <a:p>
            <a:r>
              <a:rPr lang="en-US" b="0" i="0" dirty="0"/>
              <a:t>• Introduce the two techniques that follow: abstract static analysis reasons over an abstraction; model checking searches behaviors admitted by an explicit model, often within explicit bounds.</a:t>
            </a:r>
          </a:p>
          <a:p>
            <a:r>
              <a:rPr lang="en-US" b="0" i="0" dirty="0"/>
              <a:t>• Do not present this as a rigid taxonomy of all formal methods. It is a conceptual comparison for this course.</a:t>
            </a:r>
          </a:p>
          <a:p>
            <a:endParaRPr lang="en-US"/>
          </a:p>
          <a:p>
            <a:r>
              <a:rPr lang="en-US" b="0" i="0" dirty="0"/>
              <a:t>=====</a:t>
            </a:r>
          </a:p>
          <a:p>
            <a:endParaRPr lang="en-US"/>
          </a:p>
          <a:p>
            <a:r>
              <a:rPr lang="en-US" b="0" i="0" dirty="0"/>
              <a:t>Everything on the observation side of the map shares one limit: you learn about the runs you performed. This category makes the other move: reason about what the software COULD do, without running each case.</a:t>
            </a:r>
          </a:p>
          <a:p>
            <a:endParaRPr lang="en-US"/>
          </a:p>
          <a:p>
            <a:r>
              <a:rPr lang="en-US" b="0" i="0" dirty="0"/>
              <a:t>ANIMATE</a:t>
            </a:r>
          </a:p>
          <a:p>
            <a:endParaRPr lang="en-US"/>
          </a:p>
          <a:p>
            <a:r>
              <a:rPr lang="en-US" b="0" i="0" dirty="0"/>
              <a:t>Observe selected executions — versus reason over a representation of possible executions. That contrast is the whole category.</a:t>
            </a:r>
          </a:p>
          <a:p>
            <a:endParaRPr lang="en-US"/>
          </a:p>
          <a:p>
            <a:r>
              <a:rPr lang="en-US" b="0" i="0" dirty="0"/>
              <a:t>ANIMATE</a:t>
            </a:r>
          </a:p>
          <a:p>
            <a:endParaRPr lang="en-US"/>
          </a:p>
          <a:p>
            <a:r>
              <a:rPr lang="en-US" b="0" i="0" dirty="0"/>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endParaRPr lang="en-US"/>
          </a:p>
          <a:p>
            <a:r>
              <a:rPr lang="en-US" b="0" i="0" dirty="0"/>
              <a:t>ANIMATE</a:t>
            </a:r>
          </a:p>
          <a:p>
            <a:endParaRPr lang="en-US"/>
          </a:p>
          <a:p>
            <a:r>
              <a:rPr lang="en-US" b="0" i="0" dirty="0"/>
              <a:t>Two techniques for this course. Abstract static analysis: reason over an abstraction of possible program behavior. Model checking: search the behaviors an explicit model admits, often up to a stated bound. One each, next two slides.</a:t>
            </a:r>
          </a:p>
          <a:p>
            <a:endParaRPr lang="en-US"/>
          </a:p>
          <a:p>
            <a:r>
              <a:rPr lang="en-US" b="0" i="0" dirty="0"/>
              <a:t>ANIMATE</a:t>
            </a:r>
          </a:p>
          <a:p>
            <a:endParaRPr lang="en-US"/>
          </a:p>
          <a:p>
            <a:r>
              <a:rPr lang="en-US" b="0" i="0" dirty="0"/>
              <a:t>This is not a rigid taxonomy of all formal methods — it is the conceptual comparison an undergraduate needs: reasoning over possible behavior buys evidence about every behavior the representation includes, and nothing outside it.</a:t>
            </a: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Model checking: search the modeled behaviors; "no counterexample up to k" is precise, and it is not correctness.</a:t>
            </a:r>
          </a:p>
          <a:p>
            <a:endParaRPr lang="en-US"/>
          </a:p>
          <a:p>
            <a:r>
              <a:rPr lang="en-US" b="0" i="0" dirty="0"/>
              <a:t>• One assertion: balance never negative. Testing tries selected sequences — did one violate it? Model checking asks: is there ANY behavior admitted by the model, within the stated bound, that violates it?</a:t>
            </a:r>
          </a:p>
          <a:p>
            <a:r>
              <a:rPr lang="en-US" b="0" i="0" dirty="0"/>
              <a:t>• The YES branch is the useful one in practice: a counterexample trace is exact and reproducible by construction.</a:t>
            </a:r>
          </a:p>
          <a:p>
            <a:r>
              <a:rPr lang="en-US" b="0" i="0" dirty="0"/>
              <a:t>• Say the NO branch's qualification in full, every time: no violation within the modeled behaviors and that bound.</a:t>
            </a:r>
          </a:p>
          <a:p>
            <a:r>
              <a:rPr lang="en-US" b="0" i="0" dirty="0"/>
              <a:t>• The model, property, assumptions, semantics, and bound are all part of the claim. If someone says "formally verified" and cannot state those, they have not stated a result.</a:t>
            </a:r>
          </a:p>
          <a:p>
            <a:r>
              <a:rPr lang="en-US" b="0" i="0" dirty="0"/>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endParaRPr lang="en-US"/>
          </a:p>
          <a:p>
            <a:r>
              <a:rPr lang="en-US" b="0" i="0" dirty="0"/>
              <a:t>=====</a:t>
            </a:r>
          </a:p>
          <a:p>
            <a:endParaRPr lang="en-US"/>
          </a:p>
          <a:p>
            <a:r>
              <a:rPr lang="en-US" b="0" i="0" dirty="0"/>
              <a:t>One assertion: balance is never negative. Ordinary testing tries some sequences of deposits and withdrawals and asks whether we happened to see it fail.</a:t>
            </a:r>
          </a:p>
          <a:p>
            <a:r>
              <a:rPr lang="en-US" b="0" i="0" dirty="0"/>
              <a:t>Model checking asks a different question: is there ANY sequence of choices the model admits, up to depth k, that makes it fail?</a:t>
            </a:r>
          </a:p>
          <a:p>
            <a:endParaRPr lang="en-US"/>
          </a:p>
          <a:p>
            <a:r>
              <a:rPr lang="en-US" b="0" i="0" dirty="0"/>
              <a:t>ANIMATE</a:t>
            </a:r>
          </a:p>
          <a:p>
            <a:endParaRPr lang="en-US"/>
          </a:p>
          <a:p>
            <a:r>
              <a:rPr lang="en-US" b="0" i="0" dirty="0"/>
              <a:t>Yes gives you a counterexample trace — the exact sequence of choices that breaks it. That is the single most useful artifact in this lecture, because it is reproducible by construction.</a:t>
            </a:r>
          </a:p>
          <a:p>
            <a:r>
              <a:rPr lang="en-US" b="0" i="0" dirty="0"/>
              <a:t>No gives you: no violation up to k, within the modeled behaviors and that bound. Say the whole sentence. It is a precise and valuable claim, and it is not "the program is correct."</a:t>
            </a:r>
          </a:p>
          <a:p>
            <a:endParaRPr lang="en-US"/>
          </a:p>
          <a:p>
            <a:r>
              <a:rPr lang="en-US" b="0" i="0" dirty="0"/>
              <a:t>ANIMATE</a:t>
            </a:r>
          </a:p>
          <a:p>
            <a:endParaRPr lang="en-US"/>
          </a:p>
          <a:p>
            <a:r>
              <a:rPr lang="en-US" b="0" i="0" dirty="0"/>
              <a:t>The model, the property, the assumptions, the semantics, and the bound are all part of the claim. Someone who says "formally verified" and cannot tell you those five things has not told you a result.</a:t>
            </a:r>
          </a:p>
          <a:p>
            <a:endParaRPr lang="en-US"/>
          </a:p>
          <a:p>
            <a:r>
              <a:rPr lang="en-US" b="0" i="0" dirty="0"/>
              <a:t>ANIMATE</a:t>
            </a:r>
          </a:p>
          <a:p>
            <a:endParaRPr lang="en-US"/>
          </a:p>
          <a:p>
            <a:r>
              <a:rPr lang="en-US" b="0" i="0" dirty="0"/>
              <a:t>And 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The oracle problem is what makes the next five slides necessary.</a:t>
            </a:r>
          </a:p>
          <a:p>
            <a:endParaRPr lang="en-US"/>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a:p>
          <a:p>
            <a:r>
              <a:rPr lang="en-US" b="0" i="0" dirty="0"/>
              <a:t>=====</a:t>
            </a:r>
          </a:p>
          <a:p>
            <a:endParaRPr lang="en-US"/>
          </a:p>
          <a:p>
            <a:r>
              <a:rPr lang="en-US" b="0" i="0" dirty="0"/>
              <a:t>Testing has two halves and they do not cost the same.</a:t>
            </a:r>
          </a:p>
          <a:p>
            <a:endParaRPr lang="en-US"/>
          </a:p>
          <a:p>
            <a:r>
              <a:rPr lang="en-US" b="0" i="0" dirty="0"/>
              <a:t>ANIMATE</a:t>
            </a:r>
          </a:p>
          <a:p>
            <a:endParaRPr lang="en-US"/>
          </a:p>
          <a:p>
            <a:r>
              <a:rPr lang="en-US" b="0" i="0" dirty="0"/>
              <a:t>An input, run it, an output. Generating an execution is often cheap — sometimes nearly free.</a:t>
            </a:r>
          </a:p>
          <a:p>
            <a:endParaRPr lang="en-US"/>
          </a:p>
          <a:p>
            <a:r>
              <a:rPr lang="en-US" b="0" i="0" dirty="0"/>
              <a:t>ANIMATE</a:t>
            </a:r>
          </a:p>
          <a:p>
            <a:endParaRPr lang="en-US"/>
          </a:p>
          <a:p>
            <a:r>
              <a:rPr lang="en-US" b="0" i="0" dirty="0"/>
              <a:t>And then: is it correct? That is the oracle, and that is the hard part.</a:t>
            </a:r>
          </a:p>
          <a:p>
            <a:endParaRPr lang="en-US"/>
          </a:p>
          <a:p>
            <a:r>
              <a:rPr lang="en-US" b="0" i="0" dirty="0"/>
              <a:t>ANIMATE</a:t>
            </a:r>
          </a:p>
          <a:p>
            <a:endParaRPr lang="en-US"/>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a:p>
          <a:p>
            <a:r>
              <a:rPr lang="en-US" b="0" i="0" dirty="0"/>
              <a:t>ANIMATE</a:t>
            </a:r>
          </a:p>
          <a:p>
            <a:endParaRPr lang="en-US"/>
          </a:p>
          <a:p>
            <a:r>
              <a:rPr lang="en-US" b="0" i="0" dirty="0"/>
              <a:t>So a testing strategy determines exactly two things: WHERE we search, and WHAT ORACLE makes failure observable. Watch for which one each of the next four slides is moving.</a:t>
            </a:r>
          </a:p>
          <a:p>
            <a:r>
              <a:rPr lang="en-US" b="0" i="0" dirty="0"/>
              <a:t>An execution becomes evidence only when something can say it was wrong.</a:t>
            </a: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From known answers to known properties: spend the time on the move.</a:t>
            </a:r>
          </a:p>
          <a:p>
            <a:endParaRPr lang="en-US"/>
          </a:p>
          <a:p>
            <a:r>
              <a:rPr lang="en-US" b="0" i="0" dirty="0"/>
              <a:t>• Left first — the strategy every CS student already knows. Known input, known expected result; you pick the cases and state the answers. Ask which payment cases they would pick — you will get roughly these.</a:t>
            </a:r>
          </a:p>
          <a:p>
            <a:r>
              <a:rPr lang="en-US" b="0" i="0" dirty="0"/>
              <a:t>• The honest limit: strong evidence about the cases you chose, silent about every other input. Not a flaw — the bargain.</a:t>
            </a:r>
          </a:p>
          <a:p>
            <a:r>
              <a:rPr lang="en-US" b="0" i="0" dirty="0"/>
              <a:t>• Then the right column. State a property; a generator produces many inputs — far more than you would write by hand, in shapes you would not have thought of; the property adjudicates every one of them.</a:t>
            </a:r>
          </a:p>
          <a:p>
            <a:r>
              <a:rPr lang="en-US" b="0" i="0" dirty="0"/>
              <a:t>• Misconception to kill: "this is just lots of unit tests." It is not — the oracle changed. You state what must be true; the machine hunts for a counterexample.</a:t>
            </a:r>
          </a:p>
          <a:p>
            <a:r>
              <a:rPr lang="en-US" b="0" i="0" dirty="0"/>
              <a:t>• Students already understand examples; spend the teaching time on the move from examples to properties.</a:t>
            </a:r>
          </a:p>
          <a:p>
            <a:endParaRPr lang="en-US"/>
          </a:p>
          <a:p>
            <a:r>
              <a:rPr lang="en-US" b="0" i="0" dirty="0"/>
              <a:t>=====</a:t>
            </a:r>
          </a:p>
          <a:p>
            <a:endParaRPr lang="en-US"/>
          </a:p>
          <a:p>
            <a:r>
              <a:rPr lang="en-US" b="0" i="0" dirty="0"/>
              <a:t>Two strategies, one slide, because the second is best understood as a move away from the first.</a:t>
            </a:r>
          </a:p>
          <a:p>
            <a:endParaRPr lang="en-US"/>
          </a:p>
          <a:p>
            <a:r>
              <a:rPr lang="en-US" b="0" i="0" dirty="0"/>
              <a:t>Left: the one everybody knows. You pick the cases — duplicate ID goes to rejected, empty cart to refused, max amount to charged once. You state the answer for each. That is the cheapest oracle there is, and it gives the strongest possible evidence about exactly the cases you chose — and silence about every other input. That is not a flaw; it is the bargain.</a:t>
            </a:r>
          </a:p>
          <a:p>
            <a:endParaRPr lang="en-US"/>
          </a:p>
          <a:p>
            <a:r>
              <a:rPr lang="en-US" b="0" i="0" dirty="0"/>
              <a:t>ANIMATE</a:t>
            </a:r>
          </a:p>
          <a:p>
            <a:endParaRPr lang="en-US"/>
          </a:p>
          <a:p>
            <a:r>
              <a:rPr lang="en-US" b="0" i="0" dirty="0"/>
              <a:t>Right: stop choosing cases. State a property — a submitted payment shall cause at most one charge — and let a generator produce inputs by the thousand, in shapes you would never have written down. That single sentence adjudicates every one of them.</a:t>
            </a:r>
          </a:p>
          <a:p>
            <a:r>
              <a:rPr lang="en-US" b="0" i="0" dirty="0"/>
              <a:t>This is not "lots of unit tests." The oracle changed. You stated what must be true; the machine hunts for a counterexample.</a:t>
            </a:r>
          </a:p>
          <a:p>
            <a:endParaRPr lang="en-US"/>
          </a:p>
          <a:p>
            <a:r>
              <a:rPr lang="en-US" b="0" i="0" dirty="0"/>
              <a:t>ANIMATE</a:t>
            </a:r>
          </a:p>
          <a:p>
            <a:endParaRPr lang="en-US"/>
          </a:p>
          <a:p>
            <a:r>
              <a:rPr lang="en-US" b="0" i="0" dirty="0"/>
              <a:t>The move to take away: instead of writing the answer for every input, state something that must hold across a class of inputs. The harder work is stating the property — and the harder work is where the value is.</a:t>
            </a: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Differential testing: another implementation supplies the oracle — where the spec requires agreement.</a:t>
            </a:r>
          </a:p>
          <a:p>
            <a:endParaRPr lang="en-US"/>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a:p>
          <a:p>
            <a:r>
              <a:rPr lang="en-US" b="0" i="0" dirty="0"/>
              <a:t>=====</a:t>
            </a:r>
          </a:p>
          <a:p>
            <a:endParaRPr lang="en-US"/>
          </a:p>
          <a:p>
            <a:r>
              <a:rPr lang="en-US" b="0" i="0" dirty="0"/>
              <a:t>Same input, two implementations.</a:t>
            </a:r>
          </a:p>
          <a:p>
            <a:endParaRPr lang="en-US"/>
          </a:p>
          <a:p>
            <a:r>
              <a:rPr lang="en-US" b="0" i="0" dirty="0"/>
              <a:t>ANIMATE</a:t>
            </a:r>
          </a:p>
          <a:p>
            <a:endParaRPr lang="en-US"/>
          </a:p>
          <a:p>
            <a:r>
              <a:rPr lang="en-US" b="0" i="0" dirty="0"/>
              <a:t>Implementation A, the one we are validating. Implementation B — a reference, an older version, another vendor.</a:t>
            </a:r>
          </a:p>
          <a:p>
            <a:endParaRPr lang="en-US"/>
          </a:p>
          <a:p>
            <a:r>
              <a:rPr lang="en-US" b="0" i="0" dirty="0"/>
              <a:t>ANIMATE</a:t>
            </a:r>
          </a:p>
          <a:p>
            <a:endParaRPr lang="en-US"/>
          </a:p>
          <a:p>
            <a:r>
              <a:rPr lang="en-US" b="0" i="0" dirty="0"/>
              <a:t>Two outputs.</a:t>
            </a:r>
          </a:p>
          <a:p>
            <a:endParaRPr lang="en-US"/>
          </a:p>
          <a:p>
            <a:r>
              <a:rPr lang="en-US" b="0" i="0" dirty="0"/>
              <a:t>ANIMATE</a:t>
            </a:r>
          </a:p>
          <a:p>
            <a:endParaRPr lang="en-US"/>
          </a:p>
          <a:p>
            <a:r>
              <a:rPr lang="en-US" b="0" i="0" dirty="0"/>
              <a:t>And the oracle is the comparison itself. Ask whether they agree. You never had to state what the right answer was.</a:t>
            </a:r>
          </a:p>
          <a:p>
            <a:endParaRPr lang="en-US"/>
          </a:p>
          <a:p>
            <a:r>
              <a:rPr lang="en-US" b="0" i="0" dirty="0"/>
              <a:t>ANIMATE</a:t>
            </a:r>
          </a:p>
          <a:p>
            <a:endParaRPr lang="en-US"/>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a:p>
          <a:p>
            <a:r>
              <a:rPr lang="en-US" b="0" i="0" dirty="0"/>
              <a:t>ANIMATE</a:t>
            </a:r>
          </a:p>
          <a:p>
            <a:endParaRPr lang="en-US"/>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Metamorphic testing: state how answers must relate when you cannot state the answer.</a:t>
            </a:r>
          </a:p>
          <a:p>
            <a:endParaRPr lang="en-US"/>
          </a:p>
          <a:p>
            <a:r>
              <a:rPr lang="en-US" b="0" i="0" dirty="0"/>
              <a:t>• The hardest of the strategies to grasp from prose, and the easiest from the figure. Walk the two rows out loud.</a:t>
            </a:r>
          </a:p>
          <a:p>
            <a:r>
              <a:rPr lang="en-US" b="0" i="0" dirty="0"/>
              <a:t>• Expect that it does NOT land on the first pass. Build the figure, then do the sort example slowly, then give a second example. Do not move on at the first nod.</a:t>
            </a:r>
          </a:p>
          <a:p>
            <a:r>
              <a:rPr lang="en-US" b="0" i="0" dirty="0"/>
              <a:t>• T is a transformation of the input; R is the relation the outputs must satisfy.</a:t>
            </a:r>
          </a:p>
          <a:p>
            <a:r>
              <a:rPr lang="en-US" b="0" i="0" dirty="0"/>
              <a:t>• Payment version: submitting the same payment ID twice must leave the account in the same state as submitting it once.</a:t>
            </a:r>
          </a:p>
          <a:p>
            <a:r>
              <a:rPr lang="en-US" b="0" i="0" dirty="0"/>
              <a:t>• Other classics: a search engine given a narrower query must not return more results; scaling every input scales the total.</a:t>
            </a:r>
          </a:p>
          <a:p>
            <a:r>
              <a:rPr lang="en-US" b="0" i="0" dirty="0"/>
              <a:t>• Land the trick explicitly: we never computed the right answer — the relation did the oracle's job.</a:t>
            </a:r>
          </a:p>
          <a:p>
            <a:endParaRPr lang="en-US"/>
          </a:p>
          <a:p>
            <a:r>
              <a:rPr lang="en-US" b="0" i="0" dirty="0"/>
              <a:t>=====</a:t>
            </a:r>
          </a:p>
          <a:p>
            <a:endParaRPr lang="en-US"/>
          </a:p>
          <a:p>
            <a:r>
              <a:rPr lang="en-US" b="0" i="0" dirty="0"/>
              <a:t>This is the one that does not land the first time. Slow down and build it.</a:t>
            </a:r>
          </a:p>
          <a:p>
            <a:endParaRPr lang="en-US"/>
          </a:p>
          <a:p>
            <a:r>
              <a:rPr lang="en-US" b="0" i="0" dirty="0"/>
              <a:t>ANIMATE</a:t>
            </a:r>
          </a:p>
          <a:p>
            <a:endParaRPr lang="en-US"/>
          </a:p>
          <a:p>
            <a:r>
              <a:rPr lang="en-US" b="0" i="0" dirty="0"/>
              <a:t>Top row: an input x, run f, get y. Ordinary execution — and we do not know whether y is right.</a:t>
            </a:r>
          </a:p>
          <a:p>
            <a:endParaRPr lang="en-US"/>
          </a:p>
          <a:p>
            <a:r>
              <a:rPr lang="en-US" b="0" i="0" dirty="0"/>
              <a:t>ANIMATE</a:t>
            </a:r>
          </a:p>
          <a:p>
            <a:endParaRPr lang="en-US"/>
          </a:p>
          <a:p>
            <a:r>
              <a:rPr lang="en-US" b="0" i="0" dirty="0"/>
              <a:t>Bottom row: transform the input by T, run the same f, get y-prime. Still do not know whether either answer is right.</a:t>
            </a:r>
          </a:p>
          <a:p>
            <a:endParaRPr lang="en-US"/>
          </a:p>
          <a:p>
            <a:r>
              <a:rPr lang="en-US" b="0" i="0" dirty="0"/>
              <a:t>ANIMATE</a:t>
            </a:r>
          </a:p>
          <a:p>
            <a:endParaRPr lang="en-US"/>
          </a:p>
          <a:p>
            <a:r>
              <a:rPr lang="en-US" b="0" i="0" dirty="0"/>
              <a:t>And here is the oracle: a relation R that y and y-prime must satisfy. Not what either answer IS — how they must relate.</a:t>
            </a:r>
          </a:p>
          <a:p>
            <a:endParaRPr lang="en-US"/>
          </a:p>
          <a:p>
            <a:r>
              <a:rPr lang="en-US" b="0" i="0" dirty="0"/>
              <a:t>ANIMATE</a:t>
            </a:r>
          </a:p>
          <a:p>
            <a:endParaRPr lang="en-US"/>
          </a:p>
          <a:p>
            <a:r>
              <a:rPr lang="en-US" b="0" i="0" dirty="0"/>
              <a:t>Do the example out loud. sort of three-one-two gives one-two-three. sort of two-three-one gives one-two-three. Permute the input; the output must be unchanged. We never stated what sorted order was. We stated that permuting the input cannot change it.</a:t>
            </a:r>
          </a:p>
          <a:p>
            <a:r>
              <a:rPr lang="en-US" b="0" i="0" dirty="0"/>
              <a:t>Now a second example, because one is not enough. A search engine given a narrower query must not return MORE results. Or our own: submitting the same payment ID twice must leave the account in the same state as submitting it once.</a:t>
            </a:r>
          </a:p>
          <a:p>
            <a:endParaRPr lang="en-US"/>
          </a:p>
          <a:p>
            <a:r>
              <a:rPr lang="en-US" b="0" i="0" dirty="0"/>
              <a:t>ANIMATE</a:t>
            </a:r>
          </a:p>
          <a:p>
            <a:endParaRPr lang="en-US"/>
          </a:p>
          <a:p>
            <a:r>
              <a:rPr lang="en-US" b="0" i="0" dirty="0"/>
              <a:t>When you cannot state the answer, state how answers must relate. A relation between runs is an oracle when the answer is unavailable — and that is the whole trick.</a:t>
            </a: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Close the strategy section: strategy follows from what you already know.</a:t>
            </a:r>
          </a:p>
          <a:p>
            <a:endParaRPr lang="en-US"/>
          </a:p>
          <a:p>
            <a:r>
              <a:rPr lang="en-US" b="0" i="0" dirty="0"/>
              <a:t>• Summary — do not re-teach the five. Accumulate them, then reveal the organizing axis.</a:t>
            </a:r>
          </a:p>
          <a:p>
            <a:r>
              <a:rPr lang="en-US" b="0" i="0" dirty="0"/>
              <a:t>• Order matches the teaching order: example-based (known answers), property-based (known general properties), metamorphic (known relations among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four columns and the list has five.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a:p>
          <a:p>
            <a:r>
              <a:rPr lang="en-US" b="0" i="0" dirty="0"/>
              <a:t>=====</a:t>
            </a:r>
          </a:p>
          <a:p>
            <a:endParaRPr lang="en-US"/>
          </a:p>
          <a:p>
            <a:r>
              <a:rPr lang="en-US" b="0" i="0" dirty="0"/>
              <a:t>Five strategies, accumulating.</a:t>
            </a:r>
          </a:p>
          <a:p>
            <a:endParaRPr lang="en-US"/>
          </a:p>
          <a:p>
            <a:r>
              <a:rPr lang="en-US" b="0" i="0" dirty="0"/>
              <a:t>ANIMATE</a:t>
            </a:r>
          </a:p>
          <a:p>
            <a:endParaRPr lang="en-US"/>
          </a:p>
          <a:p>
            <a:r>
              <a:rPr lang="en-US" b="0" i="0" dirty="0"/>
              <a:t>Example-based: known answers — choose the cases you already understand.</a:t>
            </a:r>
          </a:p>
          <a:p>
            <a:endParaRPr lang="en-US"/>
          </a:p>
          <a:p>
            <a:r>
              <a:rPr lang="en-US" b="0" i="0" dirty="0"/>
              <a:t>ANIMATE</a:t>
            </a:r>
          </a:p>
          <a:p>
            <a:endParaRPr lang="en-US"/>
          </a:p>
          <a:p>
            <a:r>
              <a:rPr lang="en-US" b="0" i="0" dirty="0"/>
              <a:t>Property-based: known general properties — generate cases and hunt for a counterexample.</a:t>
            </a:r>
          </a:p>
          <a:p>
            <a:endParaRPr lang="en-US"/>
          </a:p>
          <a:p>
            <a:r>
              <a:rPr lang="en-US" b="0" i="0" dirty="0"/>
              <a:t>ANIMATE</a:t>
            </a:r>
          </a:p>
          <a:p>
            <a:endParaRPr lang="en-US"/>
          </a:p>
          <a:p>
            <a:r>
              <a:rPr lang="en-US" b="0" i="0" dirty="0"/>
              <a:t>Metamorphic: known relations among executions.</a:t>
            </a:r>
          </a:p>
          <a:p>
            <a:endParaRPr lang="en-US"/>
          </a:p>
          <a:p>
            <a:r>
              <a:rPr lang="en-US" b="0" i="0" dirty="0"/>
              <a:t>ANIMATE</a:t>
            </a:r>
          </a:p>
          <a:p>
            <a:endParaRPr lang="en-US"/>
          </a:p>
          <a:p>
            <a:r>
              <a:rPr lang="en-US" b="0" i="0" dirty="0"/>
              <a:t>Fuzzing: cheap observable self-failures.</a:t>
            </a:r>
          </a:p>
          <a:p>
            <a:endParaRPr lang="en-US"/>
          </a:p>
          <a:p>
            <a:r>
              <a:rPr lang="en-US" b="0" i="0" dirty="0"/>
              <a:t>ANIMATE</a:t>
            </a:r>
          </a:p>
          <a:p>
            <a:endParaRPr lang="en-US"/>
          </a:p>
          <a:p>
            <a:r>
              <a:rPr lang="en-US" b="0" i="0" dirty="0"/>
              <a:t>Differential: another implementation, where the specification requires agreement.</a:t>
            </a:r>
          </a:p>
          <a:p>
            <a:endParaRPr lang="en-US"/>
          </a:p>
          <a:p>
            <a:r>
              <a:rPr lang="en-US" b="0" i="0" dirty="0"/>
              <a:t>ANIMATE</a:t>
            </a:r>
          </a:p>
          <a:p>
            <a:endParaRPr lang="en-US"/>
          </a:p>
          <a:p>
            <a:r>
              <a:rPr lang="en-US" b="0" i="0" dirty="0"/>
              <a:t>Now the organizing axis, and it is not the one people expect. It is not difficulty and it is not cost. It is what you already know. Known answers give you example-based. Known properties give you property-based. Known relations give you metamorphic. And when you know almost nothing, fuzzing still works — because its oracle asks almost nothing of you.</a:t>
            </a:r>
          </a:p>
          <a:p>
            <a:r>
              <a:rPr lang="en-US" b="0" i="0" dirty="0"/>
              <a:t>Somebody will notice there are five strategies and four columns. Good — differential is the one that does not fit, because its oracle is not knowledge you hold. It is another implementation.</a:t>
            </a:r>
          </a:p>
          <a:p>
            <a:endParaRPr lang="en-US"/>
          </a:p>
          <a:p>
            <a:r>
              <a:rPr lang="en-US" b="0" i="0" dirty="0"/>
              <a:t>ANIMATE</a:t>
            </a:r>
          </a:p>
          <a:p>
            <a:endParaRPr lang="en-US"/>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4 minutes — Evidence strength: the chain that gives a measurement meaning, then the dimensions.</a:t>
            </a:r>
          </a:p>
          <a:p>
            <a:endParaRPr lang="en-US"/>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a:p>
          <a:p>
            <a:r>
              <a:rPr lang="en-US" b="0" i="0" dirty="0"/>
              <a:t>=====</a:t>
            </a:r>
          </a:p>
          <a:p>
            <a:endParaRPr lang="en-US"/>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a:p>
          <a:p>
            <a:r>
              <a:rPr lang="en-US" b="0" i="0" dirty="0"/>
              <a:t>ANIMATE</a:t>
            </a:r>
          </a:p>
          <a:p>
            <a:endParaRPr lang="en-US"/>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a:p>
          <a:p>
            <a:r>
              <a:rPr lang="en-US" b="0" i="0" dirty="0"/>
              <a:t>ANIMATE</a:t>
            </a:r>
          </a:p>
          <a:p>
            <a:endParaRPr lang="en-US"/>
          </a:p>
          <a:p>
            <a:r>
              <a:rPr lang="en-US" b="0" i="0" dirty="0"/>
              <a:t>Coverage: how much did we examine?</a:t>
            </a:r>
          </a:p>
          <a:p>
            <a:endParaRPr lang="en-US"/>
          </a:p>
          <a:p>
            <a:r>
              <a:rPr lang="en-US" b="0" i="0" dirty="0"/>
              <a:t>ANIMATE</a:t>
            </a:r>
          </a:p>
          <a:p>
            <a:endParaRPr lang="en-US"/>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a:p>
          <a:p>
            <a:r>
              <a:rPr lang="en-US" b="0" i="0" dirty="0"/>
              <a:t>ANIMATE</a:t>
            </a:r>
          </a:p>
          <a:p>
            <a:endParaRPr lang="en-US"/>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a:p>
          <a:p>
            <a:r>
              <a:rPr lang="en-US" b="0" i="0" dirty="0"/>
              <a:t>ANIMATE</a:t>
            </a:r>
          </a:p>
          <a:p>
            <a:endParaRPr lang="en-US"/>
          </a:p>
          <a:p>
            <a:r>
              <a:rPr lang="en-US" b="0" i="0" dirty="0"/>
              <a:t>Independence: could one mistaken assumption undermine all the evidence at once? Hold that — the next slide is about exactly this.</a:t>
            </a:r>
          </a:p>
          <a:p>
            <a:endParaRPr lang="en-US"/>
          </a:p>
          <a:p>
            <a:r>
              <a:rPr lang="en-US" b="0" i="0" dirty="0"/>
              <a:t>ANIMATE</a:t>
            </a:r>
          </a:p>
          <a:p>
            <a:endParaRPr lang="en-US"/>
          </a:p>
          <a:p>
            <a:r>
              <a:rPr lang="en-US" b="0" i="0" dirty="0"/>
              <a:t>Residual uncertainty: what remains unresolved? Known failures, unmodeled states. Not everything you know about is fixed at delivery, and pretending otherwise is how it gets forgotten.</a:t>
            </a:r>
          </a:p>
          <a:p>
            <a:endParaRPr lang="en-US"/>
          </a:p>
          <a:p>
            <a:r>
              <a:rPr lang="en-US" b="0" i="0" dirty="0"/>
              <a:t>ANIMATE</a:t>
            </a:r>
          </a:p>
          <a:p>
            <a:endParaRPr lang="en-US"/>
          </a:p>
          <a:p>
            <a:r>
              <a:rPr lang="en-US" b="0" i="0" dirty="0"/>
              <a:t>The two compact examples are on screen. No single dimension means "validated" — there is no such metric. What the dimensions do is make the remaining uncertainty visible enough to judge.</a:t>
            </a: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MAGE Moment: generated volume is cheap; independence is not.</a:t>
            </a:r>
          </a:p>
          <a:p>
            <a:endParaRPr lang="en-US"/>
          </a:p>
          <a:p>
            <a:r>
              <a:rPr lang="en-US" b="0" i="0" dirty="0"/>
              <a:t>• The strength-side half of the MAGE argument, and a different lesson from the human-attention one. Say the difference out loud — students conflate them. That one: a review mechanism has finite CAPACITY. This one: generated evidence does not become independent merely because there is more of it.</a:t>
            </a:r>
          </a:p>
          <a:p>
            <a:r>
              <a:rPr lang="en-US" b="0" i="0" dirty="0"/>
              <a:t>• The arithmetic image first: a thousand tests from one mistaken interpretation are not a thousand reasons. They are one reason, repeated.</a:t>
            </a:r>
          </a:p>
          <a:p>
            <a:r>
              <a:rPr lang="en-US" b="0" i="0" dirty="0"/>
              <a:t>• Then the branches: an agent can produce ten thousand tests for the price of a coffee — all generated from ONE interpretation of the specification. If that interpretation is wrong, every one of them is wrong in the same direction, and every one of them passes.</a:t>
            </a:r>
          </a:p>
          <a:p>
            <a:r>
              <a:rPr lang="en-US" b="0" i="0" dirty="0"/>
              <a:t>• Branch B — an independent model, an analysis, a human reading — rests on different assumptions and can catch the shared mistake.</a:t>
            </a:r>
          </a:p>
          <a:p>
            <a:r>
              <a:rPr lang="en-US" b="0" i="0" dirty="0"/>
              <a:t>• The fix is not fewer tests. Generate the ten thousand; then add a second line of evidence that does not inherit the same interpretation.</a:t>
            </a:r>
          </a:p>
          <a:p>
            <a:r>
              <a:rPr lang="en-US" b="0" i="0" dirty="0"/>
              <a:t>• Do not add more aphorisms.</a:t>
            </a:r>
          </a:p>
          <a:p>
            <a:endParaRPr lang="en-US"/>
          </a:p>
          <a:p>
            <a:r>
              <a:rPr lang="en-US" b="0" i="0" dirty="0"/>
              <a:t>=====</a:t>
            </a:r>
          </a:p>
          <a:p>
            <a:endParaRPr lang="en-US"/>
          </a:p>
          <a:p>
            <a:r>
              <a:rPr lang="en-US" b="0" i="0" dirty="0"/>
              <a:t>An agent can produce ten thousand tests for the price of a coffee. That is genuinely new, and it is genuinely useful. Now ask the strength question about it.</a:t>
            </a:r>
          </a:p>
          <a:p>
            <a:r>
              <a:rPr lang="en-US" b="0" i="0" dirty="0"/>
              <a:t>A thousand tests from one mistaken interpretation are not a thousand reasons to believe anything. They are one reason, repeated. If the interpretation is wrong, all of them are wrong together — and they all pass.</a:t>
            </a:r>
          </a:p>
          <a:p>
            <a:r>
              <a:rPr lang="en-US" b="0" i="0" dirty="0"/>
              <a:t>Compare the two branches on screen. Branch A: one agent interpretation, ten thousand generated tests, one body of evidence. Branch B: an independent model, an analysis, a human reading of the spec — different assumptions, different failure modes. Two branches catch each other's mistakes; one branch, however voluminous, cannot.</a:t>
            </a:r>
          </a:p>
          <a:p>
            <a:r>
              <a:rPr lang="en-US" b="0" i="0" dirty="0"/>
              <a:t>Be precise about how this differs from the human-attention MAGE Moment, because students merge them. That one was about the CAPACITY of a mechanism: attention runs out. This one is about the STRENGTH of evidence: volume is not independence.</a:t>
            </a:r>
          </a:p>
          <a:p>
            <a:r>
              <a:rPr lang="en-US" b="0" i="0" dirty="0"/>
              <a:t>And the fix is not fewer tests. Generate the ten thousand. Then add a second line of evidence that does not inherit the same interpretation — a different model, a different reader, a property derived from the spec rather than from the agent's reading of it.</a:t>
            </a:r>
          </a:p>
          <a:p>
            <a:r>
              <a:rPr lang="en-US" b="0" i="0" dirty="0"/>
              <a:t>Strong validation triangulates across evidence with meaningfully different assumptions and failure modes.</a:t>
            </a: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5 minutes — Students exercise the whole lecture on one under-determined delivery decision.</a:t>
            </a:r>
          </a:p>
          <a:p>
            <a:endParaRPr lang="en-US"/>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a:p>
          <a:p>
            <a:r>
              <a:rPr lang="en-US" b="0" i="0" dirty="0"/>
              <a:t>=====</a:t>
            </a:r>
          </a:p>
          <a:p>
            <a:endParaRPr lang="en-US"/>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a:p>
          <a:p>
            <a:r>
              <a:rPr lang="en-US" b="0" i="0" dirty="0"/>
              <a:t>ANIMATE</a:t>
            </a:r>
          </a:p>
          <a:p>
            <a:endParaRPr lang="en-US"/>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 minute — Open on the question the whole lecture answers.</a:t>
            </a:r>
          </a:p>
          <a:p>
            <a:endParaRPr lang="en-US"/>
          </a:p>
          <a:p>
            <a:r>
              <a:rPr lang="en-US" b="0" i="0" dirty="0"/>
              <a:t>• The spine on screen — claim, evidence, judgment, action — is the shape of the whole lecture and of the closing Assurance Case slide.</a:t>
            </a:r>
          </a:p>
          <a:p>
            <a:r>
              <a:rPr lang="en-US" b="0" i="0" dirty="0"/>
              <a:t>• Frame it as the lecture where every earlier design decision finally meets evidence.</a:t>
            </a:r>
          </a:p>
          <a:p>
            <a:r>
              <a:rPr lang="en-US" b="0" i="0" dirty="0"/>
              <a:t>• The action we care about today is delivery — but keep the fourth box general; later evidence can justify other actions.</a:t>
            </a:r>
          </a:p>
          <a:p>
            <a:endParaRPr lang="en-US"/>
          </a:p>
          <a:p>
            <a:r>
              <a:rPr lang="en-US" b="0" i="0" dirty="0"/>
              <a:t>=====</a:t>
            </a:r>
          </a:p>
          <a:p>
            <a:endParaRPr lang="en-US"/>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Plant the governing model early so the lecture has a destination.</a:t>
            </a:r>
          </a:p>
          <a:p>
            <a:endParaRPr lang="en-US"/>
          </a:p>
          <a:p>
            <a:r>
              <a:rPr lang="en-US" b="0" i="0" dirty="0"/>
              <a:t>• Build the spine one element at a time: CLAIM, EVIDENCE, JUDGMENT, ACTION — with the question each element answers.</a:t>
            </a:r>
          </a:p>
          <a:p>
            <a:r>
              <a:rPr lang="en-US" b="0" i="0" dirty="0"/>
              <a:t>• Name the term Assurance Case now; do not teach GSN or any notation. They need the idea, not the diagram language.</a:t>
            </a:r>
          </a:p>
          <a:p>
            <a:r>
              <a:rPr lang="en-US" b="0" i="0" dirty="0"/>
              <a:t>• Do NOT imply the only action is delivery. Delivery motivates the lecture, but evidence may justify gathering more, changing the system, revisiting upstream, or refusing.</a:t>
            </a:r>
          </a:p>
          <a:p>
            <a:r>
              <a:rPr lang="en-US" b="0" i="0" dirty="0"/>
              <a:t>• The footer promise is real — we return to this structure, populated with the payment example, on the final slide. Make the promise explicitly.</a:t>
            </a:r>
          </a:p>
          <a:p>
            <a:endParaRPr lang="en-US"/>
          </a:p>
          <a:p>
            <a:r>
              <a:rPr lang="en-US" b="0" i="0" dirty="0"/>
              <a:t>=====</a:t>
            </a:r>
          </a:p>
          <a:p>
            <a:endParaRPr lang="en-US"/>
          </a:p>
          <a:p>
            <a:r>
              <a:rPr lang="en-US" b="0" i="0" dirty="0"/>
              <a:t>Before any technique, here is the shape of the whole subject.</a:t>
            </a:r>
          </a:p>
          <a:p>
            <a:endParaRPr lang="en-US"/>
          </a:p>
          <a:p>
            <a:r>
              <a:rPr lang="en-US" b="0" i="0" dirty="0"/>
              <a:t>ANIMATE</a:t>
            </a:r>
          </a:p>
          <a:p>
            <a:endParaRPr lang="en-US"/>
          </a:p>
          <a:p>
            <a:r>
              <a:rPr lang="en-US" b="0" i="0" dirty="0"/>
              <a:t>A claim: what must be true?</a:t>
            </a:r>
          </a:p>
          <a:p>
            <a:endParaRPr lang="en-US"/>
          </a:p>
          <a:p>
            <a:r>
              <a:rPr lang="en-US" b="0" i="0" dirty="0"/>
              <a:t>ANIMATE</a:t>
            </a:r>
          </a:p>
          <a:p>
            <a:endParaRPr lang="en-US"/>
          </a:p>
          <a:p>
            <a:r>
              <a:rPr lang="en-US" b="0" i="0" dirty="0"/>
              <a:t>Evidence: what evidence bears on it?</a:t>
            </a:r>
          </a:p>
          <a:p>
            <a:endParaRPr lang="en-US"/>
          </a:p>
          <a:p>
            <a:r>
              <a:rPr lang="en-US" b="0" i="0" dirty="0"/>
              <a:t>ANIMATE</a:t>
            </a:r>
          </a:p>
          <a:p>
            <a:endParaRPr lang="en-US"/>
          </a:p>
          <a:p>
            <a:r>
              <a:rPr lang="en-US" b="0" i="0" dirty="0"/>
              <a:t>Judgment: how strong is that evidence — and is it enough?</a:t>
            </a:r>
          </a:p>
          <a:p>
            <a:endParaRPr lang="en-US"/>
          </a:p>
          <a:p>
            <a:r>
              <a:rPr lang="en-US" b="0" i="0" dirty="0"/>
              <a:t>ANIMATE</a:t>
            </a:r>
          </a:p>
          <a:p>
            <a:endParaRPr lang="en-US"/>
          </a:p>
          <a:p>
            <a:r>
              <a:rPr lang="en-US" b="0" i="0" dirty="0"/>
              <a:t>Action: what should we do?</a:t>
            </a:r>
          </a:p>
          <a:p>
            <a:endParaRPr lang="en-US"/>
          </a:p>
          <a:p>
            <a:r>
              <a:rPr lang="en-US" b="0" i="0" dirty="0"/>
              <a:t>ANIMATE</a:t>
            </a:r>
          </a:p>
          <a:p>
            <a:endParaRPr lang="en-US"/>
          </a:p>
          <a:p>
            <a:r>
              <a:rPr lang="en-US" b="0" i="0" dirty="0"/>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endParaRPr lang="en-US"/>
          </a:p>
          <a:p>
            <a:r>
              <a:rPr lang="en-US" b="0" i="0" dirty="0"/>
              <a:t>ANIMATE</a:t>
            </a:r>
          </a:p>
          <a:p>
            <a:endParaRPr lang="en-US"/>
          </a:p>
          <a:p>
            <a:r>
              <a:rPr lang="en-US" b="0" i="0" dirty="0"/>
              <a:t>One caution before we start: delivery is the action this lecture asks about, but it is not the only possible action. Evidence can send you back — to gather more, to change the system, to revisit an upstream decision, or to refuse.</a:t>
            </a:r>
          </a:p>
          <a:p>
            <a:r>
              <a:rPr lang="en-US" b="0" i="0" dirty="0"/>
              <a:t>We will construct this argument progressively through the lecture and return to it at the end.</a:t>
            </a: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Think-pair-share: confidence is not one setting, and consequence sets the burden.</a:t>
            </a:r>
          </a:p>
          <a:p>
            <a:endParaRPr lang="en-US"/>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(avoid the opaque term "causal distance"):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a:p>
          <a:p>
            <a:r>
              <a:rPr lang="en-US" b="0" i="0" dirty="0"/>
              <a:t>=====</a:t>
            </a:r>
          </a:p>
          <a:p>
            <a:endParaRPr lang="en-US"/>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a:p>
          <a:p>
            <a:r>
              <a:rPr lang="en-US" b="0" i="0" dirty="0"/>
              <a:t>ANIMATE</a:t>
            </a:r>
          </a:p>
          <a:p>
            <a:endParaRPr lang="en-US"/>
          </a:p>
          <a:p>
            <a:r>
              <a:rPr lang="en-US" b="0" i="0" dirty="0"/>
              <a:t>The TODO app occasionally loses a task — and destroys information a user depends on.</a:t>
            </a:r>
          </a:p>
          <a:p>
            <a:endParaRPr lang="en-US"/>
          </a:p>
          <a:p>
            <a:r>
              <a:rPr lang="en-US" b="0" i="0" dirty="0"/>
              <a:t>ANIMATE</a:t>
            </a:r>
          </a:p>
          <a:p>
            <a:endParaRPr lang="en-US"/>
          </a:p>
          <a:p>
            <a:r>
              <a:rPr lang="en-US" b="0" i="0" dirty="0"/>
              <a:t>The payroll system produces an incorrect transaction — money, trust, legal obligations.</a:t>
            </a:r>
          </a:p>
          <a:p>
            <a:endParaRPr lang="en-US"/>
          </a:p>
          <a:p>
            <a:r>
              <a:rPr lang="en-US" b="0" i="0" dirty="0"/>
              <a:t>ANIMATE</a:t>
            </a:r>
          </a:p>
          <a:p>
            <a:endParaRPr lang="en-US"/>
          </a:p>
          <a:p>
            <a:r>
              <a:rPr lang="en-US" b="0" i="0" dirty="0"/>
              <a:t>The X-ray controller delivers an incorrect dose — direct physical injury to the person in front of it.</a:t>
            </a:r>
          </a:p>
          <a:p>
            <a:endParaRPr lang="en-US"/>
          </a:p>
          <a:p>
            <a:r>
              <a:rPr lang="en-US" b="0" i="0" dirty="0"/>
              <a:t>ANIMATE</a:t>
            </a:r>
          </a:p>
          <a:p>
            <a:endParaRPr lang="en-US"/>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Return to the opening model, populated; leave them the reusable questions.</a:t>
            </a:r>
          </a:p>
          <a:p>
            <a:endParaRPr lang="en-US"/>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Do NOT end with "validation turns evidence into engineering judgment" — the engineer exercises judgment over evidence; validation does not mechanically transform one into the other. End on the final sentence: an assurance case makes that reasoning inspectable.</a:t>
            </a:r>
          </a:p>
          <a:p>
            <a:endParaRPr lang="en-US"/>
          </a:p>
          <a:p>
            <a:r>
              <a:rPr lang="en-US" b="0" i="0" dirty="0"/>
              <a:t>=====</a:t>
            </a:r>
          </a:p>
          <a:p>
            <a:endParaRPr lang="en-US"/>
          </a:p>
          <a:p>
            <a:r>
              <a:rPr lang="en-US" b="0" i="0" dirty="0"/>
              <a:t>The second slide of this lecture promised we would build this. Here it is — the same spine, populated.</a:t>
            </a:r>
          </a:p>
          <a:p>
            <a:endParaRPr lang="en-US"/>
          </a:p>
          <a:p>
            <a:r>
              <a:rPr lang="en-US" b="0" i="0" dirty="0"/>
              <a:t>ANIMATE</a:t>
            </a:r>
          </a:p>
          <a:p>
            <a:endParaRPr lang="en-US"/>
          </a:p>
          <a:p>
            <a:r>
              <a:rPr lang="en-US" b="0" i="0" dirty="0"/>
              <a:t>The claims came from the specification, not from us: payment charged at most once; p99 latency under 500 milliseconds.</a:t>
            </a:r>
          </a:p>
          <a:p>
            <a:endParaRPr lang="en-US"/>
          </a:p>
          <a:p>
            <a:r>
              <a:rPr lang="en-US" b="0" i="0" dirty="0"/>
              <a:t>ANIMATE</a:t>
            </a:r>
          </a:p>
          <a:p>
            <a:endParaRPr lang="en-US"/>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a:p>
          <a:p>
            <a:r>
              <a:rPr lang="en-US" b="0" i="0" dirty="0"/>
              <a:t>ANIMATE</a:t>
            </a:r>
          </a:p>
          <a:p>
            <a:endParaRPr lang="en-US"/>
          </a:p>
          <a:p>
            <a:r>
              <a:rPr lang="en-US" b="0" i="0" dirty="0"/>
              <a:t>Judgment does not happen automatically: how strong is this evidence? What assumptions remain untested? What margin? What containment? What consequence if we are wrong?</a:t>
            </a:r>
          </a:p>
          <a:p>
            <a:endParaRPr lang="en-US"/>
          </a:p>
          <a:p>
            <a:r>
              <a:rPr lang="en-US" b="0" i="0" dirty="0"/>
              <a:t>ANIMATE</a:t>
            </a:r>
          </a:p>
          <a:p>
            <a:endParaRPr lang="en-US"/>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a:p>
          <a:p>
            <a:r>
              <a:rPr lang="en-US" b="0" i="0" dirty="0"/>
              <a:t>ANIMATE</a:t>
            </a:r>
          </a:p>
          <a:p>
            <a:endParaRPr lang="en-US"/>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a:p>
          <a:p>
            <a:r>
              <a:rPr lang="en-US" b="0" i="0" dirty="0"/>
              <a:t>ANIMATE</a:t>
            </a:r>
          </a:p>
          <a:p>
            <a:endParaRPr lang="en-US"/>
          </a:p>
          <a:p>
            <a:r>
              <a:rPr lang="en-US" b="0" i="0" dirty="0"/>
              <a:t>An assurance case makes that reasoning inspectable. That is the lecture.</a:t>
            </a:r>
          </a:p>
        </p:txBody>
      </p:sp>
    </p:spTree>
  </p:cSld>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10" Type="http://schemas.openxmlformats.org/officeDocument/2006/relationships/image" Target="../media/image4.png"/><Relationship Id="rId11" Type="http://schemas.openxmlformats.org/officeDocument/2006/relationships/image" Target="../media/image5.png"/></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2"/>
          <p:cNvSpPr txBox="1"/>
          <p:nvPr/>
        </p:nvSpPr>
        <p:spPr>
          <a:xfrm>
            <a:off x="439339" y="565150"/>
            <a:ext cx="8265319" cy="700000"/>
          </a:xfrm>
          <a:prstGeom prst="rect">
            <a:avLst/>
          </a:prstGeom>
          <a:noFill/>
          <a:ln>
            <a:noFill/>
          </a:ln>
        </p:spPr>
        <p:txBody>
          <a:bodyPr wrap="square" lIns="0" tIns="0" rIns="0" bIns="0" anchor="t"/>
          <a:lstStyle/>
          <a:p>
            <a:pPr algn="ctr">
              <a:buNone/>
            </a:pPr>
            <a:r>
              <a:rPr lang="en-US" sz="2000" b="0" i="0" dirty="0">
                <a:solidFill>
                  <a:srgbClr val="000000"/>
                </a:solidFill>
              </a:rPr>
              <a:t>ECE 30861/46100: Software Engineering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4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1500" b="1" i="0" dirty="0">
                <a:solidFill>
                  <a:srgbClr val="8E6F3E"/>
                </a:solidFill>
              </a:rPr>
              <a:t>EVERY PRIOR DECISION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1700" b="0" i="1" dirty="0">
                <a:solidFill>
                  <a:srgbClr val="555960"/>
                </a:solidFill>
              </a:rPr>
              <a:t>Design produced a realization. Validation asks whether the evidence is enough to deliver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2122000" y="880000"/>
            <a:ext cx="4900000" cy="7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500" b="1" i="0" dirty="0">
                <a:solidFill>
                  <a:srgbClr val="5C4826"/>
                </a:solidFill>
              </a:rPr>
              <a:t>THE ASSURANCE CASE</a:t>
            </a:r>
          </a:p>
          <a:p>
            <a:pPr algn="ctr">
              <a:buNone/>
            </a:pPr>
            <a:r>
              <a:rPr lang="en-US" sz="1300" b="0" i="1" dirty="0">
                <a:solidFill>
                  <a:srgbClr val="555960"/>
                </a:solidFill>
              </a:rPr>
              <a:t>a structured argument connecting consequential claims to evidence and action</a:t>
            </a:r>
          </a:p>
        </p:txBody>
      </p:sp>
      <p:sp>
        <p:nvSpPr>
          <p:cNvPr id="110" name="B110"/>
          <p:cNvSpPr/>
          <p:nvPr/>
        </p:nvSpPr>
        <p:spPr>
          <a:xfrm>
            <a:off x="566928" y="1900000"/>
            <a:ext cx="1836000" cy="64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CLAIM</a:t>
            </a:r>
          </a:p>
        </p:txBody>
      </p:sp>
      <p:sp>
        <p:nvSpPr>
          <p:cNvPr id="120" name="P120"/>
          <p:cNvSpPr/>
          <p:nvPr/>
        </p:nvSpPr>
        <p:spPr>
          <a:xfrm>
            <a:off x="56692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0" dirty="0">
                <a:solidFill>
                  <a:srgbClr val="000000"/>
                </a:solidFill>
              </a:rPr>
              <a:t>What must</a:t>
            </a:r>
          </a:p>
          <a:p>
            <a:pPr algn="ctr">
              <a:buNone/>
            </a:pPr>
            <a:r>
              <a:rPr lang="en-US" sz="1300" b="0" i="0" dirty="0">
                <a:solidFill>
                  <a:srgbClr val="000000"/>
                </a:solidFill>
              </a:rPr>
              <a:t>be true?</a:t>
            </a:r>
          </a:p>
        </p:txBody>
      </p:sp>
      <p:cxnSp>
        <p:nvCxnSpPr>
          <p:cNvPr id="130" name="C130"/>
          <p:cNvCxnSpPr/>
          <p:nvPr/>
        </p:nvCxnSpPr>
        <p:spPr>
          <a:xfrm>
            <a:off x="2432928" y="2220000"/>
            <a:ext cx="162120" cy="0"/>
          </a:xfrm>
          <a:prstGeom prst="straightConnector1">
            <a:avLst/>
          </a:prstGeom>
          <a:ln w="38100">
            <a:solidFill>
              <a:srgbClr val="8E6F3E"/>
            </a:solidFill>
            <a:tailEnd type="triangle" w="med" len="med"/>
          </a:ln>
        </p:spPr>
      </p:cxnSp>
      <p:sp>
        <p:nvSpPr>
          <p:cNvPr id="111" name="B111"/>
          <p:cNvSpPr/>
          <p:nvPr/>
        </p:nvSpPr>
        <p:spPr>
          <a:xfrm>
            <a:off x="2625048" y="1900000"/>
            <a:ext cx="1836000" cy="64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EVIDENCE</a:t>
            </a:r>
          </a:p>
        </p:txBody>
      </p:sp>
      <p:sp>
        <p:nvSpPr>
          <p:cNvPr id="121" name="P121"/>
          <p:cNvSpPr/>
          <p:nvPr/>
        </p:nvSpPr>
        <p:spPr>
          <a:xfrm>
            <a:off x="262504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0" dirty="0">
                <a:solidFill>
                  <a:srgbClr val="000000"/>
                </a:solidFill>
              </a:rPr>
              <a:t>What evidence</a:t>
            </a:r>
          </a:p>
          <a:p>
            <a:pPr algn="ctr">
              <a:buNone/>
            </a:pPr>
            <a:r>
              <a:rPr lang="en-US" sz="1300" b="0" i="0" dirty="0">
                <a:solidFill>
                  <a:srgbClr val="000000"/>
                </a:solidFill>
              </a:rPr>
              <a:t>bears on it?</a:t>
            </a:r>
          </a:p>
        </p:txBody>
      </p:sp>
      <p:cxnSp>
        <p:nvCxnSpPr>
          <p:cNvPr id="131" name="C131"/>
          <p:cNvCxnSpPr/>
          <p:nvPr/>
        </p:nvCxnSpPr>
        <p:spPr>
          <a:xfrm>
            <a:off x="4491048" y="2220000"/>
            <a:ext cx="162120" cy="0"/>
          </a:xfrm>
          <a:prstGeom prst="straightConnector1">
            <a:avLst/>
          </a:prstGeom>
          <a:ln w="38100">
            <a:solidFill>
              <a:srgbClr val="8E6F3E"/>
            </a:solidFill>
            <a:tailEnd type="triangle" w="med" len="med"/>
          </a:ln>
        </p:spPr>
      </p:cxnSp>
      <p:sp>
        <p:nvSpPr>
          <p:cNvPr id="112" name="B112"/>
          <p:cNvSpPr/>
          <p:nvPr/>
        </p:nvSpPr>
        <p:spPr>
          <a:xfrm>
            <a:off x="4683168" y="1900000"/>
            <a:ext cx="1836000" cy="64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JUDGMENT</a:t>
            </a:r>
          </a:p>
        </p:txBody>
      </p:sp>
      <p:sp>
        <p:nvSpPr>
          <p:cNvPr id="122" name="P122"/>
          <p:cNvSpPr/>
          <p:nvPr/>
        </p:nvSpPr>
        <p:spPr>
          <a:xfrm>
            <a:off x="468316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0" dirty="0">
                <a:solidFill>
                  <a:srgbClr val="000000"/>
                </a:solidFill>
              </a:rPr>
              <a:t>How strong is it?</a:t>
            </a:r>
          </a:p>
          <a:p>
            <a:pPr algn="ctr">
              <a:buNone/>
            </a:pPr>
            <a:r>
              <a:rPr lang="en-US" sz="1300" b="0" i="0" dirty="0">
                <a:solidFill>
                  <a:srgbClr val="000000"/>
                </a:solidFill>
              </a:rPr>
              <a:t>Is it enough?</a:t>
            </a:r>
          </a:p>
        </p:txBody>
      </p:sp>
      <p:cxnSp>
        <p:nvCxnSpPr>
          <p:cNvPr id="132" name="C132"/>
          <p:cNvCxnSpPr/>
          <p:nvPr/>
        </p:nvCxnSpPr>
        <p:spPr>
          <a:xfrm>
            <a:off x="6549168" y="2220000"/>
            <a:ext cx="162120" cy="0"/>
          </a:xfrm>
          <a:prstGeom prst="straightConnector1">
            <a:avLst/>
          </a:prstGeom>
          <a:ln w="38100">
            <a:solidFill>
              <a:srgbClr val="8E6F3E"/>
            </a:solidFill>
            <a:tailEnd type="triangle" w="med" len="med"/>
          </a:ln>
        </p:spPr>
      </p:cxnSp>
      <p:sp>
        <p:nvSpPr>
          <p:cNvPr id="113" name="B113"/>
          <p:cNvSpPr/>
          <p:nvPr/>
        </p:nvSpPr>
        <p:spPr>
          <a:xfrm>
            <a:off x="6741288" y="1900000"/>
            <a:ext cx="1836000" cy="64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ACTION</a:t>
            </a:r>
          </a:p>
        </p:txBody>
      </p:sp>
      <p:sp>
        <p:nvSpPr>
          <p:cNvPr id="123" name="P123"/>
          <p:cNvSpPr/>
          <p:nvPr/>
        </p:nvSpPr>
        <p:spPr>
          <a:xfrm>
            <a:off x="674128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0" dirty="0">
                <a:solidFill>
                  <a:srgbClr val="000000"/>
                </a:solidFill>
              </a:rPr>
              <a:t>What should</a:t>
            </a:r>
          </a:p>
          <a:p>
            <a:pPr algn="ctr">
              <a:buNone/>
            </a:pPr>
            <a:r>
              <a:rPr lang="en-US" sz="1300" b="0" i="0" dirty="0">
                <a:solidFill>
                  <a:srgbClr val="000000"/>
                </a:solidFill>
              </a:rPr>
              <a:t>we do?</a:t>
            </a:r>
          </a:p>
        </p:txBody>
      </p:sp>
      <p:sp>
        <p:nvSpPr>
          <p:cNvPr id="140" name="E140"/>
          <p:cNvSpPr/>
          <p:nvPr/>
        </p:nvSpPr>
        <p:spPr>
          <a:xfrm>
            <a:off x="566928" y="3900000"/>
            <a:ext cx="8010144" cy="7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500" b="1" i="0" dirty="0">
                <a:solidFill>
                  <a:srgbClr val="5C4826"/>
                </a:solidFill>
              </a:rPr>
              <a:t>An assurance case makes the argument from claim to action inspectable.</a:t>
            </a:r>
          </a:p>
        </p:txBody>
      </p:sp>
      <p:sp>
        <p:nvSpPr>
          <p:cNvPr id="150" name="T150"/>
          <p:cNvSpPr txBox="1"/>
          <p:nvPr/>
        </p:nvSpPr>
        <p:spPr>
          <a:xfrm>
            <a:off x="566928" y="4900000"/>
            <a:ext cx="8010144" cy="900000"/>
          </a:xfrm>
          <a:prstGeom prst="rect">
            <a:avLst/>
          </a:prstGeom>
          <a:noFill/>
          <a:ln>
            <a:noFill/>
          </a:ln>
        </p:spPr>
        <p:txBody>
          <a:bodyPr wrap="square" lIns="0" tIns="0" rIns="0" bIns="0" anchor="t"/>
          <a:lstStyle/>
          <a:p>
            <a:pPr algn="ctr">
              <a:buNone/>
            </a:pPr>
            <a:r>
              <a:rPr lang="en-US" sz="1400" b="0" i="1" dirty="0">
                <a:solidFill>
                  <a:srgbClr val="555960"/>
                </a:solidFill>
              </a:rPr>
              <a:t>Delivery is the action this lecture asks about — but the evidence may instead justify</a:t>
            </a:r>
          </a:p>
          <a:p>
            <a:pPr algn="ctr">
              <a:spcBef>
                <a:spcPts val="120"/>
              </a:spcBef>
              <a:buNone/>
            </a:pPr>
            <a:r>
              <a:rPr lang="en-US" sz="1400" b="0" i="1" dirty="0">
                <a:solidFill>
                  <a:srgbClr val="555960"/>
                </a:solidFill>
              </a:rPr>
              <a:t>gathering more evidence, changing the system, revisiting an upstream decision, or refusing.</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We will build this argument through the lecture — and return to it at the 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50"/>
                                        </p:tgtEl>
                                        <p:attrNameLst>
                                          <p:attrName>style.visibility</p:attrName>
                                        </p:attrNameLst>
                                      </p:cBhvr>
                                      <p:to>
                                        <p:strVal val="visible"/>
                                      </p:to>
                                    </p:set>
                                    <p:animEffect transition="in" filter="fade">
                                      <p:cBhvr>
                                        <p:cTn id="5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2"/>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000" b="1" i="0" dirty="0">
                <a:solidFill>
                  <a:srgbClr val="000000"/>
                </a:solidFill>
              </a:rPr>
              <a:t>How confident must you be before shipping a product?</a:t>
            </a:r>
          </a:p>
          <a:p>
            <a:pPr algn="ctr">
              <a:buNone/>
            </a:pPr>
            <a:r>
              <a:rPr lang="en-US" sz="16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1450" b="1" i="0" dirty="0">
                <a:solidFill>
                  <a:srgbClr val="FFFFFF"/>
                </a:solidFill>
              </a:rPr>
              <a:t>TODO APP</a:t>
            </a:r>
          </a:p>
        </p:txBody>
      </p:sp>
      <p:sp>
        <p:nvSpPr>
          <p:cNvPr id="120" name="P120"/>
          <p:cNvSpPr/>
          <p:nvPr/>
        </p:nvSpPr>
        <p:spPr>
          <a:xfrm>
            <a:off x="566928" y="3320000"/>
            <a:ext cx="2560000"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1" dirty="0">
                <a:solidFill>
                  <a:srgbClr val="000000"/>
                </a:solidFill>
              </a:rPr>
              <a:t>occasionally loses a task</a:t>
            </a:r>
          </a:p>
          <a:p>
            <a:pPr algn="ctr">
              <a:buNone/>
            </a:pPr>
            <a:r>
              <a:rPr lang="en-US" sz="1300" b="0" i="0" dirty="0">
                <a:solidFill>
                  <a:srgbClr val="8E6F3E"/>
                </a:solidFill>
              </a:rPr>
              <a:t>↓</a:t>
            </a:r>
          </a:p>
          <a:p>
            <a:pPr algn="ctr">
              <a:buNone/>
            </a:pPr>
            <a:r>
              <a:rPr lang="en-US" sz="1300" b="0" i="0" dirty="0">
                <a:solidFill>
                  <a:srgbClr val="000000"/>
                </a:solidFill>
              </a:rPr>
              <a:t>destroys information a user depends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1450" b="1" i="0" dirty="0">
                <a:solidFill>
                  <a:srgbClr val="FFFFFF"/>
                </a:solidFill>
              </a:rPr>
              <a:t>PAYROLL SYSTEM</a:t>
            </a:r>
          </a:p>
        </p:txBody>
      </p:sp>
      <p:sp>
        <p:nvSpPr>
          <p:cNvPr id="121" name="P121"/>
          <p:cNvSpPr/>
          <p:nvPr/>
        </p:nvSpPr>
        <p:spPr>
          <a:xfrm>
            <a:off x="3292000" y="3320000"/>
            <a:ext cx="2560000"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1" dirty="0">
                <a:solidFill>
                  <a:srgbClr val="000000"/>
                </a:solidFill>
              </a:rPr>
              <a:t>incorrect transaction</a:t>
            </a:r>
          </a:p>
          <a:p>
            <a:pPr algn="ctr">
              <a:buNone/>
            </a:pPr>
            <a:r>
              <a:rPr lang="en-US" sz="1300" b="0" i="0" dirty="0">
                <a:solidFill>
                  <a:srgbClr val="8E6F3E"/>
                </a:solidFill>
              </a:rPr>
              <a:t>↓</a:t>
            </a:r>
          </a:p>
          <a:p>
            <a:pPr algn="ctr">
              <a:buNone/>
            </a:pPr>
            <a:r>
              <a:rPr lang="en-US" sz="13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1450" b="1" i="0" dirty="0">
                <a:solidFill>
                  <a:srgbClr val="FFFFFF"/>
                </a:solidFill>
              </a:rPr>
              <a:t>X-RAY CONTROL</a:t>
            </a:r>
          </a:p>
        </p:txBody>
      </p:sp>
      <p:sp>
        <p:nvSpPr>
          <p:cNvPr id="122" name="P122"/>
          <p:cNvSpPr/>
          <p:nvPr/>
        </p:nvSpPr>
        <p:spPr>
          <a:xfrm>
            <a:off x="6017072" y="3320000"/>
            <a:ext cx="2560000"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1" dirty="0">
                <a:solidFill>
                  <a:srgbClr val="000000"/>
                </a:solidFill>
              </a:rPr>
              <a:t>incorrect dose</a:t>
            </a:r>
          </a:p>
          <a:p>
            <a:pPr algn="ctr">
              <a:buNone/>
            </a:pPr>
            <a:r>
              <a:rPr lang="en-US" sz="1300" b="0" i="0" dirty="0">
                <a:solidFill>
                  <a:srgbClr val="8E6F3E"/>
                </a:solidFill>
              </a:rPr>
              <a:t>↓</a:t>
            </a:r>
          </a:p>
          <a:p>
            <a:pPr algn="ctr">
              <a:buNone/>
            </a:pPr>
            <a:r>
              <a:rPr lang="en-US" sz="1300" b="0" i="0" dirty="0">
                <a:solidFill>
                  <a:srgbClr val="000000"/>
                </a:solidFill>
              </a:rPr>
              <a:t>direct physical injury</a:t>
            </a:r>
          </a:p>
        </p:txBody>
      </p:sp>
      <p:sp>
        <p:nvSpPr>
          <p:cNvPr id="130" name="T130"/>
          <p:cNvSpPr txBox="1"/>
          <p:nvPr/>
        </p:nvSpPr>
        <p:spPr>
          <a:xfrm>
            <a:off x="566928" y="4680000"/>
            <a:ext cx="8010144" cy="950000"/>
          </a:xfrm>
          <a:prstGeom prst="rect">
            <a:avLst/>
          </a:prstGeom>
          <a:noFill/>
          <a:ln>
            <a:noFill/>
          </a:ln>
        </p:spPr>
        <p:txBody>
          <a:bodyPr wrap="square" lIns="0" tIns="0" rIns="0" bIns="0" anchor="t"/>
          <a:lstStyle/>
          <a:p>
            <a:pPr algn="ctr">
              <a:buNone/>
            </a:pPr>
            <a:r>
              <a:rPr lang="en-US" sz="1350" b="0" i="1" dirty="0">
                <a:solidFill>
                  <a:srgbClr val="555960"/>
                </a:solidFill>
              </a:rPr>
              <a:t>Engineers weigh both the severity of a possible consequence and how directly the software can cause it.</a:t>
            </a:r>
          </a:p>
          <a:p>
            <a:pPr algn="ctr">
              <a:spcBef>
                <a:spcPts val="120"/>
              </a:spcBef>
              <a:buNone/>
            </a:pPr>
            <a:r>
              <a:rPr lang="en-US" sz="1350" b="0" i="1" dirty="0">
                <a:solidFill>
                  <a:srgbClr val="555960"/>
                </a:solidFill>
              </a:rPr>
              <a:t>Almost any defect connects to harm through a long enough chain — that does not make every defect safety-critical.</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The more direct and substantial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Validation is a decision under uncertainty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P100"/>
          <p:cNvSpPr/>
          <p:nvPr/>
        </p:nvSpPr>
        <p:spPr>
          <a:xfrm>
            <a:off x="680000" y="1120000"/>
            <a:ext cx="79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Validation does not demand certainty.</a:t>
            </a:r>
          </a:p>
          <a:p>
            <a:pPr algn="ctr">
              <a:spcBef>
                <a:spcPts val="120"/>
              </a:spcBef>
              <a:buNone/>
            </a:pPr>
            <a:r>
              <a:rPr lang="en-US" sz="1600" b="0" i="0" dirty="0">
                <a:solidFill>
                  <a:srgbClr val="000000"/>
                </a:solidFill>
              </a:rPr>
              <a:t>It asks whether the available evidence justifies acting under the remaining uncertainty.</a:t>
            </a:r>
          </a:p>
        </p:txBody>
      </p:sp>
      <p:sp>
        <p:nvSpPr>
          <p:cNvPr id="101" name="P101"/>
          <p:cNvSpPr/>
          <p:nvPr/>
        </p:nvSpPr>
        <p:spPr>
          <a:xfrm>
            <a:off x="680000" y="2280000"/>
            <a:ext cx="79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Software is updatable.</a:t>
            </a:r>
          </a:p>
          <a:p>
            <a:pPr algn="ctr">
              <a:spcBef>
                <a:spcPts val="120"/>
              </a:spcBef>
              <a:buNone/>
            </a:pPr>
            <a:r>
              <a:rPr lang="en-US" sz="1600" b="0" i="0" dirty="0">
                <a:solidFill>
                  <a:srgbClr val="000000"/>
                </a:solidFill>
              </a:rPr>
              <a:t>Sometimes it is right to deliver under known uncertainty, observe, and repair — delivery can itself be part of learning.</a:t>
            </a:r>
          </a:p>
        </p:txBody>
      </p:sp>
      <p:sp>
        <p:nvSpPr>
          <p:cNvPr id="102" name="P102"/>
          <p:cNvSpPr/>
          <p:nvPr/>
        </p:nvSpPr>
        <p:spPr>
          <a:xfrm>
            <a:off x="680000" y="3440000"/>
            <a:ext cx="79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But an update repairs the software,</a:t>
            </a:r>
          </a:p>
          <a:p>
            <a:pPr algn="ctr">
              <a:spcBef>
                <a:spcPts val="120"/>
              </a:spcBef>
              <a:buNone/>
            </a:pPr>
            <a:r>
              <a:rPr lang="en-US" sz="1600" b="0" i="0" dirty="0">
                <a:solidFill>
                  <a:srgbClr val="000000"/>
                </a:solidFill>
              </a:rPr>
              <a:t>not the consequences of its past behavior. 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Validation asks what evidence is sufficient for THIS delivery —</a:t>
            </a:r>
          </a:p>
          <a:p>
            <a:pPr algn="ctr">
              <a:spcBef>
                <a:spcPts val="60"/>
              </a:spcBef>
              <a:buNone/>
            </a:pPr>
            <a:r>
              <a:rPr lang="en-US" sz="2000" b="1" i="0" dirty="0">
                <a:solidFill>
                  <a:srgbClr val="FFFFFF"/>
                </a:solidFill>
              </a:rPr>
              <a:t>What uncertainty can we responsibly carry through this delivery?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300000" y="94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Requirements</a:t>
            </a:r>
          </a:p>
          <a:p>
            <a:pPr algn="r">
              <a:spcBef>
                <a:spcPts val="40"/>
              </a:spcBef>
              <a:buNone/>
            </a:pPr>
            <a:r>
              <a:rPr lang="en-US" sz="1350" b="0" i="1" dirty="0">
                <a:solidFill>
                  <a:srgbClr val="555960"/>
                </a:solidFill>
              </a:rPr>
              <a:t>world outcomes</a:t>
            </a:r>
          </a:p>
        </p:txBody>
      </p:sp>
      <p:sp>
        <p:nvSpPr>
          <p:cNvPr id="111" name="T111"/>
          <p:cNvSpPr txBox="1"/>
          <p:nvPr/>
        </p:nvSpPr>
        <p:spPr>
          <a:xfrm>
            <a:off x="300000" y="156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Specification</a:t>
            </a:r>
          </a:p>
          <a:p>
            <a:pPr algn="r">
              <a:spcBef>
                <a:spcPts val="40"/>
              </a:spcBef>
              <a:buNone/>
            </a:pPr>
            <a:r>
              <a:rPr lang="en-US" sz="1350" b="0" i="1" dirty="0">
                <a:solidFill>
                  <a:srgbClr val="555960"/>
                </a:solidFill>
              </a:rPr>
              <a:t>machine obligations</a:t>
            </a:r>
          </a:p>
          <a:p>
            <a:pPr algn="r">
              <a:spcBef>
                <a:spcPts val="20"/>
              </a:spcBef>
              <a:buNone/>
            </a:pPr>
            <a:r>
              <a:rPr lang="en-US" sz="1350" b="0" i="1" dirty="0">
                <a:solidFill>
                  <a:srgbClr val="555960"/>
                </a:solidFill>
              </a:rPr>
              <a:t>environment assumptions</a:t>
            </a:r>
          </a:p>
        </p:txBody>
      </p:sp>
      <p:sp>
        <p:nvSpPr>
          <p:cNvPr id="112" name="T112"/>
          <p:cNvSpPr txBox="1"/>
          <p:nvPr/>
        </p:nvSpPr>
        <p:spPr>
          <a:xfrm>
            <a:off x="300000" y="236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Architecture + Design</a:t>
            </a:r>
          </a:p>
          <a:p>
            <a:pPr algn="r">
              <a:spcBef>
                <a:spcPts val="40"/>
              </a:spcBef>
              <a:buNone/>
            </a:pPr>
            <a:r>
              <a:rPr lang="en-US" sz="1350" b="0" i="1" dirty="0">
                <a:solidFill>
                  <a:srgbClr val="555960"/>
                </a:solidFill>
              </a:rPr>
              <a:t>progressively more</a:t>
            </a:r>
          </a:p>
          <a:p>
            <a:pPr algn="r">
              <a:spcBef>
                <a:spcPts val="20"/>
              </a:spcBef>
              <a:buNone/>
            </a:pPr>
            <a:r>
              <a:rPr lang="en-US" sz="1350" b="0" i="1" dirty="0">
                <a:solidFill>
                  <a:srgbClr val="555960"/>
                </a:solidFill>
              </a:rPr>
              <a:t>precise engineering models</a:t>
            </a:r>
          </a:p>
        </p:txBody>
      </p:sp>
      <p:sp>
        <p:nvSpPr>
          <p:cNvPr id="113" name="P113"/>
          <p:cNvSpPr/>
          <p:nvPr/>
        </p:nvSpPr>
        <p:spPr>
          <a:xfrm>
            <a:off x="1780000" y="3060000"/>
            <a:ext cx="160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system organization</a:t>
            </a:r>
          </a:p>
        </p:txBody>
      </p:sp>
      <p:sp>
        <p:nvSpPr>
          <p:cNvPr id="114" name="P114"/>
          <p:cNvSpPr/>
          <p:nvPr/>
        </p:nvSpPr>
        <p:spPr>
          <a:xfrm>
            <a:off x="1920000" y="3400000"/>
            <a:ext cx="132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subsystem</a:t>
            </a:r>
          </a:p>
        </p:txBody>
      </p:sp>
      <p:sp>
        <p:nvSpPr>
          <p:cNvPr id="115" name="P115"/>
          <p:cNvSpPr/>
          <p:nvPr/>
        </p:nvSpPr>
        <p:spPr>
          <a:xfrm>
            <a:off x="2060000" y="3740000"/>
            <a:ext cx="104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mechanism</a:t>
            </a:r>
          </a:p>
        </p:txBody>
      </p:sp>
      <p:sp>
        <p:nvSpPr>
          <p:cNvPr id="117" name="T117"/>
          <p:cNvSpPr txBox="1"/>
          <p:nvPr/>
        </p:nvSpPr>
        <p:spPr>
          <a:xfrm>
            <a:off x="3500000" y="4620000"/>
            <a:ext cx="1600000" cy="400000"/>
          </a:xfrm>
          <a:prstGeom prst="rect">
            <a:avLst/>
          </a:prstGeom>
          <a:noFill/>
          <a:ln>
            <a:noFill/>
          </a:ln>
        </p:spPr>
        <p:txBody>
          <a:bodyPr wrap="square" lIns="0" tIns="0" rIns="0" bIns="0" anchor="t"/>
          <a:lstStyle/>
          <a:p>
            <a:pPr algn="ctr">
              <a:buNone/>
            </a:pPr>
            <a:r>
              <a:rPr lang="en-US" sz="1400" b="1" i="0" dirty="0">
                <a:solidFill>
                  <a:srgbClr val="000000"/>
                </a:solidFill>
              </a:rPr>
              <a:t>Implementation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 not a schedule of phases.</a:t>
            </a:r>
          </a:p>
        </p:txBody>
      </p:sp>
      <p:sp>
        <p:nvSpPr>
          <p:cNvPr id="130" name="P130"/>
          <p:cNvSpPr/>
          <p:nvPr/>
        </p:nvSpPr>
        <p:spPr>
          <a:xfrm>
            <a:off x="4754880" y="941832"/>
            <a:ext cx="3703320" cy="283464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50" b="1" i="0" dirty="0">
                <a:solidFill>
                  <a:srgbClr val="57534E"/>
                </a:solidFill>
              </a:rPr>
              <a:t>A CHAIN OF MODELS</a:t>
            </a:r>
          </a:p>
          <a:p>
            <a:pPr algn="ctr">
              <a:spcBef>
                <a:spcPts val="120"/>
              </a:spcBef>
              <a:buNone/>
            </a:pPr>
            <a:r>
              <a:rPr lang="en-US" sz="1550" b="0" i="0" dirty="0">
                <a:solidFill>
                  <a:srgbClr val="000000"/>
                </a:solidFill>
              </a:rPr>
              <a:t>Requirements say what the world must get. The specification says what the machine must do, under stated environment assumptions. Architecture and design say how. The implementation is the realized machine.</a:t>
            </a:r>
          </a:p>
          <a:p>
            <a:pPr algn="ctr">
              <a:spcBef>
                <a:spcPts val="120"/>
              </a:spcBef>
              <a:buNone/>
            </a:pPr>
            <a:r>
              <a:rPr lang="en-US" sz="1450" b="0" i="1" dirty="0">
                <a:solidFill>
                  <a:srgbClr val="555960"/>
                </a:solidFill>
              </a:rPr>
              <a:t>The middle has no fixed number of levels — refine as far as the engineering problem requires.</a:t>
            </a:r>
          </a:p>
        </p:txBody>
      </p:sp>
      <p:sp>
        <p:nvSpPr>
          <p:cNvPr id="160" name="E160"/>
          <p:cNvSpPr/>
          <p:nvPr/>
        </p:nvSpPr>
        <p:spPr>
          <a:xfrm>
            <a:off x="4754880" y="3900000"/>
            <a:ext cx="3703320" cy="7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250" b="1" i="0" dirty="0">
                <a:solidFill>
                  <a:srgbClr val="5C4826"/>
                </a:solidFill>
              </a:rPr>
              <a:t>A submitted payment shall cause at most one charge.</a:t>
            </a:r>
          </a:p>
          <a:p>
            <a:pPr algn="ctr">
              <a:buNone/>
            </a:pPr>
            <a:r>
              <a:rPr lang="en-US" sz="1050" b="0" i="1" dirty="0">
                <a:solidFill>
                  <a:srgbClr val="555960"/>
                </a:solidFill>
              </a:rPr>
              <a:t>Validation inherits its claims from these models — it does not invent them.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0"/>
                                        </p:tgtEl>
                                        <p:attrNameLst>
                                          <p:attrName>style.visibility</p:attrName>
                                        </p:attrNameLst>
                                      </p:cBhvr>
                                      <p:to>
                                        <p:strVal val="visible"/>
                                      </p:to>
                                    </p:set>
                                    <p:animEffect transition="in" filter="fade">
                                      <p:cBhvr>
                                        <p:cTn id="15" dur="500"/>
                                        <p:tgtEl>
                                          <p:spTgt spid="1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2"/>
                                        </p:tgtEl>
                                        <p:attrNameLst>
                                          <p:attrName>style.visibility</p:attrName>
                                        </p:attrNameLst>
                                      </p:cBhvr>
                                      <p:to>
                                        <p:strVal val="visible"/>
                                      </p:to>
                                    </p:set>
                                    <p:animEffect transition="in" filter="fade">
                                      <p:cBhvr>
                                        <p:cTn id="20"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500"/>
                                        <p:tgtEl>
                                          <p:spTgt spid="1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4"/>
                                        </p:tgtEl>
                                        <p:attrNameLst>
                                          <p:attrName>style.visibility</p:attrName>
                                        </p:attrNameLst>
                                      </p:cBhvr>
                                      <p:to>
                                        <p:strVal val="visible"/>
                                      </p:to>
                                    </p:set>
                                    <p:animEffect transition="in" filter="fade">
                                      <p:cBhvr>
                                        <p:cTn id="28" dur="500"/>
                                        <p:tgtEl>
                                          <p:spTgt spid="1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5"/>
                                        </p:tgtEl>
                                        <p:attrNameLst>
                                          <p:attrName>style.visibility</p:attrName>
                                        </p:attrNameLst>
                                      </p:cBhvr>
                                      <p:to>
                                        <p:strVal val="visible"/>
                                      </p:to>
                                    </p:set>
                                    <p:animEffect transition="in" filter="fade">
                                      <p:cBhvr>
                                        <p:cTn id="31" dur="500"/>
                                        <p:tgtEl>
                                          <p:spTgt spid="11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17"/>
                                        </p:tgtEl>
                                        <p:attrNameLst>
                                          <p:attrName>style.visibility</p:attrName>
                                        </p:attrNameLst>
                                      </p:cBhvr>
                                      <p:to>
                                        <p:strVal val="visible"/>
                                      </p:to>
                                    </p:set>
                                    <p:animEffect transition="in" filter="fade">
                                      <p:cBhvr>
                                        <p:cTn id="36" dur="500"/>
                                        <p:tgtEl>
                                          <p:spTgt spid="117"/>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30"/>
                                        </p:tgtEl>
                                        <p:attrNameLst>
                                          <p:attrName>style.visibility</p:attrName>
                                        </p:attrNameLst>
                                      </p:cBhvr>
                                      <p:to>
                                        <p:strVal val="visible"/>
                                      </p:to>
                                    </p:set>
                                    <p:animEffect transition="in" filter="fade">
                                      <p:cBhvr>
                                        <p:cTn id="41"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From machine obligations to world outcomes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B100"/>
          <p:cNvSpPr/>
          <p:nvPr/>
        </p:nvSpPr>
        <p:spPr>
          <a:xfrm>
            <a:off x="621792" y="1188720"/>
            <a:ext cx="2359152" cy="896112"/>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MACHINE</a:t>
            </a:r>
          </a:p>
          <a:p>
            <a:pPr algn="ctr">
              <a:spcBef>
                <a:spcPts val="120"/>
              </a:spcBef>
              <a:buNone/>
            </a:pPr>
            <a:r>
              <a:rPr lang="en-US" sz="1500" b="0" i="1" dirty="0">
                <a:solidFill>
                  <a:srgbClr val="FFFFFF"/>
                </a:solidFill>
              </a:rPr>
              <a:t>what we build</a:t>
            </a:r>
          </a:p>
        </p:txBody>
      </p:sp>
      <p:sp>
        <p:nvSpPr>
          <p:cNvPr id="101" name="T101"/>
          <p:cNvSpPr txBox="1"/>
          <p:nvPr/>
        </p:nvSpPr>
        <p:spPr>
          <a:xfrm>
            <a:off x="3017520" y="1435608"/>
            <a:ext cx="356616" cy="402336"/>
          </a:xfrm>
          <a:prstGeom prst="rect">
            <a:avLst/>
          </a:prstGeom>
          <a:noFill/>
          <a:ln>
            <a:noFill/>
          </a:ln>
        </p:spPr>
        <p:txBody>
          <a:bodyPr wrap="square" lIns="0" tIns="0" rIns="0" bIns="0" anchor="t"/>
          <a:lstStyle/>
          <a:p>
            <a:pPr algn="ctr">
              <a:buNone/>
            </a:pPr>
            <a:r>
              <a:rPr lang="en-US" sz="2000" b="1" i="0" dirty="0">
                <a:solidFill>
                  <a:srgbClr val="8E6F3E"/>
                </a:solidFill>
              </a:rPr>
              <a:t>+</a:t>
            </a:r>
          </a:p>
        </p:txBody>
      </p:sp>
      <p:sp>
        <p:nvSpPr>
          <p:cNvPr id="102" name="B102"/>
          <p:cNvSpPr/>
          <p:nvPr/>
        </p:nvSpPr>
        <p:spPr>
          <a:xfrm>
            <a:off x="3419856" y="1188720"/>
            <a:ext cx="2359152" cy="896112"/>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ENVIRONMENT</a:t>
            </a:r>
          </a:p>
          <a:p>
            <a:pPr algn="ctr">
              <a:spcBef>
                <a:spcPts val="120"/>
              </a:spcBef>
              <a:buNone/>
            </a:pPr>
            <a:r>
              <a:rPr lang="en-US" sz="1500" b="0" i="1" dirty="0">
                <a:solidFill>
                  <a:srgbClr val="FFFFFF"/>
                </a:solidFill>
              </a:rPr>
              <a:t>domain assumptions</a:t>
            </a:r>
          </a:p>
        </p:txBody>
      </p:sp>
      <p:cxnSp>
        <p:nvCxnSpPr>
          <p:cNvPr id="103" name="C103"/>
          <p:cNvCxnSpPr/>
          <p:nvPr/>
        </p:nvCxnSpPr>
        <p:spPr>
          <a:xfrm>
            <a:off x="5861304" y="1636776"/>
            <a:ext cx="521208" cy="0"/>
          </a:xfrm>
          <a:prstGeom prst="straightConnector1">
            <a:avLst/>
          </a:prstGeom>
          <a:ln w="38100">
            <a:solidFill>
              <a:srgbClr val="8E6F3E"/>
            </a:solidFill>
            <a:tailEnd type="triangle" w="med" len="med"/>
          </a:ln>
        </p:spPr>
      </p:cxnSp>
      <p:sp>
        <p:nvSpPr>
          <p:cNvPr id="104" name="E104"/>
          <p:cNvSpPr/>
          <p:nvPr/>
        </p:nvSpPr>
        <p:spPr>
          <a:xfrm>
            <a:off x="6483096" y="1188720"/>
            <a:ext cx="2139696" cy="89611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00" b="1" i="0" dirty="0">
                <a:solidFill>
                  <a:srgbClr val="5C4826"/>
                </a:solidFill>
              </a:rPr>
              <a:t>WORLD</a:t>
            </a:r>
          </a:p>
          <a:p>
            <a:pPr algn="ctr">
              <a:spcBef>
                <a:spcPts val="120"/>
              </a:spcBef>
              <a:buNone/>
            </a:pPr>
            <a:r>
              <a:rPr lang="en-US" sz="1500" b="0" i="1" dirty="0">
                <a:solidFill>
                  <a:srgbClr val="5C4826"/>
                </a:solidFill>
              </a:rPr>
              <a:t>the required outcome</a:t>
            </a:r>
          </a:p>
        </p:txBody>
      </p:sp>
      <p:sp>
        <p:nvSpPr>
          <p:cNvPr id="110" name="P110"/>
          <p:cNvSpPr/>
          <p:nvPr/>
        </p:nvSpPr>
        <p:spPr>
          <a:xfrm>
            <a:off x="566928" y="2468880"/>
            <a:ext cx="8010144" cy="10058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50" b="0" i="0" dirty="0">
                <a:solidFill>
                  <a:srgbClr val="000000"/>
                </a:solidFill>
              </a:rPr>
              <a:t>Evidence must establish that the machine meets its specification under the environment assumptions — and that this produces the required outcome in the world.</a:t>
            </a:r>
          </a:p>
        </p:txBody>
      </p:sp>
      <p:sp>
        <p:nvSpPr>
          <p:cNvPr id="120" name="E120"/>
          <p:cNvSpPr/>
          <p:nvPr/>
        </p:nvSpPr>
        <p:spPr>
          <a:xfrm>
            <a:off x="1188720" y="3703320"/>
            <a:ext cx="6766560" cy="7772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50" b="1" i="0" dirty="0">
                <a:solidFill>
                  <a:srgbClr val="5C4826"/>
                </a:solidFill>
              </a:rPr>
              <a:t>A submitted payment shall cause at most one charge.</a:t>
            </a:r>
          </a:p>
        </p:txBody>
      </p:sp>
      <p:sp>
        <p:nvSpPr>
          <p:cNvPr id="130" name="T130"/>
          <p:cNvSpPr txBox="1"/>
          <p:nvPr/>
        </p:nvSpPr>
        <p:spPr>
          <a:xfrm>
            <a:off x="566928" y="4663440"/>
            <a:ext cx="8010144" cy="548640"/>
          </a:xfrm>
          <a:prstGeom prst="rect">
            <a:avLst/>
          </a:prstGeom>
          <a:noFill/>
          <a:ln>
            <a:noFill/>
          </a:ln>
        </p:spPr>
        <p:txBody>
          <a:bodyPr wrap="square" lIns="0" tIns="0" rIns="0" bIns="0" anchor="t"/>
          <a:lstStyle/>
          <a:p>
            <a:pPr algn="ctr">
              <a:buNone/>
            </a:pPr>
            <a:r>
              <a:rPr lang="en-US" sz="1500" b="0" i="1" dirty="0">
                <a:solidFill>
                  <a:srgbClr val="555960"/>
                </a:solidFill>
              </a:rPr>
              <a:t>Most evidence attaches to the machine. The requirement lives in the world, and the link runs through assumptions we have not tested — the provider’s actual semantics are part of the environment.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Machine-side evidence cannot expose a false domain assumption. World evidence can.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500"/>
                                        <p:tgtEl>
                                          <p:spTgt spid="10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500"/>
                                        <p:tgtEl>
                                          <p:spTgt spid="10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10"/>
                                        </p:tgtEl>
                                        <p:attrNameLst>
                                          <p:attrName>style.visibility</p:attrName>
                                        </p:attrNameLst>
                                      </p:cBhvr>
                                      <p:to>
                                        <p:strVal val="visible"/>
                                      </p:to>
                                    </p:set>
                                    <p:animEffect transition="in" filter="fade">
                                      <p:cBhvr>
                                        <p:cTn id="28" dur="500"/>
                                        <p:tgtEl>
                                          <p:spTgt spid="1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0"/>
                                        </p:tgtEl>
                                        <p:attrNameLst>
                                          <p:attrName>style.visibility</p:attrName>
                                        </p:attrNameLst>
                                      </p:cBhvr>
                                      <p:to>
                                        <p:strVal val="visible"/>
                                      </p:to>
                                    </p:set>
                                    <p:animEffect transition="in" filter="fade">
                                      <p:cBhvr>
                                        <p:cTn id="31" dur="500"/>
                                        <p:tgtEl>
                                          <p:spTgt spid="12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30"/>
                                        </p:tgtEl>
                                        <p:attrNameLst>
                                          <p:attrName>style.visibility</p:attrName>
                                        </p:attrNameLst>
                                      </p:cBhvr>
                                      <p:to>
                                        <p:strVal val="visible"/>
                                      </p:to>
                                    </p:set>
                                    <p:animEffect transition="in" filter="fade">
                                      <p:cBhvr>
                                        <p:cTn id="3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90" name="E90"/>
          <p:cNvSpPr/>
          <p:nvPr/>
        </p:nvSpPr>
        <p:spPr>
          <a:xfrm>
            <a:off x="566928" y="850000"/>
            <a:ext cx="8010144" cy="8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350" b="1" i="0" dirty="0">
                <a:solidFill>
                  <a:srgbClr val="5C4826"/>
                </a:solidFill>
              </a:rPr>
              <a:t>THE OBVIOUS STRATEGY</a:t>
            </a:r>
          </a:p>
          <a:p>
            <a:pPr algn="ctr">
              <a:buNone/>
            </a:pPr>
            <a:r>
              <a:rPr lang="en-US" sz="1400" b="0" i="0" dirty="0">
                <a:solidFill>
                  <a:srgbClr val="000000"/>
                </a:solidFill>
              </a:rPr>
              <a:t>Assemble the service, submit a payment, and verify that no more than one charge appears.</a:t>
            </a:r>
          </a:p>
        </p:txBody>
      </p:sp>
      <p:sp>
        <p:nvSpPr>
          <p:cNvPr id="91" name="T91"/>
          <p:cNvSpPr txBox="1"/>
          <p:nvPr/>
        </p:nvSpPr>
        <p:spPr>
          <a:xfrm>
            <a:off x="566928" y="1780000"/>
            <a:ext cx="8010144" cy="400000"/>
          </a:xfrm>
          <a:prstGeom prst="rect">
            <a:avLst/>
          </a:prstGeom>
          <a:noFill/>
          <a:ln>
            <a:noFill/>
          </a:ln>
        </p:spPr>
        <p:txBody>
          <a:bodyPr wrap="square" lIns="0" tIns="0" rIns="0" bIns="0" anchor="t"/>
          <a:lstStyle/>
          <a:p>
            <a:pPr algn="ctr">
              <a:buNone/>
            </a:pPr>
            <a:r>
              <a:rPr lang="en-US" sz="1300" b="0" i="1" dirty="0">
                <a:solidFill>
                  <a:srgbClr val="555960"/>
                </a:solidFill>
              </a:rPr>
              <a:t>In principle, exactly what we want: the behavior we care about · the real system boundary · conditions close to delivery.</a:t>
            </a:r>
          </a:p>
        </p:txBody>
      </p:sp>
      <p:sp>
        <p:nvSpPr>
          <p:cNvPr id="100" name="B100"/>
          <p:cNvSpPr/>
          <p:nvPr/>
        </p:nvSpPr>
        <p:spPr>
          <a:xfrm>
            <a:off x="566928" y="2280000"/>
            <a:ext cx="1417320" cy="530352"/>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client</a:t>
            </a:r>
          </a:p>
        </p:txBody>
      </p:sp>
      <p:cxnSp>
        <p:nvCxnSpPr>
          <p:cNvPr id="105" name="C105"/>
          <p:cNvCxnSpPr/>
          <p:nvPr/>
        </p:nvCxnSpPr>
        <p:spPr>
          <a:xfrm>
            <a:off x="2024248" y="2545176"/>
            <a:ext cx="152752" cy="0"/>
          </a:xfrm>
          <a:prstGeom prst="straightConnector1">
            <a:avLst/>
          </a:prstGeom>
          <a:ln w="28575">
            <a:solidFill>
              <a:srgbClr val="8E6F3E"/>
            </a:solidFill>
            <a:tailEnd type="triangle" w="med" len="med"/>
          </a:ln>
        </p:spPr>
      </p:cxnSp>
      <p:sp>
        <p:nvSpPr>
          <p:cNvPr id="101" name="B101"/>
          <p:cNvSpPr/>
          <p:nvPr/>
        </p:nvSpPr>
        <p:spPr>
          <a:xfrm>
            <a:off x="2217000" y="2280000"/>
            <a:ext cx="1417320" cy="530352"/>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API</a:t>
            </a:r>
          </a:p>
        </p:txBody>
      </p:sp>
      <p:cxnSp>
        <p:nvCxnSpPr>
          <p:cNvPr id="106" name="C106"/>
          <p:cNvCxnSpPr/>
          <p:nvPr/>
        </p:nvCxnSpPr>
        <p:spPr>
          <a:xfrm>
            <a:off x="3674320" y="2545176"/>
            <a:ext cx="152752" cy="0"/>
          </a:xfrm>
          <a:prstGeom prst="straightConnector1">
            <a:avLst/>
          </a:prstGeom>
          <a:ln w="28575">
            <a:solidFill>
              <a:srgbClr val="8E6F3E"/>
            </a:solidFill>
            <a:tailEnd type="triangle" w="med" len="med"/>
          </a:ln>
        </p:spPr>
      </p:cxnSp>
      <p:sp>
        <p:nvSpPr>
          <p:cNvPr id="102" name="B102"/>
          <p:cNvSpPr/>
          <p:nvPr/>
        </p:nvSpPr>
        <p:spPr>
          <a:xfrm>
            <a:off x="3867072" y="2280000"/>
            <a:ext cx="1417320" cy="530352"/>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payments</a:t>
            </a:r>
          </a:p>
        </p:txBody>
      </p:sp>
      <p:cxnSp>
        <p:nvCxnSpPr>
          <p:cNvPr id="107" name="C107"/>
          <p:cNvCxnSpPr/>
          <p:nvPr/>
        </p:nvCxnSpPr>
        <p:spPr>
          <a:xfrm>
            <a:off x="5324392" y="2545176"/>
            <a:ext cx="152752" cy="0"/>
          </a:xfrm>
          <a:prstGeom prst="straightConnector1">
            <a:avLst/>
          </a:prstGeom>
          <a:ln w="28575">
            <a:solidFill>
              <a:srgbClr val="8E6F3E"/>
            </a:solidFill>
            <a:tailEnd type="triangle" w="med" len="med"/>
          </a:ln>
        </p:spPr>
      </p:cxnSp>
      <p:sp>
        <p:nvSpPr>
          <p:cNvPr id="103" name="B103"/>
          <p:cNvSpPr/>
          <p:nvPr/>
        </p:nvSpPr>
        <p:spPr>
          <a:xfrm>
            <a:off x="5517144" y="2280000"/>
            <a:ext cx="1417320" cy="530352"/>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ledger</a:t>
            </a:r>
          </a:p>
        </p:txBody>
      </p:sp>
      <p:cxnSp>
        <p:nvCxnSpPr>
          <p:cNvPr id="108" name="C108"/>
          <p:cNvCxnSpPr/>
          <p:nvPr/>
        </p:nvCxnSpPr>
        <p:spPr>
          <a:xfrm>
            <a:off x="6974464" y="2545176"/>
            <a:ext cx="152752" cy="0"/>
          </a:xfrm>
          <a:prstGeom prst="straightConnector1">
            <a:avLst/>
          </a:prstGeom>
          <a:ln w="28575">
            <a:solidFill>
              <a:srgbClr val="8E6F3E"/>
            </a:solidFill>
            <a:tailEnd type="triangle" w="med" len="med"/>
          </a:ln>
        </p:spPr>
      </p:cxnSp>
      <p:sp>
        <p:nvSpPr>
          <p:cNvPr id="104" name="B104"/>
          <p:cNvSpPr/>
          <p:nvPr/>
        </p:nvSpPr>
        <p:spPr>
          <a:xfrm>
            <a:off x="7167216" y="2280000"/>
            <a:ext cx="1417320" cy="530352"/>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provider</a:t>
            </a:r>
          </a:p>
        </p:txBody>
      </p:sp>
      <p:sp>
        <p:nvSpPr>
          <p:cNvPr id="120" name="T120"/>
          <p:cNvSpPr txBox="1"/>
          <p:nvPr/>
        </p:nvSpPr>
        <p:spPr>
          <a:xfrm>
            <a:off x="566928" y="2940000"/>
            <a:ext cx="8010144" cy="380000"/>
          </a:xfrm>
          <a:prstGeom prst="rect">
            <a:avLst/>
          </a:prstGeom>
          <a:noFill/>
          <a:ln>
            <a:noFill/>
          </a:ln>
        </p:spPr>
        <p:txBody>
          <a:bodyPr wrap="square" lIns="0" tIns="0" rIns="0" bIns="0" anchor="t"/>
          <a:lstStyle/>
          <a:p>
            <a:pPr algn="ctr">
              <a:buNone/>
            </a:pPr>
            <a:r>
              <a:rPr lang="en-US" sz="1300" b="1" i="0" dirty="0">
                <a:solidFill>
                  <a:srgbClr val="5C4826"/>
                </a:solidFill>
              </a:rPr>
              <a:t>The test failed. Where is the defect? Any of these — or any interaction between them — could be responsible.</a:t>
            </a:r>
          </a:p>
        </p:txBody>
      </p:sp>
      <p:sp>
        <p:nvSpPr>
          <p:cNvPr id="130" name="P130"/>
          <p:cNvSpPr/>
          <p:nvPr/>
        </p:nvSpPr>
        <p:spPr>
          <a:xfrm>
            <a:off x="566928" y="3520000"/>
            <a:ext cx="2487168" cy="11887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LOCALIZE</a:t>
            </a:r>
          </a:p>
          <a:p>
            <a:pPr algn="ctr">
              <a:buNone/>
            </a:pPr>
            <a:r>
              <a:rPr lang="en-US" sz="1300" b="0" i="0" dirty="0">
                <a:solidFill>
                  <a:srgbClr val="000000"/>
                </a:solidFill>
              </a:rPr>
              <a:t>The failure names a symptom, not a part.</a:t>
            </a:r>
          </a:p>
        </p:txBody>
      </p:sp>
      <p:sp>
        <p:nvSpPr>
          <p:cNvPr id="131" name="P131"/>
          <p:cNvSpPr/>
          <p:nvPr/>
        </p:nvSpPr>
        <p:spPr>
          <a:xfrm>
            <a:off x="3328416" y="3520000"/>
            <a:ext cx="2487168" cy="11887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REPRODUCE</a:t>
            </a:r>
          </a:p>
          <a:p>
            <a:pPr algn="ctr">
              <a:buNone/>
            </a:pPr>
            <a:r>
              <a:rPr lang="en-US" sz="1300" b="0" i="0" dirty="0">
                <a:solidFill>
                  <a:srgbClr val="000000"/>
                </a:solidFill>
              </a:rPr>
              <a:t>Timing, state, and environment may not repeat on demand.</a:t>
            </a:r>
          </a:p>
        </p:txBody>
      </p:sp>
      <p:sp>
        <p:nvSpPr>
          <p:cNvPr id="132" name="P132"/>
          <p:cNvSpPr/>
          <p:nvPr/>
        </p:nvSpPr>
        <p:spPr>
          <a:xfrm>
            <a:off x="6089904" y="3520000"/>
            <a:ext cx="2487168" cy="11887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DIAGNOSE</a:t>
            </a:r>
          </a:p>
          <a:p>
            <a:pPr algn="ctr">
              <a:buNone/>
            </a:pPr>
            <a:r>
              <a:rPr lang="en-US" sz="1300" b="0" i="0" dirty="0">
                <a:solidFill>
                  <a:srgbClr val="000000"/>
                </a:solidFill>
              </a:rPr>
              <a:t>The further the observation sits from the fault, the more it costs to explain.</a:t>
            </a:r>
          </a:p>
        </p:txBody>
      </p:sp>
      <p:sp>
        <p:nvSpPr>
          <p:cNvPr id="150" name="E150"/>
          <p:cNvSpPr/>
          <p:nvPr/>
        </p:nvSpPr>
        <p:spPr>
          <a:xfrm>
            <a:off x="1188720" y="4900000"/>
            <a:ext cx="6766560" cy="7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500" b="1" i="0" dirty="0">
                <a:solidFill>
                  <a:srgbClr val="5C4826"/>
                </a:solidFill>
              </a:rPr>
              <a:t>So engineers deliberately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System evidence is realistic —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600" b="1" i="0" dirty="0">
                <a:solidFill>
                  <a:srgbClr val="5C4826"/>
                </a:solidFill>
              </a:rPr>
              <a:t>SPECIFICATION: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1550" b="0" i="1" dirty="0">
                <a:solidFill>
                  <a:srgbClr val="555960"/>
                </a:solidFill>
              </a:rPr>
              <a:t>Some properties do not exist locally at all: client retry and server retry are each correct — only their composition can submit one payment twice.</a:t>
            </a:r>
          </a:p>
          <a:p>
            <a:pPr algn="ctr">
              <a:spcBef>
                <a:spcPts val="120"/>
              </a:spcBef>
              <a:buNone/>
            </a:pPr>
            <a:r>
              <a:rPr lang="en-US" sz="1550" b="0" i="1" dirty="0">
                <a:solidFill>
                  <a:srgbClr val="555960"/>
                </a:solidFill>
              </a:rPr>
              <a:t>You cannot decompose away a property that exists only in composition — and only world evidence can expose a false assumption about the provider.</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Check a property at the lowest scope that can actually establish it —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51" name="L151"/>
          <p:cNvSpPr/>
          <p:nvPr/>
        </p:nvSpPr>
        <p:spPr>
          <a:xfrm>
            <a:off x="4300000" y="980000"/>
            <a:ext cx="1950000" cy="3580000"/>
          </a:xfrm>
          <a:custGeom>
            <a:avLst/>
            <a:gdLst/>
            <a:ahLst/>
            <a:cxnLst/>
            <a:rect l="l" t="t" r="r" b="b"/>
            <a:pathLst>
              <a:path w="1950000" h="3580000" fill="none">
                <a:moveTo>
                  <a:pt x="1950000" y="0"/>
                </a:moveTo>
                <a:lnTo>
                  <a:pt x="0" y="3580000"/>
                </a:lnTo>
              </a:path>
            </a:pathLst>
          </a:custGeom>
          <a:noFill/>
          <a:ln w="38100">
            <a:solidFill>
              <a:srgbClr val="8E6F3E"/>
            </a:solidFill>
          </a:ln>
        </p:spPr>
        <p:txBody>
          <a:bodyPr/>
          <a:lstStyle/>
          <a:p>
            <a:endParaRPr lang="en-US"/>
          </a:p>
        </p:txBody>
      </p:sp>
      <p:sp>
        <p:nvSpPr>
          <p:cNvPr id="110" name="T110"/>
          <p:cNvSpPr txBox="1"/>
          <p:nvPr/>
        </p:nvSpPr>
        <p:spPr>
          <a:xfrm>
            <a:off x="300000" y="94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Requirements</a:t>
            </a:r>
          </a:p>
          <a:p>
            <a:pPr algn="r">
              <a:spcBef>
                <a:spcPts val="40"/>
              </a:spcBef>
              <a:buNone/>
            </a:pPr>
            <a:r>
              <a:rPr lang="en-US" sz="1350" b="0" i="1" dirty="0">
                <a:solidFill>
                  <a:srgbClr val="555960"/>
                </a:solidFill>
              </a:rPr>
              <a:t>world outcomes</a:t>
            </a:r>
          </a:p>
        </p:txBody>
      </p:sp>
      <p:sp>
        <p:nvSpPr>
          <p:cNvPr id="111" name="T111"/>
          <p:cNvSpPr txBox="1"/>
          <p:nvPr/>
        </p:nvSpPr>
        <p:spPr>
          <a:xfrm>
            <a:off x="300000" y="156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Specification</a:t>
            </a:r>
          </a:p>
          <a:p>
            <a:pPr algn="r">
              <a:spcBef>
                <a:spcPts val="40"/>
              </a:spcBef>
              <a:buNone/>
            </a:pPr>
            <a:r>
              <a:rPr lang="en-US" sz="1350" b="0" i="1" dirty="0">
                <a:solidFill>
                  <a:srgbClr val="555960"/>
                </a:solidFill>
              </a:rPr>
              <a:t>machine obligations</a:t>
            </a:r>
          </a:p>
          <a:p>
            <a:pPr algn="r">
              <a:spcBef>
                <a:spcPts val="20"/>
              </a:spcBef>
              <a:buNone/>
            </a:pPr>
            <a:r>
              <a:rPr lang="en-US" sz="1350" b="0" i="1" dirty="0">
                <a:solidFill>
                  <a:srgbClr val="555960"/>
                </a:solidFill>
              </a:rPr>
              <a:t>environment assumptions</a:t>
            </a:r>
          </a:p>
        </p:txBody>
      </p:sp>
      <p:sp>
        <p:nvSpPr>
          <p:cNvPr id="112" name="T112"/>
          <p:cNvSpPr txBox="1"/>
          <p:nvPr/>
        </p:nvSpPr>
        <p:spPr>
          <a:xfrm>
            <a:off x="300000" y="236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Architecture + Design</a:t>
            </a:r>
          </a:p>
          <a:p>
            <a:pPr algn="r">
              <a:spcBef>
                <a:spcPts val="40"/>
              </a:spcBef>
              <a:buNone/>
            </a:pPr>
            <a:r>
              <a:rPr lang="en-US" sz="1350" b="0" i="1" dirty="0">
                <a:solidFill>
                  <a:srgbClr val="555960"/>
                </a:solidFill>
              </a:rPr>
              <a:t>progressively more</a:t>
            </a:r>
          </a:p>
          <a:p>
            <a:pPr algn="r">
              <a:spcBef>
                <a:spcPts val="20"/>
              </a:spcBef>
              <a:buNone/>
            </a:pPr>
            <a:r>
              <a:rPr lang="en-US" sz="1350" b="0" i="1" dirty="0">
                <a:solidFill>
                  <a:srgbClr val="555960"/>
                </a:solidFill>
              </a:rPr>
              <a:t>precise engineering models</a:t>
            </a:r>
          </a:p>
        </p:txBody>
      </p:sp>
      <p:sp>
        <p:nvSpPr>
          <p:cNvPr id="113" name="P113"/>
          <p:cNvSpPr/>
          <p:nvPr/>
        </p:nvSpPr>
        <p:spPr>
          <a:xfrm>
            <a:off x="1780000" y="3060000"/>
            <a:ext cx="160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system organization</a:t>
            </a:r>
          </a:p>
        </p:txBody>
      </p:sp>
      <p:sp>
        <p:nvSpPr>
          <p:cNvPr id="114" name="P114"/>
          <p:cNvSpPr/>
          <p:nvPr/>
        </p:nvSpPr>
        <p:spPr>
          <a:xfrm>
            <a:off x="1920000" y="3400000"/>
            <a:ext cx="132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subsystem</a:t>
            </a:r>
          </a:p>
        </p:txBody>
      </p:sp>
      <p:sp>
        <p:nvSpPr>
          <p:cNvPr id="115" name="P115"/>
          <p:cNvSpPr/>
          <p:nvPr/>
        </p:nvSpPr>
        <p:spPr>
          <a:xfrm>
            <a:off x="2060000" y="3740000"/>
            <a:ext cx="104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mechanism</a:t>
            </a:r>
          </a:p>
        </p:txBody>
      </p:sp>
      <p:sp>
        <p:nvSpPr>
          <p:cNvPr id="117" name="T117"/>
          <p:cNvSpPr txBox="1"/>
          <p:nvPr/>
        </p:nvSpPr>
        <p:spPr>
          <a:xfrm>
            <a:off x="3500000" y="4620000"/>
            <a:ext cx="1600000" cy="400000"/>
          </a:xfrm>
          <a:prstGeom prst="rect">
            <a:avLst/>
          </a:prstGeom>
          <a:noFill/>
          <a:ln>
            <a:noFill/>
          </a:ln>
        </p:spPr>
        <p:txBody>
          <a:bodyPr wrap="square" lIns="0" tIns="0" rIns="0" bIns="0" anchor="t"/>
          <a:lstStyle/>
          <a:p>
            <a:pPr algn="ctr">
              <a:buNone/>
            </a:pPr>
            <a:r>
              <a:rPr lang="en-US" sz="1400" b="1" i="0" dirty="0">
                <a:solidFill>
                  <a:srgbClr val="000000"/>
                </a:solidFill>
              </a:rPr>
              <a:t>Implementation</a:t>
            </a:r>
          </a:p>
        </p:txBody>
      </p:sp>
      <p:sp>
        <p:nvSpPr>
          <p:cNvPr id="120" name="T120"/>
          <p:cNvSpPr txBox="1"/>
          <p:nvPr/>
        </p:nvSpPr>
        <p:spPr>
          <a:xfrm>
            <a:off x="6420000" y="940000"/>
            <a:ext cx="2450000" cy="560000"/>
          </a:xfrm>
          <a:prstGeom prst="rect">
            <a:avLst/>
          </a:prstGeom>
          <a:noFill/>
          <a:ln>
            <a:noFill/>
          </a:ln>
        </p:spPr>
        <p:txBody>
          <a:bodyPr wrap="square" lIns="0" tIns="0" rIns="0" bIns="0" anchor="t"/>
          <a:lstStyle/>
          <a:p>
            <a:pPr algn="l">
              <a:buNone/>
            </a:pPr>
            <a:r>
              <a:rPr lang="en-US" sz="1400" b="1" i="0" dirty="0">
                <a:solidFill>
                  <a:srgbClr val="000000"/>
                </a:solidFill>
              </a:rPr>
              <a:t>World / Acceptance evidence</a:t>
            </a:r>
          </a:p>
        </p:txBody>
      </p:sp>
      <p:sp>
        <p:nvSpPr>
          <p:cNvPr id="121" name="T121"/>
          <p:cNvSpPr txBox="1"/>
          <p:nvPr/>
        </p:nvSpPr>
        <p:spPr>
          <a:xfrm>
            <a:off x="6420000" y="1560000"/>
            <a:ext cx="2450000" cy="560000"/>
          </a:xfrm>
          <a:prstGeom prst="rect">
            <a:avLst/>
          </a:prstGeom>
          <a:noFill/>
          <a:ln>
            <a:noFill/>
          </a:ln>
        </p:spPr>
        <p:txBody>
          <a:bodyPr wrap="square" lIns="0" tIns="0" rIns="0" bIns="0" anchor="t"/>
          <a:lstStyle/>
          <a:p>
            <a:pPr algn="l">
              <a:buNone/>
            </a:pPr>
            <a:r>
              <a:rPr lang="en-US" sz="1400" b="1" i="0" dirty="0">
                <a:solidFill>
                  <a:srgbClr val="000000"/>
                </a:solidFill>
              </a:rPr>
              <a:t>System evidence</a:t>
            </a:r>
          </a:p>
        </p:txBody>
      </p:sp>
      <p:sp>
        <p:nvSpPr>
          <p:cNvPr id="122" name="T122"/>
          <p:cNvSpPr txBox="1"/>
          <p:nvPr/>
        </p:nvSpPr>
        <p:spPr>
          <a:xfrm>
            <a:off x="6420000" y="2360000"/>
            <a:ext cx="2450000" cy="560000"/>
          </a:xfrm>
          <a:prstGeom prst="rect">
            <a:avLst/>
          </a:prstGeom>
          <a:noFill/>
          <a:ln>
            <a:noFill/>
          </a:ln>
        </p:spPr>
        <p:txBody>
          <a:bodyPr wrap="square" lIns="0" tIns="0" rIns="0" bIns="0" anchor="t"/>
          <a:lstStyle/>
          <a:p>
            <a:pPr algn="l">
              <a:buNone/>
            </a:pPr>
            <a:r>
              <a:rPr lang="en-US" sz="1400" b="1" i="0" dirty="0">
                <a:solidFill>
                  <a:srgbClr val="000000"/>
                </a:solidFill>
              </a:rPr>
              <a:t>Composition / Integration evidence</a:t>
            </a:r>
          </a:p>
        </p:txBody>
      </p:sp>
      <p:sp>
        <p:nvSpPr>
          <p:cNvPr id="123" name="T123"/>
          <p:cNvSpPr txBox="1"/>
          <p:nvPr/>
        </p:nvSpPr>
        <p:spPr>
          <a:xfrm>
            <a:off x="6420000" y="3438144"/>
            <a:ext cx="2450000" cy="560000"/>
          </a:xfrm>
          <a:prstGeom prst="rect">
            <a:avLst/>
          </a:prstGeom>
          <a:noFill/>
          <a:ln>
            <a:noFill/>
          </a:ln>
        </p:spPr>
        <p:txBody>
          <a:bodyPr wrap="square" lIns="0" tIns="0" rIns="0" bIns="0" anchor="t"/>
          <a:lstStyle/>
          <a:p>
            <a:pPr algn="l">
              <a:buNone/>
            </a:pPr>
            <a:r>
              <a:rPr lang="en-US" sz="1400" b="1" i="0" dirty="0">
                <a:solidFill>
                  <a:srgbClr val="000000"/>
                </a:solidFill>
              </a:rPr>
              <a:t>Local / Unit evidence</a:t>
            </a:r>
          </a:p>
        </p:txBody>
      </p:sp>
      <p:cxnSp>
        <p:nvCxnSpPr>
          <p:cNvPr id="125" name="D125"/>
          <p:cNvCxnSpPr/>
          <p:nvPr/>
        </p:nvCxnSpPr>
        <p:spPr>
          <a:xfrm>
            <a:off x="2320000" y="1070000"/>
            <a:ext cx="4020000" cy="0"/>
          </a:xfrm>
          <a:prstGeom prst="straightConnector1">
            <a:avLst/>
          </a:prstGeom>
          <a:ln w="12700">
            <a:solidFill>
              <a:srgbClr val="8E6F3E"/>
            </a:solidFill>
            <a:prstDash val="dash"/>
            <a:tailEnd type="triangle" w="med" len="med"/>
          </a:ln>
        </p:spPr>
      </p:cxnSp>
      <p:cxnSp>
        <p:nvCxnSpPr>
          <p:cNvPr id="126" name="D126"/>
          <p:cNvCxnSpPr/>
          <p:nvPr/>
        </p:nvCxnSpPr>
        <p:spPr>
          <a:xfrm>
            <a:off x="2320000" y="1690000"/>
            <a:ext cx="4020000" cy="0"/>
          </a:xfrm>
          <a:prstGeom prst="straightConnector1">
            <a:avLst/>
          </a:prstGeom>
          <a:ln w="12700">
            <a:solidFill>
              <a:srgbClr val="8E6F3E"/>
            </a:solidFill>
            <a:prstDash val="dash"/>
            <a:tailEnd type="triangle" w="med" len="med"/>
          </a:ln>
        </p:spPr>
      </p:cxnSp>
      <p:cxnSp>
        <p:nvCxnSpPr>
          <p:cNvPr id="127" name="D127"/>
          <p:cNvCxnSpPr/>
          <p:nvPr/>
        </p:nvCxnSpPr>
        <p:spPr>
          <a:xfrm>
            <a:off x="2320000" y="2490000"/>
            <a:ext cx="4020000" cy="0"/>
          </a:xfrm>
          <a:prstGeom prst="straightConnector1">
            <a:avLst/>
          </a:prstGeom>
          <a:ln w="12700">
            <a:solidFill>
              <a:srgbClr val="8E6F3E"/>
            </a:solidFill>
            <a:prstDash val="dash"/>
            <a:tailEnd type="triangle" w="med" len="med"/>
          </a:ln>
        </p:spPr>
      </p:cxnSp>
      <p:cxnSp>
        <p:nvCxnSpPr>
          <p:cNvPr id="128" name="D128"/>
          <p:cNvCxnSpPr/>
          <p:nvPr/>
        </p:nvCxnSpPr>
        <p:spPr>
          <a:xfrm>
            <a:off x="3560000" y="3568144"/>
            <a:ext cx="2780000" cy="0"/>
          </a:xfrm>
          <a:prstGeom prst="straightConnector1">
            <a:avLst/>
          </a:prstGeom>
          <a:ln w="12700">
            <a:solidFill>
              <a:srgbClr val="8E6F3E"/>
            </a:solidFill>
            <a:prstDash val="dash"/>
            <a:tailEnd type="triangle" w="med" len="med"/>
          </a:ln>
        </p:spPr>
      </p:cxnSp>
      <p:sp>
        <p:nvSpPr>
          <p:cNvPr id="130" name="P130"/>
          <p:cNvSpPr/>
          <p:nvPr/>
        </p:nvSpPr>
        <p:spPr>
          <a:xfrm>
            <a:off x="566928" y="5080000"/>
            <a:ext cx="1930000" cy="6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00" b="1" i="0" dirty="0">
                <a:solidFill>
                  <a:srgbClr val="5C4826"/>
                </a:solidFill>
              </a:rPr>
              <a:t>Unit</a:t>
            </a:r>
          </a:p>
          <a:p>
            <a:pPr algn="ctr">
              <a:buNone/>
            </a:pPr>
            <a:r>
              <a:rPr lang="en-US" sz="1050" b="0" i="1" dirty="0">
                <a:solidFill>
                  <a:srgbClr val="555960"/>
                </a:solidFill>
              </a:rPr>
              <a:t>a chosen part in isolation</a:t>
            </a:r>
          </a:p>
        </p:txBody>
      </p:sp>
      <p:sp>
        <p:nvSpPr>
          <p:cNvPr id="131" name="P131"/>
          <p:cNvSpPr/>
          <p:nvPr/>
        </p:nvSpPr>
        <p:spPr>
          <a:xfrm>
            <a:off x="2593666" y="5080000"/>
            <a:ext cx="1930000" cy="6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00" b="1" i="0" dirty="0">
                <a:solidFill>
                  <a:srgbClr val="5C4826"/>
                </a:solidFill>
              </a:rPr>
              <a:t>Integration</a:t>
            </a:r>
          </a:p>
          <a:p>
            <a:pPr algn="ctr">
              <a:buNone/>
            </a:pPr>
            <a:r>
              <a:rPr lang="en-US" sz="1050" b="0" i="1" dirty="0">
                <a:solidFill>
                  <a:srgbClr val="555960"/>
                </a:solidFill>
              </a:rPr>
              <a:t>interactions among parts</a:t>
            </a:r>
          </a:p>
        </p:txBody>
      </p:sp>
      <p:sp>
        <p:nvSpPr>
          <p:cNvPr id="132" name="P132"/>
          <p:cNvSpPr/>
          <p:nvPr/>
        </p:nvSpPr>
        <p:spPr>
          <a:xfrm>
            <a:off x="4620404" y="5080000"/>
            <a:ext cx="1930000" cy="6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00" b="1" i="0" dirty="0">
                <a:solidFill>
                  <a:srgbClr val="5C4826"/>
                </a:solidFill>
              </a:rPr>
              <a:t>System</a:t>
            </a:r>
          </a:p>
          <a:p>
            <a:pPr algn="ctr">
              <a:buNone/>
            </a:pPr>
            <a:r>
              <a:rPr lang="en-US" sz="1050" b="0" i="1" dirty="0">
                <a:solidFill>
                  <a:srgbClr val="555960"/>
                </a:solidFill>
              </a:rPr>
              <a:t>the assembled system at a boundary</a:t>
            </a:r>
          </a:p>
        </p:txBody>
      </p:sp>
      <p:sp>
        <p:nvSpPr>
          <p:cNvPr id="133" name="P133"/>
          <p:cNvSpPr/>
          <p:nvPr/>
        </p:nvSpPr>
        <p:spPr>
          <a:xfrm>
            <a:off x="6647142" y="5080000"/>
            <a:ext cx="1930000" cy="6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00" b="1" i="0" dirty="0">
                <a:solidFill>
                  <a:srgbClr val="5C4826"/>
                </a:solidFill>
              </a:rPr>
              <a:t>Acceptance</a:t>
            </a:r>
          </a:p>
          <a:p>
            <a:pPr algn="ctr">
              <a:buNone/>
            </a:pPr>
            <a:r>
              <a:rPr lang="en-US" sz="1050" b="0" i="1" dirty="0">
                <a:solidFill>
                  <a:srgbClr val="555960"/>
                </a:solidFill>
              </a:rPr>
              <a:t>the delivered system achieving its purpose in the world</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Unit, integration, system, acceptance name scopes of evidence — not mechanisms.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500"/>
                                        <p:tgtEl>
                                          <p:spTgt spid="11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500"/>
                                        <p:tgtEl>
                                          <p:spTgt spid="11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5"/>
                                        </p:tgtEl>
                                        <p:attrNameLst>
                                          <p:attrName>style.visibility</p:attrName>
                                        </p:attrNameLst>
                                      </p:cBhvr>
                                      <p:to>
                                        <p:strVal val="visible"/>
                                      </p:to>
                                    </p:set>
                                    <p:animEffect transition="in" filter="fade">
                                      <p:cBhvr>
                                        <p:cTn id="22" dur="500"/>
                                        <p:tgtEl>
                                          <p:spTgt spid="11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7"/>
                                        </p:tgtEl>
                                        <p:attrNameLst>
                                          <p:attrName>style.visibility</p:attrName>
                                        </p:attrNameLst>
                                      </p:cBhvr>
                                      <p:to>
                                        <p:strVal val="visible"/>
                                      </p:to>
                                    </p:set>
                                    <p:animEffect transition="in" filter="fade">
                                      <p:cBhvr>
                                        <p:cTn id="25" dur="500"/>
                                        <p:tgtEl>
                                          <p:spTgt spid="1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5"/>
                                        </p:tgtEl>
                                        <p:attrNameLst>
                                          <p:attrName>style.visibility</p:attrName>
                                        </p:attrNameLst>
                                      </p:cBhvr>
                                      <p:to>
                                        <p:strVal val="visible"/>
                                      </p:to>
                                    </p:set>
                                    <p:animEffect transition="in" filter="fade">
                                      <p:cBhvr>
                                        <p:cTn id="33" dur="500"/>
                                        <p:tgtEl>
                                          <p:spTgt spid="125"/>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21"/>
                                        </p:tgtEl>
                                        <p:attrNameLst>
                                          <p:attrName>style.visibility</p:attrName>
                                        </p:attrNameLst>
                                      </p:cBhvr>
                                      <p:to>
                                        <p:strVal val="visible"/>
                                      </p:to>
                                    </p:set>
                                    <p:animEffect transition="in" filter="fade">
                                      <p:cBhvr>
                                        <p:cTn id="38" dur="500"/>
                                        <p:tgtEl>
                                          <p:spTgt spid="12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6"/>
                                        </p:tgtEl>
                                        <p:attrNameLst>
                                          <p:attrName>style.visibility</p:attrName>
                                        </p:attrNameLst>
                                      </p:cBhvr>
                                      <p:to>
                                        <p:strVal val="visible"/>
                                      </p:to>
                                    </p:set>
                                    <p:animEffect transition="in" filter="fade">
                                      <p:cBhvr>
                                        <p:cTn id="41" dur="500"/>
                                        <p:tgtEl>
                                          <p:spTgt spid="12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2"/>
                                        </p:tgtEl>
                                        <p:attrNameLst>
                                          <p:attrName>style.visibility</p:attrName>
                                        </p:attrNameLst>
                                      </p:cBhvr>
                                      <p:to>
                                        <p:strVal val="visible"/>
                                      </p:to>
                                    </p:set>
                                    <p:animEffect transition="in" filter="fade">
                                      <p:cBhvr>
                                        <p:cTn id="46" dur="500"/>
                                        <p:tgtEl>
                                          <p:spTgt spid="12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27"/>
                                        </p:tgtEl>
                                        <p:attrNameLst>
                                          <p:attrName>style.visibility</p:attrName>
                                        </p:attrNameLst>
                                      </p:cBhvr>
                                      <p:to>
                                        <p:strVal val="visible"/>
                                      </p:to>
                                    </p:set>
                                    <p:animEffect transition="in" filter="fade">
                                      <p:cBhvr>
                                        <p:cTn id="49" dur="500"/>
                                        <p:tgtEl>
                                          <p:spTgt spid="12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123"/>
                                        </p:tgtEl>
                                        <p:attrNameLst>
                                          <p:attrName>style.visibility</p:attrName>
                                        </p:attrNameLst>
                                      </p:cBhvr>
                                      <p:to>
                                        <p:strVal val="visible"/>
                                      </p:to>
                                    </p:set>
                                    <p:animEffect transition="in" filter="fade">
                                      <p:cBhvr>
                                        <p:cTn id="54" dur="500"/>
                                        <p:tgtEl>
                                          <p:spTgt spid="12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28"/>
                                        </p:tgtEl>
                                        <p:attrNameLst>
                                          <p:attrName>style.visibility</p:attrName>
                                        </p:attrNameLst>
                                      </p:cBhvr>
                                      <p:to>
                                        <p:strVal val="visible"/>
                                      </p:to>
                                    </p:set>
                                    <p:animEffect transition="in" filter="fade">
                                      <p:cBhvr>
                                        <p:cTn id="57" dur="500"/>
                                        <p:tgtEl>
                                          <p:spTgt spid="128"/>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130"/>
                                        </p:tgtEl>
                                        <p:attrNameLst>
                                          <p:attrName>style.visibility</p:attrName>
                                        </p:attrNameLst>
                                      </p:cBhvr>
                                      <p:to>
                                        <p:strVal val="visible"/>
                                      </p:to>
                                    </p:set>
                                    <p:animEffect transition="in" filter="fade">
                                      <p:cBhvr>
                                        <p:cTn id="62" dur="500"/>
                                        <p:tgtEl>
                                          <p:spTgt spid="13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31"/>
                                        </p:tgtEl>
                                        <p:attrNameLst>
                                          <p:attrName>style.visibility</p:attrName>
                                        </p:attrNameLst>
                                      </p:cBhvr>
                                      <p:to>
                                        <p:strVal val="visible"/>
                                      </p:to>
                                    </p:set>
                                    <p:animEffect transition="in" filter="fade">
                                      <p:cBhvr>
                                        <p:cTn id="65" dur="500"/>
                                        <p:tgtEl>
                                          <p:spTgt spid="13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32"/>
                                        </p:tgtEl>
                                        <p:attrNameLst>
                                          <p:attrName>style.visibility</p:attrName>
                                        </p:attrNameLst>
                                      </p:cBhvr>
                                      <p:to>
                                        <p:strVal val="visible"/>
                                      </p:to>
                                    </p:set>
                                    <p:animEffect transition="in" filter="fade">
                                      <p:cBhvr>
                                        <p:cTn id="68" dur="500"/>
                                        <p:tgtEl>
                                          <p:spTgt spid="13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566928" y="896112"/>
            <a:ext cx="8010144" cy="365760"/>
          </a:xfrm>
          <a:prstGeom prst="rect">
            <a:avLst/>
          </a:prstGeom>
          <a:noFill/>
          <a:ln>
            <a:noFill/>
          </a:ln>
        </p:spPr>
        <p:txBody>
          <a:bodyPr wrap="square" lIns="0" tIns="0" rIns="0" bIns="0" anchor="t"/>
          <a:lstStyle/>
          <a:p>
            <a:pPr algn="ctr">
              <a:buNone/>
            </a:pPr>
            <a:r>
              <a:rPr lang="en-US" sz="1400" b="1" i="0" dirty="0">
                <a:solidFill>
                  <a:srgbClr val="000000"/>
                </a:solidFill>
              </a:rPr>
              <a:t>A claim and a scope say WHERE evidence must attach. They do not say how to obtain it.</a:t>
            </a:r>
          </a:p>
        </p:txBody>
      </p:sp>
      <p:sp>
        <p:nvSpPr>
          <p:cNvPr id="110" name="B110"/>
          <p:cNvSpPr/>
          <p:nvPr/>
        </p:nvSpPr>
        <p:spPr>
          <a:xfrm>
            <a:off x="566928" y="1420000"/>
            <a:ext cx="2540000" cy="80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HUMAN</a:t>
            </a:r>
          </a:p>
          <a:p>
            <a:pPr algn="ctr">
              <a:buNone/>
            </a:pPr>
            <a:r>
              <a:rPr lang="en-US" sz="1350" b="1" i="0" dirty="0">
                <a:solidFill>
                  <a:srgbClr val="FFFFFF"/>
                </a:solidFill>
              </a:rPr>
              <a:t>JUDGMENT</a:t>
            </a:r>
          </a:p>
        </p:txBody>
      </p:sp>
      <p:sp>
        <p:nvSpPr>
          <p:cNvPr id="120" name="P120"/>
          <p:cNvSpPr/>
          <p:nvPr/>
        </p:nvSpPr>
        <p:spPr>
          <a:xfrm>
            <a:off x="566928" y="2320000"/>
            <a:ext cx="2540000" cy="1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Interpret an artifact.</a:t>
            </a:r>
          </a:p>
          <a:p>
            <a:pPr algn="ctr">
              <a:spcBef>
                <a:spcPts val="200"/>
              </a:spcBef>
              <a:buNone/>
            </a:pPr>
            <a:r>
              <a:rPr lang="en-US" sz="1200" b="0" i="0" dirty="0">
                <a:solidFill>
                  <a:srgbClr val="000000"/>
                </a:solidFill>
              </a:rPr>
              <a:t>Semantic understanding — recognizes concerns nobody mechanically encoded.</a:t>
            </a:r>
          </a:p>
        </p:txBody>
      </p:sp>
      <p:sp>
        <p:nvSpPr>
          <p:cNvPr id="130" name="L130"/>
          <p:cNvSpPr/>
          <p:nvPr/>
        </p:nvSpPr>
        <p:spPr>
          <a:xfrm>
            <a:off x="566928" y="3920000"/>
            <a:ext cx="2540000" cy="800000"/>
          </a:xfrm>
          <a:prstGeom prst="rect">
            <a:avLst/>
          </a:prstGeom>
          <a:solidFill>
            <a:srgbClr val="5C4826"/>
          </a:solidFill>
          <a:ln>
            <a:noFill/>
          </a:ln>
        </p:spPr>
        <p:txBody>
          <a:bodyPr wrap="square" lIns="91440" tIns="45720" rIns="91440" bIns="45720" anchor="ctr"/>
          <a:lstStyle/>
          <a:p>
            <a:pPr algn="ctr">
              <a:buNone/>
            </a:pPr>
            <a:r>
              <a:rPr lang="en-US" sz="1100" b="1" i="0" dirty="0">
                <a:solidFill>
                  <a:srgbClr val="FFFFFF"/>
                </a:solidFill>
              </a:rPr>
              <a:t>LIMITATION</a:t>
            </a:r>
          </a:p>
          <a:p>
            <a:pPr algn="ctr">
              <a:buNone/>
            </a:pPr>
            <a:r>
              <a:rPr lang="en-US" sz="1150" b="0" i="0" dirty="0">
                <a:solidFill>
                  <a:srgbClr val="FFFFFF"/>
                </a:solidFill>
              </a:rPr>
              <a:t>finite attention</a:t>
            </a:r>
          </a:p>
        </p:txBody>
      </p:sp>
      <p:sp>
        <p:nvSpPr>
          <p:cNvPr id="111" name="B111"/>
          <p:cNvSpPr/>
          <p:nvPr/>
        </p:nvSpPr>
        <p:spPr>
          <a:xfrm>
            <a:off x="3302000" y="1420000"/>
            <a:ext cx="2540000" cy="80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REASONING OVER</a:t>
            </a:r>
          </a:p>
          <a:p>
            <a:pPr algn="ctr">
              <a:buNone/>
            </a:pPr>
            <a:r>
              <a:rPr lang="en-US" sz="1350" b="1" i="0" dirty="0">
                <a:solidFill>
                  <a:srgbClr val="FFFFFF"/>
                </a:solidFill>
              </a:rPr>
              <a:t>POSSIBLE BEHAVIOR</a:t>
            </a:r>
          </a:p>
        </p:txBody>
      </p:sp>
      <p:sp>
        <p:nvSpPr>
          <p:cNvPr id="121" name="P121"/>
          <p:cNvSpPr/>
          <p:nvPr/>
        </p:nvSpPr>
        <p:spPr>
          <a:xfrm>
            <a:off x="3302000" y="2320000"/>
            <a:ext cx="2540000" cy="1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Mechanically reason over a representation of possible behavior.</a:t>
            </a:r>
          </a:p>
          <a:p>
            <a:pPr algn="ctr">
              <a:spcBef>
                <a:spcPts val="200"/>
              </a:spcBef>
              <a:buNone/>
            </a:pPr>
            <a:r>
              <a:rPr lang="en-US" sz="1200" b="0" i="0" dirty="0">
                <a:solidFill>
                  <a:srgbClr val="000000"/>
                </a:solidFill>
              </a:rPr>
              <a:t>Abstract static analysis · model checking.</a:t>
            </a:r>
          </a:p>
        </p:txBody>
      </p:sp>
      <p:sp>
        <p:nvSpPr>
          <p:cNvPr id="131" name="L131"/>
          <p:cNvSpPr/>
          <p:nvPr/>
        </p:nvSpPr>
        <p:spPr>
          <a:xfrm>
            <a:off x="3302000" y="3920000"/>
            <a:ext cx="2540000" cy="800000"/>
          </a:xfrm>
          <a:prstGeom prst="rect">
            <a:avLst/>
          </a:prstGeom>
          <a:solidFill>
            <a:srgbClr val="5C4826"/>
          </a:solidFill>
          <a:ln>
            <a:noFill/>
          </a:ln>
        </p:spPr>
        <p:txBody>
          <a:bodyPr wrap="square" lIns="91440" tIns="45720" rIns="91440" bIns="45720" anchor="ctr"/>
          <a:lstStyle/>
          <a:p>
            <a:pPr algn="ctr">
              <a:buNone/>
            </a:pPr>
            <a:r>
              <a:rPr lang="en-US" sz="1100" b="1" i="0" dirty="0">
                <a:solidFill>
                  <a:srgbClr val="FFFFFF"/>
                </a:solidFill>
              </a:rPr>
              <a:t>LIMITATION</a:t>
            </a:r>
          </a:p>
          <a:p>
            <a:pPr algn="ctr">
              <a:buNone/>
            </a:pPr>
            <a:r>
              <a:rPr lang="en-US" sz="1150" b="0" i="0" dirty="0">
                <a:solidFill>
                  <a:srgbClr val="FFFFFF"/>
                </a:solidFill>
              </a:rPr>
              <a:t>the abstraction, assumptions, and bounds</a:t>
            </a:r>
          </a:p>
        </p:txBody>
      </p:sp>
      <p:sp>
        <p:nvSpPr>
          <p:cNvPr id="112" name="B112"/>
          <p:cNvSpPr/>
          <p:nvPr/>
        </p:nvSpPr>
        <p:spPr>
          <a:xfrm>
            <a:off x="6037072" y="1420000"/>
            <a:ext cx="2540000" cy="80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OBSERVING</a:t>
            </a:r>
          </a:p>
          <a:p>
            <a:pPr algn="ctr">
              <a:buNone/>
            </a:pPr>
            <a:r>
              <a:rPr lang="en-US" sz="1350" b="1" i="0" dirty="0">
                <a:solidFill>
                  <a:srgbClr val="FFFFFF"/>
                </a:solidFill>
              </a:rPr>
              <a:t>EXECUTION</a:t>
            </a:r>
          </a:p>
        </p:txBody>
      </p:sp>
      <p:sp>
        <p:nvSpPr>
          <p:cNvPr id="122" name="P122"/>
          <p:cNvSpPr/>
          <p:nvPr/>
        </p:nvSpPr>
        <p:spPr>
          <a:xfrm>
            <a:off x="6037072" y="2320000"/>
            <a:ext cx="2540000" cy="1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Run the software and observe concrete behavior.</a:t>
            </a:r>
          </a:p>
          <a:p>
            <a:pPr algn="ctr">
              <a:spcBef>
                <a:spcPts val="200"/>
              </a:spcBef>
              <a:buNone/>
            </a:pPr>
            <a:r>
              <a:rPr lang="en-US" sz="1200" b="0" i="0" dirty="0">
                <a:solidFill>
                  <a:srgbClr val="000000"/>
                </a:solidFill>
              </a:rPr>
              <a:t>Dynamic testing, from unit suites to production.</a:t>
            </a:r>
          </a:p>
        </p:txBody>
      </p:sp>
      <p:sp>
        <p:nvSpPr>
          <p:cNvPr id="132" name="L132"/>
          <p:cNvSpPr/>
          <p:nvPr/>
        </p:nvSpPr>
        <p:spPr>
          <a:xfrm>
            <a:off x="6037072" y="3920000"/>
            <a:ext cx="2540000" cy="800000"/>
          </a:xfrm>
          <a:prstGeom prst="rect">
            <a:avLst/>
          </a:prstGeom>
          <a:solidFill>
            <a:srgbClr val="5C4826"/>
          </a:solidFill>
          <a:ln>
            <a:noFill/>
          </a:ln>
        </p:spPr>
        <p:txBody>
          <a:bodyPr wrap="square" lIns="91440" tIns="45720" rIns="91440" bIns="45720" anchor="ctr"/>
          <a:lstStyle/>
          <a:p>
            <a:pPr algn="ctr">
              <a:buNone/>
            </a:pPr>
            <a:r>
              <a:rPr lang="en-US" sz="1100" b="1" i="0" dirty="0">
                <a:solidFill>
                  <a:srgbClr val="FFFFFF"/>
                </a:solidFill>
              </a:rPr>
              <a:t>LIMITATION</a:t>
            </a:r>
          </a:p>
          <a:p>
            <a:pPr algn="ctr">
              <a:buNone/>
            </a:pPr>
            <a:r>
              <a:rPr lang="en-US" sz="1150" b="0" i="0" dirty="0">
                <a:solidFill>
                  <a:srgbClr val="FFFFFF"/>
                </a:solidFill>
              </a:rPr>
              <a:t>only selected executions, under selected conditions</a:t>
            </a:r>
          </a:p>
        </p:txBody>
      </p:sp>
      <p:sp>
        <p:nvSpPr>
          <p:cNvPr id="140" name="E140"/>
          <p:cNvSpPr/>
          <p:nvPr/>
        </p:nvSpPr>
        <p:spPr>
          <a:xfrm>
            <a:off x="566928" y="4880000"/>
            <a:ext cx="8010144"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Mechanism and scope are independent choices.</a:t>
            </a:r>
          </a:p>
          <a:p>
            <a:pPr algn="ctr">
              <a:buNone/>
            </a:pPr>
            <a:r>
              <a:rPr lang="en-US" sz="125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Three ways engineers come to know things about software — the map for this section.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Observing execution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870000"/>
            <a:ext cx="1810512" cy="56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CHOOSE INPUTS</a:t>
            </a:r>
          </a:p>
        </p:txBody>
      </p:sp>
      <p:cxnSp>
        <p:nvCxnSpPr>
          <p:cNvPr id="105" name="C105"/>
          <p:cNvCxnSpPr/>
          <p:nvPr/>
        </p:nvCxnSpPr>
        <p:spPr>
          <a:xfrm>
            <a:off x="2422440" y="1150000"/>
            <a:ext cx="166032" cy="0"/>
          </a:xfrm>
          <a:prstGeom prst="straightConnector1">
            <a:avLst/>
          </a:prstGeom>
          <a:ln w="28575">
            <a:solidFill>
              <a:srgbClr val="8E6F3E"/>
            </a:solidFill>
            <a:tailEnd type="triangle" w="med" len="med"/>
          </a:ln>
        </p:spPr>
      </p:cxnSp>
      <p:sp>
        <p:nvSpPr>
          <p:cNvPr id="101" name="B101"/>
          <p:cNvSpPr/>
          <p:nvPr/>
        </p:nvSpPr>
        <p:spPr>
          <a:xfrm>
            <a:off x="2633472" y="870000"/>
            <a:ext cx="1810512" cy="56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RUN</a:t>
            </a:r>
          </a:p>
        </p:txBody>
      </p:sp>
      <p:cxnSp>
        <p:nvCxnSpPr>
          <p:cNvPr id="106" name="C106"/>
          <p:cNvCxnSpPr/>
          <p:nvPr/>
        </p:nvCxnSpPr>
        <p:spPr>
          <a:xfrm>
            <a:off x="4488984" y="1150000"/>
            <a:ext cx="166032" cy="0"/>
          </a:xfrm>
          <a:prstGeom prst="straightConnector1">
            <a:avLst/>
          </a:prstGeom>
          <a:ln w="28575">
            <a:solidFill>
              <a:srgbClr val="8E6F3E"/>
            </a:solidFill>
            <a:tailEnd type="triangle" w="med" len="med"/>
          </a:ln>
        </p:spPr>
      </p:cxnSp>
      <p:sp>
        <p:nvSpPr>
          <p:cNvPr id="102" name="B102"/>
          <p:cNvSpPr/>
          <p:nvPr/>
        </p:nvSpPr>
        <p:spPr>
          <a:xfrm>
            <a:off x="4700016" y="870000"/>
            <a:ext cx="1810512" cy="56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OBSERVE</a:t>
            </a:r>
          </a:p>
        </p:txBody>
      </p:sp>
      <p:cxnSp>
        <p:nvCxnSpPr>
          <p:cNvPr id="107" name="C107"/>
          <p:cNvCxnSpPr/>
          <p:nvPr/>
        </p:nvCxnSpPr>
        <p:spPr>
          <a:xfrm>
            <a:off x="6555528" y="1150000"/>
            <a:ext cx="166032" cy="0"/>
          </a:xfrm>
          <a:prstGeom prst="straightConnector1">
            <a:avLst/>
          </a:prstGeom>
          <a:ln w="28575">
            <a:solidFill>
              <a:srgbClr val="8E6F3E"/>
            </a:solidFill>
            <a:tailEnd type="triangle" w="med" len="med"/>
          </a:ln>
        </p:spPr>
      </p:cxnSp>
      <p:sp>
        <p:nvSpPr>
          <p:cNvPr id="103" name="B103"/>
          <p:cNvSpPr/>
          <p:nvPr/>
        </p:nvSpPr>
        <p:spPr>
          <a:xfrm>
            <a:off x="6766560" y="870000"/>
            <a:ext cx="1810512" cy="56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ORACLE</a:t>
            </a:r>
          </a:p>
        </p:txBody>
      </p:sp>
      <p:sp>
        <p:nvSpPr>
          <p:cNvPr id="110" name="P110"/>
          <p:cNvSpPr/>
          <p:nvPr/>
        </p:nvSpPr>
        <p:spPr>
          <a:xfrm>
            <a:off x="566928" y="1580000"/>
            <a:ext cx="4600000" cy="1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00" b="1" i="0" dirty="0">
                <a:solidFill>
                  <a:srgbClr val="5C4826"/>
                </a:solidFill>
              </a:rPr>
              <a:t>TESTING NEED NOT RUN IN THE REAL ENVIRONMENT</a:t>
            </a:r>
          </a:p>
          <a:p>
            <a:pPr algn="l">
              <a:spcBef>
                <a:spcPts val="60"/>
              </a:spcBef>
              <a:buNone/>
            </a:pPr>
            <a:r>
              <a:rPr lang="en-US" sz="1150" b="0" i="0" dirty="0">
                <a:solidFill>
                  <a:srgbClr val="000000"/>
                </a:solidFill>
              </a:rPr>
              <a:t>network connection  →  servers on localhost</a:t>
            </a:r>
          </a:p>
          <a:p>
            <a:pPr algn="l">
              <a:spcBef>
                <a:spcPts val="60"/>
              </a:spcBef>
              <a:buNone/>
            </a:pPr>
            <a:r>
              <a:rPr lang="en-US" sz="1150" b="0" i="0" dirty="0">
                <a:solidFill>
                  <a:srgbClr val="000000"/>
                </a:solidFill>
              </a:rPr>
              <a:t>message queue  →  filesystem-backed substitute</a:t>
            </a:r>
          </a:p>
          <a:p>
            <a:pPr algn="l">
              <a:spcBef>
                <a:spcPts val="60"/>
              </a:spcBef>
              <a:buNone/>
            </a:pPr>
            <a:r>
              <a:rPr lang="en-US" sz="1150" b="0" i="0" dirty="0">
                <a:solidFill>
                  <a:srgbClr val="000000"/>
                </a:solidFill>
              </a:rPr>
              <a:t>external service  →  local simulated service</a:t>
            </a:r>
          </a:p>
          <a:p>
            <a:pPr algn="l">
              <a:spcBef>
                <a:spcPts val="60"/>
              </a:spcBef>
              <a:buNone/>
            </a:pPr>
            <a:r>
              <a:rPr lang="en-US" sz="1150" b="0" i="0" dirty="0">
                <a:solidFill>
                  <a:srgbClr val="000000"/>
                </a:solidFill>
              </a:rPr>
              <a:t>workload  →  generated requests</a:t>
            </a:r>
          </a:p>
          <a:p>
            <a:pPr algn="l">
              <a:spcBef>
                <a:spcPts val="60"/>
              </a:spcBef>
              <a:buNone/>
            </a:pPr>
            <a:r>
              <a:rPr lang="en-US" sz="1150" b="0" i="0" dirty="0">
                <a:solidFill>
                  <a:srgbClr val="000000"/>
                </a:solidFill>
              </a:rPr>
              <a:t>failures / time  →  controlled simulation</a:t>
            </a:r>
          </a:p>
        </p:txBody>
      </p:sp>
      <p:sp>
        <p:nvSpPr>
          <p:cNvPr id="111" name="P111"/>
          <p:cNvSpPr/>
          <p:nvPr/>
        </p:nvSpPr>
        <p:spPr>
          <a:xfrm>
            <a:off x="5330000" y="1580000"/>
            <a:ext cx="3247072" cy="8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SIMULATION BUYS</a:t>
            </a:r>
          </a:p>
          <a:p>
            <a:pPr algn="ctr">
              <a:buNone/>
            </a:pPr>
            <a:r>
              <a:rPr lang="en-US" sz="1100" b="0" i="0" dirty="0">
                <a:solidFill>
                  <a:srgbClr val="000000"/>
                </a:solidFill>
              </a:rPr>
              <a:t>speed · repeatability · controllability · lower cost</a:t>
            </a:r>
          </a:p>
        </p:txBody>
      </p:sp>
      <p:sp>
        <p:nvSpPr>
          <p:cNvPr id="112" name="E112"/>
          <p:cNvSpPr/>
          <p:nvPr/>
        </p:nvSpPr>
        <p:spPr>
          <a:xfrm>
            <a:off x="5330000" y="2520000"/>
            <a:ext cx="3247072" cy="8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150" b="1" i="0" dirty="0">
                <a:solidFill>
                  <a:srgbClr val="5C4826"/>
                </a:solidFill>
              </a:rPr>
              <a:t>FIDELITY BUYS</a:t>
            </a:r>
          </a:p>
          <a:p>
            <a:pPr algn="ctr">
              <a:buNone/>
            </a:pPr>
            <a:r>
              <a:rPr lang="en-US" sz="1100" b="0" i="0" dirty="0">
                <a:solidFill>
                  <a:srgbClr val="000000"/>
                </a:solidFill>
              </a:rPr>
              <a:t>evidence about behavior under the actual delivery conditions</a:t>
            </a:r>
          </a:p>
        </p:txBody>
      </p:sp>
      <p:sp>
        <p:nvSpPr>
          <p:cNvPr id="120" name="T120"/>
          <p:cNvSpPr txBox="1"/>
          <p:nvPr/>
        </p:nvSpPr>
        <p:spPr>
          <a:xfrm>
            <a:off x="566928" y="3540000"/>
            <a:ext cx="1700000" cy="300000"/>
          </a:xfrm>
          <a:prstGeom prst="rect">
            <a:avLst/>
          </a:prstGeom>
          <a:noFill/>
          <a:ln>
            <a:noFill/>
          </a:ln>
        </p:spPr>
        <p:txBody>
          <a:bodyPr wrap="square" lIns="0" tIns="0" rIns="0" bIns="0" anchor="t"/>
          <a:lstStyle/>
          <a:p>
            <a:pPr algn="l">
              <a:buNone/>
            </a:pPr>
            <a:r>
              <a:rPr lang="en-US" sz="1150" b="1" i="0" dirty="0">
                <a:solidFill>
                  <a:srgbClr val="5C4826"/>
                </a:solidFill>
              </a:rPr>
              <a:t>MORE SIMULATED</a:t>
            </a:r>
          </a:p>
        </p:txBody>
      </p:sp>
      <p:cxnSp>
        <p:nvCxnSpPr>
          <p:cNvPr id="121" name="C121"/>
          <p:cNvCxnSpPr/>
          <p:nvPr/>
        </p:nvCxnSpPr>
        <p:spPr>
          <a:xfrm>
            <a:off x="2400000" y="3660000"/>
            <a:ext cx="4300000" cy="0"/>
          </a:xfrm>
          <a:prstGeom prst="straightConnector1">
            <a:avLst/>
          </a:prstGeom>
          <a:ln w="28575">
            <a:solidFill>
              <a:srgbClr val="8E6F3E"/>
            </a:solidFill>
            <a:tailEnd type="triangle" w="med" len="med"/>
          </a:ln>
        </p:spPr>
      </p:cxnSp>
      <p:sp>
        <p:nvSpPr>
          <p:cNvPr id="122" name="T122"/>
          <p:cNvSpPr txBox="1"/>
          <p:nvPr/>
        </p:nvSpPr>
        <p:spPr>
          <a:xfrm>
            <a:off x="6880000" y="3540000"/>
            <a:ext cx="1700000" cy="300000"/>
          </a:xfrm>
          <a:prstGeom prst="rect">
            <a:avLst/>
          </a:prstGeom>
          <a:noFill/>
          <a:ln>
            <a:noFill/>
          </a:ln>
        </p:spPr>
        <p:txBody>
          <a:bodyPr wrap="square" lIns="0" tIns="0" rIns="0" bIns="0" anchor="t"/>
          <a:lstStyle/>
          <a:p>
            <a:pPr algn="l">
              <a:buNone/>
            </a:pPr>
            <a:r>
              <a:rPr lang="en-US" sz="1150" b="1" i="0" dirty="0">
                <a:solidFill>
                  <a:srgbClr val="5C4826"/>
                </a:solidFill>
              </a:rPr>
              <a:t>MORE REAL</a:t>
            </a:r>
          </a:p>
        </p:txBody>
      </p:sp>
      <p:sp>
        <p:nvSpPr>
          <p:cNvPr id="123" name="T123"/>
          <p:cNvSpPr txBox="1"/>
          <p:nvPr/>
        </p:nvSpPr>
        <p:spPr>
          <a:xfrm>
            <a:off x="566928" y="3920000"/>
            <a:ext cx="8010144" cy="350000"/>
          </a:xfrm>
          <a:prstGeom prst="rect">
            <a:avLst/>
          </a:prstGeom>
          <a:noFill/>
          <a:ln>
            <a:noFill/>
          </a:ln>
        </p:spPr>
        <p:txBody>
          <a:bodyPr wrap="square" lIns="0" tIns="0" rIns="0" bIns="0" anchor="t"/>
          <a:lstStyle/>
          <a:p>
            <a:pPr algn="ctr">
              <a:buNone/>
            </a:pPr>
            <a:r>
              <a:rPr lang="en-US" sz="1250" b="0" i="1" dirty="0">
                <a:solidFill>
                  <a:srgbClr val="555960"/>
                </a:solidFill>
              </a:rPr>
              <a:t>Simulation makes executions cheaper to obtain — but the evidence inherits the differences between the simulated and real environments.</a:t>
            </a:r>
          </a:p>
        </p:txBody>
      </p:sp>
      <p:sp>
        <p:nvSpPr>
          <p:cNvPr id="130" name="E130"/>
          <p:cNvSpPr/>
          <p:nvPr/>
        </p:nvSpPr>
        <p:spPr>
          <a:xfrm>
            <a:off x="566928" y="438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200" b="1" i="0" dirty="0">
                <a:solidFill>
                  <a:srgbClr val="5C4826"/>
                </a:solidFill>
              </a:rPr>
              <a:t>THINK · PAIR · SHARE</a:t>
            </a:r>
          </a:p>
          <a:p>
            <a:pPr algn="ctr">
              <a:buNone/>
            </a:pPr>
            <a:r>
              <a:rPr lang="en-US" sz="135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Testing observes executions. It does not observe the executions we didn’t run.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0"/>
                                        </p:tgtEl>
                                        <p:attrNameLst>
                                          <p:attrName>style.visibility</p:attrName>
                                        </p:attrNameLst>
                                      </p:cBhvr>
                                      <p:to>
                                        <p:strVal val="visible"/>
                                      </p:to>
                                    </p:set>
                                    <p:animEffect transition="in" filter="fade">
                                      <p:cBhvr>
                                        <p:cTn id="20" dur="500"/>
                                        <p:tgtEl>
                                          <p:spTgt spid="12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1"/>
                                        </p:tgtEl>
                                        <p:attrNameLst>
                                          <p:attrName>style.visibility</p:attrName>
                                        </p:attrNameLst>
                                      </p:cBhvr>
                                      <p:to>
                                        <p:strVal val="visible"/>
                                      </p:to>
                                    </p:set>
                                    <p:animEffect transition="in" filter="fade">
                                      <p:cBhvr>
                                        <p:cTn id="23" dur="500"/>
                                        <p:tgtEl>
                                          <p:spTgt spid="12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3"/>
                                        </p:tgtEl>
                                        <p:attrNameLst>
                                          <p:attrName>style.visibility</p:attrName>
                                        </p:attrNameLst>
                                      </p:cBhvr>
                                      <p:to>
                                        <p:strVal val="visible"/>
                                      </p:to>
                                    </p:set>
                                    <p:animEffect transition="in" filter="fade">
                                      <p:cBhvr>
                                        <p:cTn id="29"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0"/>
                                        </p:tgtEl>
                                        <p:attrNameLst>
                                          <p:attrName>style.visibility</p:attrName>
                                        </p:attrNameLst>
                                      </p:cBhvr>
                                      <p:to>
                                        <p:strVal val="visible"/>
                                      </p:to>
                                    </p:set>
                                    <p:animEffect transition="in" filter="fade">
                                      <p:cBhvr>
                                        <p:cTn id="34"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Static analysis reasons over an abstraction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P100"/>
          <p:cNvSpPr/>
          <p:nvPr/>
        </p:nvSpPr>
        <p:spPr>
          <a:xfrm>
            <a:off x="566928" y="900000"/>
            <a:ext cx="3895344" cy="13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1300" b="0" i="0" dirty="0">
                <a:solidFill>
                  <a:srgbClr val="5C4826"/>
                </a:solidFill>
                <a:latin typeface="Consolas"/>
              </a:rPr>
              <a:t>x = request.amount</a:t>
            </a:r>
          </a:p>
          <a:p>
            <a:pPr algn="l">
              <a:buNone/>
            </a:pPr>
            <a:r>
              <a:rPr lang="en-US" sz="1300" b="0" i="0" dirty="0">
                <a:solidFill>
                  <a:srgbClr val="5C4826"/>
                </a:solidFill>
                <a:latin typeface="Consolas"/>
              </a:rPr>
              <a:t>if x &gt; ACCOUNT_LIMIT:</a:t>
            </a:r>
          </a:p>
          <a:p>
            <a:pPr algn="l">
              <a:buNone/>
            </a:pPr>
            <a:r>
              <a:rPr lang="en-US" sz="1300" b="0" i="0" dirty="0">
                <a:solidFill>
                  <a:srgbClr val="5C4826"/>
                </a:solidFill>
                <a:latin typeface="Consolas"/>
              </a:rPr>
              <a:t xml:space="preserve">    reject()</a:t>
            </a:r>
          </a:p>
          <a:p>
            <a:pPr algn="l">
              <a:buNone/>
            </a:pPr>
            <a:r>
              <a:rPr lang="en-US" sz="1300" b="0" i="0" dirty="0">
                <a:solidFill>
                  <a:srgbClr val="5C4826"/>
                </a:solidFill>
                <a:latin typeface="Consolas"/>
              </a:rPr>
              <a:t>charge(x)</a:t>
            </a:r>
          </a:p>
        </p:txBody>
      </p:sp>
      <p:sp>
        <p:nvSpPr>
          <p:cNvPr id="101" name="E101"/>
          <p:cNvSpPr/>
          <p:nvPr/>
        </p:nvSpPr>
        <p:spPr>
          <a:xfrm>
            <a:off x="4681728" y="900000"/>
            <a:ext cx="3895344" cy="13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250" b="1" i="0" dirty="0">
                <a:solidFill>
                  <a:srgbClr val="5C4826"/>
                </a:solidFill>
              </a:rPr>
              <a:t>THE CONSEQUENTIAL QUESTION</a:t>
            </a:r>
          </a:p>
          <a:p>
            <a:pPr algn="ctr">
              <a:buNone/>
            </a:pPr>
            <a:r>
              <a:rPr lang="en-US" sz="1350" b="0" i="0" dirty="0">
                <a:solidFill>
                  <a:srgbClr val="000000"/>
                </a:solidFill>
              </a:rPr>
              <a:t>Can execution reach charge(x) with an amount above the limit?</a:t>
            </a:r>
          </a:p>
        </p:txBody>
      </p:sp>
      <p:sp>
        <p:nvSpPr>
          <p:cNvPr id="110" name="P110"/>
          <p:cNvSpPr/>
          <p:nvPr/>
        </p:nvSpPr>
        <p:spPr>
          <a:xfrm>
            <a:off x="566928" y="24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1" i="0" dirty="0">
                <a:solidFill>
                  <a:srgbClr val="5C4826"/>
                </a:solidFill>
              </a:rPr>
              <a:t>DYNAMIC TESTING</a:t>
            </a:r>
          </a:p>
          <a:p>
            <a:pPr algn="ctr">
              <a:buNone/>
            </a:pPr>
            <a:r>
              <a:rPr lang="en-US" sz="1250" b="0" i="0" dirty="0">
                <a:solidFill>
                  <a:srgbClr val="000000"/>
                </a:solidFill>
              </a:rPr>
              <a:t>chooses particular values of x and runs them</a:t>
            </a:r>
          </a:p>
        </p:txBody>
      </p:sp>
      <p:sp>
        <p:nvSpPr>
          <p:cNvPr id="111" name="P111"/>
          <p:cNvSpPr/>
          <p:nvPr/>
        </p:nvSpPr>
        <p:spPr>
          <a:xfrm>
            <a:off x="4681728" y="24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1" i="0" dirty="0">
                <a:solidFill>
                  <a:srgbClr val="5C4826"/>
                </a:solidFill>
              </a:rPr>
              <a:t>STATIC ANALYSIS</a:t>
            </a:r>
          </a:p>
          <a:p>
            <a:pPr algn="ctr">
              <a:buNone/>
            </a:pPr>
            <a:r>
              <a:rPr lang="en-US" sz="1250" b="0" i="0" dirty="0">
                <a:solidFill>
                  <a:srgbClr val="000000"/>
                </a:solidFill>
              </a:rPr>
              <a:t>builds an abstraction of the possible values and paths, and reasons over all of them at once</a:t>
            </a:r>
          </a:p>
        </p:txBody>
      </p:sp>
      <p:sp>
        <p:nvSpPr>
          <p:cNvPr id="120" name="P120"/>
          <p:cNvSpPr/>
          <p:nvPr/>
        </p:nvSpPr>
        <p:spPr>
          <a:xfrm>
            <a:off x="566928" y="3600000"/>
            <a:ext cx="8010144" cy="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1" i="0" dirty="0">
                <a:solidFill>
                  <a:srgbClr val="5C4826"/>
                </a:solidFill>
              </a:rPr>
              <a:t>THE COST OF ABSTRACTION</a:t>
            </a:r>
          </a:p>
          <a:p>
            <a:pPr algn="ctr">
              <a:buNone/>
            </a:pPr>
            <a:r>
              <a:rPr lang="en-US" sz="1200" b="0" i="0" dirty="0">
                <a:solidFill>
                  <a:srgbClr val="000000"/>
                </a:solidFill>
              </a:rPr>
              <a:t>Startup validates the config file, so loadConfig() never returns null — yet the analyzer reports “possible null dereference.” Nothing in the code says what you know: a false positive.</a:t>
            </a:r>
          </a:p>
        </p:txBody>
      </p:sp>
      <p:sp>
        <p:nvSpPr>
          <p:cNvPr id="130" name="E130"/>
          <p:cNvSpPr/>
          <p:nvPr/>
        </p:nvSpPr>
        <p:spPr>
          <a:xfrm>
            <a:off x="566928" y="4650000"/>
            <a:ext cx="8010144" cy="7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300" b="1" i="0" dirty="0">
                <a:solidFill>
                  <a:srgbClr val="5C4826"/>
                </a:solidFill>
              </a:rPr>
              <a:t>Sound for the modeled property: misses no real violation the abstraction represents — but may report impossible ones.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Static analysis trades concrete execution for mechanical reasoning over an abstraction.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0"/>
                                        </p:tgtEl>
                                        <p:attrNameLst>
                                          <p:attrName>style.visibility</p:attrName>
                                        </p:attrNameLst>
                                      </p:cBhvr>
                                      <p:to>
                                        <p:strVal val="visible"/>
                                      </p:to>
                                    </p:set>
                                    <p:animEffect transition="in" filter="fade">
                                      <p:cBhvr>
                                        <p:cTn id="20" dur="500"/>
                                        <p:tgtEl>
                                          <p:spTgt spid="12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pic>
        <p:nvPicPr>
          <p:cNvPr id="400" name="Board1" descr="Printed circuit board assembly, PAY-CTRL rev C"/>
          <p:cNvPicPr>
            <a:picLocks noChangeAspect="1"/>
          </p:cNvPicPr>
          <p:nvPr/>
        </p:nvPicPr>
        <p:blipFill>
          <a:blip r:embed="rId10"/>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10"/>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10"/>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10"/>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10"/>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10"/>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11"/>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10"/>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10"/>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10"/>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10"/>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10"/>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10896"/>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Row 2, column 3 — the JP2 link is missing. Every other board carries three.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RULE: the payment ID must be recorded BEFORE the provider is charged.</a:t>
            </a:r>
          </a:p>
          <a:p>
            <a:pPr algn="ctr">
              <a:buNone/>
            </a:pPr>
            <a:r>
              <a:rPr lang="en-US" sz="1250" b="0" i="1" dirty="0">
                <a:solidFill>
                  <a:srgbClr val="57534E"/>
                </a:solidFill>
              </a:rPr>
              <a:t>A retry must never charge twice.</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1</a:t>
            </a:r>
            <a:r>
              <a:rPr lang="en-US" sz="1050" b="0" i="0" dirty="0">
                <a:solidFill>
                  <a:srgbClr val="000000"/>
                </a:solidFill>
                <a:latin typeface="Consolas"/>
              </a:rPr>
              <a:t xml:space="preserve">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2</a:t>
            </a:r>
            <a:r>
              <a:rPr lang="en-US" sz="1050" b="0" i="0" dirty="0">
                <a:solidFill>
                  <a:srgbClr val="000000"/>
                </a:solidFill>
                <a:latin typeface="Consolas"/>
              </a:rPr>
              <a:t xml:space="preserve">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3</a:t>
            </a:r>
            <a:r>
              <a:rPr lang="en-US" sz="1050" b="0" i="0" dirty="0">
                <a:solidFill>
                  <a:srgbClr val="000000"/>
                </a:solidFill>
                <a:latin typeface="Consolas"/>
              </a:rPr>
              <a:t xml:space="preserve">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4</a:t>
            </a:r>
            <a:r>
              <a:rPr lang="en-US" sz="1050" b="0" i="0" dirty="0">
                <a:solidFill>
                  <a:srgbClr val="000000"/>
                </a:solidFill>
                <a:latin typeface="Consolas"/>
              </a:rPr>
              <a:t xml:space="preserve">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5</a:t>
            </a:r>
            <a:r>
              <a:rPr lang="en-US" sz="1050" b="0" i="0" dirty="0">
                <a:solidFill>
                  <a:srgbClr val="000000"/>
                </a:solidFill>
                <a:latin typeface="Consolas"/>
              </a:rPr>
              <a:t xml:space="preserve">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6</a:t>
            </a:r>
            <a:r>
              <a:rPr lang="en-US" sz="1050" b="0" i="0" dirty="0">
                <a:solidFill>
                  <a:srgbClr val="000000"/>
                </a:solidFill>
                <a:latin typeface="Consolas"/>
              </a:rPr>
              <a:t xml:space="preserve">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7</a:t>
            </a:r>
            <a:r>
              <a:rPr lang="en-US" sz="1050" b="0" i="0" dirty="0">
                <a:solidFill>
                  <a:srgbClr val="000000"/>
                </a:solidFill>
                <a:latin typeface="Consolas"/>
              </a:rPr>
              <a:t xml:space="preserve">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8</a:t>
            </a:r>
            <a:r>
              <a:rPr lang="en-US" sz="1050" b="0" i="0" dirty="0">
                <a:solidFill>
                  <a:srgbClr val="000000"/>
                </a:solidFill>
                <a:latin typeface="Consolas"/>
              </a:rPr>
              <a:t xml:space="preserve">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9</a:t>
            </a:r>
            <a:r>
              <a:rPr lang="en-US" sz="1050" b="0" i="0" dirty="0">
                <a:solidFill>
                  <a:srgbClr val="000000"/>
                </a:solidFill>
                <a:latin typeface="Consolas"/>
              </a:rPr>
              <a:t xml:space="preserve">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10</a:t>
            </a:r>
            <a:r>
              <a:rPr lang="en-US" sz="1050" b="0" i="0" dirty="0">
                <a:solidFill>
                  <a:srgbClr val="000000"/>
                </a:solidFill>
                <a:latin typeface="Consolas"/>
              </a:rPr>
              <a:t xml:space="preserve">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11</a:t>
            </a:r>
            <a:r>
              <a:rPr lang="en-US" sz="1050" b="0" i="0" dirty="0">
                <a:solidFill>
                  <a:srgbClr val="000000"/>
                </a:solidFill>
                <a:latin typeface="Consolas"/>
              </a:rPr>
              <a:t xml:space="preserve">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12</a:t>
            </a:r>
            <a:r>
              <a:rPr lang="en-US" sz="1050" b="0" i="0" dirty="0">
                <a:solidFill>
                  <a:srgbClr val="000000"/>
                </a:solidFill>
                <a:latin typeface="Consolas"/>
              </a:rPr>
              <a:t xml:space="preserve">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13</a:t>
            </a:r>
            <a:r>
              <a:rPr lang="en-US" sz="1050" b="0" i="0" dirty="0">
                <a:solidFill>
                  <a:srgbClr val="000000"/>
                </a:solidFill>
                <a:latin typeface="Consolas"/>
              </a:rPr>
              <a:t xml:space="preserve">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14</a:t>
            </a:r>
            <a:r>
              <a:rPr lang="en-US" sz="1050" b="0" i="0" dirty="0">
                <a:solidFill>
                  <a:srgbClr val="000000"/>
                </a:solidFill>
                <a:latin typeface="Consolas"/>
              </a:rPr>
              <a:t xml:space="preserve">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15</a:t>
            </a:r>
            <a:r>
              <a:rPr lang="en-US" sz="1050" b="0" i="0" dirty="0">
                <a:solidFill>
                  <a:srgbClr val="000000"/>
                </a:solidFill>
                <a:latin typeface="Consolas"/>
              </a:rPr>
              <a:t xml:space="preserve">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16</a:t>
            </a:r>
            <a:r>
              <a:rPr lang="en-US" sz="1050" b="0" i="0" dirty="0">
                <a:solidFill>
                  <a:srgbClr val="000000"/>
                </a:solidFill>
                <a:latin typeface="Consolas"/>
              </a:rPr>
              <a:t xml:space="preserve">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17</a:t>
            </a:r>
            <a:r>
              <a:rPr lang="en-US" sz="1050" b="0" i="0" dirty="0">
                <a:solidFill>
                  <a:srgbClr val="000000"/>
                </a:solidFill>
                <a:latin typeface="Consolas"/>
              </a:rPr>
              <a:t xml:space="preserve">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18</a:t>
            </a:r>
            <a:r>
              <a:rPr lang="en-US" sz="1050" b="0" i="0" dirty="0">
                <a:solidFill>
                  <a:srgbClr val="000000"/>
                </a:solidFill>
                <a:latin typeface="Consolas"/>
              </a:rPr>
              <a:t xml:space="preserve">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19</a:t>
            </a:r>
            <a:r>
              <a:rPr lang="en-US" sz="1050" b="0" i="0" dirty="0">
                <a:solidFill>
                  <a:srgbClr val="000000"/>
                </a:solidFill>
                <a:latin typeface="Consolas"/>
              </a:rPr>
              <a:t xml:space="preserve">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20</a:t>
            </a:r>
            <a:r>
              <a:rPr lang="en-US" sz="1050" b="0" i="0" dirty="0">
                <a:solidFill>
                  <a:srgbClr val="000000"/>
                </a:solidFill>
                <a:latin typeface="Consolas"/>
              </a:rPr>
              <a:t xml:space="preserve">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21</a:t>
            </a:r>
            <a:r>
              <a:rPr lang="en-US" sz="1050" b="0" i="0" dirty="0">
                <a:solidFill>
                  <a:srgbClr val="000000"/>
                </a:solidFill>
                <a:latin typeface="Consolas"/>
              </a:rPr>
              <a:t xml:space="preserve">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22</a:t>
            </a:r>
            <a:r>
              <a:rPr lang="en-US" sz="1050" b="0" i="0" dirty="0">
                <a:solidFill>
                  <a:srgbClr val="000000"/>
                </a:solidFill>
                <a:latin typeface="Consolas"/>
              </a:rPr>
              <a:t xml:space="preserve">      return receipt</a:t>
            </a:r>
          </a:p>
        </p:txBody>
      </p:sp>
      <p:sp>
        <p:nvSpPr>
          <p:cNvPr id="501" name="RevealCaption"/>
          <p:cNvSpPr/>
          <p:nvPr/>
        </p:nvSpPr>
        <p:spPr>
          <a:xfrm>
            <a:off x="566928" y="5266944"/>
            <a:ext cx="8010144" cy="512064"/>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Lines 16–17 are inverted — charged first, recorded second.</a:t>
            </a:r>
          </a:p>
          <a:p>
            <a:pPr algn="ctr">
              <a:buNone/>
            </a:pPr>
            <a:r>
              <a:rPr lang="en-US" sz="1200" b="0" i="1" dirty="0">
                <a:solidFill>
                  <a:srgbClr val="57534E"/>
                </a:solidFill>
              </a:rPr>
              <a:t>The lock and duplicate check make it look idempotent.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  MAGE Moment: human attention is not scalable enforcement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1005840" y="914400"/>
            <a:ext cx="2560320" cy="64008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12 artifacts · 1 defect</a:t>
            </a:r>
          </a:p>
        </p:txBody>
      </p:sp>
      <p:cxnSp>
        <p:nvCxnSpPr>
          <p:cNvPr id="101" name="C101"/>
          <p:cNvCxnSpPr/>
          <p:nvPr/>
        </p:nvCxnSpPr>
        <p:spPr>
          <a:xfrm>
            <a:off x="3657600" y="1234440"/>
            <a:ext cx="1783080" cy="0"/>
          </a:xfrm>
          <a:prstGeom prst="straightConnector1">
            <a:avLst/>
          </a:prstGeom>
          <a:ln w="38100">
            <a:solidFill>
              <a:srgbClr val="8E6F3E"/>
            </a:solidFill>
            <a:tailEnd type="triangle" w="med" len="med"/>
          </a:ln>
        </p:spPr>
      </p:cxnSp>
      <p:sp>
        <p:nvSpPr>
          <p:cNvPr id="102" name="B102"/>
          <p:cNvSpPr/>
          <p:nvPr/>
        </p:nvSpPr>
        <p:spPr>
          <a:xfrm>
            <a:off x="5577840" y="914400"/>
            <a:ext cx="2560320" cy="64008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10,000 artifacts · ?</a:t>
            </a:r>
          </a:p>
        </p:txBody>
      </p:sp>
      <p:sp>
        <p:nvSpPr>
          <p:cNvPr id="110" name="T110"/>
          <p:cNvSpPr txBox="1"/>
          <p:nvPr/>
        </p:nvSpPr>
        <p:spPr>
          <a:xfrm>
            <a:off x="566928" y="1691640"/>
            <a:ext cx="8010144" cy="502920"/>
          </a:xfrm>
          <a:prstGeom prst="rect">
            <a:avLst/>
          </a:prstGeom>
          <a:noFill/>
          <a:ln>
            <a:noFill/>
          </a:ln>
        </p:spPr>
        <p:txBody>
          <a:bodyPr wrap="square" lIns="0" tIns="0" rIns="0" bIns="0" anchor="t"/>
          <a:lstStyle/>
          <a:p>
            <a:pPr algn="ctr">
              <a:buNone/>
            </a:pPr>
            <a:r>
              <a:rPr lang="en-US" sz="1550" b="0" i="1" dirty="0">
                <a:solidFill>
                  <a:srgbClr val="555960"/>
                </a:solidFill>
              </a:rPr>
              <a:t>You just did it twice — by eye, then by inspection. At volume, “a human reviews everything” stops being credible assurance.</a:t>
            </a:r>
          </a:p>
        </p:txBody>
      </p:sp>
      <p:sp>
        <p:nvSpPr>
          <p:cNvPr id="120" name="P120"/>
          <p:cNvSpPr/>
          <p:nvPr/>
        </p:nvSpPr>
        <p:spPr>
          <a:xfrm>
            <a:off x="566928" y="2286000"/>
            <a:ext cx="2487168" cy="17830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00" b="1" i="0" dirty="0">
                <a:solidFill>
                  <a:srgbClr val="57534E"/>
                </a:solidFill>
              </a:rPr>
              <a:t>CONTROLLED EXPERIMENT</a:t>
            </a:r>
          </a:p>
          <a:p>
            <a:pPr algn="ctr">
              <a:spcBef>
                <a:spcPts val="120"/>
              </a:spcBef>
              <a:buNone/>
            </a:pPr>
            <a:r>
              <a:rPr lang="en-US" sz="14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21" name="P121"/>
          <p:cNvSpPr/>
          <p:nvPr/>
        </p:nvSpPr>
        <p:spPr>
          <a:xfrm>
            <a:off x="3328416" y="2286000"/>
            <a:ext cx="2487168" cy="17830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00" b="1" i="0" dirty="0">
                <a:solidFill>
                  <a:srgbClr val="57534E"/>
                </a:solidFill>
              </a:rPr>
              <a:t>HUMAN-FACTORS SYNTHESIS</a:t>
            </a:r>
          </a:p>
          <a:p>
            <a:pPr algn="ctr">
              <a:spcBef>
                <a:spcPts val="120"/>
              </a:spcBef>
              <a:buNone/>
            </a:pPr>
            <a:r>
              <a:rPr lang="en-US" sz="1400" b="0" i="0" dirty="0">
                <a:solidFill>
                  <a:srgbClr val="000000"/>
                </a:solidFill>
              </a:rPr>
              <a:t>Sustained vigilance is hard mental work: it consumes attention and produces workload and stress.</a:t>
            </a:r>
          </a:p>
          <a:p>
            <a:pPr algn="ctr">
              <a:spcBef>
                <a:spcPts val="120"/>
              </a:spcBef>
              <a:buNone/>
            </a:pPr>
            <a:r>
              <a:rPr lang="en-US" sz="1100" b="0" i="1" dirty="0">
                <a:solidFill>
                  <a:srgbClr val="78716C"/>
                </a:solidFill>
              </a:rPr>
              <a:t>Warm, Parasuraman &amp; Matthews (2008)</a:t>
            </a:r>
          </a:p>
        </p:txBody>
      </p:sp>
      <p:sp>
        <p:nvSpPr>
          <p:cNvPr id="122" name="P122"/>
          <p:cNvSpPr/>
          <p:nvPr/>
        </p:nvSpPr>
        <p:spPr>
          <a:xfrm>
            <a:off x="6089904" y="2286000"/>
            <a:ext cx="2487168" cy="17830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00" b="1" i="0" dirty="0">
                <a:solidFill>
                  <a:srgbClr val="57534E"/>
                </a:solidFill>
              </a:rPr>
              <a:t>OPERATIONAL PRACTICE</a:t>
            </a:r>
          </a:p>
          <a:p>
            <a:pPr algn="ctr">
              <a:spcBef>
                <a:spcPts val="120"/>
              </a:spcBef>
              <a:buNone/>
            </a:pPr>
            <a:r>
              <a:rPr lang="en-US" sz="1400" b="0" i="0" dirty="0">
                <a:solidFill>
                  <a:srgbClr val="000000"/>
                </a:solidFill>
              </a:rPr>
              <a:t>Screening agencies run covert tests of their own trained inspectors: professional inspection is a capacity-limited control.</a:t>
            </a:r>
          </a:p>
          <a:p>
            <a:pPr algn="ctr">
              <a:spcBef>
                <a:spcPts val="120"/>
              </a:spcBef>
              <a:buNone/>
            </a:pPr>
            <a:r>
              <a:rPr lang="en-US" sz="1100" b="0" i="1" dirty="0">
                <a:solidFill>
                  <a:srgbClr val="78716C"/>
                </a:solidFill>
              </a:rPr>
              <a:t>GAO-19-374 (2019)</a:t>
            </a:r>
          </a:p>
        </p:txBody>
      </p:sp>
      <p:sp>
        <p:nvSpPr>
          <p:cNvPr id="130" name="E130"/>
          <p:cNvSpPr/>
          <p:nvPr/>
        </p:nvSpPr>
        <p:spPr>
          <a:xfrm>
            <a:off x="566928" y="4224528"/>
            <a:ext cx="8010144" cy="96012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50" b="1" i="0" dirty="0">
                <a:solidFill>
                  <a:srgbClr val="5C4826"/>
                </a:solidFill>
              </a:rPr>
              <a:t>Spend human judgment where judgment is required.</a:t>
            </a:r>
          </a:p>
          <a:p>
            <a:pPr algn="ctr">
              <a:spcBef>
                <a:spcPts val="120"/>
              </a:spcBef>
              <a:buNone/>
            </a:pPr>
            <a:r>
              <a:rPr lang="en-US" sz="1600" b="0" i="0" dirty="0">
                <a:solidFill>
                  <a:srgbClr val="5C4826"/>
                </a:solidFill>
              </a:rPr>
              <a:t>Don’t use human attention as a substitute for scalable enforcement.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lesson is not that humans are bad validators —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2"/>
                                        </p:tgtEl>
                                        <p:attrNameLst>
                                          <p:attrName>style.visibility</p:attrName>
                                        </p:attrNameLst>
                                      </p:cBhvr>
                                      <p:to>
                                        <p:strVal val="visible"/>
                                      </p:to>
                                    </p:set>
                                    <p:animEffect transition="in" filter="fade">
                                      <p:cBhvr>
                                        <p:cTn id="21" dur="500"/>
                                        <p:tgtEl>
                                          <p:spTgt spid="1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P100"/>
          <p:cNvSpPr/>
          <p:nvPr/>
        </p:nvSpPr>
        <p:spPr>
          <a:xfrm>
            <a:off x="566928" y="920000"/>
            <a:ext cx="3895344" cy="1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50" b="1" i="0" dirty="0">
                <a:solidFill>
                  <a:srgbClr val="5C4826"/>
                </a:solidFill>
              </a:rPr>
              <a:t>OBSERVE SELECTED EXECUTIONS</a:t>
            </a:r>
          </a:p>
          <a:p>
            <a:pPr algn="ctr">
              <a:buNone/>
            </a:pPr>
            <a:r>
              <a:rPr lang="en-US" sz="1300" b="0" i="1" dirty="0">
                <a:solidFill>
                  <a:srgbClr val="555960"/>
                </a:solidFill>
              </a:rPr>
              <a:t>run the software; learn what those runs did</a:t>
            </a:r>
          </a:p>
        </p:txBody>
      </p:sp>
      <p:sp>
        <p:nvSpPr>
          <p:cNvPr id="101" name="P101"/>
          <p:cNvSpPr/>
          <p:nvPr/>
        </p:nvSpPr>
        <p:spPr>
          <a:xfrm>
            <a:off x="4681728" y="920000"/>
            <a:ext cx="3895344" cy="1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50" b="1" i="0" dirty="0">
                <a:solidFill>
                  <a:srgbClr val="5C4826"/>
                </a:solidFill>
              </a:rPr>
              <a:t>REASON OVER A REPRESENTATION OF POSSIBLE EXECUTIONS</a:t>
            </a:r>
          </a:p>
          <a:p>
            <a:pPr algn="ctr">
              <a:buNone/>
            </a:pPr>
            <a:r>
              <a:rPr lang="en-US" sz="1300" b="0" i="1" dirty="0">
                <a:solidFill>
                  <a:srgbClr val="555960"/>
                </a:solidFill>
              </a:rPr>
              <a:t>conclude about behaviors without running each one</a:t>
            </a:r>
          </a:p>
        </p:txBody>
      </p:sp>
      <p:sp>
        <p:nvSpPr>
          <p:cNvPr id="110" name="E110"/>
          <p:cNvSpPr/>
          <p:nvPr/>
        </p:nvSpPr>
        <p:spPr>
          <a:xfrm>
            <a:off x="566928" y="226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300" b="1" i="0" dirty="0">
                <a:solidFill>
                  <a:srgbClr val="5C4826"/>
                </a:solidFill>
              </a:rPr>
              <a:t>Every formal technique chooses:</a:t>
            </a:r>
          </a:p>
          <a:p>
            <a:pPr algn="ctr">
              <a:buNone/>
            </a:pPr>
            <a:r>
              <a:rPr lang="en-US" sz="1300" b="0" i="0" dirty="0">
                <a:solidFill>
                  <a:srgbClr val="000000"/>
                </a:solidFill>
              </a:rPr>
              <a:t>the representation · which behaviors it includes · the property checked · the assumptions · the bounds or approximations</a:t>
            </a:r>
          </a:p>
        </p:txBody>
      </p:sp>
      <p:sp>
        <p:nvSpPr>
          <p:cNvPr id="120" name="P120"/>
          <p:cNvSpPr/>
          <p:nvPr/>
        </p:nvSpPr>
        <p:spPr>
          <a:xfrm>
            <a:off x="566928" y="3500000"/>
            <a:ext cx="38953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ABSTRACT STATIC ANALYSIS</a:t>
            </a:r>
          </a:p>
          <a:p>
            <a:pPr algn="ctr">
              <a:buNone/>
            </a:pPr>
            <a:r>
              <a:rPr lang="en-US" sz="1250" b="0" i="0" dirty="0">
                <a:solidFill>
                  <a:srgbClr val="000000"/>
                </a:solidFill>
              </a:rPr>
              <a:t>reasons over an abstraction of possible program behavior</a:t>
            </a:r>
          </a:p>
        </p:txBody>
      </p:sp>
      <p:sp>
        <p:nvSpPr>
          <p:cNvPr id="121" name="P121"/>
          <p:cNvSpPr/>
          <p:nvPr/>
        </p:nvSpPr>
        <p:spPr>
          <a:xfrm>
            <a:off x="4681728" y="3500000"/>
            <a:ext cx="38953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MODEL CHECKING</a:t>
            </a:r>
          </a:p>
          <a:p>
            <a:pPr algn="ctr">
              <a:buNone/>
            </a:pPr>
            <a:r>
              <a:rPr lang="en-US" sz="1250" b="0" i="0" dirty="0">
                <a:solidFill>
                  <a:srgbClr val="000000"/>
                </a:solidFill>
              </a:rPr>
              <a:t>searches the behaviors admitted by an explicit model, property, and semantics — often within stated bounds</a:t>
            </a:r>
          </a:p>
        </p:txBody>
      </p:sp>
      <p:sp>
        <p:nvSpPr>
          <p:cNvPr id="130" name="T130"/>
          <p:cNvSpPr txBox="1"/>
          <p:nvPr/>
        </p:nvSpPr>
        <p:spPr>
          <a:xfrm>
            <a:off x="566928" y="4850000"/>
            <a:ext cx="8010144" cy="500000"/>
          </a:xfrm>
          <a:prstGeom prst="rect">
            <a:avLst/>
          </a:prstGeom>
          <a:noFill/>
          <a:ln>
            <a:noFill/>
          </a:ln>
        </p:spPr>
        <p:txBody>
          <a:bodyPr wrap="square" lIns="0" tIns="0" rIns="0" bIns="0" anchor="t"/>
          <a:lstStyle/>
          <a:p>
            <a:pPr algn="ctr">
              <a:buNone/>
            </a:pPr>
            <a:r>
              <a:rPr lang="en-US" sz="1300" b="0" i="1" dirty="0">
                <a:solidFill>
                  <a:srgbClr val="555960"/>
                </a:solidFill>
              </a:rPr>
              <a:t>Not a rigid taxonomy of all formal methods — a conceptual comparison for this course. The next two slides take one each.</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Strong evidence about the behaviors the representation includes — and nothing outside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2788920" y="896112"/>
            <a:ext cx="35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00" b="1" i="0" dirty="0">
                <a:solidFill>
                  <a:srgbClr val="5C4826"/>
                </a:solidFill>
                <a:latin typeface="Consolas"/>
              </a:rPr>
              <a:t>assert(balance &gt;= 0);</a:t>
            </a:r>
          </a:p>
        </p:txBody>
      </p:sp>
      <p:sp>
        <p:nvSpPr>
          <p:cNvPr id="110" name="P110"/>
          <p:cNvSpPr/>
          <p:nvPr/>
        </p:nvSpPr>
        <p:spPr>
          <a:xfrm>
            <a:off x="566928" y="1645920"/>
            <a:ext cx="3895344" cy="118872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50" b="1" i="0" dirty="0">
                <a:solidFill>
                  <a:srgbClr val="57534E"/>
                </a:solidFill>
              </a:rPr>
              <a:t>ORDINARY TESTING</a:t>
            </a:r>
          </a:p>
          <a:p>
            <a:pPr algn="ctr">
              <a:spcBef>
                <a:spcPts val="120"/>
              </a:spcBef>
              <a:buNone/>
            </a:pPr>
            <a:r>
              <a:rPr lang="en-US" sz="1500" b="0" i="0" dirty="0">
                <a:solidFill>
                  <a:srgbClr val="000000"/>
                </a:solidFill>
              </a:rPr>
              <a:t>Try some sequences of deposits and withdrawals. Did we see the assertion fail?</a:t>
            </a:r>
          </a:p>
        </p:txBody>
      </p:sp>
      <p:sp>
        <p:nvSpPr>
          <p:cNvPr id="111" name="P111"/>
          <p:cNvSpPr/>
          <p:nvPr/>
        </p:nvSpPr>
        <p:spPr>
          <a:xfrm>
            <a:off x="4681728" y="1645920"/>
            <a:ext cx="3895344" cy="118872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50" b="1" i="0" dirty="0">
                <a:solidFill>
                  <a:srgbClr val="57534E"/>
                </a:solidFill>
              </a:rPr>
              <a:t>BOUNDED MODEL CHECKING</a:t>
            </a:r>
          </a:p>
          <a:p>
            <a:pPr algn="ctr">
              <a:spcBef>
                <a:spcPts val="120"/>
              </a:spcBef>
              <a:buNone/>
            </a:pPr>
            <a:r>
              <a:rPr lang="en-US" sz="1500" b="0" i="0" dirty="0">
                <a:solidFill>
                  <a:srgbClr val="000000"/>
                </a:solidFill>
              </a:rPr>
              <a:t>Is there ANY sequence of choices, up to depth k, that makes it fail?</a:t>
            </a:r>
          </a:p>
        </p:txBody>
      </p:sp>
      <p:sp>
        <p:nvSpPr>
          <p:cNvPr id="120" name="B120"/>
          <p:cNvSpPr/>
          <p:nvPr/>
        </p:nvSpPr>
        <p:spPr>
          <a:xfrm>
            <a:off x="566928" y="3017520"/>
            <a:ext cx="3895344" cy="86868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YES → a counterexample trace</a:t>
            </a:r>
          </a:p>
          <a:p>
            <a:pPr algn="ctr">
              <a:spcBef>
                <a:spcPts val="120"/>
              </a:spcBef>
              <a:buNone/>
            </a:pPr>
            <a:r>
              <a:rPr lang="en-US" sz="1450" b="0" i="0" dirty="0">
                <a:solidFill>
                  <a:srgbClr val="FFFFFF"/>
                </a:solidFill>
              </a:rPr>
              <a:t>the exact sequence of choices that breaks it</a:t>
            </a:r>
          </a:p>
        </p:txBody>
      </p:sp>
      <p:sp>
        <p:nvSpPr>
          <p:cNvPr id="121" name="P121"/>
          <p:cNvSpPr/>
          <p:nvPr/>
        </p:nvSpPr>
        <p:spPr>
          <a:xfrm>
            <a:off x="4681728" y="3017520"/>
            <a:ext cx="3895344"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1" i="0" dirty="0">
                <a:solidFill>
                  <a:srgbClr val="000000"/>
                </a:solidFill>
              </a:rPr>
              <a:t>NO → no violation up to k</a:t>
            </a:r>
          </a:p>
          <a:p>
            <a:pPr algn="ctr">
              <a:spcBef>
                <a:spcPts val="120"/>
              </a:spcBef>
              <a:buNone/>
            </a:pPr>
            <a:r>
              <a:rPr lang="en-US" sz="1450" b="0" i="0" dirty="0">
                <a:solidFill>
                  <a:srgbClr val="000000"/>
                </a:solidFill>
              </a:rPr>
              <a:t>within the modeled behaviors and that bound</a:t>
            </a:r>
          </a:p>
        </p:txBody>
      </p:sp>
      <p:sp>
        <p:nvSpPr>
          <p:cNvPr id="130" name="T130"/>
          <p:cNvSpPr txBox="1"/>
          <p:nvPr/>
        </p:nvSpPr>
        <p:spPr>
          <a:xfrm>
            <a:off x="566928" y="4020000"/>
            <a:ext cx="8010144" cy="400000"/>
          </a:xfrm>
          <a:prstGeom prst="rect">
            <a:avLst/>
          </a:prstGeom>
          <a:noFill/>
          <a:ln>
            <a:noFill/>
          </a:ln>
        </p:spPr>
        <p:txBody>
          <a:bodyPr wrap="square" lIns="0" tIns="0" rIns="0" bIns="0" anchor="t"/>
          <a:lstStyle/>
          <a:p>
            <a:pPr algn="ctr">
              <a:buNone/>
            </a:pPr>
            <a:r>
              <a:rPr lang="en-US" sz="1350" b="1" i="0" dirty="0">
                <a:solidFill>
                  <a:srgbClr val="5C4826"/>
                </a:solidFill>
              </a:rPr>
              <a:t>The model, the property, the assumptions, the semantics, and the bound are all part of the claim.</a:t>
            </a:r>
          </a:p>
        </p:txBody>
      </p:sp>
      <p:sp>
        <p:nvSpPr>
          <p:cNvPr id="135" name="P135"/>
          <p:cNvSpPr/>
          <p:nvPr/>
        </p:nvSpPr>
        <p:spPr>
          <a:xfrm>
            <a:off x="566928" y="448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BEFORE MARS: CHECK THE MODEL</a:t>
            </a:r>
          </a:p>
          <a:p>
            <a:pPr algn="ctr">
              <a:buNone/>
            </a:pPr>
            <a:r>
              <a:rPr lang="en-US" sz="1100" b="0" i="0" dirty="0">
                <a:solidFill>
                  <a:srgbClr val="000000"/>
                </a:solidFill>
              </a:rPr>
              <a:t>For the Mars Science Laboratory mission, JPL model-checked critical multithreaded algorithms — a ~45,000-line C module became a ~1,600-line verification model, and checking joined routine regression testing.</a:t>
            </a:r>
          </a:p>
          <a:p>
            <a:pPr algn="ctr">
              <a:buNone/>
            </a:pPr>
            <a:r>
              <a:rPr lang="en-US" sz="1100" b="0" i="1" dirty="0">
                <a:solidFill>
                  <a:srgbClr val="555960"/>
                </a:solidFill>
              </a:rPr>
              <a:t>An explicit engineering model can itself be a validation target.  (Holzmann, “Mars Code,” CACM 2014)</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“No counterexample up to k” is a precise claim — and it is not “the program is correct”.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fade">
                                      <p:cBhvr>
                                        <p:cTn id="10" dur="500"/>
                                        <p:tgtEl>
                                          <p:spTgt spid="1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35"/>
                                        </p:tgtEl>
                                        <p:attrNameLst>
                                          <p:attrName>style.visibility</p:attrName>
                                        </p:attrNameLst>
                                      </p:cBhvr>
                                      <p:to>
                                        <p:strVal val="visible"/>
                                      </p:to>
                                    </p:set>
                                    <p:animEffect transition="in" filter="fade">
                                      <p:cBhvr>
                                        <p:cTn id="20" dur="5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1</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16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1550" b="0" i="1" dirty="0">
                <a:solidFill>
                  <a:srgbClr val="555960"/>
                </a:solidFill>
              </a:rPr>
              <a:t>generating an execution — often cheap</a:t>
            </a:r>
          </a:p>
        </p:txBody>
      </p:sp>
      <p:sp>
        <p:nvSpPr>
          <p:cNvPr id="121" name="T121"/>
          <p:cNvSpPr txBox="1"/>
          <p:nvPr/>
        </p:nvSpPr>
        <p:spPr>
          <a:xfrm>
            <a:off x="6327648" y="1901952"/>
            <a:ext cx="2249424" cy="310896"/>
          </a:xfrm>
          <a:prstGeom prst="rect">
            <a:avLst/>
          </a:prstGeom>
          <a:noFill/>
        </p:spPr>
        <p:txBody>
          <a:bodyPr wrap="square" lIns="0" tIns="0" rIns="0" bIns="0" anchor="t"/>
          <a:lstStyle/>
          <a:p>
            <a:pPr algn="ctr">
              <a:buNone/>
            </a:pPr>
            <a:r>
              <a:rPr lang="en-US" sz="1550" b="1" i="0" dirty="0">
                <a:solidFill>
                  <a:srgbClr val="5C4826"/>
                </a:solidFill>
              </a:rPr>
              <a:t>the oracle — the hard part</a:t>
            </a:r>
          </a:p>
        </p:txBody>
      </p:sp>
      <p:sp>
        <p:nvSpPr>
          <p:cNvPr id="130" name="P130"/>
          <p:cNvSpPr/>
          <p:nvPr/>
        </p:nvSpPr>
        <p:spPr>
          <a:xfrm>
            <a:off x="566928" y="2395728"/>
            <a:ext cx="3913632" cy="118872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350" b="1" i="0" dirty="0">
                <a:solidFill>
                  <a:srgbClr val="57534E"/>
                </a:solidFill>
              </a:rPr>
              <a:t>WHEN WE CAN STATE THE ANSWER</a:t>
            </a:r>
          </a:p>
          <a:p>
            <a:pPr algn="ctr">
              <a:spcBef>
                <a:spcPts val="200"/>
              </a:spcBef>
              <a:buNone/>
            </a:pPr>
            <a:r>
              <a:rPr lang="en-US" sz="1600" b="0" i="0" dirty="0">
                <a:solidFill>
                  <a:srgbClr val="000000"/>
                </a:solidFill>
              </a:rPr>
              <a:t>sort([3, 1, 2]) must be [1, 2, 3].</a:t>
            </a:r>
          </a:p>
          <a:p>
            <a:pPr algn="ctr">
              <a:spcBef>
                <a:spcPts val="100"/>
              </a:spcBef>
              <a:buNone/>
            </a:pPr>
            <a:r>
              <a:rPr lang="en-US" sz="1600" b="0" i="0" dirty="0">
                <a:solidFill>
                  <a:srgbClr val="000000"/>
                </a:solidFill>
              </a:rPr>
              <a:t>A duplicate payment ID must be rejected.</a:t>
            </a:r>
          </a:p>
        </p:txBody>
      </p:sp>
      <p:sp>
        <p:nvSpPr>
          <p:cNvPr id="131" name="P131"/>
          <p:cNvSpPr/>
          <p:nvPr/>
        </p:nvSpPr>
        <p:spPr>
          <a:xfrm>
            <a:off x="4663440" y="2395728"/>
            <a:ext cx="3913632" cy="118872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350" b="1" i="0" dirty="0">
                <a:solidFill>
                  <a:srgbClr val="57534E"/>
                </a:solidFill>
              </a:rPr>
              <a:t>WHEN WE CANNOT</a:t>
            </a:r>
          </a:p>
          <a:p>
            <a:pPr algn="ctr">
              <a:spcBef>
                <a:spcPts val="200"/>
              </a:spcBef>
              <a:buNone/>
            </a:pPr>
            <a:r>
              <a:rPr lang="en-US" sz="1600" b="0" i="0" dirty="0">
                <a:solidFill>
                  <a:srgbClr val="000000"/>
                </a:solidFill>
              </a:rPr>
              <a:t>What is the right machine code for this program?</a:t>
            </a:r>
          </a:p>
          <a:p>
            <a:pPr algn="ctr">
              <a:spcBef>
                <a:spcPts val="100"/>
              </a:spcBef>
              <a:buNone/>
            </a:pPr>
            <a:r>
              <a:rPr lang="en-US" sz="1600" b="0" i="0" dirty="0">
                <a:solidFill>
                  <a:srgbClr val="000000"/>
                </a:solidFill>
              </a:rPr>
              <a:t>The right rendering? The right ranking?</a:t>
            </a:r>
          </a:p>
        </p:txBody>
      </p:sp>
      <p:sp>
        <p:nvSpPr>
          <p:cNvPr id="140" name="E140"/>
          <p:cNvSpPr/>
          <p:nvPr/>
        </p:nvSpPr>
        <p:spPr>
          <a:xfrm>
            <a:off x="566928" y="402336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00" b="1" i="0" dirty="0">
                <a:solidFill>
                  <a:srgbClr val="5C4826"/>
                </a:solidFill>
              </a:rPr>
              <a:t>A testing strategy determines two things:</a:t>
            </a:r>
          </a:p>
          <a:p>
            <a:pPr algn="ctr">
              <a:spcBef>
                <a:spcPts val="200"/>
              </a:spcBef>
              <a:buNone/>
            </a:pPr>
            <a:r>
              <a:rPr lang="en-US" sz="18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An execution becomes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Known answers and known properties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900000"/>
            <a:ext cx="3895344" cy="50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EXAMPLE-BASED</a:t>
            </a:r>
          </a:p>
        </p:txBody>
      </p:sp>
      <p:sp>
        <p:nvSpPr>
          <p:cNvPr id="101" name="B101"/>
          <p:cNvSpPr/>
          <p:nvPr/>
        </p:nvSpPr>
        <p:spPr>
          <a:xfrm>
            <a:off x="4681728" y="900000"/>
            <a:ext cx="3895344" cy="50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PROPERTY-BASED</a:t>
            </a:r>
          </a:p>
        </p:txBody>
      </p:sp>
      <p:sp>
        <p:nvSpPr>
          <p:cNvPr id="110" name="P110"/>
          <p:cNvSpPr/>
          <p:nvPr/>
        </p:nvSpPr>
        <p:spPr>
          <a:xfrm>
            <a:off x="5669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Known input → known expected result.</a:t>
            </a:r>
          </a:p>
          <a:p>
            <a:pPr algn="ctr">
              <a:buNone/>
            </a:pPr>
            <a:r>
              <a:rPr lang="en-US" sz="1200" b="0" i="1" dirty="0">
                <a:solidFill>
                  <a:srgbClr val="555960"/>
                </a:solidFill>
              </a:rPr>
              <a:t>You pick the cases. You state the answers.</a:t>
            </a:r>
          </a:p>
        </p:txBody>
      </p:sp>
      <p:sp>
        <p:nvSpPr>
          <p:cNvPr id="111" name="P111"/>
          <p:cNvSpPr/>
          <p:nvPr/>
        </p:nvSpPr>
        <p:spPr>
          <a:xfrm>
            <a:off x="566928" y="2650000"/>
            <a:ext cx="3895344" cy="11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1250" b="0" i="0" dirty="0">
                <a:solidFill>
                  <a:srgbClr val="000000"/>
                </a:solidFill>
              </a:rPr>
              <a:t>duplicate ID  →  rejected</a:t>
            </a:r>
          </a:p>
          <a:p>
            <a:pPr algn="l">
              <a:buNone/>
            </a:pPr>
            <a:r>
              <a:rPr lang="en-US" sz="1250" b="0" i="0" dirty="0">
                <a:solidFill>
                  <a:srgbClr val="000000"/>
                </a:solidFill>
              </a:rPr>
              <a:t>empty cart  →  refused</a:t>
            </a:r>
          </a:p>
          <a:p>
            <a:pPr algn="l">
              <a:buNone/>
            </a:pPr>
            <a:r>
              <a:rPr lang="en-US" sz="1250" b="0" i="0" dirty="0">
                <a:solidFill>
                  <a:srgbClr val="000000"/>
                </a:solidFill>
              </a:rPr>
              <a:t>max amount  →  charged once</a:t>
            </a:r>
          </a:p>
        </p:txBody>
      </p:sp>
      <p:sp>
        <p:nvSpPr>
          <p:cNvPr id="112" name="T112"/>
          <p:cNvSpPr txBox="1"/>
          <p:nvPr/>
        </p:nvSpPr>
        <p:spPr>
          <a:xfrm>
            <a:off x="566928" y="3920000"/>
            <a:ext cx="3895344" cy="350000"/>
          </a:xfrm>
          <a:prstGeom prst="rect">
            <a:avLst/>
          </a:prstGeom>
          <a:noFill/>
          <a:ln>
            <a:noFill/>
          </a:ln>
        </p:spPr>
        <p:txBody>
          <a:bodyPr wrap="square" lIns="0" tIns="0" rIns="0" bIns="0" anchor="t"/>
          <a:lstStyle/>
          <a:p>
            <a:pPr algn="ctr">
              <a:buNone/>
            </a:pPr>
            <a:r>
              <a:rPr lang="en-US" sz="1200" b="0" i="1" dirty="0">
                <a:solidFill>
                  <a:srgbClr val="555960"/>
                </a:solidFill>
              </a:rPr>
              <a:t>every other input: unobserved</a:t>
            </a:r>
          </a:p>
        </p:txBody>
      </p:sp>
      <p:sp>
        <p:nvSpPr>
          <p:cNvPr id="120" name="P120"/>
          <p:cNvSpPr/>
          <p:nvPr/>
        </p:nvSpPr>
        <p:spPr>
          <a:xfrm>
            <a:off x="46817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State a property → generate many inputs → search for a counterexample.</a:t>
            </a:r>
          </a:p>
          <a:p>
            <a:pPr algn="ctr">
              <a:buNone/>
            </a:pPr>
            <a:r>
              <a:rPr lang="en-US" sz="1200" b="0" i="1" dirty="0">
                <a:solidFill>
                  <a:srgbClr val="555960"/>
                </a:solidFill>
              </a:rPr>
              <a:t>The machine hunts; the property adjudicates.</a:t>
            </a:r>
          </a:p>
        </p:txBody>
      </p:sp>
      <p:sp>
        <p:nvSpPr>
          <p:cNvPr id="121" name="E121"/>
          <p:cNvSpPr/>
          <p:nvPr/>
        </p:nvSpPr>
        <p:spPr>
          <a:xfrm>
            <a:off x="4681728" y="2650000"/>
            <a:ext cx="38953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100" b="1" i="0" dirty="0">
                <a:solidFill>
                  <a:srgbClr val="5C4826"/>
                </a:solidFill>
              </a:rPr>
              <a:t>PROPERTY</a:t>
            </a:r>
          </a:p>
          <a:p>
            <a:pPr algn="ctr">
              <a:buNone/>
            </a:pPr>
            <a:r>
              <a:rPr lang="en-US" sz="1250" b="1" i="0" dirty="0">
                <a:solidFill>
                  <a:srgbClr val="000000"/>
                </a:solidFill>
              </a:rPr>
              <a:t>A submitted payment shall cause at most one charge.</a:t>
            </a:r>
          </a:p>
        </p:txBody>
      </p:sp>
      <p:sp>
        <p:nvSpPr>
          <p:cNvPr id="122" name="T122"/>
          <p:cNvSpPr txBox="1"/>
          <p:nvPr/>
        </p:nvSpPr>
        <p:spPr>
          <a:xfrm>
            <a:off x="4681728" y="3920000"/>
            <a:ext cx="3895344" cy="700000"/>
          </a:xfrm>
          <a:prstGeom prst="rect">
            <a:avLst/>
          </a:prstGeom>
          <a:noFill/>
          <a:ln>
            <a:noFill/>
          </a:ln>
        </p:spPr>
        <p:txBody>
          <a:bodyPr wrap="square" lIns="0" tIns="0" rIns="0" bIns="0" anchor="t"/>
          <a:lstStyle/>
          <a:p>
            <a:pPr algn="ctr">
              <a:buNone/>
            </a:pPr>
            <a:r>
              <a:rPr lang="en-US" sz="1200" b="0" i="1" dirty="0">
                <a:solidFill>
                  <a:srgbClr val="555960"/>
                </a:solidFill>
              </a:rPr>
              <a:t>one sentence adjudicates every generated input —</a:t>
            </a:r>
          </a:p>
          <a:p>
            <a:pPr algn="ctr">
              <a:spcBef>
                <a:spcPts val="120"/>
              </a:spcBef>
              <a:buNone/>
            </a:pPr>
            <a:r>
              <a:rPr lang="en-US" sz="1200" b="0" i="1" dirty="0">
                <a:solidFill>
                  <a:srgbClr val="555960"/>
                </a:solidFill>
              </a:rPr>
              <a:t>far more than you would write by hand</a:t>
            </a:r>
          </a:p>
        </p:txBody>
      </p:sp>
      <p:sp>
        <p:nvSpPr>
          <p:cNvPr id="130" name="E130"/>
          <p:cNvSpPr/>
          <p:nvPr/>
        </p:nvSpPr>
        <p:spPr>
          <a:xfrm>
            <a:off x="566928" y="4430000"/>
            <a:ext cx="8010144" cy="9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The move: instead of writing the answer for every input,</a:t>
            </a:r>
          </a:p>
          <a:p>
            <a:pPr algn="ctr">
              <a:buNone/>
            </a:pPr>
            <a:r>
              <a:rPr lang="en-US" sz="1400" b="1" i="0" dirty="0">
                <a:solidFill>
                  <a:srgbClr val="5C4826"/>
                </a:solidFill>
              </a:rPr>
              <a:t>state something that must hold across a class of inputs.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Strong evidence about the cases you chose — or a search for a counterexample.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30"/>
                                        </p:tgtEl>
                                        <p:attrNameLst>
                                          <p:attrName>style.visibility</p:attrName>
                                        </p:attrNameLst>
                                      </p:cBhvr>
                                      <p:to>
                                        <p:strVal val="visible"/>
                                      </p:to>
                                    </p:set>
                                    <p:animEffect transition="in" filter="fade">
                                      <p:cBhvr>
                                        <p:cTn id="32"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1</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5C4826"/>
                </a:solidFill>
              </a:rPr>
              <a:t>IMPLEMENTATION A</a:t>
            </a:r>
          </a:p>
          <a:p>
            <a:pPr algn="ctr">
              <a:spcBef>
                <a:spcPts val="100"/>
              </a:spcBef>
              <a:buNone/>
            </a:pPr>
            <a:r>
              <a:rPr lang="en-US" sz="14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5C4826"/>
                </a:solidFill>
              </a:rPr>
              <a:t>IMPLEMENTATION B</a:t>
            </a:r>
          </a:p>
          <a:p>
            <a:pPr algn="ctr">
              <a:spcBef>
                <a:spcPts val="100"/>
              </a:spcBef>
              <a:buNone/>
            </a:pPr>
            <a:r>
              <a:rPr lang="en-US" sz="1400" b="0" i="1" dirty="0">
                <a:solidFill>
                  <a:srgbClr val="555960"/>
                </a:solidFill>
              </a:rPr>
              <a:t>a reference, an older version, another vendor</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55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55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a:t>
            </a:r>
          </a:p>
        </p:txBody>
      </p:sp>
      <p:sp>
        <p:nvSpPr>
          <p:cNvPr id="140" name="P140"/>
          <p:cNvSpPr/>
          <p:nvPr/>
        </p:nvSpPr>
        <p:spPr>
          <a:xfrm>
            <a:off x="566928" y="4580000"/>
            <a:ext cx="2550000" cy="103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AGREE — weak signal</a:t>
            </a:r>
          </a:p>
          <a:p>
            <a:pPr algn="ctr">
              <a:buNone/>
            </a:pPr>
            <a:r>
              <a:rPr lang="en-US" sz="1050" b="0" i="0" dirty="0">
                <a:solidFill>
                  <a:srgbClr val="000000"/>
                </a:solidFill>
              </a:rPr>
              <a:t>two implementations can still be wrong the same way</a:t>
            </a:r>
          </a:p>
        </p:txBody>
      </p:sp>
      <p:sp>
        <p:nvSpPr>
          <p:cNvPr id="141" name="P141"/>
          <p:cNvSpPr/>
          <p:nvPr/>
        </p:nvSpPr>
        <p:spPr>
          <a:xfrm>
            <a:off x="3220000" y="4580000"/>
            <a:ext cx="2550000" cy="103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150" b="1" i="0" dirty="0">
                <a:solidFill>
                  <a:srgbClr val="5C4826"/>
                </a:solidFill>
              </a:rPr>
              <a:t>DISAGREE — at least one is wrong</a:t>
            </a:r>
          </a:p>
          <a:p>
            <a:pPr algn="ctr">
              <a:buNone/>
            </a:pPr>
            <a:r>
              <a:rPr lang="en-US" sz="1050" b="0" i="0" dirty="0">
                <a:solidFill>
                  <a:srgbClr val="000000"/>
                </a:solidFill>
              </a:rPr>
              <a:t>and now you have something to investigate</a:t>
            </a:r>
          </a:p>
        </p:txBody>
      </p:sp>
      <p:sp>
        <p:nvSpPr>
          <p:cNvPr id="142" name="P142"/>
          <p:cNvSpPr/>
          <p:nvPr/>
        </p:nvSpPr>
        <p:spPr>
          <a:xfrm>
            <a:off x="5880000" y="4580000"/>
            <a:ext cx="2697072" cy="103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WHERE MUST THEY AGREE?</a:t>
            </a:r>
          </a:p>
          <a:p>
            <a:pPr algn="ctr">
              <a:buNone/>
            </a:pPr>
            <a:r>
              <a:rPr lang="en-US" sz="1050" b="0" i="0" dirty="0">
                <a:solidFill>
                  <a:srgbClr val="000000"/>
                </a:solidFill>
              </a:rPr>
              <a:t>RFC 2119: MUST — conforming implementations agree · SHOULD / MAY — variation permitted; disagreement is not a defect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When the answer is expensive to state, compare independent realizations.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When answers are unavailable, relate executions</a:t>
            </a:r>
          </a:p>
        </p:txBody>
      </p:sp>
      <p:sp>
        <p:nvSpPr>
          <p:cNvPr id="3" name="Slide Number Placeholder 3"/>
          <p:cNvSpPr>
            <a:spLocks noGrp="1"/>
          </p:cNvSpPr>
          <p:nvPr>
            <p:ph type="sldNum" sz="quarter" idx="4"/>
          </p:nvPr>
        </p:nvSpPr>
        <p:spPr/>
        <p:txBody>
          <a:bodyPr/>
          <a:lstStyle/>
          <a:p>
            <a:fld id="{A8C819FF-7E06-4470-980D-7F1931032F1B}" type="slidenum">
              <a:rPr lang="en-US" smtClean="0"/>
              <a:t>1</a:t>
            </a:fld>
            <a:endParaRPr lang="en-US"/>
          </a:p>
        </p:txBody>
      </p:sp>
      <p:sp>
        <p:nvSpPr>
          <p:cNvPr id="100" name="B100"/>
          <p:cNvSpPr/>
          <p:nvPr/>
        </p:nvSpPr>
        <p:spPr>
          <a:xfrm>
            <a:off x="914400" y="1097280"/>
            <a:ext cx="1234440" cy="64008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x</a:t>
            </a:r>
          </a:p>
        </p:txBody>
      </p:sp>
      <p:cxnSp>
        <p:nvCxnSpPr>
          <p:cNvPr id="101" name="C101"/>
          <p:cNvCxnSpPr/>
          <p:nvPr/>
        </p:nvCxnSpPr>
        <p:spPr>
          <a:xfrm>
            <a:off x="2240280" y="1417320"/>
            <a:ext cx="411480" cy="0"/>
          </a:xfrm>
          <a:prstGeom prst="straightConnector1">
            <a:avLst/>
          </a:prstGeom>
          <a:ln w="38100">
            <a:solidFill>
              <a:srgbClr val="8E6F3E"/>
            </a:solidFill>
            <a:tailEnd type="triangle" w="med" len="med"/>
          </a:ln>
        </p:spPr>
      </p:cxnSp>
      <p:sp>
        <p:nvSpPr>
          <p:cNvPr id="102" name="B102"/>
          <p:cNvSpPr/>
          <p:nvPr/>
        </p:nvSpPr>
        <p:spPr>
          <a:xfrm>
            <a:off x="2834640" y="1097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1800" b="1" i="1" dirty="0">
                <a:solidFill>
                  <a:srgbClr val="5C4826"/>
                </a:solidFill>
              </a:rPr>
              <a:t>f</a:t>
            </a:r>
          </a:p>
        </p:txBody>
      </p:sp>
      <p:cxnSp>
        <p:nvCxnSpPr>
          <p:cNvPr id="103" name="C103"/>
          <p:cNvCxnSpPr/>
          <p:nvPr/>
        </p:nvCxnSpPr>
        <p:spPr>
          <a:xfrm>
            <a:off x="4160520" y="1417320"/>
            <a:ext cx="411480" cy="0"/>
          </a:xfrm>
          <a:prstGeom prst="straightConnector1">
            <a:avLst/>
          </a:prstGeom>
          <a:ln w="38100">
            <a:solidFill>
              <a:srgbClr val="8E6F3E"/>
            </a:solidFill>
            <a:tailEnd type="triangle" w="med" len="med"/>
          </a:ln>
        </p:spPr>
      </p:cxnSp>
      <p:sp>
        <p:nvSpPr>
          <p:cNvPr id="104" name="B104"/>
          <p:cNvSpPr/>
          <p:nvPr/>
        </p:nvSpPr>
        <p:spPr>
          <a:xfrm>
            <a:off x="4754880" y="1097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y</a:t>
            </a:r>
          </a:p>
        </p:txBody>
      </p:sp>
      <p:sp>
        <p:nvSpPr>
          <p:cNvPr id="110" name="B110"/>
          <p:cNvSpPr/>
          <p:nvPr/>
        </p:nvSpPr>
        <p:spPr>
          <a:xfrm>
            <a:off x="914400" y="2240280"/>
            <a:ext cx="1234440" cy="64008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T(x)</a:t>
            </a:r>
          </a:p>
        </p:txBody>
      </p:sp>
      <p:cxnSp>
        <p:nvCxnSpPr>
          <p:cNvPr id="111" name="C111"/>
          <p:cNvCxnSpPr/>
          <p:nvPr/>
        </p:nvCxnSpPr>
        <p:spPr>
          <a:xfrm>
            <a:off x="2240280" y="2560320"/>
            <a:ext cx="411480" cy="0"/>
          </a:xfrm>
          <a:prstGeom prst="straightConnector1">
            <a:avLst/>
          </a:prstGeom>
          <a:ln w="38100">
            <a:solidFill>
              <a:srgbClr val="8E6F3E"/>
            </a:solidFill>
            <a:tailEnd type="triangle" w="med" len="med"/>
          </a:ln>
        </p:spPr>
      </p:cxnSp>
      <p:sp>
        <p:nvSpPr>
          <p:cNvPr id="112" name="B112"/>
          <p:cNvSpPr/>
          <p:nvPr/>
        </p:nvSpPr>
        <p:spPr>
          <a:xfrm>
            <a:off x="2834640" y="2240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1800" b="1" i="1" dirty="0">
                <a:solidFill>
                  <a:srgbClr val="5C4826"/>
                </a:solidFill>
              </a:rPr>
              <a:t>f</a:t>
            </a:r>
          </a:p>
        </p:txBody>
      </p:sp>
      <p:cxnSp>
        <p:nvCxnSpPr>
          <p:cNvPr id="113" name="C113"/>
          <p:cNvCxnSpPr/>
          <p:nvPr/>
        </p:nvCxnSpPr>
        <p:spPr>
          <a:xfrm>
            <a:off x="4160520" y="2560320"/>
            <a:ext cx="411480" cy="0"/>
          </a:xfrm>
          <a:prstGeom prst="straightConnector1">
            <a:avLst/>
          </a:prstGeom>
          <a:ln w="38100">
            <a:solidFill>
              <a:srgbClr val="8E6F3E"/>
            </a:solidFill>
            <a:tailEnd type="triangle" w="med" len="med"/>
          </a:ln>
        </p:spPr>
      </p:cxnSp>
      <p:sp>
        <p:nvSpPr>
          <p:cNvPr id="114" name="B114"/>
          <p:cNvSpPr/>
          <p:nvPr/>
        </p:nvSpPr>
        <p:spPr>
          <a:xfrm>
            <a:off x="4754880" y="2240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y′</a:t>
            </a:r>
          </a:p>
        </p:txBody>
      </p:sp>
      <p:sp>
        <p:nvSpPr>
          <p:cNvPr id="130" name="J130"/>
          <p:cNvSpPr/>
          <p:nvPr/>
        </p:nvSpPr>
        <p:spPr>
          <a:xfrm>
            <a:off x="6309360" y="1417320"/>
            <a:ext cx="41148" cy="1417320"/>
          </a:xfrm>
          <a:prstGeom prst="rect">
            <a:avLst/>
          </a:prstGeom>
          <a:solidFill>
            <a:srgbClr val="8E6F3E"/>
          </a:solidFill>
          <a:ln>
            <a:noFill/>
          </a:ln>
        </p:spPr>
        <p:txBody>
          <a:bodyPr wrap="square" lIns="91440" tIns="45720" rIns="91440" bIns="45720" anchor="ctr"/>
          <a:lstStyle/>
          <a:p>
            <a:pPr>
              <a:buNone/>
            </a:pPr>
          </a:p>
        </p:txBody>
      </p:sp>
      <p:sp>
        <p:nvSpPr>
          <p:cNvPr id="131" name="J131"/>
          <p:cNvSpPr/>
          <p:nvPr/>
        </p:nvSpPr>
        <p:spPr>
          <a:xfrm>
            <a:off x="6126480" y="1417320"/>
            <a:ext cx="182880" cy="41148"/>
          </a:xfrm>
          <a:prstGeom prst="rect">
            <a:avLst/>
          </a:prstGeom>
          <a:solidFill>
            <a:srgbClr val="8E6F3E"/>
          </a:solidFill>
          <a:ln>
            <a:noFill/>
          </a:ln>
        </p:spPr>
        <p:txBody>
          <a:bodyPr wrap="square" lIns="91440" tIns="45720" rIns="91440" bIns="45720" anchor="ctr"/>
          <a:lstStyle/>
          <a:p>
            <a:pPr>
              <a:buNone/>
            </a:pPr>
          </a:p>
        </p:txBody>
      </p:sp>
      <p:sp>
        <p:nvSpPr>
          <p:cNvPr id="132" name="J132"/>
          <p:cNvSpPr/>
          <p:nvPr/>
        </p:nvSpPr>
        <p:spPr>
          <a:xfrm>
            <a:off x="6126480" y="2802636"/>
            <a:ext cx="182880" cy="41148"/>
          </a:xfrm>
          <a:prstGeom prst="rect">
            <a:avLst/>
          </a:prstGeom>
          <a:solidFill>
            <a:srgbClr val="8E6F3E"/>
          </a:solidFill>
          <a:ln>
            <a:noFill/>
          </a:ln>
        </p:spPr>
        <p:txBody>
          <a:bodyPr wrap="square" lIns="91440" tIns="45720" rIns="91440" bIns="45720" anchor="ctr"/>
          <a:lstStyle/>
          <a:p>
            <a:pPr>
              <a:buNone/>
            </a:pPr>
          </a:p>
        </p:txBody>
      </p:sp>
      <p:sp>
        <p:nvSpPr>
          <p:cNvPr id="133" name="T133"/>
          <p:cNvSpPr txBox="1"/>
          <p:nvPr/>
        </p:nvSpPr>
        <p:spPr>
          <a:xfrm>
            <a:off x="6492240" y="1783080"/>
            <a:ext cx="2084832" cy="731520"/>
          </a:xfrm>
          <a:prstGeom prst="rect">
            <a:avLst/>
          </a:prstGeom>
          <a:noFill/>
        </p:spPr>
        <p:txBody>
          <a:bodyPr wrap="square" lIns="0" tIns="0" rIns="0" bIns="0" anchor="t"/>
          <a:lstStyle/>
          <a:p>
            <a:pPr algn="ctr">
              <a:buNone/>
            </a:pPr>
            <a:r>
              <a:rPr lang="en-US" sz="1500" b="0" i="1" dirty="0">
                <a:solidFill>
                  <a:srgbClr val="555960"/>
                </a:solidFill>
              </a:rPr>
              <a:t>a relation</a:t>
            </a:r>
          </a:p>
          <a:p>
            <a:pPr algn="ctr">
              <a:spcBef>
                <a:spcPts val="100"/>
              </a:spcBef>
              <a:buNone/>
            </a:pPr>
            <a:r>
              <a:rPr lang="en-US" sz="1700" b="1" i="0" dirty="0">
                <a:solidFill>
                  <a:srgbClr val="5C4826"/>
                </a:solidFill>
              </a:rPr>
              <a:t>R(y, y′) must hold</a:t>
            </a:r>
          </a:p>
        </p:txBody>
      </p:sp>
      <p:sp>
        <p:nvSpPr>
          <p:cNvPr id="140" name="P140"/>
          <p:cNvSpPr/>
          <p:nvPr/>
        </p:nvSpPr>
        <p:spPr>
          <a:xfrm>
            <a:off x="566928" y="3154680"/>
            <a:ext cx="8010144" cy="1143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750" b="1" i="0" dirty="0">
                <a:solidFill>
                  <a:srgbClr val="000000"/>
                </a:solidFill>
              </a:rPr>
              <a:t>sort([3, 1, 2])  →  [1, 2, 3]</a:t>
            </a:r>
          </a:p>
          <a:p>
            <a:pPr algn="ctr">
              <a:spcBef>
                <a:spcPts val="150"/>
              </a:spcBef>
              <a:buNone/>
            </a:pPr>
            <a:r>
              <a:rPr lang="en-US" sz="1750" b="1" i="0" dirty="0">
                <a:solidFill>
                  <a:srgbClr val="000000"/>
                </a:solidFill>
              </a:rPr>
              <a:t>sort([2, 3, 1])  →  [1, 2, 3]</a:t>
            </a:r>
          </a:p>
          <a:p>
            <a:pPr algn="ctr">
              <a:spcBef>
                <a:spcPts val="250"/>
              </a:spcBef>
              <a:buNone/>
            </a:pPr>
            <a:r>
              <a:rPr lang="en-US" sz="1600" b="0" i="1" dirty="0">
                <a:solidFill>
                  <a:srgbClr val="555960"/>
                </a:solidFill>
              </a:rPr>
              <a:t>We never stated the answer — only how the two answers must relate.</a:t>
            </a:r>
          </a:p>
        </p:txBody>
      </p:sp>
      <p:sp>
        <p:nvSpPr>
          <p:cNvPr id="150" name="E150"/>
          <p:cNvSpPr/>
          <p:nvPr/>
        </p:nvSpPr>
        <p:spPr>
          <a:xfrm>
            <a:off x="566928" y="4526280"/>
            <a:ext cx="8010144" cy="8686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00" b="1" i="0" dirty="0">
                <a:solidFill>
                  <a:srgbClr val="5C4826"/>
                </a:solidFill>
              </a:rPr>
              <a:t>When you cannot state the answer, state how answers must relate.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A relation between runs is an oracle when the answer is unavailable.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500"/>
                                        <p:tgtEl>
                                          <p:spTgt spid="10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5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10"/>
                                        </p:tgtEl>
                                        <p:attrNameLst>
                                          <p:attrName>style.visibility</p:attrName>
                                        </p:attrNameLst>
                                      </p:cBhvr>
                                      <p:to>
                                        <p:strVal val="visible"/>
                                      </p:to>
                                    </p:set>
                                    <p:animEffect transition="in" filter="fade">
                                      <p:cBhvr>
                                        <p:cTn id="24" dur="500"/>
                                        <p:tgtEl>
                                          <p:spTgt spid="1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1"/>
                                        </p:tgtEl>
                                        <p:attrNameLst>
                                          <p:attrName>style.visibility</p:attrName>
                                        </p:attrNameLst>
                                      </p:cBhvr>
                                      <p:to>
                                        <p:strVal val="visible"/>
                                      </p:to>
                                    </p:set>
                                    <p:animEffect transition="in" filter="fade">
                                      <p:cBhvr>
                                        <p:cTn id="27" dur="500"/>
                                        <p:tgtEl>
                                          <p:spTgt spid="1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3"/>
                                        </p:tgtEl>
                                        <p:attrNameLst>
                                          <p:attrName>style.visibility</p:attrName>
                                        </p:attrNameLst>
                                      </p:cBhvr>
                                      <p:to>
                                        <p:strVal val="visible"/>
                                      </p:to>
                                    </p:set>
                                    <p:animEffect transition="in" filter="fade">
                                      <p:cBhvr>
                                        <p:cTn id="33" dur="500"/>
                                        <p:tgtEl>
                                          <p:spTgt spid="1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14"/>
                                        </p:tgtEl>
                                        <p:attrNameLst>
                                          <p:attrName>style.visibility</p:attrName>
                                        </p:attrNameLst>
                                      </p:cBhvr>
                                      <p:to>
                                        <p:strVal val="visible"/>
                                      </p:to>
                                    </p:set>
                                    <p:animEffect transition="in" filter="fade">
                                      <p:cBhvr>
                                        <p:cTn id="36" dur="500"/>
                                        <p:tgtEl>
                                          <p:spTgt spid="1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30"/>
                                        </p:tgtEl>
                                        <p:attrNameLst>
                                          <p:attrName>style.visibility</p:attrName>
                                        </p:attrNameLst>
                                      </p:cBhvr>
                                      <p:to>
                                        <p:strVal val="visible"/>
                                      </p:to>
                                    </p:set>
                                    <p:animEffect transition="in" filter="fade">
                                      <p:cBhvr>
                                        <p:cTn id="41" dur="500"/>
                                        <p:tgtEl>
                                          <p:spTgt spid="13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1"/>
                                        </p:tgtEl>
                                        <p:attrNameLst>
                                          <p:attrName>style.visibility</p:attrName>
                                        </p:attrNameLst>
                                      </p:cBhvr>
                                      <p:to>
                                        <p:strVal val="visible"/>
                                      </p:to>
                                    </p:set>
                                    <p:animEffect transition="in" filter="fade">
                                      <p:cBhvr>
                                        <p:cTn id="44" dur="500"/>
                                        <p:tgtEl>
                                          <p:spTgt spid="13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32"/>
                                        </p:tgtEl>
                                        <p:attrNameLst>
                                          <p:attrName>style.visibility</p:attrName>
                                        </p:attrNameLst>
                                      </p:cBhvr>
                                      <p:to>
                                        <p:strVal val="visible"/>
                                      </p:to>
                                    </p:set>
                                    <p:animEffect transition="in" filter="fade">
                                      <p:cBhvr>
                                        <p:cTn id="47" dur="500"/>
                                        <p:tgtEl>
                                          <p:spTgt spid="13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33"/>
                                        </p:tgtEl>
                                        <p:attrNameLst>
                                          <p:attrName>style.visibility</p:attrName>
                                        </p:attrNameLst>
                                      </p:cBhvr>
                                      <p:to>
                                        <p:strVal val="visible"/>
                                      </p:to>
                                    </p:set>
                                    <p:animEffect transition="in" filter="fade">
                                      <p:cBhvr>
                                        <p:cTn id="50" dur="500"/>
                                        <p:tgtEl>
                                          <p:spTgt spid="133"/>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150"/>
                                        </p:tgtEl>
                                        <p:attrNameLst>
                                          <p:attrName>style.visibility</p:attrName>
                                        </p:attrNameLst>
                                      </p:cBhvr>
                                      <p:to>
                                        <p:strVal val="visible"/>
                                      </p:to>
                                    </p:set>
                                    <p:animEffect transition="in" filter="fade">
                                      <p:cBhvr>
                                        <p:cTn id="6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1</a:t>
            </a:fld>
            <a:endParaRPr lang="en-US"/>
          </a:p>
        </p:txBody>
      </p:sp>
      <p:sp>
        <p:nvSpPr>
          <p:cNvPr id="100" name="B100"/>
          <p:cNvSpPr/>
          <p:nvPr/>
        </p:nvSpPr>
        <p:spPr>
          <a:xfrm>
            <a:off x="566928" y="1005840"/>
            <a:ext cx="1810512" cy="566928"/>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566928"/>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566928"/>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566928"/>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1500" b="0" i="1" dirty="0">
                <a:solidFill>
                  <a:srgbClr val="555960"/>
                </a:solidFill>
              </a:rPr>
              <a:t>the inputs nobody thought to write down — and the failures they reach</a:t>
            </a:r>
          </a:p>
        </p:txBody>
      </p:sp>
      <p:sp>
        <p:nvSpPr>
          <p:cNvPr id="140" name="E140"/>
          <p:cNvSpPr/>
          <p:nvPr/>
        </p:nvSpPr>
        <p:spPr>
          <a:xfrm>
            <a:off x="566928" y="4160520"/>
            <a:ext cx="8010144" cy="10058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A weak oracle enables enormous search.</a:t>
            </a:r>
          </a:p>
          <a:p>
            <a:pPr algn="ctr">
              <a:spcBef>
                <a:spcPts val="200"/>
              </a:spcBef>
              <a:buNone/>
            </a:pPr>
            <a:r>
              <a:rPr lang="en-US" sz="1700" b="0" i="0" dirty="0">
                <a:solidFill>
                  <a:srgbClr val="5C4826"/>
                </a:solidFill>
              </a:rPr>
              <a:t>“Did it crash?” needs no expected answer — so 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Cheap evidence about robustness — little about functional correctness.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grpId="0"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grpId="0"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grpId="0"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grpId="0"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grpId="0"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grpId="0"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grpId="0"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grpId="0"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grpId="0"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grpId="0"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grpId="0"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grpId="0"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grpId="0"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grpId="0"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grpId="0"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grpId="0"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grpId="0"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grpId="0"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grpId="0"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grpId="0"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grpId="0"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grpId="0"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grpId="0"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grpId="0"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grpId="0"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grpId="0"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grpId="0"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grpId="0"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grpId="0"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grpId="0"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grpId="0"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grpId="0"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grpId="0"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grpId="0"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grpId="0"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grpId="0"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grpId="0"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grpId="0"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grpId="0"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grpId="0"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grpId="0"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grpId="0"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1</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known answers — choose the cases you already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known general properties — generate cases and search for a counterexample</a:t>
            </a:r>
          </a:p>
        </p:txBody>
      </p:sp>
      <p:sp>
        <p:nvSpPr>
          <p:cNvPr id="102" name="B102"/>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Metamorphic</a:t>
            </a:r>
          </a:p>
        </p:txBody>
      </p:sp>
      <p:sp>
        <p:nvSpPr>
          <p:cNvPr id="112" name="P112"/>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known relations among executions — search for a violated relation</a:t>
            </a:r>
          </a:p>
        </p:txBody>
      </p:sp>
      <p:sp>
        <p:nvSpPr>
          <p:cNvPr id="103" name="B103"/>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Fuzzing</a:t>
            </a:r>
          </a:p>
        </p:txBody>
      </p:sp>
      <p:sp>
        <p:nvSpPr>
          <p:cNvPr id="113" name="P113"/>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cheap observable self-failures — crash, hang, assertion, sanitizer</a:t>
            </a:r>
          </a:p>
        </p:txBody>
      </p:sp>
      <p:sp>
        <p:nvSpPr>
          <p:cNvPr id="104" name="B104"/>
          <p:cNvSpPr/>
          <p:nvPr/>
        </p:nvSpPr>
        <p:spPr>
          <a:xfrm>
            <a:off x="566928" y="3227832"/>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Differential</a:t>
            </a:r>
          </a:p>
        </p:txBody>
      </p:sp>
      <p:sp>
        <p:nvSpPr>
          <p:cNvPr id="114" name="P114"/>
          <p:cNvSpPr/>
          <p:nvPr/>
        </p:nvSpPr>
        <p:spPr>
          <a:xfrm>
            <a:off x="2971800" y="3227832"/>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another implementation, where the specification requires agreement</a:t>
            </a:r>
          </a:p>
        </p:txBody>
      </p:sp>
      <p:sp>
        <p:nvSpPr>
          <p:cNvPr id="120" name="T120"/>
          <p:cNvSpPr txBox="1"/>
          <p:nvPr/>
        </p:nvSpPr>
        <p:spPr>
          <a:xfrm>
            <a:off x="566928" y="3913632"/>
            <a:ext cx="3657600" cy="256032"/>
          </a:xfrm>
          <a:prstGeom prst="rect">
            <a:avLst/>
          </a:prstGeom>
          <a:noFill/>
        </p:spPr>
        <p:txBody>
          <a:bodyPr wrap="square" lIns="0" tIns="0" rIns="0" bIns="0" anchor="t"/>
          <a:lstStyle/>
          <a:p>
            <a:pPr algn="l">
              <a:buNone/>
            </a:pPr>
            <a:r>
              <a:rPr lang="en-US" sz="1300" b="1" i="0" dirty="0">
                <a:solidFill>
                  <a:srgbClr val="57534E"/>
                </a:solidFill>
              </a:rPr>
              <a:t>WHAT YOU ALREADY KNOW</a:t>
            </a:r>
          </a:p>
        </p:txBody>
      </p:sp>
      <p:cxnSp>
        <p:nvCxnSpPr>
          <p:cNvPr id="121" name="C121"/>
          <p:cNvCxnSpPr/>
          <p:nvPr/>
        </p:nvCxnSpPr>
        <p:spPr>
          <a:xfrm>
            <a:off x="640080" y="4315968"/>
            <a:ext cx="7818120" cy="0"/>
          </a:xfrm>
          <a:prstGeom prst="straightConnector1">
            <a:avLst/>
          </a:prstGeom>
          <a:ln w="31750">
            <a:solidFill>
              <a:srgbClr val="8E6F3E"/>
            </a:solidFill>
            <a:tailEnd type="triangle" w="med" len="med"/>
          </a:ln>
        </p:spPr>
      </p:cxnSp>
      <p:sp>
        <p:nvSpPr>
          <p:cNvPr id="130" name="T130"/>
          <p:cNvSpPr txBox="1"/>
          <p:nvPr/>
        </p:nvSpPr>
        <p:spPr>
          <a:xfrm>
            <a:off x="566928" y="4407408"/>
            <a:ext cx="1874520" cy="256032"/>
          </a:xfrm>
          <a:prstGeom prst="rect">
            <a:avLst/>
          </a:prstGeom>
          <a:noFill/>
        </p:spPr>
        <p:txBody>
          <a:bodyPr wrap="square" lIns="0" tIns="0" rIns="0" bIns="0" anchor="t"/>
          <a:lstStyle/>
          <a:p>
            <a:pPr algn="ctr">
              <a:buNone/>
            </a:pPr>
            <a:r>
              <a:rPr lang="en-US" sz="1450" b="1" i="0" dirty="0">
                <a:solidFill>
                  <a:srgbClr val="5C4826"/>
                </a:solidFill>
              </a:rPr>
              <a:t>known answers</a:t>
            </a:r>
          </a:p>
        </p:txBody>
      </p:sp>
      <p:sp>
        <p:nvSpPr>
          <p:cNvPr id="140" name="T140"/>
          <p:cNvSpPr txBox="1"/>
          <p:nvPr/>
        </p:nvSpPr>
        <p:spPr>
          <a:xfrm>
            <a:off x="566928" y="4663440"/>
            <a:ext cx="1874520" cy="256032"/>
          </a:xfrm>
          <a:prstGeom prst="rect">
            <a:avLst/>
          </a:prstGeom>
          <a:noFill/>
        </p:spPr>
        <p:txBody>
          <a:bodyPr wrap="square" lIns="0" tIns="0" rIns="0" bIns="0" anchor="t"/>
          <a:lstStyle/>
          <a:p>
            <a:pPr algn="ctr">
              <a:buNone/>
            </a:pPr>
            <a:r>
              <a:rPr lang="en-US" sz="1400" b="0" i="1" dirty="0">
                <a:solidFill>
                  <a:srgbClr val="555960"/>
                </a:solidFill>
              </a:rPr>
              <a:t>example-based</a:t>
            </a:r>
          </a:p>
        </p:txBody>
      </p:sp>
      <p:sp>
        <p:nvSpPr>
          <p:cNvPr id="131" name="T131"/>
          <p:cNvSpPr txBox="1"/>
          <p:nvPr/>
        </p:nvSpPr>
        <p:spPr>
          <a:xfrm>
            <a:off x="2606040" y="4407408"/>
            <a:ext cx="1874520" cy="256032"/>
          </a:xfrm>
          <a:prstGeom prst="rect">
            <a:avLst/>
          </a:prstGeom>
          <a:noFill/>
        </p:spPr>
        <p:txBody>
          <a:bodyPr wrap="square" lIns="0" tIns="0" rIns="0" bIns="0" anchor="t"/>
          <a:lstStyle/>
          <a:p>
            <a:pPr algn="ctr">
              <a:buNone/>
            </a:pPr>
            <a:r>
              <a:rPr lang="en-US" sz="1450" b="1" i="0" dirty="0">
                <a:solidFill>
                  <a:srgbClr val="5C4826"/>
                </a:solidFill>
              </a:rPr>
              <a:t>known properties</a:t>
            </a:r>
          </a:p>
        </p:txBody>
      </p:sp>
      <p:sp>
        <p:nvSpPr>
          <p:cNvPr id="141" name="T141"/>
          <p:cNvSpPr txBox="1"/>
          <p:nvPr/>
        </p:nvSpPr>
        <p:spPr>
          <a:xfrm>
            <a:off x="2606040" y="4663440"/>
            <a:ext cx="1874520" cy="256032"/>
          </a:xfrm>
          <a:prstGeom prst="rect">
            <a:avLst/>
          </a:prstGeom>
          <a:noFill/>
        </p:spPr>
        <p:txBody>
          <a:bodyPr wrap="square" lIns="0" tIns="0" rIns="0" bIns="0" anchor="t"/>
          <a:lstStyle/>
          <a:p>
            <a:pPr algn="ctr">
              <a:buNone/>
            </a:pPr>
            <a:r>
              <a:rPr lang="en-US" sz="1400" b="0" i="1" dirty="0">
                <a:solidFill>
                  <a:srgbClr val="555960"/>
                </a:solidFill>
              </a:rPr>
              <a:t>property-based</a:t>
            </a:r>
          </a:p>
        </p:txBody>
      </p:sp>
      <p:sp>
        <p:nvSpPr>
          <p:cNvPr id="132" name="T132"/>
          <p:cNvSpPr txBox="1"/>
          <p:nvPr/>
        </p:nvSpPr>
        <p:spPr>
          <a:xfrm>
            <a:off x="4645152" y="4407408"/>
            <a:ext cx="1874520" cy="256032"/>
          </a:xfrm>
          <a:prstGeom prst="rect">
            <a:avLst/>
          </a:prstGeom>
          <a:noFill/>
        </p:spPr>
        <p:txBody>
          <a:bodyPr wrap="square" lIns="0" tIns="0" rIns="0" bIns="0" anchor="t"/>
          <a:lstStyle/>
          <a:p>
            <a:pPr algn="ctr">
              <a:buNone/>
            </a:pPr>
            <a:r>
              <a:rPr lang="en-US" sz="1450" b="1" i="0" dirty="0">
                <a:solidFill>
                  <a:srgbClr val="5C4826"/>
                </a:solidFill>
              </a:rPr>
              <a:t>known relations</a:t>
            </a:r>
          </a:p>
        </p:txBody>
      </p:sp>
      <p:sp>
        <p:nvSpPr>
          <p:cNvPr id="142" name="T142"/>
          <p:cNvSpPr txBox="1"/>
          <p:nvPr/>
        </p:nvSpPr>
        <p:spPr>
          <a:xfrm>
            <a:off x="4645152" y="4663440"/>
            <a:ext cx="1874520" cy="256032"/>
          </a:xfrm>
          <a:prstGeom prst="rect">
            <a:avLst/>
          </a:prstGeom>
          <a:noFill/>
        </p:spPr>
        <p:txBody>
          <a:bodyPr wrap="square" lIns="0" tIns="0" rIns="0" bIns="0" anchor="t"/>
          <a:lstStyle/>
          <a:p>
            <a:pPr algn="ctr">
              <a:buNone/>
            </a:pPr>
            <a:r>
              <a:rPr lang="en-US" sz="1400" b="0" i="1" dirty="0">
                <a:solidFill>
                  <a:srgbClr val="555960"/>
                </a:solidFill>
              </a:rPr>
              <a:t>metamorphic</a:t>
            </a:r>
          </a:p>
        </p:txBody>
      </p:sp>
      <p:sp>
        <p:nvSpPr>
          <p:cNvPr id="133" name="T133"/>
          <p:cNvSpPr txBox="1"/>
          <p:nvPr/>
        </p:nvSpPr>
        <p:spPr>
          <a:xfrm>
            <a:off x="6684264" y="4407408"/>
            <a:ext cx="1874520" cy="256032"/>
          </a:xfrm>
          <a:prstGeom prst="rect">
            <a:avLst/>
          </a:prstGeom>
          <a:noFill/>
        </p:spPr>
        <p:txBody>
          <a:bodyPr wrap="square" lIns="0" tIns="0" rIns="0" bIns="0" anchor="t"/>
          <a:lstStyle/>
          <a:p>
            <a:pPr algn="ctr">
              <a:buNone/>
            </a:pPr>
            <a:r>
              <a:rPr lang="en-US" sz="1450" b="1" i="0" dirty="0">
                <a:solidFill>
                  <a:srgbClr val="5C4826"/>
                </a:solidFill>
              </a:rPr>
              <a:t>almost nothing</a:t>
            </a:r>
          </a:p>
        </p:txBody>
      </p:sp>
      <p:sp>
        <p:nvSpPr>
          <p:cNvPr id="143" name="T143"/>
          <p:cNvSpPr txBox="1"/>
          <p:nvPr/>
        </p:nvSpPr>
        <p:spPr>
          <a:xfrm>
            <a:off x="6684264" y="4663440"/>
            <a:ext cx="1874520" cy="256032"/>
          </a:xfrm>
          <a:prstGeom prst="rect">
            <a:avLst/>
          </a:prstGeom>
          <a:noFill/>
        </p:spPr>
        <p:txBody>
          <a:bodyPr wrap="square" lIns="0" tIns="0" rIns="0" bIns="0" anchor="t"/>
          <a:lstStyle/>
          <a:p>
            <a:pPr algn="ctr">
              <a:buNone/>
            </a:pPr>
            <a:r>
              <a:rPr lang="en-US" sz="14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800" b="1" i="0" dirty="0">
                <a:solidFill>
                  <a:srgbClr val="5C4826"/>
                </a:solidFill>
              </a:rPr>
              <a:t>Choose the strategy for the uncertainty you need 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50" b="1" i="0" dirty="0">
                <a:solidFill>
                  <a:srgbClr val="FFFFFF"/>
                </a:solidFill>
              </a:rPr>
              <a:t>A strategy changes how you search — not how strong the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fade">
                                      <p:cBhvr>
                                        <p:cTn id="23" dur="500"/>
                                        <p:tgtEl>
                                          <p:spTgt spid="10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500"/>
                                        <p:tgtEl>
                                          <p:spTgt spid="1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32"/>
                                        </p:tgtEl>
                                        <p:attrNameLst>
                                          <p:attrName>style.visibility</p:attrName>
                                        </p:attrNameLst>
                                      </p:cBhvr>
                                      <p:to>
                                        <p:strVal val="visible"/>
                                      </p:to>
                                    </p:set>
                                    <p:animEffect transition="in" filter="fade">
                                      <p:cBhvr>
                                        <p:cTn id="65" dur="500"/>
                                        <p:tgtEl>
                                          <p:spTgt spid="13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42"/>
                                        </p:tgtEl>
                                        <p:attrNameLst>
                                          <p:attrName>style.visibility</p:attrName>
                                        </p:attrNameLst>
                                      </p:cBhvr>
                                      <p:to>
                                        <p:strVal val="visible"/>
                                      </p:to>
                                    </p:set>
                                    <p:animEffect transition="in" filter="fade">
                                      <p:cBhvr>
                                        <p:cTn id="68" dur="500"/>
                                        <p:tgtEl>
                                          <p:spTgt spid="14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1080000"/>
            <a:ext cx="1420000" cy="4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PROPERTY</a:t>
            </a:r>
          </a:p>
        </p:txBody>
      </p:sp>
      <p:sp>
        <p:nvSpPr>
          <p:cNvPr id="105" name="T105"/>
          <p:cNvSpPr txBox="1"/>
          <p:nvPr/>
        </p:nvSpPr>
        <p:spPr>
          <a:xfrm>
            <a:off x="1826928" y="810000"/>
            <a:ext cx="560000" cy="250000"/>
          </a:xfrm>
          <a:prstGeom prst="rect">
            <a:avLst/>
          </a:prstGeom>
          <a:noFill/>
          <a:ln>
            <a:noFill/>
          </a:ln>
        </p:spPr>
        <p:txBody>
          <a:bodyPr wrap="square" lIns="0" tIns="0" rIns="0" bIns="0" anchor="t"/>
          <a:lstStyle/>
          <a:p>
            <a:pPr algn="ctr">
              <a:buNone/>
            </a:pPr>
            <a:r>
              <a:rPr lang="en-US" sz="900" b="0" i="1" dirty="0">
                <a:solidFill>
                  <a:srgbClr val="555960"/>
                </a:solidFill>
              </a:rPr>
              <a:t>assessed by</a:t>
            </a:r>
          </a:p>
        </p:txBody>
      </p:sp>
      <p:cxnSp>
        <p:nvCxnSpPr>
          <p:cNvPr id="90" name="C90"/>
          <p:cNvCxnSpPr/>
          <p:nvPr/>
        </p:nvCxnSpPr>
        <p:spPr>
          <a:xfrm>
            <a:off x="2016928" y="1320000"/>
            <a:ext cx="167536" cy="0"/>
          </a:xfrm>
          <a:prstGeom prst="straightConnector1">
            <a:avLst/>
          </a:prstGeom>
          <a:ln w="19050">
            <a:solidFill>
              <a:srgbClr val="8E6F3E"/>
            </a:solidFill>
            <a:tailEnd type="triangle" w="med" len="med"/>
          </a:ln>
        </p:spPr>
      </p:cxnSp>
      <p:sp>
        <p:nvSpPr>
          <p:cNvPr id="101" name="B101"/>
          <p:cNvSpPr/>
          <p:nvPr/>
        </p:nvSpPr>
        <p:spPr>
          <a:xfrm>
            <a:off x="2214464" y="1080000"/>
            <a:ext cx="1420000" cy="4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METRIC</a:t>
            </a:r>
          </a:p>
        </p:txBody>
      </p:sp>
      <p:sp>
        <p:nvSpPr>
          <p:cNvPr id="106" name="T106"/>
          <p:cNvSpPr txBox="1"/>
          <p:nvPr/>
        </p:nvSpPr>
        <p:spPr>
          <a:xfrm>
            <a:off x="3474464" y="810000"/>
            <a:ext cx="560000" cy="250000"/>
          </a:xfrm>
          <a:prstGeom prst="rect">
            <a:avLst/>
          </a:prstGeom>
          <a:noFill/>
          <a:ln>
            <a:noFill/>
          </a:ln>
        </p:spPr>
        <p:txBody>
          <a:bodyPr wrap="square" lIns="0" tIns="0" rIns="0" bIns="0" anchor="t"/>
          <a:lstStyle/>
          <a:p>
            <a:pPr algn="ctr">
              <a:buNone/>
            </a:pPr>
            <a:r>
              <a:rPr lang="en-US" sz="900" b="0" i="1" dirty="0">
                <a:solidFill>
                  <a:srgbClr val="555960"/>
                </a:solidFill>
              </a:rPr>
              <a:t>applied</a:t>
            </a:r>
          </a:p>
        </p:txBody>
      </p:sp>
      <p:cxnSp>
        <p:nvCxnSpPr>
          <p:cNvPr id="91" name="C91"/>
          <p:cNvCxnSpPr/>
          <p:nvPr/>
        </p:nvCxnSpPr>
        <p:spPr>
          <a:xfrm>
            <a:off x="3664464" y="1320000"/>
            <a:ext cx="167536" cy="0"/>
          </a:xfrm>
          <a:prstGeom prst="straightConnector1">
            <a:avLst/>
          </a:prstGeom>
          <a:ln w="19050">
            <a:solidFill>
              <a:srgbClr val="8E6F3E"/>
            </a:solidFill>
            <a:tailEnd type="triangle" w="med" len="med"/>
          </a:ln>
        </p:spPr>
      </p:cxnSp>
      <p:sp>
        <p:nvSpPr>
          <p:cNvPr id="102" name="B102"/>
          <p:cNvSpPr/>
          <p:nvPr/>
        </p:nvSpPr>
        <p:spPr>
          <a:xfrm>
            <a:off x="3862000" y="1080000"/>
            <a:ext cx="1420000" cy="4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MEASUREMENT</a:t>
            </a:r>
          </a:p>
        </p:txBody>
      </p:sp>
      <p:sp>
        <p:nvSpPr>
          <p:cNvPr id="107" name="T107"/>
          <p:cNvSpPr txBox="1"/>
          <p:nvPr/>
        </p:nvSpPr>
        <p:spPr>
          <a:xfrm>
            <a:off x="5122000" y="810000"/>
            <a:ext cx="560000" cy="250000"/>
          </a:xfrm>
          <a:prstGeom prst="rect">
            <a:avLst/>
          </a:prstGeom>
          <a:noFill/>
          <a:ln>
            <a:noFill/>
          </a:ln>
        </p:spPr>
        <p:txBody>
          <a:bodyPr wrap="square" lIns="0" tIns="0" rIns="0" bIns="0" anchor="t"/>
          <a:lstStyle/>
          <a:p>
            <a:pPr algn="ctr">
              <a:buNone/>
            </a:pPr>
            <a:r>
              <a:rPr lang="en-US" sz="900" b="0" i="1" dirty="0">
                <a:solidFill>
                  <a:srgbClr val="555960"/>
                </a:solidFill>
              </a:rPr>
              <a:t>bears on</a:t>
            </a:r>
          </a:p>
        </p:txBody>
      </p:sp>
      <p:cxnSp>
        <p:nvCxnSpPr>
          <p:cNvPr id="92" name="C92"/>
          <p:cNvCxnSpPr/>
          <p:nvPr/>
        </p:nvCxnSpPr>
        <p:spPr>
          <a:xfrm>
            <a:off x="5312000" y="1320000"/>
            <a:ext cx="167536" cy="0"/>
          </a:xfrm>
          <a:prstGeom prst="straightConnector1">
            <a:avLst/>
          </a:prstGeom>
          <a:ln w="19050">
            <a:solidFill>
              <a:srgbClr val="8E6F3E"/>
            </a:solidFill>
            <a:tailEnd type="triangle" w="med" len="med"/>
          </a:ln>
        </p:spPr>
      </p:cxnSp>
      <p:sp>
        <p:nvSpPr>
          <p:cNvPr id="103" name="B103"/>
          <p:cNvSpPr/>
          <p:nvPr/>
        </p:nvSpPr>
        <p:spPr>
          <a:xfrm>
            <a:off x="5509536" y="1080000"/>
            <a:ext cx="1420000" cy="4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EVIDENCE</a:t>
            </a:r>
          </a:p>
        </p:txBody>
      </p:sp>
      <p:sp>
        <p:nvSpPr>
          <p:cNvPr id="108" name="T108"/>
          <p:cNvSpPr txBox="1"/>
          <p:nvPr/>
        </p:nvSpPr>
        <p:spPr>
          <a:xfrm>
            <a:off x="6769536" y="810000"/>
            <a:ext cx="560000" cy="250000"/>
          </a:xfrm>
          <a:prstGeom prst="rect">
            <a:avLst/>
          </a:prstGeom>
          <a:noFill/>
          <a:ln>
            <a:noFill/>
          </a:ln>
        </p:spPr>
        <p:txBody>
          <a:bodyPr wrap="square" lIns="0" tIns="0" rIns="0" bIns="0" anchor="t"/>
          <a:lstStyle/>
          <a:p>
            <a:pPr algn="ctr">
              <a:buNone/>
            </a:pPr>
            <a:r>
              <a:rPr lang="en-US" sz="900" b="0" i="1" dirty="0">
                <a:solidFill>
                  <a:srgbClr val="555960"/>
                </a:solidFill>
              </a:rPr>
              <a:t>interpreted</a:t>
            </a:r>
          </a:p>
        </p:txBody>
      </p:sp>
      <p:cxnSp>
        <p:nvCxnSpPr>
          <p:cNvPr id="93" name="C93"/>
          <p:cNvCxnSpPr/>
          <p:nvPr/>
        </p:nvCxnSpPr>
        <p:spPr>
          <a:xfrm>
            <a:off x="6959536" y="1320000"/>
            <a:ext cx="167536" cy="0"/>
          </a:xfrm>
          <a:prstGeom prst="straightConnector1">
            <a:avLst/>
          </a:prstGeom>
          <a:ln w="19050">
            <a:solidFill>
              <a:srgbClr val="8E6F3E"/>
            </a:solidFill>
            <a:tailEnd type="triangle" w="med" len="med"/>
          </a:ln>
        </p:spPr>
      </p:cxnSp>
      <p:sp>
        <p:nvSpPr>
          <p:cNvPr id="104" name="B104"/>
          <p:cNvSpPr/>
          <p:nvPr/>
        </p:nvSpPr>
        <p:spPr>
          <a:xfrm>
            <a:off x="7157072" y="1080000"/>
            <a:ext cx="1420000" cy="4800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150" b="1" i="0" dirty="0">
                <a:solidFill>
                  <a:srgbClr val="5C4826"/>
                </a:solidFill>
              </a:rPr>
              <a:t>JUDGMENT</a:t>
            </a:r>
          </a:p>
        </p:txBody>
      </p:sp>
      <p:sp>
        <p:nvSpPr>
          <p:cNvPr id="110" name="T110"/>
          <p:cNvSpPr txBox="1"/>
          <p:nvPr/>
        </p:nvSpPr>
        <p:spPr>
          <a:xfrm>
            <a:off x="566928" y="1680000"/>
            <a:ext cx="8010144" cy="600000"/>
          </a:xfrm>
          <a:prstGeom prst="rect">
            <a:avLst/>
          </a:prstGeom>
          <a:noFill/>
          <a:ln>
            <a:noFill/>
          </a:ln>
        </p:spPr>
        <p:txBody>
          <a:bodyPr wrap="square" lIns="0" tIns="0" rIns="0" bIns="0" anchor="t"/>
          <a:lstStyle/>
          <a:p>
            <a:pPr algn="ctr">
              <a:buNone/>
            </a:pPr>
            <a:r>
              <a:rPr lang="en-US" sz="1200" b="0" i="1" dirty="0">
                <a:solidFill>
                  <a:srgbClr val="555960"/>
                </a:solidFill>
              </a:rPr>
              <a:t>A metric specifies how observations will bear on some aspect of a property. A measurement applies that metric</a:t>
            </a:r>
          </a:p>
          <a:p>
            <a:pPr algn="ctr">
              <a:spcBef>
                <a:spcPts val="120"/>
              </a:spcBef>
              <a:buNone/>
            </a:pPr>
            <a:r>
              <a:rPr lang="en-US" sz="1200" b="0" i="1" dirty="0">
                <a:solidFill>
                  <a:srgbClr val="555960"/>
                </a:solidFill>
              </a:rPr>
              <a:t>under particular conditions — it parameterizes or tests a model; it is not itself a model.</a:t>
            </a:r>
          </a:p>
        </p:txBody>
      </p:sp>
      <p:sp>
        <p:nvSpPr>
          <p:cNvPr id="120" name="B120"/>
          <p:cNvSpPr/>
          <p:nvPr/>
        </p:nvSpPr>
        <p:spPr>
          <a:xfrm>
            <a:off x="566928" y="2400000"/>
            <a:ext cx="2331720" cy="440000"/>
          </a:xfrm>
          <a:prstGeom prst="rect">
            <a:avLst/>
          </a:prstGeom>
          <a:solidFill>
            <a:srgbClr val="8E6F3E"/>
          </a:solidFill>
          <a:ln>
            <a:noFill/>
          </a:ln>
        </p:spPr>
        <p:txBody>
          <a:bodyPr wrap="square" lIns="91440" tIns="45720" rIns="91440" bIns="45720" anchor="ctr"/>
          <a:lstStyle/>
          <a:p>
            <a:pPr algn="ctr">
              <a:buNone/>
            </a:pPr>
            <a:r>
              <a:rPr lang="en-US" sz="1250" b="1" i="0" dirty="0">
                <a:solidFill>
                  <a:srgbClr val="FFFFFF"/>
                </a:solidFill>
              </a:rPr>
              <a:t>Coverage</a:t>
            </a:r>
          </a:p>
        </p:txBody>
      </p:sp>
      <p:sp>
        <p:nvSpPr>
          <p:cNvPr id="130" name="P130"/>
          <p:cNvSpPr/>
          <p:nvPr/>
        </p:nvSpPr>
        <p:spPr>
          <a:xfrm>
            <a:off x="2971800" y="2400000"/>
            <a:ext cx="5605272" cy="4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how much did we examine?</a:t>
            </a:r>
          </a:p>
        </p:txBody>
      </p:sp>
      <p:sp>
        <p:nvSpPr>
          <p:cNvPr id="121" name="B121"/>
          <p:cNvSpPr/>
          <p:nvPr/>
        </p:nvSpPr>
        <p:spPr>
          <a:xfrm>
            <a:off x="566928" y="2900000"/>
            <a:ext cx="2331720" cy="440000"/>
          </a:xfrm>
          <a:prstGeom prst="rect">
            <a:avLst/>
          </a:prstGeom>
          <a:solidFill>
            <a:srgbClr val="8E6F3E"/>
          </a:solidFill>
          <a:ln>
            <a:noFill/>
          </a:ln>
        </p:spPr>
        <p:txBody>
          <a:bodyPr wrap="square" lIns="91440" tIns="45720" rIns="91440" bIns="45720" anchor="ctr"/>
          <a:lstStyle/>
          <a:p>
            <a:pPr algn="ctr">
              <a:buNone/>
            </a:pPr>
            <a:r>
              <a:rPr lang="en-US" sz="1250" b="1" i="0" dirty="0">
                <a:solidFill>
                  <a:srgbClr val="FFFFFF"/>
                </a:solidFill>
              </a:rPr>
              <a:t>Detection power</a:t>
            </a:r>
          </a:p>
        </p:txBody>
      </p:sp>
      <p:sp>
        <p:nvSpPr>
          <p:cNvPr id="131" name="P131"/>
          <p:cNvSpPr/>
          <p:nvPr/>
        </p:nvSpPr>
        <p:spPr>
          <a:xfrm>
            <a:off x="2971800" y="2900000"/>
            <a:ext cx="5605272" cy="4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would we notice the failure?</a:t>
            </a:r>
          </a:p>
        </p:txBody>
      </p:sp>
      <p:sp>
        <p:nvSpPr>
          <p:cNvPr id="122" name="B122"/>
          <p:cNvSpPr/>
          <p:nvPr/>
        </p:nvSpPr>
        <p:spPr>
          <a:xfrm>
            <a:off x="566928" y="3400000"/>
            <a:ext cx="2331720" cy="440000"/>
          </a:xfrm>
          <a:prstGeom prst="rect">
            <a:avLst/>
          </a:prstGeom>
          <a:solidFill>
            <a:srgbClr val="8E6F3E"/>
          </a:solidFill>
          <a:ln>
            <a:noFill/>
          </a:ln>
        </p:spPr>
        <p:txBody>
          <a:bodyPr wrap="square" lIns="91440" tIns="45720" rIns="91440" bIns="45720" anchor="ctr"/>
          <a:lstStyle/>
          <a:p>
            <a:pPr algn="ctr">
              <a:buNone/>
            </a:pPr>
            <a:r>
              <a:rPr lang="en-US" sz="1250" b="1" i="0" dirty="0">
                <a:solidFill>
                  <a:srgbClr val="FFFFFF"/>
                </a:solidFill>
              </a:rPr>
              <a:t>Representativeness</a:t>
            </a:r>
          </a:p>
        </p:txBody>
      </p:sp>
      <p:sp>
        <p:nvSpPr>
          <p:cNvPr id="132" name="P132"/>
          <p:cNvSpPr/>
          <p:nvPr/>
        </p:nvSpPr>
        <p:spPr>
          <a:xfrm>
            <a:off x="2971800" y="3400000"/>
            <a:ext cx="5605272" cy="4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did we examine the right conditions?</a:t>
            </a:r>
          </a:p>
        </p:txBody>
      </p:sp>
      <p:sp>
        <p:nvSpPr>
          <p:cNvPr id="123" name="B123"/>
          <p:cNvSpPr/>
          <p:nvPr/>
        </p:nvSpPr>
        <p:spPr>
          <a:xfrm>
            <a:off x="566928" y="3900000"/>
            <a:ext cx="2331720" cy="440000"/>
          </a:xfrm>
          <a:prstGeom prst="rect">
            <a:avLst/>
          </a:prstGeom>
          <a:solidFill>
            <a:srgbClr val="8E6F3E"/>
          </a:solidFill>
          <a:ln>
            <a:noFill/>
          </a:ln>
        </p:spPr>
        <p:txBody>
          <a:bodyPr wrap="square" lIns="91440" tIns="45720" rIns="91440" bIns="45720" anchor="ctr"/>
          <a:lstStyle/>
          <a:p>
            <a:pPr algn="ctr">
              <a:buNone/>
            </a:pPr>
            <a:r>
              <a:rPr lang="en-US" sz="1250" b="1" i="0" dirty="0">
                <a:solidFill>
                  <a:srgbClr val="FFFFFF"/>
                </a:solidFill>
              </a:rPr>
              <a:t>Independence</a:t>
            </a:r>
          </a:p>
        </p:txBody>
      </p:sp>
      <p:sp>
        <p:nvSpPr>
          <p:cNvPr id="133" name="P133"/>
          <p:cNvSpPr/>
          <p:nvPr/>
        </p:nvSpPr>
        <p:spPr>
          <a:xfrm>
            <a:off x="2971800" y="3900000"/>
            <a:ext cx="5605272" cy="4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could one mistaken assumption undermine all the evidence?</a:t>
            </a:r>
          </a:p>
        </p:txBody>
      </p:sp>
      <p:sp>
        <p:nvSpPr>
          <p:cNvPr id="124" name="B124"/>
          <p:cNvSpPr/>
          <p:nvPr/>
        </p:nvSpPr>
        <p:spPr>
          <a:xfrm>
            <a:off x="566928" y="4400000"/>
            <a:ext cx="2331720" cy="440000"/>
          </a:xfrm>
          <a:prstGeom prst="rect">
            <a:avLst/>
          </a:prstGeom>
          <a:solidFill>
            <a:srgbClr val="8E6F3E"/>
          </a:solidFill>
          <a:ln>
            <a:noFill/>
          </a:ln>
        </p:spPr>
        <p:txBody>
          <a:bodyPr wrap="square" lIns="91440" tIns="45720" rIns="91440" bIns="45720" anchor="ctr"/>
          <a:lstStyle/>
          <a:p>
            <a:pPr algn="ctr">
              <a:buNone/>
            </a:pPr>
            <a:r>
              <a:rPr lang="en-US" sz="1250" b="1" i="0" dirty="0">
                <a:solidFill>
                  <a:srgbClr val="FFFFFF"/>
                </a:solidFill>
              </a:rPr>
              <a:t>Residual uncertainty</a:t>
            </a:r>
          </a:p>
        </p:txBody>
      </p:sp>
      <p:sp>
        <p:nvSpPr>
          <p:cNvPr id="134" name="P134"/>
          <p:cNvSpPr/>
          <p:nvPr/>
        </p:nvSpPr>
        <p:spPr>
          <a:xfrm>
            <a:off x="2971800" y="4400000"/>
            <a:ext cx="5605272" cy="4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what remains unresolved — known failures, unmodeled states?</a:t>
            </a:r>
          </a:p>
        </p:txBody>
      </p:sp>
      <p:sp>
        <p:nvSpPr>
          <p:cNvPr id="140" name="P140"/>
          <p:cNvSpPr/>
          <p:nvPr/>
        </p:nvSpPr>
        <p:spPr>
          <a:xfrm>
            <a:off x="566928" y="5000000"/>
            <a:ext cx="8010144" cy="74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1150" b="0" i="0" dirty="0">
                <a:solidFill>
                  <a:srgbClr val="000000"/>
                </a:solidFill>
              </a:rPr>
              <a:t>Mutation: coverage says the line ran; detection power asks whether a seeded wrong answer would be noticed.</a:t>
            </a:r>
          </a:p>
          <a:p>
            <a:pPr algn="l">
              <a:buNone/>
            </a:pPr>
            <a:r>
              <a:rPr lang="en-US" sz="1150" b="0" i="0" dirty="0">
                <a:solidFill>
                  <a:srgbClr val="000000"/>
                </a:solidFill>
              </a:rPr>
              <a:t>Representativeness: a 50 req/s test says little about 4,000 req/s at month end — evidence inherits its conditions.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0"/>
                                        </p:tgtEl>
                                        <p:attrNameLst>
                                          <p:attrName>style.visibility</p:attrName>
                                        </p:attrNameLst>
                                      </p:cBhvr>
                                      <p:to>
                                        <p:strVal val="visible"/>
                                      </p:to>
                                    </p:set>
                                    <p:animEffect transition="in" filter="fade">
                                      <p:cBhvr>
                                        <p:cTn id="12" dur="500"/>
                                        <p:tgtEl>
                                          <p:spTgt spid="12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1"/>
                                        </p:tgtEl>
                                        <p:attrNameLst>
                                          <p:attrName>style.visibility</p:attrName>
                                        </p:attrNameLst>
                                      </p:cBhvr>
                                      <p:to>
                                        <p:strVal val="visible"/>
                                      </p:to>
                                    </p:set>
                                    <p:animEffect transition="in" filter="fade">
                                      <p:cBhvr>
                                        <p:cTn id="23" dur="500"/>
                                        <p:tgtEl>
                                          <p:spTgt spid="131"/>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22"/>
                                        </p:tgtEl>
                                        <p:attrNameLst>
                                          <p:attrName>style.visibility</p:attrName>
                                        </p:attrNameLst>
                                      </p:cBhvr>
                                      <p:to>
                                        <p:strVal val="visible"/>
                                      </p:to>
                                    </p:set>
                                    <p:animEffect transition="in" filter="fade">
                                      <p:cBhvr>
                                        <p:cTn id="28" dur="500"/>
                                        <p:tgtEl>
                                          <p:spTgt spid="12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2"/>
                                        </p:tgtEl>
                                        <p:attrNameLst>
                                          <p:attrName>style.visibility</p:attrName>
                                        </p:attrNameLst>
                                      </p:cBhvr>
                                      <p:to>
                                        <p:strVal val="visible"/>
                                      </p:to>
                                    </p:set>
                                    <p:animEffect transition="in" filter="fade">
                                      <p:cBhvr>
                                        <p:cTn id="31" dur="500"/>
                                        <p:tgtEl>
                                          <p:spTgt spid="13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23"/>
                                        </p:tgtEl>
                                        <p:attrNameLst>
                                          <p:attrName>style.visibility</p:attrName>
                                        </p:attrNameLst>
                                      </p:cBhvr>
                                      <p:to>
                                        <p:strVal val="visible"/>
                                      </p:to>
                                    </p:set>
                                    <p:animEffect transition="in" filter="fade">
                                      <p:cBhvr>
                                        <p:cTn id="36" dur="500"/>
                                        <p:tgtEl>
                                          <p:spTgt spid="12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3"/>
                                        </p:tgtEl>
                                        <p:attrNameLst>
                                          <p:attrName>style.visibility</p:attrName>
                                        </p:attrNameLst>
                                      </p:cBhvr>
                                      <p:to>
                                        <p:strVal val="visible"/>
                                      </p:to>
                                    </p:set>
                                    <p:animEffect transition="in" filter="fade">
                                      <p:cBhvr>
                                        <p:cTn id="39" dur="500"/>
                                        <p:tgtEl>
                                          <p:spTgt spid="13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34"/>
                                        </p:tgtEl>
                                        <p:attrNameLst>
                                          <p:attrName>style.visibility</p:attrName>
                                        </p:attrNameLst>
                                      </p:cBhvr>
                                      <p:to>
                                        <p:strVal val="visible"/>
                                      </p:to>
                                    </p:set>
                                    <p:animEffect transition="in" filter="fade">
                                      <p:cBhvr>
                                        <p:cTn id="47" dur="500"/>
                                        <p:tgtEl>
                                          <p:spTgt spid="13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40"/>
                                        </p:tgtEl>
                                        <p:attrNameLst>
                                          <p:attrName>style.visibility</p:attrName>
                                        </p:attrNameLst>
                                      </p:cBhvr>
                                      <p:to>
                                        <p:strVal val="visible"/>
                                      </p:to>
                                    </p:set>
                                    <p:animEffect transition="in" filter="fade">
                                      <p:cBhvr>
                                        <p:cTn id="52"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  MAGE Moment: evidence multiplies; independence does not</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B100"/>
          <p:cNvSpPr/>
          <p:nvPr/>
        </p:nvSpPr>
        <p:spPr>
          <a:xfrm>
            <a:off x="3572000" y="900000"/>
            <a:ext cx="2000000" cy="52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CLAIM</a:t>
            </a:r>
          </a:p>
        </p:txBody>
      </p:sp>
      <p:sp>
        <p:nvSpPr>
          <p:cNvPr id="110" name="P110"/>
          <p:cNvSpPr/>
          <p:nvPr/>
        </p:nvSpPr>
        <p:spPr>
          <a:xfrm>
            <a:off x="800000" y="1900000"/>
            <a:ext cx="34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000000"/>
                </a:solidFill>
              </a:rPr>
              <a:t>Agent interpretation X</a:t>
            </a:r>
          </a:p>
        </p:txBody>
      </p:sp>
      <p:cxnSp>
        <p:nvCxnSpPr>
          <p:cNvPr id="111" name="C111"/>
          <p:cNvCxnSpPr/>
          <p:nvPr/>
        </p:nvCxnSpPr>
        <p:spPr>
          <a:xfrm>
            <a:off x="2500000" y="2470000"/>
            <a:ext cx="0" cy="360000"/>
          </a:xfrm>
          <a:prstGeom prst="straightConnector1">
            <a:avLst/>
          </a:prstGeom>
          <a:ln w="38100">
            <a:solidFill>
              <a:srgbClr val="8E6F3E"/>
            </a:solidFill>
            <a:tailEnd type="triangle" w="med" len="med"/>
          </a:ln>
        </p:spPr>
      </p:cxnSp>
      <p:sp>
        <p:nvSpPr>
          <p:cNvPr id="112" name="P112"/>
          <p:cNvSpPr/>
          <p:nvPr/>
        </p:nvSpPr>
        <p:spPr>
          <a:xfrm>
            <a:off x="800000" y="2850000"/>
            <a:ext cx="34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0" dirty="0">
                <a:solidFill>
                  <a:srgbClr val="000000"/>
                </a:solidFill>
              </a:rPr>
              <a:t>10,000 generated tests</a:t>
            </a:r>
          </a:p>
        </p:txBody>
      </p:sp>
      <p:cxnSp>
        <p:nvCxnSpPr>
          <p:cNvPr id="113" name="C113"/>
          <p:cNvCxnSpPr/>
          <p:nvPr/>
        </p:nvCxnSpPr>
        <p:spPr>
          <a:xfrm>
            <a:off x="2500000" y="3420000"/>
            <a:ext cx="0" cy="360000"/>
          </a:xfrm>
          <a:prstGeom prst="straightConnector1">
            <a:avLst/>
          </a:prstGeom>
          <a:ln w="38100">
            <a:solidFill>
              <a:srgbClr val="8E6F3E"/>
            </a:solidFill>
            <a:tailEnd type="triangle" w="med" len="med"/>
          </a:ln>
        </p:spPr>
      </p:cxnSp>
      <p:sp>
        <p:nvSpPr>
          <p:cNvPr id="114" name="P114"/>
          <p:cNvSpPr/>
          <p:nvPr/>
        </p:nvSpPr>
        <p:spPr>
          <a:xfrm>
            <a:off x="800000" y="3800000"/>
            <a:ext cx="340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550" b="1" i="0" dirty="0">
                <a:solidFill>
                  <a:srgbClr val="000000"/>
                </a:solidFill>
              </a:rPr>
              <a:t>EVIDENCE A</a:t>
            </a:r>
          </a:p>
        </p:txBody>
      </p:sp>
      <p:sp>
        <p:nvSpPr>
          <p:cNvPr id="120" name="P120"/>
          <p:cNvSpPr/>
          <p:nvPr/>
        </p:nvSpPr>
        <p:spPr>
          <a:xfrm>
            <a:off x="4940000" y="1900000"/>
            <a:ext cx="34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000000"/>
                </a:solidFill>
              </a:rPr>
              <a:t>Independent model Y</a:t>
            </a:r>
          </a:p>
        </p:txBody>
      </p:sp>
      <p:cxnSp>
        <p:nvCxnSpPr>
          <p:cNvPr id="121" name="C121"/>
          <p:cNvCxnSpPr/>
          <p:nvPr/>
        </p:nvCxnSpPr>
        <p:spPr>
          <a:xfrm>
            <a:off x="6640000" y="2470000"/>
            <a:ext cx="0" cy="360000"/>
          </a:xfrm>
          <a:prstGeom prst="straightConnector1">
            <a:avLst/>
          </a:prstGeom>
          <a:ln w="38100">
            <a:solidFill>
              <a:srgbClr val="8E6F3E"/>
            </a:solidFill>
            <a:tailEnd type="triangle" w="med" len="med"/>
          </a:ln>
        </p:spPr>
      </p:cxnSp>
      <p:sp>
        <p:nvSpPr>
          <p:cNvPr id="122" name="P122"/>
          <p:cNvSpPr/>
          <p:nvPr/>
        </p:nvSpPr>
        <p:spPr>
          <a:xfrm>
            <a:off x="4940000" y="2850000"/>
            <a:ext cx="34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0" dirty="0">
                <a:solidFill>
                  <a:srgbClr val="000000"/>
                </a:solidFill>
              </a:rPr>
              <a:t>analysis</a:t>
            </a:r>
          </a:p>
        </p:txBody>
      </p:sp>
      <p:cxnSp>
        <p:nvCxnSpPr>
          <p:cNvPr id="123" name="C123"/>
          <p:cNvCxnSpPr/>
          <p:nvPr/>
        </p:nvCxnSpPr>
        <p:spPr>
          <a:xfrm>
            <a:off x="6640000" y="3420000"/>
            <a:ext cx="0" cy="360000"/>
          </a:xfrm>
          <a:prstGeom prst="straightConnector1">
            <a:avLst/>
          </a:prstGeom>
          <a:ln w="38100">
            <a:solidFill>
              <a:srgbClr val="8E6F3E"/>
            </a:solidFill>
            <a:tailEnd type="triangle" w="med" len="med"/>
          </a:ln>
        </p:spPr>
      </p:cxnSp>
      <p:sp>
        <p:nvSpPr>
          <p:cNvPr id="124" name="P124"/>
          <p:cNvSpPr/>
          <p:nvPr/>
        </p:nvSpPr>
        <p:spPr>
          <a:xfrm>
            <a:off x="4940000" y="3800000"/>
            <a:ext cx="340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550" b="1" i="0" dirty="0">
                <a:solidFill>
                  <a:srgbClr val="000000"/>
                </a:solidFill>
              </a:rPr>
              <a:t>EVIDENCE B</a:t>
            </a:r>
          </a:p>
        </p:txBody>
      </p:sp>
      <p:sp>
        <p:nvSpPr>
          <p:cNvPr id="130" name="L130"/>
          <p:cNvSpPr/>
          <p:nvPr/>
        </p:nvSpPr>
        <p:spPr>
          <a:xfrm>
            <a:off x="2500000" y="1420000"/>
            <a:ext cx="2072000" cy="480000"/>
          </a:xfrm>
          <a:custGeom>
            <a:avLst/>
            <a:gdLst/>
            <a:ahLst/>
            <a:cxnLst/>
            <a:rect l="l" t="t" r="r" b="b"/>
            <a:pathLst>
              <a:path w="2072000" h="480000" fill="none">
                <a:moveTo>
                  <a:pt x="2072000" y="0"/>
                </a:moveTo>
                <a:lnTo>
                  <a:pt x="0" y="0"/>
                </a:lnTo>
                <a:lnTo>
                  <a:pt x="0" y="480000"/>
                </a:lnTo>
              </a:path>
            </a:pathLst>
          </a:custGeom>
          <a:noFill/>
          <a:ln w="38100">
            <a:solidFill>
              <a:srgbClr val="8E6F3E"/>
            </a:solidFill>
            <a:tailEnd type="triangle" w="med" len="med"/>
          </a:ln>
        </p:spPr>
        <p:txBody>
          <a:bodyPr/>
          <a:lstStyle/>
          <a:p>
            <a:endParaRPr lang="en-US"/>
          </a:p>
        </p:txBody>
      </p:sp>
      <p:sp>
        <p:nvSpPr>
          <p:cNvPr id="131" name="L131"/>
          <p:cNvSpPr/>
          <p:nvPr/>
        </p:nvSpPr>
        <p:spPr>
          <a:xfrm>
            <a:off x="4572000" y="1420000"/>
            <a:ext cx="2068000" cy="480000"/>
          </a:xfrm>
          <a:custGeom>
            <a:avLst/>
            <a:gdLst/>
            <a:ahLst/>
            <a:cxnLst/>
            <a:rect l="l" t="t" r="r" b="b"/>
            <a:pathLst>
              <a:path w="2068000" h="480000" fill="none">
                <a:moveTo>
                  <a:pt x="0" y="0"/>
                </a:moveTo>
                <a:lnTo>
                  <a:pt x="2068000" y="0"/>
                </a:lnTo>
                <a:lnTo>
                  <a:pt x="2068000" y="480000"/>
                </a:lnTo>
              </a:path>
            </a:pathLst>
          </a:custGeom>
          <a:noFill/>
          <a:ln w="38100">
            <a:solidFill>
              <a:srgbClr val="8E6F3E"/>
            </a:solidFill>
            <a:tailEnd type="triangle" w="med" len="med"/>
          </a:ln>
        </p:spPr>
        <p:txBody>
          <a:bodyPr/>
          <a:lstStyle/>
          <a:p>
            <a:endParaRPr lang="en-US"/>
          </a:p>
        </p:txBody>
      </p:sp>
      <p:sp>
        <p:nvSpPr>
          <p:cNvPr id="140" name="T140"/>
          <p:cNvSpPr txBox="1"/>
          <p:nvPr/>
        </p:nvSpPr>
        <p:spPr>
          <a:xfrm>
            <a:off x="800000" y="4420000"/>
            <a:ext cx="7540000" cy="560000"/>
          </a:xfrm>
          <a:prstGeom prst="rect">
            <a:avLst/>
          </a:prstGeom>
          <a:noFill/>
          <a:ln>
            <a:noFill/>
          </a:ln>
        </p:spPr>
        <p:txBody>
          <a:bodyPr wrap="square" lIns="0" tIns="0" rIns="0" bIns="0" anchor="t"/>
          <a:lstStyle/>
          <a:p>
            <a:pPr algn="ctr">
              <a:buNone/>
            </a:pPr>
            <a:r>
              <a:rPr lang="en-US" sz="1200" b="1" i="0" dirty="0">
                <a:solidFill>
                  <a:srgbClr val="5C4826"/>
                </a:solidFill>
              </a:rPr>
              <a:t>A thousand tests from one mistaken interpretation are not a thousand reasons — they are one reason, repeated.</a:t>
            </a:r>
          </a:p>
          <a:p>
            <a:pPr algn="ctr">
              <a:buNone/>
            </a:pPr>
            <a:r>
              <a:rPr lang="en-US" sz="1150" b="0" i="1" dirty="0">
                <a:solidFill>
                  <a:srgbClr val="555960"/>
                </a:solidFill>
              </a:rPr>
              <a:t>Two branches on different assumptions catch each other’s mistakes.</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validation triangulates across evidence with</a:t>
            </a:r>
          </a:p>
          <a:p>
            <a:pPr algn="ctr">
              <a:spcBef>
                <a:spcPts val="60"/>
              </a:spcBef>
              <a:buNone/>
            </a:pPr>
            <a:r>
              <a:rPr lang="en-US" sz="2000" b="1" i="0" dirty="0">
                <a:solidFill>
                  <a:srgbClr val="FFFFFF"/>
                </a:solidFill>
              </a:rPr>
              <a:t>meaningfully different assumptions and failure modes.</a:t>
            </a:r>
          </a:p>
        </p:txBody>
      </p:sp>
      <p:sp>
        <p:nvSpPr>
          <p:cNvPr id="190" name="T190"/>
          <p:cNvSpPr txBox="1"/>
          <p:nvPr/>
        </p:nvSpPr>
        <p:spPr>
          <a:xfrm>
            <a:off x="566928" y="5120000"/>
            <a:ext cx="8010144" cy="400000"/>
          </a:xfrm>
          <a:prstGeom prst="rect">
            <a:avLst/>
          </a:prstGeom>
          <a:noFill/>
          <a:ln>
            <a:noFill/>
          </a:ln>
        </p:spPr>
        <p:txBody>
          <a:bodyPr wrap="square" lIns="0" tIns="0" rIns="0" bIns="0" anchor="t"/>
          <a:lstStyle/>
          <a:p>
            <a:pPr algn="ctr">
              <a:buNone/>
            </a:pPr>
            <a:r>
              <a:rPr lang="en-US" sz="1200" b="0" i="1" dirty="0">
                <a:solidFill>
                  <a:srgbClr val="555960"/>
                </a:solidFill>
              </a:rPr>
              <a:t>GenAI makes evidence volume cheap. It does not automatically make evidence independent.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Enough depends on consequence, margin, and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566928" y="850000"/>
            <a:ext cx="8010144" cy="8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50" b="1" i="0" dirty="0">
                <a:solidFill>
                  <a:srgbClr val="5C4826"/>
                </a:solidFill>
              </a:rPr>
              <a:t>Evidence is judged against consequence.</a:t>
            </a:r>
          </a:p>
          <a:p>
            <a:pPr algn="ctr">
              <a:buNone/>
            </a:pPr>
            <a:r>
              <a:rPr lang="en-US" sz="1250" b="0" i="1" dirty="0">
                <a:solidFill>
                  <a:srgbClr val="555960"/>
                </a:solidFill>
              </a:rPr>
              <a:t>The same residual uncertainty may be acceptable for a scratchpad and unacceptable for a medical device.</a:t>
            </a:r>
          </a:p>
        </p:txBody>
      </p:sp>
      <p:sp>
        <p:nvSpPr>
          <p:cNvPr id="110" name="B110"/>
          <p:cNvSpPr/>
          <p:nvPr/>
        </p:nvSpPr>
        <p:spPr>
          <a:xfrm>
            <a:off x="566928" y="1830000"/>
            <a:ext cx="3931920" cy="460000"/>
          </a:xfrm>
          <a:prstGeom prst="rect">
            <a:avLst/>
          </a:prstGeom>
          <a:solidFill>
            <a:srgbClr val="8E6F3E"/>
          </a:solidFill>
          <a:ln>
            <a:noFill/>
          </a:ln>
        </p:spPr>
        <p:txBody>
          <a:bodyPr wrap="square" lIns="91440" tIns="45720" rIns="91440" bIns="45720" anchor="ctr"/>
          <a:lstStyle/>
          <a:p>
            <a:pPr algn="ctr">
              <a:buNone/>
            </a:pPr>
            <a:r>
              <a:rPr lang="en-US" sz="1250" b="1" i="0" dirty="0">
                <a:solidFill>
                  <a:srgbClr val="FFFFFF"/>
                </a:solidFill>
              </a:rPr>
              <a:t>QUANTITATIVE UNCERTAINTY: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1" i="0" dirty="0">
                <a:solidFill>
                  <a:srgbClr val="5C4826"/>
                </a:solidFill>
              </a:rPr>
              <a:t>Specification: p99 ≤ 500 ms</a:t>
            </a:r>
          </a:p>
          <a:p>
            <a:pPr algn="ctr">
              <a:spcBef>
                <a:spcPts val="120"/>
              </a:spcBef>
              <a:buNone/>
            </a:pPr>
            <a:r>
              <a:rPr lang="en-US" sz="1200" b="0" i="0" dirty="0">
                <a:solidFill>
                  <a:srgbClr val="000000"/>
                </a:solidFill>
              </a:rPr>
              <a:t>measured 420 ms → observed margin</a:t>
            </a:r>
          </a:p>
          <a:p>
            <a:pPr algn="ctr">
              <a:buNone/>
            </a:pPr>
            <a:r>
              <a:rPr lang="en-US" sz="1200" b="0" i="0" dirty="0">
                <a:solidFill>
                  <a:srgbClr val="000000"/>
                </a:solidFill>
              </a:rPr>
              <a:t>measured 499 ms → almost no margin</a:t>
            </a:r>
          </a:p>
          <a:p>
            <a:pPr algn="ctr">
              <a:spcBef>
                <a:spcPts val="160"/>
              </a:spcBef>
              <a:buNone/>
            </a:pPr>
            <a:r>
              <a:rPr lang="en-US" sz="1100" b="0" i="1" dirty="0">
                <a:solidFill>
                  <a:srgbClr val="555960"/>
                </a:solidFill>
              </a:rPr>
              <a:t>Observed separation is not automatically defensible margin: workloads, measurements, models, and operating conditions all vary.</a:t>
            </a:r>
          </a:p>
        </p:txBody>
      </p:sp>
      <p:sp>
        <p:nvSpPr>
          <p:cNvPr id="120" name="B120"/>
          <p:cNvSpPr/>
          <p:nvPr/>
        </p:nvSpPr>
        <p:spPr>
          <a:xfrm>
            <a:off x="4645152" y="1830000"/>
            <a:ext cx="3931920" cy="460000"/>
          </a:xfrm>
          <a:prstGeom prst="rect">
            <a:avLst/>
          </a:prstGeom>
          <a:solidFill>
            <a:srgbClr val="5C4826"/>
          </a:solidFill>
          <a:ln>
            <a:noFill/>
          </a:ln>
        </p:spPr>
        <p:txBody>
          <a:bodyPr wrap="square" lIns="91440" tIns="45720" rIns="91440" bIns="45720" anchor="ctr"/>
          <a:lstStyle/>
          <a:p>
            <a:pPr algn="ctr">
              <a:buNone/>
            </a:pPr>
            <a:r>
              <a:rPr lang="en-US" sz="1150" b="1" i="0" dirty="0">
                <a:solidFill>
                  <a:srgbClr val="FFFFFF"/>
                </a:solidFill>
              </a:rPr>
              <a:t>DISCRETE, UNANTICIPATED BEHAVIOR: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0" i="0" dirty="0">
                <a:solidFill>
                  <a:srgbClr val="000000"/>
                </a:solidFill>
              </a:rPr>
              <a:t>Software jumps to qualitatively different paths:</a:t>
            </a:r>
          </a:p>
          <a:p>
            <a:pPr algn="ctr">
              <a:buNone/>
            </a:pPr>
            <a:r>
              <a:rPr lang="en-US" sz="1100" b="0" i="1" dirty="0">
                <a:solidFill>
                  <a:srgbClr val="555960"/>
                </a:solidFill>
              </a:rPr>
              <a:t>authorization bypass · duplicate charge · malformed message reaching an unexpected state</a:t>
            </a:r>
          </a:p>
          <a:p>
            <a:pPr algn="ctr">
              <a:spcBef>
                <a:spcPts val="160"/>
              </a:spcBef>
              <a:buNone/>
            </a:pPr>
            <a:r>
              <a:rPr lang="en-US" sz="1250" b="1" i="0" dirty="0">
                <a:solidFill>
                  <a:srgbClr val="5C4826"/>
                </a:solidFill>
              </a:rPr>
              <a:t>FAULT → CONTROL BOUNDARY → contained</a:t>
            </a:r>
          </a:p>
          <a:p>
            <a:pPr algn="ctr">
              <a:spcBef>
                <a:spcPts val="120"/>
              </a:spcBef>
              <a:buNone/>
            </a:pPr>
            <a:r>
              <a:rPr lang="en-US" sz="1100" b="0" i="0" dirty="0">
                <a:solidFill>
                  <a:srgbClr val="000000"/>
                </a:solidFill>
              </a:rPr>
              <a:t>permissions · isolation · transactions · quotas · timeouts · staged rollout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1300" b="0" i="1" dirty="0">
                <a:solidFill>
                  <a:srgbClr val="555960"/>
                </a:solidFill>
              </a:rPr>
              <a:t>There may be no useful numerical distance from a latent authorization bypass.</a:t>
            </a:r>
          </a:p>
          <a:p>
            <a:pPr algn="ctr">
              <a:spcBef>
                <a:spcPts val="120"/>
              </a:spcBef>
              <a:buNone/>
            </a:pPr>
            <a:r>
              <a:rPr lang="en-US" sz="13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For quantitative uncertainty, ask how much margin remains.</a:t>
            </a:r>
          </a:p>
          <a:p>
            <a:pPr algn="ctr">
              <a:buNone/>
            </a:pPr>
            <a:r>
              <a:rPr lang="en-US" sz="1400" b="1" i="0" dirty="0">
                <a:solidFill>
                  <a:srgbClr val="FFFFFF"/>
                </a:solidFill>
              </a:rPr>
              <a:t>For discrete and unanticipated behavior, ask how far failure is permitted to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P100"/>
          <p:cNvSpPr/>
          <p:nvPr/>
        </p:nvSpPr>
        <p:spPr>
          <a:xfrm>
            <a:off x="620000" y="980000"/>
            <a:ext cx="8000000" cy="118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450" b="1" i="0" dirty="0">
                <a:solidFill>
                  <a:srgbClr val="57534E"/>
                </a:solidFill>
              </a:rPr>
              <a:t>THE EVIDENCE ON THE TABLE</a:t>
            </a:r>
          </a:p>
          <a:p>
            <a:pPr algn="ctr">
              <a:spcBef>
                <a:spcPts val="120"/>
              </a:spcBef>
              <a:buNone/>
            </a:pPr>
            <a:r>
              <a:rPr lang="en-US" sz="1500" b="0" i="0" dirty="0">
                <a:solidFill>
                  <a:srgbClr val="000000"/>
                </a:solidFill>
              </a:rPr>
              <a:t>Property tests pass. A load model predicts p99 &lt; 500 ms, but production workload is untested.</a:t>
            </a:r>
          </a:p>
          <a:p>
            <a:pPr algn="ctr">
              <a:spcBef>
                <a:spcPts val="120"/>
              </a:spcBef>
              <a:buNone/>
            </a:pPr>
            <a:r>
              <a:rPr lang="en-US" sz="1500" b="0" i="0" dirty="0">
                <a:solidFill>
                  <a:srgbClr val="000000"/>
                </a:solidFill>
              </a:rPr>
              <a:t>One incident report suggests a rare double-charge. Consequence: real money. There is no transaction limit and no rollback path.</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REFUSE</a:t>
            </a:r>
          </a:p>
        </p:txBody>
      </p:sp>
      <p:sp>
        <p:nvSpPr>
          <p:cNvPr id="130" name="T130"/>
          <p:cNvSpPr txBox="1"/>
          <p:nvPr/>
        </p:nvSpPr>
        <p:spPr>
          <a:xfrm>
            <a:off x="620000" y="4716227"/>
            <a:ext cx="8000000" cy="520000"/>
          </a:xfrm>
          <a:prstGeom prst="rect">
            <a:avLst/>
          </a:prstGeom>
          <a:noFill/>
          <a:ln>
            <a:noFill/>
          </a:ln>
        </p:spPr>
        <p:txBody>
          <a:bodyPr wrap="square" lIns="0" tIns="0" rIns="0" bIns="0" anchor="t"/>
          <a:lstStyle/>
          <a:p>
            <a:pPr algn="ctr">
              <a:buNone/>
            </a:pPr>
            <a:r>
              <a:rPr lang="en-US" sz="1700" b="0" i="1" dirty="0">
                <a:solidFill>
                  <a:srgbClr val="555960"/>
                </a:solidFill>
              </a:rPr>
              <a:t>Justify from: claims covered · evidence strength · representativeness · independence · known failures · margin · containment · consequence and reversibility.</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Which action follows from what we now know?</a:t>
            </a:r>
          </a:p>
          <a:p>
            <a:pPr algn="ctr">
              <a:buNone/>
            </a:pPr>
            <a:r>
              <a:rPr lang="en-US" sz="1400" b="1" i="0" dirty="0">
                <a:solidFill>
                  <a:srgbClr val="FFFFFF"/>
                </a:solidFill>
              </a:rPr>
              <a:t>The output of validation is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2"/>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4"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1" animBg="1"/>
      <p:bldP spid="112" grpId="2" animBg="1"/>
      <p:bldP spid="113" grpId="3" animBg="1"/>
      <p:bldP spid="114" grpId="4" animBg="1"/>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950000"/>
            <a:ext cx="1500000" cy="88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CLAIMS</a:t>
            </a:r>
          </a:p>
        </p:txBody>
      </p:sp>
      <p:sp>
        <p:nvSpPr>
          <p:cNvPr id="110" name="P110"/>
          <p:cNvSpPr/>
          <p:nvPr/>
        </p:nvSpPr>
        <p:spPr>
          <a:xfrm>
            <a:off x="2166928" y="950000"/>
            <a:ext cx="410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500000" cy="88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EVIDENCE</a:t>
            </a:r>
          </a:p>
        </p:txBody>
      </p:sp>
      <p:sp>
        <p:nvSpPr>
          <p:cNvPr id="111" name="P111"/>
          <p:cNvSpPr/>
          <p:nvPr/>
        </p:nvSpPr>
        <p:spPr>
          <a:xfrm>
            <a:off x="2166928" y="1950000"/>
            <a:ext cx="410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500000" cy="88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JUDGMENT</a:t>
            </a:r>
          </a:p>
        </p:txBody>
      </p:sp>
      <p:sp>
        <p:nvSpPr>
          <p:cNvPr id="112" name="P112"/>
          <p:cNvSpPr/>
          <p:nvPr/>
        </p:nvSpPr>
        <p:spPr>
          <a:xfrm>
            <a:off x="2166928" y="2950000"/>
            <a:ext cx="410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500000" cy="88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ACTION</a:t>
            </a:r>
          </a:p>
        </p:txBody>
      </p:sp>
      <p:sp>
        <p:nvSpPr>
          <p:cNvPr id="113" name="P113"/>
          <p:cNvSpPr/>
          <p:nvPr/>
        </p:nvSpPr>
        <p:spPr>
          <a:xfrm>
            <a:off x="2166928" y="3950000"/>
            <a:ext cx="410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deliver  ·  gather more  ·  change the system  ·  revisit upstream  ·  refuse</a:t>
            </a:r>
          </a:p>
        </p:txBody>
      </p:sp>
      <p:sp>
        <p:nvSpPr>
          <p:cNvPr id="120" name="E120"/>
          <p:cNvSpPr/>
          <p:nvPr/>
        </p:nvSpPr>
        <p:spPr>
          <a:xfrm>
            <a:off x="6420000" y="950000"/>
            <a:ext cx="2157072" cy="38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100" b="1" i="0" dirty="0">
                <a:solidFill>
                  <a:srgbClr val="5C4826"/>
                </a:solidFill>
              </a:rPr>
              <a:t>THE REUSABLE QUESTIONS</a:t>
            </a:r>
          </a:p>
          <a:p>
            <a:pPr algn="l">
              <a:spcBef>
                <a:spcPts val="320"/>
              </a:spcBef>
              <a:buNone/>
            </a:pPr>
            <a:r>
              <a:rPr lang="en-US" sz="1300" b="0" i="0" dirty="0">
                <a:solidFill>
                  <a:srgbClr val="000000"/>
                </a:solidFill>
              </a:rPr>
              <a:t>What is at stake?</a:t>
            </a:r>
          </a:p>
          <a:p>
            <a:pPr algn="l">
              <a:spcBef>
                <a:spcPts val="320"/>
              </a:spcBef>
              <a:buNone/>
            </a:pPr>
            <a:r>
              <a:rPr lang="en-US" sz="1300" b="0" i="0" dirty="0">
                <a:solidFill>
                  <a:srgbClr val="000000"/>
                </a:solidFill>
              </a:rPr>
              <a:t>What must be true?</a:t>
            </a:r>
          </a:p>
          <a:p>
            <a:pPr algn="l">
              <a:spcBef>
                <a:spcPts val="320"/>
              </a:spcBef>
              <a:buNone/>
            </a:pPr>
            <a:r>
              <a:rPr lang="en-US" sz="1300" b="0" i="0" dirty="0">
                <a:solidFill>
                  <a:srgbClr val="000000"/>
                </a:solidFill>
              </a:rPr>
              <a:t>Where must evidence attach?</a:t>
            </a:r>
          </a:p>
          <a:p>
            <a:pPr algn="l">
              <a:spcBef>
                <a:spcPts val="320"/>
              </a:spcBef>
              <a:buNone/>
            </a:pPr>
            <a:r>
              <a:rPr lang="en-US" sz="1300" b="0" i="0" dirty="0">
                <a:solidFill>
                  <a:srgbClr val="000000"/>
                </a:solidFill>
              </a:rPr>
              <a:t>How can we obtain it?</a:t>
            </a:r>
          </a:p>
          <a:p>
            <a:pPr algn="l">
              <a:spcBef>
                <a:spcPts val="320"/>
              </a:spcBef>
              <a:buNone/>
            </a:pPr>
            <a:r>
              <a:rPr lang="en-US" sz="1300" b="0" i="0" dirty="0">
                <a:solidFill>
                  <a:srgbClr val="000000"/>
                </a:solidFill>
              </a:rPr>
              <a:t>How strong is it?</a:t>
            </a:r>
          </a:p>
          <a:p>
            <a:pPr algn="l">
              <a:spcBef>
                <a:spcPts val="320"/>
              </a:spcBef>
              <a:buNone/>
            </a:pPr>
            <a:r>
              <a:rPr lang="en-US" sz="1300" b="0" i="0" dirty="0">
                <a:solidFill>
                  <a:srgbClr val="000000"/>
                </a:solidFill>
              </a:rPr>
              <a:t>Is it enough to act?</a:t>
            </a:r>
          </a:p>
        </p:txBody>
      </p:sp>
      <p:sp>
        <p:nvSpPr>
          <p:cNvPr id="130" name="T130"/>
          <p:cNvSpPr txBox="1"/>
          <p:nvPr/>
        </p:nvSpPr>
        <p:spPr>
          <a:xfrm>
            <a:off x="566928" y="5050000"/>
            <a:ext cx="8010144" cy="550000"/>
          </a:xfrm>
          <a:prstGeom prst="rect">
            <a:avLst/>
          </a:prstGeom>
          <a:noFill/>
          <a:ln>
            <a:noFill/>
          </a:ln>
        </p:spPr>
        <p:txBody>
          <a:bodyPr wrap="square" lIns="0" tIns="0" rIns="0" bIns="0" anchor="t"/>
          <a:lstStyle/>
          <a:p>
            <a:pPr algn="ctr">
              <a:buNone/>
            </a:pPr>
            <a:r>
              <a:rPr lang="en-US" sz="13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8603</TotalTime>
  <Words>2303</Words>
  <Application>Microsoft Macintosh PowerPoint</Application>
  <PresentationFormat>On-screen Show (4:3)</PresentationFormat>
  <Paragraphs>383</Paragraphs>
  <Slides>37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Times</vt:lpstr>
      <vt:lpstr>Purdue1</vt:lpstr>
      <vt:lpstr>PowerPoint Presentation</vt:lpstr>
      <vt:lpstr>What is at stake?</vt:lpstr>
      <vt:lpstr>What would justify delivering this system?</vt:lpstr>
      <vt:lpstr>How sure do we need to be?</vt:lpstr>
      <vt:lpstr>“It depends” is the beginning of the answer, not the end</vt:lpstr>
      <vt:lpstr>Consequence changes the burden of evidence</vt:lpstr>
      <vt:lpstr>Validation is broader than testing — and it does not demand certainty</vt:lpstr>
      <vt:lpstr>What must we establish?</vt:lpstr>
      <vt:lpstr>Validation begins with claims, not techniques</vt:lpstr>
      <vt:lpstr>Remember: the middle has no fixed number of levels</vt:lpstr>
      <vt:lpstr>Models and properties become more precise toward realization</vt:lpstr>
      <vt:lpstr>Evidence bears on properties at the scope where they live</vt:lpstr>
      <vt:lpstr>The familiar testing levels are relative</vt:lpstr>
      <vt:lpstr>Validate a property at the scope where it lives</vt:lpstr>
      <vt:lpstr>The final claim reaches the world</vt:lpstr>
      <vt:lpstr>A measurement is not evidence by itself</vt:lpstr>
      <vt:lpstr>An Assurance Case makes this reasoning inspectable</vt:lpstr>
      <vt:lpstr>What evidence could bear on the claim?</vt:lpstr>
      <vt:lpstr>Choose evidence for the uncertainty you need to reduce</vt:lpstr>
      <vt:lpstr>Known answers → example-based testing</vt:lpstr>
      <vt:lpstr>General properties → property-based testing</vt:lpstr>
      <vt:lpstr>The oracle is often the expensive part</vt:lpstr>
      <vt:lpstr>Another implementation → differential testing</vt:lpstr>
      <vt:lpstr>Related executions → metamorphic testing</vt:lpstr>
      <vt:lpstr>Search for unexpected behavior → fuzzing</vt:lpstr>
      <vt:lpstr>Explore modeled behaviors → static analysis &amp; model checking</vt:lpstr>
      <vt:lpstr>Different techniques establish different things</vt:lpstr>
      <vt:lpstr>How strong is the evidence?</vt:lpstr>
      <vt:lpstr>Executing code is not the same as checking it</vt:lpstr>
      <vt:lpstr>What does coverage actually establish?</vt:lpstr>
      <vt:lpstr>Evidence multiplies; independence does not</vt:lpstr>
      <vt:lpstr>🧙  MAGE Moment: GenAI can make weak evidence very cheap</vt:lpstr>
      <vt:lpstr>When is the evidence enough?</vt:lpstr>
      <vt:lpstr>Enough is judged against what is at stake</vt:lpstr>
      <vt:lpstr>What should we do now?</vt:lpstr>
      <vt:lpstr>An Assurance Case makes the judgment inspectable</vt:lpstr>
      <vt:lpstr>The reasoning you can reuse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2026-09-19T04:24:54Z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