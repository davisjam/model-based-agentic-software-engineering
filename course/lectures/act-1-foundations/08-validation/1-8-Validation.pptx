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1"/>
  </p:notesMasterIdLst>
  <p:sldIdLst>
    <p:sldId id="257" r:id="rId101"/>
    <p:sldId id="258" r:id="rId102"/>
    <p:sldId id="259" r:id="rId103"/>
    <p:sldId id="260" r:id="rId104"/>
    <p:sldId id="261" r:id="rId105"/>
    <p:sldId id="262" r:id="rId106"/>
    <p:sldId id="263" r:id="rId107"/>
    <p:sldId id="264" r:id="rId108"/>
    <p:sldId id="265" r:id="rId109"/>
    <p:sldId id="266" r:id="rId110"/>
    <p:sldId id="267" r:id="rId111"/>
    <p:sldId id="268" r:id="rId112"/>
    <p:sldId id="269" r:id="rId113"/>
    <p:sldId id="270" r:id="rId114"/>
    <p:sldId id="271" r:id="rId115"/>
    <p:sldId id="272" r:id="rId116"/>
    <p:sldId id="273" r:id="rId117"/>
    <p:sldId id="274" r:id="rId118"/>
    <p:sldId id="275" r:id="rId119"/>
    <p:sldId id="276" r:id="rId120"/>
    <p:sldId id="277" r:id="rId121"/>
    <p:sldId id="278" r:id="rId122"/>
    <p:sldId id="279" r:id="rId123"/>
    <p:sldId id="280" r:id="rId124"/>
    <p:sldId id="281" r:id="rId125"/>
    <p:sldId id="282" r:id="rId126"/>
    <p:sldId id="283" r:id="rId127"/>
    <p:sldId id="284" r:id="rId128"/>
    <p:sldId id="285" r:id="rId129"/>
    <p:sldId id="286" r:id="rId130"/>
    <p:sldId id="287" r:id="rId131"/>
    <p:sldId id="288" r:id="rId132"/>
    <p:sldId id="289" r:id="rId133"/>
    <p:sldId id="290" r:id="rId134"/>
    <p:sldId id="291" r:id="rId135"/>
    <p:sldId id="292" r:id="rId136"/>
    <p:sldId id="293" r:id="rId1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0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18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<Relationship Id="rId126" Type="http://schemas.openxmlformats.org/officeDocument/2006/relationships/slide" Target="slides/slide26.xml"/><Relationship Id="rId127" Type="http://schemas.openxmlformats.org/officeDocument/2006/relationships/slide" Target="slides/slide27.xml"/><Relationship Id="rId128" Type="http://schemas.openxmlformats.org/officeDocument/2006/relationships/slide" Target="slides/slide28.xml"/><Relationship Id="rId129" Type="http://schemas.openxmlformats.org/officeDocument/2006/relationships/slide" Target="slides/slide29.xml"/><Relationship Id="rId130" Type="http://schemas.openxmlformats.org/officeDocument/2006/relationships/slide" Target="slides/slide30.xml"/><Relationship Id="rId131" Type="http://schemas.openxmlformats.org/officeDocument/2006/relationships/slide" Target="slides/slide31.xml"/><Relationship Id="rId132" Type="http://schemas.openxmlformats.org/officeDocument/2006/relationships/slide" Target="slides/slide32.xml"/><Relationship Id="rId133" Type="http://schemas.openxmlformats.org/officeDocument/2006/relationships/slide" Target="slides/slide33.xml"/><Relationship Id="rId134" Type="http://schemas.openxmlformats.org/officeDocument/2006/relationships/slide" Target="slides/slide34.xml"/><Relationship Id="rId135" Type="http://schemas.openxmlformats.org/officeDocument/2006/relationships/slide" Target="slides/slide35.xml"/><Relationship Id="rId136" Type="http://schemas.openxmlformats.org/officeDocument/2006/relationships/slide" Target="slides/slide36.xml"/><Relationship Id="rId137" Type="http://schemas.openxmlformats.org/officeDocument/2006/relationships/slide" Target="slides/slide3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"/>
          <p:cNvSpPr txBox="1"/>
          <p:nvPr/>
        </p:nvSpPr>
        <p:spPr>
          <a:xfrm>
            <a:off x="439339" y="565150"/>
            <a:ext cx="8265319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ECE 30861/46100: Software Engineering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224171" y="1420000"/>
            <a:ext cx="8695654" cy="2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0" i="0" dirty="0">
                <a:solidFill>
                  <a:srgbClr val="000000"/>
                </a:solidFill>
              </a:rPr>
              <a:t>Software Validation</a:t>
            </a:r>
          </a:p>
          <a:p>
            <a:pPr algn="ctr">
              <a:spcBef>
                <a:spcPts val="600"/>
              </a:spcBef>
              <a:buNone/>
            </a:pPr>
            <a:r>
              <a:rPr lang="en-US" sz="2400" b="0" i="1" dirty="0">
                <a:solidFill>
                  <a:srgbClr val="555960"/>
                </a:solidFill>
              </a:rPr>
              <a:t>What evidence is sufficient to deliver a system into the world?</a:t>
            </a:r>
          </a:p>
          <a:p>
            <a:pPr algn="ctr">
              <a:spcBef>
                <a:spcPts val="9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224171" y="3760000"/>
            <a:ext cx="8695654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EVERY PRIOR DECISION NOW MEETS EVIDENCE</a:t>
            </a:r>
          </a:p>
        </p:txBody>
      </p:sp>
      <p:sp>
        <p:nvSpPr>
          <p:cNvPr id="110" name="B110"/>
          <p:cNvSpPr/>
          <p:nvPr/>
        </p:nvSpPr>
        <p:spPr>
          <a:xfrm>
            <a:off x="713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373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B112"/>
          <p:cNvSpPr/>
          <p:nvPr/>
        </p:nvSpPr>
        <p:spPr>
          <a:xfrm>
            <a:off x="2717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4377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B114"/>
          <p:cNvSpPr/>
          <p:nvPr/>
        </p:nvSpPr>
        <p:spPr>
          <a:xfrm>
            <a:off x="4721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5" name="C115"/>
          <p:cNvCxnSpPr/>
          <p:nvPr/>
        </p:nvCxnSpPr>
        <p:spPr>
          <a:xfrm>
            <a:off x="6381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6" name="B116"/>
          <p:cNvSpPr/>
          <p:nvPr/>
        </p:nvSpPr>
        <p:spPr>
          <a:xfrm>
            <a:off x="6725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224171" y="5000000"/>
            <a:ext cx="8695654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Design produced a realization. Validation asks whether the evidence is enough to deliver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What is at stake?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How much assurance should we demand before delivery?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would justify delivering this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122000" y="1120000"/>
            <a:ext cx="4900000" cy="90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THE ASSURANCE CASE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structured argument connecting consequential claims to evidence</a:t>
            </a:r>
          </a:p>
        </p:txBody>
      </p:sp>
      <p:sp>
        <p:nvSpPr>
          <p:cNvPr id="101" name="B101"/>
          <p:cNvSpPr/>
          <p:nvPr/>
        </p:nvSpPr>
        <p:spPr>
          <a:xfrm>
            <a:off x="3372000" y="2360000"/>
            <a:ext cx="24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2" name="C102"/>
          <p:cNvCxnSpPr/>
          <p:nvPr/>
        </p:nvCxnSpPr>
        <p:spPr>
          <a:xfrm>
            <a:off x="4572000" y="2960000"/>
            <a:ext cx="0" cy="6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T103"/>
          <p:cNvSpPr txBox="1"/>
          <p:nvPr/>
        </p:nvSpPr>
        <p:spPr>
          <a:xfrm>
            <a:off x="4700000" y="3060000"/>
            <a:ext cx="3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4" name="P104"/>
          <p:cNvSpPr/>
          <p:nvPr/>
        </p:nvSpPr>
        <p:spPr>
          <a:xfrm>
            <a:off x="3372000" y="3660000"/>
            <a:ext cx="2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685800" y="446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Validation is the discipline of building this argument — and judging whether it is strong enough for what is at stake.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will build one Assurance Case through this lecture.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sure do we need to be?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5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0" i="0" dirty="0">
                <a:solidFill>
                  <a:srgbClr val="000000"/>
                </a:solidFill>
              </a:rPr>
              <a:t>How confident must you be before delivering software?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685800" y="27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TODO app, a payroll system, and a radiation-control system are all software.</a:t>
            </a:r>
          </a:p>
        </p:txBody>
      </p:sp>
      <p:sp>
        <p:nvSpPr>
          <p:cNvPr id="102" name="TPSbadge"/>
          <p:cNvSpPr/>
          <p:nvPr/>
        </p:nvSpPr>
        <p:spPr>
          <a:xfrm>
            <a:off x="2972000" y="3560000"/>
            <a:ext cx="3200000" cy="64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6B3FA0"/>
                </a:solidFill>
              </a:rPr>
              <a:t>THINK</a:t>
            </a:r>
            <a:r>
              <a:rPr lang="en-US" sz="22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200" b="1" i="0" dirty="0">
                <a:solidFill>
                  <a:srgbClr val="2E74B5"/>
                </a:solidFill>
              </a:rPr>
              <a:t>PAIR</a:t>
            </a:r>
            <a:r>
              <a:rPr lang="en-US" sz="22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200" b="1" i="0" dirty="0">
                <a:solidFill>
                  <a:srgbClr val="B8860B"/>
                </a:solidFill>
              </a:rPr>
              <a:t>SHARE</a:t>
            </a:r>
          </a:p>
        </p:txBody>
      </p:sp>
      <p:sp>
        <p:nvSpPr>
          <p:cNvPr id="103" name="T103"/>
          <p:cNvSpPr txBox="1"/>
          <p:nvPr/>
        </p:nvSpPr>
        <p:spPr>
          <a:xfrm>
            <a:off x="685800" y="4460000"/>
            <a:ext cx="77724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Should they receive the same validation strategy? Why not?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Reach for the honest first answer. Then we make it precise.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“It depends” is the beginning of the engineering answer, not the end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122000" y="108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Depends on what?</a:t>
            </a:r>
          </a:p>
        </p:txBody>
      </p:sp>
      <p:sp>
        <p:nvSpPr>
          <p:cNvPr id="101" name="P101"/>
          <p:cNvSpPr/>
          <p:nvPr/>
        </p:nvSpPr>
        <p:spPr>
          <a:xfrm>
            <a:off x="1122000" y="174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would you know how sure is enough?</a:t>
            </a:r>
          </a:p>
        </p:txBody>
      </p:sp>
      <p:sp>
        <p:nvSpPr>
          <p:cNvPr id="102" name="P102"/>
          <p:cNvSpPr/>
          <p:nvPr/>
        </p:nvSpPr>
        <p:spPr>
          <a:xfrm>
            <a:off x="1122000" y="240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should the evidence you seek change?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3240000"/>
            <a:ext cx="244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TODO app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annoyance</a:t>
            </a:r>
          </a:p>
        </p:txBody>
      </p:sp>
      <p:sp>
        <p:nvSpPr>
          <p:cNvPr id="104" name="P104"/>
          <p:cNvSpPr/>
          <p:nvPr/>
        </p:nvSpPr>
        <p:spPr>
          <a:xfrm>
            <a:off x="3300000" y="3240000"/>
            <a:ext cx="2440000" cy="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Payroll system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money, trust</a:t>
            </a:r>
          </a:p>
        </p:txBody>
      </p:sp>
      <p:sp>
        <p:nvSpPr>
          <p:cNvPr id="105" name="P105"/>
          <p:cNvSpPr/>
          <p:nvPr/>
        </p:nvSpPr>
        <p:spPr>
          <a:xfrm>
            <a:off x="5920000" y="3240000"/>
            <a:ext cx="2440000" cy="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Radiation control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human safety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26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Not the same strategy — because being wrong does not cost the same.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Our job: say what it depends on, and how that changes the evidence we require.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Consequence changes the burden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48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101" name="P101"/>
          <p:cNvSpPr/>
          <p:nvPr/>
        </p:nvSpPr>
        <p:spPr>
          <a:xfrm>
            <a:off x="482000" y="1860000"/>
            <a:ext cx="2560000" cy="1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draws a character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annoys a player</a:t>
            </a:r>
          </a:p>
        </p:txBody>
      </p:sp>
      <p:sp>
        <p:nvSpPr>
          <p:cNvPr id="102" name="B102"/>
          <p:cNvSpPr/>
          <p:nvPr/>
        </p:nvSpPr>
        <p:spPr>
          <a:xfrm>
            <a:off x="329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TODO APP</a:t>
            </a:r>
          </a:p>
        </p:txBody>
      </p:sp>
      <p:sp>
        <p:nvSpPr>
          <p:cNvPr id="103" name="P103"/>
          <p:cNvSpPr/>
          <p:nvPr/>
        </p:nvSpPr>
        <p:spPr>
          <a:xfrm>
            <a:off x="3292000" y="1860000"/>
            <a:ext cx="2560000" cy="1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occasionally loses a task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destroys information a user depends on</a:t>
            </a:r>
          </a:p>
        </p:txBody>
      </p:sp>
      <p:sp>
        <p:nvSpPr>
          <p:cNvPr id="104" name="B104"/>
          <p:cNvSpPr/>
          <p:nvPr/>
        </p:nvSpPr>
        <p:spPr>
          <a:xfrm>
            <a:off x="610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MEDICAL DEVICE</a:t>
            </a:r>
          </a:p>
        </p:txBody>
      </p:sp>
      <p:sp>
        <p:nvSpPr>
          <p:cNvPr id="105" name="P105"/>
          <p:cNvSpPr/>
          <p:nvPr/>
        </p:nvSpPr>
        <p:spPr>
          <a:xfrm>
            <a:off x="6102000" y="1860000"/>
            <a:ext cx="2560000" cy="1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delivers an incorrect dose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directly injures its user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482000" y="3960000"/>
            <a:ext cx="818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Severity and causal distance both matter: almost any defect connects to harm through some chain,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but a graphical glitch is not safety-critical merely because frustrated players sometimes behave badly.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more substantial and direct the possible consequence, the more evidence we should demand.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Validation is broader than testing — and it does not demand certainty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Validation supports a decision.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Tests are one source of evidence; the question is whether there is enough reason to deliver.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Software is updateable.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Sometimes it is right to deliver under known uncertainty, observe, and repair — “move fast and break things” is a real strategy.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But an update repairs the software,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not the consequences of its past behavior. It cannot recover lost money or reverse an injury.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asks what evidence is sufficient for THIS delivery —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uncertainty can we afford to carry?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What must we establish?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Begin with the claim, not the technique.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Validation begins with claims, not techniques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0000" y="980000"/>
            <a:ext cx="7940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900" b="0" i="0" dirty="0">
                <a:solidFill>
                  <a:srgbClr val="000000"/>
                </a:solidFill>
              </a:rPr>
              <a:t>A payment service must establish several different claims: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15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payment submitted once is charged at most once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22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An unauthorized user cannot initiate a payment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29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completed payment appears in the account history</a:t>
            </a:r>
          </a:p>
        </p:txBody>
      </p:sp>
      <p:sp>
        <p:nvSpPr>
          <p:cNvPr id="104" name="P104"/>
          <p:cNvSpPr/>
          <p:nvPr/>
        </p:nvSpPr>
        <p:spPr>
          <a:xfrm>
            <a:off x="680000" y="3620000"/>
            <a:ext cx="794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normal request completes within an acceptable time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38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Evidence that supports one claim may say little about another.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“It has been tested” tells us nothing until we know what the tests were meant to establish.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First identify what must be true — then seek evidence that could expose a violation.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Remember: the middle has no fixed number of levels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180000"/>
            <a:ext cx="40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system organization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2620000" y="172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920000" y="2060000"/>
            <a:ext cx="34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subsystem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2620000" y="260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1220000" y="2940000"/>
            <a:ext cx="28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20000" y="3860000"/>
            <a:ext cx="40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...refine as far as the problem requires</a:t>
            </a:r>
          </a:p>
        </p:txBody>
      </p:sp>
      <p:sp>
        <p:nvSpPr>
          <p:cNvPr id="130" name="P130"/>
          <p:cNvSpPr/>
          <p:nvPr/>
        </p:nvSpPr>
        <p:spPr>
          <a:xfrm>
            <a:off x="4900000" y="1180000"/>
            <a:ext cx="3720000" cy="26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Traditional V diagrams draw three or four levels because they need a usable process diagram.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7534E"/>
                </a:solidFill>
              </a:rPr>
              <a:t>Those levels are convenient. They are not a law of software structure.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Architecture and Design fill as much of the middle as the engineering problem needs.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and properties become more precise toward realization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</p:sp>
      <p:sp>
        <p:nvSpPr>
          <p:cNvPr id="151" name="L151"/>
          <p:cNvSpPr/>
          <p:nvPr/>
        </p:nvSpPr>
        <p:spPr>
          <a:xfrm>
            <a:off x="430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1950000" y="0"/>
                </a:moveTo>
                <a:lnTo>
                  <a:pt x="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1780000" y="4090000"/>
            <a:ext cx="1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>(no fixed number of levels)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left leg is not a schedule — it is models growing more precise toward the code.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1" grpId="1"/>
      <p:bldP spid="112" grpId="2"/>
      <p:bldP spid="113" grpId="3"/>
      <p:bldP spid="114" grpId="4"/>
      <p:bldP spid="115" grpId="5"/>
      <p:bldP spid="116" grpId="6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bears on properties at the scope where they live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</p:sp>
      <p:sp>
        <p:nvSpPr>
          <p:cNvPr id="151" name="L151"/>
          <p:cNvSpPr/>
          <p:nvPr/>
        </p:nvSpPr>
        <p:spPr>
          <a:xfrm>
            <a:off x="430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1950000" y="0"/>
                </a:moveTo>
                <a:lnTo>
                  <a:pt x="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1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420000" y="94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World evidence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420000" y="1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Boundary evidence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6420000" y="23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Compositional evidence</a:t>
            </a:r>
          </a:p>
        </p:txBody>
      </p:sp>
      <p:sp>
        <p:nvSpPr>
          <p:cNvPr id="123" name="T123"/>
          <p:cNvSpPr txBox="1"/>
          <p:nvPr/>
        </p:nvSpPr>
        <p:spPr>
          <a:xfrm>
            <a:off x="6420000" y="3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Local evidence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420000" y="120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“acceptance testing”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6420000" y="182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“system testing”</a:t>
            </a:r>
          </a:p>
        </p:txBody>
      </p:sp>
      <p:sp>
        <p:nvSpPr>
          <p:cNvPr id="132" name="T132"/>
          <p:cNvSpPr txBox="1"/>
          <p:nvPr/>
        </p:nvSpPr>
        <p:spPr>
          <a:xfrm>
            <a:off x="6420000" y="262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“integration testing”</a:t>
            </a:r>
          </a:p>
        </p:txBody>
      </p:sp>
      <p:sp>
        <p:nvSpPr>
          <p:cNvPr id="133" name="T133"/>
          <p:cNvSpPr txBox="1"/>
          <p:nvPr/>
        </p:nvSpPr>
        <p:spPr>
          <a:xfrm>
            <a:off x="6420000" y="382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“unit testing”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will hear these words constantly. Now you know what they are trying to describe.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  <p:bldP spid="121" grpId="1"/>
      <p:bldP spid="122" grpId="2"/>
      <p:bldP spid="123" grpId="3"/>
      <p:bldP spid="130" grpId="4"/>
      <p:bldP spid="131" grpId="5"/>
      <p:bldP spid="132" grpId="6"/>
      <p:bldP spid="133" grpId="7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familiar testing levels are relative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80000" y="112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101" name="P101"/>
          <p:cNvSpPr/>
          <p:nvPr/>
        </p:nvSpPr>
        <p:spPr>
          <a:xfrm>
            <a:off x="3160000" y="112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a chosen part in isolation</a:t>
            </a:r>
          </a:p>
        </p:txBody>
      </p:sp>
      <p:sp>
        <p:nvSpPr>
          <p:cNvPr id="102" name="B102"/>
          <p:cNvSpPr/>
          <p:nvPr/>
        </p:nvSpPr>
        <p:spPr>
          <a:xfrm>
            <a:off x="680000" y="186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03" name="P103"/>
          <p:cNvSpPr/>
          <p:nvPr/>
        </p:nvSpPr>
        <p:spPr>
          <a:xfrm>
            <a:off x="3160000" y="186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interactions among parts</a:t>
            </a:r>
          </a:p>
        </p:txBody>
      </p:sp>
      <p:sp>
        <p:nvSpPr>
          <p:cNvPr id="104" name="B104"/>
          <p:cNvSpPr/>
          <p:nvPr/>
        </p:nvSpPr>
        <p:spPr>
          <a:xfrm>
            <a:off x="680000" y="260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05" name="P105"/>
          <p:cNvSpPr/>
          <p:nvPr/>
        </p:nvSpPr>
        <p:spPr>
          <a:xfrm>
            <a:off x="3160000" y="260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the assembled system at a chosen boundary</a:t>
            </a:r>
          </a:p>
        </p:txBody>
      </p:sp>
      <p:sp>
        <p:nvSpPr>
          <p:cNvPr id="106" name="B106"/>
          <p:cNvSpPr/>
          <p:nvPr/>
        </p:nvSpPr>
        <p:spPr>
          <a:xfrm>
            <a:off x="680000" y="3340000"/>
            <a:ext cx="240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Acceptance</a:t>
            </a:r>
          </a:p>
        </p:txBody>
      </p:sp>
      <p:sp>
        <p:nvSpPr>
          <p:cNvPr id="107" name="P107"/>
          <p:cNvSpPr/>
          <p:nvPr/>
        </p:nvSpPr>
        <p:spPr>
          <a:xfrm>
            <a:off x="3160000" y="3340000"/>
            <a:ext cx="546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that the system is acceptable for its intended use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180000"/>
            <a:ext cx="794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50" b="0" i="1" dirty="0">
                <a:solidFill>
                  <a:srgbClr val="555960"/>
                </a:solidFill>
              </a:rPr>
              <a:t>A subsystem may be a “unit” from one perspective and a “system” with its own architecture from another.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Useful vocabulary. Not a theory of where properties 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Validate a property at the scope where it lives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0000" y="940000"/>
            <a:ext cx="794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0" dirty="0">
                <a:solidFill>
                  <a:srgbClr val="5C4826"/>
                </a:solidFill>
              </a:rPr>
              <a:t>Can correct components compose into an incorrect system?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1640000"/>
            <a:ext cx="794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Three services each meet their local latency budget — the end-to-end path exceeds the system budget.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2440000"/>
            <a:ext cx="794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Two components each behave correctly — their assumptions leave one responsibility owned by neither.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3240000"/>
            <a:ext cx="794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Two retry mechanisms are each correct — their interaction lets the same operation happen twice.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Local evidence cannot replace evidence about a property that exists only in composition.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final claim reaches the world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20000" y="1360000"/>
            <a:ext cx="23600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MACHINE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what we build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3020000" y="1610000"/>
            <a:ext cx="36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1" i="0" dirty="0">
                <a:solidFill>
                  <a:srgbClr val="5C4826"/>
                </a:solidFill>
              </a:rPr>
              <a:t>+</a:t>
            </a:r>
          </a:p>
        </p:txBody>
      </p:sp>
      <p:sp>
        <p:nvSpPr>
          <p:cNvPr id="102" name="B102"/>
          <p:cNvSpPr/>
          <p:nvPr/>
        </p:nvSpPr>
        <p:spPr>
          <a:xfrm>
            <a:off x="3420000" y="1360000"/>
            <a:ext cx="23600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ENVIRONMENT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FFFFFF"/>
                </a:solidFill>
              </a:rPr>
              <a:t>domain assumptions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5860000" y="1810000"/>
            <a:ext cx="52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E104"/>
          <p:cNvSpPr/>
          <p:nvPr/>
        </p:nvSpPr>
        <p:spPr>
          <a:xfrm>
            <a:off x="6480000" y="1360000"/>
            <a:ext cx="2140000" cy="90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WORLD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1" dirty="0">
                <a:solidFill>
                  <a:srgbClr val="57534E"/>
                </a:solidFill>
              </a:rPr>
              <a:t>the required outcome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760000"/>
            <a:ext cx="7940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Most evidence attaches to the MACHINE — tests, analyses, and proofs about behavior at its boundary.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But requirements live in the WORLD, and the link runs through domain assumptions.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false assumption fails the requirement while the machine behaves exactly as specified.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Machine-side evidence cannot expose a false domain assumption. Evidence about the world can.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measurement is not evidence by itself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9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MODEL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151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114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represents</a:t>
            </a:r>
          </a:p>
        </p:txBody>
      </p:sp>
      <p:sp>
        <p:nvSpPr>
          <p:cNvPr id="103" name="P103"/>
          <p:cNvSpPr/>
          <p:nvPr/>
        </p:nvSpPr>
        <p:spPr>
          <a:xfrm>
            <a:off x="168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PROPERTY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300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5" name="T105"/>
          <p:cNvSpPr txBox="1"/>
          <p:nvPr/>
        </p:nvSpPr>
        <p:spPr>
          <a:xfrm>
            <a:off x="263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assessed by</a:t>
            </a:r>
          </a:p>
        </p:txBody>
      </p:sp>
      <p:sp>
        <p:nvSpPr>
          <p:cNvPr id="106" name="P106"/>
          <p:cNvSpPr/>
          <p:nvPr/>
        </p:nvSpPr>
        <p:spPr>
          <a:xfrm>
            <a:off x="317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METRIC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49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T108"/>
          <p:cNvSpPr txBox="1"/>
          <p:nvPr/>
        </p:nvSpPr>
        <p:spPr>
          <a:xfrm>
            <a:off x="412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applied</a:t>
            </a:r>
          </a:p>
        </p:txBody>
      </p:sp>
      <p:sp>
        <p:nvSpPr>
          <p:cNvPr id="109" name="P109"/>
          <p:cNvSpPr/>
          <p:nvPr/>
        </p:nvSpPr>
        <p:spPr>
          <a:xfrm>
            <a:off x="466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MEASUREMENT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598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T111"/>
          <p:cNvSpPr txBox="1"/>
          <p:nvPr/>
        </p:nvSpPr>
        <p:spPr>
          <a:xfrm>
            <a:off x="561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bears on</a:t>
            </a:r>
          </a:p>
        </p:txBody>
      </p:sp>
      <p:sp>
        <p:nvSpPr>
          <p:cNvPr id="112" name="P112"/>
          <p:cNvSpPr/>
          <p:nvPr/>
        </p:nvSpPr>
        <p:spPr>
          <a:xfrm>
            <a:off x="615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477000" y="2290000"/>
            <a:ext cx="15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T114"/>
          <p:cNvSpPr txBox="1"/>
          <p:nvPr/>
        </p:nvSpPr>
        <p:spPr>
          <a:xfrm>
            <a:off x="7102000" y="1690000"/>
            <a:ext cx="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50" b="0" i="1" dirty="0">
                <a:solidFill>
                  <a:srgbClr val="555960"/>
                </a:solidFill>
              </a:rPr>
              <a:t>interpreted</a:t>
            </a:r>
          </a:p>
        </p:txBody>
      </p:sp>
      <p:sp>
        <p:nvSpPr>
          <p:cNvPr id="115" name="P115"/>
          <p:cNvSpPr/>
          <p:nvPr/>
        </p:nvSpPr>
        <p:spPr>
          <a:xfrm>
            <a:off x="7647000" y="1980000"/>
            <a:ext cx="13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000000"/>
                </a:solidFill>
              </a:rPr>
              <a:t>JUDGMENT</a:t>
            </a:r>
          </a:p>
        </p:txBody>
      </p:sp>
      <p:sp>
        <p:nvSpPr>
          <p:cNvPr id="180" name="T180"/>
          <p:cNvSpPr txBox="1"/>
          <p:nvPr/>
        </p:nvSpPr>
        <p:spPr>
          <a:xfrm>
            <a:off x="680000" y="3060000"/>
            <a:ext cx="79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model predicts a request path stays under 500 ms; the metric is p99 latency under workload W.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measurement is 420 ms — meaningless without the property, metric, and conditions that give it meaning.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mismatch is information: a defect, an incomplete model, a false assumption, or a poor metric.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this reasoning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172000" y="1180000"/>
            <a:ext cx="280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880000"/>
            <a:ext cx="0" cy="64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4720000" y="1980000"/>
            <a:ext cx="34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3" name="P103"/>
          <p:cNvSpPr/>
          <p:nvPr/>
        </p:nvSpPr>
        <p:spPr>
          <a:xfrm>
            <a:off x="3172000" y="260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3560000"/>
            <a:ext cx="794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Every consequential claim owes an argument from evidence, under stated assumptions.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No notation yet — just the discipline. We will make the argument explicit at the end.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pile of green tests is not an argument until you can say which claim they support, and why.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2900" b="0" i="0" dirty="0">
                <a:solidFill>
                  <a:srgbClr val="000000"/>
                </a:solidFill>
              </a:rPr>
              <a:t>What evidence could bear on the claim?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Choose evidence for the uncertainty you need to reduce.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evidence for the uncertainty you need to reduce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20000" y="1560000"/>
            <a:ext cx="2360000" cy="7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3010000" y="1920000"/>
            <a:ext cx="39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3430000" y="1560000"/>
            <a:ext cx="2360000" cy="7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possible failure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5820000" y="1920000"/>
            <a:ext cx="39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6240000" y="1560000"/>
            <a:ext cx="2360000" cy="7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useful evidence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276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engineering question runs from the claim toward evidence —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not from a catalog of impressive techniques.</a:t>
            </a:r>
          </a:p>
        </p:txBody>
      </p:sp>
      <p:sp>
        <p:nvSpPr>
          <p:cNvPr id="130" name="E130"/>
          <p:cNvSpPr/>
          <p:nvPr/>
        </p:nvSpPr>
        <p:spPr>
          <a:xfrm>
            <a:off x="3572000" y="398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?????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technique answers a different question. Match it to the uncertainty you must reduce.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Known answers → example-based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know the important cases and their expected results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Direct and cheap when the cases and their answers are known — and silent about every case we did not select.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Strong where you looked. It says nothing about the inputs you never chose.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General properties → property-based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 property should hold across a whole class of inputs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Property-based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State what must be true in general; let the tool generate inputs and search for a counterexample.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trade hand-picked examples for the harder work of stating the property.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oracle is often the expensive part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Generating inputs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cheap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4360000" y="1520000"/>
            <a:ext cx="420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vs</a:t>
            </a:r>
          </a:p>
        </p:txBody>
      </p:sp>
      <p:sp>
        <p:nvSpPr>
          <p:cNvPr id="102" name="P102"/>
          <p:cNvSpPr/>
          <p:nvPr/>
        </p:nvSpPr>
        <p:spPr>
          <a:xfrm>
            <a:off x="4900000" y="1300000"/>
            <a:ext cx="372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Stating the correct answer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7534E"/>
                </a:solidFill>
              </a:rPr>
              <a:t>often expensive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50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0" dirty="0">
                <a:solidFill>
                  <a:srgbClr val="000000"/>
                </a:solidFill>
              </a:rPr>
              <a:t>Several techniques are really answers to this one difficulty:</a:t>
            </a:r>
          </a:p>
        </p:txBody>
      </p:sp>
      <p:sp>
        <p:nvSpPr>
          <p:cNvPr id="120" name="P120"/>
          <p:cNvSpPr/>
          <p:nvPr/>
        </p:nvSpPr>
        <p:spPr>
          <a:xfrm>
            <a:off x="680000" y="30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Property-based testing — state the answer as a property</a:t>
            </a:r>
          </a:p>
        </p:txBody>
      </p:sp>
      <p:sp>
        <p:nvSpPr>
          <p:cNvPr id="121" name="P121"/>
          <p:cNvSpPr/>
          <p:nvPr/>
        </p:nvSpPr>
        <p:spPr>
          <a:xfrm>
            <a:off x="680000" y="36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Differential testing — let an independent implementation flag disagreements</a:t>
            </a:r>
          </a:p>
        </p:txBody>
      </p:sp>
      <p:sp>
        <p:nvSpPr>
          <p:cNvPr id="122" name="P122"/>
          <p:cNvSpPr/>
          <p:nvPr/>
        </p:nvSpPr>
        <p:spPr>
          <a:xfrm>
            <a:off x="680000" y="4280000"/>
            <a:ext cx="794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Model checking — state the property over a model and search it exhaustively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Recognize the shared oracle problem — the next technique you meet will be answering it too.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Another implementation → differential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correct answer is expensive to state case by case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Differential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Run the same inputs through independently developed implementations; investigate every disagreement.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independent implementation becomes a partial oracle — disagreement is the signal.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Related executions → metamorphic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cannot state the answer, but we know how related runs must relate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Metamorphic testing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Check a relation between runs: sorting a shuffled list yields the same result; doubling every input scales the total.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can test without an oracle when outputs must relate in a known way.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Search for unexpected behavior → fuzzing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The dangerous inputs are ones we did not anticipate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Fuzzing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Explore large or unusual input spaces, needing only a weak notion of failure such as a crash or a hang.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Cheap evidence about robustness. It says little about functional correctness.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Explore modeled behaviors → static analysis &amp; model checking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500000"/>
            <a:ext cx="3760000" cy="10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ENGINEERING PROBLEM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We need to exclude a whole class of failures, not sample it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400000" y="2020000"/>
            <a:ext cx="440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860000" y="1500000"/>
            <a:ext cx="3760000" cy="10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EVIDENCE MECHANISM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Static analysis &amp; model checking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2900000"/>
            <a:ext cx="794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50" b="0" i="1" dirty="0">
                <a:solidFill>
                  <a:srgbClr val="555960"/>
                </a:solidFill>
              </a:rPr>
              <a:t>Reason about possible behaviors without executing each one — excluding failures no finite test set can.</a:t>
            </a:r>
          </a:p>
        </p:txBody>
      </p:sp>
      <p:sp>
        <p:nvSpPr>
          <p:cNvPr id="120" name="E120"/>
          <p:cNvSpPr/>
          <p:nvPr/>
        </p:nvSpPr>
        <p:spPr>
          <a:xfrm>
            <a:off x="3572000" y="4160000"/>
            <a:ext cx="2000000" cy="82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Strong evidence about the model you wrote, under the assumptions it contains.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Different techniques establish different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4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Example-based / property-based</a:t>
            </a:r>
          </a:p>
        </p:txBody>
      </p:sp>
      <p:sp>
        <p:nvSpPr>
          <p:cNvPr id="101" name="P101"/>
          <p:cNvSpPr/>
          <p:nvPr/>
        </p:nvSpPr>
        <p:spPr>
          <a:xfrm>
            <a:off x="4960000" y="114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presence of behaviors you can state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192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Differential / metamorphic</a:t>
            </a:r>
          </a:p>
        </p:txBody>
      </p:sp>
      <p:sp>
        <p:nvSpPr>
          <p:cNvPr id="103" name="P103"/>
          <p:cNvSpPr/>
          <p:nvPr/>
        </p:nvSpPr>
        <p:spPr>
          <a:xfrm>
            <a:off x="4960000" y="192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agreement when the oracle is expensive</a:t>
            </a:r>
          </a:p>
        </p:txBody>
      </p:sp>
      <p:sp>
        <p:nvSpPr>
          <p:cNvPr id="104" name="P104"/>
          <p:cNvSpPr/>
          <p:nvPr/>
        </p:nvSpPr>
        <p:spPr>
          <a:xfrm>
            <a:off x="680000" y="270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Fuzzing</a:t>
            </a:r>
          </a:p>
        </p:txBody>
      </p:sp>
      <p:sp>
        <p:nvSpPr>
          <p:cNvPr id="105" name="P105"/>
          <p:cNvSpPr/>
          <p:nvPr/>
        </p:nvSpPr>
        <p:spPr>
          <a:xfrm>
            <a:off x="4960000" y="270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robustness against inputs you did not anticipate</a:t>
            </a:r>
          </a:p>
        </p:txBody>
      </p:sp>
      <p:sp>
        <p:nvSpPr>
          <p:cNvPr id="106" name="P106"/>
          <p:cNvSpPr/>
          <p:nvPr/>
        </p:nvSpPr>
        <p:spPr>
          <a:xfrm>
            <a:off x="680000" y="3480000"/>
            <a:ext cx="4200000" cy="6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Static analysis / model checking</a:t>
            </a:r>
          </a:p>
        </p:txBody>
      </p:sp>
      <p:sp>
        <p:nvSpPr>
          <p:cNvPr id="107" name="P107"/>
          <p:cNvSpPr/>
          <p:nvPr/>
        </p:nvSpPr>
        <p:spPr>
          <a:xfrm>
            <a:off x="4960000" y="3480000"/>
            <a:ext cx="3660000" cy="6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exclusion of failure classes over a model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Ask what uncertainty each reduces — not which produces the most output.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strong is the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Volume is not strength.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Executing code is not the same as checking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1400000"/>
            <a:ext cx="3760000" cy="12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7534E"/>
                </a:solidFill>
              </a:rPr>
              <a:t>EXECUTING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code runs and produces behavior</a:t>
            </a:r>
          </a:p>
        </p:txBody>
      </p:sp>
      <p:sp>
        <p:nvSpPr>
          <p:cNvPr id="101" name="B101"/>
          <p:cNvSpPr/>
          <p:nvPr/>
        </p:nvSpPr>
        <p:spPr>
          <a:xfrm>
            <a:off x="4720000" y="1400000"/>
            <a:ext cx="3900000" cy="12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CHECKING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FFFFFF"/>
                </a:solidFill>
              </a:rPr>
              <a:t>comparing that behavior to a claim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680000" y="3080000"/>
            <a:ext cx="794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Running the code ten thousand times without a consequential assertion executes a great deal and checks almost nothing.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passing run is evidence only against a stated expectation.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Coverage of execution is not coverage of the claim.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does coverage actually establish?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180000"/>
            <a:ext cx="77724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000000"/>
                </a:solidFill>
              </a:rPr>
              <a:t>Statement and condition coverage both reached 100%.</a:t>
            </a:r>
          </a:p>
        </p:txBody>
      </p:sp>
      <p:sp>
        <p:nvSpPr>
          <p:cNvPr id="104" name="T104"/>
          <p:cNvSpPr txBox="1"/>
          <p:nvPr/>
        </p:nvSpPr>
        <p:spPr>
          <a:xfrm>
            <a:off x="685800" y="1760000"/>
            <a:ext cx="77724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Google and Microsoft report ~80–90% statement coverage; Boeing requires 100%.</a:t>
            </a:r>
          </a:p>
        </p:txBody>
      </p:sp>
      <p:sp>
        <p:nvSpPr>
          <p:cNvPr id="101" name="TPSbadge"/>
          <p:cNvSpPr/>
          <p:nvPr/>
        </p:nvSpPr>
        <p:spPr>
          <a:xfrm>
            <a:off x="2972000" y="2260000"/>
            <a:ext cx="3200000" cy="64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6B3FA0"/>
                </a:solidFill>
              </a:rPr>
              <a:t>THINK</a:t>
            </a:r>
            <a:r>
              <a:rPr lang="en-US" sz="22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200" b="1" i="0" dirty="0">
                <a:solidFill>
                  <a:srgbClr val="2E74B5"/>
                </a:solidFill>
              </a:rPr>
              <a:t>PAIR</a:t>
            </a:r>
            <a:r>
              <a:rPr lang="en-US" sz="22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200" b="1" i="0" dirty="0">
                <a:solidFill>
                  <a:srgbClr val="B8860B"/>
                </a:solidFill>
              </a:rPr>
              <a:t>SHARE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685800" y="3080000"/>
            <a:ext cx="77724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have we established — and what have we not?</a:t>
            </a:r>
          </a:p>
        </p:txBody>
      </p:sp>
      <p:sp>
        <p:nvSpPr>
          <p:cNvPr id="103" name="E103"/>
          <p:cNvSpPr/>
          <p:nvPr/>
        </p:nvSpPr>
        <p:spPr>
          <a:xfrm>
            <a:off x="1372000" y="3620000"/>
            <a:ext cx="6400000" cy="10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Coverage shows that executions REACHED the code.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7534E"/>
                </a:solidFill>
              </a:rPr>
              <a:t>It does not show the code is CORRECT — reaching a line is not checking its claim.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reached line with no consequential assertion is execution, not evidence.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multiplies; independence does not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872000" y="1120000"/>
            <a:ext cx="7400000" cy="9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A thousand tests from one mistaken interpretation are not a thousand reasons.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900" b="1" i="1" dirty="0">
                <a:solidFill>
                  <a:srgbClr val="5C4826"/>
                </a:solidFill>
              </a:rPr>
              <a:t>They are one reason, repeated.</a:t>
            </a:r>
          </a:p>
        </p:txBody>
      </p:sp>
      <p:sp>
        <p:nvSpPr>
          <p:cNvPr id="110" name="P110"/>
          <p:cNvSpPr/>
          <p:nvPr/>
        </p:nvSpPr>
        <p:spPr>
          <a:xfrm>
            <a:off x="872000" y="23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Independent evidence, resting on different assumptions, reduces shared error.</a:t>
            </a:r>
          </a:p>
        </p:txBody>
      </p:sp>
      <p:sp>
        <p:nvSpPr>
          <p:cNvPr id="111" name="P111"/>
          <p:cNvSpPr/>
          <p:nvPr/>
        </p:nvSpPr>
        <p:spPr>
          <a:xfrm>
            <a:off x="872000" y="30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Ask of every body of evidence: what assumptions does it inherit?</a:t>
            </a:r>
          </a:p>
        </p:txBody>
      </p:sp>
      <p:sp>
        <p:nvSpPr>
          <p:cNvPr id="112" name="P112"/>
          <p:cNvSpPr/>
          <p:nvPr/>
        </p:nvSpPr>
        <p:spPr>
          <a:xfrm>
            <a:off x="872000" y="37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Strong validation triangulates — several kinds of evidence whose failure modes are uncorrelated.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Strength grows with the diversity of the assumptions, not with the count.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GenAI can make weak evidence very cheap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572000" y="900000"/>
            <a:ext cx="20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110" name="P110"/>
          <p:cNvSpPr/>
          <p:nvPr/>
        </p:nvSpPr>
        <p:spPr>
          <a:xfrm>
            <a:off x="80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Agent interpretation X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50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80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10,000 generated tests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250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P114"/>
          <p:cNvSpPr/>
          <p:nvPr/>
        </p:nvSpPr>
        <p:spPr>
          <a:xfrm>
            <a:off x="80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A</a:t>
            </a:r>
          </a:p>
        </p:txBody>
      </p:sp>
      <p:sp>
        <p:nvSpPr>
          <p:cNvPr id="120" name="P120"/>
          <p:cNvSpPr/>
          <p:nvPr/>
        </p:nvSpPr>
        <p:spPr>
          <a:xfrm>
            <a:off x="494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Independent model Y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4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494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analysis</a:t>
            </a:r>
          </a:p>
        </p:txBody>
      </p:sp>
      <p:cxnSp>
        <p:nvCxnSpPr>
          <p:cNvPr id="123" name="C123"/>
          <p:cNvCxnSpPr/>
          <p:nvPr/>
        </p:nvCxnSpPr>
        <p:spPr>
          <a:xfrm>
            <a:off x="664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4" name="P124"/>
          <p:cNvSpPr/>
          <p:nvPr/>
        </p:nvSpPr>
        <p:spPr>
          <a:xfrm>
            <a:off x="494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B</a:t>
            </a:r>
          </a:p>
        </p:txBody>
      </p:sp>
      <p:sp>
        <p:nvSpPr>
          <p:cNvPr id="130" name="L130"/>
          <p:cNvSpPr/>
          <p:nvPr/>
        </p:nvSpPr>
        <p:spPr>
          <a:xfrm>
            <a:off x="2500000" y="1420000"/>
            <a:ext cx="2072000" cy="480000"/>
          </a:xfrm>
          <a:custGeom>
            <a:avLst/>
            <a:gdLst/>
            <a:ahLst/>
            <a:cxnLst/>
            <a:rect l="l" t="t" r="r" b="b"/>
            <a:pathLst>
              <a:path w="2072000" h="480000" fill="none">
                <a:moveTo>
                  <a:pt x="2072000" y="0"/>
                </a:moveTo>
                <a:lnTo>
                  <a:pt x="0" y="0"/>
                </a:lnTo>
                <a:lnTo>
                  <a:pt x="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</p:sp>
      <p:sp>
        <p:nvSpPr>
          <p:cNvPr id="131" name="L131"/>
          <p:cNvSpPr/>
          <p:nvPr/>
        </p:nvSpPr>
        <p:spPr>
          <a:xfrm>
            <a:off x="4572000" y="1420000"/>
            <a:ext cx="2068000" cy="480000"/>
          </a:xfrm>
          <a:custGeom>
            <a:avLst/>
            <a:gdLst/>
            <a:ahLst/>
            <a:cxnLst/>
            <a:rect l="l" t="t" r="r" b="b"/>
            <a:pathLst>
              <a:path w="2068000" h="480000" fill="none">
                <a:moveTo>
                  <a:pt x="0" y="0"/>
                </a:moveTo>
                <a:lnTo>
                  <a:pt x="2068000" y="0"/>
                </a:lnTo>
                <a:lnTo>
                  <a:pt x="206800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</p:sp>
      <p:sp>
        <p:nvSpPr>
          <p:cNvPr id="140" name="T140"/>
          <p:cNvSpPr txBox="1"/>
          <p:nvPr/>
        </p:nvSpPr>
        <p:spPr>
          <a:xfrm>
            <a:off x="800000" y="4440000"/>
            <a:ext cx="754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branches on different assumptions catch each other's mistakes. Ten thousand tests on ONE interpretation are one reason, repeated.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agent can cheaply produce 10,000 tests.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If all inherit the same mistaken interpretation, what did we learn?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When is the evidence enough?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Judge the evidence against what is at stake.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Enough is judged against what is at stake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Evidence is judged against consequence.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same residual uncertainty can justify delivery for a scratchpad and forbid it for a medical device.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Some uncertainty is resolved after delivery.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Use in the real environment generates knowledge that would have been expensive, or even impossible, to obtain before delivery.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Operational evidence can reopen the decision.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 justification made under an old state of knowledge cannot simply be reused under a new one.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does not end at first delivery — evidence keeps arriving.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should we do 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980000"/>
            <a:ext cx="8000000" cy="11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EVIDENCE ON THE TABLE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Property tests pass. A load model predicts p99 &lt; 500 ms, but production workload is untested.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One incident report suggests a rare double-charge. Consequence: real money.</a:t>
            </a:r>
          </a:p>
        </p:txBody>
      </p:sp>
      <p:sp>
        <p:nvSpPr>
          <p:cNvPr id="101" name="TPSbadge"/>
          <p:cNvSpPr/>
          <p:nvPr/>
        </p:nvSpPr>
        <p:spPr>
          <a:xfrm>
            <a:off x="2972000" y="2320000"/>
            <a:ext cx="3200000" cy="56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6B3FA0"/>
                </a:solidFill>
              </a:rPr>
              <a:t>THINK</a:t>
            </a:r>
            <a:r>
              <a:rPr lang="en-US" sz="22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200" b="1" i="0" dirty="0">
                <a:solidFill>
                  <a:srgbClr val="2E74B5"/>
                </a:solidFill>
              </a:rPr>
              <a:t>PAIR</a:t>
            </a:r>
            <a:r>
              <a:rPr lang="en-US" sz="22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200" b="1" i="0" dirty="0">
                <a:solidFill>
                  <a:srgbClr val="B8860B"/>
                </a:solidFill>
              </a:rPr>
              <a:t>SHARE</a:t>
            </a:r>
          </a:p>
        </p:txBody>
      </p:sp>
      <p:sp>
        <p:nvSpPr>
          <p:cNvPr id="110" name="B110"/>
          <p:cNvSpPr/>
          <p:nvPr/>
        </p:nvSpPr>
        <p:spPr>
          <a:xfrm>
            <a:off x="432000" y="3120000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11" name="B111"/>
          <p:cNvSpPr/>
          <p:nvPr/>
        </p:nvSpPr>
        <p:spPr>
          <a:xfrm>
            <a:off x="2112000" y="3120000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GATHER MORE</a:t>
            </a:r>
          </a:p>
        </p:txBody>
      </p:sp>
      <p:sp>
        <p:nvSpPr>
          <p:cNvPr id="112" name="B112"/>
          <p:cNvSpPr/>
          <p:nvPr/>
        </p:nvSpPr>
        <p:spPr>
          <a:xfrm>
            <a:off x="3792000" y="3120000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13" name="B113"/>
          <p:cNvSpPr/>
          <p:nvPr/>
        </p:nvSpPr>
        <p:spPr>
          <a:xfrm>
            <a:off x="5472000" y="3120000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REVISIT UPSTREAM</a:t>
            </a:r>
          </a:p>
        </p:txBody>
      </p:sp>
      <p:sp>
        <p:nvSpPr>
          <p:cNvPr id="114" name="B114"/>
          <p:cNvSpPr/>
          <p:nvPr/>
        </p:nvSpPr>
        <p:spPr>
          <a:xfrm>
            <a:off x="7152000" y="3120000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REFUSE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20000" y="4100000"/>
            <a:ext cx="8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Choose one. Defend it from the evidence and the consequence — not from habit.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decision is not binary. Which action follows from what we now know?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1" grpId="1"/>
      <p:bldP spid="112" grpId="2"/>
      <p:bldP spid="113" grpId="3"/>
      <p:bldP spid="114" grpId="4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the judgment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272000" y="900000"/>
            <a:ext cx="26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CLAIM: ready to deliver</a:t>
            </a:r>
          </a:p>
        </p:txBody>
      </p:sp>
      <p:sp>
        <p:nvSpPr>
          <p:cNvPr id="101" name="L101"/>
          <p:cNvSpPr/>
          <p:nvPr/>
        </p:nvSpPr>
        <p:spPr>
          <a:xfrm>
            <a:off x="2300000" y="1500000"/>
            <a:ext cx="2272000" cy="360000"/>
          </a:xfrm>
          <a:custGeom>
            <a:avLst/>
            <a:gdLst/>
            <a:ahLst/>
            <a:cxnLst/>
            <a:rect l="l" t="t" r="r" b="b"/>
            <a:pathLst>
              <a:path w="2272000" h="360000" fill="none">
                <a:moveTo>
                  <a:pt x="2272000" y="0"/>
                </a:moveTo>
                <a:lnTo>
                  <a:pt x="0" y="0"/>
                </a:lnTo>
                <a:lnTo>
                  <a:pt x="0" y="36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</p:sp>
      <p:sp>
        <p:nvSpPr>
          <p:cNvPr id="102" name="L102"/>
          <p:cNvSpPr/>
          <p:nvPr/>
        </p:nvSpPr>
        <p:spPr>
          <a:xfrm>
            <a:off x="4572000" y="1500000"/>
            <a:ext cx="2272000" cy="360000"/>
          </a:xfrm>
          <a:custGeom>
            <a:avLst/>
            <a:gdLst/>
            <a:ahLst/>
            <a:cxnLst/>
            <a:rect l="l" t="t" r="r" b="b"/>
            <a:pathLst>
              <a:path w="2272000" h="360000" fill="none">
                <a:moveTo>
                  <a:pt x="0" y="0"/>
                </a:moveTo>
                <a:lnTo>
                  <a:pt x="2272000" y="0"/>
                </a:lnTo>
                <a:lnTo>
                  <a:pt x="2272000" y="36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</p:sp>
      <p:sp>
        <p:nvSpPr>
          <p:cNvPr id="110" name="P110"/>
          <p:cNvSpPr/>
          <p:nvPr/>
        </p:nvSpPr>
        <p:spPr>
          <a:xfrm>
            <a:off x="90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payment charged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at most once</a:t>
            </a:r>
          </a:p>
        </p:txBody>
      </p:sp>
      <p:sp>
        <p:nvSpPr>
          <p:cNvPr id="111" name="P111"/>
          <p:cNvSpPr/>
          <p:nvPr/>
        </p:nvSpPr>
        <p:spPr>
          <a:xfrm>
            <a:off x="472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p99 latency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&lt; 500 ms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16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C121"/>
          <p:cNvCxnSpPr/>
          <p:nvPr/>
        </p:nvCxnSpPr>
        <p:spPr>
          <a:xfrm>
            <a:off x="30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90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property tests</a:t>
            </a:r>
          </a:p>
        </p:txBody>
      </p:sp>
      <p:sp>
        <p:nvSpPr>
          <p:cNvPr id="123" name="P123"/>
          <p:cNvSpPr/>
          <p:nvPr/>
        </p:nvSpPr>
        <p:spPr>
          <a:xfrm>
            <a:off x="234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model checking</a:t>
            </a:r>
          </a:p>
        </p:txBody>
      </p:sp>
      <p:cxnSp>
        <p:nvCxnSpPr>
          <p:cNvPr id="124" name="C124"/>
          <p:cNvCxnSpPr/>
          <p:nvPr/>
        </p:nvCxnSpPr>
        <p:spPr>
          <a:xfrm>
            <a:off x="54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5" name="C125"/>
          <p:cNvCxnSpPr/>
          <p:nvPr/>
        </p:nvCxnSpPr>
        <p:spPr>
          <a:xfrm>
            <a:off x="68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6" name="P126"/>
          <p:cNvSpPr/>
          <p:nvPr/>
        </p:nvSpPr>
        <p:spPr>
          <a:xfrm>
            <a:off x="472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load model</a:t>
            </a:r>
          </a:p>
        </p:txBody>
      </p:sp>
      <p:sp>
        <p:nvSpPr>
          <p:cNvPr id="127" name="P127"/>
          <p:cNvSpPr/>
          <p:nvPr/>
        </p:nvSpPr>
        <p:spPr>
          <a:xfrm>
            <a:off x="616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000000"/>
                </a:solidFill>
              </a:rPr>
              <a:t>measured result</a:t>
            </a:r>
          </a:p>
        </p:txBody>
      </p:sp>
      <p:cxnSp>
        <p:nvCxnSpPr>
          <p:cNvPr id="130" name="C130"/>
          <p:cNvCxnSpPr/>
          <p:nvPr/>
        </p:nvCxnSpPr>
        <p:spPr>
          <a:xfrm>
            <a:off x="158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1" name="C131"/>
          <p:cNvCxnSpPr/>
          <p:nvPr/>
        </p:nvCxnSpPr>
        <p:spPr>
          <a:xfrm>
            <a:off x="302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2" name="C132"/>
          <p:cNvCxnSpPr/>
          <p:nvPr/>
        </p:nvCxnSpPr>
        <p:spPr>
          <a:xfrm>
            <a:off x="540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3" name="C133"/>
          <p:cNvCxnSpPr/>
          <p:nvPr/>
        </p:nvCxnSpPr>
        <p:spPr>
          <a:xfrm>
            <a:off x="684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4" name="C134"/>
          <p:cNvCxnSpPr/>
          <p:nvPr/>
        </p:nvCxnSpPr>
        <p:spPr>
          <a:xfrm>
            <a:off x="1580000" y="3900000"/>
            <a:ext cx="5260000" cy="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5" name="C135"/>
          <p:cNvCxnSpPr/>
          <p:nvPr/>
        </p:nvCxnSpPr>
        <p:spPr>
          <a:xfrm>
            <a:off x="4572000" y="3900000"/>
            <a:ext cx="0" cy="28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0" name="B140"/>
          <p:cNvSpPr/>
          <p:nvPr/>
        </p:nvSpPr>
        <p:spPr>
          <a:xfrm>
            <a:off x="3872000" y="4180000"/>
            <a:ext cx="14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41" name="C141"/>
          <p:cNvCxnSpPr/>
          <p:nvPr/>
        </p:nvCxnSpPr>
        <p:spPr>
          <a:xfrm>
            <a:off x="4572000" y="4700000"/>
            <a:ext cx="0" cy="30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2" name="E142"/>
          <p:cNvSpPr/>
          <p:nvPr/>
        </p:nvSpPr>
        <p:spPr>
          <a:xfrm>
            <a:off x="3972000" y="5000000"/>
            <a:ext cx="1200000" cy="4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DELIVER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started by asking what would justify delivery. Everything today has been constructing this.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reasoning you can reuse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372000" y="116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is at stake?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76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1372000" y="200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must be true?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572000" y="260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1372000" y="284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What evidence supports it?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572000" y="344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6" name="P106"/>
          <p:cNvSpPr/>
          <p:nvPr/>
        </p:nvSpPr>
        <p:spPr>
          <a:xfrm>
            <a:off x="1372000" y="368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>How strong is that evidence?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572000" y="428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E108"/>
          <p:cNvSpPr/>
          <p:nvPr/>
        </p:nvSpPr>
        <p:spPr>
          <a:xfrm>
            <a:off x="1372000" y="4520000"/>
            <a:ext cx="6400000" cy="66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Is the Assurance Case sufficient to act?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turns evidence into engineering judgment.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8553</TotalTime>
  <Words>8987</Words>
  <Application>Microsoft Macintosh PowerPoint</Application>
  <PresentationFormat>On-screen Show (4:3)</PresentationFormat>
  <Paragraphs>985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Times</vt:lpstr>
      <vt:lpstr>Purdue1</vt:lpstr>
      <vt:lpstr>ECE 30861/46100: Software Engineering</vt:lpstr>
      <vt:lpstr>In specification we separate obligations. In architecture we must build ONE machine</vt:lpstr>
      <vt:lpstr>What is architecture?</vt:lpstr>
      <vt:lpstr>A specification describes the BEHAVIOR but not the MACHINE</vt:lpstr>
      <vt:lpstr>Architecture answers four questions</vt:lpstr>
      <vt:lpstr>Where should the boundaries go?</vt:lpstr>
      <vt:lpstr>How do we choose among acceptable architectures?</vt:lpstr>
      <vt:lpstr>Two architectures. Which one is better?</vt:lpstr>
      <vt:lpstr>The decision matrix says architecture A wins, 3.95 to 3.70</vt:lpstr>
      <vt:lpstr>First eliminate unacceptable and dominated alternatives</vt:lpstr>
      <vt:lpstr>Pareto tradeoffs require judgment</vt:lpstr>
      <vt:lpstr>Sometimes the right decision is to buy more information</vt:lpstr>
      <vt:lpstr>Where do the alternatives come from?</vt:lpstr>
      <vt:lpstr>Patterns capture recurring choices and expected consequences</vt:lpstr>
      <vt:lpstr>Shall we layer communication paths? How strictly?</vt:lpstr>
      <vt:lpstr>How should processing and shared state be organized?</vt:lpstr>
      <vt:lpstr>How should components communicate?</vt:lpstr>
      <vt:lpstr>Which way should infrastructure dependencies point?</vt:lpstr>
      <vt:lpstr>Patterns give us expectations, not measurements</vt:lpstr>
      <vt:lpstr>How much can we know before we build?</vt:lpstr>
      <vt:lpstr>An architecture model is useful only if it answers a question</vt:lpstr>
      <vt:lpstr>How strongly can we support an architectural claim?</vt:lpstr>
      <vt:lpstr>Can this change remain local?</vt:lpstr>
      <vt:lpstr>What sets the latency floor?</vt:lpstr>
      <vt:lpstr>What happens when architectural evidence gets cheaper?</vt:lpstr>
      <vt:lpstr>Architect one system</vt:lpstr>
      <vt:lpstr>Exercise: Here is the specification</vt:lpstr>
      <vt:lpstr>Defend the architectural decision</vt:lpstr>
      <vt:lpstr>Specification → Architecture → Design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388</cp:revision>
  <dcterms:created xsi:type="dcterms:W3CDTF">2020-02-21T23:00:33Z</dcterms:created>
  <dcterms:modified xsi:type="dcterms:W3CDTF">2026-09-12T02:08:37Z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