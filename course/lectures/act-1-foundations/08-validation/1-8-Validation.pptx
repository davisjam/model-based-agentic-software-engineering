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9"/>
  </p:notesMasterIdLst>
  <p:sldIdLst>
    <p:sldId id="257" r:id="rId2"/>
    <p:sldId id="258" r:id="rId3"/>
    <p:sldId id="259" r:id="rId4"/>
    <p:sldId id="260" r:id="rId5"/>
    <p:sldId id="261" r:id="rId6"/>
    <p:sldId id="262" r:id="rId7"/>
    <p:sldId id="263" r:id="rId8"/>
    <p:sldId id="264" r:id="rId9"/>
    <p:sldId id="265" r:id="rId10"/>
    <p:sldId id="267" r:id="rId12"/>
    <p:sldId id="271" r:id="rId16"/>
    <p:sldId id="294" r:id="rId44"/>
    <p:sldId id="295" r:id="rId45"/>
    <p:sldId id="296" r:id="rId46"/>
    <p:sldId id="270" r:id="rId15"/>
    <p:sldId id="268" r:id="rId13"/>
    <p:sldId id="269" r:id="rId14"/>
    <p:sldId id="274" r:id="rId19"/>
    <p:sldId id="275" r:id="rId20"/>
    <p:sldId id="297" r:id="rId47"/>
    <p:sldId id="298" r:id="rId48"/>
    <p:sldId id="299" r:id="rId49"/>
    <p:sldId id="300" r:id="rId50"/>
    <p:sldId id="301" r:id="rId51"/>
    <p:sldId id="302" r:id="rId52"/>
    <p:sldId id="303" r:id="rId53"/>
    <p:sldId id="304" r:id="rId54"/>
    <p:sldId id="305" r:id="rId55"/>
    <p:sldId id="306" r:id="rId56"/>
    <p:sldId id="283" r:id="rId28"/>
    <p:sldId id="307" r:id="rId57"/>
    <p:sldId id="308" r:id="rId31"/>
    <p:sldId id="309" r:id="rId30"/>
    <p:sldId id="310" r:id="rId27"/>
    <p:sldId id="311" r:id="rId26"/>
    <p:sldId id="312" r:id="rId25"/>
    <p:sldId id="313" r:id="rId24"/>
    <p:sldId id="314" r:id="rId23"/>
    <p:sldId id="284" r:id="rId29"/>
    <p:sldId id="272" r:id="rId17"/>
    <p:sldId id="315" r:id="rId22"/>
    <p:sldId id="316" r:id="rId21"/>
    <p:sldId id="317" r:id="rId18"/>
    <p:sldId id="287" r:id="rId32"/>
    <p:sldId id="288" r:id="rId33"/>
    <p:sldId id="289" r:id="rId34"/>
    <p:sldId id="290" r:id="rId35"/>
    <p:sldId id="318" r:id="rId11"/>
    <p:sldId id="319" r:id="rId58"/>
    <p:sldId id="320" r:id="rId59"/>
    <p:sldId id="321" r:id="rId60"/>
    <p:sldId id="322" r:id="rId61"/>
    <p:sldId id="291" r:id="rId36"/>
    <p:sldId id="292" r:id="rId37"/>
    <p:sldId id="293"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72" d="100"/>
          <a:sy n="72" d="100"/>
        </p:scale>
        <p:origin x="2832" y="7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48.xml"/><Relationship Id="rId12" Type="http://schemas.openxmlformats.org/officeDocument/2006/relationships/slide" Target="slides/slide10.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5.xml"/><Relationship Id="rId16" Type="http://schemas.openxmlformats.org/officeDocument/2006/relationships/slide" Target="slides/slide11.xml"/><Relationship Id="rId17" Type="http://schemas.openxmlformats.org/officeDocument/2006/relationships/slide" Target="slides/slide40.xml"/><Relationship Id="rId18" Type="http://schemas.openxmlformats.org/officeDocument/2006/relationships/slide" Target="slides/slide43.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42.xml"/><Relationship Id="rId22" Type="http://schemas.openxmlformats.org/officeDocument/2006/relationships/slide" Target="slides/slide41.xml"/><Relationship Id="rId23" Type="http://schemas.openxmlformats.org/officeDocument/2006/relationships/slide" Target="slides/slide38.xml"/><Relationship Id="rId24" Type="http://schemas.openxmlformats.org/officeDocument/2006/relationships/slide" Target="slides/slide37.xml"/><Relationship Id="rId25" Type="http://schemas.openxmlformats.org/officeDocument/2006/relationships/slide" Target="slides/slide36.xml"/><Relationship Id="rId26" Type="http://schemas.openxmlformats.org/officeDocument/2006/relationships/slide" Target="slides/slide35.xml"/><Relationship Id="rId27" Type="http://schemas.openxmlformats.org/officeDocument/2006/relationships/slide" Target="slides/slide34.xml"/><Relationship Id="rId28" Type="http://schemas.openxmlformats.org/officeDocument/2006/relationships/slide" Target="slides/slide30.xml"/><Relationship Id="rId29" Type="http://schemas.openxmlformats.org/officeDocument/2006/relationships/slide" Target="slides/slide39.xml"/><Relationship Id="rId30" Type="http://schemas.openxmlformats.org/officeDocument/2006/relationships/slide" Target="slides/slide33.xml"/><Relationship Id="rId31" Type="http://schemas.openxmlformats.org/officeDocument/2006/relationships/slide" Target="slides/slide32.xml"/><Relationship Id="rId32" Type="http://schemas.openxmlformats.org/officeDocument/2006/relationships/slide" Target="slides/slide44.xml"/><Relationship Id="rId33" Type="http://schemas.openxmlformats.org/officeDocument/2006/relationships/slide" Target="slides/slide45.xml"/><Relationship Id="rId34" Type="http://schemas.openxmlformats.org/officeDocument/2006/relationships/slide" Target="slides/slide46.xml"/><Relationship Id="rId35" Type="http://schemas.openxmlformats.org/officeDocument/2006/relationships/slide" Target="slides/slide47.xml"/><Relationship Id="rId36" Type="http://schemas.openxmlformats.org/officeDocument/2006/relationships/slide" Target="slides/slide53.xml"/><Relationship Id="rId37" Type="http://schemas.openxmlformats.org/officeDocument/2006/relationships/slide" Target="slides/slide54.xml"/><Relationship Id="rId38" Type="http://schemas.openxmlformats.org/officeDocument/2006/relationships/slide" Target="slides/slide55.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12.xml"/><Relationship Id="rId45" Type="http://schemas.openxmlformats.org/officeDocument/2006/relationships/slide" Target="slides/slide13.xml"/><Relationship Id="rId46" Type="http://schemas.openxmlformats.org/officeDocument/2006/relationships/slide" Target="slides/slide14.xml"/><Relationship Id="rId47" Type="http://schemas.openxmlformats.org/officeDocument/2006/relationships/slide" Target="slides/slide20.xml"/><Relationship Id="rId48" Type="http://schemas.openxmlformats.org/officeDocument/2006/relationships/slide" Target="slides/slide21.xml"/><Relationship Id="rId49" Type="http://schemas.openxmlformats.org/officeDocument/2006/relationships/slide" Target="slides/slide22.xml"/><Relationship Id="rId50" Type="http://schemas.openxmlformats.org/officeDocument/2006/relationships/slide" Target="slides/slide23.xml"/><Relationship Id="rId51" Type="http://schemas.openxmlformats.org/officeDocument/2006/relationships/slide" Target="slides/slide24.xml"/><Relationship Id="rId52" Type="http://schemas.openxmlformats.org/officeDocument/2006/relationships/slide" Target="slides/slide25.xml"/><Relationship Id="rId53" Type="http://schemas.openxmlformats.org/officeDocument/2006/relationships/slide" Target="slides/slide26.xml"/><Relationship Id="rId54" Type="http://schemas.openxmlformats.org/officeDocument/2006/relationships/slide" Target="slides/slide27.xml"/><Relationship Id="rId55" Type="http://schemas.openxmlformats.org/officeDocument/2006/relationships/slide" Target="slides/slide28.xml"/><Relationship Id="rId56" Type="http://schemas.openxmlformats.org/officeDocument/2006/relationships/slide" Target="slides/slide29.xml"/><Relationship Id="rId57" Type="http://schemas.openxmlformats.org/officeDocument/2006/relationships/slide" Target="slides/slide31.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Reframe validation as a decision under uncertainty, not a proof.</a:t>
            </a:r>
          </a:p>
          <a:p>
            <a:endParaRPr lang="en-US"/>
          </a:p>
          <a:p>
            <a:r>
              <a:rPr lang="en-US" b="0" i="0" dirty="0"/>
              <a:t>• Core move: validation supports a DECISION, not a proof.</a:t>
            </a:r>
          </a:p>
          <a:p>
            <a:r>
              <a:rPr lang="en-US" b="0" i="0" dirty="0"/>
              <a:t>• Do not mention testing yet — evidence mechanisms come in Section 3.</a:t>
            </a:r>
          </a:p>
          <a:p>
            <a:r>
              <a:rPr lang="en-US" b="0" i="0" dirty="0"/>
              <a:t>• "Move fast and break things" is a real strategy — ask when it is defensible.</a:t>
            </a:r>
          </a:p>
          <a:p>
            <a:r>
              <a:rPr lang="en-US" b="0" i="0" dirty="0"/>
              <a:t>• Pivot on the third panel: an update repairs the software, not the past consequence.</a:t>
            </a:r>
          </a:p>
          <a:p>
            <a:endParaRPr lang="en-US"/>
          </a:p>
          <a:p>
            <a:r>
              <a:rPr lang="en-US" b="0" i="0" dirty="0"/>
              <a:t>=====</a:t>
            </a:r>
          </a:p>
          <a:p>
            <a:endParaRPr lang="en-US"/>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evidence is sufficient for THIS delivery? Which uncertainty can we afford to carry forward?</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Validation inherits its claims; it does not invent them.</a:t>
            </a:r>
          </a:p>
          <a:p>
            <a:endParaRPr lang="en-US"/>
          </a:p>
          <a:p>
            <a:r>
              <a:rPr lang="en-US" b="0" i="0" dirty="0"/>
              <a:t>• Callback to the Requirements + Specification lectures: requirements = world outcomes; specification = machine obligations under environment assumptions.</a:t>
            </a:r>
          </a:p>
          <a:p>
            <a:r>
              <a:rPr lang="en-US" b="0" i="0" dirty="0"/>
              <a:t>• Point: 'what must be true?' is not a fresh question here — it was answered upstream.</a:t>
            </a:r>
          </a:p>
          <a:p>
            <a:r>
              <a:rPr lang="en-US" b="0" i="0" dirty="0"/>
              <a:t>• Evidence for one claim may say nothing about another: 'it has been tested' is not an answer.</a:t>
            </a:r>
          </a:p>
          <a:p>
            <a:r>
              <a:rPr lang="en-US" b="0" i="0" dirty="0"/>
              <a:t>• Keep the payment service on the board — it runs through the rest of Section 2.</a:t>
            </a:r>
          </a:p>
          <a:p>
            <a:endParaRPr lang="en-US"/>
          </a:p>
          <a:p>
            <a:r>
              <a:rPr lang="en-US" b="0" i="0" dirty="0"/>
              <a:t>=====</a:t>
            </a:r>
          </a:p>
          <a:p>
            <a:endParaRPr lang="en-US"/>
          </a:p>
          <a:p>
            <a:r>
              <a:rPr lang="en-US" b="0" i="0" dirty="0"/>
              <a:t>Four claims, straight out of the payment service specification. We did not invent them in this lecture and you do not invent them in practice — you inherit them.</a:t>
            </a:r>
          </a:p>
          <a:p>
            <a:r>
              <a:rPr lang="en-US" b="0" i="0" dirty="0"/>
              <a:t>Recall the distinction from earlier: requirements state outcomes in the world; a specification states the machine's obligations under assumptions about its environment.</a:t>
            </a:r>
          </a:p>
          <a:p>
            <a:r>
              <a:rPr lang="en-US" b="0" i="0" dirty="0"/>
              <a:t>Validation's question is not "what should be true?" It is: which of these claims are consequential, and what evidence could expose a violation?</a:t>
            </a:r>
          </a:p>
          <a:p>
            <a:r>
              <a:rPr lang="en-US" b="0" i="0" dirty="0"/>
              <a:t>One consequence worth stating out loud. Evidence for one claim may say nothing whatever about another. "It has been tested" is not an answer to "is the authorization claim supported?"</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Recover the chain of models — the left leg, earned before any V is drawn.</a:t>
            </a:r>
          </a:p>
          <a:p>
            <a:endParaRPr lang="en-US"/>
          </a:p>
          <a:p>
            <a:r>
              <a:rPr lang="en-US" b="0" i="0" dirty="0"/>
              <a:t>• Draw only this leg. There is no reason to draw a V yet — the right side has to be earned.</a:t>
            </a:r>
          </a:p>
          <a:p>
            <a:r>
              <a:rPr lang="en-US" b="0" i="0" dirty="0"/>
              <a:t>• The chain is the payoff of the previous four lectures, compressed.</a:t>
            </a:r>
          </a:p>
          <a:p>
            <a:r>
              <a:rPr lang="en-US" b="0" i="0" dirty="0"/>
              <a:t>• Levels are convenient, not a law: the middle refines as far as the engineering problem requires.</a:t>
            </a:r>
          </a:p>
          <a:p>
            <a:endParaRPr lang="en-US"/>
          </a:p>
          <a:p>
            <a:r>
              <a:rPr lang="en-US" b="0" i="0" dirty="0"/>
              <a:t>=====</a:t>
            </a:r>
          </a:p>
          <a:p>
            <a:endParaRPr lang="en-US"/>
          </a:p>
          <a:p>
            <a:r>
              <a:rPr lang="en-US" b="0" i="0" dirty="0"/>
              <a:t>Before we can say where evidence attaches, we need the thing it attaches to. This is the chain you have been building all term.</a:t>
            </a:r>
          </a:p>
          <a:p>
            <a:endParaRPr lang="en-US"/>
          </a:p>
          <a:p>
            <a:r>
              <a:rPr lang="en-US" b="1" i="0" dirty="0"/>
              <a:t>ANIMATE</a:t>
            </a:r>
          </a:p>
          <a:p>
            <a:endParaRPr lang="en-US"/>
          </a:p>
          <a:p>
            <a:r>
              <a:rPr lang="en-US" b="0" i="0" dirty="0"/>
              <a:t>Requirements: what the world must get.</a:t>
            </a:r>
          </a:p>
          <a:p>
            <a:endParaRPr lang="en-US"/>
          </a:p>
          <a:p>
            <a:r>
              <a:rPr lang="en-US" b="1" i="0" dirty="0"/>
              <a:t>ANIMATE</a:t>
            </a:r>
          </a:p>
          <a:p>
            <a:endParaRPr lang="en-US"/>
          </a:p>
          <a:p>
            <a:r>
              <a:rPr lang="en-US" b="0" i="0" dirty="0"/>
              <a:t>Specification: what the machine must do, under stated assumptions about its environment.</a:t>
            </a:r>
          </a:p>
          <a:p>
            <a:endParaRPr lang="en-US"/>
          </a:p>
          <a:p>
            <a:r>
              <a:rPr lang="en-US" b="1" i="0" dirty="0"/>
              <a:t>ANIMATE</a:t>
            </a:r>
          </a:p>
          <a:p>
            <a:endParaRPr lang="en-US"/>
          </a:p>
          <a:p>
            <a:r>
              <a:rPr lang="en-US" b="0" i="0" dirty="0"/>
              <a:t>Architecture and design: how. And these refine —</a:t>
            </a:r>
          </a:p>
          <a:p>
            <a:endParaRPr lang="en-US"/>
          </a:p>
          <a:p>
            <a:r>
              <a:rPr lang="en-US" b="1" i="0" dirty="0"/>
              <a:t>ANIMATE</a:t>
            </a:r>
          </a:p>
          <a:p>
            <a:endParaRPr lang="en-US"/>
          </a:p>
          <a:p>
            <a:r>
              <a:rPr lang="en-US" b="0" i="0" dirty="0"/>
              <a:t>— system organization, subsystem, mechanism. Note that the number of levels here is not fixed by anything. You refine as far as the engineering problem requires.</a:t>
            </a:r>
          </a:p>
          <a:p>
            <a:endParaRPr lang="en-US"/>
          </a:p>
          <a:p>
            <a:r>
              <a:rPr lang="en-US" b="1" i="0" dirty="0"/>
              <a:t>ANIMATE</a:t>
            </a:r>
          </a:p>
          <a:p>
            <a:endParaRPr lang="en-US"/>
          </a:p>
          <a:p>
            <a:r>
              <a:rPr lang="en-US" b="0" i="0" dirty="0"/>
              <a:t>And the realization: the machine you actually built.</a:t>
            </a:r>
          </a:p>
          <a:p>
            <a:endParaRPr lang="en-US"/>
          </a:p>
          <a:p>
            <a:r>
              <a:rPr lang="en-US" b="1" i="0" dirty="0"/>
              <a:t>ANIMATE</a:t>
            </a:r>
          </a:p>
          <a:p>
            <a:endParaRPr lang="en-US"/>
          </a:p>
          <a:p>
            <a:r>
              <a:rPr lang="en-US" b="0" i="0" dirty="0"/>
              <a:t>A chain of models growing more precise toward the code. Not a schedule of phases — you do not finish one and move on. Read it as a structure, not a calendar.</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The specification's obligation only produces the world outcome via assumptions.</a:t>
            </a:r>
          </a:p>
          <a:p>
            <a:endParaRPr lang="en-US"/>
          </a:p>
          <a:p>
            <a:r>
              <a:rPr lang="en-US" b="0" i="0" dirty="0"/>
              <a:t>• This is the Jackson framing: machine plus environment yields the world outcome.</a:t>
            </a:r>
          </a:p>
          <a:p>
            <a:r>
              <a:rPr lang="en-US" b="0" i="0" dirty="0"/>
              <a:t>• The load-bearing point: most evidence attaches to the machine, and the link to the requirement runs through assumptions nobody has tested.</a:t>
            </a:r>
          </a:p>
          <a:p>
            <a:r>
              <a:rPr lang="en-US" b="0" i="0" dirty="0"/>
              <a:t>• Preview the payoff — this is why WORLD evidence appears as a separate scope two slides from now.</a:t>
            </a:r>
          </a:p>
          <a:p>
            <a:endParaRPr lang="en-US"/>
          </a:p>
          <a:p>
            <a:r>
              <a:rPr lang="en-US" b="0" i="0" dirty="0"/>
              <a:t>=====</a:t>
            </a:r>
          </a:p>
          <a:p>
            <a:endParaRPr lang="en-US"/>
          </a:p>
          <a:p>
            <a:r>
              <a:rPr lang="en-US" b="0" i="0" dirty="0"/>
              <a:t>Take one claim and ask what actually has to hold for it to be true in the world.</a:t>
            </a:r>
          </a:p>
          <a:p>
            <a:endParaRPr lang="en-US"/>
          </a:p>
          <a:p>
            <a:r>
              <a:rPr lang="en-US" b="1" i="0" dirty="0"/>
              <a:t>ANIMATE</a:t>
            </a:r>
          </a:p>
          <a:p>
            <a:endParaRPr lang="en-US"/>
          </a:p>
          <a:p>
            <a:r>
              <a:rPr lang="en-US" b="0" i="0" dirty="0"/>
              <a:t>The machine — the thing we build and the thing we can run.</a:t>
            </a:r>
          </a:p>
          <a:p>
            <a:endParaRPr lang="en-US"/>
          </a:p>
          <a:p>
            <a:r>
              <a:rPr lang="en-US" b="1" i="0" dirty="0"/>
              <a:t>ANIMATE</a:t>
            </a:r>
          </a:p>
          <a:p>
            <a:endParaRPr lang="en-US"/>
          </a:p>
          <a:p>
            <a:r>
              <a:rPr lang="en-US" b="0" i="0" dirty="0"/>
              <a:t>Plus the environment: the domain assumptions. The provider's retry semantics. The network. The operator's behavior.</a:t>
            </a:r>
          </a:p>
          <a:p>
            <a:endParaRPr lang="en-US"/>
          </a:p>
          <a:p>
            <a:r>
              <a:rPr lang="en-US" b="1" i="0" dirty="0"/>
              <a:t>ANIMATE</a:t>
            </a:r>
          </a:p>
          <a:p>
            <a:endParaRPr lang="en-US"/>
          </a:p>
          <a:p>
            <a:r>
              <a:rPr lang="en-US" b="0" i="0" dirty="0"/>
              <a:t>Together those give the required outcome in the world.</a:t>
            </a:r>
          </a:p>
          <a:p>
            <a:endParaRPr lang="en-US"/>
          </a:p>
          <a:p>
            <a:r>
              <a:rPr lang="en-US" b="1" i="0" dirty="0"/>
              <a:t>ANIMATE</a:t>
            </a:r>
          </a:p>
          <a:p>
            <a:endParaRPr lang="en-US"/>
          </a:p>
          <a:p>
            <a:r>
              <a:rPr lang="en-US" b="0" i="0" dirty="0"/>
              <a:t>So evidence has to establish two things: that the machine meets its specification, and that the specification plus the assumptions actually produces the outcome. Our concrete claim: a submitted payment shall cause at most one charge.</a:t>
            </a:r>
          </a:p>
          <a:p>
            <a:endParaRPr lang="en-US"/>
          </a:p>
          <a:p>
            <a:r>
              <a:rPr lang="en-US" b="1" i="0" dirty="0"/>
              <a:t>ANIMATE</a:t>
            </a:r>
          </a:p>
          <a:p>
            <a:endParaRPr lang="en-US"/>
          </a:p>
          <a:p>
            <a:r>
              <a:rPr lang="en-US" b="0" i="0" dirty="0"/>
              <a:t>Here is the part to take away. Almost all of the evidence you will ever collect attaches to the machine. The requirement lives in the world. The link between them runs through assumptions you have not tested — and machine-side evidence cannot expose a false one.</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 minute — </a:t>
            </a:r>
            <a:r>
              <a:rPr lang="en-US" b="0" i="1" dirty="0"/>
              <a:t>Let the obvious strategy look good, then hold the question open.</a:t>
            </a:r>
          </a:p>
          <a:p>
            <a:endParaRPr lang="en-US"/>
          </a:p>
          <a:p>
            <a:r>
              <a:rPr lang="en-US" b="0" i="0" dirty="0"/>
              <a:t>• Do not answer the question on this slide. The tension is the teaching device.</a:t>
            </a:r>
          </a:p>
          <a:p>
            <a:r>
              <a:rPr lang="en-US" b="0" i="0" dirty="0"/>
              <a:t>• Steelman end-to-end testing first: it really does observe the behavior we care about, at the real boundary.</a:t>
            </a:r>
          </a:p>
          <a:p>
            <a:r>
              <a:rPr lang="en-US" b="0" i="0" dirty="0"/>
              <a:t>• Then hand them the setup for slide 13: suppose it just failed.</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a:t>
            </a:r>
          </a:p>
          <a:p>
            <a:r>
              <a:rPr lang="en-US" b="0" i="0" dirty="0"/>
              <a:t>It observes the behavior we actually care about. At the real boundary, where the claim lives. Under conditions close to delivery. Those are three real virtues and you should not let anyone talk you out of them.</a:t>
            </a:r>
          </a:p>
          <a:p>
            <a:r>
              <a:rPr lang="en-US" b="0" i="0" dirty="0"/>
              <a:t>So why do engineers spend so much effort getting evidence about the parts instead? Hold the question. First, suppose that system test just failed.</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a:t>
            </a:r>
            <a:r>
              <a:rPr lang="en-US" b="0" i="1" dirty="0"/>
              <a:t>Diagnosis cost — not correctness — is what drives decomposition of evidence.</a:t>
            </a:r>
          </a:p>
          <a:p>
            <a:endParaRPr lang="en-US"/>
          </a:p>
          <a:p>
            <a:r>
              <a:rPr lang="en-US" b="0" i="0" dirty="0"/>
              <a:t>• This is the slide that motivates the whole taxonomy. Do not rush it.</a:t>
            </a:r>
          </a:p>
          <a:p>
            <a:r>
              <a:rPr lang="en-US" b="0" i="0" dirty="0"/>
              <a:t>• Ask: the end-to-end payment test failed. What do you do next Monday morning?</a:t>
            </a:r>
          </a:p>
          <a:p>
            <a:r>
              <a:rPr lang="en-US" b="0" i="0" dirty="0"/>
              <a:t>• Cost of diagnosis, not correctness, is what drives decomposition of evidence.</a:t>
            </a:r>
          </a:p>
          <a:p>
            <a:r>
              <a:rPr lang="en-US" b="0" i="0" dirty="0"/>
              <a:t>• Second reason: some properties are simply cheaper to exercise in the small.</a:t>
            </a:r>
          </a:p>
          <a:p>
            <a:endParaRPr lang="en-US"/>
          </a:p>
          <a:p>
            <a:r>
              <a:rPr lang="en-US" b="0" i="0" dirty="0"/>
              <a:t>=====</a:t>
            </a:r>
          </a:p>
          <a:p>
            <a:endParaRPr lang="en-US"/>
          </a:p>
          <a:p>
            <a:r>
              <a:rPr lang="en-US" b="0" i="0" dirty="0"/>
              <a:t>One failing system test. Five components in the path, plus every interaction between them. Where is the defect?</a:t>
            </a:r>
          </a:p>
          <a:p>
            <a:r>
              <a:rPr lang="en-US" b="0" i="0" dirty="0"/>
              <a:t>Ask the room: it is Monday morning, this is your ticket. What do you actually do?</a:t>
            </a:r>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a:t>
            </a:r>
          </a:p>
          <a:p>
            <a:r>
              <a:rPr lang="en-US" b="0" i="0" dirty="0"/>
              <a:t>And there is a second, quieter reason: some properties are far cheaper to exercise at a smaller scope. Rejecting a duplicate payment ID needs one component, not a deployment.</a:t>
            </a:r>
          </a:p>
          <a:p>
            <a:r>
              <a:rPr lang="en-US" b="0" i="0" dirty="0"/>
              <a:t>So we deliberately obtain evidence at more than one scope.</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a:t>
            </a:r>
            <a:r>
              <a:rPr lang="en-US" b="0" i="1" dirty="0"/>
              <a:t>One claim, four scopes — each exposing failures the others cannot.</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This slide is the concept the conventional vocabulary will later name.</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1" i="0" dirty="0"/>
              <a:t>ANIMATE</a:t>
            </a:r>
          </a:p>
          <a:p>
            <a:endParaRPr lang="en-US"/>
          </a:p>
          <a:p>
            <a:r>
              <a:rPr lang="en-US" b="0" i="0" dirty="0"/>
              <a:t>Local: does the idempotency component reject a duplicate payment ID? Cheap, fast, and a failure here is trivially isolated.</a:t>
            </a:r>
          </a:p>
          <a:p>
            <a:endParaRPr lang="en-US"/>
          </a:p>
          <a:p>
            <a:r>
              <a:rPr lang="en-US" b="1"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1" i="0" dirty="0"/>
              <a:t>ANIMATE</a:t>
            </a:r>
          </a:p>
          <a:p>
            <a:endParaRPr lang="en-US"/>
          </a:p>
          <a:p>
            <a:r>
              <a:rPr lang="en-US" b="0" i="0" dirty="0"/>
              <a:t>System: can one submitted payment ever produce two charges at the boundary we ship?</a:t>
            </a:r>
          </a:p>
          <a:p>
            <a:endParaRPr lang="en-US"/>
          </a:p>
          <a:p>
            <a:r>
              <a:rPr lang="en-US" b="1" i="0" dirty="0"/>
              <a:t>ANIMATE</a:t>
            </a:r>
          </a:p>
          <a:p>
            <a:endParaRPr lang="en-US"/>
          </a:p>
          <a:p>
            <a:r>
              <a:rPr lang="en-US" b="0" i="0" dirty="0"/>
              <a:t>World: under the provider's actual semantics — not the ones in their documentation — can the customer still be charged twice?</a:t>
            </a:r>
          </a:p>
          <a:p>
            <a:endParaRPr lang="en-US"/>
          </a:p>
          <a:p>
            <a:r>
              <a:rPr lang="en-US" b="1" i="0" dirty="0"/>
              <a:t>ANIMATE</a:t>
            </a:r>
          </a:p>
          <a:p>
            <a:endParaRPr lang="en-US"/>
          </a:p>
          <a:p>
            <a:r>
              <a:rPr lang="en-US" b="0" i="0" dirty="0"/>
              <a:t>Read the relationship, because it is the point of the slide. Local evidence makes a failure cheap to isolate. Only the assembled system can expose the interaction. And only evidence about the world can expose a false assumption about the provider.</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As low as the property allows — and no lower.</a:t>
            </a:r>
          </a:p>
          <a:p>
            <a:endParaRPr lang="en-US"/>
          </a:p>
          <a:p>
            <a:r>
              <a:rPr lang="en-US" b="0" i="0" dirty="0"/>
              <a:t>• The rule: check a property at the lowest scope that can actually establish it.</a:t>
            </a:r>
          </a:p>
          <a:p>
            <a:r>
              <a:rPr lang="en-US" b="0" i="0" dirty="0"/>
              <a:t>• The three examples are all composition-only properties. Make them say why.</a:t>
            </a:r>
          </a:p>
          <a:p>
            <a:r>
              <a:rPr lang="en-US" b="0" i="0" dirty="0"/>
              <a:t>• Misconception to kill: that 'push testing down' is always good engineering.</a:t>
            </a:r>
          </a:p>
          <a:p>
            <a:endParaRPr lang="en-US"/>
          </a:p>
          <a:p>
            <a:r>
              <a:rPr lang="en-US" b="0" i="0" dirty="0"/>
              <a:t>=====</a:t>
            </a:r>
          </a:p>
          <a:p>
            <a:endParaRPr lang="en-US"/>
          </a:p>
          <a:p>
            <a:r>
              <a:rPr lang="en-US" b="0" i="0" dirty="0"/>
              <a:t>Local evidence is cheaper, so push down — but there is a floor, and the floor is not about cost. Some properties do not exist locally at all.</a:t>
            </a:r>
          </a:p>
          <a:p>
            <a:r>
              <a:rPr lang="en-US" b="0" i="0" dirty="0"/>
              <a:t>Three services each meet their local latency budget; the end-to-end path exceeds the system budget. Two components each behave correctly; their assumptions leave one responsibility owned by neither. Two retry mechanisms are each correct; their interaction lets the same operation happen twice.</a:t>
            </a:r>
          </a:p>
          <a:p>
            <a:r>
              <a:rPr lang="en-US" b="0" i="0" dirty="0"/>
              <a:t>In all three, every part passes. There is no unit test that fails, because the property is not a property of any unit.</a:t>
            </a:r>
          </a:p>
          <a:p>
            <a:r>
              <a:rPr lang="en-US" b="0" i="0" dirty="0"/>
              <a:t>So: as cheap as the property allows, and no cheaper. You cannot decompose away a property that only exists in composition.</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The V is a summary of what we just derived — not a doctrine we accepted.</a:t>
            </a:r>
          </a:p>
          <a:p>
            <a:endParaRPr lang="en-US"/>
          </a:p>
          <a:p>
            <a:r>
              <a:rPr lang="en-US" b="0" i="0" dirty="0"/>
              <a:t>• Now — and only now — draw the right leg. The aha is that the V is a summary, not a doctrine.</a:t>
            </a:r>
          </a:p>
          <a:p>
            <a:r>
              <a:rPr lang="en-US" b="0" i="0" dirty="0"/>
              <a:t>• Acceptance sits at the top of the right leg because it pairs with requirements.</a:t>
            </a:r>
          </a:p>
          <a:p>
            <a:r>
              <a:rPr lang="en-US" b="0" i="0" dirty="0"/>
              <a:t>• Do not say unit / integration / system / acceptance yet. Next slide.</a:t>
            </a:r>
          </a:p>
          <a:p>
            <a:endParaRPr lang="en-US"/>
          </a:p>
          <a:p>
            <a:r>
              <a:rPr lang="en-US" b="0" i="0" dirty="0"/>
              <a:t>=====</a:t>
            </a:r>
          </a:p>
          <a:p>
            <a:endParaRPr lang="en-US"/>
          </a:p>
          <a:p>
            <a:r>
              <a:rPr lang="en-US" b="0" i="0" dirty="0"/>
              <a:t>You have seen a V before, probably presented as a process. Watch where this one comes from.</a:t>
            </a:r>
          </a:p>
          <a:p>
            <a:endParaRPr lang="en-US"/>
          </a:p>
          <a:p>
            <a:r>
              <a:rPr lang="en-US" b="1" i="0" dirty="0"/>
              <a:t>ANIMATE</a:t>
            </a:r>
          </a:p>
          <a:p>
            <a:endParaRPr lang="en-US"/>
          </a:p>
          <a:p>
            <a:r>
              <a:rPr lang="en-US" b="0" i="0" dirty="0"/>
              <a:t>Left leg: the chain of models we recovered two slides ago. Nothing new.</a:t>
            </a:r>
          </a:p>
          <a:p>
            <a:endParaRPr lang="en-US"/>
          </a:p>
          <a:p>
            <a:r>
              <a:rPr lang="en-US" b="1" i="0" dirty="0"/>
              <a:t>ANIMATE</a:t>
            </a:r>
          </a:p>
          <a:p>
            <a:endParaRPr lang="en-US"/>
          </a:p>
          <a:p>
            <a:r>
              <a:rPr lang="en-US" b="0" i="0" dirty="0"/>
              <a:t>Now the right. World evidence pairs with requirements, because that is where the required outcome lives.</a:t>
            </a:r>
          </a:p>
          <a:p>
            <a:endParaRPr lang="en-US"/>
          </a:p>
          <a:p>
            <a:r>
              <a:rPr lang="en-US" b="1" i="0" dirty="0"/>
              <a:t>ANIMATE</a:t>
            </a:r>
          </a:p>
          <a:p>
            <a:endParaRPr lang="en-US"/>
          </a:p>
          <a:p>
            <a:r>
              <a:rPr lang="en-US" b="0" i="0" dirty="0"/>
              <a:t>System evidence pairs with the specification — the machine's obligations at its boundary.</a:t>
            </a:r>
          </a:p>
          <a:p>
            <a:endParaRPr lang="en-US"/>
          </a:p>
          <a:p>
            <a:r>
              <a:rPr lang="en-US" b="1" i="0" dirty="0"/>
              <a:t>ANIMATE</a:t>
            </a:r>
          </a:p>
          <a:p>
            <a:endParaRPr lang="en-US"/>
          </a:p>
          <a:p>
            <a:r>
              <a:rPr lang="en-US" b="0" i="0" dirty="0"/>
              <a:t>Composition evidence pairs with the architecture: the parts and their interactions.</a:t>
            </a:r>
          </a:p>
          <a:p>
            <a:endParaRPr lang="en-US"/>
          </a:p>
          <a:p>
            <a:r>
              <a:rPr lang="en-US" b="1" i="0" dirty="0"/>
              <a:t>ANIMATE</a:t>
            </a:r>
          </a:p>
          <a:p>
            <a:endParaRPr lang="en-US"/>
          </a:p>
          <a:p>
            <a:r>
              <a:rPr lang="en-US" b="0" i="0" dirty="0"/>
              <a:t>Local evidence pairs with the mechanism and the realization.</a:t>
            </a:r>
          </a:p>
          <a:p>
            <a:r>
              <a:rPr lang="en-US" b="0" i="0" dirty="0"/>
              <a:t>The V is not a development process anybody has to follow. It is a summary of a relationship we derived from first principles: each model has a scope at which its claims can actually be checked.</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Attach the industry vocabulary to a concept they already hold.</a:t>
            </a:r>
          </a:p>
          <a:p>
            <a:endParaRPr lang="en-US"/>
          </a:p>
          <a:p>
            <a:r>
              <a:rPr lang="en-US" b="0" i="0" dirty="0"/>
              <a:t>• Ordered to match the V: acceptance at the top, unit at the bottom.</a:t>
            </a:r>
          </a:p>
          <a:p>
            <a:r>
              <a:rPr lang="en-US" b="0" i="0" dirty="0"/>
              <a:t>• Vocabulary attaches to a concept students already have — not four definitions to memorize.</a:t>
            </a:r>
          </a:p>
          <a:p>
            <a:r>
              <a:rPr lang="en-US" b="0" i="0" dirty="0"/>
              <a:t>• Stress the relativity: your 'unit' is somebody else's 'system'.</a:t>
            </a:r>
          </a:p>
          <a:p>
            <a:r>
              <a:rPr lang="en-US" b="0" i="0" dirty="0"/>
              <a:t>• Crisp statement to land: these words name SCOPES. Section 3 names MECHANISMS. They are independent.</a:t>
            </a:r>
          </a:p>
          <a:p>
            <a:endParaRPr lang="en-US"/>
          </a:p>
          <a:p>
            <a:r>
              <a:rPr lang="en-US" b="0" i="0" dirty="0"/>
              <a:t>=====</a:t>
            </a:r>
          </a:p>
          <a:p>
            <a:endParaRPr lang="en-US"/>
          </a:p>
          <a:p>
            <a:r>
              <a:rPr lang="en-US" b="0" i="0" dirty="0"/>
              <a:t>You will hear these four words constantly, usually without definition. Here is what they describe.</a:t>
            </a:r>
          </a:p>
          <a:p>
            <a:r>
              <a:rPr lang="en-US" b="0" i="0" dirty="0"/>
              <a:t>Acceptance, system, integration, unit — top to bottom, matching the V. Each one names a SCOPE of evidence, and you already have the concept; this slide only supplies the labels.</a:t>
            </a:r>
          </a:p>
          <a:p>
            <a:r>
              <a:rPr lang="en-US" b="0" i="0" dirty="0"/>
              <a:t>Now the caveat that saves you arguments later. These words are relative. Your team's "unit" is, from inside, a system with its own architecture. Somebody else's "integration test" is your "unit test." Arguing about which word is correct is wasted time.</a:t>
            </a:r>
          </a:p>
          <a:p>
            <a:r>
              <a:rPr lang="en-US" b="0" i="0" dirty="0"/>
              <a:t>The question underneath them is not relative: where does this property live? That question has an answer.</a:t>
            </a:r>
          </a:p>
          <a:p>
            <a:r>
              <a:rPr lang="en-US" b="0" i="0" dirty="0"/>
              <a:t>And note what these words do NOT tell you: how the evidence was obtained. That is the next section.</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Four mechanisms, and the orthogonality that most people get wrong.</a:t>
            </a:r>
          </a:p>
          <a:p>
            <a:endParaRPr lang="en-US"/>
          </a:p>
          <a:p>
            <a:r>
              <a:rPr lang="en-US" b="0" i="0" dirty="0"/>
              <a:t>• Roadmap slide for Section 3 — four families, one per instrument.</a:t>
            </a:r>
          </a:p>
          <a:p>
            <a:r>
              <a:rPr lang="en-US" b="0" i="0" dirty="0"/>
              <a:t>• The orthogonality point is the one students most often get wrong: unit testing is a scope and a mechanism glued together by habit.</a:t>
            </a:r>
          </a:p>
          <a:p>
            <a:r>
              <a:rPr lang="en-US" b="0" i="0" dirty="0"/>
              <a:t>• Each family gets taught differently: they can predict testing's limit, not static analysis's.</a:t>
            </a:r>
          </a:p>
          <a:p>
            <a:endParaRPr lang="en-US"/>
          </a:p>
          <a:p>
            <a:r>
              <a:rPr lang="en-US" b="0" i="0" dirty="0"/>
              <a:t>=====</a:t>
            </a:r>
          </a:p>
          <a:p>
            <a:endParaRPr lang="en-US"/>
          </a:p>
          <a:p>
            <a:r>
              <a:rPr lang="en-US" b="0" i="0" dirty="0"/>
              <a:t>Four families.</a:t>
            </a:r>
          </a:p>
          <a:p>
            <a:endParaRPr lang="en-US"/>
          </a:p>
          <a:p>
            <a:r>
              <a:rPr lang="en-US" b="1" i="0" dirty="0"/>
              <a:t>ANIMATE</a:t>
            </a:r>
          </a:p>
          <a:p>
            <a:endParaRPr lang="en-US"/>
          </a:p>
          <a:p>
            <a:r>
              <a:rPr lang="en-US" b="0" i="0" dirty="0"/>
              <a:t>Dynamic testing: run it and observe what happens.</a:t>
            </a:r>
          </a:p>
          <a:p>
            <a:endParaRPr lang="en-US"/>
          </a:p>
          <a:p>
            <a:r>
              <a:rPr lang="en-US" b="1" i="0" dirty="0"/>
              <a:t>ANIMATE</a:t>
            </a:r>
          </a:p>
          <a:p>
            <a:endParaRPr lang="en-US"/>
          </a:p>
          <a:p>
            <a:r>
              <a:rPr lang="en-US" b="0" i="0" dirty="0"/>
              <a:t>Static analysis: infer properties without running it.</a:t>
            </a:r>
          </a:p>
          <a:p>
            <a:endParaRPr lang="en-US"/>
          </a:p>
          <a:p>
            <a:r>
              <a:rPr lang="en-US" b="1" i="0" dirty="0"/>
              <a:t>ANIMATE</a:t>
            </a:r>
          </a:p>
          <a:p>
            <a:endParaRPr lang="en-US"/>
          </a:p>
          <a:p>
            <a:r>
              <a:rPr lang="en-US" b="0" i="0" dirty="0"/>
              <a:t>Human inspection: people read it and judge.</a:t>
            </a:r>
          </a:p>
          <a:p>
            <a:endParaRPr lang="en-US"/>
          </a:p>
          <a:p>
            <a:r>
              <a:rPr lang="en-US" b="1" i="0" dirty="0"/>
              <a:t>ANIMATE</a:t>
            </a:r>
          </a:p>
          <a:p>
            <a:endParaRPr lang="en-US"/>
          </a:p>
          <a:p>
            <a:r>
              <a:rPr lang="en-US" b="0" i="0" dirty="0"/>
              <a:t>Formal methods: reason mechanically over a model.</a:t>
            </a:r>
          </a:p>
          <a:p>
            <a:endParaRPr lang="en-US"/>
          </a:p>
          <a:p>
            <a:r>
              <a:rPr lang="en-US" b="1" i="0" dirty="0"/>
              <a:t>ANIMATE</a:t>
            </a:r>
          </a:p>
          <a:p>
            <a:endParaRPr lang="en-US"/>
          </a:p>
          <a:p>
            <a:r>
              <a:rPr lang="en-US" b="0" i="0" dirty="0"/>
              <a:t>Here is the claim to write down. Mechanism and scope are independent choices. A unit, a subsystem, or the whole system can be tested, analyzed, inspected, or modeled.</a:t>
            </a:r>
          </a:p>
          <a:p>
            <a:r>
              <a:rPr lang="en-US" b="0" i="0" dirty="0"/>
              <a:t>"Unit testing" is one scope and one mechanism glued together by habit, not by necessity. You can formally verify a unit. You can inspect a system. Each mechanism buys a different kind of knowledge — and each has a limitation you should be able to state out loud.</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Testing observes executions — and says nothing about the ones you did not run.</a:t>
            </a:r>
          </a:p>
          <a:p>
            <a:endParaRPr lang="en-US"/>
          </a:p>
          <a:p>
            <a:r>
              <a:rPr lang="en-US" b="0" i="0" dirty="0"/>
              <a:t>• Two things are always required: inputs to run, and an oracle. The oracle is the seam into Section 4.</a:t>
            </a:r>
          </a:p>
          <a:p>
            <a:r>
              <a:rPr lang="en-US" b="0" i="0" dirty="0"/>
              <a:t>• The rhetorical beat is the question in the middle: the test passes — so what?</a:t>
            </a:r>
          </a:p>
          <a:p>
            <a:r>
              <a:rPr lang="en-US" b="0" i="0" dirty="0"/>
              <a:t>• Misconception: 'the tests pass' as a statement about the program rather than about the sample.</a:t>
            </a:r>
          </a:p>
          <a:p>
            <a:endParaRPr lang="en-US"/>
          </a:p>
          <a:p>
            <a:r>
              <a:rPr lang="en-US" b="0" i="0" dirty="0"/>
              <a:t>=====</a:t>
            </a:r>
          </a:p>
          <a:p>
            <a:endParaRPr lang="en-US"/>
          </a:p>
          <a:p>
            <a:r>
              <a:rPr lang="en-US" b="0" i="0" dirty="0"/>
              <a:t>Four steps, and everybody in this room has done all four: choose inputs, run the system, observe the behavior, compare against an oracle.</a:t>
            </a:r>
          </a:p>
          <a:p>
            <a:r>
              <a:rPr lang="en-US" b="0" i="0" dirty="0"/>
              <a:t>The test passes. Now ask the uncomfortable question: what does that tell us about the executions we did NOT run?</a:t>
            </a:r>
          </a:p>
          <a:p>
            <a:r>
              <a:rPr lang="en-US" b="0" i="0" dirty="0"/>
              <a:t>Nothing. Every execution you run is one sample of the behavior. The ones you did not choose are unobserved — which is not the same as shown to be correct.</a:t>
            </a:r>
          </a:p>
          <a:p>
            <a:r>
              <a:rPr lang="en-US" b="0" i="0" dirty="0"/>
              <a:t>And notice the two ingredients, because one of them is about to become the whole problem. You need inputs to run. And you need an oracle that says what counts as correct. When stating the correct answer is itself hard, you need search strategies — that is Section 4.</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5 minutes — </a:t>
            </a:r>
            <a:r>
              <a:rPr lang="en-US" b="0" i="1" dirty="0"/>
              <a:t>Students derive the difference between execution coverage and claim coverage.</a:t>
            </a:r>
          </a:p>
          <a:p>
            <a:endParaRPr lang="en-US"/>
          </a:p>
          <a:p>
            <a:r>
              <a:rPr lang="en-US" b="0" i="0" dirty="0"/>
              <a:t>• Think-pair-share: hand them the 100% result and ask what it licenses. Do NOT reveal the takeaway until they have answered.</a:t>
            </a:r>
          </a:p>
          <a:p>
            <a:r>
              <a:rPr lang="en-US" b="0" i="0" dirty="0"/>
              <a:t>• Expected answers: 'every line ran', 'every branch went both ways', 'we tested everything'. The third is the misconception.</a:t>
            </a:r>
          </a:p>
          <a:p>
            <a:r>
              <a:rPr lang="en-US" b="0" i="0" dirty="0"/>
              <a:t>• Harvest the taxonomy from them if possible — statement, branch, path, input/state, claim. The categories are already on screen as scaffolding.</a:t>
            </a:r>
          </a:p>
          <a:p>
            <a:r>
              <a:rPr lang="en-US" b="0" i="0" dirty="0"/>
              <a:t>• STOP collecting after three or four contributions, or when someone says 'but it doesn't mean it's right'. That is the synthesis cue — take it and move.</a:t>
            </a:r>
          </a:p>
          <a:p>
            <a:r>
              <a:rPr lang="en-US" b="0" i="0" dirty="0"/>
              <a:t>• The distinction that matters: EXECUTION coverage versus CLAIM coverage.</a:t>
            </a:r>
          </a:p>
          <a:p>
            <a:r>
              <a:rPr lang="en-US" b="0" i="0" dirty="0"/>
              <a:t>• Industry numbers are context, not a target.</a:t>
            </a:r>
          </a:p>
          <a:p>
            <a:endParaRPr lang="en-US"/>
          </a:p>
          <a:p>
            <a:r>
              <a:rPr lang="en-US" b="0" i="0" dirty="0"/>
              <a:t>=====</a:t>
            </a:r>
          </a:p>
          <a:p>
            <a:endParaRPr lang="en-US"/>
          </a:p>
          <a:p>
            <a:r>
              <a:rPr lang="en-US" b="0" i="0" dirty="0"/>
              <a:t>Statement coverage: 100%. Condition coverage: 100%. Think for thirty seconds, then turn to your neighbour: what have we established, and what have we not?</a:t>
            </a:r>
          </a:p>
          <a:p>
            <a:r>
              <a:rPr lang="en-US" b="0" i="0" dirty="0"/>
              <a:t>Let pairs run about ninety seconds. Then take answers.</a:t>
            </a:r>
          </a:p>
          <a:p>
            <a:r>
              <a:rPr lang="en-US" b="0" i="0" dirty="0"/>
              <a:t>Expect: every line ran. Every branch went both ways. And — from somebody — "so it's tested." Write that third one down; it is the one we are here for.</a:t>
            </a:r>
          </a:p>
          <a:p>
            <a:r>
              <a:rPr lang="en-US" b="0" i="0" dirty="0"/>
              <a:t>Push once: does a line running tell you anything checked what it did? Stop collecting after three or four contributions, or the moment someone says "but it doesn't mean it's correct." That is your cue — do not keep harvesting past the insight.</a:t>
            </a:r>
          </a:p>
          <a:p>
            <a:endParaRPr lang="en-US"/>
          </a:p>
          <a:p>
            <a:r>
              <a:rPr lang="en-US" b="1" i="0" dirty="0"/>
              <a:t>ANIMATE</a:t>
            </a:r>
          </a:p>
          <a:p>
            <a:endParaRPr lang="en-US"/>
          </a:p>
          <a:p>
            <a:r>
              <a:rPr lang="en-US" b="0" i="0" dirty="0"/>
              <a:t>Coverage tells us WHERE WE LOOKED. None of these categories says the code is correct. A reached line with no consequential assertion is execution, not evidence.</a:t>
            </a:r>
          </a:p>
          <a:p>
            <a:endParaRPr lang="en-US"/>
          </a:p>
          <a:p>
            <a:r>
              <a:rPr lang="en-US" b="1" i="0" dirty="0"/>
              <a:t>ANIMATE</a:t>
            </a:r>
          </a:p>
          <a:p>
            <a:endParaRPr lang="en-US"/>
          </a:p>
          <a:p>
            <a:r>
              <a:rPr lang="en-US" b="0" i="0" dirty="0"/>
              <a:t>For calibration, not as a target: Google and Microsoft report roughly 80 to 90 percent statement coverage. DO-178C Level A avionics requires 100 percent MC/DC. Different stakes, different burden — exactly Section 1.</a:t>
            </a:r>
          </a:p>
          <a:p>
            <a:endParaRPr lang="en-US"/>
          </a:p>
          <a:p>
            <a:r>
              <a:rPr lang="en-US" b="1" i="0" dirty="0"/>
              <a:t>ANIMATE</a:t>
            </a:r>
          </a:p>
          <a:p>
            <a:endParaRPr lang="en-US"/>
          </a:p>
          <a:p>
            <a:r>
              <a:rPr lang="en-US" b="0" i="0" dirty="0"/>
              <a:t>Execution coverage is not claim coverage. We will come back to this in Section 5 with a way to actually measure whether a wrong answer would have been caught.</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a:t>
            </a:r>
            <a:r>
              <a:rPr lang="en-US" b="0" i="1" dirty="0"/>
              <a:t>Static analysis is inference under an abstraction — and no wiser than it.</a:t>
            </a:r>
          </a:p>
          <a:p>
            <a:endParaRPr lang="en-US"/>
          </a:p>
          <a:p>
            <a:r>
              <a:rPr lang="en-US" b="0" i="0" dirty="0"/>
              <a:t>• Work the example first; the definitions land only after they have felt the false positive.</a:t>
            </a:r>
          </a:p>
          <a:p>
            <a:r>
              <a:rPr lang="en-US" b="0" i="0" dirty="0"/>
              <a:t>• Soundness and completeness are relative to WHAT IS MODELED. Say 'for what it models' every time.</a:t>
            </a:r>
          </a:p>
          <a:p>
            <a:r>
              <a:rPr lang="en-US" b="0" i="0" dirty="0"/>
              <a:t>• Misconception: that 'sound' means 'correct' or 'trustworthy'. It is a directional guarantee, nothing more.</a:t>
            </a:r>
          </a:p>
          <a:p>
            <a:endParaRPr lang="en-US"/>
          </a:p>
          <a:p>
            <a:r>
              <a:rPr lang="en-US" b="0" i="0" dirty="0"/>
              <a:t>=====</a:t>
            </a:r>
          </a:p>
          <a:p>
            <a:endParaRPr lang="en-US"/>
          </a:p>
          <a:p>
            <a:r>
              <a:rPr lang="en-US" b="0" i="0" dirty="0"/>
              <a:t>Read the code. loadConfig never returns null, because startup validates the file. You know that. The analyzer reports a possible null dereference.</a:t>
            </a:r>
          </a:p>
          <a:p>
            <a:r>
              <a:rPr lang="en-US" b="0" i="0" dirty="0"/>
              <a:t>The analyzer is not stupid. It is reasoning over an abstraction of your program, and nothing in the code told it what you just told me.</a:t>
            </a:r>
          </a:p>
          <a:p>
            <a:r>
              <a:rPr lang="en-US" b="0" i="0" dirty="0"/>
              <a:t>Two failure directions. A false positive is a reported violation that cannot actually occur. A false negative is a real violation the analysis never reports.</a:t>
            </a:r>
          </a:p>
          <a:p>
            <a:r>
              <a:rPr lang="en-US" b="0" i="0" dirty="0"/>
              <a:t>And two promises a tool can make, both relative to what it models. Sound for what it models: it misses no violation its model covers — so it may report some that cannot occur. Complete for what it models: it reports no violation that cannot occur — so it may miss some that can.</a:t>
            </a:r>
          </a:p>
          <a:p>
            <a:r>
              <a:rPr lang="en-US" b="0" i="0" dirty="0"/>
              <a:t>Say the qualifier every single time. "Sound" is not a synonym for "trustworthy." It is a direction of error, under a model. Which promise a tool makes, and over which behaviors, is a property of that tool — go look it up before you rely on it.</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People catch what machines cannot ask about — and attention is finite.</a:t>
            </a:r>
          </a:p>
          <a:p>
            <a:endParaRPr lang="en-US"/>
          </a:p>
          <a:p>
            <a:r>
              <a:rPr lang="en-US" b="0" i="0" dirty="0"/>
              <a:t>• Start with what only people can do — code review, design review, requirements inspection.</a:t>
            </a:r>
          </a:p>
          <a:p>
            <a:r>
              <a:rPr lang="en-US" b="0" i="0" dirty="0"/>
              <a:t>• Then the chain on the right, one step at a time; it is an argument, not a list.</a:t>
            </a:r>
          </a:p>
          <a:p>
            <a:r>
              <a:rPr lang="en-US" b="0" i="0" dirty="0"/>
              <a:t>• Ground it in the literature rather than asserting 'humans are bad': prevalence effects in visual search (Wolfe 2005) and the attentional cost of sustained vigilance (Warm 2008).</a:t>
            </a:r>
          </a:p>
          <a:p>
            <a:r>
              <a:rPr lang="en-US" b="0" i="0" dirty="0"/>
              <a:t>• Next two slides make them live it. Do not front-run the conclusion.</a:t>
            </a:r>
          </a:p>
          <a:p>
            <a:endParaRPr lang="en-US"/>
          </a:p>
          <a:p>
            <a:r>
              <a:rPr lang="en-US" b="0" i="0" dirty="0"/>
              <a:t>=====</a:t>
            </a:r>
          </a:p>
          <a:p>
            <a:endParaRPr lang="en-US"/>
          </a:p>
          <a:p>
            <a:r>
              <a:rPr lang="en-US" b="0" i="0" dirty="0"/>
              <a:t>Start with the left column, and take it seriously. Every item there is something no analyzer will ever raise: the wrong problem has been solved; an assumption is unstated or wrong; a requirement is ambiguous; a concern nobody wrote down is missing.</a:t>
            </a:r>
          </a:p>
          <a:p>
            <a:r>
              <a:rPr lang="en-US" b="0" i="0" dirty="0"/>
              <a:t>That is judgment, and it is the reason code review and design review survive every wave of tooling.</a:t>
            </a:r>
          </a:p>
          <a:p>
            <a:r>
              <a:rPr lang="en-US" b="0" i="0" dirty="0"/>
              <a:t>Now the argument on the right, one step at a time. People recognize semantic problems machines do not know to ask about. But attention and vigilance are finite. And rare-event detection specifically degrades under repetitive inspection.</a:t>
            </a:r>
          </a:p>
          <a:p>
            <a:r>
              <a:rPr lang="en-US" b="0" i="0" dirty="0"/>
              <a:t>So review is valuable evidence. It is not exhaustive coverage. Those two sentences are not in tension, and the next two slides will make you feel why.</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is two slides away.</a:t>
            </a:r>
          </a:p>
          <a:p>
            <a:endParaRPr lang="en-US"/>
          </a:p>
          <a:p>
            <a:r>
              <a:rPr lang="en-US" b="0" i="0" dirty="0"/>
              <a:t>=====</a:t>
            </a:r>
          </a:p>
          <a:p>
            <a:endParaRPr lang="en-US"/>
          </a:p>
          <a:p>
            <a:r>
              <a:rPr lang="en-US" b="0" i="0" dirty="0"/>
              <a:t>Twelve boards. One of them is different from the other eleven. Ten seconds — go.</a:t>
            </a:r>
          </a:p>
          <a:p>
            <a:endParaRPr lang="en-US"/>
          </a:p>
          <a:p>
            <a:r>
              <a:rPr lang="en-US" b="1"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1"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slide 24's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1" i="0" dirty="0"/>
              <a:t>ANIMATE</a:t>
            </a:r>
          </a:p>
          <a:p>
            <a:endParaRPr lang="en-US"/>
          </a:p>
          <a:p>
            <a:r>
              <a:rPr lang="en-US" b="0" i="0" dirty="0"/>
              <a:t>Lines 16 and 17 are inverted. The provider is charged, and only then does the ledger record the payment ID.</a:t>
            </a:r>
          </a:p>
          <a:p>
            <a:endParaRPr lang="en-US"/>
          </a:p>
          <a:p>
            <a:r>
              <a:rPr lang="en-US" b="1"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a:t>
            </a:r>
            <a:r>
              <a:rPr lang="en-US" b="0" i="1" dirty="0"/>
              <a:t>Earned conclusion: human attention is evidence, not enforcement.</a:t>
            </a:r>
          </a:p>
          <a:p>
            <a:endParaRPr lang="en-US"/>
          </a:p>
          <a:p>
            <a:r>
              <a:rPr lang="en-US" b="0" i="0" dirty="0"/>
              <a:t>• Connect straight back to the two exercises they just lost. Use the hand-counts you took.</a:t>
            </a:r>
          </a:p>
          <a:p>
            <a:r>
              <a:rPr lang="en-US" b="0" i="0" dirty="0"/>
              <a:t>• Three layers of evidence: controlled experiment, human-factors synthesis, operational practice. It is an argument, not an appeal to cynicism.</a:t>
            </a:r>
          </a:p>
          <a:p>
            <a:r>
              <a:rPr lang="en-US" b="0" i="0" dirty="0"/>
              <a:t>• The conclusion is NOT 'remove humans'. It is where to spend a scarce resource.</a:t>
            </a:r>
          </a:p>
          <a:p>
            <a:r>
              <a:rPr lang="en-US" b="0" i="0" dirty="0"/>
              <a:t>• Forward reference: Section 5 has the other half — volume of generated evidence is not independence of evidence.</a:t>
            </a:r>
          </a:p>
          <a:p>
            <a:endParaRPr lang="en-US"/>
          </a:p>
          <a:p>
            <a:r>
              <a:rPr lang="en-US" b="0" i="0" dirty="0"/>
              <a:t>=====</a:t>
            </a:r>
          </a:p>
          <a:p>
            <a:endParaRPr lang="en-US"/>
          </a:p>
          <a:p>
            <a:r>
              <a:rPr lang="en-US" b="0" i="0" dirty="0"/>
              <a:t>You just did it twice. First by eye, twelve near-identical artifacts. Then by inspection, one realistic procedure with the rule printed above it. Both times, most of the room missed it.</a:t>
            </a:r>
          </a:p>
          <a:p>
            <a:endParaRPr lang="en-US"/>
          </a:p>
          <a:p>
            <a:r>
              <a:rPr lang="en-US" b="1" i="0" dirty="0"/>
              <a:t>ANIMATE</a:t>
            </a:r>
          </a:p>
          <a:p>
            <a:endParaRPr lang="en-US"/>
          </a:p>
          <a:p>
            <a:r>
              <a:rPr lang="en-US" b="0" i="0" dirty="0"/>
              <a:t>Twelve artifacts and one defect is already hard. Now scale the axis: ten thousand artifacts. What is the detection rate, and who is doing the looking?</a:t>
            </a:r>
          </a:p>
          <a:p>
            <a:endParaRPr lang="en-US"/>
          </a:p>
          <a:p>
            <a:r>
              <a:rPr lang="en-US" b="1" i="0" dirty="0"/>
              <a:t>ANIMATE</a:t>
            </a:r>
          </a:p>
          <a:p>
            <a:endParaRPr lang="en-US"/>
          </a:p>
          <a:p>
            <a:r>
              <a:rPr lang="en-US" b="0" i="0" dirty="0"/>
              <a:t>Three independent lines of evidence, and notice they are different KINDS. A controlled experiment: rare targets are disproportionately missed in visual search — Wolfe and colleagues in Nature. A human-factors synthesis: sustained vigilance is hard mental work that consumes attention and produces workload and stress — Warm, Parasuraman and Matthews. And operational practice: screening agencies run covert tests against their own trained inspectors, precisely because professional inspection is a capacity-limited control.</a:t>
            </a:r>
          </a:p>
          <a:p>
            <a:endParaRPr lang="en-US"/>
          </a:p>
          <a:p>
            <a:r>
              <a:rPr lang="en-US" b="1" i="0" dirty="0"/>
              <a:t>ANIMATE</a:t>
            </a:r>
          </a:p>
          <a:p>
            <a:endParaRPr lang="en-US"/>
          </a:p>
          <a:p>
            <a:r>
              <a:rPr lang="en-US" b="0" i="0" dirty="0"/>
              <a:t>So: spend human judgment where judgment is required — the left column of slide 23, the things no machine knows to ask.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Section 5 has the other half of this argument: volume of generated evidence is not independence of evidence.</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Formal methods search a MODEL's behaviors — state the qualification precisely.</a:t>
            </a:r>
          </a:p>
          <a:p>
            <a:endParaRPr lang="en-US"/>
          </a:p>
          <a:p>
            <a:r>
              <a:rPr lang="en-US" b="0" i="0" dirty="0"/>
              <a:t>• The contrast with testing is sampling versus searching. Land that first.</a:t>
            </a:r>
          </a:p>
          <a:p>
            <a:r>
              <a:rPr lang="en-US" b="0" i="0" dirty="0"/>
              <a:t>• Then the qualification, and be pedantic about it: every behavior the MODEL permits, and nothing outside it. NOT 'all actual behaviors'.</a:t>
            </a:r>
          </a:p>
          <a:p>
            <a:r>
              <a:rPr lang="en-US" b="0" i="0" dirty="0"/>
              <a:t>• The model, the property, the assumptions and the bound are all part of the claim. If you cannot state them, you have not stated the result.</a:t>
            </a:r>
          </a:p>
          <a:p>
            <a:endParaRPr lang="en-US"/>
          </a:p>
          <a:p>
            <a:r>
              <a:rPr lang="en-US" b="0" i="0" dirty="0"/>
              <a:t>=====</a:t>
            </a:r>
          </a:p>
          <a:p>
            <a:endParaRPr lang="en-US"/>
          </a:p>
          <a:p>
            <a:r>
              <a:rPr lang="en-US" b="0" i="0" dirty="0"/>
              <a:t>Testing chooses some executions and observes what happens. Formal methods state a property and search every behavior the model permits. Sampling versus searching — that is the difference that matters.</a:t>
            </a:r>
          </a:p>
          <a:p>
            <a:r>
              <a:rPr lang="en-US" b="0" i="0" dirty="0"/>
              <a:t>Now be careful about what is being searched, because this is where people overclaim. What is searched is a MODEL: a state machine, a protocol, or a program under an explicit semantics — together with the assumptions and the bounds you stated.</a:t>
            </a:r>
          </a:p>
          <a:p>
            <a:r>
              <a:rPr lang="en-US" b="0" i="0" dirty="0"/>
              <a:t>So the result is: formal evidence covers every behavior the model permits, and nothing outside it. Not "all actual behaviors." All MODELED behaviors, within the stated bound.</a:t>
            </a:r>
          </a:p>
          <a:p>
            <a:r>
              <a:rPr lang="en-US" b="0" i="0" dirty="0"/>
              <a:t>The model, the property, the assumptions and the bound are all part of the claim. If someone tells you a system is "formally verified" and cannot tell you those four things, they have not told you a result.</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"No counterexample up to k" is a precise claim — and it is not correctness.</a:t>
            </a:r>
          </a:p>
          <a:p>
            <a:endParaRPr lang="en-US"/>
          </a:p>
          <a:p>
            <a:r>
              <a:rPr lang="en-US" b="0" i="0" dirty="0"/>
              <a:t>• Concrete mechanism, so the previous slide's abstraction has something to hold.</a:t>
            </a:r>
          </a:p>
          <a:p>
            <a:r>
              <a:rPr lang="en-US" b="0" i="0" dirty="0"/>
              <a:t>• The YES branch is the useful one in practice: a counterexample is an exact reproducible trace.</a:t>
            </a:r>
          </a:p>
          <a:p>
            <a:r>
              <a:rPr lang="en-US" b="0" i="0" dirty="0"/>
              <a:t>• Say the NO branch's qualification in full, every time: within the modeled behaviors, and up to depth k.</a:t>
            </a:r>
          </a:p>
          <a:p>
            <a:r>
              <a:rPr lang="en-US" b="0" i="0" dirty="0"/>
              <a:t>• Distinguish mechanizations briefly — explicit-state enumeration versus a solver query — without going down the rabbit hole.</a:t>
            </a:r>
          </a:p>
          <a:p>
            <a:endParaRPr lang="en-US"/>
          </a:p>
          <a:p>
            <a:r>
              <a:rPr lang="en-US" b="0" i="0" dirty="0"/>
              <a:t>=====</a:t>
            </a:r>
          </a:p>
          <a:p>
            <a:endParaRPr lang="en-US"/>
          </a:p>
          <a:p>
            <a:r>
              <a:rPr lang="en-US" b="0" i="0" dirty="0"/>
              <a:t>One assertion: balance is never negative. Ordinary testing tries some sequences of deposits and withdrawals and asks whether we happened to see it fail.</a:t>
            </a:r>
          </a:p>
          <a:p>
            <a:r>
              <a:rPr lang="en-US" b="0" i="0" dirty="0"/>
              <a:t>Bounded model checking asks a different question: is there ANY sequence of choices, up to depth k, that makes it fail?</a:t>
            </a:r>
          </a:p>
          <a:p>
            <a:r>
              <a:rPr lang="en-US" b="0" i="0" dirty="0"/>
              <a:t>Yes gives you a counterexample trace — the exact sequence of choices that breaks it. That is the single most useful artifact in this whole lecture, because it is reproducible by construction.</a:t>
            </a:r>
          </a:p>
          <a:p>
            <a:r>
              <a:rPr lang="en-US" b="0" i="0" dirty="0"/>
              <a:t>No gives you: no violation up to k, within the modeled behaviors and that bound. Say the whole sentence. "No counterexample up to k" is a precise and valuable claim, and it is not "the program is correct."</a:t>
            </a:r>
          </a:p>
          <a:p>
            <a:r>
              <a:rPr lang="en-US" b="0" i="0" dirty="0"/>
              <a:t>Mechanizations differ — an explicit-state checker enumerates a model's reachable states; bounded model checking asks a solver about executions up to depth k. Both search the behaviors instead of sampling them. That is the family resemblance.</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The artifact under validation is a choice — sometimes the model is the right one.</a:t>
            </a:r>
          </a:p>
          <a:p>
            <a:endParaRPr lang="en-US"/>
          </a:p>
          <a:p>
            <a:r>
              <a:rPr lang="en-US" b="0" i="0" dirty="0"/>
              <a:t>• This is the MAGE-adjacent idea of the section: you can obtain evidence before you have the system.</a:t>
            </a:r>
          </a:p>
          <a:p>
            <a:r>
              <a:rPr lang="en-US" b="0" i="0" dirty="0"/>
              <a:t>• Keep the Mars story concrete and short. The number that lands is 45,000 lines of C to a 1,600-line verification model.</a:t>
            </a:r>
          </a:p>
          <a:p>
            <a:r>
              <a:rPr lang="en-US" b="0" i="0" dirty="0"/>
              <a:t>• The reusable point: model checking became part of routine regression testing — a control, not a one-off study.</a:t>
            </a:r>
          </a:p>
          <a:p>
            <a:endParaRPr lang="en-US"/>
          </a:p>
          <a:p>
            <a:r>
              <a:rPr lang="en-US" b="0" i="0" dirty="0"/>
              <a:t>=====</a:t>
            </a:r>
          </a:p>
          <a:p>
            <a:endParaRPr lang="en-US"/>
          </a:p>
          <a:p>
            <a:r>
              <a:rPr lang="en-US" b="0" i="0" dirty="0"/>
              <a:t>Everything so far assumed the thing we validate is the implementation. It does not have to be.</a:t>
            </a:r>
          </a:p>
          <a:p>
            <a:r>
              <a:rPr lang="en-US" b="0" i="0" dirty="0"/>
              <a:t>Build an explicit model — a protocol, a state machine. State properties it must satisfy. Search its behaviors mechanically. You now have evidence, and you have it before you rely on the realized system.</a:t>
            </a:r>
          </a:p>
          <a:p>
            <a:r>
              <a:rPr lang="en-US" b="0" i="0" dirty="0"/>
              <a:t>Concretely: Gerard Holzmann built SPIN at Bell Labs; it won the ACM Software System Award in 2001. He later led NASA JPL's Laboratory for Reliable Software. For Mars Science Laboratory, JPL model-checked critical multithreaded algorithms and hand-built SPIN models of larger subsystems — a roughly 45,000-line C data-management module became a roughly 1,600-line verification model.</a:t>
            </a:r>
          </a:p>
          <a:p>
            <a:r>
              <a:rPr lang="en-US" b="0" i="0" dirty="0"/>
              <a:t>The runs exposed subtle concurrency defects. And for the file-system software, model checking became part of routine regression testing — not a one-time study, a standing control.</a:t>
            </a:r>
          </a:p>
          <a:p>
            <a:r>
              <a:rPr lang="en-US" b="0" i="0" dirty="0"/>
              <a:t>So the artifact under validation is an engineering choice. Sometimes the best choice is the model.</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 minute — </a:t>
            </a:r>
            <a:r>
              <a:rPr lang="en-US" b="0" i="1" dirty="0"/>
              <a:t>Close Section 3 by restating orthogonality, then hand off to strategy.</a:t>
            </a:r>
          </a:p>
          <a:p>
            <a:endParaRPr lang="en-US"/>
          </a:p>
          <a:p>
            <a:r>
              <a:rPr lang="en-US" b="0" i="0" dirty="0"/>
              <a:t>• Summary slide — do not re-teach. One sentence per mechanism, then the orthogonality line.</a:t>
            </a:r>
          </a:p>
          <a:p>
            <a:r>
              <a:rPr lang="en-US" b="0" i="0" dirty="0"/>
              <a:t>• The crisp statement to leave them with: scope says WHERE, mechanism says HOW, and they compose freely.</a:t>
            </a:r>
          </a:p>
          <a:p>
            <a:r>
              <a:rPr lang="en-US" b="0" i="0" dirty="0"/>
              <a:t>• Transition: Section 3 asked what can observe the property. Section 4 asks how to go looking for the failure.</a:t>
            </a:r>
          </a:p>
          <a:p>
            <a:endParaRPr lang="en-US"/>
          </a:p>
          <a:p>
            <a:r>
              <a:rPr lang="en-US" b="0" i="0" dirty="0"/>
              <a:t>=====</a:t>
            </a:r>
          </a:p>
          <a:p>
            <a:endParaRPr lang="en-US"/>
          </a:p>
          <a:p>
            <a:r>
              <a:rPr lang="en-US" b="0" i="0" dirty="0"/>
              <a:t>One line each. Dynamic testing observes executions we actually performed. Static analysis infers over an abstraction of the code. Human inspection contributes expert interpretation. Formal methods mechanically search a model's behaviors.</a:t>
            </a:r>
          </a:p>
          <a:p>
            <a:r>
              <a:rPr lang="en-US" b="0" i="0" dirty="0"/>
              <a:t>And the orthogonality again, because it is worth twice: these mechanisms are independent of scope. A unit, a subsystem, or the whole system can be tested, analyzed, inspected, or modeled.</a:t>
            </a:r>
          </a:p>
          <a:p>
            <a:r>
              <a:rPr lang="en-US" b="0" i="0" dirty="0"/>
              <a:t>The question to carry out of this section is: what can each mechanism observe — and what can it not see at all?</a:t>
            </a:r>
          </a:p>
          <a:p>
            <a:r>
              <a:rPr lang="en-US" b="0" i="0" dirty="0"/>
              <a:t>Next we change axis entirely. Not what can observe the property, but how to go looking for the failure.</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20 seconds — </a:t>
            </a:r>
            <a:r>
              <a:rPr lang="en-US" b="0" i="1" dirty="0"/>
              <a:t>Open Section 4: strategies for searching.</a:t>
            </a:r>
          </a:p>
          <a:p>
            <a:endParaRPr lang="en-US"/>
          </a:p>
          <a:p>
            <a:r>
              <a:rPr lang="en-US" b="0" i="0" dirty="0"/>
              <a:t>• Hinge from mechanisms to strategies.</a:t>
            </a:r>
          </a:p>
          <a:p>
            <a:r>
              <a:rPr lang="en-US" b="0" i="0" dirty="0"/>
              <a:t>• Section 3 asked what can observe the property. This section asks how to go looking for the failure.</a:t>
            </a:r>
          </a:p>
          <a:p>
            <a:r>
              <a:rPr lang="en-US" b="0" i="0" dirty="0"/>
              <a:t>• Six slides, about a minute each, then a summary that hands off to evidence strength.</a:t>
            </a:r>
          </a:p>
          <a:p>
            <a:endParaRPr lang="en-US"/>
          </a:p>
          <a:p>
            <a:r>
              <a:rPr lang="en-US" b="0" i="0" dirty="0"/>
              <a:t>=====</a:t>
            </a:r>
          </a:p>
          <a:p>
            <a:endParaRPr lang="en-US"/>
          </a:p>
          <a:p>
            <a:r>
              <a:rPr lang="en-US" b="0" i="0" dirty="0"/>
              <a:t>Different uncertainties call for different search strategies. Six slides, and every one of them turns on the same hinge: where does the oracle come from?</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The oracle problem is what makes the next five slides necessary.</a:t>
            </a:r>
          </a:p>
          <a:p>
            <a:endParaRPr lang="en-US"/>
          </a:p>
          <a:p>
            <a:r>
              <a:rPr lang="en-US" b="0" i="0" dirty="0"/>
              <a:t>• Open Section 4 on the oracle problem — it is what makes the next five slides necessary.</a:t>
            </a:r>
          </a:p>
          <a:p>
            <a:r>
              <a:rPr lang="en-US" b="0" i="0" dirty="0"/>
              <a:t>• Running the system is usually the cheap half; deciding what SHOULD have happened is the expensive half.</a:t>
            </a:r>
          </a:p>
          <a:p>
            <a:r>
              <a:rPr lang="en-US" b="0" i="0" dirty="0"/>
              <a:t>• Ask the room for a program whose correct output they could not write down: a compiler, a renderer, a search ranking.</a:t>
            </a:r>
          </a:p>
          <a:p>
            <a:r>
              <a:rPr lang="en-US" b="0" i="0" dirty="0"/>
              <a:t>• Every strategy that follows buys search by weakening or replacing the oracle.</a:t>
            </a:r>
          </a:p>
          <a:p>
            <a:r>
              <a:rPr lang="en-US" b="0" i="0" dirty="0"/>
              <a:t>• Do NOT mention model checking here — that was Section 3. This axis is strategy, not mechanism.</a:t>
            </a:r>
          </a:p>
          <a:p>
            <a:endParaRPr lang="en-US"/>
          </a:p>
          <a:p>
            <a:r>
              <a:rPr lang="en-US" b="0" i="0" dirty="0"/>
              <a:t>=====</a:t>
            </a:r>
          </a:p>
          <a:p>
            <a:endParaRPr lang="en-US"/>
          </a:p>
          <a:p>
            <a:r>
              <a:rPr lang="en-US" b="0" i="0" dirty="0"/>
              <a:t>Testing has two halves and they do not cost the same.</a:t>
            </a:r>
          </a:p>
          <a:p>
            <a:endParaRPr lang="en-US"/>
          </a:p>
          <a:p>
            <a:r>
              <a:rPr lang="en-US" b="1" i="0" dirty="0"/>
              <a:t>ANIMATE</a:t>
            </a:r>
          </a:p>
          <a:p>
            <a:endParaRPr lang="en-US"/>
          </a:p>
          <a:p>
            <a:r>
              <a:rPr lang="en-US" b="0" i="0" dirty="0"/>
              <a:t>An input, run it, an output. Generating an execution is often cheap — sometimes nearly free.</a:t>
            </a:r>
          </a:p>
          <a:p>
            <a:endParaRPr lang="en-US"/>
          </a:p>
          <a:p>
            <a:r>
              <a:rPr lang="en-US" b="1" i="0" dirty="0"/>
              <a:t>ANIMATE</a:t>
            </a:r>
          </a:p>
          <a:p>
            <a:endParaRPr lang="en-US"/>
          </a:p>
          <a:p>
            <a:r>
              <a:rPr lang="en-US" b="0" i="0" dirty="0"/>
              <a:t>And then: is it correct? That is the oracle, and that is the hard part.</a:t>
            </a:r>
          </a:p>
          <a:p>
            <a:endParaRPr lang="en-US"/>
          </a:p>
          <a:p>
            <a:r>
              <a:rPr lang="en-US" b="1" i="0" dirty="0"/>
              <a:t>ANIMATE</a:t>
            </a:r>
          </a:p>
          <a:p>
            <a:endParaRPr lang="en-US"/>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a:p>
          <a:p>
            <a:r>
              <a:rPr lang="en-US" b="1" i="0" dirty="0"/>
              <a:t>ANIMATE</a:t>
            </a:r>
          </a:p>
          <a:p>
            <a:endParaRPr lang="en-US"/>
          </a:p>
          <a:p>
            <a:r>
              <a:rPr lang="en-US" b="0" i="0" dirty="0"/>
              <a:t>So every strategy in this section changes one of exactly two things: WHERE we search, or WHAT ORACLE we require. Watch for which one each slide is moving.</a:t>
            </a:r>
          </a:p>
          <a:p>
            <a:r>
              <a:rPr lang="en-US" b="0" i="0" dirty="0"/>
              <a:t>An execution becomes evidence only when something can say it was wrong.</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Example-based testing: strongest possible evidence about the cases you chose.</a:t>
            </a:r>
          </a:p>
          <a:p>
            <a:endParaRPr lang="en-US"/>
          </a:p>
          <a:p>
            <a:r>
              <a:rPr lang="en-US" b="0" i="0" dirty="0"/>
              <a:t>• The default strategy, and the one they already know from CS courses.</a:t>
            </a:r>
          </a:p>
          <a:p>
            <a:r>
              <a:rPr lang="en-US" b="0" i="0" dirty="0"/>
              <a:t>• The figure is the whole argument: three chosen points inside an input space you cannot enumerate.</a:t>
            </a:r>
          </a:p>
          <a:p>
            <a:r>
              <a:rPr lang="en-US" b="0" i="0" dirty="0"/>
              <a:t>• Ask which payment cases they would pick, then ask what the picks say about everything else.</a:t>
            </a:r>
          </a:p>
          <a:p>
            <a:r>
              <a:rPr lang="en-US" b="0" i="0" dirty="0"/>
              <a:t>• Oracle cost: lowest — you wrote the expected result yourself. That is the last click, deliberately.</a:t>
            </a:r>
          </a:p>
          <a:p>
            <a:r>
              <a:rPr lang="en-US" b="0" i="0" dirty="0"/>
              <a:t>• Strength: complete for the chosen case, zero for the rest. That is not a flaw; it is the bargain.</a:t>
            </a:r>
          </a:p>
          <a:p>
            <a:endParaRPr lang="en-US"/>
          </a:p>
          <a:p>
            <a:r>
              <a:rPr lang="en-US" b="0" i="0" dirty="0"/>
              <a:t>=====</a:t>
            </a:r>
          </a:p>
          <a:p>
            <a:endParaRPr lang="en-US"/>
          </a:p>
          <a:p>
            <a:r>
              <a:rPr lang="en-US" b="0" i="0" dirty="0"/>
              <a:t>The one everybody already knows. An input space you cannot enumerate, and you pick points in it.</a:t>
            </a:r>
          </a:p>
          <a:p>
            <a:endParaRPr lang="en-US"/>
          </a:p>
          <a:p>
            <a:r>
              <a:rPr lang="en-US" b="1" i="0" dirty="0"/>
              <a:t>ANIMATE</a:t>
            </a:r>
          </a:p>
          <a:p>
            <a:endParaRPr lang="en-US"/>
          </a:p>
          <a:p>
            <a:r>
              <a:rPr lang="en-US" b="0" i="0" dirty="0"/>
              <a:t>Empty cart. Duplicate ID. Max amount. Ask them which payment cases they would pick — you will get roughly these.</a:t>
            </a:r>
          </a:p>
          <a:p>
            <a:endParaRPr lang="en-US"/>
          </a:p>
          <a:p>
            <a:r>
              <a:rPr lang="en-US" b="1" i="0" dirty="0"/>
              <a:t>ANIMATE</a:t>
            </a:r>
          </a:p>
          <a:p>
            <a:endParaRPr lang="en-US"/>
          </a:p>
          <a:p>
            <a:r>
              <a:rPr lang="en-US" b="0" i="0" dirty="0"/>
              <a:t>And every other point in that space is unobserved. Not correct. Unobserved.</a:t>
            </a:r>
          </a:p>
          <a:p>
            <a:endParaRPr lang="en-US"/>
          </a:p>
          <a:p>
            <a:r>
              <a:rPr lang="en-US" b="1" i="0" dirty="0"/>
              <a:t>ANIMATE</a:t>
            </a:r>
          </a:p>
          <a:p>
            <a:endParaRPr lang="en-US"/>
          </a:p>
          <a:p>
            <a:r>
              <a:rPr lang="en-US" b="0" i="0" dirty="0"/>
              <a:t>Here is where the oracle comes from, and it is the cheapest oracle there is: you state the answer yourself. Duplicate ID goes to rejected. Empty cart to refused. Max amount to charged once. You pick the case AND you write down the result.</a:t>
            </a:r>
          </a:p>
          <a:p>
            <a:endParaRPr lang="en-US"/>
          </a:p>
          <a:p>
            <a:r>
              <a:rPr lang="en-US" b="1" i="0" dirty="0"/>
              <a:t>ANIMATE</a:t>
            </a:r>
          </a:p>
          <a:p>
            <a:endParaRPr lang="en-US"/>
          </a:p>
          <a:p>
            <a:r>
              <a:rPr lang="en-US" b="0" i="0" dirty="0"/>
              <a:t>So: strong evidence about the cases you chose, silent about the ones you did not. That is not a flaw in the technique, it is the bargain it offers. The evidence is exactly as good as your choice of cases.</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Property-based testing: trade hand-picked examples for a stated property.</a:t>
            </a:r>
          </a:p>
          <a:p>
            <a:endParaRPr lang="en-US"/>
          </a:p>
          <a:p>
            <a:r>
              <a:rPr lang="en-US" b="0" i="0" dirty="0"/>
              <a:t>• The pitch: you stop choosing cases and start stating what must be true.</a:t>
            </a:r>
          </a:p>
          <a:p>
            <a:r>
              <a:rPr lang="en-US" b="0" i="0" dirty="0"/>
              <a:t>• The generator does the searching; you do the specifying. That is the trade.</a:t>
            </a:r>
          </a:p>
          <a:p>
            <a:r>
              <a:rPr lang="en-US" b="0" i="0" dirty="0"/>
              <a:t>• Misconception to kill: 'this is just lots of unit tests'. It is not — the oracle changed.</a:t>
            </a:r>
          </a:p>
          <a:p>
            <a:r>
              <a:rPr lang="en-US" b="0" i="0" dirty="0"/>
              <a:t>• Oracle source lands last: the property IS the oracle.</a:t>
            </a:r>
          </a:p>
          <a:p>
            <a:endParaRPr lang="en-US"/>
          </a:p>
          <a:p>
            <a:r>
              <a:rPr lang="en-US" b="0" i="0" dirty="0"/>
              <a:t>=====</a:t>
            </a:r>
          </a:p>
          <a:p>
            <a:endParaRPr lang="en-US"/>
          </a:p>
          <a:p>
            <a:r>
              <a:rPr lang="en-US" b="0" i="0" dirty="0"/>
              <a:t>Instead of choosing cases, state a property and let a generator go hunting.</a:t>
            </a:r>
          </a:p>
          <a:p>
            <a:endParaRPr lang="en-US"/>
          </a:p>
          <a:p>
            <a:r>
              <a:rPr lang="en-US" b="1" i="0" dirty="0"/>
              <a:t>ANIMATE</a:t>
            </a:r>
          </a:p>
          <a:p>
            <a:endParaRPr lang="en-US"/>
          </a:p>
          <a:p>
            <a:r>
              <a:rPr lang="en-US" b="0" i="0" dirty="0"/>
              <a:t>A property and a generator.</a:t>
            </a:r>
          </a:p>
          <a:p>
            <a:endParaRPr lang="en-US"/>
          </a:p>
          <a:p>
            <a:r>
              <a:rPr lang="en-US" b="1" i="0" dirty="0"/>
              <a:t>ANIMATE</a:t>
            </a:r>
          </a:p>
          <a:p>
            <a:endParaRPr lang="en-US"/>
          </a:p>
          <a:p>
            <a:r>
              <a:rPr lang="en-US" b="0" i="0" dirty="0"/>
              <a:t>Which produces many inputs — far more than you would ever write by hand, and in shapes you would not have thought of.</a:t>
            </a:r>
          </a:p>
          <a:p>
            <a:endParaRPr lang="en-US"/>
          </a:p>
          <a:p>
            <a:r>
              <a:rPr lang="en-US" b="1" i="0" dirty="0"/>
              <a:t>ANIMATE</a:t>
            </a:r>
          </a:p>
          <a:p>
            <a:endParaRPr lang="en-US"/>
          </a:p>
          <a:p>
            <a:r>
              <a:rPr lang="en-US" b="0" i="0" dirty="0"/>
              <a:t>And here is the oracle: check the property. A submitted payment shall cause at most one charge. That single sentence adjudicates every one of those generated inputs.</a:t>
            </a:r>
          </a:p>
          <a:p>
            <a:endParaRPr lang="en-US"/>
          </a:p>
          <a:p>
            <a:r>
              <a:rPr lang="en-US" b="1" i="0" dirty="0"/>
              <a:t>ANIMATE</a:t>
            </a:r>
          </a:p>
          <a:p>
            <a:endParaRPr lang="en-US"/>
          </a:p>
          <a:p>
            <a:r>
              <a:rPr lang="en-US" b="0" i="0" dirty="0"/>
              <a:t>This is not "lots of unit tests," and if you take one thing from the slide take that. You stated what must be true; the machine hunts for a counterexample. You traded hand-picked examples for the harder work of stating the property — and the harder work is where the value is.</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Differential testing: another implementation supplies the oracle.</a:t>
            </a:r>
          </a:p>
          <a:p>
            <a:endParaRPr lang="en-US"/>
          </a:p>
          <a:p>
            <a:r>
              <a:rPr lang="en-US" b="0" i="0" dirty="0"/>
              <a:t>• The whole idea: when stating the answer is expensive, compare independent realizations.</a:t>
            </a:r>
          </a:p>
          <a:p>
            <a:r>
              <a:rPr lang="en-US" b="0" i="0" dirty="0"/>
              <a:t>• Both outcomes are informative but asymmetrically — say why AGREE is weak.</a:t>
            </a:r>
          </a:p>
          <a:p>
            <a:r>
              <a:rPr lang="en-US" b="0" i="0" dirty="0"/>
              <a:t>• Real uses: compilers, parsers, crypto libraries, a rewrite against the system it replaces.</a:t>
            </a:r>
          </a:p>
          <a:p>
            <a:r>
              <a:rPr lang="en-US" b="0" i="0" dirty="0"/>
              <a:t>• Forward hook to Section 5: this only works if the two implementations are genuinely independent.</a:t>
            </a:r>
          </a:p>
          <a:p>
            <a:endParaRPr lang="en-US"/>
          </a:p>
          <a:p>
            <a:r>
              <a:rPr lang="en-US" b="0" i="0" dirty="0"/>
              <a:t>=====</a:t>
            </a:r>
          </a:p>
          <a:p>
            <a:endParaRPr lang="en-US"/>
          </a:p>
          <a:p>
            <a:r>
              <a:rPr lang="en-US" b="0" i="0" dirty="0"/>
              <a:t>Same input, two implementations.</a:t>
            </a:r>
          </a:p>
          <a:p>
            <a:endParaRPr lang="en-US"/>
          </a:p>
          <a:p>
            <a:r>
              <a:rPr lang="en-US" b="1" i="0" dirty="0"/>
              <a:t>ANIMATE</a:t>
            </a:r>
          </a:p>
          <a:p>
            <a:endParaRPr lang="en-US"/>
          </a:p>
          <a:p>
            <a:r>
              <a:rPr lang="en-US" b="0" i="0" dirty="0"/>
              <a:t>Implementation A, the one we are validating. Implementation B — a reference, an older version, another vendor.</a:t>
            </a:r>
          </a:p>
          <a:p>
            <a:endParaRPr lang="en-US"/>
          </a:p>
          <a:p>
            <a:r>
              <a:rPr lang="en-US" b="1" i="0" dirty="0"/>
              <a:t>ANIMATE</a:t>
            </a:r>
          </a:p>
          <a:p>
            <a:endParaRPr lang="en-US"/>
          </a:p>
          <a:p>
            <a:r>
              <a:rPr lang="en-US" b="0" i="0" dirty="0"/>
              <a:t>Two outputs.</a:t>
            </a:r>
          </a:p>
          <a:p>
            <a:endParaRPr lang="en-US"/>
          </a:p>
          <a:p>
            <a:r>
              <a:rPr lang="en-US" b="1" i="0" dirty="0"/>
              <a:t>ANIMATE</a:t>
            </a:r>
          </a:p>
          <a:p>
            <a:endParaRPr lang="en-US"/>
          </a:p>
          <a:p>
            <a:r>
              <a:rPr lang="en-US" b="0" i="0" dirty="0"/>
              <a:t>And the oracle is the comparison itself. Ask whether they agree. You never had to state what the right answer was.</a:t>
            </a:r>
          </a:p>
          <a:p>
            <a:endParaRPr lang="en-US"/>
          </a:p>
          <a:p>
            <a:r>
              <a:rPr lang="en-US" b="1" i="0" dirty="0"/>
              <a:t>ANIMATE</a:t>
            </a:r>
          </a:p>
          <a:p>
            <a:endParaRPr lang="en-US"/>
          </a:p>
          <a:p>
            <a:r>
              <a:rPr lang="en-US" b="0" i="0" dirty="0"/>
              <a:t>Read the asymmetry carefully. Agreement is no signal — both can be wrong the same way, especially if they share a lineage or an author's misreading of the spec. Disagreement means at least one is wrong, and now you have something concrete to investigate.</a:t>
            </a:r>
          </a:p>
          <a:p>
            <a:r>
              <a:rPr lang="en-US" b="0" i="0" dirty="0"/>
              <a:t>This is how compilers, parsers and crypto libraries are actually tested, and it is the obvious move when you rewrite a system and still have the old one running. Hold on to the independence caveat — Section 5 turns it into a criterion.</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a:t>
            </a:r>
            <a:r>
              <a:rPr lang="en-US" b="0" i="1" dirty="0"/>
              <a:t>Metamorphic testing: state how answers must relate when you cannot state the answer.</a:t>
            </a:r>
          </a:p>
          <a:p>
            <a:endParaRPr lang="en-US"/>
          </a:p>
          <a:p>
            <a:r>
              <a:rPr lang="en-US" b="0" i="0" dirty="0"/>
              <a:t>• The hardest of the five to grasp from prose, and the easiest from the figure. Walk the two rows out loud.</a:t>
            </a:r>
          </a:p>
          <a:p>
            <a:r>
              <a:rPr lang="en-US" b="0" i="0" dirty="0"/>
              <a:t>• Expect that it does NOT land on the first pass. Build the figure, then do the sort example slowly, then give a second example. Do not move on at the first nod.</a:t>
            </a:r>
          </a:p>
          <a:p>
            <a:r>
              <a:rPr lang="en-US" b="0" i="0" dirty="0"/>
              <a:t>• T is a transformation of the input; R is the relation the outputs must satisfy.</a:t>
            </a:r>
          </a:p>
          <a:p>
            <a:r>
              <a:rPr lang="en-US" b="0" i="0" dirty="0"/>
              <a:t>• Payment version: submitting the same payment ID twice must leave the account in the same state as submitting it once.</a:t>
            </a:r>
          </a:p>
          <a:p>
            <a:r>
              <a:rPr lang="en-US" b="0" i="0" dirty="0"/>
              <a:t>• Other classics: a search engine given a narrower query must not return more results; scaling every input scales the total.</a:t>
            </a:r>
          </a:p>
          <a:p>
            <a:r>
              <a:rPr lang="en-US" b="0" i="0" dirty="0"/>
              <a:t>• Land the trick explicitly: we never computed the right answer — the relation did the oracle's job.</a:t>
            </a:r>
          </a:p>
          <a:p>
            <a:endParaRPr lang="en-US"/>
          </a:p>
          <a:p>
            <a:r>
              <a:rPr lang="en-US" b="0" i="0" dirty="0"/>
              <a:t>=====</a:t>
            </a:r>
          </a:p>
          <a:p>
            <a:endParaRPr lang="en-US"/>
          </a:p>
          <a:p>
            <a:r>
              <a:rPr lang="en-US" b="0" i="0" dirty="0"/>
              <a:t>This is the one that does not land the first time. Slow down and build it.</a:t>
            </a:r>
          </a:p>
          <a:p>
            <a:endParaRPr lang="en-US"/>
          </a:p>
          <a:p>
            <a:r>
              <a:rPr lang="en-US" b="1" i="0" dirty="0"/>
              <a:t>ANIMATE</a:t>
            </a:r>
          </a:p>
          <a:p>
            <a:endParaRPr lang="en-US"/>
          </a:p>
          <a:p>
            <a:r>
              <a:rPr lang="en-US" b="0" i="0" dirty="0"/>
              <a:t>Top row: an input x, run f, get y. Ordinary execution — and we do not know whether y is right.</a:t>
            </a:r>
          </a:p>
          <a:p>
            <a:endParaRPr lang="en-US"/>
          </a:p>
          <a:p>
            <a:r>
              <a:rPr lang="en-US" b="1" i="0" dirty="0"/>
              <a:t>ANIMATE</a:t>
            </a:r>
          </a:p>
          <a:p>
            <a:endParaRPr lang="en-US"/>
          </a:p>
          <a:p>
            <a:r>
              <a:rPr lang="en-US" b="0" i="0" dirty="0"/>
              <a:t>Bottom row: transform the input by T, run the same f, get y-prime. Still do not know whether either answer is right.</a:t>
            </a:r>
          </a:p>
          <a:p>
            <a:endParaRPr lang="en-US"/>
          </a:p>
          <a:p>
            <a:r>
              <a:rPr lang="en-US" b="1" i="0" dirty="0"/>
              <a:t>ANIMATE</a:t>
            </a:r>
          </a:p>
          <a:p>
            <a:endParaRPr lang="en-US"/>
          </a:p>
          <a:p>
            <a:r>
              <a:rPr lang="en-US" b="0" i="0" dirty="0"/>
              <a:t>And here is the oracle: a relation R that y and y-prime must satisfy. Not what either answer IS — how they must relate.</a:t>
            </a:r>
          </a:p>
          <a:p>
            <a:endParaRPr lang="en-US"/>
          </a:p>
          <a:p>
            <a:r>
              <a:rPr lang="en-US" b="1" i="0" dirty="0"/>
              <a:t>ANIMATE</a:t>
            </a:r>
          </a:p>
          <a:p>
            <a:endParaRPr lang="en-US"/>
          </a:p>
          <a:p>
            <a:r>
              <a:rPr lang="en-US" b="0" i="0" dirty="0"/>
              <a:t>Do the example out loud. sort of three-one-two gives one-two-three. sort of two-three-one gives one-two-three. Permute the input; the output must be unchanged. We never stated what sorted order was. We stated that permuting the input cannot change it.</a:t>
            </a:r>
          </a:p>
          <a:p>
            <a:r>
              <a:rPr lang="en-US" b="0" i="0" dirty="0"/>
              <a:t>Now a second example, because one is not enough. A search engine given a narrower query must not return MORE results. Or our own: submitting the same payment ID twice must leave the account in the same state as submitting it once.</a:t>
            </a:r>
          </a:p>
          <a:p>
            <a:endParaRPr lang="en-US"/>
          </a:p>
          <a:p>
            <a:r>
              <a:rPr lang="en-US" b="1" i="0" dirty="0"/>
              <a:t>ANIMATE</a:t>
            </a:r>
          </a:p>
          <a:p>
            <a:endParaRPr lang="en-US"/>
          </a:p>
          <a:p>
            <a:r>
              <a:rPr lang="en-US" b="0" i="0" dirty="0"/>
              <a:t>When you cannot state the answer, state how answers must relate. A relation between runs is an oracle when the answer is unavailable — and that is the whole trick.</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Fuzzing: a weak oracle is what buys you enormous search.</a:t>
            </a:r>
          </a:p>
          <a:p>
            <a:endParaRPr lang="en-US"/>
          </a:p>
          <a:p>
            <a:r>
              <a:rPr lang="en-US" b="0" i="0" dirty="0"/>
              <a:t>• The counter-intuitive framing: the WEAKNESS of the oracle is the feature. 'Did it crash?' needs no expected answer.</a:t>
            </a:r>
          </a:p>
          <a:p>
            <a:r>
              <a:rPr lang="en-US" b="0" i="0" dirty="0"/>
              <a:t>• So you can afford millions of runs — and reach inputs nobody would have written down.</a:t>
            </a:r>
          </a:p>
          <a:p>
            <a:r>
              <a:rPr lang="en-US" b="0" i="0" dirty="0"/>
              <a:t>• Be honest about what it buys: robustness evidence, very little functional correctness.</a:t>
            </a:r>
          </a:p>
          <a:p>
            <a:r>
              <a:rPr lang="en-US" b="0" i="0" dirty="0"/>
              <a:t>• Callback to rule #18 territory if it comes up: fix to the spec point, not the failing seed.</a:t>
            </a:r>
          </a:p>
          <a:p>
            <a:endParaRPr lang="en-US"/>
          </a:p>
          <a:p>
            <a:r>
              <a:rPr lang="en-US" b="0" i="0" dirty="0"/>
              <a:t>=====</a:t>
            </a:r>
          </a:p>
          <a:p>
            <a:endParaRPr lang="en-US"/>
          </a:p>
          <a:p>
            <a:r>
              <a:rPr lang="en-US" b="0" i="0" dirty="0"/>
              <a:t>Seeds, mutate, run.</a:t>
            </a:r>
          </a:p>
          <a:p>
            <a:endParaRPr lang="en-US"/>
          </a:p>
          <a:p>
            <a:r>
              <a:rPr lang="en-US" b="1" i="0" dirty="0"/>
              <a:t>ANIMATE</a:t>
            </a:r>
          </a:p>
          <a:p>
            <a:endParaRPr lang="en-US"/>
          </a:p>
          <a:p>
            <a:r>
              <a:rPr lang="en-US" b="0" i="0" dirty="0"/>
              <a:t>Seed inputs, mutated into things no person would write.</a:t>
            </a:r>
          </a:p>
          <a:p>
            <a:endParaRPr lang="en-US"/>
          </a:p>
          <a:p>
            <a:r>
              <a:rPr lang="en-US" b="1" i="0" dirty="0"/>
              <a:t>ANIMATE</a:t>
            </a:r>
          </a:p>
          <a:p>
            <a:endParaRPr lang="en-US"/>
          </a:p>
          <a:p>
            <a:r>
              <a:rPr lang="en-US" b="0" i="0" dirty="0"/>
              <a:t>Run them — a great many of them. The dots are the inputs nobody thought to write down.</a:t>
            </a:r>
          </a:p>
          <a:p>
            <a:endParaRPr lang="en-US"/>
          </a:p>
          <a:p>
            <a:r>
              <a:rPr lang="en-US" b="1" i="0" dirty="0"/>
              <a:t>ANIMATE</a:t>
            </a:r>
          </a:p>
          <a:p>
            <a:endParaRPr lang="en-US"/>
          </a:p>
          <a:p>
            <a:r>
              <a:rPr lang="en-US" b="0" i="0" dirty="0"/>
              <a:t>And the oracle: did it crash, hang, or trip an assertion? Notice how weak that is. It needs no expected answer at all.</a:t>
            </a:r>
          </a:p>
          <a:p>
            <a:endParaRPr lang="en-US"/>
          </a:p>
          <a:p>
            <a:r>
              <a:rPr lang="en-US" b="1"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Close Section 4: strategy follows from what you already know.</a:t>
            </a:r>
          </a:p>
          <a:p>
            <a:endParaRPr lang="en-US"/>
          </a:p>
          <a:p>
            <a:r>
              <a:rPr lang="en-US" b="0" i="0" dirty="0"/>
              <a:t>• Summary — do not re-teach the five. Accumulate them, then reveal the organizing axis.</a:t>
            </a:r>
          </a:p>
          <a:p>
            <a:r>
              <a:rPr lang="en-US" b="0" i="0" dirty="0"/>
              <a:t>• The axis is WHAT YOU ALREADY KNOW: known answers, known properties, known relations, almost nothing.</a:t>
            </a:r>
          </a:p>
          <a:p>
            <a:r>
              <a:rPr lang="en-US" b="0" i="0" dirty="0"/>
              <a:t>• Anticipated question: the axis has four columns and the list has five. Differential is deliberately absent — its oracle is another IMPLEMENTATION, not something you know. Say so if asked; it is a good question.</a:t>
            </a:r>
          </a:p>
          <a:p>
            <a:r>
              <a:rPr lang="en-US" b="0" i="0" dirty="0"/>
              <a:t>• The line to land: a strategy changes how you SEARCH. It does not set how STRONG the evidence is. That is Section 5.</a:t>
            </a:r>
          </a:p>
          <a:p>
            <a:endParaRPr lang="en-US"/>
          </a:p>
          <a:p>
            <a:r>
              <a:rPr lang="en-US" b="0" i="0" dirty="0"/>
              <a:t>=====</a:t>
            </a:r>
          </a:p>
          <a:p>
            <a:endParaRPr lang="en-US"/>
          </a:p>
          <a:p>
            <a:r>
              <a:rPr lang="en-US" b="0" i="0" dirty="0"/>
              <a:t>Five strategies, accumulating.</a:t>
            </a:r>
          </a:p>
          <a:p>
            <a:endParaRPr lang="en-US"/>
          </a:p>
          <a:p>
            <a:r>
              <a:rPr lang="en-US" b="1" i="0" dirty="0"/>
              <a:t>ANIMATE</a:t>
            </a:r>
          </a:p>
          <a:p>
            <a:endParaRPr lang="en-US"/>
          </a:p>
          <a:p>
            <a:r>
              <a:rPr lang="en-US" b="0" i="0" dirty="0"/>
              <a:t>Example-based: choose the cases you already understand.</a:t>
            </a:r>
          </a:p>
          <a:p>
            <a:endParaRPr lang="en-US"/>
          </a:p>
          <a:p>
            <a:r>
              <a:rPr lang="en-US" b="1" i="0" dirty="0"/>
              <a:t>ANIMATE</a:t>
            </a:r>
          </a:p>
          <a:p>
            <a:endParaRPr lang="en-US"/>
          </a:p>
          <a:p>
            <a:r>
              <a:rPr lang="en-US" b="0" i="0" dirty="0"/>
              <a:t>Property-based: generate cases against a general property.</a:t>
            </a:r>
          </a:p>
          <a:p>
            <a:endParaRPr lang="en-US"/>
          </a:p>
          <a:p>
            <a:r>
              <a:rPr lang="en-US" b="1" i="0" dirty="0"/>
              <a:t>ANIMATE</a:t>
            </a:r>
          </a:p>
          <a:p>
            <a:endParaRPr lang="en-US"/>
          </a:p>
          <a:p>
            <a:r>
              <a:rPr lang="en-US" b="0" i="0" dirty="0"/>
              <a:t>Differential: search for disagreement with another implementation.</a:t>
            </a:r>
          </a:p>
          <a:p>
            <a:endParaRPr lang="en-US"/>
          </a:p>
          <a:p>
            <a:r>
              <a:rPr lang="en-US" b="1" i="0" dirty="0"/>
              <a:t>ANIMATE</a:t>
            </a:r>
          </a:p>
          <a:p>
            <a:endParaRPr lang="en-US"/>
          </a:p>
          <a:p>
            <a:r>
              <a:rPr lang="en-US" b="0" i="0" dirty="0"/>
              <a:t>Metamorphic: search for a violated relation between runs.</a:t>
            </a:r>
          </a:p>
          <a:p>
            <a:endParaRPr lang="en-US"/>
          </a:p>
          <a:p>
            <a:r>
              <a:rPr lang="en-US" b="1" i="0" dirty="0"/>
              <a:t>ANIMATE</a:t>
            </a:r>
          </a:p>
          <a:p>
            <a:endParaRPr lang="en-US"/>
          </a:p>
          <a:p>
            <a:r>
              <a:rPr lang="en-US" b="0" i="0" dirty="0"/>
              <a:t>Fuzzing: search unusual inputs with a cheap oracle.</a:t>
            </a:r>
          </a:p>
          <a:p>
            <a:endParaRPr lang="en-US"/>
          </a:p>
          <a:p>
            <a:r>
              <a:rPr lang="en-US" b="1" i="0" dirty="0"/>
              <a:t>ANIMATE</a:t>
            </a:r>
          </a:p>
          <a:p>
            <a:endParaRPr lang="en-US"/>
          </a:p>
          <a:p>
            <a:r>
              <a:rPr lang="en-US" b="0" i="0" dirty="0"/>
              <a:t>Now the organizing axis, and it is not the one people expect. It is not difficulty and it is not cost. It is what you already know. Known answers give you example-based. Known properties give you property-based. Known relations give you metamorphic. And when you know almost nothing, fuzzing still works — because its oracle asks almost nothing of you.</a:t>
            </a:r>
          </a:p>
          <a:p>
            <a:r>
              <a:rPr lang="en-US" b="0" i="0" dirty="0"/>
              <a:t>Somebody will notice there are five strategies and four columns. Good — differential is the one that does not fit, because its oracle is not knowledge you hold. It is another implementation. When you have one, it is often the cheapest oracle available; when you do not, no amount of thinking produces one.</a:t>
            </a:r>
          </a:p>
          <a:p>
            <a:endParaRPr lang="en-US"/>
          </a:p>
          <a:p>
            <a:r>
              <a:rPr lang="en-US" b="1" i="0" dirty="0"/>
              <a:t>ANIMATE</a:t>
            </a:r>
          </a:p>
          <a:p>
            <a:endParaRPr lang="en-US"/>
          </a:p>
          <a:p>
            <a:r>
              <a:rPr lang="en-US" b="0" i="0" dirty="0"/>
              <a:t>Choose the strategy for the uncertainty you need to reduce, not for the amount of output it can produce. And note the limit: a strategy changes how you search. It does not set how strong the resulting evidence is. That is the next section.</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a:t>
            </a:r>
            <a:r>
              <a:rPr lang="en-US" b="0" i="1" dirty="0"/>
              <a:t>Strength has dimensions — no single number means "validated".</a:t>
            </a:r>
          </a:p>
          <a:p>
            <a:endParaRPr lang="en-US"/>
          </a:p>
          <a:p>
            <a:r>
              <a:rPr lang="en-US" b="0" i="0" dirty="0"/>
              <a:t>• Accumulate the dimensions one row at a time; do not show the finished table and read it out.</a:t>
            </a:r>
          </a:p>
          <a:p>
            <a:r>
              <a:rPr lang="en-US" b="0" i="0" dirty="0"/>
              <a:t>• Each row: the question is the point, the metrics are the handles.</a:t>
            </a:r>
          </a:p>
          <a:p>
            <a:r>
              <a:rPr lang="en-US" b="0" i="0" dirty="0"/>
              <a:t>• Two of these get their own slide next — detection power and representativeness. Flag that as you pass them.</a:t>
            </a:r>
          </a:p>
          <a:p>
            <a:r>
              <a:rPr lang="en-US" b="0" i="0" dirty="0"/>
              <a:t>• Independence gets the MAGE Moment. Flag that too.</a:t>
            </a:r>
          </a:p>
          <a:p>
            <a:r>
              <a:rPr lang="en-US" b="0" i="0" dirty="0"/>
              <a:t>• The synthesis line: metrics do not certify. They make the remaining uncertainty visible enough to judge.</a:t>
            </a:r>
          </a:p>
          <a:p>
            <a:endParaRPr lang="en-US"/>
          </a:p>
          <a:p>
            <a:r>
              <a:rPr lang="en-US" b="0" i="0" dirty="0"/>
              <a:t>=====</a:t>
            </a:r>
          </a:p>
          <a:p>
            <a:endParaRPr lang="en-US"/>
          </a:p>
          <a:p>
            <a:r>
              <a:rPr lang="en-US" b="0" i="0" dirty="0"/>
              <a:t>Six dimensions. Take them one at a time and read the QUESTION column, not the metrics column — the questions are what you keep.</a:t>
            </a:r>
          </a:p>
          <a:p>
            <a:endParaRPr lang="en-US"/>
          </a:p>
          <a:p>
            <a:r>
              <a:rPr lang="en-US" b="1" i="0" dirty="0"/>
              <a:t>ANIMATE</a:t>
            </a:r>
          </a:p>
          <a:p>
            <a:endParaRPr lang="en-US"/>
          </a:p>
          <a:p>
            <a:r>
              <a:rPr lang="en-US" b="0" i="0" dirty="0"/>
              <a:t>Coverage: how much did we examine?</a:t>
            </a:r>
          </a:p>
          <a:p>
            <a:endParaRPr lang="en-US"/>
          </a:p>
          <a:p>
            <a:r>
              <a:rPr lang="en-US" b="1" i="0" dirty="0"/>
              <a:t>ANIMATE</a:t>
            </a:r>
          </a:p>
          <a:p>
            <a:endParaRPr lang="en-US"/>
          </a:p>
          <a:p>
            <a:r>
              <a:rPr lang="en-US" b="0" i="0" dirty="0"/>
              <a:t>Representativeness: did we look at the right things? That one gets its own slide shortly.</a:t>
            </a:r>
          </a:p>
          <a:p>
            <a:endParaRPr lang="en-US"/>
          </a:p>
          <a:p>
            <a:r>
              <a:rPr lang="en-US" b="1" i="0" dirty="0"/>
              <a:t>ANIMATE</a:t>
            </a:r>
          </a:p>
          <a:p>
            <a:endParaRPr lang="en-US"/>
          </a:p>
          <a:p>
            <a:r>
              <a:rPr lang="en-US" b="0" i="0" dirty="0"/>
              <a:t>Detection power: would we notice a defect? Also gets its own slide — and it is the one that repairs the coverage misconception from Section 3.</a:t>
            </a:r>
          </a:p>
          <a:p>
            <a:endParaRPr lang="en-US"/>
          </a:p>
          <a:p>
            <a:r>
              <a:rPr lang="en-US" b="1" i="0" dirty="0"/>
              <a:t>ANIMATE</a:t>
            </a:r>
          </a:p>
          <a:p>
            <a:endParaRPr lang="en-US"/>
          </a:p>
          <a:p>
            <a:r>
              <a:rPr lang="en-US" b="0" i="0" dirty="0"/>
              <a:t>Independence: could one mistake undo it all? Hold that thought; it is the MAGE Moment at the end of this section.</a:t>
            </a:r>
          </a:p>
          <a:p>
            <a:endParaRPr lang="en-US"/>
          </a:p>
          <a:p>
            <a:r>
              <a:rPr lang="en-US" b="1" i="0" dirty="0"/>
              <a:t>ANIMATE</a:t>
            </a:r>
          </a:p>
          <a:p>
            <a:endParaRPr lang="en-US"/>
          </a:p>
          <a:p>
            <a:r>
              <a:rPr lang="en-US" b="0" i="0" dirty="0"/>
              <a:t>Residual failures: what do we know is wrong? Not everything you know about is fixed at delivery, and pretending otherwise is how it gets forgotten.</a:t>
            </a:r>
          </a:p>
          <a:p>
            <a:endParaRPr lang="en-US"/>
          </a:p>
          <a:p>
            <a:r>
              <a:rPr lang="en-US" b="1" i="0" dirty="0"/>
              <a:t>ANIMATE</a:t>
            </a:r>
          </a:p>
          <a:p>
            <a:endParaRPr lang="en-US"/>
          </a:p>
          <a:p>
            <a:r>
              <a:rPr lang="en-US" b="0" i="0" dirty="0"/>
              <a:t>Uncertainty: how precisely can we claim it?</a:t>
            </a:r>
          </a:p>
          <a:p>
            <a:endParaRPr lang="en-US"/>
          </a:p>
          <a:p>
            <a:r>
              <a:rPr lang="en-US" b="1" i="0" dirty="0"/>
              <a:t>ANIMATE</a:t>
            </a:r>
          </a:p>
          <a:p>
            <a:endParaRPr lang="en-US"/>
          </a:p>
          <a:p>
            <a:r>
              <a:rPr lang="en-US" b="0" i="0" dirty="0"/>
              <a:t>No single metric on this slide means "validated." That is not a gap in the list — there is no such metric. What metrics do is make the remaining uncertainty visible enough to judge. Strength is not one number. It has dimensions.</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Detection power repairs the coverage misconception: executed is not checked.</a:t>
            </a:r>
          </a:p>
          <a:p>
            <a:endParaRPr lang="en-US"/>
          </a:p>
          <a:p>
            <a:r>
              <a:rPr lang="en-US" b="0" i="0" dirty="0"/>
              <a:t>• Sixty seconds, but it repairs the most common misreading of coverage.</a:t>
            </a:r>
          </a:p>
          <a:p>
            <a:r>
              <a:rPr lang="en-US" b="0" i="0" dirty="0"/>
              <a:t>• Mutation testing: deliberately introduce small faults, then ask whether your evidence notices.</a:t>
            </a:r>
          </a:p>
          <a:p>
            <a:r>
              <a:rPr lang="en-US" b="0" i="0" dirty="0"/>
              <a:t>• A surviving mutant means the line ran and nothing checked the consequence — assertion-free execution.</a:t>
            </a:r>
          </a:p>
          <a:p>
            <a:r>
              <a:rPr lang="en-US" b="0" i="0" dirty="0"/>
              <a:t>• Industry note: mutation testing is expensive to run over a whole system, which is why coverage remains the default proxy. Proxies drift.</a:t>
            </a:r>
          </a:p>
          <a:p>
            <a:r>
              <a:rPr lang="en-US" b="0" i="0" dirty="0"/>
              <a:t>• Tie back to Section 3's coverage slide: coverage answers WHERE we looked; this answers WHETHER we would have noticed.</a:t>
            </a:r>
          </a:p>
          <a:p>
            <a:endParaRPr lang="en-US"/>
          </a:p>
          <a:p>
            <a:r>
              <a:rPr lang="en-US" b="0" i="0" dirty="0"/>
              <a:t>=====</a:t>
            </a:r>
          </a:p>
          <a:p>
            <a:endParaRPr lang="en-US"/>
          </a:p>
          <a:p>
            <a:r>
              <a:rPr lang="en-US" b="0" i="0" dirty="0"/>
              <a:t>Statement and condition coverage at 100 percent, every test green. We agreed in Section 3 that this does not mean correct. Here is how you measure the gap instead of just asserting it.</a:t>
            </a:r>
          </a:p>
          <a:p>
            <a:r>
              <a:rPr lang="en-US" b="0" i="0" dirty="0"/>
              <a:t>Seed a fault. Run the suite. Did it fail?</a:t>
            </a:r>
          </a:p>
          <a:p>
            <a:r>
              <a:rPr lang="en-US" b="0" i="0" dirty="0"/>
              <a:t>Change greater-than to greater-than-or-equal in a limit check. The suite still passes. That line was executed — coverage counted it — and nothing checked what it did.</a:t>
            </a:r>
          </a:p>
          <a:p>
            <a:r>
              <a:rPr lang="en-US" b="0" i="0" dirty="0"/>
              <a:t>If the suite fails, the fault would have been caught. If it passes, you have a surviving mutant: executed, unchecked. Mutation score is faults detected over faults seeded.</a:t>
            </a:r>
          </a:p>
          <a:p>
            <a:r>
              <a:rPr lang="en-US" b="0" i="0" dirty="0"/>
              <a:t>One practical note so nobody leaves over-enthusiastic: mutation testing is expensive to run across a whole system, which is exactly why coverage persists as the default proxy. Proxies drift. Know which one you are looking at.</a:t>
            </a:r>
          </a:p>
          <a:p>
            <a:r>
              <a:rPr lang="en-US" b="0" i="0" dirty="0"/>
              <a:t>Coverage answers where we looked. Detection power answers whether a wrong answer would have been caught. Executed is not checked.</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Evidence inherits the conditions under which it was obtained.</a:t>
            </a:r>
          </a:p>
          <a:p>
            <a:endParaRPr lang="en-US"/>
          </a:p>
          <a:p>
            <a:r>
              <a:rPr lang="en-US" b="0" i="0" dirty="0"/>
              <a:t>• Four side-by-side rows; let them read it, then say the sentence.</a:t>
            </a:r>
          </a:p>
          <a:p>
            <a:r>
              <a:rPr lang="en-US" b="0" i="0" dirty="0"/>
              <a:t>• The sentence: 100% coverage under an unrealistic workload is still weak evidence.</a:t>
            </a:r>
          </a:p>
          <a:p>
            <a:r>
              <a:rPr lang="en-US" b="0" i="0" dirty="0"/>
              <a:t>• Misconception: that representativeness is a performance-testing concern. It applies to every claim — the stubbed provider is a correctness issue.</a:t>
            </a:r>
          </a:p>
          <a:p>
            <a:r>
              <a:rPr lang="en-US" b="0" i="0" dirty="0"/>
              <a:t>• Practical hook: ask what the evidence was collected UNDER, not only what it says.</a:t>
            </a:r>
          </a:p>
          <a:p>
            <a:endParaRPr lang="en-US"/>
          </a:p>
          <a:p>
            <a:r>
              <a:rPr lang="en-US" b="0" i="0" dirty="0"/>
              <a:t>=====</a:t>
            </a:r>
          </a:p>
          <a:p>
            <a:endParaRPr lang="en-US"/>
          </a:p>
          <a:p>
            <a:r>
              <a:rPr lang="en-US" b="0" i="0" dirty="0"/>
              <a:t>Two columns. Validation conditions on the left, delivery conditions on the right. Fifty requests a second against four thousand at month end. One region with warm caches against three regions with cold starts. A stubbed payment provider against the provider's real latency and retries. An empty test database against four hundred million rows.</a:t>
            </a:r>
          </a:p>
          <a:p>
            <a:r>
              <a:rPr lang="en-US" b="0" i="0" dirty="0"/>
              <a:t>Note that this is not only a performance concern. The stubbed provider is a CORRECTNESS issue — every assumption about its semantics is untested, and Section 2 told us machine-side evidence cannot expose a false domain assumption.</a:t>
            </a:r>
          </a:p>
          <a:p>
            <a:r>
              <a:rPr lang="en-US" b="0" i="0" dirty="0"/>
              <a:t>So: 100 percent coverage under an unrealistic workload is still weak evidence. Evidence inherits the conditions under which it was obtained, and those conditions travel with it whether or not anybody writes them down.</a:t>
            </a:r>
          </a:p>
          <a:p>
            <a:r>
              <a:rPr lang="en-US" b="0" i="0" dirty="0"/>
              <a:t>The habit to build: ask what the evidence was collected under, not only what it says.</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MAGE Moment: generated volume is cheap; independence is not.</a:t>
            </a:r>
          </a:p>
          <a:p>
            <a:endParaRPr lang="en-US"/>
          </a:p>
          <a:p>
            <a:r>
              <a:rPr lang="en-US" b="0" i="0" dirty="0"/>
              <a:t>• The Section 5 half of the MAGE argument, and a different lesson from Section 3's. Say that difference out loud — students conflate them.</a:t>
            </a:r>
          </a:p>
          <a:p>
            <a:r>
              <a:rPr lang="en-US" b="0" i="0" dirty="0"/>
              <a:t>• Section 3: a review mechanism has finite CAPACITY — attention runs out.</a:t>
            </a:r>
          </a:p>
          <a:p>
            <a:r>
              <a:rPr lang="en-US" b="0" i="0" dirty="0"/>
              <a:t>• Section 5: generated evidence does not become independent merely because there is more of it.</a:t>
            </a:r>
          </a:p>
          <a:p>
            <a:r>
              <a:rPr lang="en-US" b="0" i="0" dirty="0"/>
              <a:t>• Ten thousand tests from one mistaken interpretation are one reason, repeated ten thousand times.</a:t>
            </a:r>
          </a:p>
          <a:p>
            <a:r>
              <a:rPr lang="en-US" b="0" i="0" dirty="0"/>
              <a:t>• The fix is not fewer tests. It is a second line of evidence that does not inherit the same interpretation.</a:t>
            </a:r>
          </a:p>
          <a:p>
            <a:endParaRPr lang="en-US"/>
          </a:p>
          <a:p>
            <a:r>
              <a:rPr lang="en-US" b="0" i="0" dirty="0"/>
              <a:t>=====</a:t>
            </a:r>
          </a:p>
          <a:p>
            <a:endParaRPr lang="en-US"/>
          </a:p>
          <a:p>
            <a:r>
              <a:rPr lang="en-US" b="0" i="0" dirty="0"/>
              <a:t>An agent can produce ten thousand tests for the price of a coffee. That is genuinely new, and it is genuinely useful. Now ask the Section 5 question about it.</a:t>
            </a:r>
          </a:p>
          <a:p>
            <a:r>
              <a:rPr lang="en-US" b="0" i="0" dirty="0"/>
              <a:t>All ten thousand were generated from one agent's interpretation of the specification. If that interpretation is wrong, every one of them is wrong in the same direction — and every one of them passes.</a:t>
            </a:r>
          </a:p>
          <a:p>
            <a:r>
              <a:rPr lang="en-US" b="0" i="0" dirty="0"/>
              <a:t>Compare the two-branch picture. Two branches resting on different assumptions can catch each other's mistakes. Ten thousand tests on one interpretation are one reason, repeated.</a:t>
            </a:r>
          </a:p>
          <a:p>
            <a:r>
              <a:rPr lang="en-US" b="0" i="0" dirty="0"/>
              <a:t>Be precise about how this differs from the MAGE Moment in Section 3, because students merge them. That one was about the CAPACITY of a mechanism: human attention runs out. This one is about the STRENGTH of evidence: volume is not independence.</a:t>
            </a:r>
          </a:p>
          <a:p>
            <a:r>
              <a:rPr lang="en-US" b="0" i="0" dirty="0"/>
              <a:t>And the fix is not fewer tests. Generate the ten thousand. Then add a second line of evidence that does not inherit the same interpretation — a different model, a different reader, a property derived from the spec rather than from the agent's reading of it.</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a:t>
            </a:r>
            <a:r>
              <a:rPr lang="en-US" b="0" i="1" dirty="0"/>
              <a:t>Passing a threshold is not the same as having margin.</a:t>
            </a:r>
          </a:p>
          <a:p>
            <a:endParaRPr lang="en-US"/>
          </a:p>
          <a:p>
            <a:r>
              <a:rPr lang="en-US" b="0" i="0" dirty="0"/>
              <a:t>• Borrow the vocabulary other engineering disciplines already have.</a:t>
            </a:r>
          </a:p>
          <a:p>
            <a:r>
              <a:rPr lang="en-US" b="0" i="0" dirty="0"/>
              <a:t>• Tolerance: what range of behavior is acceptable. Margin: how far we sit from the unacceptable boundary. Safety factor: separation we require because both sides are uncertain.</a:t>
            </a:r>
          </a:p>
          <a:p>
            <a:r>
              <a:rPr lang="en-US" b="0" i="0" dirty="0"/>
              <a:t>• Civil and mechanical engineers do not ship on 'predicted load 99.9, failure load 100, pass'.</a:t>
            </a:r>
          </a:p>
          <a:p>
            <a:r>
              <a:rPr lang="en-US" b="0" i="0" dirty="0"/>
              <a:t>• Ask the 499 ms question and let the room answer — both pass the same test.</a:t>
            </a:r>
          </a:p>
          <a:p>
            <a:r>
              <a:rPr lang="en-US" b="0" i="0" dirty="0"/>
              <a:t>• Then interrogate the 80 ms: representative workload? measurement spread? forecast error? production environment? is p99 the right tail?</a:t>
            </a:r>
          </a:p>
          <a:p>
            <a:endParaRPr lang="en-US"/>
          </a:p>
          <a:p>
            <a:r>
              <a:rPr lang="en-US" b="0" i="0" dirty="0"/>
              <a:t>=====</a:t>
            </a:r>
          </a:p>
          <a:p>
            <a:endParaRPr lang="en-US"/>
          </a:p>
          <a:p>
            <a:r>
              <a:rPr lang="en-US" b="0" i="0" dirty="0"/>
              <a:t>Specification says p99 latency at or under 500 milliseconds. Two systems. One measures 420. One measures 499. Both green.</a:t>
            </a:r>
          </a:p>
          <a:p>
            <a:r>
              <a:rPr lang="en-US" b="0" i="0" dirty="0"/>
              <a:t>Ask it plainly and wait: is 499 equally strong evidence that we are ready? Let the room answer before you say anything.</a:t>
            </a:r>
          </a:p>
          <a:p>
            <a:r>
              <a:rPr lang="en-US" b="0" i="0" dirty="0"/>
              <a:t>Borrow the vocabulary the older disciplines already have. Tolerance is what range of behavior is acceptable. Margin is how far we sit from the unacceptable boundary. Safety factor is the separation we REQUIRE, because both sides are uncertain. No civil engineer ships on predicted load 99.9 against failure load 100.</a:t>
            </a:r>
          </a:p>
          <a:p>
            <a:r>
              <a:rPr lang="en-US" b="0" i="0" dirty="0"/>
              <a:t>Now turn the interrogation on the good case too, because this is the part students skip. The 420 gives 80 milliseconds of OBSERVED separation. Is that the defensible margin? Was the workload representative? What is the measurement spread? What is the forecast error on load growth? Was this the production environment? Is p99 even the right tail for this claim?</a:t>
            </a:r>
          </a:p>
          <a:p>
            <a:r>
              <a:rPr lang="en-US" b="0" i="0" dirty="0"/>
              <a:t>The measured separation is not automatically the defensible margin. Engineering asks how much room remains for what we do not know.</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Software behavior is discrete: nearby inputs need not give nearby behaviors.</a:t>
            </a:r>
          </a:p>
          <a:p>
            <a:endParaRPr lang="en-US"/>
          </a:p>
          <a:p>
            <a:r>
              <a:rPr lang="en-US" b="0" i="0" dirty="0"/>
              <a:t>• This is why margin alone cannot carry the decision — and it sets up containment on the next slide.</a:t>
            </a:r>
          </a:p>
          <a:p>
            <a:r>
              <a:rPr lang="en-US" b="0" i="0" dirty="0"/>
              <a:t>• The physical analogy is the load-bearing contrast: a little more load gives a little more deflection.</a:t>
            </a:r>
          </a:p>
          <a:p>
            <a:r>
              <a:rPr lang="en-US" b="0" i="0" dirty="0"/>
              <a:t>• Three examples, all one step apart: 999 to 1000, one missing authorization check, one malformed message.</a:t>
            </a:r>
          </a:p>
          <a:p>
            <a:r>
              <a:rPr lang="en-US" b="0" i="0" dirty="0"/>
              <a:t>• Land it: 'nature does not leap; software does.' Then ask what margin means for an authorization bypass.</a:t>
            </a:r>
          </a:p>
          <a:p>
            <a:endParaRPr lang="en-US"/>
          </a:p>
          <a:p>
            <a:r>
              <a:rPr lang="en-US" b="0" i="0" dirty="0"/>
              <a:t>=====</a:t>
            </a:r>
          </a:p>
          <a:p>
            <a:endParaRPr lang="en-US"/>
          </a:p>
          <a:p>
            <a:r>
              <a:rPr lang="en-US" b="0" i="0" dirty="0"/>
              <a:t>Take a physical system. A little more load, a little more deflection — the response moves in proportion, and that proportionality is what makes margin meaningful. You can be 20 percent from the limit and know roughly what 20 percent buys you.</a:t>
            </a:r>
          </a:p>
          <a:p>
            <a:r>
              <a:rPr lang="en-US" b="0" i="0" dirty="0"/>
              <a:t>Software does not do that. Input A is correct. Input A-prime is one bit away — and takes a completely different path to a consequential failure.</a:t>
            </a:r>
          </a:p>
          <a:p>
            <a:r>
              <a:rPr lang="en-US" b="0" i="0" dirty="0"/>
              <a:t>Three of them. 999 becomes 1000 and crosses a boundary. One missing authorization check. One malformed message reaching a state the designer believed unreachable. In each case the inputs are adjacent and the behaviors are not.</a:t>
            </a:r>
          </a:p>
          <a:p>
            <a:r>
              <a:rPr lang="en-US" b="0" i="0" dirty="0"/>
              <a:t>Nature does not leap. Software does.</a:t>
            </a:r>
          </a:p>
          <a:p>
            <a:r>
              <a:rPr lang="en-US" b="0" i="0" dirty="0"/>
              <a:t>So ask the question that breaks the previous slide: what is the margin on a latent authorization bypass? There is no number. You are not 20 percent away from it. It is either there or it is not, and you do not know which.</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Controls do not prevent failure — they bound what a failure can reach.</a:t>
            </a:r>
          </a:p>
          <a:p>
            <a:endParaRPr lang="en-US"/>
          </a:p>
          <a:p>
            <a:r>
              <a:rPr lang="en-US" b="0" i="0" dirty="0"/>
              <a:t>• The architectural answer to the previous slide's problem.</a:t>
            </a:r>
          </a:p>
          <a:p>
            <a:r>
              <a:rPr lang="en-US" b="0" i="0" dirty="0"/>
              <a:t>• Blast radius is the operative idea: without controls, unknown; with them, bounded at an interface.</a:t>
            </a:r>
          </a:p>
          <a:p>
            <a:r>
              <a:rPr lang="en-US" b="0" i="0" dirty="0"/>
              <a:t>• Read a few items off the list and note they are all ARCHITECTURE decisions, made long before validation.</a:t>
            </a:r>
          </a:p>
          <a:p>
            <a:r>
              <a:rPr lang="en-US" b="0" i="0" dirty="0"/>
              <a:t>• The payoff sentence: architecture decides how defensible incomplete validation can be.</a:t>
            </a:r>
          </a:p>
          <a:p>
            <a:endParaRPr lang="en-US"/>
          </a:p>
          <a:p>
            <a:r>
              <a:rPr lang="en-US" b="0" i="0" dirty="0"/>
              <a:t>=====</a:t>
            </a:r>
          </a:p>
          <a:p>
            <a:endParaRPr lang="en-US"/>
          </a:p>
          <a:p>
            <a:r>
              <a:rPr lang="en-US" b="0" i="0" dirty="0"/>
              <a:t>If margin cannot be measured for discrete failures, what is the engineering answer? Bound the consequence.</a:t>
            </a:r>
          </a:p>
          <a:p>
            <a:r>
              <a:rPr lang="en-US" b="0" i="0" dirty="0"/>
              <a:t>Without controls, a fault propagates through an unknown chain to an unknown blast radius. With controls, the fault happens inside a component and stops at an interface.</a:t>
            </a:r>
          </a:p>
          <a:p>
            <a:r>
              <a:rPr lang="en-US" b="0" i="0" dirty="0"/>
              <a:t>Read a few off the list: typed interfaces, process isolation, containers, permissions, resource quotas, transactions, timeouts, circuit breakers, memory safety, staged rollout, rollback. Notice what they all have in common — every one of them is an ARCHITECTURE decision, made long before anybody ran a test.</a:t>
            </a:r>
          </a:p>
          <a:p>
            <a:r>
              <a:rPr lang="en-US" b="0" i="0" dirty="0"/>
              <a:t>Controls do not prevent failure. They bound its consequences, and that is precisely what makes incomplete evidence safer to act on.</a:t>
            </a:r>
          </a:p>
          <a:p>
            <a:r>
              <a:rPr lang="en-US" b="0" i="0" dirty="0"/>
              <a:t>Which gives you the sentence that connects this whole course: architecture decides how defensible incomplete validation can be. The design choices you made three lectures ago determine how much evidence you need now.</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Two kinds of uncertainty, two engineering tools.</a:t>
            </a:r>
          </a:p>
          <a:p>
            <a:endParaRPr lang="en-US"/>
          </a:p>
          <a:p>
            <a:r>
              <a:rPr lang="en-US" b="0" i="0" dirty="0"/>
              <a:t>• The synthesis of 48–50: margin for what we can measure, containment for what we did not foresee.</a:t>
            </a:r>
          </a:p>
          <a:p>
            <a:r>
              <a:rPr lang="en-US" b="0" i="0" dirty="0"/>
              <a:t>• The counter-intuitive closing note is worth stating: stronger evidence can warrant MORE caution when reach is unbounded.</a:t>
            </a:r>
          </a:p>
          <a:p>
            <a:r>
              <a:rPr lang="en-US" b="0" i="0" dirty="0"/>
              <a:t>• Do not let them leave thinking containment is a substitute for evidence. It changes what evidence is sufficient.</a:t>
            </a:r>
          </a:p>
          <a:p>
            <a:endParaRPr lang="en-US"/>
          </a:p>
          <a:p>
            <a:r>
              <a:rPr lang="en-US" b="0" i="0" dirty="0"/>
              <a:t>=====</a:t>
            </a:r>
          </a:p>
          <a:p>
            <a:endParaRPr lang="en-US"/>
          </a:p>
          <a:p>
            <a:r>
              <a:rPr lang="en-US" b="0" i="0" dirty="0"/>
              <a:t>Two columns, two tools. Quantitative behavior — latency, throughput, error rate — asks what margin separates us from failure. Discrete, unanticipated behavior — an authorization bypass, a duplicate charge — asks what controls bound the consequence.</a:t>
            </a:r>
          </a:p>
          <a:p>
            <a:r>
              <a:rPr lang="en-US" b="0" i="0" dirty="0"/>
              <a:t>There is no numerical distance from a latent authorization bypass. Where margin cannot be measured, containment is the engineering answer.</a:t>
            </a:r>
          </a:p>
          <a:p>
            <a:r>
              <a:rPr lang="en-US" b="0" i="0" dirty="0"/>
              <a:t>And now the note that surprises people. A system with WEAKER evidence can sometimes ship responsibly — staged rollout, a feature flag, transaction limits, a small population, a rollback path. A system with STRONGER evidence can warrant more caution, because one missed behavior has unbounded reach.</a:t>
            </a:r>
          </a:p>
          <a:p>
            <a:r>
              <a:rPr lang="en-US" b="0" i="0" dirty="0"/>
              <a:t>Which is not permission to skip the evidence. Containment changes what evidence is sufficient. It does not make evidence unnecessary.</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A decision procedure — six questions, each with a move if the answer is no.</a:t>
            </a:r>
          </a:p>
          <a:p>
            <a:endParaRPr lang="en-US"/>
          </a:p>
          <a:p>
            <a:r>
              <a:rPr lang="en-US" b="0" i="0" dirty="0"/>
              <a:t>• This is the checklist they can actually take to work. Read the third column; it is what makes it usable.</a:t>
            </a:r>
          </a:p>
          <a:p>
            <a:r>
              <a:rPr lang="en-US" b="0" i="0" dirty="0"/>
              <a:t>• The rows are the Section 5 dimensions plus Section 6's residual question — say that so it reads as a summary, not a new list.</a:t>
            </a:r>
          </a:p>
          <a:p>
            <a:r>
              <a:rPr lang="en-US" b="0" i="0" dirty="0"/>
              <a:t>• The closing line matters: metrics do not eliminate judgment, they discipline it. The output is a decision, not a score.</a:t>
            </a:r>
          </a:p>
          <a:p>
            <a:endParaRPr lang="en-US"/>
          </a:p>
          <a:p>
            <a:r>
              <a:rPr lang="en-US" b="0" i="0" dirty="0"/>
              <a:t>=====</a:t>
            </a:r>
          </a:p>
          <a:p>
            <a:endParaRPr lang="en-US"/>
          </a:p>
          <a:p>
            <a:r>
              <a:rPr lang="en-US" b="0" i="0" dirty="0"/>
              <a:t>Six questions, and for each one a move if the answer is no. This is the slide to photograph.</a:t>
            </a:r>
          </a:p>
          <a:p>
            <a:r>
              <a:rPr lang="en-US" b="0" i="0" dirty="0"/>
              <a:t>Claims covered — if not, gather targeted evidence. Representative — if not, measure under real conditions. Detection-capable — if not, improve the mechanism. Independent — if not, add a different line of evidence. Known failures left — if so, change it or explicitly accept the risk. Residual acceptable — and here the move is the decision itself: deliver, or do not.</a:t>
            </a:r>
          </a:p>
          <a:p>
            <a:r>
              <a:rPr lang="en-US" b="0" i="0" dirty="0"/>
              <a:t>Notice the rows are the Section 5 dimensions plus Section 6's residual question. This is not a new framework; it is the lecture, turned into questions you can ask in a review.</a:t>
            </a:r>
          </a:p>
          <a:p>
            <a:r>
              <a:rPr lang="en-US" b="0" i="0" dirty="0"/>
              <a:t>Metrics do not eliminate judgment. They discipline it. The output is a decision, not a score.</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5 minutes — </a:t>
            </a:r>
            <a:r>
              <a:rPr lang="en-US" b="0" i="1" dirty="0"/>
              <a:t>Students exercise the whole lecture on one under-determined delivery decision.</a:t>
            </a:r>
          </a:p>
          <a:p>
            <a:endParaRPr lang="en-US"/>
          </a:p>
          <a:p>
            <a:r>
              <a:rPr lang="en-US" b="0" i="0" dirty="0"/>
              <a:t>• The capstone. Give them four minutes and force a choice.</a:t>
            </a:r>
          </a:p>
          <a:p>
            <a:r>
              <a:rPr lang="en-US" b="0" i="0" dirty="0"/>
              <a:t>• Every one of the five actions is defensible on some reading of this evidence — make them say which reading.</a:t>
            </a:r>
          </a:p>
          <a:p>
            <a:r>
              <a:rPr lang="en-US" b="0" i="0" dirty="0"/>
              <a:t>• Push with Section 6's tools: what is the margin on the latency claim? What bounds the double-charge if we are wrong?</a:t>
            </a:r>
          </a:p>
          <a:p>
            <a:r>
              <a:rPr lang="en-US" b="0" i="0" dirty="0"/>
              <a:t>• The missing transaction limit is the containment hook — a cheap control can change the decision without new evidence.</a:t>
            </a:r>
          </a:p>
          <a:p>
            <a:r>
              <a:rPr lang="en-US" b="0" i="0" dirty="0"/>
              <a:t>• Expected split: most pick GATHER MORE; some pick CHANGE once they spot the missing limit; a few argue DELIVER behind a flag. REVISIT UPSTREAM is the rarest and the most interesting — take it if it appears.</a:t>
            </a:r>
          </a:p>
          <a:p>
            <a:r>
              <a:rPr lang="en-US" b="0" i="0" dirty="0"/>
              <a:t>• Harvest one argument per action, then stop. There is no answer key, and say so.</a:t>
            </a:r>
          </a:p>
          <a:p>
            <a:endParaRPr lang="en-US"/>
          </a:p>
          <a:p>
            <a:r>
              <a:rPr lang="en-US" b="0" i="0" dirty="0"/>
              <a:t>=====</a:t>
            </a:r>
          </a:p>
          <a:p>
            <a:endParaRPr lang="en-US"/>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a:p>
          <a:p>
            <a:r>
              <a:rPr lang="en-US" b="1" i="0" dirty="0"/>
              <a:t>ANIMATE</a:t>
            </a:r>
          </a:p>
          <a:p>
            <a:endParaRPr lang="en-US"/>
          </a:p>
          <a:p>
            <a:r>
              <a:rPr lang="en-US" b="0" i="0" dirty="0"/>
              <a:t>Five actions. Deliver, gather more, change, revisit upstream, refuse. Four minutes, in pairs, and you must commit to one.</a:t>
            </a:r>
          </a:p>
          <a:p>
            <a:r>
              <a:rPr lang="en-US" b="0" i="0" dirty="0"/>
              <a:t>While they work, listen for who has noticed the last sentence. The missing transaction limit is a containment hook — a cheap control that changes the decision without producing any new evidence at all. That is the Section 6 payoff and it is the best thing that can happen in this discussion.</a:t>
            </a:r>
          </a:p>
          <a:p>
            <a:r>
              <a:rPr lang="en-US" b="0" i="0" dirty="0"/>
              <a:t>Harvest one argument per action. Push each with Section 6's tools: what is the margin on the latency claim, really? What bounds the double-charge if we are wrong about it? What does the incident report actually establish — is one report evidence of a rare defect, or of an unknown rate?</a:t>
            </a:r>
          </a:p>
          <a:p>
            <a:r>
              <a:rPr lang="en-US" b="0" i="0" dirty="0"/>
              <a:t>Expect most of the room on GATHER MORE, several on CHANGE once they see the missing limit, a few arguing DELIVER behind a flag with a small population. REVISIT UPSTREAM is rare — if someone offers it, spend time there: it is the answer that says the specification or the architecture is the real problem.</a:t>
            </a:r>
          </a:p>
          <a:p>
            <a:r>
              <a:rPr lang="en-US" b="0" i="0" dirty="0"/>
              <a:t>Stop after one pass through the five. Say plainly that there is no answer key. The decision is not binary, and the skill is arguing from evidence, margin and containment rather than from habit.</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 minute — </a:t>
            </a:r>
            <a:r>
              <a:rPr lang="en-US" b="0" i="1" dirty="0"/>
              <a:t>Open on the question the whole lecture answers.</a:t>
            </a:r>
          </a:p>
          <a:p>
            <a:endParaRPr lang="en-US"/>
          </a:p>
          <a:p>
            <a:r>
              <a:rPr lang="en-US" b="0" i="0" dirty="0"/>
              <a:t>• The spine on screen — claim, evidence, judgment, deliver — is the shape of the whole lecture and of the closing Assurance Case slide.</a:t>
            </a:r>
          </a:p>
          <a:p>
            <a:r>
              <a:rPr lang="en-US" b="0" i="0" dirty="0"/>
              <a:t>• Frame it as the lecture where every earlier design decision finally meets evidence.</a:t>
            </a:r>
          </a:p>
          <a:p>
            <a:r>
              <a:rPr lang="en-US" b="0" i="0" dirty="0"/>
              <a:t>• Do not preview the six sections; the section dividers do that work as we reach them.</a:t>
            </a:r>
          </a:p>
          <a:p>
            <a:endParaRPr lang="en-US"/>
          </a:p>
          <a:p>
            <a:r>
              <a:rPr lang="en-US" b="0" i="0" dirty="0"/>
              <a:t>=====</a:t>
            </a:r>
          </a:p>
          <a:p>
            <a:endParaRPr lang="en-US"/>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We will assemble exactly that structure, from parts you acquire along the way, on the second-to-last slide.</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20 seconds — </a:t>
            </a:r>
            <a:r>
              <a:rPr lang="en-US" b="0" i="1" dirty="0"/>
              <a:t>Open Section 1: the stakes set the burden of evidence.</a:t>
            </a:r>
          </a:p>
          <a:p>
            <a:endParaRPr lang="en-US"/>
          </a:p>
          <a:p>
            <a:r>
              <a:rPr lang="en-US" b="0" i="0" dirty="0"/>
              <a:t>• Section dividers are orientation, not agenda. Say the question and move.</a:t>
            </a:r>
          </a:p>
          <a:p>
            <a:endParaRPr lang="en-US"/>
          </a:p>
          <a:p>
            <a:r>
              <a:rPr lang="en-US" b="0" i="0" dirty="0"/>
              <a:t>=====</a:t>
            </a:r>
          </a:p>
          <a:p>
            <a:endParaRPr lang="en-US"/>
          </a:p>
          <a:p>
            <a:r>
              <a:rPr lang="en-US" b="0" i="0" dirty="0"/>
              <a:t>First question: how much assurance should we demand before delivery? The answer is not a number, and it is not the same for every system.</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 minute — </a:t>
            </a:r>
            <a:r>
              <a:rPr lang="en-US" b="0" i="1" dirty="0"/>
              <a:t>Plant the Assurance Case early so the lecture has a destination.</a:t>
            </a:r>
          </a:p>
          <a:p>
            <a:endParaRPr lang="en-US"/>
          </a:p>
          <a:p>
            <a:r>
              <a:rPr lang="en-US" b="0" i="0" dirty="0"/>
              <a:t>• Name the term now; do not teach GSN or any notation. They need the idea, not the diagram language.</a:t>
            </a:r>
          </a:p>
          <a:p>
            <a:r>
              <a:rPr lang="en-US" b="0" i="0" dirty="0"/>
              <a:t>• The footer promise is real — we come back to this on slide 54. Make it explicitly.</a:t>
            </a:r>
          </a:p>
          <a:p>
            <a:endParaRPr lang="en-US"/>
          </a:p>
          <a:p>
            <a:r>
              <a:rPr lang="en-US" b="0" i="0" dirty="0"/>
              <a:t>=====</a:t>
            </a:r>
          </a:p>
          <a:p>
            <a:endParaRPr lang="en-US"/>
          </a:p>
          <a:p>
            <a:r>
              <a:rPr lang="en-US" b="0" i="0" dirty="0"/>
              <a:t>An Assurance Case is a structured argument connecting a claim you care about to the evidence that supports it. Claim at the top, evidence underneath, and in between the reasoning that says why this evidence bears on that claim.</a:t>
            </a:r>
          </a:p>
          <a:p>
            <a:r>
              <a:rPr lang="en-US" b="0" i="0" dirty="0"/>
              <a:t>You will not be asked to draw one in a particular notation. You will be asked to produce the thing it makes visible: which claims matter, what evidence bears on each, and whether the whole is enough to act on.</a:t>
            </a:r>
          </a:p>
          <a:p>
            <a:r>
              <a:rPr lang="en-US" b="0" i="0" dirty="0"/>
              <a:t>We will build one through this lecture, and look at it again at the end.</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 minute — </a:t>
            </a:r>
            <a:r>
              <a:rPr lang="en-US" b="0" i="1" dirty="0"/>
              <a:t>Provoke the intuition that confidence is not one setting.</a:t>
            </a:r>
          </a:p>
          <a:p>
            <a:endParaRPr lang="en-US"/>
          </a:p>
          <a:p>
            <a:r>
              <a:rPr lang="en-US" b="0" i="0" dirty="0"/>
              <a:t>• Ask the room, do not answer. Thirty seconds of hands is enough.</a:t>
            </a:r>
          </a:p>
          <a:p>
            <a:r>
              <a:rPr lang="en-US" b="0" i="0" dirty="0"/>
              <a:t>• Expect "100%" or "when the tests pass" — both are the misconception the next slides dismantle.</a:t>
            </a:r>
          </a:p>
          <a:p>
            <a:r>
              <a:rPr lang="en-US" b="0" i="0" dirty="0"/>
              <a:t>• Do not correct anyone yet. Slide 5 does the work.</a:t>
            </a:r>
          </a:p>
          <a:p>
            <a:endParaRPr lang="en-US"/>
          </a:p>
          <a:p>
            <a:r>
              <a:rPr lang="en-US" b="0" i="0" dirty="0"/>
              <a:t>=====</a:t>
            </a:r>
          </a:p>
          <a:p>
            <a:endParaRPr lang="en-US"/>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Confident that it does not crash, or confident that it never charges a customer twice? Those are different claims and they need different evidence.</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Turn "it depends" from a shrug into an engineering question.</a:t>
            </a:r>
          </a:p>
          <a:p>
            <a:endParaRPr lang="en-US"/>
          </a:p>
          <a:p>
            <a:r>
              <a:rPr lang="en-US" b="0" i="0" dirty="0"/>
              <a:t>• The move: "it depends" is the beginning of the answer. An engineer says what it depends ON, and how that changes the evidence required.</a:t>
            </a:r>
          </a:p>
          <a:p>
            <a:r>
              <a:rPr lang="en-US" b="0" i="0" dirty="0"/>
              <a:t>• Three exemplars, one axis: what does being wrong cost?</a:t>
            </a:r>
          </a:p>
          <a:p>
            <a:r>
              <a:rPr lang="en-US" b="0" i="0" dirty="0"/>
              <a:t>• Common misconception to name: that this is about how careful the team is. It is about what the system can do.</a:t>
            </a:r>
          </a:p>
          <a:p>
            <a:endParaRPr lang="en-US"/>
          </a:p>
          <a:p>
            <a:r>
              <a:rPr lang="en-US" b="0" i="0" dirty="0"/>
              <a:t>=====</a:t>
            </a:r>
          </a:p>
          <a:p>
            <a:endParaRPr lang="en-US"/>
          </a:p>
          <a:p>
            <a:r>
              <a:rPr lang="en-US" b="0" i="0" dirty="0"/>
              <a:t>"It depends" is where most people stop. It is where engineering starts.</a:t>
            </a:r>
          </a:p>
          <a:p>
            <a:r>
              <a:rPr lang="en-US" b="0" i="0" dirty="0"/>
              <a:t>Depends on what, exactly? If you can answer that, you can say how the evidence you seek should change. Three systems, all software, all written by competent people: a TODO app, a payroll system, an X-ray controller.</a:t>
            </a:r>
          </a:p>
          <a:p>
            <a:r>
              <a:rPr lang="en-US" b="0" i="0" dirty="0"/>
              <a:t>Nobody would validate those the same way — and the reason is not that one team is more careful. It is that being wrong does not cost the same.</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a:t>
            </a:r>
            <a:r>
              <a:rPr lang="en-US" b="0" i="1" dirty="0"/>
              <a:t>Establish severity and causal distance as the two axes of consequence.</a:t>
            </a:r>
          </a:p>
          <a:p>
            <a:endParaRPr lang="en-US"/>
          </a:p>
          <a:p>
            <a:r>
              <a:rPr lang="en-US" b="0" i="0" dirty="0"/>
              <a:t>• Two axes, not one: how severe the harm, and how directly the defect causes it.</a:t>
            </a:r>
          </a:p>
          <a:p>
            <a:r>
              <a:rPr lang="en-US" b="0" i="0" dirty="0"/>
              <a:t>• The qualifier matters — almost any defect connects to harm through SOME chain. A graphical glitch is not safety-critical because a frustrated player might drive badly.</a:t>
            </a:r>
          </a:p>
          <a:p>
            <a:r>
              <a:rPr lang="en-US" b="0" i="0" dirty="0"/>
              <a:t>• This is the criterion we return to in Section 6.</a:t>
            </a:r>
          </a:p>
          <a:p>
            <a:endParaRPr lang="en-US"/>
          </a:p>
          <a:p>
            <a:r>
              <a:rPr lang="en-US" b="0" i="0" dirty="0"/>
              <a:t>=====</a:t>
            </a:r>
          </a:p>
          <a:p>
            <a:endParaRPr lang="en-US"/>
          </a:p>
          <a:p>
            <a:r>
              <a:rPr lang="en-US" b="0" i="0" dirty="0"/>
              <a:t>Walk the three rows. A game draws a character wrong and annoys a player. A TODO app loses a task and destroys information somebody was relying on. An X-ray controller delivers the wrong dose and injures the person in front of it.</a:t>
            </a:r>
          </a:p>
          <a:p>
            <a:r>
              <a:rPr lang="en-US" b="0" i="0" dirty="0"/>
              <a:t>Two things are moving. Severity — how bad is the outcome. And causal distance — how many steps, and how much other machinery, sits between the defect and the harm.</a:t>
            </a:r>
          </a:p>
          <a:p>
            <a:r>
              <a:rPr lang="en-US" b="0" i="0" dirty="0"/>
              <a:t>Be careful with this argument. You can chain almost any defect to a catastrophe if you allow enough steps. That is not analysis, it is rhetoric. The graphical glitch is not safety-critical merely because frustrated players sometimes behave badly.</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20 seconds — </a:t>
            </a:r>
            <a:r>
              <a:rPr lang="en-US" b="0" i="1" dirty="0"/>
              <a:t>Open Section 2: where should evidence attach?</a:t>
            </a:r>
          </a:p>
          <a:p>
            <a:endParaRPr lang="en-US"/>
          </a:p>
          <a:p>
            <a:r>
              <a:rPr lang="en-US" b="0" i="0" dirty="0"/>
              <a:t>• The section's arc: claims come from the specification; scope is chosen so the claim can actually be established.</a:t>
            </a:r>
          </a:p>
          <a:p>
            <a:endParaRPr lang="en-US"/>
          </a:p>
          <a:p>
            <a:r>
              <a:rPr lang="en-US" b="0" i="0" dirty="0"/>
              <a:t>=====</a:t>
            </a:r>
          </a:p>
          <a:p>
            <a:endParaRPr lang="en-US"/>
          </a:p>
          <a:p>
            <a:r>
              <a:rPr lang="en-US" b="0" i="0" dirty="0"/>
              <a:t>We know the stakes set the burden. Now: where does evidence attach? We start from the specification and look for the scope that can establish the claim.</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20 seconds — </a:t>
            </a:r>
            <a:r>
              <a:rPr lang="en-US" b="0" i="1" dirty="0"/>
              <a:t>Open Section 3: four mechanisms for obtaining evidence.</a:t>
            </a:r>
          </a:p>
          <a:p>
            <a:endParaRPr lang="en-US"/>
          </a:p>
          <a:p>
            <a:r>
              <a:rPr lang="en-US" b="0" i="0" dirty="0"/>
              <a:t>• The hinge: Section 2 answered WHERE evidence attaches. Section 3 answers HOW you get it.</a:t>
            </a:r>
          </a:p>
          <a:p>
            <a:r>
              <a:rPr lang="en-US" b="0" i="0" dirty="0"/>
              <a:t>• Say explicitly that these are independent choices — it is the misconception this section exists to break.</a:t>
            </a:r>
          </a:p>
          <a:p>
            <a:endParaRPr lang="en-US"/>
          </a:p>
          <a:p>
            <a:r>
              <a:rPr lang="en-US" b="0" i="0" dirty="0"/>
              <a:t>=====</a:t>
            </a:r>
          </a:p>
          <a:p>
            <a:endParaRPr lang="en-US"/>
          </a:p>
          <a:p>
            <a:r>
              <a:rPr lang="en-US" b="0" i="0" dirty="0"/>
              <a:t>Section 2 gave us scope: where evidence must attach. It said nothing about how to obtain it.</a:t>
            </a:r>
          </a:p>
          <a:p>
            <a:r>
              <a:rPr lang="en-US" b="0" i="0" dirty="0"/>
              <a:t>Four ways engineers come to know things about software. And — this is the part to hold on to — the mechanism you use is independent of the scope you use it at.</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20 seconds — </a:t>
            </a:r>
            <a:r>
              <a:rPr lang="en-US" b="0" i="1" dirty="0"/>
              <a:t>Open Section 5: strength is not volume.</a:t>
            </a:r>
          </a:p>
          <a:p>
            <a:endParaRPr lang="en-US"/>
          </a:p>
          <a:p>
            <a:r>
              <a:rPr lang="en-US" b="0" i="0" dirty="0"/>
              <a:t>• The whole section in three words: volume is not strength.</a:t>
            </a:r>
          </a:p>
          <a:p>
            <a:r>
              <a:rPr lang="en-US" b="0" i="0" dirty="0"/>
              <a:t>• Preview the shape: a measurement means nothing alone; strength has dimensions; two of them get a slide each.</a:t>
            </a:r>
          </a:p>
          <a:p>
            <a:endParaRPr lang="en-US"/>
          </a:p>
          <a:p>
            <a:r>
              <a:rPr lang="en-US" b="0" i="0" dirty="0"/>
              <a:t>=====</a:t>
            </a:r>
          </a:p>
          <a:p>
            <a:endParaRPr lang="en-US"/>
          </a:p>
          <a:p>
            <a:r>
              <a:rPr lang="en-US" b="0" i="0" dirty="0"/>
              <a:t>You can now obtain evidence at the right scope, by an appropriate mechanism, using a strategy suited to what you know. None of that tells you whether the evidence you got is any good.</a:t>
            </a:r>
          </a:p>
          <a:p>
            <a:r>
              <a:rPr lang="en-US" b="0" i="0" dirty="0"/>
              <a:t>Volume is not strength. That is the section.</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A measurement only becomes evidence through a chain that gives it meaning.</a:t>
            </a:r>
          </a:p>
          <a:p>
            <a:endParaRPr lang="en-US"/>
          </a:p>
          <a:p>
            <a:r>
              <a:rPr lang="en-US" b="0" i="0" dirty="0"/>
              <a:t>• Build the chain one link at a time; the point is that every link is required.</a:t>
            </a:r>
          </a:p>
          <a:p>
            <a:r>
              <a:rPr lang="en-US" b="0" i="0" dirty="0"/>
              <a:t>• The number 420 ms is meaningless on its own — that is the demonstration, not a rhetorical flourish.</a:t>
            </a:r>
          </a:p>
          <a:p>
            <a:r>
              <a:rPr lang="en-US" b="0" i="0" dirty="0"/>
              <a:t>• Land the last link hard: evidence does not interpret itself. Judgment is a separate act and it is a human one.</a:t>
            </a:r>
          </a:p>
          <a:p>
            <a:r>
              <a:rPr lang="en-US" b="0" i="0" dirty="0"/>
              <a:t>• The footer is the reusable idea: a mismatch is information — a defect, a wrong model, OR a wrong metric.</a:t>
            </a:r>
          </a:p>
          <a:p>
            <a:endParaRPr lang="en-US"/>
          </a:p>
          <a:p>
            <a:r>
              <a:rPr lang="en-US" b="0" i="0" dirty="0"/>
              <a:t>=====</a:t>
            </a:r>
          </a:p>
          <a:p>
            <a:endParaRPr lang="en-US"/>
          </a:p>
          <a:p>
            <a:r>
              <a:rPr lang="en-US" b="0" i="0" dirty="0"/>
              <a:t>Six links, and every one of them is load-bearing.</a:t>
            </a:r>
          </a:p>
          <a:p>
            <a:endParaRPr lang="en-US"/>
          </a:p>
          <a:p>
            <a:r>
              <a:rPr lang="en-US" b="1" i="0" dirty="0"/>
              <a:t>ANIMATE</a:t>
            </a:r>
          </a:p>
          <a:p>
            <a:endParaRPr lang="en-US"/>
          </a:p>
          <a:p>
            <a:r>
              <a:rPr lang="en-US" b="0" i="0" dirty="0"/>
              <a:t>A model — of the system, of the workload, of the environment.</a:t>
            </a:r>
          </a:p>
          <a:p>
            <a:endParaRPr lang="en-US"/>
          </a:p>
          <a:p>
            <a:r>
              <a:rPr lang="en-US" b="1" i="0" dirty="0"/>
              <a:t>ANIMATE</a:t>
            </a:r>
          </a:p>
          <a:p>
            <a:endParaRPr lang="en-US"/>
          </a:p>
          <a:p>
            <a:r>
              <a:rPr lang="en-US" b="0" i="0" dirty="0"/>
              <a:t>It represents a property you care about.</a:t>
            </a:r>
          </a:p>
          <a:p>
            <a:endParaRPr lang="en-US"/>
          </a:p>
          <a:p>
            <a:r>
              <a:rPr lang="en-US" b="1" i="0" dirty="0"/>
              <a:t>ANIMATE</a:t>
            </a:r>
          </a:p>
          <a:p>
            <a:endParaRPr lang="en-US"/>
          </a:p>
          <a:p>
            <a:r>
              <a:rPr lang="en-US" b="0" i="0" dirty="0"/>
              <a:t>The property is assessed by a metric.</a:t>
            </a:r>
          </a:p>
          <a:p>
            <a:endParaRPr lang="en-US"/>
          </a:p>
          <a:p>
            <a:r>
              <a:rPr lang="en-US" b="1" i="0" dirty="0"/>
              <a:t>ANIMATE</a:t>
            </a:r>
          </a:p>
          <a:p>
            <a:endParaRPr lang="en-US"/>
          </a:p>
          <a:p>
            <a:r>
              <a:rPr lang="en-US" b="0" i="0" dirty="0"/>
              <a:t>The metric, applied under stated conditions, yields a measurement.</a:t>
            </a:r>
          </a:p>
          <a:p>
            <a:endParaRPr lang="en-US"/>
          </a:p>
          <a:p>
            <a:r>
              <a:rPr lang="en-US" b="1" i="0" dirty="0"/>
              <a:t>ANIMATE</a:t>
            </a:r>
          </a:p>
          <a:p>
            <a:endParaRPr lang="en-US"/>
          </a:p>
          <a:p>
            <a:r>
              <a:rPr lang="en-US" b="0" i="0" dirty="0"/>
              <a:t>The measurement bears on a claim — and only then is it evidence.</a:t>
            </a:r>
          </a:p>
          <a:p>
            <a:endParaRPr lang="en-US"/>
          </a:p>
          <a:p>
            <a:r>
              <a:rPr lang="en-US" b="1" i="0" dirty="0"/>
              <a:t>ANIMATE</a:t>
            </a:r>
          </a:p>
          <a:p>
            <a:endParaRPr lang="en-US"/>
          </a:p>
          <a:p>
            <a:r>
              <a:rPr lang="en-US" b="0" i="0" dirty="0"/>
              <a:t>And evidence is interpreted. Judgment is a separate act, and it does not happen automatically.</a:t>
            </a:r>
          </a:p>
          <a:p>
            <a:endParaRPr lang="en-US"/>
          </a:p>
          <a:p>
            <a:r>
              <a:rPr lang="en-US" b="1" i="0" dirty="0"/>
              <a:t>ANIMATE</a:t>
            </a:r>
          </a:p>
          <a:p>
            <a:endParaRPr lang="en-US"/>
          </a:p>
          <a:p>
            <a:r>
              <a:rPr lang="en-US" b="0" i="0" dirty="0"/>
              <a:t>Concretely: a model predicts a request path stays under 500 milliseconds; the metric is p99 latency under workload W; the measurement is 420. On its own, "420" means nothing. It means something only through the property, the metric, and the conditions.</a:t>
            </a:r>
          </a:p>
          <a:p>
            <a:r>
              <a:rPr lang="en-US" b="0" i="0" dirty="0"/>
              <a:t>And when the measurement and the model disagree, that is information — but be careful what kind. It might be a defect. It might be a wrong model. It might be the wrong metric. Those need different responses.</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Independence, not count, is what makes a body of evidence strong.</a:t>
            </a:r>
          </a:p>
          <a:p>
            <a:endParaRPr lang="en-US"/>
          </a:p>
          <a:p>
            <a:r>
              <a:rPr lang="en-US" b="0" i="0" dirty="0"/>
              <a:t>• This is the dimension the section's MAGE Moment turns on — set it up cleanly here.</a:t>
            </a:r>
          </a:p>
          <a:p>
            <a:r>
              <a:rPr lang="en-US" b="0" i="0" dirty="0"/>
              <a:t>• The arithmetic image: a thousand tests from one mistaken interpretation are one reason, repeated.</a:t>
            </a:r>
          </a:p>
          <a:p>
            <a:r>
              <a:rPr lang="en-US" b="0" i="0" dirty="0"/>
              <a:t>• The practical question to hand them: what assumptions does this body of evidence inherit?</a:t>
            </a:r>
          </a:p>
          <a:p>
            <a:r>
              <a:rPr lang="en-US" b="0" i="0" dirty="0"/>
              <a:t>• Triangulation is the positive form — several kinds of evidence whose failure modes are uncorrelated.</a:t>
            </a:r>
          </a:p>
          <a:p>
            <a:endParaRPr lang="en-US"/>
          </a:p>
          <a:p>
            <a:r>
              <a:rPr lang="en-US" b="0" i="0" dirty="0"/>
              <a:t>=====</a:t>
            </a:r>
          </a:p>
          <a:p>
            <a:endParaRPr lang="en-US"/>
          </a:p>
          <a:p>
            <a:r>
              <a:rPr lang="en-US" b="0" i="0" dirty="0"/>
              <a:t>Evidence multiplies easily. Independence does not.</a:t>
            </a:r>
          </a:p>
          <a:p>
            <a:endParaRPr lang="en-US"/>
          </a:p>
          <a:p>
            <a:r>
              <a:rPr lang="en-US" b="1" i="0" dirty="0"/>
              <a:t>ANIMATE</a:t>
            </a:r>
          </a:p>
          <a:p>
            <a:endParaRPr lang="en-US"/>
          </a:p>
          <a:p>
            <a:r>
              <a:rPr lang="en-US" b="0" i="0" dirty="0"/>
              <a:t>A thousand tests written from one mistaken interpretation of the specification are not a thousand reasons to believe anything. They are one reason, repeated a thousand times. If the interpretation is wrong, all thousand are wrong together, and they all pass.</a:t>
            </a:r>
          </a:p>
          <a:p>
            <a:endParaRPr lang="en-US"/>
          </a:p>
          <a:p>
            <a:r>
              <a:rPr lang="en-US" b="1" i="0" dirty="0"/>
              <a:t>ANIMATE</a:t>
            </a:r>
          </a:p>
          <a:p>
            <a:endParaRPr lang="en-US"/>
          </a:p>
          <a:p>
            <a:r>
              <a:rPr lang="en-US" b="0" i="0" dirty="0"/>
              <a:t>Independent evidence — resting on different assumptions — reduces shared error, because the assumptions do not fail at the same time.</a:t>
            </a:r>
          </a:p>
          <a:p>
            <a:endParaRPr lang="en-US"/>
          </a:p>
          <a:p>
            <a:r>
              <a:rPr lang="en-US" b="1" i="0" dirty="0"/>
              <a:t>ANIMATE</a:t>
            </a:r>
          </a:p>
          <a:p>
            <a:endParaRPr lang="en-US"/>
          </a:p>
          <a:p>
            <a:r>
              <a:rPr lang="en-US" b="0" i="0" dirty="0"/>
              <a:t>So the question to ask of every body of evidence: what assumptions does it inherit? Where did they come from? Who else's evidence rests on the same ones?</a:t>
            </a:r>
          </a:p>
          <a:p>
            <a:endParaRPr lang="en-US"/>
          </a:p>
          <a:p>
            <a:r>
              <a:rPr lang="en-US" b="1" i="0" dirty="0"/>
              <a:t>ANIMATE</a:t>
            </a:r>
          </a:p>
          <a:p>
            <a:endParaRPr lang="en-US"/>
          </a:p>
          <a:p>
            <a:r>
              <a:rPr lang="en-US" b="0" i="0" dirty="0"/>
              <a:t>Strong validation triangulates. Several kinds of evidence whose failure modes are uncorrelated: a test suite and a model check and a review, resting on different readings, catching each other's mistakes.</a:t>
            </a:r>
          </a:p>
          <a:p>
            <a:r>
              <a:rPr lang="en-US" b="0" i="0" dirty="0"/>
              <a:t>Strength grows with the diversity of the assumptions, not with the count.</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20 seconds — </a:t>
            </a:r>
            <a:r>
              <a:rPr lang="en-US" b="0" i="1" dirty="0"/>
              <a:t>Open Section 6: when is the evidence enough?</a:t>
            </a:r>
          </a:p>
          <a:p>
            <a:endParaRPr lang="en-US"/>
          </a:p>
          <a:p>
            <a:r>
              <a:rPr lang="en-US" b="0" i="0" dirty="0"/>
              <a:t>• The final section is the judgment itself: margin, containment, residual uncertainty, against what is at stake.</a:t>
            </a:r>
          </a:p>
          <a:p>
            <a:r>
              <a:rPr lang="en-US" b="0" i="0" dirty="0"/>
              <a:t>• Close the loop opened in Section 1 — the stakes set the burden, and now we spend it.</a:t>
            </a:r>
          </a:p>
          <a:p>
            <a:endParaRPr lang="en-US"/>
          </a:p>
          <a:p>
            <a:r>
              <a:rPr lang="en-US" b="0" i="0" dirty="0"/>
              <a:t>=====</a:t>
            </a:r>
          </a:p>
          <a:p>
            <a:endParaRPr lang="en-US"/>
          </a:p>
          <a:p>
            <a:r>
              <a:rPr lang="en-US" b="0" i="0" dirty="0"/>
              <a:t>Section 1 said the stakes set the burden of evidence. Sections 2 through 5 told us how to obtain evidence and how to judge its strength. This section spends it: is what we have enough?</a:t>
            </a:r>
          </a:p>
          <a:p>
            <a:r>
              <a:rPr lang="en-US" b="0" i="0" dirty="0"/>
              <a:t>Three tools — margin, containment, and residual uncertainty — judged against what is at stake.</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a:t>
            </a:r>
            <a:r>
              <a:rPr lang="en-US" b="0" i="1" dirty="0"/>
              <a:t>"Enough" is relative to consequence, and the decision can be reopened.</a:t>
            </a:r>
          </a:p>
          <a:p>
            <a:endParaRPr lang="en-US"/>
          </a:p>
          <a:p>
            <a:r>
              <a:rPr lang="en-US" b="0" i="0" dirty="0"/>
              <a:t>• Three moves: enough is judged against consequence; some uncertainty is only resolvable after delivery; operational evidence can reopen the decision.</a:t>
            </a:r>
          </a:p>
          <a:p>
            <a:r>
              <a:rPr lang="en-US" b="0" i="0" dirty="0"/>
              <a:t>• Callback to slide 7 — delivery can be part of learning, but only where the consequence is recoverable.</a:t>
            </a:r>
          </a:p>
          <a:p>
            <a:r>
              <a:rPr lang="en-US" b="0" i="0" dirty="0"/>
              <a:t>• The third bullet is the one people miss: a justification made under an old state of knowledge cannot simply be reused.</a:t>
            </a:r>
          </a:p>
          <a:p>
            <a:r>
              <a:rPr lang="en-US" b="0" i="0" dirty="0"/>
              <a:t>• Land the footer: validation does not end at first delivery.</a:t>
            </a:r>
          </a:p>
          <a:p>
            <a:endParaRPr lang="en-US"/>
          </a:p>
          <a:p>
            <a:r>
              <a:rPr lang="en-US" b="0" i="0" dirty="0"/>
              <a:t>=====</a:t>
            </a:r>
          </a:p>
          <a:p>
            <a:endParaRPr lang="en-US"/>
          </a:p>
          <a:p>
            <a:r>
              <a:rPr lang="en-US" b="0" i="0" dirty="0"/>
              <a:t>First: evidence is judged against consequence. The same residual uncertainty can justify delivery for a scratchpad app and forbid it for a medical device. There is no absolute threshold, and anyone offering you one is selling something.</a:t>
            </a:r>
          </a:p>
          <a:p>
            <a:r>
              <a:rPr lang="en-US" b="0" i="0" dirty="0"/>
              <a:t>Second: some uncertainty is only resolved AFTER delivery. Use in the real environment generates knowledge that would have been expensive — sometimes impossible — to obtain beforehand. That is the honest version of "ship and learn," and Section 1 gave you its limit: it holds where the consequence is recoverable.</a:t>
            </a:r>
          </a:p>
          <a:p>
            <a:r>
              <a:rPr lang="en-US" b="0" i="0" dirty="0"/>
              <a:t>Third, and this is the one people skip: operational evidence can reopen the decision. A justification made under an old state of knowledge cannot simply be reused under a new one. When the incident report arrives, the assurance case is not still valid just because it was signed.</a:t>
            </a:r>
          </a:p>
          <a:p>
            <a:r>
              <a:rPr lang="en-US" b="0" i="0" dirty="0"/>
              <a:t>Validation does not end at first delivery. Evidence keeps arriving.</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a:t>
            </a:r>
            <a:r>
              <a:rPr lang="en-US" b="0" i="1" dirty="0"/>
              <a:t>Assemble the Assurance Case from concepts acquired through the lecture.</a:t>
            </a:r>
          </a:p>
          <a:p>
            <a:endParaRPr lang="en-US"/>
          </a:p>
          <a:p>
            <a:r>
              <a:rPr lang="en-US" b="0" i="0" dirty="0"/>
              <a:t>• The synthesis. Build it piece by piece and NAME the section each piece came from — that is the whole point of the slide.</a:t>
            </a:r>
          </a:p>
          <a:p>
            <a:r>
              <a:rPr lang="en-US" b="0" i="0" dirty="0"/>
              <a:t>• Claim from Section 1. Sub-claims from the specification, Section 2. Evidence from Sections 3 and 4. Judgment from Sections 5 and 6.</a:t>
            </a:r>
          </a:p>
          <a:p>
            <a:r>
              <a:rPr lang="en-US" b="0" i="0" dirty="0"/>
              <a:t>• Close the loop opened on slide 3: we promised to build one, and this is it.</a:t>
            </a:r>
          </a:p>
          <a:p>
            <a:r>
              <a:rPr lang="en-US" b="0" i="0" dirty="0"/>
              <a:t>• Do not teach a notation. The structure is the content.</a:t>
            </a:r>
          </a:p>
          <a:p>
            <a:endParaRPr lang="en-US"/>
          </a:p>
          <a:p>
            <a:r>
              <a:rPr lang="en-US" b="0" i="0" dirty="0"/>
              <a:t>=====</a:t>
            </a:r>
          </a:p>
          <a:p>
            <a:endParaRPr lang="en-US"/>
          </a:p>
          <a:p>
            <a:r>
              <a:rPr lang="en-US" b="0" i="0" dirty="0"/>
              <a:t>Slide 3 promised we would build one of these. Here it is, and every piece in it is something you now have.</a:t>
            </a:r>
          </a:p>
          <a:p>
            <a:endParaRPr lang="en-US"/>
          </a:p>
          <a:p>
            <a:r>
              <a:rPr lang="en-US" b="1" i="0" dirty="0"/>
              <a:t>ANIMATE</a:t>
            </a:r>
          </a:p>
          <a:p>
            <a:endParaRPr lang="en-US"/>
          </a:p>
          <a:p>
            <a:r>
              <a:rPr lang="en-US" b="0" i="0" dirty="0"/>
              <a:t>The claim: ready to deliver. Section 1 — a claim about action under consequence, not about correctness.</a:t>
            </a:r>
          </a:p>
          <a:p>
            <a:endParaRPr lang="en-US"/>
          </a:p>
          <a:p>
            <a:r>
              <a:rPr lang="en-US" b="1" i="0" dirty="0"/>
              <a:t>ANIMATE</a:t>
            </a:r>
          </a:p>
          <a:p>
            <a:endParaRPr lang="en-US"/>
          </a:p>
          <a:p>
            <a:r>
              <a:rPr lang="en-US" b="0" i="0" dirty="0"/>
              <a:t>The sub-claims come from the specification, not from us: payment charged at most once, p99 latency under 500 milliseconds. Section 2 — validation inherits its claims.</a:t>
            </a:r>
          </a:p>
          <a:p>
            <a:endParaRPr lang="en-US"/>
          </a:p>
          <a:p>
            <a:r>
              <a:rPr lang="en-US" b="1" i="0" dirty="0"/>
              <a:t>ANIMATE</a:t>
            </a:r>
          </a:p>
          <a:p>
            <a:endParaRPr lang="en-US"/>
          </a:p>
          <a:p>
            <a:r>
              <a:rPr lang="en-US" b="0" i="0" dirty="0"/>
              <a:t>The evidence. Property tests and model checking support the charging claim — Section 3's mechanisms, Section 4's strategies. A load model and a measured result support the latency claim.</a:t>
            </a:r>
          </a:p>
          <a:p>
            <a:endParaRPr lang="en-US"/>
          </a:p>
          <a:p>
            <a:r>
              <a:rPr lang="en-US" b="1" i="0" dirty="0"/>
              <a:t>ANIMATE</a:t>
            </a:r>
          </a:p>
          <a:p>
            <a:endParaRPr lang="en-US"/>
          </a:p>
          <a:p>
            <a:r>
              <a:rPr lang="en-US" b="0" i="0" dirty="0"/>
              <a:t>And then judgment, which does not happen automatically. Section 5 asks how strong this evidence is — is it representative, would it have detected a fault, are these two lines independent or do they share an interpretation? Section 6 asks whether it is enough given what is at stake, what margin the 500-millisecond claim has, and what bounds the consequence if we are wrong.</a:t>
            </a:r>
          </a:p>
          <a:p>
            <a:endParaRPr lang="en-US"/>
          </a:p>
          <a:p>
            <a:r>
              <a:rPr lang="en-US" b="1" i="0" dirty="0"/>
              <a:t>ANIMATE</a:t>
            </a:r>
          </a:p>
          <a:p>
            <a:endParaRPr lang="en-US"/>
          </a:p>
          <a:p>
            <a:r>
              <a:rPr lang="en-US" b="0" i="0" dirty="0"/>
              <a:t>Deliver. And now the structure is inspectable: someone else can look at this and disagree with a specific link, rather than with a vibe.</a:t>
            </a:r>
          </a:p>
          <a:p>
            <a:r>
              <a:rPr lang="en-US" b="0" i="0" dirty="0"/>
              <a:t>That is what an Assurance Case buys. Not certainty — an argument somebody can audit. We began by asking what would justify delivering this system. This is the answer.</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 minute — </a:t>
            </a:r>
            <a:r>
              <a:rPr lang="en-US" b="0" i="1" dirty="0"/>
              <a:t>Leave them with five reusable questions.</a:t>
            </a:r>
          </a:p>
          <a:p>
            <a:endParaRPr lang="en-US"/>
          </a:p>
          <a:p>
            <a:r>
              <a:rPr lang="en-US" b="0" i="0" dirty="0"/>
              <a:t>• Five questions, one per section. Read them as a procedure they can run on any system.</a:t>
            </a:r>
          </a:p>
          <a:p>
            <a:r>
              <a:rPr lang="en-US" b="0" i="0" dirty="0"/>
              <a:t>• Do not summarize the lecture again — the questions ARE the summary.</a:t>
            </a:r>
          </a:p>
          <a:p>
            <a:r>
              <a:rPr lang="en-US" b="0" i="0" dirty="0"/>
              <a:t>• Last line: validation turns evidence into engineering judgment. Stop there.</a:t>
            </a:r>
          </a:p>
          <a:p>
            <a:endParaRPr lang="en-US"/>
          </a:p>
          <a:p>
            <a:r>
              <a:rPr lang="en-US" b="0" i="0" dirty="0"/>
              <a:t>=====</a:t>
            </a:r>
          </a:p>
          <a:p>
            <a:endParaRPr lang="en-US"/>
          </a:p>
          <a:p>
            <a:r>
              <a:rPr lang="en-US" b="0" i="0" dirty="0"/>
              <a:t>Five questions, and they are the lecture.</a:t>
            </a:r>
          </a:p>
          <a:p>
            <a:r>
              <a:rPr lang="en-US" b="0" i="0" dirty="0"/>
              <a:t>What is at stake? What must be true? What evidence bears on it? How strong is that evidence? Is it enough to act?</a:t>
            </a:r>
          </a:p>
          <a:p>
            <a:r>
              <a:rPr lang="en-US" b="0" i="0" dirty="0"/>
              <a:t>You can run that on anything — a service you are shipping next week, a library you are about to depend on, a model somebody wants to put in front of customers. The questions do not change; the answers do, and they change with the consequence.</a:t>
            </a:r>
          </a:p>
          <a:p>
            <a:r>
              <a:rPr lang="en-US" b="0" i="0" dirty="0"/>
              <a:t>Validation turns evidence into engineering judgment. That is the job.</a:t>
            </a:r>
          </a:p>
        </p:txBody>
      </p:sp>
      <p:sp>
        <p:nvSpPr>
          <p:cNvPr id="4" name="Slide Number Placeholder 3"/>
          <p:cNvSpPr>
            <a:spLocks noGrp="1"/>
          </p:cNvSpPr>
          <p:nvPr>
            <p:ph type="sldNum" idx="5" sz="quarter"/>
          </p:nvPr>
        </p:nvSpPr>
        <p:spPr/>
        <p:txBody>
          <a:bodyPr/>
          <a:lstStyle/>
          <a:p>
            <a:fld id="{A1B2C3D4-0000-4000-8000-00000000FEED}" type="slidenum">
              <a:rPr lang="en-US" smtClean="0"/>
              <a:t>1</a:t>
            </a:fld>
            <a:endParaRPr 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10" Type="http://schemas.openxmlformats.org/officeDocument/2006/relationships/image" Target="../media/image4.png"/><Relationship Id="rId11" Type="http://schemas.openxmlformats.org/officeDocument/2006/relationships/image" Target="../media/image5.png"/></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4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1500" b="1" i="0" dirty="0">
                <a:solidFill>
                  <a:srgbClr val="8E6F3E"/>
                </a:solidFill>
              </a:rPr>
              <a:t>EVERY PRIOR DECISION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DELIVER</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1700" b="0" i="1" dirty="0">
                <a:solidFill>
                  <a:srgbClr val="555960"/>
                </a:solidFill>
              </a:rPr>
              <a:t>Design produced a realization. Validation asks whether the evidence is enough to deliver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What is at stake?</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T100"/>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02" name="T102"/>
          <p:cNvSpPr txBox="1"/>
          <p:nvPr/>
        </p:nvSpPr>
        <p:spPr>
          <a:xfrm>
            <a:off x="685800" y="3886200"/>
            <a:ext cx="7772400" cy="1100000"/>
          </a:xfrm>
          <a:prstGeom prst="rect">
            <a:avLst/>
          </a:prstGeom>
          <a:noFill/>
          <a:ln>
            <a:noFill/>
          </a:ln>
        </p:spPr>
        <p:txBody>
          <a:bodyPr wrap="square" lIns="0" tIns="0" rIns="0" bIns="0" anchor="t"/>
          <a:lstStyle/>
          <a:p>
            <a:pPr algn="ctr">
              <a:buNone/>
            </a:pPr>
            <a:r>
              <a:rPr lang="en-US" sz="2200" b="0" i="1" dirty="0">
                <a:solidFill>
                  <a:srgbClr val="555960"/>
                </a:solidFill>
              </a:rPr>
              <a:t>How much assurance should we demand before delivery?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E100"/>
          <p:cNvSpPr/>
          <p:nvPr/>
        </p:nvSpPr>
        <p:spPr>
          <a:xfrm>
            <a:off x="2122000" y="1120000"/>
            <a:ext cx="4900000" cy="9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ASSURANCE CASE</a:t>
            </a:r>
          </a:p>
          <a:p>
            <a:pPr algn="ctr">
              <a:spcBef>
                <a:spcPts val="120"/>
              </a:spcBef>
              <a:buNone/>
            </a:pPr>
            <a:r>
              <a:rPr lang="en-US" sz="1500" b="0" i="1" dirty="0">
                <a:solidFill>
                  <a:srgbClr val="57534E"/>
                </a:solidFill>
              </a:rPr>
              <a:t>a structured argument connecting consequential claims to evidence</a:t>
            </a:r>
          </a:p>
        </p:txBody>
      </p:sp>
      <p:sp>
        <p:nvSpPr>
          <p:cNvPr id="101" name="B101"/>
          <p:cNvSpPr/>
          <p:nvPr/>
        </p:nvSpPr>
        <p:spPr>
          <a:xfrm>
            <a:off x="3372000" y="2360000"/>
            <a:ext cx="2400000" cy="56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CLAIM</a:t>
            </a:r>
          </a:p>
        </p:txBody>
      </p:sp>
      <p:cxnSp>
        <p:nvCxnSpPr>
          <p:cNvPr id="102" name="C102"/>
          <p:cNvCxnSpPr/>
          <p:nvPr/>
        </p:nvCxnSpPr>
        <p:spPr>
          <a:xfrm>
            <a:off x="4572000" y="2960000"/>
            <a:ext cx="0" cy="620000"/>
          </a:xfrm>
          <a:prstGeom prst="straightConnector1">
            <a:avLst/>
          </a:prstGeom>
          <a:ln w="38100">
            <a:solidFill>
              <a:srgbClr val="8E6F3E"/>
            </a:solidFill>
            <a:tailEnd type="triangle" w="med" len="med"/>
          </a:ln>
        </p:spPr>
      </p:cxnSp>
      <p:sp>
        <p:nvSpPr>
          <p:cNvPr id="103" name="T103"/>
          <p:cNvSpPr txBox="1"/>
          <p:nvPr/>
        </p:nvSpPr>
        <p:spPr>
          <a:xfrm>
            <a:off x="4700000" y="3060000"/>
            <a:ext cx="3200000" cy="420000"/>
          </a:xfrm>
          <a:prstGeom prst="rect">
            <a:avLst/>
          </a:prstGeom>
          <a:noFill/>
          <a:ln>
            <a:noFill/>
          </a:ln>
        </p:spPr>
        <p:txBody>
          <a:bodyPr wrap="square" lIns="0" tIns="0" rIns="0" bIns="0" anchor="t"/>
          <a:lstStyle/>
          <a:p>
            <a:pPr algn="l">
              <a:buNone/>
            </a:pPr>
            <a:r>
              <a:rPr lang="en-US" b="0" i="1" dirty="0">
                <a:solidFill>
                  <a:srgbClr val="555960"/>
                </a:solidFill>
              </a:rPr>
              <a:t>why should we believe it?</a:t>
            </a:r>
          </a:p>
        </p:txBody>
      </p:sp>
      <p:sp>
        <p:nvSpPr>
          <p:cNvPr id="104" name="P104"/>
          <p:cNvSpPr/>
          <p:nvPr/>
        </p:nvSpPr>
        <p:spPr>
          <a:xfrm>
            <a:off x="3372000" y="3660000"/>
            <a:ext cx="2400000" cy="6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000000"/>
                </a:solidFill>
              </a:rPr>
              <a:t>EVIDENCE</a:t>
            </a:r>
          </a:p>
        </p:txBody>
      </p:sp>
      <p:sp>
        <p:nvSpPr>
          <p:cNvPr id="105" name="T105"/>
          <p:cNvSpPr txBox="1"/>
          <p:nvPr/>
        </p:nvSpPr>
        <p:spPr>
          <a:xfrm>
            <a:off x="514350" y="4502160"/>
            <a:ext cx="8001000" cy="900000"/>
          </a:xfrm>
          <a:prstGeom prst="rect">
            <a:avLst/>
          </a:prstGeom>
          <a:noFill/>
          <a:ln>
            <a:noFill/>
          </a:ln>
        </p:spPr>
        <p:txBody>
          <a:bodyPr wrap="square" lIns="0" tIns="0" rIns="0" bIns="0" anchor="ctr"/>
          <a:lstStyle/>
          <a:p>
            <a:pPr algn="ctr">
              <a:buNone/>
            </a:pPr>
            <a:r>
              <a:rPr lang="en-US" sz="2000" b="0" i="1" dirty="0">
                <a:solidFill>
                  <a:srgbClr val="555960"/>
                </a:solidFill>
              </a:rPr>
              <a:t>Validation is the discipline of building the appropriate argument for the claim</a:t>
            </a:r>
          </a:p>
        </p:txBody>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We will build one Assurance Case through this lecture.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T100"/>
          <p:cNvSpPr txBox="1"/>
          <p:nvPr/>
        </p:nvSpPr>
        <p:spPr>
          <a:xfrm>
            <a:off x="408948" y="3036911"/>
            <a:ext cx="8458200" cy="900000"/>
          </a:xfrm>
          <a:prstGeom prst="rect">
            <a:avLst/>
          </a:prstGeom>
          <a:noFill/>
          <a:ln>
            <a:noFill/>
          </a:ln>
        </p:spPr>
        <p:txBody>
          <a:bodyPr wrap="square" lIns="0" tIns="0" rIns="0" bIns="0" anchor="t"/>
          <a:lstStyle/>
          <a:p>
            <a:pPr algn="ctr">
              <a:buNone/>
            </a:pPr>
            <a:r>
              <a:rPr lang="en-US" sz="2800" b="0" i="0" dirty="0">
                <a:solidFill>
                  <a:srgbClr val="000000"/>
                </a:solidFill>
              </a:rPr>
              <a:t>How confident must you be before </a:t>
            </a:r>
            <a:r>
              <a:rPr lang="en-US" sz="2800" dirty="0">
                <a:solidFill>
                  <a:srgbClr val="000000"/>
                </a:solidFill>
              </a:rPr>
              <a:t>shipping a product</a:t>
            </a:r>
            <a:r>
              <a:rPr lang="en-US" sz="2800" b="0" i="0" dirty="0">
                <a:solidFill>
                  <a:srgbClr val="000000"/>
                </a:solidFill>
              </a:rPr>
              <a:t>?</a:t>
            </a:r>
          </a:p>
          <a:p>
            <a:pPr algn="ctr">
              <a:buNone/>
            </a:pPr>
            <a:r>
              <a:rPr lang="en-US" sz="2800" dirty="0">
                <a:solidFill>
                  <a:srgbClr val="000000"/>
                </a:solidFill>
              </a:rPr>
              <a:t>What kind of confidence is needed?</a:t>
            </a:r>
            <a:endParaRPr lang="en-US" sz="2800" b="0" i="0" dirty="0">
              <a:solidFill>
                <a:srgbClr val="000000"/>
              </a:solidFill>
            </a:endParaRPr>
          </a:p>
        </p:txBody>
      </p:sp>
      <p:sp>
        <p:nvSpPr>
          <p:cNvPr id="101" name="T101"/>
          <p:cNvSpPr txBox="1"/>
          <p:nvPr/>
        </p:nvSpPr>
        <p:spPr>
          <a:xfrm>
            <a:off x="547374" y="4092529"/>
            <a:ext cx="8181348" cy="500000"/>
          </a:xfrm>
          <a:prstGeom prst="rect">
            <a:avLst/>
          </a:prstGeom>
          <a:noFill/>
          <a:ln>
            <a:noFill/>
          </a:ln>
        </p:spPr>
        <p:txBody>
          <a:bodyPr wrap="square" lIns="0" tIns="0" rIns="0" bIns="0" anchor="t"/>
          <a:lstStyle/>
          <a:p>
            <a:pPr algn="ctr">
              <a:buNone/>
            </a:pPr>
            <a:r>
              <a:rPr lang="en-US" sz="2000" b="0" i="1" dirty="0">
                <a:solidFill>
                  <a:srgbClr val="555960"/>
                </a:solidFill>
              </a:rPr>
              <a:t>A TODO app, a payroll system, and a radiation-control system are all software.</a:t>
            </a:r>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2"/>
          <a:stretch>
            <a:fillRect/>
          </a:stretch>
        </p:blipFill>
        <p:spPr>
          <a:xfrm>
            <a:off x="2476500" y="1308972"/>
            <a:ext cx="4191000" cy="1206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“It depends” is the beginning of the answer, not the end</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0" name="P100"/>
          <p:cNvSpPr/>
          <p:nvPr/>
        </p:nvSpPr>
        <p:spPr>
          <a:xfrm>
            <a:off x="1122000" y="1080000"/>
            <a:ext cx="690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2000" b="0" i="0" dirty="0">
                <a:solidFill>
                  <a:srgbClr val="5C4826"/>
                </a:solidFill>
              </a:rPr>
              <a:t>Depends on what?</a:t>
            </a:r>
          </a:p>
        </p:txBody>
      </p:sp>
      <p:sp>
        <p:nvSpPr>
          <p:cNvPr id="101" name="P101"/>
          <p:cNvSpPr/>
          <p:nvPr/>
        </p:nvSpPr>
        <p:spPr>
          <a:xfrm>
            <a:off x="1122000" y="1740000"/>
            <a:ext cx="690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2000" b="0" i="0" dirty="0">
                <a:solidFill>
                  <a:srgbClr val="5C4826"/>
                </a:solidFill>
              </a:rPr>
              <a:t>How would you know how sure is enough?</a:t>
            </a:r>
          </a:p>
        </p:txBody>
      </p:sp>
      <p:sp>
        <p:nvSpPr>
          <p:cNvPr id="102" name="P102"/>
          <p:cNvSpPr/>
          <p:nvPr/>
        </p:nvSpPr>
        <p:spPr>
          <a:xfrm>
            <a:off x="1122000" y="2400000"/>
            <a:ext cx="690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2000" b="0" i="0" dirty="0">
                <a:solidFill>
                  <a:srgbClr val="5C4826"/>
                </a:solidFill>
              </a:rPr>
              <a:t>How should the evidence you seek change?</a:t>
            </a:r>
          </a:p>
        </p:txBody>
      </p:sp>
      <p:sp>
        <p:nvSpPr>
          <p:cNvPr id="103" name="P103"/>
          <p:cNvSpPr/>
          <p:nvPr/>
        </p:nvSpPr>
        <p:spPr>
          <a:xfrm>
            <a:off x="680000" y="3240000"/>
            <a:ext cx="2440000" cy="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000000"/>
                </a:solidFill>
              </a:rPr>
              <a:t>TODO app</a:t>
            </a:r>
          </a:p>
          <a:p>
            <a:pPr algn="ctr">
              <a:spcBef>
                <a:spcPts val="120"/>
              </a:spcBef>
              <a:buNone/>
            </a:pPr>
            <a:r>
              <a:rPr lang="en-US" sz="1500" b="0" i="1" dirty="0">
                <a:solidFill>
                  <a:srgbClr val="57534E"/>
                </a:solidFill>
              </a:rPr>
              <a:t>annoyance</a:t>
            </a:r>
          </a:p>
        </p:txBody>
      </p:sp>
      <p:sp>
        <p:nvSpPr>
          <p:cNvPr id="104" name="P104"/>
          <p:cNvSpPr/>
          <p:nvPr/>
        </p:nvSpPr>
        <p:spPr>
          <a:xfrm>
            <a:off x="3300000" y="3240000"/>
            <a:ext cx="2440000" cy="9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800" b="1" i="0" dirty="0">
                <a:solidFill>
                  <a:srgbClr val="000000"/>
                </a:solidFill>
              </a:rPr>
              <a:t>Payroll system</a:t>
            </a:r>
          </a:p>
          <a:p>
            <a:pPr algn="ctr">
              <a:spcBef>
                <a:spcPts val="120"/>
              </a:spcBef>
              <a:buNone/>
            </a:pPr>
            <a:r>
              <a:rPr lang="en-US" sz="1500" b="0" i="1" dirty="0">
                <a:solidFill>
                  <a:srgbClr val="57534E"/>
                </a:solidFill>
              </a:rPr>
              <a:t>money, trust</a:t>
            </a:r>
          </a:p>
        </p:txBody>
      </p:sp>
      <p:sp>
        <p:nvSpPr>
          <p:cNvPr id="105" name="P105"/>
          <p:cNvSpPr/>
          <p:nvPr/>
        </p:nvSpPr>
        <p:spPr>
          <a:xfrm>
            <a:off x="5920000" y="3240000"/>
            <a:ext cx="2440000" cy="900000"/>
          </a:xfrm>
          <a:prstGeom prst="rect">
            <a:avLst/>
          </a:prstGeom>
          <a:solidFill>
            <a:srgbClr val="F3E7DE"/>
          </a:solidFill>
          <a:ln w="12700">
            <a:solidFill>
              <a:srgbClr val="C9B991"/>
            </a:solidFill>
          </a:ln>
        </p:spPr>
        <p:txBody>
          <a:bodyPr wrap="square" lIns="91440" tIns="45720" rIns="91440" bIns="45720" anchor="ctr"/>
          <a:lstStyle/>
          <a:p>
            <a:pPr algn="ctr">
              <a:buNone/>
            </a:pPr>
            <a:r>
              <a:rPr lang="en-US" sz="1800" b="1" i="0" dirty="0">
                <a:solidFill>
                  <a:srgbClr val="000000"/>
                </a:solidFill>
              </a:rPr>
              <a:t>X-Ray control</a:t>
            </a:r>
          </a:p>
          <a:p>
            <a:pPr algn="ctr">
              <a:spcBef>
                <a:spcPts val="120"/>
              </a:spcBef>
              <a:buNone/>
            </a:pPr>
            <a:r>
              <a:rPr lang="en-US" sz="1500" b="0" i="1" dirty="0">
                <a:solidFill>
                  <a:srgbClr val="57534E"/>
                </a:solidFill>
              </a:rPr>
              <a:t>human safety</a:t>
            </a:r>
          </a:p>
        </p:txBody>
      </p:sp>
      <p:sp>
        <p:nvSpPr>
          <p:cNvPr id="120" name="T120"/>
          <p:cNvSpPr txBox="1"/>
          <p:nvPr/>
        </p:nvSpPr>
        <p:spPr>
          <a:xfrm>
            <a:off x="680000" y="4260000"/>
            <a:ext cx="7940000" cy="500000"/>
          </a:xfrm>
          <a:prstGeom prst="rect">
            <a:avLst/>
          </a:prstGeom>
          <a:noFill/>
          <a:ln>
            <a:noFill/>
          </a:ln>
        </p:spPr>
        <p:txBody>
          <a:bodyPr wrap="square" lIns="0" tIns="0" rIns="0" bIns="0" anchor="t"/>
          <a:lstStyle/>
          <a:p>
            <a:pPr algn="ctr">
              <a:buNone/>
            </a:pPr>
            <a:r>
              <a:rPr lang="en-US" sz="1800" b="0" i="1" dirty="0">
                <a:solidFill>
                  <a:srgbClr val="555960"/>
                </a:solidFill>
              </a:rPr>
              <a:t>Not the same strategy — because being wrong does not cost the same.</a:t>
            </a:r>
          </a:p>
        </p:txBody>
      </p:sp>
      <p:sp>
        <p:nvSpPr>
          <p:cNvPr id="113" name="FooterBand"/>
          <p:cNvSpPr/>
          <p:nvPr/>
        </p:nvSpPr>
        <p:spPr>
          <a:xfrm>
            <a:off x="274320" y="5519088"/>
            <a:ext cx="8595360" cy="900000"/>
          </a:xfrm>
          <a:prstGeom prst="rect">
            <a:avLst/>
          </a:prstGeom>
          <a:solidFill>
            <a:srgbClr val="8E6F3E"/>
          </a:solidFill>
          <a:ln>
            <a:noFill/>
          </a:ln>
        </p:spPr>
        <p:txBody>
          <a:bodyPr wrap="square" lIns="91440" tIns="45720" rIns="91440" bIns="45720" anchor="ctr"/>
          <a:lstStyle/>
          <a:p>
            <a:pPr algn="ctr">
              <a:buNone/>
            </a:pPr>
            <a:r>
              <a:rPr lang="en-US" sz="2400" i="0" dirty="0">
                <a:solidFill>
                  <a:srgbClr val="FFFFFF"/>
                </a:solidFill>
              </a:rPr>
              <a:t>Engineers say what it depends </a:t>
            </a:r>
            <a:r>
              <a:rPr lang="en-US" sz="2400" b="1" i="1" dirty="0">
                <a:solidFill>
                  <a:srgbClr val="FFFFFF"/>
                </a:solidFill>
              </a:rPr>
              <a:t>on</a:t>
            </a:r>
            <a:r>
              <a:rPr lang="en-US" sz="2400" b="1" i="0" dirty="0">
                <a:solidFill>
                  <a:srgbClr val="FFFFFF"/>
                </a:solidFill>
              </a:rPr>
              <a:t>, </a:t>
            </a:r>
            <a:r>
              <a:rPr lang="en-US" sz="2400" i="0" dirty="0">
                <a:solidFill>
                  <a:srgbClr val="FFFFFF"/>
                </a:solidFill>
              </a:rPr>
              <a:t>and</a:t>
            </a:r>
          </a:p>
          <a:p>
            <a:pPr algn="ctr">
              <a:buNone/>
            </a:pPr>
            <a:r>
              <a:rPr lang="en-US" sz="2400" i="0" dirty="0">
                <a:solidFill>
                  <a:srgbClr val="FFFFFF"/>
                </a:solidFill>
              </a:rPr>
              <a:t>how that changes the evidence we require.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Consequence changes the burden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B100"/>
          <p:cNvSpPr/>
          <p:nvPr/>
        </p:nvSpPr>
        <p:spPr>
          <a:xfrm>
            <a:off x="482000" y="1160000"/>
            <a:ext cx="2560000" cy="62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GAME</a:t>
            </a:r>
          </a:p>
        </p:txBody>
      </p:sp>
      <p:sp>
        <p:nvSpPr>
          <p:cNvPr id="101" name="P101"/>
          <p:cNvSpPr/>
          <p:nvPr/>
        </p:nvSpPr>
        <p:spPr>
          <a:xfrm>
            <a:off x="482000" y="1860000"/>
            <a:ext cx="2560000" cy="19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600" b="0" i="1" dirty="0">
                <a:solidFill>
                  <a:srgbClr val="000000"/>
                </a:solidFill>
              </a:rPr>
              <a:t>draws a character wrong</a:t>
            </a:r>
          </a:p>
          <a:p>
            <a:pPr algn="ctr">
              <a:spcBef>
                <a:spcPts val="120"/>
              </a:spcBef>
              <a:buNone/>
            </a:pPr>
            <a:r>
              <a:rPr lang="en-US" sz="2000" b="0" i="0" dirty="0">
                <a:solidFill>
                  <a:srgbClr val="000000"/>
                </a:solidFill>
              </a:rPr>
              <a:t>↓</a:t>
            </a:r>
          </a:p>
          <a:p>
            <a:pPr algn="ctr">
              <a:spcBef>
                <a:spcPts val="120"/>
              </a:spcBef>
              <a:buNone/>
            </a:pPr>
            <a:r>
              <a:rPr lang="en-US" sz="1600" b="0" i="0" dirty="0">
                <a:solidFill>
                  <a:srgbClr val="000000"/>
                </a:solidFill>
              </a:rPr>
              <a:t>annoys a player</a:t>
            </a:r>
          </a:p>
        </p:txBody>
      </p:sp>
      <p:sp>
        <p:nvSpPr>
          <p:cNvPr id="102" name="B102"/>
          <p:cNvSpPr/>
          <p:nvPr/>
        </p:nvSpPr>
        <p:spPr>
          <a:xfrm>
            <a:off x="3292000" y="1160000"/>
            <a:ext cx="2560000" cy="62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TODO APP</a:t>
            </a:r>
          </a:p>
        </p:txBody>
      </p:sp>
      <p:sp>
        <p:nvSpPr>
          <p:cNvPr id="103" name="P103"/>
          <p:cNvSpPr/>
          <p:nvPr/>
        </p:nvSpPr>
        <p:spPr>
          <a:xfrm>
            <a:off x="3292000" y="1860000"/>
            <a:ext cx="2560000" cy="1900000"/>
          </a:xfrm>
          <a:prstGeom prst="rect">
            <a:avLst/>
          </a:prstGeom>
          <a:solidFill>
            <a:srgbClr val="FBF8F2"/>
          </a:solidFill>
          <a:ln w="12700">
            <a:solidFill>
              <a:srgbClr val="C9B991"/>
            </a:solidFill>
          </a:ln>
        </p:spPr>
        <p:txBody>
          <a:bodyPr wrap="square" lIns="91440" tIns="45720" rIns="91440" bIns="45720" anchor="t"/>
          <a:lstStyle/>
          <a:p>
            <a:pPr algn="ctr">
              <a:buNone/>
            </a:pPr>
            <a:r>
              <a:rPr lang="en-US" sz="1600" b="0" i="1" dirty="0">
                <a:solidFill>
                  <a:srgbClr val="000000"/>
                </a:solidFill>
              </a:rPr>
              <a:t>occasionally loses a task</a:t>
            </a:r>
          </a:p>
          <a:p>
            <a:pPr algn="ctr">
              <a:spcBef>
                <a:spcPts val="120"/>
              </a:spcBef>
              <a:buNone/>
            </a:pPr>
            <a:r>
              <a:rPr lang="en-US" sz="2000" b="0" i="0" dirty="0">
                <a:solidFill>
                  <a:srgbClr val="000000"/>
                </a:solidFill>
              </a:rPr>
              <a:t>↓</a:t>
            </a:r>
          </a:p>
          <a:p>
            <a:pPr algn="ctr">
              <a:spcBef>
                <a:spcPts val="120"/>
              </a:spcBef>
              <a:buNone/>
            </a:pPr>
            <a:r>
              <a:rPr lang="en-US" sz="1600" b="0" i="0" dirty="0">
                <a:solidFill>
                  <a:srgbClr val="000000"/>
                </a:solidFill>
              </a:rPr>
              <a:t>destroys information a user depends on</a:t>
            </a:r>
          </a:p>
        </p:txBody>
      </p:sp>
      <p:sp>
        <p:nvSpPr>
          <p:cNvPr id="104" name="B104"/>
          <p:cNvSpPr/>
          <p:nvPr/>
        </p:nvSpPr>
        <p:spPr>
          <a:xfrm>
            <a:off x="6102000" y="1160000"/>
            <a:ext cx="2560000" cy="62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X-Ray Control</a:t>
            </a:r>
          </a:p>
        </p:txBody>
      </p:sp>
      <p:sp>
        <p:nvSpPr>
          <p:cNvPr id="105" name="P105"/>
          <p:cNvSpPr/>
          <p:nvPr/>
        </p:nvSpPr>
        <p:spPr>
          <a:xfrm>
            <a:off x="6102000" y="1860000"/>
            <a:ext cx="2560000" cy="1900000"/>
          </a:xfrm>
          <a:prstGeom prst="rect">
            <a:avLst/>
          </a:prstGeom>
          <a:solidFill>
            <a:srgbClr val="F3E7DE"/>
          </a:solidFill>
          <a:ln w="12700">
            <a:solidFill>
              <a:srgbClr val="C9B991"/>
            </a:solidFill>
          </a:ln>
        </p:spPr>
        <p:txBody>
          <a:bodyPr wrap="square" lIns="91440" tIns="45720" rIns="91440" bIns="45720" anchor="t"/>
          <a:lstStyle/>
          <a:p>
            <a:pPr algn="ctr">
              <a:buNone/>
            </a:pPr>
            <a:r>
              <a:rPr lang="en-US" sz="1600" b="0" i="1" dirty="0">
                <a:solidFill>
                  <a:srgbClr val="000000"/>
                </a:solidFill>
              </a:rPr>
              <a:t>delivers an incorrect dose</a:t>
            </a:r>
          </a:p>
          <a:p>
            <a:pPr algn="ctr">
              <a:spcBef>
                <a:spcPts val="120"/>
              </a:spcBef>
              <a:buNone/>
            </a:pPr>
            <a:r>
              <a:rPr lang="en-US" sz="2000" b="0" i="0" dirty="0">
                <a:solidFill>
                  <a:srgbClr val="000000"/>
                </a:solidFill>
              </a:rPr>
              <a:t>↓</a:t>
            </a:r>
          </a:p>
          <a:p>
            <a:pPr algn="ctr">
              <a:spcBef>
                <a:spcPts val="120"/>
              </a:spcBef>
              <a:buNone/>
            </a:pPr>
            <a:r>
              <a:rPr lang="en-US" sz="1600" b="0" i="0" dirty="0">
                <a:solidFill>
                  <a:srgbClr val="000000"/>
                </a:solidFill>
              </a:rPr>
              <a:t>directly injures its user</a:t>
            </a:r>
          </a:p>
        </p:txBody>
      </p:sp>
      <p:sp>
        <p:nvSpPr>
          <p:cNvPr id="120" name="T120"/>
          <p:cNvSpPr txBox="1"/>
          <p:nvPr/>
        </p:nvSpPr>
        <p:spPr>
          <a:xfrm>
            <a:off x="482000" y="3960000"/>
            <a:ext cx="8180000" cy="1100000"/>
          </a:xfrm>
          <a:prstGeom prst="rect">
            <a:avLst/>
          </a:prstGeom>
          <a:noFill/>
          <a:ln>
            <a:noFill/>
          </a:ln>
        </p:spPr>
        <p:txBody>
          <a:bodyPr wrap="square" lIns="0" tIns="0" rIns="0" bIns="0" anchor="t"/>
          <a:lstStyle/>
          <a:p>
            <a:pPr algn="ctr">
              <a:buNone/>
            </a:pPr>
            <a:r>
              <a:rPr lang="en-US" sz="1700" b="0" i="1" dirty="0">
                <a:solidFill>
                  <a:srgbClr val="555960"/>
                </a:solidFill>
              </a:rPr>
              <a:t>Severity and causal distance both matter: almost any defect connects to harm through some chain,</a:t>
            </a:r>
          </a:p>
          <a:p>
            <a:pPr algn="ctr">
              <a:spcBef>
                <a:spcPts val="120"/>
              </a:spcBef>
              <a:buNone/>
            </a:pPr>
            <a:r>
              <a:rPr lang="en-US" sz="1700" b="0" i="1" dirty="0">
                <a:solidFill>
                  <a:srgbClr val="555960"/>
                </a:solidFill>
              </a:rPr>
              <a:t>but a graphical glitch is not safety-critical merely because frustrated players sometimes behave badly.</a:t>
            </a:r>
          </a:p>
        </p:txBody>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The more direct and substantial the consequence, the more evidence we demand.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Validation is a decision under uncertainty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P100"/>
          <p:cNvSpPr/>
          <p:nvPr/>
        </p:nvSpPr>
        <p:spPr>
          <a:xfrm>
            <a:off x="680000" y="112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Validation does not demand certainty.</a:t>
            </a:r>
          </a:p>
          <a:p>
            <a:pPr algn="ctr">
              <a:spcBef>
                <a:spcPts val="120"/>
              </a:spcBef>
              <a:buNone/>
            </a:pPr>
            <a:r>
              <a:rPr lang="en-US" sz="1600" b="0" i="0" dirty="0">
                <a:solidFill>
                  <a:srgbClr val="000000"/>
                </a:solidFill>
              </a:rPr>
              <a:t>It asks whether the available evidence justifies acting under the remaining uncertainty.</a:t>
            </a:r>
          </a:p>
        </p:txBody>
      </p:sp>
      <p:sp>
        <p:nvSpPr>
          <p:cNvPr id="101" name="P101"/>
          <p:cNvSpPr/>
          <p:nvPr/>
        </p:nvSpPr>
        <p:spPr>
          <a:xfrm>
            <a:off x="680000" y="228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Software is updatable.</a:t>
            </a:r>
          </a:p>
          <a:p>
            <a:pPr algn="ctr">
              <a:spcBef>
                <a:spcPts val="120"/>
              </a:spcBef>
              <a:buNone/>
            </a:pPr>
            <a:r>
              <a:rPr lang="en-US" sz="1600" b="0" i="0" dirty="0">
                <a:solidFill>
                  <a:srgbClr val="000000"/>
                </a:solidFill>
              </a:rPr>
              <a:t>Sometimes it is right to deliver under known uncertainty, observe, and repair — delivery can itself be part of learning.</a:t>
            </a:r>
          </a:p>
        </p:txBody>
      </p:sp>
      <p:sp>
        <p:nvSpPr>
          <p:cNvPr id="102" name="P102"/>
          <p:cNvSpPr/>
          <p:nvPr/>
        </p:nvSpPr>
        <p:spPr>
          <a:xfrm>
            <a:off x="680000" y="344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But an update repairs the software,</a:t>
            </a:r>
          </a:p>
          <a:p>
            <a:pPr algn="ctr">
              <a:spcBef>
                <a:spcPts val="120"/>
              </a:spcBef>
              <a:buNone/>
            </a:pPr>
            <a:r>
              <a:rPr lang="en-US" sz="1600" b="0" i="0" dirty="0">
                <a:solidFill>
                  <a:srgbClr val="000000"/>
                </a:solidFill>
              </a:rPr>
              <a:t>not the consequences of its past behavior. 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Validation asks what evidence is sufficient for THIS delivery —</a:t>
            </a:r>
          </a:p>
          <a:p>
            <a:pPr algn="ctr">
              <a:spcBef>
                <a:spcPts val="60"/>
              </a:spcBef>
              <a:buNone/>
            </a:pPr>
            <a:r>
              <a:rPr lang="en-US" sz="2000" b="1" i="0" dirty="0">
                <a:solidFill>
                  <a:srgbClr val="FFFFFF"/>
                </a:solidFill>
              </a:rPr>
              <a:t>what uncertainty can we afford to carry?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Where should evidence attach?</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00" name="T100"/>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02" name="T102"/>
          <p:cNvSpPr txBox="1"/>
          <p:nvPr/>
        </p:nvSpPr>
        <p:spPr>
          <a:xfrm>
            <a:off x="685800" y="3886200"/>
            <a:ext cx="7772400" cy="1100000"/>
          </a:xfrm>
          <a:prstGeom prst="rect">
            <a:avLst/>
          </a:prstGeom>
          <a:noFill/>
          <a:ln>
            <a:noFill/>
          </a:ln>
        </p:spPr>
        <p:txBody>
          <a:bodyPr wrap="square" lIns="0" tIns="0" rIns="0" bIns="0" anchor="t"/>
          <a:lstStyle/>
          <a:p>
            <a:pPr algn="ctr">
              <a:buNone/>
            </a:pPr>
            <a:r>
              <a:rPr lang="en-US" sz="2200" b="0" i="1" dirty="0">
                <a:solidFill>
                  <a:srgbClr val="555960"/>
                </a:solidFill>
              </a:rPr>
              <a:t>Start from the specification; find the scope that can establish the claim.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claims come from the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00" name="T100"/>
          <p:cNvSpPr txBox="1"/>
          <p:nvPr/>
        </p:nvSpPr>
        <p:spPr>
          <a:xfrm>
            <a:off x="566928" y="896112"/>
            <a:ext cx="8010144" cy="365760"/>
          </a:xfrm>
          <a:prstGeom prst="rect">
            <a:avLst/>
          </a:prstGeom>
          <a:noFill/>
          <a:ln>
            <a:noFill/>
          </a:ln>
        </p:spPr>
        <p:txBody>
          <a:bodyPr wrap="square" lIns="0" tIns="0" rIns="0" bIns="0" anchor="t"/>
          <a:lstStyle/>
          <a:p>
            <a:pPr algn="ctr">
              <a:buNone/>
            </a:pPr>
            <a:r>
              <a:rPr lang="en-US" sz="1700" b="0" i="0" dirty="0">
                <a:solidFill>
                  <a:srgbClr val="000000"/>
                </a:solidFill>
              </a:rPr>
              <a:t>The payment service specification already says what must be true:</a:t>
            </a:r>
          </a:p>
        </p:txBody>
      </p:sp>
      <p:sp>
        <p:nvSpPr>
          <p:cNvPr id="101" name="P101"/>
          <p:cNvSpPr/>
          <p:nvPr/>
        </p:nvSpPr>
        <p:spPr>
          <a:xfrm>
            <a:off x="566928" y="1417320"/>
            <a:ext cx="8010144" cy="566928"/>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0" i="0" dirty="0">
                <a:solidFill>
                  <a:srgbClr val="000000"/>
                </a:solidFill>
              </a:rPr>
              <a:t>A submitted payment shall cause at most one charge</a:t>
            </a:r>
          </a:p>
        </p:txBody>
      </p:sp>
      <p:sp>
        <p:nvSpPr>
          <p:cNvPr id="102" name="P102"/>
          <p:cNvSpPr/>
          <p:nvPr/>
        </p:nvSpPr>
        <p:spPr>
          <a:xfrm>
            <a:off x="566928" y="2112264"/>
            <a:ext cx="8010144" cy="566928"/>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0" i="0" dirty="0">
                <a:solidFill>
                  <a:srgbClr val="000000"/>
                </a:solidFill>
              </a:rPr>
              <a:t>An unauthorized user cannot initiate a payment</a:t>
            </a:r>
          </a:p>
        </p:txBody>
      </p:sp>
      <p:sp>
        <p:nvSpPr>
          <p:cNvPr id="103" name="P103"/>
          <p:cNvSpPr/>
          <p:nvPr/>
        </p:nvSpPr>
        <p:spPr>
          <a:xfrm>
            <a:off x="566928" y="2807208"/>
            <a:ext cx="8010144" cy="566928"/>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0" i="0" dirty="0">
                <a:solidFill>
                  <a:srgbClr val="000000"/>
                </a:solidFill>
              </a:rPr>
              <a:t>A completed payment appears in the account history</a:t>
            </a:r>
          </a:p>
        </p:txBody>
      </p:sp>
      <p:sp>
        <p:nvSpPr>
          <p:cNvPr id="104" name="P104"/>
          <p:cNvSpPr/>
          <p:nvPr/>
        </p:nvSpPr>
        <p:spPr>
          <a:xfrm>
            <a:off x="566928" y="3502152"/>
            <a:ext cx="8010144" cy="566928"/>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0" i="0" dirty="0">
                <a:solidFill>
                  <a:srgbClr val="000000"/>
                </a:solidFill>
              </a:rPr>
              <a:t>A normal request completes within an acceptable time</a:t>
            </a:r>
          </a:p>
        </p:txBody>
      </p:sp>
      <p:sp>
        <p:nvSpPr>
          <p:cNvPr id="120" name="T120"/>
          <p:cNvSpPr txBox="1"/>
          <p:nvPr/>
        </p:nvSpPr>
        <p:spPr>
          <a:xfrm>
            <a:off x="566928" y="4343400"/>
            <a:ext cx="8010144" cy="1005840"/>
          </a:xfrm>
          <a:prstGeom prst="rect">
            <a:avLst/>
          </a:prstGeom>
          <a:noFill/>
          <a:ln>
            <a:noFill/>
          </a:ln>
        </p:spPr>
        <p:txBody>
          <a:bodyPr wrap="square" lIns="0" tIns="0" rIns="0" bIns="0" anchor="t"/>
          <a:lstStyle/>
          <a:p>
            <a:pPr algn="ctr">
              <a:buNone/>
            </a:pPr>
            <a:r>
              <a:rPr lang="en-US" sz="1600" b="0" i="1" dirty="0">
                <a:solidFill>
                  <a:srgbClr val="555960"/>
                </a:solidFill>
              </a:rPr>
              <a:t>Requirements state outcomes in the world. A specification states the machine’s obligations under assumptions about its environment.</a:t>
            </a:r>
          </a:p>
          <a:p>
            <a:pPr algn="ctr">
              <a:spcBef>
                <a:spcPts val="120"/>
              </a:spcBef>
              <a:buNone/>
            </a:pPr>
            <a:r>
              <a:rPr lang="en-US" sz="1600" b="0" i="1" dirty="0">
                <a:solidFill>
                  <a:srgbClr val="555960"/>
                </a:solidFill>
              </a:rPr>
              <a:t>Validation inherits these claims. Its question is which of them are consequential — and what evidence could expose a violation.</a:t>
            </a:r>
          </a:p>
        </p:txBody>
      </p:sp>
      <p:sp>
        <p:nvSpPr>
          <p:cNvPr id="13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We do not invent claims during validation. We inherit them.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Engineering models grow more precise toward the code</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300000" y="94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Requirements</a:t>
            </a:r>
          </a:p>
          <a:p>
            <a:pPr algn="r">
              <a:spcBef>
                <a:spcPts val="40"/>
              </a:spcBef>
              <a:buNone/>
            </a:pPr>
            <a:r>
              <a:rPr lang="en-US" sz="1350" b="0" i="1" dirty="0">
                <a:solidFill>
                  <a:srgbClr val="555960"/>
                </a:solidFill>
              </a:rPr>
              <a:t>world outcomes</a:t>
            </a:r>
          </a:p>
        </p:txBody>
      </p:sp>
      <p:sp>
        <p:nvSpPr>
          <p:cNvPr id="111" name="T111"/>
          <p:cNvSpPr txBox="1"/>
          <p:nvPr/>
        </p:nvSpPr>
        <p:spPr>
          <a:xfrm>
            <a:off x="300000" y="15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Specification</a:t>
            </a:r>
          </a:p>
          <a:p>
            <a:pPr algn="r">
              <a:spcBef>
                <a:spcPts val="40"/>
              </a:spcBef>
              <a:buNone/>
            </a:pPr>
            <a:r>
              <a:rPr lang="en-US" sz="1350" b="0" i="1" dirty="0">
                <a:solidFill>
                  <a:srgbClr val="555960"/>
                </a:solidFill>
              </a:rPr>
              <a:t>machine obligations</a:t>
            </a:r>
          </a:p>
          <a:p>
            <a:pPr algn="r">
              <a:spcBef>
                <a:spcPts val="20"/>
              </a:spcBef>
              <a:buNone/>
            </a:pPr>
            <a:r>
              <a:rPr lang="en-US" sz="1350" b="0" i="1" dirty="0">
                <a:solidFill>
                  <a:srgbClr val="555960"/>
                </a:solidFill>
              </a:rPr>
              <a:t>environment assumptions</a:t>
            </a:r>
          </a:p>
        </p:txBody>
      </p:sp>
      <p:sp>
        <p:nvSpPr>
          <p:cNvPr id="112" name="T112"/>
          <p:cNvSpPr txBox="1"/>
          <p:nvPr/>
        </p:nvSpPr>
        <p:spPr>
          <a:xfrm>
            <a:off x="300000" y="23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Architecture + Design</a:t>
            </a:r>
          </a:p>
          <a:p>
            <a:pPr algn="r">
              <a:spcBef>
                <a:spcPts val="40"/>
              </a:spcBef>
              <a:buNone/>
            </a:pPr>
            <a:r>
              <a:rPr lang="en-US" sz="1350" b="0" i="1" dirty="0">
                <a:solidFill>
                  <a:srgbClr val="555960"/>
                </a:solidFill>
              </a:rPr>
              <a:t>progressively more</a:t>
            </a:r>
          </a:p>
          <a:p>
            <a:pPr algn="r">
              <a:spcBef>
                <a:spcPts val="20"/>
              </a:spcBef>
              <a:buNone/>
            </a:pPr>
            <a:r>
              <a:rPr lang="en-US" sz="1350" b="0" i="1" dirty="0">
                <a:solidFill>
                  <a:srgbClr val="555960"/>
                </a:solidFill>
              </a:rPr>
              <a:t>precise engineering models</a:t>
            </a:r>
          </a:p>
        </p:txBody>
      </p:sp>
      <p:sp>
        <p:nvSpPr>
          <p:cNvPr id="113" name="P113"/>
          <p:cNvSpPr/>
          <p:nvPr/>
        </p:nvSpPr>
        <p:spPr>
          <a:xfrm>
            <a:off x="1780000" y="3060000"/>
            <a:ext cx="160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system organization</a:t>
            </a:r>
          </a:p>
        </p:txBody>
      </p:sp>
      <p:sp>
        <p:nvSpPr>
          <p:cNvPr id="114" name="P114"/>
          <p:cNvSpPr/>
          <p:nvPr/>
        </p:nvSpPr>
        <p:spPr>
          <a:xfrm>
            <a:off x="1920000" y="3400000"/>
            <a:ext cx="132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subsystem</a:t>
            </a:r>
          </a:p>
        </p:txBody>
      </p:sp>
      <p:sp>
        <p:nvSpPr>
          <p:cNvPr id="115" name="P115"/>
          <p:cNvSpPr/>
          <p:nvPr/>
        </p:nvSpPr>
        <p:spPr>
          <a:xfrm>
            <a:off x="2060000" y="3740000"/>
            <a:ext cx="104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mechanism</a:t>
            </a:r>
          </a:p>
        </p:txBody>
      </p:sp>
      <p:sp>
        <p:nvSpPr>
          <p:cNvPr id="117" name="T117"/>
          <p:cNvSpPr txBox="1"/>
          <p:nvPr/>
        </p:nvSpPr>
        <p:spPr>
          <a:xfrm>
            <a:off x="3500000" y="4620000"/>
            <a:ext cx="1600000" cy="400000"/>
          </a:xfrm>
          <a:prstGeom prst="rect">
            <a:avLst/>
          </a:prstGeom>
          <a:noFill/>
          <a:ln>
            <a:noFill/>
          </a:ln>
        </p:spPr>
        <p:txBody>
          <a:bodyPr wrap="square" lIns="0" tIns="0" rIns="0" bIns="0" anchor="t"/>
          <a:lstStyle/>
          <a:p>
            <a:pPr algn="ctr">
              <a:buNone/>
            </a:pPr>
            <a:r>
              <a:rPr lang="en-US" sz="1600" b="1" i="0" dirty="0">
                <a:solidFill>
                  <a:srgbClr val="000000"/>
                </a:solidFill>
              </a:rPr>
              <a:t>Realization</a:t>
            </a:r>
          </a:p>
          <a:p>
            <a:pPr algn="ctr">
              <a:buNone/>
            </a:pPr>
            <a:r>
              <a:rPr lang="en-US" sz="1350" b="0" i="1" dirty="0">
                <a:solidFill>
                  <a:srgbClr val="555960"/>
                </a:solidFill>
              </a:rPr>
              <a:t>Implementation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 not a schedule of phases.</a:t>
            </a:r>
          </a:p>
        </p:txBody>
      </p:sp>
      <p:sp>
        <p:nvSpPr>
          <p:cNvPr id="130" name="P130"/>
          <p:cNvSpPr/>
          <p:nvPr/>
        </p:nvSpPr>
        <p:spPr>
          <a:xfrm>
            <a:off x="4754880" y="941832"/>
            <a:ext cx="3703320" cy="283464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A CHAIN OF MODELS</a:t>
            </a:r>
          </a:p>
          <a:p>
            <a:pPr algn="ctr">
              <a:spcBef>
                <a:spcPts val="120"/>
              </a:spcBef>
              <a:buNone/>
            </a:pPr>
            <a:r>
              <a:rPr lang="en-US" sz="1550" b="0" i="0" dirty="0">
                <a:solidFill>
                  <a:srgbClr val="000000"/>
                </a:solidFill>
              </a:rPr>
              <a:t>Requirements say what the world must get. The specification says what the machine must do, under stated environment assumptions. Architecture and design say how. The implementation is the realized machine.</a:t>
            </a:r>
          </a:p>
          <a:p>
            <a:pPr algn="ctr">
              <a:spcBef>
                <a:spcPts val="120"/>
              </a:spcBef>
              <a:buNone/>
            </a:pPr>
            <a:r>
              <a:rPr lang="en-US" sz="1450" b="0" i="1" dirty="0">
                <a:solidFill>
                  <a:srgbClr val="555960"/>
                </a:solidFill>
              </a:rPr>
              <a:t>The middle has no fixed number of levels — refine as far as the engineering problem requires.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2"/>
                                        </p:tgtEl>
                                        <p:attrNameLst>
                                          <p:attrName>style.visibility</p:attrName>
                                        </p:attrNameLst>
                                      </p:cBhvr>
                                      <p:to>
                                        <p:strVal val="visible"/>
                                      </p:to>
                                    </p:set>
                                    <p:animEffect transition="in" filter="fade">
                                      <p:cBhvr>
                                        <p:cTn id="17" dur="500"/>
                                        <p:tgtEl>
                                          <p:spTgt spid="1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3"/>
                                        </p:tgtEl>
                                        <p:attrNameLst>
                                          <p:attrName>style.visibility</p:attrName>
                                        </p:attrNameLst>
                                      </p:cBhvr>
                                      <p:to>
                                        <p:strVal val="visible"/>
                                      </p:to>
                                    </p:set>
                                    <p:animEffect transition="in" filter="fade">
                                      <p:cBhvr>
                                        <p:cTn id="22" dur="500"/>
                                        <p:tgtEl>
                                          <p:spTgt spid="1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4"/>
                                        </p:tgtEl>
                                        <p:attrNameLst>
                                          <p:attrName>style.visibility</p:attrName>
                                        </p:attrNameLst>
                                      </p:cBhvr>
                                      <p:to>
                                        <p:strVal val="visible"/>
                                      </p:to>
                                    </p:set>
                                    <p:animEffect transition="in" filter="fade">
                                      <p:cBhvr>
                                        <p:cTn id="25" dur="500"/>
                                        <p:tgtEl>
                                          <p:spTgt spid="1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5"/>
                                        </p:tgtEl>
                                        <p:attrNameLst>
                                          <p:attrName>style.visibility</p:attrName>
                                        </p:attrNameLst>
                                      </p:cBhvr>
                                      <p:to>
                                        <p:strVal val="visible"/>
                                      </p:to>
                                    </p:set>
                                    <p:animEffect transition="in" filter="fade">
                                      <p:cBhvr>
                                        <p:cTn id="28" dur="500"/>
                                        <p:tgtEl>
                                          <p:spTgt spid="11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17"/>
                                        </p:tgtEl>
                                        <p:attrNameLst>
                                          <p:attrName>style.visibility</p:attrName>
                                        </p:attrNameLst>
                                      </p:cBhvr>
                                      <p:to>
                                        <p:strVal val="visible"/>
                                      </p:to>
                                    </p:set>
                                    <p:animEffect transition="in" filter="fade">
                                      <p:cBhvr>
                                        <p:cTn id="33" dur="500"/>
                                        <p:tgtEl>
                                          <p:spTgt spid="11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specification hands us a system-level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B100"/>
          <p:cNvSpPr/>
          <p:nvPr/>
        </p:nvSpPr>
        <p:spPr>
          <a:xfrm>
            <a:off x="621792" y="1188720"/>
            <a:ext cx="2359152" cy="896112"/>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MACHINE</a:t>
            </a:r>
          </a:p>
          <a:p>
            <a:pPr algn="ctr">
              <a:spcBef>
                <a:spcPts val="120"/>
              </a:spcBef>
              <a:buNone/>
            </a:pPr>
            <a:r>
              <a:rPr lang="en-US" sz="1500" b="0" i="1" dirty="0">
                <a:solidFill>
                  <a:srgbClr val="FFFFFF"/>
                </a:solidFill>
              </a:rPr>
              <a:t>what we build</a:t>
            </a:r>
          </a:p>
        </p:txBody>
      </p:sp>
      <p:sp>
        <p:nvSpPr>
          <p:cNvPr id="101" name="T101"/>
          <p:cNvSpPr txBox="1"/>
          <p:nvPr/>
        </p:nvSpPr>
        <p:spPr>
          <a:xfrm>
            <a:off x="3017520" y="1435608"/>
            <a:ext cx="356616" cy="402336"/>
          </a:xfrm>
          <a:prstGeom prst="rect">
            <a:avLst/>
          </a:prstGeom>
          <a:noFill/>
          <a:ln>
            <a:noFill/>
          </a:ln>
        </p:spPr>
        <p:txBody>
          <a:bodyPr wrap="square" lIns="0" tIns="0" rIns="0" bIns="0" anchor="t"/>
          <a:lstStyle/>
          <a:p>
            <a:pPr algn="ctr">
              <a:buNone/>
            </a:pPr>
            <a:r>
              <a:rPr lang="en-US" sz="2000" b="1" i="0" dirty="0">
                <a:solidFill>
                  <a:srgbClr val="8E6F3E"/>
                </a:solidFill>
              </a:rPr>
              <a:t>+</a:t>
            </a:r>
          </a:p>
        </p:txBody>
      </p:sp>
      <p:sp>
        <p:nvSpPr>
          <p:cNvPr id="102" name="B102"/>
          <p:cNvSpPr/>
          <p:nvPr/>
        </p:nvSpPr>
        <p:spPr>
          <a:xfrm>
            <a:off x="3419856" y="1188720"/>
            <a:ext cx="2359152" cy="896112"/>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ENVIRONMENT</a:t>
            </a:r>
          </a:p>
          <a:p>
            <a:pPr algn="ctr">
              <a:spcBef>
                <a:spcPts val="120"/>
              </a:spcBef>
              <a:buNone/>
            </a:pPr>
            <a:r>
              <a:rPr lang="en-US" sz="1500" b="0" i="1" dirty="0">
                <a:solidFill>
                  <a:srgbClr val="FFFFFF"/>
                </a:solidFill>
              </a:rPr>
              <a:t>domain assumptions</a:t>
            </a:r>
          </a:p>
        </p:txBody>
      </p:sp>
      <p:cxnSp>
        <p:nvCxnSpPr>
          <p:cNvPr id="103" name="C103"/>
          <p:cNvCxnSpPr/>
          <p:nvPr/>
        </p:nvCxnSpPr>
        <p:spPr>
          <a:xfrm>
            <a:off x="5861304" y="1636776"/>
            <a:ext cx="521208" cy="0"/>
          </a:xfrm>
          <a:prstGeom prst="straightConnector1">
            <a:avLst/>
          </a:prstGeom>
          <a:ln w="38100">
            <a:solidFill>
              <a:srgbClr val="8E6F3E"/>
            </a:solidFill>
            <a:tailEnd type="triangle" w="med" len="med"/>
          </a:ln>
        </p:spPr>
      </p:cxnSp>
      <p:sp>
        <p:nvSpPr>
          <p:cNvPr id="104" name="E104"/>
          <p:cNvSpPr/>
          <p:nvPr/>
        </p:nvSpPr>
        <p:spPr>
          <a:xfrm>
            <a:off x="6483096" y="1188720"/>
            <a:ext cx="2139696" cy="89611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00" b="1" i="0" dirty="0">
                <a:solidFill>
                  <a:srgbClr val="5C4826"/>
                </a:solidFill>
              </a:rPr>
              <a:t>WORLD</a:t>
            </a:r>
          </a:p>
          <a:p>
            <a:pPr algn="ctr">
              <a:spcBef>
                <a:spcPts val="120"/>
              </a:spcBef>
              <a:buNone/>
            </a:pPr>
            <a:r>
              <a:rPr lang="en-US" sz="1500" b="0" i="1" dirty="0">
                <a:solidFill>
                  <a:srgbClr val="5C4826"/>
                </a:solidFill>
              </a:rPr>
              <a:t>the required outcome</a:t>
            </a:r>
          </a:p>
        </p:txBody>
      </p:sp>
      <p:sp>
        <p:nvSpPr>
          <p:cNvPr id="110" name="P110"/>
          <p:cNvSpPr/>
          <p:nvPr/>
        </p:nvSpPr>
        <p:spPr>
          <a:xfrm>
            <a:off x="566928" y="2468880"/>
            <a:ext cx="8010144" cy="10058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50" b="0" i="0" dirty="0">
                <a:solidFill>
                  <a:srgbClr val="000000"/>
                </a:solidFill>
              </a:rPr>
              <a:t>Evidence must establish that the machine meets its specification under the environment assumptions — and that this produces the required outcome in the world.</a:t>
            </a:r>
          </a:p>
        </p:txBody>
      </p:sp>
      <p:sp>
        <p:nvSpPr>
          <p:cNvPr id="120" name="E120"/>
          <p:cNvSpPr/>
          <p:nvPr/>
        </p:nvSpPr>
        <p:spPr>
          <a:xfrm>
            <a:off x="1188720" y="3703320"/>
            <a:ext cx="6766560" cy="7772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50" b="1" i="0" dirty="0">
                <a:solidFill>
                  <a:srgbClr val="5C4826"/>
                </a:solidFill>
              </a:rPr>
              <a:t>A submitted payment shall cause at most one charge.</a:t>
            </a:r>
          </a:p>
        </p:txBody>
      </p:sp>
      <p:sp>
        <p:nvSpPr>
          <p:cNvPr id="130" name="T130"/>
          <p:cNvSpPr txBox="1"/>
          <p:nvPr/>
        </p:nvSpPr>
        <p:spPr>
          <a:xfrm>
            <a:off x="566928" y="4663440"/>
            <a:ext cx="8010144" cy="548640"/>
          </a:xfrm>
          <a:prstGeom prst="rect">
            <a:avLst/>
          </a:prstGeom>
          <a:noFill/>
          <a:ln>
            <a:noFill/>
          </a:ln>
        </p:spPr>
        <p:txBody>
          <a:bodyPr wrap="square" lIns="0" tIns="0" rIns="0" bIns="0" anchor="t"/>
          <a:lstStyle/>
          <a:p>
            <a:pPr algn="ctr">
              <a:buNone/>
            </a:pPr>
            <a:r>
              <a:rPr lang="en-US" sz="1500" b="0" i="1" dirty="0">
                <a:solidFill>
                  <a:srgbClr val="555960"/>
                </a:solidFill>
              </a:rPr>
              <a:t>Most evidence attaches to the machine. The requirement lives in the world, and the link between them runs through assumptions we have not tested.</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Machine-side evidence cannot expose a false domain assumption. World evidence can.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500"/>
                                        <p:tgtEl>
                                          <p:spTgt spid="10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500"/>
                                        <p:tgtEl>
                                          <p:spTgt spid="10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0"/>
                                        </p:tgtEl>
                                        <p:attrNameLst>
                                          <p:attrName>style.visibility</p:attrName>
                                        </p:attrNameLst>
                                      </p:cBhvr>
                                      <p:to>
                                        <p:strVal val="visible"/>
                                      </p:to>
                                    </p:set>
                                    <p:animEffect transition="in" filter="fade">
                                      <p:cBhvr>
                                        <p:cTn id="31" dur="500"/>
                                        <p:tgtEl>
                                          <p:spTgt spid="12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30"/>
                                        </p:tgtEl>
                                        <p:attrNameLst>
                                          <p:attrName>style.visibility</p:attrName>
                                        </p:attrNameLst>
                                      </p:cBhvr>
                                      <p:to>
                                        <p:strVal val="visible"/>
                                      </p:to>
                                    </p:set>
                                    <p:animEffect transition="in" filter="fade">
                                      <p:cBhvr>
                                        <p:cTn id="3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P100"/>
          <p:cNvSpPr/>
          <p:nvPr/>
        </p:nvSpPr>
        <p:spPr>
          <a:xfrm>
            <a:off x="566928" y="914400"/>
            <a:ext cx="8010144" cy="896112"/>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350" b="1" i="0" dirty="0">
                <a:solidFill>
                  <a:srgbClr val="57534E"/>
                </a:solidFill>
              </a:rPr>
              <a:t>THE OBVIOUS STRATEGY</a:t>
            </a:r>
          </a:p>
          <a:p>
            <a:pPr algn="ctr">
              <a:spcBef>
                <a:spcPts val="120"/>
              </a:spcBef>
              <a:buNone/>
            </a:pPr>
            <a:r>
              <a:rPr lang="en-US" sz="1650" b="0" i="0" dirty="0">
                <a:solidFill>
                  <a:srgbClr val="000000"/>
                </a:solidFill>
              </a:rPr>
              <a:t>Assemble the service, submit a payment, and check that no more than one charge appears.</a:t>
            </a:r>
          </a:p>
        </p:txBody>
      </p:sp>
      <p:sp>
        <p:nvSpPr>
          <p:cNvPr id="110" name="T110"/>
          <p:cNvSpPr txBox="1"/>
          <p:nvPr/>
        </p:nvSpPr>
        <p:spPr>
          <a:xfrm>
            <a:off x="566928" y="1965960"/>
            <a:ext cx="8010144" cy="320040"/>
          </a:xfrm>
          <a:prstGeom prst="rect">
            <a:avLst/>
          </a:prstGeom>
          <a:noFill/>
          <a:ln>
            <a:noFill/>
          </a:ln>
        </p:spPr>
        <p:txBody>
          <a:bodyPr wrap="square" lIns="0" tIns="0" rIns="0" bIns="0" anchor="t"/>
          <a:lstStyle/>
          <a:p>
            <a:pPr algn="ctr">
              <a:buNone/>
            </a:pPr>
            <a:r>
              <a:rPr lang="en-US" sz="1500" b="0" i="1" dirty="0">
                <a:solidFill>
                  <a:srgbClr val="555960"/>
                </a:solidFill>
              </a:rPr>
              <a:t>In principle this is exactly what we want:</a:t>
            </a:r>
          </a:p>
        </p:txBody>
      </p:sp>
      <p:sp>
        <p:nvSpPr>
          <p:cNvPr id="120" name="P120"/>
          <p:cNvSpPr/>
          <p:nvPr/>
        </p:nvSpPr>
        <p:spPr>
          <a:xfrm>
            <a:off x="566928" y="2377440"/>
            <a:ext cx="2487168" cy="9601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it observes the behavior we actually care about</a:t>
            </a:r>
          </a:p>
        </p:txBody>
      </p:sp>
      <p:sp>
        <p:nvSpPr>
          <p:cNvPr id="121" name="P121"/>
          <p:cNvSpPr/>
          <p:nvPr/>
        </p:nvSpPr>
        <p:spPr>
          <a:xfrm>
            <a:off x="3328416" y="2377440"/>
            <a:ext cx="2487168" cy="9601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at the real boundary, where the claim lives</a:t>
            </a:r>
          </a:p>
        </p:txBody>
      </p:sp>
      <p:sp>
        <p:nvSpPr>
          <p:cNvPr id="122" name="P122"/>
          <p:cNvSpPr/>
          <p:nvPr/>
        </p:nvSpPr>
        <p:spPr>
          <a:xfrm>
            <a:off x="6089904" y="2377440"/>
            <a:ext cx="2487168" cy="9601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under conditions close to delivery</a:t>
            </a:r>
          </a:p>
        </p:txBody>
      </p:sp>
      <p:sp>
        <p:nvSpPr>
          <p:cNvPr id="130" name="E130"/>
          <p:cNvSpPr/>
          <p:nvPr/>
        </p:nvSpPr>
        <p:spPr>
          <a:xfrm>
            <a:off x="1188720" y="3749040"/>
            <a:ext cx="6766560" cy="8686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800" b="1" i="0" dirty="0">
                <a:solidFill>
                  <a:srgbClr val="5C4826"/>
                </a:solidFill>
              </a:rPr>
              <a:t>So why do engineers spend so much effort obtaining evidence about the parts?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Hold the question. First: suppose that system test just failed.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When the end-to-end test fails, where is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914400"/>
            <a:ext cx="1417320" cy="530352"/>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client</a:t>
            </a:r>
          </a:p>
        </p:txBody>
      </p:sp>
      <p:cxnSp>
        <p:nvCxnSpPr>
          <p:cNvPr id="110" name="C110"/>
          <p:cNvCxnSpPr/>
          <p:nvPr/>
        </p:nvCxnSpPr>
        <p:spPr>
          <a:xfrm>
            <a:off x="2002536" y="1179576"/>
            <a:ext cx="146304" cy="0"/>
          </a:xfrm>
          <a:prstGeom prst="straightConnector1">
            <a:avLst/>
          </a:prstGeom>
          <a:ln w="38100">
            <a:solidFill>
              <a:srgbClr val="8E6F3E"/>
            </a:solidFill>
            <a:tailEnd type="triangle" w="med" len="med"/>
          </a:ln>
        </p:spPr>
      </p:cxnSp>
      <p:sp>
        <p:nvSpPr>
          <p:cNvPr id="101" name="B101"/>
          <p:cNvSpPr/>
          <p:nvPr/>
        </p:nvSpPr>
        <p:spPr>
          <a:xfrm>
            <a:off x="2167128" y="914400"/>
            <a:ext cx="1417320" cy="530352"/>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API</a:t>
            </a:r>
          </a:p>
        </p:txBody>
      </p:sp>
      <p:cxnSp>
        <p:nvCxnSpPr>
          <p:cNvPr id="111" name="C111"/>
          <p:cNvCxnSpPr/>
          <p:nvPr/>
        </p:nvCxnSpPr>
        <p:spPr>
          <a:xfrm>
            <a:off x="3602736" y="1179576"/>
            <a:ext cx="146304" cy="0"/>
          </a:xfrm>
          <a:prstGeom prst="straightConnector1">
            <a:avLst/>
          </a:prstGeom>
          <a:ln w="38100">
            <a:solidFill>
              <a:srgbClr val="8E6F3E"/>
            </a:solidFill>
            <a:tailEnd type="triangle" w="med" len="med"/>
          </a:ln>
        </p:spPr>
      </p:cxnSp>
      <p:sp>
        <p:nvSpPr>
          <p:cNvPr id="102" name="B102"/>
          <p:cNvSpPr/>
          <p:nvPr/>
        </p:nvSpPr>
        <p:spPr>
          <a:xfrm>
            <a:off x="3767328" y="914400"/>
            <a:ext cx="1417320" cy="530352"/>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payments</a:t>
            </a:r>
          </a:p>
        </p:txBody>
      </p:sp>
      <p:cxnSp>
        <p:nvCxnSpPr>
          <p:cNvPr id="112" name="C112"/>
          <p:cNvCxnSpPr/>
          <p:nvPr/>
        </p:nvCxnSpPr>
        <p:spPr>
          <a:xfrm>
            <a:off x="5202936" y="1179576"/>
            <a:ext cx="146304" cy="0"/>
          </a:xfrm>
          <a:prstGeom prst="straightConnector1">
            <a:avLst/>
          </a:prstGeom>
          <a:ln w="38100">
            <a:solidFill>
              <a:srgbClr val="8E6F3E"/>
            </a:solidFill>
            <a:tailEnd type="triangle" w="med" len="med"/>
          </a:ln>
        </p:spPr>
      </p:cxnSp>
      <p:sp>
        <p:nvSpPr>
          <p:cNvPr id="103" name="B103"/>
          <p:cNvSpPr/>
          <p:nvPr/>
        </p:nvSpPr>
        <p:spPr>
          <a:xfrm>
            <a:off x="5367528" y="914400"/>
            <a:ext cx="1417320" cy="530352"/>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ledger</a:t>
            </a:r>
          </a:p>
        </p:txBody>
      </p:sp>
      <p:cxnSp>
        <p:nvCxnSpPr>
          <p:cNvPr id="113" name="C113"/>
          <p:cNvCxnSpPr/>
          <p:nvPr/>
        </p:nvCxnSpPr>
        <p:spPr>
          <a:xfrm>
            <a:off x="6803136" y="1179576"/>
            <a:ext cx="146304" cy="0"/>
          </a:xfrm>
          <a:prstGeom prst="straightConnector1">
            <a:avLst/>
          </a:prstGeom>
          <a:ln w="38100">
            <a:solidFill>
              <a:srgbClr val="8E6F3E"/>
            </a:solidFill>
            <a:tailEnd type="triangle" w="med" len="med"/>
          </a:ln>
        </p:spPr>
      </p:cxnSp>
      <p:sp>
        <p:nvSpPr>
          <p:cNvPr id="104" name="B104"/>
          <p:cNvSpPr/>
          <p:nvPr/>
        </p:nvSpPr>
        <p:spPr>
          <a:xfrm>
            <a:off x="6967728" y="914400"/>
            <a:ext cx="1417320" cy="530352"/>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provider</a:t>
            </a:r>
          </a:p>
        </p:txBody>
      </p:sp>
      <p:sp>
        <p:nvSpPr>
          <p:cNvPr id="120" name="T120"/>
          <p:cNvSpPr txBox="1"/>
          <p:nvPr/>
        </p:nvSpPr>
        <p:spPr>
          <a:xfrm>
            <a:off x="566928" y="1572768"/>
            <a:ext cx="8010144" cy="320040"/>
          </a:xfrm>
          <a:prstGeom prst="rect">
            <a:avLst/>
          </a:prstGeom>
          <a:noFill/>
          <a:ln>
            <a:noFill/>
          </a:ln>
        </p:spPr>
        <p:txBody>
          <a:bodyPr wrap="square" lIns="0" tIns="0" rIns="0" bIns="0" anchor="t"/>
          <a:lstStyle/>
          <a:p>
            <a:pPr algn="ctr">
              <a:buNone/>
            </a:pPr>
            <a:r>
              <a:rPr lang="en-US" sz="1500" b="0" i="1" dirty="0">
                <a:solidFill>
                  <a:srgbClr val="555960"/>
                </a:solidFill>
              </a:rPr>
              <a:t>One failing system test. Any of these — or any interaction between them — could be responsible.</a:t>
            </a:r>
          </a:p>
        </p:txBody>
      </p:sp>
      <p:sp>
        <p:nvSpPr>
          <p:cNvPr id="130" name="P130"/>
          <p:cNvSpPr/>
          <p:nvPr/>
        </p:nvSpPr>
        <p:spPr>
          <a:xfrm>
            <a:off x="566928" y="2029968"/>
            <a:ext cx="2487168" cy="11887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7534E"/>
                </a:solidFill>
              </a:rPr>
              <a:t>LOCALIZE</a:t>
            </a:r>
          </a:p>
          <a:p>
            <a:pPr algn="ctr">
              <a:spcBef>
                <a:spcPts val="120"/>
              </a:spcBef>
              <a:buNone/>
            </a:pPr>
            <a:r>
              <a:rPr lang="en-US" sz="1500" b="0" i="0" dirty="0">
                <a:solidFill>
                  <a:srgbClr val="000000"/>
                </a:solidFill>
              </a:rPr>
              <a:t>The failure names a symptom, not a part.</a:t>
            </a:r>
          </a:p>
        </p:txBody>
      </p:sp>
      <p:sp>
        <p:nvSpPr>
          <p:cNvPr id="131" name="P131"/>
          <p:cNvSpPr/>
          <p:nvPr/>
        </p:nvSpPr>
        <p:spPr>
          <a:xfrm>
            <a:off x="3328416" y="2029968"/>
            <a:ext cx="2487168" cy="11887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7534E"/>
                </a:solidFill>
              </a:rPr>
              <a:t>REPRODUCE</a:t>
            </a:r>
          </a:p>
          <a:p>
            <a:pPr algn="ctr">
              <a:spcBef>
                <a:spcPts val="120"/>
              </a:spcBef>
              <a:buNone/>
            </a:pPr>
            <a:r>
              <a:rPr lang="en-US" sz="1500" b="0" i="0" dirty="0">
                <a:solidFill>
                  <a:srgbClr val="000000"/>
                </a:solidFill>
              </a:rPr>
              <a:t>Timing, state, and environment may not repeat on demand.</a:t>
            </a:r>
          </a:p>
        </p:txBody>
      </p:sp>
      <p:sp>
        <p:nvSpPr>
          <p:cNvPr id="132" name="P132"/>
          <p:cNvSpPr/>
          <p:nvPr/>
        </p:nvSpPr>
        <p:spPr>
          <a:xfrm>
            <a:off x="6089904" y="2029968"/>
            <a:ext cx="2487168" cy="11887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7534E"/>
                </a:solidFill>
              </a:rPr>
              <a:t>DIAGNOSE</a:t>
            </a:r>
          </a:p>
          <a:p>
            <a:pPr algn="ctr">
              <a:spcBef>
                <a:spcPts val="120"/>
              </a:spcBef>
              <a:buNone/>
            </a:pPr>
            <a:r>
              <a:rPr lang="en-US" sz="1500" b="0" i="0" dirty="0">
                <a:solidFill>
                  <a:srgbClr val="000000"/>
                </a:solidFill>
              </a:rPr>
              <a:t>The further the observation sits from the fault, the more it costs to explain.</a:t>
            </a:r>
          </a:p>
        </p:txBody>
      </p:sp>
      <p:sp>
        <p:nvSpPr>
          <p:cNvPr id="140" name="P140"/>
          <p:cNvSpPr/>
          <p:nvPr/>
        </p:nvSpPr>
        <p:spPr>
          <a:xfrm>
            <a:off x="566928" y="3429000"/>
            <a:ext cx="8010144" cy="7772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Some properties are also far cheaper to exercise at a smaller scope: rejecting a duplicate payment ID needs one component, not a deployment.</a:t>
            </a:r>
          </a:p>
        </p:txBody>
      </p:sp>
      <p:sp>
        <p:nvSpPr>
          <p:cNvPr id="150" name="E150"/>
          <p:cNvSpPr/>
          <p:nvPr/>
        </p:nvSpPr>
        <p:spPr>
          <a:xfrm>
            <a:off x="1188720" y="4434840"/>
            <a:ext cx="6766560" cy="7772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800" b="1" i="0" dirty="0">
                <a:solidFill>
                  <a:srgbClr val="5C4826"/>
                </a:solidFill>
              </a:rPr>
              <a:t>So we deliberately obtain evidence at more than one scope.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the most realistic — and the most expensive to act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claim, four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600" b="1" i="0" dirty="0">
                <a:solidFill>
                  <a:srgbClr val="5C4826"/>
                </a:solidFill>
              </a:rPr>
              <a:t>SPECIFICATION: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1550" b="0" i="1" dirty="0">
                <a:solidFill>
                  <a:srgbClr val="555960"/>
                </a:solidFill>
              </a:rPr>
              <a:t>Local evidence makes a failure cheap to isolate. Only the assembled system can expose the interaction.</a:t>
            </a:r>
          </a:p>
          <a:p>
            <a:pPr algn="ctr">
              <a:spcBef>
                <a:spcPts val="120"/>
              </a:spcBef>
              <a:buNone/>
            </a:pPr>
            <a:r>
              <a:rPr lang="en-US" sz="1550" b="0" i="1" dirty="0">
                <a:solidFill>
                  <a:srgbClr val="555960"/>
                </a:solidFill>
              </a:rPr>
              <a:t>Only evidence about the world can expose a false assumption about the provider.</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Same claim. Four kinds of evidence — each exposing failures the others cannot.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low can the evidence go?</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T100"/>
          <p:cNvSpPr txBox="1"/>
          <p:nvPr/>
        </p:nvSpPr>
        <p:spPr>
          <a:xfrm>
            <a:off x="566928" y="896112"/>
            <a:ext cx="8010144" cy="365760"/>
          </a:xfrm>
          <a:prstGeom prst="rect">
            <a:avLst/>
          </a:prstGeom>
          <a:noFill/>
          <a:ln>
            <a:noFill/>
          </a:ln>
        </p:spPr>
        <p:txBody>
          <a:bodyPr wrap="square" lIns="0" tIns="0" rIns="0" bIns="0" anchor="t"/>
          <a:lstStyle/>
          <a:p>
            <a:pPr algn="ctr">
              <a:buNone/>
            </a:pPr>
            <a:r>
              <a:rPr lang="en-US" sz="1700" b="0" i="0" dirty="0">
                <a:solidFill>
                  <a:srgbClr val="000000"/>
                </a:solidFill>
              </a:rPr>
              <a:t>Local evidence is cheaper. But some properties do not exist locally at all.</a:t>
            </a:r>
          </a:p>
        </p:txBody>
      </p:sp>
      <p:sp>
        <p:nvSpPr>
          <p:cNvPr id="101" name="P101"/>
          <p:cNvSpPr/>
          <p:nvPr/>
        </p:nvSpPr>
        <p:spPr>
          <a:xfrm>
            <a:off x="566928" y="1417320"/>
            <a:ext cx="8010144" cy="694944"/>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0" dirty="0">
                <a:solidFill>
                  <a:srgbClr val="000000"/>
                </a:solidFill>
              </a:rPr>
              <a:t>Three services each meet their local latency budget — the end-to-end path exceeds the system budget.</a:t>
            </a:r>
          </a:p>
        </p:txBody>
      </p:sp>
      <p:sp>
        <p:nvSpPr>
          <p:cNvPr id="102" name="P102"/>
          <p:cNvSpPr/>
          <p:nvPr/>
        </p:nvSpPr>
        <p:spPr>
          <a:xfrm>
            <a:off x="566928" y="2221992"/>
            <a:ext cx="8010144" cy="694944"/>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0" dirty="0">
                <a:solidFill>
                  <a:srgbClr val="000000"/>
                </a:solidFill>
              </a:rPr>
              <a:t>Two components each behave correctly — their assumptions leave one responsibility owned by neither.</a:t>
            </a:r>
          </a:p>
        </p:txBody>
      </p:sp>
      <p:sp>
        <p:nvSpPr>
          <p:cNvPr id="103" name="P103"/>
          <p:cNvSpPr/>
          <p:nvPr/>
        </p:nvSpPr>
        <p:spPr>
          <a:xfrm>
            <a:off x="566928" y="3026664"/>
            <a:ext cx="8010144" cy="694944"/>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0" dirty="0">
                <a:solidFill>
                  <a:srgbClr val="000000"/>
                </a:solidFill>
              </a:rPr>
              <a:t>Two retry mechanisms are each correct — their interaction lets the same operation happen twice.</a:t>
            </a:r>
          </a:p>
        </p:txBody>
      </p:sp>
      <p:sp>
        <p:nvSpPr>
          <p:cNvPr id="120" name="E120"/>
          <p:cNvSpPr/>
          <p:nvPr/>
        </p:nvSpPr>
        <p:spPr>
          <a:xfrm>
            <a:off x="566928" y="3931920"/>
            <a:ext cx="8010144" cy="10058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50" b="1" i="0" dirty="0">
                <a:solidFill>
                  <a:srgbClr val="5C4826"/>
                </a:solidFill>
              </a:rPr>
              <a:t>Check a property at the lowest scope that can actually establish it — but no lower.</a:t>
            </a:r>
          </a:p>
          <a:p>
            <a:pPr algn="ctr">
              <a:spcBef>
                <a:spcPts val="120"/>
              </a:spcBef>
              <a:buNone/>
            </a:pPr>
            <a:r>
              <a:rPr lang="en-US" sz="1500" b="0" i="1" dirty="0">
                <a:solidFill>
                  <a:srgbClr val="57534E"/>
                </a:solidFill>
              </a:rPr>
              <a:t>You cannot decompose away a property that exists only in composition.</a:t>
            </a:r>
          </a:p>
        </p:txBody>
      </p:sp>
      <p:sp>
        <p:nvSpPr>
          <p:cNvPr id="13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As cheap as the property allows — and no cheaper.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V: models left, evidence at matching scopes right</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51" name="L151"/>
          <p:cNvSpPr/>
          <p:nvPr/>
        </p:nvSpPr>
        <p:spPr>
          <a:xfrm>
            <a:off x="4300000" y="980000"/>
            <a:ext cx="1950000" cy="3580000"/>
          </a:xfrm>
          <a:custGeom>
            <a:avLst/>
            <a:gdLst/>
            <a:ahLst/>
            <a:cxnLst/>
            <a:rect l="l" t="t" r="r" b="b"/>
            <a:pathLst>
              <a:path w="1950000" h="3580000" fill="none">
                <a:moveTo>
                  <a:pt x="1950000" y="0"/>
                </a:moveTo>
                <a:lnTo>
                  <a:pt x="0" y="3580000"/>
                </a:lnTo>
              </a:path>
            </a:pathLst>
          </a:custGeom>
          <a:noFill/>
          <a:ln w="38100">
            <a:solidFill>
              <a:srgbClr val="8E6F3E"/>
            </a:solidFill>
          </a:ln>
        </p:spPr>
        <p:txBody>
          <a:bodyPr/>
          <a:lstStyle/>
          <a:p>
            <a:endParaRPr lang="en-US"/>
          </a:p>
        </p:txBody>
      </p:sp>
      <p:sp>
        <p:nvSpPr>
          <p:cNvPr id="110" name="T110"/>
          <p:cNvSpPr txBox="1"/>
          <p:nvPr/>
        </p:nvSpPr>
        <p:spPr>
          <a:xfrm>
            <a:off x="300000" y="94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Requirements</a:t>
            </a:r>
          </a:p>
          <a:p>
            <a:pPr algn="r">
              <a:spcBef>
                <a:spcPts val="40"/>
              </a:spcBef>
              <a:buNone/>
            </a:pPr>
            <a:r>
              <a:rPr lang="en-US" sz="1350" b="0" i="1" dirty="0">
                <a:solidFill>
                  <a:srgbClr val="555960"/>
                </a:solidFill>
              </a:rPr>
              <a:t>world outcomes</a:t>
            </a:r>
          </a:p>
        </p:txBody>
      </p:sp>
      <p:sp>
        <p:nvSpPr>
          <p:cNvPr id="111" name="T111"/>
          <p:cNvSpPr txBox="1"/>
          <p:nvPr/>
        </p:nvSpPr>
        <p:spPr>
          <a:xfrm>
            <a:off x="300000" y="15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Specification</a:t>
            </a:r>
          </a:p>
          <a:p>
            <a:pPr algn="r">
              <a:spcBef>
                <a:spcPts val="40"/>
              </a:spcBef>
              <a:buNone/>
            </a:pPr>
            <a:r>
              <a:rPr lang="en-US" sz="1350" b="0" i="1" dirty="0">
                <a:solidFill>
                  <a:srgbClr val="555960"/>
                </a:solidFill>
              </a:rPr>
              <a:t>machine obligations</a:t>
            </a:r>
          </a:p>
          <a:p>
            <a:pPr algn="r">
              <a:spcBef>
                <a:spcPts val="20"/>
              </a:spcBef>
              <a:buNone/>
            </a:pPr>
            <a:r>
              <a:rPr lang="en-US" sz="1350" b="0" i="1" dirty="0">
                <a:solidFill>
                  <a:srgbClr val="555960"/>
                </a:solidFill>
              </a:rPr>
              <a:t>environment assumptions</a:t>
            </a:r>
          </a:p>
        </p:txBody>
      </p:sp>
      <p:sp>
        <p:nvSpPr>
          <p:cNvPr id="112" name="T112"/>
          <p:cNvSpPr txBox="1"/>
          <p:nvPr/>
        </p:nvSpPr>
        <p:spPr>
          <a:xfrm>
            <a:off x="300000" y="23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Architecture + Design</a:t>
            </a:r>
          </a:p>
          <a:p>
            <a:pPr algn="r">
              <a:spcBef>
                <a:spcPts val="40"/>
              </a:spcBef>
              <a:buNone/>
            </a:pPr>
            <a:r>
              <a:rPr lang="en-US" sz="1350" b="0" i="1" dirty="0">
                <a:solidFill>
                  <a:srgbClr val="555960"/>
                </a:solidFill>
              </a:rPr>
              <a:t>progressively more</a:t>
            </a:r>
          </a:p>
          <a:p>
            <a:pPr algn="r">
              <a:spcBef>
                <a:spcPts val="20"/>
              </a:spcBef>
              <a:buNone/>
            </a:pPr>
            <a:r>
              <a:rPr lang="en-US" sz="1350" b="0" i="1" dirty="0">
                <a:solidFill>
                  <a:srgbClr val="555960"/>
                </a:solidFill>
              </a:rPr>
              <a:t>precise engineering models</a:t>
            </a:r>
          </a:p>
        </p:txBody>
      </p:sp>
      <p:sp>
        <p:nvSpPr>
          <p:cNvPr id="113" name="P113"/>
          <p:cNvSpPr/>
          <p:nvPr/>
        </p:nvSpPr>
        <p:spPr>
          <a:xfrm>
            <a:off x="1780000" y="3060000"/>
            <a:ext cx="160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system organization</a:t>
            </a:r>
          </a:p>
        </p:txBody>
      </p:sp>
      <p:sp>
        <p:nvSpPr>
          <p:cNvPr id="114" name="P114"/>
          <p:cNvSpPr/>
          <p:nvPr/>
        </p:nvSpPr>
        <p:spPr>
          <a:xfrm>
            <a:off x="1920000" y="3400000"/>
            <a:ext cx="132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subsystem</a:t>
            </a:r>
          </a:p>
        </p:txBody>
      </p:sp>
      <p:sp>
        <p:nvSpPr>
          <p:cNvPr id="115" name="P115"/>
          <p:cNvSpPr/>
          <p:nvPr/>
        </p:nvSpPr>
        <p:spPr>
          <a:xfrm>
            <a:off x="2060000" y="3740000"/>
            <a:ext cx="104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mechanism</a:t>
            </a:r>
          </a:p>
        </p:txBody>
      </p:sp>
      <p:sp>
        <p:nvSpPr>
          <p:cNvPr id="117" name="T117"/>
          <p:cNvSpPr txBox="1"/>
          <p:nvPr/>
        </p:nvSpPr>
        <p:spPr>
          <a:xfrm>
            <a:off x="3500000" y="4620000"/>
            <a:ext cx="1600000" cy="400000"/>
          </a:xfrm>
          <a:prstGeom prst="rect">
            <a:avLst/>
          </a:prstGeom>
          <a:noFill/>
          <a:ln>
            <a:noFill/>
          </a:ln>
        </p:spPr>
        <p:txBody>
          <a:bodyPr wrap="square" lIns="0" tIns="0" rIns="0" bIns="0" anchor="t"/>
          <a:lstStyle/>
          <a:p>
            <a:pPr algn="ctr">
              <a:buNone/>
            </a:pPr>
            <a:r>
              <a:rPr lang="en-US" sz="1600" b="1" i="0" dirty="0">
                <a:solidFill>
                  <a:srgbClr val="000000"/>
                </a:solidFill>
              </a:rPr>
              <a:t>Realization</a:t>
            </a:r>
          </a:p>
          <a:p>
            <a:pPr algn="ctr">
              <a:buNone/>
            </a:pPr>
            <a:r>
              <a:rPr lang="en-US" sz="1350" b="0" i="1" dirty="0">
                <a:solidFill>
                  <a:srgbClr val="555960"/>
                </a:solidFill>
              </a:rPr>
              <a:t>Implementation</a:t>
            </a:r>
          </a:p>
        </p:txBody>
      </p:sp>
      <p:sp>
        <p:nvSpPr>
          <p:cNvPr id="120" name="T120"/>
          <p:cNvSpPr txBox="1"/>
          <p:nvPr/>
        </p:nvSpPr>
        <p:spPr>
          <a:xfrm>
            <a:off x="6420000" y="940000"/>
            <a:ext cx="2300000" cy="560000"/>
          </a:xfrm>
          <a:prstGeom prst="rect">
            <a:avLst/>
          </a:prstGeom>
          <a:noFill/>
          <a:ln>
            <a:noFill/>
          </a:ln>
        </p:spPr>
        <p:txBody>
          <a:bodyPr wrap="square" lIns="0" tIns="0" rIns="0" bIns="0" anchor="t"/>
          <a:lstStyle/>
          <a:p>
            <a:pPr algn="l">
              <a:buNone/>
            </a:pPr>
            <a:r>
              <a:rPr lang="en-US" sz="1600" b="1" i="0" dirty="0">
                <a:solidFill>
                  <a:srgbClr val="000000"/>
                </a:solidFill>
              </a:rPr>
              <a:t>World evidence</a:t>
            </a:r>
          </a:p>
        </p:txBody>
      </p:sp>
      <p:sp>
        <p:nvSpPr>
          <p:cNvPr id="121" name="T121"/>
          <p:cNvSpPr txBox="1"/>
          <p:nvPr/>
        </p:nvSpPr>
        <p:spPr>
          <a:xfrm>
            <a:off x="6420000" y="1560000"/>
            <a:ext cx="2300000" cy="560000"/>
          </a:xfrm>
          <a:prstGeom prst="rect">
            <a:avLst/>
          </a:prstGeom>
          <a:noFill/>
          <a:ln>
            <a:noFill/>
          </a:ln>
        </p:spPr>
        <p:txBody>
          <a:bodyPr wrap="square" lIns="0" tIns="0" rIns="0" bIns="0" anchor="t"/>
          <a:lstStyle/>
          <a:p>
            <a:pPr algn="l">
              <a:buNone/>
            </a:pPr>
            <a:r>
              <a:rPr lang="en-US" sz="1600" b="1" i="0" dirty="0">
                <a:solidFill>
                  <a:srgbClr val="000000"/>
                </a:solidFill>
              </a:rPr>
              <a:t>System evidence</a:t>
            </a:r>
          </a:p>
        </p:txBody>
      </p:sp>
      <p:sp>
        <p:nvSpPr>
          <p:cNvPr id="122" name="T122"/>
          <p:cNvSpPr txBox="1"/>
          <p:nvPr/>
        </p:nvSpPr>
        <p:spPr>
          <a:xfrm>
            <a:off x="6420000" y="2360000"/>
            <a:ext cx="2300000" cy="560000"/>
          </a:xfrm>
          <a:prstGeom prst="rect">
            <a:avLst/>
          </a:prstGeom>
          <a:noFill/>
          <a:ln>
            <a:noFill/>
          </a:ln>
        </p:spPr>
        <p:txBody>
          <a:bodyPr wrap="square" lIns="0" tIns="0" rIns="0" bIns="0" anchor="t"/>
          <a:lstStyle/>
          <a:p>
            <a:pPr algn="l">
              <a:buNone/>
            </a:pPr>
            <a:r>
              <a:rPr lang="en-US" sz="1600" b="1" i="0" dirty="0">
                <a:solidFill>
                  <a:srgbClr val="000000"/>
                </a:solidFill>
              </a:rPr>
              <a:t>Composition evidence</a:t>
            </a:r>
          </a:p>
        </p:txBody>
      </p:sp>
      <p:sp>
        <p:nvSpPr>
          <p:cNvPr id="123" name="T123"/>
          <p:cNvSpPr txBox="1"/>
          <p:nvPr/>
        </p:nvSpPr>
        <p:spPr>
          <a:xfrm>
            <a:off x="6420000" y="3438144"/>
            <a:ext cx="2300000" cy="560000"/>
          </a:xfrm>
          <a:prstGeom prst="rect">
            <a:avLst/>
          </a:prstGeom>
          <a:noFill/>
          <a:ln>
            <a:noFill/>
          </a:ln>
        </p:spPr>
        <p:txBody>
          <a:bodyPr wrap="square" lIns="0" tIns="0" rIns="0" bIns="0" anchor="t"/>
          <a:lstStyle/>
          <a:p>
            <a:pPr algn="l">
              <a:buNone/>
            </a:pPr>
            <a:r>
              <a:rPr lang="en-US" sz="1600" b="1" i="0" dirty="0">
                <a:solidFill>
                  <a:srgbClr val="000000"/>
                </a:solidFill>
              </a:rPr>
              <a:t>Local evidence</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Left: models growing more precise. Right: evidence where each property lives.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500"/>
                                        <p:tgtEl>
                                          <p:spTgt spid="1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500"/>
                                        <p:tgtEl>
                                          <p:spTgt spid="11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5"/>
                                        </p:tgtEl>
                                        <p:attrNameLst>
                                          <p:attrName>style.visibility</p:attrName>
                                        </p:attrNameLst>
                                      </p:cBhvr>
                                      <p:to>
                                        <p:strVal val="visible"/>
                                      </p:to>
                                    </p:set>
                                    <p:animEffect transition="in" filter="fade">
                                      <p:cBhvr>
                                        <p:cTn id="22" dur="500"/>
                                        <p:tgtEl>
                                          <p:spTgt spid="11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7"/>
                                        </p:tgtEl>
                                        <p:attrNameLst>
                                          <p:attrName>style.visibility</p:attrName>
                                        </p:attrNameLst>
                                      </p:cBhvr>
                                      <p:to>
                                        <p:strVal val="visible"/>
                                      </p:to>
                                    </p:set>
                                    <p:animEffect transition="in" filter="fade">
                                      <p:cBhvr>
                                        <p:cTn id="25" dur="500"/>
                                        <p:tgtEl>
                                          <p:spTgt spid="1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1"/>
                                        </p:tgtEl>
                                        <p:attrNameLst>
                                          <p:attrName>style.visibility</p:attrName>
                                        </p:attrNameLst>
                                      </p:cBhvr>
                                      <p:to>
                                        <p:strVal val="visible"/>
                                      </p:to>
                                    </p:set>
                                    <p:animEffect transition="in" filter="fade">
                                      <p:cBhvr>
                                        <p:cTn id="35" dur="500"/>
                                        <p:tgtEl>
                                          <p:spTgt spid="12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22"/>
                                        </p:tgtEl>
                                        <p:attrNameLst>
                                          <p:attrName>style.visibility</p:attrName>
                                        </p:attrNameLst>
                                      </p:cBhvr>
                                      <p:to>
                                        <p:strVal val="visible"/>
                                      </p:to>
                                    </p:set>
                                    <p:animEffect transition="in" filter="fade">
                                      <p:cBhvr>
                                        <p:cTn id="40" dur="500"/>
                                        <p:tgtEl>
                                          <p:spTgt spid="12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23"/>
                                        </p:tgtEl>
                                        <p:attrNameLst>
                                          <p:attrName>style.visibility</p:attrName>
                                        </p:attrNameLst>
                                      </p:cBhvr>
                                      <p:to>
                                        <p:strVal val="visible"/>
                                      </p:to>
                                    </p:set>
                                    <p:animEffect transition="in" filter="fade">
                                      <p:cBhvr>
                                        <p:cTn id="45" dur="5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conventional testing levels name these same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B100"/>
          <p:cNvSpPr/>
          <p:nvPr/>
        </p:nvSpPr>
        <p:spPr>
          <a:xfrm>
            <a:off x="676656" y="1115568"/>
            <a:ext cx="2395728" cy="621792"/>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Acceptance</a:t>
            </a:r>
          </a:p>
        </p:txBody>
      </p:sp>
      <p:sp>
        <p:nvSpPr>
          <p:cNvPr id="101" name="P101"/>
          <p:cNvSpPr/>
          <p:nvPr/>
        </p:nvSpPr>
        <p:spPr>
          <a:xfrm>
            <a:off x="3163824" y="1115568"/>
            <a:ext cx="5458968"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evidence that the delivered system achieves its purpose in the world</a:t>
            </a:r>
          </a:p>
        </p:txBody>
      </p:sp>
      <p:sp>
        <p:nvSpPr>
          <p:cNvPr id="102" name="B102"/>
          <p:cNvSpPr/>
          <p:nvPr/>
        </p:nvSpPr>
        <p:spPr>
          <a:xfrm>
            <a:off x="676656" y="1856232"/>
            <a:ext cx="2395728" cy="621792"/>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System</a:t>
            </a:r>
          </a:p>
        </p:txBody>
      </p:sp>
      <p:sp>
        <p:nvSpPr>
          <p:cNvPr id="103" name="P103"/>
          <p:cNvSpPr/>
          <p:nvPr/>
        </p:nvSpPr>
        <p:spPr>
          <a:xfrm>
            <a:off x="3163824" y="1856232"/>
            <a:ext cx="5458968"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evidence about the assembled system at a chosen boundary</a:t>
            </a:r>
          </a:p>
        </p:txBody>
      </p:sp>
      <p:sp>
        <p:nvSpPr>
          <p:cNvPr id="104" name="B104"/>
          <p:cNvSpPr/>
          <p:nvPr/>
        </p:nvSpPr>
        <p:spPr>
          <a:xfrm>
            <a:off x="676656" y="2596896"/>
            <a:ext cx="2395728" cy="621792"/>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Integration</a:t>
            </a:r>
          </a:p>
        </p:txBody>
      </p:sp>
      <p:sp>
        <p:nvSpPr>
          <p:cNvPr id="105" name="P105"/>
          <p:cNvSpPr/>
          <p:nvPr/>
        </p:nvSpPr>
        <p:spPr>
          <a:xfrm>
            <a:off x="3163824" y="2596896"/>
            <a:ext cx="5458968"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evidence about interactions among parts</a:t>
            </a:r>
          </a:p>
        </p:txBody>
      </p:sp>
      <p:sp>
        <p:nvSpPr>
          <p:cNvPr id="106" name="B106"/>
          <p:cNvSpPr/>
          <p:nvPr/>
        </p:nvSpPr>
        <p:spPr>
          <a:xfrm>
            <a:off x="676656" y="3337560"/>
            <a:ext cx="2395728" cy="621792"/>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Unit</a:t>
            </a:r>
          </a:p>
        </p:txBody>
      </p:sp>
      <p:sp>
        <p:nvSpPr>
          <p:cNvPr id="107" name="P107"/>
          <p:cNvSpPr/>
          <p:nvPr/>
        </p:nvSpPr>
        <p:spPr>
          <a:xfrm>
            <a:off x="3163824" y="3337560"/>
            <a:ext cx="5458968"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evidence about a chosen part in isolation</a:t>
            </a:r>
          </a:p>
        </p:txBody>
      </p:sp>
      <p:sp>
        <p:nvSpPr>
          <p:cNvPr id="120" name="T120"/>
          <p:cNvSpPr txBox="1"/>
          <p:nvPr/>
        </p:nvSpPr>
        <p:spPr>
          <a:xfrm>
            <a:off x="676656" y="4206240"/>
            <a:ext cx="7936992" cy="914400"/>
          </a:xfrm>
          <a:prstGeom prst="rect">
            <a:avLst/>
          </a:prstGeom>
          <a:noFill/>
          <a:ln>
            <a:noFill/>
          </a:ln>
        </p:spPr>
        <p:txBody>
          <a:bodyPr wrap="square" lIns="0" tIns="0" rIns="0" bIns="0" anchor="t"/>
          <a:lstStyle/>
          <a:p>
            <a:pPr algn="ctr">
              <a:buNone/>
            </a:pPr>
            <a:r>
              <a:rPr lang="en-US" sz="1550" b="0" i="1" dirty="0">
                <a:solidFill>
                  <a:srgbClr val="555960"/>
                </a:solidFill>
              </a:rPr>
              <a:t>These name scopes of evidence. A subsystem may be a “unit” from one perspective and a “system” with its own architecture from another.</a:t>
            </a:r>
          </a:p>
          <a:p>
            <a:pPr algn="ctr">
              <a:spcBef>
                <a:spcPts val="120"/>
              </a:spcBef>
              <a:buNone/>
            </a:pPr>
            <a:r>
              <a:rPr lang="en-US" sz="1550" b="0" i="1" dirty="0">
                <a:solidFill>
                  <a:srgbClr val="555960"/>
                </a:solidFill>
              </a:rPr>
              <a:t>The words are relative. The question they answer — where does this property live? — is not.</a:t>
            </a:r>
          </a:p>
        </p:txBody>
      </p:sp>
      <p:sp>
        <p:nvSpPr>
          <p:cNvPr id="13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You will hear these words constantly. Now you know what they describe.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2900" b="0" i="0" dirty="0">
                <a:solidFill>
                  <a:srgbClr val="000000"/>
                </a:solidFill>
              </a:rPr>
              <a:t>How can we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T100"/>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02" name="T102"/>
          <p:cNvSpPr txBox="1"/>
          <p:nvPr/>
        </p:nvSpPr>
        <p:spPr>
          <a:xfrm>
            <a:off x="685800" y="3886200"/>
            <a:ext cx="7772400" cy="1100000"/>
          </a:xfrm>
          <a:prstGeom prst="rect">
            <a:avLst/>
          </a:prstGeom>
          <a:noFill/>
          <a:ln>
            <a:noFill/>
          </a:ln>
        </p:spPr>
        <p:txBody>
          <a:bodyPr wrap="square" lIns="0" tIns="0" rIns="0" bIns="0" anchor="t"/>
          <a:lstStyle/>
          <a:p>
            <a:pPr algn="ctr">
              <a:buNone/>
            </a:pPr>
            <a:r>
              <a:rPr lang="en-US" sz="2200" b="0" i="1" dirty="0">
                <a:solidFill>
                  <a:srgbClr val="555960"/>
                </a:solidFill>
              </a:rPr>
              <a:t>Four ways engineers come to know things about software.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Four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T100"/>
          <p:cNvSpPr txBox="1"/>
          <p:nvPr/>
        </p:nvSpPr>
        <p:spPr>
          <a:xfrm>
            <a:off x="566928" y="896112"/>
            <a:ext cx="8010144" cy="365760"/>
          </a:xfrm>
          <a:prstGeom prst="rect">
            <a:avLst/>
          </a:prstGeom>
          <a:noFill/>
          <a:ln>
            <a:noFill/>
          </a:ln>
        </p:spPr>
        <p:txBody>
          <a:bodyPr wrap="square" lIns="0" tIns="0" rIns="0" bIns="0" anchor="t"/>
          <a:lstStyle/>
          <a:p>
            <a:pPr algn="ctr">
              <a:buNone/>
            </a:pPr>
            <a:r>
              <a:rPr lang="en-US" sz="1700" b="0" i="0" dirty="0">
                <a:solidFill>
                  <a:srgbClr val="000000"/>
                </a:solidFill>
              </a:rPr>
              <a:t>A claim and a scope say WHERE evidence must attach. They do not say how to get it.</a:t>
            </a:r>
          </a:p>
        </p:txBody>
      </p:sp>
      <p:sp>
        <p:nvSpPr>
          <p:cNvPr id="110" name="B110"/>
          <p:cNvSpPr/>
          <p:nvPr/>
        </p:nvSpPr>
        <p:spPr>
          <a:xfrm>
            <a:off x="566928" y="1463040"/>
            <a:ext cx="1901952" cy="566928"/>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DYNAMIC TESTING</a:t>
            </a:r>
          </a:p>
        </p:txBody>
      </p:sp>
      <p:sp>
        <p:nvSpPr>
          <p:cNvPr id="120" name="P120"/>
          <p:cNvSpPr/>
          <p:nvPr/>
        </p:nvSpPr>
        <p:spPr>
          <a:xfrm>
            <a:off x="566928" y="2084832"/>
            <a:ext cx="1901952" cy="10515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1" dirty="0">
                <a:solidFill>
                  <a:srgbClr val="000000"/>
                </a:solidFill>
              </a:rPr>
              <a:t>run it and observe what happens</a:t>
            </a:r>
          </a:p>
        </p:txBody>
      </p:sp>
      <p:sp>
        <p:nvSpPr>
          <p:cNvPr id="111" name="B111"/>
          <p:cNvSpPr/>
          <p:nvPr/>
        </p:nvSpPr>
        <p:spPr>
          <a:xfrm>
            <a:off x="2615184" y="1463040"/>
            <a:ext cx="1901952" cy="566928"/>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STATIC ANALYSIS</a:t>
            </a:r>
          </a:p>
        </p:txBody>
      </p:sp>
      <p:sp>
        <p:nvSpPr>
          <p:cNvPr id="121" name="P121"/>
          <p:cNvSpPr/>
          <p:nvPr/>
        </p:nvSpPr>
        <p:spPr>
          <a:xfrm>
            <a:off x="2615184" y="2084832"/>
            <a:ext cx="1901952" cy="10515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1" dirty="0">
                <a:solidFill>
                  <a:srgbClr val="000000"/>
                </a:solidFill>
              </a:rPr>
              <a:t>infer properties without running it</a:t>
            </a:r>
          </a:p>
        </p:txBody>
      </p:sp>
      <p:sp>
        <p:nvSpPr>
          <p:cNvPr id="112" name="B112"/>
          <p:cNvSpPr/>
          <p:nvPr/>
        </p:nvSpPr>
        <p:spPr>
          <a:xfrm>
            <a:off x="4663440" y="1463040"/>
            <a:ext cx="1901952" cy="566928"/>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HUMAN INSPECTION</a:t>
            </a:r>
          </a:p>
        </p:txBody>
      </p:sp>
      <p:sp>
        <p:nvSpPr>
          <p:cNvPr id="122" name="P122"/>
          <p:cNvSpPr/>
          <p:nvPr/>
        </p:nvSpPr>
        <p:spPr>
          <a:xfrm>
            <a:off x="4663440" y="2084832"/>
            <a:ext cx="1901952" cy="10515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1" dirty="0">
                <a:solidFill>
                  <a:srgbClr val="000000"/>
                </a:solidFill>
              </a:rPr>
              <a:t>people read it and judge</a:t>
            </a:r>
          </a:p>
        </p:txBody>
      </p:sp>
      <p:sp>
        <p:nvSpPr>
          <p:cNvPr id="113" name="B113"/>
          <p:cNvSpPr/>
          <p:nvPr/>
        </p:nvSpPr>
        <p:spPr>
          <a:xfrm>
            <a:off x="6711696" y="1463040"/>
            <a:ext cx="1901952" cy="566928"/>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FORMAL METHODS</a:t>
            </a:r>
          </a:p>
        </p:txBody>
      </p:sp>
      <p:sp>
        <p:nvSpPr>
          <p:cNvPr id="123" name="P123"/>
          <p:cNvSpPr/>
          <p:nvPr/>
        </p:nvSpPr>
        <p:spPr>
          <a:xfrm>
            <a:off x="6711696" y="2084832"/>
            <a:ext cx="1901952" cy="10515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1" dirty="0">
                <a:solidFill>
                  <a:srgbClr val="000000"/>
                </a:solidFill>
              </a:rPr>
              <a:t>reason mechanically over a model</a:t>
            </a:r>
          </a:p>
        </p:txBody>
      </p:sp>
      <p:sp>
        <p:nvSpPr>
          <p:cNvPr id="130" name="E130"/>
          <p:cNvSpPr/>
          <p:nvPr/>
        </p:nvSpPr>
        <p:spPr>
          <a:xfrm>
            <a:off x="566928" y="3520440"/>
            <a:ext cx="8010144" cy="10515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50" b="1" i="0" dirty="0">
                <a:solidFill>
                  <a:srgbClr val="5C4826"/>
                </a:solidFill>
              </a:rPr>
              <a:t>Mechanism and scope are independent choices.</a:t>
            </a:r>
          </a:p>
          <a:p>
            <a:pPr algn="ctr">
              <a:spcBef>
                <a:spcPts val="120"/>
              </a:spcBef>
              <a:buNone/>
            </a:pPr>
            <a:r>
              <a:rPr lang="en-US" sz="1500" b="0" i="1" dirty="0">
                <a:solidFill>
                  <a:srgbClr val="57534E"/>
                </a:solidFill>
              </a:rPr>
              <a:t>A unit, a subsystem, or the whole system can be tested, analyzed, inspected, or modeled.</a:t>
            </a:r>
          </a:p>
        </p:txBody>
      </p:sp>
      <p:sp>
        <p:nvSpPr>
          <p:cNvPr id="140" name="T140"/>
          <p:cNvSpPr txBox="1"/>
          <p:nvPr/>
        </p:nvSpPr>
        <p:spPr>
          <a:xfrm>
            <a:off x="566928" y="4754880"/>
            <a:ext cx="8010144" cy="411480"/>
          </a:xfrm>
          <a:prstGeom prst="rect">
            <a:avLst/>
          </a:prstGeom>
          <a:noFill/>
          <a:ln>
            <a:noFill/>
          </a:ln>
        </p:spPr>
        <p:txBody>
          <a:bodyPr wrap="square" lIns="0" tIns="0" rIns="0" bIns="0" anchor="t"/>
          <a:lstStyle/>
          <a:p>
            <a:pPr algn="ctr">
              <a:buNone/>
            </a:pPr>
            <a:r>
              <a:rPr lang="en-US" sz="1500" b="0" i="1" dirty="0">
                <a:solidFill>
                  <a:srgbClr val="555960"/>
                </a:solidFill>
              </a:rPr>
              <a:t>Each buys a different kind of knowledge — and each has a limitation you should be able to state.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“Unit” says where the evidence attaches. “Testing” says how it was obtained.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0"/>
                                        </p:tgtEl>
                                        <p:attrNameLst>
                                          <p:attrName>style.visibility</p:attrName>
                                        </p:attrNameLst>
                                      </p:cBhvr>
                                      <p:to>
                                        <p:strVal val="visible"/>
                                      </p:to>
                                    </p:set>
                                    <p:animEffect transition="in" filter="fade">
                                      <p:cBhvr>
                                        <p:cTn id="42"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Dynamic testing observes executions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960120"/>
            <a:ext cx="1810512" cy="6858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CHOOSE INPUTS</a:t>
            </a:r>
          </a:p>
        </p:txBody>
      </p:sp>
      <p:cxnSp>
        <p:nvCxnSpPr>
          <p:cNvPr id="110" name="C110"/>
          <p:cNvCxnSpPr/>
          <p:nvPr/>
        </p:nvCxnSpPr>
        <p:spPr>
          <a:xfrm>
            <a:off x="2404872" y="1298448"/>
            <a:ext cx="164592" cy="0"/>
          </a:xfrm>
          <a:prstGeom prst="straightConnector1">
            <a:avLst/>
          </a:prstGeom>
          <a:ln w="38100">
            <a:solidFill>
              <a:srgbClr val="8E6F3E"/>
            </a:solidFill>
            <a:tailEnd type="triangle" w="med" len="med"/>
          </a:ln>
        </p:spPr>
      </p:cxnSp>
      <p:sp>
        <p:nvSpPr>
          <p:cNvPr id="101" name="B101"/>
          <p:cNvSpPr/>
          <p:nvPr/>
        </p:nvSpPr>
        <p:spPr>
          <a:xfrm>
            <a:off x="2596896" y="960120"/>
            <a:ext cx="1810512" cy="6858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RUN THE SYSTEM</a:t>
            </a:r>
          </a:p>
        </p:txBody>
      </p:sp>
      <p:cxnSp>
        <p:nvCxnSpPr>
          <p:cNvPr id="111" name="C111"/>
          <p:cNvCxnSpPr/>
          <p:nvPr/>
        </p:nvCxnSpPr>
        <p:spPr>
          <a:xfrm>
            <a:off x="4434840" y="1298448"/>
            <a:ext cx="164592" cy="0"/>
          </a:xfrm>
          <a:prstGeom prst="straightConnector1">
            <a:avLst/>
          </a:prstGeom>
          <a:ln w="38100">
            <a:solidFill>
              <a:srgbClr val="8E6F3E"/>
            </a:solidFill>
            <a:tailEnd type="triangle" w="med" len="med"/>
          </a:ln>
        </p:spPr>
      </p:cxnSp>
      <p:sp>
        <p:nvSpPr>
          <p:cNvPr id="102" name="B102"/>
          <p:cNvSpPr/>
          <p:nvPr/>
        </p:nvSpPr>
        <p:spPr>
          <a:xfrm>
            <a:off x="4626864" y="960120"/>
            <a:ext cx="1810512" cy="6858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OBSERVE BEHAVIOR</a:t>
            </a:r>
          </a:p>
        </p:txBody>
      </p:sp>
      <p:cxnSp>
        <p:nvCxnSpPr>
          <p:cNvPr id="112" name="C112"/>
          <p:cNvCxnSpPr/>
          <p:nvPr/>
        </p:nvCxnSpPr>
        <p:spPr>
          <a:xfrm>
            <a:off x="6464808" y="1298448"/>
            <a:ext cx="164592" cy="0"/>
          </a:xfrm>
          <a:prstGeom prst="straightConnector1">
            <a:avLst/>
          </a:prstGeom>
          <a:ln w="38100">
            <a:solidFill>
              <a:srgbClr val="8E6F3E"/>
            </a:solidFill>
            <a:tailEnd type="triangle" w="med" len="med"/>
          </a:ln>
        </p:spPr>
      </p:cxnSp>
      <p:sp>
        <p:nvSpPr>
          <p:cNvPr id="103" name="B103"/>
          <p:cNvSpPr/>
          <p:nvPr/>
        </p:nvSpPr>
        <p:spPr>
          <a:xfrm>
            <a:off x="6656832" y="960120"/>
            <a:ext cx="1810512" cy="6858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COMPARE TO AN ORACLE</a:t>
            </a:r>
          </a:p>
        </p:txBody>
      </p:sp>
      <p:sp>
        <p:nvSpPr>
          <p:cNvPr id="120" name="E120"/>
          <p:cNvSpPr/>
          <p:nvPr/>
        </p:nvSpPr>
        <p:spPr>
          <a:xfrm>
            <a:off x="1005840" y="2103120"/>
            <a:ext cx="7132320" cy="9144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1" i="0" dirty="0">
                <a:solidFill>
                  <a:srgbClr val="5C4826"/>
                </a:solidFill>
              </a:rPr>
              <a:t>The test passes.</a:t>
            </a:r>
          </a:p>
          <a:p>
            <a:pPr algn="ctr">
              <a:spcBef>
                <a:spcPts val="120"/>
              </a:spcBef>
              <a:buNone/>
            </a:pPr>
            <a:r>
              <a:rPr lang="en-US" sz="1650" b="0" i="1" dirty="0">
                <a:solidFill>
                  <a:srgbClr val="57534E"/>
                </a:solidFill>
              </a:rPr>
              <a:t>What does that tell us about the executions we did not run?</a:t>
            </a:r>
          </a:p>
        </p:txBody>
      </p:sp>
      <p:sp>
        <p:nvSpPr>
          <p:cNvPr id="130" name="P130"/>
          <p:cNvSpPr/>
          <p:nvPr/>
        </p:nvSpPr>
        <p:spPr>
          <a:xfrm>
            <a:off x="566928" y="3291840"/>
            <a:ext cx="8010144" cy="7772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Every execution we run is one sample of the behavior. The ones we did not choose are unobserved — not shown to be correct.</a:t>
            </a:r>
          </a:p>
        </p:txBody>
      </p:sp>
      <p:sp>
        <p:nvSpPr>
          <p:cNvPr id="140" name="T140"/>
          <p:cNvSpPr txBox="1"/>
          <p:nvPr/>
        </p:nvSpPr>
        <p:spPr>
          <a:xfrm>
            <a:off x="566928" y="4251960"/>
            <a:ext cx="8010144" cy="777240"/>
          </a:xfrm>
          <a:prstGeom prst="rect">
            <a:avLst/>
          </a:prstGeom>
          <a:noFill/>
          <a:ln>
            <a:noFill/>
          </a:ln>
        </p:spPr>
        <p:txBody>
          <a:bodyPr wrap="square" lIns="0" tIns="0" rIns="0" bIns="0" anchor="t"/>
          <a:lstStyle/>
          <a:p>
            <a:pPr algn="ctr">
              <a:buNone/>
            </a:pPr>
            <a:r>
              <a:rPr lang="en-US" sz="1500" b="0" i="1" dirty="0">
                <a:solidFill>
                  <a:srgbClr val="555960"/>
                </a:solidFill>
              </a:rPr>
              <a:t>Two things are always required: inputs to run, and an oracle that says what counts as correct.</a:t>
            </a:r>
          </a:p>
          <a:p>
            <a:pPr algn="ctr">
              <a:spcBef>
                <a:spcPts val="120"/>
              </a:spcBef>
              <a:buNone/>
            </a:pPr>
            <a:r>
              <a:rPr lang="en-US" sz="1500" b="0" i="1" dirty="0">
                <a:solidFill>
                  <a:srgbClr val="555960"/>
                </a:solidFill>
              </a:rPr>
              <a:t>When stating the correct answer is itself hard, we need search strategies — Section 4.</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Testing observes executions. It does not observe the executions you didn’t run.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Coverage tells us where we looked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566928" y="868680"/>
            <a:ext cx="8010144" cy="685800"/>
          </a:xfrm>
          <a:prstGeom prst="rect">
            <a:avLst/>
          </a:prstGeom>
          <a:noFill/>
          <a:ln>
            <a:noFill/>
          </a:ln>
        </p:spPr>
        <p:txBody>
          <a:bodyPr wrap="square" lIns="0" tIns="0" rIns="0" bIns="0" anchor="t"/>
          <a:lstStyle/>
          <a:p>
            <a:pPr algn="ctr">
              <a:buNone/>
            </a:pPr>
            <a:r>
              <a:rPr lang="en-US" sz="1700" b="0" i="0" dirty="0">
                <a:solidFill>
                  <a:srgbClr val="000000"/>
                </a:solidFill>
              </a:rPr>
              <a:t>Statement and condition coverage both reached 100%.</a:t>
            </a:r>
          </a:p>
          <a:p>
            <a:pPr algn="ctr">
              <a:spcBef>
                <a:spcPts val="120"/>
              </a:spcBef>
              <a:buNone/>
            </a:pPr>
            <a:r>
              <a:rPr lang="en-US" sz="1700" b="1" i="0" dirty="0">
                <a:solidFill>
                  <a:srgbClr val="000000"/>
                </a:solidFill>
              </a:rPr>
              <a:t>What have we established — and what have we not?</a:t>
            </a:r>
          </a:p>
        </p:txBody>
      </p:sp>
      <p:sp>
        <p:nvSpPr>
          <p:cNvPr id="110" name="T110"/>
          <p:cNvSpPr txBox="1"/>
          <p:nvPr/>
        </p:nvSpPr>
        <p:spPr>
          <a:xfrm>
            <a:off x="566928" y="2926080"/>
            <a:ext cx="8010144" cy="292608"/>
          </a:xfrm>
          <a:prstGeom prst="rect">
            <a:avLst/>
          </a:prstGeom>
          <a:noFill/>
          <a:ln>
            <a:noFill/>
          </a:ln>
        </p:spPr>
        <p:txBody>
          <a:bodyPr wrap="square" lIns="0" tIns="0" rIns="0" bIns="0" anchor="t"/>
          <a:lstStyle/>
          <a:p>
            <a:pPr algn="ctr">
              <a:buNone/>
            </a:pPr>
            <a:r>
              <a:rPr lang="en-US" sz="1500" b="0" i="1" dirty="0">
                <a:solidFill>
                  <a:srgbClr val="555960"/>
                </a:solidFill>
              </a:rPr>
              <a:t>Different notions of “how much did we look at?”</a:t>
            </a:r>
          </a:p>
        </p:txBody>
      </p:sp>
      <p:sp>
        <p:nvSpPr>
          <p:cNvPr id="130" name="P130"/>
          <p:cNvSpPr/>
          <p:nvPr/>
        </p:nvSpPr>
        <p:spPr>
          <a:xfrm>
            <a:off x="676656" y="3273552"/>
            <a:ext cx="1463040" cy="5486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50" b="0" i="0" dirty="0">
                <a:solidFill>
                  <a:srgbClr val="000000"/>
                </a:solidFill>
              </a:rPr>
              <a:t>statement</a:t>
            </a:r>
          </a:p>
        </p:txBody>
      </p:sp>
      <p:sp>
        <p:nvSpPr>
          <p:cNvPr id="131" name="P131"/>
          <p:cNvSpPr/>
          <p:nvPr/>
        </p:nvSpPr>
        <p:spPr>
          <a:xfrm>
            <a:off x="2258568" y="3273552"/>
            <a:ext cx="1463040" cy="5486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50" b="0" i="0" dirty="0">
                <a:solidFill>
                  <a:srgbClr val="000000"/>
                </a:solidFill>
              </a:rPr>
              <a:t>branch / condition</a:t>
            </a:r>
          </a:p>
        </p:txBody>
      </p:sp>
      <p:sp>
        <p:nvSpPr>
          <p:cNvPr id="132" name="P132"/>
          <p:cNvSpPr/>
          <p:nvPr/>
        </p:nvSpPr>
        <p:spPr>
          <a:xfrm>
            <a:off x="3840480" y="3273552"/>
            <a:ext cx="1463040" cy="5486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50" b="0" i="0" dirty="0">
                <a:solidFill>
                  <a:srgbClr val="000000"/>
                </a:solidFill>
              </a:rPr>
              <a:t>path</a:t>
            </a:r>
          </a:p>
        </p:txBody>
      </p:sp>
      <p:sp>
        <p:nvSpPr>
          <p:cNvPr id="133" name="P133"/>
          <p:cNvSpPr/>
          <p:nvPr/>
        </p:nvSpPr>
        <p:spPr>
          <a:xfrm>
            <a:off x="5422392" y="3273552"/>
            <a:ext cx="1463040" cy="5486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50" b="0" i="0" dirty="0">
                <a:solidFill>
                  <a:srgbClr val="000000"/>
                </a:solidFill>
              </a:rPr>
              <a:t>input &amp; state space</a:t>
            </a:r>
          </a:p>
        </p:txBody>
      </p:sp>
      <p:sp>
        <p:nvSpPr>
          <p:cNvPr id="134" name="P134"/>
          <p:cNvSpPr/>
          <p:nvPr/>
        </p:nvSpPr>
        <p:spPr>
          <a:xfrm>
            <a:off x="7004304" y="3273552"/>
            <a:ext cx="1463040" cy="5486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50" b="0" i="0" dirty="0">
                <a:solidFill>
                  <a:srgbClr val="000000"/>
                </a:solidFill>
              </a:rPr>
              <a:t>claim</a:t>
            </a:r>
          </a:p>
        </p:txBody>
      </p:sp>
      <p:sp>
        <p:nvSpPr>
          <p:cNvPr id="120" name="E120"/>
          <p:cNvSpPr/>
          <p:nvPr/>
        </p:nvSpPr>
        <p:spPr>
          <a:xfrm>
            <a:off x="1005840" y="4023360"/>
            <a:ext cx="7132320" cy="96012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800" b="1" i="0" dirty="0">
                <a:solidFill>
                  <a:srgbClr val="5C4826"/>
                </a:solidFill>
              </a:rPr>
              <a:t>Coverage tells us WHERE WE LOOKED.</a:t>
            </a:r>
          </a:p>
          <a:p>
            <a:pPr algn="ctr">
              <a:spcBef>
                <a:spcPts val="120"/>
              </a:spcBef>
              <a:buNone/>
            </a:pPr>
            <a:r>
              <a:rPr lang="en-US" sz="1550" b="0" i="1" dirty="0">
                <a:solidFill>
                  <a:srgbClr val="57534E"/>
                </a:solidFill>
              </a:rPr>
              <a:t>None of these says the code is correct — a reached line with no consequential assertion is execution, not evidence.</a:t>
            </a:r>
          </a:p>
        </p:txBody>
      </p:sp>
      <p:sp>
        <p:nvSpPr>
          <p:cNvPr id="140" name="T140"/>
          <p:cNvSpPr txBox="1"/>
          <p:nvPr/>
        </p:nvSpPr>
        <p:spPr>
          <a:xfrm>
            <a:off x="566928" y="5120640"/>
            <a:ext cx="8010144" cy="292608"/>
          </a:xfrm>
          <a:prstGeom prst="rect">
            <a:avLst/>
          </a:prstGeom>
          <a:noFill/>
          <a:ln>
            <a:noFill/>
          </a:ln>
        </p:spPr>
        <p:txBody>
          <a:bodyPr wrap="square" lIns="0" tIns="0" rIns="0" bIns="0" anchor="t"/>
          <a:lstStyle/>
          <a:p>
            <a:pPr algn="ctr">
              <a:buNone/>
            </a:pPr>
            <a:r>
              <a:rPr lang="en-US" sz="1450" b="0" i="1" dirty="0">
                <a:solidFill>
                  <a:srgbClr val="555960"/>
                </a:solidFill>
              </a:rPr>
              <a:t>Google and Microsoft report ~80–90% statement coverage; DO-178C Level A avionics requires 100% MC/DC.</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Execution coverage is not claim coverage.</a:t>
            </a:r>
          </a:p>
        </p:txBody>
      </p:sp>
      <p:pic>
        <p:nvPicPr>
          <p:cNvPr id="151" name="Picture 150" descr="image.png"/>
          <p:cNvPicPr>
            <a:picLocks noChangeAspect="1"/>
          </p:cNvPicPr>
          <p:nvPr/>
        </p:nvPicPr>
        <p:blipFill>
          <a:blip r:embed="rId2"/>
          <a:stretch>
            <a:fillRect/>
          </a:stretch>
        </p:blipFill>
        <p:spPr>
          <a:xfrm>
            <a:off x="2478024" y="1554480"/>
            <a:ext cx="4187952" cy="120700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0"/>
                                        </p:tgtEl>
                                        <p:attrNameLst>
                                          <p:attrName>style.visibility</p:attrName>
                                        </p:attrNameLst>
                                      </p:cBhvr>
                                      <p:to>
                                        <p:strVal val="visible"/>
                                      </p:to>
                                    </p:set>
                                    <p:animEffect transition="in" filter="fade">
                                      <p:cBhvr>
                                        <p:cTn id="12" dur="500"/>
                                        <p:tgtEl>
                                          <p:spTgt spid="1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0"/>
                                        </p:tgtEl>
                                        <p:attrNameLst>
                                          <p:attrName>style.visibility</p:attrName>
                                        </p:attrNameLst>
                                      </p:cBhvr>
                                      <p:to>
                                        <p:strVal val="visible"/>
                                      </p:to>
                                    </p:set>
                                    <p:animEffect transition="in" filter="fade">
                                      <p:cBhvr>
                                        <p:cTn id="17"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Static analysis reasons without executing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P100"/>
          <p:cNvSpPr/>
          <p:nvPr/>
        </p:nvSpPr>
        <p:spPr>
          <a:xfrm>
            <a:off x="566928" y="960120"/>
            <a:ext cx="3895344" cy="132588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1500" b="0" i="0" dirty="0">
                <a:solidFill>
                  <a:srgbClr val="000000"/>
                </a:solidFill>
                <a:latin typeface="Consolas"/>
              </a:rPr>
              <a:t>Config c = loadConfig();</a:t>
            </a:r>
          </a:p>
          <a:p>
            <a:pPr algn="l">
              <a:spcBef>
                <a:spcPts val="120"/>
              </a:spcBef>
              <a:buNone/>
            </a:pPr>
            <a:r>
              <a:rPr lang="en-US" sz="1500" b="0" i="0" dirty="0">
                <a:solidFill>
                  <a:srgbClr val="000000"/>
                </a:solidFill>
                <a:latin typeface="Consolas"/>
              </a:rPr>
              <a:t>return c.timeoutMs;</a:t>
            </a:r>
          </a:p>
          <a:p>
            <a:pPr algn="l">
              <a:spcBef>
                <a:spcPts val="120"/>
              </a:spcBef>
              <a:buNone/>
            </a:pPr>
            <a:r>
              <a:rPr lang="en-US" sz="1350" b="0" i="1" dirty="0">
                <a:solidFill>
                  <a:srgbClr val="555960"/>
                </a:solidFill>
              </a:rPr>
              <a:t>loadConfig() never returns null: startup validates the file.</a:t>
            </a:r>
          </a:p>
        </p:txBody>
      </p:sp>
      <p:sp>
        <p:nvSpPr>
          <p:cNvPr id="101" name="P101"/>
          <p:cNvSpPr/>
          <p:nvPr/>
        </p:nvSpPr>
        <p:spPr>
          <a:xfrm>
            <a:off x="4681728" y="960120"/>
            <a:ext cx="3895344" cy="13258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7534E"/>
                </a:solidFill>
              </a:rPr>
              <a:t>THE ANALYZER REPORTS</a:t>
            </a:r>
          </a:p>
          <a:p>
            <a:pPr algn="ctr">
              <a:spcBef>
                <a:spcPts val="120"/>
              </a:spcBef>
              <a:buNone/>
            </a:pPr>
            <a:r>
              <a:rPr lang="en-US" sz="1500" b="0" i="0" dirty="0">
                <a:solidFill>
                  <a:srgbClr val="000000"/>
                </a:solidFill>
              </a:rPr>
              <a:t>“possible null dereference”</a:t>
            </a:r>
          </a:p>
          <a:p>
            <a:pPr algn="ctr">
              <a:spcBef>
                <a:spcPts val="120"/>
              </a:spcBef>
              <a:buNone/>
            </a:pPr>
            <a:r>
              <a:rPr lang="en-US" sz="1350" b="0" i="1" dirty="0">
                <a:solidFill>
                  <a:srgbClr val="555960"/>
                </a:solidFill>
              </a:rPr>
              <a:t>It cannot happen here — and nothing in the code says so.</a:t>
            </a:r>
          </a:p>
        </p:txBody>
      </p:sp>
      <p:sp>
        <p:nvSpPr>
          <p:cNvPr id="110" name="P110"/>
          <p:cNvSpPr/>
          <p:nvPr/>
        </p:nvSpPr>
        <p:spPr>
          <a:xfrm>
            <a:off x="566928" y="2450592"/>
            <a:ext cx="3895344" cy="7772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1" i="0" dirty="0">
                <a:solidFill>
                  <a:srgbClr val="57534E"/>
                </a:solidFill>
              </a:rPr>
              <a:t>FALSE POSITIVE</a:t>
            </a:r>
          </a:p>
          <a:p>
            <a:pPr algn="ctr">
              <a:spcBef>
                <a:spcPts val="120"/>
              </a:spcBef>
              <a:buNone/>
            </a:pPr>
            <a:r>
              <a:rPr lang="en-US" sz="1500" b="0" i="0" dirty="0">
                <a:solidFill>
                  <a:srgbClr val="000000"/>
                </a:solidFill>
              </a:rPr>
              <a:t>a reported violation that cannot actually occur</a:t>
            </a:r>
          </a:p>
        </p:txBody>
      </p:sp>
      <p:sp>
        <p:nvSpPr>
          <p:cNvPr id="111" name="P111"/>
          <p:cNvSpPr/>
          <p:nvPr/>
        </p:nvSpPr>
        <p:spPr>
          <a:xfrm>
            <a:off x="4681728" y="2450592"/>
            <a:ext cx="3895344" cy="7772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1" i="0" dirty="0">
                <a:solidFill>
                  <a:srgbClr val="5C4826"/>
                </a:solidFill>
              </a:rPr>
              <a:t>COMPLETE for what it models</a:t>
            </a:r>
          </a:p>
          <a:p>
            <a:pPr algn="ctr">
              <a:spcBef>
                <a:spcPts val="120"/>
              </a:spcBef>
              <a:buNone/>
            </a:pPr>
            <a:r>
              <a:rPr lang="en-US" sz="1450" b="0" i="0" dirty="0">
                <a:solidFill>
                  <a:srgbClr val="000000"/>
                </a:solidFill>
              </a:rPr>
              <a:t>reports no violation that cannot occur — so it may miss some that can</a:t>
            </a:r>
          </a:p>
        </p:txBody>
      </p:sp>
      <p:sp>
        <p:nvSpPr>
          <p:cNvPr id="120" name="P120"/>
          <p:cNvSpPr/>
          <p:nvPr/>
        </p:nvSpPr>
        <p:spPr>
          <a:xfrm>
            <a:off x="566928" y="3364992"/>
            <a:ext cx="3895344" cy="9601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1" i="0" dirty="0">
                <a:solidFill>
                  <a:srgbClr val="57534E"/>
                </a:solidFill>
              </a:rPr>
              <a:t>FALSE NEGATIVE</a:t>
            </a:r>
          </a:p>
          <a:p>
            <a:pPr algn="ctr">
              <a:spcBef>
                <a:spcPts val="120"/>
              </a:spcBef>
              <a:buNone/>
            </a:pPr>
            <a:r>
              <a:rPr lang="en-US" sz="1500" b="0" i="0" dirty="0">
                <a:solidFill>
                  <a:srgbClr val="000000"/>
                </a:solidFill>
              </a:rPr>
              <a:t>a real violation the analysis never reports</a:t>
            </a:r>
          </a:p>
        </p:txBody>
      </p:sp>
      <p:sp>
        <p:nvSpPr>
          <p:cNvPr id="121" name="P121"/>
          <p:cNvSpPr/>
          <p:nvPr/>
        </p:nvSpPr>
        <p:spPr>
          <a:xfrm>
            <a:off x="4681728" y="3364992"/>
            <a:ext cx="3895344" cy="9601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1" i="0" dirty="0">
                <a:solidFill>
                  <a:srgbClr val="5C4826"/>
                </a:solidFill>
              </a:rPr>
              <a:t>SOUND for what it models</a:t>
            </a:r>
          </a:p>
          <a:p>
            <a:pPr algn="ctr">
              <a:spcBef>
                <a:spcPts val="120"/>
              </a:spcBef>
              <a:buNone/>
            </a:pPr>
            <a:r>
              <a:rPr lang="en-US" sz="1450" b="0" i="0" dirty="0">
                <a:solidFill>
                  <a:srgbClr val="000000"/>
                </a:solidFill>
              </a:rPr>
              <a:t>misses no violation its model covers — so it may report some that cannot occur</a:t>
            </a:r>
          </a:p>
        </p:txBody>
      </p:sp>
      <p:sp>
        <p:nvSpPr>
          <p:cNvPr id="130" name="T130"/>
          <p:cNvSpPr txBox="1"/>
          <p:nvPr/>
        </p:nvSpPr>
        <p:spPr>
          <a:xfrm>
            <a:off x="566928" y="4526280"/>
            <a:ext cx="8010144" cy="685800"/>
          </a:xfrm>
          <a:prstGeom prst="rect">
            <a:avLst/>
          </a:prstGeom>
          <a:noFill/>
          <a:ln>
            <a:noFill/>
          </a:ln>
        </p:spPr>
        <p:txBody>
          <a:bodyPr wrap="square" lIns="0" tIns="0" rIns="0" bIns="0" anchor="t"/>
          <a:lstStyle/>
          <a:p>
            <a:pPr algn="ctr">
              <a:buNone/>
            </a:pPr>
            <a:r>
              <a:rPr lang="en-US" sz="1550" b="0" i="1" dirty="0">
                <a:solidFill>
                  <a:srgbClr val="555960"/>
                </a:solidFill>
              </a:rPr>
              <a:t>Which promise a tool makes, and over which behaviors, is a property of that tool.</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Static analysis is inference under an abstraction, and no wiser than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Human inspection contributes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P100"/>
          <p:cNvSpPr/>
          <p:nvPr/>
        </p:nvSpPr>
        <p:spPr>
          <a:xfrm>
            <a:off x="566928" y="932688"/>
            <a:ext cx="3895344" cy="30175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7534E"/>
                </a:solidFill>
              </a:rPr>
              <a:t>WHAT PEOPLE NOTICE THAT MACHINES DO NOT</a:t>
            </a:r>
          </a:p>
          <a:p>
            <a:pPr algn="ctr">
              <a:spcBef>
                <a:spcPts val="120"/>
              </a:spcBef>
              <a:buNone/>
            </a:pPr>
            <a:r>
              <a:rPr lang="en-US" sz="1550" b="0" i="0" dirty="0">
                <a:solidFill>
                  <a:srgbClr val="000000"/>
                </a:solidFill>
              </a:rPr>
              <a:t>the wrong problem has been solved</a:t>
            </a:r>
          </a:p>
          <a:p>
            <a:pPr algn="ctr">
              <a:spcBef>
                <a:spcPts val="120"/>
              </a:spcBef>
              <a:buNone/>
            </a:pPr>
            <a:r>
              <a:rPr lang="en-US" sz="1550" b="0" i="0" dirty="0">
                <a:solidFill>
                  <a:srgbClr val="000000"/>
                </a:solidFill>
              </a:rPr>
              <a:t>an assumption is unstated, or wrong</a:t>
            </a:r>
          </a:p>
          <a:p>
            <a:pPr algn="ctr">
              <a:spcBef>
                <a:spcPts val="120"/>
              </a:spcBef>
              <a:buNone/>
            </a:pPr>
            <a:r>
              <a:rPr lang="en-US" sz="1550" b="0" i="0" dirty="0">
                <a:solidFill>
                  <a:srgbClr val="000000"/>
                </a:solidFill>
              </a:rPr>
              <a:t>a requirement is ambiguous</a:t>
            </a:r>
          </a:p>
          <a:p>
            <a:pPr algn="ctr">
              <a:spcBef>
                <a:spcPts val="120"/>
              </a:spcBef>
              <a:buNone/>
            </a:pPr>
            <a:r>
              <a:rPr lang="en-US" sz="1550" b="0" i="0" dirty="0">
                <a:solidFill>
                  <a:srgbClr val="000000"/>
                </a:solidFill>
              </a:rPr>
              <a:t>a design choice will not survive change</a:t>
            </a:r>
          </a:p>
          <a:p>
            <a:pPr algn="ctr">
              <a:spcBef>
                <a:spcPts val="120"/>
              </a:spcBef>
              <a:buNone/>
            </a:pPr>
            <a:r>
              <a:rPr lang="en-US" sz="1550" b="0" i="0" dirty="0">
                <a:solidFill>
                  <a:srgbClr val="000000"/>
                </a:solidFill>
              </a:rPr>
              <a:t>a concern nobody wrote down is missing</a:t>
            </a:r>
          </a:p>
          <a:p>
            <a:pPr algn="ctr">
              <a:spcBef>
                <a:spcPts val="120"/>
              </a:spcBef>
              <a:buNone/>
            </a:pPr>
            <a:r>
              <a:rPr lang="en-US" sz="1550" b="0" i="0" dirty="0">
                <a:solidFill>
                  <a:srgbClr val="000000"/>
                </a:solidFill>
              </a:rPr>
              <a:t>an interface contract is only implied</a:t>
            </a:r>
          </a:p>
          <a:p>
            <a:pPr algn="ctr">
              <a:spcBef>
                <a:spcPts val="120"/>
              </a:spcBef>
              <a:buNone/>
            </a:pPr>
            <a:r>
              <a:rPr lang="en-US" sz="1550" b="0" i="0" dirty="0">
                <a:solidFill>
                  <a:srgbClr val="000000"/>
                </a:solidFill>
              </a:rPr>
              <a:t>the requirement itself is the wrong one</a:t>
            </a:r>
          </a:p>
        </p:txBody>
      </p:sp>
      <p:sp>
        <p:nvSpPr>
          <p:cNvPr id="110" name="P110"/>
          <p:cNvSpPr/>
          <p:nvPr/>
        </p:nvSpPr>
        <p:spPr>
          <a:xfrm>
            <a:off x="4681728" y="932688"/>
            <a:ext cx="3895344" cy="658368"/>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0" i="0" dirty="0">
                <a:solidFill>
                  <a:srgbClr val="000000"/>
                </a:solidFill>
              </a:rPr>
              <a:t>People recognize semantic problems machines do not know to ask about</a:t>
            </a:r>
          </a:p>
        </p:txBody>
      </p:sp>
      <p:cxnSp>
        <p:nvCxnSpPr>
          <p:cNvPr id="120" name="C120"/>
          <p:cNvCxnSpPr/>
          <p:nvPr/>
        </p:nvCxnSpPr>
        <p:spPr>
          <a:xfrm>
            <a:off x="6629400" y="1609344"/>
            <a:ext cx="0" cy="91440"/>
          </a:xfrm>
          <a:prstGeom prst="straightConnector1">
            <a:avLst/>
          </a:prstGeom>
          <a:ln w="38100">
            <a:solidFill>
              <a:srgbClr val="8E6F3E"/>
            </a:solidFill>
            <a:tailEnd type="triangle" w="med" len="med"/>
          </a:ln>
        </p:spPr>
      </p:cxnSp>
      <p:sp>
        <p:nvSpPr>
          <p:cNvPr id="111" name="P111"/>
          <p:cNvSpPr/>
          <p:nvPr/>
        </p:nvSpPr>
        <p:spPr>
          <a:xfrm>
            <a:off x="4681728" y="1719072"/>
            <a:ext cx="3895344" cy="658368"/>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0" i="0" dirty="0">
                <a:solidFill>
                  <a:srgbClr val="000000"/>
                </a:solidFill>
              </a:rPr>
              <a:t>But attention and vigilance are finite</a:t>
            </a:r>
          </a:p>
        </p:txBody>
      </p:sp>
      <p:cxnSp>
        <p:nvCxnSpPr>
          <p:cNvPr id="121" name="C121"/>
          <p:cNvCxnSpPr/>
          <p:nvPr/>
        </p:nvCxnSpPr>
        <p:spPr>
          <a:xfrm>
            <a:off x="6629400" y="2395728"/>
            <a:ext cx="0" cy="91440"/>
          </a:xfrm>
          <a:prstGeom prst="straightConnector1">
            <a:avLst/>
          </a:prstGeom>
          <a:ln w="38100">
            <a:solidFill>
              <a:srgbClr val="8E6F3E"/>
            </a:solidFill>
            <a:tailEnd type="triangle" w="med" len="med"/>
          </a:ln>
        </p:spPr>
      </p:cxnSp>
      <p:sp>
        <p:nvSpPr>
          <p:cNvPr id="112" name="P112"/>
          <p:cNvSpPr/>
          <p:nvPr/>
        </p:nvSpPr>
        <p:spPr>
          <a:xfrm>
            <a:off x="4681728" y="2505456"/>
            <a:ext cx="3895344" cy="658368"/>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0" i="0" dirty="0">
                <a:solidFill>
                  <a:srgbClr val="000000"/>
                </a:solidFill>
              </a:rPr>
              <a:t>Rare-event detection degrades under repetitive inspection</a:t>
            </a:r>
          </a:p>
        </p:txBody>
      </p:sp>
      <p:cxnSp>
        <p:nvCxnSpPr>
          <p:cNvPr id="122" name="C122"/>
          <p:cNvCxnSpPr/>
          <p:nvPr/>
        </p:nvCxnSpPr>
        <p:spPr>
          <a:xfrm>
            <a:off x="6629400" y="3182112"/>
            <a:ext cx="0" cy="91440"/>
          </a:xfrm>
          <a:prstGeom prst="straightConnector1">
            <a:avLst/>
          </a:prstGeom>
          <a:ln w="38100">
            <a:solidFill>
              <a:srgbClr val="8E6F3E"/>
            </a:solidFill>
            <a:tailEnd type="triangle" w="med" len="med"/>
          </a:ln>
        </p:spPr>
      </p:cxnSp>
      <p:sp>
        <p:nvSpPr>
          <p:cNvPr id="130" name="E130"/>
          <p:cNvSpPr/>
          <p:nvPr/>
        </p:nvSpPr>
        <p:spPr>
          <a:xfrm>
            <a:off x="4681728" y="3291840"/>
            <a:ext cx="3895344" cy="65836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50" b="1" i="0" dirty="0">
                <a:solidFill>
                  <a:srgbClr val="5C4826"/>
                </a:solidFill>
              </a:rPr>
              <a:t>So review is valuable evidence — not exhaustive coverage</a:t>
            </a:r>
          </a:p>
        </p:txBody>
      </p:sp>
      <p:sp>
        <p:nvSpPr>
          <p:cNvPr id="140" name="T140"/>
          <p:cNvSpPr txBox="1"/>
          <p:nvPr/>
        </p:nvSpPr>
        <p:spPr>
          <a:xfrm>
            <a:off x="566928" y="4206240"/>
            <a:ext cx="8010144" cy="640080"/>
          </a:xfrm>
          <a:prstGeom prst="rect">
            <a:avLst/>
          </a:prstGeom>
          <a:noFill/>
          <a:ln>
            <a:noFill/>
          </a:ln>
        </p:spPr>
        <p:txBody>
          <a:bodyPr wrap="square" lIns="0" tIns="0" rIns="0" bIns="0" anchor="t"/>
          <a:lstStyle/>
          <a:p>
            <a:pPr algn="ctr">
              <a:buNone/>
            </a:pPr>
            <a:r>
              <a:rPr lang="en-US" sz="1300" b="0" i="1" dirty="0">
                <a:solidFill>
                  <a:srgbClr val="78716C"/>
                </a:solidFill>
              </a:rPr>
              <a:t>Wolfe, Horowitz &amp; Kenner, “Rare Items Often Missed in Visual Searches,” Nature 435 (2005).</a:t>
            </a:r>
          </a:p>
          <a:p>
            <a:pPr algn="ctr">
              <a:spcBef>
                <a:spcPts val="120"/>
              </a:spcBef>
              <a:buNone/>
            </a:pPr>
            <a:r>
              <a:rPr lang="en-US" sz="1300" b="0" i="1" dirty="0">
                <a:solidFill>
                  <a:srgbClr val="78716C"/>
                </a:solidFill>
              </a:rPr>
              <a:t>Warm, Parasuraman &amp; Matthews, “Vigilance Requires Hard Mental Work and Is Stressful,” Human Factors 50, no. 3 (2008).</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 review is evidence from judgment — not a scalable exhaustive detector.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pic>
        <p:nvPicPr>
          <p:cNvPr id="400" name="Board1" descr="Printed circuit board assembly, PAY-CTRL rev C"/>
          <p:cNvPicPr>
            <a:picLocks noChangeAspect="1"/>
          </p:cNvPicPr>
          <p:nvPr/>
        </p:nvPicPr>
        <p:blipFill>
          <a:blip r:embed="rId10"/>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10"/>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10"/>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10"/>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10"/>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10"/>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11"/>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10"/>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10"/>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10"/>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10"/>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10"/>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10896"/>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Row 2, column 3 — the JP2 link is missing. Every other board carries three.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RULE: the payment ID must be recorded BEFORE the provider is charged.</a:t>
            </a:r>
          </a:p>
          <a:p>
            <a:pPr algn="ctr">
              <a:buNone/>
            </a:pPr>
            <a:r>
              <a:rPr lang="en-US" sz="1250" b="0" i="1" dirty="0">
                <a:solidFill>
                  <a:srgbClr val="57534E"/>
                </a:solidFill>
              </a:rPr>
              <a:t>A retry must never charge twice.</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1</a:t>
            </a:r>
            <a:r>
              <a:rPr lang="en-US" sz="1050" b="0" i="0" dirty="0">
                <a:solidFill>
                  <a:srgbClr val="000000"/>
                </a:solidFill>
                <a:latin typeface="Consolas"/>
              </a:rPr>
              <a:t>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2</a:t>
            </a:r>
            <a:r>
              <a:rPr lang="en-US" sz="1050" b="0" i="0" dirty="0">
                <a:solidFill>
                  <a:srgbClr val="000000"/>
                </a:solidFill>
                <a:latin typeface="Consolas"/>
              </a:rPr>
              <a:t>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3</a:t>
            </a:r>
            <a:r>
              <a:rPr lang="en-US" sz="1050" b="0" i="0" dirty="0">
                <a:solidFill>
                  <a:srgbClr val="000000"/>
                </a:solidFill>
                <a:latin typeface="Consolas"/>
              </a:rPr>
              <a:t>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4</a:t>
            </a:r>
            <a:r>
              <a:rPr lang="en-US" sz="1050" b="0" i="0" dirty="0">
                <a:solidFill>
                  <a:srgbClr val="000000"/>
                </a:solidFill>
                <a:latin typeface="Consolas"/>
              </a:rPr>
              <a:t>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5</a:t>
            </a:r>
            <a:r>
              <a:rPr lang="en-US" sz="1050" b="0" i="0" dirty="0">
                <a:solidFill>
                  <a:srgbClr val="000000"/>
                </a:solidFill>
                <a:latin typeface="Consolas"/>
              </a:rPr>
              <a:t>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6</a:t>
            </a:r>
            <a:r>
              <a:rPr lang="en-US" sz="1050" b="0" i="0" dirty="0">
                <a:solidFill>
                  <a:srgbClr val="000000"/>
                </a:solidFill>
                <a:latin typeface="Consolas"/>
              </a:rPr>
              <a:t>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7</a:t>
            </a:r>
            <a:r>
              <a:rPr lang="en-US" sz="1050" b="0" i="0" dirty="0">
                <a:solidFill>
                  <a:srgbClr val="000000"/>
                </a:solidFill>
                <a:latin typeface="Consolas"/>
              </a:rPr>
              <a:t>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8</a:t>
            </a:r>
            <a:r>
              <a:rPr lang="en-US" sz="1050" b="0" i="0" dirty="0">
                <a:solidFill>
                  <a:srgbClr val="000000"/>
                </a:solidFill>
                <a:latin typeface="Consolas"/>
              </a:rPr>
              <a:t>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9</a:t>
            </a:r>
            <a:r>
              <a:rPr lang="en-US" sz="1050" b="0" i="0" dirty="0">
                <a:solidFill>
                  <a:srgbClr val="000000"/>
                </a:solidFill>
                <a:latin typeface="Consolas"/>
              </a:rPr>
              <a:t>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10</a:t>
            </a:r>
            <a:r>
              <a:rPr lang="en-US" sz="1050" b="0" i="0" dirty="0">
                <a:solidFill>
                  <a:srgbClr val="000000"/>
                </a:solidFill>
                <a:latin typeface="Consolas"/>
              </a:rPr>
              <a:t>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11</a:t>
            </a:r>
            <a:r>
              <a:rPr lang="en-US" sz="1050" b="0" i="0" dirty="0">
                <a:solidFill>
                  <a:srgbClr val="000000"/>
                </a:solidFill>
                <a:latin typeface="Consolas"/>
              </a:rPr>
              <a:t>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12</a:t>
            </a:r>
            <a:r>
              <a:rPr lang="en-US" sz="1050" b="0" i="0" dirty="0">
                <a:solidFill>
                  <a:srgbClr val="000000"/>
                </a:solidFill>
                <a:latin typeface="Consolas"/>
              </a:rPr>
              <a:t>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13</a:t>
            </a:r>
            <a:r>
              <a:rPr lang="en-US" sz="1050" b="0" i="0" dirty="0">
                <a:solidFill>
                  <a:srgbClr val="000000"/>
                </a:solidFill>
                <a:latin typeface="Consolas"/>
              </a:rPr>
              <a:t>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14</a:t>
            </a:r>
            <a:r>
              <a:rPr lang="en-US" sz="1050" b="0" i="0" dirty="0">
                <a:solidFill>
                  <a:srgbClr val="000000"/>
                </a:solidFill>
                <a:latin typeface="Consolas"/>
              </a:rPr>
              <a:t>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15</a:t>
            </a:r>
            <a:r>
              <a:rPr lang="en-US" sz="1050" b="0" i="0" dirty="0">
                <a:solidFill>
                  <a:srgbClr val="000000"/>
                </a:solidFill>
                <a:latin typeface="Consolas"/>
              </a:rPr>
              <a:t>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16</a:t>
            </a:r>
            <a:r>
              <a:rPr lang="en-US" sz="1050" b="0" i="0" dirty="0">
                <a:solidFill>
                  <a:srgbClr val="000000"/>
                </a:solidFill>
                <a:latin typeface="Consolas"/>
              </a:rPr>
              <a:t>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17</a:t>
            </a:r>
            <a:r>
              <a:rPr lang="en-US" sz="1050" b="0" i="0" dirty="0">
                <a:solidFill>
                  <a:srgbClr val="000000"/>
                </a:solidFill>
                <a:latin typeface="Consolas"/>
              </a:rPr>
              <a:t>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18</a:t>
            </a:r>
            <a:r>
              <a:rPr lang="en-US" sz="1050" b="0" i="0" dirty="0">
                <a:solidFill>
                  <a:srgbClr val="000000"/>
                </a:solidFill>
                <a:latin typeface="Consolas"/>
              </a:rPr>
              <a:t>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19</a:t>
            </a:r>
            <a:r>
              <a:rPr lang="en-US" sz="1050" b="0" i="0" dirty="0">
                <a:solidFill>
                  <a:srgbClr val="000000"/>
                </a:solidFill>
                <a:latin typeface="Consolas"/>
              </a:rPr>
              <a:t>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20</a:t>
            </a:r>
            <a:r>
              <a:rPr lang="en-US" sz="1050" b="0" i="0" dirty="0">
                <a:solidFill>
                  <a:srgbClr val="000000"/>
                </a:solidFill>
                <a:latin typeface="Consolas"/>
              </a:rPr>
              <a:t>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21</a:t>
            </a:r>
            <a:r>
              <a:rPr lang="en-US" sz="1050" b="0" i="0" dirty="0">
                <a:solidFill>
                  <a:srgbClr val="000000"/>
                </a:solidFill>
                <a:latin typeface="Consolas"/>
              </a:rPr>
              <a:t>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22</a:t>
            </a:r>
            <a:r>
              <a:rPr lang="en-US" sz="1050" b="0" i="0" dirty="0">
                <a:solidFill>
                  <a:srgbClr val="000000"/>
                </a:solidFill>
                <a:latin typeface="Consolas"/>
              </a:rPr>
              <a:t>      return receipt</a:t>
            </a:r>
          </a:p>
        </p:txBody>
      </p:sp>
      <p:sp>
        <p:nvSpPr>
          <p:cNvPr id="501" name="RevealCaption"/>
          <p:cNvSpPr/>
          <p:nvPr/>
        </p:nvSpPr>
        <p:spPr>
          <a:xfrm>
            <a:off x="566928" y="5266944"/>
            <a:ext cx="8010144" cy="512064"/>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Lines 16–17 are inverted — charged first, recorded second.</a:t>
            </a:r>
          </a:p>
          <a:p>
            <a:pPr algn="ctr">
              <a:buNone/>
            </a:pPr>
            <a:r>
              <a:rPr lang="en-US" sz="1200" b="0" i="1" dirty="0">
                <a:solidFill>
                  <a:srgbClr val="57534E"/>
                </a:solidFill>
              </a:rPr>
              <a:t>The lock and duplicate check make it look idempotent.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  MAGE Moment: human attention is not scalable enforcement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1005840" y="914400"/>
            <a:ext cx="2560320" cy="64008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12 artifacts · 1 defect</a:t>
            </a:r>
          </a:p>
        </p:txBody>
      </p:sp>
      <p:cxnSp>
        <p:nvCxnSpPr>
          <p:cNvPr id="101" name="C101"/>
          <p:cNvCxnSpPr/>
          <p:nvPr/>
        </p:nvCxnSpPr>
        <p:spPr>
          <a:xfrm>
            <a:off x="3657600" y="1234440"/>
            <a:ext cx="1783080" cy="0"/>
          </a:xfrm>
          <a:prstGeom prst="straightConnector1">
            <a:avLst/>
          </a:prstGeom>
          <a:ln w="38100">
            <a:solidFill>
              <a:srgbClr val="8E6F3E"/>
            </a:solidFill>
            <a:tailEnd type="triangle" w="med" len="med"/>
          </a:ln>
        </p:spPr>
      </p:cxnSp>
      <p:sp>
        <p:nvSpPr>
          <p:cNvPr id="102" name="B102"/>
          <p:cNvSpPr/>
          <p:nvPr/>
        </p:nvSpPr>
        <p:spPr>
          <a:xfrm>
            <a:off x="5577840" y="914400"/>
            <a:ext cx="2560320" cy="64008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10,000 artifacts · ?</a:t>
            </a:r>
          </a:p>
        </p:txBody>
      </p:sp>
      <p:sp>
        <p:nvSpPr>
          <p:cNvPr id="110" name="T110"/>
          <p:cNvSpPr txBox="1"/>
          <p:nvPr/>
        </p:nvSpPr>
        <p:spPr>
          <a:xfrm>
            <a:off x="566928" y="1691640"/>
            <a:ext cx="8010144" cy="502920"/>
          </a:xfrm>
          <a:prstGeom prst="rect">
            <a:avLst/>
          </a:prstGeom>
          <a:noFill/>
          <a:ln>
            <a:noFill/>
          </a:ln>
        </p:spPr>
        <p:txBody>
          <a:bodyPr wrap="square" lIns="0" tIns="0" rIns="0" bIns="0" anchor="t"/>
          <a:lstStyle/>
          <a:p>
            <a:pPr algn="ctr">
              <a:buNone/>
            </a:pPr>
            <a:r>
              <a:rPr lang="en-US" sz="1550" b="0" i="1" dirty="0">
                <a:solidFill>
                  <a:srgbClr val="555960"/>
                </a:solidFill>
              </a:rPr>
              <a:t>You just did it twice — by eye, then by inspection. At volume, “a human reviews everything” stops being credible assurance.</a:t>
            </a:r>
          </a:p>
        </p:txBody>
      </p:sp>
      <p:sp>
        <p:nvSpPr>
          <p:cNvPr id="120" name="P120"/>
          <p:cNvSpPr/>
          <p:nvPr/>
        </p:nvSpPr>
        <p:spPr>
          <a:xfrm>
            <a:off x="566928" y="2286000"/>
            <a:ext cx="2487168" cy="17830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00" b="1" i="0" dirty="0">
                <a:solidFill>
                  <a:srgbClr val="57534E"/>
                </a:solidFill>
              </a:rPr>
              <a:t>CONTROLLED EXPERIMENT</a:t>
            </a:r>
          </a:p>
          <a:p>
            <a:pPr algn="ctr">
              <a:spcBef>
                <a:spcPts val="120"/>
              </a:spcBef>
              <a:buNone/>
            </a:pPr>
            <a:r>
              <a:rPr lang="en-US" sz="14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21" name="P121"/>
          <p:cNvSpPr/>
          <p:nvPr/>
        </p:nvSpPr>
        <p:spPr>
          <a:xfrm>
            <a:off x="3328416" y="2286000"/>
            <a:ext cx="2487168" cy="17830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00" b="1" i="0" dirty="0">
                <a:solidFill>
                  <a:srgbClr val="57534E"/>
                </a:solidFill>
              </a:rPr>
              <a:t>HUMAN-FACTORS SYNTHESIS</a:t>
            </a:r>
          </a:p>
          <a:p>
            <a:pPr algn="ctr">
              <a:spcBef>
                <a:spcPts val="120"/>
              </a:spcBef>
              <a:buNone/>
            </a:pPr>
            <a:r>
              <a:rPr lang="en-US" sz="1400" b="0" i="0" dirty="0">
                <a:solidFill>
                  <a:srgbClr val="000000"/>
                </a:solidFill>
              </a:rPr>
              <a:t>Sustained vigilance is hard mental work: it consumes attention and produces workload and stress.</a:t>
            </a:r>
          </a:p>
          <a:p>
            <a:pPr algn="ctr">
              <a:spcBef>
                <a:spcPts val="120"/>
              </a:spcBef>
              <a:buNone/>
            </a:pPr>
            <a:r>
              <a:rPr lang="en-US" sz="1100" b="0" i="1" dirty="0">
                <a:solidFill>
                  <a:srgbClr val="78716C"/>
                </a:solidFill>
              </a:rPr>
              <a:t>Warm, Parasuraman &amp; Matthews (2008)</a:t>
            </a:r>
          </a:p>
        </p:txBody>
      </p:sp>
      <p:sp>
        <p:nvSpPr>
          <p:cNvPr id="122" name="P122"/>
          <p:cNvSpPr/>
          <p:nvPr/>
        </p:nvSpPr>
        <p:spPr>
          <a:xfrm>
            <a:off x="6089904" y="2286000"/>
            <a:ext cx="2487168" cy="17830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00" b="1" i="0" dirty="0">
                <a:solidFill>
                  <a:srgbClr val="57534E"/>
                </a:solidFill>
              </a:rPr>
              <a:t>OPERATIONAL PRACTICE</a:t>
            </a:r>
          </a:p>
          <a:p>
            <a:pPr algn="ctr">
              <a:spcBef>
                <a:spcPts val="120"/>
              </a:spcBef>
              <a:buNone/>
            </a:pPr>
            <a:r>
              <a:rPr lang="en-US" sz="1400" b="0" i="0" dirty="0">
                <a:solidFill>
                  <a:srgbClr val="000000"/>
                </a:solidFill>
              </a:rPr>
              <a:t>Screening agencies run covert tests of their own trained inspectors: professional inspection is a capacity-limited control.</a:t>
            </a:r>
          </a:p>
          <a:p>
            <a:pPr algn="ctr">
              <a:spcBef>
                <a:spcPts val="120"/>
              </a:spcBef>
              <a:buNone/>
            </a:pPr>
            <a:r>
              <a:rPr lang="en-US" sz="1100" b="0" i="1" dirty="0">
                <a:solidFill>
                  <a:srgbClr val="78716C"/>
                </a:solidFill>
              </a:rPr>
              <a:t>GAO-19-374 (2019)</a:t>
            </a:r>
          </a:p>
        </p:txBody>
      </p:sp>
      <p:sp>
        <p:nvSpPr>
          <p:cNvPr id="130" name="E130"/>
          <p:cNvSpPr/>
          <p:nvPr/>
        </p:nvSpPr>
        <p:spPr>
          <a:xfrm>
            <a:off x="566928" y="4224528"/>
            <a:ext cx="8010144" cy="96012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50" b="1" i="0" dirty="0">
                <a:solidFill>
                  <a:srgbClr val="5C4826"/>
                </a:solidFill>
              </a:rPr>
              <a:t>Spend human judgment where judgment is required.</a:t>
            </a:r>
          </a:p>
          <a:p>
            <a:pPr algn="ctr">
              <a:spcBef>
                <a:spcPts val="120"/>
              </a:spcBef>
              <a:buNone/>
            </a:pPr>
            <a:r>
              <a:rPr lang="en-US" sz="1600" b="0" i="0" dirty="0">
                <a:solidFill>
                  <a:srgbClr val="5C4826"/>
                </a:solidFill>
              </a:rPr>
              <a:t>Don’t use human attention as a substitute for scalable enforcement.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lesson is not that humans are bad validators —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2"/>
                                        </p:tgtEl>
                                        <p:attrNameLst>
                                          <p:attrName>style.visibility</p:attrName>
                                        </p:attrNameLst>
                                      </p:cBhvr>
                                      <p:to>
                                        <p:strVal val="visible"/>
                                      </p:to>
                                    </p:set>
                                    <p:animEffect transition="in" filter="fade">
                                      <p:cBhvr>
                                        <p:cTn id="21" dur="500"/>
                                        <p:tgtEl>
                                          <p:spTgt spid="1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Formal methods reason over modeled behaviors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P100"/>
          <p:cNvSpPr/>
          <p:nvPr/>
        </p:nvSpPr>
        <p:spPr>
          <a:xfrm>
            <a:off x="566928" y="960120"/>
            <a:ext cx="3895344" cy="1143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TESTING</a:t>
            </a:r>
          </a:p>
          <a:p>
            <a:pPr algn="ctr">
              <a:spcBef>
                <a:spcPts val="120"/>
              </a:spcBef>
              <a:buNone/>
            </a:pPr>
            <a:r>
              <a:rPr lang="en-US" sz="1550" b="0" i="0" dirty="0">
                <a:solidFill>
                  <a:srgbClr val="000000"/>
                </a:solidFill>
              </a:rPr>
              <a:t>choose some executions and observe what happens</a:t>
            </a:r>
          </a:p>
        </p:txBody>
      </p:sp>
      <p:sp>
        <p:nvSpPr>
          <p:cNvPr id="101" name="P101"/>
          <p:cNvSpPr/>
          <p:nvPr/>
        </p:nvSpPr>
        <p:spPr>
          <a:xfrm>
            <a:off x="4681728" y="960120"/>
            <a:ext cx="3895344" cy="1143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FORMAL METHODS</a:t>
            </a:r>
          </a:p>
          <a:p>
            <a:pPr algn="ctr">
              <a:spcBef>
                <a:spcPts val="120"/>
              </a:spcBef>
              <a:buNone/>
            </a:pPr>
            <a:r>
              <a:rPr lang="en-US" sz="1550" b="0" i="0" dirty="0">
                <a:solidFill>
                  <a:srgbClr val="000000"/>
                </a:solidFill>
              </a:rPr>
              <a:t>state a property and search every behavior the model permits</a:t>
            </a:r>
          </a:p>
        </p:txBody>
      </p:sp>
      <p:sp>
        <p:nvSpPr>
          <p:cNvPr id="110" name="P110"/>
          <p:cNvSpPr/>
          <p:nvPr/>
        </p:nvSpPr>
        <p:spPr>
          <a:xfrm>
            <a:off x="566928" y="2286000"/>
            <a:ext cx="8010144" cy="10515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What is searched is a MODEL: a state machine, a protocol, or a program under an explicit semantics — together with the assumptions and bounds you stated.</a:t>
            </a:r>
          </a:p>
        </p:txBody>
      </p:sp>
      <p:sp>
        <p:nvSpPr>
          <p:cNvPr id="120" name="E120"/>
          <p:cNvSpPr/>
          <p:nvPr/>
        </p:nvSpPr>
        <p:spPr>
          <a:xfrm>
            <a:off x="566928" y="3566160"/>
            <a:ext cx="8010144" cy="118872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50" b="1" i="0" dirty="0">
                <a:solidFill>
                  <a:srgbClr val="5C4826"/>
                </a:solidFill>
              </a:rPr>
              <a:t>Formal evidence covers every behavior the model permits — and nothing outside it.</a:t>
            </a:r>
          </a:p>
          <a:p>
            <a:pPr algn="ctr">
              <a:spcBef>
                <a:spcPts val="120"/>
              </a:spcBef>
              <a:buNone/>
            </a:pPr>
            <a:r>
              <a:rPr lang="en-US" sz="1500" b="0" i="1" dirty="0">
                <a:solidFill>
                  <a:srgbClr val="57534E"/>
                </a:solidFill>
              </a:rPr>
              <a:t>The model, the property, the assumptions, and the bound are all part of the claim.</a:t>
            </a:r>
          </a:p>
        </p:txBody>
      </p:sp>
      <p:sp>
        <p:nvSpPr>
          <p:cNvPr id="13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Strong evidence about the model you wrote, under the assumptions it contains.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Bounded model checking asks for a counterexample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2788920" y="896112"/>
            <a:ext cx="35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00" b="1" i="0" dirty="0">
                <a:solidFill>
                  <a:srgbClr val="5C4826"/>
                </a:solidFill>
                <a:latin typeface="Consolas"/>
              </a:rPr>
              <a:t>assert(balance &gt;= 0);</a:t>
            </a:r>
          </a:p>
        </p:txBody>
      </p:sp>
      <p:sp>
        <p:nvSpPr>
          <p:cNvPr id="110" name="P110"/>
          <p:cNvSpPr/>
          <p:nvPr/>
        </p:nvSpPr>
        <p:spPr>
          <a:xfrm>
            <a:off x="566928" y="1645920"/>
            <a:ext cx="3895344"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ORDINARY TESTING</a:t>
            </a:r>
          </a:p>
          <a:p>
            <a:pPr algn="ctr">
              <a:spcBef>
                <a:spcPts val="120"/>
              </a:spcBef>
              <a:buNone/>
            </a:pPr>
            <a:r>
              <a:rPr lang="en-US" sz="1500" b="0" i="0" dirty="0">
                <a:solidFill>
                  <a:srgbClr val="000000"/>
                </a:solidFill>
              </a:rPr>
              <a:t>Try some sequences of deposits and withdrawals. Did we see the assertion fail?</a:t>
            </a:r>
          </a:p>
        </p:txBody>
      </p:sp>
      <p:sp>
        <p:nvSpPr>
          <p:cNvPr id="111" name="P111"/>
          <p:cNvSpPr/>
          <p:nvPr/>
        </p:nvSpPr>
        <p:spPr>
          <a:xfrm>
            <a:off x="4681728" y="1645920"/>
            <a:ext cx="3895344"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BOUNDED MODEL CHECKING</a:t>
            </a:r>
          </a:p>
          <a:p>
            <a:pPr algn="ctr">
              <a:spcBef>
                <a:spcPts val="120"/>
              </a:spcBef>
              <a:buNone/>
            </a:pPr>
            <a:r>
              <a:rPr lang="en-US" sz="1500" b="0" i="0" dirty="0">
                <a:solidFill>
                  <a:srgbClr val="000000"/>
                </a:solidFill>
              </a:rPr>
              <a:t>Is there ANY sequence of choices, up to depth k, that makes it fail?</a:t>
            </a:r>
          </a:p>
        </p:txBody>
      </p:sp>
      <p:sp>
        <p:nvSpPr>
          <p:cNvPr id="120" name="B120"/>
          <p:cNvSpPr/>
          <p:nvPr/>
        </p:nvSpPr>
        <p:spPr>
          <a:xfrm>
            <a:off x="566928" y="3017520"/>
            <a:ext cx="3895344" cy="86868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YES → a counterexample trace</a:t>
            </a:r>
          </a:p>
          <a:p>
            <a:pPr algn="ctr">
              <a:spcBef>
                <a:spcPts val="120"/>
              </a:spcBef>
              <a:buNone/>
            </a:pPr>
            <a:r>
              <a:rPr lang="en-US" sz="1450" b="0" i="0" dirty="0">
                <a:solidFill>
                  <a:srgbClr val="FFFFFF"/>
                </a:solidFill>
              </a:rPr>
              <a:t>the exact sequence of choices that breaks it</a:t>
            </a:r>
          </a:p>
        </p:txBody>
      </p:sp>
      <p:sp>
        <p:nvSpPr>
          <p:cNvPr id="121" name="P121"/>
          <p:cNvSpPr/>
          <p:nvPr/>
        </p:nvSpPr>
        <p:spPr>
          <a:xfrm>
            <a:off x="4681728" y="3017520"/>
            <a:ext cx="3895344"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1" i="0" dirty="0">
                <a:solidFill>
                  <a:srgbClr val="000000"/>
                </a:solidFill>
              </a:rPr>
              <a:t>NO → no violation up to k</a:t>
            </a:r>
          </a:p>
          <a:p>
            <a:pPr algn="ctr">
              <a:spcBef>
                <a:spcPts val="120"/>
              </a:spcBef>
              <a:buNone/>
            </a:pPr>
            <a:r>
              <a:rPr lang="en-US" sz="1450" b="0" i="0" dirty="0">
                <a:solidFill>
                  <a:srgbClr val="000000"/>
                </a:solidFill>
              </a:rPr>
              <a:t>within the modeled behaviors and that bound</a:t>
            </a:r>
          </a:p>
        </p:txBody>
      </p:sp>
      <p:sp>
        <p:nvSpPr>
          <p:cNvPr id="130" name="T130"/>
          <p:cNvSpPr txBox="1"/>
          <p:nvPr/>
        </p:nvSpPr>
        <p:spPr>
          <a:xfrm>
            <a:off x="566928" y="4069080"/>
            <a:ext cx="8010144" cy="777240"/>
          </a:xfrm>
          <a:prstGeom prst="rect">
            <a:avLst/>
          </a:prstGeom>
          <a:noFill/>
          <a:ln>
            <a:noFill/>
          </a:ln>
        </p:spPr>
        <p:txBody>
          <a:bodyPr wrap="square" lIns="0" tIns="0" rIns="0" bIns="0" anchor="t"/>
          <a:lstStyle/>
          <a:p>
            <a:pPr algn="ctr">
              <a:buNone/>
            </a:pPr>
            <a:r>
              <a:rPr lang="en-US" sz="1550" b="0" i="1" dirty="0">
                <a:solidFill>
                  <a:srgbClr val="555960"/>
                </a:solidFill>
              </a:rPr>
              <a:t>Mechanizations differ: an explicit-state checker enumerates a model’s reachable states; bounded model checking asks a solver about executions up to depth k.</a:t>
            </a:r>
          </a:p>
          <a:p>
            <a:pPr algn="ctr">
              <a:spcBef>
                <a:spcPts val="120"/>
              </a:spcBef>
              <a:buNone/>
            </a:pPr>
            <a:r>
              <a:rPr lang="en-US" sz="1550" b="0" i="1" dirty="0">
                <a:solidFill>
                  <a:srgbClr val="555960"/>
                </a:solidFill>
              </a:rPr>
              <a:t>Both search the behaviors instead of sampling them.</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“No counterexample up to k” is a precise claim — and it is not “the program is correct”.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Models themselves can be validated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P100"/>
          <p:cNvSpPr/>
          <p:nvPr/>
        </p:nvSpPr>
        <p:spPr>
          <a:xfrm>
            <a:off x="566928" y="1280160"/>
            <a:ext cx="187452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0" i="0" dirty="0">
                <a:solidFill>
                  <a:srgbClr val="000000"/>
                </a:solidFill>
              </a:rPr>
              <a:t>a protocol or state machine</a:t>
            </a:r>
          </a:p>
        </p:txBody>
      </p:sp>
      <p:cxnSp>
        <p:nvCxnSpPr>
          <p:cNvPr id="110" name="C110"/>
          <p:cNvCxnSpPr/>
          <p:nvPr/>
        </p:nvCxnSpPr>
        <p:spPr>
          <a:xfrm>
            <a:off x="2459736" y="1709928"/>
            <a:ext cx="146304" cy="0"/>
          </a:xfrm>
          <a:prstGeom prst="straightConnector1">
            <a:avLst/>
          </a:prstGeom>
          <a:ln w="38100">
            <a:solidFill>
              <a:srgbClr val="8E6F3E"/>
            </a:solidFill>
            <a:tailEnd type="triangle" w="med" len="med"/>
          </a:ln>
        </p:spPr>
      </p:cxnSp>
      <p:sp>
        <p:nvSpPr>
          <p:cNvPr id="101" name="P101"/>
          <p:cNvSpPr/>
          <p:nvPr/>
        </p:nvSpPr>
        <p:spPr>
          <a:xfrm>
            <a:off x="2624328" y="1280160"/>
            <a:ext cx="187452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0" i="0" dirty="0">
                <a:solidFill>
                  <a:srgbClr val="000000"/>
                </a:solidFill>
              </a:rPr>
              <a:t>an explicit model</a:t>
            </a:r>
          </a:p>
        </p:txBody>
      </p:sp>
      <p:cxnSp>
        <p:nvCxnSpPr>
          <p:cNvPr id="111" name="C111"/>
          <p:cNvCxnSpPr/>
          <p:nvPr/>
        </p:nvCxnSpPr>
        <p:spPr>
          <a:xfrm>
            <a:off x="4517136" y="1709928"/>
            <a:ext cx="146304" cy="0"/>
          </a:xfrm>
          <a:prstGeom prst="straightConnector1">
            <a:avLst/>
          </a:prstGeom>
          <a:ln w="38100">
            <a:solidFill>
              <a:srgbClr val="8E6F3E"/>
            </a:solidFill>
            <a:tailEnd type="triangle" w="med" len="med"/>
          </a:ln>
        </p:spPr>
      </p:cxnSp>
      <p:sp>
        <p:nvSpPr>
          <p:cNvPr id="102" name="P102"/>
          <p:cNvSpPr/>
          <p:nvPr/>
        </p:nvSpPr>
        <p:spPr>
          <a:xfrm>
            <a:off x="4681728" y="1280160"/>
            <a:ext cx="187452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0" i="0" dirty="0">
                <a:solidFill>
                  <a:srgbClr val="000000"/>
                </a:solidFill>
              </a:rPr>
              <a:t>properties it must satisfy</a:t>
            </a:r>
          </a:p>
        </p:txBody>
      </p:sp>
      <p:cxnSp>
        <p:nvCxnSpPr>
          <p:cNvPr id="112" name="C112"/>
          <p:cNvCxnSpPr/>
          <p:nvPr/>
        </p:nvCxnSpPr>
        <p:spPr>
          <a:xfrm>
            <a:off x="6574536" y="1709928"/>
            <a:ext cx="146304" cy="0"/>
          </a:xfrm>
          <a:prstGeom prst="straightConnector1">
            <a:avLst/>
          </a:prstGeom>
          <a:ln w="38100">
            <a:solidFill>
              <a:srgbClr val="8E6F3E"/>
            </a:solidFill>
            <a:tailEnd type="triangle" w="med" len="med"/>
          </a:ln>
        </p:spPr>
      </p:cxnSp>
      <p:sp>
        <p:nvSpPr>
          <p:cNvPr id="103" name="P103"/>
          <p:cNvSpPr/>
          <p:nvPr/>
        </p:nvSpPr>
        <p:spPr>
          <a:xfrm>
            <a:off x="6739128" y="1280160"/>
            <a:ext cx="187452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0" i="0" dirty="0">
                <a:solidFill>
                  <a:srgbClr val="000000"/>
                </a:solidFill>
              </a:rPr>
              <a:t>mechanical search of its behaviors</a:t>
            </a:r>
          </a:p>
        </p:txBody>
      </p:sp>
      <p:sp>
        <p:nvSpPr>
          <p:cNvPr id="100" name="T100"/>
          <p:cNvSpPr txBox="1"/>
          <p:nvPr/>
        </p:nvSpPr>
        <p:spPr>
          <a:xfrm>
            <a:off x="566928" y="868680"/>
            <a:ext cx="8010144" cy="320040"/>
          </a:xfrm>
          <a:prstGeom prst="rect">
            <a:avLst/>
          </a:prstGeom>
          <a:noFill/>
          <a:ln>
            <a:noFill/>
          </a:ln>
        </p:spPr>
        <p:txBody>
          <a:bodyPr wrap="square" lIns="0" tIns="0" rIns="0" bIns="0" anchor="t"/>
          <a:lstStyle/>
          <a:p>
            <a:pPr algn="ctr">
              <a:buNone/>
            </a:pPr>
            <a:r>
              <a:rPr lang="en-US" sz="1700" b="0" i="0" dirty="0">
                <a:solidFill>
                  <a:srgbClr val="000000"/>
                </a:solidFill>
              </a:rPr>
              <a:t>What we verify need not be the implementation.</a:t>
            </a:r>
          </a:p>
        </p:txBody>
      </p:sp>
      <p:sp>
        <p:nvSpPr>
          <p:cNvPr id="120" name="P120"/>
          <p:cNvSpPr/>
          <p:nvPr/>
        </p:nvSpPr>
        <p:spPr>
          <a:xfrm>
            <a:off x="566928" y="2359152"/>
            <a:ext cx="8010144" cy="20574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BEFORE MARS: CHECK THE MODEL</a:t>
            </a:r>
          </a:p>
          <a:p>
            <a:pPr algn="l">
              <a:spcBef>
                <a:spcPts val="120"/>
              </a:spcBef>
              <a:buNone/>
            </a:pPr>
            <a:r>
              <a:rPr lang="en-US" sz="1500" b="0" i="0" dirty="0">
                <a:solidFill>
                  <a:srgbClr val="000000"/>
                </a:solidFill>
              </a:rPr>
              <a:t>Gerard Holzmann built the SPIN model checker at Bell Labs; it received the ACM Software System Award in 2001. He later led NASA/JPL’s Laboratory for Reliable Software.</a:t>
            </a:r>
          </a:p>
          <a:p>
            <a:pPr algn="l">
              <a:spcBef>
                <a:spcPts val="120"/>
              </a:spcBef>
              <a:buNone/>
            </a:pPr>
            <a:r>
              <a:rPr lang="en-US" sz="1500" b="0" i="0" dirty="0">
                <a:solidFill>
                  <a:srgbClr val="000000"/>
                </a:solidFill>
              </a:rPr>
              <a:t>For the Mars Science Laboratory mission, JPL model-checked critical multithreaded algorithms and hand-built SPIN models of larger subsystems — a ~45,000-line C data-management module became a ~1,600-line verification model. The runs exposed subtle concurrency defects, and for the file-system software model checking became part of routine regression testing.</a:t>
            </a:r>
          </a:p>
          <a:p>
            <a:pPr algn="ctr">
              <a:spcBef>
                <a:spcPts val="120"/>
              </a:spcBef>
              <a:buNone/>
            </a:pPr>
            <a:r>
              <a:rPr lang="en-US" sz="1250" b="0" i="1" dirty="0">
                <a:solidFill>
                  <a:srgbClr val="78716C"/>
                </a:solidFill>
              </a:rPr>
              <a:t>Holzmann, “Mars Code,” Communications of the ACM 57, no. 2 (2014).</a:t>
            </a:r>
          </a:p>
        </p:txBody>
      </p:sp>
      <p:sp>
        <p:nvSpPr>
          <p:cNvPr id="130" name="E130"/>
          <p:cNvSpPr/>
          <p:nvPr/>
        </p:nvSpPr>
        <p:spPr>
          <a:xfrm>
            <a:off x="566928" y="4526280"/>
            <a:ext cx="8010144" cy="84124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650" b="1" i="0" dirty="0">
                <a:solidFill>
                  <a:srgbClr val="5C4826"/>
                </a:solidFill>
              </a:rPr>
              <a:t>🧙  An explicit engineering model can be a first-class validation target.</a:t>
            </a:r>
          </a:p>
          <a:p>
            <a:pPr algn="ctr">
              <a:spcBef>
                <a:spcPts val="120"/>
              </a:spcBef>
              <a:buNone/>
            </a:pPr>
            <a:r>
              <a:rPr lang="en-US" sz="1550" b="0" i="1" dirty="0">
                <a:solidFill>
                  <a:srgbClr val="57534E"/>
                </a:solidFill>
              </a:rPr>
              <a:t>We can obtain evidence about the model before we rely on the realized system.</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The artifact under validation is a choice. Sometimes the best one is the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Different mechanisms observe different things</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T100"/>
          <p:cNvSpPr txBox="1"/>
          <p:nvPr/>
        </p:nvSpPr>
        <p:spPr>
          <a:xfrm>
            <a:off x="676656" y="896112"/>
            <a:ext cx="7936992" cy="320040"/>
          </a:xfrm>
          <a:prstGeom prst="rect">
            <a:avLst/>
          </a:prstGeom>
          <a:noFill/>
          <a:ln>
            <a:noFill/>
          </a:ln>
        </p:spPr>
        <p:txBody>
          <a:bodyPr wrap="square" lIns="0" tIns="0" rIns="0" bIns="0" anchor="t"/>
          <a:lstStyle/>
          <a:p>
            <a:pPr algn="ctr">
              <a:buNone/>
            </a:pPr>
            <a:r>
              <a:rPr lang="en-US" sz="1500" b="0" i="1" dirty="0">
                <a:solidFill>
                  <a:srgbClr val="555960"/>
                </a:solidFill>
              </a:rPr>
              <a:t>Evidence comes from:</a:t>
            </a:r>
          </a:p>
        </p:txBody>
      </p:sp>
      <p:sp>
        <p:nvSpPr>
          <p:cNvPr id="110" name="B110"/>
          <p:cNvSpPr/>
          <p:nvPr/>
        </p:nvSpPr>
        <p:spPr>
          <a:xfrm>
            <a:off x="676656" y="1325880"/>
            <a:ext cx="3566160" cy="621792"/>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Dynamic testing</a:t>
            </a:r>
          </a:p>
        </p:txBody>
      </p:sp>
      <p:sp>
        <p:nvSpPr>
          <p:cNvPr id="111" name="P111"/>
          <p:cNvSpPr/>
          <p:nvPr/>
        </p:nvSpPr>
        <p:spPr>
          <a:xfrm>
            <a:off x="4389120" y="1325880"/>
            <a:ext cx="4224528"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executions we actually performed</a:t>
            </a:r>
          </a:p>
        </p:txBody>
      </p:sp>
      <p:sp>
        <p:nvSpPr>
          <p:cNvPr id="112" name="B112"/>
          <p:cNvSpPr/>
          <p:nvPr/>
        </p:nvSpPr>
        <p:spPr>
          <a:xfrm>
            <a:off x="676656" y="2057400"/>
            <a:ext cx="3566160" cy="621792"/>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Static analysis</a:t>
            </a:r>
          </a:p>
        </p:txBody>
      </p:sp>
      <p:sp>
        <p:nvSpPr>
          <p:cNvPr id="113" name="P113"/>
          <p:cNvSpPr/>
          <p:nvPr/>
        </p:nvSpPr>
        <p:spPr>
          <a:xfrm>
            <a:off x="4389120" y="2057400"/>
            <a:ext cx="4224528"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inference over an abstraction of the code</a:t>
            </a:r>
          </a:p>
        </p:txBody>
      </p:sp>
      <p:sp>
        <p:nvSpPr>
          <p:cNvPr id="114" name="B114"/>
          <p:cNvSpPr/>
          <p:nvPr/>
        </p:nvSpPr>
        <p:spPr>
          <a:xfrm>
            <a:off x="676656" y="2788920"/>
            <a:ext cx="3566160" cy="621792"/>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Human inspection</a:t>
            </a:r>
          </a:p>
        </p:txBody>
      </p:sp>
      <p:sp>
        <p:nvSpPr>
          <p:cNvPr id="115" name="P115"/>
          <p:cNvSpPr/>
          <p:nvPr/>
        </p:nvSpPr>
        <p:spPr>
          <a:xfrm>
            <a:off x="4389120" y="2788920"/>
            <a:ext cx="4224528"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expert interpretation of an artifact</a:t>
            </a:r>
          </a:p>
        </p:txBody>
      </p:sp>
      <p:sp>
        <p:nvSpPr>
          <p:cNvPr id="116" name="B116"/>
          <p:cNvSpPr/>
          <p:nvPr/>
        </p:nvSpPr>
        <p:spPr>
          <a:xfrm>
            <a:off x="676656" y="3520440"/>
            <a:ext cx="3566160" cy="621792"/>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Formal methods</a:t>
            </a:r>
          </a:p>
        </p:txBody>
      </p:sp>
      <p:sp>
        <p:nvSpPr>
          <p:cNvPr id="117" name="P117"/>
          <p:cNvSpPr/>
          <p:nvPr/>
        </p:nvSpPr>
        <p:spPr>
          <a:xfrm>
            <a:off x="4389120" y="3520440"/>
            <a:ext cx="4224528"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mechanical search of a model’s behaviors</a:t>
            </a:r>
          </a:p>
        </p:txBody>
      </p:sp>
      <p:sp>
        <p:nvSpPr>
          <p:cNvPr id="130" name="E130"/>
          <p:cNvSpPr/>
          <p:nvPr/>
        </p:nvSpPr>
        <p:spPr>
          <a:xfrm>
            <a:off x="676656" y="4389120"/>
            <a:ext cx="7936992" cy="96012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00" b="1" i="0" dirty="0">
                <a:solidFill>
                  <a:srgbClr val="5C4826"/>
                </a:solidFill>
              </a:rPr>
              <a:t>These mechanisms are orthogonal to scope.</a:t>
            </a:r>
          </a:p>
          <a:p>
            <a:pPr algn="ctr">
              <a:spcBef>
                <a:spcPts val="120"/>
              </a:spcBef>
              <a:buNone/>
            </a:pPr>
            <a:r>
              <a:rPr lang="en-US" sz="1500" b="0" i="1" dirty="0">
                <a:solidFill>
                  <a:srgbClr val="57534E"/>
                </a:solidFill>
              </a:rPr>
              <a:t>A unit, a subsystem, or the whole system can be tested, analyzed, inspected, or modeled.</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Ask what each mechanism can observe — and what it cannot see at all.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How should we search for failures?</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T100"/>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02" name="T102"/>
          <p:cNvSpPr txBox="1"/>
          <p:nvPr/>
        </p:nvSpPr>
        <p:spPr>
          <a:xfrm>
            <a:off x="685800" y="3886200"/>
            <a:ext cx="7772400" cy="1100000"/>
          </a:xfrm>
          <a:prstGeom prst="rect">
            <a:avLst/>
          </a:prstGeom>
          <a:noFill/>
          <a:ln>
            <a:noFill/>
          </a:ln>
        </p:spPr>
        <p:txBody>
          <a:bodyPr wrap="square" lIns="0" tIns="0" rIns="0" bIns="0" anchor="t"/>
          <a:lstStyle/>
          <a:p>
            <a:pPr algn="ctr">
              <a:buNone/>
            </a:pPr>
            <a:r>
              <a:rPr lang="en-US" sz="2200" b="0" i="1" dirty="0">
                <a:solidFill>
                  <a:srgbClr val="555960"/>
                </a:solidFill>
              </a:rPr>
              <a:t>Different uncertainties call for different search strategies.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Testing requires deciding what counts as failure</a:t>
            </a:r>
          </a:p>
        </p:txBody>
      </p:sp>
      <p:sp>
        <p:nvSpPr>
          <p:cNvPr id="3" name="Slide Number Placeholder 3"/>
          <p:cNvSpPr>
            <a:spLocks noGrp="1"/>
          </p:cNvSpPr>
          <p:nvPr>
            <p:ph type="sldNum" sz="quarter" idx="4"/>
          </p:nvPr>
        </p:nvSpPr>
        <p:spPr/>
        <p:txBody>
          <a:bodyPr/>
          <a:lstStyle/>
          <a:p>
            <a:fld id="{D7EA69B4-D767-49A1-BADF-EC4A2EFE5CD6}" type="slidenum">
              <a:rPr lang="en-US" smtClean="0"/>
              <a:t>1</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16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1550" b="0" i="1" dirty="0">
                <a:solidFill>
                  <a:srgbClr val="555960"/>
                </a:solidFill>
              </a:rPr>
              <a:t>generating an execution — often cheap</a:t>
            </a:r>
          </a:p>
        </p:txBody>
      </p:sp>
      <p:sp>
        <p:nvSpPr>
          <p:cNvPr id="121" name="T121"/>
          <p:cNvSpPr txBox="1"/>
          <p:nvPr/>
        </p:nvSpPr>
        <p:spPr>
          <a:xfrm>
            <a:off x="6327648" y="1901952"/>
            <a:ext cx="2249424" cy="310896"/>
          </a:xfrm>
          <a:prstGeom prst="rect">
            <a:avLst/>
          </a:prstGeom>
          <a:noFill/>
        </p:spPr>
        <p:txBody>
          <a:bodyPr wrap="square" lIns="0" tIns="0" rIns="0" bIns="0" anchor="t"/>
          <a:lstStyle/>
          <a:p>
            <a:pPr algn="ctr">
              <a:buNone/>
            </a:pPr>
            <a:r>
              <a:rPr lang="en-US" sz="1550" b="1" i="0" dirty="0">
                <a:solidFill>
                  <a:srgbClr val="5C4826"/>
                </a:solidFill>
              </a:rPr>
              <a:t>the oracle — the hard part</a:t>
            </a:r>
          </a:p>
        </p:txBody>
      </p:sp>
      <p:sp>
        <p:nvSpPr>
          <p:cNvPr id="130" name="P130"/>
          <p:cNvSpPr/>
          <p:nvPr/>
        </p:nvSpPr>
        <p:spPr>
          <a:xfrm>
            <a:off x="566928" y="2395728"/>
            <a:ext cx="3913632"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350" b="1" i="0" dirty="0">
                <a:solidFill>
                  <a:srgbClr val="57534E"/>
                </a:solidFill>
              </a:rPr>
              <a:t>WHEN WE CAN STATE THE ANSWER</a:t>
            </a:r>
          </a:p>
          <a:p>
            <a:pPr algn="ctr">
              <a:spcBef>
                <a:spcPts val="200"/>
              </a:spcBef>
              <a:buNone/>
            </a:pPr>
            <a:r>
              <a:rPr lang="en-US" sz="1600" b="0" i="0" dirty="0">
                <a:solidFill>
                  <a:srgbClr val="000000"/>
                </a:solidFill>
              </a:rPr>
              <a:t>sort([3, 1, 2]) must be [1, 2, 3].</a:t>
            </a:r>
          </a:p>
          <a:p>
            <a:pPr algn="ctr">
              <a:spcBef>
                <a:spcPts val="100"/>
              </a:spcBef>
              <a:buNone/>
            </a:pPr>
            <a:r>
              <a:rPr lang="en-US" sz="1600" b="0" i="0" dirty="0">
                <a:solidFill>
                  <a:srgbClr val="000000"/>
                </a:solidFill>
              </a:rPr>
              <a:t>A duplicate payment ID must be rejected.</a:t>
            </a:r>
          </a:p>
        </p:txBody>
      </p:sp>
      <p:sp>
        <p:nvSpPr>
          <p:cNvPr id="131" name="P131"/>
          <p:cNvSpPr/>
          <p:nvPr/>
        </p:nvSpPr>
        <p:spPr>
          <a:xfrm>
            <a:off x="4663440" y="2395728"/>
            <a:ext cx="3913632"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350" b="1" i="0" dirty="0">
                <a:solidFill>
                  <a:srgbClr val="57534E"/>
                </a:solidFill>
              </a:rPr>
              <a:t>WHEN WE CANNOT</a:t>
            </a:r>
          </a:p>
          <a:p>
            <a:pPr algn="ctr">
              <a:spcBef>
                <a:spcPts val="200"/>
              </a:spcBef>
              <a:buNone/>
            </a:pPr>
            <a:r>
              <a:rPr lang="en-US" sz="1600" b="0" i="0" dirty="0">
                <a:solidFill>
                  <a:srgbClr val="000000"/>
                </a:solidFill>
              </a:rPr>
              <a:t>What is the right machine code for this program?</a:t>
            </a:r>
          </a:p>
          <a:p>
            <a:pPr algn="ctr">
              <a:spcBef>
                <a:spcPts val="100"/>
              </a:spcBef>
              <a:buNone/>
            </a:pPr>
            <a:r>
              <a:rPr lang="en-US" sz="1600" b="0" i="0" dirty="0">
                <a:solidFill>
                  <a:srgbClr val="000000"/>
                </a:solidFill>
              </a:rPr>
              <a:t>The right rendering? The right ranking?</a:t>
            </a:r>
          </a:p>
        </p:txBody>
      </p:sp>
      <p:sp>
        <p:nvSpPr>
          <p:cNvPr id="140" name="E140"/>
          <p:cNvSpPr/>
          <p:nvPr/>
        </p:nvSpPr>
        <p:spPr>
          <a:xfrm>
            <a:off x="566928" y="402336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1" i="0" dirty="0">
                <a:solidFill>
                  <a:srgbClr val="5C4826"/>
                </a:solidFill>
              </a:rPr>
              <a:t>A search strategy changes one of two things:</a:t>
            </a:r>
          </a:p>
          <a:p>
            <a:pPr algn="ctr">
              <a:spcBef>
                <a:spcPts val="200"/>
              </a:spcBef>
              <a:buNone/>
            </a:pPr>
            <a:r>
              <a:rPr lang="en-US" sz="1800" b="0" i="0" dirty="0">
                <a:solidFill>
                  <a:srgbClr val="5C4826"/>
                </a:solidFill>
              </a:rPr>
              <a:t>WHERE we search  ·  WHAT ORACLE we require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An execution becomes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Known answers → example-based testing</a:t>
            </a:r>
          </a:p>
        </p:txBody>
      </p:sp>
      <p:sp>
        <p:nvSpPr>
          <p:cNvPr id="3" name="Slide Number Placeholder 3"/>
          <p:cNvSpPr>
            <a:spLocks noGrp="1"/>
          </p:cNvSpPr>
          <p:nvPr>
            <p:ph type="sldNum" sz="quarter" idx="4"/>
          </p:nvPr>
        </p:nvSpPr>
        <p:spPr/>
        <p:txBody>
          <a:bodyPr/>
          <a:lstStyle/>
          <a:p>
            <a:fld id="{1AFE0D1C-1180-46B5-B396-1044F1498510}" type="slidenum">
              <a:rPr lang="en-US" smtClean="0"/>
              <a:t>1</a:t>
            </a:fld>
            <a:endParaRPr lang="en-US"/>
          </a:p>
        </p:txBody>
      </p:sp>
      <p:sp>
        <p:nvSpPr>
          <p:cNvPr id="100" name="P100"/>
          <p:cNvSpPr/>
          <p:nvPr/>
        </p:nvSpPr>
        <p:spPr>
          <a:xfrm>
            <a:off x="566928" y="1051560"/>
            <a:ext cx="4937760" cy="26974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350" b="1" i="0" dirty="0">
                <a:solidFill>
                  <a:srgbClr val="57534E"/>
                </a:solidFill>
              </a:rPr>
              <a:t>THE INPUT SPACE</a:t>
            </a:r>
          </a:p>
        </p:txBody>
      </p:sp>
      <p:sp>
        <p:nvSpPr>
          <p:cNvPr id="110" name="D110"/>
          <p:cNvSpPr/>
          <p:nvPr/>
        </p:nvSpPr>
        <p:spPr>
          <a:xfrm>
            <a:off x="1188720" y="1828800"/>
            <a:ext cx="201168" cy="201168"/>
          </a:xfrm>
          <a:prstGeom prst="ellipse">
            <a:avLst/>
          </a:prstGeom>
          <a:solidFill>
            <a:srgbClr val="8E6F3E"/>
          </a:solidFill>
          <a:ln>
            <a:noFill/>
          </a:ln>
        </p:spPr>
        <p:txBody>
          <a:bodyPr wrap="square" lIns="91440" tIns="45720" rIns="91440" bIns="45720" anchor="ctr"/>
          <a:lstStyle/>
          <a:p>
            <a:pPr>
              <a:buNone/>
            </a:pPr>
          </a:p>
        </p:txBody>
      </p:sp>
      <p:sp>
        <p:nvSpPr>
          <p:cNvPr id="120" name="T120"/>
          <p:cNvSpPr txBox="1"/>
          <p:nvPr/>
        </p:nvSpPr>
        <p:spPr>
          <a:xfrm>
            <a:off x="512064" y="2084832"/>
            <a:ext cx="1554480" cy="256032"/>
          </a:xfrm>
          <a:prstGeom prst="rect">
            <a:avLst/>
          </a:prstGeom>
          <a:noFill/>
        </p:spPr>
        <p:txBody>
          <a:bodyPr wrap="square" lIns="0" tIns="0" rIns="0" bIns="0" anchor="t"/>
          <a:lstStyle/>
          <a:p>
            <a:pPr algn="ctr">
              <a:buNone/>
            </a:pPr>
            <a:r>
              <a:rPr lang="en-US" sz="1450" b="1" i="0" dirty="0">
                <a:solidFill>
                  <a:srgbClr val="5C4826"/>
                </a:solidFill>
              </a:rPr>
              <a:t>empty cart</a:t>
            </a:r>
          </a:p>
        </p:txBody>
      </p:sp>
      <p:sp>
        <p:nvSpPr>
          <p:cNvPr id="111" name="D111"/>
          <p:cNvSpPr/>
          <p:nvPr/>
        </p:nvSpPr>
        <p:spPr>
          <a:xfrm>
            <a:off x="2697480" y="2514600"/>
            <a:ext cx="201168" cy="201168"/>
          </a:xfrm>
          <a:prstGeom prst="ellipse">
            <a:avLst/>
          </a:prstGeom>
          <a:solidFill>
            <a:srgbClr val="8E6F3E"/>
          </a:solidFill>
          <a:ln>
            <a:noFill/>
          </a:ln>
        </p:spPr>
        <p:txBody>
          <a:bodyPr wrap="square" lIns="91440" tIns="45720" rIns="91440" bIns="45720" anchor="ctr"/>
          <a:lstStyle/>
          <a:p>
            <a:pPr>
              <a:buNone/>
            </a:pPr>
          </a:p>
        </p:txBody>
      </p:sp>
      <p:sp>
        <p:nvSpPr>
          <p:cNvPr id="121" name="T121"/>
          <p:cNvSpPr txBox="1"/>
          <p:nvPr/>
        </p:nvSpPr>
        <p:spPr>
          <a:xfrm>
            <a:off x="1975104" y="2770632"/>
            <a:ext cx="1645920" cy="256032"/>
          </a:xfrm>
          <a:prstGeom prst="rect">
            <a:avLst/>
          </a:prstGeom>
          <a:noFill/>
        </p:spPr>
        <p:txBody>
          <a:bodyPr wrap="square" lIns="0" tIns="0" rIns="0" bIns="0" anchor="t"/>
          <a:lstStyle/>
          <a:p>
            <a:pPr algn="ctr">
              <a:buNone/>
            </a:pPr>
            <a:r>
              <a:rPr lang="en-US" sz="1450" b="1" i="0" dirty="0">
                <a:solidFill>
                  <a:srgbClr val="5C4826"/>
                </a:solidFill>
              </a:rPr>
              <a:t>duplicate ID</a:t>
            </a:r>
          </a:p>
        </p:txBody>
      </p:sp>
      <p:sp>
        <p:nvSpPr>
          <p:cNvPr id="112" name="D112"/>
          <p:cNvSpPr/>
          <p:nvPr/>
        </p:nvSpPr>
        <p:spPr>
          <a:xfrm>
            <a:off x="4069080" y="1965960"/>
            <a:ext cx="201168" cy="201168"/>
          </a:xfrm>
          <a:prstGeom prst="ellipse">
            <a:avLst/>
          </a:prstGeom>
          <a:solidFill>
            <a:srgbClr val="8E6F3E"/>
          </a:solidFill>
          <a:ln>
            <a:noFill/>
          </a:ln>
        </p:spPr>
        <p:txBody>
          <a:bodyPr wrap="square" lIns="91440" tIns="45720" rIns="91440" bIns="45720" anchor="ctr"/>
          <a:lstStyle/>
          <a:p>
            <a:pPr>
              <a:buNone/>
            </a:pPr>
          </a:p>
        </p:txBody>
      </p:sp>
      <p:sp>
        <p:nvSpPr>
          <p:cNvPr id="122" name="T122"/>
          <p:cNvSpPr txBox="1"/>
          <p:nvPr/>
        </p:nvSpPr>
        <p:spPr>
          <a:xfrm>
            <a:off x="3392424" y="2221992"/>
            <a:ext cx="1554480" cy="256032"/>
          </a:xfrm>
          <a:prstGeom prst="rect">
            <a:avLst/>
          </a:prstGeom>
          <a:noFill/>
        </p:spPr>
        <p:txBody>
          <a:bodyPr wrap="square" lIns="0" tIns="0" rIns="0" bIns="0" anchor="t"/>
          <a:lstStyle/>
          <a:p>
            <a:pPr algn="ctr">
              <a:buNone/>
            </a:pPr>
            <a:r>
              <a:rPr lang="en-US" sz="1450" b="1" i="0" dirty="0">
                <a:solidFill>
                  <a:srgbClr val="5C4826"/>
                </a:solidFill>
              </a:rPr>
              <a:t>max amount</a:t>
            </a:r>
          </a:p>
        </p:txBody>
      </p:sp>
      <p:sp>
        <p:nvSpPr>
          <p:cNvPr id="130" name="T130"/>
          <p:cNvSpPr txBox="1"/>
          <p:nvPr/>
        </p:nvSpPr>
        <p:spPr>
          <a:xfrm>
            <a:off x="685800" y="3310128"/>
            <a:ext cx="4700016" cy="274320"/>
          </a:xfrm>
          <a:prstGeom prst="rect">
            <a:avLst/>
          </a:prstGeom>
          <a:noFill/>
        </p:spPr>
        <p:txBody>
          <a:bodyPr wrap="square" lIns="0" tIns="0" rIns="0" bIns="0" anchor="t"/>
          <a:lstStyle/>
          <a:p>
            <a:pPr algn="ctr">
              <a:buNone/>
            </a:pPr>
            <a:r>
              <a:rPr lang="en-US" sz="1500" b="0" i="1" dirty="0">
                <a:solidFill>
                  <a:srgbClr val="555960"/>
                </a:solidFill>
              </a:rPr>
              <a:t>every other point: unobserved</a:t>
            </a:r>
          </a:p>
        </p:txBody>
      </p:sp>
      <p:sp>
        <p:nvSpPr>
          <p:cNvPr id="140" name="P140"/>
          <p:cNvSpPr/>
          <p:nvPr/>
        </p:nvSpPr>
        <p:spPr>
          <a:xfrm>
            <a:off x="5715000" y="1051560"/>
            <a:ext cx="2862072" cy="26974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300" b="1" i="0" dirty="0">
                <a:solidFill>
                  <a:srgbClr val="57534E"/>
                </a:solidFill>
              </a:rPr>
              <a:t>KNOWN CASE → EXPECTED RESULT</a:t>
            </a:r>
          </a:p>
          <a:p>
            <a:pPr algn="ctr">
              <a:spcBef>
                <a:spcPts val="400"/>
              </a:spcBef>
              <a:buNone/>
            </a:pPr>
            <a:r>
              <a:rPr lang="en-US" sz="1550" b="0" i="0" dirty="0">
                <a:solidFill>
                  <a:srgbClr val="000000"/>
                </a:solidFill>
              </a:rPr>
              <a:t>duplicate ID → rejected</a:t>
            </a:r>
          </a:p>
          <a:p>
            <a:pPr algn="ctr">
              <a:spcBef>
                <a:spcPts val="300"/>
              </a:spcBef>
              <a:buNone/>
            </a:pPr>
            <a:r>
              <a:rPr lang="en-US" sz="1550" b="0" i="0" dirty="0">
                <a:solidFill>
                  <a:srgbClr val="000000"/>
                </a:solidFill>
              </a:rPr>
              <a:t>empty cart → refused</a:t>
            </a:r>
          </a:p>
          <a:p>
            <a:pPr algn="ctr">
              <a:spcBef>
                <a:spcPts val="300"/>
              </a:spcBef>
              <a:buNone/>
            </a:pPr>
            <a:r>
              <a:rPr lang="en-US" sz="1550" b="0" i="0" dirty="0">
                <a:solidFill>
                  <a:srgbClr val="000000"/>
                </a:solidFill>
              </a:rPr>
              <a:t>max amount → charged once</a:t>
            </a:r>
          </a:p>
          <a:p>
            <a:pPr algn="ctr">
              <a:spcBef>
                <a:spcPts val="400"/>
              </a:spcBef>
              <a:buNone/>
            </a:pPr>
            <a:r>
              <a:rPr lang="en-US" sz="1450" b="0" i="1" dirty="0">
                <a:solidFill>
                  <a:srgbClr val="555960"/>
                </a:solidFill>
              </a:rPr>
              <a:t>You pick the cases. You state the answer.</a:t>
            </a:r>
          </a:p>
        </p:txBody>
      </p:sp>
      <p:sp>
        <p:nvSpPr>
          <p:cNvPr id="150" name="E150"/>
          <p:cNvSpPr/>
          <p:nvPr/>
        </p:nvSpPr>
        <p:spPr>
          <a:xfrm>
            <a:off x="566928" y="3977640"/>
            <a:ext cx="8010144" cy="10058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50" b="1" i="0" dirty="0">
                <a:solidFill>
                  <a:srgbClr val="5C4826"/>
                </a:solidFill>
              </a:rPr>
              <a:t>Strong evidence about the cases you chose.</a:t>
            </a:r>
          </a:p>
          <a:p>
            <a:pPr algn="ctr">
              <a:spcBef>
                <a:spcPts val="200"/>
              </a:spcBef>
              <a:buNone/>
            </a:pPr>
            <a:r>
              <a:rPr lang="en-US" sz="1800" b="0" i="0" dirty="0">
                <a:solidFill>
                  <a:srgbClr val="5C4826"/>
                </a:solidFill>
              </a:rPr>
              <a:t>Silent about the ones you did not.</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evidence is exactly as good as your choice of cases.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1"/>
                                        </p:tgtEl>
                                        <p:attrNameLst>
                                          <p:attrName>style.visibility</p:attrName>
                                        </p:attrNameLst>
                                      </p:cBhvr>
                                      <p:to>
                                        <p:strVal val="visible"/>
                                      </p:to>
                                    </p:set>
                                    <p:animEffect transition="in" filter="fade">
                                      <p:cBhvr>
                                        <p:cTn id="16" dur="500"/>
                                        <p:tgtEl>
                                          <p:spTgt spid="12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2"/>
                                        </p:tgtEl>
                                        <p:attrNameLst>
                                          <p:attrName>style.visibility</p:attrName>
                                        </p:attrNameLst>
                                      </p:cBhvr>
                                      <p:to>
                                        <p:strVal val="visible"/>
                                      </p:to>
                                    </p:set>
                                    <p:animEffect transition="in" filter="fade">
                                      <p:cBhvr>
                                        <p:cTn id="19" dur="500"/>
                                        <p:tgtEl>
                                          <p:spTgt spid="1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2"/>
                                        </p:tgtEl>
                                        <p:attrNameLst>
                                          <p:attrName>style.visibility</p:attrName>
                                        </p:attrNameLst>
                                      </p:cBhvr>
                                      <p:to>
                                        <p:strVal val="visible"/>
                                      </p:to>
                                    </p:set>
                                    <p:animEffect transition="in" filter="fade">
                                      <p:cBhvr>
                                        <p:cTn id="22" dur="500"/>
                                        <p:tgtEl>
                                          <p:spTgt spid="12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0"/>
                                        </p:tgtEl>
                                        <p:attrNameLst>
                                          <p:attrName>style.visibility</p:attrName>
                                        </p:attrNameLst>
                                      </p:cBhvr>
                                      <p:to>
                                        <p:strVal val="visible"/>
                                      </p:to>
                                    </p:set>
                                    <p:animEffect transition="in" filter="fade">
                                      <p:cBhvr>
                                        <p:cTn id="27" dur="500"/>
                                        <p:tgtEl>
                                          <p:spTgt spid="1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0"/>
                                        </p:tgtEl>
                                        <p:attrNameLst>
                                          <p:attrName>style.visibility</p:attrName>
                                        </p:attrNameLst>
                                      </p:cBhvr>
                                      <p:to>
                                        <p:strVal val="visible"/>
                                      </p:to>
                                    </p:set>
                                    <p:animEffect transition="in" filter="fade">
                                      <p:cBhvr>
                                        <p:cTn id="32" dur="500"/>
                                        <p:tgtEl>
                                          <p:spTgt spid="14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50"/>
                                        </p:tgtEl>
                                        <p:attrNameLst>
                                          <p:attrName>style.visibility</p:attrName>
                                        </p:attrNameLst>
                                      </p:cBhvr>
                                      <p:to>
                                        <p:strVal val="visible"/>
                                      </p:to>
                                    </p:set>
                                    <p:animEffect transition="in" filter="fade">
                                      <p:cBhvr>
                                        <p:cTn id="37"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General properties → property-based testing</a:t>
            </a:r>
          </a:p>
        </p:txBody>
      </p:sp>
      <p:sp>
        <p:nvSpPr>
          <p:cNvPr id="3" name="Slide Number Placeholder 3"/>
          <p:cNvSpPr>
            <a:spLocks noGrp="1"/>
          </p:cNvSpPr>
          <p:nvPr>
            <p:ph type="sldNum" sz="quarter" idx="4"/>
          </p:nvPr>
        </p:nvSpPr>
        <p:spPr/>
        <p:txBody>
          <a:bodyPr/>
          <a:lstStyle/>
          <a:p>
            <a:fld id="{1171B661-F4A3-4E28-9F18-03522F38E14A}" type="slidenum">
              <a:rPr lang="en-US" smtClean="0"/>
              <a:t>1</a:t>
            </a:fld>
            <a:endParaRPr lang="en-US"/>
          </a:p>
        </p:txBody>
      </p:sp>
      <p:sp>
        <p:nvSpPr>
          <p:cNvPr id="100" name="B100"/>
          <p:cNvSpPr/>
          <p:nvPr/>
        </p:nvSpPr>
        <p:spPr>
          <a:xfrm>
            <a:off x="566928" y="1005840"/>
            <a:ext cx="1810512" cy="566928"/>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PROPERTY</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566928"/>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GENERATOR</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566928"/>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MANY INPUTS</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566928"/>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CHECK THE PROPERTY</a:t>
            </a:r>
          </a:p>
        </p:txBody>
      </p:sp>
      <p:sp>
        <p:nvSpPr>
          <p:cNvPr id="120" name="B120"/>
          <p:cNvSpPr/>
          <p:nvPr/>
        </p:nvSpPr>
        <p:spPr>
          <a:xfrm>
            <a:off x="566928" y="1828800"/>
            <a:ext cx="8010144" cy="4572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PROPERTY: a submitted payment shall cause at most one charge</a:t>
            </a:r>
          </a:p>
        </p:txBody>
      </p:sp>
      <p:sp>
        <p:nvSpPr>
          <p:cNvPr id="121" name="P121"/>
          <p:cNvSpPr/>
          <p:nvPr/>
        </p:nvSpPr>
        <p:spPr>
          <a:xfrm>
            <a:off x="566928" y="2359152"/>
            <a:ext cx="8010144" cy="1188720"/>
          </a:xfrm>
          <a:prstGeom prst="rect">
            <a:avLst/>
          </a:prstGeom>
          <a:solidFill>
            <a:srgbClr val="F5F1E8"/>
          </a:solidFill>
          <a:ln w="12700">
            <a:solidFill>
              <a:srgbClr val="C9B991"/>
            </a:solidFill>
          </a:ln>
        </p:spPr>
        <p:txBody>
          <a:bodyPr wrap="square" lIns="91440" tIns="45720" rIns="91440" bIns="45720" anchor="ctr"/>
          <a:lstStyle/>
          <a:p>
            <a:pPr>
              <a:buNone/>
            </a:pPr>
          </a:p>
        </p:txBody>
      </p:sp>
      <p:sp>
        <p:nvSpPr>
          <p:cNvPr id="200" name="G200"/>
          <p:cNvSpPr/>
          <p:nvPr/>
        </p:nvSpPr>
        <p:spPr>
          <a:xfrm>
            <a:off x="748244" y="2452638"/>
            <a:ext cx="100584" cy="100584"/>
          </a:xfrm>
          <a:prstGeom prst="ellipse">
            <a:avLst/>
          </a:prstGeom>
          <a:solidFill>
            <a:srgbClr val="5C4826"/>
          </a:solidFill>
          <a:ln>
            <a:noFill/>
          </a:ln>
        </p:spPr>
        <p:txBody>
          <a:bodyPr wrap="square" lIns="91440" tIns="45720" rIns="91440" bIns="45720" anchor="ctr"/>
          <a:lstStyle/>
          <a:p>
            <a:pPr>
              <a:buNone/>
            </a:pPr>
          </a:p>
        </p:txBody>
      </p:sp>
      <p:sp>
        <p:nvSpPr>
          <p:cNvPr id="201" name="G201"/>
          <p:cNvSpPr/>
          <p:nvPr/>
        </p:nvSpPr>
        <p:spPr>
          <a:xfrm>
            <a:off x="1259283" y="2432562"/>
            <a:ext cx="100584" cy="100584"/>
          </a:xfrm>
          <a:prstGeom prst="ellipse">
            <a:avLst/>
          </a:prstGeom>
          <a:solidFill>
            <a:srgbClr val="5C4826"/>
          </a:solidFill>
          <a:ln>
            <a:noFill/>
          </a:ln>
        </p:spPr>
        <p:txBody>
          <a:bodyPr wrap="square" lIns="91440" tIns="45720" rIns="91440" bIns="45720" anchor="ctr"/>
          <a:lstStyle/>
          <a:p>
            <a:pPr>
              <a:buNone/>
            </a:pPr>
          </a:p>
        </p:txBody>
      </p:sp>
      <p:sp>
        <p:nvSpPr>
          <p:cNvPr id="202" name="G202"/>
          <p:cNvSpPr/>
          <p:nvPr/>
        </p:nvSpPr>
        <p:spPr>
          <a:xfrm>
            <a:off x="1697546" y="2507644"/>
            <a:ext cx="100584" cy="100584"/>
          </a:xfrm>
          <a:prstGeom prst="ellipse">
            <a:avLst/>
          </a:prstGeom>
          <a:solidFill>
            <a:srgbClr val="5C4826"/>
          </a:solidFill>
          <a:ln>
            <a:noFill/>
          </a:ln>
        </p:spPr>
        <p:txBody>
          <a:bodyPr wrap="square" lIns="91440" tIns="45720" rIns="91440" bIns="45720" anchor="ctr"/>
          <a:lstStyle/>
          <a:p>
            <a:pPr>
              <a:buNone/>
            </a:pPr>
          </a:p>
        </p:txBody>
      </p:sp>
      <p:sp>
        <p:nvSpPr>
          <p:cNvPr id="203" name="G203"/>
          <p:cNvSpPr/>
          <p:nvPr/>
        </p:nvSpPr>
        <p:spPr>
          <a:xfrm>
            <a:off x="2076090" y="2543936"/>
            <a:ext cx="100584" cy="100584"/>
          </a:xfrm>
          <a:prstGeom prst="ellipse">
            <a:avLst/>
          </a:prstGeom>
          <a:solidFill>
            <a:srgbClr val="5C4826"/>
          </a:solidFill>
          <a:ln>
            <a:noFill/>
          </a:ln>
        </p:spPr>
        <p:txBody>
          <a:bodyPr wrap="square" lIns="91440" tIns="45720" rIns="91440" bIns="45720" anchor="ctr"/>
          <a:lstStyle/>
          <a:p>
            <a:pPr>
              <a:buNone/>
            </a:pPr>
          </a:p>
        </p:txBody>
      </p:sp>
      <p:sp>
        <p:nvSpPr>
          <p:cNvPr id="204" name="G204"/>
          <p:cNvSpPr/>
          <p:nvPr/>
        </p:nvSpPr>
        <p:spPr>
          <a:xfrm>
            <a:off x="2529915" y="2525043"/>
            <a:ext cx="100584" cy="100584"/>
          </a:xfrm>
          <a:prstGeom prst="ellipse">
            <a:avLst/>
          </a:prstGeom>
          <a:solidFill>
            <a:srgbClr val="5C4826"/>
          </a:solidFill>
          <a:ln>
            <a:noFill/>
          </a:ln>
        </p:spPr>
        <p:txBody>
          <a:bodyPr wrap="square" lIns="91440" tIns="45720" rIns="91440" bIns="45720" anchor="ctr"/>
          <a:lstStyle/>
          <a:p>
            <a:pPr>
              <a:buNone/>
            </a:pPr>
          </a:p>
        </p:txBody>
      </p:sp>
      <p:sp>
        <p:nvSpPr>
          <p:cNvPr id="205" name="G205"/>
          <p:cNvSpPr/>
          <p:nvPr/>
        </p:nvSpPr>
        <p:spPr>
          <a:xfrm>
            <a:off x="2992442" y="2437241"/>
            <a:ext cx="100584" cy="100584"/>
          </a:xfrm>
          <a:prstGeom prst="ellipse">
            <a:avLst/>
          </a:prstGeom>
          <a:solidFill>
            <a:srgbClr val="5C4826"/>
          </a:solidFill>
          <a:ln>
            <a:noFill/>
          </a:ln>
        </p:spPr>
        <p:txBody>
          <a:bodyPr wrap="square" lIns="91440" tIns="45720" rIns="91440" bIns="45720" anchor="ctr"/>
          <a:lstStyle/>
          <a:p>
            <a:pPr>
              <a:buNone/>
            </a:pPr>
          </a:p>
        </p:txBody>
      </p:sp>
      <p:sp>
        <p:nvSpPr>
          <p:cNvPr id="206" name="G206"/>
          <p:cNvSpPr/>
          <p:nvPr/>
        </p:nvSpPr>
        <p:spPr>
          <a:xfrm>
            <a:off x="3508016" y="2625717"/>
            <a:ext cx="100584" cy="100584"/>
          </a:xfrm>
          <a:prstGeom prst="ellipse">
            <a:avLst/>
          </a:prstGeom>
          <a:solidFill>
            <a:srgbClr val="5C4826"/>
          </a:solidFill>
          <a:ln>
            <a:noFill/>
          </a:ln>
        </p:spPr>
        <p:txBody>
          <a:bodyPr wrap="square" lIns="91440" tIns="45720" rIns="91440" bIns="45720" anchor="ctr"/>
          <a:lstStyle/>
          <a:p>
            <a:pPr>
              <a:buNone/>
            </a:pPr>
          </a:p>
        </p:txBody>
      </p:sp>
      <p:sp>
        <p:nvSpPr>
          <p:cNvPr id="207" name="G207"/>
          <p:cNvSpPr/>
          <p:nvPr/>
        </p:nvSpPr>
        <p:spPr>
          <a:xfrm>
            <a:off x="3915721" y="2471172"/>
            <a:ext cx="100584" cy="100584"/>
          </a:xfrm>
          <a:prstGeom prst="ellipse">
            <a:avLst/>
          </a:prstGeom>
          <a:solidFill>
            <a:srgbClr val="5C4826"/>
          </a:solidFill>
          <a:ln>
            <a:noFill/>
          </a:ln>
        </p:spPr>
        <p:txBody>
          <a:bodyPr wrap="square" lIns="91440" tIns="45720" rIns="91440" bIns="45720" anchor="ctr"/>
          <a:lstStyle/>
          <a:p>
            <a:pPr>
              <a:buNone/>
            </a:pPr>
          </a:p>
        </p:txBody>
      </p:sp>
      <p:sp>
        <p:nvSpPr>
          <p:cNvPr id="208" name="G208"/>
          <p:cNvSpPr/>
          <p:nvPr/>
        </p:nvSpPr>
        <p:spPr>
          <a:xfrm>
            <a:off x="4455814" y="2656660"/>
            <a:ext cx="100584" cy="100584"/>
          </a:xfrm>
          <a:prstGeom prst="ellipse">
            <a:avLst/>
          </a:prstGeom>
          <a:solidFill>
            <a:srgbClr val="5C4826"/>
          </a:solidFill>
          <a:ln>
            <a:noFill/>
          </a:ln>
        </p:spPr>
        <p:txBody>
          <a:bodyPr wrap="square" lIns="91440" tIns="45720" rIns="91440" bIns="45720" anchor="ctr"/>
          <a:lstStyle/>
          <a:p>
            <a:pPr>
              <a:buNone/>
            </a:pPr>
          </a:p>
        </p:txBody>
      </p:sp>
      <p:sp>
        <p:nvSpPr>
          <p:cNvPr id="209" name="G209"/>
          <p:cNvSpPr/>
          <p:nvPr/>
        </p:nvSpPr>
        <p:spPr>
          <a:xfrm>
            <a:off x="4904731" y="2515579"/>
            <a:ext cx="100584" cy="100584"/>
          </a:xfrm>
          <a:prstGeom prst="ellipse">
            <a:avLst/>
          </a:prstGeom>
          <a:solidFill>
            <a:srgbClr val="5C4826"/>
          </a:solidFill>
          <a:ln>
            <a:noFill/>
          </a:ln>
        </p:spPr>
        <p:txBody>
          <a:bodyPr wrap="square" lIns="91440" tIns="45720" rIns="91440" bIns="45720" anchor="ctr"/>
          <a:lstStyle/>
          <a:p>
            <a:pPr>
              <a:buNone/>
            </a:pPr>
          </a:p>
        </p:txBody>
      </p:sp>
      <p:sp>
        <p:nvSpPr>
          <p:cNvPr id="210" name="G210"/>
          <p:cNvSpPr/>
          <p:nvPr/>
        </p:nvSpPr>
        <p:spPr>
          <a:xfrm>
            <a:off x="5427628" y="2425943"/>
            <a:ext cx="100584" cy="100584"/>
          </a:xfrm>
          <a:prstGeom prst="ellipse">
            <a:avLst/>
          </a:prstGeom>
          <a:solidFill>
            <a:srgbClr val="5C4826"/>
          </a:solidFill>
          <a:ln>
            <a:noFill/>
          </a:ln>
        </p:spPr>
        <p:txBody>
          <a:bodyPr wrap="square" lIns="91440" tIns="45720" rIns="91440" bIns="45720" anchor="ctr"/>
          <a:lstStyle/>
          <a:p>
            <a:pPr>
              <a:buNone/>
            </a:pPr>
          </a:p>
        </p:txBody>
      </p:sp>
      <p:sp>
        <p:nvSpPr>
          <p:cNvPr id="211" name="G211"/>
          <p:cNvSpPr/>
          <p:nvPr/>
        </p:nvSpPr>
        <p:spPr>
          <a:xfrm>
            <a:off x="5865441" y="2488165"/>
            <a:ext cx="100584" cy="100584"/>
          </a:xfrm>
          <a:prstGeom prst="ellipse">
            <a:avLst/>
          </a:prstGeom>
          <a:solidFill>
            <a:srgbClr val="5C4826"/>
          </a:solidFill>
          <a:ln>
            <a:noFill/>
          </a:ln>
        </p:spPr>
        <p:txBody>
          <a:bodyPr wrap="square" lIns="91440" tIns="45720" rIns="91440" bIns="45720" anchor="ctr"/>
          <a:lstStyle/>
          <a:p>
            <a:pPr>
              <a:buNone/>
            </a:pPr>
          </a:p>
        </p:txBody>
      </p:sp>
      <p:sp>
        <p:nvSpPr>
          <p:cNvPr id="212" name="G212"/>
          <p:cNvSpPr/>
          <p:nvPr/>
        </p:nvSpPr>
        <p:spPr>
          <a:xfrm>
            <a:off x="6205087" y="2444175"/>
            <a:ext cx="100584" cy="100584"/>
          </a:xfrm>
          <a:prstGeom prst="ellipse">
            <a:avLst/>
          </a:prstGeom>
          <a:solidFill>
            <a:srgbClr val="5C4826"/>
          </a:solidFill>
          <a:ln>
            <a:noFill/>
          </a:ln>
        </p:spPr>
        <p:txBody>
          <a:bodyPr wrap="square" lIns="91440" tIns="45720" rIns="91440" bIns="45720" anchor="ctr"/>
          <a:lstStyle/>
          <a:p>
            <a:pPr>
              <a:buNone/>
            </a:pPr>
          </a:p>
        </p:txBody>
      </p:sp>
      <p:sp>
        <p:nvSpPr>
          <p:cNvPr id="213" name="G213"/>
          <p:cNvSpPr/>
          <p:nvPr/>
        </p:nvSpPr>
        <p:spPr>
          <a:xfrm>
            <a:off x="6689318" y="2622970"/>
            <a:ext cx="100584" cy="100584"/>
          </a:xfrm>
          <a:prstGeom prst="ellipse">
            <a:avLst/>
          </a:prstGeom>
          <a:solidFill>
            <a:srgbClr val="5C4826"/>
          </a:solidFill>
          <a:ln>
            <a:noFill/>
          </a:ln>
        </p:spPr>
        <p:txBody>
          <a:bodyPr wrap="square" lIns="91440" tIns="45720" rIns="91440" bIns="45720" anchor="ctr"/>
          <a:lstStyle/>
          <a:p>
            <a:pPr>
              <a:buNone/>
            </a:pPr>
          </a:p>
        </p:txBody>
      </p:sp>
      <p:sp>
        <p:nvSpPr>
          <p:cNvPr id="214" name="G214"/>
          <p:cNvSpPr/>
          <p:nvPr/>
        </p:nvSpPr>
        <p:spPr>
          <a:xfrm>
            <a:off x="7125490" y="2562924"/>
            <a:ext cx="100584" cy="100584"/>
          </a:xfrm>
          <a:prstGeom prst="ellipse">
            <a:avLst/>
          </a:prstGeom>
          <a:solidFill>
            <a:srgbClr val="5C4826"/>
          </a:solidFill>
          <a:ln>
            <a:noFill/>
          </a:ln>
        </p:spPr>
        <p:txBody>
          <a:bodyPr wrap="square" lIns="91440" tIns="45720" rIns="91440" bIns="45720" anchor="ctr"/>
          <a:lstStyle/>
          <a:p>
            <a:pPr>
              <a:buNone/>
            </a:pPr>
          </a:p>
        </p:txBody>
      </p:sp>
      <p:sp>
        <p:nvSpPr>
          <p:cNvPr id="215" name="G215"/>
          <p:cNvSpPr/>
          <p:nvPr/>
        </p:nvSpPr>
        <p:spPr>
          <a:xfrm>
            <a:off x="7658104" y="2509362"/>
            <a:ext cx="100584" cy="100584"/>
          </a:xfrm>
          <a:prstGeom prst="ellipse">
            <a:avLst/>
          </a:prstGeom>
          <a:solidFill>
            <a:srgbClr val="5C4826"/>
          </a:solidFill>
          <a:ln>
            <a:noFill/>
          </a:ln>
        </p:spPr>
        <p:txBody>
          <a:bodyPr wrap="square" lIns="91440" tIns="45720" rIns="91440" bIns="45720" anchor="ctr"/>
          <a:lstStyle/>
          <a:p>
            <a:pPr>
              <a:buNone/>
            </a:pPr>
          </a:p>
        </p:txBody>
      </p:sp>
      <p:sp>
        <p:nvSpPr>
          <p:cNvPr id="216" name="G216"/>
          <p:cNvSpPr/>
          <p:nvPr/>
        </p:nvSpPr>
        <p:spPr>
          <a:xfrm>
            <a:off x="8100298" y="2430092"/>
            <a:ext cx="100584" cy="100584"/>
          </a:xfrm>
          <a:prstGeom prst="ellipse">
            <a:avLst/>
          </a:prstGeom>
          <a:solidFill>
            <a:srgbClr val="5C4826"/>
          </a:solidFill>
          <a:ln>
            <a:noFill/>
          </a:ln>
        </p:spPr>
        <p:txBody>
          <a:bodyPr wrap="square" lIns="91440" tIns="45720" rIns="91440" bIns="45720" anchor="ctr"/>
          <a:lstStyle/>
          <a:p>
            <a:pPr>
              <a:buNone/>
            </a:pPr>
          </a:p>
        </p:txBody>
      </p:sp>
      <p:sp>
        <p:nvSpPr>
          <p:cNvPr id="217" name="G217"/>
          <p:cNvSpPr/>
          <p:nvPr/>
        </p:nvSpPr>
        <p:spPr>
          <a:xfrm>
            <a:off x="704754" y="2942236"/>
            <a:ext cx="100584" cy="100584"/>
          </a:xfrm>
          <a:prstGeom prst="ellipse">
            <a:avLst/>
          </a:prstGeom>
          <a:solidFill>
            <a:srgbClr val="5C4826"/>
          </a:solidFill>
          <a:ln>
            <a:noFill/>
          </a:ln>
        </p:spPr>
        <p:txBody>
          <a:bodyPr wrap="square" lIns="91440" tIns="45720" rIns="91440" bIns="45720" anchor="ctr"/>
          <a:lstStyle/>
          <a:p>
            <a:pPr>
              <a:buNone/>
            </a:pPr>
          </a:p>
        </p:txBody>
      </p:sp>
      <p:sp>
        <p:nvSpPr>
          <p:cNvPr id="218" name="G218"/>
          <p:cNvSpPr/>
          <p:nvPr/>
        </p:nvSpPr>
        <p:spPr>
          <a:xfrm>
            <a:off x="1264132" y="2998981"/>
            <a:ext cx="100584" cy="100584"/>
          </a:xfrm>
          <a:prstGeom prst="ellipse">
            <a:avLst/>
          </a:prstGeom>
          <a:solidFill>
            <a:srgbClr val="5C4826"/>
          </a:solidFill>
          <a:ln>
            <a:noFill/>
          </a:ln>
        </p:spPr>
        <p:txBody>
          <a:bodyPr wrap="square" lIns="91440" tIns="45720" rIns="91440" bIns="45720" anchor="ctr"/>
          <a:lstStyle/>
          <a:p>
            <a:pPr>
              <a:buNone/>
            </a:pPr>
          </a:p>
        </p:txBody>
      </p:sp>
      <p:sp>
        <p:nvSpPr>
          <p:cNvPr id="219" name="G219"/>
          <p:cNvSpPr/>
          <p:nvPr/>
        </p:nvSpPr>
        <p:spPr>
          <a:xfrm>
            <a:off x="1661050" y="3039427"/>
            <a:ext cx="100584" cy="100584"/>
          </a:xfrm>
          <a:prstGeom prst="ellipse">
            <a:avLst/>
          </a:prstGeom>
          <a:solidFill>
            <a:srgbClr val="5C4826"/>
          </a:solidFill>
          <a:ln>
            <a:noFill/>
          </a:ln>
        </p:spPr>
        <p:txBody>
          <a:bodyPr wrap="square" lIns="91440" tIns="45720" rIns="91440" bIns="45720" anchor="ctr"/>
          <a:lstStyle/>
          <a:p>
            <a:pPr>
              <a:buNone/>
            </a:pPr>
          </a:p>
        </p:txBody>
      </p:sp>
      <p:sp>
        <p:nvSpPr>
          <p:cNvPr id="220" name="G220"/>
          <p:cNvSpPr/>
          <p:nvPr/>
        </p:nvSpPr>
        <p:spPr>
          <a:xfrm>
            <a:off x="2141135" y="2966254"/>
            <a:ext cx="100584" cy="100584"/>
          </a:xfrm>
          <a:prstGeom prst="ellipse">
            <a:avLst/>
          </a:prstGeom>
          <a:solidFill>
            <a:srgbClr val="5C4826"/>
          </a:solidFill>
          <a:ln>
            <a:noFill/>
          </a:ln>
        </p:spPr>
        <p:txBody>
          <a:bodyPr wrap="square" lIns="91440" tIns="45720" rIns="91440" bIns="45720" anchor="ctr"/>
          <a:lstStyle/>
          <a:p>
            <a:pPr>
              <a:buNone/>
            </a:pPr>
          </a:p>
        </p:txBody>
      </p:sp>
      <p:sp>
        <p:nvSpPr>
          <p:cNvPr id="221" name="G221"/>
          <p:cNvSpPr/>
          <p:nvPr/>
        </p:nvSpPr>
        <p:spPr>
          <a:xfrm>
            <a:off x="2654493" y="3068469"/>
            <a:ext cx="100584" cy="100584"/>
          </a:xfrm>
          <a:prstGeom prst="ellipse">
            <a:avLst/>
          </a:prstGeom>
          <a:solidFill>
            <a:srgbClr val="5C4826"/>
          </a:solidFill>
          <a:ln>
            <a:noFill/>
          </a:ln>
        </p:spPr>
        <p:txBody>
          <a:bodyPr wrap="square" lIns="91440" tIns="45720" rIns="91440" bIns="45720" anchor="ctr"/>
          <a:lstStyle/>
          <a:p>
            <a:pPr>
              <a:buNone/>
            </a:pPr>
          </a:p>
        </p:txBody>
      </p:sp>
      <p:sp>
        <p:nvSpPr>
          <p:cNvPr id="222" name="G222"/>
          <p:cNvSpPr/>
          <p:nvPr/>
        </p:nvSpPr>
        <p:spPr>
          <a:xfrm>
            <a:off x="3021120" y="3036575"/>
            <a:ext cx="100584" cy="100584"/>
          </a:xfrm>
          <a:prstGeom prst="ellipse">
            <a:avLst/>
          </a:prstGeom>
          <a:solidFill>
            <a:srgbClr val="5C4826"/>
          </a:solidFill>
          <a:ln>
            <a:noFill/>
          </a:ln>
        </p:spPr>
        <p:txBody>
          <a:bodyPr wrap="square" lIns="91440" tIns="45720" rIns="91440" bIns="45720" anchor="ctr"/>
          <a:lstStyle/>
          <a:p>
            <a:pPr>
              <a:buNone/>
            </a:pPr>
          </a:p>
        </p:txBody>
      </p:sp>
      <p:sp>
        <p:nvSpPr>
          <p:cNvPr id="223" name="G223"/>
          <p:cNvSpPr/>
          <p:nvPr/>
        </p:nvSpPr>
        <p:spPr>
          <a:xfrm>
            <a:off x="3524587" y="3113567"/>
            <a:ext cx="100584" cy="100584"/>
          </a:xfrm>
          <a:prstGeom prst="ellipse">
            <a:avLst/>
          </a:prstGeom>
          <a:solidFill>
            <a:srgbClr val="5C4826"/>
          </a:solidFill>
          <a:ln>
            <a:noFill/>
          </a:ln>
        </p:spPr>
        <p:txBody>
          <a:bodyPr wrap="square" lIns="91440" tIns="45720" rIns="91440" bIns="45720" anchor="ctr"/>
          <a:lstStyle/>
          <a:p>
            <a:pPr>
              <a:buNone/>
            </a:pPr>
          </a:p>
        </p:txBody>
      </p:sp>
      <p:sp>
        <p:nvSpPr>
          <p:cNvPr id="224" name="G224"/>
          <p:cNvSpPr/>
          <p:nvPr/>
        </p:nvSpPr>
        <p:spPr>
          <a:xfrm>
            <a:off x="4015405" y="2963225"/>
            <a:ext cx="100584" cy="100584"/>
          </a:xfrm>
          <a:prstGeom prst="ellipse">
            <a:avLst/>
          </a:prstGeom>
          <a:solidFill>
            <a:srgbClr val="5C4826"/>
          </a:solidFill>
          <a:ln>
            <a:noFill/>
          </a:ln>
        </p:spPr>
        <p:txBody>
          <a:bodyPr wrap="square" lIns="91440" tIns="45720" rIns="91440" bIns="45720" anchor="ctr"/>
          <a:lstStyle/>
          <a:p>
            <a:pPr>
              <a:buNone/>
            </a:pPr>
          </a:p>
        </p:txBody>
      </p:sp>
      <p:sp>
        <p:nvSpPr>
          <p:cNvPr id="225" name="G225"/>
          <p:cNvSpPr/>
          <p:nvPr/>
        </p:nvSpPr>
        <p:spPr>
          <a:xfrm>
            <a:off x="4513873" y="2919733"/>
            <a:ext cx="100584" cy="100584"/>
          </a:xfrm>
          <a:prstGeom prst="ellipse">
            <a:avLst/>
          </a:prstGeom>
          <a:solidFill>
            <a:srgbClr val="5C4826"/>
          </a:solidFill>
          <a:ln>
            <a:noFill/>
          </a:ln>
        </p:spPr>
        <p:txBody>
          <a:bodyPr wrap="square" lIns="91440" tIns="45720" rIns="91440" bIns="45720" anchor="ctr"/>
          <a:lstStyle/>
          <a:p>
            <a:pPr>
              <a:buNone/>
            </a:pPr>
          </a:p>
        </p:txBody>
      </p:sp>
      <p:sp>
        <p:nvSpPr>
          <p:cNvPr id="226" name="G226"/>
          <p:cNvSpPr/>
          <p:nvPr/>
        </p:nvSpPr>
        <p:spPr>
          <a:xfrm>
            <a:off x="4878564" y="3083356"/>
            <a:ext cx="100584" cy="100584"/>
          </a:xfrm>
          <a:prstGeom prst="ellipse">
            <a:avLst/>
          </a:prstGeom>
          <a:solidFill>
            <a:srgbClr val="5C4826"/>
          </a:solidFill>
          <a:ln>
            <a:noFill/>
          </a:ln>
        </p:spPr>
        <p:txBody>
          <a:bodyPr wrap="square" lIns="91440" tIns="45720" rIns="91440" bIns="45720" anchor="ctr"/>
          <a:lstStyle/>
          <a:p>
            <a:pPr>
              <a:buNone/>
            </a:pPr>
          </a:p>
        </p:txBody>
      </p:sp>
      <p:sp>
        <p:nvSpPr>
          <p:cNvPr id="227" name="G227"/>
          <p:cNvSpPr/>
          <p:nvPr/>
        </p:nvSpPr>
        <p:spPr>
          <a:xfrm>
            <a:off x="5291959" y="3014694"/>
            <a:ext cx="100584" cy="100584"/>
          </a:xfrm>
          <a:prstGeom prst="ellipse">
            <a:avLst/>
          </a:prstGeom>
          <a:solidFill>
            <a:srgbClr val="5C4826"/>
          </a:solidFill>
          <a:ln>
            <a:noFill/>
          </a:ln>
        </p:spPr>
        <p:txBody>
          <a:bodyPr wrap="square" lIns="91440" tIns="45720" rIns="91440" bIns="45720" anchor="ctr"/>
          <a:lstStyle/>
          <a:p>
            <a:pPr>
              <a:buNone/>
            </a:pPr>
          </a:p>
        </p:txBody>
      </p:sp>
      <p:sp>
        <p:nvSpPr>
          <p:cNvPr id="228" name="G228"/>
          <p:cNvSpPr/>
          <p:nvPr/>
        </p:nvSpPr>
        <p:spPr>
          <a:xfrm>
            <a:off x="5730597" y="3060589"/>
            <a:ext cx="100584" cy="100584"/>
          </a:xfrm>
          <a:prstGeom prst="ellipse">
            <a:avLst/>
          </a:prstGeom>
          <a:solidFill>
            <a:srgbClr val="5C4826"/>
          </a:solidFill>
          <a:ln>
            <a:noFill/>
          </a:ln>
        </p:spPr>
        <p:txBody>
          <a:bodyPr wrap="square" lIns="91440" tIns="45720" rIns="91440" bIns="45720" anchor="ctr"/>
          <a:lstStyle/>
          <a:p>
            <a:pPr>
              <a:buNone/>
            </a:pPr>
          </a:p>
        </p:txBody>
      </p:sp>
      <p:sp>
        <p:nvSpPr>
          <p:cNvPr id="229" name="G229"/>
          <p:cNvSpPr/>
          <p:nvPr/>
        </p:nvSpPr>
        <p:spPr>
          <a:xfrm>
            <a:off x="6307186" y="3036217"/>
            <a:ext cx="100584" cy="100584"/>
          </a:xfrm>
          <a:prstGeom prst="ellipse">
            <a:avLst/>
          </a:prstGeom>
          <a:solidFill>
            <a:srgbClr val="5C4826"/>
          </a:solidFill>
          <a:ln>
            <a:noFill/>
          </a:ln>
        </p:spPr>
        <p:txBody>
          <a:bodyPr wrap="square" lIns="91440" tIns="45720" rIns="91440" bIns="45720" anchor="ctr"/>
          <a:lstStyle/>
          <a:p>
            <a:pPr>
              <a:buNone/>
            </a:pPr>
          </a:p>
        </p:txBody>
      </p:sp>
      <p:sp>
        <p:nvSpPr>
          <p:cNvPr id="230" name="G230"/>
          <p:cNvSpPr/>
          <p:nvPr/>
        </p:nvSpPr>
        <p:spPr>
          <a:xfrm>
            <a:off x="6782641" y="2969833"/>
            <a:ext cx="100584" cy="100584"/>
          </a:xfrm>
          <a:prstGeom prst="ellipse">
            <a:avLst/>
          </a:prstGeom>
          <a:solidFill>
            <a:srgbClr val="5C4826"/>
          </a:solidFill>
          <a:ln>
            <a:noFill/>
          </a:ln>
        </p:spPr>
        <p:txBody>
          <a:bodyPr wrap="square" lIns="91440" tIns="45720" rIns="91440" bIns="45720" anchor="ctr"/>
          <a:lstStyle/>
          <a:p>
            <a:pPr>
              <a:buNone/>
            </a:pPr>
          </a:p>
        </p:txBody>
      </p:sp>
      <p:sp>
        <p:nvSpPr>
          <p:cNvPr id="231" name="G231"/>
          <p:cNvSpPr/>
          <p:nvPr/>
        </p:nvSpPr>
        <p:spPr>
          <a:xfrm>
            <a:off x="7210184" y="3041682"/>
            <a:ext cx="100584" cy="100584"/>
          </a:xfrm>
          <a:prstGeom prst="ellipse">
            <a:avLst/>
          </a:prstGeom>
          <a:solidFill>
            <a:srgbClr val="5C4826"/>
          </a:solidFill>
          <a:ln>
            <a:noFill/>
          </a:ln>
        </p:spPr>
        <p:txBody>
          <a:bodyPr wrap="square" lIns="91440" tIns="45720" rIns="91440" bIns="45720" anchor="ctr"/>
          <a:lstStyle/>
          <a:p>
            <a:pPr>
              <a:buNone/>
            </a:pPr>
          </a:p>
        </p:txBody>
      </p:sp>
      <p:sp>
        <p:nvSpPr>
          <p:cNvPr id="232" name="G232"/>
          <p:cNvSpPr/>
          <p:nvPr/>
        </p:nvSpPr>
        <p:spPr>
          <a:xfrm>
            <a:off x="7648390" y="3006307"/>
            <a:ext cx="100584" cy="100584"/>
          </a:xfrm>
          <a:prstGeom prst="ellipse">
            <a:avLst/>
          </a:prstGeom>
          <a:solidFill>
            <a:srgbClr val="5C4826"/>
          </a:solidFill>
          <a:ln>
            <a:noFill/>
          </a:ln>
        </p:spPr>
        <p:txBody>
          <a:bodyPr wrap="square" lIns="91440" tIns="45720" rIns="91440" bIns="45720" anchor="ctr"/>
          <a:lstStyle/>
          <a:p>
            <a:pPr>
              <a:buNone/>
            </a:pPr>
          </a:p>
        </p:txBody>
      </p:sp>
      <p:sp>
        <p:nvSpPr>
          <p:cNvPr id="233" name="G233"/>
          <p:cNvSpPr/>
          <p:nvPr/>
        </p:nvSpPr>
        <p:spPr>
          <a:xfrm>
            <a:off x="8148396" y="3131373"/>
            <a:ext cx="100584" cy="100584"/>
          </a:xfrm>
          <a:prstGeom prst="ellipse">
            <a:avLst/>
          </a:prstGeom>
          <a:solidFill>
            <a:srgbClr val="5C4826"/>
          </a:solidFill>
          <a:ln>
            <a:noFill/>
          </a:ln>
        </p:spPr>
        <p:txBody>
          <a:bodyPr wrap="square" lIns="91440" tIns="45720" rIns="91440" bIns="45720" anchor="ctr"/>
          <a:lstStyle/>
          <a:p>
            <a:pPr>
              <a:buNone/>
            </a:pPr>
          </a:p>
        </p:txBody>
      </p:sp>
      <p:sp>
        <p:nvSpPr>
          <p:cNvPr id="130" name="T130"/>
          <p:cNvSpPr txBox="1"/>
          <p:nvPr/>
        </p:nvSpPr>
        <p:spPr>
          <a:xfrm>
            <a:off x="566928" y="3602736"/>
            <a:ext cx="8010144" cy="274320"/>
          </a:xfrm>
          <a:prstGeom prst="rect">
            <a:avLst/>
          </a:prstGeom>
          <a:noFill/>
        </p:spPr>
        <p:txBody>
          <a:bodyPr wrap="square" lIns="0" tIns="0" rIns="0" bIns="0" anchor="t"/>
          <a:lstStyle/>
          <a:p>
            <a:pPr algn="ctr">
              <a:buNone/>
            </a:pPr>
            <a:r>
              <a:rPr lang="en-US" sz="1500" b="0" i="1" dirty="0">
                <a:solidFill>
                  <a:srgbClr val="555960"/>
                </a:solidFill>
              </a:rPr>
              <a:t>inputs the generator produces — far more than you would write by hand</a:t>
            </a:r>
          </a:p>
        </p:txBody>
      </p:sp>
      <p:sp>
        <p:nvSpPr>
          <p:cNvPr id="140" name="E140"/>
          <p:cNvSpPr/>
          <p:nvPr/>
        </p:nvSpPr>
        <p:spPr>
          <a:xfrm>
            <a:off x="566928" y="4005072"/>
            <a:ext cx="8010144" cy="10058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50" b="1" i="0" dirty="0">
                <a:solidFill>
                  <a:srgbClr val="5C4826"/>
                </a:solidFill>
              </a:rPr>
              <a:t>This is not “lots of unit tests.”</a:t>
            </a:r>
          </a:p>
          <a:p>
            <a:pPr algn="ctr">
              <a:spcBef>
                <a:spcPts val="200"/>
              </a:spcBef>
              <a:buNone/>
            </a:pPr>
            <a:r>
              <a:rPr lang="en-US" sz="1750" b="0" i="0" dirty="0">
                <a:solidFill>
                  <a:srgbClr val="5C4826"/>
                </a:solidFill>
              </a:rPr>
              <a:t>You state what must be true; the machine hunts for a counterexample.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Hand-picked examples, traded for the harder work of stating the property.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500"/>
                                        <p:tgtEl>
                                          <p:spTgt spid="10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130"/>
                                        </p:tgtEl>
                                        <p:attrNameLst>
                                          <p:attrName>style.visibility</p:attrName>
                                        </p:attrNameLst>
                                      </p:cBhvr>
                                      <p:to>
                                        <p:strVal val="visible"/>
                                      </p:to>
                                    </p:set>
                                    <p:animEffect transition="in" filter="fade">
                                      <p:cBhvr>
                                        <p:cTn id="129" dur="500"/>
                                        <p:tgtEl>
                                          <p:spTgt spid="130"/>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clickEffect">
                                  <p:stCondLst>
                                    <p:cond delay="0"/>
                                  </p:stCondLst>
                                  <p:childTnLst>
                                    <p:set>
                                      <p:cBhvr>
                                        <p:cTn id="133" dur="1" fill="hold">
                                          <p:stCondLst>
                                            <p:cond delay="0"/>
                                          </p:stCondLst>
                                        </p:cTn>
                                        <p:tgtEl>
                                          <p:spTgt spid="112"/>
                                        </p:tgtEl>
                                        <p:attrNameLst>
                                          <p:attrName>style.visibility</p:attrName>
                                        </p:attrNameLst>
                                      </p:cBhvr>
                                      <p:to>
                                        <p:strVal val="visible"/>
                                      </p:to>
                                    </p:set>
                                    <p:animEffect transition="in" filter="fade">
                                      <p:cBhvr>
                                        <p:cTn id="134" dur="500"/>
                                        <p:tgtEl>
                                          <p:spTgt spid="112"/>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103"/>
                                        </p:tgtEl>
                                        <p:attrNameLst>
                                          <p:attrName>style.visibility</p:attrName>
                                        </p:attrNameLst>
                                      </p:cBhvr>
                                      <p:to>
                                        <p:strVal val="visible"/>
                                      </p:to>
                                    </p:set>
                                    <p:animEffect transition="in" filter="fade">
                                      <p:cBhvr>
                                        <p:cTn id="137" dur="500"/>
                                        <p:tgtEl>
                                          <p:spTgt spid="103"/>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120"/>
                                        </p:tgtEl>
                                        <p:attrNameLst>
                                          <p:attrName>style.visibility</p:attrName>
                                        </p:attrNameLst>
                                      </p:cBhvr>
                                      <p:to>
                                        <p:strVal val="visible"/>
                                      </p:to>
                                    </p:set>
                                    <p:animEffect transition="in" filter="fade">
                                      <p:cBhvr>
                                        <p:cTn id="140" dur="500"/>
                                        <p:tgtEl>
                                          <p:spTgt spid="120"/>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140"/>
                                        </p:tgtEl>
                                        <p:attrNameLst>
                                          <p:attrName>style.visibility</p:attrName>
                                        </p:attrNameLst>
                                      </p:cBhvr>
                                      <p:to>
                                        <p:strVal val="visible"/>
                                      </p:to>
                                    </p:set>
                                    <p:animEffect transition="in" filter="fade">
                                      <p:cBhvr>
                                        <p:cTn id="14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Another implementation → differential testing</a:t>
            </a:r>
          </a:p>
        </p:txBody>
      </p:sp>
      <p:sp>
        <p:nvSpPr>
          <p:cNvPr id="3" name="Slide Number Placeholder 3"/>
          <p:cNvSpPr>
            <a:spLocks noGrp="1"/>
          </p:cNvSpPr>
          <p:nvPr>
            <p:ph type="sldNum" sz="quarter" idx="4"/>
          </p:nvPr>
        </p:nvSpPr>
        <p:spPr/>
        <p:txBody>
          <a:bodyPr/>
          <a:lstStyle/>
          <a:p>
            <a:fld id="{66D19308-3A72-4C4E-A3CA-81D98ADD0AE8}" type="slidenum">
              <a:rPr lang="en-US" smtClean="0"/>
              <a:t>1</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5C4826"/>
                </a:solidFill>
              </a:rPr>
              <a:t>IMPLEMENTATION A</a:t>
            </a:r>
          </a:p>
          <a:p>
            <a:pPr algn="ctr">
              <a:spcBef>
                <a:spcPts val="100"/>
              </a:spcBef>
              <a:buNone/>
            </a:pPr>
            <a:r>
              <a:rPr lang="en-US" sz="14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5C4826"/>
                </a:solidFill>
              </a:rPr>
              <a:t>IMPLEMENTATION B</a:t>
            </a:r>
          </a:p>
          <a:p>
            <a:pPr algn="ctr">
              <a:spcBef>
                <a:spcPts val="100"/>
              </a:spcBef>
              <a:buNone/>
            </a:pPr>
            <a:r>
              <a:rPr lang="en-US" sz="1400" b="0" i="1" dirty="0">
                <a:solidFill>
                  <a:srgbClr val="555960"/>
                </a:solidFill>
              </a:rPr>
              <a:t>a reference, an older version, another vendor</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55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55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a:t>
            </a:r>
          </a:p>
        </p:txBody>
      </p:sp>
      <p:sp>
        <p:nvSpPr>
          <p:cNvPr id="140" name="P140"/>
          <p:cNvSpPr/>
          <p:nvPr/>
        </p:nvSpPr>
        <p:spPr>
          <a:xfrm>
            <a:off x="566928" y="4800600"/>
            <a:ext cx="3657600" cy="7315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5C4826"/>
                </a:solidFill>
              </a:rPr>
              <a:t>AGREE — no signal</a:t>
            </a:r>
          </a:p>
          <a:p>
            <a:pPr algn="ctr">
              <a:spcBef>
                <a:spcPts val="80"/>
              </a:spcBef>
              <a:buNone/>
            </a:pPr>
            <a:r>
              <a:rPr lang="en-US" sz="1450" b="0" i="1" dirty="0">
                <a:solidFill>
                  <a:srgbClr val="555960"/>
                </a:solidFill>
              </a:rPr>
              <a:t>both can be wrong the same way</a:t>
            </a:r>
          </a:p>
        </p:txBody>
      </p:sp>
      <p:sp>
        <p:nvSpPr>
          <p:cNvPr id="141" name="P141"/>
          <p:cNvSpPr/>
          <p:nvPr/>
        </p:nvSpPr>
        <p:spPr>
          <a:xfrm>
            <a:off x="4352544" y="4800600"/>
            <a:ext cx="3657600" cy="73152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550" b="1" i="0" dirty="0">
                <a:solidFill>
                  <a:srgbClr val="5C4826"/>
                </a:solidFill>
              </a:rPr>
              <a:t>DISAGREE — at least one is wrong</a:t>
            </a:r>
          </a:p>
          <a:p>
            <a:pPr algn="ctr">
              <a:spcBef>
                <a:spcPts val="80"/>
              </a:spcBef>
              <a:buNone/>
            </a:pPr>
            <a:r>
              <a:rPr lang="en-US" sz="1450" b="0" i="1" dirty="0">
                <a:solidFill>
                  <a:srgbClr val="555960"/>
                </a:solidFill>
              </a:rPr>
              <a:t>and now you have something to investigate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When the answer is expensive to state, compare independent realizations.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Related executions → metamorphic testing</a:t>
            </a:r>
          </a:p>
        </p:txBody>
      </p:sp>
      <p:sp>
        <p:nvSpPr>
          <p:cNvPr id="3" name="Slide Number Placeholder 3"/>
          <p:cNvSpPr>
            <a:spLocks noGrp="1"/>
          </p:cNvSpPr>
          <p:nvPr>
            <p:ph type="sldNum" sz="quarter" idx="4"/>
          </p:nvPr>
        </p:nvSpPr>
        <p:spPr/>
        <p:txBody>
          <a:bodyPr/>
          <a:lstStyle/>
          <a:p>
            <a:fld id="{A8C819FF-7E06-4470-980D-7F1931032F1B}" type="slidenum">
              <a:rPr lang="en-US" smtClean="0"/>
              <a:t>1</a:t>
            </a:fld>
            <a:endParaRPr lang="en-US"/>
          </a:p>
        </p:txBody>
      </p:sp>
      <p:sp>
        <p:nvSpPr>
          <p:cNvPr id="100" name="B100"/>
          <p:cNvSpPr/>
          <p:nvPr/>
        </p:nvSpPr>
        <p:spPr>
          <a:xfrm>
            <a:off x="914400" y="1097280"/>
            <a:ext cx="1234440" cy="64008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x</a:t>
            </a:r>
          </a:p>
        </p:txBody>
      </p:sp>
      <p:cxnSp>
        <p:nvCxnSpPr>
          <p:cNvPr id="101" name="C101"/>
          <p:cNvCxnSpPr/>
          <p:nvPr/>
        </p:nvCxnSpPr>
        <p:spPr>
          <a:xfrm>
            <a:off x="2240280" y="1417320"/>
            <a:ext cx="411480" cy="0"/>
          </a:xfrm>
          <a:prstGeom prst="straightConnector1">
            <a:avLst/>
          </a:prstGeom>
          <a:ln w="38100">
            <a:solidFill>
              <a:srgbClr val="8E6F3E"/>
            </a:solidFill>
            <a:tailEnd type="triangle" w="med" len="med"/>
          </a:ln>
        </p:spPr>
      </p:cxnSp>
      <p:sp>
        <p:nvSpPr>
          <p:cNvPr id="102" name="B102"/>
          <p:cNvSpPr/>
          <p:nvPr/>
        </p:nvSpPr>
        <p:spPr>
          <a:xfrm>
            <a:off x="2834640" y="1097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1800" b="1" i="1" dirty="0">
                <a:solidFill>
                  <a:srgbClr val="5C4826"/>
                </a:solidFill>
              </a:rPr>
              <a:t>f</a:t>
            </a:r>
          </a:p>
        </p:txBody>
      </p:sp>
      <p:cxnSp>
        <p:nvCxnSpPr>
          <p:cNvPr id="103" name="C103"/>
          <p:cNvCxnSpPr/>
          <p:nvPr/>
        </p:nvCxnSpPr>
        <p:spPr>
          <a:xfrm>
            <a:off x="4160520" y="1417320"/>
            <a:ext cx="411480" cy="0"/>
          </a:xfrm>
          <a:prstGeom prst="straightConnector1">
            <a:avLst/>
          </a:prstGeom>
          <a:ln w="38100">
            <a:solidFill>
              <a:srgbClr val="8E6F3E"/>
            </a:solidFill>
            <a:tailEnd type="triangle" w="med" len="med"/>
          </a:ln>
        </p:spPr>
      </p:cxnSp>
      <p:sp>
        <p:nvSpPr>
          <p:cNvPr id="104" name="B104"/>
          <p:cNvSpPr/>
          <p:nvPr/>
        </p:nvSpPr>
        <p:spPr>
          <a:xfrm>
            <a:off x="4754880" y="1097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y</a:t>
            </a:r>
          </a:p>
        </p:txBody>
      </p:sp>
      <p:sp>
        <p:nvSpPr>
          <p:cNvPr id="110" name="B110"/>
          <p:cNvSpPr/>
          <p:nvPr/>
        </p:nvSpPr>
        <p:spPr>
          <a:xfrm>
            <a:off x="914400" y="2240280"/>
            <a:ext cx="1234440" cy="64008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T(x)</a:t>
            </a:r>
          </a:p>
        </p:txBody>
      </p:sp>
      <p:cxnSp>
        <p:nvCxnSpPr>
          <p:cNvPr id="111" name="C111"/>
          <p:cNvCxnSpPr/>
          <p:nvPr/>
        </p:nvCxnSpPr>
        <p:spPr>
          <a:xfrm>
            <a:off x="2240280" y="2560320"/>
            <a:ext cx="411480" cy="0"/>
          </a:xfrm>
          <a:prstGeom prst="straightConnector1">
            <a:avLst/>
          </a:prstGeom>
          <a:ln w="38100">
            <a:solidFill>
              <a:srgbClr val="8E6F3E"/>
            </a:solidFill>
            <a:tailEnd type="triangle" w="med" len="med"/>
          </a:ln>
        </p:spPr>
      </p:cxnSp>
      <p:sp>
        <p:nvSpPr>
          <p:cNvPr id="112" name="B112"/>
          <p:cNvSpPr/>
          <p:nvPr/>
        </p:nvSpPr>
        <p:spPr>
          <a:xfrm>
            <a:off x="2834640" y="2240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1800" b="1" i="1" dirty="0">
                <a:solidFill>
                  <a:srgbClr val="5C4826"/>
                </a:solidFill>
              </a:rPr>
              <a:t>f</a:t>
            </a:r>
          </a:p>
        </p:txBody>
      </p:sp>
      <p:cxnSp>
        <p:nvCxnSpPr>
          <p:cNvPr id="113" name="C113"/>
          <p:cNvCxnSpPr/>
          <p:nvPr/>
        </p:nvCxnSpPr>
        <p:spPr>
          <a:xfrm>
            <a:off x="4160520" y="2560320"/>
            <a:ext cx="411480" cy="0"/>
          </a:xfrm>
          <a:prstGeom prst="straightConnector1">
            <a:avLst/>
          </a:prstGeom>
          <a:ln w="38100">
            <a:solidFill>
              <a:srgbClr val="8E6F3E"/>
            </a:solidFill>
            <a:tailEnd type="triangle" w="med" len="med"/>
          </a:ln>
        </p:spPr>
      </p:cxnSp>
      <p:sp>
        <p:nvSpPr>
          <p:cNvPr id="114" name="B114"/>
          <p:cNvSpPr/>
          <p:nvPr/>
        </p:nvSpPr>
        <p:spPr>
          <a:xfrm>
            <a:off x="4754880" y="2240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y′</a:t>
            </a:r>
          </a:p>
        </p:txBody>
      </p:sp>
      <p:sp>
        <p:nvSpPr>
          <p:cNvPr id="130" name="J130"/>
          <p:cNvSpPr/>
          <p:nvPr/>
        </p:nvSpPr>
        <p:spPr>
          <a:xfrm>
            <a:off x="6309360" y="1417320"/>
            <a:ext cx="41148" cy="1417320"/>
          </a:xfrm>
          <a:prstGeom prst="rect">
            <a:avLst/>
          </a:prstGeom>
          <a:solidFill>
            <a:srgbClr val="8E6F3E"/>
          </a:solidFill>
          <a:ln>
            <a:noFill/>
          </a:ln>
        </p:spPr>
        <p:txBody>
          <a:bodyPr wrap="square" lIns="91440" tIns="45720" rIns="91440" bIns="45720" anchor="ctr"/>
          <a:lstStyle/>
          <a:p>
            <a:pPr>
              <a:buNone/>
            </a:pPr>
          </a:p>
        </p:txBody>
      </p:sp>
      <p:sp>
        <p:nvSpPr>
          <p:cNvPr id="131" name="J131"/>
          <p:cNvSpPr/>
          <p:nvPr/>
        </p:nvSpPr>
        <p:spPr>
          <a:xfrm>
            <a:off x="6126480" y="1417320"/>
            <a:ext cx="182880" cy="41148"/>
          </a:xfrm>
          <a:prstGeom prst="rect">
            <a:avLst/>
          </a:prstGeom>
          <a:solidFill>
            <a:srgbClr val="8E6F3E"/>
          </a:solidFill>
          <a:ln>
            <a:noFill/>
          </a:ln>
        </p:spPr>
        <p:txBody>
          <a:bodyPr wrap="square" lIns="91440" tIns="45720" rIns="91440" bIns="45720" anchor="ctr"/>
          <a:lstStyle/>
          <a:p>
            <a:pPr>
              <a:buNone/>
            </a:pPr>
          </a:p>
        </p:txBody>
      </p:sp>
      <p:sp>
        <p:nvSpPr>
          <p:cNvPr id="132" name="J132"/>
          <p:cNvSpPr/>
          <p:nvPr/>
        </p:nvSpPr>
        <p:spPr>
          <a:xfrm>
            <a:off x="6126480" y="2802636"/>
            <a:ext cx="182880" cy="41148"/>
          </a:xfrm>
          <a:prstGeom prst="rect">
            <a:avLst/>
          </a:prstGeom>
          <a:solidFill>
            <a:srgbClr val="8E6F3E"/>
          </a:solidFill>
          <a:ln>
            <a:noFill/>
          </a:ln>
        </p:spPr>
        <p:txBody>
          <a:bodyPr wrap="square" lIns="91440" tIns="45720" rIns="91440" bIns="45720" anchor="ctr"/>
          <a:lstStyle/>
          <a:p>
            <a:pPr>
              <a:buNone/>
            </a:pPr>
          </a:p>
        </p:txBody>
      </p:sp>
      <p:sp>
        <p:nvSpPr>
          <p:cNvPr id="133" name="T133"/>
          <p:cNvSpPr txBox="1"/>
          <p:nvPr/>
        </p:nvSpPr>
        <p:spPr>
          <a:xfrm>
            <a:off x="6492240" y="1783080"/>
            <a:ext cx="2084832" cy="731520"/>
          </a:xfrm>
          <a:prstGeom prst="rect">
            <a:avLst/>
          </a:prstGeom>
          <a:noFill/>
        </p:spPr>
        <p:txBody>
          <a:bodyPr wrap="square" lIns="0" tIns="0" rIns="0" bIns="0" anchor="t"/>
          <a:lstStyle/>
          <a:p>
            <a:pPr algn="ctr">
              <a:buNone/>
            </a:pPr>
            <a:r>
              <a:rPr lang="en-US" sz="1500" b="0" i="1" dirty="0">
                <a:solidFill>
                  <a:srgbClr val="555960"/>
                </a:solidFill>
              </a:rPr>
              <a:t>a relation</a:t>
            </a:r>
          </a:p>
          <a:p>
            <a:pPr algn="ctr">
              <a:spcBef>
                <a:spcPts val="100"/>
              </a:spcBef>
              <a:buNone/>
            </a:pPr>
            <a:r>
              <a:rPr lang="en-US" sz="1700" b="1" i="0" dirty="0">
                <a:solidFill>
                  <a:srgbClr val="5C4826"/>
                </a:solidFill>
              </a:rPr>
              <a:t>R(y, y′) must hold</a:t>
            </a:r>
          </a:p>
        </p:txBody>
      </p:sp>
      <p:sp>
        <p:nvSpPr>
          <p:cNvPr id="140" name="P140"/>
          <p:cNvSpPr/>
          <p:nvPr/>
        </p:nvSpPr>
        <p:spPr>
          <a:xfrm>
            <a:off x="566928" y="3154680"/>
            <a:ext cx="8010144" cy="1143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750" b="1" i="0" dirty="0">
                <a:solidFill>
                  <a:srgbClr val="000000"/>
                </a:solidFill>
              </a:rPr>
              <a:t>sort([3, 1, 2])  →  [1, 2, 3]</a:t>
            </a:r>
          </a:p>
          <a:p>
            <a:pPr algn="ctr">
              <a:spcBef>
                <a:spcPts val="150"/>
              </a:spcBef>
              <a:buNone/>
            </a:pPr>
            <a:r>
              <a:rPr lang="en-US" sz="1750" b="1" i="0" dirty="0">
                <a:solidFill>
                  <a:srgbClr val="000000"/>
                </a:solidFill>
              </a:rPr>
              <a:t>sort([2, 3, 1])  →  [1, 2, 3]</a:t>
            </a:r>
          </a:p>
          <a:p>
            <a:pPr algn="ctr">
              <a:spcBef>
                <a:spcPts val="250"/>
              </a:spcBef>
              <a:buNone/>
            </a:pPr>
            <a:r>
              <a:rPr lang="en-US" sz="1600" b="0" i="1" dirty="0">
                <a:solidFill>
                  <a:srgbClr val="555960"/>
                </a:solidFill>
              </a:rPr>
              <a:t>We never stated the answer — only how the two answers must relate.</a:t>
            </a:r>
          </a:p>
        </p:txBody>
      </p:sp>
      <p:sp>
        <p:nvSpPr>
          <p:cNvPr id="150" name="E150"/>
          <p:cNvSpPr/>
          <p:nvPr/>
        </p:nvSpPr>
        <p:spPr>
          <a:xfrm>
            <a:off x="566928" y="4526280"/>
            <a:ext cx="8010144" cy="8686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1" i="0" dirty="0">
                <a:solidFill>
                  <a:srgbClr val="5C4826"/>
                </a:solidFill>
              </a:rPr>
              <a:t>When you cannot state the answer, state how answers must relate.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A relation between runs is an oracle when the answer is unavailable.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500"/>
                                        <p:tgtEl>
                                          <p:spTgt spid="10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5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10"/>
                                        </p:tgtEl>
                                        <p:attrNameLst>
                                          <p:attrName>style.visibility</p:attrName>
                                        </p:attrNameLst>
                                      </p:cBhvr>
                                      <p:to>
                                        <p:strVal val="visible"/>
                                      </p:to>
                                    </p:set>
                                    <p:animEffect transition="in" filter="fade">
                                      <p:cBhvr>
                                        <p:cTn id="24" dur="500"/>
                                        <p:tgtEl>
                                          <p:spTgt spid="1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1"/>
                                        </p:tgtEl>
                                        <p:attrNameLst>
                                          <p:attrName>style.visibility</p:attrName>
                                        </p:attrNameLst>
                                      </p:cBhvr>
                                      <p:to>
                                        <p:strVal val="visible"/>
                                      </p:to>
                                    </p:set>
                                    <p:animEffect transition="in" filter="fade">
                                      <p:cBhvr>
                                        <p:cTn id="27" dur="500"/>
                                        <p:tgtEl>
                                          <p:spTgt spid="1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3"/>
                                        </p:tgtEl>
                                        <p:attrNameLst>
                                          <p:attrName>style.visibility</p:attrName>
                                        </p:attrNameLst>
                                      </p:cBhvr>
                                      <p:to>
                                        <p:strVal val="visible"/>
                                      </p:to>
                                    </p:set>
                                    <p:animEffect transition="in" filter="fade">
                                      <p:cBhvr>
                                        <p:cTn id="33" dur="500"/>
                                        <p:tgtEl>
                                          <p:spTgt spid="1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4"/>
                                        </p:tgtEl>
                                        <p:attrNameLst>
                                          <p:attrName>style.visibility</p:attrName>
                                        </p:attrNameLst>
                                      </p:cBhvr>
                                      <p:to>
                                        <p:strVal val="visible"/>
                                      </p:to>
                                    </p:set>
                                    <p:animEffect transition="in" filter="fade">
                                      <p:cBhvr>
                                        <p:cTn id="36" dur="500"/>
                                        <p:tgtEl>
                                          <p:spTgt spid="1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1"/>
                                        </p:tgtEl>
                                        <p:attrNameLst>
                                          <p:attrName>style.visibility</p:attrName>
                                        </p:attrNameLst>
                                      </p:cBhvr>
                                      <p:to>
                                        <p:strVal val="visible"/>
                                      </p:to>
                                    </p:set>
                                    <p:animEffect transition="in" filter="fade">
                                      <p:cBhvr>
                                        <p:cTn id="44" dur="500"/>
                                        <p:tgtEl>
                                          <p:spTgt spid="13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32"/>
                                        </p:tgtEl>
                                        <p:attrNameLst>
                                          <p:attrName>style.visibility</p:attrName>
                                        </p:attrNameLst>
                                      </p:cBhvr>
                                      <p:to>
                                        <p:strVal val="visible"/>
                                      </p:to>
                                    </p:set>
                                    <p:animEffect transition="in" filter="fade">
                                      <p:cBhvr>
                                        <p:cTn id="47" dur="500"/>
                                        <p:tgtEl>
                                          <p:spTgt spid="13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33"/>
                                        </p:tgtEl>
                                        <p:attrNameLst>
                                          <p:attrName>style.visibility</p:attrName>
                                        </p:attrNameLst>
                                      </p:cBhvr>
                                      <p:to>
                                        <p:strVal val="visible"/>
                                      </p:to>
                                    </p:set>
                                    <p:animEffect transition="in" filter="fade">
                                      <p:cBhvr>
                                        <p:cTn id="50" dur="500"/>
                                        <p:tgtEl>
                                          <p:spTgt spid="133"/>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150"/>
                                        </p:tgtEl>
                                        <p:attrNameLst>
                                          <p:attrName>style.visibility</p:attrName>
                                        </p:attrNameLst>
                                      </p:cBhvr>
                                      <p:to>
                                        <p:strVal val="visible"/>
                                      </p:to>
                                    </p:set>
                                    <p:animEffect transition="in" filter="fade">
                                      <p:cBhvr>
                                        <p:cTn id="6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Unanticipated inputs → fuzzing</a:t>
            </a:r>
          </a:p>
        </p:txBody>
      </p:sp>
      <p:sp>
        <p:nvSpPr>
          <p:cNvPr id="3" name="Slide Number Placeholder 3"/>
          <p:cNvSpPr>
            <a:spLocks noGrp="1"/>
          </p:cNvSpPr>
          <p:nvPr>
            <p:ph type="sldNum" sz="quarter" idx="4"/>
          </p:nvPr>
        </p:nvSpPr>
        <p:spPr/>
        <p:txBody>
          <a:bodyPr/>
          <a:lstStyle/>
          <a:p>
            <a:fld id="{3CE5D2CA-0506-4CAD-B81C-95D038E83B2C}" type="slidenum">
              <a:rPr lang="en-US" smtClean="0"/>
              <a:t>1</a:t>
            </a:fld>
            <a:endParaRPr lang="en-US"/>
          </a:p>
        </p:txBody>
      </p:sp>
      <p:sp>
        <p:nvSpPr>
          <p:cNvPr id="100" name="B100"/>
          <p:cNvSpPr/>
          <p:nvPr/>
        </p:nvSpPr>
        <p:spPr>
          <a:xfrm>
            <a:off x="566928"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1500" b="0" i="1" dirty="0">
                <a:solidFill>
                  <a:srgbClr val="555960"/>
                </a:solidFill>
              </a:rPr>
              <a:t>the inputs nobody thought to write down — and the failures they reach</a:t>
            </a:r>
          </a:p>
        </p:txBody>
      </p:sp>
      <p:sp>
        <p:nvSpPr>
          <p:cNvPr id="140" name="E140"/>
          <p:cNvSpPr/>
          <p:nvPr/>
        </p:nvSpPr>
        <p:spPr>
          <a:xfrm>
            <a:off x="566928" y="4160520"/>
            <a:ext cx="8010144" cy="10058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A weak oracle enables enormous search.</a:t>
            </a:r>
          </a:p>
          <a:p>
            <a:pPr algn="ctr">
              <a:spcBef>
                <a:spcPts val="200"/>
              </a:spcBef>
              <a:buNone/>
            </a:pPr>
            <a:r>
              <a:rPr lang="en-US" sz="1700" b="0" i="0" dirty="0">
                <a:solidFill>
                  <a:srgbClr val="5C4826"/>
                </a:solidFill>
              </a:rPr>
              <a:t>“Did it crash?” needs no expected answer — so 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Cheap evidence about robustness — little about functional correctness.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grpId="0"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grpId="0"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grpId="0"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grpId="0"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grpId="0"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grpId="0"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grpId="0"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grpId="0"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grpId="0"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grpId="0"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grpId="0"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grpId="0"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grpId="0"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grpId="0"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grpId="0"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grpId="0"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grpId="0"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grpId="0"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grpId="0"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grpId="0"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grpId="0"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grpId="0"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grpId="0"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grpId="0"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grpId="0"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grpId="0"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grpId="0"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grpId="0"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grpId="0"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grpId="0"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grpId="0"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grpId="0"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grpId="0"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grpId="0"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grpId="0"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grpId="0"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grpId="0"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grpId="0"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grpId="0"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grpId="0"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Different strategies buy different kinds of search</a:t>
            </a:r>
          </a:p>
        </p:txBody>
      </p:sp>
      <p:sp>
        <p:nvSpPr>
          <p:cNvPr id="3" name="Slide Number Placeholder 3"/>
          <p:cNvSpPr>
            <a:spLocks noGrp="1"/>
          </p:cNvSpPr>
          <p:nvPr>
            <p:ph type="sldNum" sz="quarter" idx="4"/>
          </p:nvPr>
        </p:nvSpPr>
        <p:spPr/>
        <p:txBody>
          <a:bodyPr/>
          <a:lstStyle/>
          <a:p>
            <a:fld id="{5C9A9C6C-A139-49E2-AC2B-2DC726D60215}" type="slidenum">
              <a:rPr lang="en-US" smtClean="0"/>
              <a:t>1</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choose the cases you already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generate cases against a general property</a:t>
            </a:r>
          </a:p>
        </p:txBody>
      </p:sp>
      <p:sp>
        <p:nvSpPr>
          <p:cNvPr id="102" name="B102"/>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Differential</a:t>
            </a:r>
          </a:p>
        </p:txBody>
      </p:sp>
      <p:sp>
        <p:nvSpPr>
          <p:cNvPr id="112" name="P112"/>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search for disagreement with another implementation</a:t>
            </a:r>
          </a:p>
        </p:txBody>
      </p:sp>
      <p:sp>
        <p:nvSpPr>
          <p:cNvPr id="103" name="B103"/>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Metamorphic</a:t>
            </a:r>
          </a:p>
        </p:txBody>
      </p:sp>
      <p:sp>
        <p:nvSpPr>
          <p:cNvPr id="113" name="P113"/>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search for a violated relation between runs</a:t>
            </a:r>
          </a:p>
        </p:txBody>
      </p:sp>
      <p:sp>
        <p:nvSpPr>
          <p:cNvPr id="104" name="B104"/>
          <p:cNvSpPr/>
          <p:nvPr/>
        </p:nvSpPr>
        <p:spPr>
          <a:xfrm>
            <a:off x="566928" y="3227832"/>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Fuzzing</a:t>
            </a:r>
          </a:p>
        </p:txBody>
      </p:sp>
      <p:sp>
        <p:nvSpPr>
          <p:cNvPr id="114" name="P114"/>
          <p:cNvSpPr/>
          <p:nvPr/>
        </p:nvSpPr>
        <p:spPr>
          <a:xfrm>
            <a:off x="2971800" y="3227832"/>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search unusual inputs with a cheap oracle</a:t>
            </a:r>
          </a:p>
        </p:txBody>
      </p:sp>
      <p:sp>
        <p:nvSpPr>
          <p:cNvPr id="120" name="T120"/>
          <p:cNvSpPr txBox="1"/>
          <p:nvPr/>
        </p:nvSpPr>
        <p:spPr>
          <a:xfrm>
            <a:off x="566928" y="3913632"/>
            <a:ext cx="3657600" cy="256032"/>
          </a:xfrm>
          <a:prstGeom prst="rect">
            <a:avLst/>
          </a:prstGeom>
          <a:noFill/>
        </p:spPr>
        <p:txBody>
          <a:bodyPr wrap="square" lIns="0" tIns="0" rIns="0" bIns="0" anchor="t"/>
          <a:lstStyle/>
          <a:p>
            <a:pPr algn="l">
              <a:buNone/>
            </a:pPr>
            <a:r>
              <a:rPr lang="en-US" sz="1300" b="1" i="0" dirty="0">
                <a:solidFill>
                  <a:srgbClr val="57534E"/>
                </a:solidFill>
              </a:rPr>
              <a:t>WHAT YOU ALREADY KNOW</a:t>
            </a:r>
          </a:p>
        </p:txBody>
      </p:sp>
      <p:cxnSp>
        <p:nvCxnSpPr>
          <p:cNvPr id="121" name="C121"/>
          <p:cNvCxnSpPr/>
          <p:nvPr/>
        </p:nvCxnSpPr>
        <p:spPr>
          <a:xfrm>
            <a:off x="640080" y="4315968"/>
            <a:ext cx="7818120" cy="0"/>
          </a:xfrm>
          <a:prstGeom prst="straightConnector1">
            <a:avLst/>
          </a:prstGeom>
          <a:ln w="31750">
            <a:solidFill>
              <a:srgbClr val="8E6F3E"/>
            </a:solidFill>
            <a:tailEnd type="triangle" w="med" len="med"/>
          </a:ln>
        </p:spPr>
      </p:cxnSp>
      <p:sp>
        <p:nvSpPr>
          <p:cNvPr id="130" name="T130"/>
          <p:cNvSpPr txBox="1"/>
          <p:nvPr/>
        </p:nvSpPr>
        <p:spPr>
          <a:xfrm>
            <a:off x="566928" y="4407408"/>
            <a:ext cx="1874520" cy="256032"/>
          </a:xfrm>
          <a:prstGeom prst="rect">
            <a:avLst/>
          </a:prstGeom>
          <a:noFill/>
        </p:spPr>
        <p:txBody>
          <a:bodyPr wrap="square" lIns="0" tIns="0" rIns="0" bIns="0" anchor="t"/>
          <a:lstStyle/>
          <a:p>
            <a:pPr algn="ctr">
              <a:buNone/>
            </a:pPr>
            <a:r>
              <a:rPr lang="en-US" sz="1450" b="1" i="0" dirty="0">
                <a:solidFill>
                  <a:srgbClr val="5C4826"/>
                </a:solidFill>
              </a:rPr>
              <a:t>known answers</a:t>
            </a:r>
          </a:p>
        </p:txBody>
      </p:sp>
      <p:sp>
        <p:nvSpPr>
          <p:cNvPr id="140" name="T140"/>
          <p:cNvSpPr txBox="1"/>
          <p:nvPr/>
        </p:nvSpPr>
        <p:spPr>
          <a:xfrm>
            <a:off x="566928" y="4663440"/>
            <a:ext cx="1874520" cy="256032"/>
          </a:xfrm>
          <a:prstGeom prst="rect">
            <a:avLst/>
          </a:prstGeom>
          <a:noFill/>
        </p:spPr>
        <p:txBody>
          <a:bodyPr wrap="square" lIns="0" tIns="0" rIns="0" bIns="0" anchor="t"/>
          <a:lstStyle/>
          <a:p>
            <a:pPr algn="ctr">
              <a:buNone/>
            </a:pPr>
            <a:r>
              <a:rPr lang="en-US" sz="1400" b="0" i="1" dirty="0">
                <a:solidFill>
                  <a:srgbClr val="555960"/>
                </a:solidFill>
              </a:rPr>
              <a:t>example-based</a:t>
            </a:r>
          </a:p>
        </p:txBody>
      </p:sp>
      <p:sp>
        <p:nvSpPr>
          <p:cNvPr id="131" name="T131"/>
          <p:cNvSpPr txBox="1"/>
          <p:nvPr/>
        </p:nvSpPr>
        <p:spPr>
          <a:xfrm>
            <a:off x="2606040" y="4407408"/>
            <a:ext cx="1874520" cy="256032"/>
          </a:xfrm>
          <a:prstGeom prst="rect">
            <a:avLst/>
          </a:prstGeom>
          <a:noFill/>
        </p:spPr>
        <p:txBody>
          <a:bodyPr wrap="square" lIns="0" tIns="0" rIns="0" bIns="0" anchor="t"/>
          <a:lstStyle/>
          <a:p>
            <a:pPr algn="ctr">
              <a:buNone/>
            </a:pPr>
            <a:r>
              <a:rPr lang="en-US" sz="1450" b="1" i="0" dirty="0">
                <a:solidFill>
                  <a:srgbClr val="5C4826"/>
                </a:solidFill>
              </a:rPr>
              <a:t>known properties</a:t>
            </a:r>
          </a:p>
        </p:txBody>
      </p:sp>
      <p:sp>
        <p:nvSpPr>
          <p:cNvPr id="141" name="T141"/>
          <p:cNvSpPr txBox="1"/>
          <p:nvPr/>
        </p:nvSpPr>
        <p:spPr>
          <a:xfrm>
            <a:off x="2606040" y="4663440"/>
            <a:ext cx="1874520" cy="256032"/>
          </a:xfrm>
          <a:prstGeom prst="rect">
            <a:avLst/>
          </a:prstGeom>
          <a:noFill/>
        </p:spPr>
        <p:txBody>
          <a:bodyPr wrap="square" lIns="0" tIns="0" rIns="0" bIns="0" anchor="t"/>
          <a:lstStyle/>
          <a:p>
            <a:pPr algn="ctr">
              <a:buNone/>
            </a:pPr>
            <a:r>
              <a:rPr lang="en-US" sz="1400" b="0" i="1" dirty="0">
                <a:solidFill>
                  <a:srgbClr val="555960"/>
                </a:solidFill>
              </a:rPr>
              <a:t>property-based</a:t>
            </a:r>
          </a:p>
        </p:txBody>
      </p:sp>
      <p:sp>
        <p:nvSpPr>
          <p:cNvPr id="132" name="T132"/>
          <p:cNvSpPr txBox="1"/>
          <p:nvPr/>
        </p:nvSpPr>
        <p:spPr>
          <a:xfrm>
            <a:off x="4645152" y="4407408"/>
            <a:ext cx="1874520" cy="256032"/>
          </a:xfrm>
          <a:prstGeom prst="rect">
            <a:avLst/>
          </a:prstGeom>
          <a:noFill/>
        </p:spPr>
        <p:txBody>
          <a:bodyPr wrap="square" lIns="0" tIns="0" rIns="0" bIns="0" anchor="t"/>
          <a:lstStyle/>
          <a:p>
            <a:pPr algn="ctr">
              <a:buNone/>
            </a:pPr>
            <a:r>
              <a:rPr lang="en-US" sz="1450" b="1" i="0" dirty="0">
                <a:solidFill>
                  <a:srgbClr val="5C4826"/>
                </a:solidFill>
              </a:rPr>
              <a:t>known relations</a:t>
            </a:r>
          </a:p>
        </p:txBody>
      </p:sp>
      <p:sp>
        <p:nvSpPr>
          <p:cNvPr id="142" name="T142"/>
          <p:cNvSpPr txBox="1"/>
          <p:nvPr/>
        </p:nvSpPr>
        <p:spPr>
          <a:xfrm>
            <a:off x="4645152" y="4663440"/>
            <a:ext cx="1874520" cy="256032"/>
          </a:xfrm>
          <a:prstGeom prst="rect">
            <a:avLst/>
          </a:prstGeom>
          <a:noFill/>
        </p:spPr>
        <p:txBody>
          <a:bodyPr wrap="square" lIns="0" tIns="0" rIns="0" bIns="0" anchor="t"/>
          <a:lstStyle/>
          <a:p>
            <a:pPr algn="ctr">
              <a:buNone/>
            </a:pPr>
            <a:r>
              <a:rPr lang="en-US" sz="1400" b="0" i="1" dirty="0">
                <a:solidFill>
                  <a:srgbClr val="555960"/>
                </a:solidFill>
              </a:rPr>
              <a:t>metamorphic</a:t>
            </a:r>
          </a:p>
        </p:txBody>
      </p:sp>
      <p:sp>
        <p:nvSpPr>
          <p:cNvPr id="133" name="T133"/>
          <p:cNvSpPr txBox="1"/>
          <p:nvPr/>
        </p:nvSpPr>
        <p:spPr>
          <a:xfrm>
            <a:off x="6684264" y="4407408"/>
            <a:ext cx="1874520" cy="256032"/>
          </a:xfrm>
          <a:prstGeom prst="rect">
            <a:avLst/>
          </a:prstGeom>
          <a:noFill/>
        </p:spPr>
        <p:txBody>
          <a:bodyPr wrap="square" lIns="0" tIns="0" rIns="0" bIns="0" anchor="t"/>
          <a:lstStyle/>
          <a:p>
            <a:pPr algn="ctr">
              <a:buNone/>
            </a:pPr>
            <a:r>
              <a:rPr lang="en-US" sz="1450" b="1" i="0" dirty="0">
                <a:solidFill>
                  <a:srgbClr val="5C4826"/>
                </a:solidFill>
              </a:rPr>
              <a:t>almost nothing</a:t>
            </a:r>
          </a:p>
        </p:txBody>
      </p:sp>
      <p:sp>
        <p:nvSpPr>
          <p:cNvPr id="143" name="T143"/>
          <p:cNvSpPr txBox="1"/>
          <p:nvPr/>
        </p:nvSpPr>
        <p:spPr>
          <a:xfrm>
            <a:off x="6684264" y="4663440"/>
            <a:ext cx="1874520" cy="256032"/>
          </a:xfrm>
          <a:prstGeom prst="rect">
            <a:avLst/>
          </a:prstGeom>
          <a:noFill/>
        </p:spPr>
        <p:txBody>
          <a:bodyPr wrap="square" lIns="0" tIns="0" rIns="0" bIns="0" anchor="t"/>
          <a:lstStyle/>
          <a:p>
            <a:pPr algn="ctr">
              <a:buNone/>
            </a:pPr>
            <a:r>
              <a:rPr lang="en-US" sz="14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800" b="1" i="0" dirty="0">
                <a:solidFill>
                  <a:srgbClr val="5C4826"/>
                </a:solidFill>
              </a:rPr>
              <a:t>Choose the strategy for the uncertainty you need to reduce — not for the amount of output it can produce.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50" b="1" i="0" dirty="0">
                <a:solidFill>
                  <a:srgbClr val="FFFFFF"/>
                </a:solidFill>
              </a:rPr>
              <a:t>A strategy changes how you search. It does not set how strong the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fade">
                                      <p:cBhvr>
                                        <p:cTn id="23" dur="500"/>
                                        <p:tgtEl>
                                          <p:spTgt spid="10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500"/>
                                        <p:tgtEl>
                                          <p:spTgt spid="1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32"/>
                                        </p:tgtEl>
                                        <p:attrNameLst>
                                          <p:attrName>style.visibility</p:attrName>
                                        </p:attrNameLst>
                                      </p:cBhvr>
                                      <p:to>
                                        <p:strVal val="visible"/>
                                      </p:to>
                                    </p:set>
                                    <p:animEffect transition="in" filter="fade">
                                      <p:cBhvr>
                                        <p:cTn id="65" dur="500"/>
                                        <p:tgtEl>
                                          <p:spTgt spid="13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42"/>
                                        </p:tgtEl>
                                        <p:attrNameLst>
                                          <p:attrName>style.visibility</p:attrName>
                                        </p:attrNameLst>
                                      </p:cBhvr>
                                      <p:to>
                                        <p:strVal val="visible"/>
                                      </p:to>
                                    </p:set>
                                    <p:animEffect transition="in" filter="fade">
                                      <p:cBhvr>
                                        <p:cTn id="68" dur="500"/>
                                        <p:tgtEl>
                                          <p:spTgt spid="14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How strong is 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T100"/>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5</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02" name="T102"/>
          <p:cNvSpPr txBox="1"/>
          <p:nvPr/>
        </p:nvSpPr>
        <p:spPr>
          <a:xfrm>
            <a:off x="685800" y="3886200"/>
            <a:ext cx="7772400" cy="1100000"/>
          </a:xfrm>
          <a:prstGeom prst="rect">
            <a:avLst/>
          </a:prstGeom>
          <a:noFill/>
          <a:ln>
            <a:noFill/>
          </a:ln>
        </p:spPr>
        <p:txBody>
          <a:bodyPr wrap="square" lIns="0" tIns="0" rIns="0" bIns="0" anchor="t"/>
          <a:lstStyle/>
          <a:p>
            <a:pPr algn="ctr">
              <a:buNone/>
            </a:pPr>
            <a:r>
              <a:rPr lang="en-US" sz="2200" b="0" i="1" dirty="0">
                <a:solidFill>
                  <a:srgbClr val="555960"/>
                </a:solidFill>
              </a:rPr>
              <a:t>Volume is not strength.</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measurement is not evidence by itself</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P100"/>
          <p:cNvSpPr/>
          <p:nvPr/>
        </p:nvSpPr>
        <p:spPr>
          <a:xfrm>
            <a:off x="566928" y="1980000"/>
            <a:ext cx="1243584" cy="620000"/>
          </a:xfrm>
          <a:prstGeom prst="rect">
            <a:avLst/>
          </a:prstGeom>
          <a:solidFill>
            <a:srgbClr val="F5F1E8"/>
          </a:solidFill>
          <a:ln w="12700">
            <a:solidFill>
              <a:srgbClr val="C9B991"/>
            </a:solidFill>
          </a:ln>
        </p:spPr>
        <p:txBody>
          <a:bodyPr wrap="square" lIns="36576" tIns="45720" rIns="36576" bIns="45720" anchor="ctr"/>
          <a:lstStyle/>
          <a:p>
            <a:pPr algn="ctr">
              <a:buNone/>
            </a:pPr>
            <a:r>
              <a:rPr lang="en-US" sz="1300" b="1" i="0" dirty="0">
                <a:solidFill>
                  <a:srgbClr val="000000"/>
                </a:solidFill>
              </a:rPr>
              <a:t>MODEL</a:t>
            </a:r>
          </a:p>
        </p:txBody>
      </p:sp>
      <p:cxnSp>
        <p:nvCxnSpPr>
          <p:cNvPr id="101" name="C101"/>
          <p:cNvCxnSpPr/>
          <p:nvPr/>
        </p:nvCxnSpPr>
        <p:spPr>
          <a:xfrm>
            <a:off x="1824228" y="2290000"/>
            <a:ext cx="146304" cy="0"/>
          </a:xfrm>
          <a:prstGeom prst="straightConnector1">
            <a:avLst/>
          </a:prstGeom>
          <a:ln w="38100">
            <a:solidFill>
              <a:srgbClr val="8E6F3E"/>
            </a:solidFill>
            <a:tailEnd type="triangle" w="med" len="med"/>
          </a:ln>
        </p:spPr>
      </p:cxnSp>
      <p:sp>
        <p:nvSpPr>
          <p:cNvPr id="102" name="T102"/>
          <p:cNvSpPr txBox="1"/>
          <p:nvPr/>
        </p:nvSpPr>
        <p:spPr>
          <a:xfrm>
            <a:off x="1449324" y="1690000"/>
            <a:ext cx="896112" cy="300000"/>
          </a:xfrm>
          <a:prstGeom prst="rect">
            <a:avLst/>
          </a:prstGeom>
          <a:noFill/>
          <a:ln>
            <a:noFill/>
          </a:ln>
        </p:spPr>
        <p:txBody>
          <a:bodyPr wrap="square" lIns="0" tIns="0" rIns="0" bIns="0" anchor="t"/>
          <a:lstStyle/>
          <a:p>
            <a:pPr algn="ctr">
              <a:buNone/>
            </a:pPr>
            <a:r>
              <a:rPr lang="en-US" sz="1250" b="0" i="1" dirty="0">
                <a:solidFill>
                  <a:srgbClr val="555960"/>
                </a:solidFill>
              </a:rPr>
              <a:t>represents</a:t>
            </a:r>
          </a:p>
        </p:txBody>
      </p:sp>
      <p:sp>
        <p:nvSpPr>
          <p:cNvPr id="103" name="P103"/>
          <p:cNvSpPr/>
          <p:nvPr/>
        </p:nvSpPr>
        <p:spPr>
          <a:xfrm>
            <a:off x="1920240" y="1980000"/>
            <a:ext cx="1243584" cy="620000"/>
          </a:xfrm>
          <a:prstGeom prst="rect">
            <a:avLst/>
          </a:prstGeom>
          <a:solidFill>
            <a:srgbClr val="F5F1E8"/>
          </a:solidFill>
          <a:ln w="12700">
            <a:solidFill>
              <a:srgbClr val="C9B991"/>
            </a:solidFill>
          </a:ln>
        </p:spPr>
        <p:txBody>
          <a:bodyPr wrap="square" lIns="36576" tIns="45720" rIns="36576" bIns="45720" anchor="ctr"/>
          <a:lstStyle/>
          <a:p>
            <a:pPr algn="ctr">
              <a:buNone/>
            </a:pPr>
            <a:r>
              <a:rPr lang="en-US" sz="1300" b="1" i="0" dirty="0">
                <a:solidFill>
                  <a:srgbClr val="000000"/>
                </a:solidFill>
              </a:rPr>
              <a:t>PROPERTY</a:t>
            </a:r>
          </a:p>
        </p:txBody>
      </p:sp>
      <p:cxnSp>
        <p:nvCxnSpPr>
          <p:cNvPr id="104" name="C104"/>
          <p:cNvCxnSpPr/>
          <p:nvPr/>
        </p:nvCxnSpPr>
        <p:spPr>
          <a:xfrm>
            <a:off x="3177540" y="2290000"/>
            <a:ext cx="146304" cy="0"/>
          </a:xfrm>
          <a:prstGeom prst="straightConnector1">
            <a:avLst/>
          </a:prstGeom>
          <a:ln w="38100">
            <a:solidFill>
              <a:srgbClr val="8E6F3E"/>
            </a:solidFill>
            <a:tailEnd type="triangle" w="med" len="med"/>
          </a:ln>
        </p:spPr>
      </p:cxnSp>
      <p:sp>
        <p:nvSpPr>
          <p:cNvPr id="105" name="T105"/>
          <p:cNvSpPr txBox="1"/>
          <p:nvPr/>
        </p:nvSpPr>
        <p:spPr>
          <a:xfrm>
            <a:off x="2802636" y="1690000"/>
            <a:ext cx="896112" cy="300000"/>
          </a:xfrm>
          <a:prstGeom prst="rect">
            <a:avLst/>
          </a:prstGeom>
          <a:noFill/>
          <a:ln>
            <a:noFill/>
          </a:ln>
        </p:spPr>
        <p:txBody>
          <a:bodyPr wrap="square" lIns="0" tIns="0" rIns="0" bIns="0" anchor="t"/>
          <a:lstStyle/>
          <a:p>
            <a:pPr algn="ctr">
              <a:buNone/>
            </a:pPr>
            <a:r>
              <a:rPr lang="en-US" sz="1250" b="0" i="1" dirty="0">
                <a:solidFill>
                  <a:srgbClr val="555960"/>
                </a:solidFill>
              </a:rPr>
              <a:t>assessed by</a:t>
            </a:r>
          </a:p>
        </p:txBody>
      </p:sp>
      <p:sp>
        <p:nvSpPr>
          <p:cNvPr id="106" name="P106"/>
          <p:cNvSpPr/>
          <p:nvPr/>
        </p:nvSpPr>
        <p:spPr>
          <a:xfrm>
            <a:off x="3273552" y="1980000"/>
            <a:ext cx="1243584" cy="620000"/>
          </a:xfrm>
          <a:prstGeom prst="rect">
            <a:avLst/>
          </a:prstGeom>
          <a:solidFill>
            <a:srgbClr val="F5F1E8"/>
          </a:solidFill>
          <a:ln w="12700">
            <a:solidFill>
              <a:srgbClr val="C9B991"/>
            </a:solidFill>
          </a:ln>
        </p:spPr>
        <p:txBody>
          <a:bodyPr wrap="square" lIns="36576" tIns="45720" rIns="36576" bIns="45720" anchor="ctr"/>
          <a:lstStyle/>
          <a:p>
            <a:pPr algn="ctr">
              <a:buNone/>
            </a:pPr>
            <a:r>
              <a:rPr lang="en-US" sz="1300" b="1" i="0" dirty="0">
                <a:solidFill>
                  <a:srgbClr val="000000"/>
                </a:solidFill>
              </a:rPr>
              <a:t>METRIC</a:t>
            </a:r>
          </a:p>
        </p:txBody>
      </p:sp>
      <p:cxnSp>
        <p:nvCxnSpPr>
          <p:cNvPr id="107" name="C107"/>
          <p:cNvCxnSpPr/>
          <p:nvPr/>
        </p:nvCxnSpPr>
        <p:spPr>
          <a:xfrm>
            <a:off x="4530852" y="2290000"/>
            <a:ext cx="146304" cy="0"/>
          </a:xfrm>
          <a:prstGeom prst="straightConnector1">
            <a:avLst/>
          </a:prstGeom>
          <a:ln w="38100">
            <a:solidFill>
              <a:srgbClr val="8E6F3E"/>
            </a:solidFill>
            <a:tailEnd type="triangle" w="med" len="med"/>
          </a:ln>
        </p:spPr>
      </p:cxnSp>
      <p:sp>
        <p:nvSpPr>
          <p:cNvPr id="108" name="T108"/>
          <p:cNvSpPr txBox="1"/>
          <p:nvPr/>
        </p:nvSpPr>
        <p:spPr>
          <a:xfrm>
            <a:off x="4155948" y="1690000"/>
            <a:ext cx="896112" cy="300000"/>
          </a:xfrm>
          <a:prstGeom prst="rect">
            <a:avLst/>
          </a:prstGeom>
          <a:noFill/>
          <a:ln>
            <a:noFill/>
          </a:ln>
        </p:spPr>
        <p:txBody>
          <a:bodyPr wrap="square" lIns="0" tIns="0" rIns="0" bIns="0" anchor="t"/>
          <a:lstStyle/>
          <a:p>
            <a:pPr algn="ctr">
              <a:buNone/>
            </a:pPr>
            <a:r>
              <a:rPr lang="en-US" sz="1250" b="0" i="1" dirty="0">
                <a:solidFill>
                  <a:srgbClr val="555960"/>
                </a:solidFill>
              </a:rPr>
              <a:t>applied</a:t>
            </a:r>
          </a:p>
        </p:txBody>
      </p:sp>
      <p:sp>
        <p:nvSpPr>
          <p:cNvPr id="109" name="P109"/>
          <p:cNvSpPr/>
          <p:nvPr/>
        </p:nvSpPr>
        <p:spPr>
          <a:xfrm>
            <a:off x="4626864" y="1980000"/>
            <a:ext cx="1243584" cy="620000"/>
          </a:xfrm>
          <a:prstGeom prst="rect">
            <a:avLst/>
          </a:prstGeom>
          <a:solidFill>
            <a:srgbClr val="F5F1E8"/>
          </a:solidFill>
          <a:ln w="12700">
            <a:solidFill>
              <a:srgbClr val="C9B991"/>
            </a:solidFill>
          </a:ln>
        </p:spPr>
        <p:txBody>
          <a:bodyPr wrap="square" lIns="36576" tIns="45720" rIns="36576" bIns="45720" anchor="ctr"/>
          <a:lstStyle/>
          <a:p>
            <a:pPr algn="ctr">
              <a:buNone/>
            </a:pPr>
            <a:r>
              <a:rPr lang="en-US" sz="1300" b="1" i="0" dirty="0">
                <a:solidFill>
                  <a:srgbClr val="000000"/>
                </a:solidFill>
              </a:rPr>
              <a:t>MEASUREMENT</a:t>
            </a:r>
          </a:p>
        </p:txBody>
      </p:sp>
      <p:cxnSp>
        <p:nvCxnSpPr>
          <p:cNvPr id="110" name="C110"/>
          <p:cNvCxnSpPr/>
          <p:nvPr/>
        </p:nvCxnSpPr>
        <p:spPr>
          <a:xfrm>
            <a:off x="5884164" y="2290000"/>
            <a:ext cx="146304" cy="0"/>
          </a:xfrm>
          <a:prstGeom prst="straightConnector1">
            <a:avLst/>
          </a:prstGeom>
          <a:ln w="38100">
            <a:solidFill>
              <a:srgbClr val="8E6F3E"/>
            </a:solidFill>
            <a:tailEnd type="triangle" w="med" len="med"/>
          </a:ln>
        </p:spPr>
      </p:cxnSp>
      <p:sp>
        <p:nvSpPr>
          <p:cNvPr id="111" name="T111"/>
          <p:cNvSpPr txBox="1"/>
          <p:nvPr/>
        </p:nvSpPr>
        <p:spPr>
          <a:xfrm>
            <a:off x="5509259" y="1690000"/>
            <a:ext cx="896112" cy="300000"/>
          </a:xfrm>
          <a:prstGeom prst="rect">
            <a:avLst/>
          </a:prstGeom>
          <a:noFill/>
          <a:ln>
            <a:noFill/>
          </a:ln>
        </p:spPr>
        <p:txBody>
          <a:bodyPr wrap="square" lIns="0" tIns="0" rIns="0" bIns="0" anchor="t"/>
          <a:lstStyle/>
          <a:p>
            <a:pPr algn="ctr">
              <a:buNone/>
            </a:pPr>
            <a:r>
              <a:rPr lang="en-US" sz="1250" b="0" i="1" dirty="0">
                <a:solidFill>
                  <a:srgbClr val="555960"/>
                </a:solidFill>
              </a:rPr>
              <a:t>bears on</a:t>
            </a:r>
          </a:p>
        </p:txBody>
      </p:sp>
      <p:sp>
        <p:nvSpPr>
          <p:cNvPr id="112" name="P112"/>
          <p:cNvSpPr/>
          <p:nvPr/>
        </p:nvSpPr>
        <p:spPr>
          <a:xfrm>
            <a:off x="5980176" y="1980000"/>
            <a:ext cx="1243584" cy="620000"/>
          </a:xfrm>
          <a:prstGeom prst="rect">
            <a:avLst/>
          </a:prstGeom>
          <a:solidFill>
            <a:srgbClr val="F5F1E8"/>
          </a:solidFill>
          <a:ln w="12700">
            <a:solidFill>
              <a:srgbClr val="C9B991"/>
            </a:solidFill>
          </a:ln>
        </p:spPr>
        <p:txBody>
          <a:bodyPr wrap="square" lIns="36576" tIns="45720" rIns="36576" bIns="45720" anchor="ctr"/>
          <a:lstStyle/>
          <a:p>
            <a:pPr algn="ctr">
              <a:buNone/>
            </a:pPr>
            <a:r>
              <a:rPr lang="en-US" sz="1300" b="1" i="0" dirty="0">
                <a:solidFill>
                  <a:srgbClr val="000000"/>
                </a:solidFill>
              </a:rPr>
              <a:t>EVIDENCE</a:t>
            </a:r>
          </a:p>
        </p:txBody>
      </p:sp>
      <p:cxnSp>
        <p:nvCxnSpPr>
          <p:cNvPr id="113" name="C113"/>
          <p:cNvCxnSpPr/>
          <p:nvPr/>
        </p:nvCxnSpPr>
        <p:spPr>
          <a:xfrm>
            <a:off x="7237476" y="2290000"/>
            <a:ext cx="146304" cy="0"/>
          </a:xfrm>
          <a:prstGeom prst="straightConnector1">
            <a:avLst/>
          </a:prstGeom>
          <a:ln w="38100">
            <a:solidFill>
              <a:srgbClr val="8E6F3E"/>
            </a:solidFill>
            <a:tailEnd type="triangle" w="med" len="med"/>
          </a:ln>
        </p:spPr>
      </p:cxnSp>
      <p:sp>
        <p:nvSpPr>
          <p:cNvPr id="114" name="T114"/>
          <p:cNvSpPr txBox="1"/>
          <p:nvPr/>
        </p:nvSpPr>
        <p:spPr>
          <a:xfrm>
            <a:off x="6862572" y="1690000"/>
            <a:ext cx="896112" cy="300000"/>
          </a:xfrm>
          <a:prstGeom prst="rect">
            <a:avLst/>
          </a:prstGeom>
          <a:noFill/>
          <a:ln>
            <a:noFill/>
          </a:ln>
        </p:spPr>
        <p:txBody>
          <a:bodyPr wrap="square" lIns="0" tIns="0" rIns="0" bIns="0" anchor="t"/>
          <a:lstStyle/>
          <a:p>
            <a:pPr algn="ctr">
              <a:buNone/>
            </a:pPr>
            <a:r>
              <a:rPr lang="en-US" sz="1250" b="0" i="1" dirty="0">
                <a:solidFill>
                  <a:srgbClr val="555960"/>
                </a:solidFill>
              </a:rPr>
              <a:t>interpreted</a:t>
            </a:r>
          </a:p>
        </p:txBody>
      </p:sp>
      <p:sp>
        <p:nvSpPr>
          <p:cNvPr id="115" name="P115"/>
          <p:cNvSpPr/>
          <p:nvPr/>
        </p:nvSpPr>
        <p:spPr>
          <a:xfrm>
            <a:off x="7333488" y="1980000"/>
            <a:ext cx="1243584" cy="620000"/>
          </a:xfrm>
          <a:prstGeom prst="rect">
            <a:avLst/>
          </a:prstGeom>
          <a:solidFill>
            <a:srgbClr val="F5F1E8"/>
          </a:solidFill>
          <a:ln w="12700">
            <a:solidFill>
              <a:srgbClr val="C9B991"/>
            </a:solidFill>
          </a:ln>
        </p:spPr>
        <p:txBody>
          <a:bodyPr wrap="square" lIns="36576" tIns="45720" rIns="36576" bIns="45720" anchor="ctr"/>
          <a:lstStyle/>
          <a:p>
            <a:pPr algn="ctr">
              <a:buNone/>
            </a:pPr>
            <a:r>
              <a:rPr lang="en-US" sz="1300" b="1" i="0" dirty="0">
                <a:solidFill>
                  <a:srgbClr val="000000"/>
                </a:solidFill>
              </a:rPr>
              <a:t>JUDGMENT</a:t>
            </a:r>
          </a:p>
        </p:txBody>
      </p:sp>
      <p:sp>
        <p:nvSpPr>
          <p:cNvPr id="180" name="T180"/>
          <p:cNvSpPr txBox="1"/>
          <p:nvPr/>
        </p:nvSpPr>
        <p:spPr>
          <a:xfrm>
            <a:off x="680000" y="3060000"/>
            <a:ext cx="7940000" cy="900000"/>
          </a:xfrm>
          <a:prstGeom prst="rect">
            <a:avLst/>
          </a:prstGeom>
          <a:noFill/>
          <a:ln>
            <a:noFill/>
          </a:ln>
        </p:spPr>
        <p:txBody>
          <a:bodyPr wrap="square" lIns="0" tIns="0" rIns="0" bIns="0" anchor="t"/>
          <a:lstStyle/>
          <a:p>
            <a:pPr algn="ctr">
              <a:buNone/>
            </a:pPr>
            <a:r>
              <a:rPr lang="en-US" sz="1800" b="0" i="1" dirty="0">
                <a:solidFill>
                  <a:srgbClr val="555960"/>
                </a:solidFill>
              </a:rPr>
              <a:t>A model predicts a request path stays under 500 ms; the metric is p99 latency under workload W.</a:t>
            </a:r>
          </a:p>
          <a:p>
            <a:pPr algn="ctr">
              <a:spcBef>
                <a:spcPts val="140"/>
              </a:spcBef>
              <a:buNone/>
            </a:pPr>
            <a:r>
              <a:rPr lang="en-US" sz="1800" b="0" i="1" dirty="0">
                <a:solidFill>
                  <a:srgbClr val="555960"/>
                </a:solidFill>
              </a:rPr>
              <a:t>The measurement is 420 ms — meaningless without the property, metric, and conditions that give it meaning.</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A mismatch is information: a defect, a wrong model, or the wrong metric.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500"/>
                                        <p:tgtEl>
                                          <p:spTgt spid="102"/>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500"/>
                                        <p:tgtEl>
                                          <p:spTgt spid="10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4"/>
                                        </p:tgtEl>
                                        <p:attrNameLst>
                                          <p:attrName>style.visibility</p:attrName>
                                        </p:attrNameLst>
                                      </p:cBhvr>
                                      <p:to>
                                        <p:strVal val="visible"/>
                                      </p:to>
                                    </p:set>
                                    <p:animEffect transition="in" filter="fade">
                                      <p:cBhvr>
                                        <p:cTn id="26" dur="500"/>
                                        <p:tgtEl>
                                          <p:spTgt spid="10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500"/>
                                        <p:tgtEl>
                                          <p:spTgt spid="10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08"/>
                                        </p:tgtEl>
                                        <p:attrNameLst>
                                          <p:attrName>style.visibility</p:attrName>
                                        </p:attrNameLst>
                                      </p:cBhvr>
                                      <p:to>
                                        <p:strVal val="visible"/>
                                      </p:to>
                                    </p:set>
                                    <p:animEffect transition="in" filter="fade">
                                      <p:cBhvr>
                                        <p:cTn id="34" dur="500"/>
                                        <p:tgtEl>
                                          <p:spTgt spid="10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500"/>
                                        <p:tgtEl>
                                          <p:spTgt spid="10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11"/>
                                        </p:tgtEl>
                                        <p:attrNameLst>
                                          <p:attrName>style.visibility</p:attrName>
                                        </p:attrNameLst>
                                      </p:cBhvr>
                                      <p:to>
                                        <p:strVal val="visible"/>
                                      </p:to>
                                    </p:set>
                                    <p:animEffect transition="in" filter="fade">
                                      <p:cBhvr>
                                        <p:cTn id="45" dur="500"/>
                                        <p:tgtEl>
                                          <p:spTgt spid="11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10"/>
                                        </p:tgtEl>
                                        <p:attrNameLst>
                                          <p:attrName>style.visibility</p:attrName>
                                        </p:attrNameLst>
                                      </p:cBhvr>
                                      <p:to>
                                        <p:strVal val="visible"/>
                                      </p:to>
                                    </p:set>
                                    <p:animEffect transition="in" filter="fade">
                                      <p:cBhvr>
                                        <p:cTn id="48" dur="500"/>
                                        <p:tgtEl>
                                          <p:spTgt spid="110"/>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12"/>
                                        </p:tgtEl>
                                        <p:attrNameLst>
                                          <p:attrName>style.visibility</p:attrName>
                                        </p:attrNameLst>
                                      </p:cBhvr>
                                      <p:to>
                                        <p:strVal val="visible"/>
                                      </p:to>
                                    </p:set>
                                    <p:animEffect transition="in" filter="fade">
                                      <p:cBhvr>
                                        <p:cTn id="51" dur="500"/>
                                        <p:tgtEl>
                                          <p:spTgt spid="11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14"/>
                                        </p:tgtEl>
                                        <p:attrNameLst>
                                          <p:attrName>style.visibility</p:attrName>
                                        </p:attrNameLst>
                                      </p:cBhvr>
                                      <p:to>
                                        <p:strVal val="visible"/>
                                      </p:to>
                                    </p:set>
                                    <p:animEffect transition="in" filter="fade">
                                      <p:cBhvr>
                                        <p:cTn id="56" dur="500"/>
                                        <p:tgtEl>
                                          <p:spTgt spid="11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13"/>
                                        </p:tgtEl>
                                        <p:attrNameLst>
                                          <p:attrName>style.visibility</p:attrName>
                                        </p:attrNameLst>
                                      </p:cBhvr>
                                      <p:to>
                                        <p:strVal val="visible"/>
                                      </p:to>
                                    </p:set>
                                    <p:animEffect transition="in" filter="fade">
                                      <p:cBhvr>
                                        <p:cTn id="59" dur="500"/>
                                        <p:tgtEl>
                                          <p:spTgt spid="113"/>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15"/>
                                        </p:tgtEl>
                                        <p:attrNameLst>
                                          <p:attrName>style.visibility</p:attrName>
                                        </p:attrNameLst>
                                      </p:cBhvr>
                                      <p:to>
                                        <p:strVal val="visible"/>
                                      </p:to>
                                    </p:set>
                                    <p:animEffect transition="in" filter="fade">
                                      <p:cBhvr>
                                        <p:cTn id="62" dur="500"/>
                                        <p:tgtEl>
                                          <p:spTgt spid="115"/>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180"/>
                                        </p:tgtEl>
                                        <p:attrNameLst>
                                          <p:attrName>style.visibility</p:attrName>
                                        </p:attrNameLst>
                                      </p:cBhvr>
                                      <p:to>
                                        <p:strVal val="visible"/>
                                      </p:to>
                                    </p:set>
                                    <p:animEffect transition="in" filter="fade">
                                      <p:cBhvr>
                                        <p:cTn id="67" dur="5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do we judge evidence?</a:t>
            </a:r>
          </a:p>
        </p:txBody>
      </p:sp>
      <p:sp>
        <p:nvSpPr>
          <p:cNvPr id="3" name="Slide Number Placeholder 3"/>
          <p:cNvSpPr>
            <a:spLocks noGrp="1"/>
          </p:cNvSpPr>
          <p:nvPr>
            <p:ph type="sldNum" sz="quarter" idx="4"/>
          </p:nvPr>
        </p:nvSpPr>
        <p:spPr/>
        <p:txBody>
          <a:bodyPr/>
          <a:lstStyle/>
          <a:p>
            <a:fld id="{95ACCDC0-16E7-4BB5-8811-15F864A1BF78}" type="slidenum">
              <a:rPr lang="en-US" smtClean="0"/>
              <a:t>1</a:t>
            </a:fld>
            <a:endParaRPr lang="en-US"/>
          </a:p>
        </p:txBody>
      </p:sp>
      <p:sp>
        <p:nvSpPr>
          <p:cNvPr id="100" name="B100"/>
          <p:cNvSpPr/>
          <p:nvPr/>
        </p:nvSpPr>
        <p:spPr>
          <a:xfrm>
            <a:off x="566928" y="960120"/>
            <a:ext cx="2057400" cy="411480"/>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DIMENSION</a:t>
            </a:r>
          </a:p>
        </p:txBody>
      </p:sp>
      <p:sp>
        <p:nvSpPr>
          <p:cNvPr id="101" name="B101"/>
          <p:cNvSpPr/>
          <p:nvPr/>
        </p:nvSpPr>
        <p:spPr>
          <a:xfrm>
            <a:off x="2697480" y="960120"/>
            <a:ext cx="3154680" cy="411480"/>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USEFUL METRICS &amp; QUESTIONS</a:t>
            </a:r>
          </a:p>
        </p:txBody>
      </p:sp>
      <p:sp>
        <p:nvSpPr>
          <p:cNvPr id="102" name="B102"/>
          <p:cNvSpPr/>
          <p:nvPr/>
        </p:nvSpPr>
        <p:spPr>
          <a:xfrm>
            <a:off x="5925312" y="960120"/>
            <a:ext cx="2651760" cy="411480"/>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WHAT IT TELLS US</a:t>
            </a:r>
          </a:p>
        </p:txBody>
      </p:sp>
      <p:sp>
        <p:nvSpPr>
          <p:cNvPr id="110" name="P110"/>
          <p:cNvSpPr/>
          <p:nvPr/>
        </p:nvSpPr>
        <p:spPr>
          <a:xfrm>
            <a:off x="566928" y="1426464"/>
            <a:ext cx="20574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Coverage</a:t>
            </a:r>
          </a:p>
        </p:txBody>
      </p:sp>
      <p:sp>
        <p:nvSpPr>
          <p:cNvPr id="120" name="P120"/>
          <p:cNvSpPr/>
          <p:nvPr/>
        </p:nvSpPr>
        <p:spPr>
          <a:xfrm>
            <a:off x="2697480" y="1426464"/>
            <a:ext cx="315468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statement · branch · claim coverage</a:t>
            </a:r>
          </a:p>
        </p:txBody>
      </p:sp>
      <p:sp>
        <p:nvSpPr>
          <p:cNvPr id="130" name="P130"/>
          <p:cNvSpPr/>
          <p:nvPr/>
        </p:nvSpPr>
        <p:spPr>
          <a:xfrm>
            <a:off x="5925312" y="1426464"/>
            <a:ext cx="26517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1" dirty="0">
                <a:solidFill>
                  <a:srgbClr val="5C4826"/>
                </a:solidFill>
              </a:rPr>
              <a:t>How much did we examine?</a:t>
            </a:r>
          </a:p>
        </p:txBody>
      </p:sp>
      <p:sp>
        <p:nvSpPr>
          <p:cNvPr id="111" name="P111"/>
          <p:cNvSpPr/>
          <p:nvPr/>
        </p:nvSpPr>
        <p:spPr>
          <a:xfrm>
            <a:off x="566928" y="1975104"/>
            <a:ext cx="20574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Representativeness</a:t>
            </a:r>
          </a:p>
        </p:txBody>
      </p:sp>
      <p:sp>
        <p:nvSpPr>
          <p:cNvPr id="121" name="P121"/>
          <p:cNvSpPr/>
          <p:nvPr/>
        </p:nvSpPr>
        <p:spPr>
          <a:xfrm>
            <a:off x="2697480" y="1975104"/>
            <a:ext cx="315468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workload mix · environment · config</a:t>
            </a:r>
          </a:p>
        </p:txBody>
      </p:sp>
      <p:sp>
        <p:nvSpPr>
          <p:cNvPr id="131" name="P131"/>
          <p:cNvSpPr/>
          <p:nvPr/>
        </p:nvSpPr>
        <p:spPr>
          <a:xfrm>
            <a:off x="5925312" y="1975104"/>
            <a:ext cx="26517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1" dirty="0">
                <a:solidFill>
                  <a:srgbClr val="5C4826"/>
                </a:solidFill>
              </a:rPr>
              <a:t>Did we look at the right things?</a:t>
            </a:r>
          </a:p>
        </p:txBody>
      </p:sp>
      <p:sp>
        <p:nvSpPr>
          <p:cNvPr id="112" name="P112"/>
          <p:cNvSpPr/>
          <p:nvPr/>
        </p:nvSpPr>
        <p:spPr>
          <a:xfrm>
            <a:off x="566928" y="2523744"/>
            <a:ext cx="20574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Detection power</a:t>
            </a:r>
          </a:p>
        </p:txBody>
      </p:sp>
      <p:sp>
        <p:nvSpPr>
          <p:cNvPr id="122" name="P122"/>
          <p:cNvSpPr/>
          <p:nvPr/>
        </p:nvSpPr>
        <p:spPr>
          <a:xfrm>
            <a:off x="2697480" y="2523744"/>
            <a:ext cx="315468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mutation score · seeded defects</a:t>
            </a:r>
          </a:p>
        </p:txBody>
      </p:sp>
      <p:sp>
        <p:nvSpPr>
          <p:cNvPr id="132" name="P132"/>
          <p:cNvSpPr/>
          <p:nvPr/>
        </p:nvSpPr>
        <p:spPr>
          <a:xfrm>
            <a:off x="5925312" y="2523744"/>
            <a:ext cx="26517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1" dirty="0">
                <a:solidFill>
                  <a:srgbClr val="5C4826"/>
                </a:solidFill>
              </a:rPr>
              <a:t>Would we notice a defect?</a:t>
            </a:r>
          </a:p>
        </p:txBody>
      </p:sp>
      <p:sp>
        <p:nvSpPr>
          <p:cNvPr id="113" name="P113"/>
          <p:cNvSpPr/>
          <p:nvPr/>
        </p:nvSpPr>
        <p:spPr>
          <a:xfrm>
            <a:off x="566928" y="3072384"/>
            <a:ext cx="20574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Independence</a:t>
            </a:r>
          </a:p>
        </p:txBody>
      </p:sp>
      <p:sp>
        <p:nvSpPr>
          <p:cNvPr id="123" name="P123"/>
          <p:cNvSpPr/>
          <p:nvPr/>
        </p:nvSpPr>
        <p:spPr>
          <a:xfrm>
            <a:off x="2697480" y="3072384"/>
            <a:ext cx="315468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distinct tools · models · reviewers</a:t>
            </a:r>
          </a:p>
        </p:txBody>
      </p:sp>
      <p:sp>
        <p:nvSpPr>
          <p:cNvPr id="133" name="P133"/>
          <p:cNvSpPr/>
          <p:nvPr/>
        </p:nvSpPr>
        <p:spPr>
          <a:xfrm>
            <a:off x="5925312" y="3072384"/>
            <a:ext cx="26517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1" dirty="0">
                <a:solidFill>
                  <a:srgbClr val="5C4826"/>
                </a:solidFill>
              </a:rPr>
              <a:t>Could one mistake undo it all?</a:t>
            </a:r>
          </a:p>
        </p:txBody>
      </p:sp>
      <p:sp>
        <p:nvSpPr>
          <p:cNvPr id="114" name="P114"/>
          <p:cNvSpPr/>
          <p:nvPr/>
        </p:nvSpPr>
        <p:spPr>
          <a:xfrm>
            <a:off x="566928" y="3621024"/>
            <a:ext cx="20574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Residual failures</a:t>
            </a:r>
          </a:p>
        </p:txBody>
      </p:sp>
      <p:sp>
        <p:nvSpPr>
          <p:cNvPr id="124" name="P124"/>
          <p:cNvSpPr/>
          <p:nvPr/>
        </p:nvSpPr>
        <p:spPr>
          <a:xfrm>
            <a:off x="2697480" y="3621024"/>
            <a:ext cx="315468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open defects · counterexamples</a:t>
            </a:r>
          </a:p>
        </p:txBody>
      </p:sp>
      <p:sp>
        <p:nvSpPr>
          <p:cNvPr id="134" name="P134"/>
          <p:cNvSpPr/>
          <p:nvPr/>
        </p:nvSpPr>
        <p:spPr>
          <a:xfrm>
            <a:off x="5925312" y="3621024"/>
            <a:ext cx="26517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1" dirty="0">
                <a:solidFill>
                  <a:srgbClr val="5C4826"/>
                </a:solidFill>
              </a:rPr>
              <a:t>What do we know is wrong?</a:t>
            </a:r>
          </a:p>
        </p:txBody>
      </p:sp>
      <p:sp>
        <p:nvSpPr>
          <p:cNvPr id="115" name="P115"/>
          <p:cNvSpPr/>
          <p:nvPr/>
        </p:nvSpPr>
        <p:spPr>
          <a:xfrm>
            <a:off x="566928" y="4169664"/>
            <a:ext cx="20574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Uncertainty</a:t>
            </a:r>
          </a:p>
        </p:txBody>
      </p:sp>
      <p:sp>
        <p:nvSpPr>
          <p:cNvPr id="125" name="P125"/>
          <p:cNvSpPr/>
          <p:nvPr/>
        </p:nvSpPr>
        <p:spPr>
          <a:xfrm>
            <a:off x="2697480" y="4169664"/>
            <a:ext cx="315468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confidence intervals · unmodeled states</a:t>
            </a:r>
          </a:p>
        </p:txBody>
      </p:sp>
      <p:sp>
        <p:nvSpPr>
          <p:cNvPr id="135" name="P135"/>
          <p:cNvSpPr/>
          <p:nvPr/>
        </p:nvSpPr>
        <p:spPr>
          <a:xfrm>
            <a:off x="5925312" y="4169664"/>
            <a:ext cx="26517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1" dirty="0">
                <a:solidFill>
                  <a:srgbClr val="5C4826"/>
                </a:solidFill>
              </a:rPr>
              <a:t>How precisely can we claim it?</a:t>
            </a:r>
          </a:p>
        </p:txBody>
      </p:sp>
      <p:sp>
        <p:nvSpPr>
          <p:cNvPr id="150" name="E150"/>
          <p:cNvSpPr/>
          <p:nvPr/>
        </p:nvSpPr>
        <p:spPr>
          <a:xfrm>
            <a:off x="566928" y="4846320"/>
            <a:ext cx="8010144" cy="74980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850" b="1" i="0" dirty="0">
                <a:solidFill>
                  <a:srgbClr val="5C4826"/>
                </a:solidFill>
              </a:rPr>
              <a:t>No single metric means “validated.”</a:t>
            </a:r>
          </a:p>
          <a:p>
            <a:pPr algn="ctr">
              <a:spcBef>
                <a:spcPts val="150"/>
              </a:spcBef>
              <a:buNone/>
            </a:pPr>
            <a:r>
              <a:rPr lang="en-US" sz="1650" b="0" i="0" dirty="0">
                <a:solidFill>
                  <a:srgbClr val="5C4826"/>
                </a:solidFill>
              </a:rPr>
              <a:t>Metrics make the remaining uncertainty visible enough to judge.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33"/>
                                        </p:tgtEl>
                                        <p:attrNameLst>
                                          <p:attrName>style.visibility</p:attrName>
                                        </p:attrNameLst>
                                      </p:cBhvr>
                                      <p:to>
                                        <p:strVal val="visible"/>
                                      </p:to>
                                    </p:set>
                                    <p:animEffect transition="in" filter="fade">
                                      <p:cBhvr>
                                        <p:cTn id="46" dur="500"/>
                                        <p:tgtEl>
                                          <p:spTgt spid="133"/>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500"/>
                                        <p:tgtEl>
                                          <p:spTgt spid="11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24"/>
                                        </p:tgtEl>
                                        <p:attrNameLst>
                                          <p:attrName>style.visibility</p:attrName>
                                        </p:attrNameLst>
                                      </p:cBhvr>
                                      <p:to>
                                        <p:strVal val="visible"/>
                                      </p:to>
                                    </p:set>
                                    <p:animEffect transition="in" filter="fade">
                                      <p:cBhvr>
                                        <p:cTn id="54" dur="500"/>
                                        <p:tgtEl>
                                          <p:spTgt spid="12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34"/>
                                        </p:tgtEl>
                                        <p:attrNameLst>
                                          <p:attrName>style.visibility</p:attrName>
                                        </p:attrNameLst>
                                      </p:cBhvr>
                                      <p:to>
                                        <p:strVal val="visible"/>
                                      </p:to>
                                    </p:set>
                                    <p:animEffect transition="in" filter="fade">
                                      <p:cBhvr>
                                        <p:cTn id="57" dur="500"/>
                                        <p:tgtEl>
                                          <p:spTgt spid="134"/>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15"/>
                                        </p:tgtEl>
                                        <p:attrNameLst>
                                          <p:attrName>style.visibility</p:attrName>
                                        </p:attrNameLst>
                                      </p:cBhvr>
                                      <p:to>
                                        <p:strVal val="visible"/>
                                      </p:to>
                                    </p:set>
                                    <p:animEffect transition="in" filter="fade">
                                      <p:cBhvr>
                                        <p:cTn id="62" dur="500"/>
                                        <p:tgtEl>
                                          <p:spTgt spid="11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25"/>
                                        </p:tgtEl>
                                        <p:attrNameLst>
                                          <p:attrName>style.visibility</p:attrName>
                                        </p:attrNameLst>
                                      </p:cBhvr>
                                      <p:to>
                                        <p:strVal val="visible"/>
                                      </p:to>
                                    </p:set>
                                    <p:animEffect transition="in" filter="fade">
                                      <p:cBhvr>
                                        <p:cTn id="65" dur="500"/>
                                        <p:tgtEl>
                                          <p:spTgt spid="12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35"/>
                                        </p:tgtEl>
                                        <p:attrNameLst>
                                          <p:attrName>style.visibility</p:attrName>
                                        </p:attrNameLst>
                                      </p:cBhvr>
                                      <p:to>
                                        <p:strVal val="visible"/>
                                      </p:to>
                                    </p:set>
                                    <p:animEffect transition="in" filter="fade">
                                      <p:cBhvr>
                                        <p:cTn id="68" dur="500"/>
                                        <p:tgtEl>
                                          <p:spTgt spid="13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150"/>
                                        </p:tgtEl>
                                        <p:attrNameLst>
                                          <p:attrName>style.visibility</p:attrName>
                                        </p:attrNameLst>
                                      </p:cBhvr>
                                      <p:to>
                                        <p:strVal val="visible"/>
                                      </p:to>
                                    </p:set>
                                    <p:animEffect transition="in" filter="fade">
                                      <p:cBhvr>
                                        <p:cTn id="7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Detection power: would we have noticed?</a:t>
            </a:r>
          </a:p>
        </p:txBody>
      </p:sp>
      <p:sp>
        <p:nvSpPr>
          <p:cNvPr id="3" name="Slide Number Placeholder 3"/>
          <p:cNvSpPr>
            <a:spLocks noGrp="1"/>
          </p:cNvSpPr>
          <p:nvPr>
            <p:ph type="sldNum" sz="quarter" idx="4"/>
          </p:nvPr>
        </p:nvSpPr>
        <p:spPr/>
        <p:txBody>
          <a:bodyPr/>
          <a:lstStyle/>
          <a:p>
            <a:fld id="{024730F4-E99E-4D28-BCD0-D7DDF040FC63}" type="slidenum">
              <a:rPr lang="en-US" smtClean="0"/>
              <a:t>1</a:t>
            </a:fld>
            <a:endParaRPr lang="en-US"/>
          </a:p>
        </p:txBody>
      </p:sp>
      <p:sp>
        <p:nvSpPr>
          <p:cNvPr id="100" name="P100"/>
          <p:cNvSpPr/>
          <p:nvPr/>
        </p:nvSpPr>
        <p:spPr>
          <a:xfrm>
            <a:off x="566928" y="960120"/>
            <a:ext cx="8010144" cy="53035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Statement and condition coverage: 100%. Every test is green.</a:t>
            </a:r>
          </a:p>
        </p:txBody>
      </p:sp>
      <p:sp>
        <p:nvSpPr>
          <p:cNvPr id="110" name="B110"/>
          <p:cNvSpPr/>
          <p:nvPr/>
        </p:nvSpPr>
        <p:spPr>
          <a:xfrm>
            <a:off x="566928" y="1645920"/>
            <a:ext cx="2560320" cy="566928"/>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SEED A FAULT</a:t>
            </a:r>
          </a:p>
        </p:txBody>
      </p:sp>
      <p:cxnSp>
        <p:nvCxnSpPr>
          <p:cNvPr id="120" name="C120"/>
          <p:cNvCxnSpPr/>
          <p:nvPr/>
        </p:nvCxnSpPr>
        <p:spPr>
          <a:xfrm>
            <a:off x="3145536" y="1929384"/>
            <a:ext cx="164592" cy="0"/>
          </a:xfrm>
          <a:prstGeom prst="straightConnector1">
            <a:avLst/>
          </a:prstGeom>
          <a:ln w="38100">
            <a:solidFill>
              <a:srgbClr val="8E6F3E"/>
            </a:solidFill>
            <a:tailEnd type="triangle" w="med" len="med"/>
          </a:ln>
        </p:spPr>
      </p:cxnSp>
      <p:sp>
        <p:nvSpPr>
          <p:cNvPr id="111" name="B111"/>
          <p:cNvSpPr/>
          <p:nvPr/>
        </p:nvSpPr>
        <p:spPr>
          <a:xfrm>
            <a:off x="3291840" y="1645920"/>
            <a:ext cx="2560320" cy="566928"/>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RUN THE SUITE</a:t>
            </a:r>
          </a:p>
        </p:txBody>
      </p:sp>
      <p:cxnSp>
        <p:nvCxnSpPr>
          <p:cNvPr id="121" name="C121"/>
          <p:cNvCxnSpPr/>
          <p:nvPr/>
        </p:nvCxnSpPr>
        <p:spPr>
          <a:xfrm>
            <a:off x="5870448" y="1929384"/>
            <a:ext cx="164592" cy="0"/>
          </a:xfrm>
          <a:prstGeom prst="straightConnector1">
            <a:avLst/>
          </a:prstGeom>
          <a:ln w="38100">
            <a:solidFill>
              <a:srgbClr val="8E6F3E"/>
            </a:solidFill>
            <a:tailEnd type="triangle" w="med" len="med"/>
          </a:ln>
        </p:spPr>
      </p:cxnSp>
      <p:sp>
        <p:nvSpPr>
          <p:cNvPr id="112" name="B112"/>
          <p:cNvSpPr/>
          <p:nvPr/>
        </p:nvSpPr>
        <p:spPr>
          <a:xfrm>
            <a:off x="6016752" y="1645920"/>
            <a:ext cx="2560320" cy="566928"/>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DID IT FAIL?</a:t>
            </a:r>
          </a:p>
        </p:txBody>
      </p:sp>
      <p:sp>
        <p:nvSpPr>
          <p:cNvPr id="130" name="P130"/>
          <p:cNvSpPr/>
          <p:nvPr/>
        </p:nvSpPr>
        <p:spPr>
          <a:xfrm>
            <a:off x="566928" y="2395728"/>
            <a:ext cx="8010144" cy="100584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600" b="0" i="0" dirty="0">
                <a:solidFill>
                  <a:srgbClr val="000000"/>
                </a:solidFill>
                <a:latin typeface="Consolas"/>
              </a:rPr>
              <a:t>original:   if (amount &gt; limit)  reject();</a:t>
            </a:r>
          </a:p>
          <a:p>
            <a:pPr algn="ctr">
              <a:spcBef>
                <a:spcPts val="150"/>
              </a:spcBef>
              <a:buNone/>
            </a:pPr>
            <a:r>
              <a:rPr lang="en-US" sz="1600" b="0" i="0" dirty="0">
                <a:solidFill>
                  <a:srgbClr val="000000"/>
                </a:solidFill>
                <a:latin typeface="Consolas"/>
              </a:rPr>
              <a:t>mutant:     if (amount &gt;= limit) reject();</a:t>
            </a:r>
          </a:p>
          <a:p>
            <a:pPr algn="ctr">
              <a:spcBef>
                <a:spcPts val="200"/>
              </a:spcBef>
              <a:buNone/>
            </a:pPr>
            <a:r>
              <a:rPr lang="en-US" sz="1600" b="1" i="1" dirty="0">
                <a:solidFill>
                  <a:srgbClr val="5C4826"/>
                </a:solidFill>
              </a:rPr>
              <a:t>The suite still passes.</a:t>
            </a:r>
          </a:p>
        </p:txBody>
      </p:sp>
      <p:sp>
        <p:nvSpPr>
          <p:cNvPr id="140" name="P140"/>
          <p:cNvSpPr/>
          <p:nvPr/>
        </p:nvSpPr>
        <p:spPr>
          <a:xfrm>
            <a:off x="566928" y="3584448"/>
            <a:ext cx="3913632" cy="7772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7534E"/>
                </a:solidFill>
              </a:rPr>
              <a:t>SUITE FAILS</a:t>
            </a:r>
          </a:p>
          <a:p>
            <a:pPr algn="ctr">
              <a:spcBef>
                <a:spcPts val="80"/>
              </a:spcBef>
              <a:buNone/>
            </a:pPr>
            <a:r>
              <a:rPr lang="en-US" sz="1550" b="0" i="0" dirty="0">
                <a:solidFill>
                  <a:srgbClr val="000000"/>
                </a:solidFill>
              </a:rPr>
              <a:t>the fault would have been caught</a:t>
            </a:r>
          </a:p>
        </p:txBody>
      </p:sp>
      <p:sp>
        <p:nvSpPr>
          <p:cNvPr id="141" name="P141"/>
          <p:cNvSpPr/>
          <p:nvPr/>
        </p:nvSpPr>
        <p:spPr>
          <a:xfrm>
            <a:off x="4663440" y="3584448"/>
            <a:ext cx="3913632" cy="7772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50" b="1" i="0" dirty="0">
                <a:solidFill>
                  <a:srgbClr val="57534E"/>
                </a:solidFill>
              </a:rPr>
              <a:t>SUITE PASSES</a:t>
            </a:r>
          </a:p>
          <a:p>
            <a:pPr algn="ctr">
              <a:spcBef>
                <a:spcPts val="80"/>
              </a:spcBef>
              <a:buNone/>
            </a:pPr>
            <a:r>
              <a:rPr lang="en-US" sz="1550" b="0" i="0" dirty="0">
                <a:solidFill>
                  <a:srgbClr val="000000"/>
                </a:solidFill>
              </a:rPr>
              <a:t>a surviving mutant: executed, unchecked</a:t>
            </a:r>
          </a:p>
        </p:txBody>
      </p:sp>
      <p:sp>
        <p:nvSpPr>
          <p:cNvPr id="150" name="E150"/>
          <p:cNvSpPr/>
          <p:nvPr/>
        </p:nvSpPr>
        <p:spPr>
          <a:xfrm>
            <a:off x="566928" y="4572000"/>
            <a:ext cx="8010144" cy="96012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850" b="1" i="0" dirty="0">
                <a:solidFill>
                  <a:srgbClr val="5C4826"/>
                </a:solidFill>
              </a:rPr>
              <a:t>mutation score  =  faults detected ÷ faults seeded</a:t>
            </a:r>
          </a:p>
          <a:p>
            <a:pPr algn="ctr">
              <a:spcBef>
                <a:spcPts val="150"/>
              </a:spcBef>
              <a:buNone/>
            </a:pPr>
            <a:r>
              <a:rPr lang="en-US" sz="1650" b="0" i="0" dirty="0">
                <a:solidFill>
                  <a:srgbClr val="5C4826"/>
                </a:solidFill>
              </a:rPr>
              <a:t>Coverage counts what ran. Detection power asks whether a wrong answer would be caught.</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Executed is not checked.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Representativeness: did we look under the right conditions?</a:t>
            </a:r>
          </a:p>
        </p:txBody>
      </p:sp>
      <p:sp>
        <p:nvSpPr>
          <p:cNvPr id="3" name="Slide Number Placeholder 3"/>
          <p:cNvSpPr>
            <a:spLocks noGrp="1"/>
          </p:cNvSpPr>
          <p:nvPr>
            <p:ph type="sldNum" sz="quarter" idx="4"/>
          </p:nvPr>
        </p:nvSpPr>
        <p:spPr/>
        <p:txBody>
          <a:bodyPr/>
          <a:lstStyle/>
          <a:p>
            <a:fld id="{78B3182B-CB6B-4C58-8308-02E907B13ACB}" type="slidenum">
              <a:rPr lang="en-US" smtClean="0"/>
              <a:t>1</a:t>
            </a:fld>
            <a:endParaRPr lang="en-US"/>
          </a:p>
        </p:txBody>
      </p:sp>
      <p:sp>
        <p:nvSpPr>
          <p:cNvPr id="100" name="B100"/>
          <p:cNvSpPr/>
          <p:nvPr/>
        </p:nvSpPr>
        <p:spPr>
          <a:xfrm>
            <a:off x="566928" y="1005840"/>
            <a:ext cx="3931920" cy="475488"/>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VALIDATION CONDITIONS</a:t>
            </a:r>
          </a:p>
        </p:txBody>
      </p:sp>
      <p:sp>
        <p:nvSpPr>
          <p:cNvPr id="101" name="B101"/>
          <p:cNvSpPr/>
          <p:nvPr/>
        </p:nvSpPr>
        <p:spPr>
          <a:xfrm>
            <a:off x="4645152" y="1005840"/>
            <a:ext cx="3931920" cy="475488"/>
          </a:xfrm>
          <a:prstGeom prst="rect">
            <a:avLst/>
          </a:prstGeom>
          <a:solidFill>
            <a:srgbClr val="5C4826"/>
          </a:solidFill>
          <a:ln>
            <a:noFill/>
          </a:ln>
        </p:spPr>
        <p:txBody>
          <a:bodyPr wrap="square" lIns="91440" tIns="45720" rIns="91440" bIns="45720" anchor="ctr"/>
          <a:lstStyle/>
          <a:p>
            <a:pPr algn="ctr">
              <a:buNone/>
            </a:pPr>
            <a:r>
              <a:rPr lang="en-US" sz="1450" b="1" i="0" dirty="0">
                <a:solidFill>
                  <a:srgbClr val="FFFFFF"/>
                </a:solidFill>
              </a:rPr>
              <a:t>DELIVERY CONDITIONS</a:t>
            </a:r>
          </a:p>
        </p:txBody>
      </p:sp>
      <p:sp>
        <p:nvSpPr>
          <p:cNvPr id="110" name="P110"/>
          <p:cNvSpPr/>
          <p:nvPr/>
        </p:nvSpPr>
        <p:spPr>
          <a:xfrm>
            <a:off x="566928" y="1609344"/>
            <a:ext cx="3931920" cy="5486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50 requests per second</a:t>
            </a:r>
          </a:p>
        </p:txBody>
      </p:sp>
      <p:sp>
        <p:nvSpPr>
          <p:cNvPr id="120" name="P120"/>
          <p:cNvSpPr/>
          <p:nvPr/>
        </p:nvSpPr>
        <p:spPr>
          <a:xfrm>
            <a:off x="4645152" y="1609344"/>
            <a:ext cx="3931920" cy="54864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600" b="0" i="0" dirty="0">
                <a:solidFill>
                  <a:srgbClr val="5C4826"/>
                </a:solidFill>
              </a:rPr>
              <a:t>4,000 per second at month end</a:t>
            </a:r>
          </a:p>
        </p:txBody>
      </p:sp>
      <p:sp>
        <p:nvSpPr>
          <p:cNvPr id="111" name="P111"/>
          <p:cNvSpPr/>
          <p:nvPr/>
        </p:nvSpPr>
        <p:spPr>
          <a:xfrm>
            <a:off x="566928" y="2249424"/>
            <a:ext cx="3931920" cy="5486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one region, warm caches</a:t>
            </a:r>
          </a:p>
        </p:txBody>
      </p:sp>
      <p:sp>
        <p:nvSpPr>
          <p:cNvPr id="121" name="P121"/>
          <p:cNvSpPr/>
          <p:nvPr/>
        </p:nvSpPr>
        <p:spPr>
          <a:xfrm>
            <a:off x="4645152" y="2249424"/>
            <a:ext cx="3931920" cy="54864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600" b="0" i="0" dirty="0">
                <a:solidFill>
                  <a:srgbClr val="5C4826"/>
                </a:solidFill>
              </a:rPr>
              <a:t>three regions, cold starts</a:t>
            </a:r>
          </a:p>
        </p:txBody>
      </p:sp>
      <p:sp>
        <p:nvSpPr>
          <p:cNvPr id="112" name="P112"/>
          <p:cNvSpPr/>
          <p:nvPr/>
        </p:nvSpPr>
        <p:spPr>
          <a:xfrm>
            <a:off x="566928" y="2889504"/>
            <a:ext cx="3931920" cy="5486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a stubbed payment provider</a:t>
            </a:r>
          </a:p>
        </p:txBody>
      </p:sp>
      <p:sp>
        <p:nvSpPr>
          <p:cNvPr id="122" name="P122"/>
          <p:cNvSpPr/>
          <p:nvPr/>
        </p:nvSpPr>
        <p:spPr>
          <a:xfrm>
            <a:off x="4645152" y="2889504"/>
            <a:ext cx="3931920" cy="54864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600" b="0" i="0" dirty="0">
                <a:solidFill>
                  <a:srgbClr val="5C4826"/>
                </a:solidFill>
              </a:rPr>
              <a:t>the provider's real latency and retries</a:t>
            </a:r>
          </a:p>
        </p:txBody>
      </p:sp>
      <p:sp>
        <p:nvSpPr>
          <p:cNvPr id="113" name="P113"/>
          <p:cNvSpPr/>
          <p:nvPr/>
        </p:nvSpPr>
        <p:spPr>
          <a:xfrm>
            <a:off x="566928" y="3529584"/>
            <a:ext cx="3931920" cy="5486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an empty test database</a:t>
            </a:r>
          </a:p>
        </p:txBody>
      </p:sp>
      <p:sp>
        <p:nvSpPr>
          <p:cNvPr id="123" name="P123"/>
          <p:cNvSpPr/>
          <p:nvPr/>
        </p:nvSpPr>
        <p:spPr>
          <a:xfrm>
            <a:off x="4645152" y="3529584"/>
            <a:ext cx="3931920" cy="54864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600" b="0" i="0" dirty="0">
                <a:solidFill>
                  <a:srgbClr val="5C4826"/>
                </a:solidFill>
              </a:rPr>
              <a:t>four hundred million rows</a:t>
            </a:r>
          </a:p>
        </p:txBody>
      </p:sp>
      <p:sp>
        <p:nvSpPr>
          <p:cNvPr id="150" name="E150"/>
          <p:cNvSpPr/>
          <p:nvPr/>
        </p:nvSpPr>
        <p:spPr>
          <a:xfrm>
            <a:off x="566928" y="4343400"/>
            <a:ext cx="8010144" cy="10058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1" i="0" dirty="0">
                <a:solidFill>
                  <a:srgbClr val="5C4826"/>
                </a:solidFill>
              </a:rPr>
              <a:t>100% coverage under an unrealistic workload is still weak evidence.</a:t>
            </a:r>
          </a:p>
          <a:p>
            <a:pPr algn="ctr">
              <a:spcBef>
                <a:spcPts val="200"/>
              </a:spcBef>
              <a:buNone/>
            </a:pPr>
            <a:r>
              <a:rPr lang="en-US" sz="1700" b="0" i="0" dirty="0">
                <a:solidFill>
                  <a:srgbClr val="5C4826"/>
                </a:solidFill>
              </a:rPr>
              <a:t>Evidence inherits the conditions under which it was obtained.</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Ask what the evidence was collected under, not only what it says.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multiplies; independence does not</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E100"/>
          <p:cNvSpPr/>
          <p:nvPr/>
        </p:nvSpPr>
        <p:spPr>
          <a:xfrm>
            <a:off x="872000" y="1120000"/>
            <a:ext cx="7400000" cy="9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0" i="0" dirty="0">
                <a:solidFill>
                  <a:srgbClr val="5C4826"/>
                </a:solidFill>
              </a:rPr>
              <a:t>A thousand tests from one mistaken interpretation are not a thousand reasons.</a:t>
            </a:r>
          </a:p>
          <a:p>
            <a:pPr algn="ctr">
              <a:spcBef>
                <a:spcPts val="120"/>
              </a:spcBef>
              <a:buNone/>
            </a:pPr>
            <a:r>
              <a:rPr lang="en-US" sz="1900" b="1" i="1" dirty="0">
                <a:solidFill>
                  <a:srgbClr val="5C4826"/>
                </a:solidFill>
              </a:rPr>
              <a:t>They are one reason, repeated.</a:t>
            </a:r>
          </a:p>
        </p:txBody>
      </p:sp>
      <p:sp>
        <p:nvSpPr>
          <p:cNvPr id="110" name="P110"/>
          <p:cNvSpPr/>
          <p:nvPr/>
        </p:nvSpPr>
        <p:spPr>
          <a:xfrm>
            <a:off x="872000" y="2380000"/>
            <a:ext cx="74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50" b="0" i="0" dirty="0">
                <a:solidFill>
                  <a:srgbClr val="000000"/>
                </a:solidFill>
              </a:rPr>
              <a:t>Independent evidence, resting on different assumptions, reduces shared error.</a:t>
            </a:r>
          </a:p>
        </p:txBody>
      </p:sp>
      <p:sp>
        <p:nvSpPr>
          <p:cNvPr id="111" name="P111"/>
          <p:cNvSpPr/>
          <p:nvPr/>
        </p:nvSpPr>
        <p:spPr>
          <a:xfrm>
            <a:off x="872000" y="3080000"/>
            <a:ext cx="74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50" b="0" i="0" dirty="0">
                <a:solidFill>
                  <a:srgbClr val="000000"/>
                </a:solidFill>
              </a:rPr>
              <a:t>Ask of every body of evidence: what assumptions does it inherit?</a:t>
            </a:r>
          </a:p>
        </p:txBody>
      </p:sp>
      <p:sp>
        <p:nvSpPr>
          <p:cNvPr id="112" name="P112"/>
          <p:cNvSpPr/>
          <p:nvPr/>
        </p:nvSpPr>
        <p:spPr>
          <a:xfrm>
            <a:off x="872000" y="3780000"/>
            <a:ext cx="7400000" cy="6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50" b="0" i="0" dirty="0">
                <a:solidFill>
                  <a:srgbClr val="000000"/>
                </a:solidFill>
              </a:rPr>
              <a:t>Strong validation triangulates — several kinds of evidence whose failure modes are uncorrelated.</a:t>
            </a:r>
          </a:p>
        </p:txBody>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grows with the diversity of the assumptions, not with the count.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1"/>
                                        </p:tgtEl>
                                        <p:attrNameLst>
                                          <p:attrName>style.visibility</p:attrName>
                                        </p:attrNameLst>
                                      </p:cBhvr>
                                      <p:to>
                                        <p:strVal val="visible"/>
                                      </p:to>
                                    </p:set>
                                    <p:animEffect transition="in" filter="fade">
                                      <p:cBhvr>
                                        <p:cTn id="17" dur="500"/>
                                        <p:tgtEl>
                                          <p:spTgt spid="1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2"/>
                                        </p:tgtEl>
                                        <p:attrNameLst>
                                          <p:attrName>style.visibility</p:attrName>
                                        </p:attrNameLst>
                                      </p:cBhvr>
                                      <p:to>
                                        <p:strVal val="visible"/>
                                      </p:to>
                                    </p:set>
                                    <p:animEffect transition="in" filter="fade">
                                      <p:cBhvr>
                                        <p:cTn id="22"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  MAGE Moment: GenAI can make weak evidence very cheap</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B100"/>
          <p:cNvSpPr/>
          <p:nvPr/>
        </p:nvSpPr>
        <p:spPr>
          <a:xfrm>
            <a:off x="3572000" y="900000"/>
            <a:ext cx="2000000" cy="52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CLAIM</a:t>
            </a:r>
          </a:p>
        </p:txBody>
      </p:sp>
      <p:sp>
        <p:nvSpPr>
          <p:cNvPr id="110" name="P110"/>
          <p:cNvSpPr/>
          <p:nvPr/>
        </p:nvSpPr>
        <p:spPr>
          <a:xfrm>
            <a:off x="800000" y="190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000000"/>
                </a:solidFill>
              </a:rPr>
              <a:t>Agent interpretation X</a:t>
            </a:r>
          </a:p>
        </p:txBody>
      </p:sp>
      <p:cxnSp>
        <p:nvCxnSpPr>
          <p:cNvPr id="111" name="C111"/>
          <p:cNvCxnSpPr/>
          <p:nvPr/>
        </p:nvCxnSpPr>
        <p:spPr>
          <a:xfrm>
            <a:off x="2500000" y="2470000"/>
            <a:ext cx="0" cy="360000"/>
          </a:xfrm>
          <a:prstGeom prst="straightConnector1">
            <a:avLst/>
          </a:prstGeom>
          <a:ln w="38100">
            <a:solidFill>
              <a:srgbClr val="8E6F3E"/>
            </a:solidFill>
            <a:tailEnd type="triangle" w="med" len="med"/>
          </a:ln>
        </p:spPr>
      </p:cxnSp>
      <p:sp>
        <p:nvSpPr>
          <p:cNvPr id="112" name="P112"/>
          <p:cNvSpPr/>
          <p:nvPr/>
        </p:nvSpPr>
        <p:spPr>
          <a:xfrm>
            <a:off x="800000" y="285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0" dirty="0">
                <a:solidFill>
                  <a:srgbClr val="000000"/>
                </a:solidFill>
              </a:rPr>
              <a:t>10,000 generated tests</a:t>
            </a:r>
          </a:p>
        </p:txBody>
      </p:sp>
      <p:cxnSp>
        <p:nvCxnSpPr>
          <p:cNvPr id="113" name="C113"/>
          <p:cNvCxnSpPr/>
          <p:nvPr/>
        </p:nvCxnSpPr>
        <p:spPr>
          <a:xfrm>
            <a:off x="2500000" y="3420000"/>
            <a:ext cx="0" cy="360000"/>
          </a:xfrm>
          <a:prstGeom prst="straightConnector1">
            <a:avLst/>
          </a:prstGeom>
          <a:ln w="38100">
            <a:solidFill>
              <a:srgbClr val="8E6F3E"/>
            </a:solidFill>
            <a:tailEnd type="triangle" w="med" len="med"/>
          </a:ln>
        </p:spPr>
      </p:cxnSp>
      <p:sp>
        <p:nvSpPr>
          <p:cNvPr id="114" name="P114"/>
          <p:cNvSpPr/>
          <p:nvPr/>
        </p:nvSpPr>
        <p:spPr>
          <a:xfrm>
            <a:off x="800000" y="3800000"/>
            <a:ext cx="340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550" b="1" i="0" dirty="0">
                <a:solidFill>
                  <a:srgbClr val="000000"/>
                </a:solidFill>
              </a:rPr>
              <a:t>EVIDENCE A</a:t>
            </a:r>
          </a:p>
        </p:txBody>
      </p:sp>
      <p:sp>
        <p:nvSpPr>
          <p:cNvPr id="120" name="P120"/>
          <p:cNvSpPr/>
          <p:nvPr/>
        </p:nvSpPr>
        <p:spPr>
          <a:xfrm>
            <a:off x="4940000" y="190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000000"/>
                </a:solidFill>
              </a:rPr>
              <a:t>Independent model Y</a:t>
            </a:r>
          </a:p>
        </p:txBody>
      </p:sp>
      <p:cxnSp>
        <p:nvCxnSpPr>
          <p:cNvPr id="121" name="C121"/>
          <p:cNvCxnSpPr/>
          <p:nvPr/>
        </p:nvCxnSpPr>
        <p:spPr>
          <a:xfrm>
            <a:off x="6640000" y="2470000"/>
            <a:ext cx="0" cy="360000"/>
          </a:xfrm>
          <a:prstGeom prst="straightConnector1">
            <a:avLst/>
          </a:prstGeom>
          <a:ln w="38100">
            <a:solidFill>
              <a:srgbClr val="8E6F3E"/>
            </a:solidFill>
            <a:tailEnd type="triangle" w="med" len="med"/>
          </a:ln>
        </p:spPr>
      </p:cxnSp>
      <p:sp>
        <p:nvSpPr>
          <p:cNvPr id="122" name="P122"/>
          <p:cNvSpPr/>
          <p:nvPr/>
        </p:nvSpPr>
        <p:spPr>
          <a:xfrm>
            <a:off x="4940000" y="285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0" dirty="0">
                <a:solidFill>
                  <a:srgbClr val="000000"/>
                </a:solidFill>
              </a:rPr>
              <a:t>analysis</a:t>
            </a:r>
          </a:p>
        </p:txBody>
      </p:sp>
      <p:cxnSp>
        <p:nvCxnSpPr>
          <p:cNvPr id="123" name="C123"/>
          <p:cNvCxnSpPr/>
          <p:nvPr/>
        </p:nvCxnSpPr>
        <p:spPr>
          <a:xfrm>
            <a:off x="6640000" y="3420000"/>
            <a:ext cx="0" cy="360000"/>
          </a:xfrm>
          <a:prstGeom prst="straightConnector1">
            <a:avLst/>
          </a:prstGeom>
          <a:ln w="38100">
            <a:solidFill>
              <a:srgbClr val="8E6F3E"/>
            </a:solidFill>
            <a:tailEnd type="triangle" w="med" len="med"/>
          </a:ln>
        </p:spPr>
      </p:cxnSp>
      <p:sp>
        <p:nvSpPr>
          <p:cNvPr id="124" name="P124"/>
          <p:cNvSpPr/>
          <p:nvPr/>
        </p:nvSpPr>
        <p:spPr>
          <a:xfrm>
            <a:off x="4940000" y="3800000"/>
            <a:ext cx="340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550" b="1" i="0" dirty="0">
                <a:solidFill>
                  <a:srgbClr val="000000"/>
                </a:solidFill>
              </a:rPr>
              <a:t>EVIDENCE B</a:t>
            </a:r>
          </a:p>
        </p:txBody>
      </p:sp>
      <p:sp>
        <p:nvSpPr>
          <p:cNvPr id="130" name="L130"/>
          <p:cNvSpPr/>
          <p:nvPr/>
        </p:nvSpPr>
        <p:spPr>
          <a:xfrm>
            <a:off x="2500000" y="1420000"/>
            <a:ext cx="2072000" cy="480000"/>
          </a:xfrm>
          <a:custGeom>
            <a:avLst/>
            <a:gdLst/>
            <a:ahLst/>
            <a:cxnLst/>
            <a:rect l="l" t="t" r="r" b="b"/>
            <a:pathLst>
              <a:path w="2072000" h="480000" fill="none">
                <a:moveTo>
                  <a:pt x="2072000" y="0"/>
                </a:moveTo>
                <a:lnTo>
                  <a:pt x="0" y="0"/>
                </a:lnTo>
                <a:lnTo>
                  <a:pt x="0" y="480000"/>
                </a:lnTo>
              </a:path>
            </a:pathLst>
          </a:custGeom>
          <a:noFill/>
          <a:ln w="38100">
            <a:solidFill>
              <a:srgbClr val="8E6F3E"/>
            </a:solidFill>
            <a:tailEnd type="triangle" w="med" len="med"/>
          </a:ln>
        </p:spPr>
        <p:txBody>
          <a:bodyPr/>
          <a:lstStyle/>
          <a:p>
            <a:endParaRPr lang="en-US"/>
          </a:p>
        </p:txBody>
      </p:sp>
      <p:sp>
        <p:nvSpPr>
          <p:cNvPr id="131" name="L131"/>
          <p:cNvSpPr/>
          <p:nvPr/>
        </p:nvSpPr>
        <p:spPr>
          <a:xfrm>
            <a:off x="4572000" y="1420000"/>
            <a:ext cx="2068000" cy="480000"/>
          </a:xfrm>
          <a:custGeom>
            <a:avLst/>
            <a:gdLst/>
            <a:ahLst/>
            <a:cxnLst/>
            <a:rect l="l" t="t" r="r" b="b"/>
            <a:pathLst>
              <a:path w="2068000" h="480000" fill="none">
                <a:moveTo>
                  <a:pt x="0" y="0"/>
                </a:moveTo>
                <a:lnTo>
                  <a:pt x="2068000" y="0"/>
                </a:lnTo>
                <a:lnTo>
                  <a:pt x="2068000" y="480000"/>
                </a:lnTo>
              </a:path>
            </a:pathLst>
          </a:custGeom>
          <a:noFill/>
          <a:ln w="38100">
            <a:solidFill>
              <a:srgbClr val="8E6F3E"/>
            </a:solidFill>
            <a:tailEnd type="triangle" w="med" len="med"/>
          </a:ln>
        </p:spPr>
        <p:txBody>
          <a:bodyPr/>
          <a:lstStyle/>
          <a:p>
            <a:endParaRPr lang="en-US"/>
          </a:p>
        </p:txBody>
      </p:sp>
      <p:sp>
        <p:nvSpPr>
          <p:cNvPr id="140" name="T140"/>
          <p:cNvSpPr txBox="1"/>
          <p:nvPr/>
        </p:nvSpPr>
        <p:spPr>
          <a:xfrm>
            <a:off x="800000" y="4440000"/>
            <a:ext cx="7540000" cy="420000"/>
          </a:xfrm>
          <a:prstGeom prst="rect">
            <a:avLst/>
          </a:prstGeom>
          <a:noFill/>
          <a:ln>
            <a:noFill/>
          </a:ln>
        </p:spPr>
        <p:txBody>
          <a:bodyPr wrap="square" lIns="0" tIns="0" rIns="0" bIns="0" anchor="t"/>
          <a:lstStyle/>
          <a:p>
            <a:pPr algn="ctr">
              <a:buNone/>
            </a:pPr>
            <a:r>
              <a:rPr lang="en-US" sz="1500" b="0" i="1" dirty="0">
                <a:solidFill>
                  <a:srgbClr val="555960"/>
                </a:solidFill>
              </a:rPr>
              <a:t>Two branches on different assumptions catch each other's mistakes. Ten thousand tests on ONE interpretation are one reason, repeated.</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agent can cheaply produce 10,000 tests.</a:t>
            </a:r>
          </a:p>
          <a:p>
            <a:pPr algn="ctr">
              <a:spcBef>
                <a:spcPts val="60"/>
              </a:spcBef>
              <a:buNone/>
            </a:pPr>
            <a:r>
              <a:rPr lang="en-US" sz="2000" b="1" i="0" dirty="0">
                <a:solidFill>
                  <a:srgbClr val="FFFFFF"/>
                </a:solidFill>
              </a:rPr>
              <a:t>If all inherit the same mistaken interpretation, what did we learn?</a:t>
            </a:r>
          </a:p>
        </p:txBody>
      </p:sp>
      <p:sp>
        <p:nvSpPr>
          <p:cNvPr id="190" name="T190"/>
          <p:cNvSpPr txBox="1"/>
          <p:nvPr/>
        </p:nvSpPr>
        <p:spPr>
          <a:xfrm>
            <a:off x="566928" y="4983480"/>
            <a:ext cx="8010144" cy="548640"/>
          </a:xfrm>
          <a:prstGeom prst="rect">
            <a:avLst/>
          </a:prstGeom>
          <a:noFill/>
        </p:spPr>
        <p:txBody>
          <a:bodyPr wrap="square" lIns="0" tIns="0" rIns="0" bIns="0" anchor="t"/>
          <a:lstStyle/>
          <a:p>
            <a:pPr algn="ctr">
              <a:buNone/>
            </a:pPr>
            <a:r>
              <a:rPr lang="en-US" sz="1550" b="0" i="1" dirty="0">
                <a:solidFill>
                  <a:srgbClr val="555960"/>
                </a:solidFill>
              </a:rPr>
              <a:t>Section 3's MAGE Moment was about the CAPACITY of a mechanism: human attention runs out.</a:t>
            </a:r>
          </a:p>
          <a:p>
            <a:pPr algn="ctr">
              <a:spcBef>
                <a:spcPts val="80"/>
              </a:spcBef>
              <a:buNone/>
            </a:pPr>
            <a:r>
              <a:rPr lang="en-US" sz="1550" b="0" i="1" dirty="0">
                <a:solidFill>
                  <a:srgbClr val="555960"/>
                </a:solidFill>
              </a:rPr>
              <a:t>This one is about the STRENGTH of evidence: volume is not independence.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When is the evidence enough?</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T100"/>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6</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02" name="T102"/>
          <p:cNvSpPr txBox="1"/>
          <p:nvPr/>
        </p:nvSpPr>
        <p:spPr>
          <a:xfrm>
            <a:off x="685800" y="3886200"/>
            <a:ext cx="7772400" cy="1100000"/>
          </a:xfrm>
          <a:prstGeom prst="rect">
            <a:avLst/>
          </a:prstGeom>
          <a:noFill/>
          <a:ln>
            <a:noFill/>
          </a:ln>
        </p:spPr>
        <p:txBody>
          <a:bodyPr wrap="square" lIns="0" tIns="0" rIns="0" bIns="0" anchor="t"/>
          <a:lstStyle/>
          <a:p>
            <a:pPr algn="ctr">
              <a:buNone/>
            </a:pPr>
            <a:r>
              <a:rPr lang="en-US" sz="2200" b="0" i="1" dirty="0">
                <a:solidFill>
                  <a:srgbClr val="555960"/>
                </a:solidFill>
              </a:rPr>
              <a:t>Judge margin, containment, and residual uncertainty against what is at stake.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Enough is judged against what is at stake</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P100"/>
          <p:cNvSpPr/>
          <p:nvPr/>
        </p:nvSpPr>
        <p:spPr>
          <a:xfrm>
            <a:off x="680000" y="112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50" b="1" i="0" dirty="0">
                <a:solidFill>
                  <a:srgbClr val="000000"/>
                </a:solidFill>
              </a:rPr>
              <a:t>Evidence is judged against consequence.</a:t>
            </a:r>
          </a:p>
          <a:p>
            <a:pPr algn="ctr">
              <a:spcBef>
                <a:spcPts val="120"/>
              </a:spcBef>
              <a:buNone/>
            </a:pPr>
            <a:r>
              <a:rPr lang="en-US" sz="1600" b="0" i="0" dirty="0">
                <a:solidFill>
                  <a:srgbClr val="000000"/>
                </a:solidFill>
              </a:rPr>
              <a:t>The same residual uncertainty can justify delivery for a scratchpad and forbid it for a medical device.</a:t>
            </a:r>
          </a:p>
        </p:txBody>
      </p:sp>
      <p:sp>
        <p:nvSpPr>
          <p:cNvPr id="101" name="P101"/>
          <p:cNvSpPr/>
          <p:nvPr/>
        </p:nvSpPr>
        <p:spPr>
          <a:xfrm>
            <a:off x="680000" y="228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50" b="1" i="0" dirty="0">
                <a:solidFill>
                  <a:srgbClr val="000000"/>
                </a:solidFill>
              </a:rPr>
              <a:t>Some uncertainty is resolved after delivery.</a:t>
            </a:r>
          </a:p>
          <a:p>
            <a:pPr algn="ctr">
              <a:spcBef>
                <a:spcPts val="120"/>
              </a:spcBef>
              <a:buNone/>
            </a:pPr>
            <a:r>
              <a:rPr lang="en-US" sz="1600" b="0" i="0" dirty="0">
                <a:solidFill>
                  <a:srgbClr val="000000"/>
                </a:solidFill>
              </a:rPr>
              <a:t>Use in the real environment generates knowledge that would have been expensive, or even impossible, to obtain before delivery.</a:t>
            </a:r>
          </a:p>
        </p:txBody>
      </p:sp>
      <p:sp>
        <p:nvSpPr>
          <p:cNvPr id="102" name="P102"/>
          <p:cNvSpPr/>
          <p:nvPr/>
        </p:nvSpPr>
        <p:spPr>
          <a:xfrm>
            <a:off x="680000" y="344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50" b="1" i="0" dirty="0">
                <a:solidFill>
                  <a:srgbClr val="000000"/>
                </a:solidFill>
              </a:rPr>
              <a:t>Operational evidence can reopen the decision.</a:t>
            </a:r>
          </a:p>
          <a:p>
            <a:pPr algn="ctr">
              <a:spcBef>
                <a:spcPts val="120"/>
              </a:spcBef>
              <a:buNone/>
            </a:pPr>
            <a:r>
              <a:rPr lang="en-US" sz="1600" b="0" i="0" dirty="0">
                <a:solidFill>
                  <a:srgbClr val="000000"/>
                </a:solidFill>
              </a:rPr>
              <a:t>A justification made under an old state of knowledge cannot simply be reused under a new one.</a:t>
            </a:r>
          </a:p>
        </p:txBody>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Validation does not end at first delivery — evidence keeps arriving.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Passing the threshold is not the same as having margin</a:t>
            </a:r>
          </a:p>
        </p:txBody>
      </p:sp>
      <p:sp>
        <p:nvSpPr>
          <p:cNvPr id="3" name="Slide Number Placeholder 3"/>
          <p:cNvSpPr>
            <a:spLocks noGrp="1"/>
          </p:cNvSpPr>
          <p:nvPr>
            <p:ph type="sldNum" sz="quarter" idx="4"/>
          </p:nvPr>
        </p:nvSpPr>
        <p:spPr/>
        <p:txBody>
          <a:bodyPr/>
          <a:lstStyle/>
          <a:p>
            <a:fld id="{2D8FB91C-FDDC-412A-8E29-887AB79B35D3}" type="slidenum">
              <a:rPr lang="en-US" smtClean="0"/>
              <a:t>1</a:t>
            </a:fld>
            <a:endParaRPr lang="en-US"/>
          </a:p>
        </p:txBody>
      </p:sp>
      <p:sp>
        <p:nvSpPr>
          <p:cNvPr id="100" name="P100"/>
          <p:cNvSpPr/>
          <p:nvPr/>
        </p:nvSpPr>
        <p:spPr>
          <a:xfrm>
            <a:off x="566928" y="932688"/>
            <a:ext cx="8010144"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50" b="1" i="0" dirty="0">
                <a:solidFill>
                  <a:srgbClr val="5C4826"/>
                </a:solidFill>
              </a:rPr>
              <a:t>SPECIFICATION: p99 latency ≤ 500 ms</a:t>
            </a:r>
          </a:p>
        </p:txBody>
      </p:sp>
      <p:sp>
        <p:nvSpPr>
          <p:cNvPr id="200" name="T200"/>
          <p:cNvSpPr txBox="1"/>
          <p:nvPr/>
        </p:nvSpPr>
        <p:spPr>
          <a:xfrm>
            <a:off x="3379988" y="1536192"/>
            <a:ext cx="2697480" cy="274320"/>
          </a:xfrm>
          <a:prstGeom prst="rect">
            <a:avLst/>
          </a:prstGeom>
          <a:noFill/>
        </p:spPr>
        <p:txBody>
          <a:bodyPr wrap="square" lIns="0" tIns="0" rIns="0" bIns="0" anchor="t"/>
          <a:lstStyle/>
          <a:p>
            <a:pPr algn="r">
              <a:buNone/>
            </a:pPr>
            <a:r>
              <a:rPr lang="en-US" sz="1550" b="1" i="0" dirty="0">
                <a:solidFill>
                  <a:srgbClr val="5C4826"/>
                </a:solidFill>
              </a:rPr>
              <a:t>measured: 420 ms</a:t>
            </a:r>
          </a:p>
        </p:txBody>
      </p:sp>
      <p:sp>
        <p:nvSpPr>
          <p:cNvPr id="201" name="R201"/>
          <p:cNvSpPr/>
          <p:nvPr/>
        </p:nvSpPr>
        <p:spPr>
          <a:xfrm>
            <a:off x="822960" y="1920240"/>
            <a:ext cx="6400800" cy="155448"/>
          </a:xfrm>
          <a:prstGeom prst="rect">
            <a:avLst/>
          </a:prstGeom>
          <a:solidFill>
            <a:srgbClr val="F5F1E8"/>
          </a:solidFill>
          <a:ln w="12700">
            <a:solidFill>
              <a:srgbClr val="C9B991"/>
            </a:solidFill>
          </a:ln>
        </p:spPr>
        <p:txBody>
          <a:bodyPr wrap="square" lIns="91440" tIns="45720" rIns="91440" bIns="45720" anchor="ctr"/>
          <a:lstStyle/>
          <a:p>
            <a:pPr>
              <a:buNone/>
            </a:pPr>
          </a:p>
        </p:txBody>
      </p:sp>
      <p:sp>
        <p:nvSpPr>
          <p:cNvPr id="202" name="R202"/>
          <p:cNvSpPr/>
          <p:nvPr/>
        </p:nvSpPr>
        <p:spPr>
          <a:xfrm>
            <a:off x="7287768" y="1920240"/>
            <a:ext cx="1289304" cy="155448"/>
          </a:xfrm>
          <a:prstGeom prst="rect">
            <a:avLst/>
          </a:prstGeom>
          <a:solidFill>
            <a:srgbClr val="5C4826"/>
          </a:solidFill>
          <a:ln>
            <a:noFill/>
          </a:ln>
        </p:spPr>
        <p:txBody>
          <a:bodyPr wrap="square" lIns="91440" tIns="45720" rIns="91440" bIns="45720" anchor="ctr"/>
          <a:lstStyle/>
          <a:p>
            <a:pPr>
              <a:buNone/>
            </a:pPr>
          </a:p>
        </p:txBody>
      </p:sp>
      <p:sp>
        <p:nvSpPr>
          <p:cNvPr id="203" name="R203"/>
          <p:cNvSpPr/>
          <p:nvPr/>
        </p:nvSpPr>
        <p:spPr>
          <a:xfrm>
            <a:off x="7187184" y="1773936"/>
            <a:ext cx="82296" cy="448056"/>
          </a:xfrm>
          <a:prstGeom prst="rect">
            <a:avLst/>
          </a:prstGeom>
          <a:solidFill>
            <a:srgbClr val="8E6F3E"/>
          </a:solidFill>
          <a:ln>
            <a:noFill/>
          </a:ln>
        </p:spPr>
        <p:txBody>
          <a:bodyPr wrap="square" lIns="91440" tIns="45720" rIns="91440" bIns="45720" anchor="ctr"/>
          <a:lstStyle/>
          <a:p>
            <a:pPr>
              <a:buNone/>
            </a:pPr>
          </a:p>
        </p:txBody>
      </p:sp>
      <p:sp>
        <p:nvSpPr>
          <p:cNvPr id="204" name="M204"/>
          <p:cNvSpPr/>
          <p:nvPr/>
        </p:nvSpPr>
        <p:spPr>
          <a:xfrm>
            <a:off x="6168908" y="1819656"/>
            <a:ext cx="73152" cy="356616"/>
          </a:xfrm>
          <a:prstGeom prst="rect">
            <a:avLst/>
          </a:prstGeom>
          <a:solidFill>
            <a:srgbClr val="8E6F3E"/>
          </a:solidFill>
          <a:ln>
            <a:noFill/>
          </a:ln>
        </p:spPr>
        <p:txBody>
          <a:bodyPr wrap="square" lIns="91440" tIns="45720" rIns="91440" bIns="45720" anchor="ctr"/>
          <a:lstStyle/>
          <a:p>
            <a:pPr>
              <a:buNone/>
            </a:pPr>
          </a:p>
        </p:txBody>
      </p:sp>
      <p:sp>
        <p:nvSpPr>
          <p:cNvPr id="205" name="T205"/>
          <p:cNvSpPr txBox="1"/>
          <p:nvPr/>
        </p:nvSpPr>
        <p:spPr>
          <a:xfrm>
            <a:off x="868680" y="2139696"/>
            <a:ext cx="1463040" cy="256032"/>
          </a:xfrm>
          <a:prstGeom prst="rect">
            <a:avLst/>
          </a:prstGeom>
          <a:noFill/>
        </p:spPr>
        <p:txBody>
          <a:bodyPr wrap="square" lIns="0" tIns="0" rIns="0" bIns="0" anchor="t"/>
          <a:lstStyle/>
          <a:p>
            <a:pPr algn="l">
              <a:buNone/>
            </a:pPr>
            <a:r>
              <a:rPr lang="en-US" sz="1350" b="1" i="0" dirty="0">
                <a:solidFill>
                  <a:srgbClr val="57534E"/>
                </a:solidFill>
              </a:rPr>
              <a:t>GOOD</a:t>
            </a:r>
          </a:p>
        </p:txBody>
      </p:sp>
      <p:sp>
        <p:nvSpPr>
          <p:cNvPr id="206" name="T206"/>
          <p:cNvSpPr txBox="1"/>
          <p:nvPr/>
        </p:nvSpPr>
        <p:spPr>
          <a:xfrm>
            <a:off x="7287768" y="2139696"/>
            <a:ext cx="1289304" cy="256032"/>
          </a:xfrm>
          <a:prstGeom prst="rect">
            <a:avLst/>
          </a:prstGeom>
          <a:noFill/>
        </p:spPr>
        <p:txBody>
          <a:bodyPr wrap="square" lIns="0" tIns="0" rIns="0" bIns="0" anchor="t"/>
          <a:lstStyle/>
          <a:p>
            <a:pPr algn="ctr">
              <a:buNone/>
            </a:pPr>
            <a:r>
              <a:rPr lang="en-US" sz="1350" b="1" i="0" dirty="0">
                <a:solidFill>
                  <a:srgbClr val="5C4826"/>
                </a:solidFill>
              </a:rPr>
              <a:t>FAILURE</a:t>
            </a:r>
          </a:p>
        </p:txBody>
      </p:sp>
      <p:sp>
        <p:nvSpPr>
          <p:cNvPr id="207" name="T207"/>
          <p:cNvSpPr txBox="1"/>
          <p:nvPr/>
        </p:nvSpPr>
        <p:spPr>
          <a:xfrm>
            <a:off x="6766560" y="1536192"/>
            <a:ext cx="914400" cy="256032"/>
          </a:xfrm>
          <a:prstGeom prst="rect">
            <a:avLst/>
          </a:prstGeom>
          <a:noFill/>
        </p:spPr>
        <p:txBody>
          <a:bodyPr wrap="square" lIns="0" tIns="0" rIns="0" bIns="0" anchor="t"/>
          <a:lstStyle/>
          <a:p>
            <a:pPr algn="ctr">
              <a:buNone/>
            </a:pPr>
            <a:r>
              <a:rPr lang="en-US" sz="1350" b="1" i="0" dirty="0">
                <a:solidFill>
                  <a:srgbClr val="8E6F3E"/>
                </a:solidFill>
              </a:rPr>
              <a:t>limit</a:t>
            </a:r>
          </a:p>
        </p:txBody>
      </p:sp>
      <p:sp>
        <p:nvSpPr>
          <p:cNvPr id="208" name="T208"/>
          <p:cNvSpPr txBox="1"/>
          <p:nvPr/>
        </p:nvSpPr>
        <p:spPr>
          <a:xfrm>
            <a:off x="3379988" y="2304288"/>
            <a:ext cx="2697480" cy="274320"/>
          </a:xfrm>
          <a:prstGeom prst="rect">
            <a:avLst/>
          </a:prstGeom>
          <a:noFill/>
        </p:spPr>
        <p:txBody>
          <a:bodyPr wrap="square" lIns="0" tIns="0" rIns="0" bIns="0" anchor="t"/>
          <a:lstStyle/>
          <a:p>
            <a:pPr algn="r">
              <a:buNone/>
            </a:pPr>
            <a:r>
              <a:rPr lang="en-US" sz="1500" b="0" i="1" dirty="0">
                <a:solidFill>
                  <a:srgbClr val="555960"/>
                </a:solidFill>
              </a:rPr>
              <a:t>80 ms of observed margin</a:t>
            </a:r>
          </a:p>
        </p:txBody>
      </p:sp>
      <p:sp>
        <p:nvSpPr>
          <p:cNvPr id="300" name="T300"/>
          <p:cNvSpPr txBox="1"/>
          <p:nvPr/>
        </p:nvSpPr>
        <p:spPr>
          <a:xfrm>
            <a:off x="4385536" y="2679192"/>
            <a:ext cx="2697480" cy="274320"/>
          </a:xfrm>
          <a:prstGeom prst="rect">
            <a:avLst/>
          </a:prstGeom>
          <a:noFill/>
        </p:spPr>
        <p:txBody>
          <a:bodyPr wrap="square" lIns="0" tIns="0" rIns="0" bIns="0" anchor="t"/>
          <a:lstStyle/>
          <a:p>
            <a:pPr algn="r">
              <a:buNone/>
            </a:pPr>
            <a:r>
              <a:rPr lang="en-US" sz="1550" b="1" i="0" dirty="0">
                <a:solidFill>
                  <a:srgbClr val="5C4826"/>
                </a:solidFill>
              </a:rPr>
              <a:t>measured: 499 ms</a:t>
            </a:r>
          </a:p>
        </p:txBody>
      </p:sp>
      <p:sp>
        <p:nvSpPr>
          <p:cNvPr id="301" name="R301"/>
          <p:cNvSpPr/>
          <p:nvPr/>
        </p:nvSpPr>
        <p:spPr>
          <a:xfrm>
            <a:off x="822960" y="3063240"/>
            <a:ext cx="6400800" cy="155448"/>
          </a:xfrm>
          <a:prstGeom prst="rect">
            <a:avLst/>
          </a:prstGeom>
          <a:solidFill>
            <a:srgbClr val="F5F1E8"/>
          </a:solidFill>
          <a:ln w="12700">
            <a:solidFill>
              <a:srgbClr val="C9B991"/>
            </a:solidFill>
          </a:ln>
        </p:spPr>
        <p:txBody>
          <a:bodyPr wrap="square" lIns="91440" tIns="45720" rIns="91440" bIns="45720" anchor="ctr"/>
          <a:lstStyle/>
          <a:p>
            <a:pPr>
              <a:buNone/>
            </a:pPr>
          </a:p>
        </p:txBody>
      </p:sp>
      <p:sp>
        <p:nvSpPr>
          <p:cNvPr id="302" name="R302"/>
          <p:cNvSpPr/>
          <p:nvPr/>
        </p:nvSpPr>
        <p:spPr>
          <a:xfrm>
            <a:off x="7287768" y="3063240"/>
            <a:ext cx="1289304" cy="155448"/>
          </a:xfrm>
          <a:prstGeom prst="rect">
            <a:avLst/>
          </a:prstGeom>
          <a:solidFill>
            <a:srgbClr val="5C4826"/>
          </a:solidFill>
          <a:ln>
            <a:noFill/>
          </a:ln>
        </p:spPr>
        <p:txBody>
          <a:bodyPr wrap="square" lIns="91440" tIns="45720" rIns="91440" bIns="45720" anchor="ctr"/>
          <a:lstStyle/>
          <a:p>
            <a:pPr>
              <a:buNone/>
            </a:pPr>
          </a:p>
        </p:txBody>
      </p:sp>
      <p:sp>
        <p:nvSpPr>
          <p:cNvPr id="303" name="R303"/>
          <p:cNvSpPr/>
          <p:nvPr/>
        </p:nvSpPr>
        <p:spPr>
          <a:xfrm>
            <a:off x="7187184" y="2916936"/>
            <a:ext cx="82296" cy="448056"/>
          </a:xfrm>
          <a:prstGeom prst="rect">
            <a:avLst/>
          </a:prstGeom>
          <a:solidFill>
            <a:srgbClr val="8E6F3E"/>
          </a:solidFill>
          <a:ln>
            <a:noFill/>
          </a:ln>
        </p:spPr>
        <p:txBody>
          <a:bodyPr wrap="square" lIns="91440" tIns="45720" rIns="91440" bIns="45720" anchor="ctr"/>
          <a:lstStyle/>
          <a:p>
            <a:pPr>
              <a:buNone/>
            </a:pPr>
          </a:p>
        </p:txBody>
      </p:sp>
      <p:sp>
        <p:nvSpPr>
          <p:cNvPr id="304" name="M304"/>
          <p:cNvSpPr/>
          <p:nvPr/>
        </p:nvSpPr>
        <p:spPr>
          <a:xfrm>
            <a:off x="7174456" y="2962656"/>
            <a:ext cx="73152" cy="356616"/>
          </a:xfrm>
          <a:prstGeom prst="rect">
            <a:avLst/>
          </a:prstGeom>
          <a:solidFill>
            <a:srgbClr val="5C4826"/>
          </a:solidFill>
          <a:ln>
            <a:noFill/>
          </a:ln>
        </p:spPr>
        <p:txBody>
          <a:bodyPr wrap="square" lIns="91440" tIns="45720" rIns="91440" bIns="45720" anchor="ctr"/>
          <a:lstStyle/>
          <a:p>
            <a:pPr>
              <a:buNone/>
            </a:pPr>
          </a:p>
        </p:txBody>
      </p:sp>
      <p:sp>
        <p:nvSpPr>
          <p:cNvPr id="305" name="T305"/>
          <p:cNvSpPr txBox="1"/>
          <p:nvPr/>
        </p:nvSpPr>
        <p:spPr>
          <a:xfrm>
            <a:off x="868680" y="3282696"/>
            <a:ext cx="1463040" cy="256032"/>
          </a:xfrm>
          <a:prstGeom prst="rect">
            <a:avLst/>
          </a:prstGeom>
          <a:noFill/>
        </p:spPr>
        <p:txBody>
          <a:bodyPr wrap="square" lIns="0" tIns="0" rIns="0" bIns="0" anchor="t"/>
          <a:lstStyle/>
          <a:p>
            <a:pPr algn="l">
              <a:buNone/>
            </a:pPr>
            <a:r>
              <a:rPr lang="en-US" sz="1350" b="1" i="0" dirty="0">
                <a:solidFill>
                  <a:srgbClr val="57534E"/>
                </a:solidFill>
              </a:rPr>
              <a:t>GOOD</a:t>
            </a:r>
          </a:p>
        </p:txBody>
      </p:sp>
      <p:sp>
        <p:nvSpPr>
          <p:cNvPr id="306" name="T306"/>
          <p:cNvSpPr txBox="1"/>
          <p:nvPr/>
        </p:nvSpPr>
        <p:spPr>
          <a:xfrm>
            <a:off x="7287768" y="3282696"/>
            <a:ext cx="1289304" cy="256032"/>
          </a:xfrm>
          <a:prstGeom prst="rect">
            <a:avLst/>
          </a:prstGeom>
          <a:noFill/>
        </p:spPr>
        <p:txBody>
          <a:bodyPr wrap="square" lIns="0" tIns="0" rIns="0" bIns="0" anchor="t"/>
          <a:lstStyle/>
          <a:p>
            <a:pPr algn="ctr">
              <a:buNone/>
            </a:pPr>
            <a:r>
              <a:rPr lang="en-US" sz="1350" b="1" i="0" dirty="0">
                <a:solidFill>
                  <a:srgbClr val="5C4826"/>
                </a:solidFill>
              </a:rPr>
              <a:t>FAILURE</a:t>
            </a:r>
          </a:p>
        </p:txBody>
      </p:sp>
      <p:sp>
        <p:nvSpPr>
          <p:cNvPr id="308" name="T308"/>
          <p:cNvSpPr txBox="1"/>
          <p:nvPr/>
        </p:nvSpPr>
        <p:spPr>
          <a:xfrm>
            <a:off x="4385536" y="3447288"/>
            <a:ext cx="2697480" cy="274320"/>
          </a:xfrm>
          <a:prstGeom prst="rect">
            <a:avLst/>
          </a:prstGeom>
          <a:noFill/>
        </p:spPr>
        <p:txBody>
          <a:bodyPr wrap="square" lIns="0" tIns="0" rIns="0" bIns="0" anchor="t"/>
          <a:lstStyle/>
          <a:p>
            <a:pPr algn="r">
              <a:buNone/>
            </a:pPr>
            <a:r>
              <a:rPr lang="en-US" sz="1500" b="0" i="1" dirty="0">
                <a:solidFill>
                  <a:srgbClr val="555960"/>
                </a:solidFill>
              </a:rPr>
              <a:t>1 ms of observed margin</a:t>
            </a:r>
          </a:p>
        </p:txBody>
      </p:sp>
      <p:sp>
        <p:nvSpPr>
          <p:cNvPr id="140" name="E140"/>
          <p:cNvSpPr/>
          <p:nvPr/>
        </p:nvSpPr>
        <p:spPr>
          <a:xfrm>
            <a:off x="566928" y="3886200"/>
            <a:ext cx="8010144" cy="7772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1" i="0" dirty="0">
                <a:solidFill>
                  <a:srgbClr val="5C4826"/>
                </a:solidFill>
              </a:rPr>
              <a:t>Both are green. Is 499 ms equally strong evidence that we are ready?</a:t>
            </a:r>
          </a:p>
        </p:txBody>
      </p:sp>
      <p:sp>
        <p:nvSpPr>
          <p:cNvPr id="150" name="T150"/>
          <p:cNvSpPr txBox="1"/>
          <p:nvPr/>
        </p:nvSpPr>
        <p:spPr>
          <a:xfrm>
            <a:off x="566928" y="4828032"/>
            <a:ext cx="8010144" cy="685800"/>
          </a:xfrm>
          <a:prstGeom prst="rect">
            <a:avLst/>
          </a:prstGeom>
          <a:noFill/>
        </p:spPr>
        <p:txBody>
          <a:bodyPr wrap="square" lIns="0" tIns="0" rIns="0" bIns="0" anchor="t"/>
          <a:lstStyle/>
          <a:p>
            <a:pPr algn="ctr">
              <a:buNone/>
            </a:pPr>
            <a:r>
              <a:rPr lang="en-US" sz="1600" b="0" i="1" dirty="0">
                <a:solidFill>
                  <a:srgbClr val="555960"/>
                </a:solidFill>
              </a:rPr>
              <a:t>The measured separation is not automatically the defensible margin: workloads vary, measurements have spread, forecasts are uncertain, and utilization grows.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asks how much room remains for what we do not know.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Nearby inputs need not produce nearby behaviors</a:t>
            </a:r>
          </a:p>
        </p:txBody>
      </p:sp>
      <p:sp>
        <p:nvSpPr>
          <p:cNvPr id="3" name="Slide Number Placeholder 3"/>
          <p:cNvSpPr>
            <a:spLocks noGrp="1"/>
          </p:cNvSpPr>
          <p:nvPr>
            <p:ph type="sldNum" sz="quarter" idx="4"/>
          </p:nvPr>
        </p:nvSpPr>
        <p:spPr/>
        <p:txBody>
          <a:bodyPr/>
          <a:lstStyle/>
          <a:p>
            <a:fld id="{A402CEF7-5CC7-4843-884F-7A9F8B2B78A6}" type="slidenum">
              <a:rPr lang="en-US" smtClean="0"/>
              <a:t>1</a:t>
            </a:fld>
            <a:endParaRPr lang="en-US"/>
          </a:p>
        </p:txBody>
      </p:sp>
      <p:sp>
        <p:nvSpPr>
          <p:cNvPr id="100" name="B100"/>
          <p:cNvSpPr/>
          <p:nvPr/>
        </p:nvSpPr>
        <p:spPr>
          <a:xfrm>
            <a:off x="566928" y="960120"/>
            <a:ext cx="3931920" cy="4572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PHYSICAL SYSTEM</a:t>
            </a:r>
          </a:p>
        </p:txBody>
      </p:sp>
      <p:sp>
        <p:nvSpPr>
          <p:cNvPr id="101" name="B101"/>
          <p:cNvSpPr/>
          <p:nvPr/>
        </p:nvSpPr>
        <p:spPr>
          <a:xfrm>
            <a:off x="4645152" y="960120"/>
            <a:ext cx="3931920" cy="457200"/>
          </a:xfrm>
          <a:prstGeom prst="rect">
            <a:avLst/>
          </a:prstGeom>
          <a:solidFill>
            <a:srgbClr val="5C4826"/>
          </a:solidFill>
          <a:ln>
            <a:noFill/>
          </a:ln>
        </p:spPr>
        <p:txBody>
          <a:bodyPr wrap="square" lIns="91440" tIns="45720" rIns="91440" bIns="45720" anchor="ctr"/>
          <a:lstStyle/>
          <a:p>
            <a:pPr algn="ctr">
              <a:buNone/>
            </a:pPr>
            <a:r>
              <a:rPr lang="en-US" sz="1500" b="1" i="0" dirty="0">
                <a:solidFill>
                  <a:srgbClr val="FFFFFF"/>
                </a:solidFill>
              </a:rPr>
              <a:t>SOFTWARE SYSTEM</a:t>
            </a:r>
          </a:p>
        </p:txBody>
      </p:sp>
      <p:sp>
        <p:nvSpPr>
          <p:cNvPr id="110" name="R110"/>
          <p:cNvSpPr/>
          <p:nvPr/>
        </p:nvSpPr>
        <p:spPr>
          <a:xfrm>
            <a:off x="749808" y="3108960"/>
            <a:ext cx="530352" cy="274320"/>
          </a:xfrm>
          <a:prstGeom prst="rect">
            <a:avLst/>
          </a:prstGeom>
          <a:solidFill>
            <a:srgbClr val="8E6F3E"/>
          </a:solidFill>
          <a:ln>
            <a:noFill/>
          </a:ln>
        </p:spPr>
        <p:txBody>
          <a:bodyPr wrap="square" lIns="91440" tIns="45720" rIns="91440" bIns="45720" anchor="ctr"/>
          <a:lstStyle/>
          <a:p>
            <a:pPr>
              <a:buNone/>
            </a:pPr>
          </a:p>
        </p:txBody>
      </p:sp>
      <p:sp>
        <p:nvSpPr>
          <p:cNvPr id="111" name="R111"/>
          <p:cNvSpPr/>
          <p:nvPr/>
        </p:nvSpPr>
        <p:spPr>
          <a:xfrm>
            <a:off x="1499616" y="2907792"/>
            <a:ext cx="530352" cy="475488"/>
          </a:xfrm>
          <a:prstGeom prst="rect">
            <a:avLst/>
          </a:prstGeom>
          <a:solidFill>
            <a:srgbClr val="8E6F3E"/>
          </a:solidFill>
          <a:ln>
            <a:noFill/>
          </a:ln>
        </p:spPr>
        <p:txBody>
          <a:bodyPr wrap="square" lIns="91440" tIns="45720" rIns="91440" bIns="45720" anchor="ctr"/>
          <a:lstStyle/>
          <a:p>
            <a:pPr>
              <a:buNone/>
            </a:pPr>
          </a:p>
        </p:txBody>
      </p:sp>
      <p:sp>
        <p:nvSpPr>
          <p:cNvPr id="112" name="R112"/>
          <p:cNvSpPr/>
          <p:nvPr/>
        </p:nvSpPr>
        <p:spPr>
          <a:xfrm>
            <a:off x="2249424" y="2688336"/>
            <a:ext cx="530352" cy="694944"/>
          </a:xfrm>
          <a:prstGeom prst="rect">
            <a:avLst/>
          </a:prstGeom>
          <a:solidFill>
            <a:srgbClr val="8E6F3E"/>
          </a:solidFill>
          <a:ln>
            <a:noFill/>
          </a:ln>
        </p:spPr>
        <p:txBody>
          <a:bodyPr wrap="square" lIns="91440" tIns="45720" rIns="91440" bIns="45720" anchor="ctr"/>
          <a:lstStyle/>
          <a:p>
            <a:pPr>
              <a:buNone/>
            </a:pPr>
          </a:p>
        </p:txBody>
      </p:sp>
      <p:sp>
        <p:nvSpPr>
          <p:cNvPr id="113" name="R113"/>
          <p:cNvSpPr/>
          <p:nvPr/>
        </p:nvSpPr>
        <p:spPr>
          <a:xfrm>
            <a:off x="2999232" y="2450592"/>
            <a:ext cx="530352" cy="932688"/>
          </a:xfrm>
          <a:prstGeom prst="rect">
            <a:avLst/>
          </a:prstGeom>
          <a:solidFill>
            <a:srgbClr val="8E6F3E"/>
          </a:solidFill>
          <a:ln>
            <a:noFill/>
          </a:ln>
        </p:spPr>
        <p:txBody>
          <a:bodyPr wrap="square" lIns="91440" tIns="45720" rIns="91440" bIns="45720" anchor="ctr"/>
          <a:lstStyle/>
          <a:p>
            <a:pPr>
              <a:buNone/>
            </a:pPr>
          </a:p>
        </p:txBody>
      </p:sp>
      <p:sp>
        <p:nvSpPr>
          <p:cNvPr id="114" name="R114"/>
          <p:cNvSpPr/>
          <p:nvPr/>
        </p:nvSpPr>
        <p:spPr>
          <a:xfrm>
            <a:off x="3749040" y="2194560"/>
            <a:ext cx="530352" cy="1188720"/>
          </a:xfrm>
          <a:prstGeom prst="rect">
            <a:avLst/>
          </a:prstGeom>
          <a:solidFill>
            <a:srgbClr val="8E6F3E"/>
          </a:solidFill>
          <a:ln>
            <a:noFill/>
          </a:ln>
        </p:spPr>
        <p:txBody>
          <a:bodyPr wrap="square" lIns="91440" tIns="45720" rIns="91440" bIns="45720" anchor="ctr"/>
          <a:lstStyle/>
          <a:p>
            <a:pPr>
              <a:buNone/>
            </a:pPr>
          </a:p>
        </p:txBody>
      </p:sp>
      <p:sp>
        <p:nvSpPr>
          <p:cNvPr id="120" name="L120"/>
          <p:cNvSpPr/>
          <p:nvPr/>
        </p:nvSpPr>
        <p:spPr>
          <a:xfrm>
            <a:off x="749808" y="2084832"/>
            <a:ext cx="3255264" cy="45720"/>
          </a:xfrm>
          <a:prstGeom prst="rect">
            <a:avLst/>
          </a:prstGeom>
          <a:solidFill>
            <a:srgbClr val="5C4826"/>
          </a:solidFill>
          <a:ln>
            <a:noFill/>
          </a:ln>
        </p:spPr>
        <p:txBody>
          <a:bodyPr wrap="square" lIns="91440" tIns="45720" rIns="91440" bIns="45720" anchor="ctr"/>
          <a:lstStyle/>
          <a:p>
            <a:pPr>
              <a:buNone/>
            </a:pPr>
          </a:p>
        </p:txBody>
      </p:sp>
      <p:sp>
        <p:nvSpPr>
          <p:cNvPr id="121" name="T121"/>
          <p:cNvSpPr txBox="1"/>
          <p:nvPr/>
        </p:nvSpPr>
        <p:spPr>
          <a:xfrm>
            <a:off x="749808" y="1828800"/>
            <a:ext cx="3255264" cy="237744"/>
          </a:xfrm>
          <a:prstGeom prst="rect">
            <a:avLst/>
          </a:prstGeom>
          <a:noFill/>
        </p:spPr>
        <p:txBody>
          <a:bodyPr wrap="square" lIns="0" tIns="0" rIns="0" bIns="0" anchor="t"/>
          <a:lstStyle/>
          <a:p>
            <a:pPr algn="l">
              <a:buNone/>
            </a:pPr>
            <a:r>
              <a:rPr lang="en-US" sz="1350" b="1" i="0" dirty="0">
                <a:solidFill>
                  <a:srgbClr val="5C4826"/>
                </a:solidFill>
              </a:rPr>
              <a:t>limit</a:t>
            </a:r>
          </a:p>
        </p:txBody>
      </p:sp>
      <p:sp>
        <p:nvSpPr>
          <p:cNvPr id="122" name="T122"/>
          <p:cNvSpPr txBox="1"/>
          <p:nvPr/>
        </p:nvSpPr>
        <p:spPr>
          <a:xfrm>
            <a:off x="566928" y="3474720"/>
            <a:ext cx="3931920" cy="512064"/>
          </a:xfrm>
          <a:prstGeom prst="rect">
            <a:avLst/>
          </a:prstGeom>
          <a:noFill/>
        </p:spPr>
        <p:txBody>
          <a:bodyPr wrap="square" lIns="0" tIns="0" rIns="0" bIns="0" anchor="t"/>
          <a:lstStyle/>
          <a:p>
            <a:pPr algn="ctr">
              <a:buNone/>
            </a:pPr>
            <a:r>
              <a:rPr lang="en-US" sz="1450" b="0" i="1" dirty="0">
                <a:solidFill>
                  <a:srgbClr val="555960"/>
                </a:solidFill>
              </a:rPr>
              <a:t>a little more load, a little more deflection — the response moves in proportion</a:t>
            </a:r>
          </a:p>
        </p:txBody>
      </p:sp>
      <p:sp>
        <p:nvSpPr>
          <p:cNvPr id="130" name="P130"/>
          <p:cNvSpPr/>
          <p:nvPr/>
        </p:nvSpPr>
        <p:spPr>
          <a:xfrm>
            <a:off x="4645152" y="1572768"/>
            <a:ext cx="155448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0" dirty="0">
                <a:solidFill>
                  <a:srgbClr val="5C4826"/>
                </a:solidFill>
              </a:rPr>
              <a:t>input A</a:t>
            </a:r>
          </a:p>
        </p:txBody>
      </p:sp>
      <p:cxnSp>
        <p:nvCxnSpPr>
          <p:cNvPr id="131" name="C131"/>
          <p:cNvCxnSpPr/>
          <p:nvPr/>
        </p:nvCxnSpPr>
        <p:spPr>
          <a:xfrm>
            <a:off x="6263640" y="1819656"/>
            <a:ext cx="384048" cy="0"/>
          </a:xfrm>
          <a:prstGeom prst="straightConnector1">
            <a:avLst/>
          </a:prstGeom>
          <a:ln w="38100">
            <a:solidFill>
              <a:srgbClr val="8E6F3E"/>
            </a:solidFill>
            <a:tailEnd type="triangle" w="med" len="med"/>
          </a:ln>
        </p:spPr>
      </p:cxnSp>
      <p:sp>
        <p:nvSpPr>
          <p:cNvPr id="132" name="P132"/>
          <p:cNvSpPr/>
          <p:nvPr/>
        </p:nvSpPr>
        <p:spPr>
          <a:xfrm>
            <a:off x="6766560" y="1572768"/>
            <a:ext cx="1810512"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0" dirty="0">
                <a:solidFill>
                  <a:srgbClr val="5C4826"/>
                </a:solidFill>
              </a:rPr>
              <a:t>correct</a:t>
            </a:r>
          </a:p>
        </p:txBody>
      </p:sp>
      <p:sp>
        <p:nvSpPr>
          <p:cNvPr id="133" name="P133"/>
          <p:cNvSpPr/>
          <p:nvPr/>
        </p:nvSpPr>
        <p:spPr>
          <a:xfrm>
            <a:off x="4645152" y="2487168"/>
            <a:ext cx="1554480" cy="50292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input A′</a:t>
            </a:r>
          </a:p>
        </p:txBody>
      </p:sp>
      <p:cxnSp>
        <p:nvCxnSpPr>
          <p:cNvPr id="134" name="C134"/>
          <p:cNvCxnSpPr/>
          <p:nvPr/>
        </p:nvCxnSpPr>
        <p:spPr>
          <a:xfrm>
            <a:off x="6263640" y="2734056"/>
            <a:ext cx="384048" cy="0"/>
          </a:xfrm>
          <a:prstGeom prst="straightConnector1">
            <a:avLst/>
          </a:prstGeom>
          <a:ln w="38100">
            <a:solidFill>
              <a:srgbClr val="8E6F3E"/>
            </a:solidFill>
            <a:tailEnd type="triangle" w="med" len="med"/>
          </a:ln>
        </p:spPr>
      </p:cxnSp>
      <p:sp>
        <p:nvSpPr>
          <p:cNvPr id="135" name="P135"/>
          <p:cNvSpPr/>
          <p:nvPr/>
        </p:nvSpPr>
        <p:spPr>
          <a:xfrm>
            <a:off x="6766560" y="2432304"/>
            <a:ext cx="1810512" cy="621792"/>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a completely different path</a:t>
            </a:r>
          </a:p>
        </p:txBody>
      </p:sp>
      <p:cxnSp>
        <p:nvCxnSpPr>
          <p:cNvPr id="136" name="C136"/>
          <p:cNvCxnSpPr/>
          <p:nvPr/>
        </p:nvCxnSpPr>
        <p:spPr>
          <a:xfrm>
            <a:off x="7671816" y="3054096"/>
            <a:ext cx="0" cy="292608"/>
          </a:xfrm>
          <a:prstGeom prst="straightConnector1">
            <a:avLst/>
          </a:prstGeom>
          <a:ln w="38100">
            <a:solidFill>
              <a:srgbClr val="8E6F3E"/>
            </a:solidFill>
            <a:tailEnd type="triangle" w="med" len="med"/>
          </a:ln>
        </p:spPr>
      </p:cxnSp>
      <p:sp>
        <p:nvSpPr>
          <p:cNvPr id="137" name="P137"/>
          <p:cNvSpPr/>
          <p:nvPr/>
        </p:nvSpPr>
        <p:spPr>
          <a:xfrm>
            <a:off x="6309360" y="3346704"/>
            <a:ext cx="2267712" cy="530352"/>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1550" b="1" i="0" dirty="0">
                <a:solidFill>
                  <a:srgbClr val="5C4826"/>
                </a:solidFill>
              </a:rPr>
              <a:t>consequential failure</a:t>
            </a:r>
          </a:p>
        </p:txBody>
      </p:sp>
      <p:sp>
        <p:nvSpPr>
          <p:cNvPr id="138" name="T138"/>
          <p:cNvSpPr txBox="1"/>
          <p:nvPr/>
        </p:nvSpPr>
        <p:spPr>
          <a:xfrm>
            <a:off x="4645152" y="3968496"/>
            <a:ext cx="3931920" cy="274320"/>
          </a:xfrm>
          <a:prstGeom prst="rect">
            <a:avLst/>
          </a:prstGeom>
          <a:noFill/>
        </p:spPr>
        <p:txBody>
          <a:bodyPr wrap="square" lIns="0" tIns="0" rIns="0" bIns="0" anchor="t"/>
          <a:lstStyle/>
          <a:p>
            <a:pPr algn="ctr">
              <a:buNone/>
            </a:pPr>
            <a:r>
              <a:rPr lang="en-US" sz="1450" b="0" i="1" dirty="0">
                <a:solidFill>
                  <a:srgbClr val="555960"/>
                </a:solidFill>
              </a:rPr>
              <a:t>one bit apart — the behavior is not</a:t>
            </a:r>
          </a:p>
        </p:txBody>
      </p:sp>
      <p:sp>
        <p:nvSpPr>
          <p:cNvPr id="140" name="P140"/>
          <p:cNvSpPr/>
          <p:nvPr/>
        </p:nvSpPr>
        <p:spPr>
          <a:xfrm>
            <a:off x="566928" y="4434840"/>
            <a:ext cx="2615184" cy="7315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5C4826"/>
                </a:solidFill>
              </a:rPr>
              <a:t>999 → 1000</a:t>
            </a:r>
          </a:p>
          <a:p>
            <a:pPr algn="ctr">
              <a:spcBef>
                <a:spcPts val="60"/>
              </a:spcBef>
              <a:buNone/>
            </a:pPr>
            <a:r>
              <a:rPr lang="en-US" sz="1500" b="0" i="0" dirty="0">
                <a:solidFill>
                  <a:srgbClr val="5C4826"/>
                </a:solidFill>
              </a:rPr>
              <a:t>crosses a boundary</a:t>
            </a:r>
          </a:p>
        </p:txBody>
      </p:sp>
      <p:sp>
        <p:nvSpPr>
          <p:cNvPr id="141" name="P141"/>
          <p:cNvSpPr/>
          <p:nvPr/>
        </p:nvSpPr>
        <p:spPr>
          <a:xfrm>
            <a:off x="3264408" y="4434840"/>
            <a:ext cx="2615184" cy="7315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5C4826"/>
                </a:solidFill>
              </a:rPr>
              <a:t>one missing</a:t>
            </a:r>
          </a:p>
          <a:p>
            <a:pPr algn="ctr">
              <a:spcBef>
                <a:spcPts val="60"/>
              </a:spcBef>
              <a:buNone/>
            </a:pPr>
            <a:r>
              <a:rPr lang="en-US" sz="1500" b="0" i="0" dirty="0">
                <a:solidFill>
                  <a:srgbClr val="5C4826"/>
                </a:solidFill>
              </a:rPr>
              <a:t>authorization check</a:t>
            </a:r>
          </a:p>
        </p:txBody>
      </p:sp>
      <p:sp>
        <p:nvSpPr>
          <p:cNvPr id="142" name="P142"/>
          <p:cNvSpPr/>
          <p:nvPr/>
        </p:nvSpPr>
        <p:spPr>
          <a:xfrm>
            <a:off x="5961888" y="4434840"/>
            <a:ext cx="2615184" cy="7315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5C4826"/>
                </a:solidFill>
              </a:rPr>
              <a:t>one malformed message</a:t>
            </a:r>
          </a:p>
          <a:p>
            <a:pPr algn="ctr">
              <a:spcBef>
                <a:spcPts val="60"/>
              </a:spcBef>
              <a:buNone/>
            </a:pPr>
            <a:r>
              <a:rPr lang="en-US" sz="1500" b="0" i="0" dirty="0">
                <a:solidFill>
                  <a:srgbClr val="5C4826"/>
                </a:solidFill>
              </a:rPr>
              <a:t>reaches an unreachable state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Nature does not leap. Software does.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Controls bound what a failure can reach</a:t>
            </a:r>
          </a:p>
        </p:txBody>
      </p:sp>
      <p:sp>
        <p:nvSpPr>
          <p:cNvPr id="3" name="Slide Number Placeholder 3"/>
          <p:cNvSpPr>
            <a:spLocks noGrp="1"/>
          </p:cNvSpPr>
          <p:nvPr>
            <p:ph type="sldNum" sz="quarter" idx="4"/>
          </p:nvPr>
        </p:nvSpPr>
        <p:spPr/>
        <p:txBody>
          <a:bodyPr/>
          <a:lstStyle/>
          <a:p>
            <a:fld id="{DAAE14EE-199A-451B-AC1F-9B5FB2A103C1}" type="slidenum">
              <a:rPr lang="en-US" smtClean="0"/>
              <a:t>1</a:t>
            </a:fld>
            <a:endParaRPr lang="en-US"/>
          </a:p>
        </p:txBody>
      </p:sp>
      <p:sp>
        <p:nvSpPr>
          <p:cNvPr id="100" name="B100"/>
          <p:cNvSpPr/>
          <p:nvPr/>
        </p:nvSpPr>
        <p:spPr>
          <a:xfrm>
            <a:off x="566928" y="960120"/>
            <a:ext cx="3931920" cy="457200"/>
          </a:xfrm>
          <a:prstGeom prst="rect">
            <a:avLst/>
          </a:prstGeom>
          <a:solidFill>
            <a:srgbClr val="5C4826"/>
          </a:solidFill>
          <a:ln>
            <a:noFill/>
          </a:ln>
        </p:spPr>
        <p:txBody>
          <a:bodyPr wrap="square" lIns="91440" tIns="45720" rIns="91440" bIns="45720" anchor="ctr"/>
          <a:lstStyle/>
          <a:p>
            <a:pPr algn="ctr">
              <a:buNone/>
            </a:pPr>
            <a:r>
              <a:rPr lang="en-US" sz="1500" b="1" i="0" dirty="0">
                <a:solidFill>
                  <a:srgbClr val="FFFFFF"/>
                </a:solidFill>
              </a:rPr>
              <a:t>WITHOUT CONTROLS</a:t>
            </a:r>
          </a:p>
        </p:txBody>
      </p:sp>
      <p:sp>
        <p:nvSpPr>
          <p:cNvPr id="101" name="B101"/>
          <p:cNvSpPr/>
          <p:nvPr/>
        </p:nvSpPr>
        <p:spPr>
          <a:xfrm>
            <a:off x="4645152" y="960120"/>
            <a:ext cx="3931920" cy="4572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WITH CONTROLS</a:t>
            </a:r>
          </a:p>
        </p:txBody>
      </p:sp>
      <p:sp>
        <p:nvSpPr>
          <p:cNvPr id="110" name="P110"/>
          <p:cNvSpPr/>
          <p:nvPr/>
        </p:nvSpPr>
        <p:spPr>
          <a:xfrm>
            <a:off x="566928" y="1536192"/>
            <a:ext cx="3931920" cy="16002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  →  ?  →  ?  →  ?  →  ?</a:t>
            </a:r>
          </a:p>
        </p:txBody>
      </p:sp>
      <p:sp>
        <p:nvSpPr>
          <p:cNvPr id="111" name="B111"/>
          <p:cNvSpPr/>
          <p:nvPr/>
        </p:nvSpPr>
        <p:spPr>
          <a:xfrm>
            <a:off x="777240" y="1691640"/>
            <a:ext cx="1051560" cy="41148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FAULT</a:t>
            </a:r>
          </a:p>
        </p:txBody>
      </p:sp>
      <p:sp>
        <p:nvSpPr>
          <p:cNvPr id="112" name="T112"/>
          <p:cNvSpPr txBox="1"/>
          <p:nvPr/>
        </p:nvSpPr>
        <p:spPr>
          <a:xfrm>
            <a:off x="566928" y="3200400"/>
            <a:ext cx="3931920" cy="274320"/>
          </a:xfrm>
          <a:prstGeom prst="rect">
            <a:avLst/>
          </a:prstGeom>
          <a:noFill/>
        </p:spPr>
        <p:txBody>
          <a:bodyPr wrap="square" lIns="0" tIns="0" rIns="0" bIns="0" anchor="t"/>
          <a:lstStyle/>
          <a:p>
            <a:pPr algn="ctr">
              <a:buNone/>
            </a:pPr>
            <a:r>
              <a:rPr lang="en-US" sz="1600" b="1" i="0" dirty="0">
                <a:solidFill>
                  <a:srgbClr val="5C4826"/>
                </a:solidFill>
              </a:rPr>
              <a:t>unknown blast radius</a:t>
            </a:r>
          </a:p>
        </p:txBody>
      </p:sp>
      <p:sp>
        <p:nvSpPr>
          <p:cNvPr id="120" name="P120"/>
          <p:cNvSpPr/>
          <p:nvPr/>
        </p:nvSpPr>
        <p:spPr>
          <a:xfrm>
            <a:off x="4645152" y="1536192"/>
            <a:ext cx="3931920" cy="1600200"/>
          </a:xfrm>
          <a:prstGeom prst="rect">
            <a:avLst/>
          </a:prstGeom>
          <a:solidFill>
            <a:srgbClr val="F5F1E8"/>
          </a:solidFill>
          <a:ln w="12700">
            <a:solidFill>
              <a:srgbClr val="C9B991"/>
            </a:solidFill>
          </a:ln>
        </p:spPr>
        <p:txBody>
          <a:bodyPr wrap="square" lIns="91440" tIns="45720" rIns="91440" bIns="45720" anchor="ctr"/>
          <a:lstStyle/>
          <a:p>
            <a:pPr>
              <a:buNone/>
            </a:pPr>
          </a:p>
        </p:txBody>
      </p:sp>
      <p:sp>
        <p:nvSpPr>
          <p:cNvPr id="121" name="B121"/>
          <p:cNvSpPr/>
          <p:nvPr/>
        </p:nvSpPr>
        <p:spPr>
          <a:xfrm>
            <a:off x="4846320" y="1691640"/>
            <a:ext cx="1051560" cy="41148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FAULT</a:t>
            </a:r>
          </a:p>
        </p:txBody>
      </p:sp>
      <p:sp>
        <p:nvSpPr>
          <p:cNvPr id="122" name="B122"/>
          <p:cNvSpPr/>
          <p:nvPr/>
        </p:nvSpPr>
        <p:spPr>
          <a:xfrm>
            <a:off x="4846320" y="2194560"/>
            <a:ext cx="1417320" cy="65836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350" b="1" i="0" dirty="0">
                <a:solidFill>
                  <a:srgbClr val="5C4826"/>
                </a:solidFill>
              </a:rPr>
              <a:t>COMPONENT</a:t>
            </a:r>
          </a:p>
        </p:txBody>
      </p:sp>
      <p:sp>
        <p:nvSpPr>
          <p:cNvPr id="123" name="W123"/>
          <p:cNvSpPr/>
          <p:nvPr/>
        </p:nvSpPr>
        <p:spPr>
          <a:xfrm>
            <a:off x="6419088" y="1664208"/>
            <a:ext cx="91440" cy="1325880"/>
          </a:xfrm>
          <a:prstGeom prst="rect">
            <a:avLst/>
          </a:prstGeom>
          <a:solidFill>
            <a:srgbClr val="5C4826"/>
          </a:solidFill>
          <a:ln>
            <a:noFill/>
          </a:ln>
        </p:spPr>
        <p:txBody>
          <a:bodyPr wrap="square" lIns="91440" tIns="45720" rIns="91440" bIns="45720" anchor="ctr"/>
          <a:lstStyle/>
          <a:p>
            <a:pPr>
              <a:buNone/>
            </a:pPr>
          </a:p>
        </p:txBody>
      </p:sp>
      <p:sp>
        <p:nvSpPr>
          <p:cNvPr id="125" name="T125"/>
          <p:cNvSpPr txBox="1"/>
          <p:nvPr/>
        </p:nvSpPr>
        <p:spPr>
          <a:xfrm>
            <a:off x="6236208" y="2048256"/>
            <a:ext cx="457200" cy="384048"/>
          </a:xfrm>
          <a:prstGeom prst="rect">
            <a:avLst/>
          </a:prstGeom>
          <a:noFill/>
        </p:spPr>
        <p:txBody>
          <a:bodyPr wrap="square" lIns="0" tIns="0" rIns="0" bIns="0" anchor="t"/>
          <a:lstStyle/>
          <a:p>
            <a:pPr algn="ctr">
              <a:buNone/>
            </a:pPr>
            <a:r>
              <a:rPr lang="en-US" sz="2400" b="1" i="0" dirty="0">
                <a:solidFill>
                  <a:srgbClr val="FFFFFF"/>
                </a:solidFill>
              </a:rPr>
              <a:t>✕</a:t>
            </a:r>
          </a:p>
        </p:txBody>
      </p:sp>
      <p:sp>
        <p:nvSpPr>
          <p:cNvPr id="126" name="B126"/>
          <p:cNvSpPr/>
          <p:nvPr/>
        </p:nvSpPr>
        <p:spPr>
          <a:xfrm>
            <a:off x="6675120" y="2194560"/>
            <a:ext cx="1719072" cy="658368"/>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50" b="0" i="0" dirty="0">
                <a:solidFill>
                  <a:srgbClr val="5C4826"/>
                </a:solidFill>
              </a:rPr>
              <a:t>rest of the system</a:t>
            </a:r>
          </a:p>
        </p:txBody>
      </p:sp>
      <p:sp>
        <p:nvSpPr>
          <p:cNvPr id="127" name="T127"/>
          <p:cNvSpPr txBox="1"/>
          <p:nvPr/>
        </p:nvSpPr>
        <p:spPr>
          <a:xfrm>
            <a:off x="4645152" y="3200400"/>
            <a:ext cx="3931920" cy="274320"/>
          </a:xfrm>
          <a:prstGeom prst="rect">
            <a:avLst/>
          </a:prstGeom>
          <a:noFill/>
        </p:spPr>
        <p:txBody>
          <a:bodyPr wrap="square" lIns="0" tIns="0" rIns="0" bIns="0" anchor="t"/>
          <a:lstStyle/>
          <a:p>
            <a:pPr algn="ctr">
              <a:buNone/>
            </a:pPr>
            <a:r>
              <a:rPr lang="en-US" sz="1600" b="1" i="0" dirty="0">
                <a:solidFill>
                  <a:srgbClr val="5C4826"/>
                </a:solidFill>
              </a:rPr>
              <a:t>contained at the interface</a:t>
            </a:r>
          </a:p>
        </p:txBody>
      </p:sp>
      <p:sp>
        <p:nvSpPr>
          <p:cNvPr id="130" name="P130"/>
          <p:cNvSpPr/>
          <p:nvPr/>
        </p:nvSpPr>
        <p:spPr>
          <a:xfrm>
            <a:off x="566928" y="3584448"/>
            <a:ext cx="8010144" cy="841248"/>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5C4826"/>
                </a:solidFill>
              </a:rPr>
              <a:t>typed interfaces · process isolation · containers · permissions · resource quotas</a:t>
            </a:r>
          </a:p>
          <a:p>
            <a:pPr algn="ctr">
              <a:spcBef>
                <a:spcPts val="120"/>
              </a:spcBef>
              <a:buNone/>
            </a:pPr>
            <a:r>
              <a:rPr lang="en-US" sz="1600" b="0" i="0" dirty="0">
                <a:solidFill>
                  <a:srgbClr val="5C4826"/>
                </a:solidFill>
              </a:rPr>
              <a:t>transactions · timeouts · circuit breakers · memory safety · staged rollout · rollback</a:t>
            </a:r>
          </a:p>
        </p:txBody>
      </p:sp>
      <p:sp>
        <p:nvSpPr>
          <p:cNvPr id="140" name="E140"/>
          <p:cNvSpPr/>
          <p:nvPr/>
        </p:nvSpPr>
        <p:spPr>
          <a:xfrm>
            <a:off x="566928" y="4572000"/>
            <a:ext cx="8010144" cy="96012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1" i="0" dirty="0">
                <a:solidFill>
                  <a:srgbClr val="5C4826"/>
                </a:solidFill>
              </a:rPr>
              <a:t>Controls do not prevent failure.</a:t>
            </a:r>
          </a:p>
          <a:p>
            <a:pPr algn="ctr">
              <a:spcBef>
                <a:spcPts val="150"/>
              </a:spcBef>
              <a:buNone/>
            </a:pPr>
            <a:r>
              <a:rPr lang="en-US" sz="1650" b="0" i="0" dirty="0">
                <a:solidFill>
                  <a:srgbClr val="5C4826"/>
                </a:solidFill>
              </a:rPr>
              <a:t>They bound its consequences — which is what makes incomplete evidence safer to act on.</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Architecture decides how defensible incomplete validation can be.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Two kinds of uncertainty, two engineering tools</a:t>
            </a:r>
          </a:p>
        </p:txBody>
      </p:sp>
      <p:sp>
        <p:nvSpPr>
          <p:cNvPr id="3" name="Slide Number Placeholder 3"/>
          <p:cNvSpPr>
            <a:spLocks noGrp="1"/>
          </p:cNvSpPr>
          <p:nvPr>
            <p:ph type="sldNum" sz="quarter" idx="4"/>
          </p:nvPr>
        </p:nvSpPr>
        <p:spPr/>
        <p:txBody>
          <a:bodyPr/>
          <a:lstStyle/>
          <a:p>
            <a:fld id="{E1B25A21-F9D6-4AC1-A9CC-96039A3DDC6D}" type="slidenum">
              <a:rPr lang="en-US" smtClean="0"/>
              <a:t>1</a:t>
            </a:fld>
            <a:endParaRPr lang="en-US"/>
          </a:p>
        </p:txBody>
      </p:sp>
      <p:sp>
        <p:nvSpPr>
          <p:cNvPr id="100" name="B100"/>
          <p:cNvSpPr/>
          <p:nvPr/>
        </p:nvSpPr>
        <p:spPr>
          <a:xfrm>
            <a:off x="566928" y="1051560"/>
            <a:ext cx="3931920" cy="502920"/>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QUANTITATIVE BEHAVIOR</a:t>
            </a:r>
          </a:p>
        </p:txBody>
      </p:sp>
      <p:sp>
        <p:nvSpPr>
          <p:cNvPr id="110" name="P110"/>
          <p:cNvSpPr/>
          <p:nvPr/>
        </p:nvSpPr>
        <p:spPr>
          <a:xfrm>
            <a:off x="566928" y="1627632"/>
            <a:ext cx="3931920" cy="10972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500" b="0" i="1" dirty="0">
                <a:solidFill>
                  <a:srgbClr val="555960"/>
                </a:solidFill>
              </a:rPr>
              <a:t>latency · throughput · error rate</a:t>
            </a:r>
          </a:p>
          <a:p>
            <a:pPr algn="ctr">
              <a:spcBef>
                <a:spcPts val="350"/>
              </a:spcBef>
              <a:buNone/>
            </a:pPr>
            <a:r>
              <a:rPr lang="en-US" sz="1750" b="1" i="0" dirty="0">
                <a:solidFill>
                  <a:srgbClr val="5C4826"/>
                </a:solidFill>
              </a:rPr>
              <a:t>What margin separates us from failure?</a:t>
            </a:r>
          </a:p>
        </p:txBody>
      </p:sp>
      <p:sp>
        <p:nvSpPr>
          <p:cNvPr id="101" name="B101"/>
          <p:cNvSpPr/>
          <p:nvPr/>
        </p:nvSpPr>
        <p:spPr>
          <a:xfrm>
            <a:off x="4645152" y="1051560"/>
            <a:ext cx="3931920" cy="502920"/>
          </a:xfrm>
          <a:prstGeom prst="rect">
            <a:avLst/>
          </a:prstGeom>
          <a:solidFill>
            <a:srgbClr val="5C4826"/>
          </a:solidFill>
          <a:ln>
            <a:noFill/>
          </a:ln>
        </p:spPr>
        <p:txBody>
          <a:bodyPr wrap="square" lIns="91440" tIns="45720" rIns="91440" bIns="45720" anchor="ctr"/>
          <a:lstStyle/>
          <a:p>
            <a:pPr algn="ctr">
              <a:buNone/>
            </a:pPr>
            <a:r>
              <a:rPr lang="en-US" sz="1450" b="1" i="0" dirty="0">
                <a:solidFill>
                  <a:srgbClr val="FFFFFF"/>
                </a:solidFill>
              </a:rPr>
              <a:t>DISCRETE, UNANTICIPATED BEHAVIOR</a:t>
            </a:r>
          </a:p>
        </p:txBody>
      </p:sp>
      <p:sp>
        <p:nvSpPr>
          <p:cNvPr id="111" name="P111"/>
          <p:cNvSpPr/>
          <p:nvPr/>
        </p:nvSpPr>
        <p:spPr>
          <a:xfrm>
            <a:off x="4645152" y="1627632"/>
            <a:ext cx="3931920" cy="10972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500" b="0" i="1" dirty="0">
                <a:solidFill>
                  <a:srgbClr val="555960"/>
                </a:solidFill>
              </a:rPr>
              <a:t>an authorization bypass · a duplicate charge</a:t>
            </a:r>
          </a:p>
          <a:p>
            <a:pPr algn="ctr">
              <a:spcBef>
                <a:spcPts val="350"/>
              </a:spcBef>
              <a:buNone/>
            </a:pPr>
            <a:r>
              <a:rPr lang="en-US" sz="1750" b="1" i="0" dirty="0">
                <a:solidFill>
                  <a:srgbClr val="5C4826"/>
                </a:solidFill>
              </a:rPr>
              <a:t>What controls bound the consequence?</a:t>
            </a:r>
          </a:p>
        </p:txBody>
      </p:sp>
      <p:sp>
        <p:nvSpPr>
          <p:cNvPr id="120" name="E120"/>
          <p:cNvSpPr/>
          <p:nvPr/>
        </p:nvSpPr>
        <p:spPr>
          <a:xfrm>
            <a:off x="566928" y="2971800"/>
            <a:ext cx="8010144" cy="9144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850" b="1" i="0" dirty="0">
                <a:solidFill>
                  <a:srgbClr val="5C4826"/>
                </a:solidFill>
              </a:rPr>
              <a:t>There is no numerical distance from a latent authorization bypass.</a:t>
            </a:r>
          </a:p>
          <a:p>
            <a:pPr algn="ctr">
              <a:spcBef>
                <a:spcPts val="150"/>
              </a:spcBef>
              <a:buNone/>
            </a:pPr>
            <a:r>
              <a:rPr lang="en-US" sz="1650" b="0" i="0" dirty="0">
                <a:solidFill>
                  <a:srgbClr val="5C4826"/>
                </a:solidFill>
              </a:rPr>
              <a:t>Where margin cannot be measured, containment is the engineering answer.</a:t>
            </a:r>
          </a:p>
        </p:txBody>
      </p:sp>
      <p:sp>
        <p:nvSpPr>
          <p:cNvPr id="130" name="T130"/>
          <p:cNvSpPr txBox="1"/>
          <p:nvPr/>
        </p:nvSpPr>
        <p:spPr>
          <a:xfrm>
            <a:off x="566928" y="4114800"/>
            <a:ext cx="8010144" cy="914400"/>
          </a:xfrm>
          <a:prstGeom prst="rect">
            <a:avLst/>
          </a:prstGeom>
          <a:noFill/>
        </p:spPr>
        <p:txBody>
          <a:bodyPr wrap="square" lIns="0" tIns="0" rIns="0" bIns="0" anchor="t"/>
          <a:lstStyle/>
          <a:p>
            <a:pPr algn="ctr">
              <a:buNone/>
            </a:pPr>
            <a:r>
              <a:rPr lang="en-US" sz="1600" b="0" i="1" dirty="0">
                <a:solidFill>
                  <a:srgbClr val="555960"/>
                </a:solidFill>
              </a:rPr>
              <a:t>A system with weaker evidence can sometimes ship responsibly — staged rollout, a feature flag, transaction limits, a small population, rollback. A system with stronger evidence can warrant more caution, because one missed behavior has unbounded reach.</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Margin for what we can measure. Containment for what we did not foresee.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delivering, ask</a:t>
            </a:r>
          </a:p>
        </p:txBody>
      </p:sp>
      <p:sp>
        <p:nvSpPr>
          <p:cNvPr id="3" name="Slide Number Placeholder 3"/>
          <p:cNvSpPr>
            <a:spLocks noGrp="1"/>
          </p:cNvSpPr>
          <p:nvPr>
            <p:ph type="sldNum" sz="quarter" idx="4"/>
          </p:nvPr>
        </p:nvSpPr>
        <p:spPr/>
        <p:txBody>
          <a:bodyPr/>
          <a:lstStyle/>
          <a:p>
            <a:fld id="{8FD9D981-50F8-4787-9A99-5F761D3CA02F}" type="slidenum">
              <a:rPr lang="en-US" smtClean="0"/>
              <a:t>1</a:t>
            </a:fld>
            <a:endParaRPr lang="en-US"/>
          </a:p>
        </p:txBody>
      </p:sp>
      <p:sp>
        <p:nvSpPr>
          <p:cNvPr id="100" name="B100"/>
          <p:cNvSpPr/>
          <p:nvPr/>
        </p:nvSpPr>
        <p:spPr>
          <a:xfrm>
            <a:off x="566928" y="960120"/>
            <a:ext cx="2514600" cy="411480"/>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ASK</a:t>
            </a:r>
          </a:p>
        </p:txBody>
      </p:sp>
      <p:sp>
        <p:nvSpPr>
          <p:cNvPr id="101" name="B101"/>
          <p:cNvSpPr/>
          <p:nvPr/>
        </p:nvSpPr>
        <p:spPr>
          <a:xfrm>
            <a:off x="3154680" y="960120"/>
            <a:ext cx="2880360" cy="411480"/>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EVIDENCE AVAILABLE</a:t>
            </a:r>
          </a:p>
        </p:txBody>
      </p:sp>
      <p:sp>
        <p:nvSpPr>
          <p:cNvPr id="102" name="B102"/>
          <p:cNvSpPr/>
          <p:nvPr/>
        </p:nvSpPr>
        <p:spPr>
          <a:xfrm>
            <a:off x="6108192" y="960120"/>
            <a:ext cx="2468880" cy="411480"/>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IF THE ANSWER IS NO</a:t>
            </a:r>
          </a:p>
        </p:txBody>
      </p:sp>
      <p:sp>
        <p:nvSpPr>
          <p:cNvPr id="110" name="P110"/>
          <p:cNvSpPr/>
          <p:nvPr/>
        </p:nvSpPr>
        <p:spPr>
          <a:xfrm>
            <a:off x="566928" y="1426464"/>
            <a:ext cx="25146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Claims covered?</a:t>
            </a:r>
          </a:p>
        </p:txBody>
      </p:sp>
      <p:sp>
        <p:nvSpPr>
          <p:cNvPr id="120" name="P120"/>
          <p:cNvSpPr/>
          <p:nvPr/>
        </p:nvSpPr>
        <p:spPr>
          <a:xfrm>
            <a:off x="3154680" y="1426464"/>
            <a:ext cx="28803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which claims lack evidence</a:t>
            </a:r>
          </a:p>
        </p:txBody>
      </p:sp>
      <p:sp>
        <p:nvSpPr>
          <p:cNvPr id="130" name="P130"/>
          <p:cNvSpPr/>
          <p:nvPr/>
        </p:nvSpPr>
        <p:spPr>
          <a:xfrm>
            <a:off x="6108192" y="1426464"/>
            <a:ext cx="246888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400" b="0" i="1" dirty="0">
                <a:solidFill>
                  <a:srgbClr val="5C4826"/>
                </a:solidFill>
              </a:rPr>
              <a:t>gather targeted evidence</a:t>
            </a:r>
          </a:p>
        </p:txBody>
      </p:sp>
      <p:sp>
        <p:nvSpPr>
          <p:cNvPr id="111" name="P111"/>
          <p:cNvSpPr/>
          <p:nvPr/>
        </p:nvSpPr>
        <p:spPr>
          <a:xfrm>
            <a:off x="566928" y="1975104"/>
            <a:ext cx="25146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Representative?</a:t>
            </a:r>
          </a:p>
        </p:txBody>
      </p:sp>
      <p:sp>
        <p:nvSpPr>
          <p:cNvPr id="121" name="P121"/>
          <p:cNvSpPr/>
          <p:nvPr/>
        </p:nvSpPr>
        <p:spPr>
          <a:xfrm>
            <a:off x="3154680" y="1975104"/>
            <a:ext cx="28803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delivery conditions represented</a:t>
            </a:r>
          </a:p>
        </p:txBody>
      </p:sp>
      <p:sp>
        <p:nvSpPr>
          <p:cNvPr id="131" name="P131"/>
          <p:cNvSpPr/>
          <p:nvPr/>
        </p:nvSpPr>
        <p:spPr>
          <a:xfrm>
            <a:off x="6108192" y="1975104"/>
            <a:ext cx="246888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400" b="0" i="1" dirty="0">
                <a:solidFill>
                  <a:srgbClr val="5C4826"/>
                </a:solidFill>
              </a:rPr>
              <a:t>measure under real conditions</a:t>
            </a:r>
          </a:p>
        </p:txBody>
      </p:sp>
      <p:sp>
        <p:nvSpPr>
          <p:cNvPr id="112" name="P112"/>
          <p:cNvSpPr/>
          <p:nvPr/>
        </p:nvSpPr>
        <p:spPr>
          <a:xfrm>
            <a:off x="566928" y="2523744"/>
            <a:ext cx="25146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Detection-capable?</a:t>
            </a:r>
          </a:p>
        </p:txBody>
      </p:sp>
      <p:sp>
        <p:nvSpPr>
          <p:cNvPr id="122" name="P122"/>
          <p:cNvSpPr/>
          <p:nvPr/>
        </p:nvSpPr>
        <p:spPr>
          <a:xfrm>
            <a:off x="3154680" y="2523744"/>
            <a:ext cx="28803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strong oracle · mutation score</a:t>
            </a:r>
          </a:p>
        </p:txBody>
      </p:sp>
      <p:sp>
        <p:nvSpPr>
          <p:cNvPr id="132" name="P132"/>
          <p:cNvSpPr/>
          <p:nvPr/>
        </p:nvSpPr>
        <p:spPr>
          <a:xfrm>
            <a:off x="6108192" y="2523744"/>
            <a:ext cx="246888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400" b="0" i="1" dirty="0">
                <a:solidFill>
                  <a:srgbClr val="5C4826"/>
                </a:solidFill>
              </a:rPr>
              <a:t>improve the mechanism</a:t>
            </a:r>
          </a:p>
        </p:txBody>
      </p:sp>
      <p:sp>
        <p:nvSpPr>
          <p:cNvPr id="113" name="P113"/>
          <p:cNvSpPr/>
          <p:nvPr/>
        </p:nvSpPr>
        <p:spPr>
          <a:xfrm>
            <a:off x="566928" y="3072384"/>
            <a:ext cx="25146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Independent?</a:t>
            </a:r>
          </a:p>
        </p:txBody>
      </p:sp>
      <p:sp>
        <p:nvSpPr>
          <p:cNvPr id="123" name="P123"/>
          <p:cNvSpPr/>
          <p:nvPr/>
        </p:nvSpPr>
        <p:spPr>
          <a:xfrm>
            <a:off x="3154680" y="3072384"/>
            <a:ext cx="28803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shared assumptions</a:t>
            </a:r>
          </a:p>
        </p:txBody>
      </p:sp>
      <p:sp>
        <p:nvSpPr>
          <p:cNvPr id="133" name="P133"/>
          <p:cNvSpPr/>
          <p:nvPr/>
        </p:nvSpPr>
        <p:spPr>
          <a:xfrm>
            <a:off x="6108192" y="3072384"/>
            <a:ext cx="246888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400" b="0" i="1" dirty="0">
                <a:solidFill>
                  <a:srgbClr val="5C4826"/>
                </a:solidFill>
              </a:rPr>
              <a:t>add a different line of evidence</a:t>
            </a:r>
          </a:p>
        </p:txBody>
      </p:sp>
      <p:sp>
        <p:nvSpPr>
          <p:cNvPr id="114" name="P114"/>
          <p:cNvSpPr/>
          <p:nvPr/>
        </p:nvSpPr>
        <p:spPr>
          <a:xfrm>
            <a:off x="566928" y="3621024"/>
            <a:ext cx="25146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Known failures left?</a:t>
            </a:r>
          </a:p>
        </p:txBody>
      </p:sp>
      <p:sp>
        <p:nvSpPr>
          <p:cNvPr id="124" name="P124"/>
          <p:cNvSpPr/>
          <p:nvPr/>
        </p:nvSpPr>
        <p:spPr>
          <a:xfrm>
            <a:off x="3154680" y="3621024"/>
            <a:ext cx="28803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severity · frequency · consequence</a:t>
            </a:r>
          </a:p>
        </p:txBody>
      </p:sp>
      <p:sp>
        <p:nvSpPr>
          <p:cNvPr id="134" name="P134"/>
          <p:cNvSpPr/>
          <p:nvPr/>
        </p:nvSpPr>
        <p:spPr>
          <a:xfrm>
            <a:off x="6108192" y="3621024"/>
            <a:ext cx="246888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400" b="0" i="1" dirty="0">
                <a:solidFill>
                  <a:srgbClr val="5C4826"/>
                </a:solidFill>
              </a:rPr>
              <a:t>change it or accept the risk</a:t>
            </a:r>
          </a:p>
        </p:txBody>
      </p:sp>
      <p:sp>
        <p:nvSpPr>
          <p:cNvPr id="115" name="P115"/>
          <p:cNvSpPr/>
          <p:nvPr/>
        </p:nvSpPr>
        <p:spPr>
          <a:xfrm>
            <a:off x="566928" y="4169664"/>
            <a:ext cx="251460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50" b="1" i="0" dirty="0">
                <a:solidFill>
                  <a:srgbClr val="5C4826"/>
                </a:solidFill>
              </a:rPr>
              <a:t>Residual acceptable?</a:t>
            </a:r>
          </a:p>
        </p:txBody>
      </p:sp>
      <p:sp>
        <p:nvSpPr>
          <p:cNvPr id="125" name="P125"/>
          <p:cNvSpPr/>
          <p:nvPr/>
        </p:nvSpPr>
        <p:spPr>
          <a:xfrm>
            <a:off x="3154680" y="4169664"/>
            <a:ext cx="2880360" cy="5029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400" b="0" i="0" dirty="0">
                <a:solidFill>
                  <a:srgbClr val="000000"/>
                </a:solidFill>
              </a:rPr>
              <a:t>consequence · reversibility</a:t>
            </a:r>
          </a:p>
        </p:txBody>
      </p:sp>
      <p:sp>
        <p:nvSpPr>
          <p:cNvPr id="135" name="P135"/>
          <p:cNvSpPr/>
          <p:nvPr/>
        </p:nvSpPr>
        <p:spPr>
          <a:xfrm>
            <a:off x="6108192" y="4169664"/>
            <a:ext cx="246888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400" b="0" i="1" dirty="0">
                <a:solidFill>
                  <a:srgbClr val="5C4826"/>
                </a:solidFill>
              </a:rPr>
              <a:t>deliver — or do not</a:t>
            </a:r>
          </a:p>
        </p:txBody>
      </p:sp>
      <p:sp>
        <p:nvSpPr>
          <p:cNvPr id="150" name="E150"/>
          <p:cNvSpPr/>
          <p:nvPr/>
        </p:nvSpPr>
        <p:spPr>
          <a:xfrm>
            <a:off x="566928" y="4846320"/>
            <a:ext cx="8010144" cy="73152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50" b="1" i="0" dirty="0">
                <a:solidFill>
                  <a:srgbClr val="5C4826"/>
                </a:solidFill>
              </a:rPr>
              <a:t>Metrics do not eliminate judgment. They discipline it.</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output is a decision, not a score.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P100"/>
          <p:cNvSpPr/>
          <p:nvPr/>
        </p:nvSpPr>
        <p:spPr>
          <a:xfrm>
            <a:off x="620000" y="980000"/>
            <a:ext cx="8000000" cy="118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450" b="1" i="0" dirty="0">
                <a:solidFill>
                  <a:srgbClr val="57534E"/>
                </a:solidFill>
              </a:rPr>
              <a:t>THE EVIDENCE ON THE TABLE</a:t>
            </a:r>
          </a:p>
          <a:p>
            <a:pPr algn="ctr">
              <a:spcBef>
                <a:spcPts val="120"/>
              </a:spcBef>
              <a:buNone/>
            </a:pPr>
            <a:r>
              <a:rPr lang="en-US" sz="1500" b="0" i="0" dirty="0">
                <a:solidFill>
                  <a:srgbClr val="000000"/>
                </a:solidFill>
              </a:rPr>
              <a:t>Property tests pass. A load model predicts p99 &lt; 500 ms, but production workload is untested.</a:t>
            </a:r>
          </a:p>
          <a:p>
            <a:pPr algn="ctr">
              <a:spcBef>
                <a:spcPts val="120"/>
              </a:spcBef>
              <a:buNone/>
            </a:pPr>
            <a:r>
              <a:rPr lang="en-US" sz="1500" b="0" i="0" dirty="0">
                <a:solidFill>
                  <a:srgbClr val="000000"/>
                </a:solidFill>
              </a:rPr>
              <a:t>One incident report suggests a rare double-charge. Consequence: real money. There is no transaction limit and no rollback path.</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REFUSE</a:t>
            </a:r>
          </a:p>
        </p:txBody>
      </p:sp>
      <p:sp>
        <p:nvSpPr>
          <p:cNvPr id="130" name="T130"/>
          <p:cNvSpPr txBox="1"/>
          <p:nvPr/>
        </p:nvSpPr>
        <p:spPr>
          <a:xfrm>
            <a:off x="620000" y="4716227"/>
            <a:ext cx="8000000" cy="520000"/>
          </a:xfrm>
          <a:prstGeom prst="rect">
            <a:avLst/>
          </a:prstGeom>
          <a:noFill/>
          <a:ln>
            <a:noFill/>
          </a:ln>
        </p:spPr>
        <p:txBody>
          <a:bodyPr wrap="square" lIns="0" tIns="0" rIns="0" bIns="0" anchor="t"/>
          <a:lstStyle/>
          <a:p>
            <a:pPr algn="ctr">
              <a:buNone/>
            </a:pPr>
            <a:r>
              <a:rPr lang="en-US" sz="1700" b="0" i="1" dirty="0">
                <a:solidFill>
                  <a:srgbClr val="555960"/>
                </a:solidFill>
              </a:rPr>
              <a:t>Choose one. Argue from the evidence, the margin, and the containment — not from habit.</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decision is not binary. Which action follows from what we now know?</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2"/>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1" animBg="1"/>
      <p:bldP spid="112" grpId="2" animBg="1"/>
      <p:bldP spid="113" grpId="3" animBg="1"/>
      <p:bldP spid="114" grpId="4"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An Assurance Case makes the judgment inspectable</a:t>
            </a:r>
          </a:p>
        </p:txBody>
      </p:sp>
      <p:sp>
        <p:nvSpPr>
          <p:cNvPr id="3" name="Slide Number Placeholder 3"/>
          <p:cNvSpPr>
            <a:spLocks noGrp="1"/>
          </p:cNvSpPr>
          <p:nvPr>
            <p:ph type="sldNum" sz="quarter" idx="4"/>
          </p:nvPr>
        </p:nvSpPr>
        <p:spPr/>
        <p:txBody>
          <a:bodyPr/>
          <a:lstStyle/>
          <a:p>
            <a:fld id="{B7EB45DA-9A0D-DC49-8E02-F30A5DDC21C3}" type="slidenum">
              <a:rPr lang="en-US" smtClean="0"/>
              <a:t>36</a:t>
            </a:fld>
            <a:endParaRPr lang="en-US"/>
          </a:p>
        </p:txBody>
      </p:sp>
      <p:sp>
        <p:nvSpPr>
          <p:cNvPr id="100" name="B100"/>
          <p:cNvSpPr/>
          <p:nvPr/>
        </p:nvSpPr>
        <p:spPr>
          <a:xfrm>
            <a:off x="3272000" y="900000"/>
            <a:ext cx="2600000" cy="60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CLAIM: ready to deliver</a:t>
            </a:r>
          </a:p>
        </p:txBody>
      </p:sp>
      <p:sp>
        <p:nvSpPr>
          <p:cNvPr id="110" name="P110"/>
          <p:cNvSpPr/>
          <p:nvPr/>
        </p:nvSpPr>
        <p:spPr>
          <a:xfrm>
            <a:off x="900000" y="1920000"/>
            <a:ext cx="28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1" i="0" dirty="0">
                <a:solidFill>
                  <a:srgbClr val="000000"/>
                </a:solidFill>
              </a:rPr>
              <a:t>payment charged</a:t>
            </a:r>
          </a:p>
          <a:p>
            <a:pPr algn="ctr">
              <a:spcBef>
                <a:spcPts val="120"/>
              </a:spcBef>
              <a:buNone/>
            </a:pPr>
            <a:r>
              <a:rPr lang="en-US" sz="1500" b="1" i="0" dirty="0">
                <a:solidFill>
                  <a:srgbClr val="000000"/>
                </a:solidFill>
              </a:rPr>
              <a:t>at most once</a:t>
            </a:r>
          </a:p>
        </p:txBody>
      </p:sp>
      <p:sp>
        <p:nvSpPr>
          <p:cNvPr id="111" name="P111"/>
          <p:cNvSpPr/>
          <p:nvPr/>
        </p:nvSpPr>
        <p:spPr>
          <a:xfrm>
            <a:off x="4720000" y="1920000"/>
            <a:ext cx="28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1" i="0" dirty="0">
                <a:solidFill>
                  <a:srgbClr val="000000"/>
                </a:solidFill>
              </a:rPr>
              <a:t>p99 latency</a:t>
            </a:r>
          </a:p>
          <a:p>
            <a:pPr algn="ctr">
              <a:spcBef>
                <a:spcPts val="120"/>
              </a:spcBef>
              <a:buNone/>
            </a:pPr>
            <a:r>
              <a:rPr lang="en-US" sz="1500" b="1" i="0" dirty="0">
                <a:solidFill>
                  <a:srgbClr val="000000"/>
                </a:solidFill>
              </a:rPr>
              <a:t>&lt; 500 ms</a:t>
            </a:r>
          </a:p>
        </p:txBody>
      </p:sp>
      <p:cxnSp>
        <p:nvCxnSpPr>
          <p:cNvPr id="120" name="C120"/>
          <p:cNvCxnSpPr/>
          <p:nvPr/>
        </p:nvCxnSpPr>
        <p:spPr>
          <a:xfrm>
            <a:off x="1600000" y="2580000"/>
            <a:ext cx="0" cy="360000"/>
          </a:xfrm>
          <a:prstGeom prst="straightConnector1">
            <a:avLst/>
          </a:prstGeom>
          <a:ln w="38100">
            <a:solidFill>
              <a:srgbClr val="8E6F3E"/>
            </a:solidFill>
            <a:tailEnd type="triangle" w="med" len="med"/>
          </a:ln>
        </p:spPr>
      </p:cxnSp>
      <p:cxnSp>
        <p:nvCxnSpPr>
          <p:cNvPr id="121" name="C121"/>
          <p:cNvCxnSpPr/>
          <p:nvPr/>
        </p:nvCxnSpPr>
        <p:spPr>
          <a:xfrm>
            <a:off x="3000000" y="2580000"/>
            <a:ext cx="0" cy="360000"/>
          </a:xfrm>
          <a:prstGeom prst="straightConnector1">
            <a:avLst/>
          </a:prstGeom>
          <a:ln w="38100">
            <a:solidFill>
              <a:srgbClr val="8E6F3E"/>
            </a:solidFill>
            <a:tailEnd type="triangle" w="med" len="med"/>
          </a:ln>
        </p:spPr>
      </p:cxnSp>
      <p:sp>
        <p:nvSpPr>
          <p:cNvPr id="122" name="P122"/>
          <p:cNvSpPr/>
          <p:nvPr/>
        </p:nvSpPr>
        <p:spPr>
          <a:xfrm>
            <a:off x="900000" y="3000000"/>
            <a:ext cx="136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400" b="0" i="0" dirty="0">
                <a:solidFill>
                  <a:srgbClr val="000000"/>
                </a:solidFill>
              </a:rPr>
              <a:t>property tests</a:t>
            </a:r>
          </a:p>
        </p:txBody>
      </p:sp>
      <p:sp>
        <p:nvSpPr>
          <p:cNvPr id="123" name="P123"/>
          <p:cNvSpPr/>
          <p:nvPr/>
        </p:nvSpPr>
        <p:spPr>
          <a:xfrm>
            <a:off x="2340000" y="3000000"/>
            <a:ext cx="136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400" b="0" i="0" dirty="0">
                <a:solidFill>
                  <a:srgbClr val="000000"/>
                </a:solidFill>
              </a:rPr>
              <a:t>model checking</a:t>
            </a:r>
          </a:p>
        </p:txBody>
      </p:sp>
      <p:cxnSp>
        <p:nvCxnSpPr>
          <p:cNvPr id="124" name="C124"/>
          <p:cNvCxnSpPr/>
          <p:nvPr/>
        </p:nvCxnSpPr>
        <p:spPr>
          <a:xfrm>
            <a:off x="5420000" y="2580000"/>
            <a:ext cx="0" cy="360000"/>
          </a:xfrm>
          <a:prstGeom prst="straightConnector1">
            <a:avLst/>
          </a:prstGeom>
          <a:ln w="38100">
            <a:solidFill>
              <a:srgbClr val="8E6F3E"/>
            </a:solidFill>
            <a:tailEnd type="triangle" w="med" len="med"/>
          </a:ln>
        </p:spPr>
      </p:cxnSp>
      <p:cxnSp>
        <p:nvCxnSpPr>
          <p:cNvPr id="125" name="C125"/>
          <p:cNvCxnSpPr/>
          <p:nvPr/>
        </p:nvCxnSpPr>
        <p:spPr>
          <a:xfrm>
            <a:off x="6820000" y="2580000"/>
            <a:ext cx="0" cy="360000"/>
          </a:xfrm>
          <a:prstGeom prst="straightConnector1">
            <a:avLst/>
          </a:prstGeom>
          <a:ln w="38100">
            <a:solidFill>
              <a:srgbClr val="8E6F3E"/>
            </a:solidFill>
            <a:tailEnd type="triangle" w="med" len="med"/>
          </a:ln>
        </p:spPr>
      </p:cxnSp>
      <p:sp>
        <p:nvSpPr>
          <p:cNvPr id="126" name="P126"/>
          <p:cNvSpPr/>
          <p:nvPr/>
        </p:nvSpPr>
        <p:spPr>
          <a:xfrm>
            <a:off x="4720000" y="3000000"/>
            <a:ext cx="136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400" b="0" i="0" dirty="0">
                <a:solidFill>
                  <a:srgbClr val="000000"/>
                </a:solidFill>
              </a:rPr>
              <a:t>load model</a:t>
            </a:r>
          </a:p>
        </p:txBody>
      </p:sp>
      <p:sp>
        <p:nvSpPr>
          <p:cNvPr id="127" name="P127"/>
          <p:cNvSpPr/>
          <p:nvPr/>
        </p:nvSpPr>
        <p:spPr>
          <a:xfrm>
            <a:off x="6160000" y="3000000"/>
            <a:ext cx="136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400" b="0" i="0" dirty="0">
                <a:solidFill>
                  <a:srgbClr val="000000"/>
                </a:solidFill>
              </a:rPr>
              <a:t>measured result</a:t>
            </a:r>
          </a:p>
        </p:txBody>
      </p:sp>
      <p:cxnSp>
        <p:nvCxnSpPr>
          <p:cNvPr id="130" name="C130"/>
          <p:cNvCxnSpPr/>
          <p:nvPr/>
        </p:nvCxnSpPr>
        <p:spPr>
          <a:xfrm>
            <a:off x="1580000" y="3560000"/>
            <a:ext cx="0" cy="340000"/>
          </a:xfrm>
          <a:prstGeom prst="straightConnector1">
            <a:avLst/>
          </a:prstGeom>
          <a:ln w="38100">
            <a:solidFill>
              <a:srgbClr val="8E6F3E"/>
            </a:solidFill>
          </a:ln>
        </p:spPr>
      </p:cxnSp>
      <p:cxnSp>
        <p:nvCxnSpPr>
          <p:cNvPr id="131" name="C131"/>
          <p:cNvCxnSpPr/>
          <p:nvPr/>
        </p:nvCxnSpPr>
        <p:spPr>
          <a:xfrm>
            <a:off x="3020000" y="3560000"/>
            <a:ext cx="0" cy="340000"/>
          </a:xfrm>
          <a:prstGeom prst="straightConnector1">
            <a:avLst/>
          </a:prstGeom>
          <a:ln w="38100">
            <a:solidFill>
              <a:srgbClr val="8E6F3E"/>
            </a:solidFill>
          </a:ln>
        </p:spPr>
      </p:cxnSp>
      <p:cxnSp>
        <p:nvCxnSpPr>
          <p:cNvPr id="132" name="C132"/>
          <p:cNvCxnSpPr/>
          <p:nvPr/>
        </p:nvCxnSpPr>
        <p:spPr>
          <a:xfrm>
            <a:off x="5400000" y="3560000"/>
            <a:ext cx="0" cy="340000"/>
          </a:xfrm>
          <a:prstGeom prst="straightConnector1">
            <a:avLst/>
          </a:prstGeom>
          <a:ln w="38100">
            <a:solidFill>
              <a:srgbClr val="8E6F3E"/>
            </a:solidFill>
          </a:ln>
        </p:spPr>
      </p:cxnSp>
      <p:cxnSp>
        <p:nvCxnSpPr>
          <p:cNvPr id="133" name="C133"/>
          <p:cNvCxnSpPr/>
          <p:nvPr/>
        </p:nvCxnSpPr>
        <p:spPr>
          <a:xfrm>
            <a:off x="6840000" y="3560000"/>
            <a:ext cx="0" cy="340000"/>
          </a:xfrm>
          <a:prstGeom prst="straightConnector1">
            <a:avLst/>
          </a:prstGeom>
          <a:ln w="38100">
            <a:solidFill>
              <a:srgbClr val="8E6F3E"/>
            </a:solidFill>
          </a:ln>
        </p:spPr>
      </p:cxnSp>
      <p:cxnSp>
        <p:nvCxnSpPr>
          <p:cNvPr id="134" name="C134"/>
          <p:cNvCxnSpPr/>
          <p:nvPr/>
        </p:nvCxnSpPr>
        <p:spPr>
          <a:xfrm>
            <a:off x="1580000" y="3900000"/>
            <a:ext cx="5260000" cy="0"/>
          </a:xfrm>
          <a:prstGeom prst="straightConnector1">
            <a:avLst/>
          </a:prstGeom>
          <a:ln w="38100">
            <a:solidFill>
              <a:srgbClr val="8E6F3E"/>
            </a:solidFill>
          </a:ln>
        </p:spPr>
      </p:cxnSp>
      <p:cxnSp>
        <p:nvCxnSpPr>
          <p:cNvPr id="135" name="C135"/>
          <p:cNvCxnSpPr/>
          <p:nvPr/>
        </p:nvCxnSpPr>
        <p:spPr>
          <a:xfrm>
            <a:off x="4572000" y="3900000"/>
            <a:ext cx="0" cy="280000"/>
          </a:xfrm>
          <a:prstGeom prst="straightConnector1">
            <a:avLst/>
          </a:prstGeom>
          <a:ln w="38100">
            <a:solidFill>
              <a:srgbClr val="8E6F3E"/>
            </a:solidFill>
            <a:tailEnd type="triangle" w="med" len="med"/>
          </a:ln>
        </p:spPr>
      </p:cxnSp>
      <p:sp>
        <p:nvSpPr>
          <p:cNvPr id="140" name="B140"/>
          <p:cNvSpPr/>
          <p:nvPr/>
        </p:nvSpPr>
        <p:spPr>
          <a:xfrm>
            <a:off x="3872000" y="4180000"/>
            <a:ext cx="1400000" cy="52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JUDGMENT</a:t>
            </a:r>
          </a:p>
        </p:txBody>
      </p:sp>
      <p:cxnSp>
        <p:nvCxnSpPr>
          <p:cNvPr id="141" name="C141"/>
          <p:cNvCxnSpPr/>
          <p:nvPr/>
        </p:nvCxnSpPr>
        <p:spPr>
          <a:xfrm>
            <a:off x="4572000" y="4700000"/>
            <a:ext cx="0" cy="300000"/>
          </a:xfrm>
          <a:prstGeom prst="straightConnector1">
            <a:avLst/>
          </a:prstGeom>
          <a:ln w="38100">
            <a:solidFill>
              <a:srgbClr val="8E6F3E"/>
            </a:solidFill>
            <a:tailEnd type="triangle" w="med" len="med"/>
          </a:ln>
        </p:spPr>
      </p:cxnSp>
      <p:sp>
        <p:nvSpPr>
          <p:cNvPr id="142" name="E142"/>
          <p:cNvSpPr/>
          <p:nvPr/>
        </p:nvSpPr>
        <p:spPr>
          <a:xfrm>
            <a:off x="3972000" y="5000000"/>
            <a:ext cx="1200000" cy="4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500" b="1" i="0" dirty="0">
                <a:solidFill>
                  <a:srgbClr val="5C4826"/>
                </a:solidFill>
              </a:rPr>
              <a:t>DELIVER</a:t>
            </a:r>
          </a:p>
        </p:txBody>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We began by asking what would justify delivery. This is the answer.</a:t>
            </a:r>
          </a:p>
        </p:txBody>
      </p:sp>
      <p:cxnSp>
        <p:nvCxnSpPr>
          <p:cNvPr id="5" name="Elbow Connector 4">
            <a:extLst>
              <a:ext uri="{FF2B5EF4-FFF2-40B4-BE49-F238E27FC236}">
                <a16:creationId xmlns:a16="http://schemas.microsoft.com/office/drawing/2014/main" id="{782FD6B7-3E42-E711-C90C-27E6D1360FA6}"/>
              </a:ext>
            </a:extLst>
          </p:cNvPr>
          <p:cNvCxnSpPr>
            <a:stCxn id="100" idx="1"/>
            <a:endCxn id="110" idx="0"/>
          </p:cNvCxnSpPr>
          <p:nvPr/>
        </p:nvCxnSpPr>
        <p:spPr>
          <a:xfrm rot="10800000" flipV="1">
            <a:off x="2300000" y="1200000"/>
            <a:ext cx="972000" cy="720000"/>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21C0A1B5-59B7-1E91-456F-6E32303C7D37}"/>
              </a:ext>
            </a:extLst>
          </p:cNvPr>
          <p:cNvCxnSpPr>
            <a:cxnSpLocks/>
            <a:stCxn id="100" idx="3"/>
            <a:endCxn id="111" idx="0"/>
          </p:cNvCxnSpPr>
          <p:nvPr/>
        </p:nvCxnSpPr>
        <p:spPr>
          <a:xfrm>
            <a:off x="5872000" y="1200000"/>
            <a:ext cx="248000" cy="720000"/>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0"/>
                                        </p:tgtEl>
                                        <p:attrNameLst>
                                          <p:attrName>style.visibility</p:attrName>
                                        </p:attrNameLst>
                                      </p:cBhvr>
                                      <p:to>
                                        <p:strVal val="visible"/>
                                      </p:to>
                                    </p:set>
                                    <p:animEffect transition="in" filter="fade">
                                      <p:cBhvr>
                                        <p:cTn id="18" dur="500"/>
                                        <p:tgtEl>
                                          <p:spTgt spid="1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20"/>
                                        </p:tgtEl>
                                        <p:attrNameLst>
                                          <p:attrName>style.visibility</p:attrName>
                                        </p:attrNameLst>
                                      </p:cBhvr>
                                      <p:to>
                                        <p:strVal val="visible"/>
                                      </p:to>
                                    </p:set>
                                    <p:animEffect transition="in" filter="fade">
                                      <p:cBhvr>
                                        <p:cTn id="26" dur="500"/>
                                        <p:tgtEl>
                                          <p:spTgt spid="12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1"/>
                                        </p:tgtEl>
                                        <p:attrNameLst>
                                          <p:attrName>style.visibility</p:attrName>
                                        </p:attrNameLst>
                                      </p:cBhvr>
                                      <p:to>
                                        <p:strVal val="visible"/>
                                      </p:to>
                                    </p:set>
                                    <p:animEffect transition="in" filter="fade">
                                      <p:cBhvr>
                                        <p:cTn id="29" dur="500"/>
                                        <p:tgtEl>
                                          <p:spTgt spid="12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4"/>
                                        </p:tgtEl>
                                        <p:attrNameLst>
                                          <p:attrName>style.visibility</p:attrName>
                                        </p:attrNameLst>
                                      </p:cBhvr>
                                      <p:to>
                                        <p:strVal val="visible"/>
                                      </p:to>
                                    </p:set>
                                    <p:animEffect transition="in" filter="fade">
                                      <p:cBhvr>
                                        <p:cTn id="32" dur="500"/>
                                        <p:tgtEl>
                                          <p:spTgt spid="12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5"/>
                                        </p:tgtEl>
                                        <p:attrNameLst>
                                          <p:attrName>style.visibility</p:attrName>
                                        </p:attrNameLst>
                                      </p:cBhvr>
                                      <p:to>
                                        <p:strVal val="visible"/>
                                      </p:to>
                                    </p:set>
                                    <p:animEffect transition="in" filter="fade">
                                      <p:cBhvr>
                                        <p:cTn id="35" dur="500"/>
                                        <p:tgtEl>
                                          <p:spTgt spid="12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26"/>
                                        </p:tgtEl>
                                        <p:attrNameLst>
                                          <p:attrName>style.visibility</p:attrName>
                                        </p:attrNameLst>
                                      </p:cBhvr>
                                      <p:to>
                                        <p:strVal val="visible"/>
                                      </p:to>
                                    </p:set>
                                    <p:animEffect transition="in" filter="fade">
                                      <p:cBhvr>
                                        <p:cTn id="44" dur="500"/>
                                        <p:tgtEl>
                                          <p:spTgt spid="12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27"/>
                                        </p:tgtEl>
                                        <p:attrNameLst>
                                          <p:attrName>style.visibility</p:attrName>
                                        </p:attrNameLst>
                                      </p:cBhvr>
                                      <p:to>
                                        <p:strVal val="visible"/>
                                      </p:to>
                                    </p:set>
                                    <p:animEffect transition="in" filter="fade">
                                      <p:cBhvr>
                                        <p:cTn id="47" dur="500"/>
                                        <p:tgtEl>
                                          <p:spTgt spid="12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0"/>
                                        </p:tgtEl>
                                        <p:attrNameLst>
                                          <p:attrName>style.visibility</p:attrName>
                                        </p:attrNameLst>
                                      </p:cBhvr>
                                      <p:to>
                                        <p:strVal val="visible"/>
                                      </p:to>
                                    </p:set>
                                    <p:animEffect transition="in" filter="fade">
                                      <p:cBhvr>
                                        <p:cTn id="52" dur="500"/>
                                        <p:tgtEl>
                                          <p:spTgt spid="13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31"/>
                                        </p:tgtEl>
                                        <p:attrNameLst>
                                          <p:attrName>style.visibility</p:attrName>
                                        </p:attrNameLst>
                                      </p:cBhvr>
                                      <p:to>
                                        <p:strVal val="visible"/>
                                      </p:to>
                                    </p:set>
                                    <p:animEffect transition="in" filter="fade">
                                      <p:cBhvr>
                                        <p:cTn id="55" dur="500"/>
                                        <p:tgtEl>
                                          <p:spTgt spid="13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32"/>
                                        </p:tgtEl>
                                        <p:attrNameLst>
                                          <p:attrName>style.visibility</p:attrName>
                                        </p:attrNameLst>
                                      </p:cBhvr>
                                      <p:to>
                                        <p:strVal val="visible"/>
                                      </p:to>
                                    </p:set>
                                    <p:animEffect transition="in" filter="fade">
                                      <p:cBhvr>
                                        <p:cTn id="58" dur="500"/>
                                        <p:tgtEl>
                                          <p:spTgt spid="13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133"/>
                                        </p:tgtEl>
                                        <p:attrNameLst>
                                          <p:attrName>style.visibility</p:attrName>
                                        </p:attrNameLst>
                                      </p:cBhvr>
                                      <p:to>
                                        <p:strVal val="visible"/>
                                      </p:to>
                                    </p:set>
                                    <p:animEffect transition="in" filter="fade">
                                      <p:cBhvr>
                                        <p:cTn id="61" dur="500"/>
                                        <p:tgtEl>
                                          <p:spTgt spid="13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34"/>
                                        </p:tgtEl>
                                        <p:attrNameLst>
                                          <p:attrName>style.visibility</p:attrName>
                                        </p:attrNameLst>
                                      </p:cBhvr>
                                      <p:to>
                                        <p:strVal val="visible"/>
                                      </p:to>
                                    </p:set>
                                    <p:animEffect transition="in" filter="fade">
                                      <p:cBhvr>
                                        <p:cTn id="64" dur="500"/>
                                        <p:tgtEl>
                                          <p:spTgt spid="13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135"/>
                                        </p:tgtEl>
                                        <p:attrNameLst>
                                          <p:attrName>style.visibility</p:attrName>
                                        </p:attrNameLst>
                                      </p:cBhvr>
                                      <p:to>
                                        <p:strVal val="visible"/>
                                      </p:to>
                                    </p:set>
                                    <p:animEffect transition="in" filter="fade">
                                      <p:cBhvr>
                                        <p:cTn id="67" dur="500"/>
                                        <p:tgtEl>
                                          <p:spTgt spid="13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140"/>
                                        </p:tgtEl>
                                        <p:attrNameLst>
                                          <p:attrName>style.visibility</p:attrName>
                                        </p:attrNameLst>
                                      </p:cBhvr>
                                      <p:to>
                                        <p:strVal val="visible"/>
                                      </p:to>
                                    </p:set>
                                    <p:animEffect transition="in" filter="fade">
                                      <p:cBhvr>
                                        <p:cTn id="70" dur="500"/>
                                        <p:tgtEl>
                                          <p:spTgt spid="14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141"/>
                                        </p:tgtEl>
                                        <p:attrNameLst>
                                          <p:attrName>style.visibility</p:attrName>
                                        </p:attrNameLst>
                                      </p:cBhvr>
                                      <p:to>
                                        <p:strVal val="visible"/>
                                      </p:to>
                                    </p:set>
                                    <p:animEffect transition="in" filter="fade">
                                      <p:cBhvr>
                                        <p:cTn id="75" dur="500"/>
                                        <p:tgtEl>
                                          <p:spTgt spid="1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142"/>
                                        </p:tgtEl>
                                        <p:attrNameLst>
                                          <p:attrName>style.visibility</p:attrName>
                                        </p:attrNameLst>
                                      </p:cBhvr>
                                      <p:to>
                                        <p:strVal val="visible"/>
                                      </p:to>
                                    </p:set>
                                    <p:animEffect transition="in" filter="fade">
                                      <p:cBhvr>
                                        <p:cTn id="78"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reasoning you can reuse</a:t>
            </a:r>
          </a:p>
        </p:txBody>
      </p:sp>
      <p:sp>
        <p:nvSpPr>
          <p:cNvPr id="3" name="Slide Number Placeholder 3"/>
          <p:cNvSpPr>
            <a:spLocks noGrp="1"/>
          </p:cNvSpPr>
          <p:nvPr>
            <p:ph type="sldNum" sz="quarter" idx="4"/>
          </p:nvPr>
        </p:nvSpPr>
        <p:spPr/>
        <p:txBody>
          <a:bodyPr/>
          <a:lstStyle/>
          <a:p>
            <a:fld id="{B7EB45DA-9A0D-DC49-8E02-F30A5DDC21C3}" type="slidenum">
              <a:rPr lang="en-US" smtClean="0"/>
              <a:t>37</a:t>
            </a:fld>
            <a:endParaRPr lang="en-US"/>
          </a:p>
        </p:txBody>
      </p:sp>
      <p:sp>
        <p:nvSpPr>
          <p:cNvPr id="100" name="P100"/>
          <p:cNvSpPr/>
          <p:nvPr/>
        </p:nvSpPr>
        <p:spPr>
          <a:xfrm>
            <a:off x="1372000" y="1160000"/>
            <a:ext cx="6400000" cy="6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What is at stake?</a:t>
            </a:r>
          </a:p>
        </p:txBody>
      </p:sp>
      <p:cxnSp>
        <p:nvCxnSpPr>
          <p:cNvPr id="101" name="C101"/>
          <p:cNvCxnSpPr/>
          <p:nvPr/>
        </p:nvCxnSpPr>
        <p:spPr>
          <a:xfrm>
            <a:off x="4572000" y="1760000"/>
            <a:ext cx="0" cy="220000"/>
          </a:xfrm>
          <a:prstGeom prst="straightConnector1">
            <a:avLst/>
          </a:prstGeom>
          <a:ln w="38100">
            <a:solidFill>
              <a:srgbClr val="8E6F3E"/>
            </a:solidFill>
            <a:tailEnd type="triangle" w="med" len="med"/>
          </a:ln>
        </p:spPr>
      </p:cxnSp>
      <p:sp>
        <p:nvSpPr>
          <p:cNvPr id="102" name="P102"/>
          <p:cNvSpPr/>
          <p:nvPr/>
        </p:nvSpPr>
        <p:spPr>
          <a:xfrm>
            <a:off x="1372000" y="2000000"/>
            <a:ext cx="6400000" cy="6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What must be true?</a:t>
            </a:r>
          </a:p>
        </p:txBody>
      </p:sp>
      <p:cxnSp>
        <p:nvCxnSpPr>
          <p:cNvPr id="103" name="C103"/>
          <p:cNvCxnSpPr/>
          <p:nvPr/>
        </p:nvCxnSpPr>
        <p:spPr>
          <a:xfrm>
            <a:off x="4572000" y="2600000"/>
            <a:ext cx="0" cy="220000"/>
          </a:xfrm>
          <a:prstGeom prst="straightConnector1">
            <a:avLst/>
          </a:prstGeom>
          <a:ln w="38100">
            <a:solidFill>
              <a:srgbClr val="8E6F3E"/>
            </a:solidFill>
            <a:tailEnd type="triangle" w="med" len="med"/>
          </a:ln>
        </p:spPr>
      </p:cxnSp>
      <p:sp>
        <p:nvSpPr>
          <p:cNvPr id="104" name="P104"/>
          <p:cNvSpPr/>
          <p:nvPr/>
        </p:nvSpPr>
        <p:spPr>
          <a:xfrm>
            <a:off x="1372000" y="2840000"/>
            <a:ext cx="6400000" cy="6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What evidence bears on it?</a:t>
            </a:r>
          </a:p>
        </p:txBody>
      </p:sp>
      <p:cxnSp>
        <p:nvCxnSpPr>
          <p:cNvPr id="105" name="C105"/>
          <p:cNvCxnSpPr/>
          <p:nvPr/>
        </p:nvCxnSpPr>
        <p:spPr>
          <a:xfrm>
            <a:off x="4572000" y="3440000"/>
            <a:ext cx="0" cy="220000"/>
          </a:xfrm>
          <a:prstGeom prst="straightConnector1">
            <a:avLst/>
          </a:prstGeom>
          <a:ln w="38100">
            <a:solidFill>
              <a:srgbClr val="8E6F3E"/>
            </a:solidFill>
            <a:tailEnd type="triangle" w="med" len="med"/>
          </a:ln>
        </p:spPr>
      </p:cxnSp>
      <p:sp>
        <p:nvSpPr>
          <p:cNvPr id="106" name="P106"/>
          <p:cNvSpPr/>
          <p:nvPr/>
        </p:nvSpPr>
        <p:spPr>
          <a:xfrm>
            <a:off x="1372000" y="3680000"/>
            <a:ext cx="6400000" cy="6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How strong is that evidence?</a:t>
            </a:r>
          </a:p>
        </p:txBody>
      </p:sp>
      <p:cxnSp>
        <p:nvCxnSpPr>
          <p:cNvPr id="107" name="C107"/>
          <p:cNvCxnSpPr/>
          <p:nvPr/>
        </p:nvCxnSpPr>
        <p:spPr>
          <a:xfrm>
            <a:off x="4572000" y="4280000"/>
            <a:ext cx="0" cy="220000"/>
          </a:xfrm>
          <a:prstGeom prst="straightConnector1">
            <a:avLst/>
          </a:prstGeom>
          <a:ln w="38100">
            <a:solidFill>
              <a:srgbClr val="8E6F3E"/>
            </a:solidFill>
            <a:tailEnd type="triangle" w="med" len="med"/>
          </a:ln>
        </p:spPr>
      </p:cxnSp>
      <p:sp>
        <p:nvSpPr>
          <p:cNvPr id="108" name="E108"/>
          <p:cNvSpPr/>
          <p:nvPr/>
        </p:nvSpPr>
        <p:spPr>
          <a:xfrm>
            <a:off x="1372000" y="4520000"/>
            <a:ext cx="6400000" cy="6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1" i="0" dirty="0">
                <a:solidFill>
                  <a:srgbClr val="5C4826"/>
                </a:solidFill>
              </a:rPr>
              <a:t>Is it enough to act?</a:t>
            </a:r>
          </a:p>
        </p:txBody>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Validation turns evidence into engineering judgment.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8603</TotalTime>
  <Words>2303</Words>
  <Application>Microsoft Macintosh PowerPoint</Application>
  <PresentationFormat>On-screen Show (4:3)</PresentationFormat>
  <Paragraphs>383</Paragraphs>
  <Slides>37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Times</vt:lpstr>
      <vt:lpstr>Purdue1</vt:lpstr>
      <vt:lpstr>PowerPoint Presentation</vt:lpstr>
      <vt:lpstr>What is at stake?</vt:lpstr>
      <vt:lpstr>What would justify delivering this system?</vt:lpstr>
      <vt:lpstr>How sure do we need to be?</vt:lpstr>
      <vt:lpstr>“It depends” is the beginning of the answer, not the end</vt:lpstr>
      <vt:lpstr>Consequence changes the burden of evidence</vt:lpstr>
      <vt:lpstr>Validation is broader than testing — and it does not demand certainty</vt:lpstr>
      <vt:lpstr>What must we establish?</vt:lpstr>
      <vt:lpstr>Validation begins with claims, not techniques</vt:lpstr>
      <vt:lpstr>Remember: the middle has no fixed number of levels</vt:lpstr>
      <vt:lpstr>Models and properties become more precise toward realization</vt:lpstr>
      <vt:lpstr>Evidence bears on properties at the scope where they live</vt:lpstr>
      <vt:lpstr>The familiar testing levels are relative</vt:lpstr>
      <vt:lpstr>Validate a property at the scope where it lives</vt:lpstr>
      <vt:lpstr>The final claim reaches the world</vt:lpstr>
      <vt:lpstr>A measurement is not evidence by itself</vt:lpstr>
      <vt:lpstr>An Assurance Case makes this reasoning inspectable</vt:lpstr>
      <vt:lpstr>What evidence could bear on the claim?</vt:lpstr>
      <vt:lpstr>Choose evidence for the uncertainty you need to reduce</vt:lpstr>
      <vt:lpstr>Known answers → example-based testing</vt:lpstr>
      <vt:lpstr>General properties → property-based testing</vt:lpstr>
      <vt:lpstr>The oracle is often the expensive part</vt:lpstr>
      <vt:lpstr>Another implementation → differential testing</vt:lpstr>
      <vt:lpstr>Related executions → metamorphic testing</vt:lpstr>
      <vt:lpstr>Search for unexpected behavior → fuzzing</vt:lpstr>
      <vt:lpstr>Explore modeled behaviors → static analysis &amp; model checking</vt:lpstr>
      <vt:lpstr>Different techniques establish different things</vt:lpstr>
      <vt:lpstr>How strong is the evidence?</vt:lpstr>
      <vt:lpstr>Executing code is not the same as checking it</vt:lpstr>
      <vt:lpstr>What does coverage actually establish?</vt:lpstr>
      <vt:lpstr>Evidence multiplies; independence does not</vt:lpstr>
      <vt:lpstr>🧙  MAGE Moment: GenAI can make weak evidence very cheap</vt:lpstr>
      <vt:lpstr>When is the evidence enough?</vt:lpstr>
      <vt:lpstr>Enough is judged against what is at stake</vt:lpstr>
      <vt:lpstr>What should we do now?</vt:lpstr>
      <vt:lpstr>An Assurance Case makes the judgment inspectable</vt:lpstr>
      <vt:lpstr>The reasoning you can reuse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2026-09-19T04:24:54Z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