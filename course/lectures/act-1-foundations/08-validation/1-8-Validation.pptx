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9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>
        <p:scale>
          <a:sx n="72" d="100"/>
          <a:sy n="72" d="100"/>
        </p:scale>
        <p:origin x="283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icture 2" descr="Electrical and Computer Engineering Black and Gold Co-Brand Logo">
            <a:extLst>
              <a:ext uri="{FF2B5EF4-FFF2-40B4-BE49-F238E27FC236}">
                <a16:creationId xmlns:a16="http://schemas.microsoft.com/office/drawing/2014/main" id="{DA2A365A-4E3B-2A48-8812-990B2A2EE9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158" y="5721845"/>
            <a:ext cx="1264684" cy="99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"/>
          <p:cNvSpPr txBox="1"/>
          <p:nvPr/>
        </p:nvSpPr>
        <p:spPr>
          <a:xfrm>
            <a:off x="439339" y="565150"/>
            <a:ext cx="8265319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>ECE 30861/46100: Software Engineering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224171" y="1420000"/>
            <a:ext cx="8695654" cy="2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0" i="0" dirty="0">
                <a:solidFill>
                  <a:srgbClr val="000000"/>
                </a:solidFill>
              </a:rPr>
              <a:t>Software Validation</a:t>
            </a:r>
          </a:p>
          <a:p>
            <a:pPr algn="ctr">
              <a:spcBef>
                <a:spcPts val="600"/>
              </a:spcBef>
              <a:buNone/>
            </a:pPr>
            <a:r>
              <a:rPr lang="en-US" sz="2400" b="0" i="1" dirty="0">
                <a:solidFill>
                  <a:srgbClr val="555960"/>
                </a:solidFill>
              </a:rPr>
              <a:t>What evidence is sufficient to deliver a system into the world?</a:t>
            </a:r>
          </a:p>
          <a:p>
            <a:pPr algn="ctr">
              <a:spcBef>
                <a:spcPts val="90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Prof. James C. Davis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101" name="T101"/>
          <p:cNvSpPr txBox="1"/>
          <p:nvPr/>
        </p:nvSpPr>
        <p:spPr>
          <a:xfrm>
            <a:off x="224171" y="3760000"/>
            <a:ext cx="8695654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EVERY PRIOR DECISION NOW MEETS EVIDENCE</a:t>
            </a:r>
          </a:p>
        </p:txBody>
      </p:sp>
      <p:sp>
        <p:nvSpPr>
          <p:cNvPr id="110" name="B110"/>
          <p:cNvSpPr/>
          <p:nvPr/>
        </p:nvSpPr>
        <p:spPr>
          <a:xfrm>
            <a:off x="713232" y="4100000"/>
            <a:ext cx="162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CLAIM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2373232" y="4420000"/>
            <a:ext cx="304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2" name="B112"/>
          <p:cNvSpPr/>
          <p:nvPr/>
        </p:nvSpPr>
        <p:spPr>
          <a:xfrm>
            <a:off x="2717232" y="4100000"/>
            <a:ext cx="162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EVIDENCE</a:t>
            </a:r>
          </a:p>
        </p:txBody>
      </p:sp>
      <p:cxnSp>
        <p:nvCxnSpPr>
          <p:cNvPr id="113" name="C113"/>
          <p:cNvCxnSpPr/>
          <p:nvPr/>
        </p:nvCxnSpPr>
        <p:spPr>
          <a:xfrm>
            <a:off x="4377232" y="4420000"/>
            <a:ext cx="304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4" name="B114"/>
          <p:cNvSpPr/>
          <p:nvPr/>
        </p:nvSpPr>
        <p:spPr>
          <a:xfrm>
            <a:off x="4721232" y="4100000"/>
            <a:ext cx="162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JUDGMENT</a:t>
            </a:r>
          </a:p>
        </p:txBody>
      </p:sp>
      <p:cxnSp>
        <p:nvCxnSpPr>
          <p:cNvPr id="115" name="C115"/>
          <p:cNvCxnSpPr/>
          <p:nvPr/>
        </p:nvCxnSpPr>
        <p:spPr>
          <a:xfrm>
            <a:off x="6381232" y="4420000"/>
            <a:ext cx="304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6" name="B116"/>
          <p:cNvSpPr/>
          <p:nvPr/>
        </p:nvSpPr>
        <p:spPr>
          <a:xfrm>
            <a:off x="6725232" y="4100000"/>
            <a:ext cx="162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DELIVER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224171" y="5000000"/>
            <a:ext cx="8695654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Design produced a realization. Validation asks whether the evidence is enough to deliver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What is at stake?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How much assurance should we demand before delivery?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would justify delivering this system?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</a:t>
            </a:fld>
            <a:endParaRPr lang="en-US"/>
          </a:p>
        </p:txBody>
      </p:sp>
      <p:sp>
        <p:nvSpPr>
          <p:cNvPr id="100" name="E100"/>
          <p:cNvSpPr/>
          <p:nvPr/>
        </p:nvSpPr>
        <p:spPr>
          <a:xfrm>
            <a:off x="2122000" y="1120000"/>
            <a:ext cx="4900000" cy="90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THE ASSURANCE CASE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a structured argument connecting consequential claims to evidence</a:t>
            </a:r>
          </a:p>
        </p:txBody>
      </p:sp>
      <p:sp>
        <p:nvSpPr>
          <p:cNvPr id="101" name="B101"/>
          <p:cNvSpPr/>
          <p:nvPr/>
        </p:nvSpPr>
        <p:spPr>
          <a:xfrm>
            <a:off x="3372000" y="2360000"/>
            <a:ext cx="2400000" cy="56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CLAIM</a:t>
            </a:r>
          </a:p>
        </p:txBody>
      </p:sp>
      <p:cxnSp>
        <p:nvCxnSpPr>
          <p:cNvPr id="102" name="C102"/>
          <p:cNvCxnSpPr/>
          <p:nvPr/>
        </p:nvCxnSpPr>
        <p:spPr>
          <a:xfrm>
            <a:off x="4572000" y="2960000"/>
            <a:ext cx="0" cy="6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3" name="T103"/>
          <p:cNvSpPr txBox="1"/>
          <p:nvPr/>
        </p:nvSpPr>
        <p:spPr>
          <a:xfrm>
            <a:off x="4700000" y="3060000"/>
            <a:ext cx="32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b="0" i="1" dirty="0">
                <a:solidFill>
                  <a:srgbClr val="555960"/>
                </a:solidFill>
              </a:rPr>
              <a:t>why should we believe it?</a:t>
            </a:r>
          </a:p>
        </p:txBody>
      </p:sp>
      <p:sp>
        <p:nvSpPr>
          <p:cNvPr id="104" name="P104"/>
          <p:cNvSpPr/>
          <p:nvPr/>
        </p:nvSpPr>
        <p:spPr>
          <a:xfrm>
            <a:off x="3372000" y="3660000"/>
            <a:ext cx="2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>EVIDENCE</a:t>
            </a:r>
          </a:p>
        </p:txBody>
      </p:sp>
      <p:sp>
        <p:nvSpPr>
          <p:cNvPr id="105" name="T105"/>
          <p:cNvSpPr txBox="1"/>
          <p:nvPr/>
        </p:nvSpPr>
        <p:spPr>
          <a:xfrm>
            <a:off x="514350" y="4502160"/>
            <a:ext cx="8001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Validation is the discipline of building the appropriate argument for the claim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We will build one Assurance Case through this lecture.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How sure do we need to be?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408948" y="3036911"/>
            <a:ext cx="84582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800" b="0" i="0" dirty="0">
                <a:solidFill>
                  <a:srgbClr val="000000"/>
                </a:solidFill>
              </a:rPr>
              <a:t>How confident must you be before </a:t>
            </a:r>
            <a:r>
              <a:rPr lang="en-US" sz="2800" dirty="0">
                <a:solidFill>
                  <a:srgbClr val="000000"/>
                </a:solidFill>
              </a:rPr>
              <a:t>shipping a product</a:t>
            </a:r>
            <a:r>
              <a:rPr lang="en-US" sz="2800" b="0" i="0" dirty="0">
                <a:solidFill>
                  <a:srgbClr val="000000"/>
                </a:solidFill>
              </a:rPr>
              <a:t>?</a:t>
            </a:r>
          </a:p>
          <a:p>
            <a:pPr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What kind of confidence is needed?</a:t>
            </a:r>
            <a:endParaRPr lang="en-US" sz="2800" b="0" i="0" dirty="0">
              <a:solidFill>
                <a:srgbClr val="000000"/>
              </a:solidFill>
            </a:endParaRPr>
          </a:p>
        </p:txBody>
      </p:sp>
      <p:sp>
        <p:nvSpPr>
          <p:cNvPr id="101" name="T101"/>
          <p:cNvSpPr txBox="1"/>
          <p:nvPr/>
        </p:nvSpPr>
        <p:spPr>
          <a:xfrm>
            <a:off x="547374" y="4092529"/>
            <a:ext cx="8181348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 TODO app, a payroll system, and a radiation-control system are all software.</a:t>
            </a:r>
          </a:p>
        </p:txBody>
      </p:sp>
      <p:pic>
        <p:nvPicPr>
          <p:cNvPr id="4" name="Think Pair Share banner" descr="Think, Pair, Share">
            <a:extLst>
              <a:ext uri="{FF2B5EF4-FFF2-40B4-BE49-F238E27FC236}">
                <a16:creationId xmlns:a16="http://schemas.microsoft.com/office/drawing/2014/main" id="{9ED59124-F5ED-9B82-55A8-6D593C16C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6500" y="1308972"/>
            <a:ext cx="4191000" cy="1206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“It depends” is the beginning of the answer, not the end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5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1122000" y="1080000"/>
            <a:ext cx="69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Depends on what?</a:t>
            </a:r>
          </a:p>
        </p:txBody>
      </p:sp>
      <p:sp>
        <p:nvSpPr>
          <p:cNvPr id="101" name="P101"/>
          <p:cNvSpPr/>
          <p:nvPr/>
        </p:nvSpPr>
        <p:spPr>
          <a:xfrm>
            <a:off x="1122000" y="1740000"/>
            <a:ext cx="69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How would you know how sure is enough?</a:t>
            </a:r>
          </a:p>
        </p:txBody>
      </p:sp>
      <p:sp>
        <p:nvSpPr>
          <p:cNvPr id="102" name="P102"/>
          <p:cNvSpPr/>
          <p:nvPr/>
        </p:nvSpPr>
        <p:spPr>
          <a:xfrm>
            <a:off x="1122000" y="2400000"/>
            <a:ext cx="69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How should the evidence you seek change?</a:t>
            </a:r>
          </a:p>
        </p:txBody>
      </p:sp>
      <p:sp>
        <p:nvSpPr>
          <p:cNvPr id="103" name="P103"/>
          <p:cNvSpPr/>
          <p:nvPr/>
        </p:nvSpPr>
        <p:spPr>
          <a:xfrm>
            <a:off x="680000" y="3240000"/>
            <a:ext cx="2440000" cy="9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>TODO app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annoyance</a:t>
            </a:r>
          </a:p>
        </p:txBody>
      </p:sp>
      <p:sp>
        <p:nvSpPr>
          <p:cNvPr id="104" name="P104"/>
          <p:cNvSpPr/>
          <p:nvPr/>
        </p:nvSpPr>
        <p:spPr>
          <a:xfrm>
            <a:off x="3300000" y="3240000"/>
            <a:ext cx="2440000" cy="90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>Payroll system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money, trust</a:t>
            </a:r>
          </a:p>
        </p:txBody>
      </p:sp>
      <p:sp>
        <p:nvSpPr>
          <p:cNvPr id="105" name="P105"/>
          <p:cNvSpPr/>
          <p:nvPr/>
        </p:nvSpPr>
        <p:spPr>
          <a:xfrm>
            <a:off x="5920000" y="3240000"/>
            <a:ext cx="2440000" cy="900000"/>
          </a:xfrm>
          <a:prstGeom prst="rect">
            <a:avLst/>
          </a:prstGeom>
          <a:solidFill>
            <a:srgbClr val="F3E7DE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>X-Ray control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human safety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680000" y="4260000"/>
            <a:ext cx="794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Not the same strategy — because being wrong does not cost the same.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519088"/>
            <a:ext cx="8595360" cy="9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400" i="0" dirty="0">
                <a:solidFill>
                  <a:srgbClr val="FFFFFF"/>
                </a:solidFill>
              </a:rPr>
              <a:t>Engineers say what it depends </a:t>
            </a:r>
            <a:r>
              <a:rPr lang="en-US" sz="2400" b="1" i="1" dirty="0">
                <a:solidFill>
                  <a:srgbClr val="FFFFFF"/>
                </a:solidFill>
              </a:rPr>
              <a:t>on</a:t>
            </a:r>
            <a:r>
              <a:rPr lang="en-US" sz="2400" b="1" i="0" dirty="0">
                <a:solidFill>
                  <a:srgbClr val="FFFFFF"/>
                </a:solidFill>
              </a:rPr>
              <a:t>, </a:t>
            </a:r>
            <a:r>
              <a:rPr lang="en-US" sz="2400" i="0" dirty="0">
                <a:solidFill>
                  <a:srgbClr val="FFFFFF"/>
                </a:solidFill>
              </a:rPr>
              <a:t>and</a:t>
            </a:r>
          </a:p>
          <a:p>
            <a:pPr algn="ctr">
              <a:buNone/>
            </a:pPr>
            <a:r>
              <a:rPr lang="en-US" sz="2400" i="0" dirty="0">
                <a:solidFill>
                  <a:srgbClr val="FFFFFF"/>
                </a:solidFill>
              </a:rPr>
              <a:t>how that changes the evidence we require.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Consequence changes the burden of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6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482000" y="1160000"/>
            <a:ext cx="256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GAME</a:t>
            </a:r>
          </a:p>
        </p:txBody>
      </p:sp>
      <p:sp>
        <p:nvSpPr>
          <p:cNvPr id="101" name="P101"/>
          <p:cNvSpPr/>
          <p:nvPr/>
        </p:nvSpPr>
        <p:spPr>
          <a:xfrm>
            <a:off x="482000" y="1860000"/>
            <a:ext cx="2560000" cy="19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000000"/>
                </a:solidFill>
              </a:rPr>
              <a:t>draws a character wrong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annoys a player</a:t>
            </a:r>
          </a:p>
        </p:txBody>
      </p:sp>
      <p:sp>
        <p:nvSpPr>
          <p:cNvPr id="102" name="B102"/>
          <p:cNvSpPr/>
          <p:nvPr/>
        </p:nvSpPr>
        <p:spPr>
          <a:xfrm>
            <a:off x="3292000" y="1160000"/>
            <a:ext cx="256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TODO APP</a:t>
            </a:r>
          </a:p>
        </p:txBody>
      </p:sp>
      <p:sp>
        <p:nvSpPr>
          <p:cNvPr id="103" name="P103"/>
          <p:cNvSpPr/>
          <p:nvPr/>
        </p:nvSpPr>
        <p:spPr>
          <a:xfrm>
            <a:off x="3292000" y="1860000"/>
            <a:ext cx="2560000" cy="190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000000"/>
                </a:solidFill>
              </a:rPr>
              <a:t>occasionally loses a task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destroys information a user depends on</a:t>
            </a:r>
          </a:p>
        </p:txBody>
      </p:sp>
      <p:sp>
        <p:nvSpPr>
          <p:cNvPr id="104" name="B104"/>
          <p:cNvSpPr/>
          <p:nvPr/>
        </p:nvSpPr>
        <p:spPr>
          <a:xfrm>
            <a:off x="6102000" y="1160000"/>
            <a:ext cx="256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X-Ray Control</a:t>
            </a:r>
          </a:p>
        </p:txBody>
      </p:sp>
      <p:sp>
        <p:nvSpPr>
          <p:cNvPr id="105" name="P105"/>
          <p:cNvSpPr/>
          <p:nvPr/>
        </p:nvSpPr>
        <p:spPr>
          <a:xfrm>
            <a:off x="6102000" y="1860000"/>
            <a:ext cx="2560000" cy="1900000"/>
          </a:xfrm>
          <a:prstGeom prst="rect">
            <a:avLst/>
          </a:prstGeom>
          <a:solidFill>
            <a:srgbClr val="F3E7DE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000000"/>
                </a:solidFill>
              </a:rPr>
              <a:t>delivers an incorrect dose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directly injures its user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482000" y="3960000"/>
            <a:ext cx="818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Severity and causal distance both matter: almost any defect connects to harm through some chain,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but a graphical glitch is not safety-critical merely because frustrated players sometimes behave badly.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more substantial and direct the possible consequence, the more evidence we should demand.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Validation is broader than testing — and it does not demand certainty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7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80000" y="112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>Validation supports a decision.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Tests are one source of evidence; the question is whether there is enough reason to deliver.</a:t>
            </a:r>
          </a:p>
        </p:txBody>
      </p:sp>
      <p:sp>
        <p:nvSpPr>
          <p:cNvPr id="101" name="P101"/>
          <p:cNvSpPr/>
          <p:nvPr/>
        </p:nvSpPr>
        <p:spPr>
          <a:xfrm>
            <a:off x="680000" y="228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>Software is updateable.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Sometimes it is right to deliver under known uncertainty, observe, and repair — “move fast and break things” is a real strategy.</a:t>
            </a:r>
          </a:p>
        </p:txBody>
      </p:sp>
      <p:sp>
        <p:nvSpPr>
          <p:cNvPr id="102" name="P102"/>
          <p:cNvSpPr/>
          <p:nvPr/>
        </p:nvSpPr>
        <p:spPr>
          <a:xfrm>
            <a:off x="680000" y="344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>But an update repairs the software,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not the consequences of its past behavior. It cannot recover lost money or reverse an injury.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Validation asks what evidence is sufficient for THIS delivery —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what uncertainty can we afford to carry?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What must we establish?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8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Begin with the claim, not the technique.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Validation begins with claims, not techniques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9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0000" y="980000"/>
            <a:ext cx="7940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900" b="0" i="0" dirty="0">
                <a:solidFill>
                  <a:srgbClr val="000000"/>
                </a:solidFill>
              </a:rPr>
              <a:t>A payment service must establish several different claims:</a:t>
            </a:r>
          </a:p>
        </p:txBody>
      </p:sp>
      <p:sp>
        <p:nvSpPr>
          <p:cNvPr id="101" name="P101"/>
          <p:cNvSpPr/>
          <p:nvPr/>
        </p:nvSpPr>
        <p:spPr>
          <a:xfrm>
            <a:off x="680000" y="1520000"/>
            <a:ext cx="794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 payment submitted once is charged at most once</a:t>
            </a:r>
          </a:p>
        </p:txBody>
      </p:sp>
      <p:sp>
        <p:nvSpPr>
          <p:cNvPr id="102" name="P102"/>
          <p:cNvSpPr/>
          <p:nvPr/>
        </p:nvSpPr>
        <p:spPr>
          <a:xfrm>
            <a:off x="680000" y="2220000"/>
            <a:ext cx="794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An unauthorized user cannot initiate a payment</a:t>
            </a:r>
          </a:p>
        </p:txBody>
      </p:sp>
      <p:sp>
        <p:nvSpPr>
          <p:cNvPr id="103" name="P103"/>
          <p:cNvSpPr/>
          <p:nvPr/>
        </p:nvSpPr>
        <p:spPr>
          <a:xfrm>
            <a:off x="680000" y="2920000"/>
            <a:ext cx="794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 completed payment appears in the account history</a:t>
            </a:r>
          </a:p>
        </p:txBody>
      </p:sp>
      <p:sp>
        <p:nvSpPr>
          <p:cNvPr id="104" name="P104"/>
          <p:cNvSpPr/>
          <p:nvPr/>
        </p:nvSpPr>
        <p:spPr>
          <a:xfrm>
            <a:off x="680000" y="3620000"/>
            <a:ext cx="794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 normal request completes within an acceptable time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680000" y="438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Evidence that supports one claim may say little about another.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“It has been tested” tells us nothing until we know what the tests were meant to establish.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First identify what must be true — then seek evidence that could expose a violation.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Remember: the middle has no fixed number of levels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10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180000"/>
            <a:ext cx="40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system organization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2620000" y="172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P102"/>
          <p:cNvSpPr/>
          <p:nvPr/>
        </p:nvSpPr>
        <p:spPr>
          <a:xfrm>
            <a:off x="920000" y="2060000"/>
            <a:ext cx="34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subsystem</a:t>
            </a:r>
          </a:p>
        </p:txBody>
      </p:sp>
      <p:cxnSp>
        <p:nvCxnSpPr>
          <p:cNvPr id="103" name="C103"/>
          <p:cNvCxnSpPr/>
          <p:nvPr/>
        </p:nvCxnSpPr>
        <p:spPr>
          <a:xfrm>
            <a:off x="2620000" y="260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4" name="P104"/>
          <p:cNvSpPr/>
          <p:nvPr/>
        </p:nvSpPr>
        <p:spPr>
          <a:xfrm>
            <a:off x="1220000" y="2940000"/>
            <a:ext cx="28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mechanism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620000" y="3860000"/>
            <a:ext cx="40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...refine as far as the problem requires</a:t>
            </a:r>
          </a:p>
        </p:txBody>
      </p:sp>
      <p:sp>
        <p:nvSpPr>
          <p:cNvPr id="130" name="P130"/>
          <p:cNvSpPr/>
          <p:nvPr/>
        </p:nvSpPr>
        <p:spPr>
          <a:xfrm>
            <a:off x="4900000" y="1180000"/>
            <a:ext cx="3720000" cy="260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Traditional V diagrams draw three or four levels because they need a usable process diagram.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700" b="0" i="1" dirty="0">
                <a:solidFill>
                  <a:srgbClr val="57534E"/>
                </a:solidFill>
              </a:rPr>
              <a:t>Those levels are convenient. They are not a law of software structure.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Architecture and Design fill as much of the middle as the engineering problem needs.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Models and properties become more precise toward realization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11</a:t>
            </a:fld>
            <a:endParaRPr lang="en-US"/>
          </a:p>
        </p:txBody>
      </p:sp>
      <p:sp>
        <p:nvSpPr>
          <p:cNvPr id="150" name="L150"/>
          <p:cNvSpPr/>
          <p:nvPr/>
        </p:nvSpPr>
        <p:spPr>
          <a:xfrm>
            <a:off x="2350000" y="980000"/>
            <a:ext cx="1950000" cy="3580000"/>
          </a:xfrm>
          <a:custGeom>
            <a:avLst/>
            <a:gdLst/>
            <a:ahLst/>
            <a:cxnLst/>
            <a:rect l="l" t="t" r="r" b="b"/>
            <a:pathLst>
              <a:path w="1950000" h="3580000" fill="none">
                <a:moveTo>
                  <a:pt x="0" y="0"/>
                </a:moveTo>
                <a:lnTo>
                  <a:pt x="1950000" y="3580000"/>
                </a:lnTo>
              </a:path>
            </a:pathLst>
          </a:custGeom>
          <a:noFill/>
          <a:ln w="38100">
            <a:solidFill>
              <a:srgbClr val="8E6F3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1" name="L151"/>
          <p:cNvSpPr/>
          <p:nvPr/>
        </p:nvSpPr>
        <p:spPr>
          <a:xfrm>
            <a:off x="4300000" y="980000"/>
            <a:ext cx="1950000" cy="3580000"/>
          </a:xfrm>
          <a:custGeom>
            <a:avLst/>
            <a:gdLst/>
            <a:ahLst/>
            <a:cxnLst/>
            <a:rect l="l" t="t" r="r" b="b"/>
            <a:pathLst>
              <a:path w="1950000" h="3580000" fill="none">
                <a:moveTo>
                  <a:pt x="1950000" y="0"/>
                </a:moveTo>
                <a:lnTo>
                  <a:pt x="0" y="3580000"/>
                </a:lnTo>
              </a:path>
            </a:pathLst>
          </a:custGeom>
          <a:noFill/>
          <a:ln w="38100">
            <a:solidFill>
              <a:srgbClr val="8E6F3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" name="T110"/>
          <p:cNvSpPr txBox="1"/>
          <p:nvPr/>
        </p:nvSpPr>
        <p:spPr>
          <a:xfrm>
            <a:off x="300000" y="94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Requirements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world outcomes</a:t>
            </a:r>
          </a:p>
        </p:txBody>
      </p:sp>
      <p:sp>
        <p:nvSpPr>
          <p:cNvPr id="111" name="T111"/>
          <p:cNvSpPr txBox="1"/>
          <p:nvPr/>
        </p:nvSpPr>
        <p:spPr>
          <a:xfrm>
            <a:off x="300000" y="156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Specification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machine obligations</a:t>
            </a:r>
          </a:p>
          <a:p>
            <a:pPr algn="r">
              <a:spcBef>
                <a:spcPts val="2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environment assumptions</a:t>
            </a:r>
          </a:p>
        </p:txBody>
      </p:sp>
      <p:sp>
        <p:nvSpPr>
          <p:cNvPr id="112" name="T112"/>
          <p:cNvSpPr txBox="1"/>
          <p:nvPr/>
        </p:nvSpPr>
        <p:spPr>
          <a:xfrm>
            <a:off x="300000" y="236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Architecture + Design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progressively more</a:t>
            </a:r>
          </a:p>
          <a:p>
            <a:pPr algn="r">
              <a:spcBef>
                <a:spcPts val="2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precise engineering models</a:t>
            </a:r>
          </a:p>
        </p:txBody>
      </p:sp>
      <p:sp>
        <p:nvSpPr>
          <p:cNvPr id="113" name="P113"/>
          <p:cNvSpPr/>
          <p:nvPr/>
        </p:nvSpPr>
        <p:spPr>
          <a:xfrm>
            <a:off x="1780000" y="3060000"/>
            <a:ext cx="160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system organization</a:t>
            </a:r>
          </a:p>
        </p:txBody>
      </p:sp>
      <p:sp>
        <p:nvSpPr>
          <p:cNvPr id="114" name="P114"/>
          <p:cNvSpPr/>
          <p:nvPr/>
        </p:nvSpPr>
        <p:spPr>
          <a:xfrm>
            <a:off x="1920000" y="3400000"/>
            <a:ext cx="132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subsystem</a:t>
            </a:r>
          </a:p>
        </p:txBody>
      </p:sp>
      <p:sp>
        <p:nvSpPr>
          <p:cNvPr id="115" name="P115"/>
          <p:cNvSpPr/>
          <p:nvPr/>
        </p:nvSpPr>
        <p:spPr>
          <a:xfrm>
            <a:off x="2060000" y="3740000"/>
            <a:ext cx="104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mechanism</a:t>
            </a:r>
          </a:p>
        </p:txBody>
      </p:sp>
      <p:sp>
        <p:nvSpPr>
          <p:cNvPr id="116" name="T116"/>
          <p:cNvSpPr txBox="1"/>
          <p:nvPr/>
        </p:nvSpPr>
        <p:spPr>
          <a:xfrm>
            <a:off x="1780000" y="4090000"/>
            <a:ext cx="1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>(no fixed number of levels)</a:t>
            </a:r>
          </a:p>
        </p:txBody>
      </p:sp>
      <p:sp>
        <p:nvSpPr>
          <p:cNvPr id="117" name="T117"/>
          <p:cNvSpPr txBox="1"/>
          <p:nvPr/>
        </p:nvSpPr>
        <p:spPr>
          <a:xfrm>
            <a:off x="3500000" y="4620000"/>
            <a:ext cx="16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Realization</a:t>
            </a:r>
          </a:p>
          <a:p>
            <a:pPr algn="ctr"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Implementation</a:t>
            </a:r>
          </a:p>
        </p:txBody>
      </p:sp>
      <p:sp>
        <p:nvSpPr>
          <p:cNvPr id="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left leg is not a schedule — it is models growing more precise toward the code.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/>
      <p:bldP spid="111" grpId="1"/>
      <p:bldP spid="112" grpId="2"/>
      <p:bldP spid="113" grpId="3" animBg="1"/>
      <p:bldP spid="114" grpId="4" animBg="1"/>
      <p:bldP spid="115" grpId="5" animBg="1"/>
      <p:bldP spid="116" grpId="6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Evidence bears on properties at the scope where they live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12</a:t>
            </a:fld>
            <a:endParaRPr lang="en-US"/>
          </a:p>
        </p:txBody>
      </p:sp>
      <p:sp>
        <p:nvSpPr>
          <p:cNvPr id="150" name="L150"/>
          <p:cNvSpPr/>
          <p:nvPr/>
        </p:nvSpPr>
        <p:spPr>
          <a:xfrm>
            <a:off x="2350000" y="980000"/>
            <a:ext cx="1950000" cy="3580000"/>
          </a:xfrm>
          <a:custGeom>
            <a:avLst/>
            <a:gdLst/>
            <a:ahLst/>
            <a:cxnLst/>
            <a:rect l="l" t="t" r="r" b="b"/>
            <a:pathLst>
              <a:path w="1950000" h="3580000" fill="none">
                <a:moveTo>
                  <a:pt x="0" y="0"/>
                </a:moveTo>
                <a:lnTo>
                  <a:pt x="1950000" y="3580000"/>
                </a:lnTo>
              </a:path>
            </a:pathLst>
          </a:custGeom>
          <a:noFill/>
          <a:ln w="38100">
            <a:solidFill>
              <a:srgbClr val="8E6F3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1" name="L151"/>
          <p:cNvSpPr/>
          <p:nvPr/>
        </p:nvSpPr>
        <p:spPr>
          <a:xfrm>
            <a:off x="4300000" y="980000"/>
            <a:ext cx="1950000" cy="3580000"/>
          </a:xfrm>
          <a:custGeom>
            <a:avLst/>
            <a:gdLst/>
            <a:ahLst/>
            <a:cxnLst/>
            <a:rect l="l" t="t" r="r" b="b"/>
            <a:pathLst>
              <a:path w="1950000" h="3580000" fill="none">
                <a:moveTo>
                  <a:pt x="1950000" y="0"/>
                </a:moveTo>
                <a:lnTo>
                  <a:pt x="0" y="3580000"/>
                </a:lnTo>
              </a:path>
            </a:pathLst>
          </a:custGeom>
          <a:noFill/>
          <a:ln w="38100">
            <a:solidFill>
              <a:srgbClr val="8E6F3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" name="T110"/>
          <p:cNvSpPr txBox="1"/>
          <p:nvPr/>
        </p:nvSpPr>
        <p:spPr>
          <a:xfrm>
            <a:off x="300000" y="94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Requirements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world outcomes</a:t>
            </a:r>
          </a:p>
        </p:txBody>
      </p:sp>
      <p:sp>
        <p:nvSpPr>
          <p:cNvPr id="111" name="T111"/>
          <p:cNvSpPr txBox="1"/>
          <p:nvPr/>
        </p:nvSpPr>
        <p:spPr>
          <a:xfrm>
            <a:off x="300000" y="156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Specification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machine obligations</a:t>
            </a:r>
          </a:p>
          <a:p>
            <a:pPr algn="r">
              <a:spcBef>
                <a:spcPts val="2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environment assumptions</a:t>
            </a:r>
          </a:p>
        </p:txBody>
      </p:sp>
      <p:sp>
        <p:nvSpPr>
          <p:cNvPr id="112" name="T112"/>
          <p:cNvSpPr txBox="1"/>
          <p:nvPr/>
        </p:nvSpPr>
        <p:spPr>
          <a:xfrm>
            <a:off x="300000" y="236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Architecture + Design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progressively more</a:t>
            </a:r>
          </a:p>
          <a:p>
            <a:pPr algn="r">
              <a:spcBef>
                <a:spcPts val="2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precise engineering models</a:t>
            </a:r>
          </a:p>
        </p:txBody>
      </p:sp>
      <p:sp>
        <p:nvSpPr>
          <p:cNvPr id="113" name="P113"/>
          <p:cNvSpPr/>
          <p:nvPr/>
        </p:nvSpPr>
        <p:spPr>
          <a:xfrm>
            <a:off x="1780000" y="3060000"/>
            <a:ext cx="160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system organization</a:t>
            </a:r>
          </a:p>
        </p:txBody>
      </p:sp>
      <p:sp>
        <p:nvSpPr>
          <p:cNvPr id="114" name="P114"/>
          <p:cNvSpPr/>
          <p:nvPr/>
        </p:nvSpPr>
        <p:spPr>
          <a:xfrm>
            <a:off x="1920000" y="3400000"/>
            <a:ext cx="132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subsystem</a:t>
            </a:r>
          </a:p>
        </p:txBody>
      </p:sp>
      <p:sp>
        <p:nvSpPr>
          <p:cNvPr id="115" name="P115"/>
          <p:cNvSpPr/>
          <p:nvPr/>
        </p:nvSpPr>
        <p:spPr>
          <a:xfrm>
            <a:off x="2060000" y="3740000"/>
            <a:ext cx="104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mechanism</a:t>
            </a:r>
          </a:p>
        </p:txBody>
      </p:sp>
      <p:sp>
        <p:nvSpPr>
          <p:cNvPr id="117" name="T117"/>
          <p:cNvSpPr txBox="1"/>
          <p:nvPr/>
        </p:nvSpPr>
        <p:spPr>
          <a:xfrm>
            <a:off x="3500000" y="4620000"/>
            <a:ext cx="16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Realization</a:t>
            </a:r>
          </a:p>
          <a:p>
            <a:pPr algn="ctr"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Implementation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6420000" y="940000"/>
            <a:ext cx="23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World evidence</a:t>
            </a:r>
          </a:p>
        </p:txBody>
      </p:sp>
      <p:sp>
        <p:nvSpPr>
          <p:cNvPr id="121" name="T121"/>
          <p:cNvSpPr txBox="1"/>
          <p:nvPr/>
        </p:nvSpPr>
        <p:spPr>
          <a:xfrm>
            <a:off x="6420000" y="1560000"/>
            <a:ext cx="23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Boundary evidence</a:t>
            </a:r>
          </a:p>
        </p:txBody>
      </p:sp>
      <p:sp>
        <p:nvSpPr>
          <p:cNvPr id="122" name="T122"/>
          <p:cNvSpPr txBox="1"/>
          <p:nvPr/>
        </p:nvSpPr>
        <p:spPr>
          <a:xfrm>
            <a:off x="6420000" y="2360000"/>
            <a:ext cx="23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Compositional evidence</a:t>
            </a:r>
          </a:p>
        </p:txBody>
      </p:sp>
      <p:sp>
        <p:nvSpPr>
          <p:cNvPr id="123" name="T123"/>
          <p:cNvSpPr txBox="1"/>
          <p:nvPr/>
        </p:nvSpPr>
        <p:spPr>
          <a:xfrm>
            <a:off x="6420000" y="3560000"/>
            <a:ext cx="23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Local evidence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6420000" y="1200000"/>
            <a:ext cx="2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250" b="0" i="1" dirty="0">
                <a:solidFill>
                  <a:srgbClr val="78716C"/>
                </a:solidFill>
              </a:rPr>
              <a:t>“acceptance testing”</a:t>
            </a:r>
          </a:p>
        </p:txBody>
      </p:sp>
      <p:sp>
        <p:nvSpPr>
          <p:cNvPr id="131" name="T131"/>
          <p:cNvSpPr txBox="1"/>
          <p:nvPr/>
        </p:nvSpPr>
        <p:spPr>
          <a:xfrm>
            <a:off x="6420000" y="1820000"/>
            <a:ext cx="2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250" b="0" i="1" dirty="0">
                <a:solidFill>
                  <a:srgbClr val="78716C"/>
                </a:solidFill>
              </a:rPr>
              <a:t>“system testing”</a:t>
            </a:r>
          </a:p>
        </p:txBody>
      </p:sp>
      <p:sp>
        <p:nvSpPr>
          <p:cNvPr id="132" name="T132"/>
          <p:cNvSpPr txBox="1"/>
          <p:nvPr/>
        </p:nvSpPr>
        <p:spPr>
          <a:xfrm>
            <a:off x="6420000" y="2620000"/>
            <a:ext cx="2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250" b="0" i="1" dirty="0">
                <a:solidFill>
                  <a:srgbClr val="78716C"/>
                </a:solidFill>
              </a:rPr>
              <a:t>“integration testing”</a:t>
            </a:r>
          </a:p>
        </p:txBody>
      </p:sp>
      <p:sp>
        <p:nvSpPr>
          <p:cNvPr id="133" name="T133"/>
          <p:cNvSpPr txBox="1"/>
          <p:nvPr/>
        </p:nvSpPr>
        <p:spPr>
          <a:xfrm>
            <a:off x="6420000" y="3820000"/>
            <a:ext cx="2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250" b="0" i="1" dirty="0">
                <a:solidFill>
                  <a:srgbClr val="78716C"/>
                </a:solidFill>
              </a:rPr>
              <a:t>“unit testing”</a:t>
            </a:r>
          </a:p>
        </p:txBody>
      </p:sp>
      <p:sp>
        <p:nvSpPr>
          <p:cNvPr id="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You will hear these words constantly. Now you know what they are trying to describe.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" grpId="0"/>
      <p:bldP spid="121" grpId="1"/>
      <p:bldP spid="122" grpId="2"/>
      <p:bldP spid="123" grpId="3"/>
      <p:bldP spid="130" grpId="4"/>
      <p:bldP spid="131" grpId="5"/>
      <p:bldP spid="132" grpId="6"/>
      <p:bldP spid="133" grpId="7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familiar testing levels are relative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13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680000" y="1120000"/>
            <a:ext cx="240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Unit</a:t>
            </a:r>
          </a:p>
        </p:txBody>
      </p:sp>
      <p:sp>
        <p:nvSpPr>
          <p:cNvPr id="101" name="P101"/>
          <p:cNvSpPr/>
          <p:nvPr/>
        </p:nvSpPr>
        <p:spPr>
          <a:xfrm>
            <a:off x="3160000" y="1120000"/>
            <a:ext cx="546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evidence about a chosen part in isolation</a:t>
            </a:r>
          </a:p>
        </p:txBody>
      </p:sp>
      <p:sp>
        <p:nvSpPr>
          <p:cNvPr id="102" name="B102"/>
          <p:cNvSpPr/>
          <p:nvPr/>
        </p:nvSpPr>
        <p:spPr>
          <a:xfrm>
            <a:off x="680000" y="1860000"/>
            <a:ext cx="240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Integration</a:t>
            </a:r>
          </a:p>
        </p:txBody>
      </p:sp>
      <p:sp>
        <p:nvSpPr>
          <p:cNvPr id="103" name="P103"/>
          <p:cNvSpPr/>
          <p:nvPr/>
        </p:nvSpPr>
        <p:spPr>
          <a:xfrm>
            <a:off x="3160000" y="1860000"/>
            <a:ext cx="546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evidence about interactions among parts</a:t>
            </a:r>
          </a:p>
        </p:txBody>
      </p:sp>
      <p:sp>
        <p:nvSpPr>
          <p:cNvPr id="104" name="B104"/>
          <p:cNvSpPr/>
          <p:nvPr/>
        </p:nvSpPr>
        <p:spPr>
          <a:xfrm>
            <a:off x="680000" y="2600000"/>
            <a:ext cx="240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System</a:t>
            </a:r>
          </a:p>
        </p:txBody>
      </p:sp>
      <p:sp>
        <p:nvSpPr>
          <p:cNvPr id="105" name="P105"/>
          <p:cNvSpPr/>
          <p:nvPr/>
        </p:nvSpPr>
        <p:spPr>
          <a:xfrm>
            <a:off x="3160000" y="2600000"/>
            <a:ext cx="546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evidence about the assembled system at a chosen boundary</a:t>
            </a:r>
          </a:p>
        </p:txBody>
      </p:sp>
      <p:sp>
        <p:nvSpPr>
          <p:cNvPr id="106" name="B106"/>
          <p:cNvSpPr/>
          <p:nvPr/>
        </p:nvSpPr>
        <p:spPr>
          <a:xfrm>
            <a:off x="680000" y="3340000"/>
            <a:ext cx="240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Acceptance</a:t>
            </a:r>
          </a:p>
        </p:txBody>
      </p:sp>
      <p:sp>
        <p:nvSpPr>
          <p:cNvPr id="107" name="P107"/>
          <p:cNvSpPr/>
          <p:nvPr/>
        </p:nvSpPr>
        <p:spPr>
          <a:xfrm>
            <a:off x="3160000" y="3340000"/>
            <a:ext cx="546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evidence that the system is acceptable for its intended use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680000" y="4180000"/>
            <a:ext cx="794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50" b="0" i="1" dirty="0">
                <a:solidFill>
                  <a:srgbClr val="555960"/>
                </a:solidFill>
              </a:rPr>
              <a:t>A subsystem may be a “unit” from one perspective and a “system” with its own architecture from another.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Useful vocabulary. Not a theory of where properties live.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Validate a property at the scope where it lives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14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0000" y="940000"/>
            <a:ext cx="794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0" dirty="0">
                <a:solidFill>
                  <a:srgbClr val="5C4826"/>
                </a:solidFill>
              </a:rPr>
              <a:t>Can correct components compose into an incorrect system?</a:t>
            </a:r>
          </a:p>
        </p:txBody>
      </p:sp>
      <p:sp>
        <p:nvSpPr>
          <p:cNvPr id="101" name="P101"/>
          <p:cNvSpPr/>
          <p:nvPr/>
        </p:nvSpPr>
        <p:spPr>
          <a:xfrm>
            <a:off x="680000" y="1640000"/>
            <a:ext cx="7940000" cy="7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Three services each meet their local latency budget — the end-to-end path exceeds the system budget.</a:t>
            </a:r>
          </a:p>
        </p:txBody>
      </p:sp>
      <p:sp>
        <p:nvSpPr>
          <p:cNvPr id="102" name="P102"/>
          <p:cNvSpPr/>
          <p:nvPr/>
        </p:nvSpPr>
        <p:spPr>
          <a:xfrm>
            <a:off x="680000" y="2440000"/>
            <a:ext cx="7940000" cy="7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Two components each behave correctly — their assumptions leave one responsibility owned by neither.</a:t>
            </a:r>
          </a:p>
        </p:txBody>
      </p:sp>
      <p:sp>
        <p:nvSpPr>
          <p:cNvPr id="103" name="P103"/>
          <p:cNvSpPr/>
          <p:nvPr/>
        </p:nvSpPr>
        <p:spPr>
          <a:xfrm>
            <a:off x="680000" y="3240000"/>
            <a:ext cx="7940000" cy="7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Two retry mechanisms are each correct — their interaction lets the same operation happen twice.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Local evidence cannot replace evidence about a property that exists only in composition.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final claim reaches the world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15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620000" y="1360000"/>
            <a:ext cx="2360000" cy="9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MACHINE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00" b="0" i="1" dirty="0">
                <a:solidFill>
                  <a:srgbClr val="FFFFFF"/>
                </a:solidFill>
              </a:rPr>
              <a:t>what we build</a:t>
            </a:r>
          </a:p>
        </p:txBody>
      </p:sp>
      <p:sp>
        <p:nvSpPr>
          <p:cNvPr id="101" name="T101"/>
          <p:cNvSpPr txBox="1"/>
          <p:nvPr/>
        </p:nvSpPr>
        <p:spPr>
          <a:xfrm>
            <a:off x="3020000" y="1610000"/>
            <a:ext cx="36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800" b="1" i="0" dirty="0">
                <a:solidFill>
                  <a:srgbClr val="5C4826"/>
                </a:solidFill>
              </a:rPr>
              <a:t>+</a:t>
            </a:r>
          </a:p>
        </p:txBody>
      </p:sp>
      <p:sp>
        <p:nvSpPr>
          <p:cNvPr id="102" name="B102"/>
          <p:cNvSpPr/>
          <p:nvPr/>
        </p:nvSpPr>
        <p:spPr>
          <a:xfrm>
            <a:off x="3420000" y="1360000"/>
            <a:ext cx="2360000" cy="9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ENVIRONMENT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00" b="0" i="1" dirty="0">
                <a:solidFill>
                  <a:srgbClr val="FFFFFF"/>
                </a:solidFill>
              </a:rPr>
              <a:t>domain assumptions</a:t>
            </a:r>
          </a:p>
        </p:txBody>
      </p:sp>
      <p:cxnSp>
        <p:nvCxnSpPr>
          <p:cNvPr id="103" name="C103"/>
          <p:cNvCxnSpPr/>
          <p:nvPr/>
        </p:nvCxnSpPr>
        <p:spPr>
          <a:xfrm>
            <a:off x="5860000" y="1810000"/>
            <a:ext cx="52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4" name="E104"/>
          <p:cNvSpPr/>
          <p:nvPr/>
        </p:nvSpPr>
        <p:spPr>
          <a:xfrm>
            <a:off x="6480000" y="1360000"/>
            <a:ext cx="2140000" cy="90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WORLD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00" b="0" i="1" dirty="0">
                <a:solidFill>
                  <a:srgbClr val="57534E"/>
                </a:solidFill>
              </a:rPr>
              <a:t>the required outcome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760000"/>
            <a:ext cx="7940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Most evidence attaches to the MACHINE — tests, analyses, and proofs about behavior at its boundary.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But requirements live in the WORLD, and the link runs through domain assumptions.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false assumption fails the requirement while the machine behaves exactly as specified.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Machine-side evidence cannot expose a false domain assumption. Evidence about the world can.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measurement is not evidence by itself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16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19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MODEL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1517000" y="2290000"/>
            <a:ext cx="15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T102"/>
          <p:cNvSpPr txBox="1"/>
          <p:nvPr/>
        </p:nvSpPr>
        <p:spPr>
          <a:xfrm>
            <a:off x="1142000" y="1690000"/>
            <a:ext cx="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50" b="0" i="1" dirty="0">
                <a:solidFill>
                  <a:srgbClr val="555960"/>
                </a:solidFill>
              </a:rPr>
              <a:t>represents</a:t>
            </a:r>
          </a:p>
        </p:txBody>
      </p:sp>
      <p:sp>
        <p:nvSpPr>
          <p:cNvPr id="103" name="P103"/>
          <p:cNvSpPr/>
          <p:nvPr/>
        </p:nvSpPr>
        <p:spPr>
          <a:xfrm>
            <a:off x="168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PROPERTY</a:t>
            </a:r>
          </a:p>
        </p:txBody>
      </p:sp>
      <p:cxnSp>
        <p:nvCxnSpPr>
          <p:cNvPr id="104" name="C104"/>
          <p:cNvCxnSpPr/>
          <p:nvPr/>
        </p:nvCxnSpPr>
        <p:spPr>
          <a:xfrm>
            <a:off x="3007000" y="2290000"/>
            <a:ext cx="15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5" name="T105"/>
          <p:cNvSpPr txBox="1"/>
          <p:nvPr/>
        </p:nvSpPr>
        <p:spPr>
          <a:xfrm>
            <a:off x="2632000" y="1690000"/>
            <a:ext cx="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50" b="0" i="1" dirty="0">
                <a:solidFill>
                  <a:srgbClr val="555960"/>
                </a:solidFill>
              </a:rPr>
              <a:t>assessed by</a:t>
            </a:r>
          </a:p>
        </p:txBody>
      </p:sp>
      <p:sp>
        <p:nvSpPr>
          <p:cNvPr id="106" name="P106"/>
          <p:cNvSpPr/>
          <p:nvPr/>
        </p:nvSpPr>
        <p:spPr>
          <a:xfrm>
            <a:off x="317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METRIC</a:t>
            </a:r>
          </a:p>
        </p:txBody>
      </p:sp>
      <p:cxnSp>
        <p:nvCxnSpPr>
          <p:cNvPr id="107" name="C107"/>
          <p:cNvCxnSpPr/>
          <p:nvPr/>
        </p:nvCxnSpPr>
        <p:spPr>
          <a:xfrm>
            <a:off x="4497000" y="2290000"/>
            <a:ext cx="15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8" name="T108"/>
          <p:cNvSpPr txBox="1"/>
          <p:nvPr/>
        </p:nvSpPr>
        <p:spPr>
          <a:xfrm>
            <a:off x="4122000" y="1690000"/>
            <a:ext cx="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50" b="0" i="1" dirty="0">
                <a:solidFill>
                  <a:srgbClr val="555960"/>
                </a:solidFill>
              </a:rPr>
              <a:t>applied</a:t>
            </a:r>
          </a:p>
        </p:txBody>
      </p:sp>
      <p:sp>
        <p:nvSpPr>
          <p:cNvPr id="109" name="P109"/>
          <p:cNvSpPr/>
          <p:nvPr/>
        </p:nvSpPr>
        <p:spPr>
          <a:xfrm>
            <a:off x="466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MEASUREMENT</a:t>
            </a:r>
          </a:p>
        </p:txBody>
      </p:sp>
      <p:cxnSp>
        <p:nvCxnSpPr>
          <p:cNvPr id="110" name="C110"/>
          <p:cNvCxnSpPr/>
          <p:nvPr/>
        </p:nvCxnSpPr>
        <p:spPr>
          <a:xfrm>
            <a:off x="5987000" y="2290000"/>
            <a:ext cx="15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1" name="T111"/>
          <p:cNvSpPr txBox="1"/>
          <p:nvPr/>
        </p:nvSpPr>
        <p:spPr>
          <a:xfrm>
            <a:off x="5612000" y="1690000"/>
            <a:ext cx="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50" b="0" i="1" dirty="0">
                <a:solidFill>
                  <a:srgbClr val="555960"/>
                </a:solidFill>
              </a:rPr>
              <a:t>bears on</a:t>
            </a:r>
          </a:p>
        </p:txBody>
      </p:sp>
      <p:sp>
        <p:nvSpPr>
          <p:cNvPr id="112" name="P112"/>
          <p:cNvSpPr/>
          <p:nvPr/>
        </p:nvSpPr>
        <p:spPr>
          <a:xfrm>
            <a:off x="615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EVIDENCE</a:t>
            </a:r>
          </a:p>
        </p:txBody>
      </p:sp>
      <p:cxnSp>
        <p:nvCxnSpPr>
          <p:cNvPr id="113" name="C113"/>
          <p:cNvCxnSpPr/>
          <p:nvPr/>
        </p:nvCxnSpPr>
        <p:spPr>
          <a:xfrm>
            <a:off x="7477000" y="2290000"/>
            <a:ext cx="15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4" name="T114"/>
          <p:cNvSpPr txBox="1"/>
          <p:nvPr/>
        </p:nvSpPr>
        <p:spPr>
          <a:xfrm>
            <a:off x="7102000" y="1690000"/>
            <a:ext cx="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50" b="0" i="1" dirty="0">
                <a:solidFill>
                  <a:srgbClr val="555960"/>
                </a:solidFill>
              </a:rPr>
              <a:t>interpreted</a:t>
            </a:r>
          </a:p>
        </p:txBody>
      </p:sp>
      <p:sp>
        <p:nvSpPr>
          <p:cNvPr id="115" name="P115"/>
          <p:cNvSpPr/>
          <p:nvPr/>
        </p:nvSpPr>
        <p:spPr>
          <a:xfrm>
            <a:off x="764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JUDGMENT</a:t>
            </a:r>
          </a:p>
        </p:txBody>
      </p:sp>
      <p:sp>
        <p:nvSpPr>
          <p:cNvPr id="180" name="T180"/>
          <p:cNvSpPr txBox="1"/>
          <p:nvPr/>
        </p:nvSpPr>
        <p:spPr>
          <a:xfrm>
            <a:off x="680000" y="3060000"/>
            <a:ext cx="794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model predicts a request path stays under 500 ms; the metric is p99 latency under workload W.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measurement is 420 ms — meaningless without the property, metric, and conditions that give it meaning.</a:t>
            </a:r>
          </a:p>
        </p:txBody>
      </p:sp>
      <p:sp>
        <p:nvSpPr>
          <p:cNvPr id="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 mismatch is information: a defect, an incomplete model, a false assumption, or a poor metric.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An Assurance Case makes this reasoning inspectable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17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3172000" y="1180000"/>
            <a:ext cx="280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FFFFFF"/>
                </a:solidFill>
              </a:rPr>
              <a:t>CLAIM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572000" y="1880000"/>
            <a:ext cx="0" cy="64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T102"/>
          <p:cNvSpPr txBox="1"/>
          <p:nvPr/>
        </p:nvSpPr>
        <p:spPr>
          <a:xfrm>
            <a:off x="4720000" y="1980000"/>
            <a:ext cx="34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why should we believe it?</a:t>
            </a:r>
          </a:p>
        </p:txBody>
      </p:sp>
      <p:sp>
        <p:nvSpPr>
          <p:cNvPr id="103" name="P103"/>
          <p:cNvSpPr/>
          <p:nvPr/>
        </p:nvSpPr>
        <p:spPr>
          <a:xfrm>
            <a:off x="3172000" y="2600000"/>
            <a:ext cx="2800000" cy="6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>EVIDENCE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3560000"/>
            <a:ext cx="794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Every consequential claim owes an argument from evidence, under stated assumptions.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No notation yet — just the discipline. We will make the argument explicit at the end.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 pile of green tests is not an argument until you can say which claim they support, and why.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2900" b="0" i="0" dirty="0">
                <a:solidFill>
                  <a:srgbClr val="000000"/>
                </a:solidFill>
              </a:rPr>
              <a:t>What evidence could bear on the claim?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18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Choose evidence for the uncertainty you need to reduce.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Choose evidence for the uncertainty you need to reduce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19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620000" y="1560000"/>
            <a:ext cx="2360000" cy="7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CLAIM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3010000" y="1920000"/>
            <a:ext cx="39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P102"/>
          <p:cNvSpPr/>
          <p:nvPr/>
        </p:nvSpPr>
        <p:spPr>
          <a:xfrm>
            <a:off x="3430000" y="1560000"/>
            <a:ext cx="2360000" cy="7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possible failure</a:t>
            </a:r>
          </a:p>
        </p:txBody>
      </p:sp>
      <p:cxnSp>
        <p:nvCxnSpPr>
          <p:cNvPr id="103" name="C103"/>
          <p:cNvCxnSpPr/>
          <p:nvPr/>
        </p:nvCxnSpPr>
        <p:spPr>
          <a:xfrm>
            <a:off x="5820000" y="1920000"/>
            <a:ext cx="39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4" name="P104"/>
          <p:cNvSpPr/>
          <p:nvPr/>
        </p:nvSpPr>
        <p:spPr>
          <a:xfrm>
            <a:off x="6240000" y="1560000"/>
            <a:ext cx="2360000" cy="7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useful evidence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680000" y="276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The engineering question runs from the claim toward evidence —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not from a catalog of impressive techniques.</a:t>
            </a:r>
          </a:p>
        </p:txBody>
      </p:sp>
      <p:sp>
        <p:nvSpPr>
          <p:cNvPr id="130" name="E130"/>
          <p:cNvSpPr/>
          <p:nvPr/>
        </p:nvSpPr>
        <p:spPr>
          <a:xfrm>
            <a:off x="3572000" y="398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?????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Each technique answers a different question. Match it to the uncertainty you must reduce.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Known answers → example-based testing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20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500000"/>
            <a:ext cx="3760000" cy="10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ENGINEERING PROBLEM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We know the important cases and their expected results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400000" y="2020000"/>
            <a:ext cx="44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860000" y="1500000"/>
            <a:ext cx="3760000" cy="10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EVIDENCE MECHANISM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Example-based testing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90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Direct and cheap when the cases and their answers are known — and silent about every case we did not select.</a:t>
            </a:r>
          </a:p>
        </p:txBody>
      </p:sp>
      <p:sp>
        <p:nvSpPr>
          <p:cNvPr id="120" name="E120"/>
          <p:cNvSpPr/>
          <p:nvPr/>
        </p:nvSpPr>
        <p:spPr>
          <a:xfrm>
            <a:off x="3572000" y="416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Strong where you looked. It says nothing about the inputs you never chose.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General properties → property-based testing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500000"/>
            <a:ext cx="3760000" cy="10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ENGINEERING PROBLEM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A property should hold across a whole class of inputs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400000" y="2020000"/>
            <a:ext cx="44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860000" y="1500000"/>
            <a:ext cx="3760000" cy="10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EVIDENCE MECHANISM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Property-based testing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90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State what must be true in general; let the tool generate inputs and search for a counterexample.</a:t>
            </a:r>
          </a:p>
        </p:txBody>
      </p:sp>
      <p:sp>
        <p:nvSpPr>
          <p:cNvPr id="120" name="E120"/>
          <p:cNvSpPr/>
          <p:nvPr/>
        </p:nvSpPr>
        <p:spPr>
          <a:xfrm>
            <a:off x="3572000" y="416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You trade hand-picked examples for the harder work of stating the property.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oracle is often the expensive part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22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300000"/>
            <a:ext cx="3720000" cy="9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000000"/>
                </a:solidFill>
              </a:rPr>
              <a:t>Generating inputs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1" dirty="0">
                <a:solidFill>
                  <a:srgbClr val="57534E"/>
                </a:solidFill>
              </a:rPr>
              <a:t>often cheap</a:t>
            </a:r>
          </a:p>
        </p:txBody>
      </p:sp>
      <p:sp>
        <p:nvSpPr>
          <p:cNvPr id="101" name="T101"/>
          <p:cNvSpPr txBox="1"/>
          <p:nvPr/>
        </p:nvSpPr>
        <p:spPr>
          <a:xfrm>
            <a:off x="4360000" y="1520000"/>
            <a:ext cx="420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>vs</a:t>
            </a:r>
          </a:p>
        </p:txBody>
      </p:sp>
      <p:sp>
        <p:nvSpPr>
          <p:cNvPr id="102" name="P102"/>
          <p:cNvSpPr/>
          <p:nvPr/>
        </p:nvSpPr>
        <p:spPr>
          <a:xfrm>
            <a:off x="4900000" y="1300000"/>
            <a:ext cx="3720000" cy="9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000000"/>
                </a:solidFill>
              </a:rPr>
              <a:t>Stating the correct answer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1" dirty="0">
                <a:solidFill>
                  <a:srgbClr val="57534E"/>
                </a:solidFill>
              </a:rPr>
              <a:t>often expensive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500000"/>
            <a:ext cx="794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0" dirty="0">
                <a:solidFill>
                  <a:srgbClr val="000000"/>
                </a:solidFill>
              </a:rPr>
              <a:t>Several techniques are really answers to this one difficulty:</a:t>
            </a:r>
          </a:p>
        </p:txBody>
      </p:sp>
      <p:sp>
        <p:nvSpPr>
          <p:cNvPr id="120" name="P120"/>
          <p:cNvSpPr/>
          <p:nvPr/>
        </p:nvSpPr>
        <p:spPr>
          <a:xfrm>
            <a:off x="680000" y="3080000"/>
            <a:ext cx="794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Property-based testing — state the answer as a property</a:t>
            </a:r>
          </a:p>
        </p:txBody>
      </p:sp>
      <p:sp>
        <p:nvSpPr>
          <p:cNvPr id="121" name="P121"/>
          <p:cNvSpPr/>
          <p:nvPr/>
        </p:nvSpPr>
        <p:spPr>
          <a:xfrm>
            <a:off x="680000" y="3680000"/>
            <a:ext cx="794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Differential testing — let an independent implementation flag disagreements</a:t>
            </a:r>
          </a:p>
        </p:txBody>
      </p:sp>
      <p:sp>
        <p:nvSpPr>
          <p:cNvPr id="122" name="P122"/>
          <p:cNvSpPr/>
          <p:nvPr/>
        </p:nvSpPr>
        <p:spPr>
          <a:xfrm>
            <a:off x="680000" y="4280000"/>
            <a:ext cx="794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Model checking — state the property over a model and search it exhaustively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Recognize the shared oracle problem — the next technique you meet will be answering it too.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Another implementation → differential testing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500000"/>
            <a:ext cx="3760000" cy="10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ENGINEERING PROBLEM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The correct answer is expensive to state case by case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400000" y="2020000"/>
            <a:ext cx="44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860000" y="1500000"/>
            <a:ext cx="3760000" cy="10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EVIDENCE MECHANISM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Differential testing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90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Run the same inputs through independently developed implementations; investigate every disagreement.</a:t>
            </a:r>
          </a:p>
        </p:txBody>
      </p:sp>
      <p:sp>
        <p:nvSpPr>
          <p:cNvPr id="120" name="E120"/>
          <p:cNvSpPr/>
          <p:nvPr/>
        </p:nvSpPr>
        <p:spPr>
          <a:xfrm>
            <a:off x="3572000" y="416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An independent implementation becomes a partial oracle — disagreement is the signal.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Related executions → metamorphic testing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24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500000"/>
            <a:ext cx="3760000" cy="10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ENGINEERING PROBLEM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We cannot state the answer, but we know how related runs must relate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400000" y="2020000"/>
            <a:ext cx="44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860000" y="1500000"/>
            <a:ext cx="3760000" cy="10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EVIDENCE MECHANISM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Metamorphic testing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90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Check a relation between runs: sorting a shuffled list yields the same result; doubling every input scales the total.</a:t>
            </a:r>
          </a:p>
        </p:txBody>
      </p:sp>
      <p:sp>
        <p:nvSpPr>
          <p:cNvPr id="120" name="E120"/>
          <p:cNvSpPr/>
          <p:nvPr/>
        </p:nvSpPr>
        <p:spPr>
          <a:xfrm>
            <a:off x="3572000" y="416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You can test without an oracle when outputs must relate in a known way.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Search for unexpected behavior → fuzzing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25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500000"/>
            <a:ext cx="3760000" cy="10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ENGINEERING PROBLEM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The dangerous inputs are ones we did not anticipate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400000" y="2020000"/>
            <a:ext cx="44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860000" y="1500000"/>
            <a:ext cx="3760000" cy="10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EVIDENCE MECHANISM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Fuzzing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90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Explore large or unusual input spaces, needing only a weak notion of failure such as a crash or a hang.</a:t>
            </a:r>
          </a:p>
        </p:txBody>
      </p:sp>
      <p:sp>
        <p:nvSpPr>
          <p:cNvPr id="120" name="E120"/>
          <p:cNvSpPr/>
          <p:nvPr/>
        </p:nvSpPr>
        <p:spPr>
          <a:xfrm>
            <a:off x="3572000" y="416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Cheap evidence about robustness. It says little about functional correctness.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Explore modeled behaviors → static analysis &amp; model checking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26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500000"/>
            <a:ext cx="3760000" cy="10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ENGINEERING PROBLEM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We need to exclude a whole class of failures, not sample it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400000" y="2020000"/>
            <a:ext cx="44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860000" y="1500000"/>
            <a:ext cx="3760000" cy="10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EVIDENCE MECHANISM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Static analysis &amp; model checking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90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Reason about possible behaviors without executing each one — excluding failures no finite test set can.</a:t>
            </a:r>
          </a:p>
        </p:txBody>
      </p:sp>
      <p:sp>
        <p:nvSpPr>
          <p:cNvPr id="120" name="E120"/>
          <p:cNvSpPr/>
          <p:nvPr/>
        </p:nvSpPr>
        <p:spPr>
          <a:xfrm>
            <a:off x="3572000" y="416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Strong evidence about the model you wrote, under the assumptions it contains.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Different techniques establish different things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27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80000" y="1140000"/>
            <a:ext cx="4200000" cy="6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Example-based / property-based</a:t>
            </a:r>
          </a:p>
        </p:txBody>
      </p:sp>
      <p:sp>
        <p:nvSpPr>
          <p:cNvPr id="101" name="P101"/>
          <p:cNvSpPr/>
          <p:nvPr/>
        </p:nvSpPr>
        <p:spPr>
          <a:xfrm>
            <a:off x="4960000" y="1140000"/>
            <a:ext cx="3660000" cy="6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1" dirty="0">
                <a:solidFill>
                  <a:srgbClr val="57534E"/>
                </a:solidFill>
              </a:rPr>
              <a:t>presence of behaviors you can state</a:t>
            </a:r>
          </a:p>
        </p:txBody>
      </p:sp>
      <p:sp>
        <p:nvSpPr>
          <p:cNvPr id="102" name="P102"/>
          <p:cNvSpPr/>
          <p:nvPr/>
        </p:nvSpPr>
        <p:spPr>
          <a:xfrm>
            <a:off x="680000" y="1920000"/>
            <a:ext cx="4200000" cy="6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Differential / metamorphic</a:t>
            </a:r>
          </a:p>
        </p:txBody>
      </p:sp>
      <p:sp>
        <p:nvSpPr>
          <p:cNvPr id="103" name="P103"/>
          <p:cNvSpPr/>
          <p:nvPr/>
        </p:nvSpPr>
        <p:spPr>
          <a:xfrm>
            <a:off x="4960000" y="1920000"/>
            <a:ext cx="3660000" cy="6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1" dirty="0">
                <a:solidFill>
                  <a:srgbClr val="57534E"/>
                </a:solidFill>
              </a:rPr>
              <a:t>agreement when the oracle is expensive</a:t>
            </a:r>
          </a:p>
        </p:txBody>
      </p:sp>
      <p:sp>
        <p:nvSpPr>
          <p:cNvPr id="104" name="P104"/>
          <p:cNvSpPr/>
          <p:nvPr/>
        </p:nvSpPr>
        <p:spPr>
          <a:xfrm>
            <a:off x="680000" y="2700000"/>
            <a:ext cx="4200000" cy="6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Fuzzing</a:t>
            </a:r>
          </a:p>
        </p:txBody>
      </p:sp>
      <p:sp>
        <p:nvSpPr>
          <p:cNvPr id="105" name="P105"/>
          <p:cNvSpPr/>
          <p:nvPr/>
        </p:nvSpPr>
        <p:spPr>
          <a:xfrm>
            <a:off x="4960000" y="2700000"/>
            <a:ext cx="3660000" cy="6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1" dirty="0">
                <a:solidFill>
                  <a:srgbClr val="57534E"/>
                </a:solidFill>
              </a:rPr>
              <a:t>robustness against inputs you did not anticipate</a:t>
            </a:r>
          </a:p>
        </p:txBody>
      </p:sp>
      <p:sp>
        <p:nvSpPr>
          <p:cNvPr id="106" name="P106"/>
          <p:cNvSpPr/>
          <p:nvPr/>
        </p:nvSpPr>
        <p:spPr>
          <a:xfrm>
            <a:off x="680000" y="3480000"/>
            <a:ext cx="4200000" cy="6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Static analysis / model checking</a:t>
            </a:r>
          </a:p>
        </p:txBody>
      </p:sp>
      <p:sp>
        <p:nvSpPr>
          <p:cNvPr id="107" name="P107"/>
          <p:cNvSpPr/>
          <p:nvPr/>
        </p:nvSpPr>
        <p:spPr>
          <a:xfrm>
            <a:off x="4960000" y="3480000"/>
            <a:ext cx="3660000" cy="6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1" dirty="0">
                <a:solidFill>
                  <a:srgbClr val="57534E"/>
                </a:solidFill>
              </a:rPr>
              <a:t>exclusion of failure classes over a model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Ask what uncertainty each reduces — not which produces the most output.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How strong is the evidence?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28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4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Volume is not strength.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Executing code is not the same as checking it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29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400000"/>
            <a:ext cx="3760000" cy="12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7534E"/>
                </a:solidFill>
              </a:rPr>
              <a:t>EXECUTING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the code runs and produces behavior</a:t>
            </a:r>
          </a:p>
        </p:txBody>
      </p:sp>
      <p:sp>
        <p:nvSpPr>
          <p:cNvPr id="101" name="B101"/>
          <p:cNvSpPr/>
          <p:nvPr/>
        </p:nvSpPr>
        <p:spPr>
          <a:xfrm>
            <a:off x="4720000" y="1400000"/>
            <a:ext cx="3900000" cy="12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CHECKING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FFFFFF"/>
                </a:solidFill>
              </a:rPr>
              <a:t>comparing that behavior to a claim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3080000"/>
            <a:ext cx="794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Running the code ten thousand times without a consequential assertion executes a great deal and checks almost nothing.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passing run is evidence only against a stated expectation.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Coverage of execution is not coverage of the claim.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does coverage actually establish?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30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180000"/>
            <a:ext cx="77724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000000"/>
                </a:solidFill>
              </a:rPr>
              <a:t>Statement and condition coverage both reached 100%.</a:t>
            </a:r>
          </a:p>
        </p:txBody>
      </p:sp>
      <p:sp>
        <p:nvSpPr>
          <p:cNvPr id="104" name="T104"/>
          <p:cNvSpPr txBox="1"/>
          <p:nvPr/>
        </p:nvSpPr>
        <p:spPr>
          <a:xfrm>
            <a:off x="685800" y="1760000"/>
            <a:ext cx="77724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Google and Microsoft report ~80–90% statement coverage; Boeing requires 100%.</a:t>
            </a:r>
          </a:p>
        </p:txBody>
      </p:sp>
      <p:sp>
        <p:nvSpPr>
          <p:cNvPr id="102" name="T102"/>
          <p:cNvSpPr txBox="1"/>
          <p:nvPr/>
        </p:nvSpPr>
        <p:spPr>
          <a:xfrm>
            <a:off x="685800" y="3537201"/>
            <a:ext cx="77724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What have we established — and what have we not?</a:t>
            </a:r>
          </a:p>
        </p:txBody>
      </p:sp>
      <p:sp>
        <p:nvSpPr>
          <p:cNvPr id="103" name="E103"/>
          <p:cNvSpPr/>
          <p:nvPr/>
        </p:nvSpPr>
        <p:spPr>
          <a:xfrm>
            <a:off x="1372000" y="4077201"/>
            <a:ext cx="6400000" cy="108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0" i="0" dirty="0">
                <a:solidFill>
                  <a:srgbClr val="5C4826"/>
                </a:solidFill>
              </a:rPr>
              <a:t>Coverage shows that executions REACHED the code.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700" b="0" i="1" dirty="0">
                <a:solidFill>
                  <a:srgbClr val="57534E"/>
                </a:solidFill>
              </a:rPr>
              <a:t>It does not show the code is CORRECT — reaching a line is not checking its claim.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 reached line with no consequential assertion is execution, not evidence.</a:t>
            </a:r>
          </a:p>
        </p:txBody>
      </p:sp>
      <p:pic>
        <p:nvPicPr>
          <p:cNvPr id="4" name="Think Pair Share banner" descr="Think, Pair, Share">
            <a:extLst>
              <a:ext uri="{FF2B5EF4-FFF2-40B4-BE49-F238E27FC236}">
                <a16:creationId xmlns:a16="http://schemas.microsoft.com/office/drawing/2014/main" id="{4153810E-47AC-3B70-1311-0F23CAE82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6500" y="2153804"/>
            <a:ext cx="4191000" cy="1206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Evidence multiplies; independence does not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31</a:t>
            </a:fld>
            <a:endParaRPr lang="en-US"/>
          </a:p>
        </p:txBody>
      </p:sp>
      <p:sp>
        <p:nvSpPr>
          <p:cNvPr id="100" name="E100"/>
          <p:cNvSpPr/>
          <p:nvPr/>
        </p:nvSpPr>
        <p:spPr>
          <a:xfrm>
            <a:off x="872000" y="1120000"/>
            <a:ext cx="7400000" cy="98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0" i="0" dirty="0">
                <a:solidFill>
                  <a:srgbClr val="5C4826"/>
                </a:solidFill>
              </a:rPr>
              <a:t>A thousand tests from one mistaken interpretation are not a thousand reasons.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900" b="1" i="1" dirty="0">
                <a:solidFill>
                  <a:srgbClr val="5C4826"/>
                </a:solidFill>
              </a:rPr>
              <a:t>They are one reason, repeated.</a:t>
            </a:r>
          </a:p>
        </p:txBody>
      </p:sp>
      <p:sp>
        <p:nvSpPr>
          <p:cNvPr id="110" name="P110"/>
          <p:cNvSpPr/>
          <p:nvPr/>
        </p:nvSpPr>
        <p:spPr>
          <a:xfrm>
            <a:off x="872000" y="2380000"/>
            <a:ext cx="7400000" cy="6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Independent evidence, resting on different assumptions, reduces shared error.</a:t>
            </a:r>
          </a:p>
        </p:txBody>
      </p:sp>
      <p:sp>
        <p:nvSpPr>
          <p:cNvPr id="111" name="P111"/>
          <p:cNvSpPr/>
          <p:nvPr/>
        </p:nvSpPr>
        <p:spPr>
          <a:xfrm>
            <a:off x="872000" y="3080000"/>
            <a:ext cx="7400000" cy="6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Ask of every body of evidence: what assumptions does it inherit?</a:t>
            </a:r>
          </a:p>
        </p:txBody>
      </p:sp>
      <p:sp>
        <p:nvSpPr>
          <p:cNvPr id="112" name="P112"/>
          <p:cNvSpPr/>
          <p:nvPr/>
        </p:nvSpPr>
        <p:spPr>
          <a:xfrm>
            <a:off x="872000" y="3780000"/>
            <a:ext cx="7400000" cy="6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Strong validation triangulates — several kinds of evidence whose failure modes are uncorrelated.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Strength grows with the diversity of the assumptions, not with the count.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🧙  MAGE Moment: GenAI can make weak evidence very cheap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32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3572000" y="900000"/>
            <a:ext cx="2000000" cy="5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CLAIM</a:t>
            </a:r>
          </a:p>
        </p:txBody>
      </p:sp>
      <p:sp>
        <p:nvSpPr>
          <p:cNvPr id="110" name="P110"/>
          <p:cNvSpPr/>
          <p:nvPr/>
        </p:nvSpPr>
        <p:spPr>
          <a:xfrm>
            <a:off x="800000" y="1900000"/>
            <a:ext cx="340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000000"/>
                </a:solidFill>
              </a:rPr>
              <a:t>Agent interpretation X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2500000" y="247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2" name="P112"/>
          <p:cNvSpPr/>
          <p:nvPr/>
        </p:nvSpPr>
        <p:spPr>
          <a:xfrm>
            <a:off x="800000" y="2850000"/>
            <a:ext cx="340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10,000 generated tests</a:t>
            </a:r>
          </a:p>
        </p:txBody>
      </p:sp>
      <p:cxnSp>
        <p:nvCxnSpPr>
          <p:cNvPr id="113" name="C113"/>
          <p:cNvCxnSpPr/>
          <p:nvPr/>
        </p:nvCxnSpPr>
        <p:spPr>
          <a:xfrm>
            <a:off x="2500000" y="342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4" name="P114"/>
          <p:cNvSpPr/>
          <p:nvPr/>
        </p:nvSpPr>
        <p:spPr>
          <a:xfrm>
            <a:off x="800000" y="3800000"/>
            <a:ext cx="34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000000"/>
                </a:solidFill>
              </a:rPr>
              <a:t>EVIDENCE A</a:t>
            </a:r>
          </a:p>
        </p:txBody>
      </p:sp>
      <p:sp>
        <p:nvSpPr>
          <p:cNvPr id="120" name="P120"/>
          <p:cNvSpPr/>
          <p:nvPr/>
        </p:nvSpPr>
        <p:spPr>
          <a:xfrm>
            <a:off x="4940000" y="1900000"/>
            <a:ext cx="340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000000"/>
                </a:solidFill>
              </a:rPr>
              <a:t>Independent model Y</a:t>
            </a:r>
          </a:p>
        </p:txBody>
      </p:sp>
      <p:cxnSp>
        <p:nvCxnSpPr>
          <p:cNvPr id="121" name="C121"/>
          <p:cNvCxnSpPr/>
          <p:nvPr/>
        </p:nvCxnSpPr>
        <p:spPr>
          <a:xfrm>
            <a:off x="6640000" y="247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2" name="P122"/>
          <p:cNvSpPr/>
          <p:nvPr/>
        </p:nvSpPr>
        <p:spPr>
          <a:xfrm>
            <a:off x="4940000" y="2850000"/>
            <a:ext cx="340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analysis</a:t>
            </a:r>
          </a:p>
        </p:txBody>
      </p:sp>
      <p:cxnSp>
        <p:nvCxnSpPr>
          <p:cNvPr id="123" name="C123"/>
          <p:cNvCxnSpPr/>
          <p:nvPr/>
        </p:nvCxnSpPr>
        <p:spPr>
          <a:xfrm>
            <a:off x="6640000" y="342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4" name="P124"/>
          <p:cNvSpPr/>
          <p:nvPr/>
        </p:nvSpPr>
        <p:spPr>
          <a:xfrm>
            <a:off x="4940000" y="3800000"/>
            <a:ext cx="34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000000"/>
                </a:solidFill>
              </a:rPr>
              <a:t>EVIDENCE B</a:t>
            </a:r>
          </a:p>
        </p:txBody>
      </p:sp>
      <p:sp>
        <p:nvSpPr>
          <p:cNvPr id="130" name="L130"/>
          <p:cNvSpPr/>
          <p:nvPr/>
        </p:nvSpPr>
        <p:spPr>
          <a:xfrm>
            <a:off x="2500000" y="1420000"/>
            <a:ext cx="2072000" cy="480000"/>
          </a:xfrm>
          <a:custGeom>
            <a:avLst/>
            <a:gdLst/>
            <a:ahLst/>
            <a:cxnLst/>
            <a:rect l="l" t="t" r="r" b="b"/>
            <a:pathLst>
              <a:path w="2072000" h="480000" fill="none">
                <a:moveTo>
                  <a:pt x="2072000" y="0"/>
                </a:moveTo>
                <a:lnTo>
                  <a:pt x="0" y="0"/>
                </a:lnTo>
                <a:lnTo>
                  <a:pt x="0" y="480000"/>
                </a:lnTo>
              </a:path>
            </a:pathLst>
          </a:custGeom>
          <a:noFill/>
          <a:ln w="38100">
            <a:solidFill>
              <a:srgbClr val="8E6F3E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L131"/>
          <p:cNvSpPr/>
          <p:nvPr/>
        </p:nvSpPr>
        <p:spPr>
          <a:xfrm>
            <a:off x="4572000" y="1420000"/>
            <a:ext cx="2068000" cy="480000"/>
          </a:xfrm>
          <a:custGeom>
            <a:avLst/>
            <a:gdLst/>
            <a:ahLst/>
            <a:cxnLst/>
            <a:rect l="l" t="t" r="r" b="b"/>
            <a:pathLst>
              <a:path w="2068000" h="480000" fill="none">
                <a:moveTo>
                  <a:pt x="0" y="0"/>
                </a:moveTo>
                <a:lnTo>
                  <a:pt x="2068000" y="0"/>
                </a:lnTo>
                <a:lnTo>
                  <a:pt x="2068000" y="480000"/>
                </a:lnTo>
              </a:path>
            </a:pathLst>
          </a:custGeom>
          <a:noFill/>
          <a:ln w="38100">
            <a:solidFill>
              <a:srgbClr val="8E6F3E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T140"/>
          <p:cNvSpPr txBox="1"/>
          <p:nvPr/>
        </p:nvSpPr>
        <p:spPr>
          <a:xfrm>
            <a:off x="800000" y="4440000"/>
            <a:ext cx="754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Two branches on different assumptions catch each other's mistakes. Ten thousand tests on ONE interpretation are one reason, repeated.</a:t>
            </a:r>
          </a:p>
        </p:txBody>
      </p:sp>
      <p:sp>
        <p:nvSpPr>
          <p:cNvPr id="4" name="FooterBand"/>
          <p:cNvSpPr/>
          <p:nvPr/>
        </p:nvSpPr>
        <p:spPr>
          <a:xfrm>
            <a:off x="274320" y="5852160"/>
            <a:ext cx="8595360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An agent can cheaply produce 10,000 tests.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If all inherit the same mistaken interpretation, what did we learn?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When is the evidence enough?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33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5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Judge the evidence against what is at stake.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Enough is judged against what is at stake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34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80000" y="112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50" b="1" i="0" dirty="0">
                <a:solidFill>
                  <a:srgbClr val="000000"/>
                </a:solidFill>
              </a:rPr>
              <a:t>Evidence is judged against consequence.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The same residual uncertainty can justify delivery for a scratchpad and forbid it for a medical device.</a:t>
            </a:r>
          </a:p>
        </p:txBody>
      </p:sp>
      <p:sp>
        <p:nvSpPr>
          <p:cNvPr id="101" name="P101"/>
          <p:cNvSpPr/>
          <p:nvPr/>
        </p:nvSpPr>
        <p:spPr>
          <a:xfrm>
            <a:off x="680000" y="228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50" b="1" i="0" dirty="0">
                <a:solidFill>
                  <a:srgbClr val="000000"/>
                </a:solidFill>
              </a:rPr>
              <a:t>Some uncertainty is resolved after delivery.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Use in the real environment generates knowledge that would have been expensive, or even impossible, to obtain before delivery.</a:t>
            </a:r>
          </a:p>
        </p:txBody>
      </p:sp>
      <p:sp>
        <p:nvSpPr>
          <p:cNvPr id="102" name="P102"/>
          <p:cNvSpPr/>
          <p:nvPr/>
        </p:nvSpPr>
        <p:spPr>
          <a:xfrm>
            <a:off x="680000" y="344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50" b="1" i="0" dirty="0">
                <a:solidFill>
                  <a:srgbClr val="000000"/>
                </a:solidFill>
              </a:rPr>
              <a:t>Operational evidence can reopen the decision.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A justification made under an old state of knowledge cannot simply be reused under a new one.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Validation does not end at first delivery — evidence keeps arriving.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should we do now?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35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980000"/>
            <a:ext cx="8000000" cy="11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THE EVIDENCE ON THE TABLE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Property tests pass. A load model predicts p99 &lt; 500 ms, but production workload is untested.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One incident report suggests a rare double-charge. Consequence: real money.</a:t>
            </a:r>
          </a:p>
        </p:txBody>
      </p:sp>
      <p:sp>
        <p:nvSpPr>
          <p:cNvPr id="110" name="B110"/>
          <p:cNvSpPr/>
          <p:nvPr/>
        </p:nvSpPr>
        <p:spPr>
          <a:xfrm>
            <a:off x="432000" y="3736227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DELIVER</a:t>
            </a:r>
          </a:p>
        </p:txBody>
      </p:sp>
      <p:sp>
        <p:nvSpPr>
          <p:cNvPr id="111" name="B111"/>
          <p:cNvSpPr/>
          <p:nvPr/>
        </p:nvSpPr>
        <p:spPr>
          <a:xfrm>
            <a:off x="2112000" y="3736227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GATHER MORE</a:t>
            </a:r>
          </a:p>
        </p:txBody>
      </p:sp>
      <p:sp>
        <p:nvSpPr>
          <p:cNvPr id="112" name="B112"/>
          <p:cNvSpPr/>
          <p:nvPr/>
        </p:nvSpPr>
        <p:spPr>
          <a:xfrm>
            <a:off x="3792000" y="3736227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CHANGE</a:t>
            </a:r>
          </a:p>
        </p:txBody>
      </p:sp>
      <p:sp>
        <p:nvSpPr>
          <p:cNvPr id="113" name="B113"/>
          <p:cNvSpPr/>
          <p:nvPr/>
        </p:nvSpPr>
        <p:spPr>
          <a:xfrm>
            <a:off x="5472000" y="3736227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REVISIT UPSTREAM</a:t>
            </a:r>
          </a:p>
        </p:txBody>
      </p:sp>
      <p:sp>
        <p:nvSpPr>
          <p:cNvPr id="114" name="B114"/>
          <p:cNvSpPr/>
          <p:nvPr/>
        </p:nvSpPr>
        <p:spPr>
          <a:xfrm>
            <a:off x="7152000" y="3736227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REFUSE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620000" y="4716227"/>
            <a:ext cx="8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Choose one. Defend it from the evidence and the consequence — not from habit.</a:t>
            </a:r>
          </a:p>
        </p:txBody>
      </p:sp>
      <p:sp>
        <p:nvSpPr>
          <p:cNvPr id="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decision is not binary. Which action follows from what we now know?</a:t>
            </a:r>
          </a:p>
        </p:txBody>
      </p:sp>
      <p:pic>
        <p:nvPicPr>
          <p:cNvPr id="7" name="Think Pair Share banner" descr="Think, Pair, Share">
            <a:extLst>
              <a:ext uri="{FF2B5EF4-FFF2-40B4-BE49-F238E27FC236}">
                <a16:creationId xmlns:a16="http://schemas.microsoft.com/office/drawing/2014/main" id="{0EFA98E1-0C18-D839-ECB8-B98ADB983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500" y="2332830"/>
            <a:ext cx="4191000" cy="1206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animBg="1"/>
      <p:bldP spid="111" grpId="1" animBg="1"/>
      <p:bldP spid="112" grpId="2" animBg="1"/>
      <p:bldP spid="113" grpId="3" animBg="1"/>
      <p:bldP spid="114" grpId="4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An Assurance Case makes the judgment inspectable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36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3272000" y="900000"/>
            <a:ext cx="2600000" cy="6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CLAIM: ready to deliver</a:t>
            </a:r>
          </a:p>
        </p:txBody>
      </p:sp>
      <p:sp>
        <p:nvSpPr>
          <p:cNvPr id="110" name="P110"/>
          <p:cNvSpPr/>
          <p:nvPr/>
        </p:nvSpPr>
        <p:spPr>
          <a:xfrm>
            <a:off x="900000" y="1920000"/>
            <a:ext cx="2800000" cy="6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payment charged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at most once</a:t>
            </a:r>
          </a:p>
        </p:txBody>
      </p:sp>
      <p:sp>
        <p:nvSpPr>
          <p:cNvPr id="111" name="P111"/>
          <p:cNvSpPr/>
          <p:nvPr/>
        </p:nvSpPr>
        <p:spPr>
          <a:xfrm>
            <a:off x="4720000" y="1920000"/>
            <a:ext cx="2800000" cy="6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p99 latency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&lt; 500 ms</a:t>
            </a:r>
          </a:p>
        </p:txBody>
      </p:sp>
      <p:cxnSp>
        <p:nvCxnSpPr>
          <p:cNvPr id="120" name="C120"/>
          <p:cNvCxnSpPr/>
          <p:nvPr/>
        </p:nvCxnSpPr>
        <p:spPr>
          <a:xfrm>
            <a:off x="1600000" y="258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cxnSp>
        <p:nvCxnSpPr>
          <p:cNvPr id="121" name="C121"/>
          <p:cNvCxnSpPr/>
          <p:nvPr/>
        </p:nvCxnSpPr>
        <p:spPr>
          <a:xfrm>
            <a:off x="3000000" y="258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2" name="P122"/>
          <p:cNvSpPr/>
          <p:nvPr/>
        </p:nvSpPr>
        <p:spPr>
          <a:xfrm>
            <a:off x="900000" y="3000000"/>
            <a:ext cx="136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000000"/>
                </a:solidFill>
              </a:rPr>
              <a:t>property tests</a:t>
            </a:r>
          </a:p>
        </p:txBody>
      </p:sp>
      <p:sp>
        <p:nvSpPr>
          <p:cNvPr id="123" name="P123"/>
          <p:cNvSpPr/>
          <p:nvPr/>
        </p:nvSpPr>
        <p:spPr>
          <a:xfrm>
            <a:off x="2340000" y="3000000"/>
            <a:ext cx="136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000000"/>
                </a:solidFill>
              </a:rPr>
              <a:t>model checking</a:t>
            </a:r>
          </a:p>
        </p:txBody>
      </p:sp>
      <p:cxnSp>
        <p:nvCxnSpPr>
          <p:cNvPr id="124" name="C124"/>
          <p:cNvCxnSpPr/>
          <p:nvPr/>
        </p:nvCxnSpPr>
        <p:spPr>
          <a:xfrm>
            <a:off x="5420000" y="258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cxnSp>
        <p:nvCxnSpPr>
          <p:cNvPr id="125" name="C125"/>
          <p:cNvCxnSpPr/>
          <p:nvPr/>
        </p:nvCxnSpPr>
        <p:spPr>
          <a:xfrm>
            <a:off x="6820000" y="258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6" name="P126"/>
          <p:cNvSpPr/>
          <p:nvPr/>
        </p:nvSpPr>
        <p:spPr>
          <a:xfrm>
            <a:off x="4720000" y="3000000"/>
            <a:ext cx="136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000000"/>
                </a:solidFill>
              </a:rPr>
              <a:t>load model</a:t>
            </a:r>
          </a:p>
        </p:txBody>
      </p:sp>
      <p:sp>
        <p:nvSpPr>
          <p:cNvPr id="127" name="P127"/>
          <p:cNvSpPr/>
          <p:nvPr/>
        </p:nvSpPr>
        <p:spPr>
          <a:xfrm>
            <a:off x="6160000" y="3000000"/>
            <a:ext cx="136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000000"/>
                </a:solidFill>
              </a:rPr>
              <a:t>measured result</a:t>
            </a:r>
          </a:p>
        </p:txBody>
      </p:sp>
      <p:cxnSp>
        <p:nvCxnSpPr>
          <p:cNvPr id="130" name="C130"/>
          <p:cNvCxnSpPr/>
          <p:nvPr/>
        </p:nvCxnSpPr>
        <p:spPr>
          <a:xfrm>
            <a:off x="1580000" y="356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1" name="C131"/>
          <p:cNvCxnSpPr/>
          <p:nvPr/>
        </p:nvCxnSpPr>
        <p:spPr>
          <a:xfrm>
            <a:off x="3020000" y="356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2" name="C132"/>
          <p:cNvCxnSpPr/>
          <p:nvPr/>
        </p:nvCxnSpPr>
        <p:spPr>
          <a:xfrm>
            <a:off x="5400000" y="356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3" name="C133"/>
          <p:cNvCxnSpPr/>
          <p:nvPr/>
        </p:nvCxnSpPr>
        <p:spPr>
          <a:xfrm>
            <a:off x="6840000" y="356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4" name="C134"/>
          <p:cNvCxnSpPr/>
          <p:nvPr/>
        </p:nvCxnSpPr>
        <p:spPr>
          <a:xfrm>
            <a:off x="1580000" y="3900000"/>
            <a:ext cx="5260000" cy="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5" name="C135"/>
          <p:cNvCxnSpPr/>
          <p:nvPr/>
        </p:nvCxnSpPr>
        <p:spPr>
          <a:xfrm>
            <a:off x="4572000" y="3900000"/>
            <a:ext cx="0" cy="28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40" name="B140"/>
          <p:cNvSpPr/>
          <p:nvPr/>
        </p:nvSpPr>
        <p:spPr>
          <a:xfrm>
            <a:off x="3872000" y="4180000"/>
            <a:ext cx="1400000" cy="5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JUDGMENT</a:t>
            </a:r>
          </a:p>
        </p:txBody>
      </p:sp>
      <p:cxnSp>
        <p:nvCxnSpPr>
          <p:cNvPr id="141" name="C141"/>
          <p:cNvCxnSpPr/>
          <p:nvPr/>
        </p:nvCxnSpPr>
        <p:spPr>
          <a:xfrm>
            <a:off x="4572000" y="4700000"/>
            <a:ext cx="0" cy="30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42" name="E142"/>
          <p:cNvSpPr/>
          <p:nvPr/>
        </p:nvSpPr>
        <p:spPr>
          <a:xfrm>
            <a:off x="3972000" y="5000000"/>
            <a:ext cx="1200000" cy="48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DELIVER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We started by asking what would justify delivery. Everything today has been constructing this.</a:t>
            </a:r>
          </a:p>
        </p:txBody>
      </p:sp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782FD6B7-3E42-E711-C90C-27E6D1360FA6}"/>
              </a:ext>
            </a:extLst>
          </p:cNvPr>
          <p:cNvCxnSpPr>
            <a:stCxn id="100" idx="1"/>
            <a:endCxn id="110" idx="0"/>
          </p:cNvCxnSpPr>
          <p:nvPr/>
        </p:nvCxnSpPr>
        <p:spPr>
          <a:xfrm rot="10800000" flipV="1">
            <a:off x="2300000" y="1200000"/>
            <a:ext cx="972000" cy="7200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Elbow Connector 5">
            <a:extLst>
              <a:ext uri="{FF2B5EF4-FFF2-40B4-BE49-F238E27FC236}">
                <a16:creationId xmlns:a16="http://schemas.microsoft.com/office/drawing/2014/main" id="{21C0A1B5-59B7-1E91-456F-6E32303C7D37}"/>
              </a:ext>
            </a:extLst>
          </p:cNvPr>
          <p:cNvCxnSpPr>
            <a:cxnSpLocks/>
            <a:stCxn id="100" idx="3"/>
            <a:endCxn id="111" idx="0"/>
          </p:cNvCxnSpPr>
          <p:nvPr/>
        </p:nvCxnSpPr>
        <p:spPr>
          <a:xfrm>
            <a:off x="5872000" y="1200000"/>
            <a:ext cx="248000" cy="7200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reasoning you can reuse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37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1372000" y="1160000"/>
            <a:ext cx="6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>What is at stake?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572000" y="1760000"/>
            <a:ext cx="0" cy="2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P102"/>
          <p:cNvSpPr/>
          <p:nvPr/>
        </p:nvSpPr>
        <p:spPr>
          <a:xfrm>
            <a:off x="1372000" y="2000000"/>
            <a:ext cx="6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>What must be true?</a:t>
            </a:r>
          </a:p>
        </p:txBody>
      </p:sp>
      <p:cxnSp>
        <p:nvCxnSpPr>
          <p:cNvPr id="103" name="C103"/>
          <p:cNvCxnSpPr/>
          <p:nvPr/>
        </p:nvCxnSpPr>
        <p:spPr>
          <a:xfrm>
            <a:off x="4572000" y="2600000"/>
            <a:ext cx="0" cy="2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4" name="P104"/>
          <p:cNvSpPr/>
          <p:nvPr/>
        </p:nvSpPr>
        <p:spPr>
          <a:xfrm>
            <a:off x="1372000" y="2840000"/>
            <a:ext cx="6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>What evidence supports it?</a:t>
            </a:r>
          </a:p>
        </p:txBody>
      </p:sp>
      <p:cxnSp>
        <p:nvCxnSpPr>
          <p:cNvPr id="105" name="C105"/>
          <p:cNvCxnSpPr/>
          <p:nvPr/>
        </p:nvCxnSpPr>
        <p:spPr>
          <a:xfrm>
            <a:off x="4572000" y="3440000"/>
            <a:ext cx="0" cy="2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6" name="P106"/>
          <p:cNvSpPr/>
          <p:nvPr/>
        </p:nvSpPr>
        <p:spPr>
          <a:xfrm>
            <a:off x="1372000" y="3680000"/>
            <a:ext cx="6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>How strong is that evidence?</a:t>
            </a:r>
          </a:p>
        </p:txBody>
      </p:sp>
      <p:cxnSp>
        <p:nvCxnSpPr>
          <p:cNvPr id="107" name="C107"/>
          <p:cNvCxnSpPr/>
          <p:nvPr/>
        </p:nvCxnSpPr>
        <p:spPr>
          <a:xfrm>
            <a:off x="4572000" y="4280000"/>
            <a:ext cx="0" cy="2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8" name="E108"/>
          <p:cNvSpPr/>
          <p:nvPr/>
        </p:nvSpPr>
        <p:spPr>
          <a:xfrm>
            <a:off x="1372000" y="4520000"/>
            <a:ext cx="6400000" cy="66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5C4826"/>
                </a:solidFill>
              </a:rPr>
              <a:t>Is the Assurance Case sufficient to act?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Validation turns evidence into engineering judgment.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8603</TotalTime>
  <Words>2303</Words>
  <Application>Microsoft Macintosh PowerPoint</Application>
  <PresentationFormat>On-screen Show (4:3)</PresentationFormat>
  <Paragraphs>383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1" baseType="lpstr">
      <vt:lpstr>Arial</vt:lpstr>
      <vt:lpstr>Calibri</vt:lpstr>
      <vt:lpstr>Times</vt:lpstr>
      <vt:lpstr>Purdue1</vt:lpstr>
      <vt:lpstr>PowerPoint Presentation</vt:lpstr>
      <vt:lpstr>What is at stake?</vt:lpstr>
      <vt:lpstr>What would justify delivering this system?</vt:lpstr>
      <vt:lpstr>How sure do we need to be?</vt:lpstr>
      <vt:lpstr>“It depends” is the beginning of the answer, not the end</vt:lpstr>
      <vt:lpstr>Consequence changes the burden of evidence</vt:lpstr>
      <vt:lpstr>Validation is broader than testing — and it does not demand certainty</vt:lpstr>
      <vt:lpstr>What must we establish?</vt:lpstr>
      <vt:lpstr>Validation begins with claims, not techniques</vt:lpstr>
      <vt:lpstr>Remember: the middle has no fixed number of levels</vt:lpstr>
      <vt:lpstr>Models and properties become more precise toward realization</vt:lpstr>
      <vt:lpstr>Evidence bears on properties at the scope where they live</vt:lpstr>
      <vt:lpstr>The familiar testing levels are relative</vt:lpstr>
      <vt:lpstr>Validate a property at the scope where it lives</vt:lpstr>
      <vt:lpstr>The final claim reaches the world</vt:lpstr>
      <vt:lpstr>A measurement is not evidence by itself</vt:lpstr>
      <vt:lpstr>An Assurance Case makes this reasoning inspectable</vt:lpstr>
      <vt:lpstr>What evidence could bear on the claim?</vt:lpstr>
      <vt:lpstr>Choose evidence for the uncertainty you need to reduce</vt:lpstr>
      <vt:lpstr>Known answers → example-based testing</vt:lpstr>
      <vt:lpstr>General properties → property-based testing</vt:lpstr>
      <vt:lpstr>The oracle is often the expensive part</vt:lpstr>
      <vt:lpstr>Another implementation → differential testing</vt:lpstr>
      <vt:lpstr>Related executions → metamorphic testing</vt:lpstr>
      <vt:lpstr>Search for unexpected behavior → fuzzing</vt:lpstr>
      <vt:lpstr>Explore modeled behaviors → static analysis &amp; model checking</vt:lpstr>
      <vt:lpstr>Different techniques establish different things</vt:lpstr>
      <vt:lpstr>How strong is the evidence?</vt:lpstr>
      <vt:lpstr>Executing code is not the same as checking it</vt:lpstr>
      <vt:lpstr>What does coverage actually establish?</vt:lpstr>
      <vt:lpstr>Evidence multiplies; independence does not</vt:lpstr>
      <vt:lpstr>🧙  MAGE Moment: GenAI can make weak evidence very cheap</vt:lpstr>
      <vt:lpstr>When is the evidence enough?</vt:lpstr>
      <vt:lpstr>Enough is judged against what is at stake</vt:lpstr>
      <vt:lpstr>What should we do now?</vt:lpstr>
      <vt:lpstr>An Assurance Case makes the judgment inspectable</vt:lpstr>
      <vt:lpstr>The reasoning you can reuse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407</cp:revision>
  <dcterms:created xsi:type="dcterms:W3CDTF">2020-02-21T23:00:33Z</dcterms:created>
  <dcterms:modified xsi:type="dcterms:W3CDTF">2026-09-19T04:24:54Z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