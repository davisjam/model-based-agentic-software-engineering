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257" r:id="rId2"/>
    <p:sldId id="259" r:id="rId3"/>
    <p:sldId id="260" r:id="rId4"/>
    <p:sldId id="263" r:id="rId5"/>
    <p:sldId id="267" r:id="rId6"/>
    <p:sldId id="295" r:id="rId7"/>
    <p:sldId id="296" r:id="rId8"/>
    <p:sldId id="268" r:id="rId9"/>
    <p:sldId id="275" r:id="rId10"/>
    <p:sldId id="301" r:id="rId11"/>
    <p:sldId id="302" r:id="rId12"/>
    <p:sldId id="303" r:id="rId13"/>
    <p:sldId id="304" r:id="rId14"/>
    <p:sldId id="299" r:id="rId15"/>
    <p:sldId id="322" r:id="rId16"/>
    <p:sldId id="305" r:id="rId17"/>
    <p:sldId id="297" r:id="rId18"/>
    <p:sldId id="307" r:id="rId19"/>
    <p:sldId id="308" r:id="rId20"/>
    <p:sldId id="309" r:id="rId21"/>
    <p:sldId id="312" r:id="rId22"/>
    <p:sldId id="313" r:id="rId23"/>
    <p:sldId id="311" r:id="rId24"/>
    <p:sldId id="314" r:id="rId25"/>
    <p:sldId id="315" r:id="rId26"/>
    <p:sldId id="288" r:id="rId27"/>
    <p:sldId id="321" r:id="rId28"/>
    <p:sldId id="291" r:id="rId29"/>
    <p:sldId id="292"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5" autoAdjust="0"/>
    <p:restoredTop sz="56137"/>
  </p:normalViewPr>
  <p:slideViewPr>
    <p:cSldViewPr snapToGrid="0" snapToObjects="1">
      <p:cViewPr>
        <p:scale>
          <a:sx n="68" d="100"/>
          <a:sy n="68" d="100"/>
        </p:scale>
        <p:origin x="-96"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Plant the governing model early so the lecture has a destination.</a:t>
            </a:r>
          </a:p>
          <a:p>
            <a:endParaRPr lang="en-US"/>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a:p>
          <a:p>
            <a:r>
              <a:rPr lang="en-US" b="0" i="0" dirty="0"/>
              <a:t>=====</a:t>
            </a:r>
          </a:p>
          <a:p>
            <a:endParaRPr lang="en-US"/>
          </a:p>
          <a:p>
            <a:r>
              <a:rPr lang="en-US" b="0" i="0" dirty="0"/>
              <a:t>Before any technique, here is the shape of the whole subject.</a:t>
            </a:r>
          </a:p>
          <a:p>
            <a:endParaRPr lang="en-US"/>
          </a:p>
          <a:p>
            <a:r>
              <a:rPr lang="en-US" b="0" i="0" dirty="0"/>
              <a:t>ANIMATE</a:t>
            </a:r>
          </a:p>
          <a:p>
            <a:endParaRPr lang="en-US"/>
          </a:p>
          <a:p>
            <a:r>
              <a:rPr lang="en-US" b="0" i="0" dirty="0"/>
              <a:t>A claim: what must be true?</a:t>
            </a:r>
          </a:p>
          <a:p>
            <a:endParaRPr lang="en-US"/>
          </a:p>
          <a:p>
            <a:r>
              <a:rPr lang="en-US" b="0" i="0" dirty="0"/>
              <a:t>ANIMATE</a:t>
            </a:r>
          </a:p>
          <a:p>
            <a:endParaRPr lang="en-US"/>
          </a:p>
          <a:p>
            <a:r>
              <a:rPr lang="en-US" b="0" i="0" dirty="0"/>
              <a:t>Evidence: what evidence bears on it?</a:t>
            </a:r>
          </a:p>
          <a:p>
            <a:endParaRPr lang="en-US"/>
          </a:p>
          <a:p>
            <a:r>
              <a:rPr lang="en-US" b="0" i="0" dirty="0"/>
              <a:t>ANIMATE</a:t>
            </a:r>
          </a:p>
          <a:p>
            <a:endParaRPr lang="en-US"/>
          </a:p>
          <a:p>
            <a:r>
              <a:rPr lang="en-US" b="0" i="0" dirty="0"/>
              <a:t>Judgment: how strong is that evidence — and is it enough?</a:t>
            </a:r>
          </a:p>
          <a:p>
            <a:endParaRPr lang="en-US"/>
          </a:p>
          <a:p>
            <a:r>
              <a:rPr lang="en-US" b="0" i="0" dirty="0"/>
              <a:t>ANIMATE</a:t>
            </a:r>
          </a:p>
          <a:p>
            <a:endParaRPr lang="en-US"/>
          </a:p>
          <a:p>
            <a:r>
              <a:rPr lang="en-US" b="0" i="0" dirty="0"/>
              <a:t>Action: what should we do?</a:t>
            </a:r>
          </a:p>
          <a:p>
            <a:endParaRPr lang="en-US"/>
          </a:p>
          <a:p>
            <a:r>
              <a:rPr lang="en-US" b="0" i="0" dirty="0"/>
              <a:t>ANIMATE</a:t>
            </a:r>
          </a:p>
          <a:p>
            <a:endParaRPr lang="en-US"/>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a:p>
          <a:p>
            <a:r>
              <a:rPr lang="en-US" b="0" i="0" dirty="0"/>
              <a:t>ANIMATE</a:t>
            </a:r>
          </a:p>
          <a:p>
            <a:endParaRPr lang="en-US"/>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a:p>
          <a:p>
            <a:r>
              <a:rPr lang="en-US" b="0" i="0" dirty="0"/>
              <a:t>ANIMATE</a:t>
            </a:r>
          </a:p>
          <a:p>
            <a:endParaRPr lang="en-US"/>
          </a:p>
          <a:p>
            <a:r>
              <a:rPr lang="en-US" b="0" i="0" dirty="0"/>
              <a:t>The TODO app occasionally loses a task — and destroys information a user depends on.</a:t>
            </a:r>
          </a:p>
          <a:p>
            <a:endParaRPr lang="en-US"/>
          </a:p>
          <a:p>
            <a:r>
              <a:rPr lang="en-US" b="0" i="0" dirty="0"/>
              <a:t>ANIMATE</a:t>
            </a:r>
          </a:p>
          <a:p>
            <a:endParaRPr lang="en-US"/>
          </a:p>
          <a:p>
            <a:r>
              <a:rPr lang="en-US" b="0" i="0" dirty="0"/>
              <a:t>The payroll system produces an incorrect transaction — money, trust, legal obligations.</a:t>
            </a:r>
          </a:p>
          <a:p>
            <a:endParaRPr lang="en-US"/>
          </a:p>
          <a:p>
            <a:r>
              <a:rPr lang="en-US" b="0" i="0" dirty="0"/>
              <a:t>ANIMATE</a:t>
            </a:r>
          </a:p>
          <a:p>
            <a:endParaRPr lang="en-US"/>
          </a:p>
          <a:p>
            <a:r>
              <a:rPr lang="en-US" b="0" i="0" dirty="0"/>
              <a:t>The X-ray controller delivers an incorrect dose — direct physical injury to the person in front of it.</a:t>
            </a:r>
          </a:p>
          <a:p>
            <a:endParaRPr lang="en-US"/>
          </a:p>
          <a:p>
            <a:r>
              <a:rPr lang="en-US" b="0" i="0" dirty="0"/>
              <a:t>ANIMATE</a:t>
            </a:r>
          </a:p>
          <a:p>
            <a:endParaRPr lang="en-US"/>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a:p>
          <a:p>
            <a:r>
              <a:rPr lang="en-US" b="0" i="0" dirty="0"/>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rPr lang="en-US" b="0" i="0" dirty="0"/>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0" i="0" dirty="0"/>
              <a:t>ANIMATE</a:t>
            </a:r>
          </a:p>
          <a:p>
            <a:endParaRPr lang="en-US"/>
          </a:p>
          <a:p>
            <a:r>
              <a:rPr lang="en-US" b="0" i="0" dirty="0"/>
              <a:t>Requirements: what the world must get.</a:t>
            </a:r>
          </a:p>
          <a:p>
            <a:endParaRPr lang="en-US"/>
          </a:p>
          <a:p>
            <a:r>
              <a:rPr lang="en-US" b="0" i="0" dirty="0"/>
              <a:t>ANIMATE</a:t>
            </a:r>
          </a:p>
          <a:p>
            <a:endParaRPr lang="en-US"/>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a:p>
          <a:p>
            <a:r>
              <a:rPr lang="en-US" b="0" i="0" dirty="0"/>
              <a:t>ANIMATE</a:t>
            </a:r>
          </a:p>
          <a:p>
            <a:endParaRPr lang="en-US"/>
          </a:p>
          <a:p>
            <a:r>
              <a:rPr lang="en-US" b="0" i="0" dirty="0"/>
              <a:t>Architecture and design: how. And these refine —</a:t>
            </a:r>
          </a:p>
          <a:p>
            <a:endParaRPr lang="en-US"/>
          </a:p>
          <a:p>
            <a:r>
              <a:rPr lang="en-US" b="0" i="0" dirty="0"/>
              <a:t>ANIMATE</a:t>
            </a:r>
          </a:p>
          <a:p>
            <a:endParaRPr lang="en-US"/>
          </a:p>
          <a:p>
            <a:r>
              <a:rPr lang="en-US" b="0" i="0" dirty="0"/>
              <a:t>— system organization, subsystem, mechanism. The number of levels is not fixed by anything; you refine as far as the engineering problem requires.</a:t>
            </a:r>
          </a:p>
          <a:p>
            <a:endParaRPr lang="en-US"/>
          </a:p>
          <a:p>
            <a:r>
              <a:rPr lang="en-US" b="0" i="0" dirty="0"/>
              <a:t>ANIMATE</a:t>
            </a:r>
          </a:p>
          <a:p>
            <a:endParaRPr lang="en-US"/>
          </a:p>
          <a:p>
            <a:r>
              <a:rPr lang="en-US" b="0" i="0" dirty="0"/>
              <a:t>And the implementation: the machine you actually built.</a:t>
            </a:r>
          </a:p>
          <a:p>
            <a:endParaRPr lang="en-US"/>
          </a:p>
          <a:p>
            <a:r>
              <a:rPr lang="en-US" b="0" i="0" dirty="0"/>
              <a:t>ANIMATE</a:t>
            </a:r>
          </a:p>
          <a:p>
            <a:endParaRPr lang="en-US"/>
          </a:p>
          <a:p>
            <a:r>
              <a:rPr lang="en-US" b="0" i="0" dirty="0"/>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 (moved from slide) The scope definitions are now notes-only; say them as you point at the right leg: Unit — a chosen part in isolation. Integration — interactions among parts. System — the assembled system at a boundary. Acceptance — the delivered system achieving its purpose in the world. The left-leg glosses too: Requirements — world outcomes; Specification — machine obligations under environment assumptions; Architecture and design — progressively more precise engineering models, refined (system organization, subsystem, mechanism) as far as the problem requires.</a:t>
            </a:r>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a:p>
          <a:p>
            <a:r>
              <a:rPr lang="en-US" b="0"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0"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0" i="0" dirty="0"/>
              <a:t>ANIMATE</a:t>
            </a:r>
          </a:p>
          <a:p>
            <a:endParaRPr lang="en-US"/>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common idea behind static analysis and model checking.</a:t>
            </a:r>
          </a:p>
          <a:p>
            <a:endParaRPr lang="en-US"/>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a:p>
          <a:p>
            <a:r>
              <a:rPr lang="en-US" b="0" i="0" dirty="0"/>
              <a:t>=====</a:t>
            </a:r>
          </a:p>
          <a:p>
            <a:endParaRPr lang="en-US"/>
          </a:p>
          <a:p>
            <a:r>
              <a:rPr lang="en-US" b="0" i="0" dirty="0"/>
              <a:t>Everything on the observation side of the map shares one limit: you learn about the runs you performed. This category makes the other move: reason about what the software COULD do, without running each case.</a:t>
            </a:r>
          </a:p>
          <a:p>
            <a:endParaRPr lang="en-US"/>
          </a:p>
          <a:p>
            <a:r>
              <a:rPr lang="en-US" b="0" i="0" dirty="0"/>
              <a:t>ANIMATE</a:t>
            </a:r>
          </a:p>
          <a:p>
            <a:endParaRPr lang="en-US"/>
          </a:p>
          <a:p>
            <a:r>
              <a:rPr lang="en-US" b="0" i="0" dirty="0"/>
              <a:t>Observe selected executions — versus reason over a representation of possible executions. That contrast is the whole category.</a:t>
            </a:r>
          </a:p>
          <a:p>
            <a:endParaRPr lang="en-US"/>
          </a:p>
          <a:p>
            <a:r>
              <a:rPr lang="en-US" b="0" i="0" dirty="0"/>
              <a:t>ANIMATE</a:t>
            </a:r>
          </a:p>
          <a:p>
            <a:endParaRPr lang="en-US"/>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a:p>
          <a:p>
            <a:r>
              <a:rPr lang="en-US" b="0" i="0" dirty="0"/>
              <a:t>ANIMATE</a:t>
            </a:r>
          </a:p>
          <a:p>
            <a:endParaRPr lang="en-US"/>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a:p>
          <a:p>
            <a:r>
              <a:rPr lang="en-US" b="0" i="0" dirty="0"/>
              <a:t>ANIMATE</a:t>
            </a:r>
          </a:p>
          <a:p>
            <a:endParaRPr lang="en-US"/>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a:p>
          <a:p>
            <a:r>
              <a:rPr lang="en-US" b="0" i="0" dirty="0"/>
              <a:t>=====</a:t>
            </a:r>
          </a:p>
          <a:p>
            <a:endParaRPr lang="en-US"/>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The properties, now that the mechanism is felt: the abstraction determines what the analysis can establish.</a:t>
            </a:r>
          </a:p>
          <a:p>
            <a:endParaRPr lang="en-US"/>
          </a:p>
          <a:p>
            <a:r>
              <a:rPr lang="en-US" b="0" i="0" dirty="0"/>
              <a:t>• The previous slide showed the move; this one shows its price. Do NOT expand into a formal-methods lecture on soundness and completeness — the goal is only that students understand why the technique reasons broadly and why that breadth costs precision.</a:t>
            </a:r>
          </a:p>
          <a:p>
            <a:r>
              <a:rPr lang="en-US" b="0" i="0" dirty="0"/>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rPr lang="en-US" b="0" i="0" dirty="0"/>
              <a:t>• Then the picture: real program behaviors, abstracted into the possible behaviors the analyzer sees. A conservative abstraction may include behaviors the real system cannot exhibit — that surplus is where false positives live.</a:t>
            </a:r>
          </a:p>
          <a:p>
            <a:r>
              <a:rPr lang="en-US" b="0" i="0" dirty="0"/>
              <a:t>• The guarantee, said carefully and with the qualifier every time: sound FOR THE MODELED PROPERTY — a real violation the abstraction represents is not silently discarded, but impossible violations may also be reported.</a:t>
            </a:r>
          </a:p>
          <a:p>
            <a:r>
              <a:rPr lang="en-US" b="0" i="0" dirty="0"/>
              <a:t>• Land the trade on the footer sentence, then hand off: model checking follows as the second example of reasoning over possible behavior.</a:t>
            </a:r>
          </a:p>
          <a:p>
            <a:endParaRPr lang="en-US"/>
          </a:p>
          <a:p>
            <a:r>
              <a:rPr lang="en-US" b="0" i="0" dirty="0"/>
              <a:t>=====</a:t>
            </a:r>
          </a:p>
          <a:p>
            <a:endParaRPr lang="en-US"/>
          </a:p>
          <a:p>
            <a:r>
              <a:rPr lang="en-US" b="0" i="0" dirty="0"/>
              <a:t>You now know the move. Here is the bill.</a:t>
            </a:r>
          </a:p>
          <a:p>
            <a:r>
              <a:rPr lang="en-US" b="0" i="0" dirty="0"/>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r>
              <a:rPr lang="en-US" b="0" i="0" dirty="0"/>
              <a:t>ANIMATE</a:t>
            </a:r>
          </a:p>
          <a:p>
            <a:r>
              <a:rPr lang="en-US" b="0" i="0" dirty="0"/>
              <a:t>Here is the same fact as a picture. The real program has some set of behaviors. The abstraction hands the analyzer a larger, simpler set that contains it. Everything the analyzer establishes, it establishes for the larger set — which is why its guarantees cover every real behavior. And some of what it reports lives in the surplus: behaviors the real system cannot exhibit.</a:t>
            </a:r>
          </a:p>
          <a:p>
            <a:r>
              <a:rPr lang="en-US" b="0" i="0" dirty="0"/>
              <a:t>ANIMATE</a:t>
            </a:r>
          </a:p>
          <a:p>
            <a:r>
              <a:rPr lang="en-US" b="0" i="0" dirty="0"/>
              <a:t>A conservative abstraction may include behaviors the real system cannot exhibit. That sentence is the whole economics of static analysis.</a:t>
            </a:r>
          </a:p>
          <a:p>
            <a:r>
              <a:rPr lang="en-US" b="0" i="0" dirty="0"/>
              <a:t>ANIMATE</a:t>
            </a:r>
          </a:p>
          <a:p>
            <a:r>
              <a:rPr lang="en-US" b="0" i="0" dirty="0"/>
              <a:t>Said precisely: sound for the modeled property. A real violation the abstraction represents is not silently discarded. Impossible violations may also be reported. Both halves come from the same place — the breadth of the abstraction.</a:t>
            </a:r>
          </a:p>
          <a:p>
            <a:r>
              <a:rPr lang="en-US" b="0" i="0" dirty="0"/>
              <a:t>Static analysis trades concrete execution for mechanical reasoning over an abstraction. Model checking, next, makes the other classic version of that trade.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Model checking: search the modeled behaviors; "no counterexample up to k" is precise, and it is not correctness.</a:t>
            </a:r>
          </a:p>
          <a:p>
            <a:endParaRPr lang="en-US"/>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a:p>
          <a:p>
            <a:r>
              <a:rPr lang="en-US" b="0" i="0" dirty="0"/>
              <a:t>ANIMATE</a:t>
            </a:r>
          </a:p>
          <a:p>
            <a:endParaRPr lang="en-US"/>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a:p>
          <a:p>
            <a:r>
              <a:rPr lang="en-US" b="0" i="0" dirty="0"/>
              <a:t>ANIMATE</a:t>
            </a:r>
          </a:p>
          <a:p>
            <a:endParaRPr lang="en-US"/>
          </a:p>
          <a:p>
            <a:r>
              <a:rPr lang="en-US" b="0" i="0" dirty="0"/>
              <a:t>The model, the property, the assumptions, the semantics, and the bound are all part of the claim. Someone who says "formally verified" and cannot tell you those five things has not told you a result.</a:t>
            </a:r>
          </a:p>
          <a:p>
            <a:endParaRPr lang="en-US"/>
          </a:p>
          <a:p>
            <a:r>
              <a:rPr lang="en-US" b="0" i="0" dirty="0"/>
              <a:t>ANIMATE</a:t>
            </a:r>
          </a:p>
          <a:p>
            <a:endParaRPr lang="en-US"/>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Observing execution: the flow, the fidelity dimension, and the coverage TPS.</a:t>
            </a:r>
          </a:p>
          <a:p>
            <a:endParaRPr lang="en-US"/>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with the footer: testing observes executions; it does not observe the executions we didn't run. Coverage tells us where we looked, not that the code is correct.</a:t>
            </a:r>
          </a:p>
          <a:p>
            <a:endParaRPr lang="en-US"/>
          </a:p>
          <a:p>
            <a:r>
              <a:rPr lang="en-US" b="0" i="0" dirty="0"/>
              <a:t>=====</a:t>
            </a:r>
          </a:p>
          <a:p>
            <a:endParaRPr lang="en-US"/>
          </a:p>
          <a:p>
            <a:r>
              <a:rPr lang="en-US" b="0" i="0" dirty="0"/>
              <a:t>Run the software and observe what happens. Four steps: choose inputs, run, observe the behavior, compare against an oracle. Everyone here has done all four.</a:t>
            </a:r>
          </a:p>
          <a:p>
            <a:endParaRPr lang="en-US"/>
          </a:p>
          <a:p>
            <a:r>
              <a:rPr lang="en-US" b="0" i="0" dirty="0"/>
              <a:t>ANIMATE</a:t>
            </a:r>
          </a:p>
          <a:p>
            <a:endParaRPr lang="en-US"/>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a:p>
          <a:p>
            <a:r>
              <a:rPr lang="en-US" b="0" i="0" dirty="0"/>
              <a:t>ANIMATE</a:t>
            </a:r>
          </a:p>
          <a:p>
            <a:endParaRPr lang="en-US"/>
          </a:p>
          <a:p>
            <a:r>
              <a:rPr lang="en-US" b="0" i="0" dirty="0"/>
              <a:t>That is a trade. Simulation buys speed, repeatability, controllability, and cost. Fidelity buys the thing simulation cannot: evidence about behavior under the actual delivery conditions.</a:t>
            </a:r>
          </a:p>
          <a:p>
            <a:endParaRPr lang="en-US"/>
          </a:p>
          <a:p>
            <a:r>
              <a:rPr lang="en-US" b="0" i="0" dirty="0"/>
              <a:t>ANIMATE</a:t>
            </a:r>
          </a:p>
          <a:p>
            <a:endParaRPr lang="en-US"/>
          </a:p>
          <a:p>
            <a:r>
              <a:rPr lang="en-US" b="0" i="0" dirty="0"/>
              <a:t>So place any test you run on this continuum — and remember the price: the evidence inherits the differences between the simulated environment and the real one. We will meet this again as representativeness.</a:t>
            </a:r>
          </a:p>
          <a:p>
            <a:endParaRPr lang="en-US"/>
          </a:p>
          <a:p>
            <a:r>
              <a:rPr lang="en-US" b="0" i="0" dirty="0"/>
              <a:t>ANIMATE</a:t>
            </a:r>
          </a:p>
          <a:p>
            <a:endParaRPr lang="en-US"/>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a:p>
          <a:p>
            <a:r>
              <a:rPr lang="en-US" b="0" i="0" dirty="0"/>
              <a:t>ANIMATE</a:t>
            </a:r>
          </a:p>
          <a:p>
            <a:endParaRPr lang="en-US"/>
          </a:p>
          <a:p>
            <a:r>
              <a:rPr lang="en-US" b="0" i="0" dirty="0"/>
              <a:t>That is the debrief: testing observes executions. It does not observe the executions we didn't run — and a reached line with no consequential assertion is execution, not evidence.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a:p>
          <a:p>
            <a:r>
              <a:rPr lang="en-US" b="0" i="0" dirty="0"/>
              <a:t>=====</a:t>
            </a:r>
          </a:p>
          <a:p>
            <a:endParaRPr lang="en-US"/>
          </a:p>
          <a:p>
            <a:r>
              <a:rPr lang="en-US" b="0" i="0" dirty="0"/>
              <a:t>Testing has two halves and they do not cost the same.</a:t>
            </a:r>
          </a:p>
          <a:p>
            <a:endParaRPr lang="en-US"/>
          </a:p>
          <a:p>
            <a:r>
              <a:rPr lang="en-US" b="0" i="0" dirty="0"/>
              <a:t>ANIMATE</a:t>
            </a:r>
          </a:p>
          <a:p>
            <a:endParaRPr lang="en-US"/>
          </a:p>
          <a:p>
            <a:r>
              <a:rPr lang="en-US" b="0" i="0" dirty="0"/>
              <a:t>An input, run it, an output. Generating an execution is often cheap — sometimes nearly free.</a:t>
            </a:r>
          </a:p>
          <a:p>
            <a:endParaRPr lang="en-US"/>
          </a:p>
          <a:p>
            <a:r>
              <a:rPr lang="en-US" b="0" i="0" dirty="0"/>
              <a:t>ANIMATE</a:t>
            </a:r>
          </a:p>
          <a:p>
            <a:endParaRPr lang="en-US"/>
          </a:p>
          <a:p>
            <a:r>
              <a:rPr lang="en-US" b="0" i="0" dirty="0"/>
              <a:t>And then: is it correct? That is the oracle, and that is the hard part.</a:t>
            </a:r>
          </a:p>
          <a:p>
            <a:endParaRPr lang="en-US"/>
          </a:p>
          <a:p>
            <a:r>
              <a:rPr lang="en-US" b="0"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0" i="0" dirty="0"/>
              <a:t>ANIMATE</a:t>
            </a:r>
          </a:p>
          <a:p>
            <a:endParaRPr lang="en-US"/>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a:p>
          <a:p>
            <a:r>
              <a:rPr lang="en-US" b="0" i="0" dirty="0"/>
              <a:t>=====</a:t>
            </a:r>
          </a:p>
          <a:p>
            <a:endParaRPr lang="en-US"/>
          </a:p>
          <a:p>
            <a:r>
              <a:rPr lang="en-US" b="0" i="0" dirty="0"/>
              <a:t>Two strategies, one slide, because the second is best understood as a move away from the first.</a:t>
            </a:r>
          </a:p>
          <a:p>
            <a:endParaRPr lang="en-US"/>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a:p>
          <a:p>
            <a:r>
              <a:rPr lang="en-US" b="0" i="0" dirty="0"/>
              <a:t>ANIMATE</a:t>
            </a:r>
          </a:p>
          <a:p>
            <a:endParaRPr lang="en-US"/>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a:p>
          <a:p>
            <a:r>
              <a:rPr lang="en-US" b="0" i="0" dirty="0"/>
              <a:t>ANIMATE</a:t>
            </a:r>
          </a:p>
          <a:p>
            <a:endParaRPr lang="en-US"/>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Metamorphic testing: state how answers must relate when you cannot state the answer.</a:t>
            </a:r>
          </a:p>
          <a:p>
            <a:endParaRPr lang="en-US"/>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0" i="0" dirty="0"/>
              <a:t>ANIMATE</a:t>
            </a:r>
          </a:p>
          <a:p>
            <a:endParaRPr lang="en-US"/>
          </a:p>
          <a:p>
            <a:r>
              <a:rPr lang="en-US" b="0" i="0" dirty="0"/>
              <a:t>Top row: an input x, run f, get y. Ordinary execution — and we do not know whether y is right.</a:t>
            </a:r>
          </a:p>
          <a:p>
            <a:endParaRPr lang="en-US"/>
          </a:p>
          <a:p>
            <a:r>
              <a:rPr lang="en-US" b="0" i="0" dirty="0"/>
              <a:t>ANIMATE</a:t>
            </a:r>
          </a:p>
          <a:p>
            <a:endParaRPr lang="en-US"/>
          </a:p>
          <a:p>
            <a:r>
              <a:rPr lang="en-US" b="0" i="0" dirty="0"/>
              <a:t>Bottom row: transform the input by T, run the same f, get y-prime. Still do not know whether either answer is right.</a:t>
            </a:r>
          </a:p>
          <a:p>
            <a:endParaRPr lang="en-US"/>
          </a:p>
          <a:p>
            <a:r>
              <a:rPr lang="en-US" b="0" i="0" dirty="0"/>
              <a:t>ANIMATE</a:t>
            </a:r>
          </a:p>
          <a:p>
            <a:endParaRPr lang="en-US"/>
          </a:p>
          <a:p>
            <a:r>
              <a:rPr lang="en-US" b="0" i="0" dirty="0"/>
              <a:t>And here is the oracle: a relation R that y and y-prime must satisfy. Not what either answer IS — how they must relate.</a:t>
            </a:r>
          </a:p>
          <a:p>
            <a:endParaRPr lang="en-US"/>
          </a:p>
          <a:p>
            <a:r>
              <a:rPr lang="en-US" b="0"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0" i="0" dirty="0"/>
              <a:t>ANIMATE</a:t>
            </a:r>
          </a:p>
          <a:p>
            <a:endParaRPr lang="en-US"/>
          </a:p>
          <a:p>
            <a:r>
              <a:rPr lang="en-US" b="0" i="0" dirty="0"/>
              <a:t>When you cannot state the answer, state how answers must relate. A relation between runs is an oracle when the answer is unavailable — and that is the whole trick.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a:p>
          <a:p>
            <a:r>
              <a:rPr lang="en-US" b="0" i="0" dirty="0"/>
              <a:t>=====</a:t>
            </a:r>
          </a:p>
          <a:p>
            <a:endParaRPr lang="en-US"/>
          </a:p>
          <a:p>
            <a:r>
              <a:rPr lang="en-US" b="0" i="0" dirty="0"/>
              <a:t>Same input, two implementations.</a:t>
            </a:r>
          </a:p>
          <a:p>
            <a:endParaRPr lang="en-US"/>
          </a:p>
          <a:p>
            <a:r>
              <a:rPr lang="en-US" b="0" i="0" dirty="0"/>
              <a:t>ANIMATE</a:t>
            </a:r>
          </a:p>
          <a:p>
            <a:endParaRPr lang="en-US"/>
          </a:p>
          <a:p>
            <a:r>
              <a:rPr lang="en-US" b="0" i="0" dirty="0"/>
              <a:t>Implementation A, the one we are validating. Implementation B — a reference, an older version, another vendor.</a:t>
            </a:r>
          </a:p>
          <a:p>
            <a:endParaRPr lang="en-US"/>
          </a:p>
          <a:p>
            <a:r>
              <a:rPr lang="en-US" b="0" i="0" dirty="0"/>
              <a:t>ANIMATE</a:t>
            </a:r>
          </a:p>
          <a:p>
            <a:endParaRPr lang="en-US"/>
          </a:p>
          <a:p>
            <a:r>
              <a:rPr lang="en-US" b="0" i="0" dirty="0"/>
              <a:t>Two outputs.</a:t>
            </a:r>
          </a:p>
          <a:p>
            <a:endParaRPr lang="en-US"/>
          </a:p>
          <a:p>
            <a:r>
              <a:rPr lang="en-US" b="0" i="0" dirty="0"/>
              <a:t>ANIMATE</a:t>
            </a:r>
          </a:p>
          <a:p>
            <a:endParaRPr lang="en-US"/>
          </a:p>
          <a:p>
            <a:r>
              <a:rPr lang="en-US" b="0" i="0" dirty="0"/>
              <a:t>And the oracle is the comparison itself. Ask whether they agree. You never had to state what the right answer was.</a:t>
            </a:r>
          </a:p>
          <a:p>
            <a:endParaRPr lang="en-US"/>
          </a:p>
          <a:p>
            <a:r>
              <a:rPr lang="en-US" b="0" i="0" dirty="0"/>
              <a:t>ANIMATE</a:t>
            </a:r>
          </a:p>
          <a:p>
            <a:endParaRPr lang="en-US"/>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a:p>
          <a:p>
            <a:r>
              <a:rPr lang="en-US" b="0" i="0" dirty="0"/>
              <a:t>ANIMATE</a:t>
            </a:r>
          </a:p>
          <a:p>
            <a:endParaRPr lang="en-US"/>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a:p>
          <a:p>
            <a:r>
              <a:rPr lang="en-US" b="0" i="0" dirty="0"/>
              <a:t>• (moved from slide) Fuzzing row, full list of cheap observable self-failures: crash, hang, assertion, sanitizer.</a:t>
            </a:r>
          </a:p>
          <a:p>
            <a:r>
              <a:rPr lang="en-US" b="0" i="0" dirty="0"/>
              <a:t>=====</a:t>
            </a:r>
          </a:p>
          <a:p>
            <a:endParaRPr lang="en-US"/>
          </a:p>
          <a:p>
            <a:r>
              <a:rPr lang="en-US" b="0" i="0" dirty="0"/>
              <a:t>Five strategies, accumulating.</a:t>
            </a:r>
          </a:p>
          <a:p>
            <a:endParaRPr lang="en-US"/>
          </a:p>
          <a:p>
            <a:r>
              <a:rPr lang="en-US" b="0" i="0" dirty="0"/>
              <a:t>ANIMATE</a:t>
            </a:r>
          </a:p>
          <a:p>
            <a:endParaRPr lang="en-US"/>
          </a:p>
          <a:p>
            <a:r>
              <a:rPr lang="en-US" b="0" i="0" dirty="0"/>
              <a:t>Example-based: known answers — choose the cases you already understand.</a:t>
            </a:r>
          </a:p>
          <a:p>
            <a:endParaRPr lang="en-US"/>
          </a:p>
          <a:p>
            <a:r>
              <a:rPr lang="en-US" b="0" i="0" dirty="0"/>
              <a:t>ANIMATE</a:t>
            </a:r>
          </a:p>
          <a:p>
            <a:endParaRPr lang="en-US"/>
          </a:p>
          <a:p>
            <a:r>
              <a:rPr lang="en-US" b="0" i="0" dirty="0"/>
              <a:t>Property-based: known general properties — generate cases and hunt for a counterexample.</a:t>
            </a:r>
          </a:p>
          <a:p>
            <a:endParaRPr lang="en-US"/>
          </a:p>
          <a:p>
            <a:r>
              <a:rPr lang="en-US" b="0" i="0" dirty="0"/>
              <a:t>ANIMATE</a:t>
            </a:r>
          </a:p>
          <a:p>
            <a:endParaRPr lang="en-US"/>
          </a:p>
          <a:p>
            <a:r>
              <a:rPr lang="en-US" b="0" i="0" dirty="0"/>
              <a:t>Metamorphic: known relations among executions.</a:t>
            </a:r>
          </a:p>
          <a:p>
            <a:endParaRPr lang="en-US"/>
          </a:p>
          <a:p>
            <a:r>
              <a:rPr lang="en-US" b="0" i="0" dirty="0"/>
              <a:t>ANIMATE</a:t>
            </a:r>
          </a:p>
          <a:p>
            <a:endParaRPr lang="en-US"/>
          </a:p>
          <a:p>
            <a:r>
              <a:rPr lang="en-US" b="0" i="0" dirty="0"/>
              <a:t>Fuzzing: cheap observable self-failures.</a:t>
            </a:r>
          </a:p>
          <a:p>
            <a:endParaRPr lang="en-US"/>
          </a:p>
          <a:p>
            <a:r>
              <a:rPr lang="en-US" b="0" i="0" dirty="0"/>
              <a:t>ANIMATE</a:t>
            </a:r>
          </a:p>
          <a:p>
            <a:endParaRPr lang="en-US"/>
          </a:p>
          <a:p>
            <a:r>
              <a:rPr lang="en-US" b="0" i="0" dirty="0"/>
              <a:t>Differential: another implementation, where the specification requires agreement.</a:t>
            </a:r>
          </a:p>
          <a:p>
            <a:endParaRPr lang="en-US"/>
          </a:p>
          <a:p>
            <a:r>
              <a:rPr lang="en-US" b="0"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a:p>
          <a:p>
            <a:r>
              <a:rPr lang="en-US" b="0" i="0" dirty="0"/>
              <a:t>ANIMATE</a:t>
            </a:r>
          </a:p>
          <a:p>
            <a:endParaRPr lang="en-US"/>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a:p>
          <a:p>
            <a:r>
              <a:rPr lang="en-US" b="0" i="0" dirty="0"/>
              <a:t>ANIMATE</a:t>
            </a:r>
          </a:p>
          <a:p>
            <a:endParaRPr lang="en-US"/>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a:p>
          <a:p>
            <a:r>
              <a:rPr lang="en-US" b="0" i="0" dirty="0"/>
              <a:t>ANIMATE</a:t>
            </a:r>
          </a:p>
          <a:p>
            <a:endParaRPr lang="en-US"/>
          </a:p>
          <a:p>
            <a:r>
              <a:rPr lang="en-US" b="0" i="0" dirty="0"/>
              <a:t>Coverage: how much did we examine?</a:t>
            </a:r>
          </a:p>
          <a:p>
            <a:endParaRPr lang="en-US"/>
          </a:p>
          <a:p>
            <a:r>
              <a:rPr lang="en-US" b="0" i="0" dirty="0"/>
              <a:t>ANIMATE</a:t>
            </a:r>
          </a:p>
          <a:p>
            <a:endParaRPr lang="en-US"/>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a:p>
          <a:p>
            <a:r>
              <a:rPr lang="en-US" b="0" i="0" dirty="0"/>
              <a:t>ANIMATE</a:t>
            </a:r>
          </a:p>
          <a:p>
            <a:endParaRPr lang="en-US"/>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a:p>
          <a:p>
            <a:r>
              <a:rPr lang="en-US" b="0" i="0" dirty="0"/>
              <a:t>ANIMATE</a:t>
            </a:r>
          </a:p>
          <a:p>
            <a:endParaRPr lang="en-US"/>
          </a:p>
          <a:p>
            <a:r>
              <a:rPr lang="en-US" b="0" i="0" dirty="0"/>
              <a:t>Independence: could one mistaken assumption undermine all the evidence at once? Hold that — the next slide is about exactly this.</a:t>
            </a:r>
          </a:p>
          <a:p>
            <a:endParaRPr lang="en-US"/>
          </a:p>
          <a:p>
            <a:r>
              <a:rPr lang="en-US" b="0" i="0" dirty="0"/>
              <a:t>ANIMATE</a:t>
            </a:r>
          </a:p>
          <a:p>
            <a:endParaRPr lang="en-US"/>
          </a:p>
          <a:p>
            <a:r>
              <a:rPr lang="en-US" b="0" i="0" dirty="0"/>
              <a:t>Residual uncertainty: what remains unresolved? Known failures, unmodeled states. Not everything you know about is fixed at delivery, and pretending otherwise is how it gets forgotten.</a:t>
            </a:r>
          </a:p>
          <a:p>
            <a:endParaRPr lang="en-US"/>
          </a:p>
          <a:p>
            <a:r>
              <a:rPr lang="en-US" b="0" i="0" dirty="0"/>
              <a:t>ANIMATE</a:t>
            </a:r>
          </a:p>
          <a:p>
            <a:endParaRPr lang="en-US"/>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MAGE Moment: generated volume is cheap; independence is not.</a:t>
            </a:r>
          </a:p>
          <a:p>
            <a:endParaRPr lang="en-US"/>
          </a:p>
          <a:p>
            <a:r>
              <a:rPr lang="en-US" b="0" i="0" dirty="0"/>
              <a:t>• The strength-side half of the MAGE argument, and a different lesson from the human-attention one. Say the difference out loud — students conflate them. That one: a review mechanism has finite CAPACITY. This one: generated evidence does not become independent merely because there is more of it.</a:t>
            </a:r>
          </a:p>
          <a:p>
            <a:r>
              <a:rPr lang="en-US" b="0" i="0" dirty="0"/>
              <a:t>• The arithmetic image first: a thousand tests from one mistaken interpretation are not a thousand reasons. They are one reason, repeated.</a:t>
            </a:r>
          </a:p>
          <a:p>
            <a:r>
              <a:rPr lang="en-US" b="0" i="0" dirty="0"/>
              <a:t>• Then the branches: an agent can produce ten thousand tests for the price of a coffee — all generated from ONE interpretation of the specification. If that interpretation is wrong, every one of them is wrong in the same direction, and every one of them passes.</a:t>
            </a:r>
          </a:p>
          <a:p>
            <a:r>
              <a:rPr lang="en-US" b="0" i="0" dirty="0"/>
              <a:t>• Branch B — an independent model, an analysis, a human reading — rests on different assumptions and can catch the shared mistake.</a:t>
            </a:r>
          </a:p>
          <a:p>
            <a:r>
              <a:rPr lang="en-US" b="0" i="0" dirty="0"/>
              <a:t>• The fix is not fewer tests. Generate the ten thousand; then add a second line of evidence that does not inherit the same interpretation.</a:t>
            </a:r>
          </a:p>
          <a:p>
            <a:r>
              <a:rPr lang="en-US" b="0" i="0" dirty="0"/>
              <a:t>• Do not add more aphorisms.</a:t>
            </a:r>
          </a:p>
          <a:p>
            <a:endParaRPr lang="en-US"/>
          </a:p>
          <a:p>
            <a:r>
              <a:rPr lang="en-US" b="0" i="0" dirty="0"/>
              <a:t>• (moved from slide) GenAI makes evidence volume cheap. It does not automatically make evidence independent.</a:t>
            </a:r>
          </a:p>
          <a:p>
            <a:r>
              <a:rPr lang="en-US" b="0" i="0" dirty="0"/>
              <a:t>• The on-screen model is DELIBERATELY simple, not probabilistic: read the dependency graph (one interpretation fanning out to 10,000 tests vs. an independent model feeding one analysis, all converging on the same claim), then the two equations. 10,000 × E(X) ≠ 10,000 independent E, and the line to remember: N_evidence ≠ N_independent_assumptions. Keep it arithmetic-simple — do not introduce probability notation here.</a:t>
            </a:r>
          </a:p>
          <a:p>
            <a:r>
              <a:rPr lang="en-US" b="0" i="0" dirty="0"/>
              <a:t>• Foreshadow the Decision-Making/Metrics lecture: counting artifacts is an attractive metric that measures the wrong thing when the epistemic structure is correlated.</a:t>
            </a:r>
          </a:p>
          <a:p>
            <a:r>
              <a:rPr lang="en-US" b="0" i="0" dirty="0"/>
              <a:t>=====</a:t>
            </a:r>
          </a:p>
          <a:p>
            <a:endParaRPr lang="en-US"/>
          </a:p>
          <a:p>
            <a:r>
              <a:rPr lang="en-US" b="0" i="0" dirty="0"/>
              <a:t>An agent can produce ten thousand tests for the price of a coffee. That is genuinely new, and it is genuinely useful. Now ask the strength question about it.</a:t>
            </a:r>
          </a:p>
          <a:p>
            <a:r>
              <a:rPr lang="en-US" b="0" i="0" dirty="0"/>
              <a:t>A thousand tests from one mistaken interpretation are not a thousand reasons to believe anything. They are one reason, repeated. If the interpretation is wrong, all of them are wrong together — and they all pass.</a:t>
            </a:r>
          </a:p>
          <a:p>
            <a:r>
              <a:rPr lang="en-US" b="0" i="0" dirty="0"/>
              <a:t>Compare the two branches on screen. Branch A: one agent interpretation, ten thousand generated tests, one body of evidence. Branch B: an independent model, an analysis, a human reading of the spec — different assumptions, different failure modes. Two branches catch each other's mistakes; one branch, however voluminous, cannot.</a:t>
            </a:r>
          </a:p>
          <a:p>
            <a:r>
              <a:rPr lang="en-US" b="0" i="0" dirty="0"/>
              <a:t>Be precise about how this differs from the human-attention MAGE Moment, because students merge them. That one was about the CAPACITY of a mechanism: attention runs out. This one is about the STRENGTH of evidence: volume is not independence.</a:t>
            </a:r>
          </a:p>
          <a:p>
            <a:r>
              <a:rPr lang="en-US" b="0" i="0" dirty="0"/>
              <a:t>And the fix is not fewer tests. Generate the ten thousand. Then add a second line of evidence that does not inherit the same interpretation — a different model, a different reader, a property derived from the spec rather than from the agent's reading of it.</a:t>
            </a:r>
          </a:p>
          <a:p>
            <a:r>
              <a:rPr lang="en-US" b="0" i="0" dirty="0"/>
              <a:t>Strong validation triangulates across evidence with meaningfully different assumptions and failure modes.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0" i="0" dirty="0"/>
              <a:t>ANIMATE</a:t>
            </a:r>
          </a:p>
          <a:p>
            <a:endParaRPr lang="en-US"/>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a:p>
          <a:p>
            <a:r>
              <a:rPr lang="en-US" b="0" i="0" dirty="0"/>
              <a:t>=====</a:t>
            </a:r>
          </a:p>
          <a:p>
            <a:endParaRPr lang="en-US"/>
          </a:p>
          <a:p>
            <a:r>
              <a:rPr lang="en-US" b="0" i="0" dirty="0"/>
              <a:t>The second slide of this lecture promised we would build this. Here it is — the same spine, populated.</a:t>
            </a:r>
          </a:p>
          <a:p>
            <a:endParaRPr lang="en-US"/>
          </a:p>
          <a:p>
            <a:r>
              <a:rPr lang="en-US" b="0" i="0" dirty="0"/>
              <a:t>ANIMATE</a:t>
            </a:r>
          </a:p>
          <a:p>
            <a:endParaRPr lang="en-US"/>
          </a:p>
          <a:p>
            <a:r>
              <a:rPr lang="en-US" b="0" i="0" dirty="0"/>
              <a:t>The claims came from the specification, not from us: payment charged at most once; p99 latency under 500 milliseconds.</a:t>
            </a:r>
          </a:p>
          <a:p>
            <a:endParaRPr lang="en-US"/>
          </a:p>
          <a:p>
            <a:r>
              <a:rPr lang="en-US" b="0" i="0" dirty="0"/>
              <a:t>ANIMATE</a:t>
            </a:r>
          </a:p>
          <a:p>
            <a:endParaRPr lang="en-US"/>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a:p>
          <a:p>
            <a:r>
              <a:rPr lang="en-US" b="0" i="0" dirty="0"/>
              <a:t>ANIMATE</a:t>
            </a:r>
          </a:p>
          <a:p>
            <a:endParaRPr lang="en-US"/>
          </a:p>
          <a:p>
            <a:r>
              <a:rPr lang="en-US" b="0" i="0" dirty="0"/>
              <a:t>Judgment does not happen automatically: how strong is this evidence? What assumptions remain untested? What margin? What containment? What consequence if we are wrong?</a:t>
            </a:r>
          </a:p>
          <a:p>
            <a:endParaRPr lang="en-US"/>
          </a:p>
          <a:p>
            <a:r>
              <a:rPr lang="en-US" b="0" i="0" dirty="0"/>
              <a:t>ANIMATE</a:t>
            </a:r>
          </a:p>
          <a:p>
            <a:endParaRPr lang="en-US"/>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a:p>
          <a:p>
            <a:r>
              <a:rPr lang="en-US" b="0" i="0" dirty="0"/>
              <a:t>ANIMATE</a:t>
            </a:r>
          </a:p>
          <a:p>
            <a:endParaRPr lang="en-US"/>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a:p>
          <a:p>
            <a:r>
              <a:rPr lang="en-US" b="0" i="0" dirty="0"/>
              <a:t>ANIMATE</a:t>
            </a:r>
          </a:p>
          <a:p>
            <a:endParaRPr lang="en-US"/>
          </a:p>
          <a:p>
            <a:r>
              <a:rPr lang="en-US" b="0" i="0" dirty="0"/>
              <a:t>An assurance case makes that reasoning inspectable. That is the lecture.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Design produced a realization. 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850000"/>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6692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6692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432928" y="2220000"/>
            <a:ext cx="162120" cy="0"/>
          </a:xfrm>
          <a:prstGeom prst="straightConnector1">
            <a:avLst/>
          </a:prstGeom>
          <a:ln w="38100">
            <a:solidFill>
              <a:srgbClr val="8E6F3E"/>
            </a:solidFill>
            <a:tailEnd type="triangle" w="med" len="med"/>
          </a:ln>
        </p:spPr>
      </p:cxnSp>
      <p:sp>
        <p:nvSpPr>
          <p:cNvPr id="111" name="B111"/>
          <p:cNvSpPr/>
          <p:nvPr/>
        </p:nvSpPr>
        <p:spPr>
          <a:xfrm>
            <a:off x="262504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62504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91048" y="2220000"/>
            <a:ext cx="162120" cy="0"/>
          </a:xfrm>
          <a:prstGeom prst="straightConnector1">
            <a:avLst/>
          </a:prstGeom>
          <a:ln w="38100">
            <a:solidFill>
              <a:srgbClr val="8E6F3E"/>
            </a:solidFill>
            <a:tailEnd type="triangle" w="med" len="med"/>
          </a:ln>
        </p:spPr>
      </p:cxnSp>
      <p:sp>
        <p:nvSpPr>
          <p:cNvPr id="112" name="B112"/>
          <p:cNvSpPr/>
          <p:nvPr/>
        </p:nvSpPr>
        <p:spPr>
          <a:xfrm>
            <a:off x="468316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8316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549168" y="2220000"/>
            <a:ext cx="162120" cy="0"/>
          </a:xfrm>
          <a:prstGeom prst="straightConnector1">
            <a:avLst/>
          </a:prstGeom>
          <a:ln w="38100">
            <a:solidFill>
              <a:srgbClr val="8E6F3E"/>
            </a:solidFill>
            <a:tailEnd type="triangle" w="med" len="med"/>
          </a:ln>
        </p:spPr>
      </p:cxnSp>
      <p:sp>
        <p:nvSpPr>
          <p:cNvPr id="113" name="B113"/>
          <p:cNvSpPr/>
          <p:nvPr/>
        </p:nvSpPr>
        <p:spPr>
          <a:xfrm>
            <a:off x="674128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74128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566928" y="3900000"/>
            <a:ext cx="8010144"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An assurance case makes the argument from claim to action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will build this argument — and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680000"/>
            <a:ext cx="8010144" cy="950000"/>
          </a:xfrm>
          <a:prstGeom prst="rect">
            <a:avLst/>
          </a:prstGeom>
          <a:noFill/>
          <a:ln>
            <a:noFill/>
          </a:ln>
        </p:spPr>
        <p:txBody>
          <a:bodyPr wrap="square" lIns="0" tIns="0" rIns="0" bIns="0" anchor="t"/>
          <a:lstStyle/>
          <a:p>
            <a:pPr algn="ctr">
              <a:buNone/>
            </a:pPr>
            <a:r>
              <a:rPr lang="en-US" sz="2200" b="0" i="1" dirty="0">
                <a:solidFill>
                  <a:srgbClr val="555960"/>
                </a:solidFill>
              </a:rPr>
              <a:t>Engineers weigh both the severity of a possible consequence 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Sometimes it is right to deliver under known uncertainty,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not its past consequences.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5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0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75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cxnSp>
        <p:nvCxnSpPr>
          <p:cNvPr id="161" name="A161"/>
          <p:cNvCxnSpPr/>
          <p:nvPr/>
        </p:nvCxnSpPr>
        <p:spPr>
          <a:xfrm flipV="1">
            <a:off x="6200000" y="1830000"/>
            <a:ext cx="0" cy="1180000"/>
          </a:xfrm>
          <a:prstGeom prst="straightConnector1">
            <a:avLst/>
          </a:prstGeom>
          <a:ln w="28575">
            <a:solidFill>
              <a:srgbClr val="8E6F3E"/>
            </a:solidFill>
            <a:tailEnd type="triangle" w="med" len="med"/>
          </a:ln>
        </p:spPr>
      </p:cxnSp>
      <p:sp>
        <p:nvSpPr>
          <p:cNvPr id="162" name="T162"/>
          <p:cNvSpPr/>
          <p:nvPr/>
        </p:nvSpPr>
        <p:spPr>
          <a:xfrm>
            <a:off x="6420000" y="2050000"/>
            <a:ext cx="2200000" cy="800000"/>
          </a:xfrm>
          <a:prstGeom prst="rect">
            <a:avLst/>
          </a:prstGeom>
          <a:noFill/>
          <a:ln>
            <a:noFill/>
          </a:ln>
        </p:spPr>
        <p:txBody>
          <a:bodyPr wrap="square" lIns="45720" tIns="22860" rIns="45720" bIns="22860" anchor="ctr"/>
          <a:lstStyle/>
          <a:p>
            <a:pPr algn="l">
              <a:buNone/>
            </a:pPr>
            <a:r>
              <a:rPr lang="en-US" sz="2000" b="0" i="1" dirty="0">
                <a:solidFill>
                  <a:srgbClr val="5C4826"/>
                </a:solidFill>
              </a:rPr>
              <a:t>machine obligation</a:t>
            </a:r>
          </a:p>
          <a:p>
            <a:pPr algn="l">
              <a:buNone/>
            </a:pPr>
            <a:r>
              <a:rPr lang="en-US" sz="2000" b="0" i="1" dirty="0">
                <a:solidFill>
                  <a:srgbClr val="5C4826"/>
                </a:solidFill>
              </a:rPr>
              <a:t>+ environment assumptions</a:t>
            </a:r>
          </a:p>
        </p:txBody>
      </p:sp>
      <p:sp>
        <p:nvSpPr>
          <p:cNvPr id="163" name="B163"/>
          <p:cNvSpPr/>
          <p:nvPr/>
        </p:nvSpPr>
        <p:spPr>
          <a:xfrm>
            <a:off x="5000000" y="3140000"/>
            <a:ext cx="2400000" cy="550000"/>
          </a:xfrm>
          <a:prstGeom prst="rect">
            <a:avLst/>
          </a:prstGeom>
          <a:solidFill>
            <a:srgbClr val="FBF8F2"/>
          </a:solidFill>
          <a:ln w="19050">
            <a:solidFill>
              <a:srgbClr val="5C4826"/>
            </a:solidFill>
          </a:ln>
        </p:spPr>
        <p:txBody>
          <a:bodyPr wrap="square" lIns="45720" tIns="22860" rIns="45720" bIns="22860" anchor="ctr"/>
          <a:lstStyle/>
          <a:p>
            <a:pPr algn="ctr">
              <a:buNone/>
            </a:pPr>
            <a:r>
              <a:rPr lang="en-US" sz="2200" b="1" i="0" dirty="0">
                <a:solidFill>
                  <a:srgbClr val="5C4826"/>
                </a:solidFill>
              </a:rPr>
              <a:t>SPECIFICATION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5000000" y="1000000"/>
            <a:ext cx="2400000" cy="7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a:p>
            <a:pPr algn="ctr">
              <a:buNone/>
            </a:pPr>
            <a:r>
              <a:rPr lang="en-US" sz="2000" b="0" i="1" dirty="0">
                <a:solidFill>
                  <a:srgbClr val="FFFFFF"/>
                </a:solidFill>
              </a:rPr>
              <a:t>required outcome</a:t>
            </a:r>
          </a:p>
        </p:txBody>
      </p:sp>
      <p:sp>
        <p:nvSpPr>
          <p:cNvPr id="160" name="E160"/>
          <p:cNvSpPr/>
          <p:nvPr/>
        </p:nvSpPr>
        <p:spPr>
          <a:xfrm>
            <a:off x="5080000" y="3950000"/>
            <a:ext cx="3497072" cy="12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nodeType="withEffect">
                                  <p:stCondLst>
                                    <p:cond delay="0"/>
                                  </p:stCondLst>
                                  <p:childTnLst>
                                    <p:set>
                                      <p:cBhvr>
                                        <p:cTn id="43" dur="1" fill="hold">
                                          <p:stCondLst>
                                            <p:cond delay="0"/>
                                          </p:stCondLst>
                                        </p:cTn>
                                        <p:tgtEl>
                                          <p:spTgt spid="161"/>
                                        </p:tgtEl>
                                        <p:attrNameLst>
                                          <p:attrName>style.visibility</p:attrName>
                                        </p:attrNameLst>
                                      </p:cBhvr>
                                      <p:to>
                                        <p:strVal val="visible"/>
                                      </p:to>
                                    </p:set>
                                    <p:animEffect transition="in" filter="fade">
                                      <p:cBhvr>
                                        <p:cTn id="44" dur="500"/>
                                        <p:tgtEl>
                                          <p:spTgt spid="161"/>
                                        </p:tgtEl>
                                      </p:cBhvr>
                                    </p:animEffect>
                                  </p:childTnLst>
                                </p:cTn>
                              </p:par>
                              <p:par>
                                <p:cTn id="45" presetID="10" presetClass="entr" presetSubtype="0" fill="hold" nodeType="withEffect">
                                  <p:stCondLst>
                                    <p:cond delay="0"/>
                                  </p:stCondLst>
                                  <p:childTnLst>
                                    <p:set>
                                      <p:cBhvr>
                                        <p:cTn id="46" dur="1" fill="hold">
                                          <p:stCondLst>
                                            <p:cond delay="0"/>
                                          </p:stCondLst>
                                        </p:cTn>
                                        <p:tgtEl>
                                          <p:spTgt spid="162"/>
                                        </p:tgtEl>
                                        <p:attrNameLst>
                                          <p:attrName>style.visibility</p:attrName>
                                        </p:attrNameLst>
                                      </p:cBhvr>
                                      <p:to>
                                        <p:strVal val="visible"/>
                                      </p:to>
                                    </p:set>
                                    <p:animEffect transition="in" filter="fade">
                                      <p:cBhvr>
                                        <p:cTn id="47" dur="500"/>
                                        <p:tgtEl>
                                          <p:spTgt spid="162"/>
                                        </p:tgtEl>
                                      </p:cBhvr>
                                    </p:animEffect>
                                  </p:childTnLst>
                                </p:cTn>
                              </p:par>
                              <p:par>
                                <p:cTn id="48" presetID="10" presetClass="entr" presetSubtype="0" fill="hold" nodeType="withEffect">
                                  <p:stCondLst>
                                    <p:cond delay="0"/>
                                  </p:stCondLst>
                                  <p:childTnLst>
                                    <p:set>
                                      <p:cBhvr>
                                        <p:cTn id="49" dur="1" fill="hold">
                                          <p:stCondLst>
                                            <p:cond delay="0"/>
                                          </p:stCondLst>
                                        </p:cTn>
                                        <p:tgtEl>
                                          <p:spTgt spid="163"/>
                                        </p:tgtEl>
                                        <p:attrNameLst>
                                          <p:attrName>style.visibility</p:attrName>
                                        </p:attrNameLst>
                                      </p:cBhvr>
                                      <p:to>
                                        <p:strVal val="visible"/>
                                      </p:to>
                                    </p:set>
                                    <p:animEffect transition="in" filter="fade">
                                      <p:cBhvr>
                                        <p:cTn id="50" dur="500"/>
                                        <p:tgtEl>
                                          <p:spTgt spid="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50" name="L150"/>
          <p:cNvSpPr/>
          <p:nvPr/>
        </p:nvSpPr>
        <p:spPr>
          <a:xfrm>
            <a:off x="2500000" y="900000"/>
            <a:ext cx="2050000" cy="4200000"/>
          </a:xfrm>
          <a:custGeom>
            <a:avLst/>
            <a:gdLst/>
            <a:ahLst/>
            <a:cxnLst/>
            <a:rect l="l" t="t" r="r" b="b"/>
            <a:pathLst>
              <a:path w="2050000" h="4200000" fill="none">
                <a:moveTo>
                  <a:pt x="0" y="0"/>
                </a:moveTo>
                <a:lnTo>
                  <a:pt x="2050000" y="4200000"/>
                </a:lnTo>
              </a:path>
            </a:pathLst>
          </a:custGeom>
          <a:noFill/>
          <a:ln w="38100">
            <a:solidFill>
              <a:srgbClr val="8E6F3E"/>
            </a:solidFill>
          </a:ln>
        </p:spPr>
        <p:txBody>
          <a:bodyPr/>
          <a:lstStyle/>
          <a:p>
            <a:endParaRPr lang="en-US"/>
          </a:p>
        </p:txBody>
      </p:sp>
      <p:sp>
        <p:nvSpPr>
          <p:cNvPr id="151" name="L151"/>
          <p:cNvSpPr/>
          <p:nvPr/>
        </p:nvSpPr>
        <p:spPr>
          <a:xfrm>
            <a:off x="4550000" y="900000"/>
            <a:ext cx="2050000" cy="4200000"/>
          </a:xfrm>
          <a:custGeom>
            <a:avLst/>
            <a:gdLst/>
            <a:ahLst/>
            <a:cxnLst/>
            <a:rect l="l" t="t" r="r" b="b"/>
            <a:pathLst>
              <a:path w="2050000" h="4200000" fill="none">
                <a:moveTo>
                  <a:pt x="0" y="4200000"/>
                </a:moveTo>
                <a:lnTo>
                  <a:pt x="2050000" y="0"/>
                </a:lnTo>
              </a:path>
            </a:pathLst>
          </a:custGeom>
          <a:noFill/>
          <a:ln w="38100">
            <a:solidFill>
              <a:srgbClr val="8E6F3E"/>
            </a:solidFill>
          </a:ln>
        </p:spPr>
        <p:txBody>
          <a:bodyPr/>
          <a:lstStyle/>
          <a:p>
            <a:endParaRPr lang="en-US"/>
          </a:p>
        </p:txBody>
      </p:sp>
      <p:sp>
        <p:nvSpPr>
          <p:cNvPr id="110" name="T110"/>
          <p:cNvSpPr txBox="1"/>
          <p:nvPr/>
        </p:nvSpPr>
        <p:spPr>
          <a:xfrm>
            <a:off x="30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300000" y="175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300000" y="260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3450000" y="51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6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180000" y="175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770000" y="260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5230000" y="3700000"/>
            <a:ext cx="2000000" cy="420000"/>
          </a:xfrm>
          <a:prstGeom prst="rect">
            <a:avLst/>
          </a:prstGeom>
          <a:noFill/>
          <a:ln>
            <a:noFill/>
          </a:ln>
        </p:spPr>
        <p:txBody>
          <a:bodyPr wrap="square" lIns="0" tIns="0" rIns="0" bIns="0" anchor="ctr"/>
          <a:lstStyle/>
          <a:p>
            <a:pPr algn="l">
              <a:buNone/>
            </a:pPr>
            <a:r>
              <a:rPr lang="en-US" sz="2400" b="1" i="0" dirty="0">
                <a:solidFill>
                  <a:srgbClr val="000000"/>
                </a:solidFill>
              </a:rPr>
              <a:t>Unit</a:t>
            </a:r>
          </a:p>
        </p:txBody>
      </p:sp>
      <p:cxnSp>
        <p:nvCxnSpPr>
          <p:cNvPr id="125" name="D125"/>
          <p:cNvCxnSpPr/>
          <p:nvPr/>
        </p:nvCxnSpPr>
        <p:spPr>
          <a:xfrm>
            <a:off x="2681548" y="1190000"/>
            <a:ext cx="3736904" cy="0"/>
          </a:xfrm>
          <a:prstGeom prst="straightConnector1">
            <a:avLst/>
          </a:prstGeom>
          <a:ln w="12700">
            <a:solidFill>
              <a:srgbClr val="8E6F3E"/>
            </a:solidFill>
            <a:prstDash val="dash"/>
            <a:tailEnd type="triangle" w="med" len="med"/>
          </a:ln>
        </p:spPr>
      </p:cxnSp>
      <p:cxnSp>
        <p:nvCxnSpPr>
          <p:cNvPr id="126" name="D126"/>
          <p:cNvCxnSpPr/>
          <p:nvPr/>
        </p:nvCxnSpPr>
        <p:spPr>
          <a:xfrm>
            <a:off x="3057381" y="1960000"/>
            <a:ext cx="2985238" cy="0"/>
          </a:xfrm>
          <a:prstGeom prst="straightConnector1">
            <a:avLst/>
          </a:prstGeom>
          <a:ln w="12700">
            <a:solidFill>
              <a:srgbClr val="8E6F3E"/>
            </a:solidFill>
            <a:prstDash val="dash"/>
            <a:tailEnd type="triangle" w="med" len="med"/>
          </a:ln>
        </p:spPr>
      </p:cxnSp>
      <p:cxnSp>
        <p:nvCxnSpPr>
          <p:cNvPr id="127" name="D127"/>
          <p:cNvCxnSpPr/>
          <p:nvPr/>
        </p:nvCxnSpPr>
        <p:spPr>
          <a:xfrm>
            <a:off x="3472262" y="2810000"/>
            <a:ext cx="2155476" cy="0"/>
          </a:xfrm>
          <a:prstGeom prst="straightConnector1">
            <a:avLst/>
          </a:prstGeom>
          <a:ln w="12700">
            <a:solidFill>
              <a:srgbClr val="8E6F3E"/>
            </a:solidFill>
            <a:prstDash val="dash"/>
            <a:tailEnd type="triangle" w="med" len="med"/>
          </a:ln>
        </p:spPr>
      </p:cxnSp>
      <p:cxnSp>
        <p:nvCxnSpPr>
          <p:cNvPr id="128" name="D128"/>
          <p:cNvCxnSpPr/>
          <p:nvPr/>
        </p:nvCxnSpPr>
        <p:spPr>
          <a:xfrm>
            <a:off x="4009167" y="3910000"/>
            <a:ext cx="1081666"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Unit, integration, system, acceptance name scopes of evidence —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7"/>
                                        </p:tgtEl>
                                        <p:attrNameLst>
                                          <p:attrName>style.visibility</p:attrName>
                                        </p:attrNameLst>
                                      </p:cBhvr>
                                      <p:to>
                                        <p:strVal val="visible"/>
                                      </p:to>
                                    </p:set>
                                    <p:animEffect transition="in" filter="fade">
                                      <p:cBhvr>
                                        <p:cTn id="16" dur="500"/>
                                        <p:tgtEl>
                                          <p:spTgt spid="1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5"/>
                                        </p:tgtEl>
                                        <p:attrNameLst>
                                          <p:attrName>style.visibility</p:attrName>
                                        </p:attrNameLst>
                                      </p:cBhvr>
                                      <p:to>
                                        <p:strVal val="visible"/>
                                      </p:to>
                                    </p:set>
                                    <p:animEffect transition="in" filter="fade">
                                      <p:cBhvr>
                                        <p:cTn id="24" dur="500"/>
                                        <p:tgtEl>
                                          <p:spTgt spid="1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
                                        </p:tgtEl>
                                        <p:attrNameLst>
                                          <p:attrName>style.visibility</p:attrName>
                                        </p:attrNameLst>
                                      </p:cBhvr>
                                      <p:to>
                                        <p:strVal val="visible"/>
                                      </p:to>
                                    </p:set>
                                    <p:animEffect transition="in" filter="fade">
                                      <p:cBhvr>
                                        <p:cTn id="29" dur="500"/>
                                        <p:tgtEl>
                                          <p:spTgt spid="121"/>
                                        </p:tgtEl>
                                      </p:cBhvr>
                                    </p:animEffect>
                                  </p:childTnLst>
                                </p:cTn>
                              </p:par>
                              <p:par>
                                <p:cTn id="30" presetID="10" presetClass="entr" presetSubtype="0" fill="hold" nodeType="withEffect">
                                  <p:stCondLst>
                                    <p:cond delay="0"/>
                                  </p:stCondLst>
                                  <p:childTnLst>
                                    <p:set>
                                      <p:cBhvr>
                                        <p:cTn id="31" dur="1" fill="hold">
                                          <p:stCondLst>
                                            <p:cond delay="0"/>
                                          </p:stCondLst>
                                        </p:cTn>
                                        <p:tgtEl>
                                          <p:spTgt spid="126"/>
                                        </p:tgtEl>
                                        <p:attrNameLst>
                                          <p:attrName>style.visibility</p:attrName>
                                        </p:attrNameLst>
                                      </p:cBhvr>
                                      <p:to>
                                        <p:strVal val="visible"/>
                                      </p:to>
                                    </p:set>
                                    <p:animEffect transition="in" filter="fade">
                                      <p:cBhvr>
                                        <p:cTn id="32" dur="500"/>
                                        <p:tgtEl>
                                          <p:spTgt spid="1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2"/>
                                        </p:tgtEl>
                                        <p:attrNameLst>
                                          <p:attrName>style.visibility</p:attrName>
                                        </p:attrNameLst>
                                      </p:cBhvr>
                                      <p:to>
                                        <p:strVal val="visible"/>
                                      </p:to>
                                    </p:set>
                                    <p:animEffect transition="in" filter="fade">
                                      <p:cBhvr>
                                        <p:cTn id="37" dur="500"/>
                                        <p:tgtEl>
                                          <p:spTgt spid="122"/>
                                        </p:tgtEl>
                                      </p:cBhvr>
                                    </p:animEffect>
                                  </p:childTnLst>
                                </p:cTn>
                              </p:par>
                              <p:par>
                                <p:cTn id="38" presetID="10" presetClass="entr" presetSubtype="0"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3"/>
                                        </p:tgtEl>
                                        <p:attrNameLst>
                                          <p:attrName>style.visibility</p:attrName>
                                        </p:attrNameLst>
                                      </p:cBhvr>
                                      <p:to>
                                        <p:strVal val="visible"/>
                                      </p:to>
                                    </p:set>
                                    <p:animEffect transition="in" filter="fade">
                                      <p:cBhvr>
                                        <p:cTn id="45" dur="500"/>
                                        <p:tgtEl>
                                          <p:spTgt spid="123"/>
                                        </p:tgtEl>
                                      </p:cBhvr>
                                    </p:animEffect>
                                  </p:childTnLst>
                                </p:cTn>
                              </p:par>
                              <p:par>
                                <p:cTn id="46" presetID="10" presetClass="entr" presetSubtype="0" fill="hold" nodeType="with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HUMAN</a:t>
            </a:r>
          </a:p>
          <a:p>
            <a:pPr algn="ctr">
              <a:buNone/>
            </a:pPr>
            <a:r>
              <a:rPr lang="en-US" sz="22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REASONING OVER</a:t>
            </a:r>
          </a:p>
          <a:p>
            <a:pPr algn="ctr">
              <a:buNone/>
            </a:pPr>
            <a:r>
              <a:rPr lang="en-US" sz="22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OBSERVING</a:t>
            </a:r>
          </a:p>
          <a:p>
            <a:pPr algn="ctr">
              <a:buNone/>
            </a:pPr>
            <a:r>
              <a:rPr lang="en-US" sz="22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1</a:t>
            </a:r>
            <a:r>
              <a:rPr lang="en-US" sz="1200" b="0" i="0" dirty="0">
                <a:solidFill>
                  <a:srgbClr val="000000"/>
                </a:solidFill>
                <a:latin typeface="Consolas"/>
              </a:rPr>
              <a:t>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2</a:t>
            </a:r>
            <a:r>
              <a:rPr lang="en-US" sz="1200" b="0" i="0" dirty="0">
                <a:solidFill>
                  <a:srgbClr val="000000"/>
                </a:solidFill>
                <a:latin typeface="Consolas"/>
              </a:rPr>
              <a:t>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3</a:t>
            </a:r>
            <a:r>
              <a:rPr lang="en-US" sz="1200" b="0" i="0" dirty="0">
                <a:solidFill>
                  <a:srgbClr val="000000"/>
                </a:solidFill>
                <a:latin typeface="Consolas"/>
              </a:rPr>
              <a:t>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4</a:t>
            </a:r>
            <a:r>
              <a:rPr lang="en-US" sz="1200" b="0" i="0" dirty="0">
                <a:solidFill>
                  <a:srgbClr val="000000"/>
                </a:solidFill>
                <a:latin typeface="Consolas"/>
              </a:rPr>
              <a:t>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5</a:t>
            </a:r>
            <a:r>
              <a:rPr lang="en-US" sz="1200" b="0" i="0" dirty="0">
                <a:solidFill>
                  <a:srgbClr val="000000"/>
                </a:solidFill>
                <a:latin typeface="Consolas"/>
              </a:rPr>
              <a:t>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6</a:t>
            </a:r>
            <a:r>
              <a:rPr lang="en-US" sz="1200" b="0" i="0" dirty="0">
                <a:solidFill>
                  <a:srgbClr val="000000"/>
                </a:solidFill>
                <a:latin typeface="Consolas"/>
              </a:rPr>
              <a:t>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7</a:t>
            </a:r>
            <a:r>
              <a:rPr lang="en-US" sz="1200" b="0" i="0" dirty="0">
                <a:solidFill>
                  <a:srgbClr val="000000"/>
                </a:solidFill>
                <a:latin typeface="Consolas"/>
              </a:rPr>
              <a:t>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8</a:t>
            </a:r>
            <a:r>
              <a:rPr lang="en-US" sz="1200" b="0" i="0" dirty="0">
                <a:solidFill>
                  <a:srgbClr val="000000"/>
                </a:solidFill>
                <a:latin typeface="Consolas"/>
              </a:rPr>
              <a:t>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9</a:t>
            </a:r>
            <a:r>
              <a:rPr lang="en-US" sz="1200" b="0" i="0" dirty="0">
                <a:solidFill>
                  <a:srgbClr val="000000"/>
                </a:solidFill>
                <a:latin typeface="Consolas"/>
              </a:rPr>
              <a:t>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At volume, “a human reviews everything” 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OBSERVE SELECTED EXECUTIONS</a:t>
            </a:r>
          </a:p>
          <a:p>
            <a:pPr algn="ctr">
              <a:buNone/>
            </a:pPr>
            <a:r>
              <a:rPr lang="en-US" sz="2000" b="0" i="1" dirty="0">
                <a:solidFill>
                  <a:srgbClr val="555960"/>
                </a:solidFill>
              </a:rPr>
              <a:t>run the software; learn what those runs did</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REASON OVER POSSIBLE EXECUTIONS</a:t>
            </a:r>
          </a:p>
          <a:p>
            <a:pPr algn="ctr">
              <a:buNone/>
            </a:pPr>
            <a:r>
              <a:rPr lang="en-US" sz="2000" b="0" i="1" dirty="0">
                <a:solidFill>
                  <a:srgbClr val="555960"/>
                </a:solidFill>
              </a:rPr>
              <a:t>conclude about behaviors without running each one</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the representation · which behaviors it includes · the property · the assumptions · the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inside the representation —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 propagated — no execution required.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Abstraction determines what analysis can establish</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 yet the analyzer reports “possible null dereference.”</a:t>
            </a:r>
          </a:p>
        </p:txBody>
      </p:sp>
      <p:sp>
        <p:nvSpPr>
          <p:cNvPr id="110" name="V110"/>
          <p:cNvSpPr/>
          <p:nvPr/>
        </p:nvSpPr>
        <p:spPr>
          <a:xfrm>
            <a:off x="56692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2366928" y="2960000"/>
            <a:ext cx="0" cy="400000"/>
          </a:xfrm>
          <a:prstGeom prst="straightConnector1">
            <a:avLst/>
          </a:prstGeom>
          <a:ln w="28575">
            <a:solidFill>
              <a:srgbClr val="8E6F3E"/>
            </a:solidFill>
            <a:tailEnd type="triangle" w="med" len="med"/>
          </a:ln>
        </p:spPr>
      </p:cxnSp>
      <p:sp>
        <p:nvSpPr>
          <p:cNvPr id="112" name="T112"/>
          <p:cNvSpPr/>
          <p:nvPr/>
        </p:nvSpPr>
        <p:spPr>
          <a:xfrm>
            <a:off x="250000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40692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2366928" y="3980000"/>
            <a:ext cx="0" cy="280000"/>
          </a:xfrm>
          <a:prstGeom prst="straightConnector1">
            <a:avLst/>
          </a:prstGeom>
          <a:ln w="28575">
            <a:solidFill>
              <a:srgbClr val="8E6F3E"/>
            </a:solidFill>
            <a:tailEnd type="triangle" w="med" len="med"/>
          </a:ln>
        </p:spPr>
      </p:cxnSp>
      <p:sp>
        <p:nvSpPr>
          <p:cNvPr id="115" name="V115"/>
          <p:cNvSpPr/>
          <p:nvPr/>
        </p:nvSpPr>
        <p:spPr>
          <a:xfrm>
            <a:off x="27432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20" name="E120"/>
          <p:cNvSpPr/>
          <p:nvPr/>
        </p:nvSpPr>
        <p:spPr>
          <a:xfrm>
            <a:off x="4700000" y="2500000"/>
            <a:ext cx="387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conservative abstraction may include behaviors the real system cannot exhibit.</a:t>
            </a:r>
          </a:p>
        </p:txBody>
      </p:sp>
      <p:sp>
        <p:nvSpPr>
          <p:cNvPr id="121" name="P121"/>
          <p:cNvSpPr/>
          <p:nvPr/>
        </p:nvSpPr>
        <p:spPr>
          <a:xfrm>
            <a:off x="4700000" y="3950000"/>
            <a:ext cx="3877072" cy="15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Sound for the modeled property: a real violation the abstraction represents is not silently discarded — but impossible violations may also be reported.</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Static analysis trades concrete execution for mechanical reasoning over an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500"/>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1"/>
                                        </p:tgtEl>
                                        <p:attrNameLst>
                                          <p:attrName>style.visibility</p:attrName>
                                        </p:attrNameLst>
                                      </p:cBhvr>
                                      <p:to>
                                        <p:strVal val="visible"/>
                                      </p:to>
                                    </p:set>
                                    <p:animEffect transition="in" filter="fade">
                                      <p:cBhvr>
                                        <p:cTn id="32"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ORDINARY TESTING</a:t>
            </a:r>
          </a:p>
          <a:p>
            <a:pPr algn="ctr">
              <a:spcBef>
                <a:spcPts val="120"/>
              </a:spcBef>
              <a:buNone/>
            </a:pPr>
            <a:r>
              <a:rPr lang="en-US" sz="2000" b="0" i="0" dirty="0">
                <a:solidFill>
                  <a:srgbClr val="000000"/>
                </a:solidFill>
              </a:rPr>
              <a:t>Try some sequences of deposits and withdrawals. Did we see the assertion fail?</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BOUNDED MODEL CHECKING</a:t>
            </a:r>
          </a:p>
          <a:p>
            <a:pPr algn="ctr">
              <a:spcBef>
                <a:spcPts val="120"/>
              </a:spcBef>
              <a:buNone/>
            </a:pPr>
            <a:r>
              <a:rPr lang="en-US" sz="2000" b="0" i="0" dirty="0">
                <a:solidFill>
                  <a:srgbClr val="000000"/>
                </a:solidFill>
              </a:rPr>
              <a:t>Is there ANY sequence of choices, up to depth k, that makes it fail?</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YES → a counterexample trace</a:t>
            </a:r>
          </a:p>
          <a:p>
            <a:pPr algn="ctr">
              <a:spcBef>
                <a:spcPts val="120"/>
              </a:spcBef>
              <a:buNone/>
            </a:pPr>
            <a:r>
              <a:rPr lang="en-US" sz="2000" b="0" i="0" dirty="0">
                <a:solidFill>
                  <a:srgbClr val="FFFFFF"/>
                </a:solidFill>
              </a:rPr>
              <a:t>the exact sequence of choices that breaks it</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000000"/>
                </a:solidFill>
              </a:rPr>
              <a:t>NO → no violation up to k</a:t>
            </a:r>
          </a:p>
          <a:p>
            <a:pPr algn="ctr">
              <a:spcBef>
                <a:spcPts val="120"/>
              </a:spcBef>
              <a:buNone/>
            </a:pPr>
            <a:r>
              <a:rPr lang="en-US" sz="2000" b="0" i="0" dirty="0">
                <a:solidFill>
                  <a:srgbClr val="000000"/>
                </a:solidFill>
              </a:rPr>
              <a:t>within the modeled behaviors and that bound</a:t>
            </a:r>
          </a:p>
        </p:txBody>
      </p:sp>
      <p:sp>
        <p:nvSpPr>
          <p:cNvPr id="130" name="T130"/>
          <p:cNvSpPr txBox="1"/>
          <p:nvPr/>
        </p:nvSpPr>
        <p:spPr>
          <a:xfrm>
            <a:off x="566928" y="4190000"/>
            <a:ext cx="8010144" cy="580000"/>
          </a:xfrm>
          <a:prstGeom prst="rect">
            <a:avLst/>
          </a:prstGeom>
          <a:noFill/>
          <a:ln>
            <a:noFill/>
          </a:ln>
        </p:spPr>
        <p:txBody>
          <a:bodyPr wrap="square" lIns="0" tIns="0" rIns="0" bIns="0" anchor="t"/>
          <a:lstStyle/>
          <a:p>
            <a:pPr algn="ctr">
              <a:buNone/>
            </a:pPr>
            <a:r>
              <a:rPr lang="en-US" sz="2000" b="1" i="0" dirty="0">
                <a:solidFill>
                  <a:srgbClr val="5C4826"/>
                </a:solidFill>
              </a:rPr>
              <a:t>The model, the property, the assumptions, the semantics, and the bound are all part of the claim.</a:t>
            </a:r>
          </a:p>
        </p:txBody>
      </p:sp>
      <p:sp>
        <p:nvSpPr>
          <p:cNvPr id="135" name="P135"/>
          <p:cNvSpPr/>
          <p:nvPr/>
        </p:nvSpPr>
        <p:spPr>
          <a:xfrm>
            <a:off x="566928" y="4850000"/>
            <a:ext cx="8010144" cy="920000"/>
          </a:xfrm>
          <a:prstGeom prst="rect">
            <a:avLst/>
          </a:prstGeom>
          <a:solidFill>
            <a:srgbClr val="F5F1E8"/>
          </a:solidFill>
          <a:ln w="12700">
            <a:solidFill>
              <a:srgbClr val="C9B991"/>
            </a:solidFill>
          </a:ln>
        </p:spPr>
        <p:txBody>
          <a:bodyPr wrap="square" lIns="91440" tIns="22860" rIns="91440" bIns="22860" anchor="ctr"/>
          <a:lstStyle/>
          <a:p>
            <a:pPr algn="ctr">
              <a:buNone/>
            </a:pPr>
            <a:r>
              <a:rPr lang="en-US" sz="2000" b="1" i="0" dirty="0">
                <a:solidFill>
                  <a:srgbClr val="5C4826"/>
                </a:solidFill>
              </a:rPr>
              <a:t>BEFORE MARS: CHECK THE MODEL</a:t>
            </a:r>
          </a:p>
          <a:p>
            <a:pPr algn="ctr">
              <a:buNone/>
            </a:pPr>
            <a:r>
              <a:rPr lang="en-US" sz="2000" b="0" i="0" dirty="0">
                <a:solidFill>
                  <a:srgbClr val="000000"/>
                </a:solidFill>
              </a:rPr>
              <a:t>A ~45,000-line C module became a ~1,600-line verification model.</a:t>
            </a:r>
          </a:p>
          <a:p>
            <a:pPr algn="ctr">
              <a:buNone/>
            </a:pPr>
            <a:r>
              <a:rPr lang="en-US" sz="2000" b="0" i="0" dirty="0">
                <a:solidFill>
                  <a:srgbClr val="000000"/>
                </a:solidFill>
              </a:rPr>
              <a:t>Model checking joined routine regression testing.</a:t>
            </a:r>
            <a:r>
              <a:rPr lang="en-US" sz="1300" b="0" i="1" dirty="0">
                <a:solidFill>
                  <a:srgbClr val="555960"/>
                </a:solidFill>
              </a:rPr>
              <a:t>  (Holzmann, CACM 2014)</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 counterexample up to k” is precise — and it is not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0" name="P110"/>
          <p:cNvSpPr/>
          <p:nvPr/>
        </p:nvSpPr>
        <p:spPr>
          <a:xfrm>
            <a:off x="566928" y="1580000"/>
            <a:ext cx="4600000"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TESTING NEED NOT RUN IN THE REAL ENVIRONMENT</a:t>
            </a:r>
          </a:p>
          <a:p>
            <a:pPr algn="l">
              <a:spcBef>
                <a:spcPts val="60"/>
              </a:spcBef>
              <a:buNone/>
            </a:pPr>
            <a:r>
              <a:rPr lang="en-US" sz="2000" b="0" i="0" dirty="0">
                <a:solidFill>
                  <a:srgbClr val="000000"/>
                </a:solidFill>
              </a:rPr>
              <a:t>network connection → servers on localhost</a:t>
            </a:r>
          </a:p>
          <a:p>
            <a:pPr algn="l">
              <a:spcBef>
                <a:spcPts val="60"/>
              </a:spcBef>
              <a:buNone/>
            </a:pPr>
            <a:r>
              <a:rPr lang="en-US" sz="2000" b="0" i="0" dirty="0">
                <a:solidFill>
                  <a:srgbClr val="000000"/>
                </a:solidFill>
              </a:rPr>
              <a:t>external service → local simulated service</a:t>
            </a:r>
          </a:p>
          <a:p>
            <a:pPr algn="l">
              <a:spcBef>
                <a:spcPts val="60"/>
              </a:spcBef>
              <a:buNone/>
            </a:pPr>
            <a:r>
              <a:rPr lang="en-US" sz="2000" b="0" i="0" dirty="0">
                <a:solidFill>
                  <a:srgbClr val="000000"/>
                </a:solidFill>
              </a:rPr>
              <a:t>failures / time → controlled simulation</a:t>
            </a:r>
          </a:p>
        </p:txBody>
      </p:sp>
      <p:sp>
        <p:nvSpPr>
          <p:cNvPr id="111" name="P111"/>
          <p:cNvSpPr/>
          <p:nvPr/>
        </p:nvSpPr>
        <p:spPr>
          <a:xfrm>
            <a:off x="5330000" y="1580000"/>
            <a:ext cx="3247072" cy="8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SIMULATION BUYS</a:t>
            </a:r>
          </a:p>
          <a:p>
            <a:pPr algn="ctr">
              <a:buNone/>
            </a:pPr>
            <a:r>
              <a:rPr lang="en-US" sz="2000" b="0" i="0" dirty="0">
                <a:solidFill>
                  <a:srgbClr val="000000"/>
                </a:solidFill>
              </a:rPr>
              <a:t>speed · repeatability · controllability · cost</a:t>
            </a:r>
          </a:p>
        </p:txBody>
      </p:sp>
      <p:sp>
        <p:nvSpPr>
          <p:cNvPr id="112" name="E112"/>
          <p:cNvSpPr/>
          <p:nvPr/>
        </p:nvSpPr>
        <p:spPr>
          <a:xfrm>
            <a:off x="5330000" y="2520000"/>
            <a:ext cx="3247072" cy="9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3540000"/>
            <a:ext cx="2200000" cy="300000"/>
          </a:xfrm>
          <a:prstGeom prst="rect">
            <a:avLst/>
          </a:prstGeom>
          <a:noFill/>
          <a:ln>
            <a:noFill/>
          </a:ln>
        </p:spPr>
        <p:txBody>
          <a:bodyPr wrap="square" lIns="0" tIns="0" rIns="0" bIns="0" anchor="t"/>
          <a:lstStyle/>
          <a:p>
            <a:pPr algn="l">
              <a:buNone/>
            </a:pPr>
            <a:r>
              <a:rPr lang="en-US" sz="2000" b="1" i="0" dirty="0">
                <a:solidFill>
                  <a:srgbClr val="5C4826"/>
                </a:solidFill>
              </a:rPr>
              <a:t>MORE SIMULATED</a:t>
            </a:r>
          </a:p>
        </p:txBody>
      </p:sp>
      <p:cxnSp>
        <p:nvCxnSpPr>
          <p:cNvPr id="121" name="C121"/>
          <p:cNvCxnSpPr/>
          <p:nvPr/>
        </p:nvCxnSpPr>
        <p:spPr>
          <a:xfrm>
            <a:off x="2850000" y="3660000"/>
            <a:ext cx="385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2000" b="1" i="0" dirty="0">
                <a:solidFill>
                  <a:srgbClr val="5C4826"/>
                </a:solidFill>
              </a:rPr>
              <a:t>MORE REAL</a:t>
            </a:r>
          </a:p>
        </p:txBody>
      </p:sp>
      <p:sp>
        <p:nvSpPr>
          <p:cNvPr id="123" name="T123"/>
          <p:cNvSpPr txBox="1"/>
          <p:nvPr/>
        </p:nvSpPr>
        <p:spPr>
          <a:xfrm>
            <a:off x="566928" y="3920000"/>
            <a:ext cx="8010144" cy="620000"/>
          </a:xfrm>
          <a:prstGeom prst="rect">
            <a:avLst/>
          </a:prstGeom>
          <a:noFill/>
          <a:ln>
            <a:noFill/>
          </a:ln>
        </p:spPr>
        <p:txBody>
          <a:bodyPr wrap="square" lIns="0" tIns="0" rIns="0" bIns="0" anchor="t"/>
          <a:lstStyle/>
          <a:p>
            <a:pPr algn="ctr">
              <a:buNone/>
            </a:pPr>
            <a:r>
              <a:rPr lang="en-US" sz="2000" b="0" i="1" dirty="0">
                <a:solidFill>
                  <a:srgbClr val="555960"/>
                </a:solidFill>
              </a:rPr>
              <a:t>Evidence inherits the differences between simulated and real environments.</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Testing observes executions — not the executions we didn’t run.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19</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Known input → known 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endParaR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3" name="T133"/>
          <p:cNvSpPr txBox="1"/>
          <p:nvPr/>
        </p:nvSpPr>
        <p:spPr>
          <a:xfrm>
            <a:off x="6450000" y="1783080"/>
            <a:ext cx="2419680" cy="731520"/>
          </a:xfrm>
          <a:prstGeom prst="rect">
            <a:avLst/>
          </a:prstGeom>
          <a:noFill/>
        </p:spPr>
        <p:txBody>
          <a:bodyPr wrap="square" lIns="0" tIns="0" rIns="0" bIns="0" anchor="t"/>
          <a:lstStyle/>
          <a:p>
            <a:pPr algn="ctr">
              <a:buNone/>
            </a:pPr>
            <a:r>
              <a:rPr lang="en-US" sz="2200" b="0" i="1" dirty="0">
                <a:solidFill>
                  <a:srgbClr val="555960"/>
                </a:solidFill>
              </a:rPr>
              <a:t>a relation</a:t>
            </a:r>
          </a:p>
          <a:p>
            <a:pPr algn="ctr">
              <a:spcBef>
                <a:spcPts val="100"/>
              </a:spcBef>
              <a:buNone/>
            </a:pPr>
            <a:r>
              <a:rPr lang="en-US" sz="24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000000"/>
                </a:solidFill>
              </a:rPr>
              <a:t>sort([3, 1, 2])  →  [1, 2, 3]</a:t>
            </a:r>
          </a:p>
          <a:p>
            <a:pPr algn="ctr">
              <a:spcBef>
                <a:spcPts val="150"/>
              </a:spcBef>
              <a:buNone/>
            </a:pPr>
            <a:r>
              <a:rPr lang="en-US" sz="2200" b="1" i="0" dirty="0">
                <a:solidFill>
                  <a:srgbClr val="000000"/>
                </a:solidFill>
              </a:rPr>
              <a:t>sort([2, 3, 1])  →  [1, 2, 3]</a:t>
            </a:r>
          </a:p>
          <a:p>
            <a:pPr algn="ctr">
              <a:spcBef>
                <a:spcPts val="250"/>
              </a:spcBef>
              <a:buNone/>
            </a:pPr>
            <a:r>
              <a:rPr lang="en-US" sz="2200" b="0" i="1" dirty="0">
                <a:solidFill>
                  <a:srgbClr val="555960"/>
                </a:solidFill>
              </a:rPr>
              <a:t>No answer stated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is an oracle when no answer is available.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22</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 little about functional correctness.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23</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on 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24</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answers — cases 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properties — counterexample 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Choose the strategy for the uncertainty 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 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 MAGE Moment: volume is not independence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X100"/>
          <p:cNvSpPr/>
          <p:nvPr/>
        </p:nvSpPr>
        <p:spPr>
          <a:xfrm>
            <a:off x="900000" y="950000"/>
            <a:ext cx="2600000" cy="55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Interpretation X</a:t>
            </a:r>
          </a:p>
        </p:txBody>
      </p:sp>
      <p:sp>
        <p:nvSpPr>
          <p:cNvPr id="101" name="Y101"/>
          <p:cNvSpPr/>
          <p:nvPr/>
        </p:nvSpPr>
        <p:spPr>
          <a:xfrm>
            <a:off x="5700000" y="950000"/>
            <a:ext cx="2700000" cy="55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Independent model Y</a:t>
            </a:r>
          </a:p>
        </p:txBody>
      </p:sp>
      <p:sp>
        <p:nvSpPr>
          <p:cNvPr id="110" name="T110"/>
          <p:cNvSpPr/>
          <p:nvPr/>
        </p:nvSpPr>
        <p:spPr>
          <a:xfrm>
            <a:off x="3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test₁</a:t>
            </a:r>
          </a:p>
        </p:txBody>
      </p:sp>
      <p:sp>
        <p:nvSpPr>
          <p:cNvPr id="111" name="T111"/>
          <p:cNvSpPr/>
          <p:nvPr/>
        </p:nvSpPr>
        <p:spPr>
          <a:xfrm>
            <a:off x="14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test₂</a:t>
            </a:r>
          </a:p>
        </p:txBody>
      </p:sp>
      <p:sp>
        <p:nvSpPr>
          <p:cNvPr id="112" name="T112"/>
          <p:cNvSpPr/>
          <p:nvPr/>
        </p:nvSpPr>
        <p:spPr>
          <a:xfrm>
            <a:off x="25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a:t>
            </a:r>
          </a:p>
        </p:txBody>
      </p:sp>
      <p:sp>
        <p:nvSpPr>
          <p:cNvPr id="113" name="T113"/>
          <p:cNvSpPr/>
          <p:nvPr/>
        </p:nvSpPr>
        <p:spPr>
          <a:xfrm>
            <a:off x="3650000" y="2150000"/>
            <a:ext cx="100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rPr>
              <a:t>test₁₀₀₀₀</a:t>
            </a:r>
          </a:p>
        </p:txBody>
      </p:sp>
      <p:sp>
        <p:nvSpPr>
          <p:cNvPr id="114" name="T114"/>
          <p:cNvSpPr/>
          <p:nvPr/>
        </p:nvSpPr>
        <p:spPr>
          <a:xfrm>
            <a:off x="6050000" y="2150000"/>
            <a:ext cx="2000000" cy="420000"/>
          </a:xfrm>
          <a:prstGeom prst="rect">
            <a:avLst/>
          </a:prstGeom>
          <a:solidFill>
            <a:srgbClr val="F5F1E8"/>
          </a:solidFill>
          <a:ln w="12700">
            <a:solidFill>
              <a:srgbClr val="C9B991"/>
            </a:solidFill>
          </a:ln>
        </p:spPr>
        <p:txBody>
          <a:bodyPr wrap="square" lIns="45720" tIns="22860" rIns="45720" bIns="22860" anchor="ctr"/>
          <a:lstStyle/>
          <a:p>
            <a:pPr algn="ctr">
              <a:buNone/>
            </a:pPr>
            <a:r>
              <a:rPr lang="en-US" sz="2000" b="0" i="0" dirty="0">
                <a:solidFill>
                  <a:srgbClr val="5C4826"/>
                </a:solidFill>
              </a:rPr>
              <a:t>analysis</a:t>
            </a:r>
          </a:p>
        </p:txBody>
      </p:sp>
      <p:cxnSp>
        <p:nvCxnSpPr>
          <p:cNvPr id="120" name="E120"/>
          <p:cNvCxnSpPr/>
          <p:nvPr/>
        </p:nvCxnSpPr>
        <p:spPr>
          <a:xfrm flipH="1">
            <a:off x="850000" y="1500000"/>
            <a:ext cx="1350000" cy="650000"/>
          </a:xfrm>
          <a:prstGeom prst="straightConnector1">
            <a:avLst/>
          </a:prstGeom>
          <a:ln w="19050">
            <a:solidFill>
              <a:srgbClr val="8E6F3E"/>
            </a:solidFill>
          </a:ln>
        </p:spPr>
      </p:cxnSp>
      <p:cxnSp>
        <p:nvCxnSpPr>
          <p:cNvPr id="121" name="E121"/>
          <p:cNvCxnSpPr/>
          <p:nvPr/>
        </p:nvCxnSpPr>
        <p:spPr>
          <a:xfrm flipH="1">
            <a:off x="1950000" y="1500000"/>
            <a:ext cx="250000" cy="650000"/>
          </a:xfrm>
          <a:prstGeom prst="straightConnector1">
            <a:avLst/>
          </a:prstGeom>
          <a:ln w="19050">
            <a:solidFill>
              <a:srgbClr val="8E6F3E"/>
            </a:solidFill>
          </a:ln>
        </p:spPr>
      </p:cxnSp>
      <p:cxnSp>
        <p:nvCxnSpPr>
          <p:cNvPr id="122" name="E122"/>
          <p:cNvCxnSpPr/>
          <p:nvPr/>
        </p:nvCxnSpPr>
        <p:spPr>
          <a:xfrm>
            <a:off x="2200000" y="1500000"/>
            <a:ext cx="850000" cy="650000"/>
          </a:xfrm>
          <a:prstGeom prst="straightConnector1">
            <a:avLst/>
          </a:prstGeom>
          <a:ln w="19050">
            <a:solidFill>
              <a:srgbClr val="8E6F3E"/>
            </a:solidFill>
          </a:ln>
        </p:spPr>
      </p:cxnSp>
      <p:cxnSp>
        <p:nvCxnSpPr>
          <p:cNvPr id="123" name="E123"/>
          <p:cNvCxnSpPr/>
          <p:nvPr/>
        </p:nvCxnSpPr>
        <p:spPr>
          <a:xfrm>
            <a:off x="2200000" y="1500000"/>
            <a:ext cx="1950000" cy="650000"/>
          </a:xfrm>
          <a:prstGeom prst="straightConnector1">
            <a:avLst/>
          </a:prstGeom>
          <a:ln w="19050">
            <a:solidFill>
              <a:srgbClr val="8E6F3E"/>
            </a:solidFill>
          </a:ln>
        </p:spPr>
      </p:cxnSp>
      <p:cxnSp>
        <p:nvCxnSpPr>
          <p:cNvPr id="124" name="E124"/>
          <p:cNvCxnSpPr/>
          <p:nvPr/>
        </p:nvCxnSpPr>
        <p:spPr>
          <a:xfrm>
            <a:off x="7050000" y="1500000"/>
            <a:ext cx="0" cy="650000"/>
          </a:xfrm>
          <a:prstGeom prst="straightConnector1">
            <a:avLst/>
          </a:prstGeom>
          <a:ln w="19050">
            <a:solidFill>
              <a:srgbClr val="8E6F3E"/>
            </a:solidFill>
          </a:ln>
        </p:spPr>
      </p:cxnSp>
      <p:cxnSp>
        <p:nvCxnSpPr>
          <p:cNvPr id="125" name="E125"/>
          <p:cNvCxnSpPr/>
          <p:nvPr/>
        </p:nvCxnSpPr>
        <p:spPr>
          <a:xfrm>
            <a:off x="850000" y="2570000"/>
            <a:ext cx="0" cy="830000"/>
          </a:xfrm>
          <a:prstGeom prst="straightConnector1">
            <a:avLst/>
          </a:prstGeom>
          <a:ln w="19050">
            <a:solidFill>
              <a:srgbClr val="8E6F3E"/>
            </a:solidFill>
          </a:ln>
        </p:spPr>
      </p:cxnSp>
      <p:cxnSp>
        <p:nvCxnSpPr>
          <p:cNvPr id="126" name="E126"/>
          <p:cNvCxnSpPr/>
          <p:nvPr/>
        </p:nvCxnSpPr>
        <p:spPr>
          <a:xfrm>
            <a:off x="1950000" y="2570000"/>
            <a:ext cx="0" cy="830000"/>
          </a:xfrm>
          <a:prstGeom prst="straightConnector1">
            <a:avLst/>
          </a:prstGeom>
          <a:ln w="19050">
            <a:solidFill>
              <a:srgbClr val="8E6F3E"/>
            </a:solidFill>
          </a:ln>
        </p:spPr>
      </p:cxnSp>
      <p:cxnSp>
        <p:nvCxnSpPr>
          <p:cNvPr id="127" name="E127"/>
          <p:cNvCxnSpPr/>
          <p:nvPr/>
        </p:nvCxnSpPr>
        <p:spPr>
          <a:xfrm>
            <a:off x="3050000" y="2570000"/>
            <a:ext cx="0" cy="830000"/>
          </a:xfrm>
          <a:prstGeom prst="straightConnector1">
            <a:avLst/>
          </a:prstGeom>
          <a:ln w="19050">
            <a:solidFill>
              <a:srgbClr val="8E6F3E"/>
            </a:solidFill>
          </a:ln>
        </p:spPr>
      </p:cxnSp>
      <p:cxnSp>
        <p:nvCxnSpPr>
          <p:cNvPr id="128" name="E128"/>
          <p:cNvCxnSpPr/>
          <p:nvPr/>
        </p:nvCxnSpPr>
        <p:spPr>
          <a:xfrm>
            <a:off x="4150000" y="2570000"/>
            <a:ext cx="0" cy="830000"/>
          </a:xfrm>
          <a:prstGeom prst="straightConnector1">
            <a:avLst/>
          </a:prstGeom>
          <a:ln w="19050">
            <a:solidFill>
              <a:srgbClr val="8E6F3E"/>
            </a:solidFill>
          </a:ln>
        </p:spPr>
      </p:cxnSp>
      <p:cxnSp>
        <p:nvCxnSpPr>
          <p:cNvPr id="129" name="E129"/>
          <p:cNvCxnSpPr/>
          <p:nvPr/>
        </p:nvCxnSpPr>
        <p:spPr>
          <a:xfrm>
            <a:off x="7050000" y="2570000"/>
            <a:ext cx="0" cy="830000"/>
          </a:xfrm>
          <a:prstGeom prst="straightConnector1">
            <a:avLst/>
          </a:prstGeom>
          <a:ln w="19050">
            <a:solidFill>
              <a:srgbClr val="8E6F3E"/>
            </a:solidFill>
          </a:ln>
        </p:spPr>
      </p:cxnSp>
      <p:sp>
        <p:nvSpPr>
          <p:cNvPr id="130" name="CLAIM130"/>
          <p:cNvSpPr/>
          <p:nvPr/>
        </p:nvSpPr>
        <p:spPr>
          <a:xfrm>
            <a:off x="700000" y="3400000"/>
            <a:ext cx="7800000" cy="480000"/>
          </a:xfrm>
          <a:prstGeom prst="rect">
            <a:avLst/>
          </a:prstGeom>
          <a:solidFill>
            <a:srgbClr val="8E6F3E"/>
          </a:solidFill>
          <a:ln>
            <a:noFill/>
          </a:ln>
        </p:spPr>
        <p:txBody>
          <a:bodyPr wrap="square" lIns="45720" tIns="22860" rIns="45720" bIns="22860" anchor="ctr"/>
          <a:lstStyle/>
          <a:p>
            <a:pPr algn="ctr">
              <a:buNone/>
            </a:pPr>
            <a:r>
              <a:rPr lang="en-US" sz="2200" b="1" i="0" dirty="0">
                <a:solidFill>
                  <a:srgbClr val="FFFFFF"/>
                </a:solidFill>
              </a:rPr>
              <a:t>CLAIM</a:t>
            </a:r>
          </a:p>
        </p:txBody>
      </p:sp>
      <p:sp>
        <p:nvSpPr>
          <p:cNvPr id="140" name="EQ140"/>
          <p:cNvSpPr/>
          <p:nvPr/>
        </p:nvSpPr>
        <p:spPr>
          <a:xfrm>
            <a:off x="1800000" y="4020000"/>
            <a:ext cx="5544000" cy="860000"/>
          </a:xfrm>
          <a:prstGeom prst="rect">
            <a:avLst/>
          </a:prstGeom>
          <a:solidFill>
            <a:srgbClr val="FBF8F2"/>
          </a:solidFill>
          <a:ln w="19050">
            <a:solidFill>
              <a:srgbClr val="5C4826"/>
            </a:solidFill>
          </a:ln>
        </p:spPr>
        <p:txBody>
          <a:bodyPr wrap="square" lIns="45720" tIns="22860" rIns="45720" bIns="22860" anchor="ctr"/>
          <a:lstStyle/>
          <a:p>
            <a:pPr algn="ctr">
              <a:buNone/>
            </a:pPr>
            <a:r>
              <a:rPr lang="en-US" sz="2200" b="0" i="0" dirty="0">
                <a:solidFill>
                  <a:srgbClr val="000000"/>
                </a:solidFill>
              </a:rPr>
              <a:t>10,000 × E(X)   ≠   10,000 independent E</a:t>
            </a:r>
          </a:p>
          <a:p>
            <a:pPr algn="ctr">
              <a:buNone/>
            </a:pPr>
            <a:r>
              <a:rPr lang="en-US" sz="2400" b="1" i="0" dirty="0">
                <a:solidFill>
                  <a:srgbClr val="5C4826"/>
                </a:solidFill>
              </a:rPr>
              <a:t>N</a:t>
            </a:r>
            <a:r>
              <a:rPr lang="en-US" sz="1800" b="1" i="0" baseline="-25000" dirty="0">
                <a:solidFill>
                  <a:srgbClr val="5C4826"/>
                </a:solidFill>
              </a:rPr>
              <a:t>evidence</a:t>
            </a:r>
            <a:r>
              <a:rPr lang="en-US" sz="2400" b="1" i="0" dirty="0">
                <a:solidFill>
                  <a:srgbClr val="5C4826"/>
                </a:solidFill>
              </a:rPr>
              <a:t>  ≠  N</a:t>
            </a:r>
            <a:r>
              <a:rPr lang="en-US" sz="1800" b="1" i="0" baseline="-25000" dirty="0">
                <a:solidFill>
                  <a:srgbClr val="5C4826"/>
                </a:solidFill>
              </a:rPr>
              <a:t>independent assumptions</a:t>
            </a:r>
          </a:p>
        </p:txBody>
      </p:sp>
      <p:sp>
        <p:nvSpPr>
          <p:cNvPr id="141" name="T140"/>
          <p:cNvSpPr/>
          <p:nvPr/>
        </p:nvSpPr>
        <p:spPr>
          <a:xfrm>
            <a:off x="274320" y="4900000"/>
            <a:ext cx="8595360" cy="720000"/>
          </a:xfrm>
          <a:prstGeom prst="rect">
            <a:avLst/>
          </a:prstGeom>
          <a:noFill/>
          <a:ln>
            <a:noFill/>
          </a:ln>
        </p:spPr>
        <p:txBody>
          <a:bodyPr wrap="square" lIns="45720" tIns="22860" rIns="45720" bIns="22860" anchor="ctr"/>
          <a:lstStyle/>
          <a:p>
            <a:pPr algn="ctr">
              <a:buNone/>
            </a:pPr>
            <a:r>
              <a:rPr lang="en-US" sz="2000" b="0" i="0" dirty="0">
                <a:solidFill>
                  <a:srgbClr val="000000"/>
                </a:solidFill>
              </a:rPr>
              <a:t>A thousand tests from one mistaken interpretation are one reason, repeated.</a:t>
            </a:r>
          </a:p>
          <a:p>
            <a:pPr algn="ctr">
              <a:buNone/>
            </a:pPr>
            <a:r>
              <a:rPr lang="en-US" sz="2000" b="0" i="0" dirty="0">
                <a:solidFill>
                  <a:srgbClr val="000000"/>
                </a:solidFill>
              </a:rPr>
              <a:t>Two branches on different assumptions can catch each other’s mistakes.</a:t>
            </a:r>
          </a:p>
        </p:txBody>
      </p:sp>
      <p:sp>
        <p:nvSpPr>
          <p:cNvPr id="15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triangulates across evidence with</a:t>
            </a:r>
          </a:p>
          <a:p>
            <a:pPr algn="ctr">
              <a:buNone/>
            </a:pPr>
            <a:r>
              <a:rPr lang="en-US" sz="2000" b="1" i="0" dirty="0">
                <a:solidFill>
                  <a:srgbClr val="FFFFFF"/>
                </a:solidFill>
              </a:rPr>
              <a:t>meaningfully different assumptions and failure modes.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1"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1"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8" y="950000"/>
            <a:ext cx="2230144" cy="402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8622</TotalTime>
  <Words>14444</Words>
  <Application>Microsoft Macintosh PowerPoint</Application>
  <PresentationFormat>On-screen Show (4:3)</PresentationFormat>
  <Paragraphs>1235</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Which one is different?</vt:lpstr>
      <vt:lpstr>Now find the defect</vt:lpstr>
      <vt:lpstr>🧙 MAGE Moment: attention does not scale</vt:lpstr>
      <vt:lpstr>Reasoning over possible behavior</vt:lpstr>
      <vt:lpstr>Static analysis tracks possibilities, not runs</vt:lpstr>
      <vt:lpstr>Abstraction determines what analysis can establish</vt:lpstr>
      <vt:lpstr>Model checking searches modeled behavior</vt:lpstr>
      <vt:lpstr>Observing execution (Testing)</vt:lpstr>
      <vt:lpstr>Stretch break</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 MAGE Moment: volume is not independence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408</cp:revision>
  <dcterms:created xsi:type="dcterms:W3CDTF">2020-02-21T23:00:33Z</dcterms:created>
  <dcterms:modified xsi:type="dcterms:W3CDTF">2026-09-21T14:09:49Z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