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257" r:id="rId2"/>
    <p:sldId id="259" r:id="rId3"/>
    <p:sldId id="260" r:id="rId4"/>
    <p:sldId id="263" r:id="rId5"/>
    <p:sldId id="267" r:id="rId6"/>
    <p:sldId id="295" r:id="rId7"/>
    <p:sldId id="296" r:id="rId8"/>
    <p:sldId id="268" r:id="rId9"/>
    <p:sldId id="275" r:id="rId10"/>
    <p:sldId id="323" r:id="rId11"/>
    <p:sldId id="301" r:id="rId12"/>
    <p:sldId id="302" r:id="rId13"/>
    <p:sldId id="303" r:id="rId14"/>
    <p:sldId id="324" r:id="rId15"/>
    <p:sldId id="304" r:id="rId16"/>
    <p:sldId id="299" r:id="rId17"/>
    <p:sldId id="322" r:id="rId18"/>
    <p:sldId id="305" r:id="rId19"/>
    <p:sldId id="325" r:id="rId20"/>
    <p:sldId id="297" r:id="rId21"/>
    <p:sldId id="307" r:id="rId22"/>
    <p:sldId id="326" r:id="rId23"/>
    <p:sldId id="308" r:id="rId24"/>
    <p:sldId id="309" r:id="rId25"/>
    <p:sldId id="312" r:id="rId26"/>
    <p:sldId id="313" r:id="rId27"/>
    <p:sldId id="311" r:id="rId28"/>
    <p:sldId id="314" r:id="rId29"/>
    <p:sldId id="315" r:id="rId30"/>
    <p:sldId id="288" r:id="rId31"/>
    <p:sldId id="321" r:id="rId32"/>
    <p:sldId id="291" r:id="rId33"/>
    <p:sldId id="29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59" autoAdjust="0"/>
    <p:restoredTop sz="49726"/>
  </p:normalViewPr>
  <p:slideViewPr>
    <p:cSldViewPr snapToGrid="0" snapToObjects="1">
      <p:cViewPr varScale="1">
        <p:scale>
          <a:sx n="55" d="100"/>
          <a:sy n="55" d="100"/>
        </p:scale>
        <p:origin x="2920"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09-21T23:35:05.373" v="312" actId="1036"/>
      <pc:docMkLst>
        <pc:docMk/>
      </pc:docMkLst>
      <pc:sldChg chg="modSp mod">
        <pc:chgData name="Steve France" userId="b43bac2f-065f-4dab-8869-567f51c0338e" providerId="ADAL" clId="{32976B86-9A01-5E05-BDB2-234D6247B540}" dt="2026-09-21T22:45:06.832" v="0" actId="20577"/>
        <pc:sldMkLst>
          <pc:docMk/>
          <pc:sldMk cId="0" sldId="257"/>
        </pc:sldMkLst>
        <pc:spChg chg="mod">
          <ac:chgData name="Steve France" userId="b43bac2f-065f-4dab-8869-567f51c0338e" providerId="ADAL" clId="{32976B86-9A01-5E05-BDB2-234D6247B540}" dt="2026-09-21T22:45:06.832" v="0" actId="20577"/>
          <ac:spMkLst>
            <pc:docMk/>
            <pc:sldMk cId="0" sldId="257"/>
            <ac:spMk id="130" creationId="{00000000-0000-0000-0000-000000000000}"/>
          </ac:spMkLst>
        </pc:spChg>
      </pc:sldChg>
      <pc:sldChg chg="modSp mod">
        <pc:chgData name="Steve France" userId="b43bac2f-065f-4dab-8869-567f51c0338e" providerId="ADAL" clId="{32976B86-9A01-5E05-BDB2-234D6247B540}" dt="2026-09-21T22:48:03.651" v="50" actId="1076"/>
        <pc:sldMkLst>
          <pc:docMk/>
          <pc:sldMk cId="0" sldId="259"/>
        </pc:sldMkLst>
        <pc:spChg chg="mod">
          <ac:chgData name="Steve France" userId="b43bac2f-065f-4dab-8869-567f51c0338e" providerId="ADAL" clId="{32976B86-9A01-5E05-BDB2-234D6247B540}" dt="2026-09-21T22:46:35.369" v="2" actId="27636"/>
          <ac:spMkLst>
            <pc:docMk/>
            <pc:sldMk cId="0" sldId="259"/>
            <ac:spMk id="2" creationId="{00000000-0000-0000-0000-000000000000}"/>
          </ac:spMkLst>
        </pc:spChg>
        <pc:spChg chg="mod">
          <ac:chgData name="Steve France" userId="b43bac2f-065f-4dab-8869-567f51c0338e" providerId="ADAL" clId="{32976B86-9A01-5E05-BDB2-234D6247B540}" dt="2026-09-21T22:48:03.651" v="50" actId="1076"/>
          <ac:spMkLst>
            <pc:docMk/>
            <pc:sldMk cId="0" sldId="259"/>
            <ac:spMk id="10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3"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3" creationId="{00000000-0000-0000-0000-000000000000}"/>
          </ac:spMkLst>
        </pc:spChg>
        <pc:spChg chg="mod">
          <ac:chgData name="Steve France" userId="b43bac2f-065f-4dab-8869-567f51c0338e" providerId="ADAL" clId="{32976B86-9A01-5E05-BDB2-234D6247B540}" dt="2026-09-21T22:46:51.723" v="46" actId="1076"/>
          <ac:spMkLst>
            <pc:docMk/>
            <pc:sldMk cId="0" sldId="259"/>
            <ac:spMk id="140" creationId="{00000000-0000-0000-0000-000000000000}"/>
          </ac:spMkLst>
        </pc:spChg>
        <pc:cxnChg chg="mod">
          <ac:chgData name="Steve France" userId="b43bac2f-065f-4dab-8869-567f51c0338e" providerId="ADAL" clId="{32976B86-9A01-5E05-BDB2-234D6247B540}" dt="2026-09-21T22:46:58.398" v="47" actId="1076"/>
          <ac:cxnSpMkLst>
            <pc:docMk/>
            <pc:sldMk cId="0" sldId="259"/>
            <ac:cxnSpMk id="130" creationId="{00000000-0000-0000-0000-000000000000}"/>
          </ac:cxnSpMkLst>
        </pc:cxnChg>
        <pc:cxnChg chg="mod">
          <ac:chgData name="Steve France" userId="b43bac2f-065f-4dab-8869-567f51c0338e" providerId="ADAL" clId="{32976B86-9A01-5E05-BDB2-234D6247B540}" dt="2026-09-21T22:46:58.398" v="47" actId="1076"/>
          <ac:cxnSpMkLst>
            <pc:docMk/>
            <pc:sldMk cId="0" sldId="259"/>
            <ac:cxnSpMk id="132" creationId="{00000000-0000-0000-0000-000000000000}"/>
          </ac:cxnSpMkLst>
        </pc:cxnChg>
      </pc:sldChg>
      <pc:sldChg chg="modSp mod">
        <pc:chgData name="Steve France" userId="b43bac2f-065f-4dab-8869-567f51c0338e" providerId="ADAL" clId="{32976B86-9A01-5E05-BDB2-234D6247B540}" dt="2026-09-21T22:47:45.501" v="49" actId="14100"/>
        <pc:sldMkLst>
          <pc:docMk/>
          <pc:sldMk cId="0" sldId="260"/>
        </pc:sldMkLst>
        <pc:spChg chg="mod">
          <ac:chgData name="Steve France" userId="b43bac2f-065f-4dab-8869-567f51c0338e" providerId="ADAL" clId="{32976B86-9A01-5E05-BDB2-234D6247B540}" dt="2026-09-21T22:46:35.382" v="3" actId="27636"/>
          <ac:spMkLst>
            <pc:docMk/>
            <pc:sldMk cId="0" sldId="260"/>
            <ac:spMk id="2" creationId="{00000000-0000-0000-0000-000000000000}"/>
          </ac:spMkLst>
        </pc:spChg>
        <pc:spChg chg="mod">
          <ac:chgData name="Steve France" userId="b43bac2f-065f-4dab-8869-567f51c0338e" providerId="ADAL" clId="{32976B86-9A01-5E05-BDB2-234D6247B540}" dt="2026-09-21T22:47:45.501" v="49" actId="14100"/>
          <ac:spMkLst>
            <pc:docMk/>
            <pc:sldMk cId="0" sldId="260"/>
            <ac:spMk id="130" creationId="{00000000-0000-0000-0000-000000000000}"/>
          </ac:spMkLst>
        </pc:spChg>
      </pc:sldChg>
      <pc:sldChg chg="modSp mod modAnim">
        <pc:chgData name="Steve France" userId="b43bac2f-065f-4dab-8869-567f51c0338e" providerId="ADAL" clId="{32976B86-9A01-5E05-BDB2-234D6247B540}" dt="2026-09-21T22:50:25.846" v="69"/>
        <pc:sldMkLst>
          <pc:docMk/>
          <pc:sldMk cId="0" sldId="263"/>
        </pc:sldMkLst>
        <pc:spChg chg="mod">
          <ac:chgData name="Steve France" userId="b43bac2f-065f-4dab-8869-567f51c0338e" providerId="ADAL" clId="{32976B86-9A01-5E05-BDB2-234D6247B540}" dt="2026-09-21T22:46:35.386" v="4" actId="27636"/>
          <ac:spMkLst>
            <pc:docMk/>
            <pc:sldMk cId="0" sldId="263"/>
            <ac:spMk id="2" creationId="{00000000-0000-0000-0000-000000000000}"/>
          </ac:spMkLst>
        </pc:spChg>
        <pc:spChg chg="mod">
          <ac:chgData name="Steve France" userId="b43bac2f-065f-4dab-8869-567f51c0338e" providerId="ADAL" clId="{32976B86-9A01-5E05-BDB2-234D6247B540}" dt="2026-09-21T22:49:34.918" v="67" actId="5793"/>
          <ac:spMkLst>
            <pc:docMk/>
            <pc:sldMk cId="0" sldId="263"/>
            <ac:spMk id="101" creationId="{00000000-0000-0000-0000-000000000000}"/>
          </ac:spMkLst>
        </pc:spChg>
        <pc:spChg chg="mod">
          <ac:chgData name="Steve France" userId="b43bac2f-065f-4dab-8869-567f51c0338e" providerId="ADAL" clId="{32976B86-9A01-5E05-BDB2-234D6247B540}" dt="2026-09-21T22:49:41.252" v="68" actId="20577"/>
          <ac:spMkLst>
            <pc:docMk/>
            <pc:sldMk cId="0" sldId="263"/>
            <ac:spMk id="102" creationId="{00000000-0000-0000-0000-000000000000}"/>
          </ac:spMkLst>
        </pc:spChg>
      </pc:sldChg>
      <pc:sldChg chg="modSp mod">
        <pc:chgData name="Steve France" userId="b43bac2f-065f-4dab-8869-567f51c0338e" providerId="ADAL" clId="{32976B86-9A01-5E05-BDB2-234D6247B540}" dt="2026-09-21T23:08:28.023" v="177" actId="20577"/>
        <pc:sldMkLst>
          <pc:docMk/>
          <pc:sldMk cId="0" sldId="267"/>
        </pc:sldMkLst>
        <pc:spChg chg="mod">
          <ac:chgData name="Steve France" userId="b43bac2f-065f-4dab-8869-567f51c0338e" providerId="ADAL" clId="{32976B86-9A01-5E05-BDB2-234D6247B540}" dt="2026-09-21T22:46:35.389" v="5" actId="27636"/>
          <ac:spMkLst>
            <pc:docMk/>
            <pc:sldMk cId="0" sldId="267"/>
            <ac:spMk id="2" creationId="{00000000-0000-0000-0000-000000000000}"/>
          </ac:spMkLst>
        </pc:spChg>
        <pc:spChg chg="mod">
          <ac:chgData name="Steve France" userId="b43bac2f-065f-4dab-8869-567f51c0338e" providerId="ADAL" clId="{32976B86-9A01-5E05-BDB2-234D6247B540}" dt="2026-09-21T23:08:28.023" v="177" actId="20577"/>
          <ac:spMkLst>
            <pc:docMk/>
            <pc:sldMk cId="0" sldId="267"/>
            <ac:spMk id="4" creationId="{00000000-0000-0000-0000-000000000000}"/>
          </ac:spMkLst>
        </pc:spChg>
      </pc:sldChg>
      <pc:sldChg chg="modSp mod">
        <pc:chgData name="Steve France" userId="b43bac2f-065f-4dab-8869-567f51c0338e" providerId="ADAL" clId="{32976B86-9A01-5E05-BDB2-234D6247B540}" dt="2026-09-21T23:08:06.165" v="162" actId="20577"/>
        <pc:sldMkLst>
          <pc:docMk/>
          <pc:sldMk cId="0" sldId="268"/>
        </pc:sldMkLst>
        <pc:spChg chg="mod">
          <ac:chgData name="Steve France" userId="b43bac2f-065f-4dab-8869-567f51c0338e" providerId="ADAL" clId="{32976B86-9A01-5E05-BDB2-234D6247B540}" dt="2026-09-21T22:46:35.400" v="8" actId="27636"/>
          <ac:spMkLst>
            <pc:docMk/>
            <pc:sldMk cId="0" sldId="268"/>
            <ac:spMk id="2" creationId="{00000000-0000-0000-0000-000000000000}"/>
          </ac:spMkLst>
        </pc:spChg>
        <pc:spChg chg="mod">
          <ac:chgData name="Steve France" userId="b43bac2f-065f-4dab-8869-567f51c0338e" providerId="ADAL" clId="{32976B86-9A01-5E05-BDB2-234D6247B540}" dt="2026-09-21T23:08:06.165" v="162" actId="20577"/>
          <ac:spMkLst>
            <pc:docMk/>
            <pc:sldMk cId="0" sldId="268"/>
            <ac:spMk id="140" creationId="{00000000-0000-0000-0000-000000000000}"/>
          </ac:spMkLst>
        </pc:spChg>
      </pc:sldChg>
      <pc:sldChg chg="modSp mod">
        <pc:chgData name="Steve France" userId="b43bac2f-065f-4dab-8869-567f51c0338e" providerId="ADAL" clId="{32976B86-9A01-5E05-BDB2-234D6247B540}" dt="2026-09-21T22:59:12.515" v="77" actId="20577"/>
        <pc:sldMkLst>
          <pc:docMk/>
          <pc:sldMk cId="0" sldId="275"/>
        </pc:sldMkLst>
        <pc:spChg chg="mod">
          <ac:chgData name="Steve France" userId="b43bac2f-065f-4dab-8869-567f51c0338e" providerId="ADAL" clId="{32976B86-9A01-5E05-BDB2-234D6247B540}" dt="2026-09-21T22:46:35.404" v="9" actId="27636"/>
          <ac:spMkLst>
            <pc:docMk/>
            <pc:sldMk cId="0" sldId="275"/>
            <ac:spMk id="2"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0" creationId="{00000000-0000-0000-0000-000000000000}"/>
          </ac:spMkLst>
        </pc:spChg>
        <pc:spChg chg="mod">
          <ac:chgData name="Steve France" userId="b43bac2f-065f-4dab-8869-567f51c0338e" providerId="ADAL" clId="{32976B86-9A01-5E05-BDB2-234D6247B540}" dt="2026-09-21T22:58:14.482" v="74" actId="404"/>
          <ac:spMkLst>
            <pc:docMk/>
            <pc:sldMk cId="0" sldId="275"/>
            <ac:spMk id="111"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2" creationId="{00000000-0000-0000-0000-000000000000}"/>
          </ac:spMkLst>
        </pc:spChg>
        <pc:spChg chg="mod">
          <ac:chgData name="Steve France" userId="b43bac2f-065f-4dab-8869-567f51c0338e" providerId="ADAL" clId="{32976B86-9A01-5E05-BDB2-234D6247B540}" dt="2026-09-21T22:59:12.515" v="77" actId="20577"/>
          <ac:spMkLst>
            <pc:docMk/>
            <pc:sldMk cId="0" sldId="275"/>
            <ac:spMk id="140" creationId="{00000000-0000-0000-0000-000000000000}"/>
          </ac:spMkLst>
        </pc:spChg>
      </pc:sldChg>
      <pc:sldChg chg="modSp mod">
        <pc:chgData name="Steve France" userId="b43bac2f-065f-4dab-8869-567f51c0338e" providerId="ADAL" clId="{32976B86-9A01-5E05-BDB2-234D6247B540}" dt="2026-09-21T23:27:32.900" v="306" actId="1038"/>
        <pc:sldMkLst>
          <pc:docMk/>
          <pc:sldMk cId="0" sldId="288"/>
        </pc:sldMkLst>
        <pc:spChg chg="mod">
          <ac:chgData name="Steve France" userId="b43bac2f-065f-4dab-8869-567f51c0338e" providerId="ADAL" clId="{32976B86-9A01-5E05-BDB2-234D6247B540}" dt="2026-09-21T22:46:35.489" v="30" actId="27636"/>
          <ac:spMkLst>
            <pc:docMk/>
            <pc:sldMk cId="0" sldId="288"/>
            <ac:spMk id="2" creationId="{00000000-0000-0000-0000-000000000000}"/>
          </ac:spMkLst>
        </pc:spChg>
        <pc:spChg chg="mod">
          <ac:chgData name="Steve France" userId="b43bac2f-065f-4dab-8869-567f51c0338e" providerId="ADAL" clId="{32976B86-9A01-5E05-BDB2-234D6247B540}" dt="2026-09-21T23:27:32.900" v="306" actId="1038"/>
          <ac:spMkLst>
            <pc:docMk/>
            <pc:sldMk cId="0" sldId="288"/>
            <ac:spMk id="300" creationId="{00000000-0000-0000-0000-000000000000}"/>
          </ac:spMkLst>
        </pc:spChg>
      </pc:sldChg>
      <pc:sldChg chg="modSp mod">
        <pc:chgData name="Steve France" userId="b43bac2f-065f-4dab-8869-567f51c0338e" providerId="ADAL" clId="{32976B86-9A01-5E05-BDB2-234D6247B540}" dt="2026-09-21T23:34:19.599" v="308" actId="1076"/>
        <pc:sldMkLst>
          <pc:docMk/>
          <pc:sldMk cId="0" sldId="291"/>
        </pc:sldMkLst>
        <pc:spChg chg="mod">
          <ac:chgData name="Steve France" userId="b43bac2f-065f-4dab-8869-567f51c0338e" providerId="ADAL" clId="{32976B86-9A01-5E05-BDB2-234D6247B540}" dt="2026-09-21T23:34:19.599" v="308" actId="1076"/>
          <ac:spMkLst>
            <pc:docMk/>
            <pc:sldMk cId="0" sldId="291"/>
            <ac:spMk id="2" creationId="{00000000-0000-0000-0000-000000000000}"/>
          </ac:spMkLst>
        </pc:spChg>
      </pc:sldChg>
      <pc:sldChg chg="modSp mod">
        <pc:chgData name="Steve France" userId="b43bac2f-065f-4dab-8869-567f51c0338e" providerId="ADAL" clId="{32976B86-9A01-5E05-BDB2-234D6247B540}" dt="2026-09-21T23:35:05.373" v="312" actId="1036"/>
        <pc:sldMkLst>
          <pc:docMk/>
          <pc:sldMk cId="0" sldId="292"/>
        </pc:sldMkLst>
        <pc:spChg chg="mod">
          <ac:chgData name="Steve France" userId="b43bac2f-065f-4dab-8869-567f51c0338e" providerId="ADAL" clId="{32976B86-9A01-5E05-BDB2-234D6247B540}" dt="2026-09-21T22:46:35.497" v="32" actId="27636"/>
          <ac:spMkLst>
            <pc:docMk/>
            <pc:sldMk cId="0" sldId="292"/>
            <ac:spMk id="2" creationId="{00000000-0000-0000-0000-000000000000}"/>
          </ac:spMkLst>
        </pc:spChg>
        <pc:spChg chg="mod">
          <ac:chgData name="Steve France" userId="b43bac2f-065f-4dab-8869-567f51c0338e" providerId="ADAL" clId="{32976B86-9A01-5E05-BDB2-234D6247B540}" dt="2026-09-21T23:35:05.373" v="312" actId="1036"/>
          <ac:spMkLst>
            <pc:docMk/>
            <pc:sldMk cId="0" sldId="292"/>
            <ac:spMk id="120" creationId="{00000000-0000-0000-0000-000000000000}"/>
          </ac:spMkLst>
        </pc:spChg>
      </pc:sldChg>
      <pc:sldChg chg="modSp mod">
        <pc:chgData name="Steve France" userId="b43bac2f-065f-4dab-8869-567f51c0338e" providerId="ADAL" clId="{32976B86-9A01-5E05-BDB2-234D6247B540}" dt="2026-09-21T23:08:20.762" v="172" actId="20577"/>
        <pc:sldMkLst>
          <pc:docMk/>
          <pc:sldMk cId="0" sldId="295"/>
        </pc:sldMkLst>
        <pc:spChg chg="mod">
          <ac:chgData name="Steve France" userId="b43bac2f-065f-4dab-8869-567f51c0338e" providerId="ADAL" clId="{32976B86-9A01-5E05-BDB2-234D6247B540}" dt="2026-09-21T22:46:35.392" v="6" actId="27636"/>
          <ac:spMkLst>
            <pc:docMk/>
            <pc:sldMk cId="0" sldId="295"/>
            <ac:spMk id="2" creationId="{00000000-0000-0000-0000-000000000000}"/>
          </ac:spMkLst>
        </pc:spChg>
        <pc:spChg chg="mod">
          <ac:chgData name="Steve France" userId="b43bac2f-065f-4dab-8869-567f51c0338e" providerId="ADAL" clId="{32976B86-9A01-5E05-BDB2-234D6247B540}" dt="2026-09-21T23:08:20.762" v="172" actId="20577"/>
          <ac:spMkLst>
            <pc:docMk/>
            <pc:sldMk cId="0" sldId="295"/>
            <ac:spMk id="160" creationId="{00000000-0000-0000-0000-000000000000}"/>
          </ac:spMkLst>
        </pc:spChg>
      </pc:sldChg>
      <pc:sldChg chg="modSp mod">
        <pc:chgData name="Steve France" userId="b43bac2f-065f-4dab-8869-567f51c0338e" providerId="ADAL" clId="{32976B86-9A01-5E05-BDB2-234D6247B540}" dt="2026-09-21T23:08:12.568" v="168" actId="20577"/>
        <pc:sldMkLst>
          <pc:docMk/>
          <pc:sldMk cId="0" sldId="296"/>
        </pc:sldMkLst>
        <pc:spChg chg="mod">
          <ac:chgData name="Steve France" userId="b43bac2f-065f-4dab-8869-567f51c0338e" providerId="ADAL" clId="{32976B86-9A01-5E05-BDB2-234D6247B540}" dt="2026-09-21T22:46:35.397" v="7" actId="27636"/>
          <ac:spMkLst>
            <pc:docMk/>
            <pc:sldMk cId="0" sldId="296"/>
            <ac:spMk id="2" creationId="{00000000-0000-0000-0000-000000000000}"/>
          </ac:spMkLst>
        </pc:spChg>
        <pc:spChg chg="mod">
          <ac:chgData name="Steve France" userId="b43bac2f-065f-4dab-8869-567f51c0338e" providerId="ADAL" clId="{32976B86-9A01-5E05-BDB2-234D6247B540}" dt="2026-09-21T23:08:12.568" v="168" actId="20577"/>
          <ac:spMkLst>
            <pc:docMk/>
            <pc:sldMk cId="0" sldId="296"/>
            <ac:spMk id="140" creationId="{00000000-0000-0000-0000-000000000000}"/>
          </ac:spMkLst>
        </pc:spChg>
      </pc:sldChg>
      <pc:sldChg chg="modSp mod">
        <pc:chgData name="Steve France" userId="b43bac2f-065f-4dab-8869-567f51c0338e" providerId="ADAL" clId="{32976B86-9A01-5E05-BDB2-234D6247B540}" dt="2026-09-21T23:12:13.380" v="197" actId="108"/>
        <pc:sldMkLst>
          <pc:docMk/>
          <pc:sldMk cId="0" sldId="297"/>
        </pc:sldMkLst>
        <pc:spChg chg="mod">
          <ac:chgData name="Steve France" userId="b43bac2f-065f-4dab-8869-567f51c0338e" providerId="ADAL" clId="{32976B86-9A01-5E05-BDB2-234D6247B540}" dt="2026-09-21T22:46:35.449" v="20" actId="27636"/>
          <ac:spMkLst>
            <pc:docMk/>
            <pc:sldMk cId="0" sldId="297"/>
            <ac:spMk id="2" creationId="{00000000-0000-0000-0000-000000000000}"/>
          </ac:spMkLst>
        </pc:spChg>
        <pc:spChg chg="mod">
          <ac:chgData name="Steve France" userId="b43bac2f-065f-4dab-8869-567f51c0338e" providerId="ADAL" clId="{32976B86-9A01-5E05-BDB2-234D6247B540}" dt="2026-09-21T23:11:50.108" v="194" actId="1036"/>
          <ac:spMkLst>
            <pc:docMk/>
            <pc:sldMk cId="0" sldId="297"/>
            <ac:spMk id="110" creationId="{00000000-0000-0000-0000-000000000000}"/>
          </ac:spMkLst>
        </pc:spChg>
        <pc:spChg chg="mod">
          <ac:chgData name="Steve France" userId="b43bac2f-065f-4dab-8869-567f51c0338e" providerId="ADAL" clId="{32976B86-9A01-5E05-BDB2-234D6247B540}" dt="2026-09-21T23:12:13.380" v="197" actId="108"/>
          <ac:spMkLst>
            <pc:docMk/>
            <pc:sldMk cId="0" sldId="297"/>
            <ac:spMk id="111" creationId="{00000000-0000-0000-0000-000000000000}"/>
          </ac:spMkLst>
        </pc:spChg>
        <pc:spChg chg="mod">
          <ac:chgData name="Steve France" userId="b43bac2f-065f-4dab-8869-567f51c0338e" providerId="ADAL" clId="{32976B86-9A01-5E05-BDB2-234D6247B540}" dt="2026-09-21T23:11:58.717" v="195" actId="14100"/>
          <ac:spMkLst>
            <pc:docMk/>
            <pc:sldMk cId="0" sldId="297"/>
            <ac:spMk id="112" creationId="{00000000-0000-0000-0000-000000000000}"/>
          </ac:spMkLst>
        </pc:spChg>
      </pc:sldChg>
      <pc:sldChg chg="modSp mod">
        <pc:chgData name="Steve France" userId="b43bac2f-065f-4dab-8869-567f51c0338e" providerId="ADAL" clId="{32976B86-9A01-5E05-BDB2-234D6247B540}" dt="2026-09-21T23:07:02.653" v="127" actId="20577"/>
        <pc:sldMkLst>
          <pc:docMk/>
          <pc:sldMk cId="0" sldId="299"/>
        </pc:sldMkLst>
        <pc:spChg chg="mod">
          <ac:chgData name="Steve France" userId="b43bac2f-065f-4dab-8869-567f51c0338e" providerId="ADAL" clId="{32976B86-9A01-5E05-BDB2-234D6247B540}" dt="2026-09-21T22:46:35.433" v="16" actId="27636"/>
          <ac:spMkLst>
            <pc:docMk/>
            <pc:sldMk cId="0" sldId="299"/>
            <ac:spMk id="2" creationId="{00000000-0000-0000-0000-000000000000}"/>
          </ac:spMkLst>
        </pc:spChg>
        <pc:spChg chg="mod">
          <ac:chgData name="Steve France" userId="b43bac2f-065f-4dab-8869-567f51c0338e" providerId="ADAL" clId="{32976B86-9A01-5E05-BDB2-234D6247B540}" dt="2026-09-21T23:07:02.653" v="127" actId="20577"/>
          <ac:spMkLst>
            <pc:docMk/>
            <pc:sldMk cId="0" sldId="299"/>
            <ac:spMk id="150" creationId="{00000000-0000-0000-0000-000000000000}"/>
          </ac:spMkLst>
        </pc:spChg>
      </pc:sldChg>
      <pc:sldChg chg="modSp mod">
        <pc:chgData name="Steve France" userId="b43bac2f-065f-4dab-8869-567f51c0338e" providerId="ADAL" clId="{32976B86-9A01-5E05-BDB2-234D6247B540}" dt="2026-09-21T22:46:35.414" v="11" actId="27636"/>
        <pc:sldMkLst>
          <pc:docMk/>
          <pc:sldMk cId="0" sldId="301"/>
        </pc:sldMkLst>
        <pc:spChg chg="mod">
          <ac:chgData name="Steve France" userId="b43bac2f-065f-4dab-8869-567f51c0338e" providerId="ADAL" clId="{32976B86-9A01-5E05-BDB2-234D6247B540}" dt="2026-09-21T22:46:35.414" v="11" actId="27636"/>
          <ac:spMkLst>
            <pc:docMk/>
            <pc:sldMk cId="0" sldId="301"/>
            <ac:spMk id="2" creationId="{00000000-0000-0000-0000-000000000000}"/>
          </ac:spMkLst>
        </pc:spChg>
      </pc:sldChg>
      <pc:sldChg chg="modSp mod">
        <pc:chgData name="Steve France" userId="b43bac2f-065f-4dab-8869-567f51c0338e" providerId="ADAL" clId="{32976B86-9A01-5E05-BDB2-234D6247B540}" dt="2026-09-21T22:46:35.417" v="12" actId="27636"/>
        <pc:sldMkLst>
          <pc:docMk/>
          <pc:sldMk cId="0" sldId="302"/>
        </pc:sldMkLst>
        <pc:spChg chg="mod">
          <ac:chgData name="Steve France" userId="b43bac2f-065f-4dab-8869-567f51c0338e" providerId="ADAL" clId="{32976B86-9A01-5E05-BDB2-234D6247B540}" dt="2026-09-21T22:46:35.417" v="12" actId="27636"/>
          <ac:spMkLst>
            <pc:docMk/>
            <pc:sldMk cId="0" sldId="302"/>
            <ac:spMk id="2" creationId="{00000000-0000-0000-0000-000000000000}"/>
          </ac:spMkLst>
        </pc:spChg>
      </pc:sldChg>
      <pc:sldChg chg="modSp mod">
        <pc:chgData name="Steve France" userId="b43bac2f-065f-4dab-8869-567f51c0338e" providerId="ADAL" clId="{32976B86-9A01-5E05-BDB2-234D6247B540}" dt="2026-09-21T23:07:40.966" v="155" actId="20577"/>
        <pc:sldMkLst>
          <pc:docMk/>
          <pc:sldMk cId="0" sldId="303"/>
        </pc:sldMkLst>
        <pc:spChg chg="mod">
          <ac:chgData name="Steve France" userId="b43bac2f-065f-4dab-8869-567f51c0338e" providerId="ADAL" clId="{32976B86-9A01-5E05-BDB2-234D6247B540}" dt="2026-09-21T22:46:35.422" v="13" actId="27636"/>
          <ac:spMkLst>
            <pc:docMk/>
            <pc:sldMk cId="0" sldId="303"/>
            <ac:spMk id="2" creationId="{00000000-0000-0000-0000-000000000000}"/>
          </ac:spMkLst>
        </pc:spChg>
        <pc:spChg chg="mod">
          <ac:chgData name="Steve France" userId="b43bac2f-065f-4dab-8869-567f51c0338e" providerId="ADAL" clId="{32976B86-9A01-5E05-BDB2-234D6247B540}" dt="2026-09-21T23:01:14.378" v="88" actId="20577"/>
          <ac:spMkLst>
            <pc:docMk/>
            <pc:sldMk cId="0" sldId="303"/>
            <ac:spMk id="110" creationId="{00000000-0000-0000-0000-000000000000}"/>
          </ac:spMkLst>
        </pc:spChg>
        <pc:spChg chg="mod">
          <ac:chgData name="Steve France" userId="b43bac2f-065f-4dab-8869-567f51c0338e" providerId="ADAL" clId="{32976B86-9A01-5E05-BDB2-234D6247B540}" dt="2026-09-21T23:07:40.966" v="155" actId="20577"/>
          <ac:spMkLst>
            <pc:docMk/>
            <pc:sldMk cId="0" sldId="303"/>
            <ac:spMk id="140" creationId="{00000000-0000-0000-0000-000000000000}"/>
          </ac:spMkLst>
        </pc:spChg>
      </pc:sldChg>
      <pc:sldChg chg="modSp mod">
        <pc:chgData name="Steve France" userId="b43bac2f-065f-4dab-8869-567f51c0338e" providerId="ADAL" clId="{32976B86-9A01-5E05-BDB2-234D6247B540}" dt="2026-09-21T23:07:09.752" v="131" actId="20577"/>
        <pc:sldMkLst>
          <pc:docMk/>
          <pc:sldMk cId="0" sldId="304"/>
        </pc:sldMkLst>
        <pc:spChg chg="mod">
          <ac:chgData name="Steve France" userId="b43bac2f-065f-4dab-8869-567f51c0338e" providerId="ADAL" clId="{32976B86-9A01-5E05-BDB2-234D6247B540}" dt="2026-09-21T22:46:35.429" v="15" actId="27636"/>
          <ac:spMkLst>
            <pc:docMk/>
            <pc:sldMk cId="0" sldId="304"/>
            <ac:spMk id="2" creationId="{00000000-0000-0000-0000-000000000000}"/>
          </ac:spMkLst>
        </pc:spChg>
        <pc:spChg chg="mod">
          <ac:chgData name="Steve France" userId="b43bac2f-065f-4dab-8869-567f51c0338e" providerId="ADAL" clId="{32976B86-9A01-5E05-BDB2-234D6247B540}" dt="2026-09-21T23:07:09.752" v="131" actId="20577"/>
          <ac:spMkLst>
            <pc:docMk/>
            <pc:sldMk cId="0" sldId="304"/>
            <ac:spMk id="140" creationId="{00000000-0000-0000-0000-000000000000}"/>
          </ac:spMkLst>
        </pc:spChg>
      </pc:sldChg>
      <pc:sldChg chg="modSp mod">
        <pc:chgData name="Steve France" userId="b43bac2f-065f-4dab-8869-567f51c0338e" providerId="ADAL" clId="{32976B86-9A01-5E05-BDB2-234D6247B540}" dt="2026-09-21T23:10:02.478" v="186" actId="20577"/>
        <pc:sldMkLst>
          <pc:docMk/>
          <pc:sldMk cId="0" sldId="305"/>
        </pc:sldMkLst>
        <pc:spChg chg="mod">
          <ac:chgData name="Steve France" userId="b43bac2f-065f-4dab-8869-567f51c0338e" providerId="ADAL" clId="{32976B86-9A01-5E05-BDB2-234D6247B540}" dt="2026-09-21T22:46:35.441" v="18" actId="27636"/>
          <ac:spMkLst>
            <pc:docMk/>
            <pc:sldMk cId="0" sldId="305"/>
            <ac:spMk id="2" creationId="{00000000-0000-0000-0000-000000000000}"/>
          </ac:spMkLst>
        </pc:spChg>
        <pc:spChg chg="mod">
          <ac:chgData name="Steve France" userId="b43bac2f-065f-4dab-8869-567f51c0338e" providerId="ADAL" clId="{32976B86-9A01-5E05-BDB2-234D6247B540}" dt="2026-09-21T23:10:02.478" v="186" actId="20577"/>
          <ac:spMkLst>
            <pc:docMk/>
            <pc:sldMk cId="0" sldId="305"/>
            <ac:spMk id="140" creationId="{00000000-0000-0000-0000-000000000000}"/>
          </ac:spMkLst>
        </pc:spChg>
      </pc:sldChg>
      <pc:sldChg chg="modSp mod">
        <pc:chgData name="Steve France" userId="b43bac2f-065f-4dab-8869-567f51c0338e" providerId="ADAL" clId="{32976B86-9A01-5E05-BDB2-234D6247B540}" dt="2026-09-21T23:14:30.876" v="198" actId="20577"/>
        <pc:sldMkLst>
          <pc:docMk/>
          <pc:sldMk cId="0" sldId="308"/>
        </pc:sldMkLst>
        <pc:spChg chg="mod">
          <ac:chgData name="Steve France" userId="b43bac2f-065f-4dab-8869-567f51c0338e" providerId="ADAL" clId="{32976B86-9A01-5E05-BDB2-234D6247B540}" dt="2026-09-21T22:46:35.456" v="22" actId="27636"/>
          <ac:spMkLst>
            <pc:docMk/>
            <pc:sldMk cId="0" sldId="308"/>
            <ac:spMk id="2" creationId="{00000000-0000-0000-0000-000000000000}"/>
          </ac:spMkLst>
        </pc:spChg>
        <pc:spChg chg="mod">
          <ac:chgData name="Steve France" userId="b43bac2f-065f-4dab-8869-567f51c0338e" providerId="ADAL" clId="{32976B86-9A01-5E05-BDB2-234D6247B540}" dt="2026-09-21T23:14:30.876" v="198" actId="20577"/>
          <ac:spMkLst>
            <pc:docMk/>
            <pc:sldMk cId="0" sldId="308"/>
            <ac:spMk id="131" creationId="{00000000-0000-0000-0000-000000000000}"/>
          </ac:spMkLst>
        </pc:spChg>
      </pc:sldChg>
      <pc:sldChg chg="modSp mod">
        <pc:chgData name="Steve France" userId="b43bac2f-065f-4dab-8869-567f51c0338e" providerId="ADAL" clId="{32976B86-9A01-5E05-BDB2-234D6247B540}" dt="2026-09-21T23:18:14.974" v="204" actId="20577"/>
        <pc:sldMkLst>
          <pc:docMk/>
          <pc:sldMk cId="0" sldId="309"/>
        </pc:sldMkLst>
        <pc:spChg chg="mod">
          <ac:chgData name="Steve France" userId="b43bac2f-065f-4dab-8869-567f51c0338e" providerId="ADAL" clId="{32976B86-9A01-5E05-BDB2-234D6247B540}" dt="2026-09-21T22:46:35.459" v="23" actId="27636"/>
          <ac:spMkLst>
            <pc:docMk/>
            <pc:sldMk cId="0" sldId="309"/>
            <ac:spMk id="2" creationId="{00000000-0000-0000-0000-000000000000}"/>
          </ac:spMkLst>
        </pc:spChg>
        <pc:spChg chg="mod">
          <ac:chgData name="Steve France" userId="b43bac2f-065f-4dab-8869-567f51c0338e" providerId="ADAL" clId="{32976B86-9A01-5E05-BDB2-234D6247B540}" dt="2026-09-21T23:16:43.409" v="199" actId="20577"/>
          <ac:spMkLst>
            <pc:docMk/>
            <pc:sldMk cId="0" sldId="309"/>
            <ac:spMk id="110" creationId="{00000000-0000-0000-0000-000000000000}"/>
          </ac:spMkLst>
        </pc:spChg>
        <pc:spChg chg="mod">
          <ac:chgData name="Steve France" userId="b43bac2f-065f-4dab-8869-567f51c0338e" providerId="ADAL" clId="{32976B86-9A01-5E05-BDB2-234D6247B540}" dt="2026-09-21T23:18:14.974" v="204" actId="20577"/>
          <ac:spMkLst>
            <pc:docMk/>
            <pc:sldMk cId="0" sldId="309"/>
            <ac:spMk id="140" creationId="{00000000-0000-0000-0000-000000000000}"/>
          </ac:spMkLst>
        </pc:spChg>
      </pc:sldChg>
      <pc:sldChg chg="modSp mod">
        <pc:chgData name="Steve France" userId="b43bac2f-065f-4dab-8869-567f51c0338e" providerId="ADAL" clId="{32976B86-9A01-5E05-BDB2-234D6247B540}" dt="2026-09-21T23:23:04.603" v="230" actId="20577"/>
        <pc:sldMkLst>
          <pc:docMk/>
          <pc:sldMk cId="0" sldId="311"/>
        </pc:sldMkLst>
        <pc:spChg chg="mod">
          <ac:chgData name="Steve France" userId="b43bac2f-065f-4dab-8869-567f51c0338e" providerId="ADAL" clId="{32976B86-9A01-5E05-BDB2-234D6247B540}" dt="2026-09-21T22:46:35.472" v="26" actId="27636"/>
          <ac:spMkLst>
            <pc:docMk/>
            <pc:sldMk cId="0" sldId="311"/>
            <ac:spMk id="2" creationId="{00000000-0000-0000-0000-000000000000}"/>
          </ac:spMkLst>
        </pc:spChg>
        <pc:spChg chg="mod">
          <ac:chgData name="Steve France" userId="b43bac2f-065f-4dab-8869-567f51c0338e" providerId="ADAL" clId="{32976B86-9A01-5E05-BDB2-234D6247B540}" dt="2026-09-21T23:23:04.603" v="230" actId="20577"/>
          <ac:spMkLst>
            <pc:docMk/>
            <pc:sldMk cId="0" sldId="311"/>
            <ac:spMk id="142" creationId="{00000000-0000-0000-0000-000000000000}"/>
          </ac:spMkLst>
        </pc:spChg>
      </pc:sldChg>
      <pc:sldChg chg="modSp mod">
        <pc:chgData name="Steve France" userId="b43bac2f-065f-4dab-8869-567f51c0338e" providerId="ADAL" clId="{32976B86-9A01-5E05-BDB2-234D6247B540}" dt="2026-09-21T23:19:05.004" v="205" actId="20577"/>
        <pc:sldMkLst>
          <pc:docMk/>
          <pc:sldMk cId="0" sldId="312"/>
        </pc:sldMkLst>
        <pc:spChg chg="mod">
          <ac:chgData name="Steve France" userId="b43bac2f-065f-4dab-8869-567f51c0338e" providerId="ADAL" clId="{32976B86-9A01-5E05-BDB2-234D6247B540}" dt="2026-09-21T22:46:35.464" v="24" actId="27636"/>
          <ac:spMkLst>
            <pc:docMk/>
            <pc:sldMk cId="0" sldId="312"/>
            <ac:spMk id="2" creationId="{00000000-0000-0000-0000-000000000000}"/>
          </ac:spMkLst>
        </pc:spChg>
        <pc:spChg chg="mod">
          <ac:chgData name="Steve France" userId="b43bac2f-065f-4dab-8869-567f51c0338e" providerId="ADAL" clId="{32976B86-9A01-5E05-BDB2-234D6247B540}" dt="2026-09-21T23:19:05.004" v="205" actId="20577"/>
          <ac:spMkLst>
            <pc:docMk/>
            <pc:sldMk cId="0" sldId="312"/>
            <ac:spMk id="150" creationId="{00000000-0000-0000-0000-000000000000}"/>
          </ac:spMkLst>
        </pc:spChg>
      </pc:sldChg>
      <pc:sldChg chg="modSp mod">
        <pc:chgData name="Steve France" userId="b43bac2f-065f-4dab-8869-567f51c0338e" providerId="ADAL" clId="{32976B86-9A01-5E05-BDB2-234D6247B540}" dt="2026-09-21T23:21:48.116" v="227" actId="20577"/>
        <pc:sldMkLst>
          <pc:docMk/>
          <pc:sldMk cId="0" sldId="313"/>
        </pc:sldMkLst>
        <pc:spChg chg="mod">
          <ac:chgData name="Steve France" userId="b43bac2f-065f-4dab-8869-567f51c0338e" providerId="ADAL" clId="{32976B86-9A01-5E05-BDB2-234D6247B540}" dt="2026-09-21T22:46:35.467" v="25" actId="27636"/>
          <ac:spMkLst>
            <pc:docMk/>
            <pc:sldMk cId="0" sldId="313"/>
            <ac:spMk id="2" creationId="{00000000-0000-0000-0000-000000000000}"/>
          </ac:spMkLst>
        </pc:spChg>
        <pc:spChg chg="mod">
          <ac:chgData name="Steve France" userId="b43bac2f-065f-4dab-8869-567f51c0338e" providerId="ADAL" clId="{32976B86-9A01-5E05-BDB2-234D6247B540}" dt="2026-09-21T23:21:38.068" v="222" actId="20577"/>
          <ac:spMkLst>
            <pc:docMk/>
            <pc:sldMk cId="0" sldId="313"/>
            <ac:spMk id="140" creationId="{00000000-0000-0000-0000-000000000000}"/>
          </ac:spMkLst>
        </pc:spChg>
        <pc:spChg chg="mod">
          <ac:chgData name="Steve France" userId="b43bac2f-065f-4dab-8869-567f51c0338e" providerId="ADAL" clId="{32976B86-9A01-5E05-BDB2-234D6247B540}" dt="2026-09-21T23:21:48.116" v="227" actId="20577"/>
          <ac:spMkLst>
            <pc:docMk/>
            <pc:sldMk cId="0" sldId="313"/>
            <ac:spMk id="150" creationId="{00000000-0000-0000-0000-000000000000}"/>
          </ac:spMkLst>
        </pc:spChg>
      </pc:sldChg>
      <pc:sldChg chg="modSp mod">
        <pc:chgData name="Steve France" userId="b43bac2f-065f-4dab-8869-567f51c0338e" providerId="ADAL" clId="{32976B86-9A01-5E05-BDB2-234D6247B540}" dt="2026-09-21T23:25:06.876" v="296" actId="20577"/>
        <pc:sldMkLst>
          <pc:docMk/>
          <pc:sldMk cId="0" sldId="314"/>
        </pc:sldMkLst>
        <pc:spChg chg="mod">
          <ac:chgData name="Steve France" userId="b43bac2f-065f-4dab-8869-567f51c0338e" providerId="ADAL" clId="{32976B86-9A01-5E05-BDB2-234D6247B540}" dt="2026-09-21T22:46:35.476" v="27" actId="27636"/>
          <ac:spMkLst>
            <pc:docMk/>
            <pc:sldMk cId="0" sldId="314"/>
            <ac:spMk id="2" creationId="{00000000-0000-0000-0000-000000000000}"/>
          </ac:spMkLst>
        </pc:spChg>
        <pc:spChg chg="mod">
          <ac:chgData name="Steve France" userId="b43bac2f-065f-4dab-8869-567f51c0338e" providerId="ADAL" clId="{32976B86-9A01-5E05-BDB2-234D6247B540}" dt="2026-09-21T23:24:11.871" v="264" actId="20577"/>
          <ac:spMkLst>
            <pc:docMk/>
            <pc:sldMk cId="0" sldId="314"/>
            <ac:spMk id="110" creationId="{00000000-0000-0000-0000-000000000000}"/>
          </ac:spMkLst>
        </pc:spChg>
        <pc:spChg chg="mod">
          <ac:chgData name="Steve France" userId="b43bac2f-065f-4dab-8869-567f51c0338e" providerId="ADAL" clId="{32976B86-9A01-5E05-BDB2-234D6247B540}" dt="2026-09-21T23:24:15.375" v="269" actId="20577"/>
          <ac:spMkLst>
            <pc:docMk/>
            <pc:sldMk cId="0" sldId="314"/>
            <ac:spMk id="111" creationId="{00000000-0000-0000-0000-000000000000}"/>
          </ac:spMkLst>
        </pc:spChg>
        <pc:spChg chg="mod">
          <ac:chgData name="Steve France" userId="b43bac2f-065f-4dab-8869-567f51c0338e" providerId="ADAL" clId="{32976B86-9A01-5E05-BDB2-234D6247B540}" dt="2026-09-21T23:24:19.451" v="274" actId="20577"/>
          <ac:spMkLst>
            <pc:docMk/>
            <pc:sldMk cId="0" sldId="314"/>
            <ac:spMk id="113" creationId="{00000000-0000-0000-0000-000000000000}"/>
          </ac:spMkLst>
        </pc:spChg>
        <pc:spChg chg="mod">
          <ac:chgData name="Steve France" userId="b43bac2f-065f-4dab-8869-567f51c0338e" providerId="ADAL" clId="{32976B86-9A01-5E05-BDB2-234D6247B540}" dt="2026-09-21T23:25:06.876" v="296" actId="20577"/>
          <ac:spMkLst>
            <pc:docMk/>
            <pc:sldMk cId="0" sldId="314"/>
            <ac:spMk id="150" creationId="{00000000-0000-0000-0000-000000000000}"/>
          </ac:spMkLst>
        </pc:spChg>
        <pc:spChg chg="mod">
          <ac:chgData name="Steve France" userId="b43bac2f-065f-4dab-8869-567f51c0338e" providerId="ADAL" clId="{32976B86-9A01-5E05-BDB2-234D6247B540}" dt="2026-09-21T23:24:25.350" v="277" actId="20577"/>
          <ac:spMkLst>
            <pc:docMk/>
            <pc:sldMk cId="0" sldId="314"/>
            <ac:spMk id="160" creationId="{00000000-0000-0000-0000-000000000000}"/>
          </ac:spMkLst>
        </pc:spChg>
      </pc:sldChg>
      <pc:sldChg chg="modSp mod">
        <pc:chgData name="Steve France" userId="b43bac2f-065f-4dab-8869-567f51c0338e" providerId="ADAL" clId="{32976B86-9A01-5E05-BDB2-234D6247B540}" dt="2026-09-21T22:46:35.484" v="29" actId="27636"/>
        <pc:sldMkLst>
          <pc:docMk/>
          <pc:sldMk cId="0" sldId="315"/>
        </pc:sldMkLst>
        <pc:spChg chg="mod">
          <ac:chgData name="Steve France" userId="b43bac2f-065f-4dab-8869-567f51c0338e" providerId="ADAL" clId="{32976B86-9A01-5E05-BDB2-234D6247B540}" dt="2026-09-21T22:46:35.484" v="29" actId="27636"/>
          <ac:spMkLst>
            <pc:docMk/>
            <pc:sldMk cId="0" sldId="315"/>
            <ac:spMk id="2" creationId="{00000000-0000-0000-0000-000000000000}"/>
          </ac:spMkLst>
        </pc:spChg>
      </pc:sldChg>
      <pc:sldChg chg="modSp mod">
        <pc:chgData name="Steve France" userId="b43bac2f-065f-4dab-8869-567f51c0338e" providerId="ADAL" clId="{32976B86-9A01-5E05-BDB2-234D6247B540}" dt="2026-09-21T23:05:59.817" v="97" actId="20577"/>
        <pc:sldMkLst>
          <pc:docMk/>
          <pc:sldMk cId="0" sldId="322"/>
        </pc:sldMkLst>
        <pc:spChg chg="mod">
          <ac:chgData name="Steve France" userId="b43bac2f-065f-4dab-8869-567f51c0338e" providerId="ADAL" clId="{32976B86-9A01-5E05-BDB2-234D6247B540}" dt="2026-09-21T22:46:35.437" v="17" actId="27636"/>
          <ac:spMkLst>
            <pc:docMk/>
            <pc:sldMk cId="0" sldId="322"/>
            <ac:spMk id="2" creationId="{00000000-0000-0000-0000-000000000000}"/>
          </ac:spMkLst>
        </pc:spChg>
        <pc:spChg chg="mod">
          <ac:chgData name="Steve France" userId="b43bac2f-065f-4dab-8869-567f51c0338e" providerId="ADAL" clId="{32976B86-9A01-5E05-BDB2-234D6247B540}" dt="2026-09-21T23:05:31.409" v="92" actId="20577"/>
          <ac:spMkLst>
            <pc:docMk/>
            <pc:sldMk cId="0" sldId="322"/>
            <ac:spMk id="100" creationId="{00000000-0000-0000-0000-000000000000}"/>
          </ac:spMkLst>
        </pc:spChg>
        <pc:spChg chg="mod">
          <ac:chgData name="Steve France" userId="b43bac2f-065f-4dab-8869-567f51c0338e" providerId="ADAL" clId="{32976B86-9A01-5E05-BDB2-234D6247B540}" dt="2026-09-21T23:05:36.665" v="96" actId="20577"/>
          <ac:spMkLst>
            <pc:docMk/>
            <pc:sldMk cId="0" sldId="322"/>
            <ac:spMk id="121" creationId="{00000000-0000-0000-0000-000000000000}"/>
          </ac:spMkLst>
        </pc:spChg>
        <pc:spChg chg="mod">
          <ac:chgData name="Steve France" userId="b43bac2f-065f-4dab-8869-567f51c0338e" providerId="ADAL" clId="{32976B86-9A01-5E05-BDB2-234D6247B540}" dt="2026-09-21T23:05:59.817" v="97" actId="20577"/>
          <ac:spMkLst>
            <pc:docMk/>
            <pc:sldMk cId="0" sldId="322"/>
            <ac:spMk id="140" creationId="{00000000-0000-0000-0000-000000000000}"/>
          </ac:spMkLst>
        </pc:spChg>
      </pc:sldChg>
      <pc:sldChg chg="modSp mod">
        <pc:chgData name="Steve France" userId="b43bac2f-065f-4dab-8869-567f51c0338e" providerId="ADAL" clId="{32976B86-9A01-5E05-BDB2-234D6247B540}" dt="2026-09-21T23:00:14.811" v="87" actId="20577"/>
        <pc:sldMkLst>
          <pc:docMk/>
          <pc:sldMk cId="0" sldId="323"/>
        </pc:sldMkLst>
        <pc:spChg chg="mod">
          <ac:chgData name="Steve France" userId="b43bac2f-065f-4dab-8869-567f51c0338e" providerId="ADAL" clId="{32976B86-9A01-5E05-BDB2-234D6247B540}" dt="2026-09-21T22:46:35.409" v="10" actId="27636"/>
          <ac:spMkLst>
            <pc:docMk/>
            <pc:sldMk cId="0" sldId="323"/>
            <ac:spMk id="2"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0"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1"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2" creationId="{00000000-0000-0000-0000-000000000000}"/>
          </ac:spMkLst>
        </pc:spChg>
        <pc:spChg chg="mod">
          <ac:chgData name="Steve France" userId="b43bac2f-065f-4dab-8869-567f51c0338e" providerId="ADAL" clId="{32976B86-9A01-5E05-BDB2-234D6247B540}" dt="2026-09-21T23:00:14.811" v="87" actId="20577"/>
          <ac:spMkLst>
            <pc:docMk/>
            <pc:sldMk cId="0" sldId="323"/>
            <ac:spMk id="140" creationId="{00000000-0000-0000-0000-000000000000}"/>
          </ac:spMkLst>
        </pc:spChg>
      </pc:sldChg>
      <pc:sldChg chg="modSp mod">
        <pc:chgData name="Steve France" userId="b43bac2f-065f-4dab-8869-567f51c0338e" providerId="ADAL" clId="{32976B86-9A01-5E05-BDB2-234D6247B540}" dt="2026-09-21T23:00:01.005" v="83" actId="20577"/>
        <pc:sldMkLst>
          <pc:docMk/>
          <pc:sldMk cId="0" sldId="324"/>
        </pc:sldMkLst>
        <pc:spChg chg="mod">
          <ac:chgData name="Steve France" userId="b43bac2f-065f-4dab-8869-567f51c0338e" providerId="ADAL" clId="{32976B86-9A01-5E05-BDB2-234D6247B540}" dt="2026-09-21T22:46:35.425" v="14" actId="27636"/>
          <ac:spMkLst>
            <pc:docMk/>
            <pc:sldMk cId="0" sldId="324"/>
            <ac:spMk id="2"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0"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1"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2" creationId="{00000000-0000-0000-0000-000000000000}"/>
          </ac:spMkLst>
        </pc:spChg>
        <pc:spChg chg="mod">
          <ac:chgData name="Steve France" userId="b43bac2f-065f-4dab-8869-567f51c0338e" providerId="ADAL" clId="{32976B86-9A01-5E05-BDB2-234D6247B540}" dt="2026-09-21T23:00:01.005" v="83" actId="20577"/>
          <ac:spMkLst>
            <pc:docMk/>
            <pc:sldMk cId="0" sldId="324"/>
            <ac:spMk id="140" creationId="{00000000-0000-0000-0000-000000000000}"/>
          </ac:spMkLst>
        </pc:spChg>
      </pc:sldChg>
      <pc:sldChg chg="modSp mod">
        <pc:chgData name="Steve France" userId="b43bac2f-065f-4dab-8869-567f51c0338e" providerId="ADAL" clId="{32976B86-9A01-5E05-BDB2-234D6247B540}" dt="2026-09-21T23:11:00.375" v="187" actId="404"/>
        <pc:sldMkLst>
          <pc:docMk/>
          <pc:sldMk cId="0" sldId="325"/>
        </pc:sldMkLst>
        <pc:spChg chg="mod">
          <ac:chgData name="Steve France" userId="b43bac2f-065f-4dab-8869-567f51c0338e" providerId="ADAL" clId="{32976B86-9A01-5E05-BDB2-234D6247B540}" dt="2026-09-21T22:46:35.445" v="19" actId="27636"/>
          <ac:spMkLst>
            <pc:docMk/>
            <pc:sldMk cId="0" sldId="325"/>
            <ac:spMk id="2"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0"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1"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2" creationId="{00000000-0000-0000-0000-000000000000}"/>
          </ac:spMkLst>
        </pc:spChg>
      </pc:sldChg>
      <pc:sldChg chg="modSp mod">
        <pc:chgData name="Steve France" userId="b43bac2f-065f-4dab-8869-567f51c0338e" providerId="ADAL" clId="{32976B86-9A01-5E05-BDB2-234D6247B540}" dt="2026-09-21T22:46:35.453" v="21" actId="27636"/>
        <pc:sldMkLst>
          <pc:docMk/>
          <pc:sldMk cId="0" sldId="326"/>
        </pc:sldMkLst>
        <pc:spChg chg="mod">
          <ac:chgData name="Steve France" userId="b43bac2f-065f-4dab-8869-567f51c0338e" providerId="ADAL" clId="{32976B86-9A01-5E05-BDB2-234D6247B540}" dt="2026-09-21T22:46:35.453" v="21" actId="27636"/>
          <ac:spMkLst>
            <pc:docMk/>
            <pc:sldMk cId="0" sldId="326"/>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dirty="0"/>
          </a:p>
          <a:p>
            <a:r>
              <a:rPr lang="en-US" b="0" i="0" dirty="0"/>
              <a:t>• The spine on screen — claim, evidence, judgment, action — is the shape of the whole lecture and of the closing Assurance Case slide.</a:t>
            </a:r>
          </a:p>
          <a:p>
            <a:r>
              <a:rPr lang="en-US" b="0" i="0" dirty="0"/>
              <a:t>• Frame it as the lecture where every earlier design decision finally meets evidence.</a:t>
            </a:r>
          </a:p>
          <a:p>
            <a:r>
              <a:rPr lang="en-US" b="0" i="0" dirty="0"/>
              <a:t>• The action we care about today is delivery — but keep the fourth box general; later evidence can justify other actions.</a:t>
            </a:r>
          </a:p>
          <a:p>
            <a:endParaRPr lang="en-US" dirty="0"/>
          </a:p>
          <a:p>
            <a:r>
              <a:rPr lang="en-US" b="0" i="0" dirty="0"/>
              <a:t>=====</a:t>
            </a:r>
          </a:p>
          <a:p>
            <a:endParaRPr lang="en-US" dirty="0"/>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Plant the governing model early so the lecture has a destination.</a:t>
            </a:r>
          </a:p>
          <a:p>
            <a:endParaRPr lang="en-US" dirty="0"/>
          </a:p>
          <a:p>
            <a:r>
              <a:rPr lang="en-US" b="0" i="0" dirty="0"/>
              <a:t>• Build the spine one element at a time: CLAIM, EVIDENCE, JUDGMENT, ACTION — with the question each element answers.</a:t>
            </a:r>
          </a:p>
          <a:p>
            <a:r>
              <a:rPr lang="en-US" b="0" i="0" dirty="0"/>
              <a:t>• Name the term Assurance Case now; do not teach GSN or any notation. They need the idea, not the diagram language.</a:t>
            </a:r>
          </a:p>
          <a:p>
            <a:r>
              <a:rPr lang="en-US" b="0" i="0" dirty="0"/>
              <a:t>• Do NOT imply the only action is delivery. Delivery motivates the lecture, but evidence may justify gathering more, changing the system, revisiting upstream, or refusing.</a:t>
            </a:r>
          </a:p>
          <a:p>
            <a:r>
              <a:rPr lang="en-US" b="0" i="0" dirty="0"/>
              <a:t>• The footer promise is real — we return to this structure, populated with the payment example, on the final slide. Make the promise explicitly.</a:t>
            </a:r>
          </a:p>
          <a:p>
            <a:endParaRPr lang="en-US" dirty="0"/>
          </a:p>
          <a:p>
            <a:r>
              <a:rPr lang="en-US" b="0" i="0" dirty="0"/>
              <a:t>=====</a:t>
            </a:r>
          </a:p>
          <a:p>
            <a:endParaRPr lang="en-US" dirty="0"/>
          </a:p>
          <a:p>
            <a:r>
              <a:rPr lang="en-US" b="0" i="0" dirty="0"/>
              <a:t>Before any technique, here is the shape of the whole subject.</a:t>
            </a:r>
          </a:p>
          <a:p>
            <a:endParaRPr lang="en-US" dirty="0"/>
          </a:p>
          <a:p>
            <a:r>
              <a:rPr lang="en-US" b="0" i="0" dirty="0"/>
              <a:t>ANIMATE</a:t>
            </a:r>
          </a:p>
          <a:p>
            <a:endParaRPr lang="en-US" dirty="0"/>
          </a:p>
          <a:p>
            <a:r>
              <a:rPr lang="en-US" b="0" i="0" dirty="0"/>
              <a:t>A claim: what must be true?</a:t>
            </a:r>
          </a:p>
          <a:p>
            <a:endParaRPr lang="en-US" dirty="0"/>
          </a:p>
          <a:p>
            <a:r>
              <a:rPr lang="en-US" b="0" i="0" dirty="0"/>
              <a:t>ANIMATE</a:t>
            </a:r>
          </a:p>
          <a:p>
            <a:endParaRPr lang="en-US" dirty="0"/>
          </a:p>
          <a:p>
            <a:r>
              <a:rPr lang="en-US" b="0" i="0" dirty="0"/>
              <a:t>Evidence: what evidence bears on it?</a:t>
            </a:r>
          </a:p>
          <a:p>
            <a:endParaRPr lang="en-US" dirty="0"/>
          </a:p>
          <a:p>
            <a:r>
              <a:rPr lang="en-US" b="0" i="0" dirty="0"/>
              <a:t>ANIMATE</a:t>
            </a:r>
          </a:p>
          <a:p>
            <a:endParaRPr lang="en-US" dirty="0"/>
          </a:p>
          <a:p>
            <a:r>
              <a:rPr lang="en-US" b="0" i="0" dirty="0"/>
              <a:t>Judgment: how strong is that evidence — and is it enough?</a:t>
            </a:r>
          </a:p>
          <a:p>
            <a:endParaRPr lang="en-US" dirty="0"/>
          </a:p>
          <a:p>
            <a:r>
              <a:rPr lang="en-US" b="0" i="0" dirty="0"/>
              <a:t>ANIMATE</a:t>
            </a:r>
          </a:p>
          <a:p>
            <a:endParaRPr lang="en-US" dirty="0"/>
          </a:p>
          <a:p>
            <a:r>
              <a:rPr lang="en-US" b="0" i="0" dirty="0"/>
              <a:t>Action: what should we do?</a:t>
            </a:r>
          </a:p>
          <a:p>
            <a:endParaRPr lang="en-US" dirty="0"/>
          </a:p>
          <a:p>
            <a:r>
              <a:rPr lang="en-US" b="0" i="0" dirty="0"/>
              <a:t>ANIMATE</a:t>
            </a:r>
          </a:p>
          <a:p>
            <a:endParaRPr lang="en-US" dirty="0"/>
          </a:p>
          <a:p>
            <a:r>
              <a:rPr lang="en-US" b="0" i="0" dirty="0"/>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endParaRPr lang="en-US" dirty="0"/>
          </a:p>
          <a:p>
            <a:r>
              <a:rPr lang="en-US" b="0" i="0" dirty="0"/>
              <a:t>ANIMATE</a:t>
            </a:r>
          </a:p>
          <a:p>
            <a:endParaRPr lang="en-US" dirty="0"/>
          </a:p>
          <a:p>
            <a:r>
              <a:rPr lang="en-US" b="0" i="0" dirty="0"/>
              <a:t>One caution before we start: delivery is the action this lecture asks about, but it is not the only possible action. Evidence can send you back — to gather more, to change the system, to revisit an upstream decision, or to refuse.</a:t>
            </a:r>
          </a:p>
          <a:p>
            <a:r>
              <a:rPr lang="en-US" b="0" i="0" dirty="0"/>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dirty="0"/>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dirty="0"/>
          </a:p>
          <a:p>
            <a:r>
              <a:rPr lang="en-US" b="0" i="0" dirty="0"/>
              <a:t>=====</a:t>
            </a:r>
          </a:p>
          <a:p>
            <a:endParaRPr lang="en-US" dirty="0"/>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dirty="0"/>
          </a:p>
          <a:p>
            <a:r>
              <a:rPr lang="en-US" b="0" i="0" dirty="0"/>
              <a:t>ANIMATE</a:t>
            </a:r>
          </a:p>
          <a:p>
            <a:endParaRPr lang="en-US" dirty="0"/>
          </a:p>
          <a:p>
            <a:r>
              <a:rPr lang="en-US" b="0" i="0" dirty="0"/>
              <a:t>The TODO app occasionally loses a task — and destroys information a user depends on.</a:t>
            </a:r>
          </a:p>
          <a:p>
            <a:endParaRPr lang="en-US" dirty="0"/>
          </a:p>
          <a:p>
            <a:r>
              <a:rPr lang="en-US" b="0" i="0" dirty="0"/>
              <a:t>ANIMATE</a:t>
            </a:r>
          </a:p>
          <a:p>
            <a:endParaRPr lang="en-US" dirty="0"/>
          </a:p>
          <a:p>
            <a:r>
              <a:rPr lang="en-US" b="0" i="0" dirty="0"/>
              <a:t>The payroll system produces an incorrect transaction — money, trust, legal obligations.</a:t>
            </a:r>
          </a:p>
          <a:p>
            <a:endParaRPr lang="en-US" dirty="0"/>
          </a:p>
          <a:p>
            <a:r>
              <a:rPr lang="en-US" b="0" i="0" dirty="0"/>
              <a:t>ANIMATE</a:t>
            </a:r>
          </a:p>
          <a:p>
            <a:endParaRPr lang="en-US" dirty="0"/>
          </a:p>
          <a:p>
            <a:r>
              <a:rPr lang="en-US" b="0" i="0" dirty="0"/>
              <a:t>The X-ray controller delivers an incorrect dose — direct physical injury to the person in front of it.</a:t>
            </a:r>
          </a:p>
          <a:p>
            <a:endParaRPr lang="en-US" dirty="0"/>
          </a:p>
          <a:p>
            <a:r>
              <a:rPr lang="en-US" b="0" i="0" dirty="0"/>
              <a:t>ANIMATE</a:t>
            </a:r>
          </a:p>
          <a:p>
            <a:endParaRPr lang="en-US" dirty="0"/>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a decision under uncertainty, not a proof.</a:t>
            </a:r>
          </a:p>
          <a:p>
            <a:endParaRPr lang="en-US" dirty="0"/>
          </a:p>
          <a:p>
            <a:r>
              <a:rPr lang="en-US" b="0" i="0" dirty="0"/>
              <a:t>• Core move: validation supports a DECISION, not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dirty="0"/>
          </a:p>
          <a:p>
            <a:r>
              <a:rPr lang="en-US" b="0" i="0" dirty="0"/>
              <a:t>=====</a:t>
            </a:r>
          </a:p>
          <a:p>
            <a:endParaRPr lang="en-US" dirty="0"/>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Recover the chain of models — the left leg, earned before any V is drawn.</a:t>
            </a:r>
          </a:p>
          <a:p>
            <a:endParaRPr lang="en-US" dirty="0"/>
          </a:p>
          <a:p>
            <a:r>
              <a:rPr lang="en-US" b="0" i="0" dirty="0"/>
              <a:t>• Draw only this leg. There is no reason to draw a V yet — the right side has to be earned.</a:t>
            </a:r>
          </a:p>
          <a:p>
            <a:r>
              <a:rPr lang="en-US" b="0" i="0" dirty="0"/>
              <a:t>• The chain is the payoff of the previous four lectures, compressed.</a:t>
            </a:r>
          </a:p>
          <a:p>
            <a:r>
              <a:rPr lang="en-US" b="0" i="0" dirty="0"/>
              <a:t>• The running claim enters here, attached to the Specification: a submitted payment shall cause at most one charge. It stays on the board for the rest of the lecture.</a:t>
            </a:r>
          </a:p>
          <a:p>
            <a:r>
              <a:rPr lang="en-US" b="0" i="0" dirty="0"/>
              <a:t>• Validation does not invent consequential claims. It inherits them from the engineering models that led to the implementation.</a:t>
            </a:r>
          </a:p>
          <a:p>
            <a:r>
              <a:rPr lang="en-US" b="0" i="0" dirty="0"/>
              <a:t>• Levels are convenient, not a law: the middle refines as far as the engineering problem requires. The nadir is the Implementation.</a:t>
            </a:r>
          </a:p>
          <a:p>
            <a:endParaRPr lang="en-US" dirty="0"/>
          </a:p>
          <a:p>
            <a:r>
              <a:rPr lang="en-US" b="0" i="0" dirty="0"/>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rPr lang="en-US" b="0" i="0" dirty="0"/>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rPr lang="en-US" b="0" i="0" dirty="0"/>
              <a:t>=====</a:t>
            </a:r>
          </a:p>
          <a:p>
            <a:endParaRPr lang="en-US" dirty="0"/>
          </a:p>
          <a:p>
            <a:r>
              <a:rPr lang="en-US" b="0" i="0" dirty="0"/>
              <a:t>Before we can say where evidence attaches, we need the thing it attaches to. This is the chain you have been building all term.</a:t>
            </a:r>
          </a:p>
          <a:p>
            <a:endParaRPr lang="en-US" dirty="0"/>
          </a:p>
          <a:p>
            <a:r>
              <a:rPr lang="en-US" b="0" i="0" dirty="0"/>
              <a:t>ANIMATE</a:t>
            </a:r>
          </a:p>
          <a:p>
            <a:endParaRPr lang="en-US" dirty="0"/>
          </a:p>
          <a:p>
            <a:r>
              <a:rPr lang="en-US" b="0" i="0" dirty="0"/>
              <a:t>Requirements: what the world must get.</a:t>
            </a:r>
          </a:p>
          <a:p>
            <a:endParaRPr lang="en-US" dirty="0"/>
          </a:p>
          <a:p>
            <a:r>
              <a:rPr lang="en-US" b="0" i="0" dirty="0"/>
              <a:t>ANIMATE</a:t>
            </a:r>
          </a:p>
          <a:p>
            <a:endParaRPr lang="en-US" dirty="0"/>
          </a:p>
          <a:p>
            <a:r>
              <a:rPr lang="en-US" b="0" i="0" dirty="0"/>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endParaRPr lang="en-US" dirty="0"/>
          </a:p>
          <a:p>
            <a:r>
              <a:rPr lang="en-US" b="0" i="0" dirty="0"/>
              <a:t>ANIMATE</a:t>
            </a:r>
          </a:p>
          <a:p>
            <a:endParaRPr lang="en-US" dirty="0"/>
          </a:p>
          <a:p>
            <a:r>
              <a:rPr lang="en-US" b="0" i="0" dirty="0"/>
              <a:t>Architecture and design: how. And these refine —</a:t>
            </a:r>
          </a:p>
          <a:p>
            <a:endParaRPr lang="en-US" dirty="0"/>
          </a:p>
          <a:p>
            <a:r>
              <a:rPr lang="en-US" b="0" i="0" dirty="0"/>
              <a:t>ANIMATE</a:t>
            </a:r>
          </a:p>
          <a:p>
            <a:endParaRPr lang="en-US" dirty="0"/>
          </a:p>
          <a:p>
            <a:r>
              <a:rPr lang="en-US" b="0" i="0" dirty="0"/>
              <a:t>— system organization, subsystem, mechanism. The number of levels is not fixed by anything; you refine as far as the engineering problem requires.</a:t>
            </a:r>
          </a:p>
          <a:p>
            <a:endParaRPr lang="en-US" dirty="0"/>
          </a:p>
          <a:p>
            <a:r>
              <a:rPr lang="en-US" b="0" i="0" dirty="0"/>
              <a:t>ANIMATE</a:t>
            </a:r>
          </a:p>
          <a:p>
            <a:endParaRPr lang="en-US" dirty="0"/>
          </a:p>
          <a:p>
            <a:r>
              <a:rPr lang="en-US" b="0" i="0" dirty="0"/>
              <a:t>And the implementation: the machine you actually built.</a:t>
            </a:r>
          </a:p>
          <a:p>
            <a:endParaRPr lang="en-US" dirty="0"/>
          </a:p>
          <a:p>
            <a:r>
              <a:rPr lang="en-US" b="0" i="0" dirty="0"/>
              <a:t>ANIMATE</a:t>
            </a:r>
          </a:p>
          <a:p>
            <a:endParaRPr lang="en-US" dirty="0"/>
          </a:p>
          <a:p>
            <a:r>
              <a:rPr lang="en-US" b="0" i="0" dirty="0"/>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V is a summary of what we just derived — and the industry vocabulary names its scopes.</a:t>
            </a:r>
          </a:p>
          <a:p>
            <a:endParaRPr lang="en-US"/>
          </a:p>
          <a:p>
            <a:r>
              <a:rPr lang="en-US" b="0" i="0" dirty="0"/>
              <a:t>• Now — and only now — draw the right leg. The aha is that the V is a summary, not a doctrine.</a:t>
            </a:r>
          </a:p>
          <a:p>
            <a:r>
              <a:rPr lang="en-US" b="0" i="0" dirty="0"/>
              <a:t>• The dotted lines are the content: a property expressed at one modeling scope requires evidence capable of establishing it at the corresponding scope.</a:t>
            </a:r>
          </a:p>
          <a:p>
            <a:r>
              <a:rPr lang="en-US" b="0" i="0" dirty="0"/>
              <a:t>• Acceptance sits at the top of the right leg because it pairs with requirements.</a:t>
            </a:r>
          </a:p>
          <a:p>
            <a:r>
              <a:rPr lang="en-US" b="0" i="0" dirty="0"/>
              <a:t>• Then attach the conventional vocabulary — unit, integration, system, acceptance — to the concept they already hold. These words name SCOPES, not evidence mechanisms.</a:t>
            </a:r>
          </a:p>
          <a:p>
            <a:r>
              <a:rPr lang="en-US" b="0" i="0" dirty="0"/>
              <a:t>• Stress the relativity: your "unit" is somebody else's "system". Arguing about which word is correct is wasted time; the question underneath — where does this property live? — is not relative.</a:t>
            </a:r>
          </a:p>
          <a:p>
            <a:endParaRPr lang="en-US"/>
          </a:p>
          <a:p>
            <a:r>
              <a:rPr lang="en-US" b="0" i="0" dirty="0"/>
              <a:t>• (moved from slide) The scope definitions are now notes-only; say them as you point at the right leg: Unit — a chosen part in isolation. Integration — interactions among parts. System — the assembled system at a boundary. Acceptance — the delivered system achieving its purpose in the world. The left-leg glosses too: Requirements — world outcomes; Specification — machine obligations under environment assumptions; Architecture and design — progressively more precise engineering models, refined (system organization, subsystem, mechanism) as far as the problem requires.</a:t>
            </a:r>
          </a:p>
          <a:p>
            <a:r>
              <a:rPr lang="en-US" b="0" i="0" dirty="0"/>
              <a:t>=====</a:t>
            </a:r>
          </a:p>
          <a:p>
            <a:endParaRPr lang="en-US"/>
          </a:p>
          <a:p>
            <a:r>
              <a:rPr lang="en-US" b="0" i="0" dirty="0"/>
              <a:t>You have seen a V before, probably presented as a process. Watch where this one comes from. Left leg: the chain of models we recovered two slides ago. Nothing new.</a:t>
            </a:r>
          </a:p>
          <a:p>
            <a:endParaRPr lang="en-US"/>
          </a:p>
          <a:p>
            <a:r>
              <a:rPr lang="en-US" b="0" i="0" dirty="0"/>
              <a:t>ANIMATE</a:t>
            </a:r>
          </a:p>
          <a:p>
            <a:endParaRPr lang="en-US"/>
          </a:p>
          <a:p>
            <a:r>
              <a:rPr lang="en-US" b="0" i="0" dirty="0"/>
              <a:t>Now the right. World and acceptance evidence pair with requirements, because that is where the required outcome lives. Follow the dotted line: property at one scope, evidence at the matching scope.</a:t>
            </a:r>
          </a:p>
          <a:p>
            <a:endParaRPr lang="en-US"/>
          </a:p>
          <a:p>
            <a:r>
              <a:rPr lang="en-US" b="0" i="0" dirty="0"/>
              <a:t>ANIMATE</a:t>
            </a:r>
          </a:p>
          <a:p>
            <a:endParaRPr lang="en-US"/>
          </a:p>
          <a:p>
            <a:r>
              <a:rPr lang="en-US" b="0" i="0" dirty="0"/>
              <a:t>System evidence pairs with the specification — the machine's obligations at its boundary.</a:t>
            </a:r>
          </a:p>
          <a:p>
            <a:endParaRPr lang="en-US"/>
          </a:p>
          <a:p>
            <a:r>
              <a:rPr lang="en-US" b="0" i="0" dirty="0"/>
              <a:t>ANIMATE</a:t>
            </a:r>
          </a:p>
          <a:p>
            <a:endParaRPr lang="en-US"/>
          </a:p>
          <a:p>
            <a:r>
              <a:rPr lang="en-US" b="0" i="0" dirty="0"/>
              <a:t>Composition, or integration, evidence pairs with the architecture: the parts and their interactions.</a:t>
            </a:r>
          </a:p>
          <a:p>
            <a:endParaRPr lang="en-US"/>
          </a:p>
          <a:p>
            <a:r>
              <a:rPr lang="en-US" b="0" i="0" dirty="0"/>
              <a:t>ANIMATE</a:t>
            </a:r>
          </a:p>
          <a:p>
            <a:endParaRPr lang="en-US"/>
          </a:p>
          <a:p>
            <a:r>
              <a:rPr lang="en-US" b="0" i="0" dirty="0"/>
              <a:t>Local, or unit, evidence pairs with the mechanism and the implementation.</a:t>
            </a:r>
          </a:p>
          <a:p>
            <a:r>
              <a:rPr lang="en-US" b="0" i="0" dirty="0"/>
              <a:t>The V is not a development process anybody has to follow. It is a summary of a relationship we derived: each model has a scope at which its claims can actually be checked.</a:t>
            </a:r>
          </a:p>
          <a:p>
            <a:endParaRPr lang="en-US"/>
          </a:p>
          <a:p>
            <a:r>
              <a:rPr lang="en-US" b="0" i="0" dirty="0"/>
              <a:t>ANIMATE</a:t>
            </a:r>
          </a:p>
          <a:p>
            <a:endParaRPr lang="en-US"/>
          </a:p>
          <a:p>
            <a:r>
              <a:rPr lang="en-US" b="0" i="0" dirty="0"/>
              <a:t>And now the vocabulary you will hear constantly, attached to a concept you already hold. Unit: a chosen part in isolation. Integration: interactions among parts. System: the assembled system at a boundary. Acceptance: the delivered system achieving its purpose in the world.</a:t>
            </a:r>
          </a:p>
          <a:p>
            <a:r>
              <a:rPr lang="en-US" b="0" i="0" dirty="0"/>
              <a:t>Two cautions. These words are relative — your team's unit is, from inside, a system with its own architecture. And they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dirty="0"/>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dirty="0"/>
          </a:p>
          <a:p>
            <a:r>
              <a:rPr lang="en-US" b="0" i="0" dirty="0"/>
              <a:t>=====</a:t>
            </a:r>
          </a:p>
          <a:p>
            <a:endParaRPr lang="en-US" dirty="0"/>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dirty="0"/>
          </a:p>
          <a:p>
            <a:r>
              <a:rPr lang="en-US" b="0" i="0" dirty="0"/>
              <a:t>ANIMATE</a:t>
            </a:r>
          </a:p>
          <a:p>
            <a:endParaRPr lang="en-US" dirty="0"/>
          </a:p>
          <a:p>
            <a:r>
              <a:rPr lang="en-US" b="0" i="0" dirty="0"/>
              <a:t>Twelve artifacts and one defect is already hard. Now scale the axis: ten thousand artifacts. What is the detection rate, and who is doing the looking?</a:t>
            </a:r>
          </a:p>
          <a:p>
            <a:endParaRPr lang="en-US" dirty="0"/>
          </a:p>
          <a:p>
            <a:r>
              <a:rPr lang="en-US" b="0" i="0" dirty="0"/>
              <a:t>ANIMATE</a:t>
            </a:r>
          </a:p>
          <a:p>
            <a:endParaRPr lang="en-US" dirty="0"/>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dirty="0"/>
          </a:p>
          <a:p>
            <a:r>
              <a:rPr lang="en-US" b="0" i="0" dirty="0"/>
              <a:t>ANIMATE</a:t>
            </a:r>
          </a:p>
          <a:p>
            <a:endParaRPr lang="en-US" dirty="0"/>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common idea behind static analysis and model checking.</a:t>
            </a:r>
          </a:p>
          <a:p>
            <a:endParaRPr lang="en-US" dirty="0"/>
          </a:p>
          <a:p>
            <a:r>
              <a:rPr lang="en-US" b="0" i="0" dirty="0"/>
              <a:t>• Land the central contrast first: observe selected executions versus reason over a representation of possible executions. Sampling versus reasoning.</a:t>
            </a:r>
          </a:p>
          <a:p>
            <a:r>
              <a:rPr lang="en-US" b="0" i="0" dirty="0"/>
              <a:t>• Then the choices every formal technique makes: the representation, which behaviors it includes, the property, the assumptions, the bounds or approximations. Those choices ARE the technique.</a:t>
            </a:r>
          </a:p>
          <a:p>
            <a:r>
              <a:rPr lang="en-US" b="0" i="0" dirty="0"/>
              <a:t>• Introduce the two techniques that follow: abstract static analysis reasons over an abstraction; model checking searches behaviors admitted by an explicit model, often within explicit bounds.</a:t>
            </a:r>
          </a:p>
          <a:p>
            <a:r>
              <a:rPr lang="en-US" b="0" i="0" dirty="0"/>
              <a:t>• Do not present this as a rigid taxonomy of all formal methods. It is a conceptual comparison for this course.</a:t>
            </a:r>
          </a:p>
          <a:p>
            <a:endParaRPr lang="en-US" dirty="0"/>
          </a:p>
          <a:p>
            <a:r>
              <a:rPr lang="en-US" b="0" i="0" dirty="0"/>
              <a:t>=====</a:t>
            </a:r>
          </a:p>
          <a:p>
            <a:endParaRPr lang="en-US" dirty="0"/>
          </a:p>
          <a:p>
            <a:r>
              <a:rPr lang="en-US" b="0" i="0" dirty="0"/>
              <a:t>Everything on the observation side of the map shares one limit: you learn about the runs you performed. This category makes the other move: reason about what the software COULD do, without running each case.</a:t>
            </a:r>
          </a:p>
          <a:p>
            <a:endParaRPr lang="en-US" dirty="0"/>
          </a:p>
          <a:p>
            <a:r>
              <a:rPr lang="en-US" b="0" i="0" dirty="0"/>
              <a:t>ANIMATE</a:t>
            </a:r>
          </a:p>
          <a:p>
            <a:endParaRPr lang="en-US" dirty="0"/>
          </a:p>
          <a:p>
            <a:r>
              <a:rPr lang="en-US" b="0" i="0" dirty="0"/>
              <a:t>Observe selected executions — versus reason over a representation of possible executions. That contrast is the whole category.</a:t>
            </a:r>
          </a:p>
          <a:p>
            <a:endParaRPr lang="en-US" dirty="0"/>
          </a:p>
          <a:p>
            <a:r>
              <a:rPr lang="en-US" b="0" i="0" dirty="0"/>
              <a:t>ANIMATE</a:t>
            </a:r>
          </a:p>
          <a:p>
            <a:endParaRPr lang="en-US" dirty="0"/>
          </a:p>
          <a:p>
            <a:r>
              <a:rPr lang="en-US" b="0" i="0" dirty="0"/>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endParaRPr lang="en-US" dirty="0"/>
          </a:p>
          <a:p>
            <a:r>
              <a:rPr lang="en-US" b="0" i="0" dirty="0"/>
              <a:t>ANIMATE</a:t>
            </a:r>
          </a:p>
          <a:p>
            <a:endParaRPr lang="en-US" dirty="0"/>
          </a:p>
          <a:p>
            <a:r>
              <a:rPr lang="en-US" b="0" i="0" dirty="0"/>
              <a:t>Two techniques for this course. Abstract static analysis: reason over an abstraction of possible program behavior. Model checking: search the behaviors an explicit model admits, often up to a stated bound. One each, next two slides.</a:t>
            </a:r>
          </a:p>
          <a:p>
            <a:endParaRPr lang="en-US" dirty="0"/>
          </a:p>
          <a:p>
            <a:r>
              <a:rPr lang="en-US" b="0" i="0" dirty="0"/>
              <a:t>ANIMATE</a:t>
            </a:r>
          </a:p>
          <a:p>
            <a:endParaRPr lang="en-US" dirty="0"/>
          </a:p>
          <a:p>
            <a:r>
              <a:rPr lang="en-US" b="0" i="0" dirty="0"/>
              <a:t>This is not a rigid taxonomy of all formal methods — it is the conceptual comparison an undergraduate needs: reasoning over possible behavior buys evidence about every behavior the representation includes, and nothing outside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dirty="0"/>
          </a:p>
          <a:p>
            <a:r>
              <a:rPr lang="en-US" b="0" i="0" dirty="0"/>
              <a:t>• TEACHING OBJECTIVE (specific): after this slide a sophomore should be able to say “instead of running x=1, x=2, x=3…, the analyzer represents SETS of possible values and propagates those possibilities through the program.” That intuition must land BEFORE soundness, false positives, or abstraction loss — those come on the next slide.</a:t>
            </a:r>
          </a:p>
          <a:p>
            <a:r>
              <a:rPr lang="en-US" b="0" i="0" dirty="0"/>
              <a:t>• Contrast with testing first: dynamic testing chooses particular values of x and runs them; each run answers for one value. The analyzer never runs the program.</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dirty="0"/>
          </a:p>
          <a:p>
            <a:r>
              <a:rPr lang="en-US" b="0" i="0" dirty="0"/>
              <a:t>=====</a:t>
            </a:r>
          </a:p>
          <a:p>
            <a:endParaRPr lang="en-US" dirty="0"/>
          </a:p>
          <a:p>
            <a:r>
              <a:rPr lang="en-US" b="0" i="0" dirty="0"/>
              <a:t>Four lines of code, and one consequential question: can charge ever see an amount above the limit? Real money again.</a:t>
            </a:r>
          </a:p>
          <a:p>
            <a:r>
              <a:rPr lang="en-US" b="0" i="0" dirty="0"/>
              <a:t>How would you convince yourself? You could run it — x = 100, x = 1,000,000, the limit exactly. Each run answers for one value. There are a lot of values.</a:t>
            </a:r>
          </a:p>
          <a:p>
            <a:r>
              <a:rPr lang="en-US" b="0" i="0" dirty="0"/>
              <a:t>The analyzer makes a different move. It never runs the program. It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Instead of running x equals one, two, three, we represented sets of possible values and propagated those possibilities through the program. That is static analysis. What this breadth costs — next slide.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The properties, now that the mechanism is felt: the abstraction determines what the analysis can establish.</a:t>
            </a:r>
          </a:p>
          <a:p>
            <a:endParaRPr lang="en-US" dirty="0"/>
          </a:p>
          <a:p>
            <a:r>
              <a:rPr lang="en-US" b="0" i="0" dirty="0"/>
              <a:t>• The previous slide showed the move; this one shows its price. Do NOT expand into a formal-methods lecture on soundness and completeness — the goal is only that students understand why the technique reasons broadly and why that breadth costs precision.</a:t>
            </a:r>
          </a:p>
          <a:p>
            <a:r>
              <a:rPr lang="en-US" b="0" i="0" dirty="0"/>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rPr lang="en-US" b="0" i="0" dirty="0"/>
              <a:t>• Then the picture: real program behaviors, abstracted into the possible behaviors the analyzer sees. A conservative abstraction may include behaviors the real system cannot exhibit — that surplus is where false positives live.</a:t>
            </a:r>
          </a:p>
          <a:p>
            <a:r>
              <a:rPr lang="en-US" b="0" i="0" dirty="0"/>
              <a:t>• The guarantee, said carefully and with the qualifier every time: sound FOR THE MODELED PROPERTY — a real violation the abstraction represents is not silently discarded, but impossible violations may also be reported.</a:t>
            </a:r>
          </a:p>
          <a:p>
            <a:r>
              <a:rPr lang="en-US" b="0" i="0" dirty="0"/>
              <a:t>• The closer is now a CLASS QUESTION — what can we conclude about the real program from what we proved about the abstraction? Do NOT animate an answer; let it actually be a question. It forces reasoning about the mapping between abstraction and reality.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endParaRPr lang="en-US" dirty="0"/>
          </a:p>
          <a:p>
            <a:r>
              <a:rPr lang="en-US" b="0" i="0" dirty="0"/>
              <a:t>=====</a:t>
            </a:r>
          </a:p>
          <a:p>
            <a:endParaRPr lang="en-US" dirty="0"/>
          </a:p>
          <a:p>
            <a:r>
              <a:rPr lang="en-US" b="0" i="0" dirty="0"/>
              <a:t>You now know the move. Here is the bill.</a:t>
            </a:r>
          </a:p>
          <a:p>
            <a:r>
              <a:rPr lang="en-US" b="0" i="0" dirty="0"/>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r>
              <a:rPr lang="en-US" b="0" i="0" dirty="0"/>
              <a:t>ANIMATE</a:t>
            </a:r>
          </a:p>
          <a:p>
            <a:r>
              <a:rPr lang="en-US" b="0" i="0" dirty="0"/>
              <a:t>Here is the same fact as a picture. The real program has some set of behaviors. The abstraction hands the analyzer a larger, simpler set that contains it. Everything the analyzer establishes, it establishes for the larger set — which is why its guarantees cover every real behavior. And some of what it reports lives in the surplus: behaviors the real system cannot exhibit.</a:t>
            </a:r>
          </a:p>
          <a:p>
            <a:r>
              <a:rPr lang="en-US" b="0" i="0" dirty="0"/>
              <a:t>ANIMATE</a:t>
            </a:r>
          </a:p>
          <a:p>
            <a:r>
              <a:rPr lang="en-US" b="0" i="0" dirty="0"/>
              <a:t>A conservative abstraction may include behaviors the real system cannot exhibit. That sentence is the whole economics of static analysis.</a:t>
            </a:r>
          </a:p>
          <a:p>
            <a:r>
              <a:rPr lang="en-US" b="0" i="0" dirty="0"/>
              <a:t>ANIMATE</a:t>
            </a:r>
          </a:p>
          <a:p>
            <a:r>
              <a:rPr lang="en-US" b="0" i="0" dirty="0"/>
              <a:t>Said precisely: sound for the modeled property. A real violation the abstraction represents is not silently discarded. Impossible violations may also be reported. Both halves come from the same place — the breadth of the abstraction.</a:t>
            </a:r>
          </a:p>
          <a:p>
            <a:r>
              <a:rPr lang="en-US" b="0" i="0" dirty="0"/>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Model checking: search the modeled behaviors; "no counterexample up to k" is precise, and it is not correctness.</a:t>
            </a:r>
          </a:p>
          <a:p>
            <a:endParaRPr lang="en-US" dirty="0"/>
          </a:p>
          <a:p>
            <a:r>
              <a:rPr lang="en-US" b="0" i="0" dirty="0"/>
              <a:t>• One assertion: balance never negative. Testing tries selected sequences — did one violate it? Model checking asks: is there ANY behavior admitted by the model, within the stated bound, that violates it?</a:t>
            </a:r>
          </a:p>
          <a:p>
            <a:r>
              <a:rPr lang="en-US" b="0" i="0" dirty="0"/>
              <a:t>• The YES branch is the useful one in practice: a counterexample trace is exact and reproducible by construction.</a:t>
            </a:r>
          </a:p>
          <a:p>
            <a:r>
              <a:rPr lang="en-US" b="0" i="0" dirty="0"/>
              <a:t>• Say the NO branch's qualification in full, every time: no violation within the modeled behaviors and that bound.</a:t>
            </a:r>
          </a:p>
          <a:p>
            <a:r>
              <a:rPr lang="en-US" b="0" i="0" dirty="0"/>
              <a:t>• The model, property, assumptions, semantics, and bound are all part of the claim. If someone says "formally verified" and cannot state those, they have not stated a result.</a:t>
            </a:r>
          </a:p>
          <a:p>
            <a:r>
              <a:rPr lang="en-US" b="0" i="0" dirty="0"/>
              <a:t>• The closer is now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a:t>
            </a:r>
          </a:p>
          <a:p>
            <a:r>
              <a:rPr lang="en-US" b="0" i="0" dirty="0"/>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endParaRPr lang="en-US" dirty="0"/>
          </a:p>
          <a:p>
            <a:r>
              <a:rPr lang="en-US" b="0" i="0" dirty="0"/>
              <a:t>=====</a:t>
            </a:r>
          </a:p>
          <a:p>
            <a:endParaRPr lang="en-US" dirty="0"/>
          </a:p>
          <a:p>
            <a:r>
              <a:rPr lang="en-US" b="0" i="0" dirty="0"/>
              <a:t>One assertion: balance is never negative. Ordinary testing tries some sequences of deposits and withdrawals and asks whether we happened to see it fail.</a:t>
            </a:r>
          </a:p>
          <a:p>
            <a:r>
              <a:rPr lang="en-US" b="0" i="0" dirty="0"/>
              <a:t>Model checking asks a different question: is there ANY sequence of choices the model admits, up to depth k, that makes it fail?</a:t>
            </a:r>
          </a:p>
          <a:p>
            <a:endParaRPr lang="en-US" dirty="0"/>
          </a:p>
          <a:p>
            <a:r>
              <a:rPr lang="en-US" b="0" i="0" dirty="0"/>
              <a:t>ANIMATE</a:t>
            </a:r>
          </a:p>
          <a:p>
            <a:endParaRPr lang="en-US" dirty="0"/>
          </a:p>
          <a:p>
            <a:r>
              <a:rPr lang="en-US" b="0" i="0" dirty="0"/>
              <a:t>Yes gives you a counterexample trace — the exact sequence of choices that breaks it. That is the single most useful artifact in this lecture, because it is reproducible by construction.</a:t>
            </a:r>
          </a:p>
          <a:p>
            <a:r>
              <a:rPr lang="en-US" b="0" i="0" dirty="0"/>
              <a:t>No gives you: no violation up to k, within the modeled behaviors and that bound. Say the whole sentence. It is a precise and valuable claim, and it is not "the program is correct."</a:t>
            </a:r>
          </a:p>
          <a:p>
            <a:endParaRPr lang="en-US" dirty="0"/>
          </a:p>
          <a:p>
            <a:r>
              <a:rPr lang="en-US" b="0" i="0" dirty="0"/>
              <a:t>ANIMATE</a:t>
            </a:r>
          </a:p>
          <a:p>
            <a:endParaRPr lang="en-US" dirty="0"/>
          </a:p>
          <a:p>
            <a:r>
              <a:rPr lang="en-US" b="0" i="0" dirty="0"/>
              <a:t>The model, the property, the assumptions, the semantics, and the bound are all part of the claim. Someone who says "formally verified" and cannot tell you those five things has not told you a result.</a:t>
            </a:r>
          </a:p>
          <a:p>
            <a:endParaRPr lang="en-US" dirty="0"/>
          </a:p>
          <a:p>
            <a:r>
              <a:rPr lang="en-US" b="0" i="0" dirty="0"/>
              <a:t>ANIMATE</a:t>
            </a:r>
          </a:p>
          <a:p>
            <a:endParaRPr lang="en-US" dirty="0"/>
          </a:p>
          <a:p>
            <a:r>
              <a:rPr lang="en-US" b="0" i="0" dirty="0"/>
              <a:t>And 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r>
              <a:rPr lang="en-US" b="0" i="0" dirty="0"/>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Observing execution: the flow, the fidelity dimension, and the coverage TPS.</a:t>
            </a:r>
          </a:p>
          <a:p>
            <a:endParaRPr lang="en-US" dirty="0"/>
          </a:p>
          <a:p>
            <a:r>
              <a:rPr lang="en-US" b="0" i="0" dirty="0"/>
              <a:t>• The four-step flow first: choose inputs, run, observe, oracle. Everybody in the room has done all four.</a:t>
            </a:r>
          </a:p>
          <a:p>
            <a:r>
              <a:rPr lang="en-US" b="0" i="0" dirty="0"/>
              <a:t>• Then the environmental-fidelity dimension: engineers routinely simulate parts of the environment — localhost servers, filesystem-backed queues, simulated services, generated workloads, controlled failure injection.</a:t>
            </a:r>
          </a:p>
          <a:p>
            <a:r>
              <a:rPr lang="en-US" b="0" i="0" dirty="0"/>
              <a:t>• The continuum: more simulated to more real. Simulation buys speed, repeatability, controllability, cost. Fidelity buys evidence about actual delivery conditions. Evidence inherits the differences — this foreshadows representativeness in the evidence-strength section.</a:t>
            </a:r>
          </a:p>
          <a:p>
            <a:r>
              <a:rPr lang="en-US" b="0" i="0" dirty="0"/>
              <a:t>• Then the TPS. Hand them the 100% coverage result and ask what it licenses. Let pairs run about ninety seconds; take three or four answers. Expected: "every line ran", "every branch went both ways", and — from somebody — "so it's tested." That third one is the misconception.</a:t>
            </a:r>
          </a:p>
          <a:p>
            <a:r>
              <a:rPr lang="en-US" b="0" i="0" dirty="0"/>
              <a:t>• Stop collecting the moment someone says "but it doesn't mean it's right" — that is the debrief cue.</a:t>
            </a:r>
          </a:p>
          <a:p>
            <a:r>
              <a:rPr lang="en-US" b="0" i="0" dirty="0"/>
              <a:t>• Debrief into the closer, which is now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endParaRPr lang="en-US" dirty="0"/>
          </a:p>
          <a:p>
            <a:r>
              <a:rPr lang="en-US" b="0" i="0" dirty="0"/>
              <a:t>=====</a:t>
            </a:r>
          </a:p>
          <a:p>
            <a:endParaRPr lang="en-US" dirty="0"/>
          </a:p>
          <a:p>
            <a:r>
              <a:rPr lang="en-US" b="0" i="0" dirty="0"/>
              <a:t>Run the software and observe what happens. Four steps: choose inputs, run, observe the behavior, compare against an oracle. Everyone here has done all four.</a:t>
            </a:r>
          </a:p>
          <a:p>
            <a:endParaRPr lang="en-US" dirty="0"/>
          </a:p>
          <a:p>
            <a:r>
              <a:rPr lang="en-US" b="0" i="0" dirty="0"/>
              <a:t>ANIMATE</a:t>
            </a:r>
          </a:p>
          <a:p>
            <a:endParaRPr lang="en-US" dirty="0"/>
          </a:p>
          <a:p>
            <a:r>
              <a:rPr lang="en-US" b="0" i="0" dirty="0"/>
              <a:t>Now the dimension people forget: testing need not execute in the actual delivery environment. We substitute constantly — the network becomes servers on localhost, the message queue becomes a filesystem, the external service becomes a local simulation, the workload is generated, failures and time are injected on demand.</a:t>
            </a:r>
          </a:p>
          <a:p>
            <a:endParaRPr lang="en-US" dirty="0"/>
          </a:p>
          <a:p>
            <a:r>
              <a:rPr lang="en-US" b="0" i="0" dirty="0"/>
              <a:t>ANIMATE</a:t>
            </a:r>
          </a:p>
          <a:p>
            <a:endParaRPr lang="en-US" dirty="0"/>
          </a:p>
          <a:p>
            <a:r>
              <a:rPr lang="en-US" b="0" i="0" dirty="0"/>
              <a:t>That is a trade. Simulation buys speed, repeatability, controllability, and cost. Fidelity buys the thing simulation cannot: evidence about behavior under the actual delivery conditions.</a:t>
            </a:r>
          </a:p>
          <a:p>
            <a:endParaRPr lang="en-US" dirty="0"/>
          </a:p>
          <a:p>
            <a:r>
              <a:rPr lang="en-US" b="0" i="0" dirty="0"/>
              <a:t>ANIMATE</a:t>
            </a:r>
          </a:p>
          <a:p>
            <a:endParaRPr lang="en-US" dirty="0"/>
          </a:p>
          <a:p>
            <a:r>
              <a:rPr lang="en-US" b="0" i="0" dirty="0"/>
              <a:t>So place any test you run on this continuum — and remember the price: the evidence inherits the differences between the simulated environment and the real one. We will meet this again as representativeness.</a:t>
            </a:r>
          </a:p>
          <a:p>
            <a:endParaRPr lang="en-US" dirty="0"/>
          </a:p>
          <a:p>
            <a:r>
              <a:rPr lang="en-US" b="0" i="0" dirty="0"/>
              <a:t>ANIMATE</a:t>
            </a:r>
          </a:p>
          <a:p>
            <a:endParaRPr lang="en-US" dirty="0"/>
          </a:p>
          <a:p>
            <a:r>
              <a:rPr lang="en-US" b="0" i="0" dirty="0"/>
              <a:t>Now — think, pair, share. Statement and condition coverage both reached 100 percent. What have we established, and what have we not? Ninety seconds.</a:t>
            </a:r>
          </a:p>
          <a:p>
            <a:r>
              <a:rPr lang="en-US" b="0" i="0" dirty="0"/>
              <a:t>Take answers. Every line ran. Every branch went both ways. And — someone will say it — "so it's tested." Push once: does a line running tell you anything checked what it did? Stop the moment someone says "it doesn't mean it's right."</a:t>
            </a:r>
          </a:p>
          <a:p>
            <a:endParaRPr lang="en-US" dirty="0"/>
          </a:p>
          <a:p>
            <a:r>
              <a:rPr lang="en-US" b="0" i="0" dirty="0"/>
              <a:t>ANIMATE</a:t>
            </a:r>
          </a:p>
          <a:p>
            <a:endParaRPr lang="en-US" dirty="0"/>
          </a:p>
          <a:p>
            <a:r>
              <a:rPr lang="en-US" b="0" i="0" dirty="0"/>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metamorphic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dirty="0"/>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dirty="0"/>
          </a:p>
          <a:p>
            <a:r>
              <a:rPr lang="en-US" b="0" i="0" dirty="0"/>
              <a:t>=====</a:t>
            </a:r>
          </a:p>
          <a:p>
            <a:endParaRPr lang="en-US" dirty="0"/>
          </a:p>
          <a:p>
            <a:r>
              <a:rPr lang="en-US" b="0" i="0" dirty="0"/>
              <a:t>Testing has two halves and they do not cost the same.</a:t>
            </a:r>
          </a:p>
          <a:p>
            <a:endParaRPr lang="en-US" dirty="0"/>
          </a:p>
          <a:p>
            <a:r>
              <a:rPr lang="en-US" b="0" i="0" dirty="0"/>
              <a:t>ANIMATE</a:t>
            </a:r>
          </a:p>
          <a:p>
            <a:endParaRPr lang="en-US" dirty="0"/>
          </a:p>
          <a:p>
            <a:r>
              <a:rPr lang="en-US" b="0" i="0" dirty="0"/>
              <a:t>An input, run it, an output. Generating an execution is often cheap — sometimes nearly free.</a:t>
            </a:r>
          </a:p>
          <a:p>
            <a:endParaRPr lang="en-US" dirty="0"/>
          </a:p>
          <a:p>
            <a:r>
              <a:rPr lang="en-US" b="0" i="0" dirty="0"/>
              <a:t>ANIMATE</a:t>
            </a:r>
          </a:p>
          <a:p>
            <a:endParaRPr lang="en-US" dirty="0"/>
          </a:p>
          <a:p>
            <a:r>
              <a:rPr lang="en-US" b="0" i="0" dirty="0"/>
              <a:t>And then: is it correct? That is the oracle, and that is the hard part.</a:t>
            </a:r>
          </a:p>
          <a:p>
            <a:endParaRPr lang="en-US" dirty="0"/>
          </a:p>
          <a:p>
            <a:r>
              <a:rPr lang="en-US" b="0" i="0" dirty="0"/>
              <a:t>ANIMATE</a:t>
            </a:r>
          </a:p>
          <a:p>
            <a:endParaRPr lang="en-US" dirty="0"/>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dirty="0"/>
          </a:p>
          <a:p>
            <a:r>
              <a:rPr lang="en-US" b="0" i="0" dirty="0"/>
              <a:t>ANIMATE</a:t>
            </a:r>
          </a:p>
          <a:p>
            <a:endParaRPr lang="en-US" dirty="0"/>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From known answers to known properties: spend the time on the move.</a:t>
            </a:r>
          </a:p>
          <a:p>
            <a:endParaRPr lang="en-US" dirty="0"/>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dirty="0"/>
          </a:p>
          <a:p>
            <a:r>
              <a:rPr lang="en-US" b="0" i="0" dirty="0"/>
              <a:t>=====</a:t>
            </a:r>
          </a:p>
          <a:p>
            <a:endParaRPr lang="en-US" dirty="0"/>
          </a:p>
          <a:p>
            <a:r>
              <a:rPr lang="en-US" b="0" i="0" dirty="0"/>
              <a:t>Two strategies, one slide, because the second is best understood as a move away from the first.</a:t>
            </a:r>
          </a:p>
          <a:p>
            <a:endParaRPr lang="en-US" dirty="0"/>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dirty="0"/>
          </a:p>
          <a:p>
            <a:r>
              <a:rPr lang="en-US" b="0" i="0" dirty="0"/>
              <a:t>ANIMATE</a:t>
            </a:r>
          </a:p>
          <a:p>
            <a:endParaRPr lang="en-US" dirty="0"/>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dirty="0"/>
          </a:p>
          <a:p>
            <a:r>
              <a:rPr lang="en-US" b="0" i="0" dirty="0"/>
              <a:t>ANIMATE</a:t>
            </a:r>
          </a:p>
          <a:p>
            <a:endParaRPr lang="en-US" dirty="0"/>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Metamorphic testing: state how answers must relate when you cannot state the answer.</a:t>
            </a:r>
          </a:p>
          <a:p>
            <a:endParaRPr lang="en-US" dirty="0"/>
          </a:p>
          <a:p>
            <a:r>
              <a:rPr lang="en-US" b="0" i="0" dirty="0"/>
              <a:t>• The hardest of the strategies to grasp from prose, and the easiest from the figure. Walk the two rows out loud.</a:t>
            </a:r>
          </a:p>
          <a:p>
            <a:r>
              <a:rPr lang="en-US" b="0" i="0" dirty="0"/>
              <a:t>• Expect that it does NOT land on the first pass. Build the figure, then do the sort example slowly, then give a second example. Do not move on at the first nod.</a:t>
            </a:r>
          </a:p>
          <a:p>
            <a:r>
              <a:rPr lang="en-US" b="0" i="0" dirty="0"/>
              <a:t>• T is a transformation of the input; R is the relation the outputs must satisfy.</a:t>
            </a:r>
          </a:p>
          <a:p>
            <a:r>
              <a:rPr lang="en-US" b="0" i="0" dirty="0"/>
              <a:t>• Payment version: submitting the same payment ID twice must leave the account in the same state as submitting it once.</a:t>
            </a:r>
          </a:p>
          <a:p>
            <a:r>
              <a:rPr lang="en-US" b="0" i="0" dirty="0"/>
              <a:t>• Other classics: a search engine given a narrower query must not return more results; scaling every input scales the total.</a:t>
            </a:r>
          </a:p>
          <a:p>
            <a:r>
              <a:rPr lang="en-US" b="0" i="0" dirty="0"/>
              <a:t>• Land the trick explicitly: we never computed the right answer — the relation did the oracle's job.</a:t>
            </a:r>
          </a:p>
          <a:p>
            <a:endParaRPr lang="en-US" dirty="0"/>
          </a:p>
          <a:p>
            <a:r>
              <a:rPr lang="en-US" b="0" i="0" dirty="0"/>
              <a:t>=====</a:t>
            </a:r>
          </a:p>
          <a:p>
            <a:endParaRPr lang="en-US" dirty="0"/>
          </a:p>
          <a:p>
            <a:r>
              <a:rPr lang="en-US" b="0" i="0" dirty="0"/>
              <a:t>This is the one that does not land the first time. Slow down and build it.</a:t>
            </a:r>
          </a:p>
          <a:p>
            <a:endParaRPr lang="en-US" dirty="0"/>
          </a:p>
          <a:p>
            <a:r>
              <a:rPr lang="en-US" b="0" i="0" dirty="0"/>
              <a:t>ANIMATE</a:t>
            </a:r>
          </a:p>
          <a:p>
            <a:endParaRPr lang="en-US" dirty="0"/>
          </a:p>
          <a:p>
            <a:r>
              <a:rPr lang="en-US" b="0" i="0" dirty="0"/>
              <a:t>Top row: an input x, run f, get y. Ordinary execution — and we do not know whether y is right.</a:t>
            </a:r>
          </a:p>
          <a:p>
            <a:endParaRPr lang="en-US" dirty="0"/>
          </a:p>
          <a:p>
            <a:r>
              <a:rPr lang="en-US" b="0" i="0" dirty="0"/>
              <a:t>ANIMATE</a:t>
            </a:r>
          </a:p>
          <a:p>
            <a:endParaRPr lang="en-US" dirty="0"/>
          </a:p>
          <a:p>
            <a:r>
              <a:rPr lang="en-US" b="0" i="0" dirty="0"/>
              <a:t>Bottom row: transform the input by T, run the same f, get y-prime. Still do not know whether either answer is right.</a:t>
            </a:r>
          </a:p>
          <a:p>
            <a:endParaRPr lang="en-US" dirty="0"/>
          </a:p>
          <a:p>
            <a:r>
              <a:rPr lang="en-US" b="0" i="0" dirty="0"/>
              <a:t>ANIMATE</a:t>
            </a:r>
          </a:p>
          <a:p>
            <a:endParaRPr lang="en-US" dirty="0"/>
          </a:p>
          <a:p>
            <a:r>
              <a:rPr lang="en-US" b="0" i="0" dirty="0"/>
              <a:t>And here is the oracle: a relation R that y and y-prime must satisfy. Not what either answer IS — how they must relate.</a:t>
            </a:r>
          </a:p>
          <a:p>
            <a:endParaRPr lang="en-US" dirty="0"/>
          </a:p>
          <a:p>
            <a:r>
              <a:rPr lang="en-US" b="0" i="0" dirty="0"/>
              <a:t>ANIMATE</a:t>
            </a:r>
          </a:p>
          <a:p>
            <a:endParaRPr lang="en-US" dirty="0"/>
          </a:p>
          <a:p>
            <a:r>
              <a:rPr lang="en-US" b="0" i="0" dirty="0"/>
              <a:t>Do the example out loud. sort of three-one-two gives one-two-three. sort of two-three-one gives one-two-three. Permute the input; the output must be unchanged. We never stated what sorted order was. We stated that permuting the input cannot change it.</a:t>
            </a:r>
          </a:p>
          <a:p>
            <a:r>
              <a:rPr lang="en-US" b="0" i="0" dirty="0"/>
              <a:t>Now a second example, because one is not enough. A search engine given a narrower query must not return MORE results. Or our own: submitting the same payment ID twice must leave the account in the same state as submitting it once.</a:t>
            </a:r>
          </a:p>
          <a:p>
            <a:endParaRPr lang="en-US" dirty="0"/>
          </a:p>
          <a:p>
            <a:r>
              <a:rPr lang="en-US" b="0" i="0" dirty="0"/>
              <a:t>ANIMATE</a:t>
            </a:r>
          </a:p>
          <a:p>
            <a:endParaRPr lang="en-US" dirty="0"/>
          </a:p>
          <a:p>
            <a:r>
              <a:rPr lang="en-US" b="0" i="0" dirty="0"/>
              <a:t>When you cannot state the answer, state how answers must relate. A relation between runs is an oracle when the answer is unavailable — and that is the whole trick.</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dirty="0"/>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dirty="0"/>
          </a:p>
          <a:p>
            <a:r>
              <a:rPr lang="en-US" b="0" i="0" dirty="0"/>
              <a:t>=====</a:t>
            </a:r>
          </a:p>
          <a:p>
            <a:endParaRPr lang="en-US" dirty="0"/>
          </a:p>
          <a:p>
            <a:r>
              <a:rPr lang="en-US" b="0" i="0" dirty="0"/>
              <a:t>Same input, two implementations.</a:t>
            </a:r>
          </a:p>
          <a:p>
            <a:endParaRPr lang="en-US" dirty="0"/>
          </a:p>
          <a:p>
            <a:r>
              <a:rPr lang="en-US" b="0" i="0" dirty="0"/>
              <a:t>ANIMATE</a:t>
            </a:r>
          </a:p>
          <a:p>
            <a:endParaRPr lang="en-US" dirty="0"/>
          </a:p>
          <a:p>
            <a:r>
              <a:rPr lang="en-US" b="0" i="0" dirty="0"/>
              <a:t>Implementation A, the one we are validating. Implementation B — a reference, an older version, another vendor.</a:t>
            </a:r>
          </a:p>
          <a:p>
            <a:endParaRPr lang="en-US" dirty="0"/>
          </a:p>
          <a:p>
            <a:r>
              <a:rPr lang="en-US" b="0" i="0" dirty="0"/>
              <a:t>ANIMATE</a:t>
            </a:r>
          </a:p>
          <a:p>
            <a:endParaRPr lang="en-US" dirty="0"/>
          </a:p>
          <a:p>
            <a:r>
              <a:rPr lang="en-US" b="0" i="0" dirty="0"/>
              <a:t>Two outputs.</a:t>
            </a:r>
          </a:p>
          <a:p>
            <a:endParaRPr lang="en-US" dirty="0"/>
          </a:p>
          <a:p>
            <a:r>
              <a:rPr lang="en-US" b="0" i="0" dirty="0"/>
              <a:t>ANIMATE</a:t>
            </a:r>
          </a:p>
          <a:p>
            <a:endParaRPr lang="en-US" dirty="0"/>
          </a:p>
          <a:p>
            <a:r>
              <a:rPr lang="en-US" b="0" i="0" dirty="0"/>
              <a:t>And the oracle is the comparison itself. Ask whether they agree. You never had to state what the right answer was.</a:t>
            </a:r>
          </a:p>
          <a:p>
            <a:endParaRPr lang="en-US" dirty="0"/>
          </a:p>
          <a:p>
            <a:r>
              <a:rPr lang="en-US" b="0" i="0" dirty="0"/>
              <a:t>ANIMATE</a:t>
            </a:r>
          </a:p>
          <a:p>
            <a:endParaRPr lang="en-US" dirty="0"/>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dirty="0"/>
          </a:p>
          <a:p>
            <a:r>
              <a:rPr lang="en-US" b="0" i="0" dirty="0"/>
              <a:t>ANIMATE</a:t>
            </a:r>
          </a:p>
          <a:p>
            <a:endParaRPr lang="en-US" dirty="0"/>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dirty="0"/>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dirty="0"/>
          </a:p>
          <a:p>
            <a:r>
              <a:rPr lang="en-US" b="0" i="0" dirty="0"/>
              <a:t>• (moved from slide) Fuzzing row, full list of cheap observable self-failures: crash, hang, assertion, sanitizer.</a:t>
            </a:r>
          </a:p>
          <a:p>
            <a:r>
              <a:rPr lang="en-US" b="0" i="0" dirty="0"/>
              <a:t>=====</a:t>
            </a:r>
          </a:p>
          <a:p>
            <a:endParaRPr lang="en-US" dirty="0"/>
          </a:p>
          <a:p>
            <a:r>
              <a:rPr lang="en-US" b="0" i="0" dirty="0"/>
              <a:t>Five strategies, accumulating.</a:t>
            </a:r>
          </a:p>
          <a:p>
            <a:endParaRPr lang="en-US" dirty="0"/>
          </a:p>
          <a:p>
            <a:r>
              <a:rPr lang="en-US" b="0" i="0" dirty="0"/>
              <a:t>ANIMATE</a:t>
            </a:r>
          </a:p>
          <a:p>
            <a:endParaRPr lang="en-US" dirty="0"/>
          </a:p>
          <a:p>
            <a:r>
              <a:rPr lang="en-US" b="0" i="0" dirty="0"/>
              <a:t>Example-based: known answers — choose the cases you already understand.</a:t>
            </a:r>
          </a:p>
          <a:p>
            <a:endParaRPr lang="en-US" dirty="0"/>
          </a:p>
          <a:p>
            <a:r>
              <a:rPr lang="en-US" b="0" i="0" dirty="0"/>
              <a:t>ANIMATE</a:t>
            </a:r>
          </a:p>
          <a:p>
            <a:endParaRPr lang="en-US" dirty="0"/>
          </a:p>
          <a:p>
            <a:r>
              <a:rPr lang="en-US" b="0" i="0" dirty="0"/>
              <a:t>Property-based: known general properties — generate cases and hunt for a counterexample.</a:t>
            </a:r>
          </a:p>
          <a:p>
            <a:endParaRPr lang="en-US" dirty="0"/>
          </a:p>
          <a:p>
            <a:r>
              <a:rPr lang="en-US" b="0" i="0" dirty="0"/>
              <a:t>ANIMATE</a:t>
            </a:r>
          </a:p>
          <a:p>
            <a:endParaRPr lang="en-US" dirty="0"/>
          </a:p>
          <a:p>
            <a:r>
              <a:rPr lang="en-US" b="0" i="0" dirty="0"/>
              <a:t>Metamorphic: known relations among executions.</a:t>
            </a:r>
          </a:p>
          <a:p>
            <a:endParaRPr lang="en-US" dirty="0"/>
          </a:p>
          <a:p>
            <a:r>
              <a:rPr lang="en-US" b="0" i="0" dirty="0"/>
              <a:t>ANIMATE</a:t>
            </a:r>
          </a:p>
          <a:p>
            <a:endParaRPr lang="en-US" dirty="0"/>
          </a:p>
          <a:p>
            <a:r>
              <a:rPr lang="en-US" b="0" i="0" dirty="0"/>
              <a:t>Fuzzing: cheap observable self-failures.</a:t>
            </a:r>
          </a:p>
          <a:p>
            <a:endParaRPr lang="en-US" dirty="0"/>
          </a:p>
          <a:p>
            <a:r>
              <a:rPr lang="en-US" b="0" i="0" dirty="0"/>
              <a:t>ANIMATE</a:t>
            </a:r>
          </a:p>
          <a:p>
            <a:endParaRPr lang="en-US" dirty="0"/>
          </a:p>
          <a:p>
            <a:r>
              <a:rPr lang="en-US" b="0" i="0" dirty="0"/>
              <a:t>Differential: another implementation, where the specification requires agreement.</a:t>
            </a:r>
          </a:p>
          <a:p>
            <a:endParaRPr lang="en-US" dirty="0"/>
          </a:p>
          <a:p>
            <a:r>
              <a:rPr lang="en-US" b="0" i="0" dirty="0"/>
              <a:t>ANIMATE</a:t>
            </a:r>
          </a:p>
          <a:p>
            <a:endParaRPr lang="en-US" dirty="0"/>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dirty="0"/>
          </a:p>
          <a:p>
            <a:r>
              <a:rPr lang="en-US" b="0" i="0" dirty="0"/>
              <a:t>ANIMATE</a:t>
            </a:r>
          </a:p>
          <a:p>
            <a:endParaRPr lang="en-US" dirty="0"/>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dirty="0"/>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dirty="0"/>
          </a:p>
          <a:p>
            <a:r>
              <a:rPr lang="en-US" b="0" i="0" dirty="0"/>
              <a:t>=====</a:t>
            </a:r>
          </a:p>
          <a:p>
            <a:endParaRPr lang="en-US" dirty="0"/>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dirty="0"/>
          </a:p>
          <a:p>
            <a:r>
              <a:rPr lang="en-US" b="0" i="0" dirty="0"/>
              <a:t>ANIMATE</a:t>
            </a:r>
          </a:p>
          <a:p>
            <a:endParaRPr lang="en-US" dirty="0"/>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dirty="0"/>
          </a:p>
          <a:p>
            <a:r>
              <a:rPr lang="en-US" b="0" i="0" dirty="0"/>
              <a:t>ANIMATE</a:t>
            </a:r>
          </a:p>
          <a:p>
            <a:endParaRPr lang="en-US" dirty="0"/>
          </a:p>
          <a:p>
            <a:r>
              <a:rPr lang="en-US" b="0" i="0" dirty="0"/>
              <a:t>Coverage: how much did we examine?</a:t>
            </a:r>
          </a:p>
          <a:p>
            <a:endParaRPr lang="en-US" dirty="0"/>
          </a:p>
          <a:p>
            <a:r>
              <a:rPr lang="en-US" b="0" i="0" dirty="0"/>
              <a:t>ANIMATE</a:t>
            </a:r>
          </a:p>
          <a:p>
            <a:endParaRPr lang="en-US" dirty="0"/>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dirty="0"/>
          </a:p>
          <a:p>
            <a:r>
              <a:rPr lang="en-US" b="0" i="0" dirty="0"/>
              <a:t>ANIMATE</a:t>
            </a:r>
          </a:p>
          <a:p>
            <a:endParaRPr lang="en-US" dirty="0"/>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dirty="0"/>
          </a:p>
          <a:p>
            <a:r>
              <a:rPr lang="en-US" b="0" i="0" dirty="0"/>
              <a:t>ANIMATE</a:t>
            </a:r>
          </a:p>
          <a:p>
            <a:endParaRPr lang="en-US" dirty="0"/>
          </a:p>
          <a:p>
            <a:r>
              <a:rPr lang="en-US" b="0" i="0" dirty="0"/>
              <a:t>Independence: could one mistaken assumption undermine all the evidence at once? Hold that — the next slide is about exactly this.</a:t>
            </a:r>
          </a:p>
          <a:p>
            <a:endParaRPr lang="en-US" dirty="0"/>
          </a:p>
          <a:p>
            <a:r>
              <a:rPr lang="en-US" b="0" i="0" dirty="0"/>
              <a:t>ANIMATE</a:t>
            </a:r>
          </a:p>
          <a:p>
            <a:endParaRPr lang="en-US" dirty="0"/>
          </a:p>
          <a:p>
            <a:r>
              <a:rPr lang="en-US" b="0" i="0" dirty="0"/>
              <a:t>Residual uncertainty: what remains unresolved? Known failures, unmodeled states. Not everything you know about is fixed at delivery, and pretending otherwise is how it gets forgotten.</a:t>
            </a:r>
          </a:p>
          <a:p>
            <a:endParaRPr lang="en-US" dirty="0"/>
          </a:p>
          <a:p>
            <a:r>
              <a:rPr lang="en-US" b="0" i="0" dirty="0"/>
              <a:t>ANIMATE</a:t>
            </a:r>
          </a:p>
          <a:p>
            <a:endParaRPr lang="en-US" dirty="0"/>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MAGE Moment rebuilt as a probability exercise: meet the seduction, do the arithmetic, then break the assumption. Four beats; the click order IS the pedagogy.</a:t>
            </a:r>
          </a:p>
          <a:p>
            <a:endParaRPr lang="en-US"/>
          </a:p>
          <a:p>
            <a:r>
              <a:rPr lang="en-US" b="0" i="0" dirty="0"/>
              <a:t>• BEAT 1 (on entry): only the two scenarios and the question. Which gives you more confidence — and how much more? TPS, about a minute. Expect “B, obviously.” Push on how much more. Nothing about independence or shared interpretation is on screen yet; do not leak it.</a:t>
            </a:r>
          </a:p>
          <a:p>
            <a:r>
              <a:rPr lang="en-US" b="0" i="0" dirty="0"/>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rPr lang="en-US" b="0" i="0" dirty="0"/>
              <a:t>• BEAT 3 (click 3): now suppose all 5,000 tests came from the same mistaken interpretation of the requirement. All pass. What probability did our calculation actually depend on? Not merely p = .01 — it depended critically on tests having INDEPENDENT OPPORTUNITIES to expose the relevant failure. The product formula holds only under the appropriate independence assumptions; with correlated evidence, P(all miss) need not shrink anything like 0.99^n. Do not teach joint distributions. The payload: evidence volume increases confidence according to the information it adds, not merely the number of observations.</a:t>
            </a:r>
          </a:p>
          <a:p>
            <a:r>
              <a:rPr lang="en-US" b="0" i="0" dirty="0"/>
              <a:t>• BEAT 4 (click 4): the two structures. One interpretation fanning into 5,000 tests, versus tests + model check + review resting on different assumptions and failure modes, converging on the claim. This is slide 25’s Independence dimension — could one mistaken assumption undermine it all? — made mathematically concrete. The exercise introduces no new concept.</a:t>
            </a:r>
          </a:p>
          <a:p>
            <a:r>
              <a:rPr lang="en-US" b="0" i="0" dirty="0"/>
              <a:t>• Be careful with the word “independent”: students must not leave thinking different test cases = independent evidence. The relevant independence is independence of the ASSUMPTIONS AND FAILURE MODES by which the evidence could be wrong.</a:t>
            </a:r>
          </a:p>
          <a:p>
            <a:endParaRPr lang="en-US"/>
          </a:p>
          <a:p>
            <a:r>
              <a:rPr lang="en-US" b="0" i="0" dirty="0"/>
              <a:t>• (a) What does “different evidence” mean? The coverage-bitmap example — note this is coverage data REPRESENTED AS a bitmap, not a characterization of test inputs. Represent each test’s execution as a bitmap over program lines: bit i = 1 if that execution covered line i.</a:t>
            </a:r>
          </a:p>
          <a:p>
            <a:r>
              <a:rPr lang="en-US" b="0" i="0" dirty="0"/>
              <a:t>    T₁: 11110000</a:t>
            </a:r>
          </a:p>
          <a:p>
            <a:r>
              <a:rPr lang="en-US" b="0" i="0" dirty="0"/>
              <a:t>    T₂: 00111100</a:t>
            </a:r>
          </a:p>
          <a:p>
            <a:r>
              <a:rPr lang="en-US" b="0" i="0" dirty="0"/>
              <a:t>    T₃: 00001111</a:t>
            </a:r>
          </a:p>
          <a:p>
            <a:r>
              <a:rPr lang="en-US" b="0" i="0" dirty="0"/>
              <a:t>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rPr lang="en-US" b="0" i="0" dirty="0"/>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rPr lang="en-US" b="0" i="0" dirty="0"/>
              <a:t>• (c) The three-way distinction, worth saying at the board:</a:t>
            </a:r>
          </a:p>
          <a:p>
            <a:r>
              <a:rPr lang="en-US" b="0" i="0" dirty="0"/>
              <a:t>    Coverage: Did we look somewhere new?</a:t>
            </a:r>
          </a:p>
          <a:p>
            <a:r>
              <a:rPr lang="en-US" b="0" i="0" dirty="0"/>
              <a:t>    Oracle: Could we tell if what we saw was wrong?</a:t>
            </a:r>
          </a:p>
          <a:p>
            <a:r>
              <a:rPr lang="en-US" b="0" i="0" dirty="0"/>
              <a:t>    Independence: Could the same mistake fool both observations?</a:t>
            </a:r>
          </a:p>
          <a:p>
            <a:r>
              <a:rPr lang="en-US" b="0" i="0" dirty="0"/>
              <a:t>  The compact intuition to hammer: different executions are not necessarily different reasons. The chain students must not collapse: different executions ≠ different coverage ≠ independent evidence.</a:t>
            </a:r>
          </a:p>
          <a:p>
            <a:r>
              <a:rPr lang="en-US" b="0" i="0" dirty="0"/>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rPr lang="en-US" b="0" i="0" dirty="0"/>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slide 25 mathematically concrete. Representativeness then asks whether that test-generation distribution is the one we actually care about.</a:t>
            </a:r>
          </a:p>
          <a:p>
            <a:r>
              <a:rPr lang="en-US" b="0" i="0" dirty="0"/>
              <a:t>• Foreshadow the Decision-Making/Metrics lecture: counting artifacts is an attractive metric that measures the wrong thing when the epistemic structure is correlated.</a:t>
            </a:r>
          </a:p>
          <a:p>
            <a:endParaRPr lang="en-US"/>
          </a:p>
          <a:p>
            <a:r>
              <a:rPr lang="en-US" b="0" i="0" dirty="0"/>
              <a:t>=====</a:t>
            </a:r>
          </a:p>
          <a:p>
            <a:endParaRPr lang="en-US"/>
          </a:p>
          <a:p>
            <a:r>
              <a:rPr lang="en-US" b="0" i="0" dirty="0"/>
              <a:t>Two scenarios. Five tests, all passing — or five thousand tests, all passing. Which gives you more confidence in the claim, and how much more? Talk to your neighbor.</a:t>
            </a:r>
          </a:p>
          <a:p>
            <a:r>
              <a:rPr lang="en-US" b="0" i="0" dirty="0"/>
              <a:t>ANIMATE</a:t>
            </a:r>
          </a:p>
          <a:p>
            <a:r>
              <a:rPr lang="en-US" b="0" i="0" dirty="0"/>
              <a:t>Let’s make them actually compute. Suppose each test has an independent one-percent chance of exposing the defect, if the defect exists. If the defect exists — what is the probability that all n tests miss it?</a:t>
            </a:r>
          </a:p>
          <a:p>
            <a:r>
              <a:rPr lang="en-US" b="0" i="0" dirty="0"/>
              <a:t>ANIMATE</a:t>
            </a:r>
          </a:p>
          <a:p>
            <a:r>
              <a:rPr lang="en-US" b="0" i="0" dirty="0"/>
              <a:t>Point ninety-nine to the n. For five tests: about ninety-five percent — the defect probably survives. For five thousand: ten to the minus twenty-two. Under this model, five thousand tests are overwhelmingly stronger evidence. More tests CAN help enormously. Hold that.</a:t>
            </a:r>
          </a:p>
          <a:p>
            <a:r>
              <a:rPr lang="en-US" b="0" i="0" dirty="0"/>
              <a:t>ANIMATE</a:t>
            </a:r>
          </a:p>
          <a:p>
            <a:r>
              <a:rPr lang="en-US" b="0" i="0" dirty="0"/>
              <a:t>Now suppose all five thousand tests were generated from the same mistaken interpretation of the requirement. Every one of them passes. What probability did our calculation actually depend on? Not just the one percent — it depended on each test having an independent opportunity to expose the failure. The product formula only holds under that independence. With correlated evidence, the probability that everything misses need not shrink anything like point-ninety-nine to the n.</a:t>
            </a:r>
          </a:p>
          <a:p>
            <a:r>
              <a:rPr lang="en-US" b="0" i="0" dirty="0"/>
              <a:t>ANIMATE</a:t>
            </a:r>
          </a:p>
          <a:p>
            <a:r>
              <a:rPr lang="en-US" b="0" i="0" dirty="0"/>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dirty="0"/>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dirty="0"/>
          </a:p>
          <a:p>
            <a:r>
              <a:rPr lang="en-US" b="0" i="0" dirty="0"/>
              <a:t>=====</a:t>
            </a:r>
          </a:p>
          <a:p>
            <a:endParaRPr lang="en-US" dirty="0"/>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dirty="0"/>
          </a:p>
          <a:p>
            <a:r>
              <a:rPr lang="en-US" b="0" i="0" dirty="0"/>
              <a:t>ANIMATE</a:t>
            </a:r>
          </a:p>
          <a:p>
            <a:endParaRPr lang="en-US" dirty="0"/>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dirty="0"/>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dirty="0"/>
          </a:p>
          <a:p>
            <a:r>
              <a:rPr lang="en-US" b="0" i="0" dirty="0"/>
              <a:t>=====</a:t>
            </a:r>
          </a:p>
          <a:p>
            <a:endParaRPr lang="en-US" dirty="0"/>
          </a:p>
          <a:p>
            <a:r>
              <a:rPr lang="en-US" b="0" i="0" dirty="0"/>
              <a:t>The second slide of this lecture promised we would build this. Here it is — the same spine, populated.</a:t>
            </a:r>
          </a:p>
          <a:p>
            <a:endParaRPr lang="en-US" dirty="0"/>
          </a:p>
          <a:p>
            <a:r>
              <a:rPr lang="en-US" b="0" i="0" dirty="0"/>
              <a:t>ANIMATE</a:t>
            </a:r>
          </a:p>
          <a:p>
            <a:endParaRPr lang="en-US" dirty="0"/>
          </a:p>
          <a:p>
            <a:r>
              <a:rPr lang="en-US" b="0" i="0" dirty="0"/>
              <a:t>The claims came from the specification, not from us: payment charged at most once; p99 latency under 500 milliseconds.</a:t>
            </a:r>
          </a:p>
          <a:p>
            <a:endParaRPr lang="en-US" dirty="0"/>
          </a:p>
          <a:p>
            <a:r>
              <a:rPr lang="en-US" b="0" i="0" dirty="0"/>
              <a:t>ANIMATE</a:t>
            </a:r>
          </a:p>
          <a:p>
            <a:endParaRPr lang="en-US" dirty="0"/>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dirty="0"/>
          </a:p>
          <a:p>
            <a:r>
              <a:rPr lang="en-US" b="0" i="0" dirty="0"/>
              <a:t>ANIMATE</a:t>
            </a:r>
          </a:p>
          <a:p>
            <a:endParaRPr lang="en-US" dirty="0"/>
          </a:p>
          <a:p>
            <a:r>
              <a:rPr lang="en-US" b="0" i="0" dirty="0"/>
              <a:t>Judgment does not happen automatically: how strong is this evidence? What assumptions remain untested? What margin? What containment? What consequence if we are wrong?</a:t>
            </a:r>
          </a:p>
          <a:p>
            <a:endParaRPr lang="en-US" dirty="0"/>
          </a:p>
          <a:p>
            <a:r>
              <a:rPr lang="en-US" b="0" i="0" dirty="0"/>
              <a:t>ANIMATE</a:t>
            </a:r>
          </a:p>
          <a:p>
            <a:endParaRPr lang="en-US" dirty="0"/>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dirty="0"/>
          </a:p>
          <a:p>
            <a:r>
              <a:rPr lang="en-US" b="0" i="0" dirty="0"/>
              <a:t>ANIMATE</a:t>
            </a:r>
          </a:p>
          <a:p>
            <a:endParaRPr lang="en-US" dirty="0"/>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dirty="0"/>
          </a:p>
          <a:p>
            <a:r>
              <a:rPr lang="en-US" b="0" i="0" dirty="0"/>
              <a:t>ANIMATE</a:t>
            </a:r>
          </a:p>
          <a:p>
            <a:endParaRPr lang="en-US" dirty="0"/>
          </a:p>
          <a:p>
            <a:r>
              <a:rPr lang="en-US" b="0" i="0" dirty="0"/>
              <a:t>An assurance case makes that reasoning inspectable. That is the lecture.</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DECISION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Design produced a realization. </a:t>
            </a:r>
          </a:p>
          <a:p>
            <a:pPr algn="ctr">
              <a:buNone/>
            </a:pPr>
            <a:r>
              <a:rPr lang="en-US" sz="2400" b="0" i="1" dirty="0">
                <a:solidFill>
                  <a:srgbClr val="555960"/>
                </a:solidFill>
              </a:rPr>
              <a:t>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1000653"/>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0499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0499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370990" y="2583040"/>
            <a:ext cx="162120" cy="0"/>
          </a:xfrm>
          <a:prstGeom prst="straightConnector1">
            <a:avLst/>
          </a:prstGeom>
          <a:ln w="38100">
            <a:solidFill>
              <a:srgbClr val="8E6F3E"/>
            </a:solidFill>
            <a:tailEnd type="triangle" w="med" len="med"/>
          </a:ln>
        </p:spPr>
      </p:cxnSp>
      <p:sp>
        <p:nvSpPr>
          <p:cNvPr id="111" name="B111"/>
          <p:cNvSpPr/>
          <p:nvPr/>
        </p:nvSpPr>
        <p:spPr>
          <a:xfrm>
            <a:off x="256311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56311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29110" y="2583040"/>
            <a:ext cx="162120" cy="0"/>
          </a:xfrm>
          <a:prstGeom prst="straightConnector1">
            <a:avLst/>
          </a:prstGeom>
          <a:ln w="38100">
            <a:solidFill>
              <a:srgbClr val="8E6F3E"/>
            </a:solidFill>
            <a:tailEnd type="triangle" w="med" len="med"/>
          </a:ln>
        </p:spPr>
      </p:cxnSp>
      <p:sp>
        <p:nvSpPr>
          <p:cNvPr id="112" name="B112"/>
          <p:cNvSpPr/>
          <p:nvPr/>
        </p:nvSpPr>
        <p:spPr>
          <a:xfrm>
            <a:off x="462123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2123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487230" y="2583040"/>
            <a:ext cx="162120" cy="0"/>
          </a:xfrm>
          <a:prstGeom prst="straightConnector1">
            <a:avLst/>
          </a:prstGeom>
          <a:ln w="38100">
            <a:solidFill>
              <a:srgbClr val="8E6F3E"/>
            </a:solidFill>
            <a:tailEnd type="triangle" w="med" len="med"/>
          </a:ln>
        </p:spPr>
      </p:cxnSp>
      <p:sp>
        <p:nvSpPr>
          <p:cNvPr id="113" name="B113"/>
          <p:cNvSpPr/>
          <p:nvPr/>
        </p:nvSpPr>
        <p:spPr>
          <a:xfrm>
            <a:off x="667935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67935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286146" y="4897348"/>
            <a:ext cx="8448048"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The argument from claim to action must be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949614"/>
            <a:ext cx="8010144" cy="680385"/>
          </a:xfrm>
          <a:prstGeom prst="rect">
            <a:avLst/>
          </a:prstGeom>
          <a:noFill/>
          <a:ln>
            <a:noFill/>
          </a:ln>
        </p:spPr>
        <p:txBody>
          <a:bodyPr wrap="square" lIns="0" tIns="0" rIns="0" bIns="0" anchor="t"/>
          <a:lstStyle/>
          <a:p>
            <a:pPr algn="ctr">
              <a:buNone/>
            </a:pPr>
            <a:r>
              <a:rPr lang="en-US" sz="2200" b="0" i="1" dirty="0">
                <a:solidFill>
                  <a:srgbClr val="555960"/>
                </a:solidFill>
              </a:rPr>
              <a:t>Engineers weigh both the severity of a possible consequence </a:t>
            </a:r>
          </a:p>
          <a:p>
            <a:pPr algn="ctr">
              <a:buNone/>
            </a:pPr>
            <a:r>
              <a:rPr lang="en-US" sz="2200" b="0" i="1" dirty="0">
                <a:solidFill>
                  <a:srgbClr val="555960"/>
                </a:solidFill>
              </a:rPr>
              <a:t>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Validation is a decision under uncertainty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Sometimes it is right to deliver under known uncertainty, </a:t>
            </a:r>
          </a:p>
          <a:p>
            <a:pPr algn="ctr">
              <a:spcBef>
                <a:spcPts val="120"/>
              </a:spcBef>
              <a:buNone/>
            </a:pPr>
            <a:r>
              <a:rPr lang="en-US" sz="2200" b="0" i="0" dirty="0">
                <a:solidFill>
                  <a:srgbClr val="000000"/>
                </a:solidFill>
              </a:rPr>
              <a:t>then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not its past consequences. </a:t>
            </a:r>
          </a:p>
          <a:p>
            <a:pPr algn="ctr">
              <a:spcBef>
                <a:spcPts val="120"/>
              </a:spcBef>
              <a:buNone/>
            </a:pPr>
            <a:r>
              <a:rPr lang="en-US" sz="2200" b="0" i="0" dirty="0">
                <a:solidFill>
                  <a:srgbClr val="000000"/>
                </a:solidFill>
              </a:rPr>
              <a:t>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5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0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75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not a schedule of phases.</a:t>
            </a:r>
          </a:p>
        </p:txBody>
      </p:sp>
      <p:sp>
        <p:nvSpPr>
          <p:cNvPr id="160" name="E160"/>
          <p:cNvSpPr/>
          <p:nvPr/>
        </p:nvSpPr>
        <p:spPr>
          <a:xfrm>
            <a:off x="5080000" y="3950000"/>
            <a:ext cx="3497072" cy="12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nodeType="withEffect">
                                  <p:stCondLst>
                                    <p:cond delay="0"/>
                                  </p:stCondLst>
                                  <p:childTnLst>
                                    <p:set>
                                      <p:cBhvr>
                                        <p:cTn id="14" dur="1" fill="hold">
                                          <p:stCondLst>
                                            <p:cond delay="0"/>
                                          </p:stCondLst>
                                        </p:cTn>
                                        <p:tgtEl>
                                          <p:spTgt spid="160"/>
                                        </p:tgtEl>
                                        <p:attrNameLst>
                                          <p:attrName>style.visibility</p:attrName>
                                        </p:attrNameLst>
                                      </p:cBhvr>
                                      <p:to>
                                        <p:strVal val="visible"/>
                                      </p:to>
                                    </p:set>
                                    <p:animEffect transition="in" filter="fade">
                                      <p:cBhvr>
                                        <p:cTn id="15" dur="500"/>
                                        <p:tgtEl>
                                          <p:spTgt spid="1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12"/>
                                        </p:tgtEl>
                                        <p:attrNameLst>
                                          <p:attrName>style.visibility</p:attrName>
                                        </p:attrNameLst>
                                      </p:cBhvr>
                                      <p:to>
                                        <p:strVal val="visible"/>
                                      </p:to>
                                    </p:set>
                                    <p:animEffect transition="in" filter="fade">
                                      <p:cBhvr>
                                        <p:cTn id="20"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500"/>
                                        <p:tgtEl>
                                          <p:spTgt spid="113"/>
                                        </p:tgtEl>
                                      </p:cBhvr>
                                    </p:animEffect>
                                  </p:childTnLst>
                                </p:cTn>
                              </p:par>
                              <p:par>
                                <p:cTn id="26" presetID="10" presetClass="entr" presetSubtype="0" fill="hold" nodeType="withEffect">
                                  <p:stCondLst>
                                    <p:cond delay="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500"/>
                                        <p:tgtEl>
                                          <p:spTgt spid="114"/>
                                        </p:tgtEl>
                                      </p:cBhvr>
                                    </p:animEffect>
                                  </p:childTnLst>
                                </p:cTn>
                              </p:par>
                              <p:par>
                                <p:cTn id="29" presetID="10" presetClass="entr" presetSubtype="0" fill="hold" nodeType="withEffect">
                                  <p:stCondLst>
                                    <p:cond delay="0"/>
                                  </p:stCondLst>
                                  <p:childTnLst>
                                    <p:set>
                                      <p:cBhvr>
                                        <p:cTn id="30" dur="1" fill="hold">
                                          <p:stCondLst>
                                            <p:cond delay="0"/>
                                          </p:stCondLst>
                                        </p:cTn>
                                        <p:tgtEl>
                                          <p:spTgt spid="115"/>
                                        </p:tgtEl>
                                        <p:attrNameLst>
                                          <p:attrName>style.visibility</p:attrName>
                                        </p:attrNameLst>
                                      </p:cBhvr>
                                      <p:to>
                                        <p:strVal val="visible"/>
                                      </p:to>
                                    </p:set>
                                    <p:animEffect transition="in" filter="fade">
                                      <p:cBhvr>
                                        <p:cTn id="31" dur="500"/>
                                        <p:tgtEl>
                                          <p:spTgt spid="11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17"/>
                                        </p:tgtEl>
                                        <p:attrNameLst>
                                          <p:attrName>style.visibility</p:attrName>
                                        </p:attrNameLst>
                                      </p:cBhvr>
                                      <p:to>
                                        <p:strVal val="visible"/>
                                      </p:to>
                                    </p:set>
                                    <p:animEffect transition="in" filter="fade">
                                      <p:cBhvr>
                                        <p:cTn id="36"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50" name="L150"/>
          <p:cNvSpPr/>
          <p:nvPr/>
        </p:nvSpPr>
        <p:spPr>
          <a:xfrm>
            <a:off x="2500000" y="900000"/>
            <a:ext cx="2050000" cy="4200000"/>
          </a:xfrm>
          <a:custGeom>
            <a:avLst/>
            <a:gdLst/>
            <a:ahLst/>
            <a:cxnLst/>
            <a:rect l="l" t="t" r="r" b="b"/>
            <a:pathLst>
              <a:path w="2050000" h="4200000" fill="none">
                <a:moveTo>
                  <a:pt x="0" y="0"/>
                </a:moveTo>
                <a:lnTo>
                  <a:pt x="2050000" y="4200000"/>
                </a:lnTo>
              </a:path>
            </a:pathLst>
          </a:custGeom>
          <a:noFill/>
          <a:ln w="38100">
            <a:solidFill>
              <a:srgbClr val="8E6F3E"/>
            </a:solidFill>
          </a:ln>
        </p:spPr>
        <p:txBody>
          <a:bodyPr/>
          <a:lstStyle/>
          <a:p>
            <a:endParaRPr lang="en-US"/>
          </a:p>
        </p:txBody>
      </p:sp>
      <p:sp>
        <p:nvSpPr>
          <p:cNvPr id="151" name="L151"/>
          <p:cNvSpPr/>
          <p:nvPr/>
        </p:nvSpPr>
        <p:spPr>
          <a:xfrm>
            <a:off x="4550000" y="900000"/>
            <a:ext cx="2050000" cy="4200000"/>
          </a:xfrm>
          <a:custGeom>
            <a:avLst/>
            <a:gdLst/>
            <a:ahLst/>
            <a:cxnLst/>
            <a:rect l="l" t="t" r="r" b="b"/>
            <a:pathLst>
              <a:path w="2050000" h="4200000" fill="none">
                <a:moveTo>
                  <a:pt x="0" y="4200000"/>
                </a:moveTo>
                <a:lnTo>
                  <a:pt x="2050000" y="0"/>
                </a:lnTo>
              </a:path>
            </a:pathLst>
          </a:custGeom>
          <a:noFill/>
          <a:ln w="38100">
            <a:solidFill>
              <a:srgbClr val="8E6F3E"/>
            </a:solidFill>
          </a:ln>
        </p:spPr>
        <p:txBody>
          <a:bodyPr/>
          <a:lstStyle/>
          <a:p>
            <a:endParaRPr lang="en-US"/>
          </a:p>
        </p:txBody>
      </p:sp>
      <p:sp>
        <p:nvSpPr>
          <p:cNvPr id="110" name="T110"/>
          <p:cNvSpPr txBox="1"/>
          <p:nvPr/>
        </p:nvSpPr>
        <p:spPr>
          <a:xfrm>
            <a:off x="30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300000" y="175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300000" y="260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3450000" y="51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6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180000" y="175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770000" y="260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5230000" y="3700000"/>
            <a:ext cx="2000000" cy="420000"/>
          </a:xfrm>
          <a:prstGeom prst="rect">
            <a:avLst/>
          </a:prstGeom>
          <a:noFill/>
          <a:ln>
            <a:noFill/>
          </a:ln>
        </p:spPr>
        <p:txBody>
          <a:bodyPr wrap="square" lIns="0" tIns="0" rIns="0" bIns="0" anchor="ctr"/>
          <a:lstStyle/>
          <a:p>
            <a:pPr algn="l">
              <a:buNone/>
            </a:pPr>
            <a:r>
              <a:rPr lang="en-US" sz="2400" b="1" i="0" dirty="0">
                <a:solidFill>
                  <a:srgbClr val="000000"/>
                </a:solidFill>
              </a:rPr>
              <a:t>Unit</a:t>
            </a:r>
          </a:p>
        </p:txBody>
      </p:sp>
      <p:cxnSp>
        <p:nvCxnSpPr>
          <p:cNvPr id="125" name="D125"/>
          <p:cNvCxnSpPr/>
          <p:nvPr/>
        </p:nvCxnSpPr>
        <p:spPr>
          <a:xfrm>
            <a:off x="2681548" y="1190000"/>
            <a:ext cx="3736904" cy="0"/>
          </a:xfrm>
          <a:prstGeom prst="straightConnector1">
            <a:avLst/>
          </a:prstGeom>
          <a:ln w="12700">
            <a:solidFill>
              <a:srgbClr val="8E6F3E"/>
            </a:solidFill>
            <a:prstDash val="dash"/>
            <a:tailEnd type="triangle" w="med" len="med"/>
          </a:ln>
        </p:spPr>
      </p:cxnSp>
      <p:cxnSp>
        <p:nvCxnSpPr>
          <p:cNvPr id="126" name="D126"/>
          <p:cNvCxnSpPr/>
          <p:nvPr/>
        </p:nvCxnSpPr>
        <p:spPr>
          <a:xfrm>
            <a:off x="3057381" y="1960000"/>
            <a:ext cx="2985238" cy="0"/>
          </a:xfrm>
          <a:prstGeom prst="straightConnector1">
            <a:avLst/>
          </a:prstGeom>
          <a:ln w="12700">
            <a:solidFill>
              <a:srgbClr val="8E6F3E"/>
            </a:solidFill>
            <a:prstDash val="dash"/>
            <a:tailEnd type="triangle" w="med" len="med"/>
          </a:ln>
        </p:spPr>
      </p:cxnSp>
      <p:cxnSp>
        <p:nvCxnSpPr>
          <p:cNvPr id="127" name="D127"/>
          <p:cNvCxnSpPr/>
          <p:nvPr/>
        </p:nvCxnSpPr>
        <p:spPr>
          <a:xfrm>
            <a:off x="3472262" y="2810000"/>
            <a:ext cx="2155476" cy="0"/>
          </a:xfrm>
          <a:prstGeom prst="straightConnector1">
            <a:avLst/>
          </a:prstGeom>
          <a:ln w="12700">
            <a:solidFill>
              <a:srgbClr val="8E6F3E"/>
            </a:solidFill>
            <a:prstDash val="dash"/>
            <a:tailEnd type="triangle" w="med" len="med"/>
          </a:ln>
        </p:spPr>
      </p:cxnSp>
      <p:cxnSp>
        <p:nvCxnSpPr>
          <p:cNvPr id="128" name="D128"/>
          <p:cNvCxnSpPr/>
          <p:nvPr/>
        </p:nvCxnSpPr>
        <p:spPr>
          <a:xfrm>
            <a:off x="4009167" y="3910000"/>
            <a:ext cx="1081666"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Unit, integration, system, acceptance name </a:t>
            </a:r>
          </a:p>
          <a:p>
            <a:pPr algn="ctr">
              <a:buNone/>
            </a:pPr>
            <a:r>
              <a:rPr lang="en-US" sz="2000" b="1" i="0" dirty="0">
                <a:solidFill>
                  <a:srgbClr val="FFFFFF"/>
                </a:solidFill>
              </a:rPr>
              <a:t>scopes of evidence, not mechanisms.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7"/>
                                        </p:tgtEl>
                                        <p:attrNameLst>
                                          <p:attrName>style.visibility</p:attrName>
                                        </p:attrNameLst>
                                      </p:cBhvr>
                                      <p:to>
                                        <p:strVal val="visible"/>
                                      </p:to>
                                    </p:set>
                                    <p:animEffect transition="in" filter="fade">
                                      <p:cBhvr>
                                        <p:cTn id="16" dur="500"/>
                                        <p:tgtEl>
                                          <p:spTgt spid="1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5"/>
                                        </p:tgtEl>
                                        <p:attrNameLst>
                                          <p:attrName>style.visibility</p:attrName>
                                        </p:attrNameLst>
                                      </p:cBhvr>
                                      <p:to>
                                        <p:strVal val="visible"/>
                                      </p:to>
                                    </p:set>
                                    <p:animEffect transition="in" filter="fade">
                                      <p:cBhvr>
                                        <p:cTn id="24" dur="500"/>
                                        <p:tgtEl>
                                          <p:spTgt spid="1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1"/>
                                        </p:tgtEl>
                                        <p:attrNameLst>
                                          <p:attrName>style.visibility</p:attrName>
                                        </p:attrNameLst>
                                      </p:cBhvr>
                                      <p:to>
                                        <p:strVal val="visible"/>
                                      </p:to>
                                    </p:set>
                                    <p:animEffect transition="in" filter="fade">
                                      <p:cBhvr>
                                        <p:cTn id="29" dur="500"/>
                                        <p:tgtEl>
                                          <p:spTgt spid="121"/>
                                        </p:tgtEl>
                                      </p:cBhvr>
                                    </p:animEffect>
                                  </p:childTnLst>
                                </p:cTn>
                              </p:par>
                              <p:par>
                                <p:cTn id="30" presetID="10" presetClass="entr" presetSubtype="0" fill="hold" nodeType="withEffect">
                                  <p:stCondLst>
                                    <p:cond delay="0"/>
                                  </p:stCondLst>
                                  <p:childTnLst>
                                    <p:set>
                                      <p:cBhvr>
                                        <p:cTn id="31" dur="1" fill="hold">
                                          <p:stCondLst>
                                            <p:cond delay="0"/>
                                          </p:stCondLst>
                                        </p:cTn>
                                        <p:tgtEl>
                                          <p:spTgt spid="126"/>
                                        </p:tgtEl>
                                        <p:attrNameLst>
                                          <p:attrName>style.visibility</p:attrName>
                                        </p:attrNameLst>
                                      </p:cBhvr>
                                      <p:to>
                                        <p:strVal val="visible"/>
                                      </p:to>
                                    </p:set>
                                    <p:animEffect transition="in" filter="fade">
                                      <p:cBhvr>
                                        <p:cTn id="32" dur="500"/>
                                        <p:tgtEl>
                                          <p:spTgt spid="1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2"/>
                                        </p:tgtEl>
                                        <p:attrNameLst>
                                          <p:attrName>style.visibility</p:attrName>
                                        </p:attrNameLst>
                                      </p:cBhvr>
                                      <p:to>
                                        <p:strVal val="visible"/>
                                      </p:to>
                                    </p:set>
                                    <p:animEffect transition="in" filter="fade">
                                      <p:cBhvr>
                                        <p:cTn id="37" dur="500"/>
                                        <p:tgtEl>
                                          <p:spTgt spid="122"/>
                                        </p:tgtEl>
                                      </p:cBhvr>
                                    </p:animEffect>
                                  </p:childTnLst>
                                </p:cTn>
                              </p:par>
                              <p:par>
                                <p:cTn id="38" presetID="10" presetClass="entr" presetSubtype="0"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23"/>
                                        </p:tgtEl>
                                        <p:attrNameLst>
                                          <p:attrName>style.visibility</p:attrName>
                                        </p:attrNameLst>
                                      </p:cBhvr>
                                      <p:to>
                                        <p:strVal val="visible"/>
                                      </p:to>
                                    </p:set>
                                    <p:animEffect transition="in" filter="fade">
                                      <p:cBhvr>
                                        <p:cTn id="45" dur="500"/>
                                        <p:tgtEl>
                                          <p:spTgt spid="123"/>
                                        </p:tgtEl>
                                      </p:cBhvr>
                                    </p:animEffect>
                                  </p:childTnLst>
                                </p:cTn>
                              </p:par>
                              <p:par>
                                <p:cTn id="46" presetID="10" presetClass="entr" presetSubtype="0" fill="hold" nodeType="with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1</a:t>
            </a:r>
            <a:r>
              <a:rPr lang="en-US" sz="1200" b="0" i="0" dirty="0">
                <a:solidFill>
                  <a:srgbClr val="000000"/>
                </a:solidFill>
                <a:latin typeface="Consolas"/>
              </a:rPr>
              <a:t>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2</a:t>
            </a:r>
            <a:r>
              <a:rPr lang="en-US" sz="1200" b="0" i="0" dirty="0">
                <a:solidFill>
                  <a:srgbClr val="000000"/>
                </a:solidFill>
                <a:latin typeface="Consolas"/>
              </a:rPr>
              <a:t>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3</a:t>
            </a:r>
            <a:r>
              <a:rPr lang="en-US" sz="1200" b="0" i="0" dirty="0">
                <a:solidFill>
                  <a:srgbClr val="000000"/>
                </a:solidFill>
                <a:latin typeface="Consolas"/>
              </a:rPr>
              <a:t>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4</a:t>
            </a:r>
            <a:r>
              <a:rPr lang="en-US" sz="1200" b="0" i="0" dirty="0">
                <a:solidFill>
                  <a:srgbClr val="000000"/>
                </a:solidFill>
                <a:latin typeface="Consolas"/>
              </a:rPr>
              <a:t>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5</a:t>
            </a:r>
            <a:r>
              <a:rPr lang="en-US" sz="1200" b="0" i="0" dirty="0">
                <a:solidFill>
                  <a:srgbClr val="000000"/>
                </a:solidFill>
                <a:latin typeface="Consolas"/>
              </a:rPr>
              <a:t>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6</a:t>
            </a:r>
            <a:r>
              <a:rPr lang="en-US" sz="1200" b="0" i="0" dirty="0">
                <a:solidFill>
                  <a:srgbClr val="000000"/>
                </a:solidFill>
                <a:latin typeface="Consolas"/>
              </a:rPr>
              <a:t>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7</a:t>
            </a:r>
            <a:r>
              <a:rPr lang="en-US" sz="1200" b="0" i="0" dirty="0">
                <a:solidFill>
                  <a:srgbClr val="000000"/>
                </a:solidFill>
                <a:latin typeface="Consolas"/>
              </a:rPr>
              <a:t>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8</a:t>
            </a:r>
            <a:r>
              <a:rPr lang="en-US" sz="1200" b="0" i="0" dirty="0">
                <a:solidFill>
                  <a:srgbClr val="000000"/>
                </a:solidFill>
                <a:latin typeface="Consolas"/>
              </a:rPr>
              <a:t>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9</a:t>
            </a:r>
            <a:r>
              <a:rPr lang="en-US" sz="1200" b="0" i="0" dirty="0">
                <a:solidFill>
                  <a:srgbClr val="000000"/>
                </a:solidFill>
                <a:latin typeface="Consolas"/>
              </a:rPr>
              <a:t>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At volume, “a human reviews everything” </a:t>
            </a:r>
          </a:p>
          <a:p>
            <a:pPr algn="ctr">
              <a:buNone/>
            </a:pPr>
            <a:r>
              <a:rPr lang="en-US" sz="2200" b="0" i="1" dirty="0">
                <a:solidFill>
                  <a:srgbClr val="555960"/>
                </a:solidFill>
              </a:rPr>
              <a:t>stops being credible assurance.</a:t>
            </a:r>
          </a:p>
        </p:txBody>
      </p:sp>
      <p:sp>
        <p:nvSpPr>
          <p:cNvPr id="120" name="P120"/>
          <p:cNvSpPr/>
          <p:nvPr/>
        </p:nvSpPr>
        <p:spPr>
          <a:xfrm>
            <a:off x="566928"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CONTROLLED EXPERIMENT</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HUMAN-FACTORS SYNTHESIS</a:t>
            </a:r>
          </a:p>
          <a:p>
            <a:pPr algn="ctr">
              <a:spcBef>
                <a:spcPts val="120"/>
              </a:spcBef>
              <a:buNone/>
            </a:pPr>
            <a:r>
              <a:rPr lang="en-US" sz="2000" b="0" i="0" dirty="0">
                <a:solidFill>
                  <a:srgbClr val="000000"/>
                </a:solidFill>
              </a:rPr>
              <a:t>Sustained vigilance is hard mental work — it consumes attention.</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OPERATIONAL PRACTICE</a:t>
            </a:r>
          </a:p>
          <a:p>
            <a:pPr algn="ctr">
              <a:spcBef>
                <a:spcPts val="120"/>
              </a:spcBef>
              <a:buNone/>
            </a:pPr>
            <a:r>
              <a:rPr lang="en-US" sz="2000" b="0" i="0" dirty="0">
                <a:solidFill>
                  <a:srgbClr val="000000"/>
                </a:solidFill>
              </a:rPr>
              <a:t>Even trained inspectors are covertly tested: inspection is capacity-limited.</a:t>
            </a:r>
          </a:p>
          <a:p>
            <a:pPr algn="ctr">
              <a:spcBef>
                <a:spcPts val="120"/>
              </a:spcBef>
              <a:buNone/>
            </a:pPr>
            <a:r>
              <a:rPr lang="en-US" sz="1100" b="0" i="1" dirty="0">
                <a:solidFill>
                  <a:srgbClr val="78716C"/>
                </a:solidFill>
              </a:rPr>
              <a:t>GAO-19-374 (2019)</a:t>
            </a:r>
          </a:p>
        </p:txBody>
      </p:sp>
      <p:sp>
        <p:nvSpPr>
          <p:cNvPr id="130" name="E130"/>
          <p:cNvSpPr/>
          <p:nvPr/>
        </p:nvSpPr>
        <p:spPr>
          <a:xfrm>
            <a:off x="566928" y="4900000"/>
            <a:ext cx="8010144" cy="792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Spend human judgment where judgment is required.</a:t>
            </a:r>
          </a:p>
          <a:p>
            <a:pPr algn="ctr">
              <a:spcBef>
                <a:spcPts val="120"/>
              </a:spcBef>
              <a:buNone/>
            </a:pPr>
            <a:r>
              <a:rPr lang="en-US" sz="2200" b="0" i="0" dirty="0">
                <a:solidFill>
                  <a:srgbClr val="5C4826"/>
                </a:solidFill>
              </a:rPr>
              <a:t>Attention is no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but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a:t>
            </a:r>
            <a:endParaRPr lang="en-US" sz="2000" i="1" dirty="0">
              <a:solidFill>
                <a:srgbClr val="555960"/>
              </a:solidFill>
            </a:endParaRP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OBSERVE SELECTED EXECUTIONS</a:t>
            </a:r>
          </a:p>
          <a:p>
            <a:pPr algn="ctr">
              <a:buNone/>
            </a:pPr>
            <a:r>
              <a:rPr lang="en-US" sz="2000" b="0" i="1" dirty="0">
                <a:solidFill>
                  <a:srgbClr val="555960"/>
                </a:solidFill>
              </a:rPr>
              <a:t>run the software; learn what those runs did</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REASON OVER POSSIBLE EXECUTIONS</a:t>
            </a:r>
          </a:p>
          <a:p>
            <a:pPr algn="ctr">
              <a:buNone/>
            </a:pPr>
            <a:r>
              <a:rPr lang="en-US" sz="2000" b="0" i="1" dirty="0">
                <a:solidFill>
                  <a:srgbClr val="555960"/>
                </a:solidFill>
              </a:rPr>
              <a:t>conclude about behaviors without running each one</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the representation · which behaviors it includes · the property · the assumptions · the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inside the representation and nothing outside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Static analysis tracks possibilities, not runs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a:t>
            </a:r>
            <a:r>
              <a:rPr lang="en-US" sz="2000" b="1" dirty="0">
                <a:solidFill>
                  <a:srgbClr val="FFFFFF"/>
                </a:solidFill>
              </a:rPr>
              <a:t> are </a:t>
            </a:r>
            <a:r>
              <a:rPr lang="en-US" sz="2000" b="1" i="0" dirty="0">
                <a:solidFill>
                  <a:srgbClr val="FFFFFF"/>
                </a:solidFill>
              </a:rPr>
              <a:t>propagated, without execution.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yet the analyzer reports “possible null dereference.”</a:t>
            </a:r>
          </a:p>
        </p:txBody>
      </p:sp>
      <p:sp>
        <p:nvSpPr>
          <p:cNvPr id="110" name="V110"/>
          <p:cNvSpPr/>
          <p:nvPr/>
        </p:nvSpPr>
        <p:spPr>
          <a:xfrm>
            <a:off x="56692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2366928" y="2960000"/>
            <a:ext cx="0" cy="400000"/>
          </a:xfrm>
          <a:prstGeom prst="straightConnector1">
            <a:avLst/>
          </a:prstGeom>
          <a:ln w="28575">
            <a:solidFill>
              <a:srgbClr val="8E6F3E"/>
            </a:solidFill>
            <a:tailEnd type="triangle" w="med" len="med"/>
          </a:ln>
        </p:spPr>
      </p:cxnSp>
      <p:sp>
        <p:nvSpPr>
          <p:cNvPr id="112" name="T112"/>
          <p:cNvSpPr/>
          <p:nvPr/>
        </p:nvSpPr>
        <p:spPr>
          <a:xfrm>
            <a:off x="250000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40692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2366928" y="3980000"/>
            <a:ext cx="0" cy="280000"/>
          </a:xfrm>
          <a:prstGeom prst="straightConnector1">
            <a:avLst/>
          </a:prstGeom>
          <a:ln w="28575">
            <a:solidFill>
              <a:srgbClr val="8E6F3E"/>
            </a:solidFill>
            <a:tailEnd type="triangle" w="med" len="med"/>
          </a:ln>
        </p:spPr>
      </p:cxnSp>
      <p:sp>
        <p:nvSpPr>
          <p:cNvPr id="115" name="V115"/>
          <p:cNvSpPr/>
          <p:nvPr/>
        </p:nvSpPr>
        <p:spPr>
          <a:xfrm>
            <a:off x="27432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20" name="E120"/>
          <p:cNvSpPr/>
          <p:nvPr/>
        </p:nvSpPr>
        <p:spPr>
          <a:xfrm>
            <a:off x="4700000" y="2500000"/>
            <a:ext cx="387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conservative abstraction may include behaviors the real system cannot exhibit.</a:t>
            </a:r>
          </a:p>
        </p:txBody>
      </p:sp>
      <p:sp>
        <p:nvSpPr>
          <p:cNvPr id="121" name="P121"/>
          <p:cNvSpPr/>
          <p:nvPr/>
        </p:nvSpPr>
        <p:spPr>
          <a:xfrm>
            <a:off x="4700000" y="3950000"/>
            <a:ext cx="3877072" cy="15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Sound for the modeled property: a real violation the abstraction represents is not silently discarded but impossible violations may also be reported.</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we conclude about the real program </a:t>
            </a:r>
          </a:p>
          <a:p>
            <a:pPr algn="ctr">
              <a:buNone/>
            </a:pPr>
            <a:r>
              <a:rPr lang="en-US" sz="2000" b="1" i="0" dirty="0">
                <a:solidFill>
                  <a:srgbClr val="FFFFFF"/>
                </a:solidFill>
              </a:rPr>
              <a:t>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500"/>
                                        <p:tgtEl>
                                          <p:spTgt spid="114"/>
                                        </p:tgtEl>
                                      </p:cBhvr>
                                    </p:animEffect>
                                  </p:childTnLst>
                                </p:cTn>
                              </p:par>
                              <p:par>
                                <p:cTn id="20" presetID="10" presetClass="entr" presetSubtype="0" fill="hold"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500"/>
                                        <p:tgtEl>
                                          <p:spTgt spid="1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0"/>
                                        </p:tgtEl>
                                        <p:attrNameLst>
                                          <p:attrName>style.visibility</p:attrName>
                                        </p:attrNameLst>
                                      </p:cBhvr>
                                      <p:to>
                                        <p:strVal val="visible"/>
                                      </p:to>
                                    </p:set>
                                    <p:animEffect transition="in" filter="fade">
                                      <p:cBhvr>
                                        <p:cTn id="27" dur="500"/>
                                        <p:tgtEl>
                                          <p:spTgt spid="1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1"/>
                                        </p:tgtEl>
                                        <p:attrNameLst>
                                          <p:attrName>style.visibility</p:attrName>
                                        </p:attrNameLst>
                                      </p:cBhvr>
                                      <p:to>
                                        <p:strVal val="visible"/>
                                      </p:to>
                                    </p:set>
                                    <p:animEffect transition="in" filter="fade">
                                      <p:cBhvr>
                                        <p:cTn id="32"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ORDINARY TESTING</a:t>
            </a:r>
          </a:p>
          <a:p>
            <a:pPr algn="ctr">
              <a:spcBef>
                <a:spcPts val="120"/>
              </a:spcBef>
              <a:buNone/>
            </a:pPr>
            <a:r>
              <a:rPr lang="en-US" sz="2000" b="0" i="0" dirty="0">
                <a:solidFill>
                  <a:srgbClr val="000000"/>
                </a:solidFill>
              </a:rPr>
              <a:t>Try some sequences of deposits and withdrawals. Did we see the assertion fail?</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BOUNDED MODEL CHECKING</a:t>
            </a:r>
          </a:p>
          <a:p>
            <a:pPr algn="ctr">
              <a:spcBef>
                <a:spcPts val="120"/>
              </a:spcBef>
              <a:buNone/>
            </a:pPr>
            <a:r>
              <a:rPr lang="en-US" sz="2000" b="0" i="0" dirty="0">
                <a:solidFill>
                  <a:srgbClr val="000000"/>
                </a:solidFill>
              </a:rPr>
              <a:t>Is there ANY sequence of choices, up to depth k, that makes it fail?</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YES → a counterexample trace</a:t>
            </a:r>
          </a:p>
          <a:p>
            <a:pPr algn="ctr">
              <a:spcBef>
                <a:spcPts val="120"/>
              </a:spcBef>
              <a:buNone/>
            </a:pPr>
            <a:r>
              <a:rPr lang="en-US" sz="2000" b="0" i="0" dirty="0">
                <a:solidFill>
                  <a:srgbClr val="FFFFFF"/>
                </a:solidFill>
              </a:rPr>
              <a:t>the exact sequence of choices that breaks it</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000000"/>
                </a:solidFill>
              </a:rPr>
              <a:t>NO → no violation up to k</a:t>
            </a:r>
          </a:p>
          <a:p>
            <a:pPr algn="ctr">
              <a:spcBef>
                <a:spcPts val="120"/>
              </a:spcBef>
              <a:buNone/>
            </a:pPr>
            <a:r>
              <a:rPr lang="en-US" sz="2000" b="0" i="0" dirty="0">
                <a:solidFill>
                  <a:srgbClr val="000000"/>
                </a:solidFill>
              </a:rPr>
              <a:t>within the modeled behaviors and that bound</a:t>
            </a:r>
          </a:p>
        </p:txBody>
      </p:sp>
      <p:sp>
        <p:nvSpPr>
          <p:cNvPr id="130" name="T130"/>
          <p:cNvSpPr txBox="1"/>
          <p:nvPr/>
        </p:nvSpPr>
        <p:spPr>
          <a:xfrm>
            <a:off x="566928" y="4190000"/>
            <a:ext cx="8010144" cy="580000"/>
          </a:xfrm>
          <a:prstGeom prst="rect">
            <a:avLst/>
          </a:prstGeom>
          <a:noFill/>
          <a:ln>
            <a:noFill/>
          </a:ln>
        </p:spPr>
        <p:txBody>
          <a:bodyPr wrap="square" lIns="0" tIns="0" rIns="0" bIns="0" anchor="t"/>
          <a:lstStyle/>
          <a:p>
            <a:pPr algn="ctr">
              <a:buNone/>
            </a:pPr>
            <a:r>
              <a:rPr lang="en-US" sz="2000" b="1" i="0" dirty="0">
                <a:solidFill>
                  <a:srgbClr val="5C4826"/>
                </a:solidFill>
              </a:rPr>
              <a:t>The model, the property, the assumptions, the semantics, and the bound are all part of the claim.</a:t>
            </a:r>
          </a:p>
        </p:txBody>
      </p:sp>
      <p:sp>
        <p:nvSpPr>
          <p:cNvPr id="135" name="P135"/>
          <p:cNvSpPr/>
          <p:nvPr/>
        </p:nvSpPr>
        <p:spPr>
          <a:xfrm>
            <a:off x="566928" y="4850000"/>
            <a:ext cx="8010144" cy="920000"/>
          </a:xfrm>
          <a:prstGeom prst="rect">
            <a:avLst/>
          </a:prstGeom>
          <a:solidFill>
            <a:srgbClr val="F5F1E8"/>
          </a:solidFill>
          <a:ln w="12700">
            <a:solidFill>
              <a:srgbClr val="C9B991"/>
            </a:solidFill>
          </a:ln>
        </p:spPr>
        <p:txBody>
          <a:bodyPr wrap="square" lIns="91440" tIns="22860" rIns="91440" bIns="22860" anchor="ctr"/>
          <a:lstStyle/>
          <a:p>
            <a:pPr algn="ctr">
              <a:buNone/>
            </a:pPr>
            <a:r>
              <a:rPr lang="en-US" sz="2000" b="1" i="0" dirty="0">
                <a:solidFill>
                  <a:srgbClr val="5C4826"/>
                </a:solidFill>
              </a:rPr>
              <a:t>BEFORE MARS: CHECK THE MODEL</a:t>
            </a:r>
          </a:p>
          <a:p>
            <a:pPr algn="ctr">
              <a:buNone/>
            </a:pPr>
            <a:r>
              <a:rPr lang="en-US" sz="2000" b="0" i="0" dirty="0">
                <a:solidFill>
                  <a:srgbClr val="000000"/>
                </a:solidFill>
              </a:rPr>
              <a:t>A ~45,000-line C module became a ~1,600-line verification model.</a:t>
            </a:r>
          </a:p>
          <a:p>
            <a:pPr algn="ctr">
              <a:buNone/>
            </a:pPr>
            <a:r>
              <a:rPr lang="en-US" sz="2000" b="0" i="0" dirty="0">
                <a:solidFill>
                  <a:srgbClr val="000000"/>
                </a:solidFill>
              </a:rPr>
              <a:t>Model checking joined routine regression testing.</a:t>
            </a:r>
            <a:r>
              <a:rPr lang="en-US" sz="1300" b="0" i="1" dirty="0">
                <a:solidFill>
                  <a:srgbClr val="555960"/>
                </a:solidFill>
              </a:rPr>
              <a:t>  (Holzmann, CACM 2014)</a:t>
            </a:r>
          </a:p>
        </p:txBody>
      </p:sp>
      <p:sp>
        <p:nvSpPr>
          <p:cNvPr id="140" name="FooterBand"/>
          <p:cNvSpPr/>
          <p:nvPr/>
        </p:nvSpPr>
        <p:spPr>
          <a:xfrm>
            <a:off x="274320" y="587121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We found no counterexample up to depth k. </a:t>
            </a:r>
          </a:p>
          <a:p>
            <a:pPr algn="ctr">
              <a:buNone/>
            </a:pPr>
            <a:r>
              <a:rPr lang="en-US" sz="2000" b="1" i="0" dirty="0">
                <a:solidFill>
                  <a:srgbClr val="FFFFFF"/>
                </a:solidFill>
              </a:rPr>
              <a:t>What have we established?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5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fade">
                                      <p:cBhvr>
                                        <p:cTn id="20"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0" name="P110"/>
          <p:cNvSpPr/>
          <p:nvPr/>
        </p:nvSpPr>
        <p:spPr>
          <a:xfrm>
            <a:off x="426720" y="1635055"/>
            <a:ext cx="4892608" cy="1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TESTING NEED NOT RUN IN THE REAL ENVIRONMENT</a:t>
            </a:r>
          </a:p>
          <a:p>
            <a:pPr algn="l">
              <a:spcBef>
                <a:spcPts val="60"/>
              </a:spcBef>
              <a:buNone/>
            </a:pPr>
            <a:r>
              <a:rPr lang="en-US" sz="2000" b="0" i="0" dirty="0">
                <a:solidFill>
                  <a:srgbClr val="000000"/>
                </a:solidFill>
              </a:rPr>
              <a:t>network connection → servers on localhost</a:t>
            </a:r>
          </a:p>
          <a:p>
            <a:pPr algn="l">
              <a:spcBef>
                <a:spcPts val="60"/>
              </a:spcBef>
              <a:buNone/>
            </a:pPr>
            <a:r>
              <a:rPr lang="en-US" sz="2000" b="0" i="0" dirty="0">
                <a:solidFill>
                  <a:srgbClr val="000000"/>
                </a:solidFill>
              </a:rPr>
              <a:t>external service → local simulated service</a:t>
            </a:r>
          </a:p>
          <a:p>
            <a:pPr algn="l">
              <a:spcBef>
                <a:spcPts val="60"/>
              </a:spcBef>
              <a:buNone/>
            </a:pPr>
            <a:r>
              <a:rPr lang="en-US" sz="2000" b="0" i="0" dirty="0">
                <a:solidFill>
                  <a:srgbClr val="000000"/>
                </a:solidFill>
              </a:rPr>
              <a:t>failures / time → controlled simulation</a:t>
            </a:r>
          </a:p>
        </p:txBody>
      </p:sp>
      <p:sp>
        <p:nvSpPr>
          <p:cNvPr id="111" name="P111"/>
          <p:cNvSpPr/>
          <p:nvPr/>
        </p:nvSpPr>
        <p:spPr>
          <a:xfrm>
            <a:off x="5482400" y="1577904"/>
            <a:ext cx="3247072" cy="937903"/>
          </a:xfrm>
          <a:prstGeom prst="rect">
            <a:avLst/>
          </a:prstGeom>
          <a:solidFill>
            <a:srgbClr val="F5F1E8"/>
          </a:solidFill>
          <a:ln w="12700">
            <a:solidFill>
              <a:srgbClr val="C9B991"/>
            </a:solidFill>
          </a:ln>
        </p:spPr>
        <p:txBody>
          <a:bodyPr wrap="square" lIns="91440" tIns="45720" rIns="91440" bIns="45720" anchor="ctr"/>
          <a:lstStyle/>
          <a:p>
            <a:pPr algn="ctr"/>
            <a:r>
              <a:rPr lang="en-US" sz="2000" b="1" dirty="0">
                <a:solidFill>
                  <a:srgbClr val="5C4826"/>
                </a:solidFill>
              </a:rPr>
              <a:t>SIMULATION BUYS</a:t>
            </a:r>
          </a:p>
          <a:p>
            <a:pPr algn="ctr"/>
            <a:r>
              <a:rPr lang="en-US" sz="2000" b="1" dirty="0">
                <a:solidFill>
                  <a:srgbClr val="5C4826"/>
                </a:solidFill>
              </a:rPr>
              <a:t>speed · repeatability · controllability · cost</a:t>
            </a:r>
          </a:p>
        </p:txBody>
      </p:sp>
      <p:sp>
        <p:nvSpPr>
          <p:cNvPr id="112" name="E112"/>
          <p:cNvSpPr/>
          <p:nvPr/>
        </p:nvSpPr>
        <p:spPr>
          <a:xfrm>
            <a:off x="5482400" y="2595809"/>
            <a:ext cx="3247072" cy="902095"/>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3540000"/>
            <a:ext cx="2200000" cy="300000"/>
          </a:xfrm>
          <a:prstGeom prst="rect">
            <a:avLst/>
          </a:prstGeom>
          <a:noFill/>
          <a:ln>
            <a:noFill/>
          </a:ln>
        </p:spPr>
        <p:txBody>
          <a:bodyPr wrap="square" lIns="0" tIns="0" rIns="0" bIns="0" anchor="t"/>
          <a:lstStyle/>
          <a:p>
            <a:pPr algn="l">
              <a:buNone/>
            </a:pPr>
            <a:r>
              <a:rPr lang="en-US" sz="2000" b="1" i="0" dirty="0">
                <a:solidFill>
                  <a:srgbClr val="5C4826"/>
                </a:solidFill>
              </a:rPr>
              <a:t>MORE SIMULATED</a:t>
            </a:r>
          </a:p>
        </p:txBody>
      </p:sp>
      <p:cxnSp>
        <p:nvCxnSpPr>
          <p:cNvPr id="121" name="C121"/>
          <p:cNvCxnSpPr/>
          <p:nvPr/>
        </p:nvCxnSpPr>
        <p:spPr>
          <a:xfrm>
            <a:off x="2850000" y="3660000"/>
            <a:ext cx="3850000" cy="0"/>
          </a:xfrm>
          <a:prstGeom prst="straightConnector1">
            <a:avLst/>
          </a:prstGeom>
          <a:ln w="28575">
            <a:solidFill>
              <a:srgbClr val="8E6F3E"/>
            </a:solidFill>
            <a:tailEnd type="triangle" w="med" len="med"/>
          </a:ln>
        </p:spPr>
      </p:cxnSp>
      <p:sp>
        <p:nvSpPr>
          <p:cNvPr id="122" name="T122"/>
          <p:cNvSpPr txBox="1"/>
          <p:nvPr/>
        </p:nvSpPr>
        <p:spPr>
          <a:xfrm>
            <a:off x="6880000" y="3540000"/>
            <a:ext cx="1700000" cy="300000"/>
          </a:xfrm>
          <a:prstGeom prst="rect">
            <a:avLst/>
          </a:prstGeom>
          <a:noFill/>
          <a:ln>
            <a:noFill/>
          </a:ln>
        </p:spPr>
        <p:txBody>
          <a:bodyPr wrap="square" lIns="0" tIns="0" rIns="0" bIns="0" anchor="t"/>
          <a:lstStyle/>
          <a:p>
            <a:pPr algn="l">
              <a:buNone/>
            </a:pPr>
            <a:r>
              <a:rPr lang="en-US" sz="2000" b="1" i="0" dirty="0">
                <a:solidFill>
                  <a:srgbClr val="5C4826"/>
                </a:solidFill>
              </a:rPr>
              <a:t>MORE REAL</a:t>
            </a:r>
          </a:p>
        </p:txBody>
      </p:sp>
      <p:sp>
        <p:nvSpPr>
          <p:cNvPr id="123" name="T123"/>
          <p:cNvSpPr txBox="1"/>
          <p:nvPr/>
        </p:nvSpPr>
        <p:spPr>
          <a:xfrm>
            <a:off x="566928" y="3920000"/>
            <a:ext cx="8010144" cy="620000"/>
          </a:xfrm>
          <a:prstGeom prst="rect">
            <a:avLst/>
          </a:prstGeom>
          <a:noFill/>
          <a:ln>
            <a:noFill/>
          </a:ln>
        </p:spPr>
        <p:txBody>
          <a:bodyPr wrap="square" lIns="0" tIns="0" rIns="0" bIns="0" anchor="t"/>
          <a:lstStyle/>
          <a:p>
            <a:pPr algn="ctr">
              <a:buNone/>
            </a:pPr>
            <a:r>
              <a:rPr lang="en-US" sz="2000" b="0" i="1" dirty="0">
                <a:solidFill>
                  <a:srgbClr val="555960"/>
                </a:solidFill>
              </a:rPr>
              <a:t>Evidence inherits the differences between simulated and real environments.</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0"/>
                                        </p:tgtEl>
                                        <p:attrNameLst>
                                          <p:attrName>style.visibility</p:attrName>
                                        </p:attrNameLst>
                                      </p:cBhvr>
                                      <p:to>
                                        <p:strVal val="visible"/>
                                      </p:to>
                                    </p:set>
                                    <p:animEffect transition="in" filter="fade">
                                      <p:cBhvr>
                                        <p:cTn id="20" dur="500"/>
                                        <p:tgtEl>
                                          <p:spTgt spid="120"/>
                                        </p:tgtEl>
                                      </p:cBhvr>
                                    </p:animEffect>
                                  </p:childTnLst>
                                </p:cTn>
                              </p:par>
                              <p:par>
                                <p:cTn id="21" presetID="10" presetClass="entr" presetSubtype="0" fill="hold" nodeType="withEffect">
                                  <p:stCondLst>
                                    <p:cond delay="0"/>
                                  </p:stCondLst>
                                  <p:childTnLst>
                                    <p:set>
                                      <p:cBhvr>
                                        <p:cTn id="22" dur="1" fill="hold">
                                          <p:stCondLst>
                                            <p:cond delay="0"/>
                                          </p:stCondLst>
                                        </p:cTn>
                                        <p:tgtEl>
                                          <p:spTgt spid="121"/>
                                        </p:tgtEl>
                                        <p:attrNameLst>
                                          <p:attrName>style.visibility</p:attrName>
                                        </p:attrNameLst>
                                      </p:cBhvr>
                                      <p:to>
                                        <p:strVal val="visible"/>
                                      </p:to>
                                    </p:set>
                                    <p:animEffect transition="in" filter="fade">
                                      <p:cBhvr>
                                        <p:cTn id="23" dur="500"/>
                                        <p:tgtEl>
                                          <p:spTgt spid="121"/>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par>
                                <p:cTn id="27" presetID="10" presetClass="entr" presetSubtype="0" fill="hold" nodeType="withEffect">
                                  <p:stCondLst>
                                    <p:cond delay="0"/>
                                  </p:stCondLst>
                                  <p:childTnLst>
                                    <p:set>
                                      <p:cBhvr>
                                        <p:cTn id="28" dur="1" fill="hold">
                                          <p:stCondLst>
                                            <p:cond delay="0"/>
                                          </p:stCondLst>
                                        </p:cTn>
                                        <p:tgtEl>
                                          <p:spTgt spid="123"/>
                                        </p:tgtEl>
                                        <p:attrNameLst>
                                          <p:attrName>style.visibility</p:attrName>
                                        </p:attrNameLst>
                                      </p:cBhvr>
                                      <p:to>
                                        <p:strVal val="visible"/>
                                      </p:to>
                                    </p:set>
                                    <p:animEffect transition="in" filter="fade">
                                      <p:cBhvr>
                                        <p:cTn id="29"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0"/>
                                        </p:tgtEl>
                                        <p:attrNameLst>
                                          <p:attrName>style.visibility</p:attrName>
                                        </p:attrNameLst>
                                      </p:cBhvr>
                                      <p:to>
                                        <p:strVal val="visible"/>
                                      </p:to>
                                    </p:set>
                                    <p:animEffect transition="in" filter="fade">
                                      <p:cBhvr>
                                        <p:cTn id="34"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fontScale="90000"/>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23</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endParaRPr lang="en-US" sz="2000" b="0" i="0" dirty="0">
              <a:solidFill>
                <a:srgbClr val="000000"/>
              </a:solidFill>
            </a:endParaRP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Known input → known </a:t>
            </a:r>
          </a:p>
          <a:p>
            <a:pPr algn="ctr">
              <a:buNone/>
            </a:pPr>
            <a:r>
              <a:rPr lang="en-US" sz="2000" b="1" i="0" dirty="0">
                <a:solidFill>
                  <a:srgbClr val="5C4826"/>
                </a:solidFill>
              </a:rPr>
              <a:t>expected result.</a:t>
            </a:r>
          </a:p>
          <a:p>
            <a:pPr algn="ctr">
              <a:buNone/>
            </a:pPr>
            <a:r>
              <a:rPr lang="en-US" sz="2000" b="0" i="1" dirty="0">
                <a:solidFill>
                  <a:srgbClr val="555960"/>
                </a:solidFill>
              </a:rPr>
              <a:t>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duplicate ID  →  rejected</a:t>
            </a:r>
          </a:p>
          <a:p>
            <a:pPr algn="l">
              <a:buNone/>
            </a:pPr>
            <a:r>
              <a:rPr lang="en-US" sz="2000" b="0" i="0" dirty="0">
                <a:solidFill>
                  <a:srgbClr val="000000"/>
                </a:solidFill>
              </a:rPr>
              <a:t>empty cart  →  refused</a:t>
            </a:r>
          </a:p>
          <a:p>
            <a:pPr algn="l">
              <a:buNone/>
            </a:pPr>
            <a:r>
              <a:rPr lang="en-US" sz="200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20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State a property → search for a counterexample.</a:t>
            </a:r>
          </a:p>
          <a:p>
            <a:pPr algn="ctr">
              <a:buNone/>
            </a:pPr>
            <a:r>
              <a:rPr lang="en-US" sz="2000" b="0" i="1" dirty="0">
                <a:solidFill>
                  <a:srgbClr val="555960"/>
                </a:solidFill>
              </a:rPr>
              <a:t>The machine hunts.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PROPERTY</a:t>
            </a:r>
          </a:p>
          <a:p>
            <a:pPr algn="ctr">
              <a:buNone/>
            </a:pPr>
            <a:r>
              <a:rPr lang="en-US" sz="2200" b="1" i="0" dirty="0">
                <a:solidFill>
                  <a:srgbClr val="000000"/>
                </a:solidFill>
              </a:rPr>
              <a:t>A submitted payment shall cause at most one charge.</a:t>
            </a:r>
          </a:p>
        </p:txBody>
      </p:sp>
      <p:sp>
        <p:nvSpPr>
          <p:cNvPr id="122" name="T122"/>
          <p:cNvSpPr txBox="1"/>
          <p:nvPr/>
        </p:nvSpPr>
        <p:spPr>
          <a:xfrm>
            <a:off x="4681728" y="3920000"/>
            <a:ext cx="3895344" cy="560000"/>
          </a:xfrm>
          <a:prstGeom prst="rect">
            <a:avLst/>
          </a:prstGeom>
          <a:noFill/>
          <a:ln>
            <a:noFill/>
          </a:ln>
        </p:spPr>
        <p:txBody>
          <a:bodyPr wrap="square" lIns="0" tIns="0" rIns="0" bIns="0" anchor="t"/>
          <a:lstStyle/>
          <a:p>
            <a:pPr algn="ctr">
              <a:buNone/>
            </a:pPr>
            <a:r>
              <a:rPr lang="en-US" sz="2000" b="0" i="1" dirty="0">
                <a:solidFill>
                  <a:srgbClr val="555960"/>
                </a:solidFill>
              </a:rPr>
              <a:t>one sentence adjudicates every generated input</a:t>
            </a:r>
          </a:p>
        </p:txBody>
      </p:sp>
      <p:sp>
        <p:nvSpPr>
          <p:cNvPr id="130" name="E130"/>
          <p:cNvSpPr/>
          <p:nvPr/>
        </p:nvSpPr>
        <p:spPr>
          <a:xfrm>
            <a:off x="566928" y="4560000"/>
            <a:ext cx="8010144"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Instead of writing the answer for every input,</a:t>
            </a:r>
          </a:p>
          <a:p>
            <a:pPr algn="ctr">
              <a:buNone/>
            </a:pPr>
            <a:r>
              <a:rPr lang="en-US" sz="2400" b="1" i="0" dirty="0">
                <a:solidFill>
                  <a:srgbClr val="5C4826"/>
                </a:solidFill>
              </a:rPr>
              <a:t>state what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about chosen cases, or a counterexample 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25</a:t>
            </a:fld>
            <a:endParaRPr lang="en-US"/>
          </a:p>
        </p:txBody>
      </p:sp>
      <p:sp>
        <p:nvSpPr>
          <p:cNvPr id="100" name="B100"/>
          <p:cNvSpPr/>
          <p:nvPr/>
        </p:nvSpPr>
        <p:spPr>
          <a:xfrm>
            <a:off x="914400" y="1097280"/>
            <a:ext cx="1234440" cy="64008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x</a:t>
            </a:r>
          </a:p>
        </p:txBody>
      </p:sp>
      <p:cxnSp>
        <p:nvCxnSpPr>
          <p:cNvPr id="101" name="C101"/>
          <p:cNvCxnSpPr/>
          <p:nvPr/>
        </p:nvCxnSpPr>
        <p:spPr>
          <a:xfrm>
            <a:off x="2240280" y="1417320"/>
            <a:ext cx="411480" cy="0"/>
          </a:xfrm>
          <a:prstGeom prst="straightConnector1">
            <a:avLst/>
          </a:prstGeom>
          <a:ln w="38100">
            <a:solidFill>
              <a:srgbClr val="8E6F3E"/>
            </a:solidFill>
            <a:tailEnd type="triangle" w="med" len="med"/>
          </a:ln>
        </p:spPr>
      </p:cxnSp>
      <p:sp>
        <p:nvSpPr>
          <p:cNvPr id="102" name="B102"/>
          <p:cNvSpPr/>
          <p:nvPr/>
        </p:nvSpPr>
        <p:spPr>
          <a:xfrm>
            <a:off x="2834640" y="1097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400" b="1" i="1" dirty="0">
                <a:solidFill>
                  <a:srgbClr val="5C4826"/>
                </a:solidFill>
              </a:rPr>
              <a:t>f</a:t>
            </a:r>
          </a:p>
        </p:txBody>
      </p:sp>
      <p:cxnSp>
        <p:nvCxnSpPr>
          <p:cNvPr id="103" name="C103"/>
          <p:cNvCxnSpPr/>
          <p:nvPr/>
        </p:nvCxnSpPr>
        <p:spPr>
          <a:xfrm>
            <a:off x="4160520" y="1417320"/>
            <a:ext cx="411480" cy="0"/>
          </a:xfrm>
          <a:prstGeom prst="straightConnector1">
            <a:avLst/>
          </a:prstGeom>
          <a:ln w="38100">
            <a:solidFill>
              <a:srgbClr val="8E6F3E"/>
            </a:solidFill>
            <a:tailEnd type="triangle" w="med" len="med"/>
          </a:ln>
        </p:spPr>
      </p:cxnSp>
      <p:sp>
        <p:nvSpPr>
          <p:cNvPr id="104" name="B104"/>
          <p:cNvSpPr/>
          <p:nvPr/>
        </p:nvSpPr>
        <p:spPr>
          <a:xfrm>
            <a:off x="4754880" y="1097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y</a:t>
            </a:r>
          </a:p>
        </p:txBody>
      </p:sp>
      <p:sp>
        <p:nvSpPr>
          <p:cNvPr id="110" name="B110"/>
          <p:cNvSpPr/>
          <p:nvPr/>
        </p:nvSpPr>
        <p:spPr>
          <a:xfrm>
            <a:off x="914400" y="2240280"/>
            <a:ext cx="1234440" cy="64008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T(x)</a:t>
            </a:r>
          </a:p>
        </p:txBody>
      </p:sp>
      <p:cxnSp>
        <p:nvCxnSpPr>
          <p:cNvPr id="111" name="C111"/>
          <p:cNvCxnSpPr/>
          <p:nvPr/>
        </p:nvCxnSpPr>
        <p:spPr>
          <a:xfrm>
            <a:off x="2240280" y="2560320"/>
            <a:ext cx="411480" cy="0"/>
          </a:xfrm>
          <a:prstGeom prst="straightConnector1">
            <a:avLst/>
          </a:prstGeom>
          <a:ln w="38100">
            <a:solidFill>
              <a:srgbClr val="8E6F3E"/>
            </a:solidFill>
            <a:tailEnd type="triangle" w="med" len="med"/>
          </a:ln>
        </p:spPr>
      </p:cxnSp>
      <p:sp>
        <p:nvSpPr>
          <p:cNvPr id="112" name="B112"/>
          <p:cNvSpPr/>
          <p:nvPr/>
        </p:nvSpPr>
        <p:spPr>
          <a:xfrm>
            <a:off x="2834640" y="2240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400" b="1" i="1" dirty="0">
                <a:solidFill>
                  <a:srgbClr val="5C4826"/>
                </a:solidFill>
              </a:rPr>
              <a:t>f</a:t>
            </a:r>
          </a:p>
        </p:txBody>
      </p:sp>
      <p:cxnSp>
        <p:nvCxnSpPr>
          <p:cNvPr id="113" name="C113"/>
          <p:cNvCxnSpPr/>
          <p:nvPr/>
        </p:nvCxnSpPr>
        <p:spPr>
          <a:xfrm>
            <a:off x="4160520" y="2560320"/>
            <a:ext cx="411480" cy="0"/>
          </a:xfrm>
          <a:prstGeom prst="straightConnector1">
            <a:avLst/>
          </a:prstGeom>
          <a:ln w="38100">
            <a:solidFill>
              <a:srgbClr val="8E6F3E"/>
            </a:solidFill>
            <a:tailEnd type="triangle" w="med" len="med"/>
          </a:ln>
        </p:spPr>
      </p:cxnSp>
      <p:sp>
        <p:nvSpPr>
          <p:cNvPr id="114" name="B114"/>
          <p:cNvSpPr/>
          <p:nvPr/>
        </p:nvSpPr>
        <p:spPr>
          <a:xfrm>
            <a:off x="4754880" y="2240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y′</a:t>
            </a:r>
          </a:p>
        </p:txBody>
      </p:sp>
      <p:sp>
        <p:nvSpPr>
          <p:cNvPr id="130" name="J130"/>
          <p:cNvSpPr/>
          <p:nvPr/>
        </p:nvSpPr>
        <p:spPr>
          <a:xfrm>
            <a:off x="6309360" y="1417320"/>
            <a:ext cx="41148" cy="1417320"/>
          </a:xfrm>
          <a:prstGeom prst="rect">
            <a:avLst/>
          </a:prstGeom>
          <a:solidFill>
            <a:srgbClr val="8E6F3E"/>
          </a:solidFill>
          <a:ln>
            <a:noFill/>
          </a:ln>
        </p:spPr>
        <p:txBody>
          <a:bodyPr wrap="square" lIns="91440" tIns="45720" rIns="91440" bIns="45720" anchor="ctr"/>
          <a:lstStyle/>
          <a:p>
            <a:pPr>
              <a:buNone/>
            </a:pPr>
            <a:endParaRPr/>
          </a:p>
        </p:txBody>
      </p:sp>
      <p:sp>
        <p:nvSpPr>
          <p:cNvPr id="131" name="J131"/>
          <p:cNvSpPr/>
          <p:nvPr/>
        </p:nvSpPr>
        <p:spPr>
          <a:xfrm>
            <a:off x="6126480" y="1417320"/>
            <a:ext cx="182880" cy="41148"/>
          </a:xfrm>
          <a:prstGeom prst="rect">
            <a:avLst/>
          </a:prstGeom>
          <a:solidFill>
            <a:srgbClr val="8E6F3E"/>
          </a:solidFill>
          <a:ln>
            <a:noFill/>
          </a:ln>
        </p:spPr>
        <p:txBody>
          <a:bodyPr wrap="square" lIns="91440" tIns="45720" rIns="91440" bIns="45720" anchor="ctr"/>
          <a:lstStyle/>
          <a:p>
            <a:pPr>
              <a:buNone/>
            </a:pPr>
            <a:endParaRPr/>
          </a:p>
        </p:txBody>
      </p:sp>
      <p:sp>
        <p:nvSpPr>
          <p:cNvPr id="132" name="J132"/>
          <p:cNvSpPr/>
          <p:nvPr/>
        </p:nvSpPr>
        <p:spPr>
          <a:xfrm>
            <a:off x="6126480" y="2802636"/>
            <a:ext cx="182880" cy="41148"/>
          </a:xfrm>
          <a:prstGeom prst="rect">
            <a:avLst/>
          </a:prstGeom>
          <a:solidFill>
            <a:srgbClr val="8E6F3E"/>
          </a:solidFill>
          <a:ln>
            <a:noFill/>
          </a:ln>
        </p:spPr>
        <p:txBody>
          <a:bodyPr wrap="square" lIns="91440" tIns="45720" rIns="91440" bIns="45720" anchor="ctr"/>
          <a:lstStyle/>
          <a:p>
            <a:pPr>
              <a:buNone/>
            </a:pPr>
            <a:endParaRPr/>
          </a:p>
        </p:txBody>
      </p:sp>
      <p:sp>
        <p:nvSpPr>
          <p:cNvPr id="133" name="T133"/>
          <p:cNvSpPr txBox="1"/>
          <p:nvPr/>
        </p:nvSpPr>
        <p:spPr>
          <a:xfrm>
            <a:off x="6450000" y="1783080"/>
            <a:ext cx="2419680" cy="731520"/>
          </a:xfrm>
          <a:prstGeom prst="rect">
            <a:avLst/>
          </a:prstGeom>
          <a:noFill/>
        </p:spPr>
        <p:txBody>
          <a:bodyPr wrap="square" lIns="0" tIns="0" rIns="0" bIns="0" anchor="t"/>
          <a:lstStyle/>
          <a:p>
            <a:pPr algn="ctr">
              <a:buNone/>
            </a:pPr>
            <a:r>
              <a:rPr lang="en-US" sz="2200" b="0" i="1" dirty="0">
                <a:solidFill>
                  <a:srgbClr val="555960"/>
                </a:solidFill>
              </a:rPr>
              <a:t>a relation</a:t>
            </a:r>
          </a:p>
          <a:p>
            <a:pPr algn="ctr">
              <a:spcBef>
                <a:spcPts val="100"/>
              </a:spcBef>
              <a:buNone/>
            </a:pPr>
            <a:r>
              <a:rPr lang="en-US" sz="2400" b="1" i="0" dirty="0">
                <a:solidFill>
                  <a:srgbClr val="5C4826"/>
                </a:solidFill>
              </a:rPr>
              <a:t>R(y, y′) must hold</a:t>
            </a:r>
          </a:p>
        </p:txBody>
      </p:sp>
      <p:sp>
        <p:nvSpPr>
          <p:cNvPr id="140" name="P140"/>
          <p:cNvSpPr/>
          <p:nvPr/>
        </p:nvSpPr>
        <p:spPr>
          <a:xfrm>
            <a:off x="566928" y="3154680"/>
            <a:ext cx="80101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000000"/>
                </a:solidFill>
              </a:rPr>
              <a:t>sort([3, 1, 2])  →  [1, 2, 3]</a:t>
            </a:r>
          </a:p>
          <a:p>
            <a:pPr algn="ctr">
              <a:spcBef>
                <a:spcPts val="150"/>
              </a:spcBef>
              <a:buNone/>
            </a:pPr>
            <a:r>
              <a:rPr lang="en-US" sz="2200" b="1" i="0" dirty="0">
                <a:solidFill>
                  <a:srgbClr val="000000"/>
                </a:solidFill>
              </a:rPr>
              <a:t>sort([2, 3, 1])  →  [1, 2, 3]</a:t>
            </a:r>
          </a:p>
          <a:p>
            <a:pPr algn="ctr">
              <a:spcBef>
                <a:spcPts val="250"/>
              </a:spcBef>
              <a:buNone/>
            </a:pPr>
            <a:r>
              <a:rPr lang="en-US" sz="2200" b="0" i="1" dirty="0">
                <a:solidFill>
                  <a:srgbClr val="555960"/>
                </a:solidFill>
              </a:rPr>
              <a:t>No answer stated — only how the two answers must relate.</a:t>
            </a:r>
          </a:p>
        </p:txBody>
      </p:sp>
      <p:sp>
        <p:nvSpPr>
          <p:cNvPr id="150" name="E150"/>
          <p:cNvSpPr/>
          <p:nvPr/>
        </p:nvSpPr>
        <p:spPr>
          <a:xfrm>
            <a:off x="566928" y="4526280"/>
            <a:ext cx="8010144" cy="8686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When you cannot state the answer, </a:t>
            </a:r>
          </a:p>
          <a:p>
            <a:pPr algn="ctr">
              <a:buNone/>
            </a:pPr>
            <a:r>
              <a:rPr lang="en-US" sz="2400" b="1" i="0" dirty="0">
                <a:solidFill>
                  <a:srgbClr val="5C4826"/>
                </a:solidFill>
              </a:rPr>
              <a:t>state how answers must relate.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relation between runs is an oracle when no answer is available.</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“metamorphic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5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0"/>
                                        </p:tgtEl>
                                        <p:attrNameLst>
                                          <p:attrName>style.visibility</p:attrName>
                                        </p:attrNameLst>
                                      </p:cBhvr>
                                      <p:to>
                                        <p:strVal val="visible"/>
                                      </p:to>
                                    </p:set>
                                    <p:animEffect transition="in" filter="fade">
                                      <p:cBhvr>
                                        <p:cTn id="24" dur="500"/>
                                        <p:tgtEl>
                                          <p:spTgt spid="110"/>
                                        </p:tgtEl>
                                      </p:cBhvr>
                                    </p:animEffect>
                                  </p:childTnLst>
                                </p:cTn>
                              </p:par>
                              <p:par>
                                <p:cTn id="25" presetID="10" presetClass="entr" presetSubtype="0" fill="hold" nodeType="withEffect">
                                  <p:stCondLst>
                                    <p:cond delay="0"/>
                                  </p:stCondLst>
                                  <p:childTnLst>
                                    <p:set>
                                      <p:cBhvr>
                                        <p:cTn id="26" dur="1" fill="hold">
                                          <p:stCondLst>
                                            <p:cond delay="0"/>
                                          </p:stCondLst>
                                        </p:cTn>
                                        <p:tgtEl>
                                          <p:spTgt spid="111"/>
                                        </p:tgtEl>
                                        <p:attrNameLst>
                                          <p:attrName>style.visibility</p:attrName>
                                        </p:attrNameLst>
                                      </p:cBhvr>
                                      <p:to>
                                        <p:strVal val="visible"/>
                                      </p:to>
                                    </p:set>
                                    <p:animEffect transition="in" filter="fade">
                                      <p:cBhvr>
                                        <p:cTn id="27" dur="500"/>
                                        <p:tgtEl>
                                          <p:spTgt spid="11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13"/>
                                        </p:tgtEl>
                                        <p:attrNameLst>
                                          <p:attrName>style.visibility</p:attrName>
                                        </p:attrNameLst>
                                      </p:cBhvr>
                                      <p:to>
                                        <p:strVal val="visible"/>
                                      </p:to>
                                    </p:set>
                                    <p:animEffect transition="in" filter="fade">
                                      <p:cBhvr>
                                        <p:cTn id="33" dur="500"/>
                                        <p:tgtEl>
                                          <p:spTgt spid="113"/>
                                        </p:tgtEl>
                                      </p:cBhvr>
                                    </p:animEffect>
                                  </p:childTnLst>
                                </p:cTn>
                              </p:par>
                              <p:par>
                                <p:cTn id="34" presetID="10" presetClass="entr" presetSubtype="0" fill="hold" nodeType="withEffect">
                                  <p:stCondLst>
                                    <p:cond delay="0"/>
                                  </p:stCondLst>
                                  <p:childTnLst>
                                    <p:set>
                                      <p:cBhvr>
                                        <p:cTn id="35" dur="1" fill="hold">
                                          <p:stCondLst>
                                            <p:cond delay="0"/>
                                          </p:stCondLst>
                                        </p:cTn>
                                        <p:tgtEl>
                                          <p:spTgt spid="114"/>
                                        </p:tgtEl>
                                        <p:attrNameLst>
                                          <p:attrName>style.visibility</p:attrName>
                                        </p:attrNameLst>
                                      </p:cBhvr>
                                      <p:to>
                                        <p:strVal val="visible"/>
                                      </p:to>
                                    </p:set>
                                    <p:animEffect transition="in" filter="fade">
                                      <p:cBhvr>
                                        <p:cTn id="36" dur="500"/>
                                        <p:tgtEl>
                                          <p:spTgt spid="1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nodeType="withEffect">
                                  <p:stCondLst>
                                    <p:cond delay="0"/>
                                  </p:stCondLst>
                                  <p:childTnLst>
                                    <p:set>
                                      <p:cBhvr>
                                        <p:cTn id="43" dur="1" fill="hold">
                                          <p:stCondLst>
                                            <p:cond delay="0"/>
                                          </p:stCondLst>
                                        </p:cTn>
                                        <p:tgtEl>
                                          <p:spTgt spid="131"/>
                                        </p:tgtEl>
                                        <p:attrNameLst>
                                          <p:attrName>style.visibility</p:attrName>
                                        </p:attrNameLst>
                                      </p:cBhvr>
                                      <p:to>
                                        <p:strVal val="visible"/>
                                      </p:to>
                                    </p:set>
                                    <p:animEffect transition="in" filter="fade">
                                      <p:cBhvr>
                                        <p:cTn id="44" dur="500"/>
                                        <p:tgtEl>
                                          <p:spTgt spid="131"/>
                                        </p:tgtEl>
                                      </p:cBhvr>
                                    </p:animEffect>
                                  </p:childTnLst>
                                </p:cTn>
                              </p:par>
                              <p:par>
                                <p:cTn id="45" presetID="10" presetClass="entr" presetSubtype="0" fill="hold" nodeType="withEffect">
                                  <p:stCondLst>
                                    <p:cond delay="0"/>
                                  </p:stCondLst>
                                  <p:childTnLst>
                                    <p:set>
                                      <p:cBhvr>
                                        <p:cTn id="46" dur="1" fill="hold">
                                          <p:stCondLst>
                                            <p:cond delay="0"/>
                                          </p:stCondLst>
                                        </p:cTn>
                                        <p:tgtEl>
                                          <p:spTgt spid="132"/>
                                        </p:tgtEl>
                                        <p:attrNameLst>
                                          <p:attrName>style.visibility</p:attrName>
                                        </p:attrNameLst>
                                      </p:cBhvr>
                                      <p:to>
                                        <p:strVal val="visible"/>
                                      </p:to>
                                    </p:set>
                                    <p:animEffect transition="in" filter="fade">
                                      <p:cBhvr>
                                        <p:cTn id="47" dur="500"/>
                                        <p:tgtEl>
                                          <p:spTgt spid="132"/>
                                        </p:tgtEl>
                                      </p:cBhvr>
                                    </p:animEffect>
                                  </p:childTnLst>
                                </p:cTn>
                              </p:par>
                              <p:par>
                                <p:cTn id="48" presetID="10" presetClass="entr" presetSubtype="0" fill="hold" nodeType="withEffect">
                                  <p:stCondLst>
                                    <p:cond delay="0"/>
                                  </p:stCondLst>
                                  <p:childTnLst>
                                    <p:set>
                                      <p:cBhvr>
                                        <p:cTn id="49" dur="1" fill="hold">
                                          <p:stCondLst>
                                            <p:cond delay="0"/>
                                          </p:stCondLst>
                                        </p:cTn>
                                        <p:tgtEl>
                                          <p:spTgt spid="133"/>
                                        </p:tgtEl>
                                        <p:attrNameLst>
                                          <p:attrName>style.visibility</p:attrName>
                                        </p:attrNameLst>
                                      </p:cBhvr>
                                      <p:to>
                                        <p:strVal val="visible"/>
                                      </p:to>
                                    </p:set>
                                    <p:animEffect transition="in" filter="fade">
                                      <p:cBhvr>
                                        <p:cTn id="50" dur="500"/>
                                        <p:tgtEl>
                                          <p:spTgt spid="13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50"/>
                                        </p:tgtEl>
                                        <p:attrNameLst>
                                          <p:attrName>style.visibility</p:attrName>
                                        </p:attrNameLst>
                                      </p:cBhvr>
                                      <p:to>
                                        <p:strVal val="visible"/>
                                      </p:to>
                                    </p:set>
                                    <p:animEffect transition="in" filter="fade">
                                      <p:cBhvr>
                                        <p:cTn id="6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26</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a:t>
            </a:r>
          </a:p>
          <a:p>
            <a:pPr algn="ctr">
              <a:spcBef>
                <a:spcPts val="200"/>
              </a:spcBef>
              <a:buNone/>
            </a:pPr>
            <a:r>
              <a:rPr lang="en-US" sz="2200" dirty="0">
                <a:solidFill>
                  <a:srgbClr val="5C4826"/>
                </a:solidFill>
              </a:rPr>
              <a:t>so, </a:t>
            </a:r>
            <a:r>
              <a:rPr lang="en-US" sz="2200" b="0" i="0" dirty="0">
                <a:solidFill>
                  <a:srgbClr val="5C4826"/>
                </a:solidFill>
              </a:rPr>
              <a:t>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27</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28</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a:t>
            </a:r>
            <a:r>
              <a:rPr lang="en-US" sz="2000" dirty="0">
                <a:solidFill>
                  <a:srgbClr val="000000"/>
                </a:solidFill>
              </a:rPr>
              <a:t>answers; cases </a:t>
            </a:r>
            <a:r>
              <a:rPr lang="en-US" sz="2000" b="0" i="0" dirty="0">
                <a:solidFill>
                  <a:srgbClr val="000000"/>
                </a:solidFill>
              </a:rPr>
              <a:t>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a:t>
            </a:r>
            <a:r>
              <a:rPr lang="en-US" sz="2000" dirty="0">
                <a:solidFill>
                  <a:srgbClr val="000000"/>
                </a:solidFill>
              </a:rPr>
              <a:t>properties; counterexample </a:t>
            </a:r>
            <a:r>
              <a:rPr lang="en-US" sz="2000" b="0" i="0" dirty="0">
                <a:solidFill>
                  <a:srgbClr val="000000"/>
                </a:solidFill>
              </a:rPr>
              <a:t>search</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relations among executions</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crash · hang · assertion</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2000" b="1" i="0" dirty="0">
                <a:solidFill>
                  <a:srgbClr val="5C4826"/>
                </a:solidFill>
              </a:rPr>
              <a:t>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20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Choose the strategy for the uncertainty </a:t>
            </a:r>
            <a:r>
              <a:rPr lang="en-US" sz="2400" b="1" dirty="0">
                <a:solidFill>
                  <a:srgbClr val="5C4826"/>
                </a:solidFill>
              </a:rPr>
              <a:t>you need </a:t>
            </a:r>
            <a:r>
              <a:rPr lang="en-US" sz="2400" b="1" i="0" dirty="0">
                <a:solidFill>
                  <a:srgbClr val="5C4826"/>
                </a:solidFill>
              </a:rPr>
              <a:t>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a:t>
            </a:r>
            <a:r>
              <a:rPr lang="en-US" sz="2000" b="1" dirty="0">
                <a:solidFill>
                  <a:srgbClr val="FFFFFF"/>
                </a:solidFill>
              </a:rPr>
              <a:t> </a:t>
            </a:r>
            <a:r>
              <a:rPr lang="en-US" sz="2000" b="1" i="0" dirty="0">
                <a:solidFill>
                  <a:srgbClr val="FFFFFF"/>
                </a:solidFill>
              </a:rPr>
              <a:t>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330000"/>
            <a:ext cx="8010144" cy="1300000"/>
          </a:xfrm>
          <a:prstGeom prst="rect">
            <a:avLst/>
          </a:prstGeom>
          <a:noFill/>
          <a:ln>
            <a:noFill/>
          </a:ln>
        </p:spPr>
        <p:txBody>
          <a:bodyPr wrap="square" lIns="45720" tIns="27432" rIns="45720" bIns="27432" anchor="t"/>
          <a:lstStyle/>
          <a:p>
            <a:pPr algn="ctr">
              <a:buNone/>
            </a:pPr>
            <a:r>
              <a:rPr lang="en-US" sz="2200" b="1" i="0" dirty="0">
                <a:solidFill>
                  <a:srgbClr val="000000"/>
                </a:solidFill>
              </a:rPr>
              <a:t>All 5,000 pass.</a:t>
            </a:r>
          </a:p>
          <a:p>
            <a:pPr algn="ctr">
              <a:buNone/>
            </a:pPr>
            <a:r>
              <a:rPr lang="en-US" sz="2200" b="1" i="0" dirty="0">
                <a:solidFill>
                  <a:srgbClr val="000000"/>
                </a:solidFill>
              </a:rPr>
              <a:t>What probability did our calculation actually depend on?</a:t>
            </a:r>
          </a:p>
          <a:p>
            <a:pPr algn="ctr">
              <a:buNone/>
            </a:pPr>
            <a:r>
              <a:rPr lang="en-US" sz="2000" b="0" i="0" dirty="0">
                <a:solidFill>
                  <a:srgbClr val="555960"/>
                </a:solidFill>
              </a:rPr>
              <a:t>P(all miss) = ∏</a:t>
            </a:r>
            <a:r>
              <a:rPr lang="en-US" sz="2000" b="0" i="0" baseline="-25000" dirty="0">
                <a:solidFill>
                  <a:srgbClr val="555960"/>
                </a:solidFill>
              </a:rPr>
              <a:t>i</a:t>
            </a:r>
            <a:r>
              <a:rPr lang="en-US" sz="2000" b="0" i="0" dirty="0">
                <a:solidFill>
                  <a:srgbClr val="555960"/>
                </a:solidFill>
              </a:rPr>
              <a:t> P(T</a:t>
            </a:r>
            <a:r>
              <a:rPr lang="en-US" sz="2000" b="0" i="0" baseline="-25000" dirty="0">
                <a:solidFill>
                  <a:srgbClr val="555960"/>
                </a:solidFill>
              </a:rPr>
              <a:t>i</a:t>
            </a:r>
            <a:r>
              <a:rPr lang="en-US" sz="2000" b="0" i="0" dirty="0">
                <a:solidFill>
                  <a:srgbClr val="555960"/>
                </a:solidFill>
              </a:rPr>
              <a:t> misses) — only under independence.</a:t>
            </a:r>
          </a:p>
          <a:p>
            <a:pPr algn="ctr">
              <a:buNone/>
            </a:pPr>
            <a:r>
              <a:rPr lang="en-US" sz="2000" b="0" i="0" dirty="0">
                <a:solidFill>
                  <a:srgbClr val="555960"/>
                </a:solidFill>
              </a:rPr>
              <a:t>With correlated evidence, P(all miss) need not shrink like 0.99</a:t>
            </a:r>
            <a:r>
              <a:rPr lang="en-US" sz="2000" b="0" i="0" baseline="30000" dirty="0">
                <a:solidFill>
                  <a:srgbClr val="555960"/>
                </a:solidFill>
              </a:rPr>
              <a:t>n</a:t>
            </a:r>
            <a:r>
              <a:rPr lang="en-US" sz="2000" b="0" i="0" dirty="0">
                <a:solidFill>
                  <a:srgbClr val="555960"/>
                </a:solidFill>
              </a:rPr>
              <a:t>.</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Strong validation triangulates across evidence with</a:t>
            </a:r>
          </a:p>
          <a:p>
            <a:pPr algn="ctr">
              <a:buNone/>
            </a:pPr>
            <a:r>
              <a:rPr lang="en-US" sz="2000" b="1" i="0" dirty="0">
                <a:solidFill>
                  <a:srgbClr val="FFFFFF"/>
                </a:solidFill>
              </a:rPr>
              <a:t>meaningfully different assumptions and failure modes.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0"/>
                                        </p:tgtEl>
                                        <p:attrNameLst>
                                          <p:attrName>style.visibility</p:attrName>
                                        </p:attrNameLst>
                                      </p:cBhvr>
                                      <p:to>
                                        <p:strVal val="visible"/>
                                      </p:to>
                                    </p:set>
                                    <p:animEffect transition="in" filter="fade">
                                      <p:cBhvr>
                                        <p:cTn id="12" dur="500"/>
                                        <p:tgtEl>
                                          <p:spTgt spid="2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nodeType="clickEffect">
                                  <p:stCondLst>
                                    <p:cond delay="0"/>
                                  </p:stCondLst>
                                  <p:childTnLst>
                                    <p:animEffect transition="out" filter="fade">
                                      <p:cBhvr>
                                        <p:cTn id="16" dur="400"/>
                                        <p:tgtEl>
                                          <p:spTgt spid="200"/>
                                        </p:tgtEl>
                                      </p:cBhvr>
                                    </p:animEffect>
                                    <p:set>
                                      <p:cBhvr>
                                        <p:cTn id="17" dur="1" fill="hold">
                                          <p:stCondLst>
                                            <p:cond delay="399"/>
                                          </p:stCondLst>
                                        </p:cTn>
                                        <p:tgtEl>
                                          <p:spTgt spid="200"/>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9" dur="400"/>
                                        <p:tgtEl>
                                          <p:spTgt spid="210"/>
                                        </p:tgtEl>
                                      </p:cBhvr>
                                    </p:animEffect>
                                    <p:set>
                                      <p:cBhvr>
                                        <p:cTn id="20" dur="1" fill="hold">
                                          <p:stCondLst>
                                            <p:cond delay="399"/>
                                          </p:stCondLst>
                                        </p:cTn>
                                        <p:tgtEl>
                                          <p:spTgt spid="210"/>
                                        </p:tgtEl>
                                        <p:attrNameLst>
                                          <p:attrName>style.visibility</p:attrName>
                                        </p:attrNameLst>
                                      </p:cBhvr>
                                      <p:to>
                                        <p:strVal val="hidden"/>
                                      </p:to>
                                    </p:set>
                                  </p:childTnLst>
                                </p:cTn>
                              </p:par>
                              <p:par>
                                <p:cTn id="21" presetID="10" presetClass="entr" presetSubtype="0" fill="hold" nodeType="withEffect">
                                  <p:stCondLst>
                                    <p:cond delay="0"/>
                                  </p:stCondLst>
                                  <p:childTnLst>
                                    <p:set>
                                      <p:cBhvr>
                                        <p:cTn id="22" dur="1" fill="hold">
                                          <p:stCondLst>
                                            <p:cond delay="0"/>
                                          </p:stCondLst>
                                        </p:cTn>
                                        <p:tgtEl>
                                          <p:spTgt spid="300"/>
                                        </p:tgtEl>
                                        <p:attrNameLst>
                                          <p:attrName>style.visibility</p:attrName>
                                        </p:attrNameLst>
                                      </p:cBhvr>
                                      <p:to>
                                        <p:strVal val="visible"/>
                                      </p:to>
                                    </p:set>
                                    <p:animEffect transition="in" filter="fade">
                                      <p:cBhvr>
                                        <p:cTn id="23" dur="500"/>
                                        <p:tgtEl>
                                          <p:spTgt spid="300"/>
                                        </p:tgtEl>
                                      </p:cBhvr>
                                    </p:animEffect>
                                  </p:childTnLst>
                                </p:cTn>
                              </p:par>
                              <p:par>
                                <p:cTn id="24" presetID="10" presetClass="entr" presetSubtype="0" fill="hold" nodeType="withEffect">
                                  <p:stCondLst>
                                    <p:cond delay="0"/>
                                  </p:stCondLst>
                                  <p:childTnLst>
                                    <p:set>
                                      <p:cBhvr>
                                        <p:cTn id="25" dur="1" fill="hold">
                                          <p:stCondLst>
                                            <p:cond delay="0"/>
                                          </p:stCondLst>
                                        </p:cTn>
                                        <p:tgtEl>
                                          <p:spTgt spid="301"/>
                                        </p:tgtEl>
                                        <p:attrNameLst>
                                          <p:attrName>style.visibility</p:attrName>
                                        </p:attrNameLst>
                                      </p:cBhvr>
                                      <p:to>
                                        <p:strVal val="visible"/>
                                      </p:to>
                                    </p:set>
                                    <p:animEffect transition="in" filter="fade">
                                      <p:cBhvr>
                                        <p:cTn id="26" dur="500"/>
                                        <p:tgtEl>
                                          <p:spTgt spid="301"/>
                                        </p:tgtEl>
                                      </p:cBhvr>
                                    </p:animEffect>
                                  </p:childTnLst>
                                </p:cTn>
                              </p:par>
                              <p:par>
                                <p:cTn id="27" presetID="10" presetClass="entr" presetSubtype="0" fill="hold" nodeType="withEffect">
                                  <p:stCondLst>
                                    <p:cond delay="0"/>
                                  </p:stCondLst>
                                  <p:childTnLst>
                                    <p:set>
                                      <p:cBhvr>
                                        <p:cTn id="28" dur="1" fill="hold">
                                          <p:stCondLst>
                                            <p:cond delay="0"/>
                                          </p:stCondLst>
                                        </p:cTn>
                                        <p:tgtEl>
                                          <p:spTgt spid="302"/>
                                        </p:tgtEl>
                                        <p:attrNameLst>
                                          <p:attrName>style.visibility</p:attrName>
                                        </p:attrNameLst>
                                      </p:cBhvr>
                                      <p:to>
                                        <p:strVal val="visible"/>
                                      </p:to>
                                    </p:set>
                                    <p:animEffect transition="in" filter="fade">
                                      <p:cBhvr>
                                        <p:cTn id="29" dur="500"/>
                                        <p:tgtEl>
                                          <p:spTgt spid="302"/>
                                        </p:tgtEl>
                                      </p:cBhvr>
                                    </p:animEffect>
                                  </p:childTnLst>
                                </p:cTn>
                              </p:par>
                              <p:par>
                                <p:cTn id="30" presetID="10" presetClass="entr" presetSubtype="0" fill="hold" nodeType="withEffect">
                                  <p:stCondLst>
                                    <p:cond delay="0"/>
                                  </p:stCondLst>
                                  <p:childTnLst>
                                    <p:set>
                                      <p:cBhvr>
                                        <p:cTn id="31" dur="1" fill="hold">
                                          <p:stCondLst>
                                            <p:cond delay="0"/>
                                          </p:stCondLst>
                                        </p:cTn>
                                        <p:tgtEl>
                                          <p:spTgt spid="303"/>
                                        </p:tgtEl>
                                        <p:attrNameLst>
                                          <p:attrName>style.visibility</p:attrName>
                                        </p:attrNameLst>
                                      </p:cBhvr>
                                      <p:to>
                                        <p:strVal val="visible"/>
                                      </p:to>
                                    </p:set>
                                    <p:animEffect transition="in" filter="fade">
                                      <p:cBhvr>
                                        <p:cTn id="32" dur="500"/>
                                        <p:tgtEl>
                                          <p:spTgt spid="303"/>
                                        </p:tgtEl>
                                      </p:cBhvr>
                                    </p:animEffect>
                                  </p:childTnLst>
                                </p:cTn>
                              </p:par>
                              <p:par>
                                <p:cTn id="33" presetID="10" presetClass="entr" presetSubtype="0" fill="hold" nodeType="withEffect">
                                  <p:stCondLst>
                                    <p:cond delay="0"/>
                                  </p:stCondLst>
                                  <p:childTnLst>
                                    <p:set>
                                      <p:cBhvr>
                                        <p:cTn id="34" dur="1" fill="hold">
                                          <p:stCondLst>
                                            <p:cond delay="0"/>
                                          </p:stCondLst>
                                        </p:cTn>
                                        <p:tgtEl>
                                          <p:spTgt spid="304"/>
                                        </p:tgtEl>
                                        <p:attrNameLst>
                                          <p:attrName>style.visibility</p:attrName>
                                        </p:attrNameLst>
                                      </p:cBhvr>
                                      <p:to>
                                        <p:strVal val="visible"/>
                                      </p:to>
                                    </p:set>
                                    <p:animEffect transition="in" filter="fade">
                                      <p:cBhvr>
                                        <p:cTn id="35" dur="500"/>
                                        <p:tgtEl>
                                          <p:spTgt spid="304"/>
                                        </p:tgtEl>
                                      </p:cBhvr>
                                    </p:animEffect>
                                  </p:childTnLst>
                                </p:cTn>
                              </p:par>
                              <p:par>
                                <p:cTn id="36" presetID="10" presetClass="entr" presetSubtype="0" fill="hold" nodeType="withEffect">
                                  <p:stCondLst>
                                    <p:cond delay="0"/>
                                  </p:stCondLst>
                                  <p:childTnLst>
                                    <p:set>
                                      <p:cBhvr>
                                        <p:cTn id="37" dur="1" fill="hold">
                                          <p:stCondLst>
                                            <p:cond delay="0"/>
                                          </p:stCondLst>
                                        </p:cTn>
                                        <p:tgtEl>
                                          <p:spTgt spid="305"/>
                                        </p:tgtEl>
                                        <p:attrNameLst>
                                          <p:attrName>style.visibility</p:attrName>
                                        </p:attrNameLst>
                                      </p:cBhvr>
                                      <p:to>
                                        <p:strVal val="visible"/>
                                      </p:to>
                                    </p:set>
                                    <p:animEffect transition="in" filter="fade">
                                      <p:cBhvr>
                                        <p:cTn id="38" dur="500"/>
                                        <p:tgtEl>
                                          <p:spTgt spid="305"/>
                                        </p:tgtEl>
                                      </p:cBhvr>
                                    </p:animEffect>
                                  </p:childTnLst>
                                </p:cTn>
                              </p:par>
                              <p:par>
                                <p:cTn id="39" presetID="10" presetClass="entr" presetSubtype="0" fill="hold" nodeType="withEffect">
                                  <p:stCondLst>
                                    <p:cond delay="0"/>
                                  </p:stCondLst>
                                  <p:childTnLst>
                                    <p:set>
                                      <p:cBhvr>
                                        <p:cTn id="40" dur="1" fill="hold">
                                          <p:stCondLst>
                                            <p:cond delay="0"/>
                                          </p:stCondLst>
                                        </p:cTn>
                                        <p:tgtEl>
                                          <p:spTgt spid="306"/>
                                        </p:tgtEl>
                                        <p:attrNameLst>
                                          <p:attrName>style.visibility</p:attrName>
                                        </p:attrNameLst>
                                      </p:cBhvr>
                                      <p:to>
                                        <p:strVal val="visible"/>
                                      </p:to>
                                    </p:set>
                                    <p:animEffect transition="in" filter="fade">
                                      <p:cBhvr>
                                        <p:cTn id="41" dur="500"/>
                                        <p:tgtEl>
                                          <p:spTgt spid="306"/>
                                        </p:tgtEl>
                                      </p:cBhvr>
                                    </p:animEffect>
                                  </p:childTnLst>
                                </p:cTn>
                              </p:par>
                              <p:par>
                                <p:cTn id="42" presetID="10" presetClass="entr" presetSubtype="0" fill="hold" nodeType="withEffect">
                                  <p:stCondLst>
                                    <p:cond delay="0"/>
                                  </p:stCondLst>
                                  <p:childTnLst>
                                    <p:set>
                                      <p:cBhvr>
                                        <p:cTn id="43" dur="1" fill="hold">
                                          <p:stCondLst>
                                            <p:cond delay="0"/>
                                          </p:stCondLst>
                                        </p:cTn>
                                        <p:tgtEl>
                                          <p:spTgt spid="311"/>
                                        </p:tgtEl>
                                        <p:attrNameLst>
                                          <p:attrName>style.visibility</p:attrName>
                                        </p:attrNameLst>
                                      </p:cBhvr>
                                      <p:to>
                                        <p:strVal val="visible"/>
                                      </p:to>
                                    </p:set>
                                    <p:animEffect transition="in" filter="fade">
                                      <p:cBhvr>
                                        <p:cTn id="44" dur="500"/>
                                        <p:tgtEl>
                                          <p:spTgt spid="311"/>
                                        </p:tgtEl>
                                      </p:cBhvr>
                                    </p:animEffect>
                                  </p:childTnLst>
                                </p:cTn>
                              </p:par>
                              <p:par>
                                <p:cTn id="45" presetID="10" presetClass="entr" presetSubtype="0" fill="hold" nodeType="withEffect">
                                  <p:stCondLst>
                                    <p:cond delay="0"/>
                                  </p:stCondLst>
                                  <p:childTnLst>
                                    <p:set>
                                      <p:cBhvr>
                                        <p:cTn id="46" dur="1" fill="hold">
                                          <p:stCondLst>
                                            <p:cond delay="0"/>
                                          </p:stCondLst>
                                        </p:cTn>
                                        <p:tgtEl>
                                          <p:spTgt spid="312"/>
                                        </p:tgtEl>
                                        <p:attrNameLst>
                                          <p:attrName>style.visibility</p:attrName>
                                        </p:attrNameLst>
                                      </p:cBhvr>
                                      <p:to>
                                        <p:strVal val="visible"/>
                                      </p:to>
                                    </p:set>
                                    <p:animEffect transition="in" filter="fade">
                                      <p:cBhvr>
                                        <p:cTn id="47" dur="500"/>
                                        <p:tgtEl>
                                          <p:spTgt spid="312"/>
                                        </p:tgtEl>
                                      </p:cBhvr>
                                    </p:animEffect>
                                  </p:childTnLst>
                                </p:cTn>
                              </p:par>
                              <p:par>
                                <p:cTn id="48" presetID="10" presetClass="entr" presetSubtype="0" fill="hold" nodeType="withEffect">
                                  <p:stCondLst>
                                    <p:cond delay="0"/>
                                  </p:stCondLst>
                                  <p:childTnLst>
                                    <p:set>
                                      <p:cBhvr>
                                        <p:cTn id="49" dur="1" fill="hold">
                                          <p:stCondLst>
                                            <p:cond delay="0"/>
                                          </p:stCondLst>
                                        </p:cTn>
                                        <p:tgtEl>
                                          <p:spTgt spid="313"/>
                                        </p:tgtEl>
                                        <p:attrNameLst>
                                          <p:attrName>style.visibility</p:attrName>
                                        </p:attrNameLst>
                                      </p:cBhvr>
                                      <p:to>
                                        <p:strVal val="visible"/>
                                      </p:to>
                                    </p:set>
                                    <p:animEffect transition="in" filter="fade">
                                      <p:cBhvr>
                                        <p:cTn id="50" dur="500"/>
                                        <p:tgtEl>
                                          <p:spTgt spid="313"/>
                                        </p:tgtEl>
                                      </p:cBhvr>
                                    </p:animEffect>
                                  </p:childTnLst>
                                </p:cTn>
                              </p:par>
                              <p:par>
                                <p:cTn id="51" presetID="10" presetClass="entr" presetSubtype="0" fill="hold" nodeType="withEffect">
                                  <p:stCondLst>
                                    <p:cond delay="0"/>
                                  </p:stCondLst>
                                  <p:childTnLst>
                                    <p:set>
                                      <p:cBhvr>
                                        <p:cTn id="52" dur="1" fill="hold">
                                          <p:stCondLst>
                                            <p:cond delay="0"/>
                                          </p:stCondLst>
                                        </p:cTn>
                                        <p:tgtEl>
                                          <p:spTgt spid="314"/>
                                        </p:tgtEl>
                                        <p:attrNameLst>
                                          <p:attrName>style.visibility</p:attrName>
                                        </p:attrNameLst>
                                      </p:cBhvr>
                                      <p:to>
                                        <p:strVal val="visible"/>
                                      </p:to>
                                    </p:set>
                                    <p:animEffect transition="in" filter="fade">
                                      <p:cBhvr>
                                        <p:cTn id="53" dur="500"/>
                                        <p:tgtEl>
                                          <p:spTgt spid="314"/>
                                        </p:tgtEl>
                                      </p:cBhvr>
                                    </p:animEffect>
                                  </p:childTnLst>
                                </p:cTn>
                              </p:par>
                              <p:par>
                                <p:cTn id="54" presetID="10" presetClass="entr" presetSubtype="0" fill="hold" nodeType="withEffect">
                                  <p:stCondLst>
                                    <p:cond delay="0"/>
                                  </p:stCondLst>
                                  <p:childTnLst>
                                    <p:set>
                                      <p:cBhvr>
                                        <p:cTn id="55" dur="1" fill="hold">
                                          <p:stCondLst>
                                            <p:cond delay="0"/>
                                          </p:stCondLst>
                                        </p:cTn>
                                        <p:tgtEl>
                                          <p:spTgt spid="315"/>
                                        </p:tgtEl>
                                        <p:attrNameLst>
                                          <p:attrName>style.visibility</p:attrName>
                                        </p:attrNameLst>
                                      </p:cBhvr>
                                      <p:to>
                                        <p:strVal val="visible"/>
                                      </p:to>
                                    </p:set>
                                    <p:animEffect transition="in" filter="fade">
                                      <p:cBhvr>
                                        <p:cTn id="56" dur="500"/>
                                        <p:tgtEl>
                                          <p:spTgt spid="315"/>
                                        </p:tgtEl>
                                      </p:cBhvr>
                                    </p:animEffect>
                                  </p:childTnLst>
                                </p:cTn>
                              </p:par>
                              <p:par>
                                <p:cTn id="57" presetID="10" presetClass="entr" presetSubtype="0" fill="hold" nodeType="withEffect">
                                  <p:stCondLst>
                                    <p:cond delay="0"/>
                                  </p:stCondLst>
                                  <p:childTnLst>
                                    <p:set>
                                      <p:cBhvr>
                                        <p:cTn id="58" dur="1" fill="hold">
                                          <p:stCondLst>
                                            <p:cond delay="0"/>
                                          </p:stCondLst>
                                        </p:cTn>
                                        <p:tgtEl>
                                          <p:spTgt spid="318"/>
                                        </p:tgtEl>
                                        <p:attrNameLst>
                                          <p:attrName>style.visibility</p:attrName>
                                        </p:attrNameLst>
                                      </p:cBhvr>
                                      <p:to>
                                        <p:strVal val="visible"/>
                                      </p:to>
                                    </p:set>
                                    <p:animEffect transition="in" filter="fade">
                                      <p:cBhvr>
                                        <p:cTn id="59" dur="500"/>
                                        <p:tgtEl>
                                          <p:spTgt spid="318"/>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xit" presetSubtype="0" fill="hold" nodeType="clickEffect">
                                  <p:stCondLst>
                                    <p:cond delay="0"/>
                                  </p:stCondLst>
                                  <p:childTnLst>
                                    <p:animEffect transition="out" filter="fade">
                                      <p:cBhvr>
                                        <p:cTn id="63" dur="400"/>
                                        <p:tgtEl>
                                          <p:spTgt spid="300"/>
                                        </p:tgtEl>
                                      </p:cBhvr>
                                    </p:animEffect>
                                    <p:set>
                                      <p:cBhvr>
                                        <p:cTn id="64" dur="1" fill="hold">
                                          <p:stCondLst>
                                            <p:cond delay="399"/>
                                          </p:stCondLst>
                                        </p:cTn>
                                        <p:tgtEl>
                                          <p:spTgt spid="300"/>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400"/>
                                        <p:tgtEl>
                                          <p:spTgt spid="301"/>
                                        </p:tgtEl>
                                      </p:cBhvr>
                                    </p:animEffect>
                                    <p:set>
                                      <p:cBhvr>
                                        <p:cTn id="67" dur="1" fill="hold">
                                          <p:stCondLst>
                                            <p:cond delay="399"/>
                                          </p:stCondLst>
                                        </p:cTn>
                                        <p:tgtEl>
                                          <p:spTgt spid="301"/>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400"/>
                                        <p:tgtEl>
                                          <p:spTgt spid="302"/>
                                        </p:tgtEl>
                                      </p:cBhvr>
                                    </p:animEffect>
                                    <p:set>
                                      <p:cBhvr>
                                        <p:cTn id="70" dur="1" fill="hold">
                                          <p:stCondLst>
                                            <p:cond delay="399"/>
                                          </p:stCondLst>
                                        </p:cTn>
                                        <p:tgtEl>
                                          <p:spTgt spid="302"/>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400"/>
                                        <p:tgtEl>
                                          <p:spTgt spid="303"/>
                                        </p:tgtEl>
                                      </p:cBhvr>
                                    </p:animEffect>
                                    <p:set>
                                      <p:cBhvr>
                                        <p:cTn id="73" dur="1" fill="hold">
                                          <p:stCondLst>
                                            <p:cond delay="399"/>
                                          </p:stCondLst>
                                        </p:cTn>
                                        <p:tgtEl>
                                          <p:spTgt spid="303"/>
                                        </p:tgtEl>
                                        <p:attrNameLst>
                                          <p:attrName>style.visibility</p:attrName>
                                        </p:attrNameLst>
                                      </p:cBhvr>
                                      <p:to>
                                        <p:strVal val="hidden"/>
                                      </p:to>
                                    </p:set>
                                  </p:childTnLst>
                                </p:cTn>
                              </p:par>
                              <p:par>
                                <p:cTn id="74" presetID="10" presetClass="exit" presetSubtype="0" fill="hold" nodeType="withEffect">
                                  <p:stCondLst>
                                    <p:cond delay="0"/>
                                  </p:stCondLst>
                                  <p:childTnLst>
                                    <p:animEffect transition="out" filter="fade">
                                      <p:cBhvr>
                                        <p:cTn id="75" dur="400"/>
                                        <p:tgtEl>
                                          <p:spTgt spid="304"/>
                                        </p:tgtEl>
                                      </p:cBhvr>
                                    </p:animEffect>
                                    <p:set>
                                      <p:cBhvr>
                                        <p:cTn id="76" dur="1" fill="hold">
                                          <p:stCondLst>
                                            <p:cond delay="399"/>
                                          </p:stCondLst>
                                        </p:cTn>
                                        <p:tgtEl>
                                          <p:spTgt spid="304"/>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400"/>
                                        <p:tgtEl>
                                          <p:spTgt spid="305"/>
                                        </p:tgtEl>
                                      </p:cBhvr>
                                    </p:animEffect>
                                    <p:set>
                                      <p:cBhvr>
                                        <p:cTn id="79" dur="1" fill="hold">
                                          <p:stCondLst>
                                            <p:cond delay="399"/>
                                          </p:stCondLst>
                                        </p:cTn>
                                        <p:tgtEl>
                                          <p:spTgt spid="305"/>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400"/>
                                        <p:tgtEl>
                                          <p:spTgt spid="306"/>
                                        </p:tgtEl>
                                      </p:cBhvr>
                                    </p:animEffect>
                                    <p:set>
                                      <p:cBhvr>
                                        <p:cTn id="82" dur="1" fill="hold">
                                          <p:stCondLst>
                                            <p:cond delay="399"/>
                                          </p:stCondLst>
                                        </p:cTn>
                                        <p:tgtEl>
                                          <p:spTgt spid="306"/>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400"/>
                                        <p:tgtEl>
                                          <p:spTgt spid="311"/>
                                        </p:tgtEl>
                                      </p:cBhvr>
                                    </p:animEffect>
                                    <p:set>
                                      <p:cBhvr>
                                        <p:cTn id="85" dur="1" fill="hold">
                                          <p:stCondLst>
                                            <p:cond delay="399"/>
                                          </p:stCondLst>
                                        </p:cTn>
                                        <p:tgtEl>
                                          <p:spTgt spid="311"/>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400"/>
                                        <p:tgtEl>
                                          <p:spTgt spid="312"/>
                                        </p:tgtEl>
                                      </p:cBhvr>
                                    </p:animEffect>
                                    <p:set>
                                      <p:cBhvr>
                                        <p:cTn id="88" dur="1" fill="hold">
                                          <p:stCondLst>
                                            <p:cond delay="399"/>
                                          </p:stCondLst>
                                        </p:cTn>
                                        <p:tgtEl>
                                          <p:spTgt spid="312"/>
                                        </p:tgtEl>
                                        <p:attrNameLst>
                                          <p:attrName>style.visibility</p:attrName>
                                        </p:attrNameLst>
                                      </p:cBhvr>
                                      <p:to>
                                        <p:strVal val="hidden"/>
                                      </p:to>
                                    </p:set>
                                  </p:childTnLst>
                                </p:cTn>
                              </p:par>
                              <p:par>
                                <p:cTn id="89" presetID="10" presetClass="exit" presetSubtype="0" fill="hold" nodeType="withEffect">
                                  <p:stCondLst>
                                    <p:cond delay="0"/>
                                  </p:stCondLst>
                                  <p:childTnLst>
                                    <p:animEffect transition="out" filter="fade">
                                      <p:cBhvr>
                                        <p:cTn id="90" dur="400"/>
                                        <p:tgtEl>
                                          <p:spTgt spid="313"/>
                                        </p:tgtEl>
                                      </p:cBhvr>
                                    </p:animEffect>
                                    <p:set>
                                      <p:cBhvr>
                                        <p:cTn id="91" dur="1" fill="hold">
                                          <p:stCondLst>
                                            <p:cond delay="399"/>
                                          </p:stCondLst>
                                        </p:cTn>
                                        <p:tgtEl>
                                          <p:spTgt spid="313"/>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400"/>
                                        <p:tgtEl>
                                          <p:spTgt spid="314"/>
                                        </p:tgtEl>
                                      </p:cBhvr>
                                    </p:animEffect>
                                    <p:set>
                                      <p:cBhvr>
                                        <p:cTn id="94" dur="1" fill="hold">
                                          <p:stCondLst>
                                            <p:cond delay="399"/>
                                          </p:stCondLst>
                                        </p:cTn>
                                        <p:tgtEl>
                                          <p:spTgt spid="314"/>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400"/>
                                        <p:tgtEl>
                                          <p:spTgt spid="315"/>
                                        </p:tgtEl>
                                      </p:cBhvr>
                                    </p:animEffect>
                                    <p:set>
                                      <p:cBhvr>
                                        <p:cTn id="97" dur="1" fill="hold">
                                          <p:stCondLst>
                                            <p:cond delay="399"/>
                                          </p:stCondLst>
                                        </p:cTn>
                                        <p:tgtEl>
                                          <p:spTgt spid="315"/>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400"/>
                                        <p:tgtEl>
                                          <p:spTgt spid="318"/>
                                        </p:tgtEl>
                                      </p:cBhvr>
                                    </p:animEffect>
                                    <p:set>
                                      <p:cBhvr>
                                        <p:cTn id="100" dur="1" fill="hold">
                                          <p:stCondLst>
                                            <p:cond delay="399"/>
                                          </p:stCondLst>
                                        </p:cTn>
                                        <p:tgtEl>
                                          <p:spTgt spid="318"/>
                                        </p:tgtEl>
                                        <p:attrNameLst>
                                          <p:attrName>style.visibility</p:attrName>
                                        </p:attrNameLst>
                                      </p:cBhvr>
                                      <p:to>
                                        <p:strVal val="hidden"/>
                                      </p:to>
                                    </p:set>
                                  </p:childTnLst>
                                </p:cTn>
                              </p:par>
                              <p:par>
                                <p:cTn id="101" presetID="10" presetClass="entr" presetSubtype="0" fill="hold" nodeType="withEffect">
                                  <p:stCondLst>
                                    <p:cond delay="0"/>
                                  </p:stCondLst>
                                  <p:childTnLst>
                                    <p:set>
                                      <p:cBhvr>
                                        <p:cTn id="102" dur="1" fill="hold">
                                          <p:stCondLst>
                                            <p:cond delay="0"/>
                                          </p:stCondLst>
                                        </p:cTn>
                                        <p:tgtEl>
                                          <p:spTgt spid="400"/>
                                        </p:tgtEl>
                                        <p:attrNameLst>
                                          <p:attrName>style.visibility</p:attrName>
                                        </p:attrNameLst>
                                      </p:cBhvr>
                                      <p:to>
                                        <p:strVal val="visible"/>
                                      </p:to>
                                    </p:set>
                                    <p:animEffect transition="in" filter="fade">
                                      <p:cBhvr>
                                        <p:cTn id="103" dur="500"/>
                                        <p:tgtEl>
                                          <p:spTgt spid="400"/>
                                        </p:tgtEl>
                                      </p:cBhvr>
                                    </p:animEffect>
                                  </p:childTnLst>
                                </p:cTn>
                              </p:par>
                              <p:par>
                                <p:cTn id="104" presetID="10" presetClass="entr" presetSubtype="0" fill="hold" nodeType="withEffect">
                                  <p:stCondLst>
                                    <p:cond delay="0"/>
                                  </p:stCondLst>
                                  <p:childTnLst>
                                    <p:set>
                                      <p:cBhvr>
                                        <p:cTn id="105" dur="1" fill="hold">
                                          <p:stCondLst>
                                            <p:cond delay="0"/>
                                          </p:stCondLst>
                                        </p:cTn>
                                        <p:tgtEl>
                                          <p:spTgt spid="401"/>
                                        </p:tgtEl>
                                        <p:attrNameLst>
                                          <p:attrName>style.visibility</p:attrName>
                                        </p:attrNameLst>
                                      </p:cBhvr>
                                      <p:to>
                                        <p:strVal val="visible"/>
                                      </p:to>
                                    </p:set>
                                    <p:animEffect transition="in" filter="fade">
                                      <p:cBhvr>
                                        <p:cTn id="106" dur="500"/>
                                        <p:tgtEl>
                                          <p:spTgt spid="401"/>
                                        </p:tgtEl>
                                      </p:cBhvr>
                                    </p:animEffect>
                                  </p:childTnLst>
                                </p:cTn>
                              </p:par>
                              <p:par>
                                <p:cTn id="107" presetID="10" presetClass="entr" presetSubtype="0" fill="hold" nodeType="withEffect">
                                  <p:stCondLst>
                                    <p:cond delay="0"/>
                                  </p:stCondLst>
                                  <p:childTnLst>
                                    <p:set>
                                      <p:cBhvr>
                                        <p:cTn id="108" dur="1" fill="hold">
                                          <p:stCondLst>
                                            <p:cond delay="0"/>
                                          </p:stCondLst>
                                        </p:cTn>
                                        <p:tgtEl>
                                          <p:spTgt spid="402"/>
                                        </p:tgtEl>
                                        <p:attrNameLst>
                                          <p:attrName>style.visibility</p:attrName>
                                        </p:attrNameLst>
                                      </p:cBhvr>
                                      <p:to>
                                        <p:strVal val="visible"/>
                                      </p:to>
                                    </p:set>
                                    <p:animEffect transition="in" filter="fade">
                                      <p:cBhvr>
                                        <p:cTn id="109" dur="500"/>
                                        <p:tgtEl>
                                          <p:spTgt spid="402"/>
                                        </p:tgtEl>
                                      </p:cBhvr>
                                    </p:animEffect>
                                  </p:childTnLst>
                                </p:cTn>
                              </p:par>
                              <p:par>
                                <p:cTn id="110" presetID="10" presetClass="entr" presetSubtype="0" fill="hold" nodeType="withEffect">
                                  <p:stCondLst>
                                    <p:cond delay="0"/>
                                  </p:stCondLst>
                                  <p:childTnLst>
                                    <p:set>
                                      <p:cBhvr>
                                        <p:cTn id="111" dur="1" fill="hold">
                                          <p:stCondLst>
                                            <p:cond delay="0"/>
                                          </p:stCondLst>
                                        </p:cTn>
                                        <p:tgtEl>
                                          <p:spTgt spid="403"/>
                                        </p:tgtEl>
                                        <p:attrNameLst>
                                          <p:attrName>style.visibility</p:attrName>
                                        </p:attrNameLst>
                                      </p:cBhvr>
                                      <p:to>
                                        <p:strVal val="visible"/>
                                      </p:to>
                                    </p:set>
                                    <p:animEffect transition="in" filter="fade">
                                      <p:cBhvr>
                                        <p:cTn id="112" dur="500"/>
                                        <p:tgtEl>
                                          <p:spTgt spid="403"/>
                                        </p:tgtEl>
                                      </p:cBhvr>
                                    </p:animEffect>
                                  </p:childTnLst>
                                </p:cTn>
                              </p:par>
                              <p:par>
                                <p:cTn id="113" presetID="10" presetClass="entr" presetSubtype="0" fill="hold" nodeType="withEffect">
                                  <p:stCondLst>
                                    <p:cond delay="0"/>
                                  </p:stCondLst>
                                  <p:childTnLst>
                                    <p:set>
                                      <p:cBhvr>
                                        <p:cTn id="114" dur="1" fill="hold">
                                          <p:stCondLst>
                                            <p:cond delay="0"/>
                                          </p:stCondLst>
                                        </p:cTn>
                                        <p:tgtEl>
                                          <p:spTgt spid="404"/>
                                        </p:tgtEl>
                                        <p:attrNameLst>
                                          <p:attrName>style.visibility</p:attrName>
                                        </p:attrNameLst>
                                      </p:cBhvr>
                                      <p:to>
                                        <p:strVal val="visible"/>
                                      </p:to>
                                    </p:set>
                                    <p:animEffect transition="in" filter="fade">
                                      <p:cBhvr>
                                        <p:cTn id="115" dur="500"/>
                                        <p:tgtEl>
                                          <p:spTgt spid="404"/>
                                        </p:tgtEl>
                                      </p:cBhvr>
                                    </p:animEffect>
                                  </p:childTnLst>
                                </p:cTn>
                              </p:par>
                              <p:par>
                                <p:cTn id="116" presetID="10" presetClass="entr" presetSubtype="0" fill="hold" nodeType="withEffect">
                                  <p:stCondLst>
                                    <p:cond delay="0"/>
                                  </p:stCondLst>
                                  <p:childTnLst>
                                    <p:set>
                                      <p:cBhvr>
                                        <p:cTn id="117" dur="1" fill="hold">
                                          <p:stCondLst>
                                            <p:cond delay="0"/>
                                          </p:stCondLst>
                                        </p:cTn>
                                        <p:tgtEl>
                                          <p:spTgt spid="405"/>
                                        </p:tgtEl>
                                        <p:attrNameLst>
                                          <p:attrName>style.visibility</p:attrName>
                                        </p:attrNameLst>
                                      </p:cBhvr>
                                      <p:to>
                                        <p:strVal val="visible"/>
                                      </p:to>
                                    </p:set>
                                    <p:animEffect transition="in" filter="fade">
                                      <p:cBhvr>
                                        <p:cTn id="118" dur="500"/>
                                        <p:tgtEl>
                                          <p:spTgt spid="405"/>
                                        </p:tgtEl>
                                      </p:cBhvr>
                                    </p:animEffect>
                                  </p:childTnLst>
                                </p:cTn>
                              </p:par>
                              <p:par>
                                <p:cTn id="119" presetID="10" presetClass="entr" presetSubtype="0" fill="hold" nodeType="withEffect">
                                  <p:stCondLst>
                                    <p:cond delay="0"/>
                                  </p:stCondLst>
                                  <p:childTnLst>
                                    <p:set>
                                      <p:cBhvr>
                                        <p:cTn id="120" dur="1" fill="hold">
                                          <p:stCondLst>
                                            <p:cond delay="0"/>
                                          </p:stCondLst>
                                        </p:cTn>
                                        <p:tgtEl>
                                          <p:spTgt spid="406"/>
                                        </p:tgtEl>
                                        <p:attrNameLst>
                                          <p:attrName>style.visibility</p:attrName>
                                        </p:attrNameLst>
                                      </p:cBhvr>
                                      <p:to>
                                        <p:strVal val="visible"/>
                                      </p:to>
                                    </p:set>
                                    <p:animEffect transition="in" filter="fade">
                                      <p:cBhvr>
                                        <p:cTn id="121" dur="500"/>
                                        <p:tgtEl>
                                          <p:spTgt spid="406"/>
                                        </p:tgtEl>
                                      </p:cBhvr>
                                    </p:animEffect>
                                  </p:childTnLst>
                                </p:cTn>
                              </p:par>
                              <p:par>
                                <p:cTn id="122" presetID="10" presetClass="entr" presetSubtype="0" fill="hold" nodeType="withEffect">
                                  <p:stCondLst>
                                    <p:cond delay="0"/>
                                  </p:stCondLst>
                                  <p:childTnLst>
                                    <p:set>
                                      <p:cBhvr>
                                        <p:cTn id="123" dur="1" fill="hold">
                                          <p:stCondLst>
                                            <p:cond delay="0"/>
                                          </p:stCondLst>
                                        </p:cTn>
                                        <p:tgtEl>
                                          <p:spTgt spid="408"/>
                                        </p:tgtEl>
                                        <p:attrNameLst>
                                          <p:attrName>style.visibility</p:attrName>
                                        </p:attrNameLst>
                                      </p:cBhvr>
                                      <p:to>
                                        <p:strVal val="visible"/>
                                      </p:to>
                                    </p:set>
                                    <p:animEffect transition="in" filter="fade">
                                      <p:cBhvr>
                                        <p:cTn id="124" dur="500"/>
                                        <p:tgtEl>
                                          <p:spTgt spid="408"/>
                                        </p:tgtEl>
                                      </p:cBhvr>
                                    </p:animEffect>
                                  </p:childTnLst>
                                </p:cTn>
                              </p:par>
                              <p:par>
                                <p:cTn id="125" presetID="10" presetClass="entr" presetSubtype="0" fill="hold" nodeType="withEffect">
                                  <p:stCondLst>
                                    <p:cond delay="0"/>
                                  </p:stCondLst>
                                  <p:childTnLst>
                                    <p:set>
                                      <p:cBhvr>
                                        <p:cTn id="126" dur="1" fill="hold">
                                          <p:stCondLst>
                                            <p:cond delay="0"/>
                                          </p:stCondLst>
                                        </p:cTn>
                                        <p:tgtEl>
                                          <p:spTgt spid="420"/>
                                        </p:tgtEl>
                                        <p:attrNameLst>
                                          <p:attrName>style.visibility</p:attrName>
                                        </p:attrNameLst>
                                      </p:cBhvr>
                                      <p:to>
                                        <p:strVal val="visible"/>
                                      </p:to>
                                    </p:set>
                                    <p:animEffect transition="in" filter="fade">
                                      <p:cBhvr>
                                        <p:cTn id="127" dur="500"/>
                                        <p:tgtEl>
                                          <p:spTgt spid="420"/>
                                        </p:tgtEl>
                                      </p:cBhvr>
                                    </p:animEffect>
                                  </p:childTnLst>
                                </p:cTn>
                              </p:par>
                              <p:par>
                                <p:cTn id="128" presetID="10" presetClass="entr" presetSubtype="0" fill="hold" nodeType="withEffect">
                                  <p:stCondLst>
                                    <p:cond delay="0"/>
                                  </p:stCondLst>
                                  <p:childTnLst>
                                    <p:set>
                                      <p:cBhvr>
                                        <p:cTn id="129" dur="1" fill="hold">
                                          <p:stCondLst>
                                            <p:cond delay="0"/>
                                          </p:stCondLst>
                                        </p:cTn>
                                        <p:tgtEl>
                                          <p:spTgt spid="421"/>
                                        </p:tgtEl>
                                        <p:attrNameLst>
                                          <p:attrName>style.visibility</p:attrName>
                                        </p:attrNameLst>
                                      </p:cBhvr>
                                      <p:to>
                                        <p:strVal val="visible"/>
                                      </p:to>
                                    </p:set>
                                    <p:animEffect transition="in" filter="fade">
                                      <p:cBhvr>
                                        <p:cTn id="130" dur="500"/>
                                        <p:tgtEl>
                                          <p:spTgt spid="421"/>
                                        </p:tgtEl>
                                      </p:cBhvr>
                                    </p:animEffect>
                                  </p:childTnLst>
                                </p:cTn>
                              </p:par>
                              <p:par>
                                <p:cTn id="131" presetID="10" presetClass="entr" presetSubtype="0" fill="hold" nodeType="withEffect">
                                  <p:stCondLst>
                                    <p:cond delay="0"/>
                                  </p:stCondLst>
                                  <p:childTnLst>
                                    <p:set>
                                      <p:cBhvr>
                                        <p:cTn id="132" dur="1" fill="hold">
                                          <p:stCondLst>
                                            <p:cond delay="0"/>
                                          </p:stCondLst>
                                        </p:cTn>
                                        <p:tgtEl>
                                          <p:spTgt spid="422"/>
                                        </p:tgtEl>
                                        <p:attrNameLst>
                                          <p:attrName>style.visibility</p:attrName>
                                        </p:attrNameLst>
                                      </p:cBhvr>
                                      <p:to>
                                        <p:strVal val="visible"/>
                                      </p:to>
                                    </p:set>
                                    <p:animEffect transition="in" filter="fade">
                                      <p:cBhvr>
                                        <p:cTn id="133" dur="500"/>
                                        <p:tgtEl>
                                          <p:spTgt spid="422"/>
                                        </p:tgtEl>
                                      </p:cBhvr>
                                    </p:animEffect>
                                  </p:childTnLst>
                                </p:cTn>
                              </p:par>
                              <p:par>
                                <p:cTn id="134" presetID="10" presetClass="entr" presetSubtype="0" fill="hold" nodeType="withEffect">
                                  <p:stCondLst>
                                    <p:cond delay="0"/>
                                  </p:stCondLst>
                                  <p:childTnLst>
                                    <p:set>
                                      <p:cBhvr>
                                        <p:cTn id="135" dur="1" fill="hold">
                                          <p:stCondLst>
                                            <p:cond delay="0"/>
                                          </p:stCondLst>
                                        </p:cTn>
                                        <p:tgtEl>
                                          <p:spTgt spid="423"/>
                                        </p:tgtEl>
                                        <p:attrNameLst>
                                          <p:attrName>style.visibility</p:attrName>
                                        </p:attrNameLst>
                                      </p:cBhvr>
                                      <p:to>
                                        <p:strVal val="visible"/>
                                      </p:to>
                                    </p:set>
                                    <p:animEffect transition="in" filter="fade">
                                      <p:cBhvr>
                                        <p:cTn id="136" dur="500"/>
                                        <p:tgtEl>
                                          <p:spTgt spid="423"/>
                                        </p:tgtEl>
                                      </p:cBhvr>
                                    </p:animEffect>
                                  </p:childTnLst>
                                </p:cTn>
                              </p:par>
                              <p:par>
                                <p:cTn id="137" presetID="10" presetClass="entr" presetSubtype="0" fill="hold" nodeType="withEffect">
                                  <p:stCondLst>
                                    <p:cond delay="0"/>
                                  </p:stCondLst>
                                  <p:childTnLst>
                                    <p:set>
                                      <p:cBhvr>
                                        <p:cTn id="138" dur="1" fill="hold">
                                          <p:stCondLst>
                                            <p:cond delay="0"/>
                                          </p:stCondLst>
                                        </p:cTn>
                                        <p:tgtEl>
                                          <p:spTgt spid="424"/>
                                        </p:tgtEl>
                                        <p:attrNameLst>
                                          <p:attrName>style.visibility</p:attrName>
                                        </p:attrNameLst>
                                      </p:cBhvr>
                                      <p:to>
                                        <p:strVal val="visible"/>
                                      </p:to>
                                    </p:set>
                                    <p:animEffect transition="in" filter="fade">
                                      <p:cBhvr>
                                        <p:cTn id="139" dur="500"/>
                                        <p:tgtEl>
                                          <p:spTgt spid="424"/>
                                        </p:tgtEl>
                                      </p:cBhvr>
                                    </p:animEffect>
                                  </p:childTnLst>
                                </p:cTn>
                              </p:par>
                              <p:par>
                                <p:cTn id="140" presetID="10" presetClass="entr" presetSubtype="0" fill="hold" nodeType="withEffect">
                                  <p:stCondLst>
                                    <p:cond delay="0"/>
                                  </p:stCondLst>
                                  <p:childTnLst>
                                    <p:set>
                                      <p:cBhvr>
                                        <p:cTn id="141" dur="1" fill="hold">
                                          <p:stCondLst>
                                            <p:cond delay="0"/>
                                          </p:stCondLst>
                                        </p:cTn>
                                        <p:tgtEl>
                                          <p:spTgt spid="425"/>
                                        </p:tgtEl>
                                        <p:attrNameLst>
                                          <p:attrName>style.visibility</p:attrName>
                                        </p:attrNameLst>
                                      </p:cBhvr>
                                      <p:to>
                                        <p:strVal val="visible"/>
                                      </p:to>
                                    </p:set>
                                    <p:animEffect transition="in" filter="fade">
                                      <p:cBhvr>
                                        <p:cTn id="142" dur="500"/>
                                        <p:tgtEl>
                                          <p:spTgt spid="425"/>
                                        </p:tgtEl>
                                      </p:cBhvr>
                                    </p:animEffect>
                                  </p:childTnLst>
                                </p:cTn>
                              </p:par>
                              <p:par>
                                <p:cTn id="143" presetID="10" presetClass="entr" presetSubtype="0" fill="hold" nodeType="withEffect">
                                  <p:stCondLst>
                                    <p:cond delay="0"/>
                                  </p:stCondLst>
                                  <p:childTnLst>
                                    <p:set>
                                      <p:cBhvr>
                                        <p:cTn id="144" dur="1" fill="hold">
                                          <p:stCondLst>
                                            <p:cond delay="0"/>
                                          </p:stCondLst>
                                        </p:cTn>
                                        <p:tgtEl>
                                          <p:spTgt spid="426"/>
                                        </p:tgtEl>
                                        <p:attrNameLst>
                                          <p:attrName>style.visibility</p:attrName>
                                        </p:attrNameLst>
                                      </p:cBhvr>
                                      <p:to>
                                        <p:strVal val="visible"/>
                                      </p:to>
                                    </p:set>
                                    <p:animEffect transition="in" filter="fade">
                                      <p:cBhvr>
                                        <p:cTn id="145" dur="500"/>
                                        <p:tgtEl>
                                          <p:spTgt spid="426"/>
                                        </p:tgtEl>
                                      </p:cBhvr>
                                    </p:animEffect>
                                  </p:childTnLst>
                                </p:cTn>
                              </p:par>
                              <p:par>
                                <p:cTn id="146" presetID="10" presetClass="entr" presetSubtype="0" fill="hold" nodeType="withEffect">
                                  <p:stCondLst>
                                    <p:cond delay="0"/>
                                  </p:stCondLst>
                                  <p:childTnLst>
                                    <p:set>
                                      <p:cBhvr>
                                        <p:cTn id="147" dur="1" fill="hold">
                                          <p:stCondLst>
                                            <p:cond delay="0"/>
                                          </p:stCondLst>
                                        </p:cTn>
                                        <p:tgtEl>
                                          <p:spTgt spid="427"/>
                                        </p:tgtEl>
                                        <p:attrNameLst>
                                          <p:attrName>style.visibility</p:attrName>
                                        </p:attrNameLst>
                                      </p:cBhvr>
                                      <p:to>
                                        <p:strVal val="visible"/>
                                      </p:to>
                                    </p:set>
                                    <p:animEffect transition="in" filter="fade">
                                      <p:cBhvr>
                                        <p:cTn id="148" dur="500"/>
                                        <p:tgtEl>
                                          <p:spTgt spid="427"/>
                                        </p:tgtEl>
                                      </p:cBhvr>
                                    </p:animEffect>
                                  </p:childTnLst>
                                </p:cTn>
                              </p:par>
                              <p:par>
                                <p:cTn id="149" presetID="10" presetClass="entr" presetSubtype="0" fill="hold" nodeType="withEffect">
                                  <p:stCondLst>
                                    <p:cond delay="0"/>
                                  </p:stCondLst>
                                  <p:childTnLst>
                                    <p:set>
                                      <p:cBhvr>
                                        <p:cTn id="150" dur="1" fill="hold">
                                          <p:stCondLst>
                                            <p:cond delay="0"/>
                                          </p:stCondLst>
                                        </p:cTn>
                                        <p:tgtEl>
                                          <p:spTgt spid="428"/>
                                        </p:tgtEl>
                                        <p:attrNameLst>
                                          <p:attrName>style.visibility</p:attrName>
                                        </p:attrNameLst>
                                      </p:cBhvr>
                                      <p:to>
                                        <p:strVal val="visible"/>
                                      </p:to>
                                    </p:set>
                                    <p:animEffect transition="in" filter="fade">
                                      <p:cBhvr>
                                        <p:cTn id="151" dur="500"/>
                                        <p:tgtEl>
                                          <p:spTgt spid="428"/>
                                        </p:tgtEl>
                                      </p:cBhvr>
                                    </p:animEffect>
                                  </p:childTnLst>
                                </p:cTn>
                              </p:par>
                              <p:par>
                                <p:cTn id="152" presetID="10" presetClass="entr" presetSubtype="0" fill="hold" nodeType="withEffect">
                                  <p:stCondLst>
                                    <p:cond delay="0"/>
                                  </p:stCondLst>
                                  <p:childTnLst>
                                    <p:set>
                                      <p:cBhvr>
                                        <p:cTn id="153" dur="1" fill="hold">
                                          <p:stCondLst>
                                            <p:cond delay="0"/>
                                          </p:stCondLst>
                                        </p:cTn>
                                        <p:tgtEl>
                                          <p:spTgt spid="150"/>
                                        </p:tgtEl>
                                        <p:attrNameLst>
                                          <p:attrName>style.visibility</p:attrName>
                                        </p:attrNameLst>
                                      </p:cBhvr>
                                      <p:to>
                                        <p:strVal val="visible"/>
                                      </p:to>
                                    </p:set>
                                    <p:animEffect transition="in" filter="fade">
                                      <p:cBhvr>
                                        <p:cTn id="154"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P spid="113" grpId="0" animBg="1"/>
      <p:bldP spid="1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7" y="993542"/>
            <a:ext cx="2520209" cy="388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8683</TotalTime>
  <Words>16482</Words>
  <Application>Microsoft Macintosh PowerPoint</Application>
  <PresentationFormat>On-screen Show (4:3)</PresentationFormat>
  <Paragraphs>1394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Three ways to obtain evidence</vt:lpstr>
      <vt:lpstr>Which one is different?</vt:lpstr>
      <vt:lpstr>Now find the defect</vt:lpstr>
      <vt:lpstr>🧙 MAGE Moment: attention does not scale</vt:lpstr>
      <vt:lpstr>Three ways to obtain evidence</vt:lpstr>
      <vt:lpstr>Reasoning over possible behavior</vt:lpstr>
      <vt:lpstr>Static analysis tracks possibilities, not runs</vt:lpstr>
      <vt:lpstr>What analysis inherits from abstraction</vt:lpstr>
      <vt:lpstr>Model checking searches modeled behavior</vt:lpstr>
      <vt:lpstr>Three ways to obtain evidence</vt:lpstr>
      <vt:lpstr>Observing execution (Testing)</vt:lpstr>
      <vt:lpstr>Stretch break</vt:lpstr>
      <vt:lpstr>Choosing Evidence</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Does more data give us more confidence?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410</cp:revision>
  <dcterms:created xsi:type="dcterms:W3CDTF">2020-02-21T23:00:33Z</dcterms:created>
  <dcterms:modified xsi:type="dcterms:W3CDTF">2026-09-22T01:51:27Z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