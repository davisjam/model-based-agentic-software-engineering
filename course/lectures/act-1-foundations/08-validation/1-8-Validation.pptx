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2"/>
    <p:sldId id="271" r:id="rId16"/>
    <p:sldId id="294" r:id="rId44"/>
    <p:sldId id="295" r:id="rId45"/>
    <p:sldId id="296" r:id="rId46"/>
    <p:sldId id="270" r:id="rId15"/>
    <p:sldId id="268" r:id="rId13"/>
    <p:sldId id="269" r:id="rId14"/>
    <p:sldId id="274" r:id="rId19"/>
    <p:sldId id="275" r:id="rId20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283" r:id="rId28"/>
    <p:sldId id="307" r:id="rId57"/>
    <p:sldId id="308" r:id="rId31"/>
    <p:sldId id="309" r:id="rId30"/>
    <p:sldId id="310" r:id="rId27"/>
    <p:sldId id="311" r:id="rId26"/>
    <p:sldId id="312" r:id="rId25"/>
    <p:sldId id="313" r:id="rId24"/>
    <p:sldId id="314" r:id="rId23"/>
    <p:sldId id="284" r:id="rId29"/>
    <p:sldId id="272" r:id="rId17"/>
    <p:sldId id="315" r:id="rId22"/>
    <p:sldId id="316" r:id="rId21"/>
    <p:sldId id="317" r:id="rId18"/>
    <p:sldId id="287" r:id="rId32"/>
    <p:sldId id="288" r:id="rId33"/>
    <p:sldId id="289" r:id="rId34"/>
    <p:sldId id="290" r:id="rId35"/>
    <p:sldId id="318" r:id="rId11"/>
    <p:sldId id="319" r:id="rId58"/>
    <p:sldId id="320" r:id="rId59"/>
    <p:sldId id="321" r:id="rId60"/>
    <p:sldId id="322" r:id="rId61"/>
    <p:sldId id="291" r:id="rId36"/>
    <p:sldId id="292" r:id="rId37"/>
    <p:sldId id="293" r:id="rId3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72" d="100"/>
          <a:sy n="72" d="100"/>
        </p:scale>
        <p:origin x="2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48.xml"/><Relationship Id="rId12" Type="http://schemas.openxmlformats.org/officeDocument/2006/relationships/slide" Target="slides/slide10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5.xml"/><Relationship Id="rId16" Type="http://schemas.openxmlformats.org/officeDocument/2006/relationships/slide" Target="slides/slide11.xml"/><Relationship Id="rId17" Type="http://schemas.openxmlformats.org/officeDocument/2006/relationships/slide" Target="slides/slide40.xml"/><Relationship Id="rId18" Type="http://schemas.openxmlformats.org/officeDocument/2006/relationships/slide" Target="slides/slide43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42.xml"/><Relationship Id="rId22" Type="http://schemas.openxmlformats.org/officeDocument/2006/relationships/slide" Target="slides/slide41.xml"/><Relationship Id="rId23" Type="http://schemas.openxmlformats.org/officeDocument/2006/relationships/slide" Target="slides/slide38.xml"/><Relationship Id="rId24" Type="http://schemas.openxmlformats.org/officeDocument/2006/relationships/slide" Target="slides/slide37.xml"/><Relationship Id="rId25" Type="http://schemas.openxmlformats.org/officeDocument/2006/relationships/slide" Target="slides/slide36.xml"/><Relationship Id="rId26" Type="http://schemas.openxmlformats.org/officeDocument/2006/relationships/slide" Target="slides/slide35.xml"/><Relationship Id="rId27" Type="http://schemas.openxmlformats.org/officeDocument/2006/relationships/slide" Target="slides/slide34.xml"/><Relationship Id="rId28" Type="http://schemas.openxmlformats.org/officeDocument/2006/relationships/slide" Target="slides/slide30.xml"/><Relationship Id="rId29" Type="http://schemas.openxmlformats.org/officeDocument/2006/relationships/slide" Target="slides/slide39.xml"/><Relationship Id="rId30" Type="http://schemas.openxmlformats.org/officeDocument/2006/relationships/slide" Target="slides/slide33.xml"/><Relationship Id="rId31" Type="http://schemas.openxmlformats.org/officeDocument/2006/relationships/slide" Target="slides/slide32.xml"/><Relationship Id="rId32" Type="http://schemas.openxmlformats.org/officeDocument/2006/relationships/slide" Target="slides/slide44.xml"/><Relationship Id="rId33" Type="http://schemas.openxmlformats.org/officeDocument/2006/relationships/slide" Target="slides/slide45.xml"/><Relationship Id="rId34" Type="http://schemas.openxmlformats.org/officeDocument/2006/relationships/slide" Target="slides/slide46.xml"/><Relationship Id="rId35" Type="http://schemas.openxmlformats.org/officeDocument/2006/relationships/slide" Target="slides/slide47.xml"/><Relationship Id="rId36" Type="http://schemas.openxmlformats.org/officeDocument/2006/relationships/slide" Target="slides/slide53.xml"/><Relationship Id="rId37" Type="http://schemas.openxmlformats.org/officeDocument/2006/relationships/slide" Target="slides/slide54.xml"/><Relationship Id="rId38" Type="http://schemas.openxmlformats.org/officeDocument/2006/relationships/slide" Target="slides/slide55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12.xml"/><Relationship Id="rId45" Type="http://schemas.openxmlformats.org/officeDocument/2006/relationships/slide" Target="slides/slide13.xml"/><Relationship Id="rId46" Type="http://schemas.openxmlformats.org/officeDocument/2006/relationships/slide" Target="slides/slide14.xml"/><Relationship Id="rId47" Type="http://schemas.openxmlformats.org/officeDocument/2006/relationships/slide" Target="slides/slide20.xml"/><Relationship Id="rId48" Type="http://schemas.openxmlformats.org/officeDocument/2006/relationships/slide" Target="slides/slide21.xml"/><Relationship Id="rId49" Type="http://schemas.openxmlformats.org/officeDocument/2006/relationships/slide" Target="slides/slide22.xml"/><Relationship Id="rId50" Type="http://schemas.openxmlformats.org/officeDocument/2006/relationships/slide" Target="slides/slide23.xml"/><Relationship Id="rId51" Type="http://schemas.openxmlformats.org/officeDocument/2006/relationships/slide" Target="slides/slide24.xml"/><Relationship Id="rId52" Type="http://schemas.openxmlformats.org/officeDocument/2006/relationships/slide" Target="slides/slide25.xml"/><Relationship Id="rId53" Type="http://schemas.openxmlformats.org/officeDocument/2006/relationships/slide" Target="slides/slide26.xml"/><Relationship Id="rId54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57" Type="http://schemas.openxmlformats.org/officeDocument/2006/relationships/slide" Target="slides/slide31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move: validation supports a DECISION, not a proof.</a:t>
            </a:r>
          </a:p>
          <a:p>
            <a:r>
              <a:t>Do not mention testing yet — evidence mechanisms come in Section 3.</a:t>
            </a:r>
          </a:p>
          <a:p>
            <a:r>
              <a:t>'Move fast and break things' is a real strategy — ask when it is defensible.</a:t>
            </a:r>
          </a:p>
          <a:p>
            <a:r>
              <a:t>Pivot on the third panel: an update repairs the software, not the past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Callback to the Requirements + Specification lectures: requirements = world outcomes; specification = machine obligations under environment assumptions.</a:t>
            </a:r>
          </a:p>
          <a:p>
            <a:r>
              <a:t>Point: 'what must be true?' is not a fresh question here — it was answered upstream.</a:t>
            </a:r>
          </a:p>
          <a:p>
            <a:r>
              <a:t>Evidence for one claim may say nothing about another: 'it has been tested' is not an answer.</a:t>
            </a:r>
          </a:p>
          <a:p>
            <a:r>
              <a:t>Keep the payment service on the board — it runs through the rest of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only this leg. There is no reason to draw a V yet — the right side has to be earned.</a:t>
            </a:r>
          </a:p>
          <a:p>
            <a:r>
              <a:t>The chain is the payoff of the previous four lectures, compressed.</a:t>
            </a:r>
          </a:p>
          <a:p>
            <a:r>
              <a:t>Cut slide (old 10) folded into the right-hand panel: levels are convenient, not a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Jackson's machine / environment / world, now aimed at evidence.</a:t>
            </a:r>
          </a:p>
          <a:p>
            <a:r>
              <a:t>The obligation is the thing we have to establish; everything after this is HOW.</a:t>
            </a:r>
          </a:p>
          <a:p>
            <a:r>
              <a:t>Payment specification stated once here, in the emphasis box — it recurs for three slides.</a:t>
            </a:r>
          </a:p>
          <a:p>
            <a:r>
              <a:t>A false environment assumption fails the requirement while the machine satisfies its spec.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room, do not answer. Most students will feel the system test is obviously best.</a:t>
            </a:r>
          </a:p>
          <a:p>
            <a:r>
              <a:t>Let them defend it — the three panels are their argument, made for them.</a:t>
            </a:r>
          </a:p>
          <a:p>
            <a:r>
              <a:t>Advance only once someone says 'but then you don't know what broke'.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motivates the whole taxonomy. Do not rush it.</a:t>
            </a:r>
          </a:p>
          <a:p>
            <a:r>
              <a:t>Ask: the end-to-end payment test failed. What do you do next Monday morning?</a:t>
            </a:r>
          </a:p>
          <a:p>
            <a:r>
              <a:t>Cost of diagnosis, not correctness, is what drives decomposition of evidence.</a:t>
            </a:r>
          </a:p>
          <a:p>
            <a:r>
              <a:t>Second reason: some properties are simply cheaper to exercise in the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specification, four questions. Walk down the rows in order.</a:t>
            </a:r>
          </a:p>
          <a:p>
            <a:r>
              <a:t>LOCAL: a unit-sized check of the idempotency key.</a:t>
            </a:r>
          </a:p>
          <a:p>
            <a:r>
              <a:t>COMPOSITION: the classic retry-times-retry defect — neither component is wrong alone.</a:t>
            </a:r>
          </a:p>
          <a:p>
            <a:r>
              <a:t>SYSTEM: the claim as the customer would state it, at the real boundary.</a:t>
            </a:r>
          </a:p>
          <a:p>
            <a:r>
              <a:t>WORLD: provider semantics — at-least-once delivery can still double-charge.</a:t>
            </a:r>
          </a:p>
          <a:p>
            <a:r>
              <a:t>Note no technique has been named yet. Scope first; mechanism is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end-to-end principle, arrived at rather than announced.</a:t>
            </a:r>
          </a:p>
          <a:p>
            <a:r>
              <a:t>Each example: locally correct, globally wrong. Ask which scope could have caught it.</a:t>
            </a:r>
          </a:p>
          <a:p>
            <a:r>
              <a:t>'But no lower' is the half students forget — cheapness is not the only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— and only now — draw the right leg. The aha is that the V is a summary, not a doctrine.</a:t>
            </a:r>
          </a:p>
          <a:p>
            <a:r>
              <a:t>Acceptance sits at the top of the right leg because it pairs with requirements.</a:t>
            </a:r>
          </a:p>
          <a:p>
            <a:r>
              <a:t>Do not say unit / integration / system / acceptance yet.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to match the V: acceptance at the top, unit at the bottom.</a:t>
            </a:r>
          </a:p>
          <a:p>
            <a:r>
              <a:t>Vocabulary attaches to a concept students already have — not four definitions to memorize.</a:t>
            </a:r>
          </a:p>
          <a:p>
            <a:r>
              <a:t>Stress the relativity: your 'unit' is somebody else's 'system'.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slide for Section 3 — four families, one per instrument.</a:t>
            </a:r>
          </a:p>
          <a:p>
            <a:r>
              <a:t>The orthogonality point is the one students most often get wrong: unit testing is a scope and a mechanism glued together by habit.</a:t>
            </a:r>
          </a:p>
          <a:p>
            <a:r>
              <a:t>Each family gets taught differently: they can predict testing's limit, not static analysis's.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students produce the limitation. Ask the E-box question and wait.</a:t>
            </a:r>
          </a:p>
          <a:p>
            <a:r>
              <a:t>Expected answers: 'nothing about other inputs', 'only that one path worked'. Accept both.</a:t>
            </a:r>
          </a:p>
          <a:p>
            <a:r>
              <a:t>Name the oracle here but do not develop it — Section 4 opens on the oracle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Think-pair-share: hand them the 100% result and ask what it licenses.</a:t>
            </a:r>
          </a:p>
          <a:p>
            <a:r>
              <a:t>Harvest the taxonomy from them if possible — statement, branch, path, input/state, claim.</a:t>
            </a:r>
          </a:p>
          <a:p>
            <a:r>
              <a:t>The distinction that matters: EXECUTION coverage versus CLAIM coverage.</a:t>
            </a:r>
          </a:p>
          <a:p>
            <a:r>
              <a:t>Industry numbers are context, not a target: 100% statement coverage with weak assertions is a great deal of execution and very little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cannot predict this limitation, so teach it directly.</a:t>
            </a:r>
          </a:p>
          <a:p>
            <a:r>
              <a:t>Walk the example: the dereference is unreachable because of a fact outside the code.</a:t>
            </a:r>
          </a:p>
          <a:p>
            <a:r>
              <a:t>False positive / false negative first; soundness and completeness second.</a:t>
            </a:r>
          </a:p>
          <a:p>
            <a:r>
              <a:t>Anchor soundness/completeness to the TOOL'S promise — orientation flips between verification and bug-finding, so a universal slogan misleads.</a:t>
            </a:r>
          </a:p>
          <a:p>
            <a:r>
              <a:t>Punchline: evidence from static analysis is an inference under an abstraction.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what only people can do — code review, design review, requirements inspection.</a:t>
            </a:r>
          </a:p>
          <a:p>
            <a:r>
              <a:t>Then the chain on the right, one step at a time; it is an argument, not a list.</a:t>
            </a:r>
          </a:p>
          <a:p>
            <a:r>
              <a:t>Ground it in the literature rather than asserting 'humans are bad': prevalence effects in visual search (Wolfe 2005) and the attentional cost of sustained vigilance (Warm 2008).</a:t>
            </a:r>
          </a:p>
          <a:p>
            <a:r>
              <a:t>Next slide makes them live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poll. Give them sixty seconds and take a show of hands per number.</a:t>
            </a:r>
          </a:p>
          <a:p>
            <a:r>
              <a:t>Ten near-identical artifacts, one violation — a rare-target visual search.</a:t>
            </a:r>
          </a:p>
          <a:p>
            <a:r>
              <a:t>Record the vote spread before revealing; the spread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#7. Expect a substantial miss rate even with the rule on screen.</a:t>
            </a:r>
          </a:p>
          <a:p>
            <a:r>
              <a:t>Ask how long ten items took, then ask about a hundred.</a:t>
            </a:r>
          </a:p>
          <a:p>
            <a:r>
              <a:t>Do not moralize — the next slide draws the engineering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straight back to the vote they just lost.</a:t>
            </a:r>
          </a:p>
          <a:p>
            <a:r>
              <a:t>Three layers of evidence: experiment, human-factors synthesis, operational practice.</a:t>
            </a:r>
          </a:p>
          <a:p>
            <a:r>
              <a:t>The conclusion is NOT 'remove humans'. It is where to spend a scarce resource.</a:t>
            </a:r>
          </a:p>
          <a:p>
            <a:r>
              <a:t>Forward reference: Section 5 has the other half — volume of generated evidence is not independence of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students have never seen this family; give it real airtime.</a:t>
            </a:r>
          </a:p>
          <a:p>
            <a:r>
              <a:t>The contrast that matters: sample executions versus search behaviors.</a:t>
            </a:r>
          </a:p>
          <a:p>
            <a:r>
              <a:t>Be precise about what is verified — a model, under assumptions, sometimes within a bound.</a:t>
            </a:r>
          </a:p>
          <a:p>
            <a:r>
              <a:t>We return to this later in the course; today they need the shape of the bargain.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Easiest entry point to formal methods: no temporal logic, no proofs.</a:t>
            </a:r>
          </a:p>
          <a:p>
            <a:r>
              <a:t>Walk the two columns side by side — same assertion, different question.</a:t>
            </a:r>
          </a:p>
          <a:p>
            <a:r>
              <a:t>A counterexample trace is the most useful output a validation tool can produce.</a:t>
            </a:r>
          </a:p>
          <a:p>
            <a:r>
              <a:t>Be careful not to conflate mechanisms: SPIN enumerates states; BMC unrolls to depth k and asks a solver. Same idea, different machinery.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 minutes. The pedagogical twist: the artifact under validation need not be the code.</a:t>
            </a:r>
          </a:p>
          <a:p>
            <a:r>
              <a:t>Verified facts only — SPIN is Holzmann's, built at Bell Labs, ACM Software System Award 2001; he later led JPL's Laboratory for Reliable Software.</a:t>
            </a:r>
          </a:p>
          <a:p>
            <a:r>
              <a:t>MSL/Curiosity: model checking of critical multithreaded code plus hand-built SPIN models; the 45k-line C module reduced to a ~1,600-line model is the memorable number.</a:t>
            </a:r>
          </a:p>
          <a:p>
            <a:r>
              <a:t>Do not say 'the flight software was proven correct'. It was not, and that is the lesson.</a:t>
            </a:r>
          </a:p>
          <a:p>
            <a:r>
              <a:t>MAGE connection: explicit models are validation targets, not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 slide for Section 3: four instruments, four sources of evidence.</a:t>
            </a:r>
          </a:p>
          <a:p>
            <a:r>
              <a:t>The bottom line is the one to repeat: mechanism and scope are independent axes.</a:t>
            </a:r>
          </a:p>
          <a:p>
            <a:r>
              <a:t>Transition: instruments chosen, we still have to decide how to SEARCH for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Hinge from mechanisms to strategies.</a:t>
            </a:r>
          </a:p>
          <a:p>
            <a:r>
              <a:t>Section 3 asked what can observe the property. This section asks how to go looking for the failure.</a:t>
            </a:r>
          </a:p>
          <a:p>
            <a:r>
              <a:t>Six slides, about a minute each, then a summary that hands off to evidence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4 on the oracle problem — it is what makes the next five slides necessary.</a:t>
            </a:r>
          </a:p>
          <a:p>
            <a:r>
              <a:t>Running the system is usually the cheap half; deciding what SHOULD have happened is the expensive half.</a:t>
            </a:r>
          </a:p>
          <a:p>
            <a:r>
              <a:t>Ask the room for a program whose correct output they could not write down: a compiler, a renderer, a search ranking.</a:t>
            </a:r>
          </a:p>
          <a:p>
            <a:r>
              <a:t>Every strategy that follows buys search by weakening or replacing the oracle.</a:t>
            </a:r>
          </a:p>
          <a:p>
            <a:r>
              <a:t>Do NOT mention model checking here — that was Section 3. This axis is strategy, not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default strategy, and the one they already know from CS courses.</a:t>
            </a:r>
          </a:p>
          <a:p>
            <a:r>
              <a:t>The figure is the whole argument: three chosen points inside an input space you cannot enumerate.</a:t>
            </a:r>
          </a:p>
          <a:p>
            <a:r>
              <a:t>Ask which payment cases they would pick, then ask what the picks say about everything else.</a:t>
            </a:r>
          </a:p>
          <a:p>
            <a:r>
              <a:t>Oracle cost: lowest — you wrote the expected result yourself.</a:t>
            </a:r>
          </a:p>
          <a:p>
            <a:r>
              <a:t>Strength: complete for the chosen case, zero for the rest. That is not a flaw; it is the bargain.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move students miss: the human writes the PROPERTY, not the cases.</a:t>
            </a:r>
          </a:p>
          <a:p>
            <a:r>
              <a:t>Good payment properties: at most one charge per ID; the balance never goes negative; replaying a request is idempotent.</a:t>
            </a:r>
          </a:p>
          <a:p>
            <a:r>
              <a:t>When it fails, the tool shrinks the counterexample to a minimal one — that is the second big win.</a:t>
            </a:r>
          </a:p>
          <a:p>
            <a:r>
              <a:t>Oracle cost: moderate — stating a true, checkable general property is real work.</a:t>
            </a:r>
          </a:p>
          <a:p>
            <a:r>
              <a:t>Limitation: the generator's distribution is now part of your evidence. It searches where you told it to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the oracle comes from: another implementation of the same obligation.</a:t>
            </a:r>
          </a:p>
          <a:p>
            <a:r>
              <a:t>Real uses: compilers against each other, a rewritten service against the legacy one, two JSON parsers, a float library against an arbitrary-precision one.</a:t>
            </a:r>
          </a:p>
          <a:p>
            <a:r>
              <a:t>Payment version: run the new idempotency store beside the old one on the same request stream.</a:t>
            </a:r>
          </a:p>
          <a:p>
            <a:r>
              <a:t>The caveat is the teaching point — agreement is NOT correctness. Common-mode error survives comparison, especially when B was derived from A.</a:t>
            </a:r>
          </a:p>
          <a:p>
            <a:r>
              <a:t>Independence of the two implementations is exactly the Section 5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hardest of the five to grasp from prose, and the easiest from the figure. Walk the two rows out loud.</a:t>
            </a:r>
          </a:p>
          <a:p>
            <a:r>
              <a:t>T is a transformation of the input; R is the relation the outputs must satisfy.</a:t>
            </a:r>
          </a:p>
          <a:p>
            <a:r>
              <a:t>Payment version: submitting the same payment ID twice must leave the account in the same state as submitting it once.</a:t>
            </a:r>
          </a:p>
          <a:p>
            <a:r>
              <a:t>Other classics: a search engine given a narrower query must not return more results; scaling every input scales the total.</a:t>
            </a:r>
          </a:p>
          <a:p>
            <a:r>
              <a:t>Notice we never computed the right answer — the relation did the oracle's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trade is explicit: give up the oracle almost entirely, buy enormous search.</a:t>
            </a:r>
          </a:p>
          <a:p>
            <a:r>
              <a:t>Coverage-guided fuzzers keep the mutations that reach new code — evolutionary search, not random noise.</a:t>
            </a:r>
          </a:p>
          <a:p>
            <a:r>
              <a:t>What it finds: crashes, hangs, memory errors, assertion violations, unhandled exceptions. Parsers and decoders are the classic targets.</a:t>
            </a:r>
          </a:p>
          <a:p>
            <a:r>
              <a:t>What it cannot find: a wrong-but-well-formed answer. A double charge does not crash anything.</a:t>
            </a:r>
          </a:p>
          <a:p>
            <a:r>
              <a:t>Strengthen the oracle with assertions and sanitizers and fuzzing finds more — that is the dial.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Retrieval slide. Five names, five searches — say each one as a verb.</a:t>
            </a:r>
          </a:p>
          <a:p>
            <a:r>
              <a:t>The axis is a memory hook, not a taxonomy theorem: as you know less about the answer, you lean on weaker oracles and bigger search.</a:t>
            </a:r>
          </a:p>
          <a:p>
            <a:r>
              <a:t>Differential does not sit on the axis — it applies wherever a second implementation exists. Say so rather than forcing it.</a:t>
            </a:r>
          </a:p>
          <a:p>
            <a:r>
              <a:t>Model checking is deliberately absent: it is a mechanism (Section 3), not a search strategy.</a:t>
            </a:r>
          </a:p>
          <a:p>
            <a:r>
              <a:t>Hand off to Section 5: none of these five says anything about how strong the resulting evidence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operational answer to “how strong is the evidence?” — six dimensions, each with something you can actually look up.</a:t>
            </a:r>
          </a:p>
          <a:p>
            <a:r>
              <a:t>Read down the right-hand column: six different questions, none of which the others answer.</a:t>
            </a:r>
          </a:p>
          <a:p>
            <a:r>
              <a:t>Detection power is the row students will not have met, and the one coverage gets mistaken for. Next slide.</a:t>
            </a:r>
          </a:p>
          <a:p>
            <a:r>
              <a:t>Every slide in the rest of this section is one of these rows made concrete.</a:t>
            </a:r>
          </a:p>
          <a:p>
            <a:r>
              <a:t>The point is not to compute a score. It is to make the uncertainty visible enough to 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seconds, but it repairs the most common misreading of coverage.</a:t>
            </a:r>
          </a:p>
          <a:p>
            <a:r>
              <a:t>Mutation testing: deliberately introduce small faults, then ask whether your evidence notices.</a:t>
            </a:r>
          </a:p>
          <a:p>
            <a:r>
              <a:t>A surviving mutant means the line ran and nothing checked the consequence — assertion-free execution.</a:t>
            </a:r>
          </a:p>
          <a:p>
            <a:r>
              <a:t>Industry note: mutation testing is expensive to run over a whole system, which is why coverage remains the default proxy. Proxies drift.</a:t>
            </a:r>
          </a:p>
          <a:p>
            <a:r>
              <a:t>Tie back to Section 3's coverage slide: coverage answers WHERE we looked; this answers WHETHER we would have noticed.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suite, same coverage, different conditions — and a different amount of assurance.</a:t>
            </a:r>
          </a:p>
          <a:p>
            <a:r>
              <a:t>Walk the four rows as a checklist students can apply to their own project.</a:t>
            </a:r>
          </a:p>
          <a:p>
            <a:r>
              <a:t>The p99 latency result from Section 5's first slide was measured under workload W. Was W the delivery workload?</a:t>
            </a:r>
          </a:p>
          <a:p>
            <a:r>
              <a:t>This is the row where staging environments earn their keep — and where they quietly mislead.</a:t>
            </a:r>
          </a:p>
          <a:p>
            <a:r>
              <a:t>Representativeness is also why operational evidence is irreplaceable: only delivery has delivery's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Section 5 half of the MAGE argument, and a different lesson from Section 3's.</a:t>
            </a:r>
          </a:p>
          <a:p>
            <a:r>
              <a:t>Section 3: a review mechanism has finite capacity — attention runs out.</a:t>
            </a:r>
          </a:p>
          <a:p>
            <a:r>
              <a:t>Section 5: generated evidence does not become independent merely because there is more of it.</a:t>
            </a:r>
          </a:p>
          <a:p>
            <a:r>
              <a:t>Ten thousand tests from one mistaken interpretation are one reason, repeated ten thousand times.</a:t>
            </a:r>
          </a:p>
          <a:p>
            <a:r>
              <a:t>The fix is not fewer tests. It is a second line of evidence that does not inherit the same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the vocabulary other engineering disciplines already have.</a:t>
            </a:r>
          </a:p>
          <a:p>
            <a:r>
              <a:t>Tolerance: what range of behavior is acceptable. Margin: how far we sit from the unacceptable boundary. Safety factor: separation we require because both sides are uncertain.</a:t>
            </a:r>
          </a:p>
          <a:p>
            <a:r>
              <a:t>Civil and mechanical engineers do not ship on 'predicted load 99.9, failure load 100, pass'.</a:t>
            </a:r>
          </a:p>
          <a:p>
            <a:r>
              <a:t>Ask the 499 ms question and let the room answer — both pass the same test.</a:t>
            </a:r>
          </a:p>
          <a:p>
            <a:r>
              <a:t>Then interrogate the 80 ms: representative workload? measurement spread? forecast error? production environment? is p99 the right tail?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physical-engineering intuition needs modification, not just borrowing.</a:t>
            </a:r>
          </a:p>
          <a:p>
            <a:r>
              <a:t>Physical systems are usefully continuous away from discontinuities — which is what makes tolerance and margin so powerful there.</a:t>
            </a:r>
          </a:p>
          <a:p>
            <a:r>
              <a:t>Software semantics are discrete: one bit, one boundary, one unexpected transition and execution is on a qualitatively different path.</a:t>
            </a:r>
          </a:p>
          <a:p>
            <a:r>
              <a:t>Qualify the slogan out loud: physical systems DO leap — fracture, buckling, phase change, instability. The difference is that in software, discontinuity is routine rather than exceptional.</a:t>
            </a:r>
          </a:p>
          <a:p>
            <a:r>
              <a:t>Consequence for Section 5: passing many nearby cases does not license the cases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idea of Section 6, and the one that turns an observation about software into an engineering move.</a:t>
            </a:r>
          </a:p>
          <a:p>
            <a:r>
              <a:t>Controls do not prove the enclosed code correct. They change what being wrong is allowed to cost.</a:t>
            </a:r>
          </a:p>
          <a:p>
            <a:r>
              <a:t>Read the strip aloud — students have met most of these in Architecture and Design without seeing them as validation infrastructure.</a:t>
            </a:r>
          </a:p>
          <a:p>
            <a:r>
              <a:t>Payoff for local evidence: if a component can fail only inside a constrained envelope, local evidence means more. If failure propagates freely, it means much less.</a:t>
            </a:r>
          </a:p>
          <a:p>
            <a:r>
              <a:t>Forward hook, do not labor it: alignment is this same move applied to agentic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synthesis of the last three slides, in two questions engineers can actually ask.</a:t>
            </a:r>
          </a:p>
          <a:p>
            <a:r>
              <a:t>Quantitative property: margin is meaningful and measurable.</a:t>
            </a:r>
          </a:p>
          <a:p>
            <a:r>
              <a:t>Discrete property: there is no distance to the boundary, so ask what the failure is permitted to reach.</a:t>
            </a:r>
          </a:p>
          <a:p>
            <a:r>
              <a:t>Most real delivery decisions use both at once.</a:t>
            </a:r>
          </a:p>
          <a:p>
            <a:r>
              <a:t>Note the asymmetry in the bottom line — it is the point that surprises students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scaffold that keeps 'professional judgment' from meaning 'stare thoughtfully into the middle distance'.</a:t>
            </a:r>
          </a:p>
          <a:p>
            <a:r>
              <a:t>Columns two and three are the useful part: each unanswered question names its own next action.</a:t>
            </a:r>
          </a:p>
          <a:p>
            <a:r>
              <a:t>Rows one to four are Section 5's dimensions; rows five and six are consequence and containment.</a:t>
            </a:r>
          </a:p>
          <a:p>
            <a:r>
              <a:t>None of this produces a threshold. It produces a defensible argument about what remains unknown.</a:t>
            </a:r>
          </a:p>
          <a:p>
            <a:r>
              <a:t>Next slide: run it on the payment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capstone. Give them four minutes and force a choice.</a:t>
            </a:r>
          </a:p>
          <a:p>
            <a:r>
              <a:t>Every one of the five actions is defensible on some reading of this evidence — make them say which reading.</a:t>
            </a:r>
          </a:p>
          <a:p>
            <a:r>
              <a:t>Push with Section 6's tools: what is the margin on the latency claim? What bounds the double-charge if we are wrong?</a:t>
            </a:r>
          </a:p>
          <a:p>
            <a:r>
              <a:t>The missing transaction limit is the containment hook — a cheap control can change the decision without new evidence.</a:t>
            </a:r>
          </a:p>
          <a:p>
            <a:r>
              <a:t>Harvest one argument per action before revealing nothing: there is no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"/>
          <p:cNvSpPr txBox="1"/>
          <p:nvPr/>
        </p:nvSpPr>
        <p:spPr>
          <a:xfrm>
            <a:off x="439339" y="565150"/>
            <a:ext cx="8265319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ECE 30861/46100: Software Engineering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224171" y="1420000"/>
            <a:ext cx="8695654" cy="2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5400" b="0" i="0" dirty="0">
                <a:solidFill>
                  <a:srgbClr val="000000"/>
                </a:solidFill>
              </a:rPr>
              <a:t>Software Validation</a:t>
            </a:r>
          </a:p>
          <a:p>
            <a:pPr algn="ctr">
              <a:spcBef>
                <a:spcPts val="600"/>
              </a:spcBef>
              <a:buNone/>
            </a:pPr>
            <a:r>
              <a:rPr lang="en-US" sz="2400" b="0" i="1" dirty="0">
                <a:solidFill>
                  <a:srgbClr val="555960"/>
                </a:solidFill>
              </a:rPr>
              <a:t>What evidence is sufficient to deliver a system into the world?</a:t>
            </a:r>
          </a:p>
          <a:p>
            <a:pPr algn="ctr">
              <a:spcBef>
                <a:spcPts val="9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24171" y="3760000"/>
            <a:ext cx="8695654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>EVERY PRIOR DECISION NOW MEETS EVIDENCE</a:t>
            </a:r>
          </a:p>
        </p:txBody>
      </p:sp>
      <p:sp>
        <p:nvSpPr>
          <p:cNvPr id="110" name="B110"/>
          <p:cNvSpPr/>
          <p:nvPr/>
        </p:nvSpPr>
        <p:spPr>
          <a:xfrm>
            <a:off x="713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373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717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377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21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5" name="C115"/>
          <p:cNvCxnSpPr/>
          <p:nvPr/>
        </p:nvCxnSpPr>
        <p:spPr>
          <a:xfrm>
            <a:off x="6381232" y="4420000"/>
            <a:ext cx="30400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6" name="B116"/>
          <p:cNvSpPr/>
          <p:nvPr/>
        </p:nvSpPr>
        <p:spPr>
          <a:xfrm>
            <a:off x="6725232" y="4100000"/>
            <a:ext cx="1620000" cy="64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224171" y="5000000"/>
            <a:ext cx="8695654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Design produced a realization. Validation asks whether the evidence is enough to deliver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What is at stake?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How much assurance should we demand before delivery?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would justify delivering this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122000" y="1120000"/>
            <a:ext cx="4900000" cy="90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THE ASSURANCE CASE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structured argument connecting consequential claims to evidence</a:t>
            </a:r>
          </a:p>
        </p:txBody>
      </p:sp>
      <p:sp>
        <p:nvSpPr>
          <p:cNvPr id="101" name="B101"/>
          <p:cNvSpPr/>
          <p:nvPr/>
        </p:nvSpPr>
        <p:spPr>
          <a:xfrm>
            <a:off x="3372000" y="2360000"/>
            <a:ext cx="24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CLAIM</a:t>
            </a:r>
          </a:p>
        </p:txBody>
      </p:sp>
      <p:cxnSp>
        <p:nvCxnSpPr>
          <p:cNvPr id="102" name="C102"/>
          <p:cNvCxnSpPr/>
          <p:nvPr/>
        </p:nvCxnSpPr>
        <p:spPr>
          <a:xfrm>
            <a:off x="4572000" y="2960000"/>
            <a:ext cx="0" cy="6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T103"/>
          <p:cNvSpPr txBox="1"/>
          <p:nvPr/>
        </p:nvSpPr>
        <p:spPr>
          <a:xfrm>
            <a:off x="4700000" y="3060000"/>
            <a:ext cx="32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b="0" i="1" dirty="0">
                <a:solidFill>
                  <a:srgbClr val="555960"/>
                </a:solidFill>
              </a:rPr>
              <a:t>why should we believe it?</a:t>
            </a:r>
          </a:p>
        </p:txBody>
      </p:sp>
      <p:sp>
        <p:nvSpPr>
          <p:cNvPr id="104" name="P104"/>
          <p:cNvSpPr/>
          <p:nvPr/>
        </p:nvSpPr>
        <p:spPr>
          <a:xfrm>
            <a:off x="3372000" y="3660000"/>
            <a:ext cx="2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EVIDENCE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514350" y="4502160"/>
            <a:ext cx="8001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Validation is the discipline of building the appropriate argument for the claim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will build one Assurance Case through this lecture.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sure do we need to be?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408948" y="3036911"/>
            <a:ext cx="84582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800" b="0" i="0" dirty="0">
                <a:solidFill>
                  <a:srgbClr val="000000"/>
                </a:solidFill>
              </a:rPr>
              <a:t>How confident must you be before </a:t>
            </a:r>
            <a:r>
              <a:rPr lang="en-US" sz="2800" dirty="0">
                <a:solidFill>
                  <a:srgbClr val="000000"/>
                </a:solidFill>
              </a:rPr>
              <a:t>shipping a product</a:t>
            </a:r>
            <a:r>
              <a:rPr lang="en-US" sz="2800" b="0" i="0" dirty="0">
                <a:solidFill>
                  <a:srgbClr val="000000"/>
                </a:solidFill>
              </a:rPr>
              <a:t>?</a:t>
            </a:r>
          </a:p>
          <a:p>
            <a:pPr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What kind of confidence is needed?</a:t>
            </a:r>
            <a:endParaRPr lang="en-US" sz="2800" b="0" i="0" dirty="0">
              <a:solidFill>
                <a:srgbClr val="000000"/>
              </a:solidFill>
            </a:endParaRPr>
          </a:p>
        </p:txBody>
      </p:sp>
      <p:sp>
        <p:nvSpPr>
          <p:cNvPr id="101" name="T101"/>
          <p:cNvSpPr txBox="1"/>
          <p:nvPr/>
        </p:nvSpPr>
        <p:spPr>
          <a:xfrm>
            <a:off x="547374" y="4092529"/>
            <a:ext cx="8181348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1" dirty="0">
                <a:solidFill>
                  <a:srgbClr val="555960"/>
                </a:solidFill>
              </a:rPr>
              <a:t>A TODO app, a payroll system, and a radiation-control system are all software.</a:t>
            </a:r>
          </a:p>
        </p:txBody>
      </p:sp>
      <p:pic>
        <p:nvPicPr>
          <p:cNvPr id="4" name="Think Pair Share banner" descr="Think, Pair, Share">
            <a:extLst>
              <a:ext uri="{FF2B5EF4-FFF2-40B4-BE49-F238E27FC236}">
                <a16:creationId xmlns:a16="http://schemas.microsoft.com/office/drawing/2014/main" id="{9ED59124-F5ED-9B82-55A8-6D593C16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1308972"/>
            <a:ext cx="4191000" cy="1206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“It depends” is the beginning of the answer, not the end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122000" y="108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Depends on what?</a:t>
            </a:r>
          </a:p>
        </p:txBody>
      </p:sp>
      <p:sp>
        <p:nvSpPr>
          <p:cNvPr id="101" name="P101"/>
          <p:cNvSpPr/>
          <p:nvPr/>
        </p:nvSpPr>
        <p:spPr>
          <a:xfrm>
            <a:off x="1122000" y="174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would you know how sure is enough?</a:t>
            </a:r>
          </a:p>
        </p:txBody>
      </p:sp>
      <p:sp>
        <p:nvSpPr>
          <p:cNvPr id="102" name="P102"/>
          <p:cNvSpPr/>
          <p:nvPr/>
        </p:nvSpPr>
        <p:spPr>
          <a:xfrm>
            <a:off x="1122000" y="2400000"/>
            <a:ext cx="69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0" i="0" dirty="0">
                <a:solidFill>
                  <a:srgbClr val="5C4826"/>
                </a:solidFill>
              </a:rPr>
              <a:t>How should the evidence you seek change?</a:t>
            </a:r>
          </a:p>
        </p:txBody>
      </p:sp>
      <p:sp>
        <p:nvSpPr>
          <p:cNvPr id="103" name="P103"/>
          <p:cNvSpPr/>
          <p:nvPr/>
        </p:nvSpPr>
        <p:spPr>
          <a:xfrm>
            <a:off x="680000" y="3240000"/>
            <a:ext cx="2440000" cy="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TODO app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annoyance</a:t>
            </a:r>
          </a:p>
        </p:txBody>
      </p:sp>
      <p:sp>
        <p:nvSpPr>
          <p:cNvPr id="104" name="P104"/>
          <p:cNvSpPr/>
          <p:nvPr/>
        </p:nvSpPr>
        <p:spPr>
          <a:xfrm>
            <a:off x="3300000" y="3240000"/>
            <a:ext cx="2440000" cy="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Payroll system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money, trust</a:t>
            </a:r>
          </a:p>
        </p:txBody>
      </p:sp>
      <p:sp>
        <p:nvSpPr>
          <p:cNvPr id="105" name="P105"/>
          <p:cNvSpPr/>
          <p:nvPr/>
        </p:nvSpPr>
        <p:spPr>
          <a:xfrm>
            <a:off x="5920000" y="3240000"/>
            <a:ext cx="2440000" cy="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>X-Ray control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human safety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80000" y="4260000"/>
            <a:ext cx="794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Not the same strategy — because being wrong does not cost the same.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519088"/>
            <a:ext cx="859536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Engineers say what it depends </a:t>
            </a:r>
            <a:r>
              <a:rPr lang="en-US" sz="2400" b="1" i="1" dirty="0">
                <a:solidFill>
                  <a:srgbClr val="FFFFFF"/>
                </a:solidFill>
              </a:rPr>
              <a:t>on</a:t>
            </a:r>
            <a:r>
              <a:rPr lang="en-US" sz="2400" b="1" i="0" dirty="0">
                <a:solidFill>
                  <a:srgbClr val="FFFFFF"/>
                </a:solidFill>
              </a:rPr>
              <a:t>, </a:t>
            </a:r>
            <a:r>
              <a:rPr lang="en-US" sz="2400" i="0" dirty="0">
                <a:solidFill>
                  <a:srgbClr val="FFFFFF"/>
                </a:solidFill>
              </a:rPr>
              <a:t>and</a:t>
            </a:r>
          </a:p>
          <a:p>
            <a:pPr algn="ctr">
              <a:buNone/>
            </a:pPr>
            <a:r>
              <a:rPr lang="en-US" sz="2400" i="0" dirty="0">
                <a:solidFill>
                  <a:srgbClr val="FFFFFF"/>
                </a:solidFill>
              </a:rPr>
              <a:t>how that changes the evidence we require.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Consequence changes the burden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48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GAME</a:t>
            </a:r>
          </a:p>
        </p:txBody>
      </p:sp>
      <p:sp>
        <p:nvSpPr>
          <p:cNvPr id="101" name="P101"/>
          <p:cNvSpPr/>
          <p:nvPr/>
        </p:nvSpPr>
        <p:spPr>
          <a:xfrm>
            <a:off x="482000" y="1860000"/>
            <a:ext cx="2560000" cy="19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draws a character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annoys a player</a:t>
            </a:r>
          </a:p>
        </p:txBody>
      </p:sp>
      <p:sp>
        <p:nvSpPr>
          <p:cNvPr id="102" name="B102"/>
          <p:cNvSpPr/>
          <p:nvPr/>
        </p:nvSpPr>
        <p:spPr>
          <a:xfrm>
            <a:off x="329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TODO APP</a:t>
            </a:r>
          </a:p>
        </p:txBody>
      </p:sp>
      <p:sp>
        <p:nvSpPr>
          <p:cNvPr id="103" name="P103"/>
          <p:cNvSpPr/>
          <p:nvPr/>
        </p:nvSpPr>
        <p:spPr>
          <a:xfrm>
            <a:off x="3292000" y="1860000"/>
            <a:ext cx="2560000" cy="190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occasionally loses a task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destroys information a user depends on</a:t>
            </a:r>
          </a:p>
        </p:txBody>
      </p:sp>
      <p:sp>
        <p:nvSpPr>
          <p:cNvPr id="104" name="B104"/>
          <p:cNvSpPr/>
          <p:nvPr/>
        </p:nvSpPr>
        <p:spPr>
          <a:xfrm>
            <a:off x="6102000" y="1160000"/>
            <a:ext cx="2560000" cy="6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X-Ray Control</a:t>
            </a:r>
          </a:p>
        </p:txBody>
      </p:sp>
      <p:sp>
        <p:nvSpPr>
          <p:cNvPr id="105" name="P105"/>
          <p:cNvSpPr/>
          <p:nvPr/>
        </p:nvSpPr>
        <p:spPr>
          <a:xfrm>
            <a:off x="6102000" y="1860000"/>
            <a:ext cx="2560000" cy="1900000"/>
          </a:xfrm>
          <a:prstGeom prst="rect">
            <a:avLst/>
          </a:prstGeom>
          <a:solidFill>
            <a:srgbClr val="F3E7DE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000000"/>
                </a:solidFill>
              </a:rPr>
              <a:t>delivers an incorrect dose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>↓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directly injures its user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482000" y="3960000"/>
            <a:ext cx="818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Severity and causal distance both matter: almost any defect connects to harm through some chain,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but a graphical glitch is not safety-critical merely because frustrated players sometimes behave badly.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The more direct and substantial the consequence, the more evidence we demand.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Validation is a decision under uncertainty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Validation does not demand certainty.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It asks whether the available evidence justifies acting under the remaining uncertainty.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Software is updatable.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Sometimes it is right to deliver under known uncertainty, observe, and repair — delivery can itself be part of learning.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>But an update repairs the software,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not the consequences of its past behavior. It cannot recover lost money or reverse an injury.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687568"/>
            <a:ext cx="8595360" cy="76809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asks what evidence is sufficient for THIS delivery —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what uncertainty can we afford to carry?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Where should evidence attach?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Start from the specification; find the scope that can establish the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claims come from the specification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The payment service specification already says what must be true: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submitted payment shall cause at most one charge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112264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An unauthorized user cannot initiate a payment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2807208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completed payment appears in the account history</a:t>
            </a:r>
          </a:p>
        </p:txBody>
      </p:sp>
      <p:sp>
        <p:nvSpPr>
          <p:cNvPr id="104" name="P104"/>
          <p:cNvSpPr/>
          <p:nvPr/>
        </p:nvSpPr>
        <p:spPr>
          <a:xfrm>
            <a:off x="566928" y="3502152"/>
            <a:ext cx="801014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normal request completes within an acceptable time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4343400"/>
            <a:ext cx="8010144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Requirements state outcomes in the world. A specification states the machine’s obligations under assumptions about its environment.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Validation inherits these claims. Its question is which of them are consequential — and what evidence could expose a violation.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do not invent claims during validation. We inherit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Engineering models grow more precise toward the code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 chain of models growing more precise — not a schedule of phases.</a:t>
            </a:r>
          </a:p>
        </p:txBody>
      </p:sp>
      <p:sp>
        <p:nvSpPr>
          <p:cNvPr id="130" name="P130"/>
          <p:cNvSpPr/>
          <p:nvPr/>
        </p:nvSpPr>
        <p:spPr>
          <a:xfrm>
            <a:off x="4754880" y="941832"/>
            <a:ext cx="3703320" cy="2834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A CHAIN OF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Requirements say what the world must get. The specification says what the machine must do, under stated environment assumptions. Architecture and design say how. The implementation is the realized machine.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The middle has no fixed number of levels — refine as far as the engineering problem requires.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/>
      <p:bldP spid="111" grpId="1"/>
      <p:bldP spid="112" grpId="2"/>
      <p:bldP spid="113" grpId="3" animBg="1"/>
      <p:bldP spid="114" grpId="4" animBg="1"/>
      <p:bldP spid="115" grpId="5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specification hands us a system-level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21792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>what we build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3017520" y="1435608"/>
            <a:ext cx="356616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+</a:t>
            </a:r>
          </a:p>
        </p:txBody>
      </p:sp>
      <p:sp>
        <p:nvSpPr>
          <p:cNvPr id="102" name="B102"/>
          <p:cNvSpPr/>
          <p:nvPr/>
        </p:nvSpPr>
        <p:spPr>
          <a:xfrm>
            <a:off x="3419856" y="1188720"/>
            <a:ext cx="2359152" cy="89611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ENVIRONMENT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>domain assumptions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5861304" y="1636776"/>
            <a:ext cx="521208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E104"/>
          <p:cNvSpPr/>
          <p:nvPr/>
        </p:nvSpPr>
        <p:spPr>
          <a:xfrm>
            <a:off x="6483096" y="1188720"/>
            <a:ext cx="2139696" cy="896112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WORLD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the required outcome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68880"/>
            <a:ext cx="8010144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Evidence must establish that the machine meets its specification under the environment assumptions — and that this produces the required outcome in the world.</a:t>
            </a:r>
          </a:p>
        </p:txBody>
      </p:sp>
      <p:sp>
        <p:nvSpPr>
          <p:cNvPr id="120" name="E120"/>
          <p:cNvSpPr/>
          <p:nvPr/>
        </p:nvSpPr>
        <p:spPr>
          <a:xfrm>
            <a:off x="1188720" y="370332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A submitted payment shall cause at most one charge.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663440"/>
            <a:ext cx="801014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Most evidence attaches to the machine. The requirement lives in the world, and the link between them runs through assumptions we have not tested.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Machine-side evidence cannot expose a false domain assumption. World evidence can.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Why not just test the whole system?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14400"/>
            <a:ext cx="8010144" cy="89611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OBVIOUS STRATEGY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Assemble the service, submit a payment, and check that no more than one charge appears.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96596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In principle this is exactly what we want: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it observes the behavior we actually care about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at the real boundary, where the claim lives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377440"/>
            <a:ext cx="2487168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conditions close to delivery</a:t>
            </a:r>
          </a:p>
        </p:txBody>
      </p:sp>
      <p:sp>
        <p:nvSpPr>
          <p:cNvPr id="130" name="E130"/>
          <p:cNvSpPr/>
          <p:nvPr/>
        </p:nvSpPr>
        <p:spPr>
          <a:xfrm>
            <a:off x="1188720" y="3749040"/>
            <a:ext cx="6766560" cy="86868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why do engineers spend so much effort obtaining evidence about the parts?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Hold the question. First: suppose that system test just failed.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When the end-to-end test fails, where is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client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0025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1671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API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36027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37673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payments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52029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53675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ledger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6803136" y="1179576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B104"/>
          <p:cNvSpPr/>
          <p:nvPr/>
        </p:nvSpPr>
        <p:spPr>
          <a:xfrm>
            <a:off x="6967728" y="914400"/>
            <a:ext cx="1417320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1572768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One failing system test. Any of these — or any interaction between them — could be responsible.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LOCALIZE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failure names a symptom, not a part.</a:t>
            </a:r>
          </a:p>
        </p:txBody>
      </p:sp>
      <p:sp>
        <p:nvSpPr>
          <p:cNvPr id="131" name="P131"/>
          <p:cNvSpPr/>
          <p:nvPr/>
        </p:nvSpPr>
        <p:spPr>
          <a:xfrm>
            <a:off x="3328416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REPRODUCE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Timing, state, and environment may not repeat on demand.</a:t>
            </a:r>
          </a:p>
        </p:txBody>
      </p:sp>
      <p:sp>
        <p:nvSpPr>
          <p:cNvPr id="132" name="P132"/>
          <p:cNvSpPr/>
          <p:nvPr/>
        </p:nvSpPr>
        <p:spPr>
          <a:xfrm>
            <a:off x="6089904" y="2029968"/>
            <a:ext cx="2487168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DIAGNOSE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The further the observation sits from the fault, the more it costs to explain.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342900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Some properties are also far cheaper to exercise at a smaller scope: rejecting a duplicate payment ID needs one component, not a deployment.</a:t>
            </a:r>
          </a:p>
        </p:txBody>
      </p:sp>
      <p:sp>
        <p:nvSpPr>
          <p:cNvPr id="150" name="E150"/>
          <p:cNvSpPr/>
          <p:nvPr/>
        </p:nvSpPr>
        <p:spPr>
          <a:xfrm>
            <a:off x="1188720" y="4434840"/>
            <a:ext cx="6766560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So we deliberately obtain evidence at more than one scope.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System evidence is the most realistic — and the most expensive to act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One claim, four scopes of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676656" y="896112"/>
            <a:ext cx="7936992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SPECIFICATION: a submitted payment shall cause at most one charge.</a:t>
            </a:r>
          </a:p>
        </p:txBody>
      </p:sp>
      <p:sp>
        <p:nvSpPr>
          <p:cNvPr id="110" name="B110"/>
          <p:cNvSpPr/>
          <p:nvPr/>
        </p:nvSpPr>
        <p:spPr>
          <a:xfrm>
            <a:off x="676656" y="1627632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120" name="P120"/>
          <p:cNvSpPr/>
          <p:nvPr/>
        </p:nvSpPr>
        <p:spPr>
          <a:xfrm>
            <a:off x="3163824" y="1627632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Does the idempotency component reject a duplicate payment ID?</a:t>
            </a:r>
          </a:p>
        </p:txBody>
      </p:sp>
      <p:sp>
        <p:nvSpPr>
          <p:cNvPr id="111" name="B111"/>
          <p:cNvSpPr/>
          <p:nvPr/>
        </p:nvSpPr>
        <p:spPr>
          <a:xfrm>
            <a:off x="676656" y="2340864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COMPOSITION</a:t>
            </a:r>
          </a:p>
        </p:txBody>
      </p:sp>
      <p:sp>
        <p:nvSpPr>
          <p:cNvPr id="121" name="P121"/>
          <p:cNvSpPr/>
          <p:nvPr/>
        </p:nvSpPr>
        <p:spPr>
          <a:xfrm>
            <a:off x="3163824" y="2340864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When client retry and server retry interact, can one payment be submitted twice?</a:t>
            </a:r>
          </a:p>
        </p:txBody>
      </p:sp>
      <p:sp>
        <p:nvSpPr>
          <p:cNvPr id="112" name="B112"/>
          <p:cNvSpPr/>
          <p:nvPr/>
        </p:nvSpPr>
        <p:spPr>
          <a:xfrm>
            <a:off x="676656" y="3054096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22" name="P122"/>
          <p:cNvSpPr/>
          <p:nvPr/>
        </p:nvSpPr>
        <p:spPr>
          <a:xfrm>
            <a:off x="3163824" y="3054096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Can one submitted payment ever produce two charges at the boundary?</a:t>
            </a:r>
          </a:p>
        </p:txBody>
      </p:sp>
      <p:sp>
        <p:nvSpPr>
          <p:cNvPr id="113" name="B113"/>
          <p:cNvSpPr/>
          <p:nvPr/>
        </p:nvSpPr>
        <p:spPr>
          <a:xfrm>
            <a:off x="676656" y="3767328"/>
            <a:ext cx="2395728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WORLD</a:t>
            </a:r>
          </a:p>
        </p:txBody>
      </p:sp>
      <p:sp>
        <p:nvSpPr>
          <p:cNvPr id="123" name="P123"/>
          <p:cNvSpPr/>
          <p:nvPr/>
        </p:nvSpPr>
        <p:spPr>
          <a:xfrm>
            <a:off x="3163824" y="3767328"/>
            <a:ext cx="5458968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Under the provider’s actual semantics, can the customer still be charged twice?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76656" y="4572000"/>
            <a:ext cx="793699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Local evidence makes a failure cheap to isolate. Only the assembled system can expose the interaction.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Only evidence about the world can expose a false assumption about the provider.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Same claim. Four kinds of evidence — each exposing failures the others cannot.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low can the evidence go?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Local evidence is cheaper. But some properties do not exist locally at all.</a:t>
            </a:r>
          </a:p>
        </p:txBody>
      </p:sp>
      <p:sp>
        <p:nvSpPr>
          <p:cNvPr id="101" name="P101"/>
          <p:cNvSpPr/>
          <p:nvPr/>
        </p:nvSpPr>
        <p:spPr>
          <a:xfrm>
            <a:off x="566928" y="1417320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Three services each meet their local latency budget — the end-to-end path exceeds the system budget.</a:t>
            </a:r>
          </a:p>
        </p:txBody>
      </p:sp>
      <p:sp>
        <p:nvSpPr>
          <p:cNvPr id="102" name="P102"/>
          <p:cNvSpPr/>
          <p:nvPr/>
        </p:nvSpPr>
        <p:spPr>
          <a:xfrm>
            <a:off x="566928" y="2221992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components each behave correctly — their assumptions leave one responsibility owned by neither.</a:t>
            </a:r>
          </a:p>
        </p:txBody>
      </p:sp>
      <p:sp>
        <p:nvSpPr>
          <p:cNvPr id="103" name="P103"/>
          <p:cNvSpPr/>
          <p:nvPr/>
        </p:nvSpPr>
        <p:spPr>
          <a:xfrm>
            <a:off x="566928" y="3026664"/>
            <a:ext cx="8010144" cy="69494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Two retry mechanisms are each correct — their interaction lets the same operation happen twice.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93192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Check a property at the lowest scope that can actually establish it — but no lower.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You cannot decompose away a property that exists only in composition.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 cheap as the property allows — and no cheaper.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V: models left, evidence at matching scopes right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50" name="L150"/>
          <p:cNvSpPr/>
          <p:nvPr/>
        </p:nvSpPr>
        <p:spPr>
          <a:xfrm>
            <a:off x="235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0" y="0"/>
                </a:moveTo>
                <a:lnTo>
                  <a:pt x="195000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L151"/>
          <p:cNvSpPr/>
          <p:nvPr/>
        </p:nvSpPr>
        <p:spPr>
          <a:xfrm>
            <a:off x="4300000" y="980000"/>
            <a:ext cx="1950000" cy="3580000"/>
          </a:xfrm>
          <a:custGeom>
            <a:avLst/>
            <a:gdLst/>
            <a:ahLst/>
            <a:cxnLst/>
            <a:rect l="l" t="t" r="r" b="b"/>
            <a:pathLst>
              <a:path w="1950000" h="3580000" fill="none">
                <a:moveTo>
                  <a:pt x="1950000" y="0"/>
                </a:moveTo>
                <a:lnTo>
                  <a:pt x="0" y="3580000"/>
                </a:lnTo>
              </a:path>
            </a:pathLst>
          </a:custGeom>
          <a:noFill/>
          <a:ln w="38100">
            <a:solidFill>
              <a:srgbClr val="8E6F3E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T110"/>
          <p:cNvSpPr txBox="1"/>
          <p:nvPr/>
        </p:nvSpPr>
        <p:spPr>
          <a:xfrm>
            <a:off x="300000" y="94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Requirements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world outcomes</a:t>
            </a:r>
          </a:p>
        </p:txBody>
      </p:sp>
      <p:sp>
        <p:nvSpPr>
          <p:cNvPr id="111" name="T111"/>
          <p:cNvSpPr txBox="1"/>
          <p:nvPr/>
        </p:nvSpPr>
        <p:spPr>
          <a:xfrm>
            <a:off x="300000" y="15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Specification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machine obligations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environment assumptions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300000" y="2360000"/>
            <a:ext cx="198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Architecture + Design</a:t>
            </a:r>
          </a:p>
          <a:p>
            <a:pPr algn="r">
              <a:spcBef>
                <a:spcPts val="4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progressively more</a:t>
            </a:r>
          </a:p>
          <a:p>
            <a:pPr algn="r">
              <a:spcBef>
                <a:spcPts val="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precise engineering models</a:t>
            </a:r>
          </a:p>
        </p:txBody>
      </p:sp>
      <p:sp>
        <p:nvSpPr>
          <p:cNvPr id="113" name="P113"/>
          <p:cNvSpPr/>
          <p:nvPr/>
        </p:nvSpPr>
        <p:spPr>
          <a:xfrm>
            <a:off x="1780000" y="3060000"/>
            <a:ext cx="160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system organization</a:t>
            </a:r>
          </a:p>
        </p:txBody>
      </p:sp>
      <p:sp>
        <p:nvSpPr>
          <p:cNvPr id="114" name="P114"/>
          <p:cNvSpPr/>
          <p:nvPr/>
        </p:nvSpPr>
        <p:spPr>
          <a:xfrm>
            <a:off x="1920000" y="3400000"/>
            <a:ext cx="132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subsystem</a:t>
            </a:r>
          </a:p>
        </p:txBody>
      </p:sp>
      <p:sp>
        <p:nvSpPr>
          <p:cNvPr id="115" name="P115"/>
          <p:cNvSpPr/>
          <p:nvPr/>
        </p:nvSpPr>
        <p:spPr>
          <a:xfrm>
            <a:off x="2060000" y="3740000"/>
            <a:ext cx="1040000" cy="3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250" b="0" i="0" dirty="0">
                <a:solidFill>
                  <a:srgbClr val="000000"/>
                </a:solidFill>
              </a:rPr>
              <a:t>mechanism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3500000" y="4620000"/>
            <a:ext cx="1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Realization</a:t>
            </a:r>
          </a:p>
          <a:p>
            <a:pPr algn="ctr"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Implementation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420000" y="94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World evidence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420000" y="15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System evidence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6420000" y="2360000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Composition evidence</a:t>
            </a:r>
          </a:p>
        </p:txBody>
      </p:sp>
      <p:sp>
        <p:nvSpPr>
          <p:cNvPr id="123" name="T123"/>
          <p:cNvSpPr txBox="1"/>
          <p:nvPr/>
        </p:nvSpPr>
        <p:spPr>
          <a:xfrm>
            <a:off x="6420000" y="3438144"/>
            <a:ext cx="23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600" b="1" i="0" dirty="0">
                <a:solidFill>
                  <a:srgbClr val="000000"/>
                </a:solidFill>
              </a:rPr>
              <a:t>Local evidence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Left: models growing more precise. Right: evidence where each property lives.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1"/>
      <p:bldP spid="122" grpId="2"/>
      <p:bldP spid="123" grpId="3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Now the conventional vocabulary has something to attach to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676656" y="1115568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Acceptance</a:t>
            </a:r>
          </a:p>
        </p:txBody>
      </p:sp>
      <p:sp>
        <p:nvSpPr>
          <p:cNvPr id="101" name="P101"/>
          <p:cNvSpPr/>
          <p:nvPr/>
        </p:nvSpPr>
        <p:spPr>
          <a:xfrm>
            <a:off x="3163824" y="1115568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that the delivered system achieves its purpose in the world</a:t>
            </a:r>
          </a:p>
        </p:txBody>
      </p:sp>
      <p:sp>
        <p:nvSpPr>
          <p:cNvPr id="102" name="B102"/>
          <p:cNvSpPr/>
          <p:nvPr/>
        </p:nvSpPr>
        <p:spPr>
          <a:xfrm>
            <a:off x="676656" y="1856232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103" name="P103"/>
          <p:cNvSpPr/>
          <p:nvPr/>
        </p:nvSpPr>
        <p:spPr>
          <a:xfrm>
            <a:off x="3163824" y="1856232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the assembled system at a chosen boundary</a:t>
            </a:r>
          </a:p>
        </p:txBody>
      </p:sp>
      <p:sp>
        <p:nvSpPr>
          <p:cNvPr id="104" name="B104"/>
          <p:cNvSpPr/>
          <p:nvPr/>
        </p:nvSpPr>
        <p:spPr>
          <a:xfrm>
            <a:off x="676656" y="2596896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05" name="P105"/>
          <p:cNvSpPr/>
          <p:nvPr/>
        </p:nvSpPr>
        <p:spPr>
          <a:xfrm>
            <a:off x="3163824" y="2596896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interactions among parts</a:t>
            </a:r>
          </a:p>
        </p:txBody>
      </p:sp>
      <p:sp>
        <p:nvSpPr>
          <p:cNvPr id="106" name="B106"/>
          <p:cNvSpPr/>
          <p:nvPr/>
        </p:nvSpPr>
        <p:spPr>
          <a:xfrm>
            <a:off x="676656" y="3337560"/>
            <a:ext cx="2395728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Unit</a:t>
            </a:r>
          </a:p>
        </p:txBody>
      </p:sp>
      <p:sp>
        <p:nvSpPr>
          <p:cNvPr id="107" name="P107"/>
          <p:cNvSpPr/>
          <p:nvPr/>
        </p:nvSpPr>
        <p:spPr>
          <a:xfrm>
            <a:off x="3163824" y="3337560"/>
            <a:ext cx="545896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evidence about a chosen part in isolation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676656" y="4206240"/>
            <a:ext cx="793699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These name scopes of evidence. A subsystem may be a “unit” from one perspective and a “system” with its own architecture from another.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The words are relative. The question they answer — where does this property live? — is not.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You will hear these words constantly. Now you know what they describe.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2900" b="0" i="0" dirty="0">
                <a:solidFill>
                  <a:srgbClr val="000000"/>
                </a:solidFill>
              </a:rPr>
              <a:t>How can we obtain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Four ways engineers come to know things about software.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Four ways to obtain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96112"/>
            <a:ext cx="801014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A claim and a scope say WHERE evidence must attach. They do not say how to get it.</a:t>
            </a:r>
          </a:p>
        </p:txBody>
      </p:sp>
      <p:sp>
        <p:nvSpPr>
          <p:cNvPr id="110" name="B110"/>
          <p:cNvSpPr/>
          <p:nvPr/>
        </p:nvSpPr>
        <p:spPr>
          <a:xfrm>
            <a:off x="566928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000000"/>
                </a:solidFill>
              </a:rPr>
              <a:t>run it and observe what happens</a:t>
            </a:r>
          </a:p>
        </p:txBody>
      </p:sp>
      <p:sp>
        <p:nvSpPr>
          <p:cNvPr id="111" name="B111"/>
          <p:cNvSpPr/>
          <p:nvPr/>
        </p:nvSpPr>
        <p:spPr>
          <a:xfrm>
            <a:off x="2615184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21" name="P121"/>
          <p:cNvSpPr/>
          <p:nvPr/>
        </p:nvSpPr>
        <p:spPr>
          <a:xfrm>
            <a:off x="2615184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000000"/>
                </a:solidFill>
              </a:rPr>
              <a:t>infer properties without running it</a:t>
            </a:r>
          </a:p>
        </p:txBody>
      </p:sp>
      <p:sp>
        <p:nvSpPr>
          <p:cNvPr id="112" name="B112"/>
          <p:cNvSpPr/>
          <p:nvPr/>
        </p:nvSpPr>
        <p:spPr>
          <a:xfrm>
            <a:off x="4663440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22" name="P122"/>
          <p:cNvSpPr/>
          <p:nvPr/>
        </p:nvSpPr>
        <p:spPr>
          <a:xfrm>
            <a:off x="4663440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000000"/>
                </a:solidFill>
              </a:rPr>
              <a:t>people read it and judge</a:t>
            </a:r>
          </a:p>
        </p:txBody>
      </p:sp>
      <p:sp>
        <p:nvSpPr>
          <p:cNvPr id="113" name="B113"/>
          <p:cNvSpPr/>
          <p:nvPr/>
        </p:nvSpPr>
        <p:spPr>
          <a:xfrm>
            <a:off x="6711696" y="1463040"/>
            <a:ext cx="190195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23" name="P123"/>
          <p:cNvSpPr/>
          <p:nvPr/>
        </p:nvSpPr>
        <p:spPr>
          <a:xfrm>
            <a:off x="6711696" y="2084832"/>
            <a:ext cx="1901952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1" dirty="0">
                <a:solidFill>
                  <a:srgbClr val="000000"/>
                </a:solidFill>
              </a:rPr>
              <a:t>reason mechanically over a model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3520440"/>
            <a:ext cx="8010144" cy="105156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Mechanism and scope are independent choices.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754880"/>
            <a:ext cx="801014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Each buys a different kind of knowledge — and each has a limitation you should be able to state.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“Unit” says where the evidence attaches. “Testing” says how it was obtained.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Dynamic testing observes executions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CHOOSE INPUTS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04872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596896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RUN THE SYSTEM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434840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626864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OBSERVE BEHAVIOR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464808" y="1298448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6656832" y="960120"/>
            <a:ext cx="1810512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>COMPARE TO AN ORACLE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2103120"/>
            <a:ext cx="7132320" cy="9144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The test passes.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50" b="0" i="1" dirty="0">
                <a:solidFill>
                  <a:srgbClr val="57534E"/>
                </a:solidFill>
              </a:rPr>
              <a:t>What does that tell us about the executions we did not run?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3291840"/>
            <a:ext cx="80101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Every execution we run is one sample of the behavior. The ones we did not choose are unobserved — not shown to be correct.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5196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things are always required: inputs to run, and an oracle that says what counts as correct.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When stating the correct answer is itself hard, we need search strategies — Section 4.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Testing observes executions. It does not observe the executions you didn’t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Coverage tells us where we looked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Statement and condition coverage both reached 100%.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700" b="1" i="0" dirty="0">
                <a:solidFill>
                  <a:srgbClr val="000000"/>
                </a:solidFill>
              </a:rPr>
              <a:t>What have we established — and what have we not?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292608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Different notions of “how much did we look at?”</a:t>
            </a:r>
          </a:p>
        </p:txBody>
      </p:sp>
      <p:sp>
        <p:nvSpPr>
          <p:cNvPr id="130" name="P130"/>
          <p:cNvSpPr/>
          <p:nvPr/>
        </p:nvSpPr>
        <p:spPr>
          <a:xfrm>
            <a:off x="676656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statement</a:t>
            </a:r>
          </a:p>
        </p:txBody>
      </p:sp>
      <p:sp>
        <p:nvSpPr>
          <p:cNvPr id="131" name="P131"/>
          <p:cNvSpPr/>
          <p:nvPr/>
        </p:nvSpPr>
        <p:spPr>
          <a:xfrm>
            <a:off x="2258568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branch / condition</a:t>
            </a:r>
          </a:p>
        </p:txBody>
      </p:sp>
      <p:sp>
        <p:nvSpPr>
          <p:cNvPr id="132" name="P132"/>
          <p:cNvSpPr/>
          <p:nvPr/>
        </p:nvSpPr>
        <p:spPr>
          <a:xfrm>
            <a:off x="3840480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path</a:t>
            </a:r>
          </a:p>
        </p:txBody>
      </p:sp>
      <p:sp>
        <p:nvSpPr>
          <p:cNvPr id="133" name="P133"/>
          <p:cNvSpPr/>
          <p:nvPr/>
        </p:nvSpPr>
        <p:spPr>
          <a:xfrm>
            <a:off x="5422392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input &amp; state space</a:t>
            </a:r>
          </a:p>
        </p:txBody>
      </p:sp>
      <p:sp>
        <p:nvSpPr>
          <p:cNvPr id="134" name="P134"/>
          <p:cNvSpPr/>
          <p:nvPr/>
        </p:nvSpPr>
        <p:spPr>
          <a:xfrm>
            <a:off x="7004304" y="3273552"/>
            <a:ext cx="146304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000000"/>
                </a:solidFill>
              </a:rPr>
              <a:t>claim</a:t>
            </a:r>
          </a:p>
        </p:txBody>
      </p:sp>
      <p:sp>
        <p:nvSpPr>
          <p:cNvPr id="120" name="E120"/>
          <p:cNvSpPr/>
          <p:nvPr/>
        </p:nvSpPr>
        <p:spPr>
          <a:xfrm>
            <a:off x="1005840" y="4023360"/>
            <a:ext cx="7132320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Coverage tells us WHERE WE LOOKED.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None of these says the code is correct — a reached line with no consequential assertion is execution, not evidence.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5120640"/>
            <a:ext cx="8010144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Google and Microsoft report ~80–90% statement coverage; DO-178C Level A avionics requires 100% MC/DC.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Execution coverage is not claim coverage.</a:t>
            </a:r>
          </a:p>
        </p:txBody>
      </p:sp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024" y="1554480"/>
            <a:ext cx="4187952" cy="12070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Static analysis reasons without executing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00" b="0" i="0" dirty="0">
                <a:solidFill>
                  <a:srgbClr val="000000"/>
                </a:solidFill>
                <a:latin typeface="Consolas"/>
              </a:rPr>
              <a:t>Config c = loadConfig();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  <a:latin typeface="Consolas"/>
              </a:rPr>
              <a:t>return c.timeoutMs;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loadConfig() never returns null: startup validates the file.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325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THE ANALYZER REPORTS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“possible null dereference”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50" b="0" i="1" dirty="0">
                <a:solidFill>
                  <a:srgbClr val="555960"/>
                </a:solidFill>
              </a:rPr>
              <a:t>It cannot happen here — and nothing in the code says so.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7534E"/>
                </a:solidFill>
              </a:rPr>
              <a:t>FALSE POSITIVE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a reported violation that cannot actually occur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2450592"/>
            <a:ext cx="3895344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COMPLETE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reports no violation that cannot occur — so it may miss some that can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7534E"/>
                </a:solidFill>
              </a:rPr>
              <a:t>FALSE NEGATIVE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a real violation the analysis never reports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364992"/>
            <a:ext cx="3895344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SOUND for what it models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misses no violation its model covers — so it may report some that cannot occur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526280"/>
            <a:ext cx="801014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Which promise a tool makes, and over which behaviors, is a property of that tool.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Static analysis is inference under an abstraction, and no wiser than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Human inspection contributes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32688"/>
            <a:ext cx="3895344" cy="3017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WHAT PEOPLE NOTICE THAT MACHINES DO NOT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the wrong problem has been solved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 assumption is unstated, or wrong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 requirement is ambiguous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 design choice will not survive change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 concern nobody wrote down is missing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 interface contract is only implied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the requirement itself is the wrong one</a:t>
            </a:r>
          </a:p>
        </p:txBody>
      </p:sp>
      <p:sp>
        <p:nvSpPr>
          <p:cNvPr id="110" name="P110"/>
          <p:cNvSpPr/>
          <p:nvPr/>
        </p:nvSpPr>
        <p:spPr>
          <a:xfrm>
            <a:off x="4681728" y="932688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People recognize semantic problems machines do not know to ask about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6629400" y="1609344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P111"/>
          <p:cNvSpPr/>
          <p:nvPr/>
        </p:nvSpPr>
        <p:spPr>
          <a:xfrm>
            <a:off x="4681728" y="1719072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But attention and vigilance are finite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29400" y="2395728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4681728" y="2505456"/>
            <a:ext cx="3895344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Rare-event detection degrades under repetitive inspection</a:t>
            </a:r>
          </a:p>
        </p:txBody>
      </p:sp>
      <p:cxnSp>
        <p:nvCxnSpPr>
          <p:cNvPr id="122" name="C122"/>
          <p:cNvCxnSpPr/>
          <p:nvPr/>
        </p:nvCxnSpPr>
        <p:spPr>
          <a:xfrm>
            <a:off x="6629400" y="3182112"/>
            <a:ext cx="0" cy="9144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0" name="E130"/>
          <p:cNvSpPr/>
          <p:nvPr/>
        </p:nvSpPr>
        <p:spPr>
          <a:xfrm>
            <a:off x="4681728" y="3291840"/>
            <a:ext cx="3895344" cy="65836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So review is valuable evidence — not exhaustive coverage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206240"/>
            <a:ext cx="801014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00" b="0" i="1" dirty="0">
                <a:solidFill>
                  <a:srgbClr val="78716C"/>
                </a:solidFill>
              </a:rPr>
              <a:t>Wolfe, Horowitz &amp; Kenner, “Rare Items Often Missed in Visual Searches,” Nature 435 (2005).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300" b="0" i="1" dirty="0">
                <a:solidFill>
                  <a:srgbClr val="78716C"/>
                </a:solidFill>
              </a:rPr>
              <a:t>Warm, Parasuraman &amp; Matthews, “Vigilance Requires Hard Mental Work and Is Stressful,” Human Factors 50, no. 3 (2008).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Human review is evidence from judgment — not a scalable exhaustive detector.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P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Which one violates the rule? Vote now — then we will check.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Can you find the defect?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566928" y="868680"/>
            <a:ext cx="8010144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RULE: record the payment ID BEFORE charging it — a retry must never charge twice.</a:t>
            </a:r>
          </a:p>
        </p:txBody>
      </p:sp>
      <p:sp>
        <p:nvSpPr>
          <p:cNvPr id="201" name="P201"/>
          <p:cNvSpPr/>
          <p:nvPr/>
        </p:nvSpPr>
        <p:spPr>
          <a:xfrm>
            <a:off x="676656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1.    mark(id); charge(id);</a:t>
            </a:r>
          </a:p>
        </p:txBody>
      </p:sp>
      <p:sp>
        <p:nvSpPr>
          <p:cNvPr id="202" name="P202"/>
          <p:cNvSpPr/>
          <p:nvPr/>
        </p:nvSpPr>
        <p:spPr>
          <a:xfrm>
            <a:off x="676656" y="2386584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2.    mark(id); charge(id);</a:t>
            </a:r>
          </a:p>
        </p:txBody>
      </p:sp>
      <p:sp>
        <p:nvSpPr>
          <p:cNvPr id="203" name="P203"/>
          <p:cNvSpPr/>
          <p:nvPr/>
        </p:nvSpPr>
        <p:spPr>
          <a:xfrm>
            <a:off x="676656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3.    mark(id); charge(id);</a:t>
            </a:r>
          </a:p>
        </p:txBody>
      </p:sp>
      <p:sp>
        <p:nvSpPr>
          <p:cNvPr id="204" name="P204"/>
          <p:cNvSpPr/>
          <p:nvPr/>
        </p:nvSpPr>
        <p:spPr>
          <a:xfrm>
            <a:off x="676656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4.    mark(id); charge(id);</a:t>
            </a:r>
          </a:p>
        </p:txBody>
      </p:sp>
      <p:sp>
        <p:nvSpPr>
          <p:cNvPr id="205" name="P205"/>
          <p:cNvSpPr/>
          <p:nvPr/>
        </p:nvSpPr>
        <p:spPr>
          <a:xfrm>
            <a:off x="676656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5.    mark(id); charge(id);</a:t>
            </a:r>
          </a:p>
        </p:txBody>
      </p:sp>
      <p:sp>
        <p:nvSpPr>
          <p:cNvPr id="206" name="P206"/>
          <p:cNvSpPr/>
          <p:nvPr/>
        </p:nvSpPr>
        <p:spPr>
          <a:xfrm>
            <a:off x="4690872" y="1691640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6.    mark(id); charge(id);</a:t>
            </a:r>
          </a:p>
        </p:txBody>
      </p:sp>
      <p:sp>
        <p:nvSpPr>
          <p:cNvPr id="207" name="B207"/>
          <p:cNvSpPr/>
          <p:nvPr/>
        </p:nvSpPr>
        <p:spPr>
          <a:xfrm>
            <a:off x="4690872" y="2386584"/>
            <a:ext cx="3776472" cy="60350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1" i="0" dirty="0">
                <a:solidFill>
                  <a:srgbClr val="FFFFFF"/>
                </a:solidFill>
                <a:latin typeface="Consolas"/>
              </a:rPr>
              <a:t>7.    charge(id); mark(id);</a:t>
            </a:r>
          </a:p>
        </p:txBody>
      </p:sp>
      <p:sp>
        <p:nvSpPr>
          <p:cNvPr id="208" name="P208"/>
          <p:cNvSpPr/>
          <p:nvPr/>
        </p:nvSpPr>
        <p:spPr>
          <a:xfrm>
            <a:off x="4690872" y="3081528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8.    mark(id); charge(id);</a:t>
            </a:r>
          </a:p>
        </p:txBody>
      </p:sp>
      <p:sp>
        <p:nvSpPr>
          <p:cNvPr id="209" name="P209"/>
          <p:cNvSpPr/>
          <p:nvPr/>
        </p:nvSpPr>
        <p:spPr>
          <a:xfrm>
            <a:off x="4690872" y="3776472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9.    mark(id); charge(id);</a:t>
            </a:r>
          </a:p>
        </p:txBody>
      </p:sp>
      <p:sp>
        <p:nvSpPr>
          <p:cNvPr id="210" name="P210"/>
          <p:cNvSpPr/>
          <p:nvPr/>
        </p:nvSpPr>
        <p:spPr>
          <a:xfrm>
            <a:off x="4690872" y="4471416"/>
            <a:ext cx="377647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l">
              <a:buNone/>
            </a:pPr>
            <a:r>
              <a:rPr lang="en-US" sz="1550" b="0" i="0" dirty="0">
                <a:solidFill>
                  <a:srgbClr val="000000"/>
                </a:solidFill>
                <a:latin typeface="Consolas"/>
              </a:rPr>
              <a:t>10.   mark(id); charge(id);</a:t>
            </a:r>
          </a:p>
        </p:txBody>
      </p:sp>
      <p:sp>
        <p:nvSpPr>
          <p:cNvPr id="300" name="FooterBand"/>
          <p:cNvSpPr/>
          <p:nvPr/>
        </p:nvSpPr>
        <p:spPr>
          <a:xfrm>
            <a:off x="274320" y="5687568"/>
            <a:ext cx="8595360" cy="76809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#7 charges before it records. A retried request finds no record — and charges again.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Ten items, one difference, and a full minute of your undivided attention.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human attention is not scalable enforcement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1005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 artifacts · 1 defect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3657600" y="1234440"/>
            <a:ext cx="17830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5577840" y="914400"/>
            <a:ext cx="256032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10,000 artifacts · ?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566928" y="1691640"/>
            <a:ext cx="8010144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“A human reviews everything” sounds like governance. As volume grows, it stops being credible assurance.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286000"/>
            <a:ext cx="2487168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CONTROLLED EXPERIMENT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Rare targets are disproportionately missed in visual search.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Wolfe et al., Nature (2005)</a:t>
            </a:r>
          </a:p>
        </p:txBody>
      </p:sp>
      <p:sp>
        <p:nvSpPr>
          <p:cNvPr id="121" name="P121"/>
          <p:cNvSpPr/>
          <p:nvPr/>
        </p:nvSpPr>
        <p:spPr>
          <a:xfrm>
            <a:off x="3328416" y="2286000"/>
            <a:ext cx="2487168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HUMAN-FACTORS SYNTHESIS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Sustained vigilance is hard mental work: it consumes attention and produces workload and stress.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Warm, Parasuraman &amp; Matthews (2008)</a:t>
            </a:r>
          </a:p>
        </p:txBody>
      </p:sp>
      <p:sp>
        <p:nvSpPr>
          <p:cNvPr id="122" name="P122"/>
          <p:cNvSpPr/>
          <p:nvPr/>
        </p:nvSpPr>
        <p:spPr>
          <a:xfrm>
            <a:off x="6089904" y="2286000"/>
            <a:ext cx="2487168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57534E"/>
                </a:solidFill>
              </a:rPr>
              <a:t>OPERATIONAL PRACTICE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Screening agencies run covert tests of their own trained inspectors: professional inspection is a capacity-limited control.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100" b="0" i="1" dirty="0">
                <a:solidFill>
                  <a:srgbClr val="78716C"/>
                </a:solidFill>
              </a:rPr>
              <a:t>GAO-19-374 (2019)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4224528"/>
            <a:ext cx="8010144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Spend human judgment where judgment is required.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Don’t use human attention as a substitute for scalable enforcement.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lesson is not that humans are bad validators — attention is finite.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Formal methods reason over modeled behaviors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choose some executions and observe what happens</a:t>
            </a:r>
          </a:p>
        </p:txBody>
      </p:sp>
      <p:sp>
        <p:nvSpPr>
          <p:cNvPr id="101" name="P101"/>
          <p:cNvSpPr/>
          <p:nvPr/>
        </p:nvSpPr>
        <p:spPr>
          <a:xfrm>
            <a:off x="4681728" y="960120"/>
            <a:ext cx="38953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FORMAL METHODS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state a property and search every behavior the model permits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2286000"/>
            <a:ext cx="8010144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What is searched is a MODEL: a state machine, a protocol, or a program under an explicit semantics — together with the assumptions and bounds you stated.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Formal evidence covers every behavior the model permits — and nothing outside it.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The model, the property, the assumptions, and the bound are all part of the claim.</a:t>
            </a:r>
          </a:p>
        </p:txBody>
      </p:sp>
      <p:sp>
        <p:nvSpPr>
          <p:cNvPr id="13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Strong evidence about the model you wrote, under the assumptions it contains.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Bounded model checking asks for a counterexample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2788920" y="896112"/>
            <a:ext cx="3566160" cy="56692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  <a:latin typeface="Consolas"/>
              </a:rPr>
              <a:t>assert(balance &gt;= 0);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ORDINARY TESTING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Try some sequences of deposits and withdrawals. Did we see the assertion fail?</a:t>
            </a:r>
          </a:p>
        </p:txBody>
      </p:sp>
      <p:sp>
        <p:nvSpPr>
          <p:cNvPr id="111" name="P111"/>
          <p:cNvSpPr/>
          <p:nvPr/>
        </p:nvSpPr>
        <p:spPr>
          <a:xfrm>
            <a:off x="4681728" y="1645920"/>
            <a:ext cx="38953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BOUNDED MODEL CHECKING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Is there ANY sequence of choices, up to depth k, that makes it fail?</a:t>
            </a:r>
          </a:p>
        </p:txBody>
      </p:sp>
      <p:sp>
        <p:nvSpPr>
          <p:cNvPr id="120" name="B120"/>
          <p:cNvSpPr/>
          <p:nvPr/>
        </p:nvSpPr>
        <p:spPr>
          <a:xfrm>
            <a:off x="566928" y="3017520"/>
            <a:ext cx="3895344" cy="8686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YES → a counterexample trace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FFFFFF"/>
                </a:solidFill>
              </a:rPr>
              <a:t>the exact sequence of choices that breaks it</a:t>
            </a:r>
          </a:p>
        </p:txBody>
      </p:sp>
      <p:sp>
        <p:nvSpPr>
          <p:cNvPr id="121" name="P121"/>
          <p:cNvSpPr/>
          <p:nvPr/>
        </p:nvSpPr>
        <p:spPr>
          <a:xfrm>
            <a:off x="4681728" y="3017520"/>
            <a:ext cx="3895344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NO → no violation up to k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within the modeled behaviors and that bound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069080"/>
            <a:ext cx="801014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Mechanizations differ: an explicit-state checker enumerates a model’s reachable states; bounded model checking asks a solver about executions up to depth k.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Both search the behaviors instead of sampling them.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“No counterexample up to k” is a precise claim — and it is not “the program is correct”.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Models themselves can be validated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 protocol or state machine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597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P101"/>
          <p:cNvSpPr/>
          <p:nvPr/>
        </p:nvSpPr>
        <p:spPr>
          <a:xfrm>
            <a:off x="26243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an explicit model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5171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46817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properties it must satisfy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574536" y="1709928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P103"/>
          <p:cNvSpPr/>
          <p:nvPr/>
        </p:nvSpPr>
        <p:spPr>
          <a:xfrm>
            <a:off x="6739128" y="1280160"/>
            <a:ext cx="18745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0" i="0" dirty="0">
                <a:solidFill>
                  <a:srgbClr val="000000"/>
                </a:solidFill>
              </a:rPr>
              <a:t>mechanical search of its behaviors</a:t>
            </a:r>
          </a:p>
        </p:txBody>
      </p:sp>
      <p:sp>
        <p:nvSpPr>
          <p:cNvPr id="100" name="T100"/>
          <p:cNvSpPr txBox="1"/>
          <p:nvPr/>
        </p:nvSpPr>
        <p:spPr>
          <a:xfrm>
            <a:off x="566928" y="868680"/>
            <a:ext cx="801014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>What we verify need not be the implementation.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2359152"/>
            <a:ext cx="8010144" cy="20574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BEFORE MARS: CHECK THE MODEL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Gerard Holzmann built the SPIN model checker at Bell Labs; it received the ACM Software System Award in 2001. He later led NASA/JPL’s Laboratory for Reliable Software.</a:t>
            </a:r>
          </a:p>
          <a:p>
            <a:pPr algn="l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For the Mars Science Laboratory mission, JPL model-checked critical multithreaded algorithms and hand-built SPIN models of larger subsystems — a ~45,000-line C data-management module became a ~1,600-line verification model. The runs exposed subtle concurrency defects, and for the file-system software model checking became part of routine regression testing.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250" b="0" i="1" dirty="0">
                <a:solidFill>
                  <a:srgbClr val="78716C"/>
                </a:solidFill>
              </a:rPr>
              <a:t>Holzmann, “Mars Code,” Communications of the ACM 57, no. 2 (2014).</a:t>
            </a:r>
          </a:p>
        </p:txBody>
      </p:sp>
      <p:sp>
        <p:nvSpPr>
          <p:cNvPr id="130" name="E130"/>
          <p:cNvSpPr/>
          <p:nvPr/>
        </p:nvSpPr>
        <p:spPr>
          <a:xfrm>
            <a:off x="566928" y="4526280"/>
            <a:ext cx="8010144" cy="84124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1" i="0" dirty="0">
                <a:solidFill>
                  <a:srgbClr val="5C4826"/>
                </a:solidFill>
              </a:rPr>
              <a:t>🧙  An explicit engineering model can be a first-class validation target.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50" b="0" i="1" dirty="0">
                <a:solidFill>
                  <a:srgbClr val="57534E"/>
                </a:solidFill>
              </a:rPr>
              <a:t>We can obtain evidence about the model before we rely on the realized system.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The artifact under validation is a choice. Sometimes the best one is the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mechanisms observe different things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76656" y="896112"/>
            <a:ext cx="79369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Evidence comes from:</a:t>
            </a:r>
          </a:p>
        </p:txBody>
      </p:sp>
      <p:sp>
        <p:nvSpPr>
          <p:cNvPr id="110" name="B110"/>
          <p:cNvSpPr/>
          <p:nvPr/>
        </p:nvSpPr>
        <p:spPr>
          <a:xfrm>
            <a:off x="676656" y="132588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Dynamic testing</a:t>
            </a:r>
          </a:p>
        </p:txBody>
      </p:sp>
      <p:sp>
        <p:nvSpPr>
          <p:cNvPr id="111" name="P111"/>
          <p:cNvSpPr/>
          <p:nvPr/>
        </p:nvSpPr>
        <p:spPr>
          <a:xfrm>
            <a:off x="4389120" y="132588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executions we actually performed</a:t>
            </a:r>
          </a:p>
        </p:txBody>
      </p:sp>
      <p:sp>
        <p:nvSpPr>
          <p:cNvPr id="112" name="B112"/>
          <p:cNvSpPr/>
          <p:nvPr/>
        </p:nvSpPr>
        <p:spPr>
          <a:xfrm>
            <a:off x="676656" y="205740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113" name="P113"/>
          <p:cNvSpPr/>
          <p:nvPr/>
        </p:nvSpPr>
        <p:spPr>
          <a:xfrm>
            <a:off x="4389120" y="205740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inference over an abstraction of the code</a:t>
            </a:r>
          </a:p>
        </p:txBody>
      </p:sp>
      <p:sp>
        <p:nvSpPr>
          <p:cNvPr id="114" name="B114"/>
          <p:cNvSpPr/>
          <p:nvPr/>
        </p:nvSpPr>
        <p:spPr>
          <a:xfrm>
            <a:off x="676656" y="278892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Human inspection</a:t>
            </a:r>
          </a:p>
        </p:txBody>
      </p:sp>
      <p:sp>
        <p:nvSpPr>
          <p:cNvPr id="115" name="P115"/>
          <p:cNvSpPr/>
          <p:nvPr/>
        </p:nvSpPr>
        <p:spPr>
          <a:xfrm>
            <a:off x="4389120" y="278892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expert interpretation of an artifact</a:t>
            </a:r>
          </a:p>
        </p:txBody>
      </p:sp>
      <p:sp>
        <p:nvSpPr>
          <p:cNvPr id="116" name="B116"/>
          <p:cNvSpPr/>
          <p:nvPr/>
        </p:nvSpPr>
        <p:spPr>
          <a:xfrm>
            <a:off x="676656" y="3520440"/>
            <a:ext cx="3566160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Formal methods</a:t>
            </a:r>
          </a:p>
        </p:txBody>
      </p:sp>
      <p:sp>
        <p:nvSpPr>
          <p:cNvPr id="117" name="P117"/>
          <p:cNvSpPr/>
          <p:nvPr/>
        </p:nvSpPr>
        <p:spPr>
          <a:xfrm>
            <a:off x="4389120" y="3520440"/>
            <a:ext cx="4224528" cy="62179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mechanical search of a model’s behaviors</a:t>
            </a:r>
          </a:p>
        </p:txBody>
      </p:sp>
      <p:sp>
        <p:nvSpPr>
          <p:cNvPr id="130" name="E130"/>
          <p:cNvSpPr/>
          <p:nvPr/>
        </p:nvSpPr>
        <p:spPr>
          <a:xfrm>
            <a:off x="676656" y="4389120"/>
            <a:ext cx="7936992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These mechanisms are orthogonal to scope.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1" dirty="0">
                <a:solidFill>
                  <a:srgbClr val="57534E"/>
                </a:solidFill>
              </a:rPr>
              <a:t>A unit, a subsystem, or the whole system can be tested, analyzed, inspected, or modeled.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Ask what each mechanism can observe — and what it cannot see at all.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should we search for failures?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4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Different uncertainties call for different search strategies.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Testing requires deciding what counts as failure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7EA69B4-D767-49A1-BADF-EC4A2EFE5CD6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51560"/>
            <a:ext cx="16002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AN INPUT</a:t>
            </a:r>
          </a:p>
        </p:txBody>
      </p:sp>
      <p:sp>
        <p:nvSpPr>
          <p:cNvPr id="101" name="B101"/>
          <p:cNvSpPr/>
          <p:nvPr/>
        </p:nvSpPr>
        <p:spPr>
          <a:xfrm>
            <a:off x="2487168" y="1051560"/>
            <a:ext cx="16002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RUN IT</a:t>
            </a:r>
          </a:p>
        </p:txBody>
      </p:sp>
      <p:sp>
        <p:nvSpPr>
          <p:cNvPr id="102" name="B102"/>
          <p:cNvSpPr/>
          <p:nvPr/>
        </p:nvSpPr>
        <p:spPr>
          <a:xfrm>
            <a:off x="4407408" y="1051560"/>
            <a:ext cx="16002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AN OUTPUT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231136" y="1417320"/>
            <a:ext cx="1828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C111"/>
          <p:cNvCxnSpPr/>
          <p:nvPr/>
        </p:nvCxnSpPr>
        <p:spPr>
          <a:xfrm>
            <a:off x="4151376" y="1417320"/>
            <a:ext cx="1828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C112"/>
          <p:cNvCxnSpPr/>
          <p:nvPr/>
        </p:nvCxnSpPr>
        <p:spPr>
          <a:xfrm>
            <a:off x="6071616" y="1417320"/>
            <a:ext cx="1828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B104"/>
          <p:cNvSpPr/>
          <p:nvPr/>
        </p:nvSpPr>
        <p:spPr>
          <a:xfrm>
            <a:off x="6327648" y="1051560"/>
            <a:ext cx="2249424" cy="731520"/>
          </a:xfrm>
          <a:prstGeom prst="rect">
            <a:avLst/>
          </a:prstGeom>
          <a:solidFill>
            <a:srgbClr val="FBF8F2"/>
          </a:solidFill>
          <a:ln w="254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IS IT CORRECT?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1901952"/>
            <a:ext cx="5440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generating an execution — often cheap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327648" y="1901952"/>
            <a:ext cx="224942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the oracle — the hard part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2395728"/>
            <a:ext cx="3913632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WHEN WE CAN STATE THE ANSWER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sort([3, 1, 2]) must be [1, 2, 3].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duplicate payment ID must be rejected.</a:t>
            </a:r>
          </a:p>
        </p:txBody>
      </p:sp>
      <p:sp>
        <p:nvSpPr>
          <p:cNvPr id="131" name="P131"/>
          <p:cNvSpPr/>
          <p:nvPr/>
        </p:nvSpPr>
        <p:spPr>
          <a:xfrm>
            <a:off x="4663440" y="2395728"/>
            <a:ext cx="3913632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WHEN WE CANNOT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What is the right machine code for this program?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right rendering? The right ranking?</a:t>
            </a:r>
          </a:p>
        </p:txBody>
      </p:sp>
      <p:sp>
        <p:nvSpPr>
          <p:cNvPr id="140" name="E140"/>
          <p:cNvSpPr/>
          <p:nvPr/>
        </p:nvSpPr>
        <p:spPr>
          <a:xfrm>
            <a:off x="566928" y="4023360"/>
            <a:ext cx="8010144" cy="109728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A search strategy changes one of two things: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WHERE we search  ·  WHAT ORACLE we require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An execution becomes evidence only when something can say it was wrong.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Known answers → example-based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AFE0D1C-1180-46B5-B396-1044F1498510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1051560"/>
            <a:ext cx="4937760" cy="2697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THE INPUT SPACE</a:t>
            </a:r>
          </a:p>
        </p:txBody>
      </p:sp>
      <p:sp>
        <p:nvSpPr>
          <p:cNvPr id="110" name="D110"/>
          <p:cNvSpPr/>
          <p:nvPr/>
        </p:nvSpPr>
        <p:spPr>
          <a:xfrm>
            <a:off x="1188720" y="1828800"/>
            <a:ext cx="201168" cy="201168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0" name="T120"/>
          <p:cNvSpPr txBox="1"/>
          <p:nvPr/>
        </p:nvSpPr>
        <p:spPr>
          <a:xfrm>
            <a:off x="512064" y="208483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empty cart</a:t>
            </a:r>
          </a:p>
        </p:txBody>
      </p:sp>
      <p:sp>
        <p:nvSpPr>
          <p:cNvPr id="111" name="D111"/>
          <p:cNvSpPr/>
          <p:nvPr/>
        </p:nvSpPr>
        <p:spPr>
          <a:xfrm>
            <a:off x="2697480" y="2514600"/>
            <a:ext cx="201168" cy="201168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1" name="T121"/>
          <p:cNvSpPr txBox="1"/>
          <p:nvPr/>
        </p:nvSpPr>
        <p:spPr>
          <a:xfrm>
            <a:off x="1975104" y="277063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duplicate ID</a:t>
            </a:r>
          </a:p>
        </p:txBody>
      </p:sp>
      <p:sp>
        <p:nvSpPr>
          <p:cNvPr id="112" name="D112"/>
          <p:cNvSpPr/>
          <p:nvPr/>
        </p:nvSpPr>
        <p:spPr>
          <a:xfrm>
            <a:off x="4069080" y="1965960"/>
            <a:ext cx="201168" cy="201168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2" name="T122"/>
          <p:cNvSpPr txBox="1"/>
          <p:nvPr/>
        </p:nvSpPr>
        <p:spPr>
          <a:xfrm>
            <a:off x="3392424" y="2221992"/>
            <a:ext cx="15544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max amount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85800" y="3310128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every other point: unobserved</a:t>
            </a:r>
          </a:p>
        </p:txBody>
      </p:sp>
      <p:sp>
        <p:nvSpPr>
          <p:cNvPr id="140" name="P140"/>
          <p:cNvSpPr/>
          <p:nvPr/>
        </p:nvSpPr>
        <p:spPr>
          <a:xfrm>
            <a:off x="5715000" y="1051560"/>
            <a:ext cx="2862072" cy="2697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KNOWN CASE → EXPECTED RESULT</a:t>
            </a:r>
          </a:p>
          <a:p>
            <a:pPr algn="ctr">
              <a:spcBef>
                <a:spcPts val="40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duplicate ID → rejected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empty cart → refused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max amount → charged once</a:t>
            </a:r>
          </a:p>
          <a:p>
            <a:pPr algn="ctr">
              <a:spcBef>
                <a:spcPts val="40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You pick the cases. You state the answer.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397764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50" b="1" i="0" dirty="0">
                <a:solidFill>
                  <a:srgbClr val="5C4826"/>
                </a:solidFill>
              </a:rPr>
              <a:t>Strong evidence about the cases you chose.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800" b="0" i="0" dirty="0">
                <a:solidFill>
                  <a:srgbClr val="5C4826"/>
                </a:solidFill>
              </a:rPr>
              <a:t>Silent about the ones you did not.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evidence is exactly as good as your choice of cases.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General properties → property-based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171B661-F4A3-4E28-9F18-03522F38E14A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PROPERTY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14016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633472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GENERATOR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480560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700016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MANY INPUTS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547104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6766560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CHECK THE PROPERTY</a:t>
            </a:r>
          </a:p>
        </p:txBody>
      </p:sp>
      <p:sp>
        <p:nvSpPr>
          <p:cNvPr id="120" name="B120"/>
          <p:cNvSpPr/>
          <p:nvPr/>
        </p:nvSpPr>
        <p:spPr>
          <a:xfrm>
            <a:off x="566928" y="1828800"/>
            <a:ext cx="8010144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PROPERTY: a submitted payment shall cause at most one charge</a:t>
            </a:r>
          </a:p>
        </p:txBody>
      </p:sp>
      <p:sp>
        <p:nvSpPr>
          <p:cNvPr id="121" name="P121"/>
          <p:cNvSpPr/>
          <p:nvPr/>
        </p:nvSpPr>
        <p:spPr>
          <a:xfrm>
            <a:off x="566928" y="2359152"/>
            <a:ext cx="8010144" cy="1188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0" name="G200"/>
          <p:cNvSpPr/>
          <p:nvPr/>
        </p:nvSpPr>
        <p:spPr>
          <a:xfrm>
            <a:off x="748244" y="2452638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1" name="G201"/>
          <p:cNvSpPr/>
          <p:nvPr/>
        </p:nvSpPr>
        <p:spPr>
          <a:xfrm>
            <a:off x="1259283" y="2432562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2" name="G202"/>
          <p:cNvSpPr/>
          <p:nvPr/>
        </p:nvSpPr>
        <p:spPr>
          <a:xfrm>
            <a:off x="1697546" y="2507644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3" name="G203"/>
          <p:cNvSpPr/>
          <p:nvPr/>
        </p:nvSpPr>
        <p:spPr>
          <a:xfrm>
            <a:off x="2076090" y="2543936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4" name="G204"/>
          <p:cNvSpPr/>
          <p:nvPr/>
        </p:nvSpPr>
        <p:spPr>
          <a:xfrm>
            <a:off x="2529915" y="2525043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5" name="G205"/>
          <p:cNvSpPr/>
          <p:nvPr/>
        </p:nvSpPr>
        <p:spPr>
          <a:xfrm>
            <a:off x="2992442" y="2437241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6" name="G206"/>
          <p:cNvSpPr/>
          <p:nvPr/>
        </p:nvSpPr>
        <p:spPr>
          <a:xfrm>
            <a:off x="3508016" y="2625717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7" name="G207"/>
          <p:cNvSpPr/>
          <p:nvPr/>
        </p:nvSpPr>
        <p:spPr>
          <a:xfrm>
            <a:off x="3915721" y="2471172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8" name="G208"/>
          <p:cNvSpPr/>
          <p:nvPr/>
        </p:nvSpPr>
        <p:spPr>
          <a:xfrm>
            <a:off x="4455814" y="2656660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9" name="G209"/>
          <p:cNvSpPr/>
          <p:nvPr/>
        </p:nvSpPr>
        <p:spPr>
          <a:xfrm>
            <a:off x="4904731" y="2515579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0" name="G210"/>
          <p:cNvSpPr/>
          <p:nvPr/>
        </p:nvSpPr>
        <p:spPr>
          <a:xfrm>
            <a:off x="5427628" y="2425943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1" name="G211"/>
          <p:cNvSpPr/>
          <p:nvPr/>
        </p:nvSpPr>
        <p:spPr>
          <a:xfrm>
            <a:off x="5865441" y="2488165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2" name="G212"/>
          <p:cNvSpPr/>
          <p:nvPr/>
        </p:nvSpPr>
        <p:spPr>
          <a:xfrm>
            <a:off x="6205087" y="2444175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3" name="G213"/>
          <p:cNvSpPr/>
          <p:nvPr/>
        </p:nvSpPr>
        <p:spPr>
          <a:xfrm>
            <a:off x="6689318" y="2622970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4" name="G214"/>
          <p:cNvSpPr/>
          <p:nvPr/>
        </p:nvSpPr>
        <p:spPr>
          <a:xfrm>
            <a:off x="7125490" y="2562924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5" name="G215"/>
          <p:cNvSpPr/>
          <p:nvPr/>
        </p:nvSpPr>
        <p:spPr>
          <a:xfrm>
            <a:off x="7658104" y="2509362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6" name="G216"/>
          <p:cNvSpPr/>
          <p:nvPr/>
        </p:nvSpPr>
        <p:spPr>
          <a:xfrm>
            <a:off x="8100298" y="2430092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7" name="G217"/>
          <p:cNvSpPr/>
          <p:nvPr/>
        </p:nvSpPr>
        <p:spPr>
          <a:xfrm>
            <a:off x="704754" y="2942236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8" name="G218"/>
          <p:cNvSpPr/>
          <p:nvPr/>
        </p:nvSpPr>
        <p:spPr>
          <a:xfrm>
            <a:off x="1264132" y="2998981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9" name="G219"/>
          <p:cNvSpPr/>
          <p:nvPr/>
        </p:nvSpPr>
        <p:spPr>
          <a:xfrm>
            <a:off x="1661050" y="3039427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0" name="G220"/>
          <p:cNvSpPr/>
          <p:nvPr/>
        </p:nvSpPr>
        <p:spPr>
          <a:xfrm>
            <a:off x="2141135" y="2966254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1" name="G221"/>
          <p:cNvSpPr/>
          <p:nvPr/>
        </p:nvSpPr>
        <p:spPr>
          <a:xfrm>
            <a:off x="2654493" y="3068469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2" name="G222"/>
          <p:cNvSpPr/>
          <p:nvPr/>
        </p:nvSpPr>
        <p:spPr>
          <a:xfrm>
            <a:off x="3021120" y="3036575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3" name="G223"/>
          <p:cNvSpPr/>
          <p:nvPr/>
        </p:nvSpPr>
        <p:spPr>
          <a:xfrm>
            <a:off x="3524587" y="3113567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4" name="G224"/>
          <p:cNvSpPr/>
          <p:nvPr/>
        </p:nvSpPr>
        <p:spPr>
          <a:xfrm>
            <a:off x="4015405" y="2963225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5" name="G225"/>
          <p:cNvSpPr/>
          <p:nvPr/>
        </p:nvSpPr>
        <p:spPr>
          <a:xfrm>
            <a:off x="4513873" y="2919733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6" name="G226"/>
          <p:cNvSpPr/>
          <p:nvPr/>
        </p:nvSpPr>
        <p:spPr>
          <a:xfrm>
            <a:off x="4878564" y="3083356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7" name="G227"/>
          <p:cNvSpPr/>
          <p:nvPr/>
        </p:nvSpPr>
        <p:spPr>
          <a:xfrm>
            <a:off x="5291959" y="3014694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8" name="G228"/>
          <p:cNvSpPr/>
          <p:nvPr/>
        </p:nvSpPr>
        <p:spPr>
          <a:xfrm>
            <a:off x="5730597" y="3060589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9" name="G229"/>
          <p:cNvSpPr/>
          <p:nvPr/>
        </p:nvSpPr>
        <p:spPr>
          <a:xfrm>
            <a:off x="6307186" y="3036217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0" name="G230"/>
          <p:cNvSpPr/>
          <p:nvPr/>
        </p:nvSpPr>
        <p:spPr>
          <a:xfrm>
            <a:off x="6782641" y="2969833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1" name="G231"/>
          <p:cNvSpPr/>
          <p:nvPr/>
        </p:nvSpPr>
        <p:spPr>
          <a:xfrm>
            <a:off x="7210184" y="3041682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2" name="G232"/>
          <p:cNvSpPr/>
          <p:nvPr/>
        </p:nvSpPr>
        <p:spPr>
          <a:xfrm>
            <a:off x="7648390" y="3006307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3" name="G233"/>
          <p:cNvSpPr/>
          <p:nvPr/>
        </p:nvSpPr>
        <p:spPr>
          <a:xfrm>
            <a:off x="8148396" y="3131373"/>
            <a:ext cx="100584" cy="10058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30" name="T130"/>
          <p:cNvSpPr txBox="1"/>
          <p:nvPr/>
        </p:nvSpPr>
        <p:spPr>
          <a:xfrm>
            <a:off x="566928" y="3602736"/>
            <a:ext cx="801014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inputs the generator produces — far more than you would write by hand</a:t>
            </a:r>
          </a:p>
        </p:txBody>
      </p:sp>
      <p:sp>
        <p:nvSpPr>
          <p:cNvPr id="140" name="E140"/>
          <p:cNvSpPr/>
          <p:nvPr/>
        </p:nvSpPr>
        <p:spPr>
          <a:xfrm>
            <a:off x="566928" y="4005072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50" b="1" i="0" dirty="0">
                <a:solidFill>
                  <a:srgbClr val="5C4826"/>
                </a:solidFill>
              </a:rPr>
              <a:t>This is not “lots of unit tests.”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750" b="0" i="0" dirty="0">
                <a:solidFill>
                  <a:srgbClr val="5C4826"/>
                </a:solidFill>
              </a:rPr>
              <a:t>You state what must be true; the machine hunts for a counterexample.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Hand-picked examples, traded for the harder work of stating the property.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Another implementation → differential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6D19308-3A72-4C4E-A3CA-81D98ADD0AE8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05840"/>
            <a:ext cx="8010144" cy="53035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THE SAME INPUT</a:t>
            </a:r>
          </a:p>
        </p:txBody>
      </p:sp>
      <p:sp>
        <p:nvSpPr>
          <p:cNvPr id="101" name="J101"/>
          <p:cNvSpPr/>
          <p:nvPr/>
        </p:nvSpPr>
        <p:spPr>
          <a:xfrm>
            <a:off x="2359152" y="1536192"/>
            <a:ext cx="41148" cy="29260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02" name="J102"/>
          <p:cNvSpPr/>
          <p:nvPr/>
        </p:nvSpPr>
        <p:spPr>
          <a:xfrm>
            <a:off x="6144768" y="1536192"/>
            <a:ext cx="41148" cy="29260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0" name="P110"/>
          <p:cNvSpPr/>
          <p:nvPr/>
        </p:nvSpPr>
        <p:spPr>
          <a:xfrm>
            <a:off x="566928" y="1828800"/>
            <a:ext cx="365760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IMPLEMENTATION A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one we are validating</a:t>
            </a:r>
          </a:p>
        </p:txBody>
      </p:sp>
      <p:sp>
        <p:nvSpPr>
          <p:cNvPr id="111" name="P111"/>
          <p:cNvSpPr/>
          <p:nvPr/>
        </p:nvSpPr>
        <p:spPr>
          <a:xfrm>
            <a:off x="4352544" y="1828800"/>
            <a:ext cx="365760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IMPLEMENTATION B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a reference, an older version, another vendor</a:t>
            </a:r>
          </a:p>
        </p:txBody>
      </p:sp>
      <p:sp>
        <p:nvSpPr>
          <p:cNvPr id="112" name="J112"/>
          <p:cNvSpPr/>
          <p:nvPr/>
        </p:nvSpPr>
        <p:spPr>
          <a:xfrm>
            <a:off x="2359152" y="2697480"/>
            <a:ext cx="41148" cy="274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3" name="J113"/>
          <p:cNvSpPr/>
          <p:nvPr/>
        </p:nvSpPr>
        <p:spPr>
          <a:xfrm>
            <a:off x="6144768" y="2697480"/>
            <a:ext cx="41148" cy="274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0" name="P120"/>
          <p:cNvSpPr/>
          <p:nvPr/>
        </p:nvSpPr>
        <p:spPr>
          <a:xfrm>
            <a:off x="1463040" y="2971800"/>
            <a:ext cx="182880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5C4826"/>
                </a:solidFill>
              </a:rPr>
              <a:t>output A</a:t>
            </a:r>
          </a:p>
        </p:txBody>
      </p:sp>
      <p:sp>
        <p:nvSpPr>
          <p:cNvPr id="121" name="P121"/>
          <p:cNvSpPr/>
          <p:nvPr/>
        </p:nvSpPr>
        <p:spPr>
          <a:xfrm>
            <a:off x="5248656" y="2971800"/>
            <a:ext cx="182880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5C4826"/>
                </a:solidFill>
              </a:rPr>
              <a:t>output B</a:t>
            </a:r>
          </a:p>
        </p:txBody>
      </p:sp>
      <p:sp>
        <p:nvSpPr>
          <p:cNvPr id="122" name="J122"/>
          <p:cNvSpPr/>
          <p:nvPr/>
        </p:nvSpPr>
        <p:spPr>
          <a:xfrm>
            <a:off x="2359152" y="3474720"/>
            <a:ext cx="41148" cy="274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3" name="J123"/>
          <p:cNvSpPr/>
          <p:nvPr/>
        </p:nvSpPr>
        <p:spPr>
          <a:xfrm>
            <a:off x="6144768" y="3474720"/>
            <a:ext cx="41148" cy="274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4" name="J124"/>
          <p:cNvSpPr/>
          <p:nvPr/>
        </p:nvSpPr>
        <p:spPr>
          <a:xfrm>
            <a:off x="2359152" y="3749040"/>
            <a:ext cx="3803904" cy="4114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cxnSp>
        <p:nvCxnSpPr>
          <p:cNvPr id="125" name="C125"/>
          <p:cNvCxnSpPr/>
          <p:nvPr/>
        </p:nvCxnSpPr>
        <p:spPr>
          <a:xfrm>
            <a:off x="4242816" y="3794760"/>
            <a:ext cx="0" cy="27432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0" name="B130"/>
          <p:cNvSpPr/>
          <p:nvPr/>
        </p:nvSpPr>
        <p:spPr>
          <a:xfrm>
            <a:off x="3712464" y="4069080"/>
            <a:ext cx="171907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=  ?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4800600"/>
            <a:ext cx="365760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AGREE — no signal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both can be wrong the same way</a:t>
            </a:r>
          </a:p>
        </p:txBody>
      </p:sp>
      <p:sp>
        <p:nvSpPr>
          <p:cNvPr id="141" name="P141"/>
          <p:cNvSpPr/>
          <p:nvPr/>
        </p:nvSpPr>
        <p:spPr>
          <a:xfrm>
            <a:off x="4352544" y="4800600"/>
            <a:ext cx="3657600" cy="7315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DISAGREE — at least one is wrong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and now you have something to investigate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When the answer is expensive to state, compare independent realizations.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Related executions → metamorphic testing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8C819FF-7E06-4470-980D-7F1931032F1B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914400" y="1097280"/>
            <a:ext cx="123444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x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2240280" y="1417320"/>
            <a:ext cx="4114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2834640" y="1097280"/>
            <a:ext cx="1234440" cy="640080"/>
          </a:xfrm>
          <a:prstGeom prst="rect">
            <a:avLst/>
          </a:prstGeom>
          <a:solidFill>
            <a:srgbClr val="FBF8F2"/>
          </a:solidFill>
          <a:ln w="254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1" dirty="0">
                <a:solidFill>
                  <a:srgbClr val="5C4826"/>
                </a:solidFill>
              </a:rPr>
              <a:t>f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160520" y="1417320"/>
            <a:ext cx="4114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B104"/>
          <p:cNvSpPr/>
          <p:nvPr/>
        </p:nvSpPr>
        <p:spPr>
          <a:xfrm>
            <a:off x="4754880" y="1097280"/>
            <a:ext cx="123444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y</a:t>
            </a:r>
          </a:p>
        </p:txBody>
      </p:sp>
      <p:sp>
        <p:nvSpPr>
          <p:cNvPr id="110" name="B110"/>
          <p:cNvSpPr/>
          <p:nvPr/>
        </p:nvSpPr>
        <p:spPr>
          <a:xfrm>
            <a:off x="914400" y="2240280"/>
            <a:ext cx="1234440" cy="6400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T(x)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240280" y="2560320"/>
            <a:ext cx="4114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2834640" y="2240280"/>
            <a:ext cx="1234440" cy="640080"/>
          </a:xfrm>
          <a:prstGeom prst="rect">
            <a:avLst/>
          </a:prstGeom>
          <a:solidFill>
            <a:srgbClr val="FBF8F2"/>
          </a:solidFill>
          <a:ln w="254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1" dirty="0">
                <a:solidFill>
                  <a:srgbClr val="5C4826"/>
                </a:solidFill>
              </a:rPr>
              <a:t>f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4160520" y="2560320"/>
            <a:ext cx="411480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B114"/>
          <p:cNvSpPr/>
          <p:nvPr/>
        </p:nvSpPr>
        <p:spPr>
          <a:xfrm>
            <a:off x="4754880" y="2240280"/>
            <a:ext cx="123444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y′</a:t>
            </a:r>
          </a:p>
        </p:txBody>
      </p:sp>
      <p:sp>
        <p:nvSpPr>
          <p:cNvPr id="130" name="J130"/>
          <p:cNvSpPr/>
          <p:nvPr/>
        </p:nvSpPr>
        <p:spPr>
          <a:xfrm>
            <a:off x="6309360" y="1417320"/>
            <a:ext cx="41148" cy="1417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31" name="J131"/>
          <p:cNvSpPr/>
          <p:nvPr/>
        </p:nvSpPr>
        <p:spPr>
          <a:xfrm>
            <a:off x="6126480" y="1417320"/>
            <a:ext cx="182880" cy="4114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32" name="J132"/>
          <p:cNvSpPr/>
          <p:nvPr/>
        </p:nvSpPr>
        <p:spPr>
          <a:xfrm>
            <a:off x="6126480" y="2802636"/>
            <a:ext cx="182880" cy="4114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33" name="T133"/>
          <p:cNvSpPr txBox="1"/>
          <p:nvPr/>
        </p:nvSpPr>
        <p:spPr>
          <a:xfrm>
            <a:off x="6492240" y="1783080"/>
            <a:ext cx="208483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a relation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R(y, y′) must hold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3154680"/>
            <a:ext cx="8010144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750" b="1" i="0" dirty="0">
                <a:solidFill>
                  <a:srgbClr val="000000"/>
                </a:solidFill>
              </a:rPr>
              <a:t>sort([3, 1, 2])  →  [1, 2, 3]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750" b="1" i="0" dirty="0">
                <a:solidFill>
                  <a:srgbClr val="000000"/>
                </a:solidFill>
              </a:rPr>
              <a:t>sort([2, 3, 1])  →  [1, 2, 3]</a:t>
            </a:r>
          </a:p>
          <a:p>
            <a:pPr algn="ctr">
              <a:spcBef>
                <a:spcPts val="250"/>
              </a:spcBef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We never stated the answer — only how the two answers must relate.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4526280"/>
            <a:ext cx="8010144" cy="86868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When you cannot state the answer, state how answers must relate.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A relation between runs is an oracle when the answer is unavailable.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Unanticipated inputs → fuzzing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CE5D2CA-0506-4CAD-B81C-95D038E83B2C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SEED INPUTS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2414016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1" name="B101"/>
          <p:cNvSpPr/>
          <p:nvPr/>
        </p:nvSpPr>
        <p:spPr>
          <a:xfrm>
            <a:off x="2633472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MUTATE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4480560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B102"/>
          <p:cNvSpPr/>
          <p:nvPr/>
        </p:nvSpPr>
        <p:spPr>
          <a:xfrm>
            <a:off x="4700016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RUN</a:t>
            </a:r>
          </a:p>
        </p:txBody>
      </p:sp>
      <p:cxnSp>
        <p:nvCxnSpPr>
          <p:cNvPr id="112" name="C112"/>
          <p:cNvCxnSpPr/>
          <p:nvPr/>
        </p:nvCxnSpPr>
        <p:spPr>
          <a:xfrm>
            <a:off x="6547104" y="128930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3" name="B103"/>
          <p:cNvSpPr/>
          <p:nvPr/>
        </p:nvSpPr>
        <p:spPr>
          <a:xfrm>
            <a:off x="6766560" y="1005840"/>
            <a:ext cx="1810512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CRASH · HANG · ASSERTION</a:t>
            </a:r>
          </a:p>
        </p:txBody>
      </p:sp>
      <p:sp>
        <p:nvSpPr>
          <p:cNvPr id="120" name="P120"/>
          <p:cNvSpPr/>
          <p:nvPr/>
        </p:nvSpPr>
        <p:spPr>
          <a:xfrm>
            <a:off x="566928" y="1828800"/>
            <a:ext cx="8010144" cy="1874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0" name="G200"/>
          <p:cNvSpPr/>
          <p:nvPr/>
        </p:nvSpPr>
        <p:spPr>
          <a:xfrm>
            <a:off x="4185546" y="275933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1" name="G201"/>
          <p:cNvSpPr/>
          <p:nvPr/>
        </p:nvSpPr>
        <p:spPr>
          <a:xfrm>
            <a:off x="7788090" y="262593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2" name="G202"/>
          <p:cNvSpPr/>
          <p:nvPr/>
        </p:nvSpPr>
        <p:spPr>
          <a:xfrm>
            <a:off x="2141446" y="269149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3" name="G203"/>
          <p:cNvSpPr/>
          <p:nvPr/>
        </p:nvSpPr>
        <p:spPr>
          <a:xfrm>
            <a:off x="5540826" y="308986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4" name="G204"/>
          <p:cNvSpPr/>
          <p:nvPr/>
        </p:nvSpPr>
        <p:spPr>
          <a:xfrm>
            <a:off x="1450175" y="239597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5" name="G205"/>
          <p:cNvSpPr/>
          <p:nvPr/>
        </p:nvSpPr>
        <p:spPr>
          <a:xfrm>
            <a:off x="1423811" y="311348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6" name="G206"/>
          <p:cNvSpPr/>
          <p:nvPr/>
        </p:nvSpPr>
        <p:spPr>
          <a:xfrm>
            <a:off x="6026089" y="202531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7" name="G207"/>
          <p:cNvSpPr/>
          <p:nvPr/>
        </p:nvSpPr>
        <p:spPr>
          <a:xfrm>
            <a:off x="8230802" y="3333330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8" name="G208"/>
          <p:cNvSpPr/>
          <p:nvPr/>
        </p:nvSpPr>
        <p:spPr>
          <a:xfrm>
            <a:off x="5724375" y="283840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9" name="G209"/>
          <p:cNvSpPr/>
          <p:nvPr/>
        </p:nvSpPr>
        <p:spPr>
          <a:xfrm>
            <a:off x="1934025" y="198722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0" name="G210"/>
          <p:cNvSpPr/>
          <p:nvPr/>
        </p:nvSpPr>
        <p:spPr>
          <a:xfrm>
            <a:off x="4765838" y="205036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1" name="G211"/>
          <p:cNvSpPr/>
          <p:nvPr/>
        </p:nvSpPr>
        <p:spPr>
          <a:xfrm>
            <a:off x="961208" y="262350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2" name="G212"/>
          <p:cNvSpPr/>
          <p:nvPr/>
        </p:nvSpPr>
        <p:spPr>
          <a:xfrm>
            <a:off x="4095081" y="315994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3" name="G213"/>
          <p:cNvSpPr/>
          <p:nvPr/>
        </p:nvSpPr>
        <p:spPr>
          <a:xfrm>
            <a:off x="4223343" y="2360206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4" name="G214"/>
          <p:cNvSpPr/>
          <p:nvPr/>
        </p:nvSpPr>
        <p:spPr>
          <a:xfrm>
            <a:off x="8348865" y="337717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5" name="G215"/>
          <p:cNvSpPr/>
          <p:nvPr/>
        </p:nvSpPr>
        <p:spPr>
          <a:xfrm>
            <a:off x="7146767" y="296915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6" name="G216"/>
          <p:cNvSpPr/>
          <p:nvPr/>
        </p:nvSpPr>
        <p:spPr>
          <a:xfrm>
            <a:off x="3138737" y="2291470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7" name="G217"/>
          <p:cNvSpPr/>
          <p:nvPr/>
        </p:nvSpPr>
        <p:spPr>
          <a:xfrm>
            <a:off x="2938409" y="206548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8" name="G218"/>
          <p:cNvSpPr/>
          <p:nvPr/>
        </p:nvSpPr>
        <p:spPr>
          <a:xfrm>
            <a:off x="6582312" y="253345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19" name="G219"/>
          <p:cNvSpPr/>
          <p:nvPr/>
        </p:nvSpPr>
        <p:spPr>
          <a:xfrm>
            <a:off x="7195389" y="251377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0" name="G220"/>
          <p:cNvSpPr/>
          <p:nvPr/>
        </p:nvSpPr>
        <p:spPr>
          <a:xfrm>
            <a:off x="8046404" y="316686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1" name="G221"/>
          <p:cNvSpPr/>
          <p:nvPr/>
        </p:nvSpPr>
        <p:spPr>
          <a:xfrm>
            <a:off x="735681" y="226319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2" name="G222"/>
          <p:cNvSpPr/>
          <p:nvPr/>
        </p:nvSpPr>
        <p:spPr>
          <a:xfrm>
            <a:off x="7681665" y="263208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3" name="G223"/>
          <p:cNvSpPr/>
          <p:nvPr/>
        </p:nvSpPr>
        <p:spPr>
          <a:xfrm>
            <a:off x="8216796" y="252923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4" name="G224"/>
          <p:cNvSpPr/>
          <p:nvPr/>
        </p:nvSpPr>
        <p:spPr>
          <a:xfrm>
            <a:off x="1289185" y="285809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5" name="G225"/>
          <p:cNvSpPr/>
          <p:nvPr/>
        </p:nvSpPr>
        <p:spPr>
          <a:xfrm>
            <a:off x="6675637" y="234831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6" name="G226"/>
          <p:cNvSpPr/>
          <p:nvPr/>
        </p:nvSpPr>
        <p:spPr>
          <a:xfrm>
            <a:off x="1396887" y="2437340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7" name="G227"/>
          <p:cNvSpPr/>
          <p:nvPr/>
        </p:nvSpPr>
        <p:spPr>
          <a:xfrm>
            <a:off x="8092473" y="3040346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8" name="G228"/>
          <p:cNvSpPr/>
          <p:nvPr/>
        </p:nvSpPr>
        <p:spPr>
          <a:xfrm>
            <a:off x="1503033" y="205084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29" name="G229"/>
          <p:cNvSpPr/>
          <p:nvPr/>
        </p:nvSpPr>
        <p:spPr>
          <a:xfrm>
            <a:off x="5001873" y="260010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0" name="G230"/>
          <p:cNvSpPr/>
          <p:nvPr/>
        </p:nvSpPr>
        <p:spPr>
          <a:xfrm>
            <a:off x="2187441" y="300328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1" name="G231"/>
          <p:cNvSpPr/>
          <p:nvPr/>
        </p:nvSpPr>
        <p:spPr>
          <a:xfrm>
            <a:off x="1731485" y="2878310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2" name="G232"/>
          <p:cNvSpPr/>
          <p:nvPr/>
        </p:nvSpPr>
        <p:spPr>
          <a:xfrm>
            <a:off x="8144796" y="310465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3" name="G233"/>
          <p:cNvSpPr/>
          <p:nvPr/>
        </p:nvSpPr>
        <p:spPr>
          <a:xfrm>
            <a:off x="3053741" y="322009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4" name="G234"/>
          <p:cNvSpPr/>
          <p:nvPr/>
        </p:nvSpPr>
        <p:spPr>
          <a:xfrm>
            <a:off x="7254893" y="287564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5" name="G235"/>
          <p:cNvSpPr/>
          <p:nvPr/>
        </p:nvSpPr>
        <p:spPr>
          <a:xfrm>
            <a:off x="1497585" y="336811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6" name="G236"/>
          <p:cNvSpPr/>
          <p:nvPr/>
        </p:nvSpPr>
        <p:spPr>
          <a:xfrm>
            <a:off x="6631191" y="243219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7" name="G237"/>
          <p:cNvSpPr/>
          <p:nvPr/>
        </p:nvSpPr>
        <p:spPr>
          <a:xfrm>
            <a:off x="2994031" y="206998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8" name="G238"/>
          <p:cNvSpPr/>
          <p:nvPr/>
        </p:nvSpPr>
        <p:spPr>
          <a:xfrm>
            <a:off x="1419586" y="279188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39" name="G239"/>
          <p:cNvSpPr/>
          <p:nvPr/>
        </p:nvSpPr>
        <p:spPr>
          <a:xfrm>
            <a:off x="2586982" y="281817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0" name="G240"/>
          <p:cNvSpPr/>
          <p:nvPr/>
        </p:nvSpPr>
        <p:spPr>
          <a:xfrm>
            <a:off x="3569570" y="260830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1" name="G241"/>
          <p:cNvSpPr/>
          <p:nvPr/>
        </p:nvSpPr>
        <p:spPr>
          <a:xfrm>
            <a:off x="8054743" y="265155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2" name="G242"/>
          <p:cNvSpPr/>
          <p:nvPr/>
        </p:nvSpPr>
        <p:spPr>
          <a:xfrm>
            <a:off x="7667553" y="312504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3" name="G243"/>
          <p:cNvSpPr/>
          <p:nvPr/>
        </p:nvSpPr>
        <p:spPr>
          <a:xfrm>
            <a:off x="2636501" y="223496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4" name="G244"/>
          <p:cNvSpPr/>
          <p:nvPr/>
        </p:nvSpPr>
        <p:spPr>
          <a:xfrm>
            <a:off x="6377203" y="329881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5" name="G245"/>
          <p:cNvSpPr/>
          <p:nvPr/>
        </p:nvSpPr>
        <p:spPr>
          <a:xfrm>
            <a:off x="2232530" y="331260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6" name="G246"/>
          <p:cNvSpPr/>
          <p:nvPr/>
        </p:nvSpPr>
        <p:spPr>
          <a:xfrm>
            <a:off x="7467250" y="282136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7" name="G247"/>
          <p:cNvSpPr/>
          <p:nvPr/>
        </p:nvSpPr>
        <p:spPr>
          <a:xfrm>
            <a:off x="3949447" y="211313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8" name="G248"/>
          <p:cNvSpPr/>
          <p:nvPr/>
        </p:nvSpPr>
        <p:spPr>
          <a:xfrm>
            <a:off x="1026977" y="333038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49" name="G249"/>
          <p:cNvSpPr/>
          <p:nvPr/>
        </p:nvSpPr>
        <p:spPr>
          <a:xfrm>
            <a:off x="2551816" y="296457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0" name="G250"/>
          <p:cNvSpPr/>
          <p:nvPr/>
        </p:nvSpPr>
        <p:spPr>
          <a:xfrm>
            <a:off x="2693635" y="313343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1" name="G251"/>
          <p:cNvSpPr/>
          <p:nvPr/>
        </p:nvSpPr>
        <p:spPr>
          <a:xfrm>
            <a:off x="5285683" y="238185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2" name="G252"/>
          <p:cNvSpPr/>
          <p:nvPr/>
        </p:nvSpPr>
        <p:spPr>
          <a:xfrm>
            <a:off x="2070996" y="298693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3" name="G253"/>
          <p:cNvSpPr/>
          <p:nvPr/>
        </p:nvSpPr>
        <p:spPr>
          <a:xfrm>
            <a:off x="1256642" y="228967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4" name="G254"/>
          <p:cNvSpPr/>
          <p:nvPr/>
        </p:nvSpPr>
        <p:spPr>
          <a:xfrm>
            <a:off x="5421871" y="236312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5" name="G255"/>
          <p:cNvSpPr/>
          <p:nvPr/>
        </p:nvSpPr>
        <p:spPr>
          <a:xfrm>
            <a:off x="7735785" y="225506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6" name="G256"/>
          <p:cNvSpPr/>
          <p:nvPr/>
        </p:nvSpPr>
        <p:spPr>
          <a:xfrm>
            <a:off x="858073" y="234749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7" name="G257"/>
          <p:cNvSpPr/>
          <p:nvPr/>
        </p:nvSpPr>
        <p:spPr>
          <a:xfrm>
            <a:off x="4134589" y="205164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8" name="G258"/>
          <p:cNvSpPr/>
          <p:nvPr/>
        </p:nvSpPr>
        <p:spPr>
          <a:xfrm>
            <a:off x="5100171" y="215244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59" name="G259"/>
          <p:cNvSpPr/>
          <p:nvPr/>
        </p:nvSpPr>
        <p:spPr>
          <a:xfrm>
            <a:off x="3496585" y="322870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0" name="G260"/>
          <p:cNvSpPr/>
          <p:nvPr/>
        </p:nvSpPr>
        <p:spPr>
          <a:xfrm>
            <a:off x="8217823" y="289704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1" name="G261"/>
          <p:cNvSpPr/>
          <p:nvPr/>
        </p:nvSpPr>
        <p:spPr>
          <a:xfrm>
            <a:off x="6009163" y="279429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2" name="G262"/>
          <p:cNvSpPr/>
          <p:nvPr/>
        </p:nvSpPr>
        <p:spPr>
          <a:xfrm>
            <a:off x="868146" y="325602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3" name="G263"/>
          <p:cNvSpPr/>
          <p:nvPr/>
        </p:nvSpPr>
        <p:spPr>
          <a:xfrm>
            <a:off x="6083594" y="333051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4" name="G264"/>
          <p:cNvSpPr/>
          <p:nvPr/>
        </p:nvSpPr>
        <p:spPr>
          <a:xfrm>
            <a:off x="893839" y="286763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5" name="G265"/>
          <p:cNvSpPr/>
          <p:nvPr/>
        </p:nvSpPr>
        <p:spPr>
          <a:xfrm>
            <a:off x="4413505" y="300130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6" name="G266"/>
          <p:cNvSpPr/>
          <p:nvPr/>
        </p:nvSpPr>
        <p:spPr>
          <a:xfrm>
            <a:off x="3166432" y="3382370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7" name="G267"/>
          <p:cNvSpPr/>
          <p:nvPr/>
        </p:nvSpPr>
        <p:spPr>
          <a:xfrm>
            <a:off x="1306170" y="273995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8" name="G268"/>
          <p:cNvSpPr/>
          <p:nvPr/>
        </p:nvSpPr>
        <p:spPr>
          <a:xfrm>
            <a:off x="6358734" y="3241826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69" name="G269"/>
          <p:cNvSpPr/>
          <p:nvPr/>
        </p:nvSpPr>
        <p:spPr>
          <a:xfrm>
            <a:off x="6359365" y="2963315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0" name="G270"/>
          <p:cNvSpPr/>
          <p:nvPr/>
        </p:nvSpPr>
        <p:spPr>
          <a:xfrm>
            <a:off x="6788301" y="326281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1" name="G271"/>
          <p:cNvSpPr/>
          <p:nvPr/>
        </p:nvSpPr>
        <p:spPr>
          <a:xfrm>
            <a:off x="3417858" y="293703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2" name="G272"/>
          <p:cNvSpPr/>
          <p:nvPr/>
        </p:nvSpPr>
        <p:spPr>
          <a:xfrm>
            <a:off x="7609619" y="320058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3" name="G273"/>
          <p:cNvSpPr/>
          <p:nvPr/>
        </p:nvSpPr>
        <p:spPr>
          <a:xfrm>
            <a:off x="3916584" y="308639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4" name="G274"/>
          <p:cNvSpPr/>
          <p:nvPr/>
        </p:nvSpPr>
        <p:spPr>
          <a:xfrm>
            <a:off x="7324341" y="277781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5" name="G275"/>
          <p:cNvSpPr/>
          <p:nvPr/>
        </p:nvSpPr>
        <p:spPr>
          <a:xfrm>
            <a:off x="5503244" y="250784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6" name="G276"/>
          <p:cNvSpPr/>
          <p:nvPr/>
        </p:nvSpPr>
        <p:spPr>
          <a:xfrm>
            <a:off x="1343882" y="2872201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7" name="G277"/>
          <p:cNvSpPr/>
          <p:nvPr/>
        </p:nvSpPr>
        <p:spPr>
          <a:xfrm>
            <a:off x="8315773" y="321290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8" name="G278"/>
          <p:cNvSpPr/>
          <p:nvPr/>
        </p:nvSpPr>
        <p:spPr>
          <a:xfrm>
            <a:off x="6291556" y="251649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79" name="G279"/>
          <p:cNvSpPr/>
          <p:nvPr/>
        </p:nvSpPr>
        <p:spPr>
          <a:xfrm>
            <a:off x="6343713" y="2789356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0" name="G280"/>
          <p:cNvSpPr/>
          <p:nvPr/>
        </p:nvSpPr>
        <p:spPr>
          <a:xfrm>
            <a:off x="4095015" y="3154199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1" name="G281"/>
          <p:cNvSpPr/>
          <p:nvPr/>
        </p:nvSpPr>
        <p:spPr>
          <a:xfrm>
            <a:off x="1371217" y="302924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2" name="G282"/>
          <p:cNvSpPr/>
          <p:nvPr/>
        </p:nvSpPr>
        <p:spPr>
          <a:xfrm>
            <a:off x="958973" y="281817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3" name="G283"/>
          <p:cNvSpPr/>
          <p:nvPr/>
        </p:nvSpPr>
        <p:spPr>
          <a:xfrm>
            <a:off x="4403741" y="2292258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4" name="G284"/>
          <p:cNvSpPr/>
          <p:nvPr/>
        </p:nvSpPr>
        <p:spPr>
          <a:xfrm>
            <a:off x="6063473" y="2670723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5" name="G285"/>
          <p:cNvSpPr/>
          <p:nvPr/>
        </p:nvSpPr>
        <p:spPr>
          <a:xfrm>
            <a:off x="5423400" y="327055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6" name="G286"/>
          <p:cNvSpPr/>
          <p:nvPr/>
        </p:nvSpPr>
        <p:spPr>
          <a:xfrm>
            <a:off x="2684845" y="1981986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7" name="G287"/>
          <p:cNvSpPr/>
          <p:nvPr/>
        </p:nvSpPr>
        <p:spPr>
          <a:xfrm>
            <a:off x="3029976" y="292709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8" name="G288"/>
          <p:cNvSpPr/>
          <p:nvPr/>
        </p:nvSpPr>
        <p:spPr>
          <a:xfrm>
            <a:off x="7646922" y="2901377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89" name="G289"/>
          <p:cNvSpPr/>
          <p:nvPr/>
        </p:nvSpPr>
        <p:spPr>
          <a:xfrm>
            <a:off x="4105781" y="322982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90" name="G290"/>
          <p:cNvSpPr/>
          <p:nvPr/>
        </p:nvSpPr>
        <p:spPr>
          <a:xfrm>
            <a:off x="3227943" y="2909752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91" name="G291"/>
          <p:cNvSpPr/>
          <p:nvPr/>
        </p:nvSpPr>
        <p:spPr>
          <a:xfrm>
            <a:off x="6885435" y="3261704"/>
            <a:ext cx="77724" cy="77724"/>
          </a:xfrm>
          <a:prstGeom prst="ellipse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80" name="X180"/>
          <p:cNvSpPr txBox="1"/>
          <p:nvPr/>
        </p:nvSpPr>
        <p:spPr>
          <a:xfrm>
            <a:off x="1965960" y="2331720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✕</a:t>
            </a:r>
          </a:p>
        </p:txBody>
      </p:sp>
      <p:sp>
        <p:nvSpPr>
          <p:cNvPr id="181" name="X181"/>
          <p:cNvSpPr txBox="1"/>
          <p:nvPr/>
        </p:nvSpPr>
        <p:spPr>
          <a:xfrm>
            <a:off x="4937760" y="3063240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✕</a:t>
            </a:r>
          </a:p>
        </p:txBody>
      </p:sp>
      <p:sp>
        <p:nvSpPr>
          <p:cNvPr id="182" name="X182"/>
          <p:cNvSpPr txBox="1"/>
          <p:nvPr/>
        </p:nvSpPr>
        <p:spPr>
          <a:xfrm>
            <a:off x="7178040" y="2148840"/>
            <a:ext cx="365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✕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3749040"/>
            <a:ext cx="801014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the inputs nobody thought to write down — and the failures they reach</a:t>
            </a:r>
          </a:p>
        </p:txBody>
      </p:sp>
      <p:sp>
        <p:nvSpPr>
          <p:cNvPr id="140" name="E140"/>
          <p:cNvSpPr/>
          <p:nvPr/>
        </p:nvSpPr>
        <p:spPr>
          <a:xfrm>
            <a:off x="566928" y="416052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 weak oracle enables enormous search.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“Did it crash?” needs no expected answer — so we can afford millions of runs.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Cheap evidence about robustness — little about functional correctness.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Different strategies buy different kinds of search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9A9C6C-A139-49E2-AC2B-2DC726D60215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2331720" cy="49377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Example-based</a:t>
            </a:r>
          </a:p>
        </p:txBody>
      </p:sp>
      <p:sp>
        <p:nvSpPr>
          <p:cNvPr id="110" name="P110"/>
          <p:cNvSpPr/>
          <p:nvPr/>
        </p:nvSpPr>
        <p:spPr>
          <a:xfrm>
            <a:off x="2971800" y="960120"/>
            <a:ext cx="5605272" cy="493776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choose the cases you already understand</a:t>
            </a:r>
          </a:p>
        </p:txBody>
      </p:sp>
      <p:sp>
        <p:nvSpPr>
          <p:cNvPr id="101" name="B101"/>
          <p:cNvSpPr/>
          <p:nvPr/>
        </p:nvSpPr>
        <p:spPr>
          <a:xfrm>
            <a:off x="566928" y="1527048"/>
            <a:ext cx="2331720" cy="49377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Property-based</a:t>
            </a:r>
          </a:p>
        </p:txBody>
      </p:sp>
      <p:sp>
        <p:nvSpPr>
          <p:cNvPr id="111" name="P111"/>
          <p:cNvSpPr/>
          <p:nvPr/>
        </p:nvSpPr>
        <p:spPr>
          <a:xfrm>
            <a:off x="2971800" y="1527048"/>
            <a:ext cx="5605272" cy="493776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generate cases against a general property</a:t>
            </a:r>
          </a:p>
        </p:txBody>
      </p:sp>
      <p:sp>
        <p:nvSpPr>
          <p:cNvPr id="102" name="B102"/>
          <p:cNvSpPr/>
          <p:nvPr/>
        </p:nvSpPr>
        <p:spPr>
          <a:xfrm>
            <a:off x="566928" y="2093976"/>
            <a:ext cx="2331720" cy="49377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Differential</a:t>
            </a:r>
          </a:p>
        </p:txBody>
      </p:sp>
      <p:sp>
        <p:nvSpPr>
          <p:cNvPr id="112" name="P112"/>
          <p:cNvSpPr/>
          <p:nvPr/>
        </p:nvSpPr>
        <p:spPr>
          <a:xfrm>
            <a:off x="2971800" y="2093976"/>
            <a:ext cx="5605272" cy="493776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search for disagreement with another implementation</a:t>
            </a:r>
          </a:p>
        </p:txBody>
      </p:sp>
      <p:sp>
        <p:nvSpPr>
          <p:cNvPr id="103" name="B103"/>
          <p:cNvSpPr/>
          <p:nvPr/>
        </p:nvSpPr>
        <p:spPr>
          <a:xfrm>
            <a:off x="566928" y="2660904"/>
            <a:ext cx="2331720" cy="49377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Metamorphic</a:t>
            </a:r>
          </a:p>
        </p:txBody>
      </p:sp>
      <p:sp>
        <p:nvSpPr>
          <p:cNvPr id="113" name="P113"/>
          <p:cNvSpPr/>
          <p:nvPr/>
        </p:nvSpPr>
        <p:spPr>
          <a:xfrm>
            <a:off x="2971800" y="2660904"/>
            <a:ext cx="5605272" cy="493776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search for a violated relation between runs</a:t>
            </a:r>
          </a:p>
        </p:txBody>
      </p:sp>
      <p:sp>
        <p:nvSpPr>
          <p:cNvPr id="104" name="B104"/>
          <p:cNvSpPr/>
          <p:nvPr/>
        </p:nvSpPr>
        <p:spPr>
          <a:xfrm>
            <a:off x="566928" y="3227832"/>
            <a:ext cx="2331720" cy="49377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Fuzzing</a:t>
            </a:r>
          </a:p>
        </p:txBody>
      </p:sp>
      <p:sp>
        <p:nvSpPr>
          <p:cNvPr id="114" name="P114"/>
          <p:cNvSpPr/>
          <p:nvPr/>
        </p:nvSpPr>
        <p:spPr>
          <a:xfrm>
            <a:off x="2971800" y="3227832"/>
            <a:ext cx="5605272" cy="493776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search unusual inputs with a cheap oracle</a:t>
            </a:r>
          </a:p>
        </p:txBody>
      </p:sp>
      <p:sp>
        <p:nvSpPr>
          <p:cNvPr id="120" name="T120"/>
          <p:cNvSpPr txBox="1"/>
          <p:nvPr/>
        </p:nvSpPr>
        <p:spPr>
          <a:xfrm>
            <a:off x="566928" y="391363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300" b="1" i="0" dirty="0">
                <a:solidFill>
                  <a:srgbClr val="57534E"/>
                </a:solidFill>
              </a:rPr>
              <a:t>WHAT YOU ALREADY KNOW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40080" y="4315968"/>
            <a:ext cx="7818120" cy="0"/>
          </a:xfrm>
          <a:prstGeom prst="straightConnector1">
            <a:avLst/>
          </a:prstGeom>
          <a:ln w="31750">
            <a:solidFill>
              <a:srgbClr val="8E6F3E"/>
            </a:solidFill>
            <a:tailEnd type="triangle" w="med" len="med"/>
          </a:ln>
        </p:spPr>
      </p:cxnSp>
      <p:sp>
        <p:nvSpPr>
          <p:cNvPr id="130" name="T130"/>
          <p:cNvSpPr txBox="1"/>
          <p:nvPr/>
        </p:nvSpPr>
        <p:spPr>
          <a:xfrm>
            <a:off x="566928" y="440740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known answers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566928" y="466344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example-based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2606040" y="440740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known properties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2606040" y="466344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property-based</a:t>
            </a:r>
          </a:p>
        </p:txBody>
      </p:sp>
      <p:sp>
        <p:nvSpPr>
          <p:cNvPr id="132" name="T132"/>
          <p:cNvSpPr txBox="1"/>
          <p:nvPr/>
        </p:nvSpPr>
        <p:spPr>
          <a:xfrm>
            <a:off x="4645152" y="440740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known relations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4645152" y="466344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metamorphic</a:t>
            </a:r>
          </a:p>
        </p:txBody>
      </p:sp>
      <p:sp>
        <p:nvSpPr>
          <p:cNvPr id="133" name="T133"/>
          <p:cNvSpPr txBox="1"/>
          <p:nvPr/>
        </p:nvSpPr>
        <p:spPr>
          <a:xfrm>
            <a:off x="6684264" y="440740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almost nothing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6684264" y="466344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fuzzing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5029200"/>
            <a:ext cx="8010144" cy="713232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>Choose the strategy for the uncertainty you need to reduce — not for the amount of output it can produce.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FFFFFF"/>
                </a:solidFill>
              </a:rPr>
              <a:t>A strategy changes how you search. It does not set how strong the evidence is.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How strong is the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5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Volume is not strength.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measurement is not evidence by itself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MODEL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1824228" y="2290000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T102"/>
          <p:cNvSpPr txBox="1"/>
          <p:nvPr/>
        </p:nvSpPr>
        <p:spPr>
          <a:xfrm>
            <a:off x="1449324" y="1690000"/>
            <a:ext cx="896112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represents</a:t>
            </a:r>
          </a:p>
        </p:txBody>
      </p:sp>
      <p:sp>
        <p:nvSpPr>
          <p:cNvPr id="103" name="P103"/>
          <p:cNvSpPr/>
          <p:nvPr/>
        </p:nvSpPr>
        <p:spPr>
          <a:xfrm>
            <a:off x="1920240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PROPERTY</a:t>
            </a:r>
          </a:p>
        </p:txBody>
      </p:sp>
      <p:cxnSp>
        <p:nvCxnSpPr>
          <p:cNvPr id="104" name="C104"/>
          <p:cNvCxnSpPr/>
          <p:nvPr/>
        </p:nvCxnSpPr>
        <p:spPr>
          <a:xfrm>
            <a:off x="3177540" y="2290000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5" name="T105"/>
          <p:cNvSpPr txBox="1"/>
          <p:nvPr/>
        </p:nvSpPr>
        <p:spPr>
          <a:xfrm>
            <a:off x="2802636" y="1690000"/>
            <a:ext cx="896112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assessed by</a:t>
            </a:r>
          </a:p>
        </p:txBody>
      </p:sp>
      <p:sp>
        <p:nvSpPr>
          <p:cNvPr id="106" name="P106"/>
          <p:cNvSpPr/>
          <p:nvPr/>
        </p:nvSpPr>
        <p:spPr>
          <a:xfrm>
            <a:off x="3273552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METRIC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30852" y="2290000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T108"/>
          <p:cNvSpPr txBox="1"/>
          <p:nvPr/>
        </p:nvSpPr>
        <p:spPr>
          <a:xfrm>
            <a:off x="4155948" y="1690000"/>
            <a:ext cx="896112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applied</a:t>
            </a:r>
          </a:p>
        </p:txBody>
      </p:sp>
      <p:sp>
        <p:nvSpPr>
          <p:cNvPr id="109" name="P109"/>
          <p:cNvSpPr/>
          <p:nvPr/>
        </p:nvSpPr>
        <p:spPr>
          <a:xfrm>
            <a:off x="4626864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MEASUREMENT</a:t>
            </a:r>
          </a:p>
        </p:txBody>
      </p:sp>
      <p:cxnSp>
        <p:nvCxnSpPr>
          <p:cNvPr id="110" name="C110"/>
          <p:cNvCxnSpPr/>
          <p:nvPr/>
        </p:nvCxnSpPr>
        <p:spPr>
          <a:xfrm>
            <a:off x="5884164" y="2290000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T111"/>
          <p:cNvSpPr txBox="1"/>
          <p:nvPr/>
        </p:nvSpPr>
        <p:spPr>
          <a:xfrm>
            <a:off x="5509259" y="1690000"/>
            <a:ext cx="896112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bears on</a:t>
            </a:r>
          </a:p>
        </p:txBody>
      </p:sp>
      <p:sp>
        <p:nvSpPr>
          <p:cNvPr id="112" name="P112"/>
          <p:cNvSpPr/>
          <p:nvPr/>
        </p:nvSpPr>
        <p:spPr>
          <a:xfrm>
            <a:off x="5980176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EVIDENCE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7237476" y="2290000"/>
            <a:ext cx="146304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T114"/>
          <p:cNvSpPr txBox="1"/>
          <p:nvPr/>
        </p:nvSpPr>
        <p:spPr>
          <a:xfrm>
            <a:off x="6862572" y="1690000"/>
            <a:ext cx="896112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250" b="0" i="1" dirty="0">
                <a:solidFill>
                  <a:srgbClr val="555960"/>
                </a:solidFill>
              </a:rPr>
              <a:t>interpreted</a:t>
            </a:r>
          </a:p>
        </p:txBody>
      </p:sp>
      <p:sp>
        <p:nvSpPr>
          <p:cNvPr id="115" name="P115"/>
          <p:cNvSpPr/>
          <p:nvPr/>
        </p:nvSpPr>
        <p:spPr>
          <a:xfrm>
            <a:off x="7333488" y="1980000"/>
            <a:ext cx="1243584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36576" tIns="45720" rIns="36576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000000"/>
                </a:solidFill>
              </a:rPr>
              <a:t>JUDGMENT</a:t>
            </a:r>
          </a:p>
        </p:txBody>
      </p:sp>
      <p:sp>
        <p:nvSpPr>
          <p:cNvPr id="180" name="T180"/>
          <p:cNvSpPr txBox="1"/>
          <p:nvPr/>
        </p:nvSpPr>
        <p:spPr>
          <a:xfrm>
            <a:off x="680000" y="3060000"/>
            <a:ext cx="794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A model predicts a request path stays under 500 ms; the metric is p99 latency under workload W.</a:t>
            </a:r>
          </a:p>
          <a:p>
            <a:pPr algn="ctr">
              <a:spcBef>
                <a:spcPts val="140"/>
              </a:spcBef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The measurement is 420 ms — meaningless without the property, metric, and conditions that give it meaning.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A mismatch is information: a defect, a wrong model, or the wrong metric.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How do we judge evidence?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5ACCDC0-16E7-4BB5-8811-15F864A1BF78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20574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101" name="B101"/>
          <p:cNvSpPr/>
          <p:nvPr/>
        </p:nvSpPr>
        <p:spPr>
          <a:xfrm>
            <a:off x="2697480" y="960120"/>
            <a:ext cx="315468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USEFUL METRICS &amp; QUESTIONS</a:t>
            </a:r>
          </a:p>
        </p:txBody>
      </p:sp>
      <p:sp>
        <p:nvSpPr>
          <p:cNvPr id="102" name="B102"/>
          <p:cNvSpPr/>
          <p:nvPr/>
        </p:nvSpPr>
        <p:spPr>
          <a:xfrm>
            <a:off x="5925312" y="960120"/>
            <a:ext cx="265176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WHAT IT TELLS US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42646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Coverage</a:t>
            </a:r>
          </a:p>
        </p:txBody>
      </p:sp>
      <p:sp>
        <p:nvSpPr>
          <p:cNvPr id="120" name="P120"/>
          <p:cNvSpPr/>
          <p:nvPr/>
        </p:nvSpPr>
        <p:spPr>
          <a:xfrm>
            <a:off x="2697480" y="142646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statement · branch · claim coverage</a:t>
            </a:r>
          </a:p>
        </p:txBody>
      </p:sp>
      <p:sp>
        <p:nvSpPr>
          <p:cNvPr id="130" name="P130"/>
          <p:cNvSpPr/>
          <p:nvPr/>
        </p:nvSpPr>
        <p:spPr>
          <a:xfrm>
            <a:off x="5925312" y="142646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How much did we examine?</a:t>
            </a:r>
          </a:p>
        </p:txBody>
      </p:sp>
      <p:sp>
        <p:nvSpPr>
          <p:cNvPr id="111" name="P111"/>
          <p:cNvSpPr/>
          <p:nvPr/>
        </p:nvSpPr>
        <p:spPr>
          <a:xfrm>
            <a:off x="566928" y="197510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Representativeness</a:t>
            </a:r>
          </a:p>
        </p:txBody>
      </p:sp>
      <p:sp>
        <p:nvSpPr>
          <p:cNvPr id="121" name="P121"/>
          <p:cNvSpPr/>
          <p:nvPr/>
        </p:nvSpPr>
        <p:spPr>
          <a:xfrm>
            <a:off x="2697480" y="197510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workload mix · environment · config</a:t>
            </a:r>
          </a:p>
        </p:txBody>
      </p:sp>
      <p:sp>
        <p:nvSpPr>
          <p:cNvPr id="131" name="P131"/>
          <p:cNvSpPr/>
          <p:nvPr/>
        </p:nvSpPr>
        <p:spPr>
          <a:xfrm>
            <a:off x="5925312" y="197510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Did we look at the right things?</a:t>
            </a:r>
          </a:p>
        </p:txBody>
      </p:sp>
      <p:sp>
        <p:nvSpPr>
          <p:cNvPr id="112" name="P112"/>
          <p:cNvSpPr/>
          <p:nvPr/>
        </p:nvSpPr>
        <p:spPr>
          <a:xfrm>
            <a:off x="566928" y="252374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Detection power</a:t>
            </a:r>
          </a:p>
        </p:txBody>
      </p:sp>
      <p:sp>
        <p:nvSpPr>
          <p:cNvPr id="122" name="P122"/>
          <p:cNvSpPr/>
          <p:nvPr/>
        </p:nvSpPr>
        <p:spPr>
          <a:xfrm>
            <a:off x="2697480" y="252374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mutation score · seeded defects</a:t>
            </a:r>
          </a:p>
        </p:txBody>
      </p:sp>
      <p:sp>
        <p:nvSpPr>
          <p:cNvPr id="132" name="P132"/>
          <p:cNvSpPr/>
          <p:nvPr/>
        </p:nvSpPr>
        <p:spPr>
          <a:xfrm>
            <a:off x="5925312" y="252374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Would we notice a defect?</a:t>
            </a:r>
          </a:p>
        </p:txBody>
      </p:sp>
      <p:sp>
        <p:nvSpPr>
          <p:cNvPr id="113" name="P113"/>
          <p:cNvSpPr/>
          <p:nvPr/>
        </p:nvSpPr>
        <p:spPr>
          <a:xfrm>
            <a:off x="566928" y="307238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Independence</a:t>
            </a:r>
          </a:p>
        </p:txBody>
      </p:sp>
      <p:sp>
        <p:nvSpPr>
          <p:cNvPr id="123" name="P123"/>
          <p:cNvSpPr/>
          <p:nvPr/>
        </p:nvSpPr>
        <p:spPr>
          <a:xfrm>
            <a:off x="2697480" y="307238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distinct tools · models · reviewers</a:t>
            </a:r>
          </a:p>
        </p:txBody>
      </p:sp>
      <p:sp>
        <p:nvSpPr>
          <p:cNvPr id="133" name="P133"/>
          <p:cNvSpPr/>
          <p:nvPr/>
        </p:nvSpPr>
        <p:spPr>
          <a:xfrm>
            <a:off x="5925312" y="307238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Could one mistake undo it all?</a:t>
            </a:r>
          </a:p>
        </p:txBody>
      </p:sp>
      <p:sp>
        <p:nvSpPr>
          <p:cNvPr id="114" name="P114"/>
          <p:cNvSpPr/>
          <p:nvPr/>
        </p:nvSpPr>
        <p:spPr>
          <a:xfrm>
            <a:off x="566928" y="362102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Residual failures</a:t>
            </a:r>
          </a:p>
        </p:txBody>
      </p:sp>
      <p:sp>
        <p:nvSpPr>
          <p:cNvPr id="124" name="P124"/>
          <p:cNvSpPr/>
          <p:nvPr/>
        </p:nvSpPr>
        <p:spPr>
          <a:xfrm>
            <a:off x="2697480" y="362102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open defects · counterexamples</a:t>
            </a:r>
          </a:p>
        </p:txBody>
      </p:sp>
      <p:sp>
        <p:nvSpPr>
          <p:cNvPr id="134" name="P134"/>
          <p:cNvSpPr/>
          <p:nvPr/>
        </p:nvSpPr>
        <p:spPr>
          <a:xfrm>
            <a:off x="5925312" y="362102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What do we know is wrong?</a:t>
            </a:r>
          </a:p>
        </p:txBody>
      </p:sp>
      <p:sp>
        <p:nvSpPr>
          <p:cNvPr id="115" name="P115"/>
          <p:cNvSpPr/>
          <p:nvPr/>
        </p:nvSpPr>
        <p:spPr>
          <a:xfrm>
            <a:off x="566928" y="4169664"/>
            <a:ext cx="20574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Uncertainty</a:t>
            </a:r>
          </a:p>
        </p:txBody>
      </p:sp>
      <p:sp>
        <p:nvSpPr>
          <p:cNvPr id="125" name="P125"/>
          <p:cNvSpPr/>
          <p:nvPr/>
        </p:nvSpPr>
        <p:spPr>
          <a:xfrm>
            <a:off x="2697480" y="4169664"/>
            <a:ext cx="31546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confidence intervals · unmodeled states</a:t>
            </a:r>
          </a:p>
        </p:txBody>
      </p:sp>
      <p:sp>
        <p:nvSpPr>
          <p:cNvPr id="135" name="P135"/>
          <p:cNvSpPr/>
          <p:nvPr/>
        </p:nvSpPr>
        <p:spPr>
          <a:xfrm>
            <a:off x="5925312" y="4169664"/>
            <a:ext cx="26517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How precisely can we claim it?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4846320"/>
            <a:ext cx="8010144" cy="74980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5C4826"/>
                </a:solidFill>
              </a:rPr>
              <a:t>No single metric means “validated.”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50" b="0" i="0" dirty="0">
                <a:solidFill>
                  <a:srgbClr val="5C4826"/>
                </a:solidFill>
              </a:rPr>
              <a:t>Metrics make the remaining uncertainty visible enough to judge.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is not one number. It has dimensions.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Detection power: would we have noticed?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4730F4-E99E-4D28-BCD0-D7DDF040FC6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60120"/>
            <a:ext cx="8010144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5C4826"/>
                </a:solidFill>
              </a:rPr>
              <a:t>Statement and condition coverage: 100%. Every test is green.</a:t>
            </a:r>
          </a:p>
        </p:txBody>
      </p:sp>
      <p:sp>
        <p:nvSpPr>
          <p:cNvPr id="110" name="B110"/>
          <p:cNvSpPr/>
          <p:nvPr/>
        </p:nvSpPr>
        <p:spPr>
          <a:xfrm>
            <a:off x="566928" y="1645920"/>
            <a:ext cx="25603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SEED A FAULT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3145536" y="192938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1" name="B111"/>
          <p:cNvSpPr/>
          <p:nvPr/>
        </p:nvSpPr>
        <p:spPr>
          <a:xfrm>
            <a:off x="3291840" y="1645920"/>
            <a:ext cx="25603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RUN THE SUITE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5870448" y="1929384"/>
            <a:ext cx="164592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B112"/>
          <p:cNvSpPr/>
          <p:nvPr/>
        </p:nvSpPr>
        <p:spPr>
          <a:xfrm>
            <a:off x="6016752" y="1645920"/>
            <a:ext cx="256032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DID IT FAIL?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2395728"/>
            <a:ext cx="8010144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  <a:latin typeface="Consolas"/>
              </a:rPr>
              <a:t>original:   if (amount &gt; limit)  reject();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  <a:latin typeface="Consolas"/>
              </a:rPr>
              <a:t>mutant:     if (amount &gt;= limit) reject();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600" b="1" i="1" dirty="0">
                <a:solidFill>
                  <a:srgbClr val="5C4826"/>
                </a:solidFill>
              </a:rPr>
              <a:t>The suite still passes.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3584448"/>
            <a:ext cx="3913632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SUITE FAILS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the fault would have been caught</a:t>
            </a:r>
          </a:p>
        </p:txBody>
      </p:sp>
      <p:sp>
        <p:nvSpPr>
          <p:cNvPr id="141" name="P141"/>
          <p:cNvSpPr/>
          <p:nvPr/>
        </p:nvSpPr>
        <p:spPr>
          <a:xfrm>
            <a:off x="4663440" y="3584448"/>
            <a:ext cx="3913632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SUITE PASSES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 surviving mutant: executed, unchecked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4572000"/>
            <a:ext cx="8010144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5C4826"/>
                </a:solidFill>
              </a:rPr>
              <a:t>mutation score  =  faults detected ÷ faults seeded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50" b="0" i="0" dirty="0">
                <a:solidFill>
                  <a:srgbClr val="5C4826"/>
                </a:solidFill>
              </a:rPr>
              <a:t>Coverage counts what ran. Detection power asks whether a wrong answer would be caught.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>Executed is not checked.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Representativeness: did we look under the right conditions?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8B3182B-CB6B-4C58-8308-02E907B13ACB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05840"/>
            <a:ext cx="3931920" cy="47548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VALIDATION CONDITIONS</a:t>
            </a:r>
          </a:p>
        </p:txBody>
      </p:sp>
      <p:sp>
        <p:nvSpPr>
          <p:cNvPr id="101" name="B101"/>
          <p:cNvSpPr/>
          <p:nvPr/>
        </p:nvSpPr>
        <p:spPr>
          <a:xfrm>
            <a:off x="4645152" y="1005840"/>
            <a:ext cx="3931920" cy="475488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DELIVERY CONDITIONS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609344"/>
            <a:ext cx="393192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50 requests per second</a:t>
            </a:r>
          </a:p>
        </p:txBody>
      </p:sp>
      <p:sp>
        <p:nvSpPr>
          <p:cNvPr id="120" name="P120"/>
          <p:cNvSpPr/>
          <p:nvPr/>
        </p:nvSpPr>
        <p:spPr>
          <a:xfrm>
            <a:off x="4645152" y="1609344"/>
            <a:ext cx="393192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4,000 per second at month end</a:t>
            </a:r>
          </a:p>
        </p:txBody>
      </p:sp>
      <p:sp>
        <p:nvSpPr>
          <p:cNvPr id="111" name="P111"/>
          <p:cNvSpPr/>
          <p:nvPr/>
        </p:nvSpPr>
        <p:spPr>
          <a:xfrm>
            <a:off x="566928" y="2249424"/>
            <a:ext cx="393192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one region, warm caches</a:t>
            </a:r>
          </a:p>
        </p:txBody>
      </p:sp>
      <p:sp>
        <p:nvSpPr>
          <p:cNvPr id="121" name="P121"/>
          <p:cNvSpPr/>
          <p:nvPr/>
        </p:nvSpPr>
        <p:spPr>
          <a:xfrm>
            <a:off x="4645152" y="2249424"/>
            <a:ext cx="393192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three regions, cold starts</a:t>
            </a:r>
          </a:p>
        </p:txBody>
      </p:sp>
      <p:sp>
        <p:nvSpPr>
          <p:cNvPr id="112" name="P112"/>
          <p:cNvSpPr/>
          <p:nvPr/>
        </p:nvSpPr>
        <p:spPr>
          <a:xfrm>
            <a:off x="566928" y="2889504"/>
            <a:ext cx="393192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stubbed payment provider</a:t>
            </a:r>
          </a:p>
        </p:txBody>
      </p:sp>
      <p:sp>
        <p:nvSpPr>
          <p:cNvPr id="122" name="P122"/>
          <p:cNvSpPr/>
          <p:nvPr/>
        </p:nvSpPr>
        <p:spPr>
          <a:xfrm>
            <a:off x="4645152" y="2889504"/>
            <a:ext cx="393192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the provider's real latency and retries</a:t>
            </a:r>
          </a:p>
        </p:txBody>
      </p:sp>
      <p:sp>
        <p:nvSpPr>
          <p:cNvPr id="113" name="P113"/>
          <p:cNvSpPr/>
          <p:nvPr/>
        </p:nvSpPr>
        <p:spPr>
          <a:xfrm>
            <a:off x="566928" y="3529584"/>
            <a:ext cx="393192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an empty test database</a:t>
            </a:r>
          </a:p>
        </p:txBody>
      </p:sp>
      <p:sp>
        <p:nvSpPr>
          <p:cNvPr id="123" name="P123"/>
          <p:cNvSpPr/>
          <p:nvPr/>
        </p:nvSpPr>
        <p:spPr>
          <a:xfrm>
            <a:off x="4645152" y="3529584"/>
            <a:ext cx="393192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four hundred million rows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4343400"/>
            <a:ext cx="8010144" cy="10058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100% coverage under an unrealistic workload is still weak evidence.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1700" b="0" i="0" dirty="0">
                <a:solidFill>
                  <a:srgbClr val="5C4826"/>
                </a:solidFill>
              </a:rPr>
              <a:t>Evidence inherits the conditions under which it was obtained.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Ask what the evidence was collected under, not only what it says.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Evidence multiplies; independence does not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100" name="E100"/>
          <p:cNvSpPr/>
          <p:nvPr/>
        </p:nvSpPr>
        <p:spPr>
          <a:xfrm>
            <a:off x="872000" y="1120000"/>
            <a:ext cx="7400000" cy="9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5C4826"/>
                </a:solidFill>
              </a:rPr>
              <a:t>A thousand tests from one mistaken interpretation are not a thousand reasons.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900" b="1" i="1" dirty="0">
                <a:solidFill>
                  <a:srgbClr val="5C4826"/>
                </a:solidFill>
              </a:rPr>
              <a:t>They are one reason, repeated.</a:t>
            </a:r>
          </a:p>
        </p:txBody>
      </p:sp>
      <p:sp>
        <p:nvSpPr>
          <p:cNvPr id="110" name="P110"/>
          <p:cNvSpPr/>
          <p:nvPr/>
        </p:nvSpPr>
        <p:spPr>
          <a:xfrm>
            <a:off x="872000" y="23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Independent evidence, resting on different assumptions, reduces shared error.</a:t>
            </a:r>
          </a:p>
        </p:txBody>
      </p:sp>
      <p:sp>
        <p:nvSpPr>
          <p:cNvPr id="111" name="P111"/>
          <p:cNvSpPr/>
          <p:nvPr/>
        </p:nvSpPr>
        <p:spPr>
          <a:xfrm>
            <a:off x="872000" y="30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Ask of every body of evidence: what assumptions does it inherit?</a:t>
            </a:r>
          </a:p>
        </p:txBody>
      </p:sp>
      <p:sp>
        <p:nvSpPr>
          <p:cNvPr id="112" name="P112"/>
          <p:cNvSpPr/>
          <p:nvPr/>
        </p:nvSpPr>
        <p:spPr>
          <a:xfrm>
            <a:off x="872000" y="3780000"/>
            <a:ext cx="7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50" b="0" i="0" dirty="0">
                <a:solidFill>
                  <a:srgbClr val="000000"/>
                </a:solidFill>
              </a:rPr>
              <a:t>Strong validation triangulates — several kinds of evidence whose failure modes are uncorrelated.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Strength grows with the diversity of the assumptions, not with the count.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🧙  MAGE Moment: GenAI can make weak evidence very cheap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572000" y="900000"/>
            <a:ext cx="20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110" name="P110"/>
          <p:cNvSpPr/>
          <p:nvPr/>
        </p:nvSpPr>
        <p:spPr>
          <a:xfrm>
            <a:off x="80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Agent interpretation X</a:t>
            </a:r>
          </a:p>
        </p:txBody>
      </p:sp>
      <p:cxnSp>
        <p:nvCxnSpPr>
          <p:cNvPr id="111" name="C111"/>
          <p:cNvCxnSpPr/>
          <p:nvPr/>
        </p:nvCxnSpPr>
        <p:spPr>
          <a:xfrm>
            <a:off x="250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2" name="P112"/>
          <p:cNvSpPr/>
          <p:nvPr/>
        </p:nvSpPr>
        <p:spPr>
          <a:xfrm>
            <a:off x="80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10,000 generated tests</a:t>
            </a:r>
          </a:p>
        </p:txBody>
      </p:sp>
      <p:cxnSp>
        <p:nvCxnSpPr>
          <p:cNvPr id="113" name="C113"/>
          <p:cNvCxnSpPr/>
          <p:nvPr/>
        </p:nvCxnSpPr>
        <p:spPr>
          <a:xfrm>
            <a:off x="250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14" name="P114"/>
          <p:cNvSpPr/>
          <p:nvPr/>
        </p:nvSpPr>
        <p:spPr>
          <a:xfrm>
            <a:off x="80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A</a:t>
            </a:r>
          </a:p>
        </p:txBody>
      </p:sp>
      <p:sp>
        <p:nvSpPr>
          <p:cNvPr id="120" name="P120"/>
          <p:cNvSpPr/>
          <p:nvPr/>
        </p:nvSpPr>
        <p:spPr>
          <a:xfrm>
            <a:off x="4940000" y="190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Independent model Y</a:t>
            </a:r>
          </a:p>
        </p:txBody>
      </p:sp>
      <p:cxnSp>
        <p:nvCxnSpPr>
          <p:cNvPr id="121" name="C121"/>
          <p:cNvCxnSpPr/>
          <p:nvPr/>
        </p:nvCxnSpPr>
        <p:spPr>
          <a:xfrm>
            <a:off x="6640000" y="247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4940000" y="2850000"/>
            <a:ext cx="3400000" cy="5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000000"/>
                </a:solidFill>
              </a:rPr>
              <a:t>analysis</a:t>
            </a:r>
          </a:p>
        </p:txBody>
      </p:sp>
      <p:cxnSp>
        <p:nvCxnSpPr>
          <p:cNvPr id="123" name="C123"/>
          <p:cNvCxnSpPr/>
          <p:nvPr/>
        </p:nvCxnSpPr>
        <p:spPr>
          <a:xfrm>
            <a:off x="6640000" y="342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4" name="P124"/>
          <p:cNvSpPr/>
          <p:nvPr/>
        </p:nvSpPr>
        <p:spPr>
          <a:xfrm>
            <a:off x="4940000" y="3800000"/>
            <a:ext cx="340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000000"/>
                </a:solidFill>
              </a:rPr>
              <a:t>EVIDENCE B</a:t>
            </a:r>
          </a:p>
        </p:txBody>
      </p:sp>
      <p:sp>
        <p:nvSpPr>
          <p:cNvPr id="130" name="L130"/>
          <p:cNvSpPr/>
          <p:nvPr/>
        </p:nvSpPr>
        <p:spPr>
          <a:xfrm>
            <a:off x="2500000" y="1420000"/>
            <a:ext cx="2072000" cy="480000"/>
          </a:xfrm>
          <a:custGeom>
            <a:avLst/>
            <a:gdLst/>
            <a:ahLst/>
            <a:cxnLst/>
            <a:rect l="l" t="t" r="r" b="b"/>
            <a:pathLst>
              <a:path w="2072000" h="480000" fill="none">
                <a:moveTo>
                  <a:pt x="2072000" y="0"/>
                </a:moveTo>
                <a:lnTo>
                  <a:pt x="0" y="0"/>
                </a:lnTo>
                <a:lnTo>
                  <a:pt x="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L131"/>
          <p:cNvSpPr/>
          <p:nvPr/>
        </p:nvSpPr>
        <p:spPr>
          <a:xfrm>
            <a:off x="4572000" y="1420000"/>
            <a:ext cx="2068000" cy="480000"/>
          </a:xfrm>
          <a:custGeom>
            <a:avLst/>
            <a:gdLst/>
            <a:ahLst/>
            <a:cxnLst/>
            <a:rect l="l" t="t" r="r" b="b"/>
            <a:pathLst>
              <a:path w="2068000" h="480000" fill="none">
                <a:moveTo>
                  <a:pt x="0" y="0"/>
                </a:moveTo>
                <a:lnTo>
                  <a:pt x="2068000" y="0"/>
                </a:lnTo>
                <a:lnTo>
                  <a:pt x="2068000" y="480000"/>
                </a:lnTo>
              </a:path>
            </a:pathLst>
          </a:custGeom>
          <a:noFill/>
          <a:ln w="38100">
            <a:solidFill>
              <a:srgbClr val="8E6F3E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140"/>
          <p:cNvSpPr txBox="1"/>
          <p:nvPr/>
        </p:nvSpPr>
        <p:spPr>
          <a:xfrm>
            <a:off x="800000" y="4440000"/>
            <a:ext cx="754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Two branches on different assumptions catch each other's mistakes. Ten thousand tests on ONE interpretation are one reason, repeated.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687568"/>
            <a:ext cx="8595360" cy="76809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An agent can cheaply produce 10,000 tests.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If all inherit the same mistaken interpretation, what did we learn?</a:t>
            </a:r>
          </a:p>
        </p:txBody>
      </p:sp>
      <p:sp>
        <p:nvSpPr>
          <p:cNvPr id="190" name="T190"/>
          <p:cNvSpPr txBox="1"/>
          <p:nvPr/>
        </p:nvSpPr>
        <p:spPr>
          <a:xfrm>
            <a:off x="566928" y="4983480"/>
            <a:ext cx="801014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Section 3's MAGE Moment was about the CAPACITY of a mechanism: human attention runs out.</a:t>
            </a:r>
          </a:p>
          <a:p>
            <a:pPr algn="ctr">
              <a:spcBef>
                <a:spcPts val="80"/>
              </a:spcBef>
              <a:buNone/>
            </a:pPr>
            <a:r>
              <a:rPr lang="en-US" sz="1550" b="0" i="1" dirty="0">
                <a:solidFill>
                  <a:srgbClr val="555960"/>
                </a:solidFill>
              </a:rPr>
              <a:t>This one is about the STRENGTH of evidence: volume is not independence.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40000"/>
            <a:ext cx="7772400" cy="14500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When is the evidence enough?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33</a:t>
            </a:fld>
            <a:endParaRPr lang="en-US"/>
          </a:p>
        </p:txBody>
      </p:sp>
      <p:sp>
        <p:nvSpPr>
          <p:cNvPr id="100" name="T10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>SECTION 6</a:t>
            </a:r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endParaRPr/>
          </a:p>
        </p:txBody>
      </p:sp>
      <p:sp>
        <p:nvSpPr>
          <p:cNvPr id="102" name="T102"/>
          <p:cNvSpPr txBox="1"/>
          <p:nvPr/>
        </p:nvSpPr>
        <p:spPr>
          <a:xfrm>
            <a:off x="685800" y="38862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200" b="0" i="1" dirty="0">
                <a:solidFill>
                  <a:srgbClr val="555960"/>
                </a:solidFill>
              </a:rPr>
              <a:t>Judge margin, containment, and residual uncertainty against what is at stake.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Enough is judged against what is at stake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34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80000" y="112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Evidence is judged against consequence.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The same residual uncertainty can justify delivery for a scratchpad and forbid it for a medical device.</a:t>
            </a:r>
          </a:p>
        </p:txBody>
      </p:sp>
      <p:sp>
        <p:nvSpPr>
          <p:cNvPr id="101" name="P101"/>
          <p:cNvSpPr/>
          <p:nvPr/>
        </p:nvSpPr>
        <p:spPr>
          <a:xfrm>
            <a:off x="680000" y="228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Some uncertainty is resolved after delivery.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Use in the real environment generates knowledge that would have been expensive, or even impossible, to obtain before delivery.</a:t>
            </a:r>
          </a:p>
        </p:txBody>
      </p:sp>
      <p:sp>
        <p:nvSpPr>
          <p:cNvPr id="102" name="P102"/>
          <p:cNvSpPr/>
          <p:nvPr/>
        </p:nvSpPr>
        <p:spPr>
          <a:xfrm>
            <a:off x="680000" y="3440000"/>
            <a:ext cx="794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000000"/>
                </a:solidFill>
              </a:rPr>
              <a:t>Operational evidence can reopen the decision.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000000"/>
                </a:solidFill>
              </a:rPr>
              <a:t>A justification made under an old state of knowledge cannot simply be reused under a new one.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does not end at first delivery — evidence keeps arriving.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Passing the threshold is not the same as having margin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D8FB91C-FDDC-412A-8E29-887AB79B35D3}" type="slidenum">
              <a:rPr lang="en-US" smtClean="0"/>
              <a:t>1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566928" y="932688"/>
            <a:ext cx="8010144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SPECIFICATION: p99 latency ≤ 500 ms</a:t>
            </a:r>
          </a:p>
        </p:txBody>
      </p:sp>
      <p:sp>
        <p:nvSpPr>
          <p:cNvPr id="200" name="T200"/>
          <p:cNvSpPr txBox="1"/>
          <p:nvPr/>
        </p:nvSpPr>
        <p:spPr>
          <a:xfrm>
            <a:off x="3379988" y="1536192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measured: 420 ms</a:t>
            </a:r>
          </a:p>
        </p:txBody>
      </p:sp>
      <p:sp>
        <p:nvSpPr>
          <p:cNvPr id="201" name="R201"/>
          <p:cNvSpPr/>
          <p:nvPr/>
        </p:nvSpPr>
        <p:spPr>
          <a:xfrm>
            <a:off x="822960" y="1920240"/>
            <a:ext cx="6400800" cy="1554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2" name="R202"/>
          <p:cNvSpPr/>
          <p:nvPr/>
        </p:nvSpPr>
        <p:spPr>
          <a:xfrm>
            <a:off x="7287768" y="1920240"/>
            <a:ext cx="1289304" cy="155448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3" name="R203"/>
          <p:cNvSpPr/>
          <p:nvPr/>
        </p:nvSpPr>
        <p:spPr>
          <a:xfrm>
            <a:off x="7187184" y="1773936"/>
            <a:ext cx="82296" cy="4480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4" name="M204"/>
          <p:cNvSpPr/>
          <p:nvPr/>
        </p:nvSpPr>
        <p:spPr>
          <a:xfrm>
            <a:off x="6168908" y="1819656"/>
            <a:ext cx="73152" cy="35661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205" name="T205"/>
          <p:cNvSpPr txBox="1"/>
          <p:nvPr/>
        </p:nvSpPr>
        <p:spPr>
          <a:xfrm>
            <a:off x="868680" y="2139696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GOOD</a:t>
            </a:r>
          </a:p>
        </p:txBody>
      </p:sp>
      <p:sp>
        <p:nvSpPr>
          <p:cNvPr id="206" name="T206"/>
          <p:cNvSpPr txBox="1"/>
          <p:nvPr/>
        </p:nvSpPr>
        <p:spPr>
          <a:xfrm>
            <a:off x="7287768" y="2139696"/>
            <a:ext cx="1289304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FAILURE</a:t>
            </a:r>
          </a:p>
        </p:txBody>
      </p:sp>
      <p:sp>
        <p:nvSpPr>
          <p:cNvPr id="207" name="T207"/>
          <p:cNvSpPr txBox="1"/>
          <p:nvPr/>
        </p:nvSpPr>
        <p:spPr>
          <a:xfrm>
            <a:off x="6766560" y="153619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8E6F3E"/>
                </a:solidFill>
              </a:rPr>
              <a:t>limit</a:t>
            </a:r>
          </a:p>
        </p:txBody>
      </p:sp>
      <p:sp>
        <p:nvSpPr>
          <p:cNvPr id="208" name="T208"/>
          <p:cNvSpPr txBox="1"/>
          <p:nvPr/>
        </p:nvSpPr>
        <p:spPr>
          <a:xfrm>
            <a:off x="3379988" y="230428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80 ms of observed margin</a:t>
            </a:r>
          </a:p>
        </p:txBody>
      </p:sp>
      <p:sp>
        <p:nvSpPr>
          <p:cNvPr id="300" name="T300"/>
          <p:cNvSpPr txBox="1"/>
          <p:nvPr/>
        </p:nvSpPr>
        <p:spPr>
          <a:xfrm>
            <a:off x="4385536" y="2679192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measured: 499 ms</a:t>
            </a:r>
          </a:p>
        </p:txBody>
      </p:sp>
      <p:sp>
        <p:nvSpPr>
          <p:cNvPr id="301" name="R301"/>
          <p:cNvSpPr/>
          <p:nvPr/>
        </p:nvSpPr>
        <p:spPr>
          <a:xfrm>
            <a:off x="822960" y="3063240"/>
            <a:ext cx="6400800" cy="1554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302" name="R302"/>
          <p:cNvSpPr/>
          <p:nvPr/>
        </p:nvSpPr>
        <p:spPr>
          <a:xfrm>
            <a:off x="7287768" y="3063240"/>
            <a:ext cx="1289304" cy="155448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303" name="R303"/>
          <p:cNvSpPr/>
          <p:nvPr/>
        </p:nvSpPr>
        <p:spPr>
          <a:xfrm>
            <a:off x="7187184" y="2916936"/>
            <a:ext cx="82296" cy="44805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304" name="M304"/>
          <p:cNvSpPr/>
          <p:nvPr/>
        </p:nvSpPr>
        <p:spPr>
          <a:xfrm>
            <a:off x="7174456" y="2962656"/>
            <a:ext cx="73152" cy="356616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305" name="T305"/>
          <p:cNvSpPr txBox="1"/>
          <p:nvPr/>
        </p:nvSpPr>
        <p:spPr>
          <a:xfrm>
            <a:off x="868680" y="3282696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350" b="1" i="0" dirty="0">
                <a:solidFill>
                  <a:srgbClr val="57534E"/>
                </a:solidFill>
              </a:rPr>
              <a:t>GOOD</a:t>
            </a:r>
          </a:p>
        </p:txBody>
      </p:sp>
      <p:sp>
        <p:nvSpPr>
          <p:cNvPr id="306" name="T306"/>
          <p:cNvSpPr txBox="1"/>
          <p:nvPr/>
        </p:nvSpPr>
        <p:spPr>
          <a:xfrm>
            <a:off x="7287768" y="3282696"/>
            <a:ext cx="1289304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FAILURE</a:t>
            </a:r>
          </a:p>
        </p:txBody>
      </p:sp>
      <p:sp>
        <p:nvSpPr>
          <p:cNvPr id="308" name="T308"/>
          <p:cNvSpPr txBox="1"/>
          <p:nvPr/>
        </p:nvSpPr>
        <p:spPr>
          <a:xfrm>
            <a:off x="4385536" y="344728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1 ms of observed margin</a:t>
            </a:r>
          </a:p>
        </p:txBody>
      </p:sp>
      <p:sp>
        <p:nvSpPr>
          <p:cNvPr id="140" name="E140"/>
          <p:cNvSpPr/>
          <p:nvPr/>
        </p:nvSpPr>
        <p:spPr>
          <a:xfrm>
            <a:off x="566928" y="3886200"/>
            <a:ext cx="8010144" cy="77724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Both are green. Is 499 ms equally strong evidence that we are ready?</a:t>
            </a:r>
          </a:p>
        </p:txBody>
      </p:sp>
      <p:sp>
        <p:nvSpPr>
          <p:cNvPr id="150" name="T150"/>
          <p:cNvSpPr txBox="1"/>
          <p:nvPr/>
        </p:nvSpPr>
        <p:spPr>
          <a:xfrm>
            <a:off x="566928" y="4828032"/>
            <a:ext cx="8010144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The measured separation is not automatically the defensible margin: workloads vary, measurements have spread, forecasts are uncertain, and utilization grows.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Engineering asks how much room remains for what we do not know.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Nearby inputs need not produce nearby behaviors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402CEF7-5CC7-4843-884F-7A9F8B2B78A6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393192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PHYSICAL SYSTEM</a:t>
            </a:r>
          </a:p>
        </p:txBody>
      </p:sp>
      <p:sp>
        <p:nvSpPr>
          <p:cNvPr id="101" name="B101"/>
          <p:cNvSpPr/>
          <p:nvPr/>
        </p:nvSpPr>
        <p:spPr>
          <a:xfrm>
            <a:off x="4645152" y="960120"/>
            <a:ext cx="393192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SOFTWARE SYSTEM</a:t>
            </a:r>
          </a:p>
        </p:txBody>
      </p:sp>
      <p:sp>
        <p:nvSpPr>
          <p:cNvPr id="110" name="R110"/>
          <p:cNvSpPr/>
          <p:nvPr/>
        </p:nvSpPr>
        <p:spPr>
          <a:xfrm>
            <a:off x="749808" y="3108960"/>
            <a:ext cx="530352" cy="2743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1" name="R111"/>
          <p:cNvSpPr/>
          <p:nvPr/>
        </p:nvSpPr>
        <p:spPr>
          <a:xfrm>
            <a:off x="1499616" y="2907792"/>
            <a:ext cx="530352" cy="47548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2" name="R112"/>
          <p:cNvSpPr/>
          <p:nvPr/>
        </p:nvSpPr>
        <p:spPr>
          <a:xfrm>
            <a:off x="2249424" y="2688336"/>
            <a:ext cx="530352" cy="694944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3" name="R113"/>
          <p:cNvSpPr/>
          <p:nvPr/>
        </p:nvSpPr>
        <p:spPr>
          <a:xfrm>
            <a:off x="2999232" y="2450592"/>
            <a:ext cx="530352" cy="93268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14" name="R114"/>
          <p:cNvSpPr/>
          <p:nvPr/>
        </p:nvSpPr>
        <p:spPr>
          <a:xfrm>
            <a:off x="3749040" y="2194560"/>
            <a:ext cx="530352" cy="11887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0" name="L120"/>
          <p:cNvSpPr/>
          <p:nvPr/>
        </p:nvSpPr>
        <p:spPr>
          <a:xfrm>
            <a:off x="749808" y="2084832"/>
            <a:ext cx="3255264" cy="457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1" name="T121"/>
          <p:cNvSpPr txBox="1"/>
          <p:nvPr/>
        </p:nvSpPr>
        <p:spPr>
          <a:xfrm>
            <a:off x="749808" y="1828800"/>
            <a:ext cx="3255264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limit</a:t>
            </a:r>
          </a:p>
        </p:txBody>
      </p:sp>
      <p:sp>
        <p:nvSpPr>
          <p:cNvPr id="122" name="T122"/>
          <p:cNvSpPr txBox="1"/>
          <p:nvPr/>
        </p:nvSpPr>
        <p:spPr>
          <a:xfrm>
            <a:off x="566928" y="3474720"/>
            <a:ext cx="3931920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a little more load, a little more deflection — the response moves in proportion</a:t>
            </a:r>
          </a:p>
        </p:txBody>
      </p:sp>
      <p:sp>
        <p:nvSpPr>
          <p:cNvPr id="130" name="P130"/>
          <p:cNvSpPr/>
          <p:nvPr/>
        </p:nvSpPr>
        <p:spPr>
          <a:xfrm>
            <a:off x="4645152" y="1572768"/>
            <a:ext cx="155448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5C4826"/>
                </a:solidFill>
              </a:rPr>
              <a:t>input A</a:t>
            </a:r>
          </a:p>
        </p:txBody>
      </p:sp>
      <p:cxnSp>
        <p:nvCxnSpPr>
          <p:cNvPr id="131" name="C131"/>
          <p:cNvCxnSpPr/>
          <p:nvPr/>
        </p:nvCxnSpPr>
        <p:spPr>
          <a:xfrm>
            <a:off x="6263640" y="1819656"/>
            <a:ext cx="384048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2" name="P132"/>
          <p:cNvSpPr/>
          <p:nvPr/>
        </p:nvSpPr>
        <p:spPr>
          <a:xfrm>
            <a:off x="6766560" y="1572768"/>
            <a:ext cx="1810512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0" i="0" dirty="0">
                <a:solidFill>
                  <a:srgbClr val="5C4826"/>
                </a:solidFill>
              </a:rPr>
              <a:t>correct</a:t>
            </a:r>
          </a:p>
        </p:txBody>
      </p:sp>
      <p:sp>
        <p:nvSpPr>
          <p:cNvPr id="133" name="P133"/>
          <p:cNvSpPr/>
          <p:nvPr/>
        </p:nvSpPr>
        <p:spPr>
          <a:xfrm>
            <a:off x="4645152" y="2487168"/>
            <a:ext cx="1554480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input A′</a:t>
            </a:r>
          </a:p>
        </p:txBody>
      </p:sp>
      <p:cxnSp>
        <p:nvCxnSpPr>
          <p:cNvPr id="134" name="C134"/>
          <p:cNvCxnSpPr/>
          <p:nvPr/>
        </p:nvCxnSpPr>
        <p:spPr>
          <a:xfrm>
            <a:off x="6263640" y="2734056"/>
            <a:ext cx="384048" cy="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5" name="P135"/>
          <p:cNvSpPr/>
          <p:nvPr/>
        </p:nvSpPr>
        <p:spPr>
          <a:xfrm>
            <a:off x="6766560" y="2432304"/>
            <a:ext cx="1810512" cy="621792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a completely different path</a:t>
            </a:r>
          </a:p>
        </p:txBody>
      </p:sp>
      <p:cxnSp>
        <p:nvCxnSpPr>
          <p:cNvPr id="136" name="C136"/>
          <p:cNvCxnSpPr/>
          <p:nvPr/>
        </p:nvCxnSpPr>
        <p:spPr>
          <a:xfrm>
            <a:off x="7671816" y="3054096"/>
            <a:ext cx="0" cy="292608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37" name="P137"/>
          <p:cNvSpPr/>
          <p:nvPr/>
        </p:nvSpPr>
        <p:spPr>
          <a:xfrm>
            <a:off x="6309360" y="3346704"/>
            <a:ext cx="2267712" cy="530352"/>
          </a:xfrm>
          <a:prstGeom prst="rect">
            <a:avLst/>
          </a:prstGeom>
          <a:solidFill>
            <a:srgbClr val="FBF8F2"/>
          </a:solidFill>
          <a:ln w="254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5C4826"/>
                </a:solidFill>
              </a:rPr>
              <a:t>consequential failure</a:t>
            </a:r>
          </a:p>
        </p:txBody>
      </p:sp>
      <p:sp>
        <p:nvSpPr>
          <p:cNvPr id="138" name="T138"/>
          <p:cNvSpPr txBox="1"/>
          <p:nvPr/>
        </p:nvSpPr>
        <p:spPr>
          <a:xfrm>
            <a:off x="4645152" y="3968496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50" b="0" i="1" dirty="0">
                <a:solidFill>
                  <a:srgbClr val="555960"/>
                </a:solidFill>
              </a:rPr>
              <a:t>one bit apart — the behavior is not</a:t>
            </a:r>
          </a:p>
        </p:txBody>
      </p:sp>
      <p:sp>
        <p:nvSpPr>
          <p:cNvPr id="140" name="P140"/>
          <p:cNvSpPr/>
          <p:nvPr/>
        </p:nvSpPr>
        <p:spPr>
          <a:xfrm>
            <a:off x="566928" y="4434840"/>
            <a:ext cx="26151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999 → 1000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crosses a boundary</a:t>
            </a:r>
          </a:p>
        </p:txBody>
      </p:sp>
      <p:sp>
        <p:nvSpPr>
          <p:cNvPr id="141" name="P141"/>
          <p:cNvSpPr/>
          <p:nvPr/>
        </p:nvSpPr>
        <p:spPr>
          <a:xfrm>
            <a:off x="3264408" y="4434840"/>
            <a:ext cx="26151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one missing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authorization check</a:t>
            </a:r>
          </a:p>
        </p:txBody>
      </p:sp>
      <p:sp>
        <p:nvSpPr>
          <p:cNvPr id="142" name="P142"/>
          <p:cNvSpPr/>
          <p:nvPr/>
        </p:nvSpPr>
        <p:spPr>
          <a:xfrm>
            <a:off x="5961888" y="4434840"/>
            <a:ext cx="26151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one malformed message</a:t>
            </a:r>
          </a:p>
          <a:p>
            <a:pPr algn="ctr">
              <a:spcBef>
                <a:spcPts val="60"/>
              </a:spcBef>
              <a:buNone/>
            </a:pPr>
            <a:r>
              <a:rPr lang="en-US" sz="1500" b="0" i="0" dirty="0">
                <a:solidFill>
                  <a:srgbClr val="5C4826"/>
                </a:solidFill>
              </a:rPr>
              <a:t>reaches an unreachable state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>Nature does not leap. Software does.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Controls bound what a failure can reach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DAAE14EE-199A-451B-AC1F-9B5FB2A103C1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393192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WITHOUT CONTROLS</a:t>
            </a:r>
          </a:p>
        </p:txBody>
      </p:sp>
      <p:sp>
        <p:nvSpPr>
          <p:cNvPr id="101" name="B101"/>
          <p:cNvSpPr/>
          <p:nvPr/>
        </p:nvSpPr>
        <p:spPr>
          <a:xfrm>
            <a:off x="4645152" y="960120"/>
            <a:ext cx="393192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WITH CONTROLS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536192"/>
            <a:ext cx="3931920" cy="1600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?  →  ?  →  ?  →  ?  →  ?</a:t>
            </a:r>
          </a:p>
        </p:txBody>
      </p:sp>
      <p:sp>
        <p:nvSpPr>
          <p:cNvPr id="111" name="B111"/>
          <p:cNvSpPr/>
          <p:nvPr/>
        </p:nvSpPr>
        <p:spPr>
          <a:xfrm>
            <a:off x="777240" y="1691640"/>
            <a:ext cx="105156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FAULT</a:t>
            </a:r>
          </a:p>
        </p:txBody>
      </p:sp>
      <p:sp>
        <p:nvSpPr>
          <p:cNvPr id="112" name="T112"/>
          <p:cNvSpPr txBox="1"/>
          <p:nvPr/>
        </p:nvSpPr>
        <p:spPr>
          <a:xfrm>
            <a:off x="566928" y="320040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unknown blast radius</a:t>
            </a:r>
          </a:p>
        </p:txBody>
      </p:sp>
      <p:sp>
        <p:nvSpPr>
          <p:cNvPr id="120" name="P120"/>
          <p:cNvSpPr/>
          <p:nvPr/>
        </p:nvSpPr>
        <p:spPr>
          <a:xfrm>
            <a:off x="4645152" y="1536192"/>
            <a:ext cx="3931920" cy="1600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1" name="B121"/>
          <p:cNvSpPr/>
          <p:nvPr/>
        </p:nvSpPr>
        <p:spPr>
          <a:xfrm>
            <a:off x="4846320" y="1691640"/>
            <a:ext cx="105156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FFFFFF"/>
                </a:solidFill>
              </a:rPr>
              <a:t>FAULT</a:t>
            </a:r>
          </a:p>
        </p:txBody>
      </p:sp>
      <p:sp>
        <p:nvSpPr>
          <p:cNvPr id="122" name="B122"/>
          <p:cNvSpPr/>
          <p:nvPr/>
        </p:nvSpPr>
        <p:spPr>
          <a:xfrm>
            <a:off x="4846320" y="2194560"/>
            <a:ext cx="1417320" cy="658368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1" i="0" dirty="0">
                <a:solidFill>
                  <a:srgbClr val="5C4826"/>
                </a:solidFill>
              </a:rPr>
              <a:t>COMPONENT</a:t>
            </a:r>
          </a:p>
        </p:txBody>
      </p:sp>
      <p:sp>
        <p:nvSpPr>
          <p:cNvPr id="123" name="W123"/>
          <p:cNvSpPr/>
          <p:nvPr/>
        </p:nvSpPr>
        <p:spPr>
          <a:xfrm>
            <a:off x="6419088" y="1664208"/>
            <a:ext cx="91440" cy="13258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>
              <a:buNone/>
            </a:pPr>
          </a:p>
        </p:txBody>
      </p:sp>
      <p:sp>
        <p:nvSpPr>
          <p:cNvPr id="125" name="T125"/>
          <p:cNvSpPr txBox="1"/>
          <p:nvPr/>
        </p:nvSpPr>
        <p:spPr>
          <a:xfrm>
            <a:off x="6236208" y="2048256"/>
            <a:ext cx="45720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126" name="B126"/>
          <p:cNvSpPr/>
          <p:nvPr/>
        </p:nvSpPr>
        <p:spPr>
          <a:xfrm>
            <a:off x="6675120" y="2194560"/>
            <a:ext cx="1719072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50" b="0" i="0" dirty="0">
                <a:solidFill>
                  <a:srgbClr val="5C4826"/>
                </a:solidFill>
              </a:rPr>
              <a:t>rest of the system</a:t>
            </a:r>
          </a:p>
        </p:txBody>
      </p:sp>
      <p:sp>
        <p:nvSpPr>
          <p:cNvPr id="127" name="T127"/>
          <p:cNvSpPr txBox="1"/>
          <p:nvPr/>
        </p:nvSpPr>
        <p:spPr>
          <a:xfrm>
            <a:off x="4645152" y="320040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>contained at the interface</a:t>
            </a:r>
          </a:p>
        </p:txBody>
      </p:sp>
      <p:sp>
        <p:nvSpPr>
          <p:cNvPr id="130" name="P130"/>
          <p:cNvSpPr/>
          <p:nvPr/>
        </p:nvSpPr>
        <p:spPr>
          <a:xfrm>
            <a:off x="566928" y="3584448"/>
            <a:ext cx="8010144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typed interfaces · process isolation · containers · permissions · resource quotas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600" b="0" i="0" dirty="0">
                <a:solidFill>
                  <a:srgbClr val="5C4826"/>
                </a:solidFill>
              </a:rPr>
              <a:t>transactions · timeouts · circuit breakers · memory safety · staged rollout · rollback</a:t>
            </a:r>
          </a:p>
        </p:txBody>
      </p:sp>
      <p:sp>
        <p:nvSpPr>
          <p:cNvPr id="140" name="E140"/>
          <p:cNvSpPr/>
          <p:nvPr/>
        </p:nvSpPr>
        <p:spPr>
          <a:xfrm>
            <a:off x="566928" y="4572000"/>
            <a:ext cx="8010144" cy="9601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Controls do not prevent failure.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50" b="0" i="0" dirty="0">
                <a:solidFill>
                  <a:srgbClr val="5C4826"/>
                </a:solidFill>
              </a:rPr>
              <a:t>They bound its consequences — which is what makes incomplete evidence safer to act on.</a:t>
            </a:r>
          </a:p>
        </p:txBody>
      </p:sp>
      <p:sp>
        <p:nvSpPr>
          <p:cNvPr id="15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FFFFFF"/>
                </a:solidFill>
              </a:rPr>
              <a:t>Architecture decides how defensible incomplete validation can be.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Two kinds of uncertainty, two engineering tools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B25A21-F9D6-4AC1-A9CC-96039A3DDC6D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1051560"/>
            <a:ext cx="3931920" cy="5029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QUANTITATIVE BEHAVIOR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627632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latency · throughput · error rate</a:t>
            </a:r>
          </a:p>
          <a:p>
            <a:pPr algn="ctr">
              <a:spcBef>
                <a:spcPts val="350"/>
              </a:spcBef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What margin separates us from failure?</a:t>
            </a:r>
          </a:p>
        </p:txBody>
      </p:sp>
      <p:sp>
        <p:nvSpPr>
          <p:cNvPr id="101" name="B101"/>
          <p:cNvSpPr/>
          <p:nvPr/>
        </p:nvSpPr>
        <p:spPr>
          <a:xfrm>
            <a:off x="4645152" y="1051560"/>
            <a:ext cx="3931920" cy="5029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FFFFFF"/>
                </a:solidFill>
              </a:rPr>
              <a:t>DISCRETE, UNANTICIPATED BEHAVIOR</a:t>
            </a:r>
          </a:p>
        </p:txBody>
      </p:sp>
      <p:sp>
        <p:nvSpPr>
          <p:cNvPr id="111" name="P111"/>
          <p:cNvSpPr/>
          <p:nvPr/>
        </p:nvSpPr>
        <p:spPr>
          <a:xfrm>
            <a:off x="4645152" y="1627632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t"/>
          <a:lstStyle/>
          <a:p>
            <a:pPr algn="ctr"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an authorization bypass · a duplicate charge</a:t>
            </a:r>
          </a:p>
          <a:p>
            <a:pPr algn="ctr">
              <a:spcBef>
                <a:spcPts val="350"/>
              </a:spcBef>
              <a:buNone/>
            </a:pPr>
            <a:r>
              <a:rPr lang="en-US" sz="1750" b="1" i="0" dirty="0">
                <a:solidFill>
                  <a:srgbClr val="5C4826"/>
                </a:solidFill>
              </a:rPr>
              <a:t>What controls bound the consequence?</a:t>
            </a:r>
          </a:p>
        </p:txBody>
      </p:sp>
      <p:sp>
        <p:nvSpPr>
          <p:cNvPr id="120" name="E120"/>
          <p:cNvSpPr/>
          <p:nvPr/>
        </p:nvSpPr>
        <p:spPr>
          <a:xfrm>
            <a:off x="566928" y="2971800"/>
            <a:ext cx="8010144" cy="9144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50" b="1" i="0" dirty="0">
                <a:solidFill>
                  <a:srgbClr val="5C4826"/>
                </a:solidFill>
              </a:rPr>
              <a:t>There is no numerical distance from a latent authorization bypass.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50" b="0" i="0" dirty="0">
                <a:solidFill>
                  <a:srgbClr val="5C4826"/>
                </a:solidFill>
              </a:rPr>
              <a:t>Where margin cannot be measured, containment is the engineering answer.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566928" y="4114800"/>
            <a:ext cx="8010144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A system with weaker evidence can sometimes ship responsibly — staged rollout, a feature flag, transaction limits, a small population, rollback. A system with stronger evidence can warrant more caution, because one missed behavior has unbounded reach.</a:t>
            </a:r>
          </a:p>
        </p:txBody>
      </p:sp>
      <p:sp>
        <p:nvSpPr>
          <p:cNvPr id="14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Margin for what we can measure. Containment for what we did not foresee.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Before delivering, ask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FD9D981-50F8-4787-9A99-5F761D3CA02F}" type="slidenum">
              <a:rPr lang="en-US" smtClean="0"/>
              <a:t>1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566928" y="960120"/>
            <a:ext cx="25146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ASK</a:t>
            </a:r>
          </a:p>
        </p:txBody>
      </p:sp>
      <p:sp>
        <p:nvSpPr>
          <p:cNvPr id="101" name="B101"/>
          <p:cNvSpPr/>
          <p:nvPr/>
        </p:nvSpPr>
        <p:spPr>
          <a:xfrm>
            <a:off x="3154680" y="960120"/>
            <a:ext cx="288036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EVIDENCE AVAILABLE</a:t>
            </a:r>
          </a:p>
        </p:txBody>
      </p:sp>
      <p:sp>
        <p:nvSpPr>
          <p:cNvPr id="102" name="B102"/>
          <p:cNvSpPr/>
          <p:nvPr/>
        </p:nvSpPr>
        <p:spPr>
          <a:xfrm>
            <a:off x="6108192" y="960120"/>
            <a:ext cx="246888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>IF THE ANSWER IS NO</a:t>
            </a:r>
          </a:p>
        </p:txBody>
      </p:sp>
      <p:sp>
        <p:nvSpPr>
          <p:cNvPr id="110" name="P110"/>
          <p:cNvSpPr/>
          <p:nvPr/>
        </p:nvSpPr>
        <p:spPr>
          <a:xfrm>
            <a:off x="566928" y="142646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Claims covered?</a:t>
            </a:r>
          </a:p>
        </p:txBody>
      </p:sp>
      <p:sp>
        <p:nvSpPr>
          <p:cNvPr id="120" name="P120"/>
          <p:cNvSpPr/>
          <p:nvPr/>
        </p:nvSpPr>
        <p:spPr>
          <a:xfrm>
            <a:off x="3154680" y="142646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which claims lack evidence</a:t>
            </a:r>
          </a:p>
        </p:txBody>
      </p:sp>
      <p:sp>
        <p:nvSpPr>
          <p:cNvPr id="130" name="P130"/>
          <p:cNvSpPr/>
          <p:nvPr/>
        </p:nvSpPr>
        <p:spPr>
          <a:xfrm>
            <a:off x="6108192" y="142646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gather targeted evidence</a:t>
            </a:r>
          </a:p>
        </p:txBody>
      </p:sp>
      <p:sp>
        <p:nvSpPr>
          <p:cNvPr id="111" name="P111"/>
          <p:cNvSpPr/>
          <p:nvPr/>
        </p:nvSpPr>
        <p:spPr>
          <a:xfrm>
            <a:off x="566928" y="197510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Representative?</a:t>
            </a:r>
          </a:p>
        </p:txBody>
      </p:sp>
      <p:sp>
        <p:nvSpPr>
          <p:cNvPr id="121" name="P121"/>
          <p:cNvSpPr/>
          <p:nvPr/>
        </p:nvSpPr>
        <p:spPr>
          <a:xfrm>
            <a:off x="3154680" y="197510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delivery conditions represented</a:t>
            </a:r>
          </a:p>
        </p:txBody>
      </p:sp>
      <p:sp>
        <p:nvSpPr>
          <p:cNvPr id="131" name="P131"/>
          <p:cNvSpPr/>
          <p:nvPr/>
        </p:nvSpPr>
        <p:spPr>
          <a:xfrm>
            <a:off x="6108192" y="197510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measure under real conditions</a:t>
            </a:r>
          </a:p>
        </p:txBody>
      </p:sp>
      <p:sp>
        <p:nvSpPr>
          <p:cNvPr id="112" name="P112"/>
          <p:cNvSpPr/>
          <p:nvPr/>
        </p:nvSpPr>
        <p:spPr>
          <a:xfrm>
            <a:off x="566928" y="252374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Detection-capable?</a:t>
            </a:r>
          </a:p>
        </p:txBody>
      </p:sp>
      <p:sp>
        <p:nvSpPr>
          <p:cNvPr id="122" name="P122"/>
          <p:cNvSpPr/>
          <p:nvPr/>
        </p:nvSpPr>
        <p:spPr>
          <a:xfrm>
            <a:off x="3154680" y="252374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strong oracle · mutation score</a:t>
            </a:r>
          </a:p>
        </p:txBody>
      </p:sp>
      <p:sp>
        <p:nvSpPr>
          <p:cNvPr id="132" name="P132"/>
          <p:cNvSpPr/>
          <p:nvPr/>
        </p:nvSpPr>
        <p:spPr>
          <a:xfrm>
            <a:off x="6108192" y="252374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improve the mechanism</a:t>
            </a:r>
          </a:p>
        </p:txBody>
      </p:sp>
      <p:sp>
        <p:nvSpPr>
          <p:cNvPr id="113" name="P113"/>
          <p:cNvSpPr/>
          <p:nvPr/>
        </p:nvSpPr>
        <p:spPr>
          <a:xfrm>
            <a:off x="566928" y="307238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Independent?</a:t>
            </a:r>
          </a:p>
        </p:txBody>
      </p:sp>
      <p:sp>
        <p:nvSpPr>
          <p:cNvPr id="123" name="P123"/>
          <p:cNvSpPr/>
          <p:nvPr/>
        </p:nvSpPr>
        <p:spPr>
          <a:xfrm>
            <a:off x="3154680" y="307238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shared assumptions</a:t>
            </a:r>
          </a:p>
        </p:txBody>
      </p:sp>
      <p:sp>
        <p:nvSpPr>
          <p:cNvPr id="133" name="P133"/>
          <p:cNvSpPr/>
          <p:nvPr/>
        </p:nvSpPr>
        <p:spPr>
          <a:xfrm>
            <a:off x="6108192" y="307238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add a different line of evidence</a:t>
            </a:r>
          </a:p>
        </p:txBody>
      </p:sp>
      <p:sp>
        <p:nvSpPr>
          <p:cNvPr id="114" name="P114"/>
          <p:cNvSpPr/>
          <p:nvPr/>
        </p:nvSpPr>
        <p:spPr>
          <a:xfrm>
            <a:off x="566928" y="362102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Known failures left?</a:t>
            </a:r>
          </a:p>
        </p:txBody>
      </p:sp>
      <p:sp>
        <p:nvSpPr>
          <p:cNvPr id="124" name="P124"/>
          <p:cNvSpPr/>
          <p:nvPr/>
        </p:nvSpPr>
        <p:spPr>
          <a:xfrm>
            <a:off x="3154680" y="362102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severity · frequency · consequence</a:t>
            </a:r>
          </a:p>
        </p:txBody>
      </p:sp>
      <p:sp>
        <p:nvSpPr>
          <p:cNvPr id="134" name="P134"/>
          <p:cNvSpPr/>
          <p:nvPr/>
        </p:nvSpPr>
        <p:spPr>
          <a:xfrm>
            <a:off x="6108192" y="362102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change it or accept the risk</a:t>
            </a:r>
          </a:p>
        </p:txBody>
      </p:sp>
      <p:sp>
        <p:nvSpPr>
          <p:cNvPr id="115" name="P115"/>
          <p:cNvSpPr/>
          <p:nvPr/>
        </p:nvSpPr>
        <p:spPr>
          <a:xfrm>
            <a:off x="566928" y="4169664"/>
            <a:ext cx="25146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C4826"/>
                </a:solidFill>
              </a:rPr>
              <a:t>Residual acceptable?</a:t>
            </a:r>
          </a:p>
        </p:txBody>
      </p:sp>
      <p:sp>
        <p:nvSpPr>
          <p:cNvPr id="125" name="P125"/>
          <p:cNvSpPr/>
          <p:nvPr/>
        </p:nvSpPr>
        <p:spPr>
          <a:xfrm>
            <a:off x="3154680" y="4169664"/>
            <a:ext cx="288036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consequence · reversibility</a:t>
            </a:r>
          </a:p>
        </p:txBody>
      </p:sp>
      <p:sp>
        <p:nvSpPr>
          <p:cNvPr id="135" name="P135"/>
          <p:cNvSpPr/>
          <p:nvPr/>
        </p:nvSpPr>
        <p:spPr>
          <a:xfrm>
            <a:off x="6108192" y="4169664"/>
            <a:ext cx="246888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>deliver — or do not</a:t>
            </a:r>
          </a:p>
        </p:txBody>
      </p:sp>
      <p:sp>
        <p:nvSpPr>
          <p:cNvPr id="150" name="E150"/>
          <p:cNvSpPr/>
          <p:nvPr/>
        </p:nvSpPr>
        <p:spPr>
          <a:xfrm>
            <a:off x="566928" y="4846320"/>
            <a:ext cx="8010144" cy="73152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50" b="1" i="0" dirty="0">
                <a:solidFill>
                  <a:srgbClr val="5C4826"/>
                </a:solidFill>
              </a:rPr>
              <a:t>Metrics do not eliminate judgment. They discipline it.</a:t>
            </a:r>
          </a:p>
        </p:txBody>
      </p:sp>
      <p:sp>
        <p:nvSpPr>
          <p:cNvPr id="16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output is a decision, not a score.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What should we do now?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35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620000" y="980000"/>
            <a:ext cx="8000000" cy="11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50" b="1" i="0" dirty="0">
                <a:solidFill>
                  <a:srgbClr val="57534E"/>
                </a:solidFill>
              </a:rPr>
              <a:t>THE EVIDENCE ON THE TABLE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Property tests pass. A load model predicts p99 &lt; 500 ms, but production workload is untested.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0" i="0" dirty="0">
                <a:solidFill>
                  <a:srgbClr val="000000"/>
                </a:solidFill>
              </a:rPr>
              <a:t>One incident report suggests a rare double-charge. Consequence: real money. There is no transaction limit and no rollback path.</a:t>
            </a:r>
          </a:p>
        </p:txBody>
      </p:sp>
      <p:sp>
        <p:nvSpPr>
          <p:cNvPr id="110" name="B110"/>
          <p:cNvSpPr/>
          <p:nvPr/>
        </p:nvSpPr>
        <p:spPr>
          <a:xfrm>
            <a:off x="43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DELIVER</a:t>
            </a:r>
          </a:p>
        </p:txBody>
      </p:sp>
      <p:sp>
        <p:nvSpPr>
          <p:cNvPr id="111" name="B111"/>
          <p:cNvSpPr/>
          <p:nvPr/>
        </p:nvSpPr>
        <p:spPr>
          <a:xfrm>
            <a:off x="211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GATHER MORE</a:t>
            </a:r>
          </a:p>
        </p:txBody>
      </p:sp>
      <p:sp>
        <p:nvSpPr>
          <p:cNvPr id="112" name="B112"/>
          <p:cNvSpPr/>
          <p:nvPr/>
        </p:nvSpPr>
        <p:spPr>
          <a:xfrm>
            <a:off x="379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CHANGE</a:t>
            </a:r>
          </a:p>
        </p:txBody>
      </p:sp>
      <p:sp>
        <p:nvSpPr>
          <p:cNvPr id="113" name="B113"/>
          <p:cNvSpPr/>
          <p:nvPr/>
        </p:nvSpPr>
        <p:spPr>
          <a:xfrm>
            <a:off x="547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REVISIT UPSTREAM</a:t>
            </a:r>
          </a:p>
        </p:txBody>
      </p:sp>
      <p:sp>
        <p:nvSpPr>
          <p:cNvPr id="114" name="B114"/>
          <p:cNvSpPr/>
          <p:nvPr/>
        </p:nvSpPr>
        <p:spPr>
          <a:xfrm>
            <a:off x="7152000" y="3736227"/>
            <a:ext cx="1560000" cy="8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50" b="1" i="0" dirty="0">
                <a:solidFill>
                  <a:srgbClr val="FFFFFF"/>
                </a:solidFill>
              </a:rPr>
              <a:t>REFUSE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620000" y="4716227"/>
            <a:ext cx="8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Choose one. Argue from the evidence, the margin, and the containment — not from habit.</a:t>
            </a:r>
          </a:p>
        </p:txBody>
      </p:sp>
      <p:sp>
        <p:nvSpPr>
          <p:cNvPr id="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decision is not binary. Which action follows from what we now know?</a:t>
            </a:r>
          </a:p>
        </p:txBody>
      </p:sp>
      <p:pic>
        <p:nvPicPr>
          <p:cNvPr id="7" name="Think Pair Share banner" descr="Think, Pair, Share">
            <a:extLst>
              <a:ext uri="{FF2B5EF4-FFF2-40B4-BE49-F238E27FC236}">
                <a16:creationId xmlns:a16="http://schemas.microsoft.com/office/drawing/2014/main" id="{0EFA98E1-0C18-D839-ECB8-B98ADB983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500" y="2332830"/>
            <a:ext cx="4191000" cy="1206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animBg="1"/>
      <p:bldP spid="111" grpId="1" animBg="1"/>
      <p:bldP spid="112" grpId="2" animBg="1"/>
      <p:bldP spid="113" grpId="3" animBg="1"/>
      <p:bldP spid="114" grpId="4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An Assurance Case makes the judgment inspectable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36</a:t>
            </a:fld>
            <a:endParaRPr lang="en-US"/>
          </a:p>
        </p:txBody>
      </p:sp>
      <p:sp>
        <p:nvSpPr>
          <p:cNvPr id="100" name="B100"/>
          <p:cNvSpPr/>
          <p:nvPr/>
        </p:nvSpPr>
        <p:spPr>
          <a:xfrm>
            <a:off x="3272000" y="900000"/>
            <a:ext cx="26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>CLAIM: ready to deliver</a:t>
            </a:r>
          </a:p>
        </p:txBody>
      </p:sp>
      <p:sp>
        <p:nvSpPr>
          <p:cNvPr id="110" name="P110"/>
          <p:cNvSpPr/>
          <p:nvPr/>
        </p:nvSpPr>
        <p:spPr>
          <a:xfrm>
            <a:off x="90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payment charged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at most once</a:t>
            </a:r>
          </a:p>
        </p:txBody>
      </p:sp>
      <p:sp>
        <p:nvSpPr>
          <p:cNvPr id="111" name="P111"/>
          <p:cNvSpPr/>
          <p:nvPr/>
        </p:nvSpPr>
        <p:spPr>
          <a:xfrm>
            <a:off x="4720000" y="1920000"/>
            <a:ext cx="2800000" cy="6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p99 latency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1500" b="1" i="0" dirty="0">
                <a:solidFill>
                  <a:srgbClr val="000000"/>
                </a:solidFill>
              </a:rPr>
              <a:t>&lt; 500 ms</a:t>
            </a:r>
          </a:p>
        </p:txBody>
      </p:sp>
      <p:cxnSp>
        <p:nvCxnSpPr>
          <p:cNvPr id="120" name="C120"/>
          <p:cNvCxnSpPr/>
          <p:nvPr/>
        </p:nvCxnSpPr>
        <p:spPr>
          <a:xfrm>
            <a:off x="16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1" name="C121"/>
          <p:cNvCxnSpPr/>
          <p:nvPr/>
        </p:nvCxnSpPr>
        <p:spPr>
          <a:xfrm>
            <a:off x="300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2" name="P122"/>
          <p:cNvSpPr/>
          <p:nvPr/>
        </p:nvSpPr>
        <p:spPr>
          <a:xfrm>
            <a:off x="90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property tests</a:t>
            </a:r>
          </a:p>
        </p:txBody>
      </p:sp>
      <p:sp>
        <p:nvSpPr>
          <p:cNvPr id="123" name="P123"/>
          <p:cNvSpPr/>
          <p:nvPr/>
        </p:nvSpPr>
        <p:spPr>
          <a:xfrm>
            <a:off x="234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model checking</a:t>
            </a:r>
          </a:p>
        </p:txBody>
      </p:sp>
      <p:cxnSp>
        <p:nvCxnSpPr>
          <p:cNvPr id="124" name="C124"/>
          <p:cNvCxnSpPr/>
          <p:nvPr/>
        </p:nvCxnSpPr>
        <p:spPr>
          <a:xfrm>
            <a:off x="54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cxnSp>
        <p:nvCxnSpPr>
          <p:cNvPr id="125" name="C125"/>
          <p:cNvCxnSpPr/>
          <p:nvPr/>
        </p:nvCxnSpPr>
        <p:spPr>
          <a:xfrm>
            <a:off x="6820000" y="2580000"/>
            <a:ext cx="0" cy="36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6" name="P126"/>
          <p:cNvSpPr/>
          <p:nvPr/>
        </p:nvSpPr>
        <p:spPr>
          <a:xfrm>
            <a:off x="472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load model</a:t>
            </a:r>
          </a:p>
        </p:txBody>
      </p:sp>
      <p:sp>
        <p:nvSpPr>
          <p:cNvPr id="127" name="P127"/>
          <p:cNvSpPr/>
          <p:nvPr/>
        </p:nvSpPr>
        <p:spPr>
          <a:xfrm>
            <a:off x="6160000" y="3000000"/>
            <a:ext cx="1360000" cy="56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400" b="0" i="0" dirty="0">
                <a:solidFill>
                  <a:srgbClr val="000000"/>
                </a:solidFill>
              </a:rPr>
              <a:t>measured result</a:t>
            </a:r>
          </a:p>
        </p:txBody>
      </p:sp>
      <p:cxnSp>
        <p:nvCxnSpPr>
          <p:cNvPr id="130" name="C130"/>
          <p:cNvCxnSpPr/>
          <p:nvPr/>
        </p:nvCxnSpPr>
        <p:spPr>
          <a:xfrm>
            <a:off x="158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1" name="C131"/>
          <p:cNvCxnSpPr/>
          <p:nvPr/>
        </p:nvCxnSpPr>
        <p:spPr>
          <a:xfrm>
            <a:off x="302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2" name="C132"/>
          <p:cNvCxnSpPr/>
          <p:nvPr/>
        </p:nvCxnSpPr>
        <p:spPr>
          <a:xfrm>
            <a:off x="540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3" name="C133"/>
          <p:cNvCxnSpPr/>
          <p:nvPr/>
        </p:nvCxnSpPr>
        <p:spPr>
          <a:xfrm>
            <a:off x="6840000" y="3560000"/>
            <a:ext cx="0" cy="34000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4" name="C134"/>
          <p:cNvCxnSpPr/>
          <p:nvPr/>
        </p:nvCxnSpPr>
        <p:spPr>
          <a:xfrm>
            <a:off x="1580000" y="3900000"/>
            <a:ext cx="5260000" cy="0"/>
          </a:xfrm>
          <a:prstGeom prst="straightConnector1">
            <a:avLst/>
          </a:prstGeom>
          <a:ln w="38100">
            <a:solidFill>
              <a:srgbClr val="8E6F3E"/>
            </a:solidFill>
          </a:ln>
        </p:spPr>
      </p:cxnSp>
      <p:cxnSp>
        <p:nvCxnSpPr>
          <p:cNvPr id="135" name="C135"/>
          <p:cNvCxnSpPr/>
          <p:nvPr/>
        </p:nvCxnSpPr>
        <p:spPr>
          <a:xfrm>
            <a:off x="4572000" y="3900000"/>
            <a:ext cx="0" cy="28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0" name="B140"/>
          <p:cNvSpPr/>
          <p:nvPr/>
        </p:nvSpPr>
        <p:spPr>
          <a:xfrm>
            <a:off x="3872000" y="4180000"/>
            <a:ext cx="14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41" name="C141"/>
          <p:cNvCxnSpPr/>
          <p:nvPr/>
        </p:nvCxnSpPr>
        <p:spPr>
          <a:xfrm>
            <a:off x="4572000" y="4700000"/>
            <a:ext cx="0" cy="30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42" name="E142"/>
          <p:cNvSpPr/>
          <p:nvPr/>
        </p:nvSpPr>
        <p:spPr>
          <a:xfrm>
            <a:off x="3972000" y="5000000"/>
            <a:ext cx="1200000" cy="48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500" b="1" i="0" dirty="0">
                <a:solidFill>
                  <a:srgbClr val="5C4826"/>
                </a:solidFill>
              </a:rPr>
              <a:t>DELIVER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We began by asking what would justify delivery. This is the answer.</a:t>
            </a: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782FD6B7-3E42-E711-C90C-27E6D1360FA6}"/>
              </a:ext>
            </a:extLst>
          </p:cNvPr>
          <p:cNvCxnSpPr>
            <a:stCxn id="100" idx="1"/>
            <a:endCxn id="110" idx="0"/>
          </p:cNvCxnSpPr>
          <p:nvPr/>
        </p:nvCxnSpPr>
        <p:spPr>
          <a:xfrm rot="10800000" flipV="1">
            <a:off x="2300000" y="1200000"/>
            <a:ext cx="972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21C0A1B5-59B7-1E91-456F-6E32303C7D37}"/>
              </a:ext>
            </a:extLst>
          </p:cNvPr>
          <p:cNvCxnSpPr>
            <a:cxnSpLocks/>
            <a:stCxn id="100" idx="3"/>
            <a:endCxn id="111" idx="0"/>
          </p:cNvCxnSpPr>
          <p:nvPr/>
        </p:nvCxnSpPr>
        <p:spPr>
          <a:xfrm>
            <a:off x="5872000" y="1200000"/>
            <a:ext cx="248000" cy="7200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148" y="118428"/>
            <a:ext cx="8590000" cy="638175"/>
          </a:xfrm>
        </p:spPr>
        <p:txBody>
          <a:bodyPr>
            <a:normAutofit fontScale="90000"/>
          </a:bodyPr>
          <a:lstStyle/>
          <a:p>
            <a:pPr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The reasoning you can reuse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37</a:t>
            </a:fld>
            <a:endParaRPr lang="en-US"/>
          </a:p>
        </p:txBody>
      </p:sp>
      <p:sp>
        <p:nvSpPr>
          <p:cNvPr id="100" name="P100"/>
          <p:cNvSpPr/>
          <p:nvPr/>
        </p:nvSpPr>
        <p:spPr>
          <a:xfrm>
            <a:off x="1372000" y="116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What is at stake?</a:t>
            </a:r>
          </a:p>
        </p:txBody>
      </p:sp>
      <p:cxnSp>
        <p:nvCxnSpPr>
          <p:cNvPr id="101" name="C101"/>
          <p:cNvCxnSpPr/>
          <p:nvPr/>
        </p:nvCxnSpPr>
        <p:spPr>
          <a:xfrm>
            <a:off x="4572000" y="176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2" name="P102"/>
          <p:cNvSpPr/>
          <p:nvPr/>
        </p:nvSpPr>
        <p:spPr>
          <a:xfrm>
            <a:off x="1372000" y="200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What must be true?</a:t>
            </a:r>
          </a:p>
        </p:txBody>
      </p:sp>
      <p:cxnSp>
        <p:nvCxnSpPr>
          <p:cNvPr id="103" name="C103"/>
          <p:cNvCxnSpPr/>
          <p:nvPr/>
        </p:nvCxnSpPr>
        <p:spPr>
          <a:xfrm>
            <a:off x="4572000" y="260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4" name="P104"/>
          <p:cNvSpPr/>
          <p:nvPr/>
        </p:nvSpPr>
        <p:spPr>
          <a:xfrm>
            <a:off x="1372000" y="284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What evidence bears on it?</a:t>
            </a:r>
          </a:p>
        </p:txBody>
      </p:sp>
      <p:cxnSp>
        <p:nvCxnSpPr>
          <p:cNvPr id="105" name="C105"/>
          <p:cNvCxnSpPr/>
          <p:nvPr/>
        </p:nvCxnSpPr>
        <p:spPr>
          <a:xfrm>
            <a:off x="4572000" y="344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6" name="P106"/>
          <p:cNvSpPr/>
          <p:nvPr/>
        </p:nvSpPr>
        <p:spPr>
          <a:xfrm>
            <a:off x="1372000" y="3680000"/>
            <a:ext cx="64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0" i="0" dirty="0">
                <a:solidFill>
                  <a:srgbClr val="000000"/>
                </a:solidFill>
              </a:rPr>
              <a:t>How strong is that evidence?</a:t>
            </a:r>
          </a:p>
        </p:txBody>
      </p:sp>
      <p:cxnSp>
        <p:nvCxnSpPr>
          <p:cNvPr id="107" name="C107"/>
          <p:cNvCxnSpPr/>
          <p:nvPr/>
        </p:nvCxnSpPr>
        <p:spPr>
          <a:xfrm>
            <a:off x="4572000" y="4280000"/>
            <a:ext cx="0" cy="220000"/>
          </a:xfrm>
          <a:prstGeom prst="straightConnector1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8" name="E108"/>
          <p:cNvSpPr/>
          <p:nvPr/>
        </p:nvSpPr>
        <p:spPr>
          <a:xfrm>
            <a:off x="1372000" y="4520000"/>
            <a:ext cx="6400000" cy="660000"/>
          </a:xfrm>
          <a:prstGeom prst="rect">
            <a:avLst/>
          </a:prstGeom>
          <a:solidFill>
            <a:srgbClr val="FBF8F2"/>
          </a:solidFill>
          <a:ln w="19050">
            <a:solidFill>
              <a:srgbClr val="5C4826"/>
            </a:solidFill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>Is it enough to act?</a:t>
            </a:r>
          </a:p>
        </p:txBody>
      </p:sp>
      <p:sp>
        <p:nvSpPr>
          <p:cNvPr id="1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91440" tIns="45720" rIns="91440" bIns="4572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Validation turns evidence into engineering judgment.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8603</TotalTime>
  <Words>2303</Words>
  <Application>Microsoft Macintosh PowerPoint</Application>
  <PresentationFormat>On-screen Show (4:3)</PresentationFormat>
  <Paragraphs>383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Calibri</vt:lpstr>
      <vt:lpstr>Times</vt:lpstr>
      <vt:lpstr>Purdue1</vt:lpstr>
      <vt:lpstr>PowerPoint Presentation</vt:lpstr>
      <vt:lpstr>What is at stake?</vt:lpstr>
      <vt:lpstr>What would justify delivering this system?</vt:lpstr>
      <vt:lpstr>How sure do we need to be?</vt:lpstr>
      <vt:lpstr>“It depends” is the beginning of the answer, not the end</vt:lpstr>
      <vt:lpstr>Consequence changes the burden of evidence</vt:lpstr>
      <vt:lpstr>Validation is broader than testing — and it does not demand certainty</vt:lpstr>
      <vt:lpstr>What must we establish?</vt:lpstr>
      <vt:lpstr>Validation begins with claims, not techniques</vt:lpstr>
      <vt:lpstr>Remember: the middle has no fixed number of levels</vt:lpstr>
      <vt:lpstr>Models and properties become more precise toward realization</vt:lpstr>
      <vt:lpstr>Evidence bears on properties at the scope where they live</vt:lpstr>
      <vt:lpstr>The familiar testing levels are relative</vt:lpstr>
      <vt:lpstr>Validate a property at the scope where it lives</vt:lpstr>
      <vt:lpstr>The final claim reaches the world</vt:lpstr>
      <vt:lpstr>A measurement is not evidence by itself</vt:lpstr>
      <vt:lpstr>An Assurance Case makes this reasoning inspectable</vt:lpstr>
      <vt:lpstr>What evidence could bear on the claim?</vt:lpstr>
      <vt:lpstr>Choose evidence for the uncertainty you need to reduce</vt:lpstr>
      <vt:lpstr>Known answers → example-based testing</vt:lpstr>
      <vt:lpstr>General properties → property-based testing</vt:lpstr>
      <vt:lpstr>The oracle is often the expensive part</vt:lpstr>
      <vt:lpstr>Another implementation → differential testing</vt:lpstr>
      <vt:lpstr>Related executions → metamorphic testing</vt:lpstr>
      <vt:lpstr>Search for unexpected behavior → fuzzing</vt:lpstr>
      <vt:lpstr>Explore modeled behaviors → static analysis &amp; model checking</vt:lpstr>
      <vt:lpstr>Different techniques establish different things</vt:lpstr>
      <vt:lpstr>How strong is the evidence?</vt:lpstr>
      <vt:lpstr>Executing code is not the same as checking it</vt:lpstr>
      <vt:lpstr>What does coverage actually establish?</vt:lpstr>
      <vt:lpstr>Evidence multiplies; independence does not</vt:lpstr>
      <vt:lpstr>🧙  MAGE Moment: GenAI can make weak evidence very cheap</vt:lpstr>
      <vt:lpstr>When is the evidence enough?</vt:lpstr>
      <vt:lpstr>Enough is judged against what is at stake</vt:lpstr>
      <vt:lpstr>What should we do now?</vt:lpstr>
      <vt:lpstr>An Assurance Case makes the judgment inspectable</vt:lpstr>
      <vt:lpstr>The reasoning you can reuse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407</cp:revision>
  <dcterms:created xsi:type="dcterms:W3CDTF">2020-02-21T23:00:33Z</dcterms:created>
  <dcterms:modified xsi:type="dcterms:W3CDTF">2026-09-19T04:24:54Z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