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257" r:id="rId2"/>
    <p:sldId id="259" r:id="rId3"/>
    <p:sldId id="260" r:id="rId4"/>
    <p:sldId id="263" r:id="rId5"/>
    <p:sldId id="267" r:id="rId6"/>
    <p:sldId id="295" r:id="rId7"/>
    <p:sldId id="296" r:id="rId8"/>
    <p:sldId id="268" r:id="rId9"/>
    <p:sldId id="275" r:id="rId10"/>
    <p:sldId id="323" r:id="rId11"/>
    <p:sldId id="301" r:id="rId12"/>
    <p:sldId id="302" r:id="rId13"/>
    <p:sldId id="303" r:id="rId14"/>
    <p:sldId id="324" r:id="rId15"/>
    <p:sldId id="304" r:id="rId16"/>
    <p:sldId id="299" r:id="rId17"/>
    <p:sldId id="322" r:id="rId18"/>
    <p:sldId id="305" r:id="rId19"/>
    <p:sldId id="325" r:id="rId20"/>
    <p:sldId id="297" r:id="rId21"/>
    <p:sldId id="307" r:id="rId22"/>
    <p:sldId id="326" r:id="rId23"/>
    <p:sldId id="308" r:id="rId24"/>
    <p:sldId id="312" r:id="rId26"/>
    <p:sldId id="313" r:id="rId27"/>
    <p:sldId id="311" r:id="rId28"/>
    <p:sldId id="314" r:id="rId29"/>
    <p:sldId id="315" r:id="rId30"/>
    <p:sldId id="288" r:id="rId31"/>
    <p:sldId id="321" r:id="rId32"/>
    <p:sldId id="291" r:id="rId33"/>
    <p:sldId id="29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759" autoAdjust="0"/>
    <p:restoredTop sz="49726"/>
  </p:normalViewPr>
  <p:slideViewPr>
    <p:cSldViewPr snapToGrid="0" snapToObjects="1">
      <p:cViewPr varScale="1">
        <p:scale>
          <a:sx n="55" d="100"/>
          <a:sy n="55" d="100"/>
        </p:scale>
        <p:origin x="2920"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09-21T23:35:05.373" v="312" actId="1036"/>
      <pc:docMkLst>
        <pc:docMk/>
      </pc:docMkLst>
      <pc:sldChg chg="modSp mod">
        <pc:chgData name="Steve France" userId="b43bac2f-065f-4dab-8869-567f51c0338e" providerId="ADAL" clId="{32976B86-9A01-5E05-BDB2-234D6247B540}" dt="2026-09-21T22:45:06.832" v="0" actId="20577"/>
        <pc:sldMkLst>
          <pc:docMk/>
          <pc:sldMk cId="0" sldId="257"/>
        </pc:sldMkLst>
        <pc:spChg chg="mod">
          <ac:chgData name="Steve France" userId="b43bac2f-065f-4dab-8869-567f51c0338e" providerId="ADAL" clId="{32976B86-9A01-5E05-BDB2-234D6247B540}" dt="2026-09-21T22:45:06.832" v="0" actId="20577"/>
          <ac:spMkLst>
            <pc:docMk/>
            <pc:sldMk cId="0" sldId="257"/>
            <ac:spMk id="130" creationId="{00000000-0000-0000-0000-000000000000}"/>
          </ac:spMkLst>
        </pc:spChg>
      </pc:sldChg>
      <pc:sldChg chg="modSp mod">
        <pc:chgData name="Steve France" userId="b43bac2f-065f-4dab-8869-567f51c0338e" providerId="ADAL" clId="{32976B86-9A01-5E05-BDB2-234D6247B540}" dt="2026-09-21T22:48:03.651" v="50" actId="1076"/>
        <pc:sldMkLst>
          <pc:docMk/>
          <pc:sldMk cId="0" sldId="259"/>
        </pc:sldMkLst>
        <pc:spChg chg="mod">
          <ac:chgData name="Steve France" userId="b43bac2f-065f-4dab-8869-567f51c0338e" providerId="ADAL" clId="{32976B86-9A01-5E05-BDB2-234D6247B540}" dt="2026-09-21T22:46:35.369" v="2" actId="27636"/>
          <ac:spMkLst>
            <pc:docMk/>
            <pc:sldMk cId="0" sldId="259"/>
            <ac:spMk id="2" creationId="{00000000-0000-0000-0000-000000000000}"/>
          </ac:spMkLst>
        </pc:spChg>
        <pc:spChg chg="mod">
          <ac:chgData name="Steve France" userId="b43bac2f-065f-4dab-8869-567f51c0338e" providerId="ADAL" clId="{32976B86-9A01-5E05-BDB2-234D6247B540}" dt="2026-09-21T22:48:03.651" v="50" actId="1076"/>
          <ac:spMkLst>
            <pc:docMk/>
            <pc:sldMk cId="0" sldId="259"/>
            <ac:spMk id="10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3"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3" creationId="{00000000-0000-0000-0000-000000000000}"/>
          </ac:spMkLst>
        </pc:spChg>
        <pc:spChg chg="mod">
          <ac:chgData name="Steve France" userId="b43bac2f-065f-4dab-8869-567f51c0338e" providerId="ADAL" clId="{32976B86-9A01-5E05-BDB2-234D6247B540}" dt="2026-09-21T22:46:51.723" v="46" actId="1076"/>
          <ac:spMkLst>
            <pc:docMk/>
            <pc:sldMk cId="0" sldId="259"/>
            <ac:spMk id="140" creationId="{00000000-0000-0000-0000-000000000000}"/>
          </ac:spMkLst>
        </pc:spChg>
        <pc:cxnChg chg="mod">
          <ac:chgData name="Steve France" userId="b43bac2f-065f-4dab-8869-567f51c0338e" providerId="ADAL" clId="{32976B86-9A01-5E05-BDB2-234D6247B540}" dt="2026-09-21T22:46:58.398" v="47" actId="1076"/>
          <ac:cxnSpMkLst>
            <pc:docMk/>
            <pc:sldMk cId="0" sldId="259"/>
            <ac:cxnSpMk id="130" creationId="{00000000-0000-0000-0000-000000000000}"/>
          </ac:cxnSpMkLst>
        </pc:cxnChg>
        <pc:cxnChg chg="mod">
          <ac:chgData name="Steve France" userId="b43bac2f-065f-4dab-8869-567f51c0338e" providerId="ADAL" clId="{32976B86-9A01-5E05-BDB2-234D6247B540}" dt="2026-09-21T22:46:58.398" v="47" actId="1076"/>
          <ac:cxnSpMkLst>
            <pc:docMk/>
            <pc:sldMk cId="0" sldId="259"/>
            <ac:cxnSpMk id="132" creationId="{00000000-0000-0000-0000-000000000000}"/>
          </ac:cxnSpMkLst>
        </pc:cxnChg>
      </pc:sldChg>
      <pc:sldChg chg="modSp mod">
        <pc:chgData name="Steve France" userId="b43bac2f-065f-4dab-8869-567f51c0338e" providerId="ADAL" clId="{32976B86-9A01-5E05-BDB2-234D6247B540}" dt="2026-09-21T22:47:45.501" v="49" actId="14100"/>
        <pc:sldMkLst>
          <pc:docMk/>
          <pc:sldMk cId="0" sldId="260"/>
        </pc:sldMkLst>
        <pc:spChg chg="mod">
          <ac:chgData name="Steve France" userId="b43bac2f-065f-4dab-8869-567f51c0338e" providerId="ADAL" clId="{32976B86-9A01-5E05-BDB2-234D6247B540}" dt="2026-09-21T22:46:35.382" v="3" actId="27636"/>
          <ac:spMkLst>
            <pc:docMk/>
            <pc:sldMk cId="0" sldId="260"/>
            <ac:spMk id="2" creationId="{00000000-0000-0000-0000-000000000000}"/>
          </ac:spMkLst>
        </pc:spChg>
        <pc:spChg chg="mod">
          <ac:chgData name="Steve France" userId="b43bac2f-065f-4dab-8869-567f51c0338e" providerId="ADAL" clId="{32976B86-9A01-5E05-BDB2-234D6247B540}" dt="2026-09-21T22:47:45.501" v="49" actId="14100"/>
          <ac:spMkLst>
            <pc:docMk/>
            <pc:sldMk cId="0" sldId="260"/>
            <ac:spMk id="130" creationId="{00000000-0000-0000-0000-000000000000}"/>
          </ac:spMkLst>
        </pc:spChg>
      </pc:sldChg>
      <pc:sldChg chg="modSp mod modAnim">
        <pc:chgData name="Steve France" userId="b43bac2f-065f-4dab-8869-567f51c0338e" providerId="ADAL" clId="{32976B86-9A01-5E05-BDB2-234D6247B540}" dt="2026-09-21T22:50:25.846" v="69"/>
        <pc:sldMkLst>
          <pc:docMk/>
          <pc:sldMk cId="0" sldId="263"/>
        </pc:sldMkLst>
        <pc:spChg chg="mod">
          <ac:chgData name="Steve France" userId="b43bac2f-065f-4dab-8869-567f51c0338e" providerId="ADAL" clId="{32976B86-9A01-5E05-BDB2-234D6247B540}" dt="2026-09-21T22:46:35.386" v="4" actId="27636"/>
          <ac:spMkLst>
            <pc:docMk/>
            <pc:sldMk cId="0" sldId="263"/>
            <ac:spMk id="2" creationId="{00000000-0000-0000-0000-000000000000}"/>
          </ac:spMkLst>
        </pc:spChg>
        <pc:spChg chg="mod">
          <ac:chgData name="Steve France" userId="b43bac2f-065f-4dab-8869-567f51c0338e" providerId="ADAL" clId="{32976B86-9A01-5E05-BDB2-234D6247B540}" dt="2026-09-21T22:49:34.918" v="67" actId="5793"/>
          <ac:spMkLst>
            <pc:docMk/>
            <pc:sldMk cId="0" sldId="263"/>
            <ac:spMk id="101" creationId="{00000000-0000-0000-0000-000000000000}"/>
          </ac:spMkLst>
        </pc:spChg>
        <pc:spChg chg="mod">
          <ac:chgData name="Steve France" userId="b43bac2f-065f-4dab-8869-567f51c0338e" providerId="ADAL" clId="{32976B86-9A01-5E05-BDB2-234D6247B540}" dt="2026-09-21T22:49:41.252" v="68" actId="20577"/>
          <ac:spMkLst>
            <pc:docMk/>
            <pc:sldMk cId="0" sldId="263"/>
            <ac:spMk id="102" creationId="{00000000-0000-0000-0000-000000000000}"/>
          </ac:spMkLst>
        </pc:spChg>
      </pc:sldChg>
      <pc:sldChg chg="modSp mod">
        <pc:chgData name="Steve France" userId="b43bac2f-065f-4dab-8869-567f51c0338e" providerId="ADAL" clId="{32976B86-9A01-5E05-BDB2-234D6247B540}" dt="2026-09-21T23:08:28.023" v="177" actId="20577"/>
        <pc:sldMkLst>
          <pc:docMk/>
          <pc:sldMk cId="0" sldId="267"/>
        </pc:sldMkLst>
        <pc:spChg chg="mod">
          <ac:chgData name="Steve France" userId="b43bac2f-065f-4dab-8869-567f51c0338e" providerId="ADAL" clId="{32976B86-9A01-5E05-BDB2-234D6247B540}" dt="2026-09-21T22:46:35.389" v="5" actId="27636"/>
          <ac:spMkLst>
            <pc:docMk/>
            <pc:sldMk cId="0" sldId="267"/>
            <ac:spMk id="2" creationId="{00000000-0000-0000-0000-000000000000}"/>
          </ac:spMkLst>
        </pc:spChg>
        <pc:spChg chg="mod">
          <ac:chgData name="Steve France" userId="b43bac2f-065f-4dab-8869-567f51c0338e" providerId="ADAL" clId="{32976B86-9A01-5E05-BDB2-234D6247B540}" dt="2026-09-21T23:08:28.023" v="177" actId="20577"/>
          <ac:spMkLst>
            <pc:docMk/>
            <pc:sldMk cId="0" sldId="267"/>
            <ac:spMk id="4" creationId="{00000000-0000-0000-0000-000000000000}"/>
          </ac:spMkLst>
        </pc:spChg>
      </pc:sldChg>
      <pc:sldChg chg="modSp mod">
        <pc:chgData name="Steve France" userId="b43bac2f-065f-4dab-8869-567f51c0338e" providerId="ADAL" clId="{32976B86-9A01-5E05-BDB2-234D6247B540}" dt="2026-09-21T23:08:06.165" v="162" actId="20577"/>
        <pc:sldMkLst>
          <pc:docMk/>
          <pc:sldMk cId="0" sldId="268"/>
        </pc:sldMkLst>
        <pc:spChg chg="mod">
          <ac:chgData name="Steve France" userId="b43bac2f-065f-4dab-8869-567f51c0338e" providerId="ADAL" clId="{32976B86-9A01-5E05-BDB2-234D6247B540}" dt="2026-09-21T22:46:35.400" v="8" actId="27636"/>
          <ac:spMkLst>
            <pc:docMk/>
            <pc:sldMk cId="0" sldId="268"/>
            <ac:spMk id="2" creationId="{00000000-0000-0000-0000-000000000000}"/>
          </ac:spMkLst>
        </pc:spChg>
        <pc:spChg chg="mod">
          <ac:chgData name="Steve France" userId="b43bac2f-065f-4dab-8869-567f51c0338e" providerId="ADAL" clId="{32976B86-9A01-5E05-BDB2-234D6247B540}" dt="2026-09-21T23:08:06.165" v="162" actId="20577"/>
          <ac:spMkLst>
            <pc:docMk/>
            <pc:sldMk cId="0" sldId="268"/>
            <ac:spMk id="140" creationId="{00000000-0000-0000-0000-000000000000}"/>
          </ac:spMkLst>
        </pc:spChg>
      </pc:sldChg>
      <pc:sldChg chg="modSp mod">
        <pc:chgData name="Steve France" userId="b43bac2f-065f-4dab-8869-567f51c0338e" providerId="ADAL" clId="{32976B86-9A01-5E05-BDB2-234D6247B540}" dt="2026-09-21T22:59:12.515" v="77" actId="20577"/>
        <pc:sldMkLst>
          <pc:docMk/>
          <pc:sldMk cId="0" sldId="275"/>
        </pc:sldMkLst>
        <pc:spChg chg="mod">
          <ac:chgData name="Steve France" userId="b43bac2f-065f-4dab-8869-567f51c0338e" providerId="ADAL" clId="{32976B86-9A01-5E05-BDB2-234D6247B540}" dt="2026-09-21T22:46:35.404" v="9" actId="27636"/>
          <ac:spMkLst>
            <pc:docMk/>
            <pc:sldMk cId="0" sldId="275"/>
            <ac:spMk id="2"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0" creationId="{00000000-0000-0000-0000-000000000000}"/>
          </ac:spMkLst>
        </pc:spChg>
        <pc:spChg chg="mod">
          <ac:chgData name="Steve France" userId="b43bac2f-065f-4dab-8869-567f51c0338e" providerId="ADAL" clId="{32976B86-9A01-5E05-BDB2-234D6247B540}" dt="2026-09-21T22:58:14.482" v="74" actId="404"/>
          <ac:spMkLst>
            <pc:docMk/>
            <pc:sldMk cId="0" sldId="275"/>
            <ac:spMk id="111"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2" creationId="{00000000-0000-0000-0000-000000000000}"/>
          </ac:spMkLst>
        </pc:spChg>
        <pc:spChg chg="mod">
          <ac:chgData name="Steve France" userId="b43bac2f-065f-4dab-8869-567f51c0338e" providerId="ADAL" clId="{32976B86-9A01-5E05-BDB2-234D6247B540}" dt="2026-09-21T22:59:12.515" v="77" actId="20577"/>
          <ac:spMkLst>
            <pc:docMk/>
            <pc:sldMk cId="0" sldId="275"/>
            <ac:spMk id="140" creationId="{00000000-0000-0000-0000-000000000000}"/>
          </ac:spMkLst>
        </pc:spChg>
      </pc:sldChg>
      <pc:sldChg chg="modSp mod">
        <pc:chgData name="Steve France" userId="b43bac2f-065f-4dab-8869-567f51c0338e" providerId="ADAL" clId="{32976B86-9A01-5E05-BDB2-234D6247B540}" dt="2026-09-21T23:27:32.900" v="306" actId="1038"/>
        <pc:sldMkLst>
          <pc:docMk/>
          <pc:sldMk cId="0" sldId="288"/>
        </pc:sldMkLst>
        <pc:spChg chg="mod">
          <ac:chgData name="Steve France" userId="b43bac2f-065f-4dab-8869-567f51c0338e" providerId="ADAL" clId="{32976B86-9A01-5E05-BDB2-234D6247B540}" dt="2026-09-21T22:46:35.489" v="30" actId="27636"/>
          <ac:spMkLst>
            <pc:docMk/>
            <pc:sldMk cId="0" sldId="288"/>
            <ac:spMk id="2" creationId="{00000000-0000-0000-0000-000000000000}"/>
          </ac:spMkLst>
        </pc:spChg>
        <pc:spChg chg="mod">
          <ac:chgData name="Steve France" userId="b43bac2f-065f-4dab-8869-567f51c0338e" providerId="ADAL" clId="{32976B86-9A01-5E05-BDB2-234D6247B540}" dt="2026-09-21T23:27:32.900" v="306" actId="1038"/>
          <ac:spMkLst>
            <pc:docMk/>
            <pc:sldMk cId="0" sldId="288"/>
            <ac:spMk id="300" creationId="{00000000-0000-0000-0000-000000000000}"/>
          </ac:spMkLst>
        </pc:spChg>
      </pc:sldChg>
      <pc:sldChg chg="modSp mod">
        <pc:chgData name="Steve France" userId="b43bac2f-065f-4dab-8869-567f51c0338e" providerId="ADAL" clId="{32976B86-9A01-5E05-BDB2-234D6247B540}" dt="2026-09-21T23:34:19.599" v="308" actId="1076"/>
        <pc:sldMkLst>
          <pc:docMk/>
          <pc:sldMk cId="0" sldId="291"/>
        </pc:sldMkLst>
        <pc:spChg chg="mod">
          <ac:chgData name="Steve France" userId="b43bac2f-065f-4dab-8869-567f51c0338e" providerId="ADAL" clId="{32976B86-9A01-5E05-BDB2-234D6247B540}" dt="2026-09-21T23:34:19.599" v="308" actId="1076"/>
          <ac:spMkLst>
            <pc:docMk/>
            <pc:sldMk cId="0" sldId="291"/>
            <ac:spMk id="2" creationId="{00000000-0000-0000-0000-000000000000}"/>
          </ac:spMkLst>
        </pc:spChg>
      </pc:sldChg>
      <pc:sldChg chg="modSp mod">
        <pc:chgData name="Steve France" userId="b43bac2f-065f-4dab-8869-567f51c0338e" providerId="ADAL" clId="{32976B86-9A01-5E05-BDB2-234D6247B540}" dt="2026-09-21T23:35:05.373" v="312" actId="1036"/>
        <pc:sldMkLst>
          <pc:docMk/>
          <pc:sldMk cId="0" sldId="292"/>
        </pc:sldMkLst>
        <pc:spChg chg="mod">
          <ac:chgData name="Steve France" userId="b43bac2f-065f-4dab-8869-567f51c0338e" providerId="ADAL" clId="{32976B86-9A01-5E05-BDB2-234D6247B540}" dt="2026-09-21T22:46:35.497" v="32" actId="27636"/>
          <ac:spMkLst>
            <pc:docMk/>
            <pc:sldMk cId="0" sldId="292"/>
            <ac:spMk id="2" creationId="{00000000-0000-0000-0000-000000000000}"/>
          </ac:spMkLst>
        </pc:spChg>
        <pc:spChg chg="mod">
          <ac:chgData name="Steve France" userId="b43bac2f-065f-4dab-8869-567f51c0338e" providerId="ADAL" clId="{32976B86-9A01-5E05-BDB2-234D6247B540}" dt="2026-09-21T23:35:05.373" v="312" actId="1036"/>
          <ac:spMkLst>
            <pc:docMk/>
            <pc:sldMk cId="0" sldId="292"/>
            <ac:spMk id="120" creationId="{00000000-0000-0000-0000-000000000000}"/>
          </ac:spMkLst>
        </pc:spChg>
      </pc:sldChg>
      <pc:sldChg chg="modSp mod">
        <pc:chgData name="Steve France" userId="b43bac2f-065f-4dab-8869-567f51c0338e" providerId="ADAL" clId="{32976B86-9A01-5E05-BDB2-234D6247B540}" dt="2026-09-21T23:08:20.762" v="172" actId="20577"/>
        <pc:sldMkLst>
          <pc:docMk/>
          <pc:sldMk cId="0" sldId="295"/>
        </pc:sldMkLst>
        <pc:spChg chg="mod">
          <ac:chgData name="Steve France" userId="b43bac2f-065f-4dab-8869-567f51c0338e" providerId="ADAL" clId="{32976B86-9A01-5E05-BDB2-234D6247B540}" dt="2026-09-21T22:46:35.392" v="6" actId="27636"/>
          <ac:spMkLst>
            <pc:docMk/>
            <pc:sldMk cId="0" sldId="295"/>
            <ac:spMk id="2" creationId="{00000000-0000-0000-0000-000000000000}"/>
          </ac:spMkLst>
        </pc:spChg>
        <pc:spChg chg="mod">
          <ac:chgData name="Steve France" userId="b43bac2f-065f-4dab-8869-567f51c0338e" providerId="ADAL" clId="{32976B86-9A01-5E05-BDB2-234D6247B540}" dt="2026-09-21T23:08:20.762" v="172" actId="20577"/>
          <ac:spMkLst>
            <pc:docMk/>
            <pc:sldMk cId="0" sldId="295"/>
            <ac:spMk id="160" creationId="{00000000-0000-0000-0000-000000000000}"/>
          </ac:spMkLst>
        </pc:spChg>
      </pc:sldChg>
      <pc:sldChg chg="modSp mod">
        <pc:chgData name="Steve France" userId="b43bac2f-065f-4dab-8869-567f51c0338e" providerId="ADAL" clId="{32976B86-9A01-5E05-BDB2-234D6247B540}" dt="2026-09-21T23:08:12.568" v="168" actId="20577"/>
        <pc:sldMkLst>
          <pc:docMk/>
          <pc:sldMk cId="0" sldId="296"/>
        </pc:sldMkLst>
        <pc:spChg chg="mod">
          <ac:chgData name="Steve France" userId="b43bac2f-065f-4dab-8869-567f51c0338e" providerId="ADAL" clId="{32976B86-9A01-5E05-BDB2-234D6247B540}" dt="2026-09-21T22:46:35.397" v="7" actId="27636"/>
          <ac:spMkLst>
            <pc:docMk/>
            <pc:sldMk cId="0" sldId="296"/>
            <ac:spMk id="2" creationId="{00000000-0000-0000-0000-000000000000}"/>
          </ac:spMkLst>
        </pc:spChg>
        <pc:spChg chg="mod">
          <ac:chgData name="Steve France" userId="b43bac2f-065f-4dab-8869-567f51c0338e" providerId="ADAL" clId="{32976B86-9A01-5E05-BDB2-234D6247B540}" dt="2026-09-21T23:08:12.568" v="168" actId="20577"/>
          <ac:spMkLst>
            <pc:docMk/>
            <pc:sldMk cId="0" sldId="296"/>
            <ac:spMk id="140" creationId="{00000000-0000-0000-0000-000000000000}"/>
          </ac:spMkLst>
        </pc:spChg>
      </pc:sldChg>
      <pc:sldChg chg="modSp mod">
        <pc:chgData name="Steve France" userId="b43bac2f-065f-4dab-8869-567f51c0338e" providerId="ADAL" clId="{32976B86-9A01-5E05-BDB2-234D6247B540}" dt="2026-09-21T23:12:13.380" v="197" actId="108"/>
        <pc:sldMkLst>
          <pc:docMk/>
          <pc:sldMk cId="0" sldId="297"/>
        </pc:sldMkLst>
        <pc:spChg chg="mod">
          <ac:chgData name="Steve France" userId="b43bac2f-065f-4dab-8869-567f51c0338e" providerId="ADAL" clId="{32976B86-9A01-5E05-BDB2-234D6247B540}" dt="2026-09-21T22:46:35.449" v="20" actId="27636"/>
          <ac:spMkLst>
            <pc:docMk/>
            <pc:sldMk cId="0" sldId="297"/>
            <ac:spMk id="2" creationId="{00000000-0000-0000-0000-000000000000}"/>
          </ac:spMkLst>
        </pc:spChg>
        <pc:spChg chg="mod">
          <ac:chgData name="Steve France" userId="b43bac2f-065f-4dab-8869-567f51c0338e" providerId="ADAL" clId="{32976B86-9A01-5E05-BDB2-234D6247B540}" dt="2026-09-21T23:11:50.108" v="194" actId="1036"/>
          <ac:spMkLst>
            <pc:docMk/>
            <pc:sldMk cId="0" sldId="297"/>
            <ac:spMk id="110" creationId="{00000000-0000-0000-0000-000000000000}"/>
          </ac:spMkLst>
        </pc:spChg>
        <pc:spChg chg="mod">
          <ac:chgData name="Steve France" userId="b43bac2f-065f-4dab-8869-567f51c0338e" providerId="ADAL" clId="{32976B86-9A01-5E05-BDB2-234D6247B540}" dt="2026-09-21T23:12:13.380" v="197" actId="108"/>
          <ac:spMkLst>
            <pc:docMk/>
            <pc:sldMk cId="0" sldId="297"/>
            <ac:spMk id="111" creationId="{00000000-0000-0000-0000-000000000000}"/>
          </ac:spMkLst>
        </pc:spChg>
        <pc:spChg chg="mod">
          <ac:chgData name="Steve France" userId="b43bac2f-065f-4dab-8869-567f51c0338e" providerId="ADAL" clId="{32976B86-9A01-5E05-BDB2-234D6247B540}" dt="2026-09-21T23:11:58.717" v="195" actId="14100"/>
          <ac:spMkLst>
            <pc:docMk/>
            <pc:sldMk cId="0" sldId="297"/>
            <ac:spMk id="112" creationId="{00000000-0000-0000-0000-000000000000}"/>
          </ac:spMkLst>
        </pc:spChg>
      </pc:sldChg>
      <pc:sldChg chg="modSp mod">
        <pc:chgData name="Steve France" userId="b43bac2f-065f-4dab-8869-567f51c0338e" providerId="ADAL" clId="{32976B86-9A01-5E05-BDB2-234D6247B540}" dt="2026-09-21T23:07:02.653" v="127" actId="20577"/>
        <pc:sldMkLst>
          <pc:docMk/>
          <pc:sldMk cId="0" sldId="299"/>
        </pc:sldMkLst>
        <pc:spChg chg="mod">
          <ac:chgData name="Steve France" userId="b43bac2f-065f-4dab-8869-567f51c0338e" providerId="ADAL" clId="{32976B86-9A01-5E05-BDB2-234D6247B540}" dt="2026-09-21T22:46:35.433" v="16" actId="27636"/>
          <ac:spMkLst>
            <pc:docMk/>
            <pc:sldMk cId="0" sldId="299"/>
            <ac:spMk id="2" creationId="{00000000-0000-0000-0000-000000000000}"/>
          </ac:spMkLst>
        </pc:spChg>
        <pc:spChg chg="mod">
          <ac:chgData name="Steve France" userId="b43bac2f-065f-4dab-8869-567f51c0338e" providerId="ADAL" clId="{32976B86-9A01-5E05-BDB2-234D6247B540}" dt="2026-09-21T23:07:02.653" v="127" actId="20577"/>
          <ac:spMkLst>
            <pc:docMk/>
            <pc:sldMk cId="0" sldId="299"/>
            <ac:spMk id="150" creationId="{00000000-0000-0000-0000-000000000000}"/>
          </ac:spMkLst>
        </pc:spChg>
      </pc:sldChg>
      <pc:sldChg chg="modSp mod">
        <pc:chgData name="Steve France" userId="b43bac2f-065f-4dab-8869-567f51c0338e" providerId="ADAL" clId="{32976B86-9A01-5E05-BDB2-234D6247B540}" dt="2026-09-21T22:46:35.414" v="11" actId="27636"/>
        <pc:sldMkLst>
          <pc:docMk/>
          <pc:sldMk cId="0" sldId="301"/>
        </pc:sldMkLst>
        <pc:spChg chg="mod">
          <ac:chgData name="Steve France" userId="b43bac2f-065f-4dab-8869-567f51c0338e" providerId="ADAL" clId="{32976B86-9A01-5E05-BDB2-234D6247B540}" dt="2026-09-21T22:46:35.414" v="11" actId="27636"/>
          <ac:spMkLst>
            <pc:docMk/>
            <pc:sldMk cId="0" sldId="301"/>
            <ac:spMk id="2" creationId="{00000000-0000-0000-0000-000000000000}"/>
          </ac:spMkLst>
        </pc:spChg>
      </pc:sldChg>
      <pc:sldChg chg="modSp mod">
        <pc:chgData name="Steve France" userId="b43bac2f-065f-4dab-8869-567f51c0338e" providerId="ADAL" clId="{32976B86-9A01-5E05-BDB2-234D6247B540}" dt="2026-09-21T22:46:35.417" v="12" actId="27636"/>
        <pc:sldMkLst>
          <pc:docMk/>
          <pc:sldMk cId="0" sldId="302"/>
        </pc:sldMkLst>
        <pc:spChg chg="mod">
          <ac:chgData name="Steve France" userId="b43bac2f-065f-4dab-8869-567f51c0338e" providerId="ADAL" clId="{32976B86-9A01-5E05-BDB2-234D6247B540}" dt="2026-09-21T22:46:35.417" v="12" actId="27636"/>
          <ac:spMkLst>
            <pc:docMk/>
            <pc:sldMk cId="0" sldId="302"/>
            <ac:spMk id="2" creationId="{00000000-0000-0000-0000-000000000000}"/>
          </ac:spMkLst>
        </pc:spChg>
      </pc:sldChg>
      <pc:sldChg chg="modSp mod">
        <pc:chgData name="Steve France" userId="b43bac2f-065f-4dab-8869-567f51c0338e" providerId="ADAL" clId="{32976B86-9A01-5E05-BDB2-234D6247B540}" dt="2026-09-21T23:07:40.966" v="155" actId="20577"/>
        <pc:sldMkLst>
          <pc:docMk/>
          <pc:sldMk cId="0" sldId="303"/>
        </pc:sldMkLst>
        <pc:spChg chg="mod">
          <ac:chgData name="Steve France" userId="b43bac2f-065f-4dab-8869-567f51c0338e" providerId="ADAL" clId="{32976B86-9A01-5E05-BDB2-234D6247B540}" dt="2026-09-21T22:46:35.422" v="13" actId="27636"/>
          <ac:spMkLst>
            <pc:docMk/>
            <pc:sldMk cId="0" sldId="303"/>
            <ac:spMk id="2" creationId="{00000000-0000-0000-0000-000000000000}"/>
          </ac:spMkLst>
        </pc:spChg>
        <pc:spChg chg="mod">
          <ac:chgData name="Steve France" userId="b43bac2f-065f-4dab-8869-567f51c0338e" providerId="ADAL" clId="{32976B86-9A01-5E05-BDB2-234D6247B540}" dt="2026-09-21T23:01:14.378" v="88" actId="20577"/>
          <ac:spMkLst>
            <pc:docMk/>
            <pc:sldMk cId="0" sldId="303"/>
            <ac:spMk id="110" creationId="{00000000-0000-0000-0000-000000000000}"/>
          </ac:spMkLst>
        </pc:spChg>
        <pc:spChg chg="mod">
          <ac:chgData name="Steve France" userId="b43bac2f-065f-4dab-8869-567f51c0338e" providerId="ADAL" clId="{32976B86-9A01-5E05-BDB2-234D6247B540}" dt="2026-09-21T23:07:40.966" v="155" actId="20577"/>
          <ac:spMkLst>
            <pc:docMk/>
            <pc:sldMk cId="0" sldId="303"/>
            <ac:spMk id="140" creationId="{00000000-0000-0000-0000-000000000000}"/>
          </ac:spMkLst>
        </pc:spChg>
      </pc:sldChg>
      <pc:sldChg chg="modSp mod">
        <pc:chgData name="Steve France" userId="b43bac2f-065f-4dab-8869-567f51c0338e" providerId="ADAL" clId="{32976B86-9A01-5E05-BDB2-234D6247B540}" dt="2026-09-21T23:07:09.752" v="131" actId="20577"/>
        <pc:sldMkLst>
          <pc:docMk/>
          <pc:sldMk cId="0" sldId="304"/>
        </pc:sldMkLst>
        <pc:spChg chg="mod">
          <ac:chgData name="Steve France" userId="b43bac2f-065f-4dab-8869-567f51c0338e" providerId="ADAL" clId="{32976B86-9A01-5E05-BDB2-234D6247B540}" dt="2026-09-21T22:46:35.429" v="15" actId="27636"/>
          <ac:spMkLst>
            <pc:docMk/>
            <pc:sldMk cId="0" sldId="304"/>
            <ac:spMk id="2" creationId="{00000000-0000-0000-0000-000000000000}"/>
          </ac:spMkLst>
        </pc:spChg>
        <pc:spChg chg="mod">
          <ac:chgData name="Steve France" userId="b43bac2f-065f-4dab-8869-567f51c0338e" providerId="ADAL" clId="{32976B86-9A01-5E05-BDB2-234D6247B540}" dt="2026-09-21T23:07:09.752" v="131" actId="20577"/>
          <ac:spMkLst>
            <pc:docMk/>
            <pc:sldMk cId="0" sldId="304"/>
            <ac:spMk id="140" creationId="{00000000-0000-0000-0000-000000000000}"/>
          </ac:spMkLst>
        </pc:spChg>
      </pc:sldChg>
      <pc:sldChg chg="modSp mod">
        <pc:chgData name="Steve France" userId="b43bac2f-065f-4dab-8869-567f51c0338e" providerId="ADAL" clId="{32976B86-9A01-5E05-BDB2-234D6247B540}" dt="2026-09-21T23:10:02.478" v="186" actId="20577"/>
        <pc:sldMkLst>
          <pc:docMk/>
          <pc:sldMk cId="0" sldId="305"/>
        </pc:sldMkLst>
        <pc:spChg chg="mod">
          <ac:chgData name="Steve France" userId="b43bac2f-065f-4dab-8869-567f51c0338e" providerId="ADAL" clId="{32976B86-9A01-5E05-BDB2-234D6247B540}" dt="2026-09-21T22:46:35.441" v="18" actId="27636"/>
          <ac:spMkLst>
            <pc:docMk/>
            <pc:sldMk cId="0" sldId="305"/>
            <ac:spMk id="2" creationId="{00000000-0000-0000-0000-000000000000}"/>
          </ac:spMkLst>
        </pc:spChg>
        <pc:spChg chg="mod">
          <ac:chgData name="Steve France" userId="b43bac2f-065f-4dab-8869-567f51c0338e" providerId="ADAL" clId="{32976B86-9A01-5E05-BDB2-234D6247B540}" dt="2026-09-21T23:10:02.478" v="186" actId="20577"/>
          <ac:spMkLst>
            <pc:docMk/>
            <pc:sldMk cId="0" sldId="305"/>
            <ac:spMk id="140" creationId="{00000000-0000-0000-0000-000000000000}"/>
          </ac:spMkLst>
        </pc:spChg>
      </pc:sldChg>
      <pc:sldChg chg="modSp mod">
        <pc:chgData name="Steve France" userId="b43bac2f-065f-4dab-8869-567f51c0338e" providerId="ADAL" clId="{32976B86-9A01-5E05-BDB2-234D6247B540}" dt="2026-09-21T23:14:30.876" v="198" actId="20577"/>
        <pc:sldMkLst>
          <pc:docMk/>
          <pc:sldMk cId="0" sldId="308"/>
        </pc:sldMkLst>
        <pc:spChg chg="mod">
          <ac:chgData name="Steve France" userId="b43bac2f-065f-4dab-8869-567f51c0338e" providerId="ADAL" clId="{32976B86-9A01-5E05-BDB2-234D6247B540}" dt="2026-09-21T22:46:35.456" v="22" actId="27636"/>
          <ac:spMkLst>
            <pc:docMk/>
            <pc:sldMk cId="0" sldId="308"/>
            <ac:spMk id="2" creationId="{00000000-0000-0000-0000-000000000000}"/>
          </ac:spMkLst>
        </pc:spChg>
        <pc:spChg chg="mod">
          <ac:chgData name="Steve France" userId="b43bac2f-065f-4dab-8869-567f51c0338e" providerId="ADAL" clId="{32976B86-9A01-5E05-BDB2-234D6247B540}" dt="2026-09-21T23:14:30.876" v="198" actId="20577"/>
          <ac:spMkLst>
            <pc:docMk/>
            <pc:sldMk cId="0" sldId="308"/>
            <ac:spMk id="131" creationId="{00000000-0000-0000-0000-000000000000}"/>
          </ac:spMkLst>
        </pc:spChg>
      </pc:sldChg>
      <pc:sldChg chg="modSp mod">
        <pc:chgData name="Steve France" userId="b43bac2f-065f-4dab-8869-567f51c0338e" providerId="ADAL" clId="{32976B86-9A01-5E05-BDB2-234D6247B540}" dt="2026-09-21T23:18:14.974" v="204" actId="20577"/>
        <pc:sldMkLst>
          <pc:docMk/>
          <pc:sldMk cId="0" sldId="309"/>
        </pc:sldMkLst>
        <pc:spChg chg="mod">
          <ac:chgData name="Steve France" userId="b43bac2f-065f-4dab-8869-567f51c0338e" providerId="ADAL" clId="{32976B86-9A01-5E05-BDB2-234D6247B540}" dt="2026-09-21T22:46:35.459" v="23" actId="27636"/>
          <ac:spMkLst>
            <pc:docMk/>
            <pc:sldMk cId="0" sldId="309"/>
            <ac:spMk id="2" creationId="{00000000-0000-0000-0000-000000000000}"/>
          </ac:spMkLst>
        </pc:spChg>
        <pc:spChg chg="mod">
          <ac:chgData name="Steve France" userId="b43bac2f-065f-4dab-8869-567f51c0338e" providerId="ADAL" clId="{32976B86-9A01-5E05-BDB2-234D6247B540}" dt="2026-09-21T23:16:43.409" v="199" actId="20577"/>
          <ac:spMkLst>
            <pc:docMk/>
            <pc:sldMk cId="0" sldId="309"/>
            <ac:spMk id="110" creationId="{00000000-0000-0000-0000-000000000000}"/>
          </ac:spMkLst>
        </pc:spChg>
        <pc:spChg chg="mod">
          <ac:chgData name="Steve France" userId="b43bac2f-065f-4dab-8869-567f51c0338e" providerId="ADAL" clId="{32976B86-9A01-5E05-BDB2-234D6247B540}" dt="2026-09-21T23:18:14.974" v="204" actId="20577"/>
          <ac:spMkLst>
            <pc:docMk/>
            <pc:sldMk cId="0" sldId="309"/>
            <ac:spMk id="140" creationId="{00000000-0000-0000-0000-000000000000}"/>
          </ac:spMkLst>
        </pc:spChg>
      </pc:sldChg>
      <pc:sldChg chg="modSp mod">
        <pc:chgData name="Steve France" userId="b43bac2f-065f-4dab-8869-567f51c0338e" providerId="ADAL" clId="{32976B86-9A01-5E05-BDB2-234D6247B540}" dt="2026-09-21T23:23:04.603" v="230" actId="20577"/>
        <pc:sldMkLst>
          <pc:docMk/>
          <pc:sldMk cId="0" sldId="311"/>
        </pc:sldMkLst>
        <pc:spChg chg="mod">
          <ac:chgData name="Steve France" userId="b43bac2f-065f-4dab-8869-567f51c0338e" providerId="ADAL" clId="{32976B86-9A01-5E05-BDB2-234D6247B540}" dt="2026-09-21T22:46:35.472" v="26" actId="27636"/>
          <ac:spMkLst>
            <pc:docMk/>
            <pc:sldMk cId="0" sldId="311"/>
            <ac:spMk id="2" creationId="{00000000-0000-0000-0000-000000000000}"/>
          </ac:spMkLst>
        </pc:spChg>
        <pc:spChg chg="mod">
          <ac:chgData name="Steve France" userId="b43bac2f-065f-4dab-8869-567f51c0338e" providerId="ADAL" clId="{32976B86-9A01-5E05-BDB2-234D6247B540}" dt="2026-09-21T23:23:04.603" v="230" actId="20577"/>
          <ac:spMkLst>
            <pc:docMk/>
            <pc:sldMk cId="0" sldId="311"/>
            <ac:spMk id="142" creationId="{00000000-0000-0000-0000-000000000000}"/>
          </ac:spMkLst>
        </pc:spChg>
      </pc:sldChg>
      <pc:sldChg chg="modSp mod">
        <pc:chgData name="Steve France" userId="b43bac2f-065f-4dab-8869-567f51c0338e" providerId="ADAL" clId="{32976B86-9A01-5E05-BDB2-234D6247B540}" dt="2026-09-21T23:19:05.004" v="205" actId="20577"/>
        <pc:sldMkLst>
          <pc:docMk/>
          <pc:sldMk cId="0" sldId="312"/>
        </pc:sldMkLst>
        <pc:spChg chg="mod">
          <ac:chgData name="Steve France" userId="b43bac2f-065f-4dab-8869-567f51c0338e" providerId="ADAL" clId="{32976B86-9A01-5E05-BDB2-234D6247B540}" dt="2026-09-21T22:46:35.464" v="24" actId="27636"/>
          <ac:spMkLst>
            <pc:docMk/>
            <pc:sldMk cId="0" sldId="312"/>
            <ac:spMk id="2" creationId="{00000000-0000-0000-0000-000000000000}"/>
          </ac:spMkLst>
        </pc:spChg>
        <pc:spChg chg="mod">
          <ac:chgData name="Steve France" userId="b43bac2f-065f-4dab-8869-567f51c0338e" providerId="ADAL" clId="{32976B86-9A01-5E05-BDB2-234D6247B540}" dt="2026-09-21T23:19:05.004" v="205" actId="20577"/>
          <ac:spMkLst>
            <pc:docMk/>
            <pc:sldMk cId="0" sldId="312"/>
            <ac:spMk id="150" creationId="{00000000-0000-0000-0000-000000000000}"/>
          </ac:spMkLst>
        </pc:spChg>
      </pc:sldChg>
      <pc:sldChg chg="modSp mod">
        <pc:chgData name="Steve France" userId="b43bac2f-065f-4dab-8869-567f51c0338e" providerId="ADAL" clId="{32976B86-9A01-5E05-BDB2-234D6247B540}" dt="2026-09-21T23:21:48.116" v="227" actId="20577"/>
        <pc:sldMkLst>
          <pc:docMk/>
          <pc:sldMk cId="0" sldId="313"/>
        </pc:sldMkLst>
        <pc:spChg chg="mod">
          <ac:chgData name="Steve France" userId="b43bac2f-065f-4dab-8869-567f51c0338e" providerId="ADAL" clId="{32976B86-9A01-5E05-BDB2-234D6247B540}" dt="2026-09-21T22:46:35.467" v="25" actId="27636"/>
          <ac:spMkLst>
            <pc:docMk/>
            <pc:sldMk cId="0" sldId="313"/>
            <ac:spMk id="2" creationId="{00000000-0000-0000-0000-000000000000}"/>
          </ac:spMkLst>
        </pc:spChg>
        <pc:spChg chg="mod">
          <ac:chgData name="Steve France" userId="b43bac2f-065f-4dab-8869-567f51c0338e" providerId="ADAL" clId="{32976B86-9A01-5E05-BDB2-234D6247B540}" dt="2026-09-21T23:21:38.068" v="222" actId="20577"/>
          <ac:spMkLst>
            <pc:docMk/>
            <pc:sldMk cId="0" sldId="313"/>
            <ac:spMk id="140" creationId="{00000000-0000-0000-0000-000000000000}"/>
          </ac:spMkLst>
        </pc:spChg>
        <pc:spChg chg="mod">
          <ac:chgData name="Steve France" userId="b43bac2f-065f-4dab-8869-567f51c0338e" providerId="ADAL" clId="{32976B86-9A01-5E05-BDB2-234D6247B540}" dt="2026-09-21T23:21:48.116" v="227" actId="20577"/>
          <ac:spMkLst>
            <pc:docMk/>
            <pc:sldMk cId="0" sldId="313"/>
            <ac:spMk id="150" creationId="{00000000-0000-0000-0000-000000000000}"/>
          </ac:spMkLst>
        </pc:spChg>
      </pc:sldChg>
      <pc:sldChg chg="modSp mod">
        <pc:chgData name="Steve France" userId="b43bac2f-065f-4dab-8869-567f51c0338e" providerId="ADAL" clId="{32976B86-9A01-5E05-BDB2-234D6247B540}" dt="2026-09-21T23:25:06.876" v="296" actId="20577"/>
        <pc:sldMkLst>
          <pc:docMk/>
          <pc:sldMk cId="0" sldId="314"/>
        </pc:sldMkLst>
        <pc:spChg chg="mod">
          <ac:chgData name="Steve France" userId="b43bac2f-065f-4dab-8869-567f51c0338e" providerId="ADAL" clId="{32976B86-9A01-5E05-BDB2-234D6247B540}" dt="2026-09-21T22:46:35.476" v="27" actId="27636"/>
          <ac:spMkLst>
            <pc:docMk/>
            <pc:sldMk cId="0" sldId="314"/>
            <ac:spMk id="2" creationId="{00000000-0000-0000-0000-000000000000}"/>
          </ac:spMkLst>
        </pc:spChg>
        <pc:spChg chg="mod">
          <ac:chgData name="Steve France" userId="b43bac2f-065f-4dab-8869-567f51c0338e" providerId="ADAL" clId="{32976B86-9A01-5E05-BDB2-234D6247B540}" dt="2026-09-21T23:24:11.871" v="264" actId="20577"/>
          <ac:spMkLst>
            <pc:docMk/>
            <pc:sldMk cId="0" sldId="314"/>
            <ac:spMk id="110" creationId="{00000000-0000-0000-0000-000000000000}"/>
          </ac:spMkLst>
        </pc:spChg>
        <pc:spChg chg="mod">
          <ac:chgData name="Steve France" userId="b43bac2f-065f-4dab-8869-567f51c0338e" providerId="ADAL" clId="{32976B86-9A01-5E05-BDB2-234D6247B540}" dt="2026-09-21T23:24:15.375" v="269" actId="20577"/>
          <ac:spMkLst>
            <pc:docMk/>
            <pc:sldMk cId="0" sldId="314"/>
            <ac:spMk id="111" creationId="{00000000-0000-0000-0000-000000000000}"/>
          </ac:spMkLst>
        </pc:spChg>
        <pc:spChg chg="mod">
          <ac:chgData name="Steve France" userId="b43bac2f-065f-4dab-8869-567f51c0338e" providerId="ADAL" clId="{32976B86-9A01-5E05-BDB2-234D6247B540}" dt="2026-09-21T23:24:19.451" v="274" actId="20577"/>
          <ac:spMkLst>
            <pc:docMk/>
            <pc:sldMk cId="0" sldId="314"/>
            <ac:spMk id="113" creationId="{00000000-0000-0000-0000-000000000000}"/>
          </ac:spMkLst>
        </pc:spChg>
        <pc:spChg chg="mod">
          <ac:chgData name="Steve France" userId="b43bac2f-065f-4dab-8869-567f51c0338e" providerId="ADAL" clId="{32976B86-9A01-5E05-BDB2-234D6247B540}" dt="2026-09-21T23:25:06.876" v="296" actId="20577"/>
          <ac:spMkLst>
            <pc:docMk/>
            <pc:sldMk cId="0" sldId="314"/>
            <ac:spMk id="150" creationId="{00000000-0000-0000-0000-000000000000}"/>
          </ac:spMkLst>
        </pc:spChg>
        <pc:spChg chg="mod">
          <ac:chgData name="Steve France" userId="b43bac2f-065f-4dab-8869-567f51c0338e" providerId="ADAL" clId="{32976B86-9A01-5E05-BDB2-234D6247B540}" dt="2026-09-21T23:24:25.350" v="277" actId="20577"/>
          <ac:spMkLst>
            <pc:docMk/>
            <pc:sldMk cId="0" sldId="314"/>
            <ac:spMk id="160" creationId="{00000000-0000-0000-0000-000000000000}"/>
          </ac:spMkLst>
        </pc:spChg>
      </pc:sldChg>
      <pc:sldChg chg="modSp mod">
        <pc:chgData name="Steve France" userId="b43bac2f-065f-4dab-8869-567f51c0338e" providerId="ADAL" clId="{32976B86-9A01-5E05-BDB2-234D6247B540}" dt="2026-09-21T22:46:35.484" v="29" actId="27636"/>
        <pc:sldMkLst>
          <pc:docMk/>
          <pc:sldMk cId="0" sldId="315"/>
        </pc:sldMkLst>
        <pc:spChg chg="mod">
          <ac:chgData name="Steve France" userId="b43bac2f-065f-4dab-8869-567f51c0338e" providerId="ADAL" clId="{32976B86-9A01-5E05-BDB2-234D6247B540}" dt="2026-09-21T22:46:35.484" v="29" actId="27636"/>
          <ac:spMkLst>
            <pc:docMk/>
            <pc:sldMk cId="0" sldId="315"/>
            <ac:spMk id="2" creationId="{00000000-0000-0000-0000-000000000000}"/>
          </ac:spMkLst>
        </pc:spChg>
      </pc:sldChg>
      <pc:sldChg chg="modSp mod">
        <pc:chgData name="Steve France" userId="b43bac2f-065f-4dab-8869-567f51c0338e" providerId="ADAL" clId="{32976B86-9A01-5E05-BDB2-234D6247B540}" dt="2026-09-21T23:05:59.817" v="97" actId="20577"/>
        <pc:sldMkLst>
          <pc:docMk/>
          <pc:sldMk cId="0" sldId="322"/>
        </pc:sldMkLst>
        <pc:spChg chg="mod">
          <ac:chgData name="Steve France" userId="b43bac2f-065f-4dab-8869-567f51c0338e" providerId="ADAL" clId="{32976B86-9A01-5E05-BDB2-234D6247B540}" dt="2026-09-21T22:46:35.437" v="17" actId="27636"/>
          <ac:spMkLst>
            <pc:docMk/>
            <pc:sldMk cId="0" sldId="322"/>
            <ac:spMk id="2" creationId="{00000000-0000-0000-0000-000000000000}"/>
          </ac:spMkLst>
        </pc:spChg>
        <pc:spChg chg="mod">
          <ac:chgData name="Steve France" userId="b43bac2f-065f-4dab-8869-567f51c0338e" providerId="ADAL" clId="{32976B86-9A01-5E05-BDB2-234D6247B540}" dt="2026-09-21T23:05:31.409" v="92" actId="20577"/>
          <ac:spMkLst>
            <pc:docMk/>
            <pc:sldMk cId="0" sldId="322"/>
            <ac:spMk id="100" creationId="{00000000-0000-0000-0000-000000000000}"/>
          </ac:spMkLst>
        </pc:spChg>
        <pc:spChg chg="mod">
          <ac:chgData name="Steve France" userId="b43bac2f-065f-4dab-8869-567f51c0338e" providerId="ADAL" clId="{32976B86-9A01-5E05-BDB2-234D6247B540}" dt="2026-09-21T23:05:36.665" v="96" actId="20577"/>
          <ac:spMkLst>
            <pc:docMk/>
            <pc:sldMk cId="0" sldId="322"/>
            <ac:spMk id="121" creationId="{00000000-0000-0000-0000-000000000000}"/>
          </ac:spMkLst>
        </pc:spChg>
        <pc:spChg chg="mod">
          <ac:chgData name="Steve France" userId="b43bac2f-065f-4dab-8869-567f51c0338e" providerId="ADAL" clId="{32976B86-9A01-5E05-BDB2-234D6247B540}" dt="2026-09-21T23:05:59.817" v="97" actId="20577"/>
          <ac:spMkLst>
            <pc:docMk/>
            <pc:sldMk cId="0" sldId="322"/>
            <ac:spMk id="140" creationId="{00000000-0000-0000-0000-000000000000}"/>
          </ac:spMkLst>
        </pc:spChg>
      </pc:sldChg>
      <pc:sldChg chg="modSp mod">
        <pc:chgData name="Steve France" userId="b43bac2f-065f-4dab-8869-567f51c0338e" providerId="ADAL" clId="{32976B86-9A01-5E05-BDB2-234D6247B540}" dt="2026-09-21T23:00:14.811" v="87" actId="20577"/>
        <pc:sldMkLst>
          <pc:docMk/>
          <pc:sldMk cId="0" sldId="323"/>
        </pc:sldMkLst>
        <pc:spChg chg="mod">
          <ac:chgData name="Steve France" userId="b43bac2f-065f-4dab-8869-567f51c0338e" providerId="ADAL" clId="{32976B86-9A01-5E05-BDB2-234D6247B540}" dt="2026-09-21T22:46:35.409" v="10" actId="27636"/>
          <ac:spMkLst>
            <pc:docMk/>
            <pc:sldMk cId="0" sldId="323"/>
            <ac:spMk id="2"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0"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1"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2" creationId="{00000000-0000-0000-0000-000000000000}"/>
          </ac:spMkLst>
        </pc:spChg>
        <pc:spChg chg="mod">
          <ac:chgData name="Steve France" userId="b43bac2f-065f-4dab-8869-567f51c0338e" providerId="ADAL" clId="{32976B86-9A01-5E05-BDB2-234D6247B540}" dt="2026-09-21T23:00:14.811" v="87" actId="20577"/>
          <ac:spMkLst>
            <pc:docMk/>
            <pc:sldMk cId="0" sldId="323"/>
            <ac:spMk id="140" creationId="{00000000-0000-0000-0000-000000000000}"/>
          </ac:spMkLst>
        </pc:spChg>
      </pc:sldChg>
      <pc:sldChg chg="modSp mod">
        <pc:chgData name="Steve France" userId="b43bac2f-065f-4dab-8869-567f51c0338e" providerId="ADAL" clId="{32976B86-9A01-5E05-BDB2-234D6247B540}" dt="2026-09-21T23:00:01.005" v="83" actId="20577"/>
        <pc:sldMkLst>
          <pc:docMk/>
          <pc:sldMk cId="0" sldId="324"/>
        </pc:sldMkLst>
        <pc:spChg chg="mod">
          <ac:chgData name="Steve France" userId="b43bac2f-065f-4dab-8869-567f51c0338e" providerId="ADAL" clId="{32976B86-9A01-5E05-BDB2-234D6247B540}" dt="2026-09-21T22:46:35.425" v="14" actId="27636"/>
          <ac:spMkLst>
            <pc:docMk/>
            <pc:sldMk cId="0" sldId="324"/>
            <ac:spMk id="2"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0"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1"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2" creationId="{00000000-0000-0000-0000-000000000000}"/>
          </ac:spMkLst>
        </pc:spChg>
        <pc:spChg chg="mod">
          <ac:chgData name="Steve France" userId="b43bac2f-065f-4dab-8869-567f51c0338e" providerId="ADAL" clId="{32976B86-9A01-5E05-BDB2-234D6247B540}" dt="2026-09-21T23:00:01.005" v="83" actId="20577"/>
          <ac:spMkLst>
            <pc:docMk/>
            <pc:sldMk cId="0" sldId="324"/>
            <ac:spMk id="140" creationId="{00000000-0000-0000-0000-000000000000}"/>
          </ac:spMkLst>
        </pc:spChg>
      </pc:sldChg>
      <pc:sldChg chg="modSp mod">
        <pc:chgData name="Steve France" userId="b43bac2f-065f-4dab-8869-567f51c0338e" providerId="ADAL" clId="{32976B86-9A01-5E05-BDB2-234D6247B540}" dt="2026-09-21T23:11:00.375" v="187" actId="404"/>
        <pc:sldMkLst>
          <pc:docMk/>
          <pc:sldMk cId="0" sldId="325"/>
        </pc:sldMkLst>
        <pc:spChg chg="mod">
          <ac:chgData name="Steve France" userId="b43bac2f-065f-4dab-8869-567f51c0338e" providerId="ADAL" clId="{32976B86-9A01-5E05-BDB2-234D6247B540}" dt="2026-09-21T22:46:35.445" v="19" actId="27636"/>
          <ac:spMkLst>
            <pc:docMk/>
            <pc:sldMk cId="0" sldId="325"/>
            <ac:spMk id="2"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0"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1"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2" creationId="{00000000-0000-0000-0000-000000000000}"/>
          </ac:spMkLst>
        </pc:spChg>
      </pc:sldChg>
      <pc:sldChg chg="modSp mod">
        <pc:chgData name="Steve France" userId="b43bac2f-065f-4dab-8869-567f51c0338e" providerId="ADAL" clId="{32976B86-9A01-5E05-BDB2-234D6247B540}" dt="2026-09-21T22:46:35.453" v="21" actId="27636"/>
        <pc:sldMkLst>
          <pc:docMk/>
          <pc:sldMk cId="0" sldId="326"/>
        </pc:sldMkLst>
        <pc:spChg chg="mod">
          <ac:chgData name="Steve France" userId="b43bac2f-065f-4dab-8869-567f51c0338e" providerId="ADAL" clId="{32976B86-9A01-5E05-BDB2-234D6247B540}" dt="2026-09-21T22:46:35.453" v="21" actId="27636"/>
          <ac:spMkLst>
            <pc:docMk/>
            <pc:sldMk cId="0" sldId="326"/>
            <ac:spMk id="2" creationId="{00000000-0000-0000-0000-000000000000}"/>
          </ac:spMkLst>
        </pc:s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Open on the question the whole lecture answers.</a:t>
            </a:r>
          </a:p>
          <a:p>
            <a:endParaRPr lang="en-US" dirty="0"/>
          </a:p>
          <a:p>
            <a:r>
              <a:rPr lang="en-US" b="0" i="0" dirty="0"/>
              <a:t>• The spine on screen — claim, evidence, judgment, action — is the shape of the whole lecture and of the closing Assurance Case slide.</a:t>
            </a:r>
          </a:p>
          <a:p>
            <a:r>
              <a:rPr lang="en-US" b="0" i="0" dirty="0"/>
              <a:t>• Frame it as the lecture where every earlier engineering model finally meets evidence.</a:t>
            </a:r>
          </a:p>
          <a:p>
            <a:r>
              <a:rPr lang="en-US" b="0" i="0" dirty="0"/>
              <a:t>• The action we care about today is delivery — but keep the fourth box general; later evidence can justify other actions.</a:t>
            </a:r>
          </a:p>
          <a:p>
            <a:endParaRPr lang="en-US" dirty="0"/>
          </a:p>
          <a:p>
            <a:r>
              <a:rPr lang="en-US" b="0" i="0" dirty="0"/>
              <a:t>=====</a:t>
            </a:r>
          </a:p>
          <a:p>
            <a:endParaRPr lang="en-US" dirty="0"/>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Plant the governing model early so the lecture has a destination.</a:t>
            </a:r>
          </a:p>
          <a:p/>
          <a:p>
            <a:r>
              <a:t>• Build the spine one element at a time: CLAIM, EVIDENCE, JUDGMENT, ACTION — with the question each element answers.</a:t>
            </a:r>
          </a:p>
          <a:p>
            <a:r>
              <a:t>• Name the term Assurance Case now; do not teach GSN or any notation. They need the idea, not the diagram language.</a:t>
            </a:r>
          </a:p>
          <a:p>
            <a:r>
              <a:t>• Do NOT imply the only action is delivery. Delivery motivates the lecture, but evidence may justify gathering more, changing the system, revisiting upstream, or refusing.</a:t>
            </a:r>
          </a:p>
          <a:p>
            <a:r>
              <a:t>• The assurance case is the lecture's organizing frame, populated progressively using the payment example. The footer promise is real — we return to this structure on the final slide; make the promise explicitly.</a:t>
            </a:r>
          </a:p>
          <a:p/>
          <a:p>
            <a:r>
              <a:t>=====</a:t>
            </a:r>
          </a:p>
          <a:p/>
          <a:p>
            <a:r>
              <a:t>Before any technique, here is the shape of the whole subject.</a:t>
            </a:r>
          </a:p>
          <a:p/>
          <a:p>
            <a:r>
              <a:t>ANIMATE</a:t>
            </a:r>
          </a:p>
          <a:p/>
          <a:p>
            <a:r>
              <a:t>A claim: what must be true?</a:t>
            </a:r>
          </a:p>
          <a:p/>
          <a:p>
            <a:r>
              <a:t>ANIMATE</a:t>
            </a:r>
          </a:p>
          <a:p/>
          <a:p>
            <a:r>
              <a:t>Evidence: what evidence bears on it?</a:t>
            </a:r>
          </a:p>
          <a:p/>
          <a:p>
            <a:r>
              <a:t>ANIMATE</a:t>
            </a:r>
          </a:p>
          <a:p/>
          <a:p>
            <a:r>
              <a:t>Judgment: how strong is that evidence — and is it enough?</a:t>
            </a:r>
          </a:p>
          <a:p/>
          <a:p>
            <a:r>
              <a:t>ANIMATE</a:t>
            </a:r>
          </a:p>
          <a:p/>
          <a:p>
            <a:r>
              <a:t>Action: what should we do?</a:t>
            </a:r>
          </a:p>
          <a:p/>
          <a:p>
            <a:r>
              <a:t>ANIMATE</a:t>
            </a:r>
          </a:p>
          <a:p/>
          <a:p>
            <a:r>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p>
            <a:r>
              <a:t>ANIMATE</a:t>
            </a:r>
          </a:p>
          <a:p/>
          <a:p>
            <a:r>
              <a:t>One caution before we start: delivery is the action this lecture asks about, but it is not the only possible action. Evidence can send you back — to gather more, to change the system, to revisit an upstream decision, or to refuse.</a:t>
            </a:r>
          </a:p>
          <a:p>
            <a:r>
              <a:t>We will construct this argument progressively through the lecture and return to it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Think-pair-share: confidence is not one setting, and consequence sets the burden.</a:t>
            </a:r>
          </a:p>
          <a:p>
            <a:endParaRPr lang="en-US" dirty="0"/>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dirty="0"/>
          </a:p>
          <a:p>
            <a:r>
              <a:rPr lang="en-US" b="0" i="0" dirty="0"/>
              <a:t>=====</a:t>
            </a:r>
          </a:p>
          <a:p>
            <a:endParaRPr lang="en-US" dirty="0"/>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dirty="0"/>
          </a:p>
          <a:p>
            <a:r>
              <a:rPr lang="en-US" b="0" i="0" dirty="0"/>
              <a:t>ANIMATE</a:t>
            </a:r>
          </a:p>
          <a:p>
            <a:endParaRPr lang="en-US" dirty="0"/>
          </a:p>
          <a:p>
            <a:r>
              <a:rPr lang="en-US" b="0" i="0" dirty="0"/>
              <a:t>The TODO app occasionally loses a task — and destroys information a user depends on.</a:t>
            </a:r>
          </a:p>
          <a:p>
            <a:endParaRPr lang="en-US" dirty="0"/>
          </a:p>
          <a:p>
            <a:r>
              <a:rPr lang="en-US" b="0" i="0" dirty="0"/>
              <a:t>ANIMATE</a:t>
            </a:r>
          </a:p>
          <a:p>
            <a:endParaRPr lang="en-US" dirty="0"/>
          </a:p>
          <a:p>
            <a:r>
              <a:rPr lang="en-US" b="0" i="0" dirty="0"/>
              <a:t>The payroll system produces an incorrect transaction — money, trust, legal obligations.</a:t>
            </a:r>
          </a:p>
          <a:p>
            <a:endParaRPr lang="en-US" dirty="0"/>
          </a:p>
          <a:p>
            <a:r>
              <a:rPr lang="en-US" b="0" i="0" dirty="0"/>
              <a:t>ANIMATE</a:t>
            </a:r>
          </a:p>
          <a:p>
            <a:endParaRPr lang="en-US" dirty="0"/>
          </a:p>
          <a:p>
            <a:r>
              <a:rPr lang="en-US" b="0" i="0" dirty="0"/>
              <a:t>The X-ray controller delivers an incorrect dose — direct physical injury to the person in front of it.</a:t>
            </a:r>
          </a:p>
          <a:p>
            <a:endParaRPr lang="en-US" dirty="0"/>
          </a:p>
          <a:p>
            <a:r>
              <a:rPr lang="en-US" b="0" i="0" dirty="0"/>
              <a:t>ANIMATE</a:t>
            </a:r>
          </a:p>
          <a:p>
            <a:endParaRPr lang="en-US" dirty="0"/>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Reframe validation as sufficient evidence under uncertainty, not proof.</a:t>
            </a:r>
          </a:p>
          <a:p>
            <a:endParaRPr lang="en-US" dirty="0"/>
          </a:p>
          <a:p>
            <a:r>
              <a:rPr lang="en-US" b="0" i="0" dirty="0"/>
              <a:t>• Core move: validation asks what evidence JUSTIFIES ACTING, not for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dirty="0"/>
          </a:p>
          <a:p>
            <a:r>
              <a:rPr lang="en-US" b="0" i="0" dirty="0"/>
              <a:t>=====</a:t>
            </a:r>
          </a:p>
          <a:p>
            <a:endParaRPr lang="en-US" dirty="0"/>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Recover the chain of models — the left leg, earned before any V is drawn.</a:t>
            </a:r>
          </a:p>
          <a:p/>
          <a:p>
            <a:r>
              <a:t>• Draw only this leg. There is no reason to draw a V yet — the right side has to be earned.</a:t>
            </a:r>
          </a:p>
          <a:p>
            <a:r>
              <a:t>• The chain is the payoff of the previous four lectures, compressed.</a:t>
            </a:r>
          </a:p>
          <a:p>
            <a:r>
              <a:t>• The running claim enters here, attached to the Specification: a submitted payment shall cause at most one charge. It stays on the board for the rest of the lecture.</a:t>
            </a:r>
          </a:p>
          <a:p>
            <a:r>
              <a:t>• Validation does not invent consequential claims. It inherits them from the engineering models that led to the implementation.</a:t>
            </a:r>
          </a:p>
          <a:p>
            <a:r>
              <a:t>• Levels are convenient, not a law: the middle refines as far as the engineering problem requires. The nadir is the Implementation.</a:t>
            </a:r>
          </a:p>
          <a:p/>
          <a:p>
            <a:r>
              <a:t>• (absorbed from the deleted machine/environment slide) The requirements/specification end of the chain carries the essential relationship: MACHINE + ENVIRONMENT → WORLD. Evidence about the machine establishes the machine-side obligation. Connecting that obligation back to the world requirement also depends on the environment assumptions. A false domain assumption may therefore survive extensive machine-side validation.</a:t>
            </a:r>
          </a:p>
          <a:p>
            <a:r>
              <a:t>• (absorbed) We might establish perfectly that our software submits a payment at most once under the semantics we modeled, while being wrong about the provider’s actual semantics. The provider’s ACTUAL semantics — not the ones in their documentation — are part of the environment. Machine-side evidence cannot expose a false domain assumption; world evidence can.</a:t>
            </a:r>
          </a:p>
          <a:p>
            <a:r>
              <a:t>• The claim now EVOLVES down the chain on the slide: world outcome → machine obligation → system / subsystem / mechanism responsibilities → realization. Walk each fragment as its level appears.</a:t>
            </a:r>
          </a:p>
          <a:p>
            <a:r>
              <a:t>• The requirement concerns the world: what happens to the customer. The specification translates that into an obligation on the machine. Architecture and design refine the obligation into responsibilities and mechanisms. Implementation realizes those mechanisms.</a:t>
            </a:r>
          </a:p>
          <a:p>
            <a:r>
              <a:t>• Even perfect machine-side evidence establishes only the machine-side claim under the assumptions represented by our models. If the payment provider's actual semantics differ from our assumed semantics, the world-level outcome may still fail.</a:t>
            </a:r>
          </a:p>
          <a:p>
            <a:r>
              <a:t>• The implementation fragment is record-BEFORE-charge (lookup ID → record ID → charge provider) — deliberately consistent with the rule stated on slide 12; the defect there is the inversion of exactly this sequence.</a:t>
            </a:r>
          </a:p>
          <a:p>
            <a:r>
              <a:t>=====</a:t>
            </a:r>
          </a:p>
          <a:p/>
          <a:p>
            <a:r>
              <a:t>Before we can say where evidence attaches, we need the thing it attaches to. This is the chain you have been building all term.</a:t>
            </a:r>
          </a:p>
          <a:p/>
          <a:p>
            <a:r>
              <a:t>ANIMATE</a:t>
            </a:r>
          </a:p>
          <a:p/>
          <a:p>
            <a:r>
              <a:t>Requirements: what the world must get.</a:t>
            </a:r>
          </a:p>
          <a:p/>
          <a:p>
            <a:r>
              <a:t>ANIMATE</a:t>
            </a:r>
          </a:p>
          <a:p/>
          <a:p>
            <a:r>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p>
            <a:r>
              <a:t>ANIMATE</a:t>
            </a:r>
          </a:p>
          <a:p/>
          <a:p>
            <a:r>
              <a:t>Architecture and design: how. And these refine —</a:t>
            </a:r>
          </a:p>
          <a:p/>
          <a:p>
            <a:r>
              <a:t>ANIMATE</a:t>
            </a:r>
          </a:p>
          <a:p/>
          <a:p>
            <a:r>
              <a:t>— system organization, subsystem, mechanism. The number of levels is not fixed by anything; you refine as far as the engineering problem requires.</a:t>
            </a:r>
          </a:p>
          <a:p/>
          <a:p>
            <a:r>
              <a:t>ANIMATE</a:t>
            </a:r>
          </a:p>
          <a:p/>
          <a:p>
            <a:r>
              <a:t>And the implementation: the machine you actually built.</a:t>
            </a:r>
          </a:p>
          <a:p/>
          <a:p>
            <a:r>
              <a:t>ANIMATE</a:t>
            </a:r>
          </a:p>
          <a:p/>
          <a:p>
            <a:r>
              <a:t>A chain of models growing more precise toward the code. Not a schedule of phases — read it as a structure, not a calendar.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minutes — The V is a summary of what we just derived: down the models, across the implementation trough, back up the evidence scopes.</a:t>
            </a:r>
          </a:p>
          <a:p/>
          <a:p>
            <a:r>
              <a:t>• Now — and only now — draw the right leg. The aha is that the V is a summary, not a doctrine.</a:t>
            </a:r>
          </a:p>
          <a:p>
            <a:r>
              <a:t>• The shape: left leg = increasingly concrete models and claims; the bottom trough = the implementation exists, and the smallest evidence scope attaches directly to it; right leg = evidence scopes expanding outward. Implementation is the bottom-LEFT endpoint, Unit the bottom-RIGHT; the trough joins them. This resolves the old "Unit dangling without a left counterpart" asymmetry WITHOUT claiming "unit" is an engineering model.</a:t>
            </a:r>
          </a:p>
          <a:p>
            <a:r>
              <a:t>• The motion is the pedagogy: down the model chain (students just saw it on slide 5), ACROSS the trough from Implementation to Unit, then climb Unit → Integration → System → Acceptance, each with its dotted pairing line.</a:t>
            </a:r>
          </a:p>
          <a:p>
            <a:r>
              <a:t>• The dotted lines are the content: a property expressed at one modeling scope requires evidence capable of establishing it at the corresponding scope. Acceptance sits at the top of the right leg because it pairs with requirements.</a:t>
            </a:r>
          </a:p>
          <a:p>
            <a:r>
              <a:t>• Then attach the conventional vocabulary — unit, integration, system, acceptance — to the concept they already hold. These words name SCOPES, not evidence mechanisms.</a:t>
            </a:r>
          </a:p>
          <a:p>
            <a:r>
              <a:t>• Warn against reading it as a law: evidence tends to attach at corresponding scopes. The V is a useful organizing model, not a law saying every left-hand artifact has exactly one matching validation activity.</a:t>
            </a:r>
          </a:p>
          <a:p>
            <a:r>
              <a:t>• Stress the relativity: your "unit" is somebody else's "system". Arguing about which word is correct is wasted time; the question underneath — where does this property live? — is not relative.</a:t>
            </a:r>
          </a:p>
          <a:p>
            <a:r>
              <a:t>• (scope definitions, notes-only; say them as you climb the right leg) Unit — a chosen part in isolation. Integration — interactions among parts. System — the assembled system at a boundary. Acceptance — the delivered system achieving its purpose in the world. Left-leg glosses: Requirements — world outcomes; Specification — machine obligations under environment assumptions; Architecture and design — progressively more precise engineering models, refined as far as the problem requires.</a:t>
            </a:r>
          </a:p>
          <a:p/>
          <a:p>
            <a:r>
              <a:t>=====</a:t>
            </a:r>
          </a:p>
          <a:p/>
          <a:p>
            <a:r>
              <a:t>You have seen a V before, probably presented as a process. Watch where this one comes from. The left side: the chain of models we recovered two slides ago — nothing new. Watch it come down.</a:t>
            </a:r>
          </a:p>
          <a:p/>
          <a:p>
            <a:r>
              <a:t>ANIMATE</a:t>
            </a:r>
          </a:p>
          <a:p/>
          <a:p>
            <a:r>
              <a:t>Requirements.</a:t>
            </a:r>
          </a:p>
          <a:p/>
          <a:p>
            <a:r>
              <a:t>ANIMATE</a:t>
            </a:r>
          </a:p>
          <a:p/>
          <a:p>
            <a:r>
              <a:t>Specification.</a:t>
            </a:r>
          </a:p>
          <a:p/>
          <a:p>
            <a:r>
              <a:t>ANIMATE</a:t>
            </a:r>
          </a:p>
          <a:p/>
          <a:p>
            <a:r>
              <a:t>Architecture and design.</a:t>
            </a:r>
          </a:p>
          <a:p/>
          <a:p>
            <a:r>
              <a:t>ANIMATE</a:t>
            </a:r>
          </a:p>
          <a:p/>
          <a:p>
            <a:r>
              <a:t>And the implementation — the machine you actually built. The chain bottoms out here, at the bottom-left.</a:t>
            </a:r>
          </a:p>
          <a:p/>
          <a:p>
            <a:r>
              <a:t>ANIMATE</a:t>
            </a:r>
          </a:p>
          <a:p/>
          <a:p>
            <a:r>
              <a:t>Now cross the floor. The implementation exists — and the smallest scope of evidence attaches directly to it. The industry word for that scope is Unit: a chosen part in isolation.</a:t>
            </a:r>
          </a:p>
          <a:p/>
          <a:p>
            <a:r>
              <a:t>ANIMATE</a:t>
            </a:r>
          </a:p>
          <a:p/>
          <a:p>
            <a:r>
              <a:t>From there the evidence expands. Integration: interactions among parts — and follow the dotted line: it pairs with the architecture, because that is where the parts and their interactions were decided.</a:t>
            </a:r>
          </a:p>
          <a:p/>
          <a:p>
            <a:r>
              <a:t>ANIMATE</a:t>
            </a:r>
          </a:p>
          <a:p/>
          <a:p>
            <a:r>
              <a:t>System: the assembled system at a boundary — paired with the specification, the machine's obligations at its boundary.</a:t>
            </a:r>
          </a:p>
          <a:p/>
          <a:p>
            <a:r>
              <a:t>ANIMATE</a:t>
            </a:r>
          </a:p>
          <a:p/>
          <a:p>
            <a:r>
              <a:t>Acceptance: the delivered system achieving its purpose in the world — paired with requirements, because that is where the required outcome lives.</a:t>
            </a:r>
          </a:p>
          <a:p/>
          <a:p>
            <a:r>
              <a:t>The V is not a development process anybody has to follow. It is a summary of a relationship we derived: each model has a scope at which its claims can actually be checked. Two cautions. These words are relative — your team's unit is, from inside, a system with its own architecture. And evidence TENDS to attach at corresponding scopes — the V is an organizing model, not a law that every left-hand artifact has exactly one matching validation activity. The words name scopes of evidence, not how the evidence was obtained. How to obtain it is the next section.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HUMAN JUDGMENT is next.</a:t>
            </a:r>
          </a:p>
          <a:p>
            <a:endParaRPr lang="en-US"/>
          </a:p>
          <a:p>
            <a:r>
              <a:rPr lang="en-US" b="0" i="0" dirty="0"/>
              <a:t>• Do not re-teach the slide. One sentence of re-entry: three ways to obtain evidence — we now take them in turn, starting with human judgment.</a:t>
            </a:r>
          </a:p>
          <a:p>
            <a:r>
              <a:rPr lang="en-US" b="0" i="0" dirty="0"/>
              <a:t>• The two faded columns are deliberate de-emphasis, not a rendering fault; students should register where we are, not re-read the content.</a:t>
            </a:r>
          </a:p>
          <a:p>
            <a:r>
              <a:rPr lang="en-US" b="0" i="0" dirty="0"/>
              <a:t>• Then straight into the PCB search exercise, cold.</a:t>
            </a:r>
          </a:p>
          <a:p>
            <a:endParaRPr lang="en-US"/>
          </a:p>
          <a:p>
            <a:r>
              <a:rPr lang="en-US" b="0" i="0" dirty="0"/>
              <a:t>=====</a:t>
            </a:r>
          </a:p>
          <a:p>
            <a:endParaRPr lang="en-US"/>
          </a:p>
          <a:p>
            <a:r>
              <a:rPr lang="en-US" b="0" i="0" dirty="0"/>
              <a:t>Back at our map. One sentence of re-entry: three ways to obtain evidence — we now take them in turn, starting with human judgment.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Earned conclusion: human attention is evidence, not enforcement.</a:t>
            </a:r>
          </a:p>
          <a:p>
            <a:endParaRPr lang="en-US" dirty="0"/>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two-part argument on screen, and take them in that order — reality first, then the phenomenon that explains it. LEFT, the concrete anchor: airport security screening, a consequential real-world inspection task, where trained screeners are covertly tested against planted threats (GAO-19-374). RIGHT, the general result that explains it: rare targets are disproportionately missed in visual search (Wolfe et al., Nature 2005).</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dirty="0"/>
          </a:p>
          <a:p>
            <a:r>
              <a:rPr lang="en-US" b="0" i="0" dirty="0"/>
              <a:t>=====</a:t>
            </a:r>
          </a:p>
          <a:p>
            <a:endParaRPr lang="en-US" dirty="0"/>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dirty="0"/>
          </a:p>
          <a:p>
            <a:r>
              <a:rPr lang="en-US" b="0" i="0" dirty="0"/>
              <a:t>ANIMATE</a:t>
            </a:r>
          </a:p>
          <a:p>
            <a:endParaRPr lang="en-US" dirty="0"/>
          </a:p>
          <a:p>
            <a:r>
              <a:rPr lang="en-US" b="0" i="0" dirty="0"/>
              <a:t>Twelve artifacts and one defect is already hard. Now scale the axis: ten thousand artifacts. What is the detection rate, and who is doing the looking?</a:t>
            </a:r>
          </a:p>
          <a:p>
            <a:endParaRPr lang="en-US" dirty="0"/>
          </a:p>
          <a:p>
            <a:r>
              <a:rPr lang="en-US" b="0" i="0" dirty="0"/>
              <a:t>ANIMATE</a:t>
            </a:r>
          </a:p>
          <a:p>
            <a:endParaRPr lang="en-US" dirty="0"/>
          </a:p>
          <a:p>
            <a:r>
              <a:rPr lang="en-US" b="0" i="0" dirty="0"/>
              <a:t>Start with reality, not with papers. Airport security screening — a consequential real-world inspection task, staffed by trained professionals whose whole job is to look. Screening agencies run covert tests against their own inspectors, because professional inspection is a capacity-limited control. Humans miss rare targets even there.</a:t>
            </a:r>
          </a:p>
          <a:p>
            <a:r>
              <a:rPr lang="en-US" b="0" i="0" dirty="0"/>
              <a:t>Then the phenomenon underneath it: rare targets are disproportionately missed in visual search — Wolfe and colleagues in Nature. That is not a fact about screeners. It is a fact about looking.</a:t>
            </a:r>
          </a:p>
          <a:p>
            <a:r>
              <a:rPr lang="en-US" b="0" i="0" dirty="0"/>
              <a:t>(Assigned reading, worth naming here even though it is off the slide: Warm, Parasuraman and Matthews show sustained vigilance is hard mental work that consumes attention and produces workload and stress. That is the mechanism behind both boxes.)</a:t>
            </a:r>
          </a:p>
          <a:p>
            <a:endParaRPr lang="en-US" dirty="0"/>
          </a:p>
          <a:p>
            <a:r>
              <a:rPr lang="en-US" b="0" i="0" dirty="0"/>
              <a:t>ANIMATE</a:t>
            </a:r>
          </a:p>
          <a:p>
            <a:endParaRPr lang="en-US" dirty="0"/>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REASONING OVER POSSIBLE BEHAVIOR is next.</a:t>
            </a:r>
          </a:p>
          <a:p>
            <a:endParaRPr lang="en-US"/>
          </a:p>
          <a:p>
            <a:r>
              <a:rPr lang="en-US" b="0" i="0" dirty="0"/>
              <a:t>• Do not re-teach the slide. One sentence: human judgment is spent where judgment is required — now the second mechanism, reasoning over possible behavior without running each one.</a:t>
            </a:r>
          </a:p>
          <a:p>
            <a:r>
              <a:rPr lang="en-US" b="0" i="0" dirty="0"/>
              <a:t>• The two faded columns are deliberate de-emphasis, not a rendering fault; students should register where we are, not re-read the content.</a:t>
            </a:r>
          </a:p>
          <a:p>
            <a:r>
              <a:rPr lang="en-US" b="0" i="0" dirty="0"/>
              <a:t>• Then the static-analysis tutorial, abstraction, and model checking.</a:t>
            </a:r>
          </a:p>
          <a:p>
            <a:endParaRPr lang="en-US"/>
          </a:p>
          <a:p>
            <a:r>
              <a:rPr lang="en-US" b="0" i="0" dirty="0"/>
              <a:t>=====</a:t>
            </a:r>
          </a:p>
          <a:p>
            <a:endParaRPr lang="en-US"/>
          </a:p>
          <a:p>
            <a:r>
              <a:rPr lang="en-US" b="0" i="0" dirty="0"/>
              <a:t>Back at our map. One sentence: human judgment is spent where judgment is required — now the second mechanism, reasoning over possible behavior without running each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The common idea behind static analysis and model checking.</a:t>
            </a:r>
          </a:p>
          <a:p/>
          <a:p>
            <a:r>
              <a:t>• Land the category's own move first, in two halves: THE REPRESENTATION — an abstraction, or an explicit model, of what the software can do — and THE CONCLUSION it supports: what can or cannot happen, over every behavior that representation admits. Do NOT re-run the comparison against testing; the three mechanisms were contrasted once, on the map, and this slide is about this category's own epistemology.</a:t>
            </a:r>
          </a:p>
          <a:p>
            <a:r>
              <a:t>• Then the choices every formal technique makes: the representation, which behaviors it includes, the property, the assumptions, the bounds or approximations. Those choices ARE the technique.</a:t>
            </a:r>
          </a:p>
          <a:p>
            <a:r>
              <a:t>• Introduce the two techniques that follow: abstract static analysis reasons over an abstraction; model checking searches behaviors admitted by an explicit model, often within explicit bounds.</a:t>
            </a:r>
          </a:p>
          <a:p>
            <a:r>
              <a:t>• Do not present this as a rigid taxonomy of all formal methods. It is a conceptual comparison for this course.</a:t>
            </a:r>
          </a:p>
          <a:p/>
          <a:p>
            <a:r>
              <a:t>=====</a:t>
            </a:r>
          </a:p>
          <a:p/>
          <a:p>
            <a:r>
              <a:t>This category reasons about what the software COULD do. Build a representation of its behavior, then ask what that representation permits.</a:t>
            </a:r>
          </a:p>
          <a:p/>
          <a:p>
            <a:r>
              <a:t>ANIMATE</a:t>
            </a:r>
          </a:p>
          <a:p/>
          <a:p>
            <a:r>
              <a:t>The representation — an abstraction, or an explicit model, of what the software can do. And the conclusion it supports: what can or cannot happen in it, over every behavior it represents. Those two halves are the whole category.</a:t>
            </a:r>
          </a:p>
          <a:p/>
          <a:p>
            <a:r>
              <a:t>ANIMATE</a:t>
            </a:r>
          </a:p>
          <a:p/>
          <a:p>
            <a:r>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p>
            <a:r>
              <a:t>ANIMATE</a:t>
            </a:r>
          </a:p>
          <a:p/>
          <a:p>
            <a:r>
              <a:t>Two techniques for this course. Abstract static analysis: reason over an abstraction of possible program behavior. Model checking: search the behaviors an explicit model admits, often up to a stated bound. One each, next two slides.</a:t>
            </a:r>
          </a:p>
          <a:p/>
          <a:p>
            <a:r>
              <a:t>ANIMATE</a:t>
            </a:r>
          </a:p>
          <a:p/>
          <a:p>
            <a:r>
              <a:t>This is not a rigid taxonomy of all formal methods — it is the conceptual comparison an undergraduate needs: the conclusion is limited by the representation and its assumptions.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mechanism itself, taught from the tiny program — before any properties.</a:t>
            </a:r>
          </a:p>
          <a:p>
            <a:endParaRPr lang="en-US" dirty="0"/>
          </a:p>
          <a:p>
            <a:r>
              <a:rPr lang="en-US" b="0" i="0" dirty="0"/>
              <a:t>• TEACHING OBJECTIVE (specific): after this slide a sophomore should be able to say “the analyzer represents SETS of possible values and propagates those possibilities through the program, so what it establishes at a point holds for every value at once.” That intuition must land BEFORE soundness, false positives, or abstraction loss — those come on the next slide.</a:t>
            </a:r>
          </a:p>
          <a:p>
            <a:r>
              <a:rPr lang="en-US" b="0" i="0" dirty="0"/>
              <a:t>• The shape of the slide, in order: PROGRAM → abstraction → what the analyzer knows at each point → a finding, or an established property. Teach it in that order and the slide carries itself.</a:t>
            </a:r>
          </a:p>
          <a:p>
            <a:r>
              <a:rPr lang="en-US" b="0" i="0" dirty="0"/>
              <a:t>• Walk the branch diagram left to right with the table: at entry the analyzer knows only x ∈ all possible amounts. The condition splits the possibilities. The only way to reach charge(x) is the false branch, and on that branch x ≤ ACCOUNT_LIMIT. That fact travels forward to charge(x).</a:t>
            </a:r>
          </a:p>
          <a:p>
            <a:r>
              <a:rPr lang="en-US" b="0" i="0" dirty="0"/>
              <a:t>• Then pose the question and answer it off the diagram: can charge(x) be reached with x &gt; ACCOUNT_LIMIT? No path in the abstraction permits it — and nothing was executed.</a:t>
            </a:r>
          </a:p>
          <a:p>
            <a:r>
              <a:rPr lang="en-US" b="0" i="0" dirty="0"/>
              <a:t>• Real analyses use much richer abstract domains and approximations (intervals, points-to sets, path conditions, heap shapes); this toy interval-style example only exposes the underlying idea. Say that explicitly so nobody leaves thinking static analysis is a two-branch trick.</a:t>
            </a:r>
          </a:p>
          <a:p>
            <a:endParaRPr lang="en-US" dirty="0"/>
          </a:p>
          <a:p>
            <a:r>
              <a:rPr lang="en-US" b="0" i="0" dirty="0"/>
              <a:t>=====</a:t>
            </a:r>
          </a:p>
          <a:p>
            <a:endParaRPr lang="en-US" dirty="0"/>
          </a:p>
          <a:p>
            <a:r>
              <a:rPr lang="en-US" b="0" i="0" dirty="0"/>
              <a:t>Four lines of code, and one consequential question: can charge ever see an amount above the limit? Real money again.</a:t>
            </a:r>
          </a:p>
          <a:p>
            <a:r>
              <a:rPr lang="en-US" b="0" i="0" dirty="0"/>
              <a:t>How would you convince yourself, for every amount this service can ever receive? There are a lot of amounts.</a:t>
            </a:r>
          </a:p>
          <a:p>
            <a:r>
              <a:rPr lang="en-US" b="0" i="0" dirty="0"/>
              <a:t>The analyzer never runs the program. It builds an abstraction of it and tracks what could be true at each point.</a:t>
            </a:r>
          </a:p>
          <a:p>
            <a:r>
              <a:rPr lang="en-US" b="0" i="0" dirty="0"/>
              <a:t>ANIMATE</a:t>
            </a:r>
          </a:p>
          <a:p>
            <a:r>
              <a:rPr lang="en-US" b="0" i="0" dirty="0"/>
              <a:t>At entry: x is any possible amount. That is all it knows.</a:t>
            </a:r>
          </a:p>
          <a:p>
            <a:r>
              <a:rPr lang="en-US" b="0" i="0" dirty="0"/>
              <a:t>ANIMATE</a:t>
            </a:r>
          </a:p>
          <a:p>
            <a:r>
              <a:rPr lang="en-US" b="0" i="0" dirty="0"/>
              <a:t>The branch splits the possibilities. On the true branch, x is above the limit — and we reject. On the false branch — the only path that continues — x is at most the limit.</a:t>
            </a:r>
          </a:p>
          <a:p>
            <a:r>
              <a:rPr lang="en-US" b="0" i="0" dirty="0"/>
              <a:t>ANIMATE</a:t>
            </a:r>
          </a:p>
          <a:p>
            <a:r>
              <a:rPr lang="en-US" b="0" i="0" dirty="0"/>
              <a:t>So at charge(x), the analyzer knows: x ≤ ACCOUNT_LIMIT. Not for the values we tried — for every value.</a:t>
            </a:r>
          </a:p>
          <a:p>
            <a:r>
              <a:rPr lang="en-US" b="0" i="0" dirty="0"/>
              <a:t>ANIMATE</a:t>
            </a:r>
          </a:p>
          <a:p>
            <a:r>
              <a:rPr lang="en-US" b="0" i="0" dirty="0"/>
              <a:t>Answer the question off the picture: no path in the abstraction permits charge to see an amount over the limit. We represented sets of possible values and propagated those possibilities through the program. That is static analysis — and the conclusion is only as strong as the abstraction it reasons over, and the guarantees that abstraction carries. What that breadth costs — next slide.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The properties, now that the mechanism is felt: the diagram teaches; the qualifications are spoken, not typeset.</a:t>
            </a:r>
          </a:p>
          <a:p/>
          <a:p>
            <a:r>
              <a:t>• The previous slide showed the move; this one shows its price. Do NOT expand into a formal-methods lecture on soundness and completeness — the goal is only that students understand why the technique reasons broadly and why that breadth costs precision.</a:t>
            </a:r>
          </a:p>
          <a:p>
            <a:r>
              <a:t>• Open with the config example, felt as a false positive: startup validates the config file, so loadConfig() never returns null. You know that. The analyzer still reports "possible null dereference" — because nothing in the code says what you know. The analyzer is not stupid; it is reasoning over an abstraction.</a:t>
            </a:r>
          </a:p>
          <a:p>
            <a:r>
              <a:t>• Then the picture — and the picture is the whole slide: real program behaviors, abstracted into the possible behaviors the analyzer sees; some impossible behaviors may remain.</a:t>
            </a:r>
          </a:p>
          <a:p>
            <a:r>
              <a:t>• (spoken, not typeset) A conservative abstraction intentionally over-approximates relevant program behavior. For the property being analyzed, it is designed not to discard a real violating behavior represented by the analysis. The price is that the abstraction may retain impossible behaviors, producing false positives.</a:t>
            </a:r>
          </a:p>
          <a:p>
            <a:r>
              <a:t>• (spoken) This guarantee is often described as soundness. Do not dwell on the term unless students ask; the conceptual point is more important here.</a:t>
            </a:r>
          </a:p>
          <a:p>
            <a:r>
              <a:t>• (spoken) If the analyzer finds a possible violation, it may be real or an artifact of abstraction. If it proves the relevant violation impossible in a sound abstraction, that result can support a conclusion about the represented real behaviors.</a:t>
            </a:r>
          </a:p>
          <a:p>
            <a:r>
              <a:t>• The closer is a CLASS QUESTION — what can we conclude about the real program from what we proved about the abstraction? Do NOT animate an answer; let it actually be a question. Anticipate in the discussion: what the abstraction includes; whether it conservatively includes all real behaviors; impossible behaviors may remain; conclusions inherit the abstraction's assumptions. Then hand off: model checking follows as the second example of reasoning over possible behavior.</a:t>
            </a:r>
          </a:p>
          <a:p/>
          <a:p>
            <a:r>
              <a:t>=====</a:t>
            </a:r>
          </a:p>
          <a:p/>
          <a:p>
            <a:r>
              <a:t>You now know the move. Here is the bill.</a:t>
            </a:r>
          </a:p>
          <a:p>
            <a:r>
              <a:t>Elsewhere in this system: startup validates the config file, so loadConfig never returns null. You know that. The analyzer still reports "possible null dereference." Why? Nothing in the code says what you just told me. The analyzer reasons over an abstraction of the code — not over your knowledge of the system.</a:t>
            </a:r>
          </a:p>
          <a:p/>
          <a:p>
            <a:r>
              <a:t>ANIMATE</a:t>
            </a:r>
          </a:p>
          <a:p/>
          <a:p>
            <a:r>
              <a:t>Here is the same fact as a picture. The real program has some set of behaviors.</a:t>
            </a:r>
          </a:p>
          <a:p/>
          <a:p>
            <a:r>
              <a:t>ANIMATE</a:t>
            </a:r>
          </a:p>
          <a:p/>
          <a:p>
            <a:r>
              <a:t>The abstraction hands the analyzer a larger, simpler set that contains it.</a:t>
            </a:r>
          </a:p>
          <a:p/>
          <a:p>
            <a:r>
              <a:t>ANIMATE</a:t>
            </a:r>
          </a:p>
          <a:p/>
          <a:p>
            <a:r>
              <a:t>Everything the analyzer establishes, it establishes for the larger set — which is why its guarantees cover every real behavior. And some of what it reports lives in the surplus: behaviors the real system cannot exhibit. That sentence is the whole economics of static analysis. Said precisely, for the modeled property: a real violation the abstraction represents is not silently discarded — and impossible violations may also be reported. Both halves come from the same place, the breadth of the abstraction.</a:t>
            </a:r>
          </a:p>
          <a:p/>
          <a:p>
            <a:r>
              <a:t>Close on the question at the bottom, and hold the silence: what can we conclude about the real program from what we proved about the abstraction? The mapping between the abstraction and reality is exactly what I want you reasoning about — whatever we conclude inherits the abstraction's assumptions. Model checking, next, makes the other classic version of that trade.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Model checking: search the modeled behaviors; two outcomes, one thin qualification, and a closing question the slide no longer answers for them.</a:t>
            </a:r>
          </a:p>
          <a:p/>
          <a:p>
            <a:r>
              <a:t>• Three pieces, in this order: the PROPERTY — balance never negative, stated explicitly; the MODEL — the behavior we chose to represent; and the SEARCH — every state that model can reach, up to bound k. Then the two outcomes.</a:t>
            </a:r>
          </a:p>
          <a:p>
            <a:r>
              <a:t>• The two outcomes are deliberately not YES/NO: COUNTEREXAMPLE FOUND — a trace that violates the property, exact and reproducible by construction (the practically useful branch). NONE FOUND — no violation within the model and bound. Say the full qualification aloud every time: no violation within the modeled behaviors, that semantics, those assumptions, and that bound.</a:t>
            </a:r>
          </a:p>
          <a:p>
            <a:r>
              <a:t>• The thin strip carries the claim's fine print: the model, the property, the assumptions, the semantics, and the bound are all part of the claim. If someone says "formally verified" and cannot state those, they have not stated a result. Say the three limits out loud too, because they are where the technique actually bites. STATE EXPLOSION: the reachable state space grows explosively with concurrency, data width, and message ordering, which is why exploration is bounded rather than unlimited. BOUNDS: "up to depth k" is a real qualification, not a formality. MODEL FIDELITY: the result is about the model somebody wrote, and a wrong model can be exhaustively checked.</a:t>
            </a:r>
          </a:p>
          <a:p>
            <a:r>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r>
              <a:t>• The closer is a CLASS QUESTION — we found no counterexample up to depth k; what have we actually established? Students will naturally say "it's correct," which hands you exactly the misconception to correct. Then elicit the full sentence: no violation within the modeled behavior, semantics, assumptions, property, and bound. It is powerful precisely because the slide has stopped answering it beforehand.</a:t>
            </a:r>
          </a:p>
          <a:p/>
          <a:p>
            <a:r>
              <a:t>=====</a:t>
            </a:r>
          </a:p>
          <a:p/>
          <a:p>
            <a:r>
              <a:t>One assertion: balance is never negative.</a:t>
            </a:r>
          </a:p>
          <a:p/>
          <a:p>
            <a:r>
              <a:t>ANIMATE</a:t>
            </a:r>
          </a:p>
          <a:p/>
          <a:p>
            <a:r>
              <a:t>The model: the deposits, withdrawals and interleavings we chose to represent — together with the property that assertion states.</a:t>
            </a:r>
          </a:p>
          <a:p/>
          <a:p>
            <a:r>
              <a:t>ANIMATE</a:t>
            </a:r>
          </a:p>
          <a:p/>
          <a:p>
            <a:r>
              <a:t>Then the search, and the word that matters is systematic: is there ANY sequence of choices the model admits, up to depth k, that makes it fail? Not some of them — every one the bound reaches.</a:t>
            </a:r>
          </a:p>
          <a:p/>
          <a:p>
            <a:r>
              <a:t>ANIMATE</a:t>
            </a:r>
          </a:p>
          <a:p/>
          <a:p>
            <a:r>
              <a:t>One outcome: a counterexample — the exact sequence of choices that breaks it. That is the single most useful artifact in this lecture, because it is reproducible by construction.</a:t>
            </a:r>
          </a:p>
          <a:p/>
          <a:p>
            <a:r>
              <a:t>ANIMATE</a:t>
            </a:r>
          </a:p>
          <a:p/>
          <a:p>
            <a:r>
              <a:t>The other: none found — no violation within the model and bound. Say the whole sentence. It is a precise and valuable claim, and it is not "the program is correct."</a:t>
            </a:r>
          </a:p>
          <a:p/>
          <a:p>
            <a:r>
              <a:t>ANIMATE</a:t>
            </a:r>
          </a:p>
          <a:p/>
          <a:p>
            <a:r>
              <a:t>The fine print, kept thin on purpose: the model, the assumptions, the semantics, and the bound define the claim. Someone who says "formally verified" and cannot tell you those has not told you a result.</a:t>
            </a:r>
          </a:p>
          <a:p/>
          <a:p>
            <a:r>
              <a:t>ANIMATE</a:t>
            </a:r>
          </a:p>
          <a:p/>
          <a:p>
            <a:r>
              <a:t>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a:p/>
          <a:p>
            <a:r>
              <a:t>ANIMATE</a:t>
            </a:r>
          </a:p>
          <a:p/>
          <a:p>
            <a:r>
              <a:t>Close on the question: we found no counterexample up to depth k — what have we actually established? Someone will say "it's correct." Good — that is the misconception, said out loud. Draw out the real answer: no violation within the modeled behavior, the semantics, the assumptions, the property, and the bound.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OBSERVING EXECUTION is next.</a:t>
            </a:r>
          </a:p>
          <a:p>
            <a:endParaRPr lang="en-US"/>
          </a:p>
          <a:p>
            <a:r>
              <a:rPr lang="en-US" b="0" i="0" dirty="0"/>
              <a:t>• Do not re-teach the slide. One sentence: we can reason over possible behavior — the third mechanism runs the software and observes selected executions.</a:t>
            </a:r>
          </a:p>
          <a:p>
            <a:r>
              <a:rPr lang="en-US" b="0" i="0" dirty="0"/>
              <a:t>• The two faded columns are deliberate de-emphasis, not a rendering fault; students should register where we are, not re-read the content.</a:t>
            </a:r>
          </a:p>
          <a:p>
            <a:r>
              <a:rPr lang="en-US" b="0" i="0" dirty="0"/>
              <a:t>• Then testing: the four-step flow, environmental fidelity, and the coverage TPS.</a:t>
            </a:r>
          </a:p>
          <a:p>
            <a:endParaRPr lang="en-US"/>
          </a:p>
          <a:p>
            <a:r>
              <a:rPr lang="en-US" b="0" i="0" dirty="0"/>
              <a:t>=====</a:t>
            </a:r>
          </a:p>
          <a:p>
            <a:endParaRPr lang="en-US"/>
          </a:p>
          <a:p>
            <a:r>
              <a:rPr lang="en-US" b="0" i="0" dirty="0"/>
              <a:t>Back at our map. One sentence: we can reason over possible behavior — the third mechanism runs the software and observes selected executions.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 minutes — Observing execution: the pipeline, the continuum, and the coverage TPS.</a:t>
            </a:r>
          </a:p>
          <a:p/>
          <a:p>
            <a:r>
              <a:t>• The four-step pipeline first: pick inputs, run, observe, oracle. Everybody in the room has done all four.</a:t>
            </a:r>
          </a:p>
          <a:p>
            <a:r>
              <a:t>• The continuum IS the figure: simulated to real. Simulation buys speed, repeatability, control, cost. Fidelity buys evidence under the actual delivery conditions.</a:t>
            </a:r>
          </a:p>
          <a:p>
            <a:r>
              <a:t>• (moved from slide — give these orally) Engineers substitute constantly: network connection → servers on localhost; external service → local simulated service; failures / time → controlled simulation. Also filesystem-backed queues and generated workloads.</a:t>
            </a:r>
          </a:p>
          <a:p>
            <a:r>
              <a:t>• Testing always executes in some environment. The environment may replace networks, services, clocks, failures, devices, users, or workloads with controlled substitutes. That buys controllability and repeatability, but evidence about behavior that depends on omitted or incorrectly simulated conditions does not transfer automatically to deployment.</a:t>
            </a:r>
          </a:p>
          <a:p>
            <a:r>
              <a:t>• The one sentence on the slide: a test cannot establish behavior that depends on what its environment omitted. This foreshadows representativeness in the evidence-strength section.</a:t>
            </a:r>
          </a:p>
          <a:p>
            <a:r>
              <a:t>• Then the TPS. Hand them the 100% coverage result and ask what it licenses. Let pairs run about ninety seconds; take three or four answers. Expected: "every line ran", "every branch went both ways", and — from somebody — "so it's tested." That third one is the misconception.</a:t>
            </a:r>
          </a:p>
          <a:p>
            <a:r>
              <a:t>• Stop collecting the moment someone says "but it doesn't mean it's right" — that is the debrief cue.</a:t>
            </a:r>
          </a:p>
          <a:p>
            <a:r>
              <a:t>• Debrief into the closer, a CLASS QUESTION: what can executions we observed tell us about executions we did not observe? Coverage tells us where we looked, not that the code is correct — and the question bridges straight into testing strategies: how do we choose executions, and how do we know whether what happened was correct?</a:t>
            </a:r>
          </a:p>
          <a:p/>
          <a:p>
            <a:r>
              <a:t>=====</a:t>
            </a:r>
          </a:p>
          <a:p/>
          <a:p>
            <a:r>
              <a:t>Run the software and observe what happens. Four steps: pick inputs, run, observe the behavior, compare against an oracle. Everyone here has done all four.</a:t>
            </a:r>
          </a:p>
          <a:p/>
          <a:p>
            <a:r>
              <a:t>ANIMATE</a:t>
            </a:r>
          </a:p>
          <a:p/>
          <a:p>
            <a:r>
              <a:t>Now the dimension people forget. Testing need not execute in the actual delivery environment — place any test you run on this continuum, from simulated to real. We substitute constantly: the network becomes servers on localhost, the external service becomes a local simulation, failures and time are injected on demand.</a:t>
            </a:r>
          </a:p>
          <a:p/>
          <a:p>
            <a:r>
              <a:t>ANIMATE</a:t>
            </a:r>
          </a:p>
          <a:p/>
          <a:p>
            <a:r>
              <a:t>That is a trade. Simulation buys speed, repeatability, controllability, and cost. Fidelity buys the thing simulation cannot: evidence about behavior under the actual delivery conditions.</a:t>
            </a:r>
          </a:p>
          <a:p/>
          <a:p>
            <a:r>
              <a:t>ANIMATE</a:t>
            </a:r>
          </a:p>
          <a:p/>
          <a:p>
            <a:r>
              <a:t>And the price, in one sentence: a test cannot establish behavior that depends on what its environment omitted. We will meet this again as representativeness.</a:t>
            </a:r>
          </a:p>
          <a:p/>
          <a:p>
            <a:r>
              <a:t>ANIMATE</a:t>
            </a:r>
          </a:p>
          <a:p/>
          <a:p>
            <a:r>
              <a:t>Now — think, pair, share. Statement and condition coverage both reached 100 percent. What have we established, and what have we not? Ninety seconds.</a:t>
            </a:r>
          </a:p>
          <a:p>
            <a:r>
              <a:t>Take answers. Every line ran. Every branch went both ways. And — someone will say it — "so it's tested." Push once: does a line running tell you anything checked what it did? Stop the moment someone says "it doesn't mean it's right."</a:t>
            </a:r>
          </a:p>
          <a:p/>
          <a:p>
            <a:r>
              <a:t>ANIMATE</a:t>
            </a:r>
          </a:p>
          <a:p/>
          <a:p>
            <a:r>
              <a:t>That is the debrief, and the closer turns it into a question: what can executions we observed tell us about executions we did not observe? A reached line with no consequential assertion is execution, not evidence — and how we choose executions, and how we know whether one was wrong, is exactly where we go next.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Section opener: Part II, Choosing Evidence.</a:t>
            </a:r>
          </a:p>
          <a:p>
            <a:endParaRPr lang="en-US"/>
          </a:p>
          <a:p>
            <a:r>
              <a:rPr lang="en-US" b="0" i="0" dirty="0"/>
              <a:t>• 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a:t>
            </a:r>
          </a:p>
          <a:p>
            <a:r>
              <a:rPr lang="en-US" b="0" i="0" dirty="0"/>
              <a:t>• The three faded boxes are what Part I established; the band is the road map for the rest of the lecture: STRATEGY (the oracle, then example-based / property-based / fuzzing / differential), STRENGTH (coverage · detection · representativeness · independence), SUFFICIENCY (margin · containment · consequence) — and then the final decision exercise turns it all into ACTION.</a:t>
            </a:r>
          </a:p>
          <a:p>
            <a:r>
              <a:rPr lang="en-US" b="0" i="0" dirty="0"/>
              <a:t>• Macrostructure to say out loud once: Part I was Obtaining Evidence; Part II is Choosing Evidence.</a:t>
            </a:r>
          </a:p>
          <a:p>
            <a:endParaRPr lang="en-US"/>
          </a:p>
          <a:p>
            <a:r>
              <a:rPr lang="en-US" b="0" i="0" dirty="0"/>
              <a:t>=====</a:t>
            </a:r>
          </a:p>
          <a:p>
            <a:endParaRPr lang="en-US"/>
          </a:p>
          <a:p>
            <a:r>
              <a:rPr lang="en-US" b="0" i="0" dirty="0"/>
              <a:t>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 which strategy, how strong, and when is it sufficient to act.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oracle problem is what makes the next five slides necessary.</a:t>
            </a:r>
          </a:p>
          <a:p>
            <a:endParaRPr lang="en-US" dirty="0"/>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dirty="0"/>
          </a:p>
          <a:p>
            <a:r>
              <a:rPr lang="en-US" b="0" i="0" dirty="0"/>
              <a:t>=====</a:t>
            </a:r>
          </a:p>
          <a:p>
            <a:endParaRPr lang="en-US" dirty="0"/>
          </a:p>
          <a:p>
            <a:r>
              <a:rPr lang="en-US" b="0" i="0" dirty="0"/>
              <a:t>Testing has two halves and they do not cost the same.</a:t>
            </a:r>
          </a:p>
          <a:p>
            <a:endParaRPr lang="en-US" dirty="0"/>
          </a:p>
          <a:p>
            <a:r>
              <a:rPr lang="en-US" b="0" i="0" dirty="0"/>
              <a:t>ANIMATE</a:t>
            </a:r>
          </a:p>
          <a:p>
            <a:endParaRPr lang="en-US" dirty="0"/>
          </a:p>
          <a:p>
            <a:r>
              <a:rPr lang="en-US" b="0" i="0" dirty="0"/>
              <a:t>An input, run it, an output. Generating an execution is often cheap — sometimes nearly free.</a:t>
            </a:r>
          </a:p>
          <a:p>
            <a:endParaRPr lang="en-US" dirty="0"/>
          </a:p>
          <a:p>
            <a:r>
              <a:rPr lang="en-US" b="0" i="0" dirty="0"/>
              <a:t>ANIMATE</a:t>
            </a:r>
          </a:p>
          <a:p>
            <a:endParaRPr lang="en-US" dirty="0"/>
          </a:p>
          <a:p>
            <a:r>
              <a:rPr lang="en-US" b="0" i="0" dirty="0"/>
              <a:t>And then: is it correct? That is the oracle, and that is the hard part.</a:t>
            </a:r>
          </a:p>
          <a:p>
            <a:endParaRPr lang="en-US" dirty="0"/>
          </a:p>
          <a:p>
            <a:r>
              <a:rPr lang="en-US" b="0" i="0" dirty="0"/>
              <a:t>ANIMATE</a:t>
            </a:r>
          </a:p>
          <a:p>
            <a:endParaRPr lang="en-US" dirty="0"/>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dirty="0"/>
          </a:p>
          <a:p>
            <a:r>
              <a:rPr lang="en-US" b="0" i="0" dirty="0"/>
              <a:t>ANIMATE</a:t>
            </a:r>
          </a:p>
          <a:p>
            <a:endParaRPr lang="en-US" dirty="0"/>
          </a:p>
          <a:p>
            <a:r>
              <a:rPr lang="en-US" b="0" i="0" dirty="0"/>
              <a:t>So a testing strategy determines exactly two things: WHERE we search, and WHAT ORACLE makes failure observable. Watch for which one each of the next three slides is moving.</a:t>
            </a:r>
          </a:p>
          <a:p>
            <a:r>
              <a:rPr lang="en-US" b="0" i="0" dirty="0"/>
              <a:t>An execution becomes evidence only when something can say it was wrong.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minutes — Example-based to property-based, taught from the image example. One concept, not a taxonomy.</a:t>
            </a:r>
          </a:p>
          <a:p/>
          <a:p>
            <a:r>
              <a:t>• LEFT first, briefly — every student already does this. Known input, known answer: sort of three-one-two must be one-two-three. Strong evidence about the cases you chose, silence about every case you did not. Do not dwell.</a:t>
            </a:r>
          </a:p>
          <a:p>
            <a:r>
              <a:t>• RIGHT is the teaching. State something that should hold across a class of executions, generate many inputs, search for a counterexample. The oracle changed: you no longer write the answer, you write the constraint.</a:t>
            </a:r>
          </a:p>
          <a:p>
            <a:r>
              <a:t>• Then the figure, and build it slowly — this is the part that does not land the first time. An image, an edge detector, an output. Rotate the input, run the SAME detector, get a second output. The two outputs must agree with each other under rotation, and that agreement is the oracle.</a:t>
            </a:r>
          </a:p>
          <a:p>
            <a:r>
              <a:t>• ONE transformation only, and it is rotation. Do not solicit flip or brightness; three candidate relations make students adjudicate three separate validity questions for no conceptual gain.</a:t>
            </a:r>
          </a:p>
          <a:p>
            <a:r>
              <a:t>• Do NOT reach for the four-rotations-return-to-start property. That tests the rotation implementation. The edge-detector relation is the pedagogically useful one because it exhibits the actual oracle problem: we cannot state the correct edge map, yet we can state how two executions must relate.</a:t>
            </a:r>
          </a:p>
          <a:p>
            <a:r>
              <a:t>• The professional term stays OFF the slide and belongs here: the literature calls this form a metamorphic relation, or metamorphic testing. Say it once, in passing, and say explicitly that it is not another category to memorise.</a:t>
            </a:r>
          </a:p>
          <a:p>
            <a:r>
              <a:t>• The limitation at the end is not optional — it hands off to the evidence-strength section. A property detects only failures that violate THAT property.</a:t>
            </a:r>
          </a:p>
          <a:p>
            <a:r>
              <a:t>• Then fuzzing follows cleanly: known answer, then property, then a weak self-oracle.</a:t>
            </a:r>
          </a:p>
          <a:p/>
          <a:p>
            <a:r>
              <a:t>=====</a:t>
            </a:r>
          </a:p>
          <a:p/>
          <a:p>
            <a:r>
              <a:t>With example-based testing, I supply both the input and the expected answer. That gives strong evidence about cases I chose, but says nothing directly about all the cases I did not choose.</a:t>
            </a:r>
          </a:p>
          <a:p/>
          <a:p>
            <a:r>
              <a:t>ANIMATE</a:t>
            </a:r>
          </a:p>
          <a:p/>
          <a:p>
            <a:r>
              <a:t>Property-based testing changes the oracle. I state something that should hold across a class of executions, generate many inputs, and search for a counterexample.</a:t>
            </a:r>
          </a:p>
          <a:p/>
          <a:p>
            <a:r>
              <a:t>ANIMATE</a:t>
            </a:r>
          </a:p>
          <a:p/>
          <a:p>
            <a:r>
              <a:t>Sometimes the useful property relates multiple executions. Here I may not know what the correct edge map of an arbitrary image is. But I do know that if I rotate the input, run the edge detector, and compare that result with rotating the original edge map, the results should agree. That relationship gives me an oracle without requiring me to hand-write the correct edge map.</a:t>
            </a:r>
          </a:p>
          <a:p/>
          <a:p>
            <a:r>
              <a:t>ANIMATE</a:t>
            </a:r>
          </a:p>
          <a:p/>
          <a:p>
            <a:r>
              <a:t>The testing literature often calls this particular form a metamorphic relation or metamorphic testing. You do not need another category for this course. If you cannot state the answer for every test, you may still be able to state properties the answers must satisfy.</a:t>
            </a:r>
          </a:p>
          <a:p/>
          <a:p>
            <a:r>
              <a:t>ANIMATE</a:t>
            </a:r>
          </a:p>
          <a:p/>
          <a:p>
            <a:r>
              <a:t>Notice the limitation. A property detects only failures that violate that property. If the edge detector is wrong in exactly the same way before and after rotation, this test may pass. Property-based testing buys search; it does not magically give us a complete oracle.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Differential testing: another implementation supplies the oracle — where the spec requires agreement.</a:t>
            </a:r>
          </a:p>
          <a:p>
            <a:endParaRPr lang="en-US" dirty="0"/>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dirty="0"/>
          </a:p>
          <a:p>
            <a:r>
              <a:rPr lang="en-US" b="0" i="0" dirty="0"/>
              <a:t>=====</a:t>
            </a:r>
          </a:p>
          <a:p>
            <a:endParaRPr lang="en-US" dirty="0"/>
          </a:p>
          <a:p>
            <a:r>
              <a:rPr lang="en-US" b="0" i="0" dirty="0"/>
              <a:t>Same input, two implementations.</a:t>
            </a:r>
          </a:p>
          <a:p>
            <a:endParaRPr lang="en-US" dirty="0"/>
          </a:p>
          <a:p>
            <a:r>
              <a:rPr lang="en-US" b="0" i="0" dirty="0"/>
              <a:t>ANIMATE</a:t>
            </a:r>
          </a:p>
          <a:p>
            <a:endParaRPr lang="en-US" dirty="0"/>
          </a:p>
          <a:p>
            <a:r>
              <a:rPr lang="en-US" b="0" i="0" dirty="0"/>
              <a:t>Implementation A, the one we are validating. Implementation B — a reference, an older version, another vendor.</a:t>
            </a:r>
          </a:p>
          <a:p>
            <a:endParaRPr lang="en-US" dirty="0"/>
          </a:p>
          <a:p>
            <a:r>
              <a:rPr lang="en-US" b="0" i="0" dirty="0"/>
              <a:t>ANIMATE</a:t>
            </a:r>
          </a:p>
          <a:p>
            <a:endParaRPr lang="en-US" dirty="0"/>
          </a:p>
          <a:p>
            <a:r>
              <a:rPr lang="en-US" b="0" i="0" dirty="0"/>
              <a:t>Two outputs.</a:t>
            </a:r>
          </a:p>
          <a:p>
            <a:endParaRPr lang="en-US" dirty="0"/>
          </a:p>
          <a:p>
            <a:r>
              <a:rPr lang="en-US" b="0" i="0" dirty="0"/>
              <a:t>ANIMATE</a:t>
            </a:r>
          </a:p>
          <a:p>
            <a:endParaRPr lang="en-US" dirty="0"/>
          </a:p>
          <a:p>
            <a:r>
              <a:rPr lang="en-US" b="0" i="0" dirty="0"/>
              <a:t>And the oracle is the comparison itself. Ask whether they agree. You never had to state what the right answer was.</a:t>
            </a:r>
          </a:p>
          <a:p>
            <a:endParaRPr lang="en-US" dirty="0"/>
          </a:p>
          <a:p>
            <a:r>
              <a:rPr lang="en-US" b="0" i="0" dirty="0"/>
              <a:t>ANIMATE</a:t>
            </a:r>
          </a:p>
          <a:p>
            <a:endParaRPr lang="en-US" dirty="0"/>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dirty="0"/>
          </a:p>
          <a:p>
            <a:r>
              <a:rPr lang="en-US" b="0" i="0" dirty="0"/>
              <a:t>ANIMATE</a:t>
            </a:r>
          </a:p>
          <a:p>
            <a:endParaRPr lang="en-US" dirty="0"/>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Close the strategy section: strategy follows from what you already know.</a:t>
            </a:r>
          </a:p>
          <a:p>
            <a:endParaRPr lang="en-US" dirty="0"/>
          </a:p>
          <a:p>
            <a:r>
              <a:rPr lang="en-US" b="0" i="0" dirty="0"/>
              <a:t>• Summary — do not re-teach the five. Accumulate them, then reveal the organizing axis.</a:t>
            </a:r>
          </a:p>
          <a:p>
            <a:r>
              <a:rPr lang="en-US" b="0" i="0" dirty="0"/>
              <a:t>• Order matches the teaching order: example-based (known answers), property-based (known general properties, including properties that relate several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three columns and the list has four.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dirty="0"/>
          </a:p>
          <a:p>
            <a:r>
              <a:rPr lang="en-US" b="0" i="0" dirty="0"/>
              <a:t>• (moved from slide) Fuzzing row, full list of cheap observable self-failures: crash, hang, assertion, sanitizer.</a:t>
            </a:r>
          </a:p>
          <a:p>
            <a:r>
              <a:rPr lang="en-US" b="0" i="0" dirty="0"/>
              <a:t>=====</a:t>
            </a:r>
          </a:p>
          <a:p>
            <a:endParaRPr lang="en-US" dirty="0"/>
          </a:p>
          <a:p>
            <a:r>
              <a:rPr lang="en-US" b="0" i="0" dirty="0"/>
              <a:t>Four strategies, accumulating.</a:t>
            </a:r>
          </a:p>
          <a:p>
            <a:endParaRPr lang="en-US" dirty="0"/>
          </a:p>
          <a:p>
            <a:r>
              <a:rPr lang="en-US" b="0" i="0" dirty="0"/>
              <a:t>ANIMATE</a:t>
            </a:r>
          </a:p>
          <a:p>
            <a:endParaRPr lang="en-US" dirty="0"/>
          </a:p>
          <a:p>
            <a:r>
              <a:rPr lang="en-US" b="0" i="0" dirty="0"/>
              <a:t>Example-based: known answers — choose the cases you already understand.</a:t>
            </a:r>
          </a:p>
          <a:p>
            <a:endParaRPr lang="en-US" dirty="0"/>
          </a:p>
          <a:p>
            <a:r>
              <a:rPr lang="en-US" b="0" i="0" dirty="0"/>
              <a:t>ANIMATE</a:t>
            </a:r>
          </a:p>
          <a:p>
            <a:endParaRPr lang="en-US" dirty="0"/>
          </a:p>
          <a:p>
            <a:r>
              <a:rPr lang="en-US" b="0" i="0" dirty="0"/>
              <a:t>Property-based: known general properties — including properties that relate several executions — generate cases and hunt for a counterexample.</a:t>
            </a:r>
          </a:p>
          <a:p>
            <a:endParaRPr lang="en-US" dirty="0"/>
          </a:p>
          <a:p>
            <a:r>
              <a:rPr lang="en-US" b="0" i="0" dirty="0"/>
              <a:t>ANIMATE</a:t>
            </a:r>
          </a:p>
          <a:p>
            <a:endParaRPr lang="en-US" dirty="0"/>
          </a:p>
          <a:p>
            <a:endParaRPr lang="en-US" dirty="0"/>
          </a:p>
          <a:p>
            <a:r>
              <a:rPr lang="en-US" b="0" i="0" dirty="0"/>
              <a:t>ANIMATE</a:t>
            </a:r>
          </a:p>
          <a:p>
            <a:endParaRPr lang="en-US" dirty="0"/>
          </a:p>
          <a:p>
            <a:r>
              <a:rPr lang="en-US" b="0" i="0" dirty="0"/>
              <a:t>Fuzzing: cheap observable self-failures.</a:t>
            </a:r>
          </a:p>
          <a:p>
            <a:endParaRPr lang="en-US" dirty="0"/>
          </a:p>
          <a:p>
            <a:r>
              <a:rPr lang="en-US" b="0" i="0" dirty="0"/>
              <a:t>ANIMATE</a:t>
            </a:r>
          </a:p>
          <a:p>
            <a:endParaRPr lang="en-US" dirty="0"/>
          </a:p>
          <a:p>
            <a:r>
              <a:rPr lang="en-US" b="0" i="0" dirty="0"/>
              <a:t>Differential: another implementation, where the specification requires agreement.</a:t>
            </a:r>
          </a:p>
          <a:p>
            <a:endParaRPr lang="en-US" dirty="0"/>
          </a:p>
          <a:p>
            <a:r>
              <a:rPr lang="en-US" b="0" i="0" dirty="0"/>
              <a:t>ANIMATE</a:t>
            </a:r>
          </a:p>
          <a:p>
            <a:endParaRPr lang="en-US" dirty="0"/>
          </a:p>
          <a:p>
            <a:r>
              <a:rPr lang="en-US" b="0" i="0" dirty="0"/>
              <a:t>Now the organizing axis, and it is not the one people expect. It is not difficulty and it is not cost. It is what you already know. Known answers give you example-based. Known properties give you property-based. And when you know almost nothing, fuzzing still works — because its oracle asks almost nothing of you.</a:t>
            </a:r>
          </a:p>
          <a:p>
            <a:r>
              <a:rPr lang="en-US" b="0" i="0" dirty="0"/>
              <a:t>Somebody will notice there are four strategies and three columns. Good — differential is the one that does not fit, because its oracle is not knowledge you hold. It is another implementation.</a:t>
            </a:r>
          </a:p>
          <a:p>
            <a:endParaRPr lang="en-US" dirty="0"/>
          </a:p>
          <a:p>
            <a:r>
              <a:rPr lang="en-US" b="0" i="0" dirty="0"/>
              <a:t>ANIMATE</a:t>
            </a:r>
          </a:p>
          <a:p>
            <a:endParaRPr lang="en-US" dirty="0"/>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Evidence strength: the chain that gives a measurement meaning, then the dimensions.</a:t>
            </a:r>
          </a:p>
          <a:p>
            <a:endParaRPr lang="en-US" dirty="0"/>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dirty="0"/>
          </a:p>
          <a:p>
            <a:r>
              <a:rPr lang="en-US" b="0" i="0" dirty="0"/>
              <a:t>=====</a:t>
            </a:r>
          </a:p>
          <a:p>
            <a:endParaRPr lang="en-US" dirty="0"/>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dirty="0"/>
          </a:p>
          <a:p>
            <a:r>
              <a:rPr lang="en-US" b="0" i="0" dirty="0"/>
              <a:t>ANIMATE</a:t>
            </a:r>
          </a:p>
          <a:p>
            <a:endParaRPr lang="en-US" dirty="0"/>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dirty="0"/>
          </a:p>
          <a:p>
            <a:r>
              <a:rPr lang="en-US" b="0" i="0" dirty="0"/>
              <a:t>ANIMATE</a:t>
            </a:r>
          </a:p>
          <a:p>
            <a:endParaRPr lang="en-US" dirty="0"/>
          </a:p>
          <a:p>
            <a:r>
              <a:rPr lang="en-US" b="0" i="0" dirty="0"/>
              <a:t>Coverage: how much did we examine?</a:t>
            </a:r>
          </a:p>
          <a:p>
            <a:endParaRPr lang="en-US" dirty="0"/>
          </a:p>
          <a:p>
            <a:r>
              <a:rPr lang="en-US" b="0" i="0" dirty="0"/>
              <a:t>ANIMATE</a:t>
            </a:r>
          </a:p>
          <a:p>
            <a:endParaRPr lang="en-US" dirty="0"/>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dirty="0"/>
          </a:p>
          <a:p>
            <a:r>
              <a:rPr lang="en-US" b="0" i="0" dirty="0"/>
              <a:t>ANIMATE</a:t>
            </a:r>
          </a:p>
          <a:p>
            <a:endParaRPr lang="en-US" dirty="0"/>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dirty="0"/>
          </a:p>
          <a:p>
            <a:r>
              <a:rPr lang="en-US" b="0" i="0" dirty="0"/>
              <a:t>ANIMATE</a:t>
            </a:r>
          </a:p>
          <a:p>
            <a:endParaRPr lang="en-US" dirty="0"/>
          </a:p>
          <a:p>
            <a:r>
              <a:rPr lang="en-US" b="0" i="0" dirty="0"/>
              <a:t>Independence: could one mistaken assumption undermine all the evidence at once? Hold that — the next slide is about exactly this.</a:t>
            </a:r>
          </a:p>
          <a:p>
            <a:endParaRPr lang="en-US" dirty="0"/>
          </a:p>
          <a:p>
            <a:r>
              <a:rPr lang="en-US" b="0" i="0" dirty="0"/>
              <a:t>ANIMATE</a:t>
            </a:r>
          </a:p>
          <a:p>
            <a:endParaRPr lang="en-US" dirty="0"/>
          </a:p>
          <a:p>
            <a:r>
              <a:rPr lang="en-US" b="0" i="0" dirty="0"/>
              <a:t>Residual uncertainty: what remains unresolved? Known failures, unmodeled states. Not everything you know about is fixed at delivery, and pretending otherwise is how it gets forgotten.</a:t>
            </a:r>
          </a:p>
          <a:p>
            <a:endParaRPr lang="en-US" dirty="0"/>
          </a:p>
          <a:p>
            <a:r>
              <a:rPr lang="en-US" b="0" i="0" dirty="0"/>
              <a:t>ANIMATE</a:t>
            </a:r>
          </a:p>
          <a:p>
            <a:endParaRPr lang="en-US" dirty="0"/>
          </a:p>
          <a:p>
            <a:r>
              <a:rPr lang="en-US" b="0" i="0" dirty="0"/>
              <a:t>The two compact examples are on screen. No single dimension means "validated" — there is no such metric. What the dimensions do is make the remaining uncertainty visible enough to judge.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 minutes — MAGE Moment rebuilt as a probability exercise: meet the seduction, do the arithmetic, then break the assumption. Four beats; the click order IS the pedagogy.</a:t>
            </a:r>
          </a:p>
          <a:p/>
          <a:p>
            <a:r>
              <a:t>• BEAT 1 (on entry): only the two scenarios and the question. Which gives you more confidence — and how much more? TPS, about a minute. Expect “B, obviously.” Push on how much more. Nothing about independence or shared interpretation is on screen yet; do not leak it.</a:t>
            </a:r>
          </a:p>
          <a:p>
            <a:r>
              <a:t>• BEAT 2 (clicks 1–2): reveal the deliberately simple model — each test has an independent 1% chance of exposing the defect, if it exists. ASK for P(all n tests miss it) before clicking the arithmetic in. Then the reveal: 0.99^5 ≈ 95.1%, 0.99^5000 ≈ 1.5 × 10⁻²². DO NOT SKIP OR SOFTEN THIS BEAT: under the independence assumption, 5,000 tests really are dramatically stronger evidence. This lecture must never teach “more tests don’t help.” They absolutely can.</a:t>
            </a:r>
          </a:p>
          <a:p>
            <a:r>
              <a:t>• BEAT 3 (click 3): now suppose all 5,000 tests were generated from the same mistaken interpretation of the requirement. Reveal the fan. All pass.</a:t>
            </a:r>
          </a:p>
          <a:p>
            <a:r>
              <a:t>• BEAT 3b (click 4): ask — what ASSUMPTION made our calculation valid? Let it hang; do not leak the answer.</a:t>
            </a:r>
          </a:p>
          <a:p>
            <a:r>
              <a:t>• BEAT 4 (click 5): Independence. Each test had to provide a separate chance of exposing the defect. With correlated tests, P(all miss) does not necessarily shrink like 0.99^n. Do not teach joint distributions. The payload: evidence volume increases confidence according to the information it adds, not merely the number of observations.</a:t>
            </a:r>
          </a:p>
          <a:p>
            <a:r>
              <a:t>• The arithmetic was not wrong. Its applicability depended on independence. We modeled every test as another independent 1% opportunity to expose the defect. If the tests are correlated because they were generated from the same mistaken interpretation, seeing more passing tests does not necessarily reduce uncertainty at the rate predicted by 0.99^n.</a:t>
            </a:r>
          </a:p>
          <a:p>
            <a:r>
              <a:t>• BEAT 5 (click 6): the two structures. One interpretation fanning into 5,000 tests, versus tests + model check + review resting on different assumptions and failure modes, converging on the claim. This is the previous slide’s Independence dimension — could one mistaken assumption undermine it all? — made mathematically concrete. The exercise introduces no new concept.</a:t>
            </a:r>
          </a:p>
          <a:p>
            <a:r>
              <a:t>• Be careful with the word “independent”: students must not leave thinking different test cases = independent evidence. The relevant independence is independence of the ASSUMPTIONS AND FAILURE MODES by which the evidence could be wrong.</a:t>
            </a:r>
          </a:p>
          <a:p>
            <a:r>
              <a:t>• The closing visual must NOT be read as “three techniques are automatically better than 5,000 tests” — the point is that evidence becomes more informative when its errors are less likely to share a common cause.</a:t>
            </a:r>
          </a:p>
          <a:p>
            <a:r>
              <a:t>• Five thousand tests generated from one interpretation may provide less independent evidence than several kinds of evidence whose assumptions and failure modes differ. We are not simply counting evidence. We want evidence capable of catching different ways we might be wrong.</a:t>
            </a:r>
          </a:p>
          <a:p>
            <a:r>
              <a:t>• Evidence strength is therefore not a function of quantity alone. Independence is one dimension of strength because correlated evidence can repeatedly confirm the same mistaken assumption.</a:t>
            </a:r>
          </a:p>
          <a:p/>
          <a:p>
            <a:r>
              <a:t>• (a) What does “different evidence” mean? The coverage-bitmap example — note this is coverage data REPRESENTED AS a bitmap, not a characterization of test inputs. Represent each test’s execution as a bitmap over program lines: bit i = 1 if that execution covered line i.</a:t>
            </a:r>
          </a:p>
          <a:p>
            <a:r>
              <a:t xml:space="preserve">    T₁: 11110000</a:t>
            </a:r>
          </a:p>
          <a:p>
            <a:r>
              <a:t xml:space="preserve">    T₂: 00111100</a:t>
            </a:r>
          </a:p>
          <a:p>
            <a:r>
              <a:t xml:space="preserve">    T₃: 00001111</a:t>
            </a:r>
          </a:p>
          <a:p>
            <a:r>
              <a:t xml:space="preserve">  OR the bitmaps and the suite collectively exercised all eight lines: 11110000 ∨ 00111100 ∨ 00001111 = 11111111. But be precise about what became stronger: COVERAGE evidence. We obtained evidence about different parts of the implementation. We did not thereby obtain three independent reasons to believe the system is correct — all three tests might still share the same mistaken oracle, specification interpretation, environment assumption, or omitted behavior.</a:t>
            </a:r>
          </a:p>
          <a:p>
            <a:r>
              <a:t>• (b) The same idea applies to a model — and model coverage is a PEER of line coverage, not an upgrade; do not imply a hierarchy. If the model contains states, transitions, requirements, or architectural interactions, observations can tell us which portions of that model have been exercised; different observations may genuinely increase coverage of the thing being examined. But NEITHER kind of coverage establishes correctness. Coverage asks what we examined; the oracle asks whether we would recognize a problem when we examined it. A suite can cover every line and share one bad oracle. A suite can cover every modeled state or requirement and share one bad oracle. And the model itself may omit the behavior that matters. Different models give different coverage DIMENSIONS; they do not solve the oracle.</a:t>
            </a:r>
          </a:p>
          <a:p>
            <a:r>
              <a:t>• (c) The three-way distinction, worth saying at the board:</a:t>
            </a:r>
          </a:p>
          <a:p>
            <a:r>
              <a:t xml:space="preserve">    Coverage: Did we look somewhere new?</a:t>
            </a:r>
          </a:p>
          <a:p>
            <a:r>
              <a:t xml:space="preserve">    Oracle: Could we tell if what we saw was wrong?</a:t>
            </a:r>
          </a:p>
          <a:p>
            <a:r>
              <a:t xml:space="preserve">    Independence: Could the same mistake fool both observations?</a:t>
            </a:r>
          </a:p>
          <a:p>
            <a:r>
              <a:t xml:space="preserve">  The compact intuition to hammer: different executions are not necessarily different reasons. The chain students must not collapse: different executions ≠ different coverage ≠ independent evidence.</a:t>
            </a:r>
          </a:p>
          <a:p>
            <a:r>
              <a:t>• (d) What the 0.99ⁿ calculation actually assumed. Decompose the per-test probability: P(detect D) = P(exercise D) × P(oracle catches D | exercised). If only 1% of tests reach the defective behavior and the oracle catches it half the time when reached, per-test detection is 0.005, so P(all miss | D) = (1 − 0.005)ⁿ. And if none of the generated tests can reach the defective behavior, P(exercise D) = 0 — then 5 tests versus 5 million tests provides exactly ZERO additional evidence about that defect. Note the precision: “the tests must fully exercise the system” is too strong; each test needn’t exercise the whole system — the sampling/execution model must give the claimed probability of encountering AND detecting this particular defect.</a:t>
            </a:r>
          </a:p>
          <a:p>
            <a:r>
              <a:t>• (e) The payoff line — why this exercise belongs here: notice how much was smuggled into the phrase “each test has an independent 1% chance of detecting the defect.” The test must have some chance of exercising the defective behavior; the oracle must recognize the failure when it occurs; and the opportunities to detect it must be sufficiently independent. Those are exactly the dimensions from the previous slide. The probability exercise introduces no new concept — it makes the previous slide’s dimensions mathematically concrete. Representativeness then asks whether that test-generation distribution is the one we actually care about.</a:t>
            </a:r>
          </a:p>
          <a:p>
            <a:r>
              <a:t>• Foreshadow the Decision-Making/Metrics lecture: counting artifacts is an attractive metric that measures the wrong thing when the epistemic structure is correlated.</a:t>
            </a:r>
          </a:p>
          <a:p/>
          <a:p>
            <a:r>
              <a:t>=====</a:t>
            </a:r>
          </a:p>
          <a:p/>
          <a:p>
            <a:r>
              <a:t>Two scenarios. Five tests, all passing — or five thousand tests, all passing. Which gives you more confidence in the claim, and how much more? Talk to your neighbor.</a:t>
            </a:r>
          </a:p>
          <a:p>
            <a:r>
              <a:t>ANIMATE</a:t>
            </a:r>
          </a:p>
          <a:p>
            <a:r>
              <a:t>Let’s make them actually compute. Suppose each test has an independent one-percent chance of exposing the defect, if the defect exists. If the defect exists — what is the probability that all n tests miss it?</a:t>
            </a:r>
          </a:p>
          <a:p>
            <a:r>
              <a:t>ANIMATE</a:t>
            </a:r>
          </a:p>
          <a:p>
            <a:r>
              <a:t>Point ninety-nine to the n. For five tests: about ninety-five percent — the defect probably survives. For five thousand: ten to the minus twenty-two. Under this model, five thousand tests are overwhelmingly stronger evidence. More tests CAN help enormously. Hold that.</a:t>
            </a:r>
          </a:p>
          <a:p>
            <a:r>
              <a:t>ANIMATE</a:t>
            </a:r>
          </a:p>
          <a:p>
            <a:r>
              <a:t>Now suppose all five thousand tests were generated from the same mistaken interpretation of the requirement. Every one of them passes.</a:t>
            </a:r>
          </a:p>
          <a:p>
            <a:r>
              <a:t>ANIMATE</a:t>
            </a:r>
          </a:p>
          <a:p>
            <a:r>
              <a:t>What assumption made our calculation valid?</a:t>
            </a:r>
          </a:p>
          <a:p>
            <a:r>
              <a:t>ANIMATE</a:t>
            </a:r>
          </a:p>
          <a:p>
            <a:r>
              <a:t>Independence. Each test had to provide a separate chance of exposing the defect. With correlated tests, the probability that everything misses does not necessarily shrink like point-ninety-nine to the n.</a:t>
            </a:r>
          </a:p>
          <a:p>
            <a:r>
              <a:t>ANIMATE</a:t>
            </a:r>
          </a:p>
          <a:p>
            <a:r>
              <a:t>Two structures. One interpretation fanning out into five thousand tests — however many leaves, one root, one way to be wrong. Or tests, a model check, and a review, resting on different assumptions with different failure modes, converging on the same claim. That is the independence dimension from the previous slide, made concrete. Evidence volume increases confidence according to the information it adds — not merely the number of observations.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5 minutes — Students exercise the whole lecture on one under-determined delivery decision.</a:t>
            </a:r>
          </a:p>
          <a:p>
            <a:endParaRPr lang="en-US" dirty="0"/>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dirty="0"/>
          </a:p>
          <a:p>
            <a:r>
              <a:rPr lang="en-US" b="0" i="0" dirty="0"/>
              <a:t>=====</a:t>
            </a:r>
          </a:p>
          <a:p>
            <a:endParaRPr lang="en-US" dirty="0"/>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dirty="0"/>
          </a:p>
          <a:p>
            <a:r>
              <a:rPr lang="en-US" b="0" i="0" dirty="0"/>
              <a:t>ANIMATE</a:t>
            </a:r>
          </a:p>
          <a:p>
            <a:endParaRPr lang="en-US" dirty="0"/>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Return to the opening model, populated; leave them the reusable questions.</a:t>
            </a:r>
          </a:p>
          <a:p>
            <a:endParaRPr lang="en-US" dirty="0"/>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The engineer exercises judgment over evidence; validation does not mechanically transform one into the other. End on the final sentence: an assurance case makes that reasoning inspectable.</a:t>
            </a:r>
          </a:p>
          <a:p>
            <a:endParaRPr lang="en-US" dirty="0"/>
          </a:p>
          <a:p>
            <a:r>
              <a:rPr lang="en-US" b="0" i="0" dirty="0"/>
              <a:t>=====</a:t>
            </a:r>
          </a:p>
          <a:p>
            <a:endParaRPr lang="en-US" dirty="0"/>
          </a:p>
          <a:p>
            <a:r>
              <a:rPr lang="en-US" b="0" i="0" dirty="0"/>
              <a:t>The second slide of this lecture promised we would build this. Here it is — the same spine, populated.</a:t>
            </a:r>
          </a:p>
          <a:p>
            <a:endParaRPr lang="en-US" dirty="0"/>
          </a:p>
          <a:p>
            <a:r>
              <a:rPr lang="en-US" b="0" i="0" dirty="0"/>
              <a:t>ANIMATE</a:t>
            </a:r>
          </a:p>
          <a:p>
            <a:endParaRPr lang="en-US" dirty="0"/>
          </a:p>
          <a:p>
            <a:r>
              <a:rPr lang="en-US" b="0" i="0" dirty="0"/>
              <a:t>The claims came from the specification, not from us: payment charged at most once; p99 latency under 500 milliseconds.</a:t>
            </a:r>
          </a:p>
          <a:p>
            <a:endParaRPr lang="en-US" dirty="0"/>
          </a:p>
          <a:p>
            <a:r>
              <a:rPr lang="en-US" b="0" i="0" dirty="0"/>
              <a:t>ANIMATE</a:t>
            </a:r>
          </a:p>
          <a:p>
            <a:endParaRPr lang="en-US" dirty="0"/>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dirty="0"/>
          </a:p>
          <a:p>
            <a:r>
              <a:rPr lang="en-US" b="0" i="0" dirty="0"/>
              <a:t>ANIMATE</a:t>
            </a:r>
          </a:p>
          <a:p>
            <a:endParaRPr lang="en-US" dirty="0"/>
          </a:p>
          <a:p>
            <a:r>
              <a:rPr lang="en-US" b="0" i="0" dirty="0"/>
              <a:t>Judgment does not happen automatically: how strong is this evidence? What assumptions remain untested? What margin? What containment? What consequence if we are wrong?</a:t>
            </a:r>
          </a:p>
          <a:p>
            <a:endParaRPr lang="en-US" dirty="0"/>
          </a:p>
          <a:p>
            <a:r>
              <a:rPr lang="en-US" b="0" i="0" dirty="0"/>
              <a:t>ANIMATE</a:t>
            </a:r>
          </a:p>
          <a:p>
            <a:endParaRPr lang="en-US" dirty="0"/>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dirty="0"/>
          </a:p>
          <a:p>
            <a:r>
              <a:rPr lang="en-US" b="0" i="0" dirty="0"/>
              <a:t>ANIMATE</a:t>
            </a:r>
          </a:p>
          <a:p>
            <a:endParaRPr lang="en-US" dirty="0"/>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dirty="0"/>
          </a:p>
          <a:p>
            <a:r>
              <a:rPr lang="en-US" b="0" i="0" dirty="0"/>
              <a:t>ANIMATE</a:t>
            </a:r>
          </a:p>
          <a:p>
            <a:endParaRPr lang="en-US" dirty="0"/>
          </a:p>
          <a:p>
            <a:r>
              <a:rPr lang="en-US" b="0" i="0" dirty="0"/>
              <a:t>An assurance case makes that reasoning inspectable. That is the lecture.</a:t>
            </a: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6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EVERY PRIOR MODEL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2400" b="0" i="1" dirty="0">
                <a:solidFill>
                  <a:srgbClr val="555960"/>
                </a:solidFill>
              </a:rPr>
              <a:t xml:space="preserve">Design produced a realization. </a:t>
            </a:r>
          </a:p>
          <a:p>
            <a:pPr algn="ctr">
              <a:buNone/>
            </a:pPr>
            <a:r>
              <a:rPr lang="en-US" sz="2400" b="0" i="1" dirty="0">
                <a:solidFill>
                  <a:srgbClr val="555960"/>
                </a:solidFill>
              </a:rPr>
              <a:t>Validation asks whether the evidence is enough to deliver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100"/>
          <p:cNvSpPr/>
          <p:nvPr/>
        </p:nvSpPr>
        <p:spPr>
          <a:xfrm>
            <a:off x="2122000" y="1000653"/>
            <a:ext cx="4900000" cy="9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THE ASSURANCE CASE</a:t>
            </a:r>
          </a:p>
          <a:p>
            <a:pPr algn="ctr">
              <a:buNone/>
            </a:pPr>
            <a:r>
              <a:rPr lang="en-US" sz="2000" b="0" i="1" dirty="0">
                <a:solidFill>
                  <a:srgbClr val="555960"/>
                </a:solidFill>
              </a:rPr>
              <a:t>a structured argument connecting claims to evidence and action</a:t>
            </a:r>
          </a:p>
        </p:txBody>
      </p:sp>
      <p:sp>
        <p:nvSpPr>
          <p:cNvPr id="110" name="B110"/>
          <p:cNvSpPr/>
          <p:nvPr/>
        </p:nvSpPr>
        <p:spPr>
          <a:xfrm>
            <a:off x="50499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sp>
        <p:nvSpPr>
          <p:cNvPr id="120" name="P120"/>
          <p:cNvSpPr/>
          <p:nvPr/>
        </p:nvSpPr>
        <p:spPr>
          <a:xfrm>
            <a:off x="50499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must</a:t>
            </a:r>
          </a:p>
          <a:p>
            <a:pPr algn="ctr">
              <a:buNone/>
            </a:pPr>
            <a:r>
              <a:rPr lang="en-US" sz="2000" b="0" i="0" dirty="0">
                <a:solidFill>
                  <a:srgbClr val="000000"/>
                </a:solidFill>
              </a:rPr>
              <a:t>be true?</a:t>
            </a:r>
          </a:p>
        </p:txBody>
      </p:sp>
      <p:cxnSp>
        <p:nvCxnSpPr>
          <p:cNvPr id="130" name="C130"/>
          <p:cNvCxnSpPr/>
          <p:nvPr/>
        </p:nvCxnSpPr>
        <p:spPr>
          <a:xfrm>
            <a:off x="2370990" y="2583040"/>
            <a:ext cx="162120" cy="0"/>
          </a:xfrm>
          <a:prstGeom prst="straightConnector1">
            <a:avLst/>
          </a:prstGeom>
          <a:ln w="38100">
            <a:solidFill>
              <a:srgbClr val="8E6F3E"/>
            </a:solidFill>
            <a:tailEnd type="triangle" w="med" len="med"/>
          </a:ln>
        </p:spPr>
      </p:cxnSp>
      <p:sp>
        <p:nvSpPr>
          <p:cNvPr id="111" name="B111"/>
          <p:cNvSpPr/>
          <p:nvPr/>
        </p:nvSpPr>
        <p:spPr>
          <a:xfrm>
            <a:off x="256311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21" name="P121"/>
          <p:cNvSpPr/>
          <p:nvPr/>
        </p:nvSpPr>
        <p:spPr>
          <a:xfrm>
            <a:off x="256311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evidence</a:t>
            </a:r>
          </a:p>
          <a:p>
            <a:pPr algn="ctr">
              <a:buNone/>
            </a:pPr>
            <a:r>
              <a:rPr lang="en-US" sz="2000" b="0" i="0" dirty="0">
                <a:solidFill>
                  <a:srgbClr val="000000"/>
                </a:solidFill>
              </a:rPr>
              <a:t>bears on it?</a:t>
            </a:r>
          </a:p>
        </p:txBody>
      </p:sp>
      <p:cxnSp>
        <p:nvCxnSpPr>
          <p:cNvPr id="131" name="C131"/>
          <p:cNvCxnSpPr/>
          <p:nvPr/>
        </p:nvCxnSpPr>
        <p:spPr>
          <a:xfrm>
            <a:off x="4429110" y="2583040"/>
            <a:ext cx="162120" cy="0"/>
          </a:xfrm>
          <a:prstGeom prst="straightConnector1">
            <a:avLst/>
          </a:prstGeom>
          <a:ln w="38100">
            <a:solidFill>
              <a:srgbClr val="8E6F3E"/>
            </a:solidFill>
            <a:tailEnd type="triangle" w="med" len="med"/>
          </a:ln>
        </p:spPr>
      </p:cxnSp>
      <p:sp>
        <p:nvSpPr>
          <p:cNvPr id="112" name="B112"/>
          <p:cNvSpPr/>
          <p:nvPr/>
        </p:nvSpPr>
        <p:spPr>
          <a:xfrm>
            <a:off x="462123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22" name="P122"/>
          <p:cNvSpPr/>
          <p:nvPr/>
        </p:nvSpPr>
        <p:spPr>
          <a:xfrm>
            <a:off x="462123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strong?</a:t>
            </a:r>
          </a:p>
          <a:p>
            <a:pPr algn="ctr">
              <a:buNone/>
            </a:pPr>
            <a:r>
              <a:rPr lang="en-US" sz="2000" b="0" i="0" dirty="0">
                <a:solidFill>
                  <a:srgbClr val="000000"/>
                </a:solidFill>
              </a:rPr>
              <a:t>Is it enough?</a:t>
            </a:r>
          </a:p>
        </p:txBody>
      </p:sp>
      <p:cxnSp>
        <p:nvCxnSpPr>
          <p:cNvPr id="132" name="C132"/>
          <p:cNvCxnSpPr/>
          <p:nvPr/>
        </p:nvCxnSpPr>
        <p:spPr>
          <a:xfrm>
            <a:off x="6487230" y="2583040"/>
            <a:ext cx="162120" cy="0"/>
          </a:xfrm>
          <a:prstGeom prst="straightConnector1">
            <a:avLst/>
          </a:prstGeom>
          <a:ln w="38100">
            <a:solidFill>
              <a:srgbClr val="8E6F3E"/>
            </a:solidFill>
            <a:tailEnd type="triangle" w="med" len="med"/>
          </a:ln>
        </p:spPr>
      </p:cxnSp>
      <p:sp>
        <p:nvSpPr>
          <p:cNvPr id="113" name="B113"/>
          <p:cNvSpPr/>
          <p:nvPr/>
        </p:nvSpPr>
        <p:spPr>
          <a:xfrm>
            <a:off x="667935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23" name="P123"/>
          <p:cNvSpPr/>
          <p:nvPr/>
        </p:nvSpPr>
        <p:spPr>
          <a:xfrm>
            <a:off x="667935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should</a:t>
            </a:r>
          </a:p>
          <a:p>
            <a:pPr algn="ctr">
              <a:buNone/>
            </a:pPr>
            <a:r>
              <a:rPr lang="en-US" sz="2000" b="0" i="0" dirty="0">
                <a:solidFill>
                  <a:srgbClr val="000000"/>
                </a:solidFill>
              </a:rPr>
              <a:t>we do?</a:t>
            </a:r>
          </a:p>
        </p:txBody>
      </p:sp>
      <p:sp>
        <p:nvSpPr>
          <p:cNvPr id="140" name="E140"/>
          <p:cNvSpPr/>
          <p:nvPr/>
        </p:nvSpPr>
        <p:spPr>
          <a:xfrm>
            <a:off x="286146" y="4897348"/>
            <a:ext cx="8448048"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600" b="1" i="0" dirty="0">
                <a:solidFill>
                  <a:srgbClr val="5C4826"/>
                </a:solidFill>
              </a:rPr>
              <a:t>The argument from claim to action must be inspectable.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27432" rIns="91440" bIns="27432" anchor="ctr"/>
          <a:lstStyle/>
          <a:p>
            <a:pPr algn="ctr">
              <a:buNone/>
            </a:pPr>
            <a:r>
              <a:rPr lang="en-US" sz="2000" b="1" i="0" dirty="0">
                <a:solidFill>
                  <a:srgbClr val="FFFFFF"/>
                </a:solidFill>
              </a:rPr>
              <a:t>We will build an assurance case for one running example —</a:t>
            </a:r>
          </a:p>
          <a:p>
            <a:pPr algn="ctr">
              <a:buNone/>
            </a:pPr>
            <a:r>
              <a:rPr lang="en-US" sz="2000" b="1" i="0" dirty="0">
                <a:solidFill>
                  <a:srgbClr val="FFFFFF"/>
                </a:solidFill>
              </a:rPr>
              <a:t>then return to it at the 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3"/>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400" b="1" i="0" dirty="0">
                <a:solidFill>
                  <a:srgbClr val="000000"/>
                </a:solidFill>
              </a:rPr>
              <a:t>How confident must you be before shipping a product?</a:t>
            </a:r>
          </a:p>
          <a:p>
            <a:pPr algn="ctr">
              <a:buNone/>
            </a:pPr>
            <a:r>
              <a:rPr lang="en-US" sz="24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TODO APP</a:t>
            </a:r>
          </a:p>
        </p:txBody>
      </p:sp>
      <p:sp>
        <p:nvSpPr>
          <p:cNvPr id="120" name="P120"/>
          <p:cNvSpPr/>
          <p:nvPr/>
        </p:nvSpPr>
        <p:spPr>
          <a:xfrm>
            <a:off x="566928"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loses a task</a:t>
            </a:r>
          </a:p>
          <a:p>
            <a:pPr algn="ctr">
              <a:buNone/>
            </a:pPr>
            <a:r>
              <a:rPr lang="en-US" sz="2000" b="0" i="0" dirty="0">
                <a:solidFill>
                  <a:srgbClr val="8E6F3E"/>
                </a:solidFill>
              </a:rPr>
              <a:t>↓</a:t>
            </a:r>
          </a:p>
          <a:p>
            <a:pPr algn="ctr">
              <a:buNone/>
            </a:pPr>
            <a:r>
              <a:rPr lang="en-US" sz="2000" b="0" i="0" dirty="0">
                <a:solidFill>
                  <a:srgbClr val="000000"/>
                </a:solidFill>
              </a:rPr>
              <a:t>destroys information users depend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PAYROLL SYSTEM</a:t>
            </a:r>
          </a:p>
        </p:txBody>
      </p:sp>
      <p:sp>
        <p:nvSpPr>
          <p:cNvPr id="121" name="P121"/>
          <p:cNvSpPr/>
          <p:nvPr/>
        </p:nvSpPr>
        <p:spPr>
          <a:xfrm>
            <a:off x="3292000"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payment</a:t>
            </a:r>
          </a:p>
          <a:p>
            <a:pPr algn="ctr">
              <a:buNone/>
            </a:pPr>
            <a:r>
              <a:rPr lang="en-US" sz="2000" b="0" i="0" dirty="0">
                <a:solidFill>
                  <a:srgbClr val="8E6F3E"/>
                </a:solidFill>
              </a:rPr>
              <a:t>↓</a:t>
            </a:r>
          </a:p>
          <a:p>
            <a:pPr algn="ctr">
              <a:buNone/>
            </a:pPr>
            <a:r>
              <a:rPr lang="en-US" sz="20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X-RAY CONTROL</a:t>
            </a:r>
          </a:p>
        </p:txBody>
      </p:sp>
      <p:sp>
        <p:nvSpPr>
          <p:cNvPr id="122" name="P122"/>
          <p:cNvSpPr/>
          <p:nvPr/>
        </p:nvSpPr>
        <p:spPr>
          <a:xfrm>
            <a:off x="6017072"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dose</a:t>
            </a:r>
          </a:p>
          <a:p>
            <a:pPr algn="ctr">
              <a:buNone/>
            </a:pPr>
            <a:r>
              <a:rPr lang="en-US" sz="2000" b="0" i="0" dirty="0">
                <a:solidFill>
                  <a:srgbClr val="8E6F3E"/>
                </a:solidFill>
              </a:rPr>
              <a:t>↓</a:t>
            </a:r>
          </a:p>
          <a:p>
            <a:pPr algn="ctr">
              <a:buNone/>
            </a:pPr>
            <a:r>
              <a:rPr lang="en-US" sz="2000" b="0" i="0" dirty="0">
                <a:solidFill>
                  <a:srgbClr val="000000"/>
                </a:solidFill>
              </a:rPr>
              <a:t>direct physical injury</a:t>
            </a:r>
          </a:p>
        </p:txBody>
      </p:sp>
      <p:sp>
        <p:nvSpPr>
          <p:cNvPr id="130" name="T130"/>
          <p:cNvSpPr txBox="1"/>
          <p:nvPr/>
        </p:nvSpPr>
        <p:spPr>
          <a:xfrm>
            <a:off x="566928" y="4949614"/>
            <a:ext cx="8010144" cy="680385"/>
          </a:xfrm>
          <a:prstGeom prst="rect">
            <a:avLst/>
          </a:prstGeom>
          <a:noFill/>
          <a:ln>
            <a:noFill/>
          </a:ln>
        </p:spPr>
        <p:txBody>
          <a:bodyPr wrap="square" lIns="0" tIns="0" rIns="0" bIns="0" anchor="t"/>
          <a:lstStyle/>
          <a:p>
            <a:pPr algn="ctr">
              <a:buNone/>
            </a:pPr>
            <a:r>
              <a:rPr lang="en-US" sz="2200" b="0" i="1" dirty="0">
                <a:solidFill>
                  <a:srgbClr val="555960"/>
                </a:solidFill>
              </a:rPr>
              <a:t xml:space="preserve">Engineers weigh both the severity of a possible consequence </a:t>
            </a:r>
          </a:p>
          <a:p>
            <a:pPr algn="ctr">
              <a:buNone/>
            </a:pPr>
            <a:r>
              <a:rPr lang="en-US" sz="2200" b="0" i="1" dirty="0">
                <a:solidFill>
                  <a:srgbClr val="555960"/>
                </a:solidFill>
              </a:rPr>
              <a:t>and how directly the software can cause it.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more direct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Validation asks for sufficient evidence, not 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100"/>
          <p:cNvSpPr/>
          <p:nvPr/>
        </p:nvSpPr>
        <p:spPr>
          <a:xfrm>
            <a:off x="680000" y="112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Validation does not demand certainty.</a:t>
            </a:r>
          </a:p>
          <a:p>
            <a:pPr algn="ctr">
              <a:spcBef>
                <a:spcPts val="120"/>
              </a:spcBef>
              <a:buNone/>
            </a:pPr>
            <a:r>
              <a:rPr lang="en-US" sz="2200" b="0" i="0" dirty="0">
                <a:solidFill>
                  <a:srgbClr val="000000"/>
                </a:solidFill>
              </a:rPr>
              <a:t>It asks whether the available evidence justifies acting under the remaining uncertainty.</a:t>
            </a:r>
          </a:p>
        </p:txBody>
      </p:sp>
      <p:sp>
        <p:nvSpPr>
          <p:cNvPr id="101" name="P101"/>
          <p:cNvSpPr/>
          <p:nvPr/>
        </p:nvSpPr>
        <p:spPr>
          <a:xfrm>
            <a:off x="680000" y="240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Software is updatable.</a:t>
            </a:r>
          </a:p>
          <a:p>
            <a:pPr algn="ctr">
              <a:spcBef>
                <a:spcPts val="120"/>
              </a:spcBef>
              <a:buNone/>
            </a:pPr>
            <a:r>
              <a:rPr lang="en-US" sz="2200" b="0" i="0" dirty="0">
                <a:solidFill>
                  <a:srgbClr val="000000"/>
                </a:solidFill>
              </a:rPr>
              <a:t xml:space="preserve">Sometimes it is right to deliver under known uncertainty, </a:t>
            </a:r>
          </a:p>
          <a:p>
            <a:pPr algn="ctr">
              <a:spcBef>
                <a:spcPts val="120"/>
              </a:spcBef>
              <a:buNone/>
            </a:pPr>
            <a:r>
              <a:rPr lang="en-US" sz="2200" b="0" i="0" dirty="0">
                <a:solidFill>
                  <a:srgbClr val="000000"/>
                </a:solidFill>
              </a:rPr>
              <a:t>then observe, and repair.</a:t>
            </a:r>
          </a:p>
        </p:txBody>
      </p:sp>
      <p:sp>
        <p:nvSpPr>
          <p:cNvPr id="102" name="P102"/>
          <p:cNvSpPr/>
          <p:nvPr/>
        </p:nvSpPr>
        <p:spPr>
          <a:xfrm>
            <a:off x="680000" y="368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But an update repairs the software,</a:t>
            </a:r>
          </a:p>
          <a:p>
            <a:pPr algn="ctr">
              <a:spcBef>
                <a:spcPts val="120"/>
              </a:spcBef>
              <a:buNone/>
            </a:pPr>
            <a:r>
              <a:rPr lang="en-US" sz="2200" b="0" i="0" dirty="0">
                <a:solidFill>
                  <a:srgbClr val="000000"/>
                </a:solidFill>
              </a:rPr>
              <a:t xml:space="preserve">not its past consequences. </a:t>
            </a:r>
          </a:p>
          <a:p>
            <a:pPr algn="ctr">
              <a:spcBef>
                <a:spcPts val="120"/>
              </a:spcBef>
              <a:buNone/>
            </a:pPr>
            <a:r>
              <a:rPr lang="en-US" sz="2200" b="0" i="0" dirty="0">
                <a:solidFill>
                  <a:srgbClr val="000000"/>
                </a:solidFill>
              </a:rPr>
              <a:t>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uncertainty can we responsibly carry through this delivery?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200000" y="940000"/>
            <a:ext cx="2050000" cy="800000"/>
          </a:xfrm>
          <a:prstGeom prst="rect">
            <a:avLst/>
          </a:prstGeom>
          <a:noFill/>
          <a:ln>
            <a:noFill/>
          </a:ln>
        </p:spPr>
        <p:txBody>
          <a:bodyPr wrap="square" lIns="0" tIns="0" rIns="0" bIns="0" anchor="t"/>
          <a:lstStyle/>
          <a:p>
            <a:pPr algn="r">
              <a:buNone/>
            </a:pPr>
            <a:r>
              <a:rPr lang="en-US" sz="2200" b="1" i="0" dirty="0">
                <a:solidFill>
                  <a:srgbClr val="000000"/>
                </a:solidFill>
              </a:rPr>
              <a:t>Requirements</a:t>
            </a:r>
          </a:p>
          <a:p>
            <a:pPr algn="r">
              <a:spcBef>
                <a:spcPts val="40"/>
              </a:spcBef>
              <a:buNone/>
            </a:pPr>
            <a:r>
              <a:rPr lang="en-US" sz="2000" b="0" i="1" dirty="0">
                <a:solidFill>
                  <a:srgbClr val="555960"/>
                </a:solidFill>
              </a:rPr>
              <a:t>world outcomes</a:t>
            </a:r>
          </a:p>
        </p:txBody>
      </p:sp>
      <p:sp>
        <p:nvSpPr>
          <p:cNvPr id="111" name="T111"/>
          <p:cNvSpPr txBox="1"/>
          <p:nvPr/>
        </p:nvSpPr>
        <p:spPr>
          <a:xfrm>
            <a:off x="200000" y="1850000"/>
            <a:ext cx="2050000" cy="900000"/>
          </a:xfrm>
          <a:prstGeom prst="rect">
            <a:avLst/>
          </a:prstGeom>
          <a:noFill/>
          <a:ln>
            <a:noFill/>
          </a:ln>
        </p:spPr>
        <p:txBody>
          <a:bodyPr wrap="square" lIns="0" tIns="0" rIns="0" bIns="0" anchor="t"/>
          <a:lstStyle/>
          <a:p>
            <a:pPr algn="r">
              <a:buNone/>
            </a:pPr>
            <a:r>
              <a:rPr lang="en-US" sz="2200" b="1" i="0" dirty="0">
                <a:solidFill>
                  <a:srgbClr val="000000"/>
                </a:solidFill>
              </a:rPr>
              <a:t>Specification</a:t>
            </a:r>
          </a:p>
          <a:p>
            <a:pPr algn="r">
              <a:spcBef>
                <a:spcPts val="40"/>
              </a:spcBef>
              <a:buNone/>
            </a:pPr>
            <a:r>
              <a:rPr lang="en-US" sz="2000" b="0" i="1" dirty="0">
                <a:solidFill>
                  <a:srgbClr val="555960"/>
                </a:solidFill>
              </a:rPr>
              <a:t>machine obligations</a:t>
            </a:r>
          </a:p>
        </p:txBody>
      </p:sp>
      <p:sp>
        <p:nvSpPr>
          <p:cNvPr id="112" name="T112"/>
          <p:cNvSpPr txBox="1"/>
          <p:nvPr/>
        </p:nvSpPr>
        <p:spPr>
          <a:xfrm>
            <a:off x="200000" y="3100000"/>
            <a:ext cx="2000000" cy="900000"/>
          </a:xfrm>
          <a:prstGeom prst="rect">
            <a:avLst/>
          </a:prstGeom>
          <a:noFill/>
          <a:ln>
            <a:noFill/>
          </a:ln>
        </p:spPr>
        <p:txBody>
          <a:bodyPr wrap="square" lIns="0" tIns="0" rIns="0" bIns="0" anchor="t"/>
          <a:lstStyle/>
          <a:p>
            <a:pPr algn="r">
              <a:buNone/>
            </a:pPr>
            <a:r>
              <a:rPr lang="en-US" sz="2200" b="1" i="0" dirty="0">
                <a:solidFill>
                  <a:srgbClr val="000000"/>
                </a:solidFill>
              </a:rPr>
              <a:t>Architecture + Design</a:t>
            </a:r>
          </a:p>
        </p:txBody>
      </p:sp>
      <p:sp>
        <p:nvSpPr>
          <p:cNvPr id="113" name="P113"/>
          <p:cNvSpPr/>
          <p:nvPr/>
        </p:nvSpPr>
        <p:spPr>
          <a:xfrm>
            <a:off x="2250000" y="302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system</a:t>
            </a:r>
          </a:p>
        </p:txBody>
      </p:sp>
      <p:sp>
        <p:nvSpPr>
          <p:cNvPr id="114" name="P114"/>
          <p:cNvSpPr/>
          <p:nvPr/>
        </p:nvSpPr>
        <p:spPr>
          <a:xfrm>
            <a:off x="2440000" y="346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subsystem</a:t>
            </a:r>
          </a:p>
        </p:txBody>
      </p:sp>
      <p:sp>
        <p:nvSpPr>
          <p:cNvPr id="115" name="P115"/>
          <p:cNvSpPr/>
          <p:nvPr/>
        </p:nvSpPr>
        <p:spPr>
          <a:xfrm>
            <a:off x="2630000" y="3900000"/>
            <a:ext cx="13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mechanism</a:t>
            </a:r>
          </a:p>
        </p:txBody>
      </p:sp>
      <p:sp>
        <p:nvSpPr>
          <p:cNvPr id="117" name="T117"/>
          <p:cNvSpPr txBox="1"/>
          <p:nvPr/>
        </p:nvSpPr>
        <p:spPr>
          <a:xfrm>
            <a:off x="2900000" y="4680000"/>
            <a:ext cx="2100000" cy="420000"/>
          </a:xfrm>
          <a:prstGeom prst="rect">
            <a:avLst/>
          </a:prstGeom>
          <a:noFill/>
          <a:ln>
            <a:noFill/>
          </a:ln>
        </p:spPr>
        <p:txBody>
          <a:bodyPr wrap="square" lIns="0" tIns="0" rIns="0" bIns="0" anchor="t"/>
          <a:lstStyle/>
          <a:p>
            <a:pPr algn="ctr">
              <a:buNone/>
            </a:pPr>
            <a:r>
              <a:rPr lang="en-US" sz="2200" b="1" i="0" dirty="0">
                <a:solidFill>
                  <a:srgbClr val="000000"/>
                </a:solidFill>
              </a:rPr>
              <a:t>Implementation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not a schedule of phases.</a:t>
            </a:r>
          </a:p>
        </p:txBody>
      </p:sp>
      <p:sp>
        <p:nvSpPr>
          <p:cNvPr id="160" name="E160"/>
          <p:cNvSpPr/>
          <p:nvPr/>
        </p:nvSpPr>
        <p:spPr>
          <a:xfrm>
            <a:off x="2700000" y="1800000"/>
            <a:ext cx="6200000"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A submitted payment shall cause at most one charge.</a:t>
            </a:r>
          </a:p>
          <a:p>
            <a:pPr algn="ctr">
              <a:buNone/>
            </a:pPr>
            <a:r>
              <a:rPr lang="en-US" sz="2000" b="0" i="1" dirty="0">
                <a:solidFill>
                  <a:srgbClr val="555960"/>
                </a:solidFill>
              </a:rPr>
              <a:t>Validation inherits its claims from these models.</a:t>
            </a:r>
          </a:p>
        </p:txBody>
      </p:sp>
      <p:sp>
        <p:nvSpPr>
          <p:cNvPr id="200" name="C200"/>
          <p:cNvSpPr/>
          <p:nvPr/>
        </p:nvSpPr>
        <p:spPr>
          <a:xfrm>
            <a:off x="2700000" y="1030000"/>
            <a:ext cx="5900000" cy="4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Customer is charged at most once for one payment</a:t>
            </a:r>
          </a:p>
        </p:txBody>
      </p:sp>
      <p:sp>
        <p:nvSpPr>
          <p:cNvPr id="201" name="C201"/>
          <p:cNvSpPr/>
          <p:nvPr/>
        </p:nvSpPr>
        <p:spPr>
          <a:xfrm>
            <a:off x="3800000" y="2990000"/>
            <a:ext cx="470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Payment service suppresses duplicates</a:t>
            </a:r>
          </a:p>
        </p:txBody>
      </p:sp>
      <p:sp>
        <p:nvSpPr>
          <p:cNvPr id="202" name="C202"/>
          <p:cNvSpPr/>
          <p:nvPr/>
        </p:nvSpPr>
        <p:spPr>
          <a:xfrm>
            <a:off x="3990000" y="3430000"/>
            <a:ext cx="4899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Idempotency component catches duplicates</a:t>
            </a:r>
          </a:p>
        </p:txBody>
      </p:sp>
      <p:sp>
        <p:nvSpPr>
          <p:cNvPr id="203" name="C203"/>
          <p:cNvSpPr/>
          <p:nvPr/>
        </p:nvSpPr>
        <p:spPr>
          <a:xfrm>
            <a:off x="4080000" y="3870000"/>
            <a:ext cx="481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Record payment ID before charging provider</a:t>
            </a:r>
          </a:p>
        </p:txBody>
      </p:sp>
      <p:sp>
        <p:nvSpPr>
          <p:cNvPr id="204" name="C204"/>
          <p:cNvSpPr/>
          <p:nvPr/>
        </p:nvSpPr>
        <p:spPr>
          <a:xfrm>
            <a:off x="2900000" y="5160000"/>
            <a:ext cx="4700000" cy="4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lookup ID → record ID → charge provider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par>
                                <p:cTn id="8" presetID="10" presetClass="entr" presetSubtype="0" fill="hold" nodeType="with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par>
                    <p:cTn id="14" fill="hold">
                      <p:stCondLst>
                        <p:cond delay="indefinite"/>
                      </p:stCondLst>
                      <p:childTnLst>
                        <p:par>
                          <p:cTn id="15" fill="hold">
                            <p:stCondLst>
                              <p:cond delay="0"/>
                            </p:stCondLst>
                            <p:childTnLst>
                              <p:par>
                                <p:cTn id="13"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18" presetID="10" presetClass="entr" presetSubtype="0" fill="hold" nodeType="clickEffect">
                                  <p:stCondLst>
                                    <p:cond delay="0"/>
                                  </p:stCondLst>
                                  <p:childTnLst>
                                    <p:set>
                                      <p:cBhvr>
                                        <p:cTn id="16" dur="1" fill="hold">
                                          <p:stCondLst>
                                            <p:cond delay="0"/>
                                          </p:stCondLst>
                                        </p:cTn>
                                        <p:tgtEl>
                                          <p:spTgt spid="160"/>
                                        </p:tgtEl>
                                        <p:attrNameLst>
                                          <p:attrName>style.visibility</p:attrName>
                                        </p:attrNameLst>
                                      </p:cBhvr>
                                      <p:to>
                                        <p:strVal val="visible"/>
                                      </p:to>
                                    </p:set>
                                    <p:animEffect transition="in" filter="fade">
                                      <p:cBhvr>
                                        <p:cTn id="17" dur="500"/>
                                        <p:tgtEl>
                                          <p:spTgt spid="160"/>
                                        </p:tgtEl>
                                      </p:cBhvr>
                                    </p:animEffect>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nodeType="clickEffect">
                                  <p:stCondLst>
                                    <p:cond delay="0"/>
                                  </p:stCondLst>
                                  <p:childTnLst>
                                    <p:set>
                                      <p:cBhvr>
                                        <p:cTn id="21" dur="1" fill="hold">
                                          <p:stCondLst>
                                            <p:cond delay="0"/>
                                          </p:stCondLst>
                                        </p:cTn>
                                        <p:tgtEl>
                                          <p:spTgt spid="112"/>
                                        </p:tgtEl>
                                        <p:attrNameLst>
                                          <p:attrName>style.visibility</p:attrName>
                                        </p:attrNameLst>
                                      </p:cBhvr>
                                      <p:to>
                                        <p:strVal val="visible"/>
                                      </p:to>
                                    </p:set>
                                    <p:animEffect transition="in" filter="fade">
                                      <p:cBhvr>
                                        <p:cTn id="22"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28" presetID="10" presetClass="entr" presetSubtype="0" fill="hold" nodeType="click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31"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ntr" presetSubtype="0" fill="hold" nodeType="clickEffect">
                                  <p:stCondLst>
                                    <p:cond delay="0"/>
                                  </p:stCondLst>
                                  <p:childTnLst>
                                    <p:set>
                                      <p:cBhvr>
                                        <p:cTn id="34" dur="1" fill="hold">
                                          <p:stCondLst>
                                            <p:cond delay="0"/>
                                          </p:stCondLst>
                                        </p:cTn>
                                        <p:tgtEl>
                                          <p:spTgt spid="114"/>
                                        </p:tgtEl>
                                        <p:attrNameLst>
                                          <p:attrName>style.visibility</p:attrName>
                                        </p:attrNameLst>
                                      </p:cBhvr>
                                      <p:to>
                                        <p:strVal val="visible"/>
                                      </p:to>
                                    </p:set>
                                    <p:animEffect transition="in" filter="fade">
                                      <p:cBhvr>
                                        <p:cTn id="35" dur="500"/>
                                        <p:tgtEl>
                                          <p:spTgt spid="114"/>
                                        </p:tgtEl>
                                      </p:cBhvr>
                                    </p:animEffect>
                                  </p:childTnLst>
                                </p:cTn>
                              </p:par>
                              <p:par>
                                <p:cTn id="39" presetID="10" presetClass="entr" presetSubtype="0" fill="hold" nodeType="withEffect">
                                  <p:stCondLst>
                                    <p:cond delay="0"/>
                                  </p:stCondLst>
                                  <p:childTnLst>
                                    <p:set>
                                      <p:cBhvr>
                                        <p:cTn id="37" dur="1" fill="hold">
                                          <p:stCondLst>
                                            <p:cond delay="0"/>
                                          </p:stCondLst>
                                        </p:cTn>
                                        <p:tgtEl>
                                          <p:spTgt spid="202"/>
                                        </p:tgtEl>
                                        <p:attrNameLst>
                                          <p:attrName>style.visibility</p:attrName>
                                        </p:attrNameLst>
                                      </p:cBhvr>
                                      <p:to>
                                        <p:strVal val="visible"/>
                                      </p:to>
                                    </p:set>
                                    <p:animEffect transition="in" filter="fade">
                                      <p:cBhvr>
                                        <p:cTn id="38" dur="500"/>
                                        <p:tgtEl>
                                          <p:spTgt spid="202"/>
                                        </p:tgtEl>
                                      </p:cBhvr>
                                    </p:animEffect>
                                  </p:childTnLst>
                                </p:cTn>
                              </p:par>
                            </p:childTnLst>
                          </p:cTn>
                        </p:par>
                      </p:childTnLst>
                    </p:cTn>
                  </p:par>
                  <p:par>
                    <p:cTn id="48" fill="hold">
                      <p:stCondLst>
                        <p:cond delay="indefinite"/>
                      </p:stCondLst>
                      <p:childTnLst>
                        <p:par>
                          <p:cTn id="49" fill="hold">
                            <p:stCondLst>
                              <p:cond delay="0"/>
                            </p:stCondLst>
                            <p:childTnLst>
                              <p:par>
                                <p:cTn id="44" presetID="10" presetClass="entr" presetSubtype="0" fill="hold" nodeType="clickEffect">
                                  <p:stCondLst>
                                    <p:cond delay="0"/>
                                  </p:stCondLst>
                                  <p:childTnLst>
                                    <p:set>
                                      <p:cBhvr>
                                        <p:cTn id="42" dur="1" fill="hold">
                                          <p:stCondLst>
                                            <p:cond delay="0"/>
                                          </p:stCondLst>
                                        </p:cTn>
                                        <p:tgtEl>
                                          <p:spTgt spid="115"/>
                                        </p:tgtEl>
                                        <p:attrNameLst>
                                          <p:attrName>style.visibility</p:attrName>
                                        </p:attrNameLst>
                                      </p:cBhvr>
                                      <p:to>
                                        <p:strVal val="visible"/>
                                      </p:to>
                                    </p:set>
                                    <p:animEffect transition="in" filter="fade">
                                      <p:cBhvr>
                                        <p:cTn id="43" dur="500"/>
                                        <p:tgtEl>
                                          <p:spTgt spid="115"/>
                                        </p:tgtEl>
                                      </p:cBhvr>
                                    </p:animEffect>
                                  </p:childTnLst>
                                </p:cTn>
                              </p:par>
                              <p:par>
                                <p:cTn id="47" presetID="10" presetClass="entr" presetSubtype="0" fill="hold" nodeType="withEffect">
                                  <p:stCondLst>
                                    <p:cond delay="0"/>
                                  </p:stCondLst>
                                  <p:childTnLst>
                                    <p:set>
                                      <p:cBhvr>
                                        <p:cTn id="45" dur="1" fill="hold">
                                          <p:stCondLst>
                                            <p:cond delay="0"/>
                                          </p:stCondLst>
                                        </p:cTn>
                                        <p:tgtEl>
                                          <p:spTgt spid="203"/>
                                        </p:tgtEl>
                                        <p:attrNameLst>
                                          <p:attrName>style.visibility</p:attrName>
                                        </p:attrNameLst>
                                      </p:cBhvr>
                                      <p:to>
                                        <p:strVal val="visible"/>
                                      </p:to>
                                    </p:set>
                                    <p:animEffect transition="in" filter="fade">
                                      <p:cBhvr>
                                        <p:cTn id="46" dur="500"/>
                                        <p:tgtEl>
                                          <p:spTgt spid="203"/>
                                        </p:tgtEl>
                                      </p:cBhvr>
                                    </p:animEffect>
                                  </p:childTnLst>
                                </p:cTn>
                              </p:par>
                            </p:childTnLst>
                          </p:cTn>
                        </p:par>
                      </p:childTnLst>
                    </p:cTn>
                  </p:par>
                  <p:par>
                    <p:cTn id="56" fill="hold">
                      <p:stCondLst>
                        <p:cond delay="indefinite"/>
                      </p:stCondLst>
                      <p:childTnLst>
                        <p:par>
                          <p:cTn id="57" fill="hold">
                            <p:stCondLst>
                              <p:cond delay="0"/>
                            </p:stCondLst>
                            <p:childTnLst>
                              <p:par>
                                <p:cTn id="52" presetID="10" presetClass="entr" presetSubtype="0" fill="hold" nodeType="click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500"/>
                                        <p:tgtEl>
                                          <p:spTgt spid="117"/>
                                        </p:tgtEl>
                                      </p:cBhvr>
                                    </p:animEffect>
                                  </p:childTnLst>
                                </p:cTn>
                              </p:par>
                              <p:par>
                                <p:cTn id="55" presetID="10" presetClass="entr" presetSubtype="0" fill="hold" nodeType="withEffect">
                                  <p:stCondLst>
                                    <p:cond delay="0"/>
                                  </p:stCondLst>
                                  <p:childTnLst>
                                    <p:set>
                                      <p:cBhvr>
                                        <p:cTn id="53" dur="1" fill="hold">
                                          <p:stCondLst>
                                            <p:cond delay="0"/>
                                          </p:stCondLst>
                                        </p:cTn>
                                        <p:tgtEl>
                                          <p:spTgt spid="204"/>
                                        </p:tgtEl>
                                        <p:attrNameLst>
                                          <p:attrName>style.visibility</p:attrName>
                                        </p:attrNameLst>
                                      </p:cBhvr>
                                      <p:to>
                                        <p:strVal val="visible"/>
                                      </p:to>
                                    </p:set>
                                    <p:animEffect transition="in" filter="fade">
                                      <p:cBhvr>
                                        <p:cTn id="54" dur="500"/>
                                        <p:tgtEl>
                                          <p:spTgt spid="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90" name="E90"/>
          <p:cNvSpPr/>
          <p:nvPr/>
        </p:nvSpPr>
        <p:spPr>
          <a:xfrm>
            <a:off x="566928" y="850000"/>
            <a:ext cx="8010144" cy="7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THE OBVIOUS STRATEGY</a:t>
            </a:r>
          </a:p>
          <a:p>
            <a:pPr algn="ctr">
              <a:buNone/>
            </a:pPr>
            <a:r>
              <a:rPr lang="en-US" sz="2000" b="0" i="0" dirty="0">
                <a:solidFill>
                  <a:srgbClr val="000000"/>
                </a:solidFill>
              </a:rPr>
              <a:t>Assemble the service; verify at most one charge appears.</a:t>
            </a:r>
          </a:p>
        </p:txBody>
      </p:sp>
      <p:sp>
        <p:nvSpPr>
          <p:cNvPr id="100" name="B100"/>
          <p:cNvSpPr/>
          <p:nvPr/>
        </p:nvSpPr>
        <p:spPr>
          <a:xfrm>
            <a:off x="566928"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client</a:t>
            </a:r>
          </a:p>
        </p:txBody>
      </p:sp>
      <p:cxnSp>
        <p:nvCxnSpPr>
          <p:cNvPr id="105" name="C105"/>
          <p:cNvCxnSpPr/>
          <p:nvPr/>
        </p:nvCxnSpPr>
        <p:spPr>
          <a:xfrm>
            <a:off x="2024248" y="1975176"/>
            <a:ext cx="152752" cy="0"/>
          </a:xfrm>
          <a:prstGeom prst="straightConnector1">
            <a:avLst/>
          </a:prstGeom>
          <a:ln w="28575">
            <a:solidFill>
              <a:srgbClr val="8E6F3E"/>
            </a:solidFill>
            <a:tailEnd type="triangle" w="med" len="med"/>
          </a:ln>
        </p:spPr>
      </p:cxnSp>
      <p:sp>
        <p:nvSpPr>
          <p:cNvPr id="101" name="B101"/>
          <p:cNvSpPr/>
          <p:nvPr/>
        </p:nvSpPr>
        <p:spPr>
          <a:xfrm>
            <a:off x="2217000"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API</a:t>
            </a:r>
          </a:p>
        </p:txBody>
      </p:sp>
      <p:cxnSp>
        <p:nvCxnSpPr>
          <p:cNvPr id="106" name="C106"/>
          <p:cNvCxnSpPr/>
          <p:nvPr/>
        </p:nvCxnSpPr>
        <p:spPr>
          <a:xfrm>
            <a:off x="3674320" y="1975176"/>
            <a:ext cx="152752" cy="0"/>
          </a:xfrm>
          <a:prstGeom prst="straightConnector1">
            <a:avLst/>
          </a:prstGeom>
          <a:ln w="28575">
            <a:solidFill>
              <a:srgbClr val="8E6F3E"/>
            </a:solidFill>
            <a:tailEnd type="triangle" w="med" len="med"/>
          </a:ln>
        </p:spPr>
      </p:cxnSp>
      <p:sp>
        <p:nvSpPr>
          <p:cNvPr id="102" name="B102"/>
          <p:cNvSpPr/>
          <p:nvPr/>
        </p:nvSpPr>
        <p:spPr>
          <a:xfrm>
            <a:off x="3867072"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payments</a:t>
            </a:r>
          </a:p>
        </p:txBody>
      </p:sp>
      <p:cxnSp>
        <p:nvCxnSpPr>
          <p:cNvPr id="107" name="C107"/>
          <p:cNvCxnSpPr/>
          <p:nvPr/>
        </p:nvCxnSpPr>
        <p:spPr>
          <a:xfrm>
            <a:off x="5324392" y="1975176"/>
            <a:ext cx="152752" cy="0"/>
          </a:xfrm>
          <a:prstGeom prst="straightConnector1">
            <a:avLst/>
          </a:prstGeom>
          <a:ln w="28575">
            <a:solidFill>
              <a:srgbClr val="8E6F3E"/>
            </a:solidFill>
            <a:tailEnd type="triangle" w="med" len="med"/>
          </a:ln>
        </p:spPr>
      </p:cxnSp>
      <p:sp>
        <p:nvSpPr>
          <p:cNvPr id="103" name="B103"/>
          <p:cNvSpPr/>
          <p:nvPr/>
        </p:nvSpPr>
        <p:spPr>
          <a:xfrm>
            <a:off x="5517144"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ledger</a:t>
            </a:r>
          </a:p>
        </p:txBody>
      </p:sp>
      <p:cxnSp>
        <p:nvCxnSpPr>
          <p:cNvPr id="108" name="C108"/>
          <p:cNvCxnSpPr/>
          <p:nvPr/>
        </p:nvCxnSpPr>
        <p:spPr>
          <a:xfrm>
            <a:off x="6974464" y="1975176"/>
            <a:ext cx="152752" cy="0"/>
          </a:xfrm>
          <a:prstGeom prst="straightConnector1">
            <a:avLst/>
          </a:prstGeom>
          <a:ln w="28575">
            <a:solidFill>
              <a:srgbClr val="8E6F3E"/>
            </a:solidFill>
            <a:tailEnd type="triangle" w="med" len="med"/>
          </a:ln>
        </p:spPr>
      </p:cxnSp>
      <p:sp>
        <p:nvSpPr>
          <p:cNvPr id="104" name="B104"/>
          <p:cNvSpPr/>
          <p:nvPr/>
        </p:nvSpPr>
        <p:spPr>
          <a:xfrm>
            <a:off x="7167216"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provider</a:t>
            </a:r>
          </a:p>
        </p:txBody>
      </p:sp>
      <p:sp>
        <p:nvSpPr>
          <p:cNvPr id="120" name="T120"/>
          <p:cNvSpPr txBox="1"/>
          <p:nvPr/>
        </p:nvSpPr>
        <p:spPr>
          <a:xfrm>
            <a:off x="566928" y="2345000"/>
            <a:ext cx="8010144" cy="675000"/>
          </a:xfrm>
          <a:prstGeom prst="rect">
            <a:avLst/>
          </a:prstGeom>
          <a:noFill/>
          <a:ln>
            <a:noFill/>
          </a:ln>
        </p:spPr>
        <p:txBody>
          <a:bodyPr wrap="square" lIns="0" tIns="0" rIns="0" bIns="0" anchor="t"/>
          <a:lstStyle/>
          <a:p>
            <a:pPr algn="ctr">
              <a:buNone/>
            </a:pPr>
            <a:r>
              <a:rPr lang="en-US" sz="2200" b="1" i="0" dirty="0">
                <a:solidFill>
                  <a:srgbClr val="5C4826"/>
                </a:solidFill>
              </a:rPr>
              <a:t>The test failed. Where is the defect? Any component — or any interaction — could be responsible.</a:t>
            </a:r>
          </a:p>
        </p:txBody>
      </p:sp>
      <p:sp>
        <p:nvSpPr>
          <p:cNvPr id="130" name="P130"/>
          <p:cNvSpPr/>
          <p:nvPr/>
        </p:nvSpPr>
        <p:spPr>
          <a:xfrm>
            <a:off x="566928"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LOCALIZE</a:t>
            </a:r>
          </a:p>
          <a:p>
            <a:pPr algn="ctr">
              <a:buNone/>
            </a:pPr>
            <a:r>
              <a:rPr lang="en-US" sz="2000" b="0" i="0" dirty="0">
                <a:solidFill>
                  <a:srgbClr val="000000"/>
                </a:solidFill>
              </a:rPr>
              <a:t>The failure names a symptom, not a part.</a:t>
            </a:r>
          </a:p>
        </p:txBody>
      </p:sp>
      <p:sp>
        <p:nvSpPr>
          <p:cNvPr id="131" name="P131"/>
          <p:cNvSpPr/>
          <p:nvPr/>
        </p:nvSpPr>
        <p:spPr>
          <a:xfrm>
            <a:off x="3328416"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REPRODUCE</a:t>
            </a:r>
          </a:p>
          <a:p>
            <a:pPr algn="ctr">
              <a:buNone/>
            </a:pPr>
            <a:r>
              <a:rPr lang="en-US" sz="2000" b="0" i="0" dirty="0">
                <a:solidFill>
                  <a:srgbClr val="000000"/>
                </a:solidFill>
              </a:rPr>
              <a:t>Timing, state, and environment may not repeat on demand.</a:t>
            </a:r>
          </a:p>
        </p:txBody>
      </p:sp>
      <p:sp>
        <p:nvSpPr>
          <p:cNvPr id="132" name="P132"/>
          <p:cNvSpPr/>
          <p:nvPr/>
        </p:nvSpPr>
        <p:spPr>
          <a:xfrm>
            <a:off x="6089904"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DIAGNOSE</a:t>
            </a:r>
          </a:p>
          <a:p>
            <a:pPr algn="ctr">
              <a:buNone/>
            </a:pPr>
            <a:r>
              <a:rPr lang="en-US" sz="2000" b="0" i="0" dirty="0">
                <a:solidFill>
                  <a:srgbClr val="000000"/>
                </a:solidFill>
              </a:rPr>
              <a:t>The further the observation from the fault, the more it costs to explain.</a:t>
            </a:r>
          </a:p>
        </p:txBody>
      </p:sp>
      <p:sp>
        <p:nvSpPr>
          <p:cNvPr id="150" name="E150"/>
          <p:cNvSpPr/>
          <p:nvPr/>
        </p:nvSpPr>
        <p:spPr>
          <a:xfrm>
            <a:off x="566928" y="5170000"/>
            <a:ext cx="8010144" cy="6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So engineers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System evidence is realistic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SPEC: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2200" b="0" i="1" dirty="0">
                <a:solidFill>
                  <a:srgbClr val="555960"/>
                </a:solidFill>
              </a:rPr>
              <a:t>Some properties exist only in composition — and only world evidence can expose a false assumption.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Check at the lowest scope that can establish it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10" name="T110"/>
          <p:cNvSpPr txBox="1"/>
          <p:nvPr/>
        </p:nvSpPr>
        <p:spPr>
          <a:xfrm>
            <a:off x="370000" y="980000"/>
            <a:ext cx="2200000" cy="420000"/>
          </a:xfrm>
          <a:prstGeom prst="rect">
            <a:avLst/>
          </a:prstGeom>
          <a:noFill/>
          <a:ln>
            <a:noFill/>
          </a:ln>
        </p:spPr>
        <p:txBody>
          <a:bodyPr wrap="square" lIns="0" tIns="0" rIns="0" bIns="0" anchor="ctr"/>
          <a:lstStyle/>
          <a:p>
            <a:pPr algn="r">
              <a:buNone/>
            </a:pPr>
            <a:r>
              <a:rPr lang="en-US" sz="2200" b="1" i="0" dirty="0">
                <a:solidFill>
                  <a:srgbClr val="000000"/>
                </a:solidFill>
              </a:rPr>
              <a:t>Requirements</a:t>
            </a:r>
          </a:p>
        </p:txBody>
      </p:sp>
      <p:sp>
        <p:nvSpPr>
          <p:cNvPr id="111" name="T111"/>
          <p:cNvSpPr txBox="1"/>
          <p:nvPr/>
        </p:nvSpPr>
        <p:spPr>
          <a:xfrm>
            <a:off x="410000" y="1900000"/>
            <a:ext cx="2500000" cy="420000"/>
          </a:xfrm>
          <a:prstGeom prst="rect">
            <a:avLst/>
          </a:prstGeom>
          <a:noFill/>
          <a:ln>
            <a:noFill/>
          </a:ln>
        </p:spPr>
        <p:txBody>
          <a:bodyPr wrap="square" lIns="0" tIns="0" rIns="0" bIns="0" anchor="ctr"/>
          <a:lstStyle/>
          <a:p>
            <a:pPr algn="r">
              <a:buNone/>
            </a:pPr>
            <a:r>
              <a:rPr lang="en-US" sz="2200" b="1" i="0" dirty="0">
                <a:solidFill>
                  <a:srgbClr val="000000"/>
                </a:solidFill>
              </a:rPr>
              <a:t>Specification</a:t>
            </a:r>
          </a:p>
        </p:txBody>
      </p:sp>
      <p:sp>
        <p:nvSpPr>
          <p:cNvPr id="112" name="T112"/>
          <p:cNvSpPr txBox="1"/>
          <p:nvPr/>
        </p:nvSpPr>
        <p:spPr>
          <a:xfrm>
            <a:off x="240000" y="2820000"/>
            <a:ext cx="3000000" cy="420000"/>
          </a:xfrm>
          <a:prstGeom prst="rect">
            <a:avLst/>
          </a:prstGeom>
          <a:noFill/>
          <a:ln>
            <a:noFill/>
          </a:ln>
        </p:spPr>
        <p:txBody>
          <a:bodyPr wrap="square" lIns="0" tIns="0" rIns="0" bIns="0" anchor="ctr"/>
          <a:lstStyle/>
          <a:p>
            <a:pPr algn="r">
              <a:buNone/>
            </a:pPr>
            <a:r>
              <a:rPr lang="en-US" sz="2200" b="1" i="0" dirty="0">
                <a:solidFill>
                  <a:srgbClr val="000000"/>
                </a:solidFill>
              </a:rPr>
              <a:t>Architecture + Design</a:t>
            </a:r>
          </a:p>
        </p:txBody>
      </p:sp>
      <p:sp>
        <p:nvSpPr>
          <p:cNvPr id="117" name="T117"/>
          <p:cNvSpPr txBox="1"/>
          <p:nvPr/>
        </p:nvSpPr>
        <p:spPr>
          <a:xfrm>
            <a:off x="2625000" y="4650000"/>
            <a:ext cx="2250000" cy="420000"/>
          </a:xfrm>
          <a:prstGeom prst="rect">
            <a:avLst/>
          </a:prstGeom>
          <a:noFill/>
          <a:ln>
            <a:noFill/>
          </a:ln>
        </p:spPr>
        <p:txBody>
          <a:bodyPr wrap="square" lIns="0" tIns="0" rIns="0" bIns="0" anchor="ctr"/>
          <a:lstStyle/>
          <a:p>
            <a:pPr algn="ctr">
              <a:buNone/>
            </a:pPr>
            <a:r>
              <a:rPr lang="en-US" sz="2200" b="1" i="0" dirty="0">
                <a:solidFill>
                  <a:srgbClr val="000000"/>
                </a:solidFill>
              </a:rPr>
              <a:t>Implementation</a:t>
            </a:r>
          </a:p>
        </p:txBody>
      </p:sp>
      <p:sp>
        <p:nvSpPr>
          <p:cNvPr id="120" name="T120"/>
          <p:cNvSpPr txBox="1"/>
          <p:nvPr/>
        </p:nvSpPr>
        <p:spPr>
          <a:xfrm>
            <a:off x="6580000" y="980000"/>
            <a:ext cx="2200000" cy="420000"/>
          </a:xfrm>
          <a:prstGeom prst="rect">
            <a:avLst/>
          </a:prstGeom>
          <a:noFill/>
          <a:ln>
            <a:noFill/>
          </a:ln>
        </p:spPr>
        <p:txBody>
          <a:bodyPr wrap="square" lIns="0" tIns="0" rIns="0" bIns="0" anchor="ctr"/>
          <a:lstStyle/>
          <a:p>
            <a:pPr algn="l">
              <a:buNone/>
            </a:pPr>
            <a:r>
              <a:rPr lang="en-US" sz="2400" b="1" i="0" dirty="0">
                <a:solidFill>
                  <a:srgbClr val="000000"/>
                </a:solidFill>
              </a:rPr>
              <a:t>Acceptance</a:t>
            </a:r>
          </a:p>
        </p:txBody>
      </p:sp>
      <p:sp>
        <p:nvSpPr>
          <p:cNvPr id="121" name="T121"/>
          <p:cNvSpPr txBox="1"/>
          <p:nvPr/>
        </p:nvSpPr>
        <p:spPr>
          <a:xfrm>
            <a:off x="6240000" y="1900000"/>
            <a:ext cx="2400000" cy="420000"/>
          </a:xfrm>
          <a:prstGeom prst="rect">
            <a:avLst/>
          </a:prstGeom>
          <a:noFill/>
          <a:ln>
            <a:noFill/>
          </a:ln>
        </p:spPr>
        <p:txBody>
          <a:bodyPr wrap="square" lIns="0" tIns="0" rIns="0" bIns="0" anchor="ctr"/>
          <a:lstStyle/>
          <a:p>
            <a:pPr algn="l">
              <a:buNone/>
            </a:pPr>
            <a:r>
              <a:rPr lang="en-US" sz="2400" b="1" i="0" dirty="0">
                <a:solidFill>
                  <a:srgbClr val="000000"/>
                </a:solidFill>
              </a:rPr>
              <a:t>System</a:t>
            </a:r>
          </a:p>
        </p:txBody>
      </p:sp>
      <p:sp>
        <p:nvSpPr>
          <p:cNvPr id="122" name="T122"/>
          <p:cNvSpPr txBox="1"/>
          <p:nvPr/>
        </p:nvSpPr>
        <p:spPr>
          <a:xfrm>
            <a:off x="5900000" y="2820000"/>
            <a:ext cx="2500000" cy="420000"/>
          </a:xfrm>
          <a:prstGeom prst="rect">
            <a:avLst/>
          </a:prstGeom>
          <a:noFill/>
          <a:ln>
            <a:noFill/>
          </a:ln>
        </p:spPr>
        <p:txBody>
          <a:bodyPr wrap="square" lIns="0" tIns="0" rIns="0" bIns="0" anchor="ctr"/>
          <a:lstStyle/>
          <a:p>
            <a:pPr algn="l">
              <a:buNone/>
            </a:pPr>
            <a:r>
              <a:rPr lang="en-US" sz="2400" b="1" i="0" dirty="0">
                <a:solidFill>
                  <a:srgbClr val="000000"/>
                </a:solidFill>
              </a:rPr>
              <a:t>Integration</a:t>
            </a:r>
          </a:p>
        </p:txBody>
      </p:sp>
      <p:sp>
        <p:nvSpPr>
          <p:cNvPr id="123" name="T123"/>
          <p:cNvSpPr txBox="1"/>
          <p:nvPr/>
        </p:nvSpPr>
        <p:spPr>
          <a:xfrm>
            <a:off x="4800000" y="4650000"/>
            <a:ext cx="1200000" cy="420000"/>
          </a:xfrm>
          <a:prstGeom prst="rect">
            <a:avLst/>
          </a:prstGeom>
          <a:noFill/>
          <a:ln>
            <a:noFill/>
          </a:ln>
        </p:spPr>
        <p:txBody>
          <a:bodyPr wrap="square" lIns="0" tIns="0" rIns="0" bIns="0" anchor="ctr"/>
          <a:lstStyle/>
          <a:p>
            <a:pPr algn="ctr">
              <a:buNone/>
            </a:pPr>
            <a:r>
              <a:rPr lang="en-US" sz="2400" b="1" i="0" dirty="0">
                <a:solidFill>
                  <a:srgbClr val="000000"/>
                </a:solidFill>
              </a:rPr>
              <a:t>Unit</a:t>
            </a:r>
          </a:p>
        </p:txBody>
      </p:sp>
      <p:cxnSp>
        <p:nvCxnSpPr>
          <p:cNvPr id="125" name="D125"/>
          <p:cNvCxnSpPr/>
          <p:nvPr/>
        </p:nvCxnSpPr>
        <p:spPr>
          <a:xfrm>
            <a:off x="2750000" y="1190000"/>
            <a:ext cx="3660000" cy="0"/>
          </a:xfrm>
          <a:prstGeom prst="straightConnector1">
            <a:avLst/>
          </a:prstGeom>
          <a:ln w="12700">
            <a:solidFill>
              <a:srgbClr val="8E6F3E"/>
            </a:solidFill>
            <a:prstDash val="dash"/>
            <a:tailEnd type="triangle" w="med" len="med"/>
          </a:ln>
        </p:spPr>
      </p:cxnSp>
      <p:cxnSp>
        <p:nvCxnSpPr>
          <p:cNvPr id="126" name="D126"/>
          <p:cNvCxnSpPr/>
          <p:nvPr/>
        </p:nvCxnSpPr>
        <p:spPr>
          <a:xfrm>
            <a:off x="2990000" y="2110000"/>
            <a:ext cx="3100000" cy="0"/>
          </a:xfrm>
          <a:prstGeom prst="straightConnector1">
            <a:avLst/>
          </a:prstGeom>
          <a:ln w="12700">
            <a:solidFill>
              <a:srgbClr val="8E6F3E"/>
            </a:solidFill>
            <a:prstDash val="dash"/>
            <a:tailEnd type="triangle" w="med" len="med"/>
          </a:ln>
        </p:spPr>
      </p:cxnSp>
      <p:cxnSp>
        <p:nvCxnSpPr>
          <p:cNvPr id="127" name="D127"/>
          <p:cNvCxnSpPr/>
          <p:nvPr/>
        </p:nvCxnSpPr>
        <p:spPr>
          <a:xfrm>
            <a:off x="3320000" y="3030000"/>
            <a:ext cx="2400000" cy="0"/>
          </a:xfrm>
          <a:prstGeom prst="straightConnector1">
            <a:avLst/>
          </a:prstGeom>
          <a:ln w="12700">
            <a:solidFill>
              <a:srgbClr val="8E6F3E"/>
            </a:solidFill>
            <a:prstDash val="dash"/>
            <a:tailEnd type="triangle" w="med" len="med"/>
          </a:ln>
        </p:spPr>
      </p:cxn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Unit, integration, system, acceptance name </a:t>
            </a:r>
          </a:p>
          <a:p>
            <a:pPr algn="ctr">
              <a:buNone/>
            </a:pPr>
            <a:r>
              <a:rPr lang="en-US" sz="2000" b="1" i="0" dirty="0">
                <a:solidFill>
                  <a:srgbClr val="FFFFFF"/>
                </a:solidFill>
              </a:rPr>
              <a:t>scopes of evidence, not mechanisms.</a:t>
            </a:r>
          </a:p>
        </p:txBody>
      </p:sp>
      <p:sp>
        <p:nvSpPr>
          <p:cNvPr id="150" name="L150"/>
          <p:cNvSpPr/>
          <p:nvPr/>
        </p:nvSpPr>
        <p:spPr>
          <a:xfrm>
            <a:off x="2600000" y="1000000"/>
            <a:ext cx="1300000" cy="3550000"/>
          </a:xfrm>
          <a:custGeom>
            <a:avLst/>
            <a:gdLst/>
            <a:ahLst/>
            <a:cxnLst/>
            <a:rect l="l" t="t" r="r" b="b"/>
            <a:pathLst>
              <a:path w="1300000" h="3550000" fill="none">
                <a:moveTo>
                  <a:pt x="0" y="0"/>
                </a:moveTo>
                <a:lnTo>
                  <a:pt x="1300000" y="3550000"/>
                </a:lnTo>
              </a:path>
            </a:pathLst>
          </a:custGeom>
          <a:noFill/>
          <a:ln w="38100">
            <a:solidFill>
              <a:srgbClr val="8E6F3E"/>
            </a:solidFill>
          </a:ln>
        </p:spPr>
        <p:txBody>
          <a:bodyPr/>
          <a:lstStyle/>
          <a:p>
            <a:endParaRPr lang="en-US"/>
          </a:p>
        </p:txBody>
      </p:sp>
      <p:sp>
        <p:nvSpPr>
          <p:cNvPr id="151" name="L151"/>
          <p:cNvSpPr/>
          <p:nvPr/>
        </p:nvSpPr>
        <p:spPr>
          <a:xfrm>
            <a:off x="5250000" y="1000000"/>
            <a:ext cx="1300000" cy="3550000"/>
          </a:xfrm>
          <a:custGeom>
            <a:avLst/>
            <a:gdLst/>
            <a:ahLst/>
            <a:cxnLst/>
            <a:rect l="l" t="t" r="r" b="b"/>
            <a:pathLst>
              <a:path w="1300000" h="3550000" fill="none">
                <a:moveTo>
                  <a:pt x="0" y="3550000"/>
                </a:moveTo>
                <a:lnTo>
                  <a:pt x="1300000" y="0"/>
                </a:lnTo>
              </a:path>
            </a:pathLst>
          </a:custGeom>
          <a:noFill/>
          <a:ln w="38100">
            <a:solidFill>
              <a:srgbClr val="8E6F3E"/>
            </a:solidFill>
          </a:ln>
        </p:spPr>
        <p:txBody>
          <a:bodyPr/>
          <a:lstStyle/>
          <a:p>
            <a:endParaRPr lang="en-US"/>
          </a:p>
        </p:txBody>
      </p:sp>
      <p:cxnSp>
        <p:nvCxnSpPr>
          <p:cNvPr id="128" name="D128"/>
          <p:cNvCxnSpPr/>
          <p:nvPr/>
        </p:nvCxnSpPr>
        <p:spPr>
          <a:xfrm>
            <a:off x="3900000" y="4550000"/>
            <a:ext cx="1350000" cy="0"/>
          </a:xfrm>
          <a:prstGeom prst="straightConnector1">
            <a:avLst/>
          </a:prstGeom>
          <a:ln w="38100">
            <a:solidFill>
              <a:srgbClr val="8E6F3E"/>
            </a:solidFill>
          </a:ln>
        </p:spPr>
      </p:cxnSp>
      <p:sp>
        <p:nvSpPr>
          <p:cNvPr id="160" name="SideL160"/>
          <p:cNvSpPr txBox="1"/>
          <p:nvPr/>
        </p:nvSpPr>
        <p:spPr>
          <a:xfrm>
            <a:off x="370000" y="1500000"/>
            <a:ext cx="2600000" cy="300000"/>
          </a:xfrm>
          <a:prstGeom prst="rect">
            <a:avLst/>
          </a:prstGeom>
          <a:noFill/>
          <a:ln>
            <a:noFill/>
          </a:ln>
        </p:spPr>
        <p:txBody>
          <a:bodyPr wrap="square" lIns="0" tIns="0" rIns="0" bIns="0" anchor="ctr"/>
          <a:lstStyle/>
          <a:p>
            <a:pPr algn="l">
              <a:buNone/>
            </a:pPr>
            <a:r>
              <a:rPr lang="en-US" sz="1600" b="1" i="0" dirty="0">
                <a:solidFill>
                  <a:srgbClr val="8E6F3E"/>
                </a:solidFill>
              </a:rPr>
              <a:t>MODELS / CLAIMS</a:t>
            </a:r>
          </a:p>
        </p:txBody>
      </p:sp>
      <p:sp>
        <p:nvSpPr>
          <p:cNvPr id="161" name="SideL161"/>
          <p:cNvSpPr txBox="1"/>
          <p:nvPr/>
        </p:nvSpPr>
        <p:spPr>
          <a:xfrm>
            <a:off x="6180000" y="1500000"/>
            <a:ext cx="2600000" cy="300000"/>
          </a:xfrm>
          <a:prstGeom prst="rect">
            <a:avLst/>
          </a:prstGeom>
          <a:noFill/>
          <a:ln>
            <a:noFill/>
          </a:ln>
        </p:spPr>
        <p:txBody>
          <a:bodyPr wrap="square" lIns="0" tIns="0" rIns="0" bIns="0" anchor="ctr"/>
          <a:lstStyle/>
          <a:p>
            <a:pPr algn="r">
              <a:buNone/>
            </a:pPr>
            <a:r>
              <a:rPr lang="en-US" sz="1600" b="1" i="0" dirty="0">
                <a:solidFill>
                  <a:srgbClr val="8E6F3E"/>
                </a:solidFill>
              </a:rPr>
              <a:t>EVIDENCE SCOPES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fade">
                                      <p:cBhvr>
                                        <p:cTn id="19" dur="500"/>
                                        <p:tgtEl>
                                          <p:spTgt spid="117"/>
                                        </p:tgtEl>
                                      </p:cBhvr>
                                    </p:animEffect>
                                  </p:childTnLst>
                                </p:cTn>
                              </p:par>
                            </p:childTnLst>
                          </p:cTn>
                        </p:par>
                      </p:childTnLst>
                    </p:cTn>
                  </p:par>
                  <p:par>
                    <p:cTn id="29" fill="hold">
                      <p:stCondLst>
                        <p:cond delay="indefinite"/>
                      </p:stCondLst>
                      <p:childTnLst>
                        <p:par>
                          <p:cTn id="30"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28"/>
                                        </p:tgtEl>
                                        <p:attrNameLst>
                                          <p:attrName>style.visibility</p:attrName>
                                        </p:attrNameLst>
                                      </p:cBhvr>
                                      <p:to>
                                        <p:strVal val="visible"/>
                                      </p:to>
                                    </p:set>
                                    <p:animEffect transition="in" filter="fade">
                                      <p:cBhvr>
                                        <p:cTn id="24" dur="500"/>
                                        <p:tgtEl>
                                          <p:spTgt spid="128"/>
                                        </p:tgtEl>
                                      </p:cBhvr>
                                    </p:animEffect>
                                  </p:childTnLst>
                                </p:cTn>
                              </p:par>
                              <p:par>
                                <p:cTn id="28" presetID="10" presetClass="entr" presetSubtype="0" fill="hold" nodeType="withEffect">
                                  <p:stCondLst>
                                    <p:cond delay="0"/>
                                  </p:stCondLst>
                                  <p:childTnLst>
                                    <p:set>
                                      <p:cBhvr>
                                        <p:cTn id="26" dur="1" fill="hold">
                                          <p:stCondLst>
                                            <p:cond delay="0"/>
                                          </p:stCondLst>
                                        </p:cTn>
                                        <p:tgtEl>
                                          <p:spTgt spid="123"/>
                                        </p:tgtEl>
                                        <p:attrNameLst>
                                          <p:attrName>style.visibility</p:attrName>
                                        </p:attrNameLst>
                                      </p:cBhvr>
                                      <p:to>
                                        <p:strVal val="visible"/>
                                      </p:to>
                                    </p:set>
                                    <p:animEffect transition="in" filter="fade">
                                      <p:cBhvr>
                                        <p:cTn id="27" dur="500"/>
                                        <p:tgtEl>
                                          <p:spTgt spid="123"/>
                                        </p:tgtEl>
                                      </p:cBhvr>
                                    </p:animEffect>
                                  </p:childTnLst>
                                </p:cTn>
                              </p:par>
                            </p:childTnLst>
                          </p:cTn>
                        </p:par>
                      </p:childTnLst>
                    </p:cTn>
                  </p:par>
                  <p:par>
                    <p:cTn id="37" fill="hold">
                      <p:stCondLst>
                        <p:cond delay="indefinite"/>
                      </p:stCondLst>
                      <p:childTnLst>
                        <p:par>
                          <p:cTn id="38" fill="hold">
                            <p:stCondLst>
                              <p:cond delay="0"/>
                            </p:stCondLst>
                            <p:childTnLst>
                              <p:par>
                                <p:cTn id="33" presetID="10" presetClass="entr" presetSubtype="0" fill="hold" nodeType="click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6" presetID="10" presetClass="entr" presetSubtype="0" fill="hold" nodeType="withEffect">
                                  <p:stCondLst>
                                    <p:cond delay="0"/>
                                  </p:stCondLst>
                                  <p:childTnLst>
                                    <p:set>
                                      <p:cBhvr>
                                        <p:cTn id="34" dur="1" fill="hold">
                                          <p:stCondLst>
                                            <p:cond delay="0"/>
                                          </p:stCondLst>
                                        </p:cTn>
                                        <p:tgtEl>
                                          <p:spTgt spid="127"/>
                                        </p:tgtEl>
                                        <p:attrNameLst>
                                          <p:attrName>style.visibility</p:attrName>
                                        </p:attrNameLst>
                                      </p:cBhvr>
                                      <p:to>
                                        <p:strVal val="visible"/>
                                      </p:to>
                                    </p:set>
                                    <p:animEffect transition="in" filter="fade">
                                      <p:cBhvr>
                                        <p:cTn id="35" dur="500"/>
                                        <p:tgtEl>
                                          <p:spTgt spid="127"/>
                                        </p:tgtEl>
                                      </p:cBhvr>
                                    </p:animEffect>
                                  </p:childTnLst>
                                </p:cTn>
                              </p:par>
                            </p:childTnLst>
                          </p:cTn>
                        </p:par>
                      </p:childTnLst>
                    </p:cTn>
                  </p:par>
                  <p:par>
                    <p:cTn id="45" fill="hold">
                      <p:stCondLst>
                        <p:cond delay="indefinite"/>
                      </p:stCondLst>
                      <p:childTnLst>
                        <p:par>
                          <p:cTn id="46" fill="hold">
                            <p:stCondLst>
                              <p:cond delay="0"/>
                            </p:stCondLst>
                            <p:childTnLst>
                              <p:par>
                                <p:cTn id="41"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par>
                                <p:cTn id="44" presetID="10" presetClass="entr" presetSubtype="0" fill="hold" nodeType="withEffect">
                                  <p:stCondLst>
                                    <p:cond delay="0"/>
                                  </p:stCondLst>
                                  <p:childTnLst>
                                    <p:set>
                                      <p:cBhvr>
                                        <p:cTn id="42" dur="1" fill="hold">
                                          <p:stCondLst>
                                            <p:cond delay="0"/>
                                          </p:stCondLst>
                                        </p:cTn>
                                        <p:tgtEl>
                                          <p:spTgt spid="126"/>
                                        </p:tgtEl>
                                        <p:attrNameLst>
                                          <p:attrName>style.visibility</p:attrName>
                                        </p:attrNameLst>
                                      </p:cBhvr>
                                      <p:to>
                                        <p:strVal val="visible"/>
                                      </p:to>
                                    </p:set>
                                    <p:animEffect transition="in" filter="fade">
                                      <p:cBhvr>
                                        <p:cTn id="43" dur="500"/>
                                        <p:tgtEl>
                                          <p:spTgt spid="126"/>
                                        </p:tgtEl>
                                      </p:cBhvr>
                                    </p:animEffect>
                                  </p:childTnLst>
                                </p:cTn>
                              </p:par>
                            </p:childTnLst>
                          </p:cTn>
                        </p:par>
                      </p:childTnLst>
                    </p:cTn>
                  </p:par>
                  <p:par>
                    <p:cTn id="53" fill="hold">
                      <p:stCondLst>
                        <p:cond delay="indefinite"/>
                      </p:stCondLst>
                      <p:childTnLst>
                        <p:par>
                          <p:cTn id="54" fill="hold">
                            <p:stCondLst>
                              <p:cond delay="0"/>
                            </p:stCondLst>
                            <p:childTnLst>
                              <p:par>
                                <p:cTn id="49"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par>
                                <p:cTn id="52"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566928"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400" name="Board1" descr="Printed circuit board assembly, PAY-CTRL rev C"/>
          <p:cNvPicPr>
            <a:picLocks noChangeAspect="1"/>
          </p:cNvPicPr>
          <p:nvPr/>
        </p:nvPicPr>
        <p:blipFill>
          <a:blip r:embed="rId3"/>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3"/>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3"/>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3"/>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3"/>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3"/>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4"/>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3"/>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3"/>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3"/>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3"/>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3"/>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Row 2, column 3 — the JP2 link is missing.</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RULE: record the payment ID BEFORE charging the provider.</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1</a:t>
            </a:r>
            <a:r>
              <a:rPr lang="en-US" sz="1200" b="0" i="0" dirty="0">
                <a:solidFill>
                  <a:srgbClr val="000000"/>
                </a:solidFill>
                <a:latin typeface="Consolas"/>
              </a:rPr>
              <a:t xml:space="preserve">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2</a:t>
            </a:r>
            <a:r>
              <a:rPr lang="en-US" sz="1200" b="0" i="0" dirty="0">
                <a:solidFill>
                  <a:srgbClr val="000000"/>
                </a:solidFill>
                <a:latin typeface="Consolas"/>
              </a:rPr>
              <a:t xml:space="preserve">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3</a:t>
            </a:r>
            <a:r>
              <a:rPr lang="en-US" sz="1200" b="0" i="0" dirty="0">
                <a:solidFill>
                  <a:srgbClr val="000000"/>
                </a:solidFill>
                <a:latin typeface="Consolas"/>
              </a:rPr>
              <a:t xml:space="preserve">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4</a:t>
            </a:r>
            <a:r>
              <a:rPr lang="en-US" sz="1200" b="0" i="0" dirty="0">
                <a:solidFill>
                  <a:srgbClr val="000000"/>
                </a:solidFill>
                <a:latin typeface="Consolas"/>
              </a:rPr>
              <a:t xml:space="preserve">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5</a:t>
            </a:r>
            <a:r>
              <a:rPr lang="en-US" sz="1200" b="0" i="0" dirty="0">
                <a:solidFill>
                  <a:srgbClr val="000000"/>
                </a:solidFill>
                <a:latin typeface="Consolas"/>
              </a:rPr>
              <a:t xml:space="preserve">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6</a:t>
            </a:r>
            <a:r>
              <a:rPr lang="en-US" sz="1200" b="0" i="0" dirty="0">
                <a:solidFill>
                  <a:srgbClr val="000000"/>
                </a:solidFill>
                <a:latin typeface="Consolas"/>
              </a:rPr>
              <a:t xml:space="preserve">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7</a:t>
            </a:r>
            <a:r>
              <a:rPr lang="en-US" sz="1200" b="0" i="0" dirty="0">
                <a:solidFill>
                  <a:srgbClr val="000000"/>
                </a:solidFill>
                <a:latin typeface="Consolas"/>
              </a:rPr>
              <a:t xml:space="preserve">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8</a:t>
            </a:r>
            <a:r>
              <a:rPr lang="en-US" sz="1200" b="0" i="0" dirty="0">
                <a:solidFill>
                  <a:srgbClr val="000000"/>
                </a:solidFill>
                <a:latin typeface="Consolas"/>
              </a:rPr>
              <a:t xml:space="preserve">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9</a:t>
            </a:r>
            <a:r>
              <a:rPr lang="en-US" sz="1200" b="0" i="0" dirty="0">
                <a:solidFill>
                  <a:srgbClr val="000000"/>
                </a:solidFill>
                <a:latin typeface="Consolas"/>
              </a:rPr>
              <a:t xml:space="preserve">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10</a:t>
            </a:r>
            <a:r>
              <a:rPr lang="en-US" sz="1200" b="0" i="0" dirty="0">
                <a:solidFill>
                  <a:srgbClr val="000000"/>
                </a:solidFill>
                <a:latin typeface="Consolas"/>
              </a:rPr>
              <a:t xml:space="preserve">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11</a:t>
            </a:r>
            <a:r>
              <a:rPr lang="en-US" sz="1200" b="0" i="0" dirty="0">
                <a:solidFill>
                  <a:srgbClr val="000000"/>
                </a:solidFill>
                <a:latin typeface="Consolas"/>
              </a:rPr>
              <a:t xml:space="preserve">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12</a:t>
            </a:r>
            <a:r>
              <a:rPr lang="en-US" sz="1200" b="0" i="0" dirty="0">
                <a:solidFill>
                  <a:srgbClr val="000000"/>
                </a:solidFill>
                <a:latin typeface="Consolas"/>
              </a:rPr>
              <a:t xml:space="preserve">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13</a:t>
            </a:r>
            <a:r>
              <a:rPr lang="en-US" sz="1200" b="0" i="0" dirty="0">
                <a:solidFill>
                  <a:srgbClr val="000000"/>
                </a:solidFill>
                <a:latin typeface="Consolas"/>
              </a:rPr>
              <a:t xml:space="preserve">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14</a:t>
            </a:r>
            <a:r>
              <a:rPr lang="en-US" sz="1200" b="0" i="0" dirty="0">
                <a:solidFill>
                  <a:srgbClr val="000000"/>
                </a:solidFill>
                <a:latin typeface="Consolas"/>
              </a:rPr>
              <a:t xml:space="preserve">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15</a:t>
            </a:r>
            <a:r>
              <a:rPr lang="en-US" sz="1200" b="0" i="0" dirty="0">
                <a:solidFill>
                  <a:srgbClr val="000000"/>
                </a:solidFill>
                <a:latin typeface="Consolas"/>
              </a:rPr>
              <a:t xml:space="preserve">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16</a:t>
            </a:r>
            <a:r>
              <a:rPr lang="en-US" sz="1200" b="0" i="0" dirty="0">
                <a:solidFill>
                  <a:srgbClr val="000000"/>
                </a:solidFill>
                <a:latin typeface="Consolas"/>
              </a:rPr>
              <a:t xml:space="preserve">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17</a:t>
            </a:r>
            <a:r>
              <a:rPr lang="en-US" sz="1200" b="0" i="0" dirty="0">
                <a:solidFill>
                  <a:srgbClr val="000000"/>
                </a:solidFill>
                <a:latin typeface="Consolas"/>
              </a:rPr>
              <a:t xml:space="preserve">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18</a:t>
            </a:r>
            <a:r>
              <a:rPr lang="en-US" sz="1200" b="0" i="0" dirty="0">
                <a:solidFill>
                  <a:srgbClr val="000000"/>
                </a:solidFill>
                <a:latin typeface="Consolas"/>
              </a:rPr>
              <a:t xml:space="preserve">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19</a:t>
            </a:r>
            <a:r>
              <a:rPr lang="en-US" sz="1200" b="0" i="0" dirty="0">
                <a:solidFill>
                  <a:srgbClr val="000000"/>
                </a:solidFill>
                <a:latin typeface="Consolas"/>
              </a:rPr>
              <a:t xml:space="preserve">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20</a:t>
            </a:r>
            <a:r>
              <a:rPr lang="en-US" sz="1200" b="0" i="0" dirty="0">
                <a:solidFill>
                  <a:srgbClr val="000000"/>
                </a:solidFill>
                <a:latin typeface="Consolas"/>
              </a:rPr>
              <a:t xml:space="preserve">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21</a:t>
            </a:r>
            <a:r>
              <a:rPr lang="en-US" sz="1200" b="0" i="0" dirty="0">
                <a:solidFill>
                  <a:srgbClr val="000000"/>
                </a:solidFill>
                <a:latin typeface="Consolas"/>
              </a:rPr>
              <a:t xml:space="preserve">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22</a:t>
            </a:r>
            <a:r>
              <a:rPr lang="en-US" sz="1200" b="0" i="0" dirty="0">
                <a:solidFill>
                  <a:srgbClr val="000000"/>
                </a:solidFill>
                <a:latin typeface="Consolas"/>
              </a:rPr>
              <a:t xml:space="preserve">      return receipt</a:t>
            </a:r>
          </a:p>
        </p:txBody>
      </p:sp>
      <p:sp>
        <p:nvSpPr>
          <p:cNvPr id="501" name="RevealCaption"/>
          <p:cNvSpPr/>
          <p:nvPr/>
        </p:nvSpPr>
        <p:spPr>
          <a:xfrm>
            <a:off x="566928" y="5266944"/>
            <a:ext cx="8010144" cy="5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Lines 16–17 are inverted — charged first, recorded second;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 MAGE Moment: attention does not scale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B100"/>
          <p:cNvSpPr/>
          <p:nvPr/>
        </p:nvSpPr>
        <p:spPr>
          <a:xfrm>
            <a:off x="60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12 artifacts · 1 defect</a:t>
            </a:r>
          </a:p>
        </p:txBody>
      </p:sp>
      <p:cxnSp>
        <p:nvCxnSpPr>
          <p:cNvPr id="101" name="C101"/>
          <p:cNvCxnSpPr/>
          <p:nvPr/>
        </p:nvCxnSpPr>
        <p:spPr>
          <a:xfrm>
            <a:off x="4020000" y="1234440"/>
            <a:ext cx="1110000" cy="0"/>
          </a:xfrm>
          <a:prstGeom prst="straightConnector1">
            <a:avLst/>
          </a:prstGeom>
          <a:ln w="38100">
            <a:solidFill>
              <a:srgbClr val="8E6F3E"/>
            </a:solidFill>
            <a:tailEnd type="triangle" w="med" len="med"/>
          </a:ln>
        </p:spPr>
      </p:cxnSp>
      <p:sp>
        <p:nvSpPr>
          <p:cNvPr id="102" name="B102"/>
          <p:cNvSpPr/>
          <p:nvPr/>
        </p:nvSpPr>
        <p:spPr>
          <a:xfrm>
            <a:off x="525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10,000 artifacts · ?</a:t>
            </a:r>
          </a:p>
        </p:txBody>
      </p:sp>
      <p:sp>
        <p:nvSpPr>
          <p:cNvPr id="110" name="T110"/>
          <p:cNvSpPr txBox="1"/>
          <p:nvPr/>
        </p:nvSpPr>
        <p:spPr>
          <a:xfrm>
            <a:off x="566928" y="1636000"/>
            <a:ext cx="8010144" cy="672000"/>
          </a:xfrm>
          <a:prstGeom prst="rect">
            <a:avLst/>
          </a:prstGeom>
          <a:noFill/>
          <a:ln>
            <a:noFill/>
          </a:ln>
        </p:spPr>
        <p:txBody>
          <a:bodyPr wrap="square" lIns="0" tIns="0" rIns="0" bIns="0" anchor="t"/>
          <a:lstStyle/>
          <a:p>
            <a:pPr algn="ctr">
              <a:buNone/>
            </a:pPr>
            <a:r>
              <a:rPr lang="en-US" sz="2200" b="0" i="1" dirty="0">
                <a:solidFill>
                  <a:srgbClr val="555960"/>
                </a:solidFill>
              </a:rPr>
              <a:t xml:space="preserve">At volume, “a human reviews everything” </a:t>
            </a:r>
          </a:p>
          <a:p>
            <a:pPr algn="ctr">
              <a:buNone/>
            </a:pPr>
            <a:r>
              <a:rPr lang="en-US" sz="2200" b="0" i="1" dirty="0">
                <a:solidFill>
                  <a:srgbClr val="555960"/>
                </a:solidFill>
              </a:rPr>
              <a:t>stops being credible assurance.</a:t>
            </a:r>
          </a:p>
        </p:txBody>
      </p:sp>
      <p:sp>
        <p:nvSpPr>
          <p:cNvPr id="120" name="P120"/>
          <p:cNvSpPr/>
          <p:nvPr/>
        </p:nvSpPr>
        <p:spPr>
          <a:xfrm>
            <a:off x="566928" y="2390000"/>
            <a:ext cx="4641600" cy="195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AIRPORT SECURITY SCREENING</a:t>
            </a:r>
          </a:p>
          <a:p>
            <a:pPr algn="ctr">
              <a:spcBef>
                <a:spcPts val="120"/>
              </a:spcBef>
              <a:buNone/>
            </a:pPr>
            <a:r>
              <a:rPr lang="en-US" sz="2000" b="0" i="0" dirty="0">
                <a:solidFill>
                  <a:srgbClr val="000000"/>
                </a:solidFill>
              </a:rPr>
              <a:t>Humans miss rare targets in consequential real-world inspection.</a:t>
            </a:r>
          </a:p>
          <a:p>
            <a:pPr algn="ctr">
              <a:spcBef>
                <a:spcPts val="120"/>
              </a:spcBef>
              <a:buNone/>
            </a:pPr>
            <a:r>
              <a:rPr lang="en-US" sz="1800" b="0" i="0" dirty="0">
                <a:solidFill>
                  <a:srgbClr val="000000"/>
                </a:solidFill>
              </a:rPr>
              <a:t>Trained screeners are covertly tested against planted threats: inspection is capacity-limited.</a:t>
            </a:r>
          </a:p>
          <a:p>
            <a:pPr algn="ctr">
              <a:spcBef>
                <a:spcPts val="120"/>
              </a:spcBef>
              <a:buNone/>
            </a:pPr>
            <a:r>
              <a:rPr lang="en-US" sz="1100" b="0" i="1" dirty="0">
                <a:solidFill>
                  <a:srgbClr val="78716C"/>
                </a:solidFill>
              </a:rPr>
              <a:t>GAO-19-374 (2019)</a:t>
            </a:r>
          </a:p>
        </p:txBody>
      </p:sp>
      <p:sp>
        <p:nvSpPr>
          <p:cNvPr id="121" name="P121"/>
          <p:cNvSpPr/>
          <p:nvPr/>
        </p:nvSpPr>
        <p:spPr>
          <a:xfrm>
            <a:off x="5482848" y="2390000"/>
            <a:ext cx="3094224" cy="195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RARE-TARGET SEARCH</a:t>
            </a:r>
          </a:p>
          <a:p>
            <a:pPr algn="ctr">
              <a:spcBef>
                <a:spcPts val="120"/>
              </a:spcBef>
              <a:buNone/>
            </a:pPr>
            <a:r>
              <a:rPr lang="en-US" sz="20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30" name="E130"/>
          <p:cNvSpPr/>
          <p:nvPr/>
        </p:nvSpPr>
        <p:spPr>
          <a:xfrm>
            <a:off x="566928" y="4610000"/>
            <a:ext cx="8010144" cy="10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Human review is valuable, but attention is not a reliable exhaustive search mechanism.</a:t>
            </a:r>
          </a:p>
          <a:p>
            <a:pPr algn="ctr">
              <a:spcBef>
                <a:spcPts val="120"/>
              </a:spcBef>
              <a:buNone/>
            </a:pPr>
            <a:r>
              <a:rPr lang="en-US" sz="2200" b="0" i="0" dirty="0">
                <a:solidFill>
                  <a:srgbClr val="5C4826"/>
                </a:solidFill>
              </a:rPr>
              <a:t>Spend human judgment where judgment is required.</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Not that humans are bad validators, but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endParaRPr lang="en-US" sz="2000" i="1" dirty="0">
              <a:solidFill>
                <a:srgbClr val="555960"/>
              </a:solidFill>
            </a:endParaRP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3302000"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P100"/>
          <p:cNvSpPr/>
          <p:nvPr/>
        </p:nvSpPr>
        <p:spPr>
          <a:xfrm>
            <a:off x="5669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THE REPRESENTATION</a:t>
            </a:r>
          </a:p>
          <a:p>
            <a:pPr algn="ctr">
              <a:buNone/>
            </a:pPr>
            <a:r>
              <a:rPr lang="en-US" sz="2000" b="0" i="0" dirty="0">
                <a:solidFill>
                  <a:srgbClr val="000000"/>
                </a:solidFill>
              </a:rPr>
              <a:t>an abstraction or an explicit model</a:t>
            </a:r>
          </a:p>
          <a:p>
            <a:pPr algn="ctr">
              <a:buNone/>
            </a:pPr>
            <a:r>
              <a:rPr lang="en-US" sz="2000" b="0" i="1" dirty="0">
                <a:solidFill>
                  <a:srgbClr val="555960"/>
                </a:solidFill>
              </a:rPr>
              <a:t>of what the software can do</a:t>
            </a:r>
          </a:p>
        </p:txBody>
      </p:sp>
      <p:sp>
        <p:nvSpPr>
          <p:cNvPr id="101" name="P101"/>
          <p:cNvSpPr/>
          <p:nvPr/>
        </p:nvSpPr>
        <p:spPr>
          <a:xfrm>
            <a:off x="46817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THE CONCLUSION</a:t>
            </a:r>
          </a:p>
          <a:p>
            <a:pPr algn="ctr">
              <a:buNone/>
            </a:pPr>
            <a:r>
              <a:rPr lang="en-US" sz="2000" b="0" i="0" dirty="0">
                <a:solidFill>
                  <a:srgbClr val="000000"/>
                </a:solidFill>
              </a:rPr>
              <a:t>what can or cannot happen in it</a:t>
            </a:r>
          </a:p>
          <a:p>
            <a:pPr algn="ctr">
              <a:buNone/>
            </a:pPr>
            <a:r>
              <a:rPr lang="en-US" sz="2000" b="0" i="1" dirty="0">
                <a:solidFill>
                  <a:srgbClr val="555960"/>
                </a:solidFill>
              </a:rPr>
              <a:t>over every behavior it represents</a:t>
            </a:r>
          </a:p>
        </p:txBody>
      </p:sp>
      <p:sp>
        <p:nvSpPr>
          <p:cNvPr id="110" name="E110"/>
          <p:cNvSpPr/>
          <p:nvPr/>
        </p:nvSpPr>
        <p:spPr>
          <a:xfrm>
            <a:off x="566928" y="242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Every formal technique chooses:</a:t>
            </a:r>
          </a:p>
          <a:p>
            <a:pPr algn="ctr">
              <a:buNone/>
            </a:pPr>
            <a:r>
              <a:rPr lang="en-US" sz="2000" b="0" i="0" dirty="0">
                <a:solidFill>
                  <a:srgbClr val="000000"/>
                </a:solidFill>
              </a:rPr>
              <a:t>representation · behaviors · property · assumptions · bounds</a:t>
            </a:r>
          </a:p>
        </p:txBody>
      </p:sp>
      <p:sp>
        <p:nvSpPr>
          <p:cNvPr id="120" name="P120"/>
          <p:cNvSpPr/>
          <p:nvPr/>
        </p:nvSpPr>
        <p:spPr>
          <a:xfrm>
            <a:off x="5669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ABSTRACT STATIC ANALYSIS</a:t>
            </a:r>
          </a:p>
          <a:p>
            <a:pPr algn="ctr">
              <a:buNone/>
            </a:pPr>
            <a:r>
              <a:rPr lang="en-US" sz="2000" b="0" i="0" dirty="0">
                <a:solidFill>
                  <a:srgbClr val="000000"/>
                </a:solidFill>
              </a:rPr>
              <a:t>reasons over an abstraction of possible program behavior</a:t>
            </a:r>
          </a:p>
        </p:txBody>
      </p:sp>
      <p:sp>
        <p:nvSpPr>
          <p:cNvPr id="121" name="P121"/>
          <p:cNvSpPr/>
          <p:nvPr/>
        </p:nvSpPr>
        <p:spPr>
          <a:xfrm>
            <a:off x="46817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CHECKING</a:t>
            </a:r>
          </a:p>
          <a:p>
            <a:pPr algn="ctr">
              <a:buNone/>
            </a:pPr>
            <a:r>
              <a:rPr lang="en-US" sz="2000" b="0" i="0" dirty="0">
                <a:solidFill>
                  <a:srgbClr val="000000"/>
                </a:solidFill>
              </a:rPr>
              <a:t>searches the behaviors an explicit model admits — often within stated bounds</a:t>
            </a:r>
          </a:p>
        </p:txBody>
      </p:sp>
      <p:sp>
        <p:nvSpPr>
          <p:cNvPr id="130" name="T130"/>
          <p:cNvSpPr txBox="1"/>
          <p:nvPr/>
        </p:nvSpPr>
        <p:spPr>
          <a:xfrm>
            <a:off x="566928" y="4900000"/>
            <a:ext cx="8010144" cy="450000"/>
          </a:xfrm>
          <a:prstGeom prst="rect">
            <a:avLst/>
          </a:prstGeom>
          <a:noFill/>
          <a:ln>
            <a:noFill/>
          </a:ln>
        </p:spPr>
        <p:txBody>
          <a:bodyPr wrap="square" lIns="0" tIns="0" rIns="0" bIns="0" anchor="t"/>
          <a:lstStyle/>
          <a:p>
            <a:pPr algn="ctr">
              <a:buNone/>
            </a:pPr>
            <a:r>
              <a:rPr lang="en-US" sz="2000" b="0" i="1" dirty="0">
                <a:solidFill>
                  <a:srgbClr val="555960"/>
                </a:solidFill>
              </a:rPr>
              <a:t>Not a rigid taxonomy — a conceptual comparison for this course. The next slides take these in turn.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conclusion is limited by the representation and its assumptions.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Static analysis tracks what can be true at each point</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P100"/>
          <p:cNvSpPr/>
          <p:nvPr/>
        </p:nvSpPr>
        <p:spPr>
          <a:xfrm>
            <a:off x="566928" y="860000"/>
            <a:ext cx="3550000" cy="130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5C4826"/>
                </a:solidFill>
                <a:latin typeface="Consolas"/>
              </a:rPr>
              <a:t>x = request.amount</a:t>
            </a:r>
          </a:p>
          <a:p>
            <a:pPr algn="l">
              <a:buNone/>
            </a:pPr>
            <a:r>
              <a:rPr lang="en-US" sz="2000" b="0" i="0" dirty="0">
                <a:solidFill>
                  <a:srgbClr val="5C4826"/>
                </a:solidFill>
                <a:latin typeface="Consolas"/>
              </a:rPr>
              <a:t>if x &gt; ACCOUNT_LIMIT:</a:t>
            </a:r>
          </a:p>
          <a:p>
            <a:pPr algn="l">
              <a:buNone/>
            </a:pPr>
            <a:r>
              <a:rPr lang="en-US" sz="2000" b="0" i="0" dirty="0">
                <a:solidFill>
                  <a:srgbClr val="5C4826"/>
                </a:solidFill>
                <a:latin typeface="Consolas"/>
              </a:rPr>
              <a:t xml:space="preserve">    reject()</a:t>
            </a:r>
          </a:p>
          <a:p>
            <a:pPr algn="l">
              <a:buNone/>
            </a:pPr>
            <a:r>
              <a:rPr lang="en-US" sz="2000" b="0" i="0" dirty="0">
                <a:solidFill>
                  <a:srgbClr val="5C4826"/>
                </a:solidFill>
                <a:latin typeface="Consolas"/>
              </a:rPr>
              <a:t>charge(x)</a:t>
            </a:r>
          </a:p>
        </p:txBody>
      </p:sp>
      <p:sp>
        <p:nvSpPr>
          <p:cNvPr id="101" name="E101"/>
          <p:cNvSpPr/>
          <p:nvPr/>
        </p:nvSpPr>
        <p:spPr>
          <a:xfrm>
            <a:off x="4250000" y="860000"/>
            <a:ext cx="432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THE QUESTION</a:t>
            </a:r>
          </a:p>
          <a:p>
            <a:pPr algn="ctr">
              <a:buNone/>
            </a:pPr>
            <a:r>
              <a:rPr lang="en-US" sz="2200" b="0" i="0" dirty="0">
                <a:solidFill>
                  <a:srgbClr val="000000"/>
                </a:solidFill>
              </a:rPr>
              <a:t>Can charge(x) be reached with x &gt; ACCOUNT_LIMIT?</a:t>
            </a:r>
          </a:p>
        </p:txBody>
      </p:sp>
      <p:sp>
        <p:nvSpPr>
          <p:cNvPr id="110" name="N110"/>
          <p:cNvSpPr/>
          <p:nvPr/>
        </p:nvSpPr>
        <p:spPr>
          <a:xfrm>
            <a:off x="1850000" y="2320000"/>
            <a:ext cx="1100000" cy="40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 ?</a:t>
            </a:r>
          </a:p>
        </p:txBody>
      </p:sp>
      <p:cxnSp>
        <p:nvCxnSpPr>
          <p:cNvPr id="111" name="A111"/>
          <p:cNvCxnSpPr/>
          <p:nvPr/>
        </p:nvCxnSpPr>
        <p:spPr>
          <a:xfrm>
            <a:off x="2400000" y="2720000"/>
            <a:ext cx="0" cy="240000"/>
          </a:xfrm>
          <a:prstGeom prst="straightConnector1">
            <a:avLst/>
          </a:prstGeom>
          <a:ln w="28575">
            <a:solidFill>
              <a:srgbClr val="8E6F3E"/>
            </a:solidFill>
            <a:tailEnd type="triangle" w="med" len="med"/>
          </a:ln>
        </p:spPr>
      </p:cxnSp>
      <p:sp>
        <p:nvSpPr>
          <p:cNvPr id="112" name="N112"/>
          <p:cNvSpPr/>
          <p:nvPr/>
        </p:nvSpPr>
        <p:spPr>
          <a:xfrm>
            <a:off x="900000" y="2960000"/>
            <a:ext cx="3000000" cy="46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&gt; ACCOUNT_LIMIT ?</a:t>
            </a:r>
          </a:p>
        </p:txBody>
      </p:sp>
      <p:cxnSp>
        <p:nvCxnSpPr>
          <p:cNvPr id="113" name="A113"/>
          <p:cNvCxnSpPr/>
          <p:nvPr/>
        </p:nvCxnSpPr>
        <p:spPr>
          <a:xfrm flipH="1">
            <a:off x="1300000" y="3420000"/>
            <a:ext cx="600000" cy="420000"/>
          </a:xfrm>
          <a:prstGeom prst="straightConnector1">
            <a:avLst/>
          </a:prstGeom>
          <a:ln w="28575">
            <a:solidFill>
              <a:srgbClr val="8E6F3E"/>
            </a:solidFill>
            <a:tailEnd type="triangle" w="med" len="med"/>
          </a:ln>
        </p:spPr>
      </p:cxnSp>
      <p:sp>
        <p:nvSpPr>
          <p:cNvPr id="114" name="LY114"/>
          <p:cNvSpPr/>
          <p:nvPr/>
        </p:nvSpPr>
        <p:spPr>
          <a:xfrm>
            <a:off x="95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yes</a:t>
            </a:r>
          </a:p>
        </p:txBody>
      </p:sp>
      <p:cxnSp>
        <p:nvCxnSpPr>
          <p:cNvPr id="115" name="A115"/>
          <p:cNvCxnSpPr/>
          <p:nvPr/>
        </p:nvCxnSpPr>
        <p:spPr>
          <a:xfrm>
            <a:off x="2900000" y="3420000"/>
            <a:ext cx="550000" cy="420000"/>
          </a:xfrm>
          <a:prstGeom prst="straightConnector1">
            <a:avLst/>
          </a:prstGeom>
          <a:ln w="28575">
            <a:solidFill>
              <a:srgbClr val="8E6F3E"/>
            </a:solidFill>
            <a:tailEnd type="triangle" w="med" len="med"/>
          </a:ln>
        </p:spPr>
      </p:cxnSp>
      <p:sp>
        <p:nvSpPr>
          <p:cNvPr id="116" name="LN116"/>
          <p:cNvSpPr/>
          <p:nvPr/>
        </p:nvSpPr>
        <p:spPr>
          <a:xfrm>
            <a:off x="352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no</a:t>
            </a:r>
          </a:p>
        </p:txBody>
      </p:sp>
      <p:sp>
        <p:nvSpPr>
          <p:cNvPr id="117" name="N117"/>
          <p:cNvSpPr/>
          <p:nvPr/>
        </p:nvSpPr>
        <p:spPr>
          <a:xfrm>
            <a:off x="566928" y="3860000"/>
            <a:ext cx="14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reject()</a:t>
            </a:r>
          </a:p>
        </p:txBody>
      </p:sp>
      <p:sp>
        <p:nvSpPr>
          <p:cNvPr id="118" name="N118"/>
          <p:cNvSpPr/>
          <p:nvPr/>
        </p:nvSpPr>
        <p:spPr>
          <a:xfrm>
            <a:off x="2350000" y="3860000"/>
            <a:ext cx="22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000000"/>
                </a:solidFill>
              </a:rPr>
              <a:t>x ≤ ACCOUNT_LIMIT</a:t>
            </a:r>
          </a:p>
        </p:txBody>
      </p:sp>
      <p:cxnSp>
        <p:nvCxnSpPr>
          <p:cNvPr id="119" name="A119"/>
          <p:cNvCxnSpPr/>
          <p:nvPr/>
        </p:nvCxnSpPr>
        <p:spPr>
          <a:xfrm>
            <a:off x="3475000" y="4280000"/>
            <a:ext cx="0" cy="240000"/>
          </a:xfrm>
          <a:prstGeom prst="straightConnector1">
            <a:avLst/>
          </a:prstGeom>
          <a:ln w="28575">
            <a:solidFill>
              <a:srgbClr val="8E6F3E"/>
            </a:solidFill>
            <a:tailEnd type="triangle" w="med" len="med"/>
          </a:ln>
        </p:spPr>
      </p:cxnSp>
      <p:sp>
        <p:nvSpPr>
          <p:cNvPr id="121" name="N121"/>
          <p:cNvSpPr/>
          <p:nvPr/>
        </p:nvSpPr>
        <p:spPr>
          <a:xfrm>
            <a:off x="2725000" y="4520000"/>
            <a:ext cx="1500000" cy="420000"/>
          </a:xfrm>
          <a:prstGeom prst="rect">
            <a:avLst/>
          </a:prstGeom>
          <a:solidFill>
            <a:srgbClr val="FBF8F2"/>
          </a:solidFill>
          <a:ln w="19050">
            <a:solidFill>
              <a:srgbClr val="5C4826"/>
            </a:solidFill>
          </a:ln>
        </p:spPr>
        <p:txBody>
          <a:bodyPr wrap="square" lIns="0" tIns="22860" rIns="0" bIns="22860" anchor="ctr"/>
          <a:lstStyle/>
          <a:p>
            <a:pPr algn="ctr">
              <a:buNone/>
            </a:pPr>
            <a:r>
              <a:rPr lang="en-US" sz="2000" b="1" i="0" dirty="0">
                <a:solidFill>
                  <a:srgbClr val="5C4826"/>
                </a:solidFill>
                <a:latin typeface="Consolas"/>
              </a:rPr>
              <a:t>charge(x)</a:t>
            </a:r>
          </a:p>
        </p:txBody>
      </p:sp>
      <p:sp>
        <p:nvSpPr>
          <p:cNvPr id="130" name="TH130"/>
          <p:cNvSpPr/>
          <p:nvPr/>
        </p:nvSpPr>
        <p:spPr>
          <a:xfrm>
            <a:off x="4950000" y="2320000"/>
            <a:ext cx="3627072" cy="400000"/>
          </a:xfrm>
          <a:prstGeom prst="rect">
            <a:avLst/>
          </a:prstGeom>
          <a:solidFill>
            <a:srgbClr val="8E6F3E"/>
          </a:solidFill>
          <a:ln>
            <a:noFill/>
          </a:ln>
        </p:spPr>
        <p:txBody>
          <a:bodyPr wrap="square" lIns="91440" tIns="22860" rIns="91440" bIns="22860" anchor="ctr"/>
          <a:lstStyle/>
          <a:p>
            <a:pPr algn="ctr">
              <a:buNone/>
            </a:pPr>
            <a:r>
              <a:rPr lang="en-US" sz="2000" b="1" i="0" dirty="0">
                <a:solidFill>
                  <a:srgbClr val="FFFFFF"/>
                </a:solidFill>
              </a:rPr>
              <a:t>WHAT THE ANALYZER KNOWS</a:t>
            </a:r>
          </a:p>
        </p:txBody>
      </p:sp>
      <p:sp>
        <p:nvSpPr>
          <p:cNvPr id="131" name="R131"/>
          <p:cNvSpPr/>
          <p:nvPr/>
        </p:nvSpPr>
        <p:spPr>
          <a:xfrm>
            <a:off x="4950000" y="287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entry</a:t>
            </a:r>
          </a:p>
          <a:p>
            <a:pPr algn="l">
              <a:buNone/>
            </a:pPr>
            <a:r>
              <a:rPr lang="en-US" sz="2000" b="0" i="0" dirty="0">
                <a:solidFill>
                  <a:srgbClr val="000000"/>
                </a:solidFill>
              </a:rPr>
              <a:t>x ∈ all possible amounts</a:t>
            </a:r>
          </a:p>
        </p:txBody>
      </p:sp>
      <p:sp>
        <p:nvSpPr>
          <p:cNvPr id="132" name="R132"/>
          <p:cNvSpPr/>
          <p:nvPr/>
        </p:nvSpPr>
        <p:spPr>
          <a:xfrm>
            <a:off x="4950000" y="379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After the false branch</a:t>
            </a:r>
          </a:p>
          <a:p>
            <a:pPr algn="l">
              <a:buNone/>
            </a:pPr>
            <a:r>
              <a:rPr lang="en-US" sz="2000" b="0" i="0" dirty="0">
                <a:solidFill>
                  <a:srgbClr val="000000"/>
                </a:solidFill>
              </a:rPr>
              <a:t>x ≤ ACCOUNT_LIMIT</a:t>
            </a:r>
          </a:p>
        </p:txBody>
      </p:sp>
      <p:sp>
        <p:nvSpPr>
          <p:cNvPr id="133" name="R133"/>
          <p:cNvSpPr/>
          <p:nvPr/>
        </p:nvSpPr>
        <p:spPr>
          <a:xfrm>
            <a:off x="4950000" y="452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charge(x)</a:t>
            </a:r>
          </a:p>
          <a:p>
            <a:pPr algn="l">
              <a:buNone/>
            </a:pPr>
            <a:r>
              <a:rPr lang="en-US" sz="2000" b="0" i="0" dirty="0">
                <a:solidFill>
                  <a:srgbClr val="000000"/>
                </a:solidFill>
              </a:rPr>
              <a:t>x ≤ ACCOUNT_LIMIT</a:t>
            </a:r>
          </a:p>
        </p:txBody>
      </p:sp>
      <p:sp>
        <p:nvSpPr>
          <p:cNvPr id="140" name="ANS140"/>
          <p:cNvSpPr/>
          <p:nvPr/>
        </p:nvSpPr>
        <p:spPr>
          <a:xfrm>
            <a:off x="566928" y="5330000"/>
            <a:ext cx="8010144" cy="430000"/>
          </a:xfrm>
          <a:prstGeom prst="rect">
            <a:avLst/>
          </a:prstGeom>
          <a:solidFill>
            <a:srgbClr val="FBF8F2"/>
          </a:solidFill>
          <a:ln w="19050">
            <a:solidFill>
              <a:srgbClr val="5C4826"/>
            </a:solidFill>
          </a:ln>
        </p:spPr>
        <p:txBody>
          <a:bodyPr wrap="square" lIns="91440" tIns="22860" rIns="91440" bIns="22860" anchor="ctr"/>
          <a:lstStyle/>
          <a:p>
            <a:pPr algn="ctr">
              <a:buNone/>
            </a:pPr>
            <a:r>
              <a:rPr lang="en-US" sz="2200" b="1" i="0" dirty="0">
                <a:solidFill>
                  <a:srgbClr val="5C4826"/>
                </a:solidFill>
              </a:rPr>
              <a:t>No path in the abstraction permits it.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Sets of possibilities</a:t>
            </a:r>
            <a:r>
              <a:rPr lang="en-US" sz="2000" b="1" dirty="0">
                <a:solidFill>
                  <a:srgbClr val="FFFFFF"/>
                </a:solidFill>
              </a:rPr>
              <a:t xml:space="preserve"> are </a:t>
            </a:r>
            <a:r>
              <a:rPr lang="en-US" sz="2000" b="1" i="0" dirty="0">
                <a:solidFill>
                  <a:srgbClr val="FFFFFF"/>
                </a:solidFill>
              </a:rPr>
              <a:t>propagated, without execution.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31"/>
                                        </p:tgtEl>
                                        <p:attrNameLst>
                                          <p:attrName>style.visibility</p:attrName>
                                        </p:attrNameLst>
                                      </p:cBhvr>
                                      <p:to>
                                        <p:strVal val="visible"/>
                                      </p:to>
                                    </p:set>
                                    <p:animEffect transition="in" filter="fade">
                                      <p:cBhvr>
                                        <p:cTn id="10" dur="500"/>
                                        <p:tgtEl>
                                          <p:spTgt spid="13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2"/>
                                        </p:tgtEl>
                                        <p:attrNameLst>
                                          <p:attrName>style.visibility</p:attrName>
                                        </p:attrNameLst>
                                      </p:cBhvr>
                                      <p:to>
                                        <p:strVal val="visible"/>
                                      </p:to>
                                    </p:set>
                                    <p:animEffect transition="in" filter="fade">
                                      <p:cBhvr>
                                        <p:cTn id="15" dur="500"/>
                                        <p:tgtEl>
                                          <p:spTgt spid="13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3"/>
                                        </p:tgtEl>
                                        <p:attrNameLst>
                                          <p:attrName>style.visibility</p:attrName>
                                        </p:attrNameLst>
                                      </p:cBhvr>
                                      <p:to>
                                        <p:strVal val="visible"/>
                                      </p:to>
                                    </p:set>
                                    <p:animEffect transition="in" filter="fade">
                                      <p:cBhvr>
                                        <p:cTn id="20" dur="500"/>
                                        <p:tgtEl>
                                          <p:spTgt spid="13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analysis inherits from abstraction</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P100"/>
          <p:cNvSpPr/>
          <p:nvPr/>
        </p:nvSpPr>
        <p:spPr>
          <a:xfrm>
            <a:off x="566928" y="86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THE COST OF ABSTRACTION</a:t>
            </a:r>
          </a:p>
          <a:p>
            <a:pPr algn="ctr">
              <a:buNone/>
            </a:pPr>
            <a:r>
              <a:rPr lang="en-US" sz="2200" b="0" i="0" dirty="0">
                <a:solidFill>
                  <a:srgbClr val="000000"/>
                </a:solidFill>
              </a:rPr>
              <a:t>Startup validates the config file, so loadConfig() never returns null yet the analyzer reports “possible null dereference.”</a:t>
            </a:r>
          </a:p>
        </p:txBody>
      </p:sp>
      <p:sp>
        <p:nvSpPr>
          <p:cNvPr id="110" name="V110"/>
          <p:cNvSpPr/>
          <p:nvPr/>
        </p:nvSpPr>
        <p:spPr>
          <a:xfrm>
            <a:off x="2764608" y="2500000"/>
            <a:ext cx="3600000" cy="460000"/>
          </a:xfrm>
          <a:prstGeom prst="rect">
            <a:avLst/>
          </a:prstGeom>
          <a:solidFill>
            <a:srgbClr val="8E6F3E"/>
          </a:solidFill>
          <a:ln>
            <a:noFill/>
          </a:ln>
        </p:spPr>
        <p:txBody>
          <a:bodyPr wrap="square" lIns="45720" tIns="22860" rIns="45720" bIns="22860" anchor="ctr"/>
          <a:lstStyle/>
          <a:p>
            <a:pPr algn="ctr">
              <a:buNone/>
            </a:pPr>
            <a:r>
              <a:rPr lang="en-US" sz="2000" b="1" i="0" dirty="0">
                <a:solidFill>
                  <a:srgbClr val="FFFFFF"/>
                </a:solidFill>
              </a:rPr>
              <a:t>REAL PROGRAM BEHAVIORS</a:t>
            </a:r>
          </a:p>
        </p:txBody>
      </p:sp>
      <p:cxnSp>
        <p:nvCxnSpPr>
          <p:cNvPr id="111" name="A111"/>
          <p:cNvCxnSpPr/>
          <p:nvPr/>
        </p:nvCxnSpPr>
        <p:spPr>
          <a:xfrm>
            <a:off x="4564608" y="2960000"/>
            <a:ext cx="0" cy="400000"/>
          </a:xfrm>
          <a:prstGeom prst="straightConnector1">
            <a:avLst/>
          </a:prstGeom>
          <a:ln w="28575">
            <a:solidFill>
              <a:srgbClr val="8E6F3E"/>
            </a:solidFill>
            <a:tailEnd type="triangle" w="med" len="med"/>
          </a:ln>
        </p:spPr>
      </p:cxnSp>
      <p:sp>
        <p:nvSpPr>
          <p:cNvPr id="112" name="T112"/>
          <p:cNvSpPr/>
          <p:nvPr/>
        </p:nvSpPr>
        <p:spPr>
          <a:xfrm>
            <a:off x="4697680" y="3000000"/>
            <a:ext cx="1600000" cy="320000"/>
          </a:xfrm>
          <a:prstGeom prst="rect">
            <a:avLst/>
          </a:prstGeom>
          <a:noFill/>
          <a:ln>
            <a:noFill/>
          </a:ln>
        </p:spPr>
        <p:txBody>
          <a:bodyPr wrap="square" lIns="0" tIns="0" rIns="0" bIns="0" anchor="ctr"/>
          <a:lstStyle/>
          <a:p>
            <a:pPr algn="l">
              <a:buNone/>
            </a:pPr>
            <a:r>
              <a:rPr lang="en-US" sz="2000" b="0" i="1" dirty="0">
                <a:solidFill>
                  <a:srgbClr val="8E6F3E"/>
                </a:solidFill>
              </a:rPr>
              <a:t>abstraction</a:t>
            </a:r>
          </a:p>
        </p:txBody>
      </p:sp>
      <p:sp>
        <p:nvSpPr>
          <p:cNvPr id="113" name="V113"/>
          <p:cNvSpPr/>
          <p:nvPr/>
        </p:nvSpPr>
        <p:spPr>
          <a:xfrm>
            <a:off x="2604608" y="3360000"/>
            <a:ext cx="3920000" cy="620000"/>
          </a:xfrm>
          <a:prstGeom prst="rect">
            <a:avLst/>
          </a:prstGeom>
          <a:solidFill>
            <a:srgbClr val="F5F1E8"/>
          </a:solidFill>
          <a:ln w="19050">
            <a:solidFill>
              <a:srgbClr val="5C4826"/>
            </a:solidFill>
          </a:ln>
        </p:spPr>
        <p:txBody>
          <a:bodyPr wrap="square" lIns="45720" tIns="22860" rIns="45720" bIns="22860" anchor="ctr"/>
          <a:lstStyle/>
          <a:p>
            <a:pPr algn="ctr">
              <a:buNone/>
            </a:pPr>
            <a:r>
              <a:rPr lang="en-US" sz="2000" b="1" i="0" dirty="0">
                <a:solidFill>
                  <a:srgbClr val="5C4826"/>
                </a:solidFill>
              </a:rPr>
              <a:t>POSSIBLE BEHAVIORS SEEN BY THE ANALYZER</a:t>
            </a:r>
          </a:p>
        </p:txBody>
      </p:sp>
      <p:cxnSp>
        <p:nvCxnSpPr>
          <p:cNvPr id="114" name="A114"/>
          <p:cNvCxnSpPr/>
          <p:nvPr/>
        </p:nvCxnSpPr>
        <p:spPr>
          <a:xfrm>
            <a:off x="4564608" y="3980000"/>
            <a:ext cx="0" cy="280000"/>
          </a:xfrm>
          <a:prstGeom prst="straightConnector1">
            <a:avLst/>
          </a:prstGeom>
          <a:ln w="28575">
            <a:solidFill>
              <a:srgbClr val="8E6F3E"/>
            </a:solidFill>
            <a:tailEnd type="triangle" w="med" len="med"/>
          </a:ln>
        </p:spPr>
      </p:cxnSp>
      <p:sp>
        <p:nvSpPr>
          <p:cNvPr id="115" name="V115"/>
          <p:cNvSpPr/>
          <p:nvPr/>
        </p:nvSpPr>
        <p:spPr>
          <a:xfrm>
            <a:off x="2472000" y="4300000"/>
            <a:ext cx="4200000" cy="560000"/>
          </a:xfrm>
          <a:prstGeom prst="rect">
            <a:avLst/>
          </a:prstGeom>
          <a:noFill/>
          <a:ln>
            <a:noFill/>
          </a:ln>
        </p:spPr>
        <p:txBody>
          <a:bodyPr wrap="square" lIns="0" tIns="0" rIns="0" bIns="0" anchor="ctr"/>
          <a:lstStyle/>
          <a:p>
            <a:pPr algn="ctr">
              <a:buNone/>
            </a:pPr>
            <a:r>
              <a:rPr lang="en-US" sz="2000" b="0" i="1" dirty="0">
                <a:solidFill>
                  <a:srgbClr val="000000"/>
                </a:solidFill>
              </a:rPr>
              <a:t>some impossible behaviors may remain</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What can we conclude about the real program </a:t>
            </a:r>
          </a:p>
          <a:p>
            <a:pPr algn="ctr">
              <a:buNone/>
            </a:pPr>
            <a:r>
              <a:rPr lang="en-US" sz="2000" b="1" i="0" dirty="0">
                <a:solidFill>
                  <a:srgbClr val="FFFFFF"/>
                </a:solidFill>
              </a:rPr>
              <a:t>from what we proved about the abstraction?</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14"/>
                                        </p:tgtEl>
                                        <p:attrNameLst>
                                          <p:attrName>style.visibility</p:attrName>
                                        </p:attrNameLst>
                                      </p:cBhvr>
                                      <p:to>
                                        <p:strVal val="visible"/>
                                      </p:to>
                                    </p:set>
                                    <p:animEffect transition="in" filter="fade">
                                      <p:cBhvr>
                                        <p:cTn id="24" dur="500"/>
                                        <p:tgtEl>
                                          <p:spTgt spid="114"/>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15"/>
                                        </p:tgtEl>
                                        <p:attrNameLst>
                                          <p:attrName>style.visibility</p:attrName>
                                        </p:attrNameLst>
                                      </p:cBhvr>
                                      <p:to>
                                        <p:strVal val="visible"/>
                                      </p:to>
                                    </p:set>
                                    <p:animEffect transition="in" filter="fade">
                                      <p:cBhvr>
                                        <p:cTn id="29"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E100"/>
          <p:cNvSpPr/>
          <p:nvPr/>
        </p:nvSpPr>
        <p:spPr>
          <a:xfrm>
            <a:off x="2488920" y="896112"/>
            <a:ext cx="41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latin typeface="Consolas"/>
              </a:rPr>
              <a:t>assert(balance &gt;= 0);</a:t>
            </a:r>
          </a:p>
        </p:txBody>
      </p:sp>
      <p:sp>
        <p:nvSpPr>
          <p:cNvPr id="110" name="P110"/>
          <p:cNvSpPr/>
          <p:nvPr/>
        </p:nvSpPr>
        <p:spPr>
          <a:xfrm>
            <a:off x="5669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 PROPERTY</a:t>
            </a:r>
          </a:p>
          <a:p>
            <a:pPr algn="ctr">
              <a:buNone/>
            </a:pPr>
            <a:r>
              <a:rPr lang="en-US" sz="2000" b="0" i="0" dirty="0">
                <a:solidFill>
                  <a:srgbClr val="000000"/>
                </a:solidFill>
              </a:rPr>
              <a:t>the behavior we chose to represent</a:t>
            </a:r>
          </a:p>
          <a:p>
            <a:pPr algn="ctr">
              <a:buNone/>
            </a:pPr>
            <a:r>
              <a:rPr lang="en-US" sz="2000" b="0" i="0" dirty="0">
                <a:solidFill>
                  <a:srgbClr val="000000"/>
                </a:solidFill>
              </a:rPr>
              <a:t>and the property it must satisfy</a:t>
            </a:r>
          </a:p>
        </p:txBody>
      </p:sp>
      <p:sp>
        <p:nvSpPr>
          <p:cNvPr id="111" name="P111"/>
          <p:cNvSpPr/>
          <p:nvPr/>
        </p:nvSpPr>
        <p:spPr>
          <a:xfrm>
            <a:off x="46817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SYSTEMATIC SEARCH</a:t>
            </a:r>
          </a:p>
          <a:p>
            <a:pPr algn="ctr">
              <a:buNone/>
            </a:pPr>
            <a:r>
              <a:rPr lang="en-US" sz="2000" b="0" i="0" dirty="0">
                <a:solidFill>
                  <a:srgbClr val="000000"/>
                </a:solidFill>
              </a:rPr>
              <a:t>explore the model’s state space</a:t>
            </a:r>
          </a:p>
          <a:p>
            <a:pPr algn="ctr">
              <a:buNone/>
            </a:pPr>
            <a:r>
              <a:rPr lang="en-US" sz="2000" b="0" i="0" dirty="0">
                <a:solidFill>
                  <a:srgbClr val="000000"/>
                </a:solidFill>
              </a:rPr>
              <a:t xml:space="preserve">up to bound </a:t>
            </a:r>
            <a:r>
              <a:rPr lang="en-US" sz="2000" b="0" i="1" dirty="0">
                <a:solidFill>
                  <a:srgbClr val="000000"/>
                </a:solidFill>
              </a:rPr>
              <a:t>k</a:t>
            </a:r>
          </a:p>
          <a:p>
            <a:pPr algn="ctr">
              <a:buNone/>
            </a:pPr>
            <a:r>
              <a:rPr lang="en-US" sz="2000" b="0" i="0" dirty="0">
                <a:solidFill>
                  <a:srgbClr val="000000"/>
                </a:solidFill>
              </a:rPr>
              <a:t>↓  two outcomes</a:t>
            </a:r>
          </a:p>
        </p:txBody>
      </p:sp>
      <p:sp>
        <p:nvSpPr>
          <p:cNvPr id="120" name="B120"/>
          <p:cNvSpPr/>
          <p:nvPr/>
        </p:nvSpPr>
        <p:spPr>
          <a:xfrm>
            <a:off x="566928" y="3020000"/>
            <a:ext cx="3895344" cy="10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COUNTEREXAMPLE FOUND</a:t>
            </a:r>
          </a:p>
          <a:p>
            <a:pPr algn="ctr">
              <a:buNone/>
            </a:pPr>
            <a:r>
              <a:rPr lang="en-US" sz="2000" b="0" i="0" dirty="0">
                <a:solidFill>
                  <a:srgbClr val="FFFFFF"/>
                </a:solidFill>
              </a:rPr>
              <a:t>a trace that violates the property</a:t>
            </a:r>
          </a:p>
        </p:txBody>
      </p:sp>
      <p:sp>
        <p:nvSpPr>
          <p:cNvPr id="121" name="P121"/>
          <p:cNvSpPr/>
          <p:nvPr/>
        </p:nvSpPr>
        <p:spPr>
          <a:xfrm>
            <a:off x="4681728" y="3020000"/>
            <a:ext cx="3895344" cy="10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NONE FOUND</a:t>
            </a:r>
          </a:p>
          <a:p>
            <a:pPr algn="ctr">
              <a:buNone/>
            </a:pPr>
            <a:r>
              <a:rPr lang="en-US" sz="2000" b="0" i="0" dirty="0">
                <a:solidFill>
                  <a:srgbClr val="000000"/>
                </a:solidFill>
              </a:rPr>
              <a:t>no violation within the model and bound</a:t>
            </a:r>
          </a:p>
        </p:txBody>
      </p:sp>
      <p:sp>
        <p:nvSpPr>
          <p:cNvPr id="130" name="T130"/>
          <p:cNvSpPr txBox="1"/>
          <p:nvPr/>
        </p:nvSpPr>
        <p:spPr>
          <a:xfrm>
            <a:off x="566928" y="4260000"/>
            <a:ext cx="8010144" cy="360000"/>
          </a:xfrm>
          <a:prstGeom prst="rect">
            <a:avLst/>
          </a:prstGeom>
          <a:noFill/>
          <a:ln>
            <a:noFill/>
          </a:ln>
        </p:spPr>
        <p:txBody>
          <a:bodyPr wrap="square" lIns="0" tIns="0" rIns="0" bIns="0" anchor="ctr"/>
          <a:lstStyle/>
          <a:p>
            <a:pPr algn="ctr">
              <a:buNone/>
            </a:pPr>
            <a:r>
              <a:rPr lang="en-US" sz="2000" b="0" i="1" dirty="0">
                <a:solidFill>
                  <a:srgbClr val="555960"/>
                </a:solidFill>
              </a:rPr>
              <a:t xml:space="preserve">model · assumptions · semantics · bound </a:t>
            </a:r>
            <a:r>
              <a:rPr lang="en-US" sz="2000" b="0" i="1" dirty="0">
                <a:solidFill>
                  <a:srgbClr val="555960"/>
                </a:solidFill>
              </a:rPr>
              <a:t>define the claim</a:t>
            </a:r>
          </a:p>
        </p:txBody>
      </p:sp>
      <p:sp>
        <p:nvSpPr>
          <p:cNvPr id="135" name="P135"/>
          <p:cNvSpPr/>
          <p:nvPr/>
        </p:nvSpPr>
        <p:spPr>
          <a:xfrm>
            <a:off x="566928" y="4760000"/>
            <a:ext cx="8010144" cy="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Mars: ~45K lines of C → a ~1.6K-line verification model;</a:t>
            </a:r>
          </a:p>
          <a:p>
            <a:pPr algn="ctr">
              <a:buNone/>
            </a:pPr>
            <a:r>
              <a:rPr lang="en-US" sz="2000" b="0" i="0" dirty="0">
                <a:solidFill>
                  <a:srgbClr val="000000"/>
                </a:solidFill>
              </a:rPr>
              <a:t>model checking joined routine regression testing</a:t>
            </a:r>
            <a:r>
              <a:rPr lang="en-US" sz="1300" b="0" i="0" dirty="0">
                <a:solidFill>
                  <a:srgbClr val="555960"/>
                </a:solidFill>
              </a:rPr>
              <a:t xml:space="preserve">   (Holzmann, CACM 2014)</a:t>
            </a:r>
          </a:p>
        </p:txBody>
      </p:sp>
      <p:sp>
        <p:nvSpPr>
          <p:cNvPr id="140" name="FooterBand"/>
          <p:cNvSpPr/>
          <p:nvPr/>
        </p:nvSpPr>
        <p:spPr>
          <a:xfrm>
            <a:off x="274320" y="587121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We found no counterexample up to depth k. </a:t>
            </a:r>
          </a:p>
          <a:p>
            <a:pPr algn="ctr">
              <a:buNone/>
            </a:pPr>
            <a:r>
              <a:rPr lang="en-US" sz="2000" b="1" i="0" dirty="0">
                <a:solidFill>
                  <a:srgbClr val="FFFFFF"/>
                </a:solidFill>
              </a:rPr>
              <a:t>What have we established?</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20"/>
                                        </p:tgtEl>
                                        <p:attrNameLst>
                                          <p:attrName>style.visibility</p:attrName>
                                        </p:attrNameLst>
                                      </p:cBhvr>
                                      <p:to>
                                        <p:strVal val="visible"/>
                                      </p:to>
                                    </p:set>
                                    <p:animEffect transition="in" filter="fade">
                                      <p:cBhvr>
                                        <p:cTn id="14" dur="500"/>
                                        <p:tgtEl>
                                          <p:spTgt spid="120"/>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21"/>
                                        </p:tgtEl>
                                        <p:attrNameLst>
                                          <p:attrName>style.visibility</p:attrName>
                                        </p:attrNameLst>
                                      </p:cBhvr>
                                      <p:to>
                                        <p:strVal val="visible"/>
                                      </p:to>
                                    </p:set>
                                    <p:animEffect transition="in" filter="fade">
                                      <p:cBhvr>
                                        <p:cTn id="19" dur="500"/>
                                        <p:tgtEl>
                                          <p:spTgt spid="121"/>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500"/>
                                        <p:tgtEl>
                                          <p:spTgt spid="130"/>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35"/>
                                        </p:tgtEl>
                                        <p:attrNameLst>
                                          <p:attrName>style.visibility</p:attrName>
                                        </p:attrNameLst>
                                      </p:cBhvr>
                                      <p:to>
                                        <p:strVal val="visible"/>
                                      </p:to>
                                    </p:set>
                                    <p:animEffect transition="in" filter="fade">
                                      <p:cBhvr>
                                        <p:cTn id="29" dur="500"/>
                                        <p:tgtEl>
                                          <p:spTgt spid="135"/>
                                        </p:tgtEl>
                                      </p:cBhvr>
                                    </p:animEffect>
                                  </p:childTnLst>
                                </p:cTn>
                              </p:par>
                            </p:childTnLst>
                          </p:cTn>
                        </p:par>
                      </p:childTnLst>
                    </p:cTn>
                  </p:par>
                  <p:par>
                    <p:cTn id="36" fill="hold">
                      <p:stCondLst>
                        <p:cond delay="indefinite"/>
                      </p:stCondLst>
                      <p:childTnLst>
                        <p:par>
                          <p:cTn id="37" fill="hold">
                            <p:stCondLst>
                              <p:cond delay="0"/>
                            </p:stCondLst>
                            <p:childTnLst>
                              <p:par>
                                <p:cTn id="35" presetID="10" presetClass="entr" presetSubtype="0" fill="hold" nodeType="clickEffect">
                                  <p:stCondLst>
                                    <p:cond delay="0"/>
                                  </p:stCondLst>
                                  <p:childTnLst>
                                    <p:set>
                                      <p:cBhvr>
                                        <p:cTn id="33" dur="1" fill="hold">
                                          <p:stCondLst>
                                            <p:cond delay="0"/>
                                          </p:stCondLst>
                                        </p:cTn>
                                        <p:tgtEl>
                                          <p:spTgt spid="140"/>
                                        </p:tgtEl>
                                        <p:attrNameLst>
                                          <p:attrName>style.visibility</p:attrName>
                                        </p:attrNameLst>
                                      </p:cBhvr>
                                      <p:to>
                                        <p:strVal val="visible"/>
                                      </p:to>
                                    </p:set>
                                    <p:animEffect transition="in" filter="fade">
                                      <p:cBhvr>
                                        <p:cTn id="34"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6037072"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Observing execution (Testing)</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B100"/>
          <p:cNvSpPr/>
          <p:nvPr/>
        </p:nvSpPr>
        <p:spPr>
          <a:xfrm>
            <a:off x="566928"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PICK INPUTS</a:t>
            </a:r>
          </a:p>
        </p:txBody>
      </p:sp>
      <p:cxnSp>
        <p:nvCxnSpPr>
          <p:cNvPr id="105" name="C105"/>
          <p:cNvCxnSpPr/>
          <p:nvPr/>
        </p:nvCxnSpPr>
        <p:spPr>
          <a:xfrm>
            <a:off x="2516928" y="1150000"/>
            <a:ext cx="70048" cy="0"/>
          </a:xfrm>
          <a:prstGeom prst="straightConnector1">
            <a:avLst/>
          </a:prstGeom>
          <a:ln w="28575">
            <a:solidFill>
              <a:srgbClr val="8E6F3E"/>
            </a:solidFill>
            <a:tailEnd type="triangle" w="med" len="med"/>
          </a:ln>
        </p:spPr>
      </p:cxnSp>
      <p:sp>
        <p:nvSpPr>
          <p:cNvPr id="101" name="B101"/>
          <p:cNvSpPr/>
          <p:nvPr/>
        </p:nvSpPr>
        <p:spPr>
          <a:xfrm>
            <a:off x="2586976"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a:t>
            </a:r>
          </a:p>
        </p:txBody>
      </p:sp>
      <p:cxnSp>
        <p:nvCxnSpPr>
          <p:cNvPr id="106" name="C106"/>
          <p:cNvCxnSpPr/>
          <p:nvPr/>
        </p:nvCxnSpPr>
        <p:spPr>
          <a:xfrm>
            <a:off x="4536976" y="1150000"/>
            <a:ext cx="70048" cy="0"/>
          </a:xfrm>
          <a:prstGeom prst="straightConnector1">
            <a:avLst/>
          </a:prstGeom>
          <a:ln w="28575">
            <a:solidFill>
              <a:srgbClr val="8E6F3E"/>
            </a:solidFill>
            <a:tailEnd type="triangle" w="med" len="med"/>
          </a:ln>
        </p:spPr>
      </p:cxnSp>
      <p:sp>
        <p:nvSpPr>
          <p:cNvPr id="102" name="B102"/>
          <p:cNvSpPr/>
          <p:nvPr/>
        </p:nvSpPr>
        <p:spPr>
          <a:xfrm>
            <a:off x="4607024"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OBSERVE</a:t>
            </a:r>
          </a:p>
        </p:txBody>
      </p:sp>
      <p:cxnSp>
        <p:nvCxnSpPr>
          <p:cNvPr id="107" name="C107"/>
          <p:cNvCxnSpPr/>
          <p:nvPr/>
        </p:nvCxnSpPr>
        <p:spPr>
          <a:xfrm>
            <a:off x="6557024" y="1150000"/>
            <a:ext cx="70048" cy="0"/>
          </a:xfrm>
          <a:prstGeom prst="straightConnector1">
            <a:avLst/>
          </a:prstGeom>
          <a:ln w="28575">
            <a:solidFill>
              <a:srgbClr val="8E6F3E"/>
            </a:solidFill>
            <a:tailEnd type="triangle" w="med" len="med"/>
          </a:ln>
        </p:spPr>
      </p:cxnSp>
      <p:sp>
        <p:nvSpPr>
          <p:cNvPr id="103" name="B103"/>
          <p:cNvSpPr/>
          <p:nvPr/>
        </p:nvSpPr>
        <p:spPr>
          <a:xfrm>
            <a:off x="6627072"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ORACLE</a:t>
            </a:r>
          </a:p>
        </p:txBody>
      </p:sp>
      <p:sp>
        <p:nvSpPr>
          <p:cNvPr id="111" name="P111"/>
          <p:cNvSpPr/>
          <p:nvPr/>
        </p:nvSpPr>
        <p:spPr>
          <a:xfrm>
            <a:off x="566928" y="2400000"/>
            <a:ext cx="3247072" cy="937903"/>
          </a:xfrm>
          <a:prstGeom prst="rect">
            <a:avLst/>
          </a:prstGeom>
          <a:solidFill>
            <a:srgbClr val="F5F1E8"/>
          </a:solidFill>
          <a:ln w="12700">
            <a:solidFill>
              <a:srgbClr val="C9B991"/>
            </a:solidFill>
          </a:ln>
        </p:spPr>
        <p:txBody>
          <a:bodyPr wrap="square" lIns="91440" tIns="45720" rIns="91440" bIns="45720" anchor="ctr"/>
          <a:lstStyle/>
          <a:p>
            <a:pPr algn="ctr"/>
            <a:r>
              <a:rPr lang="en-US" sz="2000" b="1" dirty="0">
                <a:solidFill>
                  <a:srgbClr val="5C4826"/>
                </a:solidFill>
              </a:rPr>
              <a:t>SIMULATION BUYS</a:t>
            </a:r>
          </a:p>
          <a:p>
            <a:pPr algn="ctr"/>
            <a:r>
              <a:rPr lang="en-US" sz="2000" b="1" dirty="0">
                <a:solidFill>
                  <a:srgbClr val="5C4826"/>
                </a:solidFill>
              </a:rPr>
              <a:t>speed · repeatability · controllability · cost</a:t>
            </a:r>
          </a:p>
        </p:txBody>
      </p:sp>
      <p:sp>
        <p:nvSpPr>
          <p:cNvPr id="112" name="E112"/>
          <p:cNvSpPr/>
          <p:nvPr/>
        </p:nvSpPr>
        <p:spPr>
          <a:xfrm>
            <a:off x="5482400" y="2400000"/>
            <a:ext cx="3247072" cy="937903"/>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FIDELITY BUYS</a:t>
            </a:r>
          </a:p>
          <a:p>
            <a:pPr algn="ctr">
              <a:buNone/>
            </a:pPr>
            <a:r>
              <a:rPr lang="en-US" sz="2000" b="0" i="0" dirty="0">
                <a:solidFill>
                  <a:srgbClr val="000000"/>
                </a:solidFill>
              </a:rPr>
              <a:t>evidence under the actual delivery conditions</a:t>
            </a:r>
          </a:p>
        </p:txBody>
      </p:sp>
      <p:sp>
        <p:nvSpPr>
          <p:cNvPr id="120" name="T120"/>
          <p:cNvSpPr txBox="1"/>
          <p:nvPr/>
        </p:nvSpPr>
        <p:spPr>
          <a:xfrm>
            <a:off x="566928" y="1800000"/>
            <a:ext cx="2000000" cy="380000"/>
          </a:xfrm>
          <a:prstGeom prst="rect">
            <a:avLst/>
          </a:prstGeom>
          <a:noFill/>
          <a:ln>
            <a:noFill/>
          </a:ln>
        </p:spPr>
        <p:txBody>
          <a:bodyPr wrap="square" lIns="0" tIns="0" rIns="0" bIns="0" anchor="ctr"/>
          <a:lstStyle/>
          <a:p>
            <a:pPr algn="l">
              <a:buNone/>
            </a:pPr>
            <a:r>
              <a:rPr lang="en-US" sz="2200" b="1" i="0" dirty="0">
                <a:solidFill>
                  <a:srgbClr val="5C4826"/>
                </a:solidFill>
              </a:rPr>
              <a:t>SIMULATED</a:t>
            </a:r>
          </a:p>
        </p:txBody>
      </p:sp>
      <p:cxnSp>
        <p:nvCxnSpPr>
          <p:cNvPr id="121" name="C121"/>
          <p:cNvCxnSpPr/>
          <p:nvPr/>
        </p:nvCxnSpPr>
        <p:spPr>
          <a:xfrm>
            <a:off x="2650000" y="1990000"/>
            <a:ext cx="4150000" cy="0"/>
          </a:xfrm>
          <a:prstGeom prst="straightConnector1">
            <a:avLst/>
          </a:prstGeom>
          <a:ln w="28575">
            <a:solidFill>
              <a:srgbClr val="8E6F3E"/>
            </a:solidFill>
            <a:tailEnd type="triangle" w="med" len="med"/>
          </a:ln>
        </p:spPr>
      </p:cxnSp>
      <p:sp>
        <p:nvSpPr>
          <p:cNvPr id="122" name="T122"/>
          <p:cNvSpPr txBox="1"/>
          <p:nvPr/>
        </p:nvSpPr>
        <p:spPr>
          <a:xfrm>
            <a:off x="6880000" y="1800000"/>
            <a:ext cx="1700000" cy="380000"/>
          </a:xfrm>
          <a:prstGeom prst="rect">
            <a:avLst/>
          </a:prstGeom>
          <a:noFill/>
          <a:ln>
            <a:noFill/>
          </a:ln>
        </p:spPr>
        <p:txBody>
          <a:bodyPr wrap="square" lIns="0" tIns="0" rIns="0" bIns="0" anchor="ctr"/>
          <a:lstStyle/>
          <a:p>
            <a:pPr algn="r">
              <a:buNone/>
            </a:pPr>
            <a:r>
              <a:rPr lang="en-US" sz="2200" b="1" i="0" dirty="0">
                <a:solidFill>
                  <a:srgbClr val="5C4826"/>
                </a:solidFill>
              </a:rPr>
              <a:t>REAL</a:t>
            </a:r>
          </a:p>
        </p:txBody>
      </p:sp>
      <p:sp>
        <p:nvSpPr>
          <p:cNvPr id="123" name="T123"/>
          <p:cNvSpPr txBox="1"/>
          <p:nvPr/>
        </p:nvSpPr>
        <p:spPr>
          <a:xfrm>
            <a:off x="274320" y="3600000"/>
            <a:ext cx="8595360" cy="400000"/>
          </a:xfrm>
          <a:prstGeom prst="rect">
            <a:avLst/>
          </a:prstGeom>
          <a:noFill/>
          <a:ln>
            <a:noFill/>
          </a:ln>
        </p:spPr>
        <p:txBody>
          <a:bodyPr wrap="square" lIns="0" tIns="0" rIns="0" bIns="0" anchor="ctr"/>
          <a:lstStyle/>
          <a:p>
            <a:pPr algn="ctr">
              <a:buNone/>
            </a:pPr>
            <a:r>
              <a:rPr lang="en-US" sz="2000" b="0" i="0" dirty="0">
                <a:solidFill>
                  <a:srgbClr val="000000"/>
                </a:solidFill>
              </a:rPr>
              <a:t>A test cannot establish behavior that depends on what its environment omitted.</a:t>
            </a:r>
          </a:p>
        </p:txBody>
      </p:sp>
      <p:sp>
        <p:nvSpPr>
          <p:cNvPr id="130" name="E130"/>
          <p:cNvSpPr/>
          <p:nvPr/>
        </p:nvSpPr>
        <p:spPr>
          <a:xfrm>
            <a:off x="566928" y="462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THINK · PAIR · SHARE</a:t>
            </a:r>
          </a:p>
          <a:p>
            <a:pPr algn="ctr">
              <a:buNone/>
            </a:pPr>
            <a:r>
              <a:rPr lang="en-US" sz="220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can executions we observed tell us about executions we did not observe?</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20"/>
                                        </p:tgtEl>
                                        <p:attrNameLst>
                                          <p:attrName>style.visibility</p:attrName>
                                        </p:attrNameLst>
                                      </p:cBhvr>
                                      <p:to>
                                        <p:strVal val="visible"/>
                                      </p:to>
                                    </p:set>
                                    <p:animEffect transition="in" filter="fade">
                                      <p:cBhvr>
                                        <p:cTn id="4" dur="500"/>
                                        <p:tgtEl>
                                          <p:spTgt spid="120"/>
                                        </p:tgtEl>
                                      </p:cBhvr>
                                    </p:animEffect>
                                  </p:childTnLst>
                                </p:cTn>
                              </p:par>
                              <p:par>
                                <p:cTn id="8" presetID="10" presetClass="entr" presetSubtype="0" fill="hold" nodeType="withEffect">
                                  <p:stCondLst>
                                    <p:cond delay="0"/>
                                  </p:stCondLst>
                                  <p:childTnLst>
                                    <p:set>
                                      <p:cBhvr>
                                        <p:cTn id="6" dur="1" fill="hold">
                                          <p:stCondLst>
                                            <p:cond delay="0"/>
                                          </p:stCondLst>
                                        </p:cTn>
                                        <p:tgtEl>
                                          <p:spTgt spid="121"/>
                                        </p:tgtEl>
                                        <p:attrNameLst>
                                          <p:attrName>style.visibility</p:attrName>
                                        </p:attrNameLst>
                                      </p:cBhvr>
                                      <p:to>
                                        <p:strVal val="visible"/>
                                      </p:to>
                                    </p:set>
                                    <p:animEffect transition="in" filter="fade">
                                      <p:cBhvr>
                                        <p:cTn id="7" dur="500"/>
                                        <p:tgtEl>
                                          <p:spTgt spid="121"/>
                                        </p:tgtEl>
                                      </p:cBhvr>
                                    </p:animEffect>
                                  </p:childTnLst>
                                </p:cTn>
                              </p:par>
                              <p:par>
                                <p:cTn id="11" presetID="10" presetClass="entr" presetSubtype="0" fill="hold" nodeType="withEffect">
                                  <p:stCondLst>
                                    <p:cond delay="0"/>
                                  </p:stCondLst>
                                  <p:childTnLst>
                                    <p:set>
                                      <p:cBhvr>
                                        <p:cTn id="9" dur="1" fill="hold">
                                          <p:stCondLst>
                                            <p:cond delay="0"/>
                                          </p:stCondLst>
                                        </p:cTn>
                                        <p:tgtEl>
                                          <p:spTgt spid="122"/>
                                        </p:tgtEl>
                                        <p:attrNameLst>
                                          <p:attrName>style.visibility</p:attrName>
                                        </p:attrNameLst>
                                      </p:cBhvr>
                                      <p:to>
                                        <p:strVal val="visible"/>
                                      </p:to>
                                    </p:set>
                                    <p:animEffect transition="in" filter="fade">
                                      <p:cBhvr>
                                        <p:cTn id="10" dur="500"/>
                                        <p:tgtEl>
                                          <p:spTgt spid="122"/>
                                        </p:tgtEl>
                                      </p:cBhvr>
                                    </p:animEffect>
                                  </p:childTnLst>
                                </p:cTn>
                              </p:par>
                            </p:childTnLst>
                          </p:cTn>
                        </p:par>
                      </p:childTnLst>
                    </p:cTn>
                  </p:par>
                  <p:par>
                    <p:cTn id="20" fill="hold">
                      <p:stCondLst>
                        <p:cond delay="indefinite"/>
                      </p:stCondLst>
                      <p:childTnLst>
                        <p:par>
                          <p:cTn id="21" fill="hold">
                            <p:stCondLst>
                              <p:cond delay="0"/>
                            </p:stCondLst>
                            <p:childTnLst>
                              <p:par>
                                <p:cTn id="16"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9" presetID="10" presetClass="entr" presetSubtype="0" fill="hold" nodeType="withEffect">
                                  <p:stCondLst>
                                    <p:cond delay="0"/>
                                  </p:stCondLst>
                                  <p:childTnLst>
                                    <p:set>
                                      <p:cBhvr>
                                        <p:cTn id="17" dur="1" fill="hold">
                                          <p:stCondLst>
                                            <p:cond delay="0"/>
                                          </p:stCondLst>
                                        </p:cTn>
                                        <p:tgtEl>
                                          <p:spTgt spid="112"/>
                                        </p:tgtEl>
                                        <p:attrNameLst>
                                          <p:attrName>style.visibility</p:attrName>
                                        </p:attrNameLst>
                                      </p:cBhvr>
                                      <p:to>
                                        <p:strVal val="visible"/>
                                      </p:to>
                                    </p:set>
                                    <p:animEffect transition="in" filter="fade">
                                      <p:cBhvr>
                                        <p:cTn id="18" dur="500"/>
                                        <p:tgtEl>
                                          <p:spTgt spid="112"/>
                                        </p:tgtEl>
                                      </p:cBhvr>
                                    </p:animEffect>
                                  </p:childTnLst>
                                </p:cTn>
                              </p:par>
                            </p:childTnLst>
                          </p:cTn>
                        </p:par>
                      </p:childTnLst>
                    </p:cTn>
                  </p:par>
                  <p:par>
                    <p:cTn id="25" fill="hold">
                      <p:stCondLst>
                        <p:cond delay="indefinite"/>
                      </p:stCondLst>
                      <p:childTnLst>
                        <p:par>
                          <p:cTn id="26" fill="hold">
                            <p:stCondLst>
                              <p:cond delay="0"/>
                            </p:stCondLst>
                            <p:childTnLst>
                              <p:par>
                                <p:cTn id="24" presetID="10" presetClass="entr" presetSubtype="0" fill="hold" nodeType="clickEffect">
                                  <p:stCondLst>
                                    <p:cond delay="0"/>
                                  </p:stCondLst>
                                  <p:childTnLst>
                                    <p:set>
                                      <p:cBhvr>
                                        <p:cTn id="22" dur="1" fill="hold">
                                          <p:stCondLst>
                                            <p:cond delay="0"/>
                                          </p:stCondLst>
                                        </p:cTn>
                                        <p:tgtEl>
                                          <p:spTgt spid="123"/>
                                        </p:tgtEl>
                                        <p:attrNameLst>
                                          <p:attrName>style.visibility</p:attrName>
                                        </p:attrNameLst>
                                      </p:cBhvr>
                                      <p:to>
                                        <p:strVal val="visible"/>
                                      </p:to>
                                    </p:set>
                                    <p:animEffect transition="in" filter="fade">
                                      <p:cBhvr>
                                        <p:cTn id="23"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29" presetID="10" presetClass="entr" presetSubtype="0" fill="hold"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4" presetID="10" presetClass="entr" presetSubtype="0" fill="hold" nodeType="clickEffect">
                                  <p:stCondLst>
                                    <p:cond delay="0"/>
                                  </p:stCondLst>
                                  <p:childTnLst>
                                    <p:set>
                                      <p:cBhvr>
                                        <p:cTn id="32" dur="1" fill="hold">
                                          <p:stCondLst>
                                            <p:cond delay="0"/>
                                          </p:stCondLst>
                                        </p:cTn>
                                        <p:tgtEl>
                                          <p:spTgt spid="140"/>
                                        </p:tgtEl>
                                        <p:attrNameLst>
                                          <p:attrName>style.visibility</p:attrName>
                                        </p:attrNameLst>
                                      </p:cBhvr>
                                      <p:to>
                                        <p:strVal val="visible"/>
                                      </p:to>
                                    </p:set>
                                    <p:animEffect transition="in" filter="fade">
                                      <p:cBhvr>
                                        <p:cTn id="33"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050000"/>
            <a:ext cx="7772400" cy="900000"/>
          </a:xfrm>
        </p:spPr>
        <p:txBody>
          <a:bodyPr>
            <a:normAutofit fontScale="90000"/>
          </a:bodyPr>
          <a:lstStyle/>
          <a:p>
            <a:pPr algn="ctr">
              <a:buNone/>
              <a:defRPr b="0"/>
            </a:pPr>
            <a:r>
              <a:rPr lang="en-US" sz="4400" b="0" i="0" dirty="0">
                <a:solidFill>
                  <a:srgbClr val="000000"/>
                </a:solidFill>
              </a:rPr>
              <a:t>Choosing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10" name="M110"/>
          <p:cNvSpPr/>
          <p:nvPr/>
        </p:nvSpPr>
        <p:spPr>
          <a:xfrm>
            <a:off x="566928"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11" name="M111"/>
          <p:cNvSpPr/>
          <p:nvPr/>
        </p:nvSpPr>
        <p:spPr>
          <a:xfrm>
            <a:off x="3302000"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12" name="M112"/>
          <p:cNvSpPr/>
          <p:nvPr/>
        </p:nvSpPr>
        <p:spPr>
          <a:xfrm>
            <a:off x="6037072"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15" name="T115"/>
          <p:cNvSpPr/>
          <p:nvPr/>
        </p:nvSpPr>
        <p:spPr>
          <a:xfrm>
            <a:off x="566928" y="1580000"/>
            <a:ext cx="8010144" cy="320000"/>
          </a:xfrm>
          <a:prstGeom prst="rect">
            <a:avLst/>
          </a:prstGeom>
          <a:noFill/>
          <a:ln>
            <a:noFill/>
          </a:ln>
        </p:spPr>
        <p:txBody>
          <a:bodyPr wrap="square" lIns="0" tIns="0" rIns="0" bIns="0" anchor="ctr"/>
          <a:lstStyle/>
          <a:p>
            <a:pPr algn="ctr">
              <a:buNone/>
            </a:pPr>
            <a:r>
              <a:rPr lang="en-US" sz="2000" b="0" i="1" dirty="0">
                <a:solidFill>
                  <a:srgbClr val="555960"/>
                </a:solidFill>
              </a:rPr>
              <a:t>what we already established</a:t>
            </a:r>
          </a:p>
        </p:txBody>
      </p:sp>
      <p:sp>
        <p:nvSpPr>
          <p:cNvPr id="101" name="Rule"/>
          <p:cNvSpPr/>
          <p:nvPr/>
        </p:nvSpPr>
        <p:spPr>
          <a:xfrm>
            <a:off x="3429000" y="306000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20" name="T120"/>
          <p:cNvSpPr/>
          <p:nvPr/>
        </p:nvSpPr>
        <p:spPr>
          <a:xfrm>
            <a:off x="685800" y="3280000"/>
            <a:ext cx="7772400" cy="820000"/>
          </a:xfrm>
          <a:prstGeom prst="rect">
            <a:avLst/>
          </a:prstGeom>
          <a:noFill/>
          <a:ln>
            <a:noFill/>
          </a:ln>
        </p:spPr>
        <p:txBody>
          <a:bodyPr wrap="square" lIns="0" tIns="0" rIns="0" bIns="0" anchor="ctr"/>
          <a:lstStyle/>
          <a:p>
            <a:pPr algn="ctr">
              <a:buNone/>
            </a:pPr>
            <a:r>
              <a:rPr lang="en-US" sz="2400" b="0" i="0" dirty="0">
                <a:solidFill>
                  <a:srgbClr val="000000"/>
                </a:solidFill>
              </a:rPr>
              <a:t>We have ways to obtain evidence.</a:t>
            </a:r>
          </a:p>
          <a:p>
            <a:pPr algn="ctr">
              <a:buNone/>
            </a:pPr>
            <a:r>
              <a:rPr lang="en-US" sz="2400" b="1" i="0" dirty="0">
                <a:solidFill>
                  <a:srgbClr val="5C4826"/>
                </a:solidFill>
              </a:rPr>
              <a:t>Now: which evidence should we seek?</a:t>
            </a:r>
          </a:p>
        </p:txBody>
      </p:sp>
      <p:sp>
        <p:nvSpPr>
          <p:cNvPr id="130" name="Arrow130"/>
          <p:cNvSpPr/>
          <p:nvPr/>
        </p:nvSpPr>
        <p:spPr>
          <a:xfrm>
            <a:off x="4272000" y="4280000"/>
            <a:ext cx="600000" cy="580000"/>
          </a:xfrm>
          <a:prstGeom prst="downArrow">
            <a:avLst/>
          </a:prstGeom>
          <a:solidFill>
            <a:srgbClr val="8E6F3E"/>
          </a:solidFill>
          <a:ln>
            <a:noFill/>
          </a:ln>
        </p:spPr>
        <p:txBody>
          <a:bodyPr wrap="square" lIns="0" tIns="0" rIns="0" bIns="0" anchor="ctr"/>
          <a:lstStyle/>
          <a:p>
            <a:pPr algn="ctr">
              <a:buNone/>
            </a:pPr>
            <a:endParaRPr/>
          </a:p>
        </p:txBody>
      </p:sp>
      <p:sp>
        <p:nvSpPr>
          <p:cNvPr id="140" name="Band140"/>
          <p:cNvSpPr/>
          <p:nvPr/>
        </p:nvSpPr>
        <p:spPr>
          <a:xfrm>
            <a:off x="1071928" y="5060000"/>
            <a:ext cx="7000144" cy="760000"/>
          </a:xfrm>
          <a:prstGeom prst="rect">
            <a:avLst/>
          </a:prstGeom>
          <a:solidFill>
            <a:srgbClr val="8E6F3E"/>
          </a:solidFill>
          <a:ln>
            <a:noFill/>
          </a:ln>
        </p:spPr>
        <p:txBody>
          <a:bodyPr wrap="square" lIns="91440" tIns="45720" rIns="91440" bIns="45720" anchor="ctr"/>
          <a:lstStyle/>
          <a:p>
            <a:pPr algn="ctr">
              <a:buNone/>
            </a:pPr>
            <a:r>
              <a:rPr lang="en-US" sz="2800" b="1" i="0" dirty="0">
                <a:solidFill>
                  <a:srgbClr val="FFFFFF"/>
                </a:solidFill>
              </a:rPr>
              <a:t>STRATEGY  →  STRENGTH  →  SUFFICIENCY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23</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2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2000" b="0" i="1" dirty="0">
                <a:solidFill>
                  <a:srgbClr val="555960"/>
                </a:solidFill>
              </a:rPr>
              <a:t>generating an execution — often cheap</a:t>
            </a:r>
          </a:p>
        </p:txBody>
      </p:sp>
      <p:sp>
        <p:nvSpPr>
          <p:cNvPr id="121" name="T121"/>
          <p:cNvSpPr txBox="1"/>
          <p:nvPr/>
        </p:nvSpPr>
        <p:spPr>
          <a:xfrm>
            <a:off x="6327648" y="1901952"/>
            <a:ext cx="2249424" cy="620000"/>
          </a:xfrm>
          <a:prstGeom prst="rect">
            <a:avLst/>
          </a:prstGeom>
          <a:noFill/>
        </p:spPr>
        <p:txBody>
          <a:bodyPr wrap="square" lIns="0" tIns="0" rIns="0" bIns="0" anchor="t"/>
          <a:lstStyle/>
          <a:p>
            <a:pPr algn="ctr">
              <a:buNone/>
            </a:pPr>
            <a:r>
              <a:rPr lang="en-US" sz="2000" b="1" i="0" dirty="0">
                <a:solidFill>
                  <a:srgbClr val="5C4826"/>
                </a:solidFill>
              </a:rPr>
              <a:t>the oracle — the hard part</a:t>
            </a:r>
          </a:p>
        </p:txBody>
      </p:sp>
      <p:sp>
        <p:nvSpPr>
          <p:cNvPr id="130" name="P130"/>
          <p:cNvSpPr/>
          <p:nvPr/>
        </p:nvSpPr>
        <p:spPr>
          <a:xfrm>
            <a:off x="566928"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 STATE THE ANSWER</a:t>
            </a:r>
          </a:p>
          <a:p>
            <a:pPr algn="ctr">
              <a:spcBef>
                <a:spcPts val="200"/>
              </a:spcBef>
              <a:buNone/>
            </a:pPr>
            <a:r>
              <a:rPr lang="en-US" sz="2000" b="0" i="0" dirty="0">
                <a:solidFill>
                  <a:srgbClr val="000000"/>
                </a:solidFill>
              </a:rPr>
              <a:t>sort([3,1,2]) must be [1,2,3]</a:t>
            </a:r>
          </a:p>
          <a:p>
            <a:pPr algn="ctr">
              <a:spcBef>
                <a:spcPts val="100"/>
              </a:spcBef>
              <a:buNone/>
            </a:pPr>
            <a:r>
              <a:rPr lang="en-US" sz="2000" b="0" i="0" dirty="0">
                <a:solidFill>
                  <a:srgbClr val="000000"/>
                </a:solidFill>
              </a:rPr>
              <a:t>Duplicate payment → rejected</a:t>
            </a:r>
          </a:p>
        </p:txBody>
      </p:sp>
      <p:sp>
        <p:nvSpPr>
          <p:cNvPr id="131" name="P131"/>
          <p:cNvSpPr/>
          <p:nvPr/>
        </p:nvSpPr>
        <p:spPr>
          <a:xfrm>
            <a:off x="4663440"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CANNOT</a:t>
            </a:r>
          </a:p>
          <a:p>
            <a:pPr algn="ctr">
              <a:spcBef>
                <a:spcPts val="200"/>
              </a:spcBef>
              <a:buNone/>
            </a:pPr>
            <a:endParaRPr lang="en-US" sz="2000" b="0" i="0" dirty="0">
              <a:solidFill>
                <a:srgbClr val="000000"/>
              </a:solidFill>
            </a:endParaRPr>
          </a:p>
          <a:p>
            <a:pPr algn="ctr">
              <a:spcBef>
                <a:spcPts val="200"/>
              </a:spcBef>
              <a:buNone/>
            </a:pPr>
            <a:r>
              <a:rPr lang="en-US" sz="2000" b="0" i="0" dirty="0">
                <a:solidFill>
                  <a:srgbClr val="000000"/>
                </a:solidFill>
              </a:rPr>
              <a:t>The right machine code?</a:t>
            </a:r>
          </a:p>
          <a:p>
            <a:pPr algn="ctr">
              <a:spcBef>
                <a:spcPts val="100"/>
              </a:spcBef>
              <a:buNone/>
            </a:pPr>
            <a:r>
              <a:rPr lang="en-US" sz="2000" b="0" i="0" dirty="0">
                <a:solidFill>
                  <a:srgbClr val="000000"/>
                </a:solidFill>
              </a:rPr>
              <a:t>The right rendering? Ranking?</a:t>
            </a:r>
          </a:p>
        </p:txBody>
      </p:sp>
      <p:sp>
        <p:nvSpPr>
          <p:cNvPr id="140" name="E140"/>
          <p:cNvSpPr/>
          <p:nvPr/>
        </p:nvSpPr>
        <p:spPr>
          <a:xfrm>
            <a:off x="566928" y="416000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testing strategy determines two things:</a:t>
            </a:r>
          </a:p>
          <a:p>
            <a:pPr algn="ctr">
              <a:spcBef>
                <a:spcPts val="200"/>
              </a:spcBef>
              <a:buNone/>
            </a:pPr>
            <a:r>
              <a:rPr lang="en-US" sz="24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execution is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Properties let us search beyond known answers</a:t>
            </a:r>
          </a:p>
        </p:txBody>
      </p:sp>
      <p:sp>
        <p:nvSpPr>
          <p:cNvPr id="3" name="Slide Number Placeholder 3"/>
          <p:cNvSpPr>
            <a:spLocks noGrp="1"/>
          </p:cNvSpPr>
          <p:nvPr>
            <p:ph type="sldNum" sz="quarter" idx="4"/>
          </p:nvPr>
        </p:nvSpPr>
        <p:spPr/>
        <p:txBody>
          <a:bodyPr/>
          <a:lstStyle/>
          <a:p>
            <a:fld id="{A8C819FF-7E06-4470-980D-7F1931032F1B}" type="slidenum">
              <a:rPr lang="en-US" smtClean="0"/>
              <a:t>25</a:t>
            </a:fld>
            <a:endParaRPr lang="en-US"/>
          </a:p>
        </p:txBody>
      </p:sp>
      <p:sp>
        <p:nvSpPr>
          <p:cNvPr id="100" name="B100"/>
          <p:cNvSpPr/>
          <p:nvPr/>
        </p:nvSpPr>
        <p:spPr>
          <a:xfrm>
            <a:off x="566928" y="868680"/>
            <a:ext cx="2470000" cy="5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EXAMPLE-BASED</a:t>
            </a:r>
          </a:p>
        </p:txBody>
      </p:sp>
      <p:sp>
        <p:nvSpPr>
          <p:cNvPr id="101" name="B101"/>
          <p:cNvSpPr/>
          <p:nvPr/>
        </p:nvSpPr>
        <p:spPr>
          <a:xfrm>
            <a:off x="3311248" y="868680"/>
            <a:ext cx="5265824" cy="5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PROPERTY-BASED</a:t>
            </a:r>
          </a:p>
        </p:txBody>
      </p:sp>
      <p:sp>
        <p:nvSpPr>
          <p:cNvPr id="110" name="P110"/>
          <p:cNvSpPr/>
          <p:nvPr/>
        </p:nvSpPr>
        <p:spPr>
          <a:xfrm>
            <a:off x="566928" y="1460000"/>
            <a:ext cx="2470000" cy="8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Known input → known answer.</a:t>
            </a:r>
          </a:p>
          <a:p>
            <a:pPr algn="ctr">
              <a:spcBef>
                <a:spcPts val="140"/>
              </a:spcBef>
              <a:buNone/>
            </a:pPr>
            <a:r>
              <a:rPr lang="en-US" sz="1600" b="0" i="1" dirty="0">
                <a:solidFill>
                  <a:srgbClr val="555960"/>
                </a:solidFill>
              </a:rPr>
              <a:t>You state the answer.</a:t>
            </a:r>
          </a:p>
        </p:txBody>
      </p:sp>
      <p:sp>
        <p:nvSpPr>
          <p:cNvPr id="111" name="P111"/>
          <p:cNvSpPr/>
          <p:nvPr/>
        </p:nvSpPr>
        <p:spPr>
          <a:xfrm>
            <a:off x="566928" y="2420000"/>
            <a:ext cx="2470000" cy="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latin typeface="Consolas"/>
              </a:rPr>
              <a:t>sort([3,1,2])</a:t>
            </a:r>
          </a:p>
          <a:p>
            <a:pPr algn="ctr">
              <a:spcBef>
                <a:spcPts val="140"/>
              </a:spcBef>
              <a:buNone/>
            </a:pPr>
            <a:r>
              <a:rPr lang="en-US" sz="1600" b="0" i="0" dirty="0">
                <a:solidFill>
                  <a:srgbClr val="000000"/>
                </a:solidFill>
                <a:latin typeface="Consolas"/>
              </a:rPr>
              <a:t>→  [1,2,3]</a:t>
            </a:r>
          </a:p>
        </p:txBody>
      </p:sp>
      <p:sp>
        <p:nvSpPr>
          <p:cNvPr id="112" name="T112"/>
          <p:cNvSpPr txBox="1"/>
          <p:nvPr/>
        </p:nvSpPr>
        <p:spPr>
          <a:xfrm>
            <a:off x="566928" y="4150000"/>
            <a:ext cx="2470000" cy="300000"/>
          </a:xfrm>
          <a:prstGeom prst="rect">
            <a:avLst/>
          </a:prstGeom>
          <a:noFill/>
          <a:ln>
            <a:noFill/>
          </a:ln>
        </p:spPr>
        <p:txBody>
          <a:bodyPr wrap="square" lIns="0" tIns="0" rIns="0" bIns="0" anchor="ctr"/>
          <a:lstStyle/>
          <a:p>
            <a:pPr algn="ctr">
              <a:buNone/>
            </a:pPr>
            <a:r>
              <a:rPr lang="en-US" sz="1600" b="0" i="1" dirty="0">
                <a:solidFill>
                  <a:srgbClr val="555960"/>
                </a:solidFill>
              </a:rPr>
              <a:t>one case, one answer</a:t>
            </a:r>
          </a:p>
        </p:txBody>
      </p:sp>
      <p:sp>
        <p:nvSpPr>
          <p:cNvPr id="120" name="P120"/>
          <p:cNvSpPr/>
          <p:nvPr/>
        </p:nvSpPr>
        <p:spPr>
          <a:xfrm>
            <a:off x="3311248" y="1460000"/>
            <a:ext cx="5265824" cy="6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State what must remain true → generate inputs → search for a counterexample.</a:t>
            </a:r>
          </a:p>
        </p:txBody>
      </p:sp>
      <p:grpSp>
        <p:nvGrpSpPr>
          <p:cNvPr id="200" name="ImgOrig"/>
          <p:cNvGrpSpPr/>
          <p:nvPr/>
        </p:nvGrpSpPr>
        <p:grpSpPr>
          <a:xfrm>
            <a:off x="4647160" y="2280000"/>
            <a:ext cx="680000" cy="680000"/>
            <a:chOff x="0" y="0"/>
            <a:chExt cx="1000000" cy="1000000"/>
          </a:xfrm>
        </p:grpSpPr>
        <p:sp>
          <p:nvSpPr>
            <p:cNvPr id="201" name="ImgOrig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02" name="ImgOrig_body"/>
            <p:cNvSpPr/>
            <p:nvPr/>
          </p:nvSpPr>
          <p:spPr>
            <a:xfrm>
              <a:off x="230000" y="550000"/>
              <a:ext cx="340000" cy="300000"/>
            </a:xfrm>
            <a:prstGeom prst="rect">
              <a:avLst/>
            </a:prstGeom>
            <a:solidFill>
              <a:srgbClr val="8E6F3E"/>
            </a:solidFill>
            <a:ln>
              <a:noFill/>
            </a:ln>
          </p:spPr>
          <p:txBody>
            <a:bodyPr/>
            <a:lstStyle/>
            <a:p>
              <a:endParaRPr lang="en-US"/>
            </a:p>
          </p:txBody>
        </p:sp>
        <p:sp>
          <p:nvSpPr>
            <p:cNvPr id="203" name="ImgOrig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04" name="ImgOrig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05" name="LblOrig"/>
          <p:cNvSpPr txBox="1"/>
          <p:nvPr/>
        </p:nvSpPr>
        <p:spPr>
          <a:xfrm>
            <a:off x="4347160" y="3000000"/>
            <a:ext cx="1280000" cy="270000"/>
          </a:xfrm>
          <a:prstGeom prst="rect">
            <a:avLst/>
          </a:prstGeom>
          <a:noFill/>
          <a:ln>
            <a:noFill/>
          </a:ln>
        </p:spPr>
        <p:txBody>
          <a:bodyPr wrap="square" lIns="0" tIns="0" rIns="0" bIns="0" anchor="ctr"/>
          <a:lstStyle/>
          <a:p>
            <a:pPr algn="ctr">
              <a:buNone/>
            </a:pPr>
            <a:r>
              <a:rPr lang="en-US" sz="1600" b="1" i="0" dirty="0">
                <a:solidFill>
                  <a:srgbClr val="5C4826"/>
                </a:solidFill>
              </a:rPr>
              <a:t xml:space="preserve">ORIGINAL  </a:t>
            </a:r>
            <a:r>
              <a:rPr lang="en-US" sz="1600" b="0" i="1" dirty="0">
                <a:solidFill>
                  <a:srgbClr val="000000"/>
                </a:solidFill>
              </a:rPr>
              <a:t>x</a:t>
            </a:r>
          </a:p>
        </p:txBody>
      </p:sp>
      <p:cxnSp>
        <p:nvCxnSpPr>
          <p:cNvPr id="206" name="RotArrow"/>
          <p:cNvCxnSpPr/>
          <p:nvPr/>
        </p:nvCxnSpPr>
        <p:spPr>
          <a:xfrm>
            <a:off x="4987160" y="3300000"/>
            <a:ext cx="0" cy="350000"/>
          </a:xfrm>
          <a:prstGeom prst="straightConnector1">
            <a:avLst/>
          </a:prstGeom>
          <a:ln w="19050">
            <a:solidFill>
              <a:srgbClr val="8E6F3E"/>
            </a:solidFill>
            <a:tailEnd type="triangle" w="med" len="med"/>
          </a:ln>
        </p:spPr>
      </p:cxnSp>
      <p:sp>
        <p:nvSpPr>
          <p:cNvPr id="207" name="RotLbl"/>
          <p:cNvSpPr txBox="1"/>
          <p:nvPr/>
        </p:nvSpPr>
        <p:spPr>
          <a:xfrm>
            <a:off x="5137160" y="3335000"/>
            <a:ext cx="1250000" cy="270000"/>
          </a:xfrm>
          <a:prstGeom prst="rect">
            <a:avLst/>
          </a:prstGeom>
          <a:noFill/>
          <a:ln>
            <a:noFill/>
          </a:ln>
        </p:spPr>
        <p:txBody>
          <a:bodyPr wrap="square" lIns="0" tIns="0" rIns="0" bIns="0" anchor="ctr"/>
          <a:lstStyle/>
          <a:p>
            <a:pPr algn="l">
              <a:buNone/>
            </a:pPr>
            <a:r>
              <a:rPr lang="en-US" sz="1600" b="0" i="1" dirty="0">
                <a:solidFill>
                  <a:srgbClr val="000000"/>
                </a:solidFill>
              </a:rPr>
              <a:t>rotate 90°</a:t>
            </a:r>
          </a:p>
        </p:txBody>
      </p:sp>
      <p:grpSp>
        <p:nvGrpSpPr>
          <p:cNvPr id="210" name="ImgRot"/>
          <p:cNvGrpSpPr/>
          <p:nvPr/>
        </p:nvGrpSpPr>
        <p:grpSpPr>
          <a:xfrm rot="5400000">
            <a:off x="4647160" y="3730000"/>
            <a:ext cx="680000" cy="680000"/>
            <a:chOff x="0" y="0"/>
            <a:chExt cx="1000000" cy="1000000"/>
          </a:xfrm>
        </p:grpSpPr>
        <p:sp>
          <p:nvSpPr>
            <p:cNvPr id="211" name="ImgRot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12" name="ImgRot_body"/>
            <p:cNvSpPr/>
            <p:nvPr/>
          </p:nvSpPr>
          <p:spPr>
            <a:xfrm>
              <a:off x="230000" y="550000"/>
              <a:ext cx="340000" cy="300000"/>
            </a:xfrm>
            <a:prstGeom prst="rect">
              <a:avLst/>
            </a:prstGeom>
            <a:solidFill>
              <a:srgbClr val="8E6F3E"/>
            </a:solidFill>
            <a:ln>
              <a:noFill/>
            </a:ln>
          </p:spPr>
          <p:txBody>
            <a:bodyPr/>
            <a:lstStyle/>
            <a:p>
              <a:endParaRPr lang="en-US"/>
            </a:p>
          </p:txBody>
        </p:sp>
        <p:sp>
          <p:nvSpPr>
            <p:cNvPr id="213" name="ImgRot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14" name="ImgRot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15" name="LblRot"/>
          <p:cNvSpPr txBox="1"/>
          <p:nvPr/>
        </p:nvSpPr>
        <p:spPr>
          <a:xfrm>
            <a:off x="4347160" y="4450000"/>
            <a:ext cx="1280000" cy="270000"/>
          </a:xfrm>
          <a:prstGeom prst="rect">
            <a:avLst/>
          </a:prstGeom>
          <a:noFill/>
          <a:ln>
            <a:noFill/>
          </a:ln>
        </p:spPr>
        <p:txBody>
          <a:bodyPr wrap="square" lIns="0" tIns="0" rIns="0" bIns="0" anchor="ctr"/>
          <a:lstStyle/>
          <a:p>
            <a:pPr algn="ctr">
              <a:buNone/>
            </a:pPr>
            <a:r>
              <a:rPr lang="en-US" sz="1600" b="1" i="0" dirty="0">
                <a:solidFill>
                  <a:srgbClr val="5C4826"/>
                </a:solidFill>
              </a:rPr>
              <a:t xml:space="preserve">ROTATED  </a:t>
            </a:r>
            <a:r>
              <a:rPr lang="en-US" sz="1600" b="0" i="1" dirty="0">
                <a:solidFill>
                  <a:srgbClr val="000000"/>
                </a:solidFill>
              </a:rPr>
              <a:t>T(x)</a:t>
            </a:r>
          </a:p>
        </p:txBody>
      </p:sp>
      <p:cxnSp>
        <p:nvCxnSpPr>
          <p:cNvPr id="220" name="FArr1"/>
          <p:cNvCxnSpPr/>
          <p:nvPr/>
        </p:nvCxnSpPr>
        <p:spPr>
          <a:xfrm>
            <a:off x="5327160" y="2620000"/>
            <a:ext cx="360000" cy="0"/>
          </a:xfrm>
          <a:prstGeom prst="straightConnector1">
            <a:avLst/>
          </a:prstGeom>
          <a:ln w="19050">
            <a:solidFill>
              <a:srgbClr val="8E6F3E"/>
            </a:solidFill>
            <a:tailEnd type="triangle" w="med" len="med"/>
          </a:ln>
        </p:spPr>
      </p:cxnSp>
      <p:sp>
        <p:nvSpPr>
          <p:cNvPr id="221" name="FBox1"/>
          <p:cNvSpPr/>
          <p:nvPr/>
        </p:nvSpPr>
        <p:spPr>
          <a:xfrm>
            <a:off x="5737160" y="2385000"/>
            <a:ext cx="620000" cy="4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1" dirty="0">
                <a:solidFill>
                  <a:srgbClr val="000000"/>
                </a:solidFill>
              </a:rPr>
              <a:t>f</a:t>
            </a:r>
          </a:p>
        </p:txBody>
      </p:sp>
      <p:cxnSp>
        <p:nvCxnSpPr>
          <p:cNvPr id="222" name="FArr2"/>
          <p:cNvCxnSpPr/>
          <p:nvPr/>
        </p:nvCxnSpPr>
        <p:spPr>
          <a:xfrm>
            <a:off x="6357160" y="2620000"/>
            <a:ext cx="360000" cy="0"/>
          </a:xfrm>
          <a:prstGeom prst="straightConnector1">
            <a:avLst/>
          </a:prstGeom>
          <a:ln w="19050">
            <a:solidFill>
              <a:srgbClr val="8E6F3E"/>
            </a:solidFill>
            <a:tailEnd type="triangle" w="med" len="med"/>
          </a:ln>
        </p:spPr>
      </p:cxnSp>
      <p:sp>
        <p:nvSpPr>
          <p:cNvPr id="223" name="YBox1"/>
          <p:cNvSpPr/>
          <p:nvPr/>
        </p:nvSpPr>
        <p:spPr>
          <a:xfrm>
            <a:off x="6767160" y="2385000"/>
            <a:ext cx="620000" cy="4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1" dirty="0">
                <a:solidFill>
                  <a:srgbClr val="000000"/>
                </a:solidFill>
              </a:rPr>
              <a:t>y</a:t>
            </a:r>
          </a:p>
        </p:txBody>
      </p:sp>
      <p:cxnSp>
        <p:nvCxnSpPr>
          <p:cNvPr id="224" name="FArr3"/>
          <p:cNvCxnSpPr/>
          <p:nvPr/>
        </p:nvCxnSpPr>
        <p:spPr>
          <a:xfrm>
            <a:off x="5327160" y="4070000"/>
            <a:ext cx="360000" cy="0"/>
          </a:xfrm>
          <a:prstGeom prst="straightConnector1">
            <a:avLst/>
          </a:prstGeom>
          <a:ln w="19050">
            <a:solidFill>
              <a:srgbClr val="8E6F3E"/>
            </a:solidFill>
            <a:tailEnd type="triangle" w="med" len="med"/>
          </a:ln>
        </p:spPr>
      </p:cxnSp>
      <p:sp>
        <p:nvSpPr>
          <p:cNvPr id="225" name="FBox2"/>
          <p:cNvSpPr/>
          <p:nvPr/>
        </p:nvSpPr>
        <p:spPr>
          <a:xfrm>
            <a:off x="5737160" y="3835000"/>
            <a:ext cx="620000" cy="4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1" dirty="0">
                <a:solidFill>
                  <a:srgbClr val="000000"/>
                </a:solidFill>
              </a:rPr>
              <a:t>f</a:t>
            </a:r>
          </a:p>
        </p:txBody>
      </p:sp>
      <p:cxnSp>
        <p:nvCxnSpPr>
          <p:cNvPr id="226" name="FArr4"/>
          <p:cNvCxnSpPr/>
          <p:nvPr/>
        </p:nvCxnSpPr>
        <p:spPr>
          <a:xfrm>
            <a:off x="6357160" y="4070000"/>
            <a:ext cx="360000" cy="0"/>
          </a:xfrm>
          <a:prstGeom prst="straightConnector1">
            <a:avLst/>
          </a:prstGeom>
          <a:ln w="19050">
            <a:solidFill>
              <a:srgbClr val="8E6F3E"/>
            </a:solidFill>
            <a:tailEnd type="triangle" w="med" len="med"/>
          </a:ln>
        </p:spPr>
      </p:cxnSp>
      <p:sp>
        <p:nvSpPr>
          <p:cNvPr id="227" name="YBox2"/>
          <p:cNvSpPr/>
          <p:nvPr/>
        </p:nvSpPr>
        <p:spPr>
          <a:xfrm>
            <a:off x="6767160" y="3835000"/>
            <a:ext cx="620000" cy="4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1" dirty="0">
                <a:solidFill>
                  <a:srgbClr val="000000"/>
                </a:solidFill>
              </a:rPr>
              <a:t>y′</a:t>
            </a:r>
          </a:p>
        </p:txBody>
      </p:sp>
      <p:sp>
        <p:nvSpPr>
          <p:cNvPr id="230" name="Brk230"/>
          <p:cNvSpPr/>
          <p:nvPr/>
        </p:nvSpPr>
        <p:spPr>
          <a:xfrm>
            <a:off x="7507160" y="2620000"/>
            <a:ext cx="34000" cy="1450000"/>
          </a:xfrm>
          <a:prstGeom prst="rect">
            <a:avLst/>
          </a:prstGeom>
          <a:solidFill>
            <a:srgbClr val="8E6F3E"/>
          </a:solidFill>
          <a:ln>
            <a:noFill/>
          </a:ln>
        </p:spPr>
        <p:txBody>
          <a:bodyPr/>
          <a:lstStyle/>
          <a:p>
            <a:endParaRPr lang="en-US"/>
          </a:p>
        </p:txBody>
      </p:sp>
      <p:sp>
        <p:nvSpPr>
          <p:cNvPr id="231" name="Brk231"/>
          <p:cNvSpPr/>
          <p:nvPr/>
        </p:nvSpPr>
        <p:spPr>
          <a:xfrm>
            <a:off x="7387160" y="2620000"/>
            <a:ext cx="120000" cy="34000"/>
          </a:xfrm>
          <a:prstGeom prst="rect">
            <a:avLst/>
          </a:prstGeom>
          <a:solidFill>
            <a:srgbClr val="8E6F3E"/>
          </a:solidFill>
          <a:ln>
            <a:noFill/>
          </a:ln>
        </p:spPr>
        <p:txBody>
          <a:bodyPr/>
          <a:lstStyle/>
          <a:p>
            <a:endParaRPr lang="en-US"/>
          </a:p>
        </p:txBody>
      </p:sp>
      <p:sp>
        <p:nvSpPr>
          <p:cNvPr id="232" name="Brk232"/>
          <p:cNvSpPr/>
          <p:nvPr/>
        </p:nvSpPr>
        <p:spPr>
          <a:xfrm>
            <a:off x="7387160" y="4036000"/>
            <a:ext cx="120000" cy="34000"/>
          </a:xfrm>
          <a:prstGeom prst="rect">
            <a:avLst/>
          </a:prstGeom>
          <a:solidFill>
            <a:srgbClr val="8E6F3E"/>
          </a:solidFill>
          <a:ln>
            <a:noFill/>
          </a:ln>
        </p:spPr>
        <p:txBody>
          <a:bodyPr/>
          <a:lstStyle/>
          <a:p>
            <a:endParaRPr lang="en-US"/>
          </a:p>
        </p:txBody>
      </p:sp>
      <p:sp>
        <p:nvSpPr>
          <p:cNvPr id="121" name="E121"/>
          <p:cNvSpPr/>
          <p:nvPr/>
        </p:nvSpPr>
        <p:spPr>
          <a:xfrm>
            <a:off x="3311248" y="4860000"/>
            <a:ext cx="5265824" cy="8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PROPERTY</a:t>
            </a:r>
          </a:p>
          <a:p>
            <a:pPr algn="ctr">
              <a:spcBef>
                <a:spcPts val="140"/>
              </a:spcBef>
              <a:buNone/>
            </a:pPr>
            <a:r>
              <a:rPr lang="en-US" sz="1600" b="0" i="0" dirty="0">
                <a:solidFill>
                  <a:srgbClr val="000000"/>
                </a:solidFill>
              </a:rPr>
              <a:t>Detecting edges and rotating should commute</a:t>
            </a:r>
          </a:p>
          <a:p>
            <a:pPr algn="ctr">
              <a:spcBef>
                <a:spcPts val="140"/>
              </a:spcBef>
              <a:buNone/>
            </a:pPr>
            <a:r>
              <a:rPr lang="en-US" sz="1600" b="1" i="0" dirty="0">
                <a:solidFill>
                  <a:srgbClr val="5C4826"/>
                </a:solidFill>
                <a:latin typeface="Consolas"/>
              </a:rPr>
              <a:t>edge(rotate(x)) = rotate(edge(x))</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Instead of stating every correct answer,</a:t>
            </a:r>
          </a:p>
          <a:p>
            <a:pPr algn="ctr">
              <a:buNone/>
            </a:pPr>
            <a:r>
              <a:rPr lang="en-US" sz="1800" b="1" i="0" dirty="0">
                <a:solidFill>
                  <a:srgbClr val="FFFFFF"/>
                </a:solidFill>
              </a:rPr>
              <a:t>state a property that many executions must satisfy.</a:t>
            </a:r>
          </a:p>
        </p:txBody>
      </p:sp>
    </p:spTree>
  </p:cSld>
  <p:clrMapOvr>
    <a:masterClrMapping/>
  </p:clrMapOvr>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61" fill="hold">
                      <p:stCondLst>
                        <p:cond delay="indefinite"/>
                      </p:stCondLst>
                      <p:childTnLst>
                        <p:par>
                          <p:cTn id="62"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0"/>
                                        </p:tgtEl>
                                        <p:attrNameLst>
                                          <p:attrName>style.visibility</p:attrName>
                                        </p:attrNameLst>
                                      </p:cBhvr>
                                      <p:to>
                                        <p:strVal val="visible"/>
                                      </p:to>
                                    </p:set>
                                    <p:animEffect transition="in" filter="fade">
                                      <p:cBhvr>
                                        <p:cTn id="12" dur="500"/>
                                        <p:tgtEl>
                                          <p:spTgt spid="200"/>
                                        </p:tgtEl>
                                      </p:cBhvr>
                                    </p:animEffect>
                                  </p:childTnLst>
                                </p:cTn>
                              </p:par>
                              <p:par>
                                <p:cTn id="13" presetID="10" presetClass="entr" presetSubtype="0" fill="hold" nodeType="withEffect">
                                  <p:stCondLst>
                                    <p:cond delay="0"/>
                                  </p:stCondLst>
                                  <p:childTnLst>
                                    <p:set>
                                      <p:cBhvr>
                                        <p:cTn id="14" dur="1" fill="hold">
                                          <p:stCondLst>
                                            <p:cond delay="0"/>
                                          </p:stCondLst>
                                        </p:cTn>
                                        <p:tgtEl>
                                          <p:spTgt spid="205"/>
                                        </p:tgtEl>
                                        <p:attrNameLst>
                                          <p:attrName>style.visibility</p:attrName>
                                        </p:attrNameLst>
                                      </p:cBhvr>
                                      <p:to>
                                        <p:strVal val="visible"/>
                                      </p:to>
                                    </p:set>
                                    <p:animEffect transition="in" filter="fade">
                                      <p:cBhvr>
                                        <p:cTn id="15" dur="500"/>
                                        <p:tgtEl>
                                          <p:spTgt spid="205"/>
                                        </p:tgtEl>
                                      </p:cBhvr>
                                    </p:animEffect>
                                  </p:childTnLst>
                                </p:cTn>
                              </p:par>
                              <p:par>
                                <p:cTn id="16" presetID="10" presetClass="entr" presetSubtype="0" fill="hold" nodeType="withEffect">
                                  <p:stCondLst>
                                    <p:cond delay="0"/>
                                  </p:stCondLst>
                                  <p:childTnLst>
                                    <p:set>
                                      <p:cBhvr>
                                        <p:cTn id="17" dur="1" fill="hold">
                                          <p:stCondLst>
                                            <p:cond delay="0"/>
                                          </p:stCondLst>
                                        </p:cTn>
                                        <p:tgtEl>
                                          <p:spTgt spid="206"/>
                                        </p:tgtEl>
                                        <p:attrNameLst>
                                          <p:attrName>style.visibility</p:attrName>
                                        </p:attrNameLst>
                                      </p:cBhvr>
                                      <p:to>
                                        <p:strVal val="visible"/>
                                      </p:to>
                                    </p:set>
                                    <p:animEffect transition="in" filter="fade">
                                      <p:cBhvr>
                                        <p:cTn id="18" dur="500"/>
                                        <p:tgtEl>
                                          <p:spTgt spid="206"/>
                                        </p:tgtEl>
                                      </p:cBhvr>
                                    </p:animEffect>
                                  </p:childTnLst>
                                </p:cTn>
                              </p:par>
                              <p:par>
                                <p:cTn id="19" presetID="10" presetClass="entr" presetSubtype="0" fill="hold" nodeType="withEffect">
                                  <p:stCondLst>
                                    <p:cond delay="0"/>
                                  </p:stCondLst>
                                  <p:childTnLst>
                                    <p:set>
                                      <p:cBhvr>
                                        <p:cTn id="20" dur="1" fill="hold">
                                          <p:stCondLst>
                                            <p:cond delay="0"/>
                                          </p:stCondLst>
                                        </p:cTn>
                                        <p:tgtEl>
                                          <p:spTgt spid="207"/>
                                        </p:tgtEl>
                                        <p:attrNameLst>
                                          <p:attrName>style.visibility</p:attrName>
                                        </p:attrNameLst>
                                      </p:cBhvr>
                                      <p:to>
                                        <p:strVal val="visible"/>
                                      </p:to>
                                    </p:set>
                                    <p:animEffect transition="in" filter="fade">
                                      <p:cBhvr>
                                        <p:cTn id="21" dur="500"/>
                                        <p:tgtEl>
                                          <p:spTgt spid="207"/>
                                        </p:tgtEl>
                                      </p:cBhvr>
                                    </p:animEffect>
                                  </p:childTnLst>
                                </p:cTn>
                              </p:par>
                              <p:par>
                                <p:cTn id="22" presetID="10" presetClass="entr" presetSubtype="0" fill="hold" nodeType="withEffect">
                                  <p:stCondLst>
                                    <p:cond delay="0"/>
                                  </p:stCondLst>
                                  <p:childTnLst>
                                    <p:set>
                                      <p:cBhvr>
                                        <p:cTn id="23" dur="1" fill="hold">
                                          <p:stCondLst>
                                            <p:cond delay="0"/>
                                          </p:stCondLst>
                                        </p:cTn>
                                        <p:tgtEl>
                                          <p:spTgt spid="210"/>
                                        </p:tgtEl>
                                        <p:attrNameLst>
                                          <p:attrName>style.visibility</p:attrName>
                                        </p:attrNameLst>
                                      </p:cBhvr>
                                      <p:to>
                                        <p:strVal val="visible"/>
                                      </p:to>
                                    </p:set>
                                    <p:animEffect transition="in" filter="fade">
                                      <p:cBhvr>
                                        <p:cTn id="24" dur="500"/>
                                        <p:tgtEl>
                                          <p:spTgt spid="210"/>
                                        </p:tgtEl>
                                      </p:cBhvr>
                                    </p:animEffect>
                                  </p:childTnLst>
                                </p:cTn>
                              </p:par>
                              <p:par>
                                <p:cTn id="25" presetID="10" presetClass="entr" presetSubtype="0" fill="hold" nodeType="withEffect">
                                  <p:stCondLst>
                                    <p:cond delay="0"/>
                                  </p:stCondLst>
                                  <p:childTnLst>
                                    <p:set>
                                      <p:cBhvr>
                                        <p:cTn id="26" dur="1" fill="hold">
                                          <p:stCondLst>
                                            <p:cond delay="0"/>
                                          </p:stCondLst>
                                        </p:cTn>
                                        <p:tgtEl>
                                          <p:spTgt spid="215"/>
                                        </p:tgtEl>
                                        <p:attrNameLst>
                                          <p:attrName>style.visibility</p:attrName>
                                        </p:attrNameLst>
                                      </p:cBhvr>
                                      <p:to>
                                        <p:strVal val="visible"/>
                                      </p:to>
                                    </p:set>
                                    <p:animEffect transition="in" filter="fade">
                                      <p:cBhvr>
                                        <p:cTn id="27" dur="500"/>
                                        <p:tgtEl>
                                          <p:spTgt spid="215"/>
                                        </p:tgtEl>
                                      </p:cBhvr>
                                    </p:animEffect>
                                  </p:childTnLst>
                                </p:cTn>
                              </p:par>
                              <p:par>
                                <p:cTn id="28" presetID="10" presetClass="entr" presetSubtype="0" fill="hold" nodeType="withEffect">
                                  <p:stCondLst>
                                    <p:cond delay="0"/>
                                  </p:stCondLst>
                                  <p:childTnLst>
                                    <p:set>
                                      <p:cBhvr>
                                        <p:cTn id="29" dur="1" fill="hold">
                                          <p:stCondLst>
                                            <p:cond delay="0"/>
                                          </p:stCondLst>
                                        </p:cTn>
                                        <p:tgtEl>
                                          <p:spTgt spid="220"/>
                                        </p:tgtEl>
                                        <p:attrNameLst>
                                          <p:attrName>style.visibility</p:attrName>
                                        </p:attrNameLst>
                                      </p:cBhvr>
                                      <p:to>
                                        <p:strVal val="visible"/>
                                      </p:to>
                                    </p:set>
                                    <p:animEffect transition="in" filter="fade">
                                      <p:cBhvr>
                                        <p:cTn id="30" dur="500"/>
                                        <p:tgtEl>
                                          <p:spTgt spid="220"/>
                                        </p:tgtEl>
                                      </p:cBhvr>
                                    </p:animEffect>
                                  </p:childTnLst>
                                </p:cTn>
                              </p:par>
                              <p:par>
                                <p:cTn id="31" presetID="10" presetClass="entr" presetSubtype="0" fill="hold" nodeType="withEffect">
                                  <p:stCondLst>
                                    <p:cond delay="0"/>
                                  </p:stCondLst>
                                  <p:childTnLst>
                                    <p:set>
                                      <p:cBhvr>
                                        <p:cTn id="32" dur="1" fill="hold">
                                          <p:stCondLst>
                                            <p:cond delay="0"/>
                                          </p:stCondLst>
                                        </p:cTn>
                                        <p:tgtEl>
                                          <p:spTgt spid="221"/>
                                        </p:tgtEl>
                                        <p:attrNameLst>
                                          <p:attrName>style.visibility</p:attrName>
                                        </p:attrNameLst>
                                      </p:cBhvr>
                                      <p:to>
                                        <p:strVal val="visible"/>
                                      </p:to>
                                    </p:set>
                                    <p:animEffect transition="in" filter="fade">
                                      <p:cBhvr>
                                        <p:cTn id="33" dur="500"/>
                                        <p:tgtEl>
                                          <p:spTgt spid="221"/>
                                        </p:tgtEl>
                                      </p:cBhvr>
                                    </p:animEffect>
                                  </p:childTnLst>
                                </p:cTn>
                              </p:par>
                              <p:par>
                                <p:cTn id="34" presetID="10" presetClass="entr" presetSubtype="0" fill="hold" nodeType="withEffect">
                                  <p:stCondLst>
                                    <p:cond delay="0"/>
                                  </p:stCondLst>
                                  <p:childTnLst>
                                    <p:set>
                                      <p:cBhvr>
                                        <p:cTn id="35" dur="1" fill="hold">
                                          <p:stCondLst>
                                            <p:cond delay="0"/>
                                          </p:stCondLst>
                                        </p:cTn>
                                        <p:tgtEl>
                                          <p:spTgt spid="222"/>
                                        </p:tgtEl>
                                        <p:attrNameLst>
                                          <p:attrName>style.visibility</p:attrName>
                                        </p:attrNameLst>
                                      </p:cBhvr>
                                      <p:to>
                                        <p:strVal val="visible"/>
                                      </p:to>
                                    </p:set>
                                    <p:animEffect transition="in" filter="fade">
                                      <p:cBhvr>
                                        <p:cTn id="36" dur="500"/>
                                        <p:tgtEl>
                                          <p:spTgt spid="222"/>
                                        </p:tgtEl>
                                      </p:cBhvr>
                                    </p:animEffect>
                                  </p:childTnLst>
                                </p:cTn>
                              </p:par>
                              <p:par>
                                <p:cTn id="37" presetID="10" presetClass="entr" presetSubtype="0" fill="hold" nodeType="withEffect">
                                  <p:stCondLst>
                                    <p:cond delay="0"/>
                                  </p:stCondLst>
                                  <p:childTnLst>
                                    <p:set>
                                      <p:cBhvr>
                                        <p:cTn id="38" dur="1" fill="hold">
                                          <p:stCondLst>
                                            <p:cond delay="0"/>
                                          </p:stCondLst>
                                        </p:cTn>
                                        <p:tgtEl>
                                          <p:spTgt spid="223"/>
                                        </p:tgtEl>
                                        <p:attrNameLst>
                                          <p:attrName>style.visibility</p:attrName>
                                        </p:attrNameLst>
                                      </p:cBhvr>
                                      <p:to>
                                        <p:strVal val="visible"/>
                                      </p:to>
                                    </p:set>
                                    <p:animEffect transition="in" filter="fade">
                                      <p:cBhvr>
                                        <p:cTn id="39" dur="500"/>
                                        <p:tgtEl>
                                          <p:spTgt spid="223"/>
                                        </p:tgtEl>
                                      </p:cBhvr>
                                    </p:animEffect>
                                  </p:childTnLst>
                                </p:cTn>
                              </p:par>
                              <p:par>
                                <p:cTn id="40" presetID="10" presetClass="entr" presetSubtype="0" fill="hold" nodeType="withEffect">
                                  <p:stCondLst>
                                    <p:cond delay="0"/>
                                  </p:stCondLst>
                                  <p:childTnLst>
                                    <p:set>
                                      <p:cBhvr>
                                        <p:cTn id="41" dur="1" fill="hold">
                                          <p:stCondLst>
                                            <p:cond delay="0"/>
                                          </p:stCondLst>
                                        </p:cTn>
                                        <p:tgtEl>
                                          <p:spTgt spid="224"/>
                                        </p:tgtEl>
                                        <p:attrNameLst>
                                          <p:attrName>style.visibility</p:attrName>
                                        </p:attrNameLst>
                                      </p:cBhvr>
                                      <p:to>
                                        <p:strVal val="visible"/>
                                      </p:to>
                                    </p:set>
                                    <p:animEffect transition="in" filter="fade">
                                      <p:cBhvr>
                                        <p:cTn id="42" dur="500"/>
                                        <p:tgtEl>
                                          <p:spTgt spid="224"/>
                                        </p:tgtEl>
                                      </p:cBhvr>
                                    </p:animEffect>
                                  </p:childTnLst>
                                </p:cTn>
                              </p:par>
                              <p:par>
                                <p:cTn id="43" presetID="10" presetClass="entr" presetSubtype="0" fill="hold" nodeType="withEffect">
                                  <p:stCondLst>
                                    <p:cond delay="0"/>
                                  </p:stCondLst>
                                  <p:childTnLst>
                                    <p:set>
                                      <p:cBhvr>
                                        <p:cTn id="44" dur="1" fill="hold">
                                          <p:stCondLst>
                                            <p:cond delay="0"/>
                                          </p:stCondLst>
                                        </p:cTn>
                                        <p:tgtEl>
                                          <p:spTgt spid="225"/>
                                        </p:tgtEl>
                                        <p:attrNameLst>
                                          <p:attrName>style.visibility</p:attrName>
                                        </p:attrNameLst>
                                      </p:cBhvr>
                                      <p:to>
                                        <p:strVal val="visible"/>
                                      </p:to>
                                    </p:set>
                                    <p:animEffect transition="in" filter="fade">
                                      <p:cBhvr>
                                        <p:cTn id="45" dur="500"/>
                                        <p:tgtEl>
                                          <p:spTgt spid="225"/>
                                        </p:tgtEl>
                                      </p:cBhvr>
                                    </p:animEffect>
                                  </p:childTnLst>
                                </p:cTn>
                              </p:par>
                              <p:par>
                                <p:cTn id="46" presetID="10" presetClass="entr" presetSubtype="0" fill="hold" nodeType="withEffect">
                                  <p:stCondLst>
                                    <p:cond delay="0"/>
                                  </p:stCondLst>
                                  <p:childTnLst>
                                    <p:set>
                                      <p:cBhvr>
                                        <p:cTn id="47" dur="1" fill="hold">
                                          <p:stCondLst>
                                            <p:cond delay="0"/>
                                          </p:stCondLst>
                                        </p:cTn>
                                        <p:tgtEl>
                                          <p:spTgt spid="226"/>
                                        </p:tgtEl>
                                        <p:attrNameLst>
                                          <p:attrName>style.visibility</p:attrName>
                                        </p:attrNameLst>
                                      </p:cBhvr>
                                      <p:to>
                                        <p:strVal val="visible"/>
                                      </p:to>
                                    </p:set>
                                    <p:animEffect transition="in" filter="fade">
                                      <p:cBhvr>
                                        <p:cTn id="48" dur="500"/>
                                        <p:tgtEl>
                                          <p:spTgt spid="226"/>
                                        </p:tgtEl>
                                      </p:cBhvr>
                                    </p:animEffect>
                                  </p:childTnLst>
                                </p:cTn>
                              </p:par>
                              <p:par>
                                <p:cTn id="49" presetID="10" presetClass="entr" presetSubtype="0" fill="hold" nodeType="withEffect">
                                  <p:stCondLst>
                                    <p:cond delay="0"/>
                                  </p:stCondLst>
                                  <p:childTnLst>
                                    <p:set>
                                      <p:cBhvr>
                                        <p:cTn id="50" dur="1" fill="hold">
                                          <p:stCondLst>
                                            <p:cond delay="0"/>
                                          </p:stCondLst>
                                        </p:cTn>
                                        <p:tgtEl>
                                          <p:spTgt spid="227"/>
                                        </p:tgtEl>
                                        <p:attrNameLst>
                                          <p:attrName>style.visibility</p:attrName>
                                        </p:attrNameLst>
                                      </p:cBhvr>
                                      <p:to>
                                        <p:strVal val="visible"/>
                                      </p:to>
                                    </p:set>
                                    <p:animEffect transition="in" filter="fade">
                                      <p:cBhvr>
                                        <p:cTn id="51" dur="500"/>
                                        <p:tgtEl>
                                          <p:spTgt spid="227"/>
                                        </p:tgtEl>
                                      </p:cBhvr>
                                    </p:animEffect>
                                  </p:childTnLst>
                                </p:cTn>
                              </p:par>
                              <p:par>
                                <p:cTn id="52" presetID="10" presetClass="entr" presetSubtype="0" fill="hold" nodeType="withEffect">
                                  <p:stCondLst>
                                    <p:cond delay="0"/>
                                  </p:stCondLst>
                                  <p:childTnLst>
                                    <p:set>
                                      <p:cBhvr>
                                        <p:cTn id="53" dur="1" fill="hold">
                                          <p:stCondLst>
                                            <p:cond delay="0"/>
                                          </p:stCondLst>
                                        </p:cTn>
                                        <p:tgtEl>
                                          <p:spTgt spid="230"/>
                                        </p:tgtEl>
                                        <p:attrNameLst>
                                          <p:attrName>style.visibility</p:attrName>
                                        </p:attrNameLst>
                                      </p:cBhvr>
                                      <p:to>
                                        <p:strVal val="visible"/>
                                      </p:to>
                                    </p:set>
                                    <p:animEffect transition="in" filter="fade">
                                      <p:cBhvr>
                                        <p:cTn id="54" dur="500"/>
                                        <p:tgtEl>
                                          <p:spTgt spid="230"/>
                                        </p:tgtEl>
                                      </p:cBhvr>
                                    </p:animEffect>
                                  </p:childTnLst>
                                </p:cTn>
                              </p:par>
                              <p:par>
                                <p:cTn id="55" presetID="10" presetClass="entr" presetSubtype="0" fill="hold" nodeType="withEffect">
                                  <p:stCondLst>
                                    <p:cond delay="0"/>
                                  </p:stCondLst>
                                  <p:childTnLst>
                                    <p:set>
                                      <p:cBhvr>
                                        <p:cTn id="56" dur="1" fill="hold">
                                          <p:stCondLst>
                                            <p:cond delay="0"/>
                                          </p:stCondLst>
                                        </p:cTn>
                                        <p:tgtEl>
                                          <p:spTgt spid="231"/>
                                        </p:tgtEl>
                                        <p:attrNameLst>
                                          <p:attrName>style.visibility</p:attrName>
                                        </p:attrNameLst>
                                      </p:cBhvr>
                                      <p:to>
                                        <p:strVal val="visible"/>
                                      </p:to>
                                    </p:set>
                                    <p:animEffect transition="in" filter="fade">
                                      <p:cBhvr>
                                        <p:cTn id="57" dur="500"/>
                                        <p:tgtEl>
                                          <p:spTgt spid="231"/>
                                        </p:tgtEl>
                                      </p:cBhvr>
                                    </p:animEffect>
                                  </p:childTnLst>
                                </p:cTn>
                              </p:par>
                              <p:par>
                                <p:cTn id="58" presetID="10" presetClass="entr" presetSubtype="0" fill="hold" nodeType="withEffect">
                                  <p:stCondLst>
                                    <p:cond delay="0"/>
                                  </p:stCondLst>
                                  <p:childTnLst>
                                    <p:set>
                                      <p:cBhvr>
                                        <p:cTn id="59" dur="1" fill="hold">
                                          <p:stCondLst>
                                            <p:cond delay="0"/>
                                          </p:stCondLst>
                                        </p:cTn>
                                        <p:tgtEl>
                                          <p:spTgt spid="232"/>
                                        </p:tgtEl>
                                        <p:attrNameLst>
                                          <p:attrName>style.visibility</p:attrName>
                                        </p:attrNameLst>
                                      </p:cBhvr>
                                      <p:to>
                                        <p:strVal val="visible"/>
                                      </p:to>
                                    </p:set>
                                    <p:animEffect transition="in" filter="fade">
                                      <p:cBhvr>
                                        <p:cTn id="60" dur="500"/>
                                        <p:tgtEl>
                                          <p:spTgt spid="232"/>
                                        </p:tgtEl>
                                      </p:cBhvr>
                                    </p:animEffect>
                                  </p:childTnLst>
                                </p:cTn>
                              </p:par>
                            </p:childTnLst>
                          </p:cTn>
                        </p:par>
                      </p:childTnLst>
                    </p:cTn>
                  </p:par>
                  <p:par>
                    <p:cTn id="66" fill="hold">
                      <p:stCondLst>
                        <p:cond delay="indefinite"/>
                      </p:stCondLst>
                      <p:childTnLst>
                        <p:par>
                          <p:cTn id="67"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5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60"/>
                                        </p:tgtEl>
                                        <p:attrNameLst>
                                          <p:attrName>style.visibility</p:attrName>
                                        </p:attrNameLst>
                                      </p:cBhvr>
                                      <p:to>
                                        <p:strVal val="visible"/>
                                      </p:to>
                                    </p:set>
                                    <p:animEffect transition="in" filter="fade">
                                      <p:cBhvr>
                                        <p:cTn id="70" dur="500"/>
                                        <p:tgtEl>
                                          <p:spTgt spid="1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26</a:t>
            </a:fld>
            <a:endParaRPr lang="en-US"/>
          </a:p>
        </p:txBody>
      </p:sp>
      <p:sp>
        <p:nvSpPr>
          <p:cNvPr id="100" name="B100"/>
          <p:cNvSpPr/>
          <p:nvPr/>
        </p:nvSpPr>
        <p:spPr>
          <a:xfrm>
            <a:off x="566928"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endParaR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2000" b="0" i="1" dirty="0">
                <a:solidFill>
                  <a:srgbClr val="555960"/>
                </a:solidFill>
              </a:rPr>
              <a:t>the inputs nobody wrote down — and the failures they reach</a:t>
            </a:r>
          </a:p>
        </p:txBody>
      </p:sp>
      <p:sp>
        <p:nvSpPr>
          <p:cNvPr id="140" name="E140"/>
          <p:cNvSpPr/>
          <p:nvPr/>
        </p:nvSpPr>
        <p:spPr>
          <a:xfrm>
            <a:off x="566928" y="4160520"/>
            <a:ext cx="80101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weak oracle enables enormous search.</a:t>
            </a:r>
          </a:p>
          <a:p>
            <a:pPr algn="ctr">
              <a:spcBef>
                <a:spcPts val="200"/>
              </a:spcBef>
              <a:buNone/>
            </a:pPr>
            <a:r>
              <a:rPr lang="en-US" sz="2200" b="0" i="0" dirty="0">
                <a:solidFill>
                  <a:srgbClr val="5C4826"/>
                </a:solidFill>
              </a:rPr>
              <a:t>“Did it crash?” needs no expected answer,</a:t>
            </a:r>
          </a:p>
          <a:p>
            <a:pPr algn="ctr">
              <a:spcBef>
                <a:spcPts val="200"/>
              </a:spcBef>
              <a:buNone/>
            </a:pPr>
            <a:r>
              <a:rPr lang="en-US" sz="2200" dirty="0">
                <a:solidFill>
                  <a:srgbClr val="5C4826"/>
                </a:solidFill>
              </a:rPr>
              <a:t xml:space="preserve">so, </a:t>
            </a:r>
            <a:r>
              <a:rPr lang="en-US" sz="2200" b="0" i="0" dirty="0">
                <a:solidFill>
                  <a:srgbClr val="5C4826"/>
                </a:solidFill>
              </a:rPr>
              <a:t>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Cheap robustness evidence, little about functional correctness.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“fuzzing”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27</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A</a:t>
            </a:r>
          </a:p>
          <a:p>
            <a:pPr algn="ctr">
              <a:spcBef>
                <a:spcPts val="100"/>
              </a:spcBef>
              <a:buNone/>
            </a:pPr>
            <a:r>
              <a:rPr lang="en-US" sz="20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B</a:t>
            </a:r>
          </a:p>
          <a:p>
            <a:pPr algn="ctr">
              <a:spcBef>
                <a:spcPts val="100"/>
              </a:spcBef>
              <a:buNone/>
            </a:pPr>
            <a:r>
              <a:rPr lang="en-US" sz="2000" b="0" i="1" dirty="0">
                <a:solidFill>
                  <a:srgbClr val="555960"/>
                </a:solidFill>
              </a:rPr>
              <a:t>reference · older version</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endParaR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  ?</a:t>
            </a:r>
          </a:p>
        </p:txBody>
      </p:sp>
      <p:sp>
        <p:nvSpPr>
          <p:cNvPr id="140" name="P140"/>
          <p:cNvSpPr/>
          <p:nvPr/>
        </p:nvSpPr>
        <p:spPr>
          <a:xfrm>
            <a:off x="566928" y="4580000"/>
            <a:ext cx="2550000"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AGREE — weak signal</a:t>
            </a:r>
          </a:p>
          <a:p>
            <a:pPr algn="ctr">
              <a:buNone/>
            </a:pPr>
            <a:r>
              <a:rPr lang="en-US" sz="2000" b="0" i="0" dirty="0">
                <a:solidFill>
                  <a:srgbClr val="000000"/>
                </a:solidFill>
              </a:rPr>
              <a:t>both can be wrong the same way</a:t>
            </a:r>
          </a:p>
        </p:txBody>
      </p:sp>
      <p:sp>
        <p:nvSpPr>
          <p:cNvPr id="141" name="P141"/>
          <p:cNvSpPr/>
          <p:nvPr/>
        </p:nvSpPr>
        <p:spPr>
          <a:xfrm>
            <a:off x="3220000" y="4580000"/>
            <a:ext cx="2550000" cy="119216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DISAGREE — at least one is wrong</a:t>
            </a:r>
          </a:p>
          <a:p>
            <a:pPr algn="ctr">
              <a:buNone/>
            </a:pPr>
            <a:r>
              <a:rPr lang="en-US" sz="2000" b="0" i="0" dirty="0">
                <a:solidFill>
                  <a:srgbClr val="000000"/>
                </a:solidFill>
              </a:rPr>
              <a:t>you have a lead</a:t>
            </a:r>
          </a:p>
        </p:txBody>
      </p:sp>
      <p:sp>
        <p:nvSpPr>
          <p:cNvPr id="142" name="P142"/>
          <p:cNvSpPr/>
          <p:nvPr/>
        </p:nvSpPr>
        <p:spPr>
          <a:xfrm>
            <a:off x="5880000" y="4580000"/>
            <a:ext cx="2697072"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WHERE MUST THEY AGREE?</a:t>
            </a:r>
          </a:p>
          <a:p>
            <a:pPr algn="ctr">
              <a:buNone/>
            </a:pPr>
            <a:r>
              <a:rPr lang="en-US" sz="2000" b="0" i="0" dirty="0">
                <a:solidFill>
                  <a:srgbClr val="000000"/>
                </a:solidFill>
              </a:rPr>
              <a:t>MUST, not MAY</a:t>
            </a:r>
          </a:p>
          <a:p>
            <a:pPr algn="ctr">
              <a:buNone/>
            </a:pPr>
            <a:r>
              <a:rPr lang="en-US" sz="1400" b="0" i="1" dirty="0">
                <a:solidFill>
                  <a:srgbClr val="555960"/>
                </a:solidFill>
              </a:rPr>
              <a:t>RFC 2119</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When answers are costly, compare independent realizations.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“differential testing”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28</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answers; cases </a:t>
            </a:r>
            <a:r>
              <a:rPr lang="en-US" sz="2000" b="0" i="0" dirty="0">
                <a:solidFill>
                  <a:srgbClr val="000000"/>
                </a:solidFill>
              </a:rPr>
              <a:t>you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properties; counterexample </a:t>
            </a:r>
            <a:r>
              <a:rPr lang="en-US" sz="2000" b="0" i="0" dirty="0">
                <a:solidFill>
                  <a:srgbClr val="000000"/>
                </a:solidFill>
              </a:rPr>
              <a:t>search</a:t>
            </a:r>
          </a:p>
        </p:txBody>
      </p:sp>
      <p:sp>
        <p:nvSpPr>
          <p:cNvPr id="103" name="B103"/>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Fuzzing</a:t>
            </a:r>
          </a:p>
        </p:txBody>
      </p:sp>
      <p:sp>
        <p:nvSpPr>
          <p:cNvPr id="113" name="P113"/>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self-failures; crash · hang · assertion</a:t>
            </a:r>
          </a:p>
        </p:txBody>
      </p:sp>
      <p:sp>
        <p:nvSpPr>
          <p:cNvPr id="104" name="B104"/>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Differential</a:t>
            </a:r>
          </a:p>
        </p:txBody>
      </p:sp>
      <p:sp>
        <p:nvSpPr>
          <p:cNvPr id="114" name="P114"/>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another implementation as the oracle</a:t>
            </a:r>
          </a:p>
        </p:txBody>
      </p:sp>
      <p:sp>
        <p:nvSpPr>
          <p:cNvPr id="120" name="T120"/>
          <p:cNvSpPr txBox="1"/>
          <p:nvPr/>
        </p:nvSpPr>
        <p:spPr>
          <a:xfrm>
            <a:off x="566928" y="3630168"/>
            <a:ext cx="3657600" cy="256032"/>
          </a:xfrm>
          <a:prstGeom prst="rect">
            <a:avLst/>
          </a:prstGeom>
          <a:noFill/>
        </p:spPr>
        <p:txBody>
          <a:bodyPr wrap="square" lIns="0" tIns="0" rIns="0" bIns="0" anchor="t"/>
          <a:lstStyle/>
          <a:p>
            <a:pPr algn="l">
              <a:buNone/>
            </a:pPr>
            <a:r>
              <a:rPr lang="en-US" sz="2000" b="1" i="0" dirty="0">
                <a:solidFill>
                  <a:srgbClr val="57534E"/>
                </a:solidFill>
              </a:rPr>
              <a:t>WHAT YOU ALREADY KNOW</a:t>
            </a:r>
          </a:p>
        </p:txBody>
      </p:sp>
      <p:cxnSp>
        <p:nvCxnSpPr>
          <p:cNvPr id="121" name="C121"/>
          <p:cNvCxnSpPr/>
          <p:nvPr/>
        </p:nvCxnSpPr>
        <p:spPr>
          <a:xfrm>
            <a:off x="640080" y="4032504"/>
            <a:ext cx="7818120" cy="0"/>
          </a:xfrm>
          <a:prstGeom prst="straightConnector1">
            <a:avLst/>
          </a:prstGeom>
          <a:ln w="31750">
            <a:solidFill>
              <a:srgbClr val="8E6F3E"/>
            </a:solidFill>
            <a:tailEnd type="triangle" w="med" len="med"/>
          </a:ln>
        </p:spPr>
      </p:cxnSp>
      <p:sp>
        <p:nvSpPr>
          <p:cNvPr id="130" name="T130"/>
          <p:cNvSpPr txBox="1"/>
          <p:nvPr/>
        </p:nvSpPr>
        <p:spPr>
          <a:xfrm>
            <a:off x="566928" y="4123944"/>
            <a:ext cx="1874520" cy="256032"/>
          </a:xfrm>
          <a:prstGeom prst="rect">
            <a:avLst/>
          </a:prstGeom>
          <a:noFill/>
        </p:spPr>
        <p:txBody>
          <a:bodyPr wrap="square" lIns="0" tIns="0" rIns="0" bIns="0" anchor="t"/>
          <a:lstStyle/>
          <a:p>
            <a:pPr algn="ctr">
              <a:buNone/>
            </a:pPr>
            <a:r>
              <a:rPr lang="en-US" sz="2000" b="1" i="0" dirty="0">
                <a:solidFill>
                  <a:srgbClr val="5C4826"/>
                </a:solidFill>
              </a:rPr>
              <a:t>answers</a:t>
            </a:r>
          </a:p>
        </p:txBody>
      </p:sp>
      <p:sp>
        <p:nvSpPr>
          <p:cNvPr id="140" name="T140"/>
          <p:cNvSpPr txBox="1"/>
          <p:nvPr/>
        </p:nvSpPr>
        <p:spPr>
          <a:xfrm>
            <a:off x="566928" y="4379976"/>
            <a:ext cx="1874520" cy="256032"/>
          </a:xfrm>
          <a:prstGeom prst="rect">
            <a:avLst/>
          </a:prstGeom>
          <a:noFill/>
        </p:spPr>
        <p:txBody>
          <a:bodyPr wrap="square" lIns="0" tIns="0" rIns="0" bIns="0" anchor="t"/>
          <a:lstStyle/>
          <a:p>
            <a:pPr algn="ctr">
              <a:buNone/>
            </a:pPr>
            <a:r>
              <a:rPr lang="en-US" sz="2000" b="0" i="1" dirty="0">
                <a:solidFill>
                  <a:srgbClr val="555960"/>
                </a:solidFill>
              </a:rPr>
              <a:t>example-based</a:t>
            </a:r>
          </a:p>
        </p:txBody>
      </p:sp>
      <p:sp>
        <p:nvSpPr>
          <p:cNvPr id="131" name="T131"/>
          <p:cNvSpPr txBox="1"/>
          <p:nvPr/>
        </p:nvSpPr>
        <p:spPr>
          <a:xfrm>
            <a:off x="3634740" y="4123944"/>
            <a:ext cx="1874520" cy="256032"/>
          </a:xfrm>
          <a:prstGeom prst="rect">
            <a:avLst/>
          </a:prstGeom>
          <a:noFill/>
        </p:spPr>
        <p:txBody>
          <a:bodyPr wrap="square" lIns="0" tIns="0" rIns="0" bIns="0" anchor="t"/>
          <a:lstStyle/>
          <a:p>
            <a:pPr algn="ctr">
              <a:buNone/>
            </a:pPr>
            <a:r>
              <a:rPr lang="en-US" sz="2000" b="1" i="0" dirty="0">
                <a:solidFill>
                  <a:srgbClr val="5C4826"/>
                </a:solidFill>
              </a:rPr>
              <a:t>properties</a:t>
            </a:r>
          </a:p>
        </p:txBody>
      </p:sp>
      <p:sp>
        <p:nvSpPr>
          <p:cNvPr id="141" name="T141"/>
          <p:cNvSpPr txBox="1"/>
          <p:nvPr/>
        </p:nvSpPr>
        <p:spPr>
          <a:xfrm>
            <a:off x="3634740" y="4379976"/>
            <a:ext cx="1874520" cy="256032"/>
          </a:xfrm>
          <a:prstGeom prst="rect">
            <a:avLst/>
          </a:prstGeom>
          <a:noFill/>
        </p:spPr>
        <p:txBody>
          <a:bodyPr wrap="square" lIns="0" tIns="0" rIns="0" bIns="0" anchor="t"/>
          <a:lstStyle/>
          <a:p>
            <a:pPr algn="ctr">
              <a:buNone/>
            </a:pPr>
            <a:r>
              <a:rPr lang="en-US" sz="2000" b="0" i="1" dirty="0">
                <a:solidFill>
                  <a:srgbClr val="555960"/>
                </a:solidFill>
              </a:rPr>
              <a:t>property-based</a:t>
            </a:r>
          </a:p>
        </p:txBody>
      </p:sp>
      <p:sp>
        <p:nvSpPr>
          <p:cNvPr id="133" name="T133"/>
          <p:cNvSpPr txBox="1"/>
          <p:nvPr/>
        </p:nvSpPr>
        <p:spPr>
          <a:xfrm>
            <a:off x="6702552" y="4123944"/>
            <a:ext cx="1874520" cy="256032"/>
          </a:xfrm>
          <a:prstGeom prst="rect">
            <a:avLst/>
          </a:prstGeom>
          <a:noFill/>
        </p:spPr>
        <p:txBody>
          <a:bodyPr wrap="square" lIns="0" tIns="0" rIns="0" bIns="0" anchor="t"/>
          <a:lstStyle/>
          <a:p>
            <a:pPr algn="ctr">
              <a:buNone/>
            </a:pPr>
            <a:r>
              <a:rPr lang="en-US" sz="2000" b="1" i="0" dirty="0">
                <a:solidFill>
                  <a:srgbClr val="5C4826"/>
                </a:solidFill>
              </a:rPr>
              <a:t>almost nothing</a:t>
            </a:r>
          </a:p>
        </p:txBody>
      </p:sp>
      <p:sp>
        <p:nvSpPr>
          <p:cNvPr id="143" name="T143"/>
          <p:cNvSpPr txBox="1"/>
          <p:nvPr/>
        </p:nvSpPr>
        <p:spPr>
          <a:xfrm>
            <a:off x="6702552" y="4379976"/>
            <a:ext cx="1874520" cy="256032"/>
          </a:xfrm>
          <a:prstGeom prst="rect">
            <a:avLst/>
          </a:prstGeom>
          <a:noFill/>
        </p:spPr>
        <p:txBody>
          <a:bodyPr wrap="square" lIns="0" tIns="0" rIns="0" bIns="0" anchor="t"/>
          <a:lstStyle/>
          <a:p>
            <a:pPr algn="ctr">
              <a:buNone/>
            </a:pPr>
            <a:r>
              <a:rPr lang="en-US" sz="20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 xml:space="preserve">Choose the strategy for the uncertainty </a:t>
            </a:r>
            <a:r>
              <a:rPr lang="en-US" sz="2400" b="1" dirty="0">
                <a:solidFill>
                  <a:srgbClr val="5C4826"/>
                </a:solidFill>
              </a:rPr>
              <a:t xml:space="preserve">you need </a:t>
            </a:r>
            <a:r>
              <a:rPr lang="en-US" sz="2400" b="1" i="0" dirty="0">
                <a:solidFill>
                  <a:srgbClr val="5C4826"/>
                </a:solidFill>
              </a:rPr>
              <a:t>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strategy changes how you search</a:t>
            </a:r>
            <a:r>
              <a:rPr lang="en-US" sz="2000" b="1" dirty="0">
                <a:solidFill>
                  <a:srgbClr val="FFFFFF"/>
                </a:solidFill>
              </a:rPr>
              <a:t xml:space="preserve"> </a:t>
            </a:r>
            <a:r>
              <a:rPr lang="en-US" sz="2000" b="1" i="0" dirty="0">
                <a:solidFill>
                  <a:srgbClr val="FFFFFF"/>
                </a:solidFill>
              </a:rPr>
              <a:t>not how strong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9" presetID="10" presetClass="entr" presetSubtype="0" fill="hold"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B100"/>
          <p:cNvSpPr/>
          <p:nvPr/>
        </p:nvSpPr>
        <p:spPr>
          <a:xfrm>
            <a:off x="2070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PROPERTY</a:t>
            </a:r>
          </a:p>
        </p:txBody>
      </p:sp>
      <p:cxnSp>
        <p:nvCxnSpPr>
          <p:cNvPr id="90" name="C90"/>
          <p:cNvCxnSpPr/>
          <p:nvPr/>
        </p:nvCxnSpPr>
        <p:spPr>
          <a:xfrm>
            <a:off x="1637000" y="1320000"/>
            <a:ext cx="297500" cy="0"/>
          </a:xfrm>
          <a:prstGeom prst="straightConnector1">
            <a:avLst/>
          </a:prstGeom>
          <a:ln w="19050">
            <a:solidFill>
              <a:srgbClr val="8E6F3E"/>
            </a:solidFill>
            <a:tailEnd type="triangle" w="med" len="med"/>
          </a:ln>
        </p:spPr>
      </p:cxnSp>
      <p:sp>
        <p:nvSpPr>
          <p:cNvPr id="101" name="B101"/>
          <p:cNvSpPr/>
          <p:nvPr/>
        </p:nvSpPr>
        <p:spPr>
          <a:xfrm>
            <a:off x="1964500" y="1080000"/>
            <a:ext cx="115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METRIC</a:t>
            </a:r>
          </a:p>
        </p:txBody>
      </p:sp>
      <p:cxnSp>
        <p:nvCxnSpPr>
          <p:cNvPr id="91" name="C91"/>
          <p:cNvCxnSpPr/>
          <p:nvPr/>
        </p:nvCxnSpPr>
        <p:spPr>
          <a:xfrm>
            <a:off x="3144500" y="1320000"/>
            <a:ext cx="297500" cy="0"/>
          </a:xfrm>
          <a:prstGeom prst="straightConnector1">
            <a:avLst/>
          </a:prstGeom>
          <a:ln w="19050">
            <a:solidFill>
              <a:srgbClr val="8E6F3E"/>
            </a:solidFill>
            <a:tailEnd type="triangle" w="med" len="med"/>
          </a:ln>
        </p:spPr>
      </p:cxnSp>
      <p:sp>
        <p:nvSpPr>
          <p:cNvPr id="102" name="B102"/>
          <p:cNvSpPr/>
          <p:nvPr/>
        </p:nvSpPr>
        <p:spPr>
          <a:xfrm>
            <a:off x="3472000" y="1080000"/>
            <a:ext cx="19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MEASUREMENT</a:t>
            </a:r>
          </a:p>
        </p:txBody>
      </p:sp>
      <p:cxnSp>
        <p:nvCxnSpPr>
          <p:cNvPr id="92" name="C92"/>
          <p:cNvCxnSpPr/>
          <p:nvPr/>
        </p:nvCxnSpPr>
        <p:spPr>
          <a:xfrm>
            <a:off x="5402000" y="1320000"/>
            <a:ext cx="297500" cy="0"/>
          </a:xfrm>
          <a:prstGeom prst="straightConnector1">
            <a:avLst/>
          </a:prstGeom>
          <a:ln w="19050">
            <a:solidFill>
              <a:srgbClr val="8E6F3E"/>
            </a:solidFill>
            <a:tailEnd type="triangle" w="med" len="med"/>
          </a:ln>
        </p:spPr>
      </p:cxnSp>
      <p:sp>
        <p:nvSpPr>
          <p:cNvPr id="103" name="B103"/>
          <p:cNvSpPr/>
          <p:nvPr/>
        </p:nvSpPr>
        <p:spPr>
          <a:xfrm>
            <a:off x="57295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EVIDENCE</a:t>
            </a:r>
          </a:p>
        </p:txBody>
      </p:sp>
      <p:cxnSp>
        <p:nvCxnSpPr>
          <p:cNvPr id="93" name="C93"/>
          <p:cNvCxnSpPr/>
          <p:nvPr/>
        </p:nvCxnSpPr>
        <p:spPr>
          <a:xfrm>
            <a:off x="7159500" y="1320000"/>
            <a:ext cx="297500" cy="0"/>
          </a:xfrm>
          <a:prstGeom prst="straightConnector1">
            <a:avLst/>
          </a:prstGeom>
          <a:ln w="19050">
            <a:solidFill>
              <a:srgbClr val="8E6F3E"/>
            </a:solidFill>
            <a:tailEnd type="triangle" w="med" len="med"/>
          </a:ln>
        </p:spPr>
      </p:cxnSp>
      <p:sp>
        <p:nvSpPr>
          <p:cNvPr id="104" name="B104"/>
          <p:cNvSpPr/>
          <p:nvPr/>
        </p:nvSpPr>
        <p:spPr>
          <a:xfrm>
            <a:off x="7487000" y="1080000"/>
            <a:ext cx="1450000" cy="480000"/>
          </a:xfrm>
          <a:prstGeom prst="rect">
            <a:avLst/>
          </a:prstGeom>
          <a:solidFill>
            <a:srgbClr val="FBF8F2"/>
          </a:solidFill>
          <a:ln w="12700">
            <a:solidFill>
              <a:srgbClr val="5C4826"/>
            </a:solidFill>
          </a:ln>
        </p:spPr>
        <p:txBody>
          <a:bodyPr wrap="square" lIns="0" tIns="45720" rIns="0" bIns="45720" anchor="ctr"/>
          <a:lstStyle/>
          <a:p>
            <a:pPr algn="ctr">
              <a:buNone/>
            </a:pPr>
            <a:r>
              <a:rPr lang="en-US" sz="2000" b="1" i="0" dirty="0">
                <a:solidFill>
                  <a:srgbClr val="5C4826"/>
                </a:solidFill>
              </a:rPr>
              <a:t>JUDGMENT</a:t>
            </a:r>
          </a:p>
        </p:txBody>
      </p:sp>
      <p:sp>
        <p:nvSpPr>
          <p:cNvPr id="120" name="B120"/>
          <p:cNvSpPr/>
          <p:nvPr/>
        </p:nvSpPr>
        <p:spPr>
          <a:xfrm>
            <a:off x="566928" y="210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Coverage</a:t>
            </a:r>
          </a:p>
        </p:txBody>
      </p:sp>
      <p:sp>
        <p:nvSpPr>
          <p:cNvPr id="130" name="P130"/>
          <p:cNvSpPr/>
          <p:nvPr/>
        </p:nvSpPr>
        <p:spPr>
          <a:xfrm>
            <a:off x="2971800" y="210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much did we examine?</a:t>
            </a:r>
          </a:p>
        </p:txBody>
      </p:sp>
      <p:sp>
        <p:nvSpPr>
          <p:cNvPr id="121" name="B121"/>
          <p:cNvSpPr/>
          <p:nvPr/>
        </p:nvSpPr>
        <p:spPr>
          <a:xfrm>
            <a:off x="566928" y="274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Detection power</a:t>
            </a:r>
          </a:p>
        </p:txBody>
      </p:sp>
      <p:sp>
        <p:nvSpPr>
          <p:cNvPr id="131" name="P131"/>
          <p:cNvSpPr/>
          <p:nvPr/>
        </p:nvSpPr>
        <p:spPr>
          <a:xfrm>
            <a:off x="2971800" y="274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would we notice the failure?</a:t>
            </a:r>
          </a:p>
        </p:txBody>
      </p:sp>
      <p:sp>
        <p:nvSpPr>
          <p:cNvPr id="122" name="B122"/>
          <p:cNvSpPr/>
          <p:nvPr/>
        </p:nvSpPr>
        <p:spPr>
          <a:xfrm>
            <a:off x="566928" y="338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Representativeness</a:t>
            </a:r>
          </a:p>
        </p:txBody>
      </p:sp>
      <p:sp>
        <p:nvSpPr>
          <p:cNvPr id="132" name="P132"/>
          <p:cNvSpPr/>
          <p:nvPr/>
        </p:nvSpPr>
        <p:spPr>
          <a:xfrm>
            <a:off x="2971800" y="338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did we examine the right conditions?</a:t>
            </a:r>
          </a:p>
        </p:txBody>
      </p:sp>
      <p:sp>
        <p:nvSpPr>
          <p:cNvPr id="123" name="B123"/>
          <p:cNvSpPr/>
          <p:nvPr/>
        </p:nvSpPr>
        <p:spPr>
          <a:xfrm>
            <a:off x="566928" y="402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Independence</a:t>
            </a:r>
          </a:p>
        </p:txBody>
      </p:sp>
      <p:sp>
        <p:nvSpPr>
          <p:cNvPr id="133" name="P133"/>
          <p:cNvSpPr/>
          <p:nvPr/>
        </p:nvSpPr>
        <p:spPr>
          <a:xfrm>
            <a:off x="2971800" y="402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could one mistaken assumption undermine it all?</a:t>
            </a:r>
          </a:p>
        </p:txBody>
      </p:sp>
      <p:sp>
        <p:nvSpPr>
          <p:cNvPr id="124" name="B124"/>
          <p:cNvSpPr/>
          <p:nvPr/>
        </p:nvSpPr>
        <p:spPr>
          <a:xfrm>
            <a:off x="566928" y="466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Residual uncertainty</a:t>
            </a:r>
          </a:p>
        </p:txBody>
      </p:sp>
      <p:sp>
        <p:nvSpPr>
          <p:cNvPr id="134" name="P134"/>
          <p:cNvSpPr/>
          <p:nvPr/>
        </p:nvSpPr>
        <p:spPr>
          <a:xfrm>
            <a:off x="2971800" y="466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remains unresolved?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1"/>
                                        </p:tgtEl>
                                        <p:attrNameLst>
                                          <p:attrName>style.visibility</p:attrName>
                                        </p:attrNameLst>
                                      </p:cBhvr>
                                      <p:to>
                                        <p:strVal val="visible"/>
                                      </p:to>
                                    </p:set>
                                    <p:animEffect transition="in" filter="fade">
                                      <p:cBhvr>
                                        <p:cTn id="15" dur="500"/>
                                        <p:tgtEl>
                                          <p:spTgt spid="121"/>
                                        </p:tgtEl>
                                      </p:cBhvr>
                                    </p:animEffect>
                                  </p:childTnLst>
                                </p:cTn>
                              </p:par>
                              <p:par>
                                <p:cTn id="16" presetID="10" presetClass="entr" presetSubtype="0" fill="hold" nodeType="withEffect">
                                  <p:stCondLst>
                                    <p:cond delay="0"/>
                                  </p:stCondLst>
                                  <p:childTnLst>
                                    <p:set>
                                      <p:cBhvr>
                                        <p:cTn id="17" dur="1" fill="hold">
                                          <p:stCondLst>
                                            <p:cond delay="0"/>
                                          </p:stCondLst>
                                        </p:cTn>
                                        <p:tgtEl>
                                          <p:spTgt spid="131"/>
                                        </p:tgtEl>
                                        <p:attrNameLst>
                                          <p:attrName>style.visibility</p:attrName>
                                        </p:attrNameLst>
                                      </p:cBhvr>
                                      <p:to>
                                        <p:strVal val="visible"/>
                                      </p:to>
                                    </p:set>
                                    <p:animEffect transition="in" filter="fade">
                                      <p:cBhvr>
                                        <p:cTn id="18" dur="500"/>
                                        <p:tgtEl>
                                          <p:spTgt spid="1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par>
                                <p:cTn id="24" presetID="10" presetClass="entr" presetSubtype="0" fill="hold" nodeType="withEffect">
                                  <p:stCondLst>
                                    <p:cond delay="0"/>
                                  </p:stCondLst>
                                  <p:childTnLst>
                                    <p:set>
                                      <p:cBhvr>
                                        <p:cTn id="25" dur="1" fill="hold">
                                          <p:stCondLst>
                                            <p:cond delay="0"/>
                                          </p:stCondLst>
                                        </p:cTn>
                                        <p:tgtEl>
                                          <p:spTgt spid="132"/>
                                        </p:tgtEl>
                                        <p:attrNameLst>
                                          <p:attrName>style.visibility</p:attrName>
                                        </p:attrNameLst>
                                      </p:cBhvr>
                                      <p:to>
                                        <p:strVal val="visible"/>
                                      </p:to>
                                    </p:set>
                                    <p:animEffect transition="in" filter="fade">
                                      <p:cBhvr>
                                        <p:cTn id="26" dur="500"/>
                                        <p:tgtEl>
                                          <p:spTgt spid="1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3"/>
                                        </p:tgtEl>
                                        <p:attrNameLst>
                                          <p:attrName>style.visibility</p:attrName>
                                        </p:attrNameLst>
                                      </p:cBhvr>
                                      <p:to>
                                        <p:strVal val="visible"/>
                                      </p:to>
                                    </p:set>
                                    <p:animEffect transition="in" filter="fade">
                                      <p:cBhvr>
                                        <p:cTn id="31" dur="500"/>
                                        <p:tgtEl>
                                          <p:spTgt spid="123"/>
                                        </p:tgtEl>
                                      </p:cBhvr>
                                    </p:animEffect>
                                  </p:childTnLst>
                                </p:cTn>
                              </p:par>
                              <p:par>
                                <p:cTn id="32" presetID="10" presetClass="entr" presetSubtype="0" fill="hold" nodeType="withEffect">
                                  <p:stCondLst>
                                    <p:cond delay="0"/>
                                  </p:stCondLst>
                                  <p:childTnLst>
                                    <p:set>
                                      <p:cBhvr>
                                        <p:cTn id="33" dur="1" fill="hold">
                                          <p:stCondLst>
                                            <p:cond delay="0"/>
                                          </p:stCondLst>
                                        </p:cTn>
                                        <p:tgtEl>
                                          <p:spTgt spid="133"/>
                                        </p:tgtEl>
                                        <p:attrNameLst>
                                          <p:attrName>style.visibility</p:attrName>
                                        </p:attrNameLst>
                                      </p:cBhvr>
                                      <p:to>
                                        <p:strVal val="visible"/>
                                      </p:to>
                                    </p:set>
                                    <p:animEffect transition="in" filter="fade">
                                      <p:cBhvr>
                                        <p:cTn id="34" dur="500"/>
                                        <p:tgtEl>
                                          <p:spTgt spid="13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24"/>
                                        </p:tgtEl>
                                        <p:attrNameLst>
                                          <p:attrName>style.visibility</p:attrName>
                                        </p:attrNameLst>
                                      </p:cBhvr>
                                      <p:to>
                                        <p:strVal val="visible"/>
                                      </p:to>
                                    </p:set>
                                    <p:animEffect transition="in" filter="fade">
                                      <p:cBhvr>
                                        <p:cTn id="39" dur="500"/>
                                        <p:tgtEl>
                                          <p:spTgt spid="124"/>
                                        </p:tgtEl>
                                      </p:cBhvr>
                                    </p:animEffect>
                                  </p:childTnLst>
                                </p:cTn>
                              </p:par>
                              <p:par>
                                <p:cTn id="40" presetID="10" presetClass="entr" presetSubtype="0" fill="hold" nodeType="withEffect">
                                  <p:stCondLst>
                                    <p:cond delay="0"/>
                                  </p:stCondLst>
                                  <p:childTnLst>
                                    <p:set>
                                      <p:cBhvr>
                                        <p:cTn id="41" dur="1" fill="hold">
                                          <p:stCondLst>
                                            <p:cond delay="0"/>
                                          </p:stCondLst>
                                        </p:cTn>
                                        <p:tgtEl>
                                          <p:spTgt spid="134"/>
                                        </p:tgtEl>
                                        <p:attrNameLst>
                                          <p:attrName>style.visibility</p:attrName>
                                        </p:attrNameLst>
                                      </p:cBhvr>
                                      <p:to>
                                        <p:strVal val="visible"/>
                                      </p:to>
                                    </p:set>
                                    <p:animEffect transition="in" filter="fade">
                                      <p:cBhvr>
                                        <p:cTn id="4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Does more data give us more confidence?</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CardA"/>
          <p:cNvSpPr/>
          <p:nvPr/>
        </p:nvSpPr>
        <p:spPr>
          <a:xfrm>
            <a:off x="100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A</a:t>
            </a:r>
          </a:p>
          <a:p>
            <a:pPr algn="ctr">
              <a:buNone/>
            </a:pPr>
            <a:r>
              <a:rPr lang="en-US" sz="2000" b="0" i="0" dirty="0">
                <a:solidFill>
                  <a:srgbClr val="000000"/>
                </a:solidFill>
              </a:rPr>
              <a:t>5 tests</a:t>
            </a:r>
          </a:p>
          <a:p>
            <a:pPr algn="ctr">
              <a:buNone/>
            </a:pPr>
            <a:r>
              <a:rPr lang="en-US" sz="2000" b="0" i="0" dirty="0">
                <a:solidFill>
                  <a:srgbClr val="000000"/>
                </a:solidFill>
              </a:rPr>
              <a:t>5 passed</a:t>
            </a:r>
          </a:p>
        </p:txBody>
      </p:sp>
      <p:sp>
        <p:nvSpPr>
          <p:cNvPr id="101" name="CardB"/>
          <p:cNvSpPr/>
          <p:nvPr/>
        </p:nvSpPr>
        <p:spPr>
          <a:xfrm>
            <a:off x="495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B</a:t>
            </a:r>
          </a:p>
          <a:p>
            <a:pPr algn="ctr">
              <a:buNone/>
            </a:pPr>
            <a:r>
              <a:rPr lang="en-US" sz="2000" b="0" i="0" dirty="0">
                <a:solidFill>
                  <a:srgbClr val="000000"/>
                </a:solidFill>
              </a:rPr>
              <a:t>5,000 tests</a:t>
            </a:r>
          </a:p>
          <a:p>
            <a:pPr algn="ctr">
              <a:buNone/>
            </a:pPr>
            <a:r>
              <a:rPr lang="en-US" sz="2000" b="0" i="0" dirty="0">
                <a:solidFill>
                  <a:srgbClr val="000000"/>
                </a:solidFill>
              </a:rPr>
              <a:t>5,000 passed</a:t>
            </a:r>
          </a:p>
        </p:txBody>
      </p:sp>
      <p:sp>
        <p:nvSpPr>
          <p:cNvPr id="105" name="Prompt105"/>
          <p:cNvSpPr/>
          <p:nvPr/>
        </p:nvSpPr>
        <p:spPr>
          <a:xfrm>
            <a:off x="566928" y="2560000"/>
            <a:ext cx="8010144" cy="88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000" b="1" i="0" dirty="0">
                <a:solidFill>
                  <a:srgbClr val="5C4826"/>
                </a:solidFill>
              </a:rPr>
              <a:t>THINK · PAIR · SHARE</a:t>
            </a:r>
          </a:p>
          <a:p>
            <a:pPr algn="ctr">
              <a:buNone/>
            </a:pPr>
            <a:r>
              <a:rPr lang="en-US" sz="2200" b="0" i="0" dirty="0">
                <a:solidFill>
                  <a:srgbClr val="000000"/>
                </a:solidFill>
              </a:rPr>
              <a:t>Which gives you more confidence in the claim? How much more?</a:t>
            </a:r>
          </a:p>
        </p:txBody>
      </p:sp>
      <p:sp>
        <p:nvSpPr>
          <p:cNvPr id="200" name="Model200"/>
          <p:cNvSpPr/>
          <p:nvPr/>
        </p:nvSpPr>
        <p:spPr>
          <a:xfrm>
            <a:off x="566928" y="3560000"/>
            <a:ext cx="8010144" cy="840000"/>
          </a:xfrm>
          <a:prstGeom prst="rect">
            <a:avLst/>
          </a:prstGeom>
          <a:noFill/>
          <a:ln>
            <a:noFill/>
          </a:ln>
        </p:spPr>
        <p:txBody>
          <a:bodyPr wrap="square" lIns="45720" tIns="27432" rIns="45720" bIns="27432" anchor="ctr"/>
          <a:lstStyle/>
          <a:p>
            <a:pPr algn="ctr">
              <a:buNone/>
            </a:pPr>
            <a:r>
              <a:rPr lang="en-US" sz="2000" b="0" i="1" dirty="0">
                <a:solidFill>
                  <a:srgbClr val="000000"/>
                </a:solidFill>
              </a:rPr>
              <a:t>Suppose each test has an independent 1% chance of exposing the defect, if the defect exists.</a:t>
            </a:r>
          </a:p>
          <a:p>
            <a:pPr algn="ctr">
              <a:buNone/>
            </a:pPr>
            <a:r>
              <a:rPr lang="en-US" sz="2200" b="1" i="0" dirty="0">
                <a:solidFill>
                  <a:srgbClr val="000000"/>
                </a:solidFill>
              </a:rPr>
              <a:t>If the defect exists, what is the probability that all n tests miss it?</a:t>
            </a:r>
          </a:p>
        </p:txBody>
      </p:sp>
      <p:sp>
        <p:nvSpPr>
          <p:cNvPr id="210" name="Math210"/>
          <p:cNvSpPr/>
          <p:nvPr/>
        </p:nvSpPr>
        <p:spPr>
          <a:xfrm>
            <a:off x="566928" y="4480000"/>
            <a:ext cx="8010144" cy="126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400" b="1" i="0" dirty="0">
                <a:solidFill>
                  <a:srgbClr val="5C4826"/>
                </a:solidFill>
              </a:rPr>
              <a:t>P(all miss) = (1 − 0.01)</a:t>
            </a:r>
            <a:r>
              <a:rPr lang="en-US" sz="2400" b="1" i="0" baseline="30000" dirty="0">
                <a:solidFill>
                  <a:srgbClr val="5C4826"/>
                </a:solidFill>
              </a:rPr>
              <a:t>n</a:t>
            </a:r>
            <a:r>
              <a:rPr lang="en-US" sz="2400" b="1" i="0" dirty="0">
                <a:solidFill>
                  <a:srgbClr val="5C4826"/>
                </a:solidFill>
              </a:rPr>
              <a:t xml:space="preserve"> = 0.99</a:t>
            </a:r>
            <a:r>
              <a:rPr lang="en-US" sz="2400" b="1" i="0" baseline="30000" dirty="0">
                <a:solidFill>
                  <a:srgbClr val="5C4826"/>
                </a:solidFill>
              </a:rPr>
              <a:t>n</a:t>
            </a:r>
          </a:p>
          <a:p>
            <a:pPr algn="ctr">
              <a:buNone/>
            </a:pPr>
            <a:r>
              <a:rPr lang="en-US" sz="2200" b="0" i="0" dirty="0">
                <a:solidFill>
                  <a:srgbClr val="000000"/>
                </a:solidFill>
              </a:rPr>
              <a:t>n = 5:   0.99</a:t>
            </a:r>
            <a:r>
              <a:rPr lang="en-US" sz="2200" b="0" i="0" baseline="30000" dirty="0">
                <a:solidFill>
                  <a:srgbClr val="000000"/>
                </a:solidFill>
              </a:rPr>
              <a:t>5</a:t>
            </a:r>
            <a:r>
              <a:rPr lang="en-US" sz="2200" b="0" i="0" dirty="0">
                <a:solidFill>
                  <a:srgbClr val="000000"/>
                </a:solidFill>
              </a:rPr>
              <a:t xml:space="preserve"> ≈ 95.1%</a:t>
            </a:r>
          </a:p>
          <a:p>
            <a:pPr algn="ctr">
              <a:buNone/>
            </a:pPr>
            <a:r>
              <a:rPr lang="en-US" sz="2200" b="0" i="0" dirty="0">
                <a:solidFill>
                  <a:srgbClr val="000000"/>
                </a:solidFill>
              </a:rPr>
              <a:t>n = 5,000:   0.99</a:t>
            </a:r>
            <a:r>
              <a:rPr lang="en-US" sz="2200" b="0" i="0" baseline="30000" dirty="0">
                <a:solidFill>
                  <a:srgbClr val="000000"/>
                </a:solidFill>
              </a:rPr>
              <a:t>5000</a:t>
            </a:r>
            <a:r>
              <a:rPr lang="en-US" sz="2200" b="0" i="0" dirty="0">
                <a:solidFill>
                  <a:srgbClr val="000000"/>
                </a:solidFill>
              </a:rPr>
              <a:t xml:space="preserve"> ≈ 1.5 × 10</a:t>
            </a:r>
            <a:r>
              <a:rPr lang="en-US" sz="2200" b="0" i="0" baseline="30000" dirty="0">
                <a:solidFill>
                  <a:srgbClr val="000000"/>
                </a:solidFill>
              </a:rPr>
              <a:t>−22</a:t>
            </a:r>
          </a:p>
        </p:txBody>
      </p:sp>
      <p:sp>
        <p:nvSpPr>
          <p:cNvPr id="300" name="Setup300"/>
          <p:cNvSpPr/>
          <p:nvPr/>
        </p:nvSpPr>
        <p:spPr>
          <a:xfrm>
            <a:off x="566928" y="3470000"/>
            <a:ext cx="8010144" cy="660000"/>
          </a:xfrm>
          <a:prstGeom prst="rect">
            <a:avLst/>
          </a:prstGeom>
          <a:noFill/>
          <a:ln>
            <a:noFill/>
          </a:ln>
        </p:spPr>
        <p:txBody>
          <a:bodyPr wrap="square" lIns="45720" tIns="27432" rIns="45720" bIns="27432" anchor="t"/>
          <a:lstStyle/>
          <a:p>
            <a:pPr algn="ctr">
              <a:buNone/>
            </a:pPr>
            <a:r>
              <a:rPr lang="en-US" sz="2000" b="0" i="1" dirty="0">
                <a:solidFill>
                  <a:srgbClr val="000000"/>
                </a:solidFill>
              </a:rPr>
              <a:t>Now suppose all 5,000 tests were generated from the same mistaken interpretation of the requirement.</a:t>
            </a:r>
          </a:p>
        </p:txBody>
      </p:sp>
      <p:sp>
        <p:nvSpPr>
          <p:cNvPr id="301" name="Wrong301"/>
          <p:cNvSpPr/>
          <p:nvPr/>
        </p:nvSpPr>
        <p:spPr>
          <a:xfrm>
            <a:off x="2972000" y="4200000"/>
            <a:ext cx="32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WRONG INTERPRETATION</a:t>
            </a:r>
          </a:p>
        </p:txBody>
      </p:sp>
      <p:sp>
        <p:nvSpPr>
          <p:cNvPr id="302" name="Fan300"/>
          <p:cNvSpPr/>
          <p:nvPr/>
        </p:nvSpPr>
        <p:spPr>
          <a:xfrm flipH="1">
            <a:off x="1400000" y="4630000"/>
            <a:ext cx="3172000" cy="270000"/>
          </a:xfrm>
          <a:prstGeom prst="line">
            <a:avLst/>
          </a:prstGeom>
          <a:ln w="12700">
            <a:solidFill>
              <a:srgbClr val="8E6F3E"/>
            </a:solidFill>
          </a:ln>
        </p:spPr>
        <p:txBody>
          <a:bodyPr/>
          <a:lstStyle/>
          <a:p>
            <a:endParaRPr/>
          </a:p>
        </p:txBody>
      </p:sp>
      <p:sp>
        <p:nvSpPr>
          <p:cNvPr id="303" name="Fan301"/>
          <p:cNvSpPr/>
          <p:nvPr/>
        </p:nvSpPr>
        <p:spPr>
          <a:xfrm flipH="1">
            <a:off x="3000000" y="4630000"/>
            <a:ext cx="1572000" cy="270000"/>
          </a:xfrm>
          <a:prstGeom prst="line">
            <a:avLst/>
          </a:prstGeom>
          <a:ln w="12700">
            <a:solidFill>
              <a:srgbClr val="8E6F3E"/>
            </a:solidFill>
          </a:ln>
        </p:spPr>
        <p:txBody>
          <a:bodyPr/>
          <a:lstStyle/>
          <a:p>
            <a:endParaRPr/>
          </a:p>
        </p:txBody>
      </p:sp>
      <p:sp>
        <p:nvSpPr>
          <p:cNvPr id="304" name="Fan302"/>
          <p:cNvSpPr/>
          <p:nvPr/>
        </p:nvSpPr>
        <p:spPr>
          <a:xfrm>
            <a:off x="4572000" y="4630000"/>
            <a:ext cx="1" cy="270000"/>
          </a:xfrm>
          <a:prstGeom prst="line">
            <a:avLst/>
          </a:prstGeom>
          <a:ln w="12700">
            <a:solidFill>
              <a:srgbClr val="8E6F3E"/>
            </a:solidFill>
          </a:ln>
        </p:spPr>
        <p:txBody>
          <a:bodyPr/>
          <a:lstStyle/>
          <a:p>
            <a:endParaRPr/>
          </a:p>
        </p:txBody>
      </p:sp>
      <p:sp>
        <p:nvSpPr>
          <p:cNvPr id="305" name="Fan303"/>
          <p:cNvSpPr/>
          <p:nvPr/>
        </p:nvSpPr>
        <p:spPr>
          <a:xfrm>
            <a:off x="4572000" y="4630000"/>
            <a:ext cx="1578000" cy="270000"/>
          </a:xfrm>
          <a:prstGeom prst="line">
            <a:avLst/>
          </a:prstGeom>
          <a:ln w="12700">
            <a:solidFill>
              <a:srgbClr val="8E6F3E"/>
            </a:solidFill>
          </a:ln>
        </p:spPr>
        <p:txBody>
          <a:bodyPr/>
          <a:lstStyle/>
          <a:p>
            <a:endParaRPr/>
          </a:p>
        </p:txBody>
      </p:sp>
      <p:sp>
        <p:nvSpPr>
          <p:cNvPr id="306" name="Fan304"/>
          <p:cNvSpPr/>
          <p:nvPr/>
        </p:nvSpPr>
        <p:spPr>
          <a:xfrm>
            <a:off x="4572000" y="4630000"/>
            <a:ext cx="3178000" cy="270000"/>
          </a:xfrm>
          <a:prstGeom prst="line">
            <a:avLst/>
          </a:prstGeom>
          <a:ln w="12700">
            <a:solidFill>
              <a:srgbClr val="8E6F3E"/>
            </a:solidFill>
          </a:ln>
        </p:spPr>
        <p:txBody>
          <a:bodyPr/>
          <a:lstStyle/>
          <a:p>
            <a:endParaRPr/>
          </a:p>
        </p:txBody>
      </p:sp>
      <p:sp>
        <p:nvSpPr>
          <p:cNvPr id="311" name="TL310"/>
          <p:cNvSpPr/>
          <p:nvPr/>
        </p:nvSpPr>
        <p:spPr>
          <a:xfrm>
            <a:off x="9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1</a:t>
            </a:r>
          </a:p>
        </p:txBody>
      </p:sp>
      <p:sp>
        <p:nvSpPr>
          <p:cNvPr id="312" name="TL311"/>
          <p:cNvSpPr/>
          <p:nvPr/>
        </p:nvSpPr>
        <p:spPr>
          <a:xfrm>
            <a:off x="25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2</a:t>
            </a:r>
          </a:p>
        </p:txBody>
      </p:sp>
      <p:sp>
        <p:nvSpPr>
          <p:cNvPr id="313" name="TL312"/>
          <p:cNvSpPr/>
          <p:nvPr/>
        </p:nvSpPr>
        <p:spPr>
          <a:xfrm>
            <a:off x="4122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a:t>
            </a:r>
          </a:p>
        </p:txBody>
      </p:sp>
      <p:sp>
        <p:nvSpPr>
          <p:cNvPr id="314" name="TL313"/>
          <p:cNvSpPr/>
          <p:nvPr/>
        </p:nvSpPr>
        <p:spPr>
          <a:xfrm>
            <a:off x="57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4999</a:t>
            </a:r>
          </a:p>
        </p:txBody>
      </p:sp>
      <p:sp>
        <p:nvSpPr>
          <p:cNvPr id="315" name="TL314"/>
          <p:cNvSpPr/>
          <p:nvPr/>
        </p:nvSpPr>
        <p:spPr>
          <a:xfrm>
            <a:off x="73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5000</a:t>
            </a:r>
          </a:p>
        </p:txBody>
      </p:sp>
      <p:sp>
        <p:nvSpPr>
          <p:cNvPr id="318" name="Ask318"/>
          <p:cNvSpPr/>
          <p:nvPr/>
        </p:nvSpPr>
        <p:spPr>
          <a:xfrm>
            <a:off x="566928" y="5260000"/>
            <a:ext cx="8010144" cy="560000"/>
          </a:xfrm>
          <a:prstGeom prst="rect">
            <a:avLst/>
          </a:prstGeom>
          <a:noFill/>
          <a:ln>
            <a:noFill/>
          </a:ln>
        </p:spPr>
        <p:txBody>
          <a:bodyPr wrap="square" lIns="45720" tIns="27432" rIns="45720" bIns="27432" anchor="t"/>
          <a:lstStyle/>
          <a:p>
            <a:pPr algn="ctr">
              <a:buNone/>
            </a:pPr>
            <a:r>
              <a:rPr lang="en-US" sz="2200" b="1" i="0" dirty="0">
                <a:solidFill>
                  <a:srgbClr val="000000"/>
                </a:solidFill>
              </a:rPr>
              <a:t>All 5,000 pass.</a:t>
            </a:r>
          </a:p>
          <a:p>
            <a:pPr algn="ctr">
              <a:buNone/>
            </a:pPr>
            <a:r>
              <a:rPr lang="en-US" sz="2200" b="1" i="0" dirty="0">
                <a:solidFill>
                  <a:srgbClr val="000000"/>
                </a:solidFill>
              </a:rPr>
              <a:t>What assumption made our calculation valid?</a:t>
            </a:r>
          </a:p>
        </p:txBody>
      </p:sp>
      <p:sp>
        <p:nvSpPr>
          <p:cNvPr id="400" name="OneInterp400"/>
          <p:cNvSpPr/>
          <p:nvPr/>
        </p:nvSpPr>
        <p:spPr>
          <a:xfrm>
            <a:off x="566928" y="3700000"/>
            <a:ext cx="33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ONE INTERPRETATION</a:t>
            </a:r>
          </a:p>
        </p:txBody>
      </p:sp>
      <p:sp>
        <p:nvSpPr>
          <p:cNvPr id="401" name="LFan400"/>
          <p:cNvSpPr/>
          <p:nvPr/>
        </p:nvSpPr>
        <p:spPr>
          <a:xfrm flipH="1">
            <a:off x="1000000" y="4130000"/>
            <a:ext cx="1216928" cy="490000"/>
          </a:xfrm>
          <a:prstGeom prst="line">
            <a:avLst/>
          </a:prstGeom>
          <a:ln w="12700">
            <a:solidFill>
              <a:srgbClr val="8E6F3E"/>
            </a:solidFill>
          </a:ln>
        </p:spPr>
        <p:txBody>
          <a:bodyPr/>
          <a:lstStyle/>
          <a:p>
            <a:endParaRPr/>
          </a:p>
        </p:txBody>
      </p:sp>
      <p:sp>
        <p:nvSpPr>
          <p:cNvPr id="402" name="LFan401"/>
          <p:cNvSpPr/>
          <p:nvPr/>
        </p:nvSpPr>
        <p:spPr>
          <a:xfrm flipH="1">
            <a:off x="1610000" y="4130000"/>
            <a:ext cx="606928" cy="490000"/>
          </a:xfrm>
          <a:prstGeom prst="line">
            <a:avLst/>
          </a:prstGeom>
          <a:ln w="12700">
            <a:solidFill>
              <a:srgbClr val="8E6F3E"/>
            </a:solidFill>
          </a:ln>
        </p:spPr>
        <p:txBody>
          <a:bodyPr/>
          <a:lstStyle/>
          <a:p>
            <a:endParaRPr/>
          </a:p>
        </p:txBody>
      </p:sp>
      <p:sp>
        <p:nvSpPr>
          <p:cNvPr id="403" name="LFan402"/>
          <p:cNvSpPr/>
          <p:nvPr/>
        </p:nvSpPr>
        <p:spPr>
          <a:xfrm>
            <a:off x="2216928" y="4130000"/>
            <a:ext cx="1" cy="490000"/>
          </a:xfrm>
          <a:prstGeom prst="line">
            <a:avLst/>
          </a:prstGeom>
          <a:ln w="12700">
            <a:solidFill>
              <a:srgbClr val="8E6F3E"/>
            </a:solidFill>
          </a:ln>
        </p:spPr>
        <p:txBody>
          <a:bodyPr/>
          <a:lstStyle/>
          <a:p>
            <a:endParaRPr/>
          </a:p>
        </p:txBody>
      </p:sp>
      <p:sp>
        <p:nvSpPr>
          <p:cNvPr id="404" name="LFan403"/>
          <p:cNvSpPr/>
          <p:nvPr/>
        </p:nvSpPr>
        <p:spPr>
          <a:xfrm>
            <a:off x="2216928" y="4130000"/>
            <a:ext cx="613072" cy="490000"/>
          </a:xfrm>
          <a:prstGeom prst="line">
            <a:avLst/>
          </a:prstGeom>
          <a:ln w="12700">
            <a:solidFill>
              <a:srgbClr val="8E6F3E"/>
            </a:solidFill>
          </a:ln>
        </p:spPr>
        <p:txBody>
          <a:bodyPr/>
          <a:lstStyle/>
          <a:p>
            <a:endParaRPr/>
          </a:p>
        </p:txBody>
      </p:sp>
      <p:sp>
        <p:nvSpPr>
          <p:cNvPr id="405" name="LFan404"/>
          <p:cNvSpPr/>
          <p:nvPr/>
        </p:nvSpPr>
        <p:spPr>
          <a:xfrm>
            <a:off x="2216928" y="4130000"/>
            <a:ext cx="1223072" cy="490000"/>
          </a:xfrm>
          <a:prstGeom prst="line">
            <a:avLst/>
          </a:prstGeom>
          <a:ln w="12700">
            <a:solidFill>
              <a:srgbClr val="8E6F3E"/>
            </a:solidFill>
          </a:ln>
        </p:spPr>
        <p:txBody>
          <a:bodyPr/>
          <a:lstStyle/>
          <a:p>
            <a:endParaRPr/>
          </a:p>
        </p:txBody>
      </p:sp>
      <p:sp>
        <p:nvSpPr>
          <p:cNvPr id="406" name="LeftLabel406"/>
          <p:cNvSpPr/>
          <p:nvPr/>
        </p:nvSpPr>
        <p:spPr>
          <a:xfrm>
            <a:off x="566928" y="4620000"/>
            <a:ext cx="3300000" cy="360000"/>
          </a:xfrm>
          <a:prstGeom prst="rect">
            <a:avLst/>
          </a:prstGeom>
          <a:noFill/>
          <a:ln>
            <a:noFill/>
          </a:ln>
        </p:spPr>
        <p:txBody>
          <a:bodyPr wrap="square" lIns="45720" tIns="27432" rIns="45720" bIns="27432" anchor="ctr"/>
          <a:lstStyle/>
          <a:p>
            <a:pPr algn="ctr">
              <a:buNone/>
            </a:pPr>
            <a:r>
              <a:rPr lang="en-US" sz="2000" b="0" i="0" dirty="0">
                <a:solidFill>
                  <a:srgbClr val="000000"/>
                </a:solidFill>
              </a:rPr>
              <a:t>5,000 tests</a:t>
            </a:r>
          </a:p>
        </p:txBody>
      </p:sp>
      <p:sp>
        <p:nvSpPr>
          <p:cNvPr id="408" name="Vs408"/>
          <p:cNvSpPr/>
          <p:nvPr/>
        </p:nvSpPr>
        <p:spPr>
          <a:xfrm>
            <a:off x="3866928" y="4000000"/>
            <a:ext cx="1010144" cy="400000"/>
          </a:xfrm>
          <a:prstGeom prst="rect">
            <a:avLst/>
          </a:prstGeom>
          <a:noFill/>
          <a:ln>
            <a:noFill/>
          </a:ln>
        </p:spPr>
        <p:txBody>
          <a:bodyPr wrap="square" lIns="45720" tIns="27432" rIns="45720" bIns="27432" anchor="ctr"/>
          <a:lstStyle/>
          <a:p>
            <a:pPr algn="ctr">
              <a:buNone/>
            </a:pPr>
            <a:r>
              <a:rPr lang="en-US" sz="2200" b="0" i="1" dirty="0">
                <a:solidFill>
                  <a:srgbClr val="555960"/>
                </a:solidFill>
              </a:rPr>
              <a:t>vs</a:t>
            </a:r>
          </a:p>
        </p:txBody>
      </p:sp>
      <p:sp>
        <p:nvSpPr>
          <p:cNvPr id="420" name="RB420"/>
          <p:cNvSpPr/>
          <p:nvPr/>
        </p:nvSpPr>
        <p:spPr>
          <a:xfrm>
            <a:off x="487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TESTS</a:t>
            </a:r>
          </a:p>
        </p:txBody>
      </p:sp>
      <p:sp>
        <p:nvSpPr>
          <p:cNvPr id="421" name="RB421"/>
          <p:cNvSpPr/>
          <p:nvPr/>
        </p:nvSpPr>
        <p:spPr>
          <a:xfrm>
            <a:off x="6162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MODEL CHECK</a:t>
            </a:r>
          </a:p>
        </p:txBody>
      </p:sp>
      <p:sp>
        <p:nvSpPr>
          <p:cNvPr id="422" name="RB422"/>
          <p:cNvSpPr/>
          <p:nvPr/>
        </p:nvSpPr>
        <p:spPr>
          <a:xfrm>
            <a:off x="744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REVIEW</a:t>
            </a:r>
          </a:p>
        </p:txBody>
      </p:sp>
      <p:sp>
        <p:nvSpPr>
          <p:cNvPr id="423" name="RArr420"/>
          <p:cNvSpPr/>
          <p:nvPr/>
        </p:nvSpPr>
        <p:spPr>
          <a:xfrm>
            <a:off x="5442072" y="4260000"/>
            <a:ext cx="1" cy="300000"/>
          </a:xfrm>
          <a:prstGeom prst="line">
            <a:avLst/>
          </a:prstGeom>
          <a:ln w="28575">
            <a:solidFill>
              <a:srgbClr val="8E6F3E"/>
            </a:solidFill>
            <a:tailEnd type="triangle" w="med" len="med"/>
          </a:ln>
        </p:spPr>
        <p:txBody>
          <a:bodyPr/>
          <a:lstStyle/>
          <a:p>
            <a:endParaRPr/>
          </a:p>
        </p:txBody>
      </p:sp>
      <p:sp>
        <p:nvSpPr>
          <p:cNvPr id="424" name="RArr421"/>
          <p:cNvSpPr/>
          <p:nvPr/>
        </p:nvSpPr>
        <p:spPr>
          <a:xfrm>
            <a:off x="6727072" y="4260000"/>
            <a:ext cx="1" cy="300000"/>
          </a:xfrm>
          <a:prstGeom prst="line">
            <a:avLst/>
          </a:prstGeom>
          <a:ln w="28575">
            <a:solidFill>
              <a:srgbClr val="8E6F3E"/>
            </a:solidFill>
            <a:tailEnd type="triangle" w="med" len="med"/>
          </a:ln>
        </p:spPr>
        <p:txBody>
          <a:bodyPr/>
          <a:lstStyle/>
          <a:p>
            <a:endParaRPr/>
          </a:p>
        </p:txBody>
      </p:sp>
      <p:sp>
        <p:nvSpPr>
          <p:cNvPr id="425" name="RArr422"/>
          <p:cNvSpPr/>
          <p:nvPr/>
        </p:nvSpPr>
        <p:spPr>
          <a:xfrm>
            <a:off x="8012072" y="4260000"/>
            <a:ext cx="1" cy="300000"/>
          </a:xfrm>
          <a:prstGeom prst="line">
            <a:avLst/>
          </a:prstGeom>
          <a:ln w="28575">
            <a:solidFill>
              <a:srgbClr val="8E6F3E"/>
            </a:solidFill>
            <a:tailEnd type="triangle" w="med" len="med"/>
          </a:ln>
        </p:spPr>
        <p:txBody>
          <a:bodyPr/>
          <a:lstStyle/>
          <a:p>
            <a:endParaRPr/>
          </a:p>
        </p:txBody>
      </p:sp>
      <p:sp>
        <p:nvSpPr>
          <p:cNvPr id="426" name="Assump426"/>
          <p:cNvSpPr/>
          <p:nvPr/>
        </p:nvSpPr>
        <p:spPr>
          <a:xfrm>
            <a:off x="4877072" y="4560000"/>
            <a:ext cx="3700000" cy="6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1" dirty="0">
                <a:solidFill>
                  <a:srgbClr val="000000"/>
                </a:solidFill>
              </a:rPr>
              <a:t>different assumptions / failure modes</a:t>
            </a:r>
          </a:p>
        </p:txBody>
      </p:sp>
      <p:sp>
        <p:nvSpPr>
          <p:cNvPr id="427" name="CLine427"/>
          <p:cNvSpPr/>
          <p:nvPr/>
        </p:nvSpPr>
        <p:spPr>
          <a:xfrm>
            <a:off x="6727072" y="5210000"/>
            <a:ext cx="1" cy="140000"/>
          </a:xfrm>
          <a:prstGeom prst="line">
            <a:avLst/>
          </a:prstGeom>
          <a:ln w="28575">
            <a:solidFill>
              <a:srgbClr val="8E6F3E"/>
            </a:solidFill>
            <a:tailEnd type="triangle" w="med" len="med"/>
          </a:ln>
        </p:spPr>
        <p:txBody>
          <a:bodyPr/>
          <a:lstStyle/>
          <a:p>
            <a:endParaRPr/>
          </a:p>
        </p:txBody>
      </p:sp>
      <p:sp>
        <p:nvSpPr>
          <p:cNvPr id="428" name="Claim428"/>
          <p:cNvSpPr/>
          <p:nvPr/>
        </p:nvSpPr>
        <p:spPr>
          <a:xfrm>
            <a:off x="6127072" y="5350000"/>
            <a:ext cx="1200000" cy="40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CLAIM</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validation combines evidence with different assumptions and failure modes.</a:t>
            </a:r>
          </a:p>
        </p:txBody>
      </p:sp>
      <p:sp>
        <p:nvSpPr>
          <p:cNvPr id="319" name="Answer319"/>
          <p:cNvSpPr txBox="1"/>
          <p:nvPr/>
        </p:nvSpPr>
        <p:spPr>
          <a:xfrm>
            <a:off x="566928" y="5830000"/>
            <a:ext cx="8010144" cy="720000"/>
          </a:xfrm>
          <a:prstGeom prst="rect">
            <a:avLst/>
          </a:prstGeom>
          <a:noFill/>
          <a:ln>
            <a:noFill/>
          </a:ln>
        </p:spPr>
        <p:txBody>
          <a:bodyPr wrap="square" lIns="45720" tIns="27432" rIns="45720" bIns="27432" anchor="t"/>
          <a:lstStyle/>
          <a:p>
            <a:pPr algn="ctr">
              <a:buNone/>
            </a:pPr>
            <a:r>
              <a:rPr lang="en-US" sz="2000" b="1" i="0" dirty="0">
                <a:solidFill>
                  <a:srgbClr val="000000"/>
                </a:solidFill>
              </a:rPr>
              <a:t xml:space="preserve">Independence. </a:t>
            </a:r>
            <a:r>
              <a:rPr lang="en-US" sz="2000" b="0" i="0" dirty="0">
                <a:solidFill>
                  <a:srgbClr val="000000"/>
                </a:solidFill>
              </a:rPr>
              <a:t>Each test had to provide a separate chance of exposing the defect.</a:t>
            </a:r>
          </a:p>
          <a:p>
            <a:pPr algn="ctr">
              <a:buNone/>
            </a:pPr>
            <a:r>
              <a:rPr lang="en-US" sz="2000" b="0" i="0" dirty="0">
                <a:solidFill>
                  <a:srgbClr val="555960"/>
                </a:solidFill>
              </a:rPr>
              <a:t>With correlated tests, P(all miss) does not necessarily shrink like 0.99</a:t>
            </a:r>
            <a:r>
              <a:rPr lang="en-US" sz="2000" b="0" i="1" baseline="30000" dirty="0">
                <a:solidFill>
                  <a:srgbClr val="555960"/>
                </a:solidFill>
              </a:rPr>
              <a:t>n</a:t>
            </a:r>
            <a:r>
              <a:rPr lang="en-US" sz="2000" b="0" i="0" dirty="0">
                <a:solidFill>
                  <a:srgbClr val="555960"/>
                </a:solidFill>
              </a:rPr>
              <a:t>.</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200"/>
                                        </p:tgtEl>
                                        <p:attrNameLst>
                                          <p:attrName>style.visibility</p:attrName>
                                        </p:attrNameLst>
                                      </p:cBhvr>
                                      <p:to>
                                        <p:strVal val="visible"/>
                                      </p:to>
                                    </p:set>
                                    <p:animEffect transition="in" filter="fade">
                                      <p:cBhvr>
                                        <p:cTn id="4" dur="500"/>
                                        <p:tgtEl>
                                          <p:spTgt spid="20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210"/>
                                        </p:tgtEl>
                                        <p:attrNameLst>
                                          <p:attrName>style.visibility</p:attrName>
                                        </p:attrNameLst>
                                      </p:cBhvr>
                                      <p:to>
                                        <p:strVal val="visible"/>
                                      </p:to>
                                    </p:set>
                                    <p:animEffect transition="in" filter="fade">
                                      <p:cBhvr>
                                        <p:cTn id="9" dur="500"/>
                                        <p:tgtEl>
                                          <p:spTgt spid="210"/>
                                        </p:tgtEl>
                                      </p:cBhvr>
                                    </p:animEffect>
                                  </p:childTnLst>
                                </p:cTn>
                              </p:par>
                            </p:childTnLst>
                          </p:cTn>
                        </p:par>
                      </p:childTnLst>
                    </p:cTn>
                  </p:par>
                  <p:par>
                    <p:cTn id="55" fill="hold">
                      <p:stCondLst>
                        <p:cond delay="indefinite"/>
                      </p:stCondLst>
                      <p:childTnLst>
                        <p:par>
                          <p:cTn id="56" fill="hold">
                            <p:stCondLst>
                              <p:cond delay="0"/>
                            </p:stCondLst>
                            <p:childTnLst>
                              <p:par>
                                <p:cTn id="15" presetID="10" presetClass="exit" presetSubtype="0" fill="hold" nodeType="clickEffect">
                                  <p:stCondLst>
                                    <p:cond delay="0"/>
                                  </p:stCondLst>
                                  <p:childTnLst>
                                    <p:animEffect transition="out" filter="fade">
                                      <p:cBhvr>
                                        <p:cTn id="13" dur="400"/>
                                        <p:tgtEl>
                                          <p:spTgt spid="200"/>
                                        </p:tgtEl>
                                      </p:cBhvr>
                                    </p:animEffect>
                                    <p:set>
                                      <p:cBhvr>
                                        <p:cTn id="14" dur="1" fill="hold">
                                          <p:stCondLst>
                                            <p:cond delay="399"/>
                                          </p:stCondLst>
                                        </p:cTn>
                                        <p:tgtEl>
                                          <p:spTgt spid="200"/>
                                        </p:tgtEl>
                                        <p:attrNameLst>
                                          <p:attrName>style.visibility</p:attrName>
                                        </p:attrNameLst>
                                      </p:cBhvr>
                                      <p:to>
                                        <p:strVal val="hidden"/>
                                      </p:to>
                                    </p:set>
                                  </p:childTnLst>
                                </p:cTn>
                              </p:par>
                              <p:par>
                                <p:cTn id="18" presetID="10" presetClass="exit" presetSubtype="0" fill="hold" nodeType="withEffect">
                                  <p:stCondLst>
                                    <p:cond delay="0"/>
                                  </p:stCondLst>
                                  <p:childTnLst>
                                    <p:animEffect transition="out" filter="fade">
                                      <p:cBhvr>
                                        <p:cTn id="16" dur="400"/>
                                        <p:tgtEl>
                                          <p:spTgt spid="210"/>
                                        </p:tgtEl>
                                      </p:cBhvr>
                                    </p:animEffect>
                                    <p:set>
                                      <p:cBhvr>
                                        <p:cTn id="17" dur="1" fill="hold">
                                          <p:stCondLst>
                                            <p:cond delay="399"/>
                                          </p:stCondLst>
                                        </p:cTn>
                                        <p:tgtEl>
                                          <p:spTgt spid="210"/>
                                        </p:tgtEl>
                                        <p:attrNameLst>
                                          <p:attrName>style.visibility</p:attrName>
                                        </p:attrNameLst>
                                      </p:cBhvr>
                                      <p:to>
                                        <p:strVal val="hidden"/>
                                      </p:to>
                                    </p:set>
                                  </p:childTnLst>
                                </p:cTn>
                              </p:par>
                              <p:par>
                                <p:cTn id="21" presetID="10" presetClass="entr" presetSubtype="0" fill="hold" nodeType="withEffect">
                                  <p:stCondLst>
                                    <p:cond delay="0"/>
                                  </p:stCondLst>
                                  <p:childTnLst>
                                    <p:set>
                                      <p:cBhvr>
                                        <p:cTn id="19" dur="1" fill="hold">
                                          <p:stCondLst>
                                            <p:cond delay="0"/>
                                          </p:stCondLst>
                                        </p:cTn>
                                        <p:tgtEl>
                                          <p:spTgt spid="300"/>
                                        </p:tgtEl>
                                        <p:attrNameLst>
                                          <p:attrName>style.visibility</p:attrName>
                                        </p:attrNameLst>
                                      </p:cBhvr>
                                      <p:to>
                                        <p:strVal val="visible"/>
                                      </p:to>
                                    </p:set>
                                    <p:animEffect transition="in" filter="fade">
                                      <p:cBhvr>
                                        <p:cTn id="20" dur="500"/>
                                        <p:tgtEl>
                                          <p:spTgt spid="300"/>
                                        </p:tgtEl>
                                      </p:cBhvr>
                                    </p:animEffect>
                                  </p:childTnLst>
                                </p:cTn>
                              </p:par>
                              <p:par>
                                <p:cTn id="24" presetID="10" presetClass="entr" presetSubtype="0" fill="hold" nodeType="withEffect">
                                  <p:stCondLst>
                                    <p:cond delay="0"/>
                                  </p:stCondLst>
                                  <p:childTnLst>
                                    <p:set>
                                      <p:cBhvr>
                                        <p:cTn id="22" dur="1" fill="hold">
                                          <p:stCondLst>
                                            <p:cond delay="0"/>
                                          </p:stCondLst>
                                        </p:cTn>
                                        <p:tgtEl>
                                          <p:spTgt spid="301"/>
                                        </p:tgtEl>
                                        <p:attrNameLst>
                                          <p:attrName>style.visibility</p:attrName>
                                        </p:attrNameLst>
                                      </p:cBhvr>
                                      <p:to>
                                        <p:strVal val="visible"/>
                                      </p:to>
                                    </p:set>
                                    <p:animEffect transition="in" filter="fade">
                                      <p:cBhvr>
                                        <p:cTn id="23" dur="500"/>
                                        <p:tgtEl>
                                          <p:spTgt spid="301"/>
                                        </p:tgtEl>
                                      </p:cBhvr>
                                    </p:animEffect>
                                  </p:childTnLst>
                                </p:cTn>
                              </p:par>
                              <p:par>
                                <p:cTn id="27" presetID="10" presetClass="entr" presetSubtype="0" fill="hold" nodeType="withEffect">
                                  <p:stCondLst>
                                    <p:cond delay="0"/>
                                  </p:stCondLst>
                                  <p:childTnLst>
                                    <p:set>
                                      <p:cBhvr>
                                        <p:cTn id="25" dur="1" fill="hold">
                                          <p:stCondLst>
                                            <p:cond delay="0"/>
                                          </p:stCondLst>
                                        </p:cTn>
                                        <p:tgtEl>
                                          <p:spTgt spid="302"/>
                                        </p:tgtEl>
                                        <p:attrNameLst>
                                          <p:attrName>style.visibility</p:attrName>
                                        </p:attrNameLst>
                                      </p:cBhvr>
                                      <p:to>
                                        <p:strVal val="visible"/>
                                      </p:to>
                                    </p:set>
                                    <p:animEffect transition="in" filter="fade">
                                      <p:cBhvr>
                                        <p:cTn id="26" dur="500"/>
                                        <p:tgtEl>
                                          <p:spTgt spid="302"/>
                                        </p:tgtEl>
                                      </p:cBhvr>
                                    </p:animEffect>
                                  </p:childTnLst>
                                </p:cTn>
                              </p:par>
                              <p:par>
                                <p:cTn id="30" presetID="10" presetClass="entr" presetSubtype="0" fill="hold" nodeType="withEffect">
                                  <p:stCondLst>
                                    <p:cond delay="0"/>
                                  </p:stCondLst>
                                  <p:childTnLst>
                                    <p:set>
                                      <p:cBhvr>
                                        <p:cTn id="28" dur="1" fill="hold">
                                          <p:stCondLst>
                                            <p:cond delay="0"/>
                                          </p:stCondLst>
                                        </p:cTn>
                                        <p:tgtEl>
                                          <p:spTgt spid="303"/>
                                        </p:tgtEl>
                                        <p:attrNameLst>
                                          <p:attrName>style.visibility</p:attrName>
                                        </p:attrNameLst>
                                      </p:cBhvr>
                                      <p:to>
                                        <p:strVal val="visible"/>
                                      </p:to>
                                    </p:set>
                                    <p:animEffect transition="in" filter="fade">
                                      <p:cBhvr>
                                        <p:cTn id="29" dur="500"/>
                                        <p:tgtEl>
                                          <p:spTgt spid="303"/>
                                        </p:tgtEl>
                                      </p:cBhvr>
                                    </p:animEffect>
                                  </p:childTnLst>
                                </p:cTn>
                              </p:par>
                              <p:par>
                                <p:cTn id="33" presetID="10" presetClass="entr" presetSubtype="0" fill="hold" nodeType="withEffect">
                                  <p:stCondLst>
                                    <p:cond delay="0"/>
                                  </p:stCondLst>
                                  <p:childTnLst>
                                    <p:set>
                                      <p:cBhvr>
                                        <p:cTn id="31" dur="1" fill="hold">
                                          <p:stCondLst>
                                            <p:cond delay="0"/>
                                          </p:stCondLst>
                                        </p:cTn>
                                        <p:tgtEl>
                                          <p:spTgt spid="304"/>
                                        </p:tgtEl>
                                        <p:attrNameLst>
                                          <p:attrName>style.visibility</p:attrName>
                                        </p:attrNameLst>
                                      </p:cBhvr>
                                      <p:to>
                                        <p:strVal val="visible"/>
                                      </p:to>
                                    </p:set>
                                    <p:animEffect transition="in" filter="fade">
                                      <p:cBhvr>
                                        <p:cTn id="32" dur="500"/>
                                        <p:tgtEl>
                                          <p:spTgt spid="304"/>
                                        </p:tgtEl>
                                      </p:cBhvr>
                                    </p:animEffect>
                                  </p:childTnLst>
                                </p:cTn>
                              </p:par>
                              <p:par>
                                <p:cTn id="36" presetID="10" presetClass="entr" presetSubtype="0" fill="hold" nodeType="withEffect">
                                  <p:stCondLst>
                                    <p:cond delay="0"/>
                                  </p:stCondLst>
                                  <p:childTnLst>
                                    <p:set>
                                      <p:cBhvr>
                                        <p:cTn id="34" dur="1" fill="hold">
                                          <p:stCondLst>
                                            <p:cond delay="0"/>
                                          </p:stCondLst>
                                        </p:cTn>
                                        <p:tgtEl>
                                          <p:spTgt spid="305"/>
                                        </p:tgtEl>
                                        <p:attrNameLst>
                                          <p:attrName>style.visibility</p:attrName>
                                        </p:attrNameLst>
                                      </p:cBhvr>
                                      <p:to>
                                        <p:strVal val="visible"/>
                                      </p:to>
                                    </p:set>
                                    <p:animEffect transition="in" filter="fade">
                                      <p:cBhvr>
                                        <p:cTn id="35" dur="500"/>
                                        <p:tgtEl>
                                          <p:spTgt spid="305"/>
                                        </p:tgtEl>
                                      </p:cBhvr>
                                    </p:animEffect>
                                  </p:childTnLst>
                                </p:cTn>
                              </p:par>
                              <p:par>
                                <p:cTn id="39" presetID="10" presetClass="entr" presetSubtype="0" fill="hold" nodeType="withEffect">
                                  <p:stCondLst>
                                    <p:cond delay="0"/>
                                  </p:stCondLst>
                                  <p:childTnLst>
                                    <p:set>
                                      <p:cBhvr>
                                        <p:cTn id="37" dur="1" fill="hold">
                                          <p:stCondLst>
                                            <p:cond delay="0"/>
                                          </p:stCondLst>
                                        </p:cTn>
                                        <p:tgtEl>
                                          <p:spTgt spid="306"/>
                                        </p:tgtEl>
                                        <p:attrNameLst>
                                          <p:attrName>style.visibility</p:attrName>
                                        </p:attrNameLst>
                                      </p:cBhvr>
                                      <p:to>
                                        <p:strVal val="visible"/>
                                      </p:to>
                                    </p:set>
                                    <p:animEffect transition="in" filter="fade">
                                      <p:cBhvr>
                                        <p:cTn id="38" dur="500"/>
                                        <p:tgtEl>
                                          <p:spTgt spid="306"/>
                                        </p:tgtEl>
                                      </p:cBhvr>
                                    </p:animEffect>
                                  </p:childTnLst>
                                </p:cTn>
                              </p:par>
                              <p:par>
                                <p:cTn id="42" presetID="10" presetClass="entr" presetSubtype="0" fill="hold" nodeType="withEffect">
                                  <p:stCondLst>
                                    <p:cond delay="0"/>
                                  </p:stCondLst>
                                  <p:childTnLst>
                                    <p:set>
                                      <p:cBhvr>
                                        <p:cTn id="40" dur="1" fill="hold">
                                          <p:stCondLst>
                                            <p:cond delay="0"/>
                                          </p:stCondLst>
                                        </p:cTn>
                                        <p:tgtEl>
                                          <p:spTgt spid="311"/>
                                        </p:tgtEl>
                                        <p:attrNameLst>
                                          <p:attrName>style.visibility</p:attrName>
                                        </p:attrNameLst>
                                      </p:cBhvr>
                                      <p:to>
                                        <p:strVal val="visible"/>
                                      </p:to>
                                    </p:set>
                                    <p:animEffect transition="in" filter="fade">
                                      <p:cBhvr>
                                        <p:cTn id="41" dur="500"/>
                                        <p:tgtEl>
                                          <p:spTgt spid="311"/>
                                        </p:tgtEl>
                                      </p:cBhvr>
                                    </p:animEffect>
                                  </p:childTnLst>
                                </p:cTn>
                              </p:par>
                              <p:par>
                                <p:cTn id="45" presetID="10" presetClass="entr" presetSubtype="0" fill="hold" nodeType="withEffect">
                                  <p:stCondLst>
                                    <p:cond delay="0"/>
                                  </p:stCondLst>
                                  <p:childTnLst>
                                    <p:set>
                                      <p:cBhvr>
                                        <p:cTn id="43" dur="1" fill="hold">
                                          <p:stCondLst>
                                            <p:cond delay="0"/>
                                          </p:stCondLst>
                                        </p:cTn>
                                        <p:tgtEl>
                                          <p:spTgt spid="312"/>
                                        </p:tgtEl>
                                        <p:attrNameLst>
                                          <p:attrName>style.visibility</p:attrName>
                                        </p:attrNameLst>
                                      </p:cBhvr>
                                      <p:to>
                                        <p:strVal val="visible"/>
                                      </p:to>
                                    </p:set>
                                    <p:animEffect transition="in" filter="fade">
                                      <p:cBhvr>
                                        <p:cTn id="44" dur="500"/>
                                        <p:tgtEl>
                                          <p:spTgt spid="312"/>
                                        </p:tgtEl>
                                      </p:cBhvr>
                                    </p:animEffect>
                                  </p:childTnLst>
                                </p:cTn>
                              </p:par>
                              <p:par>
                                <p:cTn id="48" presetID="10" presetClass="entr" presetSubtype="0" fill="hold" nodeType="withEffect">
                                  <p:stCondLst>
                                    <p:cond delay="0"/>
                                  </p:stCondLst>
                                  <p:childTnLst>
                                    <p:set>
                                      <p:cBhvr>
                                        <p:cTn id="46" dur="1" fill="hold">
                                          <p:stCondLst>
                                            <p:cond delay="0"/>
                                          </p:stCondLst>
                                        </p:cTn>
                                        <p:tgtEl>
                                          <p:spTgt spid="313"/>
                                        </p:tgtEl>
                                        <p:attrNameLst>
                                          <p:attrName>style.visibility</p:attrName>
                                        </p:attrNameLst>
                                      </p:cBhvr>
                                      <p:to>
                                        <p:strVal val="visible"/>
                                      </p:to>
                                    </p:set>
                                    <p:animEffect transition="in" filter="fade">
                                      <p:cBhvr>
                                        <p:cTn id="47" dur="500"/>
                                        <p:tgtEl>
                                          <p:spTgt spid="313"/>
                                        </p:tgtEl>
                                      </p:cBhvr>
                                    </p:animEffect>
                                  </p:childTnLst>
                                </p:cTn>
                              </p:par>
                              <p:par>
                                <p:cTn id="51" presetID="10" presetClass="entr" presetSubtype="0" fill="hold" nodeType="withEffect">
                                  <p:stCondLst>
                                    <p:cond delay="0"/>
                                  </p:stCondLst>
                                  <p:childTnLst>
                                    <p:set>
                                      <p:cBhvr>
                                        <p:cTn id="49" dur="1" fill="hold">
                                          <p:stCondLst>
                                            <p:cond delay="0"/>
                                          </p:stCondLst>
                                        </p:cTn>
                                        <p:tgtEl>
                                          <p:spTgt spid="314"/>
                                        </p:tgtEl>
                                        <p:attrNameLst>
                                          <p:attrName>style.visibility</p:attrName>
                                        </p:attrNameLst>
                                      </p:cBhvr>
                                      <p:to>
                                        <p:strVal val="visible"/>
                                      </p:to>
                                    </p:set>
                                    <p:animEffect transition="in" filter="fade">
                                      <p:cBhvr>
                                        <p:cTn id="50" dur="500"/>
                                        <p:tgtEl>
                                          <p:spTgt spid="314"/>
                                        </p:tgtEl>
                                      </p:cBhvr>
                                    </p:animEffect>
                                  </p:childTnLst>
                                </p:cTn>
                              </p:par>
                              <p:par>
                                <p:cTn id="54" presetID="10" presetClass="entr" presetSubtype="0" fill="hold" nodeType="withEffect">
                                  <p:stCondLst>
                                    <p:cond delay="0"/>
                                  </p:stCondLst>
                                  <p:childTnLst>
                                    <p:set>
                                      <p:cBhvr>
                                        <p:cTn id="52" dur="1" fill="hold">
                                          <p:stCondLst>
                                            <p:cond delay="0"/>
                                          </p:stCondLst>
                                        </p:cTn>
                                        <p:tgtEl>
                                          <p:spTgt spid="315"/>
                                        </p:tgtEl>
                                        <p:attrNameLst>
                                          <p:attrName>style.visibility</p:attrName>
                                        </p:attrNameLst>
                                      </p:cBhvr>
                                      <p:to>
                                        <p:strVal val="visible"/>
                                      </p:to>
                                    </p:set>
                                    <p:animEffect transition="in" filter="fade">
                                      <p:cBhvr>
                                        <p:cTn id="53" dur="500"/>
                                        <p:tgtEl>
                                          <p:spTgt spid="315"/>
                                        </p:tgtEl>
                                      </p:cBhvr>
                                    </p:animEffect>
                                  </p:childTnLst>
                                </p:cTn>
                              </p:par>
                            </p:childTnLst>
                          </p:cTn>
                        </p:par>
                      </p:childTnLst>
                    </p:cTn>
                  </p:par>
                  <p:par>
                    <p:cTn id="60" fill="hold">
                      <p:stCondLst>
                        <p:cond delay="indefinite"/>
                      </p:stCondLst>
                      <p:childTnLst>
                        <p:par>
                          <p:cTn id="61" fill="hold">
                            <p:stCondLst>
                              <p:cond delay="0"/>
                            </p:stCondLst>
                            <p:childTnLst>
                              <p:par>
                                <p:cTn id="59" presetID="10" presetClass="entr" presetSubtype="0" fill="hold" nodeType="clickEffect">
                                  <p:stCondLst>
                                    <p:cond delay="0"/>
                                  </p:stCondLst>
                                  <p:childTnLst>
                                    <p:set>
                                      <p:cBhvr>
                                        <p:cTn id="57" dur="1" fill="hold">
                                          <p:stCondLst>
                                            <p:cond delay="0"/>
                                          </p:stCondLst>
                                        </p:cTn>
                                        <p:tgtEl>
                                          <p:spTgt spid="318"/>
                                        </p:tgtEl>
                                        <p:attrNameLst>
                                          <p:attrName>style.visibility</p:attrName>
                                        </p:attrNameLst>
                                      </p:cBhvr>
                                      <p:to>
                                        <p:strVal val="visible"/>
                                      </p:to>
                                    </p:set>
                                    <p:animEffect transition="in" filter="fade">
                                      <p:cBhvr>
                                        <p:cTn id="58" dur="500"/>
                                        <p:tgtEl>
                                          <p:spTgt spid="318"/>
                                        </p:tgtEl>
                                      </p:cBhvr>
                                    </p:animEffect>
                                  </p:childTnLst>
                                </p:cTn>
                              </p:par>
                            </p:childTnLst>
                          </p:cTn>
                        </p:par>
                      </p:childTnLst>
                    </p:cTn>
                  </p:par>
                  <p:par>
                    <p:cTn id="65" fill="hold">
                      <p:stCondLst>
                        <p:cond delay="indefinite"/>
                      </p:stCondLst>
                      <p:childTnLst>
                        <p:par>
                          <p:cTn id="66" fill="hold">
                            <p:stCondLst>
                              <p:cond delay="0"/>
                            </p:stCondLst>
                            <p:childTnLst>
                              <p:par>
                                <p:cTn id="64" presetID="10" presetClass="entr" presetSubtype="0" fill="hold" nodeType="clickEffect">
                                  <p:stCondLst>
                                    <p:cond delay="0"/>
                                  </p:stCondLst>
                                  <p:childTnLst>
                                    <p:set>
                                      <p:cBhvr>
                                        <p:cTn id="62" dur="1" fill="hold">
                                          <p:stCondLst>
                                            <p:cond delay="0"/>
                                          </p:stCondLst>
                                        </p:cTn>
                                        <p:tgtEl>
                                          <p:spTgt spid="319"/>
                                        </p:tgtEl>
                                        <p:attrNameLst>
                                          <p:attrName>style.visibility</p:attrName>
                                        </p:attrNameLst>
                                      </p:cBhvr>
                                      <p:to>
                                        <p:strVal val="visible"/>
                                      </p:to>
                                    </p:set>
                                    <p:animEffect transition="in" filter="fade">
                                      <p:cBhvr>
                                        <p:cTn id="63" dur="500"/>
                                        <p:tgtEl>
                                          <p:spTgt spid="319"/>
                                        </p:tgtEl>
                                      </p:cBhvr>
                                    </p:animEffect>
                                  </p:childTnLst>
                                </p:cTn>
                              </p:par>
                            </p:childTnLst>
                          </p:cTn>
                        </p:par>
                      </p:childTnLst>
                    </p:cTn>
                  </p:par>
                  <p:par>
                    <p:cTn id="163" fill="hold">
                      <p:stCondLst>
                        <p:cond delay="indefinite"/>
                      </p:stCondLst>
                      <p:childTnLst>
                        <p:par>
                          <p:cTn id="164" fill="hold">
                            <p:stCondLst>
                              <p:cond delay="0"/>
                            </p:stCondLst>
                            <p:childTnLst>
                              <p:par>
                                <p:cTn id="69" presetID="10" presetClass="exit" presetSubtype="0" fill="hold" nodeType="clickEffect">
                                  <p:stCondLst>
                                    <p:cond delay="0"/>
                                  </p:stCondLst>
                                  <p:childTnLst>
                                    <p:animEffect transition="out" filter="fade">
                                      <p:cBhvr>
                                        <p:cTn id="67" dur="400"/>
                                        <p:tgtEl>
                                          <p:spTgt spid="300"/>
                                        </p:tgtEl>
                                      </p:cBhvr>
                                    </p:animEffect>
                                    <p:set>
                                      <p:cBhvr>
                                        <p:cTn id="68" dur="1" fill="hold">
                                          <p:stCondLst>
                                            <p:cond delay="399"/>
                                          </p:stCondLst>
                                        </p:cTn>
                                        <p:tgtEl>
                                          <p:spTgt spid="300"/>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0" dur="400"/>
                                        <p:tgtEl>
                                          <p:spTgt spid="301"/>
                                        </p:tgtEl>
                                      </p:cBhvr>
                                    </p:animEffect>
                                    <p:set>
                                      <p:cBhvr>
                                        <p:cTn id="71" dur="1" fill="hold">
                                          <p:stCondLst>
                                            <p:cond delay="399"/>
                                          </p:stCondLst>
                                        </p:cTn>
                                        <p:tgtEl>
                                          <p:spTgt spid="301"/>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3" dur="400"/>
                                        <p:tgtEl>
                                          <p:spTgt spid="302"/>
                                        </p:tgtEl>
                                      </p:cBhvr>
                                    </p:animEffect>
                                    <p:set>
                                      <p:cBhvr>
                                        <p:cTn id="74" dur="1" fill="hold">
                                          <p:stCondLst>
                                            <p:cond delay="399"/>
                                          </p:stCondLst>
                                        </p:cTn>
                                        <p:tgtEl>
                                          <p:spTgt spid="302"/>
                                        </p:tgtEl>
                                        <p:attrNameLst>
                                          <p:attrName>style.visibility</p:attrName>
                                        </p:attrNameLst>
                                      </p:cBhvr>
                                      <p:to>
                                        <p:strVal val="hidden"/>
                                      </p:to>
                                    </p:set>
                                  </p:childTnLst>
                                </p:cTn>
                              </p:par>
                              <p:par>
                                <p:cTn id="78" presetID="10" presetClass="exit" presetSubtype="0" fill="hold" nodeType="withEffect">
                                  <p:stCondLst>
                                    <p:cond delay="0"/>
                                  </p:stCondLst>
                                  <p:childTnLst>
                                    <p:animEffect transition="out" filter="fade">
                                      <p:cBhvr>
                                        <p:cTn id="76" dur="400"/>
                                        <p:tgtEl>
                                          <p:spTgt spid="303"/>
                                        </p:tgtEl>
                                      </p:cBhvr>
                                    </p:animEffect>
                                    <p:set>
                                      <p:cBhvr>
                                        <p:cTn id="77" dur="1" fill="hold">
                                          <p:stCondLst>
                                            <p:cond delay="399"/>
                                          </p:stCondLst>
                                        </p:cTn>
                                        <p:tgtEl>
                                          <p:spTgt spid="303"/>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79" dur="400"/>
                                        <p:tgtEl>
                                          <p:spTgt spid="304"/>
                                        </p:tgtEl>
                                      </p:cBhvr>
                                    </p:animEffect>
                                    <p:set>
                                      <p:cBhvr>
                                        <p:cTn id="80" dur="1" fill="hold">
                                          <p:stCondLst>
                                            <p:cond delay="399"/>
                                          </p:stCondLst>
                                        </p:cTn>
                                        <p:tgtEl>
                                          <p:spTgt spid="304"/>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2" dur="400"/>
                                        <p:tgtEl>
                                          <p:spTgt spid="305"/>
                                        </p:tgtEl>
                                      </p:cBhvr>
                                    </p:animEffect>
                                    <p:set>
                                      <p:cBhvr>
                                        <p:cTn id="83" dur="1" fill="hold">
                                          <p:stCondLst>
                                            <p:cond delay="399"/>
                                          </p:stCondLst>
                                        </p:cTn>
                                        <p:tgtEl>
                                          <p:spTgt spid="305"/>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5" dur="400"/>
                                        <p:tgtEl>
                                          <p:spTgt spid="306"/>
                                        </p:tgtEl>
                                      </p:cBhvr>
                                    </p:animEffect>
                                    <p:set>
                                      <p:cBhvr>
                                        <p:cTn id="86" dur="1" fill="hold">
                                          <p:stCondLst>
                                            <p:cond delay="399"/>
                                          </p:stCondLst>
                                        </p:cTn>
                                        <p:tgtEl>
                                          <p:spTgt spid="306"/>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88" dur="400"/>
                                        <p:tgtEl>
                                          <p:spTgt spid="311"/>
                                        </p:tgtEl>
                                      </p:cBhvr>
                                    </p:animEffect>
                                    <p:set>
                                      <p:cBhvr>
                                        <p:cTn id="89" dur="1" fill="hold">
                                          <p:stCondLst>
                                            <p:cond delay="399"/>
                                          </p:stCondLst>
                                        </p:cTn>
                                        <p:tgtEl>
                                          <p:spTgt spid="311"/>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1" dur="400"/>
                                        <p:tgtEl>
                                          <p:spTgt spid="312"/>
                                        </p:tgtEl>
                                      </p:cBhvr>
                                    </p:animEffect>
                                    <p:set>
                                      <p:cBhvr>
                                        <p:cTn id="92" dur="1" fill="hold">
                                          <p:stCondLst>
                                            <p:cond delay="399"/>
                                          </p:stCondLst>
                                        </p:cTn>
                                        <p:tgtEl>
                                          <p:spTgt spid="312"/>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4" dur="400"/>
                                        <p:tgtEl>
                                          <p:spTgt spid="313"/>
                                        </p:tgtEl>
                                      </p:cBhvr>
                                    </p:animEffect>
                                    <p:set>
                                      <p:cBhvr>
                                        <p:cTn id="95" dur="1" fill="hold">
                                          <p:stCondLst>
                                            <p:cond delay="399"/>
                                          </p:stCondLst>
                                        </p:cTn>
                                        <p:tgtEl>
                                          <p:spTgt spid="313"/>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97" dur="400"/>
                                        <p:tgtEl>
                                          <p:spTgt spid="314"/>
                                        </p:tgtEl>
                                      </p:cBhvr>
                                    </p:animEffect>
                                    <p:set>
                                      <p:cBhvr>
                                        <p:cTn id="98" dur="1" fill="hold">
                                          <p:stCondLst>
                                            <p:cond delay="399"/>
                                          </p:stCondLst>
                                        </p:cTn>
                                        <p:tgtEl>
                                          <p:spTgt spid="314"/>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0" dur="400"/>
                                        <p:tgtEl>
                                          <p:spTgt spid="315"/>
                                        </p:tgtEl>
                                      </p:cBhvr>
                                    </p:animEffect>
                                    <p:set>
                                      <p:cBhvr>
                                        <p:cTn id="101" dur="1" fill="hold">
                                          <p:stCondLst>
                                            <p:cond delay="399"/>
                                          </p:stCondLst>
                                        </p:cTn>
                                        <p:tgtEl>
                                          <p:spTgt spid="315"/>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3" dur="400"/>
                                        <p:tgtEl>
                                          <p:spTgt spid="318"/>
                                        </p:tgtEl>
                                      </p:cBhvr>
                                    </p:animEffect>
                                    <p:set>
                                      <p:cBhvr>
                                        <p:cTn id="104" dur="1" fill="hold">
                                          <p:stCondLst>
                                            <p:cond delay="399"/>
                                          </p:stCondLst>
                                        </p:cTn>
                                        <p:tgtEl>
                                          <p:spTgt spid="318"/>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6" dur="400"/>
                                        <p:tgtEl>
                                          <p:spTgt spid="319"/>
                                        </p:tgtEl>
                                      </p:cBhvr>
                                    </p:animEffect>
                                    <p:set>
                                      <p:cBhvr>
                                        <p:cTn id="107" dur="1" fill="hold">
                                          <p:stCondLst>
                                            <p:cond delay="399"/>
                                          </p:stCondLst>
                                        </p:cTn>
                                        <p:tgtEl>
                                          <p:spTgt spid="319"/>
                                        </p:tgtEl>
                                        <p:attrNameLst>
                                          <p:attrName>style.visibility</p:attrName>
                                        </p:attrNameLst>
                                      </p:cBhvr>
                                      <p:to>
                                        <p:strVal val="hidden"/>
                                      </p:to>
                                    </p:set>
                                  </p:childTnLst>
                                </p:cTn>
                              </p:par>
                              <p:par>
                                <p:cTn id="111" presetID="10" presetClass="entr" presetSubtype="0" fill="hold" nodeType="withEffect">
                                  <p:stCondLst>
                                    <p:cond delay="0"/>
                                  </p:stCondLst>
                                  <p:childTnLst>
                                    <p:set>
                                      <p:cBhvr>
                                        <p:cTn id="109" dur="1" fill="hold">
                                          <p:stCondLst>
                                            <p:cond delay="0"/>
                                          </p:stCondLst>
                                        </p:cTn>
                                        <p:tgtEl>
                                          <p:spTgt spid="400"/>
                                        </p:tgtEl>
                                        <p:attrNameLst>
                                          <p:attrName>style.visibility</p:attrName>
                                        </p:attrNameLst>
                                      </p:cBhvr>
                                      <p:to>
                                        <p:strVal val="visible"/>
                                      </p:to>
                                    </p:set>
                                    <p:animEffect transition="in" filter="fade">
                                      <p:cBhvr>
                                        <p:cTn id="110" dur="500"/>
                                        <p:tgtEl>
                                          <p:spTgt spid="400"/>
                                        </p:tgtEl>
                                      </p:cBhvr>
                                    </p:animEffect>
                                  </p:childTnLst>
                                </p:cTn>
                              </p:par>
                              <p:par>
                                <p:cTn id="114" presetID="10" presetClass="entr" presetSubtype="0" fill="hold" nodeType="withEffect">
                                  <p:stCondLst>
                                    <p:cond delay="0"/>
                                  </p:stCondLst>
                                  <p:childTnLst>
                                    <p:set>
                                      <p:cBhvr>
                                        <p:cTn id="112" dur="1" fill="hold">
                                          <p:stCondLst>
                                            <p:cond delay="0"/>
                                          </p:stCondLst>
                                        </p:cTn>
                                        <p:tgtEl>
                                          <p:spTgt spid="401"/>
                                        </p:tgtEl>
                                        <p:attrNameLst>
                                          <p:attrName>style.visibility</p:attrName>
                                        </p:attrNameLst>
                                      </p:cBhvr>
                                      <p:to>
                                        <p:strVal val="visible"/>
                                      </p:to>
                                    </p:set>
                                    <p:animEffect transition="in" filter="fade">
                                      <p:cBhvr>
                                        <p:cTn id="113" dur="500"/>
                                        <p:tgtEl>
                                          <p:spTgt spid="401"/>
                                        </p:tgtEl>
                                      </p:cBhvr>
                                    </p:animEffect>
                                  </p:childTnLst>
                                </p:cTn>
                              </p:par>
                              <p:par>
                                <p:cTn id="117" presetID="10" presetClass="entr" presetSubtype="0" fill="hold" nodeType="withEffect">
                                  <p:stCondLst>
                                    <p:cond delay="0"/>
                                  </p:stCondLst>
                                  <p:childTnLst>
                                    <p:set>
                                      <p:cBhvr>
                                        <p:cTn id="115" dur="1" fill="hold">
                                          <p:stCondLst>
                                            <p:cond delay="0"/>
                                          </p:stCondLst>
                                        </p:cTn>
                                        <p:tgtEl>
                                          <p:spTgt spid="402"/>
                                        </p:tgtEl>
                                        <p:attrNameLst>
                                          <p:attrName>style.visibility</p:attrName>
                                        </p:attrNameLst>
                                      </p:cBhvr>
                                      <p:to>
                                        <p:strVal val="visible"/>
                                      </p:to>
                                    </p:set>
                                    <p:animEffect transition="in" filter="fade">
                                      <p:cBhvr>
                                        <p:cTn id="116" dur="500"/>
                                        <p:tgtEl>
                                          <p:spTgt spid="402"/>
                                        </p:tgtEl>
                                      </p:cBhvr>
                                    </p:animEffect>
                                  </p:childTnLst>
                                </p:cTn>
                              </p:par>
                              <p:par>
                                <p:cTn id="120" presetID="10" presetClass="entr" presetSubtype="0" fill="hold" nodeType="withEffect">
                                  <p:stCondLst>
                                    <p:cond delay="0"/>
                                  </p:stCondLst>
                                  <p:childTnLst>
                                    <p:set>
                                      <p:cBhvr>
                                        <p:cTn id="118" dur="1" fill="hold">
                                          <p:stCondLst>
                                            <p:cond delay="0"/>
                                          </p:stCondLst>
                                        </p:cTn>
                                        <p:tgtEl>
                                          <p:spTgt spid="403"/>
                                        </p:tgtEl>
                                        <p:attrNameLst>
                                          <p:attrName>style.visibility</p:attrName>
                                        </p:attrNameLst>
                                      </p:cBhvr>
                                      <p:to>
                                        <p:strVal val="visible"/>
                                      </p:to>
                                    </p:set>
                                    <p:animEffect transition="in" filter="fade">
                                      <p:cBhvr>
                                        <p:cTn id="119" dur="500"/>
                                        <p:tgtEl>
                                          <p:spTgt spid="403"/>
                                        </p:tgtEl>
                                      </p:cBhvr>
                                    </p:animEffect>
                                  </p:childTnLst>
                                </p:cTn>
                              </p:par>
                              <p:par>
                                <p:cTn id="123" presetID="10" presetClass="entr" presetSubtype="0" fill="hold" nodeType="withEffect">
                                  <p:stCondLst>
                                    <p:cond delay="0"/>
                                  </p:stCondLst>
                                  <p:childTnLst>
                                    <p:set>
                                      <p:cBhvr>
                                        <p:cTn id="121" dur="1" fill="hold">
                                          <p:stCondLst>
                                            <p:cond delay="0"/>
                                          </p:stCondLst>
                                        </p:cTn>
                                        <p:tgtEl>
                                          <p:spTgt spid="404"/>
                                        </p:tgtEl>
                                        <p:attrNameLst>
                                          <p:attrName>style.visibility</p:attrName>
                                        </p:attrNameLst>
                                      </p:cBhvr>
                                      <p:to>
                                        <p:strVal val="visible"/>
                                      </p:to>
                                    </p:set>
                                    <p:animEffect transition="in" filter="fade">
                                      <p:cBhvr>
                                        <p:cTn id="122" dur="500"/>
                                        <p:tgtEl>
                                          <p:spTgt spid="404"/>
                                        </p:tgtEl>
                                      </p:cBhvr>
                                    </p:animEffect>
                                  </p:childTnLst>
                                </p:cTn>
                              </p:par>
                              <p:par>
                                <p:cTn id="126" presetID="10" presetClass="entr" presetSubtype="0" fill="hold" nodeType="withEffect">
                                  <p:stCondLst>
                                    <p:cond delay="0"/>
                                  </p:stCondLst>
                                  <p:childTnLst>
                                    <p:set>
                                      <p:cBhvr>
                                        <p:cTn id="124" dur="1" fill="hold">
                                          <p:stCondLst>
                                            <p:cond delay="0"/>
                                          </p:stCondLst>
                                        </p:cTn>
                                        <p:tgtEl>
                                          <p:spTgt spid="405"/>
                                        </p:tgtEl>
                                        <p:attrNameLst>
                                          <p:attrName>style.visibility</p:attrName>
                                        </p:attrNameLst>
                                      </p:cBhvr>
                                      <p:to>
                                        <p:strVal val="visible"/>
                                      </p:to>
                                    </p:set>
                                    <p:animEffect transition="in" filter="fade">
                                      <p:cBhvr>
                                        <p:cTn id="125" dur="500"/>
                                        <p:tgtEl>
                                          <p:spTgt spid="405"/>
                                        </p:tgtEl>
                                      </p:cBhvr>
                                    </p:animEffect>
                                  </p:childTnLst>
                                </p:cTn>
                              </p:par>
                              <p:par>
                                <p:cTn id="129" presetID="10" presetClass="entr" presetSubtype="0" fill="hold" nodeType="withEffect">
                                  <p:stCondLst>
                                    <p:cond delay="0"/>
                                  </p:stCondLst>
                                  <p:childTnLst>
                                    <p:set>
                                      <p:cBhvr>
                                        <p:cTn id="127" dur="1" fill="hold">
                                          <p:stCondLst>
                                            <p:cond delay="0"/>
                                          </p:stCondLst>
                                        </p:cTn>
                                        <p:tgtEl>
                                          <p:spTgt spid="406"/>
                                        </p:tgtEl>
                                        <p:attrNameLst>
                                          <p:attrName>style.visibility</p:attrName>
                                        </p:attrNameLst>
                                      </p:cBhvr>
                                      <p:to>
                                        <p:strVal val="visible"/>
                                      </p:to>
                                    </p:set>
                                    <p:animEffect transition="in" filter="fade">
                                      <p:cBhvr>
                                        <p:cTn id="128" dur="500"/>
                                        <p:tgtEl>
                                          <p:spTgt spid="406"/>
                                        </p:tgtEl>
                                      </p:cBhvr>
                                    </p:animEffect>
                                  </p:childTnLst>
                                </p:cTn>
                              </p:par>
                              <p:par>
                                <p:cTn id="132" presetID="10" presetClass="entr" presetSubtype="0" fill="hold" nodeType="withEffect">
                                  <p:stCondLst>
                                    <p:cond delay="0"/>
                                  </p:stCondLst>
                                  <p:childTnLst>
                                    <p:set>
                                      <p:cBhvr>
                                        <p:cTn id="130" dur="1" fill="hold">
                                          <p:stCondLst>
                                            <p:cond delay="0"/>
                                          </p:stCondLst>
                                        </p:cTn>
                                        <p:tgtEl>
                                          <p:spTgt spid="408"/>
                                        </p:tgtEl>
                                        <p:attrNameLst>
                                          <p:attrName>style.visibility</p:attrName>
                                        </p:attrNameLst>
                                      </p:cBhvr>
                                      <p:to>
                                        <p:strVal val="visible"/>
                                      </p:to>
                                    </p:set>
                                    <p:animEffect transition="in" filter="fade">
                                      <p:cBhvr>
                                        <p:cTn id="131" dur="500"/>
                                        <p:tgtEl>
                                          <p:spTgt spid="408"/>
                                        </p:tgtEl>
                                      </p:cBhvr>
                                    </p:animEffect>
                                  </p:childTnLst>
                                </p:cTn>
                              </p:par>
                              <p:par>
                                <p:cTn id="135" presetID="10" presetClass="entr" presetSubtype="0" fill="hold" nodeType="withEffect">
                                  <p:stCondLst>
                                    <p:cond delay="0"/>
                                  </p:stCondLst>
                                  <p:childTnLst>
                                    <p:set>
                                      <p:cBhvr>
                                        <p:cTn id="133" dur="1" fill="hold">
                                          <p:stCondLst>
                                            <p:cond delay="0"/>
                                          </p:stCondLst>
                                        </p:cTn>
                                        <p:tgtEl>
                                          <p:spTgt spid="420"/>
                                        </p:tgtEl>
                                        <p:attrNameLst>
                                          <p:attrName>style.visibility</p:attrName>
                                        </p:attrNameLst>
                                      </p:cBhvr>
                                      <p:to>
                                        <p:strVal val="visible"/>
                                      </p:to>
                                    </p:set>
                                    <p:animEffect transition="in" filter="fade">
                                      <p:cBhvr>
                                        <p:cTn id="134" dur="500"/>
                                        <p:tgtEl>
                                          <p:spTgt spid="420"/>
                                        </p:tgtEl>
                                      </p:cBhvr>
                                    </p:animEffect>
                                  </p:childTnLst>
                                </p:cTn>
                              </p:par>
                              <p:par>
                                <p:cTn id="138" presetID="10" presetClass="entr" presetSubtype="0" fill="hold" nodeType="withEffect">
                                  <p:stCondLst>
                                    <p:cond delay="0"/>
                                  </p:stCondLst>
                                  <p:childTnLst>
                                    <p:set>
                                      <p:cBhvr>
                                        <p:cTn id="136" dur="1" fill="hold">
                                          <p:stCondLst>
                                            <p:cond delay="0"/>
                                          </p:stCondLst>
                                        </p:cTn>
                                        <p:tgtEl>
                                          <p:spTgt spid="421"/>
                                        </p:tgtEl>
                                        <p:attrNameLst>
                                          <p:attrName>style.visibility</p:attrName>
                                        </p:attrNameLst>
                                      </p:cBhvr>
                                      <p:to>
                                        <p:strVal val="visible"/>
                                      </p:to>
                                    </p:set>
                                    <p:animEffect transition="in" filter="fade">
                                      <p:cBhvr>
                                        <p:cTn id="137" dur="500"/>
                                        <p:tgtEl>
                                          <p:spTgt spid="421"/>
                                        </p:tgtEl>
                                      </p:cBhvr>
                                    </p:animEffect>
                                  </p:childTnLst>
                                </p:cTn>
                              </p:par>
                              <p:par>
                                <p:cTn id="141" presetID="10" presetClass="entr" presetSubtype="0" fill="hold" nodeType="withEffect">
                                  <p:stCondLst>
                                    <p:cond delay="0"/>
                                  </p:stCondLst>
                                  <p:childTnLst>
                                    <p:set>
                                      <p:cBhvr>
                                        <p:cTn id="139" dur="1" fill="hold">
                                          <p:stCondLst>
                                            <p:cond delay="0"/>
                                          </p:stCondLst>
                                        </p:cTn>
                                        <p:tgtEl>
                                          <p:spTgt spid="422"/>
                                        </p:tgtEl>
                                        <p:attrNameLst>
                                          <p:attrName>style.visibility</p:attrName>
                                        </p:attrNameLst>
                                      </p:cBhvr>
                                      <p:to>
                                        <p:strVal val="visible"/>
                                      </p:to>
                                    </p:set>
                                    <p:animEffect transition="in" filter="fade">
                                      <p:cBhvr>
                                        <p:cTn id="140" dur="500"/>
                                        <p:tgtEl>
                                          <p:spTgt spid="422"/>
                                        </p:tgtEl>
                                      </p:cBhvr>
                                    </p:animEffect>
                                  </p:childTnLst>
                                </p:cTn>
                              </p:par>
                              <p:par>
                                <p:cTn id="144" presetID="10" presetClass="entr" presetSubtype="0" fill="hold" nodeType="withEffect">
                                  <p:stCondLst>
                                    <p:cond delay="0"/>
                                  </p:stCondLst>
                                  <p:childTnLst>
                                    <p:set>
                                      <p:cBhvr>
                                        <p:cTn id="142" dur="1" fill="hold">
                                          <p:stCondLst>
                                            <p:cond delay="0"/>
                                          </p:stCondLst>
                                        </p:cTn>
                                        <p:tgtEl>
                                          <p:spTgt spid="423"/>
                                        </p:tgtEl>
                                        <p:attrNameLst>
                                          <p:attrName>style.visibility</p:attrName>
                                        </p:attrNameLst>
                                      </p:cBhvr>
                                      <p:to>
                                        <p:strVal val="visible"/>
                                      </p:to>
                                    </p:set>
                                    <p:animEffect transition="in" filter="fade">
                                      <p:cBhvr>
                                        <p:cTn id="143" dur="500"/>
                                        <p:tgtEl>
                                          <p:spTgt spid="423"/>
                                        </p:tgtEl>
                                      </p:cBhvr>
                                    </p:animEffect>
                                  </p:childTnLst>
                                </p:cTn>
                              </p:par>
                              <p:par>
                                <p:cTn id="147" presetID="10" presetClass="entr" presetSubtype="0" fill="hold" nodeType="withEffect">
                                  <p:stCondLst>
                                    <p:cond delay="0"/>
                                  </p:stCondLst>
                                  <p:childTnLst>
                                    <p:set>
                                      <p:cBhvr>
                                        <p:cTn id="145" dur="1" fill="hold">
                                          <p:stCondLst>
                                            <p:cond delay="0"/>
                                          </p:stCondLst>
                                        </p:cTn>
                                        <p:tgtEl>
                                          <p:spTgt spid="424"/>
                                        </p:tgtEl>
                                        <p:attrNameLst>
                                          <p:attrName>style.visibility</p:attrName>
                                        </p:attrNameLst>
                                      </p:cBhvr>
                                      <p:to>
                                        <p:strVal val="visible"/>
                                      </p:to>
                                    </p:set>
                                    <p:animEffect transition="in" filter="fade">
                                      <p:cBhvr>
                                        <p:cTn id="146" dur="500"/>
                                        <p:tgtEl>
                                          <p:spTgt spid="424"/>
                                        </p:tgtEl>
                                      </p:cBhvr>
                                    </p:animEffect>
                                  </p:childTnLst>
                                </p:cTn>
                              </p:par>
                              <p:par>
                                <p:cTn id="150" presetID="10" presetClass="entr" presetSubtype="0" fill="hold" nodeType="withEffect">
                                  <p:stCondLst>
                                    <p:cond delay="0"/>
                                  </p:stCondLst>
                                  <p:childTnLst>
                                    <p:set>
                                      <p:cBhvr>
                                        <p:cTn id="148" dur="1" fill="hold">
                                          <p:stCondLst>
                                            <p:cond delay="0"/>
                                          </p:stCondLst>
                                        </p:cTn>
                                        <p:tgtEl>
                                          <p:spTgt spid="425"/>
                                        </p:tgtEl>
                                        <p:attrNameLst>
                                          <p:attrName>style.visibility</p:attrName>
                                        </p:attrNameLst>
                                      </p:cBhvr>
                                      <p:to>
                                        <p:strVal val="visible"/>
                                      </p:to>
                                    </p:set>
                                    <p:animEffect transition="in" filter="fade">
                                      <p:cBhvr>
                                        <p:cTn id="149" dur="500"/>
                                        <p:tgtEl>
                                          <p:spTgt spid="425"/>
                                        </p:tgtEl>
                                      </p:cBhvr>
                                    </p:animEffect>
                                  </p:childTnLst>
                                </p:cTn>
                              </p:par>
                              <p:par>
                                <p:cTn id="153" presetID="10" presetClass="entr" presetSubtype="0" fill="hold" nodeType="withEffect">
                                  <p:stCondLst>
                                    <p:cond delay="0"/>
                                  </p:stCondLst>
                                  <p:childTnLst>
                                    <p:set>
                                      <p:cBhvr>
                                        <p:cTn id="151" dur="1" fill="hold">
                                          <p:stCondLst>
                                            <p:cond delay="0"/>
                                          </p:stCondLst>
                                        </p:cTn>
                                        <p:tgtEl>
                                          <p:spTgt spid="426"/>
                                        </p:tgtEl>
                                        <p:attrNameLst>
                                          <p:attrName>style.visibility</p:attrName>
                                        </p:attrNameLst>
                                      </p:cBhvr>
                                      <p:to>
                                        <p:strVal val="visible"/>
                                      </p:to>
                                    </p:set>
                                    <p:animEffect transition="in" filter="fade">
                                      <p:cBhvr>
                                        <p:cTn id="152" dur="500"/>
                                        <p:tgtEl>
                                          <p:spTgt spid="426"/>
                                        </p:tgtEl>
                                      </p:cBhvr>
                                    </p:animEffect>
                                  </p:childTnLst>
                                </p:cTn>
                              </p:par>
                              <p:par>
                                <p:cTn id="156" presetID="10" presetClass="entr" presetSubtype="0" fill="hold" nodeType="withEffect">
                                  <p:stCondLst>
                                    <p:cond delay="0"/>
                                  </p:stCondLst>
                                  <p:childTnLst>
                                    <p:set>
                                      <p:cBhvr>
                                        <p:cTn id="154" dur="1" fill="hold">
                                          <p:stCondLst>
                                            <p:cond delay="0"/>
                                          </p:stCondLst>
                                        </p:cTn>
                                        <p:tgtEl>
                                          <p:spTgt spid="427"/>
                                        </p:tgtEl>
                                        <p:attrNameLst>
                                          <p:attrName>style.visibility</p:attrName>
                                        </p:attrNameLst>
                                      </p:cBhvr>
                                      <p:to>
                                        <p:strVal val="visible"/>
                                      </p:to>
                                    </p:set>
                                    <p:animEffect transition="in" filter="fade">
                                      <p:cBhvr>
                                        <p:cTn id="155" dur="500"/>
                                        <p:tgtEl>
                                          <p:spTgt spid="427"/>
                                        </p:tgtEl>
                                      </p:cBhvr>
                                    </p:animEffect>
                                  </p:childTnLst>
                                </p:cTn>
                              </p:par>
                              <p:par>
                                <p:cTn id="159" presetID="10" presetClass="entr" presetSubtype="0" fill="hold" nodeType="withEffect">
                                  <p:stCondLst>
                                    <p:cond delay="0"/>
                                  </p:stCondLst>
                                  <p:childTnLst>
                                    <p:set>
                                      <p:cBhvr>
                                        <p:cTn id="157" dur="1" fill="hold">
                                          <p:stCondLst>
                                            <p:cond delay="0"/>
                                          </p:stCondLst>
                                        </p:cTn>
                                        <p:tgtEl>
                                          <p:spTgt spid="428"/>
                                        </p:tgtEl>
                                        <p:attrNameLst>
                                          <p:attrName>style.visibility</p:attrName>
                                        </p:attrNameLst>
                                      </p:cBhvr>
                                      <p:to>
                                        <p:strVal val="visible"/>
                                      </p:to>
                                    </p:set>
                                    <p:animEffect transition="in" filter="fade">
                                      <p:cBhvr>
                                        <p:cTn id="158" dur="500"/>
                                        <p:tgtEl>
                                          <p:spTgt spid="428"/>
                                        </p:tgtEl>
                                      </p:cBhvr>
                                    </p:animEffect>
                                  </p:childTnLst>
                                </p:cTn>
                              </p:par>
                              <p:par>
                                <p:cTn id="162" presetID="10" presetClass="entr" presetSubtype="0" fill="hold" nodeType="withEffect">
                                  <p:stCondLst>
                                    <p:cond delay="0"/>
                                  </p:stCondLst>
                                  <p:childTnLst>
                                    <p:set>
                                      <p:cBhvr>
                                        <p:cTn id="160" dur="1" fill="hold">
                                          <p:stCondLst>
                                            <p:cond delay="0"/>
                                          </p:stCondLst>
                                        </p:cTn>
                                        <p:tgtEl>
                                          <p:spTgt spid="150"/>
                                        </p:tgtEl>
                                        <p:attrNameLst>
                                          <p:attrName>style.visibility</p:attrName>
                                        </p:attrNameLst>
                                      </p:cBhvr>
                                      <p:to>
                                        <p:strVal val="visible"/>
                                      </p:to>
                                    </p:set>
                                    <p:animEffect transition="in" filter="fade">
                                      <p:cBhvr>
                                        <p:cTn id="161"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“Enough” depends on consequence, margin,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E100"/>
          <p:cNvSpPr/>
          <p:nvPr/>
        </p:nvSpPr>
        <p:spPr>
          <a:xfrm>
            <a:off x="566928" y="850000"/>
            <a:ext cx="8010144" cy="1000000"/>
          </a:xfrm>
          <a:prstGeom prst="rect">
            <a:avLst/>
          </a:prstGeom>
          <a:solidFill>
            <a:srgbClr val="FBF8F2"/>
          </a:solidFill>
          <a:ln w="19050">
            <a:solidFill>
              <a:srgbClr val="5C4826"/>
            </a:solidFill>
          </a:ln>
        </p:spPr>
        <p:txBody>
          <a:bodyPr wrap="square" lIns="91440" tIns="0" rIns="91440" bIns="0" anchor="ctr"/>
          <a:lstStyle/>
          <a:p>
            <a:pPr algn="ctr">
              <a:buNone/>
            </a:pPr>
            <a:r>
              <a:rPr lang="en-US" sz="2400" b="1" i="0" dirty="0">
                <a:solidFill>
                  <a:srgbClr val="5C4826"/>
                </a:solidFill>
              </a:rPr>
              <a:t>Evidence is judged against consequence.</a:t>
            </a:r>
          </a:p>
          <a:p>
            <a:pPr algn="ctr">
              <a:buNone/>
            </a:pPr>
            <a:r>
              <a:rPr lang="en-US" sz="2000" b="0" i="1" dirty="0">
                <a:solidFill>
                  <a:srgbClr val="555960"/>
                </a:solidFill>
              </a:rPr>
              <a:t>The same residual uncertainty may be acceptable for a scratchpad and unacceptable for a medical device.</a:t>
            </a:r>
          </a:p>
        </p:txBody>
      </p:sp>
      <p:sp>
        <p:nvSpPr>
          <p:cNvPr id="110" name="B110"/>
          <p:cNvSpPr/>
          <p:nvPr/>
        </p:nvSpPr>
        <p:spPr>
          <a:xfrm>
            <a:off x="566928" y="1950000"/>
            <a:ext cx="3931920" cy="46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QUANTITATIVE: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Specification: p99 ≤ 500 ms</a:t>
            </a:r>
          </a:p>
          <a:p>
            <a:pPr algn="ctr">
              <a:spcBef>
                <a:spcPts val="120"/>
              </a:spcBef>
              <a:buNone/>
            </a:pPr>
            <a:r>
              <a:rPr lang="en-US" sz="2000" b="0" i="0" dirty="0">
                <a:solidFill>
                  <a:srgbClr val="000000"/>
                </a:solidFill>
              </a:rPr>
              <a:t>measured 420 ms → observed margin</a:t>
            </a:r>
          </a:p>
          <a:p>
            <a:pPr algn="ctr">
              <a:buNone/>
            </a:pPr>
            <a:r>
              <a:rPr lang="en-US" sz="2000" b="0" i="0" dirty="0">
                <a:solidFill>
                  <a:srgbClr val="000000"/>
                </a:solidFill>
              </a:rPr>
              <a:t>measured 499 ms → almost no margin</a:t>
            </a:r>
          </a:p>
        </p:txBody>
      </p:sp>
      <p:sp>
        <p:nvSpPr>
          <p:cNvPr id="120" name="B120"/>
          <p:cNvSpPr/>
          <p:nvPr/>
        </p:nvSpPr>
        <p:spPr>
          <a:xfrm>
            <a:off x="4645152" y="1950000"/>
            <a:ext cx="3931920" cy="460000"/>
          </a:xfrm>
          <a:prstGeom prst="rect">
            <a:avLst/>
          </a:prstGeom>
          <a:solidFill>
            <a:srgbClr val="5C4826"/>
          </a:solidFill>
          <a:ln>
            <a:noFill/>
          </a:ln>
        </p:spPr>
        <p:txBody>
          <a:bodyPr wrap="square" lIns="0" tIns="45720" rIns="0" bIns="45720" anchor="ctr"/>
          <a:lstStyle/>
          <a:p>
            <a:pPr algn="ctr">
              <a:buNone/>
            </a:pPr>
            <a:r>
              <a:rPr lang="en-US" sz="2000" b="1" i="0" dirty="0">
                <a:solidFill>
                  <a:srgbClr val="FFFFFF"/>
                </a:solidFill>
              </a:rPr>
              <a:t>DISCRETE: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55960"/>
                </a:solidFill>
              </a:rPr>
              <a:t>authorization bypass · duplicate charge · unexpected state</a:t>
            </a:r>
          </a:p>
          <a:p>
            <a:pPr algn="ctr">
              <a:spcBef>
                <a:spcPts val="160"/>
              </a:spcBef>
              <a:buNone/>
            </a:pPr>
            <a:r>
              <a:rPr lang="en-US" sz="2000" b="1" i="0" dirty="0">
                <a:solidFill>
                  <a:srgbClr val="5C4826"/>
                </a:solidFill>
              </a:rPr>
              <a:t>FAULT → CONTROL BOUNDARY → contained</a:t>
            </a:r>
          </a:p>
          <a:p>
            <a:pPr algn="ctr">
              <a:spcBef>
                <a:spcPts val="120"/>
              </a:spcBef>
              <a:buNone/>
            </a:pPr>
            <a:r>
              <a:rPr lang="en-US" sz="2000" b="0" i="0" dirty="0">
                <a:solidFill>
                  <a:srgbClr val="000000"/>
                </a:solidFill>
              </a:rPr>
              <a:t>permissions · isolation · transactions · quotas · timeouts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24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For quantitative uncertainty, ask how much margin remains.</a:t>
            </a:r>
          </a:p>
          <a:p>
            <a:pPr algn="ctr">
              <a:buNone/>
            </a:pPr>
            <a:r>
              <a:rPr lang="en-US" sz="2000" b="1" i="0" dirty="0">
                <a:solidFill>
                  <a:srgbClr val="FFFFFF"/>
                </a:solidFill>
              </a:rPr>
              <a:t>For discrete behavior, ask how far failure may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P100"/>
          <p:cNvSpPr/>
          <p:nvPr/>
        </p:nvSpPr>
        <p:spPr>
          <a:xfrm>
            <a:off x="620000" y="980000"/>
            <a:ext cx="8000000" cy="1270000"/>
          </a:xfrm>
          <a:prstGeom prst="rect">
            <a:avLst/>
          </a:prstGeom>
          <a:solidFill>
            <a:srgbClr val="FBF8F2"/>
          </a:solidFill>
          <a:ln w="12700">
            <a:solidFill>
              <a:srgbClr val="8E6F3E"/>
            </a:solidFill>
          </a:ln>
        </p:spPr>
        <p:txBody>
          <a:bodyPr wrap="square" lIns="91440" tIns="22860" rIns="91440" bIns="22860" anchor="ctr"/>
          <a:lstStyle/>
          <a:p>
            <a:pPr algn="ctr">
              <a:buNone/>
            </a:pPr>
            <a:r>
              <a:rPr lang="en-US" sz="2000" b="1" i="0" dirty="0">
                <a:solidFill>
                  <a:srgbClr val="57534E"/>
                </a:solidFill>
              </a:rPr>
              <a:t>THE EVIDENCE ON THE TABLE</a:t>
            </a:r>
          </a:p>
          <a:p>
            <a:pPr algn="ctr">
              <a:spcBef>
                <a:spcPts val="120"/>
              </a:spcBef>
              <a:buNone/>
            </a:pPr>
            <a:r>
              <a:rPr lang="en-US" sz="2000" b="0" i="0" dirty="0">
                <a:solidFill>
                  <a:srgbClr val="000000"/>
                </a:solidFill>
              </a:rPr>
              <a:t>Property tests pass. Load model predicts p99 &lt; 500 ms.</a:t>
            </a:r>
          </a:p>
          <a:p>
            <a:pPr algn="ctr">
              <a:buNone/>
            </a:pPr>
            <a:r>
              <a:rPr lang="en-US" sz="2000" b="0" i="0" dirty="0">
                <a:solidFill>
                  <a:srgbClr val="000000"/>
                </a:solidFill>
              </a:rPr>
              <a:t>Production workload untested. One rare double-charge reported.</a:t>
            </a:r>
          </a:p>
          <a:p>
            <a:pPr algn="ctr">
              <a:buNone/>
            </a:pPr>
            <a:r>
              <a:rPr lang="en-US" sz="2000" b="0" i="0" dirty="0">
                <a:solidFill>
                  <a:srgbClr val="000000"/>
                </a:solidFill>
              </a:rPr>
              <a:t>Consequence: real money. No transaction limit, no rollback.</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REFUSE</a:t>
            </a:r>
          </a:p>
        </p:txBody>
      </p:sp>
      <p:sp>
        <p:nvSpPr>
          <p:cNvPr id="130" name="T130"/>
          <p:cNvSpPr txBox="1"/>
          <p:nvPr/>
        </p:nvSpPr>
        <p:spPr>
          <a:xfrm>
            <a:off x="620000" y="4716227"/>
            <a:ext cx="8000000" cy="620000"/>
          </a:xfrm>
          <a:prstGeom prst="rect">
            <a:avLst/>
          </a:prstGeom>
          <a:noFill/>
          <a:ln>
            <a:noFill/>
          </a:ln>
        </p:spPr>
        <p:txBody>
          <a:bodyPr wrap="square" lIns="0" tIns="0" rIns="0" bIns="0" anchor="t"/>
          <a:lstStyle/>
          <a:p>
            <a:pPr algn="ctr">
              <a:buNone/>
            </a:pPr>
            <a:r>
              <a:rPr lang="en-US" sz="2000" b="0" i="1" dirty="0">
                <a:solidFill>
                  <a:srgbClr val="555960"/>
                </a:solidFill>
              </a:rPr>
              <a:t>Justify from: claims covered · strength · representativeness · independence · margin · containment · consequence</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Which action follows from what we now know?</a:t>
            </a:r>
          </a:p>
          <a:p>
            <a:pPr algn="ctr">
              <a:buNone/>
            </a:pPr>
            <a:r>
              <a:rPr lang="en-US" sz="2000" b="1" i="0" dirty="0">
                <a:solidFill>
                  <a:srgbClr val="FFFFFF"/>
                </a:solidFill>
              </a:rPr>
              <a:t>Validation outputs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3"/>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0" animBg="1"/>
      <p:bldP spid="112" grpId="0" animBg="1"/>
      <p:bldP spid="113" grpId="0" animBg="1"/>
      <p:bldP spid="11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B100"/>
          <p:cNvSpPr/>
          <p:nvPr/>
        </p:nvSpPr>
        <p:spPr>
          <a:xfrm>
            <a:off x="566928" y="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CLAIMS</a:t>
            </a:r>
          </a:p>
        </p:txBody>
      </p:sp>
      <p:sp>
        <p:nvSpPr>
          <p:cNvPr id="110" name="P110"/>
          <p:cNvSpPr/>
          <p:nvPr/>
        </p:nvSpPr>
        <p:spPr>
          <a:xfrm>
            <a:off x="2416928" y="950000"/>
            <a:ext cx="385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11" name="P111"/>
          <p:cNvSpPr/>
          <p:nvPr/>
        </p:nvSpPr>
        <p:spPr>
          <a:xfrm>
            <a:off x="2416928" y="1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12" name="P112"/>
          <p:cNvSpPr/>
          <p:nvPr/>
        </p:nvSpPr>
        <p:spPr>
          <a:xfrm>
            <a:off x="2416928" y="2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13" name="P113"/>
          <p:cNvSpPr/>
          <p:nvPr/>
        </p:nvSpPr>
        <p:spPr>
          <a:xfrm>
            <a:off x="2416928" y="3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deliver  ·  gather more  ·  change the system  ·  revisit upstream  ·  refuse</a:t>
            </a:r>
          </a:p>
        </p:txBody>
      </p:sp>
      <p:sp>
        <p:nvSpPr>
          <p:cNvPr id="120" name="E120"/>
          <p:cNvSpPr/>
          <p:nvPr/>
        </p:nvSpPr>
        <p:spPr>
          <a:xfrm>
            <a:off x="6346927" y="993542"/>
            <a:ext cx="2520209" cy="3880000"/>
          </a:xfrm>
          <a:prstGeom prst="rect">
            <a:avLst/>
          </a:prstGeom>
          <a:solidFill>
            <a:srgbClr val="FBF8F2"/>
          </a:solidFill>
          <a:ln w="19050">
            <a:solidFill>
              <a:srgbClr val="5C4826"/>
            </a:solidFill>
          </a:ln>
        </p:spPr>
        <p:txBody>
          <a:bodyPr wrap="square" lIns="45720" tIns="45720" rIns="45720" bIns="45720" anchor="ctr"/>
          <a:lstStyle/>
          <a:p>
            <a:pPr algn="ctr">
              <a:buNone/>
            </a:pPr>
            <a:r>
              <a:rPr lang="en-US" sz="2000" b="1" i="0" dirty="0">
                <a:solidFill>
                  <a:srgbClr val="5C4826"/>
                </a:solidFill>
              </a:rPr>
              <a:t>THE REUSABLE QUESTIONS</a:t>
            </a:r>
          </a:p>
          <a:p>
            <a:pPr algn="l">
              <a:spcBef>
                <a:spcPts val="320"/>
              </a:spcBef>
              <a:buNone/>
            </a:pPr>
            <a:r>
              <a:rPr lang="en-US" sz="2000" b="0" i="0" dirty="0">
                <a:solidFill>
                  <a:srgbClr val="000000"/>
                </a:solidFill>
              </a:rPr>
              <a:t>What is at stake?</a:t>
            </a:r>
          </a:p>
          <a:p>
            <a:pPr algn="l">
              <a:spcBef>
                <a:spcPts val="320"/>
              </a:spcBef>
              <a:buNone/>
            </a:pPr>
            <a:r>
              <a:rPr lang="en-US" sz="2000" b="0" i="0" dirty="0">
                <a:solidFill>
                  <a:srgbClr val="000000"/>
                </a:solidFill>
              </a:rPr>
              <a:t>What must be true?</a:t>
            </a:r>
          </a:p>
          <a:p>
            <a:pPr algn="l">
              <a:spcBef>
                <a:spcPts val="320"/>
              </a:spcBef>
              <a:buNone/>
            </a:pPr>
            <a:r>
              <a:rPr lang="en-US" sz="2000" b="0" i="0" dirty="0">
                <a:solidFill>
                  <a:srgbClr val="000000"/>
                </a:solidFill>
              </a:rPr>
              <a:t>Where must evidence attach?</a:t>
            </a:r>
          </a:p>
          <a:p>
            <a:pPr algn="l">
              <a:spcBef>
                <a:spcPts val="320"/>
              </a:spcBef>
              <a:buNone/>
            </a:pPr>
            <a:r>
              <a:rPr lang="en-US" sz="2000" b="0" i="0" dirty="0">
                <a:solidFill>
                  <a:srgbClr val="000000"/>
                </a:solidFill>
              </a:rPr>
              <a:t>How can we obtain it?</a:t>
            </a:r>
          </a:p>
          <a:p>
            <a:pPr algn="l">
              <a:spcBef>
                <a:spcPts val="320"/>
              </a:spcBef>
              <a:buNone/>
            </a:pPr>
            <a:r>
              <a:rPr lang="en-US" sz="2000" b="0" i="0" dirty="0">
                <a:solidFill>
                  <a:srgbClr val="000000"/>
                </a:solidFill>
              </a:rPr>
              <a:t>How strong is it?</a:t>
            </a:r>
          </a:p>
          <a:p>
            <a:pPr algn="l">
              <a:spcBef>
                <a:spcPts val="320"/>
              </a:spcBef>
              <a:buNone/>
            </a:pPr>
            <a:r>
              <a:rPr lang="en-US" sz="2000" b="0" i="0" dirty="0">
                <a:solidFill>
                  <a:srgbClr val="000000"/>
                </a:solidFill>
              </a:rPr>
              <a:t>Is it enough to act?</a:t>
            </a:r>
          </a:p>
        </p:txBody>
      </p:sp>
      <p:sp>
        <p:nvSpPr>
          <p:cNvPr id="130" name="T130"/>
          <p:cNvSpPr txBox="1"/>
          <p:nvPr/>
        </p:nvSpPr>
        <p:spPr>
          <a:xfrm>
            <a:off x="566928" y="5050000"/>
            <a:ext cx="8010144" cy="680000"/>
          </a:xfrm>
          <a:prstGeom prst="rect">
            <a:avLst/>
          </a:prstGeom>
          <a:noFill/>
          <a:ln>
            <a:noFill/>
          </a:ln>
        </p:spPr>
        <p:txBody>
          <a:bodyPr wrap="square" lIns="0" tIns="0" rIns="0" bIns="0" anchor="t"/>
          <a:lstStyle/>
          <a:p>
            <a:pPr algn="ctr">
              <a:buNone/>
            </a:pPr>
            <a:r>
              <a:rPr lang="en-US" sz="22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8683</TotalTime>
  <Words>16482</Words>
  <Application>Microsoft Macintosh PowerPoint</Application>
  <PresentationFormat>On-screen Show (4:3)</PresentationFormat>
  <Paragraphs>1394</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Consolas</vt:lpstr>
      <vt:lpstr>Times</vt:lpstr>
      <vt:lpstr>Purdue1</vt:lpstr>
      <vt:lpstr>PowerPoint Presentation</vt:lpstr>
      <vt:lpstr>What would justify delivering this system?</vt:lpstr>
      <vt:lpstr>How sure do we need to be?</vt:lpstr>
      <vt:lpstr>Validation is a decision under uncertainty</vt:lpstr>
      <vt:lpstr>Claims become more precise toward implementation</vt:lpstr>
      <vt:lpstr>Why not just test the whole system?</vt:lpstr>
      <vt:lpstr>One claim, several scopes of evidence</vt:lpstr>
      <vt:lpstr>The V: models and evidence at matching scopes</vt:lpstr>
      <vt:lpstr>Three ways to obtain evidence</vt:lpstr>
      <vt:lpstr>Three ways to obtain evidence</vt:lpstr>
      <vt:lpstr>Which one is different?</vt:lpstr>
      <vt:lpstr>Now find the defect</vt:lpstr>
      <vt:lpstr>🧙 MAGE Moment: attention does not scale</vt:lpstr>
      <vt:lpstr>Three ways to obtain evidence</vt:lpstr>
      <vt:lpstr>Reasoning over possible behavior</vt:lpstr>
      <vt:lpstr>Static analysis tracks possibilities, not runs</vt:lpstr>
      <vt:lpstr>What analysis inherits from abstraction</vt:lpstr>
      <vt:lpstr>Model checking searches modeled behavior</vt:lpstr>
      <vt:lpstr>Three ways to obtain evidence</vt:lpstr>
      <vt:lpstr>Observing execution (Testing)</vt:lpstr>
      <vt:lpstr>Stretch break</vt:lpstr>
      <vt:lpstr>Choosing Evidence</vt:lpstr>
      <vt:lpstr>Testing requires an oracle</vt:lpstr>
      <vt:lpstr>Known answers and known properties</vt:lpstr>
      <vt:lpstr>When answers are unavailable, relate executions</vt:lpstr>
      <vt:lpstr>Weak self-oracles enable enormous search</vt:lpstr>
      <vt:lpstr>Another implementation can become the oracle</vt:lpstr>
      <vt:lpstr>Different strategies expose different failures</vt:lpstr>
      <vt:lpstr>Evidence strength has dimensions</vt:lpstr>
      <vt:lpstr>Does more data give us more confidence?</vt:lpstr>
      <vt:lpstr>“Enough” depends on consequence, margin, containment</vt:lpstr>
      <vt:lpstr>What should we do now?</vt:lpstr>
      <vt:lpstr>The Assurance Case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410</cp:revision>
  <dcterms:created xsi:type="dcterms:W3CDTF">2020-02-21T23:00:33Z</dcterms:created>
  <dcterms:modified xsi:type="dcterms:W3CDTF">2026-09-22T01:51:27Z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