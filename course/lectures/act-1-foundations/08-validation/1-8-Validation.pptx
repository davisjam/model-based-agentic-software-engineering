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09" r:id="rId25"/>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engineering model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Plant the governing model early so the lecture has a destination.</a:t>
            </a:r>
          </a:p>
          <a:p/>
          <a:p>
            <a:r>
              <a:t>• Build the spine one element at a time: CLAIM, EVIDENCE, JUDGMENT, ACTION — with the question each element answers.</a:t>
            </a:r>
          </a:p>
          <a:p>
            <a:r>
              <a:t>• Name the term Assurance Case now; do not teach GSN or any notation. They need the idea, not the diagram language.</a:t>
            </a:r>
          </a:p>
          <a:p>
            <a:r>
              <a:t>• Do NOT imply the only action is delivery. Delivery motivates the lecture, but evidence may justify gathering more, changing the system, revisiting upstream, or refusing.</a:t>
            </a:r>
          </a:p>
          <a:p>
            <a:r>
              <a:t>• The assurance case is the lecture's organizing frame, populated progressively using the payment example. The footer promise is real — we return to this structure on the final slide; make the promise explicitly.</a:t>
            </a:r>
          </a:p>
          <a:p/>
          <a:p>
            <a:r>
              <a:t>=====</a:t>
            </a:r>
          </a:p>
          <a:p/>
          <a:p>
            <a:r>
              <a:t>Before any technique, here is the shape of the whole subject.</a:t>
            </a:r>
          </a:p>
          <a:p/>
          <a:p>
            <a:r>
              <a:t>ANIMATE</a:t>
            </a:r>
          </a:p>
          <a:p/>
          <a:p>
            <a:r>
              <a:t>A claim: what must be true?</a:t>
            </a:r>
          </a:p>
          <a:p/>
          <a:p>
            <a:r>
              <a:t>ANIMATE</a:t>
            </a:r>
          </a:p>
          <a:p/>
          <a:p>
            <a:r>
              <a:t>Evidence: what evidence bears on it?</a:t>
            </a:r>
          </a:p>
          <a:p/>
          <a:p>
            <a:r>
              <a:t>ANIMATE</a:t>
            </a:r>
          </a:p>
          <a:p/>
          <a:p>
            <a:r>
              <a:t>Judgment: how strong is that evidence — and is it enough?</a:t>
            </a:r>
          </a:p>
          <a:p/>
          <a:p>
            <a:r>
              <a:t>ANIMATE</a:t>
            </a:r>
          </a:p>
          <a:p/>
          <a:p>
            <a:r>
              <a:t>Action: what should we do?</a:t>
            </a:r>
          </a:p>
          <a:p/>
          <a:p>
            <a:r>
              <a:t>ANIMATE</a:t>
            </a:r>
          </a:p>
          <a:p/>
          <a:p>
            <a:r>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p>
            <a:r>
              <a:t>ANIMATE</a:t>
            </a:r>
          </a:p>
          <a:p/>
          <a:p>
            <a:r>
              <a:t>One caution before we start: delivery is the action this lecture asks about, but it is not the only possible action. Evidence can send you back — to gather more, to change the system, to revisit an upstream decision, or to refuse.</a:t>
            </a:r>
          </a:p>
          <a:p>
            <a:r>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sufficient evidence under uncertainty, not proof.</a:t>
            </a:r>
          </a:p>
          <a:p>
            <a:endParaRPr lang="en-US" dirty="0"/>
          </a:p>
          <a:p>
            <a:r>
              <a:rPr lang="en-US" b="0" i="0" dirty="0"/>
              <a:t>• Core move: validation asks what evidence JUSTIFIES ACTING, not for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Recover the chain of models — the left leg, earned before any V is drawn.</a:t>
            </a:r>
          </a:p>
          <a:p/>
          <a:p>
            <a:r>
              <a:t>• Draw only this leg. There is no reason to draw a V yet — the right side has to be earned.</a:t>
            </a:r>
          </a:p>
          <a:p>
            <a:r>
              <a:t>• The chain is the payoff of the previous four lectures, compressed.</a:t>
            </a:r>
          </a:p>
          <a:p>
            <a:r>
              <a:t>• The running claim enters here, attached to the Specification: a submitted payment shall cause at most one charge. It stays on the board for the rest of the lecture.</a:t>
            </a:r>
          </a:p>
          <a:p>
            <a:r>
              <a:t>• Validation does not invent consequential claims. It inherits them from the engineering models that led to the implementation.</a:t>
            </a:r>
          </a:p>
          <a:p>
            <a:r>
              <a:t>• Levels are convenient, not a law: the middle refines as far as the engineering problem requires. The nadir is the Implementation.</a:t>
            </a:r>
          </a:p>
          <a:p/>
          <a:p>
            <a:r>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t>• The claim now EVOLVES down the chain on the slide: world outcome → machine obligation → system / subsystem / mechanism responsibilities → realization. Walk each fragment as its level appears.</a:t>
            </a:r>
          </a:p>
          <a:p>
            <a:r>
              <a:t>• The requirement concerns the world: what happens to the customer. The specification translates that into an obligation on the machine. Architecture and design refine the obligation into responsibilities and mechanisms. Implementation realizes those mechanisms.</a:t>
            </a:r>
          </a:p>
          <a:p>
            <a:r>
              <a:t>• Even perfect machine-side evidence establishes only the machine-side claim under the assumptions represented by our models. If the payment provider's actual semantics differ from our assumed semantics, the world-level outcome may still fail.</a:t>
            </a:r>
          </a:p>
          <a:p>
            <a:r>
              <a:t>• The implementation fragment is record-BEFORE-charge (lookup ID → record ID → charge provider) — deliberately consistent with the rule stated on slide 12; the defect there is the inversion of exactly this sequence.</a:t>
            </a:r>
          </a:p>
          <a:p>
            <a:r>
              <a:t>=====</a:t>
            </a:r>
          </a:p>
          <a:p/>
          <a:p>
            <a:r>
              <a:t>Before we can say where evidence attaches, we need the thing it attaches to. This is the chain you have been building all term.</a:t>
            </a:r>
          </a:p>
          <a:p/>
          <a:p>
            <a:r>
              <a:t>ANIMATE</a:t>
            </a:r>
          </a:p>
          <a:p/>
          <a:p>
            <a:r>
              <a:t>Requirements: what the world must get.</a:t>
            </a:r>
          </a:p>
          <a:p/>
          <a:p>
            <a:r>
              <a:t>ANIMATE</a:t>
            </a:r>
          </a:p>
          <a:p/>
          <a:p>
            <a:r>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p>
            <a:r>
              <a:t>ANIMATE</a:t>
            </a:r>
          </a:p>
          <a:p/>
          <a:p>
            <a:r>
              <a:t>Architecture and design: how. And these refine —</a:t>
            </a:r>
          </a:p>
          <a:p/>
          <a:p>
            <a:r>
              <a:t>ANIMATE</a:t>
            </a:r>
          </a:p>
          <a:p/>
          <a:p>
            <a:r>
              <a:t>— system organization, subsystem, mechanism. The number of levels is not fixed by anything; you refine as far as the engineering problem requires.</a:t>
            </a:r>
          </a:p>
          <a:p/>
          <a:p>
            <a:r>
              <a:t>ANIMATE</a:t>
            </a:r>
          </a:p>
          <a:p/>
          <a:p>
            <a:r>
              <a:t>And the implementation: the machine you actually built.</a:t>
            </a:r>
          </a:p>
          <a:p/>
          <a:p>
            <a:r>
              <a:t>ANIMATE</a:t>
            </a:r>
          </a:p>
          <a:p/>
          <a:p>
            <a:r>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The V is a summary of what we just derived: down the models, across the implementation trough, back up the evidence scopes.</a:t>
            </a:r>
          </a:p>
          <a:p/>
          <a:p>
            <a:r>
              <a:t>• Now — and only now — draw the right leg. The aha is that the V is a summary, not a doctrine.</a:t>
            </a:r>
          </a:p>
          <a:p>
            <a:r>
              <a:t>• The shape: left leg = increasingly concrete models and claims; the bottom trough = the implementation exists, and the smallest evidence scope attaches directly to it; right leg = evidence scopes expanding outward. Implementation is the bottom-LEFT endpoint, Unit the bottom-RIGHT; the trough joins them. This resolves the old "Unit dangling without a left counterpart" asymmetry WITHOUT claiming "unit" is an engineering model.</a:t>
            </a:r>
          </a:p>
          <a:p>
            <a:r>
              <a:t>• The motion is the pedagogy: down the model chain (students just saw it on slide 5), ACROSS the trough from Implementation to Unit, then climb Unit → Integration → System → Acceptance, each with its dotted pairing line.</a:t>
            </a:r>
          </a:p>
          <a:p>
            <a:r>
              <a:t>• The dotted lines are the content: a property expressed at one modeling scope requires evidence capable of establishing it at the corresponding scope. Acceptance sits at the top of the right leg because it pairs with requirements.</a:t>
            </a:r>
          </a:p>
          <a:p>
            <a:r>
              <a:t>• Then attach the conventional vocabulary — unit, integration, system, acceptance — to the concept they already hold. These words name SCOPES, not evidence mechanisms.</a:t>
            </a:r>
          </a:p>
          <a:p>
            <a:r>
              <a:t>• Warn against reading it as a law: evidence tends to attach at corresponding scopes. The V is a useful organizing model, not a law saying every left-hand artifact has exactly one matching validation activity.</a:t>
            </a:r>
          </a:p>
          <a:p>
            <a:r>
              <a:t>• Stress the relativity: your "unit" is somebody else's "system". Arguing about which word is correct is wasted time; the question underneath — where does this property live? — is not relative.</a:t>
            </a:r>
          </a:p>
          <a:p>
            <a:r>
              <a:t>• (scope definitions, notes-only; say them as you climb the right leg) Unit — a chosen part in isolation. Integration — interactions among parts. System — the assembled system at a boundary. Acceptance — the delivered system achieving its purpose in the world. Left-leg glosses: Requirements — world outcomes; Specification — machine obligations under environment assumptions; Architecture and design — progressively more precise engineering models, refined as far as the problem requires.</a:t>
            </a:r>
          </a:p>
          <a:p/>
          <a:p>
            <a:r>
              <a:t>=====</a:t>
            </a:r>
          </a:p>
          <a:p/>
          <a:p>
            <a:r>
              <a:t>You have seen a V before, probably presented as a process. Watch where this one comes from. The left side: the chain of models we recovered two slides ago — nothing new. Watch it come down.</a:t>
            </a:r>
          </a:p>
          <a:p/>
          <a:p>
            <a:r>
              <a:t>ANIMATE</a:t>
            </a:r>
          </a:p>
          <a:p/>
          <a:p>
            <a:r>
              <a:t>Requirements.</a:t>
            </a:r>
          </a:p>
          <a:p/>
          <a:p>
            <a:r>
              <a:t>ANIMATE</a:t>
            </a:r>
          </a:p>
          <a:p/>
          <a:p>
            <a:r>
              <a:t>Specification.</a:t>
            </a:r>
          </a:p>
          <a:p/>
          <a:p>
            <a:r>
              <a:t>ANIMATE</a:t>
            </a:r>
          </a:p>
          <a:p/>
          <a:p>
            <a:r>
              <a:t>Architecture and design.</a:t>
            </a:r>
          </a:p>
          <a:p/>
          <a:p>
            <a:r>
              <a:t>ANIMATE</a:t>
            </a:r>
          </a:p>
          <a:p/>
          <a:p>
            <a:r>
              <a:t>And the implementation — the machine you actually built. The chain bottoms out here, at the bottom-left.</a:t>
            </a:r>
          </a:p>
          <a:p/>
          <a:p>
            <a:r>
              <a:t>ANIMATE</a:t>
            </a:r>
          </a:p>
          <a:p/>
          <a:p>
            <a:r>
              <a:t>Now cross the floor. The implementation exists — and the smallest scope of evidence attaches directly to it. The industry word for that scope is Unit: a chosen part in isolation.</a:t>
            </a:r>
          </a:p>
          <a:p/>
          <a:p>
            <a:r>
              <a:t>ANIMATE</a:t>
            </a:r>
          </a:p>
          <a:p/>
          <a:p>
            <a:r>
              <a:t>From there the evidence expands. Integration: interactions among parts — and follow the dotted line: it pairs with the architecture, because that is where the parts and their interactions were decided.</a:t>
            </a:r>
          </a:p>
          <a:p/>
          <a:p>
            <a:r>
              <a:t>ANIMATE</a:t>
            </a:r>
          </a:p>
          <a:p/>
          <a:p>
            <a:r>
              <a:t>System: the assembled system at a boundary — paired with the specification, the machine's obligations at its boundary.</a:t>
            </a:r>
          </a:p>
          <a:p/>
          <a:p>
            <a:r>
              <a:t>ANIMATE</a:t>
            </a:r>
          </a:p>
          <a:p/>
          <a:p>
            <a:r>
              <a:t>Acceptance: the delivered system achieving its purpose in the world — paired with requirements, because that is where the required outcome lives.</a:t>
            </a:r>
          </a:p>
          <a:p/>
          <a:p>
            <a:r>
              <a:t>The V is not a development process anybody has to follow. It is a summary of a relationship we derived: each model has a scope at which its claims can actually be checked. Two cautions. These words are relative — your team's unit is, from inside, a system with its own architecture. And evidence TENDS to attach at corresponding scopes — the V is an organizing model, not a law that every left-hand artifact has exactly one matching validation activity. The words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two-part argument on screen, and take them in that order — reality first, then the phenomenon that explains it. LEFT, the concrete anchor: airport security screening, a consequential real-world inspection task, where trained screeners are covertly tested against planted threats (GAO-19-374). RIGHT, the general result that explains it: rare targets are disproportionately missed in visual search (Wolfe et al., Nature 2005).</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Start with reality, not with papers. Airport security screening — a consequential real-world inspection task, staffed by trained professionals whose whole job is to look. Screening agencies run covert tests against their own inspectors, because professional inspection is a capacity-limited control. Humans miss rare targets even there.</a:t>
            </a:r>
          </a:p>
          <a:p>
            <a:r>
              <a:rPr lang="en-US" b="0" i="0" dirty="0"/>
              <a:t>Then the phenomenon underneath it: rare targets are disproportionately missed in visual search — Wolfe and colleagues in Nature. That is not a fact about screeners. It is a fact about looking.</a:t>
            </a:r>
          </a:p>
          <a:p>
            <a:r>
              <a:rPr lang="en-US" b="0" i="0" dirty="0"/>
              <a:t>(Assigned reading, worth naming here even though it is off the slide: Warm, Parasuraman and Matthews show sustained vigilance is hard mental work that consumes attention and produces workload and stress. That is the mechanism behind both boxes.)</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The common idea behind static analysis and model checking.</a:t>
            </a:r>
          </a:p>
          <a:p/>
          <a:p>
            <a:r>
              <a:t>• Land the category's own move first, in two halves: THE REPRESENTATION — an abstraction, or an explicit model, of what the software can do — and THE CONCLUSION it supports: what can or cannot happen, over every behavior that representation admits. Do NOT re-run the comparison against testing; the three mechanisms were contrasted once, on the map, and this slide is about this category's own epistemology.</a:t>
            </a:r>
          </a:p>
          <a:p>
            <a:r>
              <a:t>• Then the choices every formal technique makes: the representation, which behaviors it includes, the property, the assumptions, the bounds or approximations. Those choices ARE the technique.</a:t>
            </a:r>
          </a:p>
          <a:p>
            <a:r>
              <a:t>• Introduce the two techniques that follow: abstract static analysis reasons over an abstraction; model checking searches behaviors admitted by an explicit model, often within explicit bounds.</a:t>
            </a:r>
          </a:p>
          <a:p>
            <a:r>
              <a:t>• Do not present this as a rigid taxonomy of all formal methods. It is a conceptual comparison for this course.</a:t>
            </a:r>
          </a:p>
          <a:p/>
          <a:p>
            <a:r>
              <a:t>=====</a:t>
            </a:r>
          </a:p>
          <a:p/>
          <a:p>
            <a:r>
              <a:t>This category reasons about what the software COULD do. Build a representation of its behavior, then ask what that representation permits.</a:t>
            </a:r>
          </a:p>
          <a:p/>
          <a:p>
            <a:r>
              <a:t>ANIMATE</a:t>
            </a:r>
          </a:p>
          <a:p/>
          <a:p>
            <a:r>
              <a:t>The representation — an abstraction, or an explicit model, of what the software can do. And the conclusion it supports: what can or cannot happen in it, over every behavior it represents. Those two halves are the whole category.</a:t>
            </a:r>
          </a:p>
          <a:p/>
          <a:p>
            <a:r>
              <a:t>ANIMATE</a:t>
            </a:r>
          </a:p>
          <a:p/>
          <a:p>
            <a:r>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p>
            <a:r>
              <a:t>ANIMATE</a:t>
            </a:r>
          </a:p>
          <a:p/>
          <a:p>
            <a:r>
              <a:t>Two techniques for this course. Abstract static analysis: reason over an abstraction of possible program behavior. Model checking: search the behaviors an explicit model admits, often up to a stated bound. One each, next two slides.</a:t>
            </a:r>
          </a:p>
          <a:p/>
          <a:p>
            <a:r>
              <a:t>ANIMATE</a:t>
            </a:r>
          </a:p>
          <a:p/>
          <a:p>
            <a:r>
              <a:t>This is not a rigid taxonomy of all formal methods — it is the conceptual comparison an undergraduate needs: the conclusion is limited by the representation and its assumptions.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“the analyzer represents SETS of possible values and propagates those possibilities through the program, so what it establishes at a point holds for every value at once.” That intuition must land BEFORE soundness, false positives, or abstraction loss — those come on the next slide.</a:t>
            </a:r>
          </a:p>
          <a:p>
            <a:r>
              <a:rPr lang="en-US" b="0" i="0" dirty="0"/>
              <a:t>• The shape of the slide, in order: PROGRAM → abstraction → what the analyzer knows at each point → a finding, or an established property. Teach it in that order and the slide carries itself.</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for every amount this service can ever receive? There are a lot of amounts.</a:t>
            </a:r>
          </a:p>
          <a:p>
            <a:r>
              <a:rPr lang="en-US" b="0" i="0" dirty="0"/>
              <a:t>The analyzer never runs the program. It builds an abstraction of it and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We represented sets of possible values and propagated those possibilities through the program. That is static analysis — and the conclusion is only as strong as the abstraction it reasons over, and the guarantees that abstraction carries. What that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The properties, now that the mechanism is felt: the diagram teaches; the qualifications are spoken, not typeset.</a:t>
            </a:r>
          </a:p>
          <a:p/>
          <a:p>
            <a:r>
              <a:t>• The previous slide showed the move; this one shows its price. Do NOT expand into a formal-methods lecture on soundness and completeness — the goal is only that students understand why the technique reasons broadly and why that breadth costs precision.</a:t>
            </a:r>
          </a:p>
          <a:p>
            <a:r>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t>• Then the picture — and the picture is the whole slide: real program behaviors, abstracted into the possible behaviors the analyzer sees; some impossible behaviors may remain.</a:t>
            </a:r>
          </a:p>
          <a:p>
            <a:r>
              <a:t>• (spoken, not typeset) A conservative abstraction intentionally over-approximates relevant program behavior. For the property being analyzed, it is designed not to discard a real violating behavior represented by the analysis. The price is that the abstraction may retain impossible behaviors, producing false positives.</a:t>
            </a:r>
          </a:p>
          <a:p>
            <a:r>
              <a:t>• (spoken) This guarantee is often described as soundness. Do not dwell on the term unless students ask; the conceptual point is more important here.</a:t>
            </a:r>
          </a:p>
          <a:p>
            <a:r>
              <a:t>• (spoken) If the analyzer finds a possible violation, it may be real or an artifact of abstraction. If it proves the relevant violation impossible in a sound abstraction, that result can support a conclusion about the represented real behaviors.</a:t>
            </a:r>
          </a:p>
          <a:p>
            <a:r>
              <a:t>• The closer is a CLASS QUESTION — what can we conclude about the real program from what we proved about the abstraction? Do NOT animate an answer; let it actually be a question.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p>
            <a:r>
              <a:t>=====</a:t>
            </a:r>
          </a:p>
          <a:p/>
          <a:p>
            <a:r>
              <a:t>You now know the move. Here is the bill.</a:t>
            </a:r>
          </a:p>
          <a:p>
            <a:r>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p>
            <a:r>
              <a:t>ANIMATE</a:t>
            </a:r>
          </a:p>
          <a:p/>
          <a:p>
            <a:r>
              <a:t>Here is the same fact as a picture. The real program has some set of behaviors.</a:t>
            </a:r>
          </a:p>
          <a:p/>
          <a:p>
            <a:r>
              <a:t>ANIMATE</a:t>
            </a:r>
          </a:p>
          <a:p/>
          <a:p>
            <a:r>
              <a:t>The abstraction hands the analyzer a larger, simpler set that contains it.</a:t>
            </a:r>
          </a:p>
          <a:p/>
          <a:p>
            <a:r>
              <a:t>ANIMATE</a:t>
            </a:r>
          </a:p>
          <a:p/>
          <a:p>
            <a:r>
              <a:t>Everything the analyzer establishes, it establishes for the larger set — which is why its guarantees cover every real behavior. And some of what it reports lives in the surplus: behaviors the real system cannot exhibit. That sentence is the whole economics of static analysis. Said precisely, for the modeled property: a real violation the abstraction represents is not silently discarded — and impossible violations may also be reported. Both halves come from the same place, the breadth of the abstraction.</a:t>
            </a:r>
          </a:p>
          <a:p/>
          <a:p>
            <a:r>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Model checking: search the modeled behaviors; two outcomes, one thin qualification, and a closing question the slide no longer answers for them.</a:t>
            </a:r>
          </a:p>
          <a:p/>
          <a:p>
            <a:r>
              <a:t>• Three pieces, in this order: the PROPERTY — balance never negative, stated explicitly; the MODEL — the behavior we chose to represent; and the SEARCH — every state that model can reach, up to bound k. Then the two outcomes.</a:t>
            </a:r>
          </a:p>
          <a:p>
            <a:r>
              <a:t>• The two outcomes are deliberately not YES/NO: COUNTEREXAMPLE FOUND — a trace that violates the property, exact and reproducible by construction (the practically useful branch). NONE FOUND — no violation within the model and bound. Say the full qualification aloud every time: no violation within the modeled behaviors, that semantics, those assumptions, and that bound.</a:t>
            </a:r>
          </a:p>
          <a:p>
            <a:r>
              <a:t>• The thin strip carries the claim's fine print: the model, the property, the assumptions, the semantics, and the bound are all part of the claim. If someone says "formally verified" and cannot state those, they have not stated a result. Say the three limits out loud too, because they are where the technique actually bites. STATE EXPLOSION: the reachable state space grows explosively with concurrency, data width, and message ordering, which is why exploration is bounded rather than unlimited. BOUNDS: "up to depth k" is a real qualification, not a formality. MODEL FIDELITY: the result is about the model somebody wrote, and a wrong model can be exhaustively checked.</a:t>
            </a:r>
          </a:p>
          <a:p>
            <a:r>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r>
              <a:t>• The closer is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 It is powerful precisely because the slide has stopped answering it beforehand.</a:t>
            </a:r>
          </a:p>
          <a:p/>
          <a:p>
            <a:r>
              <a:t>=====</a:t>
            </a:r>
          </a:p>
          <a:p/>
          <a:p>
            <a:r>
              <a:t>One assertion: balance is never negative.</a:t>
            </a:r>
          </a:p>
          <a:p/>
          <a:p>
            <a:r>
              <a:t>ANIMATE</a:t>
            </a:r>
          </a:p>
          <a:p/>
          <a:p>
            <a:r>
              <a:t>The model: the deposits, withdrawals and interleavings we chose to represent — together with the property that assertion states.</a:t>
            </a:r>
          </a:p>
          <a:p/>
          <a:p>
            <a:r>
              <a:t>ANIMATE</a:t>
            </a:r>
          </a:p>
          <a:p/>
          <a:p>
            <a:r>
              <a:t>Then the search, and the word that matters is systematic: is there ANY sequence of choices the model admits, up to depth k, that makes it fail? Not some of them — every one the bound reaches.</a:t>
            </a:r>
          </a:p>
          <a:p/>
          <a:p>
            <a:r>
              <a:t>ANIMATE</a:t>
            </a:r>
          </a:p>
          <a:p/>
          <a:p>
            <a:r>
              <a:t>One outcome: a counterexample — the exact sequence of choices that breaks it. That is the single most useful artifact in this lecture, because it is reproducible by construction.</a:t>
            </a:r>
          </a:p>
          <a:p/>
          <a:p>
            <a:r>
              <a:t>ANIMATE</a:t>
            </a:r>
          </a:p>
          <a:p/>
          <a:p>
            <a:r>
              <a:t>The other: none found — no violation within the model and bound. Say the whole sentence. It is a precise and valuable claim, and it is not "the program is correct."</a:t>
            </a:r>
          </a:p>
          <a:p/>
          <a:p>
            <a:r>
              <a:t>ANIMATE</a:t>
            </a:r>
          </a:p>
          <a:p/>
          <a:p>
            <a:r>
              <a:t>The fine print, kept thin on purpose: the model, the assumptions, the semantics, and the bound define the claim. Someone who says "formally verified" and cannot tell you those has not told you a result.</a:t>
            </a:r>
          </a:p>
          <a:p/>
          <a:p>
            <a:r>
              <a:t>ANIMATE</a:t>
            </a:r>
          </a:p>
          <a:p/>
          <a:p>
            <a:r>
              <a:t>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p>
            <a:r>
              <a:t>ANIMATE</a:t>
            </a:r>
          </a:p>
          <a:p/>
          <a:p>
            <a:r>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minutes — Observing execution: the pipeline, the continuum, and the coverage TPS.</a:t>
            </a:r>
          </a:p>
          <a:p/>
          <a:p>
            <a:r>
              <a:t>• The four-step pipeline first: pick inputs, run, observe, oracle. Everybody in the room has done all four.</a:t>
            </a:r>
          </a:p>
          <a:p>
            <a:r>
              <a:t>• The continuum IS the figure: simulated to real. Simulation buys speed, repeatability, control, cost. Fidelity buys evidence under the actual delivery conditions.</a:t>
            </a:r>
          </a:p>
          <a:p>
            <a:r>
              <a:t>• (moved from slide — give these orally) Engineers substitute constantly: network connection → servers on localhost; external service → local simulated service; failures / time → controlled simulation. Also filesystem-backed queues and generated workloads.</a:t>
            </a:r>
          </a:p>
          <a:p>
            <a:r>
              <a:t>• Testing always executes in some environment. The environment may replace networks, services, clocks, failures, devices, users, or workloads with controlled substitutes. That buys controllability and repeatability, but evidence about behavior that depends on omitted or incorrectly simulated conditions does not transfer automatically to deployment.</a:t>
            </a:r>
          </a:p>
          <a:p>
            <a:r>
              <a:t>• The one sentence on the slide: a test cannot establish behavior that depends on what its environment omitted. This foreshadows representativeness in the evidence-strength section.</a:t>
            </a:r>
          </a:p>
          <a:p>
            <a:r>
              <a:t>• Then the TPS. Hand them the 100% coverage result and ask what it licenses. Let pairs run about ninety seconds; take three or four answers. Expected: "every line ran", "every branch went both ways", and — from somebody — "so it's tested." That third one is the misconception.</a:t>
            </a:r>
          </a:p>
          <a:p>
            <a:r>
              <a:t>• Stop collecting the moment someone says "but it doesn't mean it's right" — that is the debrief cue.</a:t>
            </a:r>
          </a:p>
          <a:p>
            <a:r>
              <a:t>• Debrief into the closer,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p>
            <a:r>
              <a:t>=====</a:t>
            </a:r>
          </a:p>
          <a:p/>
          <a:p>
            <a:r>
              <a:t>Run the software and observe what happens. Four steps: pick inputs, run, observe the behavior, compare against an oracle. Everyone here has done all four.</a:t>
            </a:r>
          </a:p>
          <a:p/>
          <a:p>
            <a:r>
              <a:t>ANIMATE</a:t>
            </a:r>
          </a:p>
          <a:p/>
          <a:p>
            <a:r>
              <a:t>Now the dimension people forget. Testing need not execute in the actual delivery environment — place any test you run on this continuum, from simulated to real. We substitute constantly: the network becomes servers on localhost, the external service becomes a local simulation, failures and time are injected on demand.</a:t>
            </a:r>
          </a:p>
          <a:p/>
          <a:p>
            <a:r>
              <a:t>ANIMATE</a:t>
            </a:r>
          </a:p>
          <a:p/>
          <a:p>
            <a:r>
              <a:t>That is a trade. Simulation buys speed, repeatability, controllability, and cost. Fidelity buys the thing simulation cannot: evidence about behavior under the actual delivery conditions.</a:t>
            </a:r>
          </a:p>
          <a:p/>
          <a:p>
            <a:r>
              <a:t>ANIMATE</a:t>
            </a:r>
          </a:p>
          <a:p/>
          <a:p>
            <a:r>
              <a:t>And the price, in one sentence: a test cannot establish behavior that depends on what its environment omitted. We will meet this again as representativeness.</a:t>
            </a:r>
          </a:p>
          <a:p/>
          <a:p>
            <a:r>
              <a:t>ANIMATE</a:t>
            </a:r>
          </a:p>
          <a:p/>
          <a:p>
            <a:r>
              <a:t>Now — think, pair, share. Statement and condition coverage both reached 100 percent. What have we established, and what have we not? Ninety seconds.</a:t>
            </a:r>
          </a:p>
          <a:p>
            <a:r>
              <a:t>Take answers. Every line ran. Every branch went both ways. And — someone will say it — "so it's tested." Push once: does a line running tell you anything checked what it did? Stop the moment someone says "it doesn't mean it's right."</a:t>
            </a:r>
          </a:p>
          <a:p/>
          <a:p>
            <a:r>
              <a:t>ANIMATE</a:t>
            </a:r>
          </a:p>
          <a:p/>
          <a:p>
            <a:r>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metamorphic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From known answers to known properties: spend the time on the move.</a:t>
            </a:r>
          </a:p>
          <a:p>
            <a:endParaRPr lang="en-US" dirty="0"/>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dirty="0"/>
          </a:p>
          <a:p>
            <a:r>
              <a:rPr lang="en-US" b="0" i="0" dirty="0"/>
              <a:t>=====</a:t>
            </a:r>
          </a:p>
          <a:p>
            <a:endParaRPr lang="en-US" dirty="0"/>
          </a:p>
          <a:p>
            <a:r>
              <a:rPr lang="en-US" b="0" i="0" dirty="0"/>
              <a:t>Two strategies, one slide, because the second is best understood as a move away from the first.</a:t>
            </a:r>
          </a:p>
          <a:p>
            <a:endParaRPr lang="en-US" dirty="0"/>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dirty="0"/>
          </a:p>
          <a:p>
            <a:r>
              <a:rPr lang="en-US" b="0" i="0" dirty="0"/>
              <a:t>ANIMATE</a:t>
            </a:r>
          </a:p>
          <a:p>
            <a:endParaRPr lang="en-US" dirty="0"/>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dirty="0"/>
          </a:p>
          <a:p>
            <a:r>
              <a:rPr lang="en-US" b="0" i="0" dirty="0"/>
              <a:t>ANIMATE</a:t>
            </a:r>
          </a:p>
          <a:p>
            <a:endParaRPr lang="en-US" dirty="0"/>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Metamorphic testing as a visual reasoning exercise: relate executions when the answer is unavailable.</a:t>
            </a:r>
          </a:p>
          <a:p/>
          <a:p>
            <a:r>
              <a:t>• Build the figure first: an image, a process f, an output y. Rotate the input, run the SAME f, get y′. The oracle is a relation R(y, y′) — not what either answer IS, but how the two must relate.</a:t>
            </a:r>
          </a:p>
          <a:p>
            <a:r>
              <a:t>• Then the exercise. f is an edge detector. Solicit relations for each candidate transformation BEFORE revealing anything: what should rotation do to the output? Flip? A uniform brightness shift?</a:t>
            </a:r>
          </a:p>
          <a:p>
            <a:r>
              <a:t>• Do NOT assert that all three transformations commute with an arbitrary image operation — that is the intellectual point: whether a metamorphic relation holds depends on what f is.</a:t>
            </a:r>
          </a:p>
          <a:p>
            <a:r>
              <a:t>• Expected discussion: rotate → the edge map rotates correspondingly; flip → the output flips correspondingly; a uniform brightness shift may preserve edges under some edge definitions and implementations but not universally — a genuine assumptions discussion; let it run.</a:t>
            </a:r>
          </a:p>
          <a:p>
            <a:r>
              <a:t>• Only after the discussion, reveal the one clean relation: edge_detect(rotate(x)) = rotate(edge_detect(x)).</a:t>
            </a:r>
          </a:p>
          <a:p>
            <a:r>
              <a:t>• Land the trick explicitly with the key sentence: we never stated the correct edge map; we stated how two executions must relate.</a:t>
            </a:r>
          </a:p>
          <a:p>
            <a:r>
              <a:t>• Relation to slide 23: there we sometimes KNEW the answer. Here we cannot cheaply state the output — but we know transformations that should preserve or transform relationships between runs.</a:t>
            </a:r>
          </a:p>
          <a:p>
            <a:r>
              <a:t>• Payment version if asked: submitting the same payment ID twice must leave the account in the same state as submitting it once.</a:t>
            </a:r>
          </a:p>
          <a:p/>
          <a:p>
            <a:r>
              <a:t>=====</a:t>
            </a:r>
          </a:p>
          <a:p/>
          <a:p>
            <a:r>
              <a:t>This is the one that does not land the first time. Slow down and build it.</a:t>
            </a:r>
          </a:p>
          <a:p/>
          <a:p>
            <a:r>
              <a:t>ANIMATE</a:t>
            </a:r>
          </a:p>
          <a:p/>
          <a:p>
            <a:r>
              <a:t>An image, a process f — and an output y. We do not know whether y is right; we could not write the correct output down.</a:t>
            </a:r>
          </a:p>
          <a:p/>
          <a:p>
            <a:r>
              <a:t>ANIMATE</a:t>
            </a:r>
          </a:p>
          <a:p/>
          <a:p>
            <a:r>
              <a:t>Rotate the input ninety degrees.</a:t>
            </a:r>
          </a:p>
          <a:p/>
          <a:p>
            <a:r>
              <a:t>ANIMATE</a:t>
            </a:r>
          </a:p>
          <a:p/>
          <a:p>
            <a:r>
              <a:t>Run the same f. Another output, y-prime. Still no idea whether either answer is right.</a:t>
            </a:r>
          </a:p>
          <a:p/>
          <a:p>
            <a:r>
              <a:t>ANIMATE</a:t>
            </a:r>
          </a:p>
          <a:p/>
          <a:p>
            <a:r>
              <a:t>And here is the oracle: a relation between the two outputs that must hold.</a:t>
            </a:r>
          </a:p>
          <a:p/>
          <a:p>
            <a:r>
              <a:t>ANIMATE</a:t>
            </a:r>
          </a:p>
          <a:p/>
          <a:p>
            <a:r>
              <a:t>So — without knowing the correct output, what relationships should still hold?</a:t>
            </a:r>
          </a:p>
          <a:p/>
          <a:p>
            <a:r>
              <a:t>ANIMATE</a:t>
            </a:r>
          </a:p>
          <a:p/>
          <a:p>
            <a:r>
              <a:t>Three candidate transformations: rotate, flip, shift every pixel's brightness.</a:t>
            </a:r>
          </a:p>
          <a:p/>
          <a:p>
            <a:r>
              <a:t>ANIMATE</a:t>
            </a:r>
          </a:p>
          <a:p/>
          <a:p>
            <a:r>
              <a:t>Now make f concrete: suppose f is an edge detector. What should rotating the input do to its output? Flipping it? A uniform brightness shift? Take answers. Rotation and flip carry through cleanly. Brightness is the interesting one — some edge definitions shrug it off, some do not. What are we assuming about f? That discussion is the exercise.</a:t>
            </a:r>
          </a:p>
          <a:p/>
          <a:p>
            <a:r>
              <a:t>ANIMATE</a:t>
            </a:r>
          </a:p>
          <a:p/>
          <a:p>
            <a:r>
              <a:t>One clean relation, after the discussion: edge-detect of rotate equals rotate of edge-detect.</a:t>
            </a:r>
          </a:p>
          <a:p/>
          <a:p>
            <a:r>
              <a:t>ANIMATE</a:t>
            </a:r>
          </a:p>
          <a:p/>
          <a:p>
            <a:r>
              <a:t>We never stated the correct edge map. We stated how two executions must relate. A relation between runs can serve as the oracle.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Five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generate cases and hunt for a counterexample.</a:t>
            </a:r>
          </a:p>
          <a:p>
            <a:endParaRPr lang="en-US" dirty="0"/>
          </a:p>
          <a:p>
            <a:r>
              <a:rPr lang="en-US" b="0" i="0" dirty="0"/>
              <a:t>ANIMATE</a:t>
            </a:r>
          </a:p>
          <a:p>
            <a:endParaRPr lang="en-US" dirty="0"/>
          </a:p>
          <a:p>
            <a:r>
              <a:rPr lang="en-US" b="0" i="0" dirty="0"/>
              <a:t>Metamorphic: known relations among executions.</a:t>
            </a:r>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minutes — MAGE Moment rebuilt as a probability exercise: meet the seduction, do the arithmetic, then break the assumption. Four beats; the click order IS the pedagogy.</a:t>
            </a:r>
          </a:p>
          <a:p/>
          <a:p>
            <a:r>
              <a:t>• BEAT 1 (on entry): only the two scenarios and the question. Which gives you more confidence — and how much more? TPS, about a minute. Expect “B, obviously.” Push on how much more. Nothing about independence or shared interpretation is on screen yet; do not leak it.</a:t>
            </a:r>
          </a:p>
          <a:p>
            <a:r>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t>• BEAT 3 (click 3): now suppose all 5,000 tests were generated from the same mistaken interpretation of the requirement. Reveal the fan. All pass.</a:t>
            </a:r>
          </a:p>
          <a:p>
            <a:r>
              <a:t>• BEAT 3b (click 4): ask — what ASSUMPTION made our calculation valid? Let it hang; do not leak the answer.</a:t>
            </a:r>
          </a:p>
          <a:p>
            <a:r>
              <a:t>• BEAT 4 (click 5): Independence. Each test had to provide a separate chance of exposing the defect. With correlated tests, P(all miss) does not necessarily shrink like 0.99^n. Do not teach joint distributions. The payload: evidence volume increases confidence according to the information it adds, not merely the number of observations.</a:t>
            </a:r>
          </a:p>
          <a:p>
            <a:r>
              <a:t>• The arithmetic was not wrong. Its applicability depended on independence. We modeled every test as another independent 1% opportunity to expose the defect. If the tests are correlated because they were generated from the same mistaken interpretation, seeing more passing tests does not necessarily reduce uncertainty at the rate predicted by 0.99^n.</a:t>
            </a:r>
          </a:p>
          <a:p>
            <a:r>
              <a:t>• BEAT 5 (click 6): the two structures. One interpretation fanning into 5,000 tests, versus tests + model check + review resting on different assumptions and failure modes, converging on the claim. This is slide 25’s Independence dimension — could one mistaken assumption undermine it all? — made mathematically concrete. The exercise introduces no new concept.</a:t>
            </a:r>
          </a:p>
          <a:p>
            <a:r>
              <a:t>• Be careful with the word “independent”: students must not leave thinking different test cases = independent evidence. The relevant independence is independence of the ASSUMPTIONS AND FAILURE MODES by which the evidence could be wrong.</a:t>
            </a:r>
          </a:p>
          <a:p>
            <a:r>
              <a:t>• The closing visual must NOT be read as “three techniques are automatically better than 5,000 tests” — the point is that evidence becomes more informative when its errors are less likely to share a common cause.</a:t>
            </a:r>
          </a:p>
          <a:p>
            <a:r>
              <a:t>• Five thousand tests generated from one interpretation may provide less independent evidence than several kinds of evidence whose assumptions and failure modes differ. We are not simply counting evidence. We want evidence capable of catching different ways we might be wrong.</a:t>
            </a:r>
          </a:p>
          <a:p>
            <a:r>
              <a:t>• Evidence strength is therefore not a function of quantity alone. Independence is one dimension of strength because correlated evidence can repeatedly confirm the same mistaken assumption.</a:t>
            </a:r>
          </a:p>
          <a:p/>
          <a:p>
            <a:r>
              <a:t>• (a) What does “different evidence” mean? The coverage-bitmap example — note this is coverage data REPRESENTED AS a bitmap, not a characterization of test inputs. Represent each test’s execution as a bitmap over program lines: bit i = 1 if that execution covered line i.</a:t>
            </a:r>
          </a:p>
          <a:p>
            <a:r>
              <a:t xml:space="preserve">    T₁: 11110000</a:t>
            </a:r>
          </a:p>
          <a:p>
            <a:r>
              <a:t xml:space="preserve">    T₂: 00111100</a:t>
            </a:r>
          </a:p>
          <a:p>
            <a:r>
              <a:t xml:space="preserve">    T₃: 00001111</a:t>
            </a:r>
          </a:p>
          <a:p>
            <a:r>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t>• (c) The three-way distinction, worth saying at the board:</a:t>
            </a:r>
          </a:p>
          <a:p>
            <a:r>
              <a:t xml:space="preserve">    Coverage: Did we look somewhere new?</a:t>
            </a:r>
          </a:p>
          <a:p>
            <a:r>
              <a:t xml:space="preserve">    Oracle: Could we tell if what we saw was wrong?</a:t>
            </a:r>
          </a:p>
          <a:p>
            <a:r>
              <a:t xml:space="preserve">    Independence: Could the same mistake fool both observations?</a:t>
            </a:r>
          </a:p>
          <a:p>
            <a:r>
              <a:t xml:space="preserve">  The compact intuition to hammer: different executions are not necessarily different reasons. The chain students must not collapse: different executions ≠ different coverage ≠ independent evidence.</a:t>
            </a:r>
          </a:p>
          <a:p>
            <a:r>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slide 25 mathematically concrete. Representativeness then asks whether that test-generation distribution is the one we actually care about.</a:t>
            </a:r>
          </a:p>
          <a:p>
            <a:r>
              <a:t>• Foreshadow the Decision-Making/Metrics lecture: counting artifacts is an attractive metric that measures the wrong thing when the epistemic structure is correlated.</a:t>
            </a:r>
          </a:p>
          <a:p/>
          <a:p>
            <a:r>
              <a:t>=====</a:t>
            </a:r>
          </a:p>
          <a:p/>
          <a:p>
            <a:r>
              <a:t>Two scenarios. Five tests, all passing — or five thousand tests, all passing. Which gives you more confidence in the claim, and how much more? Talk to your neighbor.</a:t>
            </a:r>
          </a:p>
          <a:p>
            <a:r>
              <a:t>ANIMATE</a:t>
            </a:r>
          </a:p>
          <a:p>
            <a:r>
              <a:t>Let’s make them actually compute. Suppose each test has an independent one-percent chance of exposing the defect, if the defect exists. If the defect exists — what is the probability that all n tests miss it?</a:t>
            </a:r>
          </a:p>
          <a:p>
            <a:r>
              <a:t>ANIMATE</a:t>
            </a:r>
          </a:p>
          <a:p>
            <a:r>
              <a:t>Point ninety-nine to the n. For five tests: about ninety-five percent — the defect probably survives. For five thousand: ten to the minus twenty-two. Under this model, five thousand tests are overwhelmingly stronger evidence. More tests CAN help enormously. Hold that.</a:t>
            </a:r>
          </a:p>
          <a:p>
            <a:r>
              <a:t>ANIMATE</a:t>
            </a:r>
          </a:p>
          <a:p>
            <a:r>
              <a:t>Now suppose all five thousand tests were generated from the same mistaken interpretation of the requirement. Every one of them passes.</a:t>
            </a:r>
          </a:p>
          <a:p>
            <a:r>
              <a:t>ANIMATE</a:t>
            </a:r>
          </a:p>
          <a:p>
            <a:r>
              <a:t>What assumption made our calculation valid?</a:t>
            </a:r>
          </a:p>
          <a:p>
            <a:r>
              <a:t>ANIMATE</a:t>
            </a:r>
          </a:p>
          <a:p>
            <a:r>
              <a:t>Independence. Each test had to provide a separate chance of exposing the defect. With correlated tests, the probability that everything misses does not necessarily shrink like point-ninety-nine to the n.</a:t>
            </a:r>
          </a:p>
          <a:p>
            <a:r>
              <a:t>ANIMATE</a:t>
            </a:r>
          </a:p>
          <a:p>
            <a:r>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MODEL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 xml:space="preserve">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27432" rIns="91440" bIns="27432" anchor="ctr"/>
          <a:lstStyle/>
          <a:p>
            <a:pPr algn="ctr">
              <a:buNone/>
            </a:pPr>
            <a:r>
              <a:rPr lang="en-US" sz="2000" b="1" i="0" dirty="0">
                <a:solidFill>
                  <a:srgbClr val="FFFFFF"/>
                </a:solidFill>
              </a:rPr>
              <a:t>We will build an assurance case for one running example —</a:t>
            </a:r>
          </a:p>
          <a:p>
            <a:pPr algn="ctr">
              <a:buNone/>
            </a:pPr>
            <a:r>
              <a:rPr lang="en-US" sz="2000" b="1" i="0" dirty="0">
                <a:solidFill>
                  <a:srgbClr val="FFFFFF"/>
                </a:solidFill>
              </a:rPr>
              <a:t>then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 xml:space="preserve">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asks for sufficient evidence, not 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 xml:space="preserve">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 xml:space="preserve">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2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6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90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2700000" y="1800000"/>
            <a:ext cx="6200000"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
        <p:nvSpPr>
          <p:cNvPr id="200" name="C200"/>
          <p:cNvSpPr/>
          <p:nvPr/>
        </p:nvSpPr>
        <p:spPr>
          <a:xfrm>
            <a:off x="2700000" y="1030000"/>
            <a:ext cx="5900000" cy="4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Customer is charged at most once for one payment</a:t>
            </a:r>
          </a:p>
        </p:txBody>
      </p:sp>
      <p:sp>
        <p:nvSpPr>
          <p:cNvPr id="201" name="C201"/>
          <p:cNvSpPr/>
          <p:nvPr/>
        </p:nvSpPr>
        <p:spPr>
          <a:xfrm>
            <a:off x="3800000" y="2990000"/>
            <a:ext cx="470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Payment service suppresses duplicates</a:t>
            </a:r>
          </a:p>
        </p:txBody>
      </p:sp>
      <p:sp>
        <p:nvSpPr>
          <p:cNvPr id="202" name="C202"/>
          <p:cNvSpPr/>
          <p:nvPr/>
        </p:nvSpPr>
        <p:spPr>
          <a:xfrm>
            <a:off x="3990000" y="3430000"/>
            <a:ext cx="4899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Idempotency component catches duplicates</a:t>
            </a:r>
          </a:p>
        </p:txBody>
      </p:sp>
      <p:sp>
        <p:nvSpPr>
          <p:cNvPr id="203" name="C203"/>
          <p:cNvSpPr/>
          <p:nvPr/>
        </p:nvSpPr>
        <p:spPr>
          <a:xfrm>
            <a:off x="4080000" y="3870000"/>
            <a:ext cx="481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Record payment ID before charging provider</a:t>
            </a:r>
          </a:p>
        </p:txBody>
      </p:sp>
      <p:sp>
        <p:nvSpPr>
          <p:cNvPr id="204" name="C204"/>
          <p:cNvSpPr/>
          <p:nvPr/>
        </p:nvSpPr>
        <p:spPr>
          <a:xfrm>
            <a:off x="2900000" y="5160000"/>
            <a:ext cx="4700000" cy="4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lookup ID → record ID → charge provider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par>
                                <p:cTn id="8" presetID="10" presetClass="entr" presetSubtype="0" fill="hold" nodeType="with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14" fill="hold">
                      <p:stCondLst>
                        <p:cond delay="indefinite"/>
                      </p:stCondLst>
                      <p:childTnLst>
                        <p:par>
                          <p:cTn id="15" fill="hold">
                            <p:stCondLst>
                              <p:cond delay="0"/>
                            </p:stCondLst>
                            <p:childTnLst>
                              <p:par>
                                <p:cTn id="13"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18" presetID="10" presetClass="entr" presetSubtype="0" fill="hold" nodeType="clickEffect">
                                  <p:stCondLst>
                                    <p:cond delay="0"/>
                                  </p:stCondLst>
                                  <p:childTnLst>
                                    <p:set>
                                      <p:cBhvr>
                                        <p:cTn id="16" dur="1" fill="hold">
                                          <p:stCondLst>
                                            <p:cond delay="0"/>
                                          </p:stCondLst>
                                        </p:cTn>
                                        <p:tgtEl>
                                          <p:spTgt spid="160"/>
                                        </p:tgtEl>
                                        <p:attrNameLst>
                                          <p:attrName>style.visibility</p:attrName>
                                        </p:attrNameLst>
                                      </p:cBhvr>
                                      <p:to>
                                        <p:strVal val="visible"/>
                                      </p:to>
                                    </p:set>
                                    <p:animEffect transition="in" filter="fade">
                                      <p:cBhvr>
                                        <p:cTn id="17" dur="500"/>
                                        <p:tgtEl>
                                          <p:spTgt spid="16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28" presetID="10" presetClass="entr" presetSubtype="0" fill="hold" nodeType="click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31"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500"/>
                                        <p:tgtEl>
                                          <p:spTgt spid="114"/>
                                        </p:tgtEl>
                                      </p:cBhvr>
                                    </p:animEffect>
                                  </p:childTnLst>
                                </p:cTn>
                              </p:par>
                              <p:par>
                                <p:cTn id="39" presetID="10" presetClass="entr" presetSubtype="0" fill="hold" nodeType="withEffect">
                                  <p:stCondLst>
                                    <p:cond delay="0"/>
                                  </p:stCondLst>
                                  <p:childTnLst>
                                    <p:set>
                                      <p:cBhvr>
                                        <p:cTn id="37" dur="1" fill="hold">
                                          <p:stCondLst>
                                            <p:cond delay="0"/>
                                          </p:stCondLst>
                                        </p:cTn>
                                        <p:tgtEl>
                                          <p:spTgt spid="202"/>
                                        </p:tgtEl>
                                        <p:attrNameLst>
                                          <p:attrName>style.visibility</p:attrName>
                                        </p:attrNameLst>
                                      </p:cBhvr>
                                      <p:to>
                                        <p:strVal val="visible"/>
                                      </p:to>
                                    </p:set>
                                    <p:animEffect transition="in" filter="fade">
                                      <p:cBhvr>
                                        <p:cTn id="38" dur="500"/>
                                        <p:tgtEl>
                                          <p:spTgt spid="202"/>
                                        </p:tgtEl>
                                      </p:cBhvr>
                                    </p:animEffect>
                                  </p:childTnLst>
                                </p:cTn>
                              </p:par>
                            </p:childTnLst>
                          </p:cTn>
                        </p:par>
                      </p:childTnLst>
                    </p:cTn>
                  </p:par>
                  <p:par>
                    <p:cTn id="48" fill="hold">
                      <p:stCondLst>
                        <p:cond delay="indefinite"/>
                      </p:stCondLst>
                      <p:childTnLst>
                        <p:par>
                          <p:cTn id="49" fill="hold">
                            <p:stCondLst>
                              <p:cond delay="0"/>
                            </p:stCondLst>
                            <p:childTnLst>
                              <p:par>
                                <p:cTn id="44" presetID="10" presetClass="entr" presetSubtype="0" fill="hold" nodeType="clickEffect">
                                  <p:stCondLst>
                                    <p:cond delay="0"/>
                                  </p:stCondLst>
                                  <p:childTnLst>
                                    <p:set>
                                      <p:cBhvr>
                                        <p:cTn id="42" dur="1" fill="hold">
                                          <p:stCondLst>
                                            <p:cond delay="0"/>
                                          </p:stCondLst>
                                        </p:cTn>
                                        <p:tgtEl>
                                          <p:spTgt spid="115"/>
                                        </p:tgtEl>
                                        <p:attrNameLst>
                                          <p:attrName>style.visibility</p:attrName>
                                        </p:attrNameLst>
                                      </p:cBhvr>
                                      <p:to>
                                        <p:strVal val="visible"/>
                                      </p:to>
                                    </p:set>
                                    <p:animEffect transition="in" filter="fade">
                                      <p:cBhvr>
                                        <p:cTn id="43" dur="500"/>
                                        <p:tgtEl>
                                          <p:spTgt spid="115"/>
                                        </p:tgtEl>
                                      </p:cBhvr>
                                    </p:animEffect>
                                  </p:childTnLst>
                                </p:cTn>
                              </p:par>
                              <p:par>
                                <p:cTn id="47" presetID="10" presetClass="entr" presetSubtype="0" fill="hold" nodeType="withEffect">
                                  <p:stCondLst>
                                    <p:cond delay="0"/>
                                  </p:stCondLst>
                                  <p:childTnLst>
                                    <p:set>
                                      <p:cBhvr>
                                        <p:cTn id="45" dur="1" fill="hold">
                                          <p:stCondLst>
                                            <p:cond delay="0"/>
                                          </p:stCondLst>
                                        </p:cTn>
                                        <p:tgtEl>
                                          <p:spTgt spid="203"/>
                                        </p:tgtEl>
                                        <p:attrNameLst>
                                          <p:attrName>style.visibility</p:attrName>
                                        </p:attrNameLst>
                                      </p:cBhvr>
                                      <p:to>
                                        <p:strVal val="visible"/>
                                      </p:to>
                                    </p:set>
                                    <p:animEffect transition="in" filter="fade">
                                      <p:cBhvr>
                                        <p:cTn id="46" dur="500"/>
                                        <p:tgtEl>
                                          <p:spTgt spid="203"/>
                                        </p:tgtEl>
                                      </p:cBhvr>
                                    </p:animEffect>
                                  </p:childTnLst>
                                </p:cTn>
                              </p:par>
                            </p:childTnLst>
                          </p:cTn>
                        </p:par>
                      </p:childTnLst>
                    </p:cTn>
                  </p:par>
                  <p:par>
                    <p:cTn id="56" fill="hold">
                      <p:stCondLst>
                        <p:cond delay="indefinite"/>
                      </p:stCondLst>
                      <p:childTnLst>
                        <p:par>
                          <p:cTn id="57" fill="hold">
                            <p:stCondLst>
                              <p:cond delay="0"/>
                            </p:stCondLst>
                            <p:childTnLst>
                              <p:par>
                                <p:cTn id="52" presetID="10" presetClass="entr" presetSubtype="0" fill="hold" nodeType="click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500"/>
                                        <p:tgtEl>
                                          <p:spTgt spid="117"/>
                                        </p:tgtEl>
                                      </p:cBhvr>
                                    </p:animEffect>
                                  </p:childTnLst>
                                </p:cTn>
                              </p:par>
                              <p:par>
                                <p:cTn id="55" presetID="10" presetClass="entr" presetSubtype="0" fill="hold" nodeType="withEffect">
                                  <p:stCondLst>
                                    <p:cond delay="0"/>
                                  </p:stCondLst>
                                  <p:childTnLst>
                                    <p:set>
                                      <p:cBhvr>
                                        <p:cTn id="53" dur="1" fill="hold">
                                          <p:stCondLst>
                                            <p:cond delay="0"/>
                                          </p:stCondLst>
                                        </p:cTn>
                                        <p:tgtEl>
                                          <p:spTgt spid="204"/>
                                        </p:tgtEl>
                                        <p:attrNameLst>
                                          <p:attrName>style.visibility</p:attrName>
                                        </p:attrNameLst>
                                      </p:cBhvr>
                                      <p:to>
                                        <p:strVal val="visible"/>
                                      </p:to>
                                    </p:set>
                                    <p:animEffect transition="in" filter="fade">
                                      <p:cBhvr>
                                        <p:cTn id="54"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10" name="T110"/>
          <p:cNvSpPr txBox="1"/>
          <p:nvPr/>
        </p:nvSpPr>
        <p:spPr>
          <a:xfrm>
            <a:off x="37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410000" y="190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240000" y="282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2625000" y="46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8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240000" y="190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900000" y="282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4800000" y="4650000"/>
            <a:ext cx="1200000" cy="420000"/>
          </a:xfrm>
          <a:prstGeom prst="rect">
            <a:avLst/>
          </a:prstGeom>
          <a:noFill/>
          <a:ln>
            <a:noFill/>
          </a:ln>
        </p:spPr>
        <p:txBody>
          <a:bodyPr wrap="square" lIns="0" tIns="0" rIns="0" bIns="0" anchor="ctr"/>
          <a:lstStyle/>
          <a:p>
            <a:pPr algn="ctr">
              <a:buNone/>
            </a:pPr>
            <a:r>
              <a:rPr lang="en-US" sz="2400" b="1" i="0" dirty="0">
                <a:solidFill>
                  <a:srgbClr val="000000"/>
                </a:solidFill>
              </a:rPr>
              <a:t>Unit</a:t>
            </a:r>
          </a:p>
        </p:txBody>
      </p:sp>
      <p:cxnSp>
        <p:nvCxnSpPr>
          <p:cNvPr id="125" name="D125"/>
          <p:cNvCxnSpPr/>
          <p:nvPr/>
        </p:nvCxnSpPr>
        <p:spPr>
          <a:xfrm>
            <a:off x="2750000" y="1190000"/>
            <a:ext cx="3660000" cy="0"/>
          </a:xfrm>
          <a:prstGeom prst="straightConnector1">
            <a:avLst/>
          </a:prstGeom>
          <a:ln w="12700">
            <a:solidFill>
              <a:srgbClr val="8E6F3E"/>
            </a:solidFill>
            <a:prstDash val="dash"/>
            <a:tailEnd type="triangle" w="med" len="med"/>
          </a:ln>
        </p:spPr>
      </p:cxnSp>
      <p:cxnSp>
        <p:nvCxnSpPr>
          <p:cNvPr id="126" name="D126"/>
          <p:cNvCxnSpPr/>
          <p:nvPr/>
        </p:nvCxnSpPr>
        <p:spPr>
          <a:xfrm>
            <a:off x="2990000" y="2110000"/>
            <a:ext cx="3100000" cy="0"/>
          </a:xfrm>
          <a:prstGeom prst="straightConnector1">
            <a:avLst/>
          </a:prstGeom>
          <a:ln w="12700">
            <a:solidFill>
              <a:srgbClr val="8E6F3E"/>
            </a:solidFill>
            <a:prstDash val="dash"/>
            <a:tailEnd type="triangle" w="med" len="med"/>
          </a:ln>
        </p:spPr>
      </p:cxnSp>
      <p:cxnSp>
        <p:nvCxnSpPr>
          <p:cNvPr id="127" name="D127"/>
          <p:cNvCxnSpPr/>
          <p:nvPr/>
        </p:nvCxnSpPr>
        <p:spPr>
          <a:xfrm>
            <a:off x="3320000" y="3030000"/>
            <a:ext cx="2400000"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Unit, integration, system, acceptance name </a:t>
            </a:r>
          </a:p>
          <a:p>
            <a:pPr algn="ctr">
              <a:buNone/>
            </a:pPr>
            <a:r>
              <a:rPr lang="en-US" sz="2000" b="1" i="0" dirty="0">
                <a:solidFill>
                  <a:srgbClr val="FFFFFF"/>
                </a:solidFill>
              </a:rPr>
              <a:t>scopes of evidence, not mechanisms.</a:t>
            </a:r>
          </a:p>
        </p:txBody>
      </p:sp>
      <p:sp>
        <p:nvSpPr>
          <p:cNvPr id="150" name="L150"/>
          <p:cNvSpPr/>
          <p:nvPr/>
        </p:nvSpPr>
        <p:spPr>
          <a:xfrm>
            <a:off x="2600000" y="1000000"/>
            <a:ext cx="1300000" cy="3550000"/>
          </a:xfrm>
          <a:custGeom>
            <a:avLst/>
            <a:gdLst/>
            <a:ahLst/>
            <a:cxnLst/>
            <a:rect l="l" t="t" r="r" b="b"/>
            <a:pathLst>
              <a:path w="1300000" h="3550000" fill="none">
                <a:moveTo>
                  <a:pt x="0" y="0"/>
                </a:moveTo>
                <a:lnTo>
                  <a:pt x="1300000" y="3550000"/>
                </a:lnTo>
              </a:path>
            </a:pathLst>
          </a:custGeom>
          <a:noFill/>
          <a:ln w="38100">
            <a:solidFill>
              <a:srgbClr val="8E6F3E"/>
            </a:solidFill>
          </a:ln>
        </p:spPr>
        <p:txBody>
          <a:bodyPr/>
          <a:lstStyle/>
          <a:p>
            <a:endParaRPr lang="en-US"/>
          </a:p>
        </p:txBody>
      </p:sp>
      <p:sp>
        <p:nvSpPr>
          <p:cNvPr id="151" name="L151"/>
          <p:cNvSpPr/>
          <p:nvPr/>
        </p:nvSpPr>
        <p:spPr>
          <a:xfrm>
            <a:off x="5250000" y="1000000"/>
            <a:ext cx="1300000" cy="3550000"/>
          </a:xfrm>
          <a:custGeom>
            <a:avLst/>
            <a:gdLst/>
            <a:ahLst/>
            <a:cxnLst/>
            <a:rect l="l" t="t" r="r" b="b"/>
            <a:pathLst>
              <a:path w="1300000" h="3550000" fill="none">
                <a:moveTo>
                  <a:pt x="0" y="3550000"/>
                </a:moveTo>
                <a:lnTo>
                  <a:pt x="1300000" y="0"/>
                </a:lnTo>
              </a:path>
            </a:pathLst>
          </a:custGeom>
          <a:noFill/>
          <a:ln w="38100">
            <a:solidFill>
              <a:srgbClr val="8E6F3E"/>
            </a:solidFill>
          </a:ln>
        </p:spPr>
        <p:txBody>
          <a:bodyPr/>
          <a:lstStyle/>
          <a:p>
            <a:endParaRPr lang="en-US"/>
          </a:p>
        </p:txBody>
      </p:sp>
      <p:cxnSp>
        <p:nvCxnSpPr>
          <p:cNvPr id="128" name="D128"/>
          <p:cNvCxnSpPr/>
          <p:nvPr/>
        </p:nvCxnSpPr>
        <p:spPr>
          <a:xfrm>
            <a:off x="3900000" y="4550000"/>
            <a:ext cx="1350000" cy="0"/>
          </a:xfrm>
          <a:prstGeom prst="straightConnector1">
            <a:avLst/>
          </a:prstGeom>
          <a:ln w="38100">
            <a:solidFill>
              <a:srgbClr val="8E6F3E"/>
            </a:solidFill>
          </a:ln>
        </p:spPr>
      </p:cxnSp>
      <p:sp>
        <p:nvSpPr>
          <p:cNvPr id="160" name="SideL160"/>
          <p:cNvSpPr txBox="1"/>
          <p:nvPr/>
        </p:nvSpPr>
        <p:spPr>
          <a:xfrm>
            <a:off x="370000" y="1500000"/>
            <a:ext cx="2600000" cy="300000"/>
          </a:xfrm>
          <a:prstGeom prst="rect">
            <a:avLst/>
          </a:prstGeom>
          <a:noFill/>
          <a:ln>
            <a:noFill/>
          </a:ln>
        </p:spPr>
        <p:txBody>
          <a:bodyPr wrap="square" lIns="0" tIns="0" rIns="0" bIns="0" anchor="ctr"/>
          <a:lstStyle/>
          <a:p>
            <a:pPr algn="l">
              <a:buNone/>
            </a:pPr>
            <a:r>
              <a:rPr lang="en-US" sz="1600" b="1" i="0" dirty="0">
                <a:solidFill>
                  <a:srgbClr val="8E6F3E"/>
                </a:solidFill>
              </a:rPr>
              <a:t>MODELS / CLAIMS</a:t>
            </a:r>
          </a:p>
        </p:txBody>
      </p:sp>
      <p:sp>
        <p:nvSpPr>
          <p:cNvPr id="161" name="SideL161"/>
          <p:cNvSpPr txBox="1"/>
          <p:nvPr/>
        </p:nvSpPr>
        <p:spPr>
          <a:xfrm>
            <a:off x="6180000" y="1500000"/>
            <a:ext cx="2600000" cy="300000"/>
          </a:xfrm>
          <a:prstGeom prst="rect">
            <a:avLst/>
          </a:prstGeom>
          <a:noFill/>
          <a:ln>
            <a:noFill/>
          </a:ln>
        </p:spPr>
        <p:txBody>
          <a:bodyPr wrap="square" lIns="0" tIns="0" rIns="0" bIns="0" anchor="ctr"/>
          <a:lstStyle/>
          <a:p>
            <a:pPr algn="r">
              <a:buNone/>
            </a:pPr>
            <a:r>
              <a:rPr lang="en-US" sz="1600" b="1" i="0" dirty="0">
                <a:solidFill>
                  <a:srgbClr val="8E6F3E"/>
                </a:solidFill>
              </a:rPr>
              <a:t>EVIDENCE SCOPES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p:cTn id="19" dur="500"/>
                                        <p:tgtEl>
                                          <p:spTgt spid="117"/>
                                        </p:tgtEl>
                                      </p:cBhvr>
                                    </p:animEffect>
                                  </p:childTnLst>
                                </p:cTn>
                              </p:par>
                            </p:childTnLst>
                          </p:cTn>
                        </p:par>
                      </p:childTnLst>
                    </p:cTn>
                  </p:par>
                  <p:par>
                    <p:cTn id="29" fill="hold">
                      <p:stCondLst>
                        <p:cond delay="indefinite"/>
                      </p:stCondLst>
                      <p:childTnLst>
                        <p:par>
                          <p:cTn id="30"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28"/>
                                        </p:tgtEl>
                                        <p:attrNameLst>
                                          <p:attrName>style.visibility</p:attrName>
                                        </p:attrNameLst>
                                      </p:cBhvr>
                                      <p:to>
                                        <p:strVal val="visible"/>
                                      </p:to>
                                    </p:set>
                                    <p:animEffect transition="in" filter="fade">
                                      <p:cBhvr>
                                        <p:cTn id="24" dur="500"/>
                                        <p:tgtEl>
                                          <p:spTgt spid="128"/>
                                        </p:tgtEl>
                                      </p:cBhvr>
                                    </p:animEffect>
                                  </p:childTnLst>
                                </p:cTn>
                              </p:par>
                              <p:par>
                                <p:cTn id="28" presetID="10" presetClass="entr" presetSubtype="0" fill="hold" nodeType="withEffect">
                                  <p:stCondLst>
                                    <p:cond delay="0"/>
                                  </p:stCondLst>
                                  <p:childTnLst>
                                    <p:set>
                                      <p:cBhvr>
                                        <p:cTn id="26" dur="1" fill="hold">
                                          <p:stCondLst>
                                            <p:cond delay="0"/>
                                          </p:stCondLst>
                                        </p:cTn>
                                        <p:tgtEl>
                                          <p:spTgt spid="123"/>
                                        </p:tgtEl>
                                        <p:attrNameLst>
                                          <p:attrName>style.visibility</p:attrName>
                                        </p:attrNameLst>
                                      </p:cBhvr>
                                      <p:to>
                                        <p:strVal val="visible"/>
                                      </p:to>
                                    </p:set>
                                    <p:animEffect transition="in" filter="fade">
                                      <p:cBhvr>
                                        <p:cTn id="27" dur="500"/>
                                        <p:tgtEl>
                                          <p:spTgt spid="123"/>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6" presetID="10" presetClass="entr" presetSubtype="0" fill="hold" nodeType="withEffect">
                                  <p:stCondLst>
                                    <p:cond delay="0"/>
                                  </p:stCondLst>
                                  <p:childTnLst>
                                    <p:set>
                                      <p:cBhvr>
                                        <p:cTn id="34" dur="1" fill="hold">
                                          <p:stCondLst>
                                            <p:cond delay="0"/>
                                          </p:stCondLst>
                                        </p:cTn>
                                        <p:tgtEl>
                                          <p:spTgt spid="127"/>
                                        </p:tgtEl>
                                        <p:attrNameLst>
                                          <p:attrName>style.visibility</p:attrName>
                                        </p:attrNameLst>
                                      </p:cBhvr>
                                      <p:to>
                                        <p:strVal val="visible"/>
                                      </p:to>
                                    </p:set>
                                    <p:animEffect transition="in" filter="fade">
                                      <p:cBhvr>
                                        <p:cTn id="35" dur="500"/>
                                        <p:tgtEl>
                                          <p:spTgt spid="127"/>
                                        </p:tgtEl>
                                      </p:cBhvr>
                                    </p:animEffect>
                                  </p:childTnLst>
                                </p:cTn>
                              </p:par>
                            </p:childTnLst>
                          </p:cTn>
                        </p:par>
                      </p:childTnLst>
                    </p:cTn>
                  </p:par>
                  <p:par>
                    <p:cTn id="45" fill="hold">
                      <p:stCondLst>
                        <p:cond delay="indefinite"/>
                      </p:stCondLst>
                      <p:childTnLst>
                        <p:par>
                          <p:cTn id="46" fill="hold">
                            <p:stCondLst>
                              <p:cond delay="0"/>
                            </p:stCondLst>
                            <p:childTnLst>
                              <p:par>
                                <p:cTn id="41"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par>
                                <p:cTn id="44" presetID="10" presetClass="entr" presetSubtype="0" fill="hold" nodeType="withEffect">
                                  <p:stCondLst>
                                    <p:cond delay="0"/>
                                  </p:stCondLst>
                                  <p:childTnLst>
                                    <p:set>
                                      <p:cBhvr>
                                        <p:cTn id="42" dur="1" fill="hold">
                                          <p:stCondLst>
                                            <p:cond delay="0"/>
                                          </p:stCondLst>
                                        </p:cTn>
                                        <p:tgtEl>
                                          <p:spTgt spid="126"/>
                                        </p:tgtEl>
                                        <p:attrNameLst>
                                          <p:attrName>style.visibility</p:attrName>
                                        </p:attrNameLst>
                                      </p:cBhvr>
                                      <p:to>
                                        <p:strVal val="visible"/>
                                      </p:to>
                                    </p:set>
                                    <p:animEffect transition="in" filter="fade">
                                      <p:cBhvr>
                                        <p:cTn id="43" dur="500"/>
                                        <p:tgtEl>
                                          <p:spTgt spid="126"/>
                                        </p:tgtEl>
                                      </p:cBhvr>
                                    </p:animEffect>
                                  </p:childTnLst>
                                </p:cTn>
                              </p:par>
                            </p:childTnLst>
                          </p:cTn>
                        </p:par>
                      </p:childTnLst>
                    </p:cTn>
                  </p:par>
                  <p:par>
                    <p:cTn id="53" fill="hold">
                      <p:stCondLst>
                        <p:cond delay="indefinite"/>
                      </p:stCondLst>
                      <p:childTnLst>
                        <p:par>
                          <p:cTn id="54" fill="hold">
                            <p:stCondLst>
                              <p:cond delay="0"/>
                            </p:stCondLst>
                            <p:childTnLst>
                              <p:par>
                                <p:cTn id="49"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52"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 xml:space="preserve">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4641600"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AIRPORT SECURITY SCREENING</a:t>
            </a:r>
          </a:p>
          <a:p>
            <a:pPr algn="ctr">
              <a:spcBef>
                <a:spcPts val="120"/>
              </a:spcBef>
              <a:buNone/>
            </a:pPr>
            <a:r>
              <a:rPr lang="en-US" sz="2000" b="0" i="0" dirty="0">
                <a:solidFill>
                  <a:srgbClr val="000000"/>
                </a:solidFill>
              </a:rPr>
              <a:t>Humans miss rare targets in consequential real-world inspection.</a:t>
            </a:r>
          </a:p>
          <a:p>
            <a:pPr algn="ctr">
              <a:spcBef>
                <a:spcPts val="120"/>
              </a:spcBef>
              <a:buNone/>
            </a:pPr>
            <a:r>
              <a:rPr lang="en-US" sz="1800" b="0" i="0" dirty="0">
                <a:solidFill>
                  <a:srgbClr val="000000"/>
                </a:solidFill>
              </a:rPr>
              <a:t>Trained screeners are covertly tested against planted threats: inspection is capacity-limited.</a:t>
            </a:r>
          </a:p>
          <a:p>
            <a:pPr algn="ctr">
              <a:spcBef>
                <a:spcPts val="120"/>
              </a:spcBef>
              <a:buNone/>
            </a:pPr>
            <a:r>
              <a:rPr lang="en-US" sz="1100" b="0" i="1" dirty="0">
                <a:solidFill>
                  <a:srgbClr val="78716C"/>
                </a:solidFill>
              </a:rPr>
              <a:t>GAO-19-374 (2019)</a:t>
            </a:r>
          </a:p>
        </p:txBody>
      </p:sp>
      <p:sp>
        <p:nvSpPr>
          <p:cNvPr id="121" name="P121"/>
          <p:cNvSpPr/>
          <p:nvPr/>
        </p:nvSpPr>
        <p:spPr>
          <a:xfrm>
            <a:off x="5482848" y="2390000"/>
            <a:ext cx="3094224"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RARE-TARGET SEARCH</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30" name="E130"/>
          <p:cNvSpPr/>
          <p:nvPr/>
        </p:nvSpPr>
        <p:spPr>
          <a:xfrm>
            <a:off x="566928" y="4610000"/>
            <a:ext cx="8010144" cy="10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Human review is valuable, but attention is not a reliable exhaustive search mechanism.</a:t>
            </a:r>
          </a:p>
          <a:p>
            <a:pPr algn="ctr">
              <a:spcBef>
                <a:spcPts val="120"/>
              </a:spcBef>
              <a:buNone/>
            </a:pPr>
            <a:r>
              <a:rPr lang="en-US" sz="2200" b="0" i="0" dirty="0">
                <a:solidFill>
                  <a:srgbClr val="5C4826"/>
                </a:solidFill>
              </a:rPr>
              <a:t>Spend human judgment where judgment is required.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REPRESENTATION</a:t>
            </a:r>
          </a:p>
          <a:p>
            <a:pPr algn="ctr">
              <a:buNone/>
            </a:pPr>
            <a:r>
              <a:rPr lang="en-US" sz="2000" b="0" i="0" dirty="0">
                <a:solidFill>
                  <a:srgbClr val="000000"/>
                </a:solidFill>
              </a:rPr>
              <a:t>an abstraction or an explicit model</a:t>
            </a:r>
          </a:p>
          <a:p>
            <a:pPr algn="ctr">
              <a:buNone/>
            </a:pPr>
            <a:r>
              <a:rPr lang="en-US" sz="2000" b="0" i="1" dirty="0">
                <a:solidFill>
                  <a:srgbClr val="555960"/>
                </a:solidFill>
              </a:rPr>
              <a:t>of what the software can do</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CONCLUSION</a:t>
            </a:r>
          </a:p>
          <a:p>
            <a:pPr algn="ctr">
              <a:buNone/>
            </a:pPr>
            <a:r>
              <a:rPr lang="en-US" sz="2000" b="0" i="0" dirty="0">
                <a:solidFill>
                  <a:srgbClr val="000000"/>
                </a:solidFill>
              </a:rPr>
              <a:t>what can or cannot happen in it</a:t>
            </a:r>
          </a:p>
          <a:p>
            <a:pPr algn="ctr">
              <a:buNone/>
            </a:pPr>
            <a:r>
              <a:rPr lang="en-US" sz="2000" b="0" i="1" dirty="0">
                <a:solidFill>
                  <a:srgbClr val="555960"/>
                </a:solidFill>
              </a:rPr>
              <a:t>over every behavior it represents</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representation · behaviors · property · assumptions ·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conclusion is limited by the representation and its assumptions.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what can be true at each point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xml:space="preserve">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276460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4564608" y="2960000"/>
            <a:ext cx="0" cy="400000"/>
          </a:xfrm>
          <a:prstGeom prst="straightConnector1">
            <a:avLst/>
          </a:prstGeom>
          <a:ln w="28575">
            <a:solidFill>
              <a:srgbClr val="8E6F3E"/>
            </a:solidFill>
            <a:tailEnd type="triangle" w="med" len="med"/>
          </a:ln>
        </p:spPr>
      </p:cxnSp>
      <p:sp>
        <p:nvSpPr>
          <p:cNvPr id="112" name="T112"/>
          <p:cNvSpPr/>
          <p:nvPr/>
        </p:nvSpPr>
        <p:spPr>
          <a:xfrm>
            <a:off x="469768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260460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4564608" y="3980000"/>
            <a:ext cx="0" cy="280000"/>
          </a:xfrm>
          <a:prstGeom prst="straightConnector1">
            <a:avLst/>
          </a:prstGeom>
          <a:ln w="28575">
            <a:solidFill>
              <a:srgbClr val="8E6F3E"/>
            </a:solidFill>
            <a:tailEnd type="triangle" w="med" len="med"/>
          </a:ln>
        </p:spPr>
      </p:cxnSp>
      <p:sp>
        <p:nvSpPr>
          <p:cNvPr id="115" name="V115"/>
          <p:cNvSpPr/>
          <p:nvPr/>
        </p:nvSpPr>
        <p:spPr>
          <a:xfrm>
            <a:off x="247200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500"/>
                                        <p:tgtEl>
                                          <p:spTgt spid="114"/>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15"/>
                                        </p:tgtEl>
                                        <p:attrNameLst>
                                          <p:attrName>style.visibility</p:attrName>
                                        </p:attrNameLst>
                                      </p:cBhvr>
                                      <p:to>
                                        <p:strVal val="visible"/>
                                      </p:to>
                                    </p:set>
                                    <p:animEffect transition="in" filter="fade">
                                      <p:cBhvr>
                                        <p:cTn id="29"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 PROPERTY</a:t>
            </a:r>
          </a:p>
          <a:p>
            <a:pPr algn="ctr">
              <a:buNone/>
            </a:pPr>
            <a:r>
              <a:rPr lang="en-US" sz="2000" b="0" i="0" dirty="0">
                <a:solidFill>
                  <a:srgbClr val="000000"/>
                </a:solidFill>
              </a:rPr>
              <a:t>the behavior we chose to represent</a:t>
            </a:r>
          </a:p>
          <a:p>
            <a:pPr algn="ctr">
              <a:buNone/>
            </a:pPr>
            <a:r>
              <a:rPr lang="en-US" sz="2000" b="0" i="0" dirty="0">
                <a:solidFill>
                  <a:srgbClr val="000000"/>
                </a:solidFill>
              </a:rPr>
              <a:t>and the property it must satisfy</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SYSTEMATIC SEARCH</a:t>
            </a:r>
          </a:p>
          <a:p>
            <a:pPr algn="ctr">
              <a:buNone/>
            </a:pPr>
            <a:r>
              <a:rPr lang="en-US" sz="2000" b="0" i="0" dirty="0">
                <a:solidFill>
                  <a:srgbClr val="000000"/>
                </a:solidFill>
              </a:rPr>
              <a:t>explore the model’s state space</a:t>
            </a:r>
          </a:p>
          <a:p>
            <a:pPr algn="ctr">
              <a:buNone/>
            </a:pPr>
            <a:r>
              <a:rPr lang="en-US" sz="2000" b="0" i="0" dirty="0">
                <a:solidFill>
                  <a:srgbClr val="000000"/>
                </a:solidFill>
              </a:rPr>
              <a:t xml:space="preserve">up to bound </a:t>
            </a:r>
            <a:r>
              <a:rPr lang="en-US" sz="2000" b="0" i="1" dirty="0">
                <a:solidFill>
                  <a:srgbClr val="000000"/>
                </a:solidFill>
              </a:rPr>
              <a:t>k</a:t>
            </a:r>
          </a:p>
          <a:p>
            <a:pPr algn="ctr">
              <a:buNone/>
            </a:pPr>
            <a:r>
              <a:rPr lang="en-US" sz="2000" b="0" i="0" dirty="0">
                <a:solidFill>
                  <a:srgbClr val="000000"/>
                </a:solidFill>
              </a:rPr>
              <a:t>↓  two outcomes</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COUNTEREXAMPLE FOUND</a:t>
            </a:r>
          </a:p>
          <a:p>
            <a:pPr algn="ctr">
              <a:buNone/>
            </a:pPr>
            <a:r>
              <a:rPr lang="en-US" sz="2000" b="0" i="0" dirty="0">
                <a:solidFill>
                  <a:srgbClr val="FFFFFF"/>
                </a:solidFill>
              </a:rPr>
              <a:t>a trace that violates the property</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NONE FOUND</a:t>
            </a:r>
          </a:p>
          <a:p>
            <a:pPr algn="ctr">
              <a:buNone/>
            </a:pPr>
            <a:r>
              <a:rPr lang="en-US" sz="2000" b="0" i="0" dirty="0">
                <a:solidFill>
                  <a:srgbClr val="000000"/>
                </a:solidFill>
              </a:rPr>
              <a:t>no violation within the model and bound</a:t>
            </a:r>
          </a:p>
        </p:txBody>
      </p:sp>
      <p:sp>
        <p:nvSpPr>
          <p:cNvPr id="130" name="T130"/>
          <p:cNvSpPr txBox="1"/>
          <p:nvPr/>
        </p:nvSpPr>
        <p:spPr>
          <a:xfrm>
            <a:off x="566928" y="4260000"/>
            <a:ext cx="8010144" cy="360000"/>
          </a:xfrm>
          <a:prstGeom prst="rect">
            <a:avLst/>
          </a:prstGeom>
          <a:noFill/>
          <a:ln>
            <a:noFill/>
          </a:ln>
        </p:spPr>
        <p:txBody>
          <a:bodyPr wrap="square" lIns="0" tIns="0" rIns="0" bIns="0" anchor="ctr"/>
          <a:lstStyle/>
          <a:p>
            <a:pPr algn="ctr">
              <a:buNone/>
            </a:pPr>
            <a:r>
              <a:rPr lang="en-US" sz="2000" b="0" i="1" dirty="0">
                <a:solidFill>
                  <a:srgbClr val="555960"/>
                </a:solidFill>
              </a:rPr>
              <a:t xml:space="preserve">model · assumptions · semantics · bound </a:t>
            </a:r>
            <a:r>
              <a:rPr lang="en-US" sz="2000" b="0" i="1" dirty="0">
                <a:solidFill>
                  <a:srgbClr val="555960"/>
                </a:solidFill>
              </a:rPr>
              <a:t>define the claim</a:t>
            </a:r>
          </a:p>
        </p:txBody>
      </p:sp>
      <p:sp>
        <p:nvSpPr>
          <p:cNvPr id="135" name="P135"/>
          <p:cNvSpPr/>
          <p:nvPr/>
        </p:nvSpPr>
        <p:spPr>
          <a:xfrm>
            <a:off x="566928" y="4760000"/>
            <a:ext cx="8010144"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Mars: ~45K lines of C → a ~1.6K-line verification model;</a:t>
            </a:r>
          </a:p>
          <a:p>
            <a:pPr algn="ctr">
              <a:buNone/>
            </a:pPr>
            <a:r>
              <a:rPr lang="en-US" sz="2000" b="0" i="0" dirty="0">
                <a:solidFill>
                  <a:srgbClr val="000000"/>
                </a:solidFill>
              </a:rPr>
              <a:t>model checking joined routine regression testing</a:t>
            </a:r>
            <a:r>
              <a:rPr lang="en-US" sz="1300" b="0" i="0" dirty="0">
                <a:solidFill>
                  <a:srgbClr val="555960"/>
                </a:solidFill>
              </a:rPr>
              <a:t xml:space="preserve">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20"/>
                                        </p:tgtEl>
                                        <p:attrNameLst>
                                          <p:attrName>style.visibility</p:attrName>
                                        </p:attrNameLst>
                                      </p:cBhvr>
                                      <p:to>
                                        <p:strVal val="visible"/>
                                      </p:to>
                                    </p:set>
                                    <p:animEffect transition="in" filter="fade">
                                      <p:cBhvr>
                                        <p:cTn id="14"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500"/>
                                        <p:tgtEl>
                                          <p:spTgt spid="130"/>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35"/>
                                        </p:tgtEl>
                                        <p:attrNameLst>
                                          <p:attrName>style.visibility</p:attrName>
                                        </p:attrNameLst>
                                      </p:cBhvr>
                                      <p:to>
                                        <p:strVal val="visible"/>
                                      </p:to>
                                    </p:set>
                                    <p:animEffect transition="in" filter="fade">
                                      <p:cBhvr>
                                        <p:cTn id="29" dur="500"/>
                                        <p:tgtEl>
                                          <p:spTgt spid="135"/>
                                        </p:tgtEl>
                                      </p:cBhvr>
                                    </p:animEffect>
                                  </p:childTnLst>
                                </p:cTn>
                              </p:par>
                            </p:childTnLst>
                          </p:cTn>
                        </p:par>
                      </p:childTnLst>
                    </p:cTn>
                  </p:par>
                  <p:par>
                    <p:cTn id="36" fill="hold">
                      <p:stCondLst>
                        <p:cond delay="indefinite"/>
                      </p:stCondLst>
                      <p:childTnLst>
                        <p:par>
                          <p:cTn id="37" fill="hold">
                            <p:stCondLst>
                              <p:cond delay="0"/>
                            </p:stCondLst>
                            <p:childTnLst>
                              <p:par>
                                <p:cTn id="35" presetID="10" presetClass="entr" presetSubtype="0" fill="hold" nodeType="click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1" name="P111"/>
          <p:cNvSpPr/>
          <p:nvPr/>
        </p:nvSpPr>
        <p:spPr>
          <a:xfrm>
            <a:off x="566928" y="2400000"/>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400000"/>
            <a:ext cx="3247072" cy="937903"/>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1800000"/>
            <a:ext cx="2000000" cy="380000"/>
          </a:xfrm>
          <a:prstGeom prst="rect">
            <a:avLst/>
          </a:prstGeom>
          <a:noFill/>
          <a:ln>
            <a:noFill/>
          </a:ln>
        </p:spPr>
        <p:txBody>
          <a:bodyPr wrap="square" lIns="0" tIns="0" rIns="0" bIns="0" anchor="ctr"/>
          <a:lstStyle/>
          <a:p>
            <a:pPr algn="l">
              <a:buNone/>
            </a:pPr>
            <a:r>
              <a:rPr lang="en-US" sz="2200" b="1" i="0" dirty="0">
                <a:solidFill>
                  <a:srgbClr val="5C4826"/>
                </a:solidFill>
              </a:rPr>
              <a:t>SIMULATED</a:t>
            </a:r>
          </a:p>
        </p:txBody>
      </p:sp>
      <p:cxnSp>
        <p:nvCxnSpPr>
          <p:cNvPr id="121" name="C121"/>
          <p:cNvCxnSpPr/>
          <p:nvPr/>
        </p:nvCxnSpPr>
        <p:spPr>
          <a:xfrm>
            <a:off x="2650000" y="1990000"/>
            <a:ext cx="4150000" cy="0"/>
          </a:xfrm>
          <a:prstGeom prst="straightConnector1">
            <a:avLst/>
          </a:prstGeom>
          <a:ln w="28575">
            <a:solidFill>
              <a:srgbClr val="8E6F3E"/>
            </a:solidFill>
            <a:tailEnd type="triangle" w="med" len="med"/>
          </a:ln>
        </p:spPr>
      </p:cxnSp>
      <p:sp>
        <p:nvSpPr>
          <p:cNvPr id="122" name="T122"/>
          <p:cNvSpPr txBox="1"/>
          <p:nvPr/>
        </p:nvSpPr>
        <p:spPr>
          <a:xfrm>
            <a:off x="6880000" y="1800000"/>
            <a:ext cx="1700000" cy="380000"/>
          </a:xfrm>
          <a:prstGeom prst="rect">
            <a:avLst/>
          </a:prstGeom>
          <a:noFill/>
          <a:ln>
            <a:noFill/>
          </a:ln>
        </p:spPr>
        <p:txBody>
          <a:bodyPr wrap="square" lIns="0" tIns="0" rIns="0" bIns="0" anchor="ctr"/>
          <a:lstStyle/>
          <a:p>
            <a:pPr algn="r">
              <a:buNone/>
            </a:pPr>
            <a:r>
              <a:rPr lang="en-US" sz="2200" b="1" i="0" dirty="0">
                <a:solidFill>
                  <a:srgbClr val="5C4826"/>
                </a:solidFill>
              </a:rPr>
              <a:t>REAL</a:t>
            </a:r>
          </a:p>
        </p:txBody>
      </p:sp>
      <p:sp>
        <p:nvSpPr>
          <p:cNvPr id="123" name="T123"/>
          <p:cNvSpPr txBox="1"/>
          <p:nvPr/>
        </p:nvSpPr>
        <p:spPr>
          <a:xfrm>
            <a:off x="274320" y="3600000"/>
            <a:ext cx="8595360" cy="400000"/>
          </a:xfrm>
          <a:prstGeom prst="rect">
            <a:avLst/>
          </a:prstGeom>
          <a:noFill/>
          <a:ln>
            <a:noFill/>
          </a:ln>
        </p:spPr>
        <p:txBody>
          <a:bodyPr wrap="square" lIns="0" tIns="0" rIns="0" bIns="0" anchor="ctr"/>
          <a:lstStyle/>
          <a:p>
            <a:pPr algn="ctr">
              <a:buNone/>
            </a:pPr>
            <a:r>
              <a:rPr lang="en-US" sz="2000" b="0" i="0" dirty="0">
                <a:solidFill>
                  <a:srgbClr val="000000"/>
                </a:solidFill>
              </a:rPr>
              <a:t>A test cannot establish behavior that depends on what its environment omitted.</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20"/>
                                        </p:tgtEl>
                                        <p:attrNameLst>
                                          <p:attrName>style.visibility</p:attrName>
                                        </p:attrNameLst>
                                      </p:cBhvr>
                                      <p:to>
                                        <p:strVal val="visible"/>
                                      </p:to>
                                    </p:set>
                                    <p:animEffect transition="in" filter="fade">
                                      <p:cBhvr>
                                        <p:cTn id="4" dur="500"/>
                                        <p:tgtEl>
                                          <p:spTgt spid="120"/>
                                        </p:tgtEl>
                                      </p:cBhvr>
                                    </p:animEffect>
                                  </p:childTnLst>
                                </p:cTn>
                              </p:par>
                              <p:par>
                                <p:cTn id="8" presetID="10" presetClass="entr" presetSubtype="0" fill="hold" nodeType="with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fade">
                                      <p:cBhvr>
                                        <p:cTn id="7" dur="500"/>
                                        <p:tgtEl>
                                          <p:spTgt spid="121"/>
                                        </p:tgtEl>
                                      </p:cBhvr>
                                    </p:animEffect>
                                  </p:childTnLst>
                                </p:cTn>
                              </p:par>
                              <p:par>
                                <p:cTn id="11" presetID="10" presetClass="entr" presetSubtype="0" fill="hold" nodeType="withEffect">
                                  <p:stCondLst>
                                    <p:cond delay="0"/>
                                  </p:stCondLst>
                                  <p:childTnLst>
                                    <p:set>
                                      <p:cBhvr>
                                        <p:cTn id="9" dur="1" fill="hold">
                                          <p:stCondLst>
                                            <p:cond delay="0"/>
                                          </p:stCondLst>
                                        </p:cTn>
                                        <p:tgtEl>
                                          <p:spTgt spid="122"/>
                                        </p:tgtEl>
                                        <p:attrNameLst>
                                          <p:attrName>style.visibility</p:attrName>
                                        </p:attrNameLst>
                                      </p:cBhvr>
                                      <p:to>
                                        <p:strVal val="visible"/>
                                      </p:to>
                                    </p:set>
                                    <p:animEffect transition="in" filter="fade">
                                      <p:cBhvr>
                                        <p:cTn id="10" dur="500"/>
                                        <p:tgtEl>
                                          <p:spTgt spid="122"/>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9" presetID="10" presetClass="entr" presetSubtype="0" fill="hold" nodeType="with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500"/>
                                        <p:tgtEl>
                                          <p:spTgt spid="112"/>
                                        </p:tgtEl>
                                      </p:cBhvr>
                                    </p:animEffect>
                                  </p:childTnLst>
                                </p:cTn>
                              </p:par>
                            </p:childTnLst>
                          </p:cTn>
                        </p:par>
                      </p:childTnLst>
                    </p:cTn>
                  </p:par>
                  <p:par>
                    <p:cTn id="25" fill="hold">
                      <p:stCondLst>
                        <p:cond delay="indefinite"/>
                      </p:stCondLst>
                      <p:childTnLst>
                        <p:par>
                          <p:cTn id="26"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Known input → known </a:t>
            </a:r>
          </a:p>
          <a:p>
            <a:pPr algn="ctr">
              <a:buNone/>
            </a:pPr>
            <a:r>
              <a:rPr lang="en-US" sz="2000" b="1" i="0" dirty="0">
                <a:solidFill>
                  <a:srgbClr val="5C4826"/>
                </a:solidFill>
              </a:rPr>
              <a:t>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can serve as the oracle.</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“metamorphic testing”</a:t>
            </a:r>
          </a:p>
        </p:txBody>
      </p:sp>
      <p:grpSp>
        <p:nvGrpSpPr>
          <p:cNvPr id="200" name="ImgOrig"/>
          <p:cNvGrpSpPr/>
          <p:nvPr/>
        </p:nvGrpSpPr>
        <p:grpSpPr>
          <a:xfrm>
            <a:off x="500000" y="1000000"/>
            <a:ext cx="1000000" cy="1000000"/>
            <a:chOff x="0" y="0"/>
            <a:chExt cx="1000000" cy="1000000"/>
          </a:xfrm>
        </p:grpSpPr>
        <p:sp>
          <p:nvSpPr>
            <p:cNvPr id="201" name="ImgOrig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02" name="ImgOrig_body"/>
            <p:cNvSpPr/>
            <p:nvPr/>
          </p:nvSpPr>
          <p:spPr>
            <a:xfrm>
              <a:off x="230000" y="550000"/>
              <a:ext cx="340000" cy="300000"/>
            </a:xfrm>
            <a:prstGeom prst="rect">
              <a:avLst/>
            </a:prstGeom>
            <a:solidFill>
              <a:srgbClr val="8E6F3E"/>
            </a:solidFill>
            <a:ln>
              <a:noFill/>
            </a:ln>
          </p:spPr>
          <p:txBody>
            <a:bodyPr/>
            <a:lstStyle/>
            <a:p>
              <a:endParaRPr lang="en-US"/>
            </a:p>
          </p:txBody>
        </p:sp>
        <p:sp>
          <p:nvSpPr>
            <p:cNvPr id="203" name="ImgOrig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04" name="ImgOrig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05" name="LblOrig"/>
          <p:cNvSpPr txBox="1"/>
          <p:nvPr/>
        </p:nvSpPr>
        <p:spPr>
          <a:xfrm>
            <a:off x="200000" y="2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ORIGINAL  </a:t>
            </a:r>
            <a:r>
              <a:rPr lang="en-US" sz="2000" b="0" i="1" dirty="0">
                <a:solidFill>
                  <a:srgbClr val="000000"/>
                </a:solidFill>
              </a:rPr>
              <a:t>x</a:t>
            </a:r>
          </a:p>
        </p:txBody>
      </p:sp>
      <p:cxnSp>
        <p:nvCxnSpPr>
          <p:cNvPr id="206" name="RotArrow"/>
          <p:cNvCxnSpPr/>
          <p:nvPr/>
        </p:nvCxnSpPr>
        <p:spPr>
          <a:xfrm>
            <a:off x="1000000" y="2400000"/>
            <a:ext cx="0" cy="500000"/>
          </a:xfrm>
          <a:prstGeom prst="straightConnector1">
            <a:avLst/>
          </a:prstGeom>
          <a:ln w="19050">
            <a:solidFill>
              <a:srgbClr val="8E6F3E"/>
            </a:solidFill>
            <a:tailEnd type="triangle" w="med" len="med"/>
          </a:ln>
        </p:spPr>
      </p:cxnSp>
      <p:sp>
        <p:nvSpPr>
          <p:cNvPr id="207" name="RotLbl"/>
          <p:cNvSpPr txBox="1"/>
          <p:nvPr/>
        </p:nvSpPr>
        <p:spPr>
          <a:xfrm>
            <a:off x="1150000" y="2500000"/>
            <a:ext cx="1500000" cy="300000"/>
          </a:xfrm>
          <a:prstGeom prst="rect">
            <a:avLst/>
          </a:prstGeom>
          <a:noFill/>
          <a:ln>
            <a:noFill/>
          </a:ln>
        </p:spPr>
        <p:txBody>
          <a:bodyPr wrap="square" lIns="0" tIns="0" rIns="0" bIns="0" anchor="ctr"/>
          <a:lstStyle/>
          <a:p>
            <a:pPr algn="l">
              <a:buNone/>
            </a:pPr>
            <a:r>
              <a:rPr lang="en-US" sz="2000" b="0" i="1" dirty="0">
                <a:solidFill>
                  <a:srgbClr val="000000"/>
                </a:solidFill>
              </a:rPr>
              <a:t>rotate 90°</a:t>
            </a:r>
          </a:p>
        </p:txBody>
      </p:sp>
      <p:grpSp>
        <p:nvGrpSpPr>
          <p:cNvPr id="210" name="ImgRot"/>
          <p:cNvGrpSpPr/>
          <p:nvPr/>
        </p:nvGrpSpPr>
        <p:grpSpPr>
          <a:xfrm rot="5400000">
            <a:off x="500000" y="3000000"/>
            <a:ext cx="1000000" cy="1000000"/>
            <a:chOff x="0" y="0"/>
            <a:chExt cx="1000000" cy="1000000"/>
          </a:xfrm>
        </p:grpSpPr>
        <p:sp>
          <p:nvSpPr>
            <p:cNvPr id="211" name="ImgRot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12" name="ImgRot_body"/>
            <p:cNvSpPr/>
            <p:nvPr/>
          </p:nvSpPr>
          <p:spPr>
            <a:xfrm>
              <a:off x="230000" y="550000"/>
              <a:ext cx="340000" cy="300000"/>
            </a:xfrm>
            <a:prstGeom prst="rect">
              <a:avLst/>
            </a:prstGeom>
            <a:solidFill>
              <a:srgbClr val="8E6F3E"/>
            </a:solidFill>
            <a:ln>
              <a:noFill/>
            </a:ln>
          </p:spPr>
          <p:txBody>
            <a:bodyPr/>
            <a:lstStyle/>
            <a:p>
              <a:endParaRPr lang="en-US"/>
            </a:p>
          </p:txBody>
        </p:sp>
        <p:sp>
          <p:nvSpPr>
            <p:cNvPr id="213" name="ImgRot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14" name="ImgRot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15" name="LblRot"/>
          <p:cNvSpPr txBox="1"/>
          <p:nvPr/>
        </p:nvSpPr>
        <p:spPr>
          <a:xfrm>
            <a:off x="200000" y="4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ROTATED  </a:t>
            </a:r>
            <a:r>
              <a:rPr lang="en-US" sz="2000" b="0" i="1" dirty="0">
                <a:solidFill>
                  <a:srgbClr val="000000"/>
                </a:solidFill>
              </a:rPr>
              <a:t>T(x)</a:t>
            </a:r>
          </a:p>
        </p:txBody>
      </p:sp>
      <p:cxnSp>
        <p:nvCxnSpPr>
          <p:cNvPr id="220" name="FArr1"/>
          <p:cNvCxnSpPr/>
          <p:nvPr/>
        </p:nvCxnSpPr>
        <p:spPr>
          <a:xfrm>
            <a:off x="1600000" y="1500000"/>
            <a:ext cx="450000" cy="0"/>
          </a:xfrm>
          <a:prstGeom prst="straightConnector1">
            <a:avLst/>
          </a:prstGeom>
          <a:ln w="19050">
            <a:solidFill>
              <a:srgbClr val="8E6F3E"/>
            </a:solidFill>
            <a:tailEnd type="triangle" w="med" len="med"/>
          </a:ln>
        </p:spPr>
      </p:cxnSp>
      <p:sp>
        <p:nvSpPr>
          <p:cNvPr id="221" name="FBox1"/>
          <p:cNvSpPr/>
          <p:nvPr/>
        </p:nvSpPr>
        <p:spPr>
          <a:xfrm>
            <a:off x="210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2" name="FArr2"/>
          <p:cNvCxnSpPr/>
          <p:nvPr/>
        </p:nvCxnSpPr>
        <p:spPr>
          <a:xfrm>
            <a:off x="2950000" y="1500000"/>
            <a:ext cx="450000" cy="0"/>
          </a:xfrm>
          <a:prstGeom prst="straightConnector1">
            <a:avLst/>
          </a:prstGeom>
          <a:ln w="19050">
            <a:solidFill>
              <a:srgbClr val="8E6F3E"/>
            </a:solidFill>
            <a:tailEnd type="triangle" w="med" len="med"/>
          </a:ln>
        </p:spPr>
      </p:cxnSp>
      <p:sp>
        <p:nvSpPr>
          <p:cNvPr id="223" name="YBox1"/>
          <p:cNvSpPr/>
          <p:nvPr/>
        </p:nvSpPr>
        <p:spPr>
          <a:xfrm>
            <a:off x="345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cxnSp>
        <p:nvCxnSpPr>
          <p:cNvPr id="224" name="FArr3"/>
          <p:cNvCxnSpPr/>
          <p:nvPr/>
        </p:nvCxnSpPr>
        <p:spPr>
          <a:xfrm>
            <a:off x="1600000" y="3500000"/>
            <a:ext cx="450000" cy="0"/>
          </a:xfrm>
          <a:prstGeom prst="straightConnector1">
            <a:avLst/>
          </a:prstGeom>
          <a:ln w="19050">
            <a:solidFill>
              <a:srgbClr val="8E6F3E"/>
            </a:solidFill>
            <a:tailEnd type="triangle" w="med" len="med"/>
          </a:ln>
        </p:spPr>
      </p:cxnSp>
      <p:sp>
        <p:nvSpPr>
          <p:cNvPr id="225" name="FBox2"/>
          <p:cNvSpPr/>
          <p:nvPr/>
        </p:nvSpPr>
        <p:spPr>
          <a:xfrm>
            <a:off x="210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6" name="FArr4"/>
          <p:cNvCxnSpPr/>
          <p:nvPr/>
        </p:nvCxnSpPr>
        <p:spPr>
          <a:xfrm>
            <a:off x="2950000" y="3500000"/>
            <a:ext cx="450000" cy="0"/>
          </a:xfrm>
          <a:prstGeom prst="straightConnector1">
            <a:avLst/>
          </a:prstGeom>
          <a:ln w="19050">
            <a:solidFill>
              <a:srgbClr val="8E6F3E"/>
            </a:solidFill>
            <a:tailEnd type="triangle" w="med" len="med"/>
          </a:ln>
        </p:spPr>
      </p:cxnSp>
      <p:sp>
        <p:nvSpPr>
          <p:cNvPr id="227" name="YBox2"/>
          <p:cNvSpPr/>
          <p:nvPr/>
        </p:nvSpPr>
        <p:spPr>
          <a:xfrm>
            <a:off x="345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sp>
        <p:nvSpPr>
          <p:cNvPr id="230" name="Brk230"/>
          <p:cNvSpPr/>
          <p:nvPr/>
        </p:nvSpPr>
        <p:spPr>
          <a:xfrm>
            <a:off x="4450000" y="1500000"/>
            <a:ext cx="41148" cy="2000000"/>
          </a:xfrm>
          <a:prstGeom prst="rect">
            <a:avLst/>
          </a:prstGeom>
          <a:solidFill>
            <a:srgbClr val="8E6F3E"/>
          </a:solidFill>
          <a:ln>
            <a:noFill/>
          </a:ln>
        </p:spPr>
        <p:txBody>
          <a:bodyPr/>
          <a:lstStyle/>
          <a:p>
            <a:endParaRPr lang="en-US"/>
          </a:p>
        </p:txBody>
      </p:sp>
      <p:sp>
        <p:nvSpPr>
          <p:cNvPr id="231" name="Brk231"/>
          <p:cNvSpPr/>
          <p:nvPr/>
        </p:nvSpPr>
        <p:spPr>
          <a:xfrm>
            <a:off x="4300000" y="1500000"/>
            <a:ext cx="150000" cy="41148"/>
          </a:xfrm>
          <a:prstGeom prst="rect">
            <a:avLst/>
          </a:prstGeom>
          <a:solidFill>
            <a:srgbClr val="8E6F3E"/>
          </a:solidFill>
          <a:ln>
            <a:noFill/>
          </a:ln>
        </p:spPr>
        <p:txBody>
          <a:bodyPr/>
          <a:lstStyle/>
          <a:p>
            <a:endParaRPr lang="en-US"/>
          </a:p>
        </p:txBody>
      </p:sp>
      <p:sp>
        <p:nvSpPr>
          <p:cNvPr id="232" name="Brk232"/>
          <p:cNvSpPr/>
          <p:nvPr/>
        </p:nvSpPr>
        <p:spPr>
          <a:xfrm>
            <a:off x="4300000" y="3459000"/>
            <a:ext cx="150000" cy="41148"/>
          </a:xfrm>
          <a:prstGeom prst="rect">
            <a:avLst/>
          </a:prstGeom>
          <a:solidFill>
            <a:srgbClr val="8E6F3E"/>
          </a:solidFill>
          <a:ln>
            <a:noFill/>
          </a:ln>
        </p:spPr>
        <p:txBody>
          <a:bodyPr/>
          <a:lstStyle/>
          <a:p>
            <a:endParaRPr lang="en-US"/>
          </a:p>
        </p:txBody>
      </p:sp>
      <p:sp>
        <p:nvSpPr>
          <p:cNvPr id="233" name="RelLbl"/>
          <p:cNvSpPr txBox="1"/>
          <p:nvPr/>
        </p:nvSpPr>
        <p:spPr>
          <a:xfrm>
            <a:off x="4620000" y="2300000"/>
            <a:ext cx="1260000" cy="700000"/>
          </a:xfrm>
          <a:prstGeom prst="rect">
            <a:avLst/>
          </a:prstGeom>
          <a:noFill/>
          <a:ln>
            <a:noFill/>
          </a:ln>
        </p:spPr>
        <p:txBody>
          <a:bodyPr wrap="square" lIns="0" tIns="0" rIns="0" bIns="0" anchor="ctr"/>
          <a:lstStyle/>
          <a:p>
            <a:pPr algn="ctr">
              <a:buNone/>
            </a:pPr>
            <a:r>
              <a:rPr lang="en-US" sz="2200" b="1" i="0" dirty="0">
                <a:solidFill>
                  <a:srgbClr val="000000"/>
                </a:solidFill>
              </a:rPr>
              <a:t>R(y, y′)</a:t>
            </a:r>
          </a:p>
          <a:p>
            <a:pPr algn="ctr">
              <a:buNone/>
            </a:pPr>
            <a:r>
              <a:rPr lang="en-US" sz="2000" b="0" i="1" dirty="0">
                <a:solidFill>
                  <a:srgbClr val="555960"/>
                </a:solidFill>
              </a:rPr>
              <a:t>must hold</a:t>
            </a:r>
          </a:p>
        </p:txBody>
      </p:sp>
      <p:sp>
        <p:nvSpPr>
          <p:cNvPr id="240" name="Question240"/>
          <p:cNvSpPr/>
          <p:nvPr/>
        </p:nvSpPr>
        <p:spPr>
          <a:xfrm>
            <a:off x="5900000" y="1010000"/>
            <a:ext cx="3000000" cy="11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Without knowing the correct output, what relationships should still hold?</a:t>
            </a:r>
          </a:p>
        </p:txBody>
      </p:sp>
      <p:sp>
        <p:nvSpPr>
          <p:cNvPr id="241" name="Cands241"/>
          <p:cNvSpPr/>
          <p:nvPr/>
        </p:nvSpPr>
        <p:spPr>
          <a:xfrm>
            <a:off x="5900000" y="2290000"/>
            <a:ext cx="3000000" cy="88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1" i="0" dirty="0">
                <a:solidFill>
                  <a:srgbClr val="000000"/>
                </a:solidFill>
              </a:rPr>
              <a:t>⟳  ROTATE</a:t>
            </a:r>
          </a:p>
          <a:p>
            <a:pPr algn="l">
              <a:buNone/>
            </a:pPr>
            <a:r>
              <a:rPr lang="en-US" sz="2000" b="1" i="0" dirty="0">
                <a:solidFill>
                  <a:srgbClr val="000000"/>
                </a:solidFill>
              </a:rPr>
              <a:t>⇄  FLIP</a:t>
            </a:r>
          </a:p>
          <a:p>
            <a:pPr algn="l">
              <a:buNone/>
            </a:pPr>
            <a:r>
              <a:rPr lang="en-US" sz="2000" b="1" i="0" dirty="0">
                <a:solidFill>
                  <a:srgbClr val="000000"/>
                </a:solidFill>
              </a:rPr>
              <a:t>◐  COLOR SHIFT</a:t>
            </a:r>
          </a:p>
        </p:txBody>
      </p:sp>
      <p:sp>
        <p:nvSpPr>
          <p:cNvPr id="242" name="Ask242"/>
          <p:cNvSpPr/>
          <p:nvPr/>
        </p:nvSpPr>
        <p:spPr>
          <a:xfrm>
            <a:off x="5800000" y="3290000"/>
            <a:ext cx="3100000" cy="115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0" i="0" dirty="0">
                <a:solidFill>
                  <a:srgbClr val="000000"/>
                </a:solidFill>
              </a:rPr>
              <a:t xml:space="preserve">Suppose </a:t>
            </a:r>
            <a:r>
              <a:rPr lang="en-US" sz="2000" b="0" i="1" dirty="0">
                <a:solidFill>
                  <a:srgbClr val="000000"/>
                </a:solidFill>
              </a:rPr>
              <a:t>f</a:t>
            </a:r>
            <a:r>
              <a:rPr lang="en-US" sz="2000" b="0" i="0" dirty="0">
                <a:solidFill>
                  <a:srgbClr val="000000"/>
                </a:solidFill>
              </a:rPr>
              <a:t xml:space="preserve"> is an edge detector. What should happen if we rotate? Flip? Shift brightness?</a:t>
            </a:r>
          </a:p>
        </p:txBody>
      </p:sp>
      <p:sp>
        <p:nvSpPr>
          <p:cNvPr id="243" name="Reveal243"/>
          <p:cNvSpPr/>
          <p:nvPr/>
        </p:nvSpPr>
        <p:spPr>
          <a:xfrm>
            <a:off x="272000" y="4620000"/>
            <a:ext cx="8600000" cy="460000"/>
          </a:xfrm>
          <a:prstGeom prst="rect">
            <a:avLst/>
          </a:prstGeom>
          <a:solidFill>
            <a:srgbClr val="FBF8F2"/>
          </a:solidFill>
          <a:ln w="19050">
            <a:solidFill>
              <a:srgbClr val="5C4826"/>
            </a:solidFill>
          </a:ln>
        </p:spPr>
        <p:txBody>
          <a:bodyPr wrap="square" lIns="91440" tIns="27432" rIns="91440" bIns="27432" anchor="ctr"/>
          <a:lstStyle/>
          <a:p>
            <a:pPr algn="ctr">
              <a:buNone/>
            </a:pPr>
            <a:r>
              <a:rPr lang="en-US" sz="2000" b="1" i="0" dirty="0">
                <a:solidFill>
                  <a:srgbClr val="5C4826"/>
                </a:solidFill>
                <a:latin typeface="Consolas"/>
              </a:rPr>
              <a:t>edge_detect(rotate(x)) = rotate(edge_detect(x))</a:t>
            </a:r>
          </a:p>
        </p:txBody>
      </p:sp>
      <p:sp>
        <p:nvSpPr>
          <p:cNvPr id="244" name="Key244"/>
          <p:cNvSpPr txBox="1"/>
          <p:nvPr/>
        </p:nvSpPr>
        <p:spPr>
          <a:xfrm>
            <a:off x="566928" y="5200000"/>
            <a:ext cx="8010144" cy="530000"/>
          </a:xfrm>
          <a:prstGeom prst="rect">
            <a:avLst/>
          </a:prstGeom>
          <a:noFill/>
          <a:ln>
            <a:noFill/>
          </a:ln>
        </p:spPr>
        <p:txBody>
          <a:bodyPr wrap="square" lIns="0" tIns="0" rIns="0" bIns="0" anchor="ctr"/>
          <a:lstStyle/>
          <a:p>
            <a:pPr algn="ctr">
              <a:buNone/>
            </a:pPr>
            <a:r>
              <a:rPr lang="en-US" sz="2000" b="1" i="0" dirty="0">
                <a:solidFill>
                  <a:srgbClr val="000000"/>
                </a:solidFill>
              </a:rPr>
              <a:t>We never stated the correct edge map.</a:t>
            </a:r>
          </a:p>
          <a:p>
            <a:pPr algn="ctr">
              <a:buNone/>
            </a:pPr>
            <a:r>
              <a:rPr lang="en-US" sz="2000" b="1" i="0" dirty="0">
                <a:solidFill>
                  <a:srgbClr val="000000"/>
                </a:solidFill>
              </a:rPr>
              <a:t>We stated how two executions must relate.</a:t>
            </a:r>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20"/>
                                        </p:tgtEl>
                                        <p:attrNameLst>
                                          <p:attrName>style.visibility</p:attrName>
                                        </p:attrNameLst>
                                      </p:cBhvr>
                                      <p:to>
                                        <p:strVal val="visible"/>
                                      </p:to>
                                    </p:set>
                                    <p:animEffect transition="in" filter="fade">
                                      <p:cBhvr>
                                        <p:cTn id="4" dur="500"/>
                                        <p:tgtEl>
                                          <p:spTgt spid="220"/>
                                        </p:tgtEl>
                                      </p:cBhvr>
                                    </p:animEffect>
                                  </p:childTnLst>
                                </p:cTn>
                              </p:par>
                              <p:par>
                                <p:cTn id="8"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
                                        <p:tgtEl>
                                          <p:spTgt spid="221"/>
                                        </p:tgtEl>
                                      </p:cBhvr>
                                    </p:animEffect>
                                  </p:childTnLst>
                                </p:cTn>
                              </p:par>
                              <p:par>
                                <p:cTn id="11" presetID="10" presetClass="entr" presetSubtype="0" fill="hold" nodeType="withEffect">
                                  <p:stCondLst>
                                    <p:cond delay="0"/>
                                  </p:stCondLst>
                                  <p:childTnLst>
                                    <p:set>
                                      <p:cBhvr>
                                        <p:cTn id="9" dur="1" fill="hold">
                                          <p:stCondLst>
                                            <p:cond delay="0"/>
                                          </p:stCondLst>
                                        </p:cTn>
                                        <p:tgtEl>
                                          <p:spTgt spid="222"/>
                                        </p:tgtEl>
                                        <p:attrNameLst>
                                          <p:attrName>style.visibility</p:attrName>
                                        </p:attrNameLst>
                                      </p:cBhvr>
                                      <p:to>
                                        <p:strVal val="visible"/>
                                      </p:to>
                                    </p:set>
                                    <p:animEffect transition="in" filter="fade">
                                      <p:cBhvr>
                                        <p:cTn id="10" dur="500"/>
                                        <p:tgtEl>
                                          <p:spTgt spid="222"/>
                                        </p:tgtEl>
                                      </p:cBhvr>
                                    </p:animEffect>
                                  </p:childTnLst>
                                </p:cTn>
                              </p:par>
                              <p:par>
                                <p:cTn id="14" presetID="10" presetClass="entr" presetSubtype="0" fill="hold" nodeType="withEffect">
                                  <p:stCondLst>
                                    <p:cond delay="0"/>
                                  </p:stCondLst>
                                  <p:childTnLst>
                                    <p:set>
                                      <p:cBhvr>
                                        <p:cTn id="12" dur="1" fill="hold">
                                          <p:stCondLst>
                                            <p:cond delay="0"/>
                                          </p:stCondLst>
                                        </p:cTn>
                                        <p:tgtEl>
                                          <p:spTgt spid="223"/>
                                        </p:tgtEl>
                                        <p:attrNameLst>
                                          <p:attrName>style.visibility</p:attrName>
                                        </p:attrNameLst>
                                      </p:cBhvr>
                                      <p:to>
                                        <p:strVal val="visible"/>
                                      </p:to>
                                    </p:set>
                                    <p:animEffect transition="in" filter="fade">
                                      <p:cBhvr>
                                        <p:cTn id="13" dur="500"/>
                                        <p:tgtEl>
                                          <p:spTgt spid="223"/>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ntr" presetSubtype="0" fill="hold" nodeType="clickEffect">
                                  <p:stCondLst>
                                    <p:cond delay="0"/>
                                  </p:stCondLst>
                                  <p:childTnLst>
                                    <p:set>
                                      <p:cBhvr>
                                        <p:cTn id="17" dur="1" fill="hold">
                                          <p:stCondLst>
                                            <p:cond delay="0"/>
                                          </p:stCondLst>
                                        </p:cTn>
                                        <p:tgtEl>
                                          <p:spTgt spid="206"/>
                                        </p:tgtEl>
                                        <p:attrNameLst>
                                          <p:attrName>style.visibility</p:attrName>
                                        </p:attrNameLst>
                                      </p:cBhvr>
                                      <p:to>
                                        <p:strVal val="visible"/>
                                      </p:to>
                                    </p:set>
                                    <p:animEffect transition="in" filter="fade">
                                      <p:cBhvr>
                                        <p:cTn id="18" dur="500"/>
                                        <p:tgtEl>
                                          <p:spTgt spid="206"/>
                                        </p:tgtEl>
                                      </p:cBhvr>
                                    </p:animEffect>
                                  </p:childTnLst>
                                </p:cTn>
                              </p:par>
                              <p:par>
                                <p:cTn id="22" presetID="10" presetClass="entr" presetSubtype="0" fill="hold" nodeType="withEffect">
                                  <p:stCondLst>
                                    <p:cond delay="0"/>
                                  </p:stCondLst>
                                  <p:childTnLst>
                                    <p:set>
                                      <p:cBhvr>
                                        <p:cTn id="20" dur="1" fill="hold">
                                          <p:stCondLst>
                                            <p:cond delay="0"/>
                                          </p:stCondLst>
                                        </p:cTn>
                                        <p:tgtEl>
                                          <p:spTgt spid="207"/>
                                        </p:tgtEl>
                                        <p:attrNameLst>
                                          <p:attrName>style.visibility</p:attrName>
                                        </p:attrNameLst>
                                      </p:cBhvr>
                                      <p:to>
                                        <p:strVal val="visible"/>
                                      </p:to>
                                    </p:set>
                                    <p:animEffect transition="in" filter="fade">
                                      <p:cBhvr>
                                        <p:cTn id="21" dur="500"/>
                                        <p:tgtEl>
                                          <p:spTgt spid="207"/>
                                        </p:tgtEl>
                                      </p:cBhvr>
                                    </p:animEffect>
                                  </p:childTnLst>
                                </p:cTn>
                              </p:par>
                              <p:par>
                                <p:cTn id="25" presetID="10" presetClass="entr" presetSubtype="0" fill="hold" nodeType="withEffect">
                                  <p:stCondLst>
                                    <p:cond delay="0"/>
                                  </p:stCondLst>
                                  <p:childTnLst>
                                    <p:set>
                                      <p:cBhvr>
                                        <p:cTn id="23" dur="1" fill="hold">
                                          <p:stCondLst>
                                            <p:cond delay="0"/>
                                          </p:stCondLst>
                                        </p:cTn>
                                        <p:tgtEl>
                                          <p:spTgt spid="210"/>
                                        </p:tgtEl>
                                        <p:attrNameLst>
                                          <p:attrName>style.visibility</p:attrName>
                                        </p:attrNameLst>
                                      </p:cBhvr>
                                      <p:to>
                                        <p:strVal val="visible"/>
                                      </p:to>
                                    </p:set>
                                    <p:animEffect transition="in" filter="fade">
                                      <p:cBhvr>
                                        <p:cTn id="24" dur="500"/>
                                        <p:tgtEl>
                                          <p:spTgt spid="210"/>
                                        </p:tgtEl>
                                      </p:cBhvr>
                                    </p:animEffect>
                                  </p:childTnLst>
                                </p:cTn>
                              </p:par>
                              <p:par>
                                <p:cTn id="28" presetID="10" presetClass="entr" presetSubtype="0" fill="hold" nodeType="withEffect">
                                  <p:stCondLst>
                                    <p:cond delay="0"/>
                                  </p:stCondLst>
                                  <p:childTnLst>
                                    <p:set>
                                      <p:cBhvr>
                                        <p:cTn id="26" dur="1" fill="hold">
                                          <p:stCondLst>
                                            <p:cond delay="0"/>
                                          </p:stCondLst>
                                        </p:cTn>
                                        <p:tgtEl>
                                          <p:spTgt spid="215"/>
                                        </p:tgtEl>
                                        <p:attrNameLst>
                                          <p:attrName>style.visibility</p:attrName>
                                        </p:attrNameLst>
                                      </p:cBhvr>
                                      <p:to>
                                        <p:strVal val="visible"/>
                                      </p:to>
                                    </p:set>
                                    <p:animEffect transition="in" filter="fade">
                                      <p:cBhvr>
                                        <p:cTn id="27" dur="500"/>
                                        <p:tgtEl>
                                          <p:spTgt spid="215"/>
                                        </p:tgtEl>
                                      </p:cBhvr>
                                    </p:animEffect>
                                  </p:childTnLst>
                                </p:cTn>
                              </p:par>
                            </p:childTnLst>
                          </p:cTn>
                        </p:par>
                      </p:childTnLst>
                    </p:cTn>
                  </p:par>
                  <p:par>
                    <p:cTn id="43" fill="hold">
                      <p:stCondLst>
                        <p:cond delay="indefinite"/>
                      </p:stCondLst>
                      <p:childTnLst>
                        <p:par>
                          <p:cTn id="44"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224"/>
                                        </p:tgtEl>
                                        <p:attrNameLst>
                                          <p:attrName>style.visibility</p:attrName>
                                        </p:attrNameLst>
                                      </p:cBhvr>
                                      <p:to>
                                        <p:strVal val="visible"/>
                                      </p:to>
                                    </p:set>
                                    <p:animEffect transition="in" filter="fade">
                                      <p:cBhvr>
                                        <p:cTn id="32" dur="500"/>
                                        <p:tgtEl>
                                          <p:spTgt spid="224"/>
                                        </p:tgtEl>
                                      </p:cBhvr>
                                    </p:animEffect>
                                  </p:childTnLst>
                                </p:cTn>
                              </p:par>
                              <p:par>
                                <p:cTn id="36" presetID="10" presetClass="entr" presetSubtype="0" fill="hold" nodeType="withEffect">
                                  <p:stCondLst>
                                    <p:cond delay="0"/>
                                  </p:stCondLst>
                                  <p:childTnLst>
                                    <p:set>
                                      <p:cBhvr>
                                        <p:cTn id="34" dur="1" fill="hold">
                                          <p:stCondLst>
                                            <p:cond delay="0"/>
                                          </p:stCondLst>
                                        </p:cTn>
                                        <p:tgtEl>
                                          <p:spTgt spid="225"/>
                                        </p:tgtEl>
                                        <p:attrNameLst>
                                          <p:attrName>style.visibility</p:attrName>
                                        </p:attrNameLst>
                                      </p:cBhvr>
                                      <p:to>
                                        <p:strVal val="visible"/>
                                      </p:to>
                                    </p:set>
                                    <p:animEffect transition="in" filter="fade">
                                      <p:cBhvr>
                                        <p:cTn id="35" dur="500"/>
                                        <p:tgtEl>
                                          <p:spTgt spid="225"/>
                                        </p:tgtEl>
                                      </p:cBhvr>
                                    </p:animEffect>
                                  </p:childTnLst>
                                </p:cTn>
                              </p:par>
                              <p:par>
                                <p:cTn id="39" presetID="10" presetClass="entr" presetSubtype="0" fill="hold" nodeType="withEffect">
                                  <p:stCondLst>
                                    <p:cond delay="0"/>
                                  </p:stCondLst>
                                  <p:childTnLst>
                                    <p:set>
                                      <p:cBhvr>
                                        <p:cTn id="37" dur="1" fill="hold">
                                          <p:stCondLst>
                                            <p:cond delay="0"/>
                                          </p:stCondLst>
                                        </p:cTn>
                                        <p:tgtEl>
                                          <p:spTgt spid="226"/>
                                        </p:tgtEl>
                                        <p:attrNameLst>
                                          <p:attrName>style.visibility</p:attrName>
                                        </p:attrNameLst>
                                      </p:cBhvr>
                                      <p:to>
                                        <p:strVal val="visible"/>
                                      </p:to>
                                    </p:set>
                                    <p:animEffect transition="in" filter="fade">
                                      <p:cBhvr>
                                        <p:cTn id="38" dur="500"/>
                                        <p:tgtEl>
                                          <p:spTgt spid="226"/>
                                        </p:tgtEl>
                                      </p:cBhvr>
                                    </p:animEffect>
                                  </p:childTnLst>
                                </p:cTn>
                              </p:par>
                              <p:par>
                                <p:cTn id="42" presetID="10" presetClass="entr" presetSubtype="0" fill="hold" nodeType="withEffect">
                                  <p:stCondLst>
                                    <p:cond delay="0"/>
                                  </p:stCondLst>
                                  <p:childTnLst>
                                    <p:set>
                                      <p:cBhvr>
                                        <p:cTn id="40" dur="1" fill="hold">
                                          <p:stCondLst>
                                            <p:cond delay="0"/>
                                          </p:stCondLst>
                                        </p:cTn>
                                        <p:tgtEl>
                                          <p:spTgt spid="227"/>
                                        </p:tgtEl>
                                        <p:attrNameLst>
                                          <p:attrName>style.visibility</p:attrName>
                                        </p:attrNameLst>
                                      </p:cBhvr>
                                      <p:to>
                                        <p:strVal val="visible"/>
                                      </p:to>
                                    </p:set>
                                    <p:animEffect transition="in" filter="fade">
                                      <p:cBhvr>
                                        <p:cTn id="41" dur="500"/>
                                        <p:tgtEl>
                                          <p:spTgt spid="227"/>
                                        </p:tgtEl>
                                      </p:cBhvr>
                                    </p:animEffect>
                                  </p:childTnLst>
                                </p:cTn>
                              </p:par>
                            </p:childTnLst>
                          </p:cTn>
                        </p:par>
                      </p:childTnLst>
                    </p:cTn>
                  </p:par>
                  <p:par>
                    <p:cTn id="57" fill="hold">
                      <p:stCondLst>
                        <p:cond delay="indefinite"/>
                      </p:stCondLst>
                      <p:childTnLst>
                        <p:par>
                          <p:cTn id="58" fill="hold">
                            <p:stCondLst>
                              <p:cond delay="0"/>
                            </p:stCondLst>
                            <p:childTnLst>
                              <p:par>
                                <p:cTn id="47" presetID="10" presetClass="entr" presetSubtype="0" fill="hold" nodeType="clickEffect">
                                  <p:stCondLst>
                                    <p:cond delay="0"/>
                                  </p:stCondLst>
                                  <p:childTnLst>
                                    <p:set>
                                      <p:cBhvr>
                                        <p:cTn id="45" dur="1" fill="hold">
                                          <p:stCondLst>
                                            <p:cond delay="0"/>
                                          </p:stCondLst>
                                        </p:cTn>
                                        <p:tgtEl>
                                          <p:spTgt spid="230"/>
                                        </p:tgtEl>
                                        <p:attrNameLst>
                                          <p:attrName>style.visibility</p:attrName>
                                        </p:attrNameLst>
                                      </p:cBhvr>
                                      <p:to>
                                        <p:strVal val="visible"/>
                                      </p:to>
                                    </p:set>
                                    <p:animEffect transition="in" filter="fade">
                                      <p:cBhvr>
                                        <p:cTn id="46" dur="500"/>
                                        <p:tgtEl>
                                          <p:spTgt spid="230"/>
                                        </p:tgtEl>
                                      </p:cBhvr>
                                    </p:animEffect>
                                  </p:childTnLst>
                                </p:cTn>
                              </p:par>
                              <p:par>
                                <p:cTn id="50" presetID="10" presetClass="entr" presetSubtype="0" fill="hold" nodeType="withEffect">
                                  <p:stCondLst>
                                    <p:cond delay="0"/>
                                  </p:stCondLst>
                                  <p:childTnLst>
                                    <p:set>
                                      <p:cBhvr>
                                        <p:cTn id="48" dur="1" fill="hold">
                                          <p:stCondLst>
                                            <p:cond delay="0"/>
                                          </p:stCondLst>
                                        </p:cTn>
                                        <p:tgtEl>
                                          <p:spTgt spid="231"/>
                                        </p:tgtEl>
                                        <p:attrNameLst>
                                          <p:attrName>style.visibility</p:attrName>
                                        </p:attrNameLst>
                                      </p:cBhvr>
                                      <p:to>
                                        <p:strVal val="visible"/>
                                      </p:to>
                                    </p:set>
                                    <p:animEffect transition="in" filter="fade">
                                      <p:cBhvr>
                                        <p:cTn id="49" dur="500"/>
                                        <p:tgtEl>
                                          <p:spTgt spid="231"/>
                                        </p:tgtEl>
                                      </p:cBhvr>
                                    </p:animEffect>
                                  </p:childTnLst>
                                </p:cTn>
                              </p:par>
                              <p:par>
                                <p:cTn id="53" presetID="10" presetClass="entr" presetSubtype="0" fill="hold" nodeType="withEffect">
                                  <p:stCondLst>
                                    <p:cond delay="0"/>
                                  </p:stCondLst>
                                  <p:childTnLst>
                                    <p:set>
                                      <p:cBhvr>
                                        <p:cTn id="51" dur="1" fill="hold">
                                          <p:stCondLst>
                                            <p:cond delay="0"/>
                                          </p:stCondLst>
                                        </p:cTn>
                                        <p:tgtEl>
                                          <p:spTgt spid="232"/>
                                        </p:tgtEl>
                                        <p:attrNameLst>
                                          <p:attrName>style.visibility</p:attrName>
                                        </p:attrNameLst>
                                      </p:cBhvr>
                                      <p:to>
                                        <p:strVal val="visible"/>
                                      </p:to>
                                    </p:set>
                                    <p:animEffect transition="in" filter="fade">
                                      <p:cBhvr>
                                        <p:cTn id="52" dur="500"/>
                                        <p:tgtEl>
                                          <p:spTgt spid="232"/>
                                        </p:tgtEl>
                                      </p:cBhvr>
                                    </p:animEffect>
                                  </p:childTnLst>
                                </p:cTn>
                              </p:par>
                              <p:par>
                                <p:cTn id="56" presetID="10" presetClass="entr" presetSubtype="0" fill="hold" nodeType="withEffect">
                                  <p:stCondLst>
                                    <p:cond delay="0"/>
                                  </p:stCondLst>
                                  <p:childTnLst>
                                    <p:set>
                                      <p:cBhvr>
                                        <p:cTn id="54" dur="1" fill="hold">
                                          <p:stCondLst>
                                            <p:cond delay="0"/>
                                          </p:stCondLst>
                                        </p:cTn>
                                        <p:tgtEl>
                                          <p:spTgt spid="233"/>
                                        </p:tgtEl>
                                        <p:attrNameLst>
                                          <p:attrName>style.visibility</p:attrName>
                                        </p:attrNameLst>
                                      </p:cBhvr>
                                      <p:to>
                                        <p:strVal val="visible"/>
                                      </p:to>
                                    </p:set>
                                    <p:animEffect transition="in" filter="fade">
                                      <p:cBhvr>
                                        <p:cTn id="55" dur="500"/>
                                        <p:tgtEl>
                                          <p:spTgt spid="233"/>
                                        </p:tgtEl>
                                      </p:cBhvr>
                                    </p:animEffect>
                                  </p:childTnLst>
                                </p:cTn>
                              </p:par>
                            </p:childTnLst>
                          </p:cTn>
                        </p:par>
                      </p:childTnLst>
                    </p:cTn>
                  </p:par>
                  <p:par>
                    <p:cTn id="62" fill="hold">
                      <p:stCondLst>
                        <p:cond delay="indefinite"/>
                      </p:stCondLst>
                      <p:childTnLst>
                        <p:par>
                          <p:cTn id="63" fill="hold">
                            <p:stCondLst>
                              <p:cond delay="0"/>
                            </p:stCondLst>
                            <p:childTnLst>
                              <p:par>
                                <p:cTn id="61" presetID="10" presetClass="entr" presetSubtype="0" fill="hold" nodeType="clickEffect">
                                  <p:stCondLst>
                                    <p:cond delay="0"/>
                                  </p:stCondLst>
                                  <p:childTnLst>
                                    <p:set>
                                      <p:cBhvr>
                                        <p:cTn id="59" dur="1" fill="hold">
                                          <p:stCondLst>
                                            <p:cond delay="0"/>
                                          </p:stCondLst>
                                        </p:cTn>
                                        <p:tgtEl>
                                          <p:spTgt spid="240"/>
                                        </p:tgtEl>
                                        <p:attrNameLst>
                                          <p:attrName>style.visibility</p:attrName>
                                        </p:attrNameLst>
                                      </p:cBhvr>
                                      <p:to>
                                        <p:strVal val="visible"/>
                                      </p:to>
                                    </p:set>
                                    <p:animEffect transition="in" filter="fade">
                                      <p:cBhvr>
                                        <p:cTn id="60" dur="500"/>
                                        <p:tgtEl>
                                          <p:spTgt spid="240"/>
                                        </p:tgtEl>
                                      </p:cBhvr>
                                    </p:animEffect>
                                  </p:childTnLst>
                                </p:cTn>
                              </p:par>
                            </p:childTnLst>
                          </p:cTn>
                        </p:par>
                      </p:childTnLst>
                    </p:cTn>
                  </p:par>
                  <p:par>
                    <p:cTn id="67" fill="hold">
                      <p:stCondLst>
                        <p:cond delay="indefinite"/>
                      </p:stCondLst>
                      <p:childTnLst>
                        <p:par>
                          <p:cTn id="68" fill="hold">
                            <p:stCondLst>
                              <p:cond delay="0"/>
                            </p:stCondLst>
                            <p:childTnLst>
                              <p:par>
                                <p:cTn id="66" presetID="10" presetClass="entr" presetSubtype="0" fill="hold" nodeType="clickEffect">
                                  <p:stCondLst>
                                    <p:cond delay="0"/>
                                  </p:stCondLst>
                                  <p:childTnLst>
                                    <p:set>
                                      <p:cBhvr>
                                        <p:cTn id="64" dur="1" fill="hold">
                                          <p:stCondLst>
                                            <p:cond delay="0"/>
                                          </p:stCondLst>
                                        </p:cTn>
                                        <p:tgtEl>
                                          <p:spTgt spid="241"/>
                                        </p:tgtEl>
                                        <p:attrNameLst>
                                          <p:attrName>style.visibility</p:attrName>
                                        </p:attrNameLst>
                                      </p:cBhvr>
                                      <p:to>
                                        <p:strVal val="visible"/>
                                      </p:to>
                                    </p:set>
                                    <p:animEffect transition="in" filter="fade">
                                      <p:cBhvr>
                                        <p:cTn id="65" dur="500"/>
                                        <p:tgtEl>
                                          <p:spTgt spid="241"/>
                                        </p:tgtEl>
                                      </p:cBhvr>
                                    </p:animEffect>
                                  </p:childTnLst>
                                </p:cTn>
                              </p:par>
                            </p:childTnLst>
                          </p:cTn>
                        </p:par>
                      </p:childTnLst>
                    </p:cTn>
                  </p:par>
                  <p:par>
                    <p:cTn id="72" fill="hold">
                      <p:stCondLst>
                        <p:cond delay="indefinite"/>
                      </p:stCondLst>
                      <p:childTnLst>
                        <p:par>
                          <p:cTn id="73" fill="hold">
                            <p:stCondLst>
                              <p:cond delay="0"/>
                            </p:stCondLst>
                            <p:childTnLst>
                              <p:par>
                                <p:cTn id="71" presetID="10" presetClass="entr" presetSubtype="0" fill="hold" nodeType="clickEffect">
                                  <p:stCondLst>
                                    <p:cond delay="0"/>
                                  </p:stCondLst>
                                  <p:childTnLst>
                                    <p:set>
                                      <p:cBhvr>
                                        <p:cTn id="69" dur="1" fill="hold">
                                          <p:stCondLst>
                                            <p:cond delay="0"/>
                                          </p:stCondLst>
                                        </p:cTn>
                                        <p:tgtEl>
                                          <p:spTgt spid="242"/>
                                        </p:tgtEl>
                                        <p:attrNameLst>
                                          <p:attrName>style.visibility</p:attrName>
                                        </p:attrNameLst>
                                      </p:cBhvr>
                                      <p:to>
                                        <p:strVal val="visible"/>
                                      </p:to>
                                    </p:set>
                                    <p:animEffect transition="in" filter="fade">
                                      <p:cBhvr>
                                        <p:cTn id="70" dur="500"/>
                                        <p:tgtEl>
                                          <p:spTgt spid="242"/>
                                        </p:tgtEl>
                                      </p:cBhvr>
                                    </p:animEffect>
                                  </p:childTnLst>
                                </p:cTn>
                              </p:par>
                            </p:childTnLst>
                          </p:cTn>
                        </p:par>
                      </p:childTnLst>
                    </p:cTn>
                  </p:par>
                  <p:par>
                    <p:cTn id="77" fill="hold">
                      <p:stCondLst>
                        <p:cond delay="indefinite"/>
                      </p:stCondLst>
                      <p:childTnLst>
                        <p:par>
                          <p:cTn id="78" fill="hold">
                            <p:stCondLst>
                              <p:cond delay="0"/>
                            </p:stCondLst>
                            <p:childTnLst>
                              <p:par>
                                <p:cTn id="76" presetID="10" presetClass="entr" presetSubtype="0" fill="hold" nodeType="clickEffect">
                                  <p:stCondLst>
                                    <p:cond delay="0"/>
                                  </p:stCondLst>
                                  <p:childTnLst>
                                    <p:set>
                                      <p:cBhvr>
                                        <p:cTn id="74" dur="1" fill="hold">
                                          <p:stCondLst>
                                            <p:cond delay="0"/>
                                          </p:stCondLst>
                                        </p:cTn>
                                        <p:tgtEl>
                                          <p:spTgt spid="243"/>
                                        </p:tgtEl>
                                        <p:attrNameLst>
                                          <p:attrName>style.visibility</p:attrName>
                                        </p:attrNameLst>
                                      </p:cBhvr>
                                      <p:to>
                                        <p:strVal val="visible"/>
                                      </p:to>
                                    </p:set>
                                    <p:animEffect transition="in" filter="fade">
                                      <p:cBhvr>
                                        <p:cTn id="75" dur="500"/>
                                        <p:tgtEl>
                                          <p:spTgt spid="243"/>
                                        </p:tgtEl>
                                      </p:cBhvr>
                                    </p:animEffect>
                                  </p:childTnLst>
                                </p:cTn>
                              </p:par>
                            </p:childTnLst>
                          </p:cTn>
                        </p:par>
                      </p:childTnLst>
                    </p:cTn>
                  </p:par>
                  <p:par>
                    <p:cTn id="82" fill="hold">
                      <p:stCondLst>
                        <p:cond delay="indefinite"/>
                      </p:stCondLst>
                      <p:childTnLst>
                        <p:par>
                          <p:cTn id="83" fill="hold">
                            <p:stCondLst>
                              <p:cond delay="0"/>
                            </p:stCondLst>
                            <p:childTnLst>
                              <p:par>
                                <p:cTn id="81" presetID="10" presetClass="entr" presetSubtype="0" fill="hold" nodeType="clickEffect">
                                  <p:stCondLst>
                                    <p:cond delay="0"/>
                                  </p:stCondLst>
                                  <p:childTnLst>
                                    <p:set>
                                      <p:cBhvr>
                                        <p:cTn id="79" dur="1" fill="hold">
                                          <p:stCondLst>
                                            <p:cond delay="0"/>
                                          </p:stCondLst>
                                        </p:cTn>
                                        <p:tgtEl>
                                          <p:spTgt spid="244"/>
                                        </p:tgtEl>
                                        <p:attrNameLst>
                                          <p:attrName>style.visibility</p:attrName>
                                        </p:attrNameLst>
                                      </p:cBhvr>
                                      <p:to>
                                        <p:strVal val="visible"/>
                                      </p:to>
                                    </p:set>
                                    <p:animEffect transition="in" filter="fade">
                                      <p:cBhvr>
                                        <p:cTn id="80" dur="500"/>
                                        <p:tgtEl>
                                          <p:spTgt spid="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 xml:space="preserve">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properties; counterexample </a:t>
            </a:r>
            <a:r>
              <a:rPr lang="en-US" sz="2000" b="0" i="0" dirty="0">
                <a:solidFill>
                  <a:srgbClr val="000000"/>
                </a:solidFill>
              </a:rPr>
              <a:t>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 xml:space="preserve">Choose the strategy for the uncertainty </a:t>
            </a:r>
            <a:r>
              <a:rPr lang="en-US" sz="2400" b="1" dirty="0">
                <a:solidFill>
                  <a:srgbClr val="5C4826"/>
                </a:solidFill>
              </a:rPr>
              <a:t xml:space="preserve">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xml:space="preserve">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260000"/>
            <a:ext cx="8010144" cy="56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assumption made our calculation valid?</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combines evidence with different assumptions and failure modes.</a:t>
            </a:r>
          </a:p>
        </p:txBody>
      </p:sp>
      <p:sp>
        <p:nvSpPr>
          <p:cNvPr id="319" name="Answer319"/>
          <p:cNvSpPr txBox="1"/>
          <p:nvPr/>
        </p:nvSpPr>
        <p:spPr>
          <a:xfrm>
            <a:off x="566928" y="5830000"/>
            <a:ext cx="8010144" cy="720000"/>
          </a:xfrm>
          <a:prstGeom prst="rect">
            <a:avLst/>
          </a:prstGeom>
          <a:noFill/>
          <a:ln>
            <a:noFill/>
          </a:ln>
        </p:spPr>
        <p:txBody>
          <a:bodyPr wrap="square" lIns="45720" tIns="27432" rIns="45720" bIns="27432" anchor="t"/>
          <a:lstStyle/>
          <a:p>
            <a:pPr algn="ctr">
              <a:buNone/>
            </a:pPr>
            <a:r>
              <a:rPr lang="en-US" sz="2000" b="1" i="0" dirty="0">
                <a:solidFill>
                  <a:srgbClr val="000000"/>
                </a:solidFill>
              </a:rPr>
              <a:t xml:space="preserve">Independence. </a:t>
            </a:r>
            <a:r>
              <a:rPr lang="en-US" sz="2000" b="0" i="0" dirty="0">
                <a:solidFill>
                  <a:srgbClr val="000000"/>
                </a:solidFill>
              </a:rPr>
              <a:t>Each test had to provide a separate chance of exposing the defect.</a:t>
            </a:r>
          </a:p>
          <a:p>
            <a:pPr algn="ctr">
              <a:buNone/>
            </a:pPr>
            <a:r>
              <a:rPr lang="en-US" sz="2000" b="0" i="0" dirty="0">
                <a:solidFill>
                  <a:srgbClr val="555960"/>
                </a:solidFill>
              </a:rPr>
              <a:t>With correlated tests, P(all miss) does not necessarily shrink like 0.99</a:t>
            </a:r>
            <a:r>
              <a:rPr lang="en-US" sz="2000" b="0" i="1" baseline="30000" dirty="0">
                <a:solidFill>
                  <a:srgbClr val="555960"/>
                </a:solidFill>
              </a:rPr>
              <a:t>n</a:t>
            </a:r>
            <a:r>
              <a:rPr lang="en-US" sz="2000" b="0" i="0" dirty="0">
                <a:solidFill>
                  <a:srgbClr val="555960"/>
                </a:solidFill>
              </a:rPr>
              <a: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5" fill="hold">
                      <p:stCondLst>
                        <p:cond delay="indefinite"/>
                      </p:stCondLst>
                      <p:childTnLst>
                        <p:par>
                          <p:cTn id="56" fill="hold">
                            <p:stCondLst>
                              <p:cond delay="0"/>
                            </p:stCondLst>
                            <p:childTnLst>
                              <p:par>
                                <p:cTn id="15" presetID="10" presetClass="exit" presetSubtype="0" fill="hold" nodeType="clickEffect">
                                  <p:stCondLst>
                                    <p:cond delay="0"/>
                                  </p:stCondLst>
                                  <p:childTnLst>
                                    <p:animEffect transition="out" filter="fade">
                                      <p:cBhvr>
                                        <p:cTn id="13" dur="400"/>
                                        <p:tgtEl>
                                          <p:spTgt spid="200"/>
                                        </p:tgtEl>
                                      </p:cBhvr>
                                    </p:animEffect>
                                    <p:set>
                                      <p:cBhvr>
                                        <p:cTn id="14"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6" dur="400"/>
                                        <p:tgtEl>
                                          <p:spTgt spid="210"/>
                                        </p:tgtEl>
                                      </p:cBhvr>
                                    </p:animEffect>
                                    <p:set>
                                      <p:cBhvr>
                                        <p:cTn id="17"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19"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4" presetID="10" presetClass="entr" presetSubtype="0" fill="hold" nodeType="withEffect">
                                  <p:stCondLst>
                                    <p:cond delay="0"/>
                                  </p:stCondLst>
                                  <p:childTnLst>
                                    <p:set>
                                      <p:cBhvr>
                                        <p:cTn id="22"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7" presetID="10" presetClass="entr" presetSubtype="0" fill="hold" nodeType="withEffect">
                                  <p:stCondLst>
                                    <p:cond delay="0"/>
                                  </p:stCondLst>
                                  <p:childTnLst>
                                    <p:set>
                                      <p:cBhvr>
                                        <p:cTn id="25"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30" presetID="10" presetClass="entr" presetSubtype="0" fill="hold" nodeType="withEffect">
                                  <p:stCondLst>
                                    <p:cond delay="0"/>
                                  </p:stCondLst>
                                  <p:childTnLst>
                                    <p:set>
                                      <p:cBhvr>
                                        <p:cTn id="28"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3" presetID="10" presetClass="entr" presetSubtype="0" fill="hold" nodeType="withEffect">
                                  <p:stCondLst>
                                    <p:cond delay="0"/>
                                  </p:stCondLst>
                                  <p:childTnLst>
                                    <p:set>
                                      <p:cBhvr>
                                        <p:cTn id="31"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6" presetID="10" presetClass="entr" presetSubtype="0" fill="hold" nodeType="withEffect">
                                  <p:stCondLst>
                                    <p:cond delay="0"/>
                                  </p:stCondLst>
                                  <p:childTnLst>
                                    <p:set>
                                      <p:cBhvr>
                                        <p:cTn id="34"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9" presetID="10" presetClass="entr" presetSubtype="0" fill="hold" nodeType="withEffect">
                                  <p:stCondLst>
                                    <p:cond delay="0"/>
                                  </p:stCondLst>
                                  <p:childTnLst>
                                    <p:set>
                                      <p:cBhvr>
                                        <p:cTn id="37"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2" presetID="10" presetClass="entr" presetSubtype="0" fill="hold" nodeType="withEffect">
                                  <p:stCondLst>
                                    <p:cond delay="0"/>
                                  </p:stCondLst>
                                  <p:childTnLst>
                                    <p:set>
                                      <p:cBhvr>
                                        <p:cTn id="40"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5" presetID="10" presetClass="entr" presetSubtype="0" fill="hold" nodeType="withEffect">
                                  <p:stCondLst>
                                    <p:cond delay="0"/>
                                  </p:stCondLst>
                                  <p:childTnLst>
                                    <p:set>
                                      <p:cBhvr>
                                        <p:cTn id="43"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8" presetID="10" presetClass="entr" presetSubtype="0" fill="hold" nodeType="withEffect">
                                  <p:stCondLst>
                                    <p:cond delay="0"/>
                                  </p:stCondLst>
                                  <p:childTnLst>
                                    <p:set>
                                      <p:cBhvr>
                                        <p:cTn id="46"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51" presetID="10" presetClass="entr" presetSubtype="0" fill="hold" nodeType="withEffect">
                                  <p:stCondLst>
                                    <p:cond delay="0"/>
                                  </p:stCondLst>
                                  <p:childTnLst>
                                    <p:set>
                                      <p:cBhvr>
                                        <p:cTn id="49"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4" presetID="10" presetClass="entr" presetSubtype="0" fill="hold" nodeType="withEffect">
                                  <p:stCondLst>
                                    <p:cond delay="0"/>
                                  </p:stCondLst>
                                  <p:childTnLst>
                                    <p:set>
                                      <p:cBhvr>
                                        <p:cTn id="52"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childTnLst>
                          </p:cTn>
                        </p:par>
                      </p:childTnLst>
                    </p:cTn>
                  </p:par>
                  <p:par>
                    <p:cTn id="60" fill="hold">
                      <p:stCondLst>
                        <p:cond delay="indefinite"/>
                      </p:stCondLst>
                      <p:childTnLst>
                        <p:par>
                          <p:cTn id="61"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8" dur="500"/>
                                        <p:tgtEl>
                                          <p:spTgt spid="318"/>
                                        </p:tgtEl>
                                      </p:cBhvr>
                                    </p:animEffect>
                                  </p:childTnLst>
                                </p:cTn>
                              </p:par>
                            </p:childTnLst>
                          </p:cTn>
                        </p:par>
                      </p:childTnLst>
                    </p:cTn>
                  </p:par>
                  <p:par>
                    <p:cTn id="65" fill="hold">
                      <p:stCondLst>
                        <p:cond delay="indefinite"/>
                      </p:stCondLst>
                      <p:childTnLst>
                        <p:par>
                          <p:cTn id="66" fill="hold">
                            <p:stCondLst>
                              <p:cond delay="0"/>
                            </p:stCondLst>
                            <p:childTnLst>
                              <p:par>
                                <p:cTn id="64" presetID="10" presetClass="entr" presetSubtype="0" fill="hold" nodeType="clickEffect">
                                  <p:stCondLst>
                                    <p:cond delay="0"/>
                                  </p:stCondLst>
                                  <p:childTnLst>
                                    <p:set>
                                      <p:cBhvr>
                                        <p:cTn id="62" dur="1" fill="hold">
                                          <p:stCondLst>
                                            <p:cond delay="0"/>
                                          </p:stCondLst>
                                        </p:cTn>
                                        <p:tgtEl>
                                          <p:spTgt spid="319"/>
                                        </p:tgtEl>
                                        <p:attrNameLst>
                                          <p:attrName>style.visibility</p:attrName>
                                        </p:attrNameLst>
                                      </p:cBhvr>
                                      <p:to>
                                        <p:strVal val="visible"/>
                                      </p:to>
                                    </p:set>
                                    <p:animEffect transition="in" filter="fade">
                                      <p:cBhvr>
                                        <p:cTn id="63" dur="500"/>
                                        <p:tgtEl>
                                          <p:spTgt spid="319"/>
                                        </p:tgtEl>
                                      </p:cBhvr>
                                    </p:animEffect>
                                  </p:childTnLst>
                                </p:cTn>
                              </p:par>
                            </p:childTnLst>
                          </p:cTn>
                        </p:par>
                      </p:childTnLst>
                    </p:cTn>
                  </p:par>
                  <p:par>
                    <p:cTn id="163" fill="hold">
                      <p:stCondLst>
                        <p:cond delay="indefinite"/>
                      </p:stCondLst>
                      <p:childTnLst>
                        <p:par>
                          <p:cTn id="164" fill="hold">
                            <p:stCondLst>
                              <p:cond delay="0"/>
                            </p:stCondLst>
                            <p:childTnLst>
                              <p:par>
                                <p:cTn id="69" presetID="10" presetClass="exit" presetSubtype="0" fill="hold" nodeType="clickEffect">
                                  <p:stCondLst>
                                    <p:cond delay="0"/>
                                  </p:stCondLst>
                                  <p:childTnLst>
                                    <p:animEffect transition="out" filter="fade">
                                      <p:cBhvr>
                                        <p:cTn id="67" dur="400"/>
                                        <p:tgtEl>
                                          <p:spTgt spid="300"/>
                                        </p:tgtEl>
                                      </p:cBhvr>
                                    </p:animEffect>
                                    <p:set>
                                      <p:cBhvr>
                                        <p:cTn id="68" dur="1" fill="hold">
                                          <p:stCondLst>
                                            <p:cond delay="399"/>
                                          </p:stCondLst>
                                        </p:cTn>
                                        <p:tgtEl>
                                          <p:spTgt spid="30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0" dur="400"/>
                                        <p:tgtEl>
                                          <p:spTgt spid="301"/>
                                        </p:tgtEl>
                                      </p:cBhvr>
                                    </p:animEffect>
                                    <p:set>
                                      <p:cBhvr>
                                        <p:cTn id="71" dur="1" fill="hold">
                                          <p:stCondLst>
                                            <p:cond delay="399"/>
                                          </p:stCondLst>
                                        </p:cTn>
                                        <p:tgtEl>
                                          <p:spTgt spid="30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3" dur="400"/>
                                        <p:tgtEl>
                                          <p:spTgt spid="302"/>
                                        </p:tgtEl>
                                      </p:cBhvr>
                                    </p:animEffect>
                                    <p:set>
                                      <p:cBhvr>
                                        <p:cTn id="74" dur="1" fill="hold">
                                          <p:stCondLst>
                                            <p:cond delay="399"/>
                                          </p:stCondLst>
                                        </p:cTn>
                                        <p:tgtEl>
                                          <p:spTgt spid="30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6" dur="400"/>
                                        <p:tgtEl>
                                          <p:spTgt spid="303"/>
                                        </p:tgtEl>
                                      </p:cBhvr>
                                    </p:animEffect>
                                    <p:set>
                                      <p:cBhvr>
                                        <p:cTn id="77" dur="1" fill="hold">
                                          <p:stCondLst>
                                            <p:cond delay="399"/>
                                          </p:stCondLst>
                                        </p:cTn>
                                        <p:tgtEl>
                                          <p:spTgt spid="30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79" dur="400"/>
                                        <p:tgtEl>
                                          <p:spTgt spid="304"/>
                                        </p:tgtEl>
                                      </p:cBhvr>
                                    </p:animEffect>
                                    <p:set>
                                      <p:cBhvr>
                                        <p:cTn id="80" dur="1" fill="hold">
                                          <p:stCondLst>
                                            <p:cond delay="399"/>
                                          </p:stCondLst>
                                        </p:cTn>
                                        <p:tgtEl>
                                          <p:spTgt spid="30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2" dur="400"/>
                                        <p:tgtEl>
                                          <p:spTgt spid="305"/>
                                        </p:tgtEl>
                                      </p:cBhvr>
                                    </p:animEffect>
                                    <p:set>
                                      <p:cBhvr>
                                        <p:cTn id="83" dur="1" fill="hold">
                                          <p:stCondLst>
                                            <p:cond delay="399"/>
                                          </p:stCondLst>
                                        </p:cTn>
                                        <p:tgtEl>
                                          <p:spTgt spid="30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5" dur="400"/>
                                        <p:tgtEl>
                                          <p:spTgt spid="306"/>
                                        </p:tgtEl>
                                      </p:cBhvr>
                                    </p:animEffect>
                                    <p:set>
                                      <p:cBhvr>
                                        <p:cTn id="86" dur="1" fill="hold">
                                          <p:stCondLst>
                                            <p:cond delay="399"/>
                                          </p:stCondLst>
                                        </p:cTn>
                                        <p:tgtEl>
                                          <p:spTgt spid="30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88" dur="400"/>
                                        <p:tgtEl>
                                          <p:spTgt spid="311"/>
                                        </p:tgtEl>
                                      </p:cBhvr>
                                    </p:animEffect>
                                    <p:set>
                                      <p:cBhvr>
                                        <p:cTn id="89" dur="1" fill="hold">
                                          <p:stCondLst>
                                            <p:cond delay="399"/>
                                          </p:stCondLst>
                                        </p:cTn>
                                        <p:tgtEl>
                                          <p:spTgt spid="311"/>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1" dur="400"/>
                                        <p:tgtEl>
                                          <p:spTgt spid="312"/>
                                        </p:tgtEl>
                                      </p:cBhvr>
                                    </p:animEffect>
                                    <p:set>
                                      <p:cBhvr>
                                        <p:cTn id="92" dur="1" fill="hold">
                                          <p:stCondLst>
                                            <p:cond delay="399"/>
                                          </p:stCondLst>
                                        </p:cTn>
                                        <p:tgtEl>
                                          <p:spTgt spid="312"/>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4" dur="400"/>
                                        <p:tgtEl>
                                          <p:spTgt spid="313"/>
                                        </p:tgtEl>
                                      </p:cBhvr>
                                    </p:animEffect>
                                    <p:set>
                                      <p:cBhvr>
                                        <p:cTn id="95" dur="1" fill="hold">
                                          <p:stCondLst>
                                            <p:cond delay="399"/>
                                          </p:stCondLst>
                                        </p:cTn>
                                        <p:tgtEl>
                                          <p:spTgt spid="313"/>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97" dur="400"/>
                                        <p:tgtEl>
                                          <p:spTgt spid="314"/>
                                        </p:tgtEl>
                                      </p:cBhvr>
                                    </p:animEffect>
                                    <p:set>
                                      <p:cBhvr>
                                        <p:cTn id="98" dur="1" fill="hold">
                                          <p:stCondLst>
                                            <p:cond delay="399"/>
                                          </p:stCondLst>
                                        </p:cTn>
                                        <p:tgtEl>
                                          <p:spTgt spid="314"/>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0" dur="400"/>
                                        <p:tgtEl>
                                          <p:spTgt spid="315"/>
                                        </p:tgtEl>
                                      </p:cBhvr>
                                    </p:animEffect>
                                    <p:set>
                                      <p:cBhvr>
                                        <p:cTn id="101" dur="1" fill="hold">
                                          <p:stCondLst>
                                            <p:cond delay="399"/>
                                          </p:stCondLst>
                                        </p:cTn>
                                        <p:tgtEl>
                                          <p:spTgt spid="315"/>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3" dur="400"/>
                                        <p:tgtEl>
                                          <p:spTgt spid="318"/>
                                        </p:tgtEl>
                                      </p:cBhvr>
                                    </p:animEffect>
                                    <p:set>
                                      <p:cBhvr>
                                        <p:cTn id="104" dur="1" fill="hold">
                                          <p:stCondLst>
                                            <p:cond delay="399"/>
                                          </p:stCondLst>
                                        </p:cTn>
                                        <p:tgtEl>
                                          <p:spTgt spid="318"/>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6" dur="400"/>
                                        <p:tgtEl>
                                          <p:spTgt spid="319"/>
                                        </p:tgtEl>
                                      </p:cBhvr>
                                    </p:animEffect>
                                    <p:set>
                                      <p:cBhvr>
                                        <p:cTn id="107" dur="1" fill="hold">
                                          <p:stCondLst>
                                            <p:cond delay="399"/>
                                          </p:stCondLst>
                                        </p:cTn>
                                        <p:tgtEl>
                                          <p:spTgt spid="319"/>
                                        </p:tgtEl>
                                        <p:attrNameLst>
                                          <p:attrName>style.visibility</p:attrName>
                                        </p:attrNameLst>
                                      </p:cBhvr>
                                      <p:to>
                                        <p:strVal val="hidden"/>
                                      </p:to>
                                    </p:set>
                                  </p:childTnLst>
                                </p:cTn>
                              </p:par>
                              <p:par>
                                <p:cTn id="111" presetID="10" presetClass="entr" presetSubtype="0" fill="hold" nodeType="withEffect">
                                  <p:stCondLst>
                                    <p:cond delay="0"/>
                                  </p:stCondLst>
                                  <p:childTnLst>
                                    <p:set>
                                      <p:cBhvr>
                                        <p:cTn id="109" dur="1" fill="hold">
                                          <p:stCondLst>
                                            <p:cond delay="0"/>
                                          </p:stCondLst>
                                        </p:cTn>
                                        <p:tgtEl>
                                          <p:spTgt spid="400"/>
                                        </p:tgtEl>
                                        <p:attrNameLst>
                                          <p:attrName>style.visibility</p:attrName>
                                        </p:attrNameLst>
                                      </p:cBhvr>
                                      <p:to>
                                        <p:strVal val="visible"/>
                                      </p:to>
                                    </p:set>
                                    <p:animEffect transition="in" filter="fade">
                                      <p:cBhvr>
                                        <p:cTn id="110" dur="500"/>
                                        <p:tgtEl>
                                          <p:spTgt spid="400"/>
                                        </p:tgtEl>
                                      </p:cBhvr>
                                    </p:animEffect>
                                  </p:childTnLst>
                                </p:cTn>
                              </p:par>
                              <p:par>
                                <p:cTn id="114" presetID="10" presetClass="entr" presetSubtype="0" fill="hold" nodeType="withEffect">
                                  <p:stCondLst>
                                    <p:cond delay="0"/>
                                  </p:stCondLst>
                                  <p:childTnLst>
                                    <p:set>
                                      <p:cBhvr>
                                        <p:cTn id="112" dur="1" fill="hold">
                                          <p:stCondLst>
                                            <p:cond delay="0"/>
                                          </p:stCondLst>
                                        </p:cTn>
                                        <p:tgtEl>
                                          <p:spTgt spid="401"/>
                                        </p:tgtEl>
                                        <p:attrNameLst>
                                          <p:attrName>style.visibility</p:attrName>
                                        </p:attrNameLst>
                                      </p:cBhvr>
                                      <p:to>
                                        <p:strVal val="visible"/>
                                      </p:to>
                                    </p:set>
                                    <p:animEffect transition="in" filter="fade">
                                      <p:cBhvr>
                                        <p:cTn id="113" dur="500"/>
                                        <p:tgtEl>
                                          <p:spTgt spid="401"/>
                                        </p:tgtEl>
                                      </p:cBhvr>
                                    </p:animEffect>
                                  </p:childTnLst>
                                </p:cTn>
                              </p:par>
                              <p:par>
                                <p:cTn id="117" presetID="10" presetClass="entr" presetSubtype="0" fill="hold" nodeType="withEffect">
                                  <p:stCondLst>
                                    <p:cond delay="0"/>
                                  </p:stCondLst>
                                  <p:childTnLst>
                                    <p:set>
                                      <p:cBhvr>
                                        <p:cTn id="115" dur="1" fill="hold">
                                          <p:stCondLst>
                                            <p:cond delay="0"/>
                                          </p:stCondLst>
                                        </p:cTn>
                                        <p:tgtEl>
                                          <p:spTgt spid="402"/>
                                        </p:tgtEl>
                                        <p:attrNameLst>
                                          <p:attrName>style.visibility</p:attrName>
                                        </p:attrNameLst>
                                      </p:cBhvr>
                                      <p:to>
                                        <p:strVal val="visible"/>
                                      </p:to>
                                    </p:set>
                                    <p:animEffect transition="in" filter="fade">
                                      <p:cBhvr>
                                        <p:cTn id="116" dur="500"/>
                                        <p:tgtEl>
                                          <p:spTgt spid="402"/>
                                        </p:tgtEl>
                                      </p:cBhvr>
                                    </p:animEffect>
                                  </p:childTnLst>
                                </p:cTn>
                              </p:par>
                              <p:par>
                                <p:cTn id="120" presetID="10" presetClass="entr" presetSubtype="0" fill="hold" nodeType="withEffect">
                                  <p:stCondLst>
                                    <p:cond delay="0"/>
                                  </p:stCondLst>
                                  <p:childTnLst>
                                    <p:set>
                                      <p:cBhvr>
                                        <p:cTn id="118" dur="1" fill="hold">
                                          <p:stCondLst>
                                            <p:cond delay="0"/>
                                          </p:stCondLst>
                                        </p:cTn>
                                        <p:tgtEl>
                                          <p:spTgt spid="403"/>
                                        </p:tgtEl>
                                        <p:attrNameLst>
                                          <p:attrName>style.visibility</p:attrName>
                                        </p:attrNameLst>
                                      </p:cBhvr>
                                      <p:to>
                                        <p:strVal val="visible"/>
                                      </p:to>
                                    </p:set>
                                    <p:animEffect transition="in" filter="fade">
                                      <p:cBhvr>
                                        <p:cTn id="119" dur="500"/>
                                        <p:tgtEl>
                                          <p:spTgt spid="403"/>
                                        </p:tgtEl>
                                      </p:cBhvr>
                                    </p:animEffect>
                                  </p:childTnLst>
                                </p:cTn>
                              </p:par>
                              <p:par>
                                <p:cTn id="123" presetID="10" presetClass="entr" presetSubtype="0" fill="hold" nodeType="withEffect">
                                  <p:stCondLst>
                                    <p:cond delay="0"/>
                                  </p:stCondLst>
                                  <p:childTnLst>
                                    <p:set>
                                      <p:cBhvr>
                                        <p:cTn id="121" dur="1" fill="hold">
                                          <p:stCondLst>
                                            <p:cond delay="0"/>
                                          </p:stCondLst>
                                        </p:cTn>
                                        <p:tgtEl>
                                          <p:spTgt spid="404"/>
                                        </p:tgtEl>
                                        <p:attrNameLst>
                                          <p:attrName>style.visibility</p:attrName>
                                        </p:attrNameLst>
                                      </p:cBhvr>
                                      <p:to>
                                        <p:strVal val="visible"/>
                                      </p:to>
                                    </p:set>
                                    <p:animEffect transition="in" filter="fade">
                                      <p:cBhvr>
                                        <p:cTn id="122" dur="500"/>
                                        <p:tgtEl>
                                          <p:spTgt spid="404"/>
                                        </p:tgtEl>
                                      </p:cBhvr>
                                    </p:animEffect>
                                  </p:childTnLst>
                                </p:cTn>
                              </p:par>
                              <p:par>
                                <p:cTn id="126" presetID="10" presetClass="entr" presetSubtype="0" fill="hold" nodeType="withEffect">
                                  <p:stCondLst>
                                    <p:cond delay="0"/>
                                  </p:stCondLst>
                                  <p:childTnLst>
                                    <p:set>
                                      <p:cBhvr>
                                        <p:cTn id="124" dur="1" fill="hold">
                                          <p:stCondLst>
                                            <p:cond delay="0"/>
                                          </p:stCondLst>
                                        </p:cTn>
                                        <p:tgtEl>
                                          <p:spTgt spid="405"/>
                                        </p:tgtEl>
                                        <p:attrNameLst>
                                          <p:attrName>style.visibility</p:attrName>
                                        </p:attrNameLst>
                                      </p:cBhvr>
                                      <p:to>
                                        <p:strVal val="visible"/>
                                      </p:to>
                                    </p:set>
                                    <p:animEffect transition="in" filter="fade">
                                      <p:cBhvr>
                                        <p:cTn id="125" dur="500"/>
                                        <p:tgtEl>
                                          <p:spTgt spid="405"/>
                                        </p:tgtEl>
                                      </p:cBhvr>
                                    </p:animEffect>
                                  </p:childTnLst>
                                </p:cTn>
                              </p:par>
                              <p:par>
                                <p:cTn id="129" presetID="10" presetClass="entr" presetSubtype="0" fill="hold" nodeType="withEffect">
                                  <p:stCondLst>
                                    <p:cond delay="0"/>
                                  </p:stCondLst>
                                  <p:childTnLst>
                                    <p:set>
                                      <p:cBhvr>
                                        <p:cTn id="127" dur="1" fill="hold">
                                          <p:stCondLst>
                                            <p:cond delay="0"/>
                                          </p:stCondLst>
                                        </p:cTn>
                                        <p:tgtEl>
                                          <p:spTgt spid="406"/>
                                        </p:tgtEl>
                                        <p:attrNameLst>
                                          <p:attrName>style.visibility</p:attrName>
                                        </p:attrNameLst>
                                      </p:cBhvr>
                                      <p:to>
                                        <p:strVal val="visible"/>
                                      </p:to>
                                    </p:set>
                                    <p:animEffect transition="in" filter="fade">
                                      <p:cBhvr>
                                        <p:cTn id="128" dur="500"/>
                                        <p:tgtEl>
                                          <p:spTgt spid="406"/>
                                        </p:tgtEl>
                                      </p:cBhvr>
                                    </p:animEffect>
                                  </p:childTnLst>
                                </p:cTn>
                              </p:par>
                              <p:par>
                                <p:cTn id="132" presetID="10" presetClass="entr" presetSubtype="0" fill="hold" nodeType="withEffect">
                                  <p:stCondLst>
                                    <p:cond delay="0"/>
                                  </p:stCondLst>
                                  <p:childTnLst>
                                    <p:set>
                                      <p:cBhvr>
                                        <p:cTn id="130" dur="1" fill="hold">
                                          <p:stCondLst>
                                            <p:cond delay="0"/>
                                          </p:stCondLst>
                                        </p:cTn>
                                        <p:tgtEl>
                                          <p:spTgt spid="408"/>
                                        </p:tgtEl>
                                        <p:attrNameLst>
                                          <p:attrName>style.visibility</p:attrName>
                                        </p:attrNameLst>
                                      </p:cBhvr>
                                      <p:to>
                                        <p:strVal val="visible"/>
                                      </p:to>
                                    </p:set>
                                    <p:animEffect transition="in" filter="fade">
                                      <p:cBhvr>
                                        <p:cTn id="131" dur="500"/>
                                        <p:tgtEl>
                                          <p:spTgt spid="408"/>
                                        </p:tgtEl>
                                      </p:cBhvr>
                                    </p:animEffect>
                                  </p:childTnLst>
                                </p:cTn>
                              </p:par>
                              <p:par>
                                <p:cTn id="135" presetID="10" presetClass="entr" presetSubtype="0" fill="hold" nodeType="withEffect">
                                  <p:stCondLst>
                                    <p:cond delay="0"/>
                                  </p:stCondLst>
                                  <p:childTnLst>
                                    <p:set>
                                      <p:cBhvr>
                                        <p:cTn id="133" dur="1" fill="hold">
                                          <p:stCondLst>
                                            <p:cond delay="0"/>
                                          </p:stCondLst>
                                        </p:cTn>
                                        <p:tgtEl>
                                          <p:spTgt spid="420"/>
                                        </p:tgtEl>
                                        <p:attrNameLst>
                                          <p:attrName>style.visibility</p:attrName>
                                        </p:attrNameLst>
                                      </p:cBhvr>
                                      <p:to>
                                        <p:strVal val="visible"/>
                                      </p:to>
                                    </p:set>
                                    <p:animEffect transition="in" filter="fade">
                                      <p:cBhvr>
                                        <p:cTn id="134" dur="500"/>
                                        <p:tgtEl>
                                          <p:spTgt spid="420"/>
                                        </p:tgtEl>
                                      </p:cBhvr>
                                    </p:animEffect>
                                  </p:childTnLst>
                                </p:cTn>
                              </p:par>
                              <p:par>
                                <p:cTn id="138" presetID="10" presetClass="entr" presetSubtype="0" fill="hold" nodeType="withEffect">
                                  <p:stCondLst>
                                    <p:cond delay="0"/>
                                  </p:stCondLst>
                                  <p:childTnLst>
                                    <p:set>
                                      <p:cBhvr>
                                        <p:cTn id="136" dur="1" fill="hold">
                                          <p:stCondLst>
                                            <p:cond delay="0"/>
                                          </p:stCondLst>
                                        </p:cTn>
                                        <p:tgtEl>
                                          <p:spTgt spid="421"/>
                                        </p:tgtEl>
                                        <p:attrNameLst>
                                          <p:attrName>style.visibility</p:attrName>
                                        </p:attrNameLst>
                                      </p:cBhvr>
                                      <p:to>
                                        <p:strVal val="visible"/>
                                      </p:to>
                                    </p:set>
                                    <p:animEffect transition="in" filter="fade">
                                      <p:cBhvr>
                                        <p:cTn id="137" dur="500"/>
                                        <p:tgtEl>
                                          <p:spTgt spid="421"/>
                                        </p:tgtEl>
                                      </p:cBhvr>
                                    </p:animEffect>
                                  </p:childTnLst>
                                </p:cTn>
                              </p:par>
                              <p:par>
                                <p:cTn id="141" presetID="10" presetClass="entr" presetSubtype="0" fill="hold" nodeType="withEffect">
                                  <p:stCondLst>
                                    <p:cond delay="0"/>
                                  </p:stCondLst>
                                  <p:childTnLst>
                                    <p:set>
                                      <p:cBhvr>
                                        <p:cTn id="139" dur="1" fill="hold">
                                          <p:stCondLst>
                                            <p:cond delay="0"/>
                                          </p:stCondLst>
                                        </p:cTn>
                                        <p:tgtEl>
                                          <p:spTgt spid="422"/>
                                        </p:tgtEl>
                                        <p:attrNameLst>
                                          <p:attrName>style.visibility</p:attrName>
                                        </p:attrNameLst>
                                      </p:cBhvr>
                                      <p:to>
                                        <p:strVal val="visible"/>
                                      </p:to>
                                    </p:set>
                                    <p:animEffect transition="in" filter="fade">
                                      <p:cBhvr>
                                        <p:cTn id="140" dur="500"/>
                                        <p:tgtEl>
                                          <p:spTgt spid="422"/>
                                        </p:tgtEl>
                                      </p:cBhvr>
                                    </p:animEffect>
                                  </p:childTnLst>
                                </p:cTn>
                              </p:par>
                              <p:par>
                                <p:cTn id="144" presetID="10" presetClass="entr" presetSubtype="0" fill="hold" nodeType="withEffect">
                                  <p:stCondLst>
                                    <p:cond delay="0"/>
                                  </p:stCondLst>
                                  <p:childTnLst>
                                    <p:set>
                                      <p:cBhvr>
                                        <p:cTn id="142" dur="1" fill="hold">
                                          <p:stCondLst>
                                            <p:cond delay="0"/>
                                          </p:stCondLst>
                                        </p:cTn>
                                        <p:tgtEl>
                                          <p:spTgt spid="423"/>
                                        </p:tgtEl>
                                        <p:attrNameLst>
                                          <p:attrName>style.visibility</p:attrName>
                                        </p:attrNameLst>
                                      </p:cBhvr>
                                      <p:to>
                                        <p:strVal val="visible"/>
                                      </p:to>
                                    </p:set>
                                    <p:animEffect transition="in" filter="fade">
                                      <p:cBhvr>
                                        <p:cTn id="143" dur="500"/>
                                        <p:tgtEl>
                                          <p:spTgt spid="423"/>
                                        </p:tgtEl>
                                      </p:cBhvr>
                                    </p:animEffect>
                                  </p:childTnLst>
                                </p:cTn>
                              </p:par>
                              <p:par>
                                <p:cTn id="147" presetID="10" presetClass="entr" presetSubtype="0" fill="hold" nodeType="withEffect">
                                  <p:stCondLst>
                                    <p:cond delay="0"/>
                                  </p:stCondLst>
                                  <p:childTnLst>
                                    <p:set>
                                      <p:cBhvr>
                                        <p:cTn id="145" dur="1" fill="hold">
                                          <p:stCondLst>
                                            <p:cond delay="0"/>
                                          </p:stCondLst>
                                        </p:cTn>
                                        <p:tgtEl>
                                          <p:spTgt spid="424"/>
                                        </p:tgtEl>
                                        <p:attrNameLst>
                                          <p:attrName>style.visibility</p:attrName>
                                        </p:attrNameLst>
                                      </p:cBhvr>
                                      <p:to>
                                        <p:strVal val="visible"/>
                                      </p:to>
                                    </p:set>
                                    <p:animEffect transition="in" filter="fade">
                                      <p:cBhvr>
                                        <p:cTn id="146" dur="500"/>
                                        <p:tgtEl>
                                          <p:spTgt spid="424"/>
                                        </p:tgtEl>
                                      </p:cBhvr>
                                    </p:animEffect>
                                  </p:childTnLst>
                                </p:cTn>
                              </p:par>
                              <p:par>
                                <p:cTn id="150" presetID="10" presetClass="entr" presetSubtype="0" fill="hold" nodeType="withEffect">
                                  <p:stCondLst>
                                    <p:cond delay="0"/>
                                  </p:stCondLst>
                                  <p:childTnLst>
                                    <p:set>
                                      <p:cBhvr>
                                        <p:cTn id="148" dur="1" fill="hold">
                                          <p:stCondLst>
                                            <p:cond delay="0"/>
                                          </p:stCondLst>
                                        </p:cTn>
                                        <p:tgtEl>
                                          <p:spTgt spid="425"/>
                                        </p:tgtEl>
                                        <p:attrNameLst>
                                          <p:attrName>style.visibility</p:attrName>
                                        </p:attrNameLst>
                                      </p:cBhvr>
                                      <p:to>
                                        <p:strVal val="visible"/>
                                      </p:to>
                                    </p:set>
                                    <p:animEffect transition="in" filter="fade">
                                      <p:cBhvr>
                                        <p:cTn id="149" dur="500"/>
                                        <p:tgtEl>
                                          <p:spTgt spid="425"/>
                                        </p:tgtEl>
                                      </p:cBhvr>
                                    </p:animEffect>
                                  </p:childTnLst>
                                </p:cTn>
                              </p:par>
                              <p:par>
                                <p:cTn id="153" presetID="10" presetClass="entr" presetSubtype="0" fill="hold" nodeType="withEffect">
                                  <p:stCondLst>
                                    <p:cond delay="0"/>
                                  </p:stCondLst>
                                  <p:childTnLst>
                                    <p:set>
                                      <p:cBhvr>
                                        <p:cTn id="151" dur="1" fill="hold">
                                          <p:stCondLst>
                                            <p:cond delay="0"/>
                                          </p:stCondLst>
                                        </p:cTn>
                                        <p:tgtEl>
                                          <p:spTgt spid="426"/>
                                        </p:tgtEl>
                                        <p:attrNameLst>
                                          <p:attrName>style.visibility</p:attrName>
                                        </p:attrNameLst>
                                      </p:cBhvr>
                                      <p:to>
                                        <p:strVal val="visible"/>
                                      </p:to>
                                    </p:set>
                                    <p:animEffect transition="in" filter="fade">
                                      <p:cBhvr>
                                        <p:cTn id="152" dur="500"/>
                                        <p:tgtEl>
                                          <p:spTgt spid="426"/>
                                        </p:tgtEl>
                                      </p:cBhvr>
                                    </p:animEffect>
                                  </p:childTnLst>
                                </p:cTn>
                              </p:par>
                              <p:par>
                                <p:cTn id="156" presetID="10" presetClass="entr" presetSubtype="0" fill="hold" nodeType="withEffect">
                                  <p:stCondLst>
                                    <p:cond delay="0"/>
                                  </p:stCondLst>
                                  <p:childTnLst>
                                    <p:set>
                                      <p:cBhvr>
                                        <p:cTn id="154" dur="1" fill="hold">
                                          <p:stCondLst>
                                            <p:cond delay="0"/>
                                          </p:stCondLst>
                                        </p:cTn>
                                        <p:tgtEl>
                                          <p:spTgt spid="427"/>
                                        </p:tgtEl>
                                        <p:attrNameLst>
                                          <p:attrName>style.visibility</p:attrName>
                                        </p:attrNameLst>
                                      </p:cBhvr>
                                      <p:to>
                                        <p:strVal val="visible"/>
                                      </p:to>
                                    </p:set>
                                    <p:animEffect transition="in" filter="fade">
                                      <p:cBhvr>
                                        <p:cTn id="155" dur="500"/>
                                        <p:tgtEl>
                                          <p:spTgt spid="427"/>
                                        </p:tgtEl>
                                      </p:cBhvr>
                                    </p:animEffect>
                                  </p:childTnLst>
                                </p:cTn>
                              </p:par>
                              <p:par>
                                <p:cTn id="159" presetID="10" presetClass="entr" presetSubtype="0" fill="hold" nodeType="withEffect">
                                  <p:stCondLst>
                                    <p:cond delay="0"/>
                                  </p:stCondLst>
                                  <p:childTnLst>
                                    <p:set>
                                      <p:cBhvr>
                                        <p:cTn id="157" dur="1" fill="hold">
                                          <p:stCondLst>
                                            <p:cond delay="0"/>
                                          </p:stCondLst>
                                        </p:cTn>
                                        <p:tgtEl>
                                          <p:spTgt spid="428"/>
                                        </p:tgtEl>
                                        <p:attrNameLst>
                                          <p:attrName>style.visibility</p:attrName>
                                        </p:attrNameLst>
                                      </p:cBhvr>
                                      <p:to>
                                        <p:strVal val="visible"/>
                                      </p:to>
                                    </p:set>
                                    <p:animEffect transition="in" filter="fade">
                                      <p:cBhvr>
                                        <p:cTn id="158" dur="500"/>
                                        <p:tgtEl>
                                          <p:spTgt spid="428"/>
                                        </p:tgtEl>
                                      </p:cBhvr>
                                    </p:animEffect>
                                  </p:childTnLst>
                                </p:cTn>
                              </p:par>
                              <p:par>
                                <p:cTn id="162" presetID="10" presetClass="entr" presetSubtype="0" fill="hold" nodeType="with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