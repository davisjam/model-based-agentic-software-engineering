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651" r:id="rId4"/>
    <p:sldId id="758" r:id="rId36"/>
    <p:sldId id="744" r:id="rId5"/>
    <p:sldId id="729" r:id="rId6"/>
    <p:sldId id="745" r:id="rId7"/>
    <p:sldId id="746" r:id="rId8"/>
    <p:sldId id="704" r:id="rId9"/>
    <p:sldId id="731" r:id="rId10"/>
    <p:sldId id="747" r:id="rId11"/>
    <p:sldId id="748" r:id="rId12"/>
    <p:sldId id="749" r:id="rId13"/>
    <p:sldId id="750" r:id="rId14"/>
    <p:sldId id="720" r:id="rId15"/>
    <p:sldId id="751" r:id="rId16"/>
    <p:sldId id="752" r:id="rId17"/>
    <p:sldId id="712" r:id="rId18"/>
    <p:sldId id="713" r:id="rId19"/>
    <p:sldId id="735" r:id="rId20"/>
    <p:sldId id="753" r:id="rId21"/>
    <p:sldId id="701" r:id="rId22"/>
    <p:sldId id="754" r:id="rId23"/>
    <p:sldId id="755" r:id="rId24"/>
    <p:sldId id="638" r:id="rId25"/>
    <p:sldId id="756" r:id="rId26"/>
    <p:sldId id="757" r:id="rId27"/>
    <p:sldId id="739" r:id="rId28"/>
    <p:sldId id="740"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01" autoAdjust="0"/>
    <p:restoredTop sz="68973"/>
  </p:normalViewPr>
  <p:slideViewPr>
    <p:cSldViewPr snapToGrid="0" snapToObjects="1">
      <p:cViewPr varScale="1">
        <p:scale>
          <a:sx n="81" d="100"/>
          <a:sy n="81" d="100"/>
        </p:scale>
        <p:origin x="1480"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20 seconds — Give the lecture a visible hierarchy; name the first movement and move on.</a:t>
            </a:r>
          </a:p>
          <a:p/>
          <a:p>
            <a:r>
              <a:t>- Deliberately brief. Do not add content; the slide's job is structural.</a:t>
            </a:r>
          </a:p>
          <a:p/>
          <a:p>
            <a:r>
              <a:t>- The four section names match the footer on slide 2: specification, representation, freedom, learning.</a:t>
            </a:r>
          </a:p>
          <a:p/>
          <a:p>
            <a:r>
              <a:t>=====</a:t>
            </a:r>
          </a:p>
          <a:p/>
          <a:p>
            <a:r>
              <a:t>Section one. The opening slide gave us a model of moving from requirements to acceptable realizations. Now we ask the first question: what does specification add?</a:t>
            </a:r>
          </a:p>
          <a:p/>
          <a:p>
            <a:r>
              <a:t>Let's make that question concrete with one small system we'll use throughout the lecture.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Show that reasonable requirements can still admit substantially different realizations.</a:t>
            </a:r>
          </a:p>
          <a:p/>
          <a:p>
            <a:r>
              <a:t>- Slide 2 already framed the model; do not re-explain it. This slide makes the abstract arrow concrete.</a:t>
            </a:r>
          </a:p>
          <a:p/>
          <a:p>
            <a:r>
              <a:t>- Name these Build A, B and C out loud. The letters carry through the lecture; later slides eliminate them one at a time.</a:t>
            </a:r>
          </a:p>
          <a:p/>
          <a:p>
            <a:r>
              <a:t>- Ask the closing question and take two answers before moving on.</a:t>
            </a:r>
          </a:p>
          <a:p/>
          <a:p>
            <a:r>
              <a:t>=====</a:t>
            </a:r>
          </a:p>
          <a:p/>
          <a:p>
            <a:r>
              <a:t>Three teams receive exactly that sentence and nothing more. Team A captures a baseline once, at install, and compares last night to it, every morning. Team B keeps a rolling thirty-day baseline and sends a weekly digest. Team C runs a heart-rate variability model and only speaks up above ninety percent confidence.</a:t>
            </a:r>
          </a:p>
          <a:p/>
          <a:p>
            <a:r>
              <a:t>Every one of those satisfies the sentence. None of them is the same product. A user would notice immediately which one they had.</a:t>
            </a:r>
          </a:p>
          <a:p/>
          <a:p>
            <a:r>
              <a:t>So what does specification add that R4 did not tell us? Start with the boundary between the world we care about and the machine we can build.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Install the world/machine boundary as a working distinction, not a formalism.</a:t>
            </a:r>
          </a:p>
          <a:p/>
          <a:p>
            <a:r>
              <a:t>- This is the slide that carries Zave &amp; Jackson. The next one only consolidates it visually.</a:t>
            </a:r>
          </a:p>
          <a:p/>
          <a:p>
            <a:r>
              <a:t>- The concrete pair is the whole lesson: same intent, two vocabularies.</a:t>
            </a:r>
          </a:p>
          <a:p/>
          <a:p>
            <a:r>
              <a:t>- Students read the paper. Do not lecture the taxonomy; make its central insight usable.</a:t>
            </a:r>
          </a:p>
          <a:p/>
          <a:p>
            <a:r>
              <a:t>=====</a:t>
            </a:r>
          </a:p>
          <a:p/>
          <a:p>
            <a:r>
              <a:t>Read the left card. Users are warned before illness affects their day. Notice the vocabulary: users, illness, days. None of those are things a program can touch.</a:t>
            </a:r>
          </a:p>
          <a:p/>
          <a:p>
            <a:r>
              <a:t>Now the right card. Emit one advisory within sixty seconds of wake detection. Sleep data in, advisory out. Every term is something the machine can sense or emit.</a:t>
            </a:r>
          </a:p>
          <a:p/>
          <a:p>
            <a:r>
              <a:t>That is the boundary. A requirement is about the world; a specification constrains the machine at its interface with the world.</a:t>
            </a:r>
          </a:p>
          <a:p/>
          <a:p>
            <a:r>
              <a:t>Zave and Jackson's point is that confusing the two is the most common way this work goes wrong. You end up with a document that reads like a requirement and is handed over as if it were buildable — or one that reads like code and no longer says what anyone wanted.</a:t>
            </a:r>
          </a:p>
          <a:p/>
          <a:p>
            <a:r>
              <a:t>That gives us the distinction. Now let's make the relationship precise.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diagram is the Zave and Jackson picture of the relationship between the world and the machine.</a:t>
            </a:r>
          </a:p>
          <a:p>
            <a:r>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t>Put together: specification plus domain assumptions should imply the requirement.</a:t>
            </a:r>
          </a:p>
          <a:p>
            <a:r>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t>Zave and Jackson call the problems clustered around these relationships the four dark corners of requirements engineering. You do not need the terminology; you need the relationship.</a:t>
            </a:r>
          </a:p>
          <a:p>
            <a:r>
              <a:t>If the requirement does not follow, inspect both the specification and the domain assumptions.</a:t>
            </a:r>
          </a:p>
          <a:p/>
          <a:p>
            <a:r>
              <a:t>That is the theory. Now try doing it yourself for another Sleep Advisor requirement.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Students discover that omissions differ in kind before we give them the vocabulary.</a:t>
            </a:r>
          </a:p>
          <a:p/>
          <a:p>
            <a:r>
              <a:t>- Hold the timing firmly: 1 think, 2 pair, 2 share. Do not let the share run — the payoff is three slides away.</a:t>
            </a:r>
          </a:p>
          <a:p/>
          <a:p>
            <a:r>
              <a:t>- Likely answers to Q1: send it, let them pick a doctor, pick a format. Q2: consent, retention, revocation, what counts as a summary, what if sending fails. Q3: transport, file format, styling.</a:t>
            </a:r>
          </a:p>
          <a:p/>
          <a:p>
            <a:r>
              <a:t>- Do NOT introduce unknown / tacit / free here. Students must wrestle with the question first.</a:t>
            </a:r>
          </a:p>
          <a:p/>
          <a:p>
            <a:r>
              <a:t>- Close with the line on screen; that is the transition, not a summary.</a:t>
            </a:r>
          </a:p>
          <a:p/>
          <a:p>
            <a:r>
              <a:t>=====</a:t>
            </a:r>
          </a:p>
          <a:p/>
          <a:p>
            <a:r>
              <a:t>Now take another requirement from the same system: R7. Imagine handing exactly this requirement to an implementor who has never met the user and cannot ask you anything. One minute alone: write what the implementation must do, then everything you would still need to know.</a:t>
            </a:r>
          </a:p>
          <a:p/>
          <a:p>
            <a:r>
              <a:t>Now two minutes with a neighbour. Compare your missing-facts lists and mark the ones you would be content to let the implementor decide.</a:t>
            </a:r>
          </a:p>
          <a:p/>
          <a:p>
            <a:r>
              <a:t>Take three or four answers. Push on any two people who disagreed about whether something could be left open — that disagreement is the seed of the next section.</a:t>
            </a:r>
          </a:p>
          <a:p/>
          <a:p>
            <a:r>
              <a:t>Then close: notice that not every missing fact has the same status. Some you could answer today and did not. Some we do not yet know how to answer. Some you genuinely do not care about. We will come back to that.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just tried this for one requirement in a much smaller system. What happens when engineers have to answer the same question for a much more complex system?</a:t>
            </a:r>
          </a:p>
          <a:p>
            <a:r>
              <a:t>Let's look at one substantial example: the A-7E aircraft software specification.</a:t>
            </a:r>
          </a:p>
          <a:p>
            <a:r>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the next few minutes, I want to show you a real specification at full scale.</a:t>
            </a:r>
          </a:p>
          <a:p>
            <a:r>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t>As we look at it, do not ask which specification language they chose. They did not choose one. They use prose, defined data, tables, modes, timing constraints, and other forms.</a:t>
            </a:r>
          </a:p>
          <a:p>
            <a:r>
              <a:t>Instead ask the question we have been asking throughout this lecture: what did they need to constrain, and what could they safely leave to the implementor?</a:t>
            </a:r>
          </a:p>
          <a:p>
            <a:r>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is one more unusual thing in this document: it explicitly discusses expected types of future changes.</a:t>
            </a:r>
          </a:p>
          <a:p>
            <a:r>
              <a:t>Why would that belong in a specification?</a:t>
            </a:r>
          </a:p>
          <a:p>
            <a:r>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t>So the specification gives designers another kind of information: what can I safely treat as stable, and where should I preserve flexibility? Chapter 9 lists the fundamental assumptions first, then computer changes, interface changes, and function changes.</a:t>
            </a:r>
          </a:p>
          <a:p>
            <a:r>
              <a:t>Notice again what the authors are not doing. They are not prescribing every internal decision. They are telling the implementor which decisions are consequential.</a:t>
            </a:r>
          </a:p>
          <a:p>
            <a:r>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t>Transition: The larger lesson is that these obligations do not all look alike, so neither do the representations used to express them. Let's leave the aircraft and generalize.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should we generalize from what we just saw?</a:t>
            </a:r>
          </a:p>
          <a:p>
            <a:r>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t>We'll switch systems, back to the Sleep Advisor, but keep the same modeling question: what representation makes the property we care about visible?</a:t>
            </a:r>
          </a:p>
          <a:p>
            <a:r>
              <a:t>The A-7E needed several representations because different obligations required us to see different things. The same thing happens in our much simpler system.</a:t>
            </a:r>
          </a:p>
          <a:p>
            <a:r>
              <a:t>This idea has a long history in software engineering. Kruchten's 4+1 view model is a famous example of reasoning about one system through multiple complementary views.</a:t>
            </a:r>
          </a:p>
          <a:p>
            <a:r>
              <a:t>So for the next few slides, we will hold the Sleep Advisor fixed and deliberately change the engineering question.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specification is not a notation. We can state obligations in prose, tables, diagrams, equations, schemas, and many other forms. The engineering question determines which representation helps.</a:t>
            </a:r>
          </a:p>
          <a:p>
            <a:r>
              <a:t>A model is a purposeful reduction. It represents the distinctions the engineering question requires, and it declines to settle choices that do not matter to that question.</a:t>
            </a:r>
          </a:p>
          <a:p>
            <a:r>
              <a:t>So hold the system constant and change the question. The useful view changes with it. That is the move we are going to make over the next few slides.</a:t>
            </a:r>
          </a:p>
          <a:p>
            <a:r>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the reason the next few exist.</a:t>
            </a:r>
          </a:p>
          <a:p>
            <a:r>
              <a:t>An engineering question comes first. The representation we choose determines which properties we can state at all, and which analyses become tractable. The analysis then produces evidence about whether the property holds.</a:t>
            </a:r>
          </a:p>
          <a:p>
            <a:r>
              <a:t>Three words worth keeping distinct. A property is a claim we can express over the model. An invariant is a property required to hold over its declared domain. A check or analysis is evidence about whether it holds.</a:t>
            </a:r>
          </a:p>
          <a:p>
            <a:r>
              <a:t>The representation does not create the obligation. The obligation comes from the world and from what we have promised. What the representation gives us is a vocabulary in which the obligation becomes easier to state and reason about.</a:t>
            </a:r>
          </a:p>
          <a:p>
            <a:r>
              <a:t>We are not doing formal methods here. We are noticing that an obligation you cannot express is an obligation you cannot check.</a:t>
            </a:r>
          </a:p>
          <a:p>
            <a:r>
              <a:t>Analysis can also inform architecture and design, but that is next week's question.</a:t>
            </a:r>
          </a:p>
          <a:p>
            <a:r>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R2, R3, and R5. What may happen next? R2 says the app must learn what is normal. R3 says it must identify meaningful departures. R5 says it must adapt when normal changes. Those requirements tell us what the product must accomplish, but they do not yet tell an implementor what behavioral situations the system recognizes or which transitions are allowable.</a:t>
            </a:r>
          </a:p>
          <a:p/>
          <a:p>
            <a:r>
              <a:t>Suppose our specification makes those obligations concrete with this state model. Now we can ask a question that was difficult to answer from the requirements alone: what may happen next?</a:t>
            </a:r>
          </a:p>
          <a:p/>
          <a:p>
            <a:r>
              <a:t>Ask the class two questions against the diagram. Can MONITORING go directly back to LEARNING? Can an advisory be issued while the system is rebaselining? Both are answerable here, and neither is answerable from prose about nightly comparison. The representation makes those questions answerable.</a:t>
            </a:r>
          </a:p>
          <a:p/>
          <a:p>
            <a:r>
              <a:t>The obligation existed before the diagram. The diagram makes it expressible, so it can be checked.</a:t>
            </a:r>
          </a:p>
          <a:p/>
          <a:p>
            <a:r>
              <a:t>Notice what this model deliberately does not say: where the state is stored, which component owns it, or how transitions are implemented. Those choices are not needed to answer today's question.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Hold the system fixed and change the question. What must happen before what? R1 says to track sleep, R3 says to identify departures, and R4 says to alert the user. The requirements do not establish every allowable ordering among those activities. Suppose the specification adds this ordering constraint.</a:t>
            </a:r>
          </a:p>
          <a:p/>
          <a:p>
            <a:r>
              <a:t>Read the chain: observations recorded, night classified, compared with the baseline, advisory issued at wake. Now read the dashed path. Going straight from raw observations to an advisory is an ordering this specification forbids, and that is a claim you can only state once ordering is in the representation.</a:t>
            </a:r>
          </a:p>
          <a:p/>
          <a:p>
            <a:r>
              <a:t>So the example invariant: do not issue an advisory until the night's observations have been classified. The requirements gave us the obligations; this representation makes a consequential ordering decision explicit. Nothing in R1 through R4 forces exactly this ordering — it is a specification choice.</a:t>
            </a:r>
          </a:p>
          <a:p/>
          <a:p>
            <a:r>
              <a:t>The state model answered which situations the system may occupy. This view answers what must happen before what. 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Change the question again. What information counts as a valid weekly summary? Take R6: provide the user with a weekly sleep summary. That tells us something important about the product, but it does not yet tell an implementor — or another system consuming the summary — what constitutes a valid weekly summary.</a:t>
            </a:r>
          </a:p>
          <a:p/>
          <a:p>
            <a:r>
              <a:t>Suppose the specification defines that boundary object with this schema. A schema is specification-level when it constrains the information crossing the machine boundary: what a weekly summary must contain for anyone to accept it as a weekly summary.</a:t>
            </a:r>
          </a:p>
          <a:p/>
          <a:p>
            <a:r>
              <a:t>Required fields, types, cardinality, ranges, referential relationships. The invariant here is a cardinality claim: exactly seven nightly entries. A schema makes that constraint explicit enough to check systematically. R6 requires a weekly summary. The schema specifies what must cross the boundary for something to count as one.</a:t>
            </a:r>
          </a:p>
          <a:p/>
          <a:p>
            <a:r>
              <a:t>What this is not: a component or dependency diagram. Which parts exist, and which may depend on which, is architecture. We are still describing what an acceptable realization must accept and produce, not how it is built. That distinction is worth saying out loud, because both are drawn as boxes and lines.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put the three together. Same system, three representations, three different questions answered.</a:t>
            </a:r>
          </a:p>
          <a:p/>
          <a:p>
            <a:r>
              <a:t>None of them is a tier or a refinement of another. They are peers. They join through shared concepts: an observation, a night, an advisory. That shared vocabulary is what lets the three views describe one system without any of them being complete.</a:t>
            </a:r>
          </a:p>
          <a:p/>
          <a:p>
            <a:r>
              <a:t>All three views elaborate requirements from the same seven-line requirements set we saw at the beginning.</a:t>
            </a:r>
          </a:p>
          <a:p/>
          <a:p>
            <a:r>
              <a:t>So the closing claim of this section: no single representation needs to say everything. Use the view that makes the consequential property expressible.</a:t>
            </a:r>
          </a:p>
          <a:p/>
          <a:p>
            <a:r>
              <a:t>And the reason this matters beyond today: the system did not change across these examples. The engineering question changed, so the model changed.</a:t>
            </a:r>
          </a:p>
          <a:p/>
          <a:p>
            <a:r>
              <a:t>Next week the questions change again, to how the system should be structured, and the useful views will change with them. Same move, different questions.</a:t>
            </a:r>
          </a:p>
          <a:p/>
          <a:p>
            <a:r>
              <a:t>So far we have asked how to represent an obligation once we know it matters. The next question is harder: which obligations should we impose at all?</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20 seconds — Mark the turn from how we represent obligations to how many we should impose.</a:t>
            </a:r>
          </a:p>
          <a:p>
            <a:endParaRPr lang="en-US" sz="1200"/>
          </a:p>
          <a:p>
            <a:r>
              <a:rPr lang="en-US" sz="1200" dirty="0"/>
              <a:t>- Sections 1 and 2 were about making obligations explicit and visible. This section asks how many there should be.</a:t>
            </a:r>
          </a:p>
          <a:p>
            <a:endParaRPr lang="en-US" sz="1200"/>
          </a:p>
          <a:p>
            <a:r>
              <a:rPr lang="en-US" sz="1200" dirty="0"/>
              <a:t>- Leads straight into the first MAGE Moment. Do not pause for discussion here.</a:t>
            </a:r>
          </a:p>
          <a:p>
            <a:endParaRPr lang="en-US" sz="1200"/>
          </a:p>
          <a:p>
            <a:r>
              <a:rPr lang="en-US" sz="1200" dirty="0"/>
              <a:t>=====</a:t>
            </a:r>
          </a:p>
          <a:p>
            <a:endParaRPr lang="en-US" sz="1200"/>
          </a:p>
          <a:p>
            <a:r>
              <a:rPr lang="en-US" sz="1200" dirty="0"/>
              <a:t>Section three. We now know how to write obligations down and how to choose a representation that makes them visible. The harder question is how much of the realization we should be deciding at all.</a:t>
            </a:r>
          </a:p>
          <a:p>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picture behind everything we have said about freedom.</a:t>
            </a:r>
          </a:p>
          <a:p>
            <a:r>
              <a:t>The outer box is the space of programs someone could write. Each obligation we state carves out a region: the realizations that satisfy it. The intersection is the acceptable set.</a:t>
            </a:r>
          </a:p>
          <a:p>
            <a:r>
              <a:t>Two things to notice. First, the obligations bound a region; they do not select a point. The realizations inside that intersection can differ substantially and all remain acceptable. Those remaining choices are degrees of freedom, and a tolerance bounds the permitted variation.</a:t>
            </a:r>
          </a:p>
          <a:p>
            <a:r>
              <a:t>Second, every obligation we add shrinks the region. That is the cost side. So the question is never how much can we specify. It is which eliminated alternatives actually mattered.</a:t>
            </a:r>
          </a:p>
          <a:p>
            <a:r>
              <a:t>Narrowing is valuable only when the eliminated alternatives matter. If two realizations are equally acceptable, a specification that forbids one has spent constraint and bought nothing.</a:t>
            </a:r>
          </a:p>
          <a:p/>
          <a:p>
            <a:r>
              <a:t>But there is a trap in calling everything outside those obligations a degree of freedom. Some choices are open because we forgot something—or because we don't yet know what matters.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said obligations bound a region. This one says the unbounded part is not one thing.</a:t>
            </a:r>
          </a:p>
          <a:p>
            <a:r>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t>Here is the useful diagnostic: if a proposed realization would provoke ‘not that,’ then some consequential boundary remains, whether or not anyone has written it down. The choice was never wholly free.</a:t>
            </a:r>
          </a:p>
          <a:p>
            <a:r>
              <a:t>And for the unknown case, notice what the response is. We do not specify harder. We build, observe, and then decide, because sometimes the system is how we learn which property mattered. A degree of freedom is known freedom; uncertainty is not.</a:t>
            </a:r>
          </a:p>
          <a:p>
            <a:r>
              <a:t>That is why modeling can precede specification. Sometimes we model because we know which property must hold; sometimes we model to discover which properties matter.</a:t>
            </a:r>
          </a:p>
          <a:p/>
          <a:p>
            <a:r>
              <a:t>Let's see whether that distinction survives contact with an actual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5 minutes — Force engineering judgment rather than vocabulary recall.</a:t>
            </a:r>
          </a:p>
          <a:p/>
          <a:p>
            <a:r>
              <a:t>- Hold the timing. Cut the share short rather than letting it run; the disagreement is the point, not resolving it.</a:t>
            </a:r>
          </a:p>
          <a:p/>
          <a:p>
            <a:r>
              <a:t>- Banner colour: usually free — unless colour-blind users or a clinic house style make it consequential. Then tacit.</a:t>
            </a:r>
          </a:p>
          <a:p/>
          <a:p>
            <a:r>
              <a:t>- Detection sensitivity: the clearest UNKNOWN candidate. We may not yet know what tradeoff users will tolerate between missed events and false alarms. The response is not to invent a number because a specification needs one. The response may be to learn.</a:t>
            </a:r>
          </a:p>
          <a:p/>
          <a:p>
            <a:r>
              <a:t>- Database: usually free — unless hosting location is regulated, in which case tacit.</a:t>
            </a:r>
          </a:p>
          <a:p/>
          <a:p>
            <a:r>
              <a:t>- Bounced mail: almost always tacit, and the most interesting one. Nobody wrote down that the user must find out.</a:t>
            </a:r>
          </a:p>
          <a:p/>
          <a:p>
            <a:r>
              <a:t>- Ask what additional context would change their classification. That question is the learning objective.</a:t>
            </a:r>
          </a:p>
          <a:p/>
          <a:p>
            <a:r>
              <a:t>=====</a:t>
            </a:r>
          </a:p>
          <a:p/>
          <a:p>
            <a:r>
              <a:t>One minute alone, then two with a neighbour. Argue for a classification, then say what additional context would change your classification.</a:t>
            </a:r>
          </a:p>
          <a:p/>
          <a:p>
            <a:r>
              <a:t>Take answers on the last one first — it produces the strongest disagreement. Then close: where you disagreed is where the engineering is. The label depends on what the system owes people, not on the words in the document.</a:t>
            </a:r>
          </a:p>
          <a:p/>
          <a:p>
            <a:r>
              <a:t>One of those cases is worth following. Suppose we decide the bounced-email behavior wasn't free at all—it was tacit.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Show that agents change the economics of omitted context, not the nature of specification.</a:t>
            </a:r>
          </a:p>
          <a:p/>
          <a:p>
            <a:r>
              <a:t>- This slide is about the TACIT category specifically. The general freedom argument is already made; do not repeat it.</a:t>
            </a:r>
          </a:p>
          <a:p/>
          <a:p>
            <a:r>
              <a:t>- Candidate D callback: the specification appears to permit D, an agent builds it, a human objects — and the objection IS the unrepresented obligation.</a:t>
            </a:r>
          </a:p>
          <a:p/>
          <a:p>
            <a:r>
              <a:t>- Keep it concrete and lightly funny. Avoid generic AI alarmism.</a:t>
            </a:r>
          </a:p>
          <a:p/>
          <a:p>
            <a:r>
              <a:t>=====</a:t>
            </a:r>
          </a:p>
          <a:p/>
          <a:p>
            <a:r>
              <a:t>Return to R7 one last time. Earlier you tried to decide what an implementor would need to know. Here is what happens when one of those consequential facts stays in someone's head.</a:t>
            </a:r>
          </a:p>
          <a:p/>
          <a:p>
            <a:r>
              <a:t>A teammate who sits near you gets a bounced mail and tells the user, because obviously. An agent gets a bounced mail, logs a warning, and returns success. Nothing in R7 forbids that.</a:t>
            </a:r>
          </a:p>
          <a:p/>
          <a:p>
            <a:r>
              <a:t>That objection — obviously not that — is the sound of an obligation nobody externalised. It was real; it just was not written anywhere.</a:t>
            </a:r>
          </a:p>
          <a:p/>
          <a:p>
            <a:r>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p>
            <a:r>
              <a:t>Say aloud rather than showing: the agent does not share the team's unstated context, and what changed is the cost of leaving context unsaid.</a:t>
            </a:r>
          </a:p>
          <a:p/>
          <a:p>
            <a:r>
              <a:t>So why not eliminate this problem by specifying everything? Because constraints have a cost too—and software changes the economics of when we need to commit.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t>The circuit is the middle case. A circuit design is highly changeable before fabrication. The physical board is much less so. Software is unusual because the realized artifact itself often remains changeable.</a:t>
            </a:r>
          </a:p>
          <a:p>
            <a:r>
              <a:t>Qualification: software choices can become expensive commitments too.</a:t>
            </a:r>
          </a:p>
          <a:p>
            <a:r>
              <a:t>Orally: APIs acquire clients. Data models acquire data. Architectures acquire dependencies. Certification creates obligations.</a:t>
            </a:r>
          </a:p>
          <a:p>
            <a:r>
              <a:t>Callback to changeability in 1-2-SEProcessesAndMethodologies.pptx; seeds Architecture, Design, Engineering Capital, and Maintenance.</a:t>
            </a:r>
          </a:p>
          <a:p/>
          <a:p>
            <a:r>
              <a:t>If changing software is relatively cheap, building can sometimes be part of how we learn what should have been constrained.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Convert iteration from a scheduling habit into an epistemic claim.</a:t>
            </a:r>
          </a:p>
          <a:p/>
          <a:p>
            <a:r>
              <a:t>- Second half of a pair with the not-constrained-is-not-free slide: that carried the principle, this is the story. Tell it once.</a:t>
            </a:r>
          </a:p>
          <a:p/>
          <a:p>
            <a:r>
              <a:t>- This is the UNKNOWN case: the requirement (R5) was known from the beginning; the right specification of it was not.</a:t>
            </a:r>
          </a:p>
          <a:p/>
          <a:p>
            <a:r>
              <a:t>- The state model already made REBASELINING explicit; this story is about learning that the boundary we specified for it was drawn wrong.</a:t>
            </a:r>
          </a:p>
          <a:p/>
          <a:p>
            <a:r>
              <a:t>=====</a:t>
            </a:r>
          </a:p>
          <a:p/>
          <a:p>
            <a:r>
              <a:t>Go back to R5. We knew from the beginning that the app must adapt when a user's normal changes. So the problem here is not that we forgot the requirement.</a:t>
            </a:r>
          </a:p>
          <a:p/>
          <a:p>
            <a:r>
              <a:t>The problem is that knowing the requirement does not mean we already know the right specification. Suppose we decide that a sufficiently persistent shift should cause the system to establish a new baseline. We build that rule and put it into use.</a:t>
            </a:r>
          </a:p>
          <a:p/>
          <a:p>
            <a:r>
              <a:t>Then observation teaches us that persistence alone does not capture the distinction we actually care about. The implementation may have done exactly what the specification required. What changed was our understanding of the acceptable boundary.</a:t>
            </a:r>
          </a:p>
          <a:p/>
          <a:p>
            <a:r>
              <a:t>This is the UNKNOWN case from a few slides ago. The answer was not to specify harder before we had evidence. We specified enough to proceed, built, observed, and learned.</a:t>
            </a:r>
          </a:p>
          <a:p/>
          <a:p>
            <a:r>
              <a:t>Do not turn this into an anti-specification argument. R5 remained valid. What changed was our specification of how that requirement should be realized.</a:t>
            </a:r>
          </a:p>
          <a:p/>
          <a:p>
            <a:r>
              <a:t>That gives us the third response to an unsettled choice: not constrain, not leave open—explore.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3 minutes — Hand students the practical rule the whole lecture was arguing for.</a:t>
            </a:r>
          </a:p>
          <a:p/>
          <a:p>
            <a:r>
              <a:t>- Deliver slowly; three sentences. This is the slide where you say less than you want to.</a:t>
            </a:r>
          </a:p>
          <a:p/>
          <a:p>
            <a:r>
              <a:t>- EXPLORE is the third answer the degrees-of-freedom section earned. It is not a euphemism for failing to decide.</a:t>
            </a:r>
          </a:p>
          <a:p/>
          <a:p>
            <a:r>
              <a:t>- Line one answers the obligations side of the model, line two the freedom side, line three the unknown category.</a:t>
            </a:r>
          </a:p>
          <a:p/>
          <a:p>
            <a:r>
              <a:t>- Protect this slide's time even if earlier sections ran long.</a:t>
            </a:r>
          </a:p>
          <a:p/>
          <a:p>
            <a:r>
              <a:t>=====</a:t>
            </a:r>
          </a:p>
          <a:p/>
          <a:p>
            <a:r>
              <a:t>Constrain when two reasonable answers would produce products a user could tell apart, or different risk. Build A versus Build B was exactly this.</a:t>
            </a:r>
          </a:p>
          <a:p/>
          <a:p>
            <a:r>
              <a:t>Leave open when every answer is acceptable. Say so in writing if you can — marking something deliberately open stops the next reader treating it as an oversight, and stops an agent treating it as an invitation.</a:t>
            </a:r>
          </a:p>
          <a:p/>
          <a:p>
            <a:r>
              <a:t>Explore when you do not yet know which of those two it is. Build something, look, then decide.</a:t>
            </a:r>
          </a:p>
          <a:p/>
          <a:p>
            <a:r>
              <a:t>Read the three rules slowly and stop. They are the practical synthesis of the lecture.</a:t>
            </a:r>
          </a:p>
          <a:p/>
          <a:p>
            <a:r>
              <a:t>Check the room: ask someone to state the rule applied to their project. If what comes back is "write more requirements", it has not landed.</a:t>
            </a:r>
          </a:p>
          <a:p/>
          <a:p>
            <a:r>
              <a:t>One last distinction: once we've bounded the acceptable realizations, specification is not the rest of software engineering.</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Close by locating today inside the course, and correct the ladder misconception.</a:t>
            </a:r>
          </a:p>
          <a:p/>
          <a:p>
            <a:r>
              <a:t>- It is the model from slide 2, extended forward. Students should recognise it instantly.</a:t>
            </a:r>
          </a:p>
          <a:p/>
          <a:p>
            <a:r>
              <a:t>- Architecture and design hang under A, not under SPECIFICATION. That is the argument.</a:t>
            </a:r>
          </a:p>
          <a:p/>
          <a:p>
            <a:r>
              <a:t>- Students picture requirements to design as one ladder of increasing detail. If architecture were more specification, every architectural decision would be an obligation on the implementor — which is not how anyone works.</a:t>
            </a:r>
          </a:p>
          <a:p/>
          <a:p>
            <a:r>
              <a:t>- If over time: skip the second build and say the closing line.</a:t>
            </a:r>
          </a:p>
          <a:p/>
          <a:p>
            <a:r>
              <a:t>- Check: can they say why requirements alone may not be buildable, what a specification adds, why more than one representation, what a degree of freedom is, why unspecified is not free, why not specify everything, and how iteration discovers specification?</a:t>
            </a:r>
          </a:p>
          <a:p/>
          <a:p>
            <a:r>
              <a:t>=====</a:t>
            </a:r>
          </a:p>
          <a:p/>
          <a:p>
            <a:r>
              <a:t>We opened with this picture and we are closing with it. Requirements: what should be true. Specification: which realizations we are willing to accept. R4 allowed Builds A, B, and C until we stated more obligations. R6 became concrete when we defined the weekly-summary boundary. R5 remained a requirement even when use taught us to revise the specification.</a:t>
            </a:r>
          </a:p>
          <a:p/>
          <a:p>
            <a:r>
              <a:t>ANIMATE</a:t>
            </a:r>
          </a:p>
          <a:p/>
          <a:p>
            <a:r>
              <a:t>Architecture asks how the system is structured. Design asks how each part is realised inside. Both hang under one candidate.</a:t>
            </a:r>
          </a:p>
          <a:p/>
          <a:p>
            <a:r>
              <a:t>ANIMATE</a:t>
            </a:r>
          </a:p>
          <a:p/>
          <a:p>
            <a:r>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p>
            <a:r>
              <a:t>Today we asked which realizations are acceptable. Next we start choosing how one of those acceptable systems should be structured.</a:t>
            </a:r>
          </a:p>
          <a:p/>
          <a:p>
            <a:r>
              <a:t>Constrain what matters. Leave acceptable alternatives open. Explore what you do not yet understand.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This system is fictional. We will use it throughout the lecture because it is complicated enough to have real specification questions, but small enough that we can keep the whole problem in our heads. These requirements sound reasonable. But reasonable requirements are not yet enough to tell an implementor which realizations we would accept. Take R4.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8.svg"/><Relationship Id="rId4" Type="http://schemas.openxmlformats.org/officeDocument/2006/relationships/image" Target="../media/image9.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sv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8.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jpeg"/><Relationship Id="rId4" Type="http://schemas.openxmlformats.org/officeDocument/2006/relationships/image" Target="../media/image11.svg"/><Relationship Id="rId5" Type="http://schemas.openxmlformats.org/officeDocument/2006/relationships/image" Target="../media/image12.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pPr>
            <a:r>
              <a:rPr lang="en-US" sz="2400" b="1"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600" b="1" i="0" dirty="0">
                <a:solidFill>
                  <a:srgbClr val="FFFFFF"/>
                </a:solidFill>
              </a:rPr>
              <a:t>SPECIFICATION</a:t>
            </a:r>
          </a:p>
          <a:p>
            <a:pPr algn="ctr">
              <a:spcBef>
                <a:spcPts val="150"/>
              </a:spcBef>
              <a:buNone/>
            </a:pPr>
            <a:r>
              <a:rPr lang="en-US" sz="2000" b="0" i="0" dirty="0">
                <a:solidFill>
                  <a:srgbClr val="FFFFFF"/>
                </a:solidFill>
              </a:rPr>
              <a:t>consequential obligations</a:t>
            </a:r>
            <a:br>
              <a:rPr lang="en-US" sz="2000" b="0" i="0" dirty="0">
                <a:solidFill>
                  <a:srgbClr val="FFFFFF"/>
                </a:solidFill>
              </a:rPr>
            </a:br>
            <a:r>
              <a:rPr lang="en-US" sz="20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OBLIGATIONS</a:t>
            </a:r>
          </a:p>
          <a:p>
            <a:pPr algn="ctr">
              <a:spcBef>
                <a:spcPts val="120"/>
              </a:spcBef>
              <a:buNone/>
            </a:pPr>
            <a:r>
              <a:rPr lang="en-US" sz="20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DEGREES OF FREEDOM</a:t>
            </a:r>
          </a:p>
          <a:p>
            <a:pPr algn="ctr">
              <a:spcBef>
                <a:spcPts val="120"/>
              </a:spcBef>
              <a:buNone/>
            </a:pPr>
            <a:r>
              <a:rPr lang="en-US" sz="20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a:bodyPr>
          <a:lstStyle/>
          <a:p>
            <a:pPr algn="ctr">
              <a:buNone/>
            </a:pPr>
            <a:r>
              <a:rPr lang="en-US" sz="24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0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1879600"/>
            <a:ext cx="7772400" cy="838200"/>
          </a:xfrm>
        </p:spPr>
        <p:txBody>
          <a:bodyPr>
            <a:normAutofit fontScale="90000"/>
          </a:bodyPr>
          <a:lstStyle/>
          <a:p>
            <a:pPr algn="ctr">
              <a:buNone/>
            </a:pPr>
            <a:r>
              <a:rPr lang="en-US" sz="3600" b="1"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1</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887483" y="3429000"/>
            <a:ext cx="5369034"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pPr algn="l">
              <a:buNone/>
            </a:pPr>
            <a:r>
              <a:rPr lang="en-US" sz="3000" b="1" i="0" dirty="0">
                <a:solidFill>
                  <a:srgbClr val="000000"/>
                </a:solidFill>
              </a:rPr>
              <a:t>Running example: Sleep Advisor</a:t>
            </a:r>
          </a:p>
        </p:txBody>
      </p:sp>
      <p:sp>
        <p:nvSpPr>
          <p:cNvPr id="4" name="Slide Number Placeholder 3"/>
          <p:cNvSpPr>
            <a:spLocks noGrp="1"/>
          </p:cNvSpPr>
          <p:nvPr>
            <p:ph type="sldNum" sz="quarter" idx="4"/>
          </p:nvPr>
        </p:nvSpPr>
        <p:spPr/>
        <p:txBody>
          <a:bodyPr/>
          <a:lstStyle/>
          <a:p>
            <a:fld id="{1A2B3C4D-5E6F-7A8B-9C0D-1E2F3A4B5C6D}" type="slidenum">
              <a:rPr lang="en-US" smtClean="0"/>
              <a:t>4</a:t>
            </a:fld>
            <a:endParaRPr lang="en-US"/>
          </a:p>
        </p:txBody>
      </p:sp>
      <p:sp>
        <p:nvSpPr>
          <p:cNvPr id="100" name="Phone"/>
          <p:cNvSpPr/>
          <p:nvPr/>
        </p:nvSpPr>
        <p:spPr>
          <a:xfrm>
            <a:off x="558800" y="1229360"/>
            <a:ext cx="2209800" cy="3200400"/>
          </a:xfrm>
          <a:prstGeom prst="roundRect">
            <a:avLst>
              <a:gd name="adj" fmla="val 8000"/>
            </a:avLst>
          </a:prstGeom>
          <a:solidFill>
            <a:srgbClr val="FFFFFF"/>
          </a:solidFill>
          <a:ln w="28575">
            <a:solidFill>
              <a:srgbClr val="8E6F3E"/>
            </a:solidFill>
          </a:ln>
        </p:spPr>
        <p:txBody>
          <a:bodyPr wrap="square" lIns="109728" tIns="82296" rIns="109728" bIns="82296" anchor="t">
            <a:normAutofit/>
          </a:bodyPr>
          <a:lstStyle/>
          <a:p>
            <a:endParaRPr/>
          </a:p>
        </p:txBody>
      </p:sp>
      <p:sp>
        <p:nvSpPr>
          <p:cNvPr id="101" name="HomeBar"/>
          <p:cNvSpPr/>
          <p:nvPr/>
        </p:nvSpPr>
        <p:spPr>
          <a:xfrm>
            <a:off x="1320800" y="4172585"/>
            <a:ext cx="685800" cy="57150"/>
          </a:xfrm>
          <a:prstGeom prst="roundRect">
            <a:avLst>
              <a:gd name="adj" fmla="val 50000"/>
            </a:avLst>
          </a:prstGeom>
          <a:solidFill>
            <a:srgbClr val="C9B991"/>
          </a:solidFill>
          <a:ln>
            <a:noFill/>
          </a:ln>
        </p:spPr>
        <p:txBody>
          <a:bodyPr/>
          <a:lstStyle/>
          <a:p>
            <a:endParaRPr/>
          </a:p>
        </p:txBody>
      </p:sp>
      <p:pic>
        <p:nvPicPr>
          <p:cNvPr id="102" name="AppIcon" descr="Sleep Advisor app icon: gold crescent moon and sleep waveform on a dark rounded tile"/>
          <p:cNvPicPr>
            <a:picLocks noChangeAspect="1"/>
          </p:cNvPicPr>
          <p:nvPr/>
        </p:nvPicPr>
        <p:blipFill>
          <a:blip r:embed="rId3"/>
          <a:stretch>
            <a:fillRect/>
          </a:stretch>
        </p:blipFill>
        <p:spPr>
          <a:xfrm>
            <a:off x="1054100" y="1629410"/>
            <a:ext cx="1219200" cy="1219200"/>
          </a:xfrm>
          <a:prstGeom prst="rect">
            <a:avLst/>
          </a:prstGeom>
        </p:spPr>
      </p:pic>
      <p:sp>
        <p:nvSpPr>
          <p:cNvPr id="105" name="ScreenBar1"/>
          <p:cNvSpPr/>
          <p:nvPr/>
        </p:nvSpPr>
        <p:spPr>
          <a:xfrm>
            <a:off x="711200" y="3397250"/>
            <a:ext cx="1905000" cy="114300"/>
          </a:xfrm>
          <a:prstGeom prst="roundRect">
            <a:avLst>
              <a:gd name="adj" fmla="val 50000"/>
            </a:avLst>
          </a:prstGeom>
          <a:solidFill>
            <a:srgbClr val="F5F1E8"/>
          </a:solidFill>
          <a:ln w="9525">
            <a:solidFill>
              <a:srgbClr val="C9B991"/>
            </a:solidFill>
          </a:ln>
        </p:spPr>
        <p:txBody>
          <a:bodyPr/>
          <a:lstStyle/>
          <a:p>
            <a:endParaRPr/>
          </a:p>
        </p:txBody>
      </p:sp>
      <p:sp>
        <p:nvSpPr>
          <p:cNvPr id="106" name="ScreenBar2"/>
          <p:cNvSpPr/>
          <p:nvPr/>
        </p:nvSpPr>
        <p:spPr>
          <a:xfrm>
            <a:off x="711200" y="3648710"/>
            <a:ext cx="1524000" cy="114300"/>
          </a:xfrm>
          <a:prstGeom prst="roundRect">
            <a:avLst>
              <a:gd name="adj" fmla="val 50000"/>
            </a:avLst>
          </a:prstGeom>
          <a:solidFill>
            <a:srgbClr val="F5F1E8"/>
          </a:solidFill>
          <a:ln w="9525">
            <a:solidFill>
              <a:srgbClr val="C9B991"/>
            </a:solidFill>
          </a:ln>
        </p:spPr>
        <p:txBody>
          <a:bodyPr/>
          <a:lstStyle/>
          <a:p>
            <a:endParaRPr/>
          </a:p>
        </p:txBody>
      </p:sp>
      <p:sp>
        <p:nvSpPr>
          <p:cNvPr id="107" name="ScreenBar3"/>
          <p:cNvSpPr/>
          <p:nvPr/>
        </p:nvSpPr>
        <p:spPr>
          <a:xfrm>
            <a:off x="711200" y="3900170"/>
            <a:ext cx="1714500" cy="114300"/>
          </a:xfrm>
          <a:prstGeom prst="roundRect">
            <a:avLst>
              <a:gd name="adj" fmla="val 50000"/>
            </a:avLst>
          </a:prstGeom>
          <a:solidFill>
            <a:srgbClr val="F5F1E8"/>
          </a:solidFill>
          <a:ln w="9525">
            <a:solidFill>
              <a:srgbClr val="C9B991"/>
            </a:solidFill>
          </a:ln>
        </p:spPr>
        <p:txBody>
          <a:bodyPr/>
          <a:lstStyle/>
          <a:p>
            <a:endParaRPr/>
          </a:p>
        </p:txBody>
      </p:sp>
      <p:sp>
        <p:nvSpPr>
          <p:cNvPr id="103" name="Wordmark"/>
          <p:cNvSpPr txBox="1"/>
          <p:nvPr/>
        </p:nvSpPr>
        <p:spPr>
          <a:xfrm>
            <a:off x="609600" y="2940050"/>
            <a:ext cx="2108200" cy="274320"/>
          </a:xfrm>
          <a:prstGeom prst="rect">
            <a:avLst/>
          </a:prstGeom>
          <a:noFill/>
          <a:ln>
            <a:noFill/>
          </a:ln>
        </p:spPr>
        <p:txBody>
          <a:bodyPr lIns="0" tIns="0" rIns="0" bIns="0" anchor="ctr">
            <a:noAutofit/>
          </a:bodyPr>
          <a:lstStyle/>
          <a:p>
            <a:pPr algn="ctr">
              <a:buNone/>
            </a:pPr>
            <a:r>
              <a:rPr lang="en-US" sz="1400" b="1" spc="120" dirty="0">
                <a:solidFill>
                  <a:srgbClr val="8E6F3E"/>
                </a:solidFill>
              </a:rPr>
              <a:t>SLEEP ADVISOR</a:t>
            </a:r>
          </a:p>
        </p:txBody>
      </p:sp>
      <p:sp>
        <p:nvSpPr>
          <p:cNvPr id="104" name="AppDesc"/>
          <p:cNvSpPr txBox="1"/>
          <p:nvPr/>
        </p:nvSpPr>
        <p:spPr>
          <a:xfrm>
            <a:off x="279400" y="4632960"/>
            <a:ext cx="2781300" cy="731520"/>
          </a:xfrm>
          <a:prstGeom prst="rect">
            <a:avLst/>
          </a:prstGeom>
          <a:noFill/>
          <a:ln>
            <a:noFill/>
          </a:ln>
        </p:spPr>
        <p:txBody>
          <a:bodyPr lIns="0" tIns="0" rIns="0" bIns="0" anchor="t">
            <a:noAutofit/>
          </a:bodyPr>
          <a:lstStyle/>
          <a:p>
            <a:pPr algn="l">
              <a:buNone/>
            </a:pPr>
            <a:r>
              <a:rPr lang="en-US" sz="1300" b="0" i="0" dirty="0">
                <a:solidFill>
                  <a:srgbClr val="000000"/>
                </a:solidFill>
              </a:rPr>
              <a:t>A hypothetical app that learns a user's normal sleep patterns and helps them notice potentially important changes.</a:t>
            </a:r>
          </a:p>
        </p:txBody>
      </p:sp>
      <p:sp>
        <p:nvSpPr>
          <p:cNvPr id="110" name="ReqR1"/>
          <p:cNvSpPr/>
          <p:nvPr/>
        </p:nvSpPr>
        <p:spPr>
          <a:xfrm>
            <a:off x="3175000" y="939800"/>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R1</a:t>
            </a:r>
            <a:r>
              <a:rPr lang="en-US" sz="1500" b="0" i="0" dirty="0">
                <a:solidFill>
                  <a:srgbClr val="000000"/>
                </a:solidFill>
              </a:rPr>
              <a:t>  Track the user's sleep each night.</a:t>
            </a:r>
          </a:p>
        </p:txBody>
      </p:sp>
      <p:sp>
        <p:nvSpPr>
          <p:cNvPr id="111" name="ReqR2"/>
          <p:cNvSpPr/>
          <p:nvPr/>
        </p:nvSpPr>
        <p:spPr>
          <a:xfrm>
            <a:off x="3175000" y="1648097"/>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R2</a:t>
            </a:r>
            <a:r>
              <a:rPr lang="en-US" sz="1500" b="0" i="0" dirty="0">
                <a:solidFill>
                  <a:srgbClr val="000000"/>
                </a:solidFill>
              </a:rPr>
              <a:t>  Learn what constitutes a normal sleep pattern for the user.</a:t>
            </a:r>
          </a:p>
        </p:txBody>
      </p:sp>
      <p:sp>
        <p:nvSpPr>
          <p:cNvPr id="112" name="ReqR3"/>
          <p:cNvSpPr/>
          <p:nvPr/>
        </p:nvSpPr>
        <p:spPr>
          <a:xfrm>
            <a:off x="3175000" y="2356394"/>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R3</a:t>
            </a:r>
            <a:r>
              <a:rPr lang="en-US" sz="1500" b="0" i="0" dirty="0">
                <a:solidFill>
                  <a:srgbClr val="000000"/>
                </a:solidFill>
              </a:rPr>
              <a:t>  Identify meaningful departures from the user's normal pattern.</a:t>
            </a:r>
          </a:p>
        </p:txBody>
      </p:sp>
      <p:sp>
        <p:nvSpPr>
          <p:cNvPr id="113" name="ReqR4"/>
          <p:cNvSpPr/>
          <p:nvPr/>
        </p:nvSpPr>
        <p:spPr>
          <a:xfrm>
            <a:off x="3175000" y="3064691"/>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R4</a:t>
            </a:r>
            <a:r>
              <a:rPr lang="en-US" sz="1500" b="0" i="0" dirty="0">
                <a:solidFill>
                  <a:srgbClr val="000000"/>
                </a:solidFill>
              </a:rPr>
              <a:t>  Alert the user when their sleep pattern suggests illness.</a:t>
            </a:r>
          </a:p>
        </p:txBody>
      </p:sp>
      <p:sp>
        <p:nvSpPr>
          <p:cNvPr id="114" name="ReqR5"/>
          <p:cNvSpPr/>
          <p:nvPr/>
        </p:nvSpPr>
        <p:spPr>
          <a:xfrm>
            <a:off x="3175000" y="3772988"/>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R5</a:t>
            </a:r>
            <a:r>
              <a:rPr lang="en-US" sz="1500" b="0" i="0" dirty="0">
                <a:solidFill>
                  <a:srgbClr val="000000"/>
                </a:solidFill>
              </a:rPr>
              <a:t>  Adapt when the user's normal sleep pattern changes.</a:t>
            </a:r>
          </a:p>
        </p:txBody>
      </p:sp>
      <p:sp>
        <p:nvSpPr>
          <p:cNvPr id="115" name="ReqR6"/>
          <p:cNvSpPr/>
          <p:nvPr/>
        </p:nvSpPr>
        <p:spPr>
          <a:xfrm>
            <a:off x="3175000" y="4481285"/>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R6</a:t>
            </a:r>
            <a:r>
              <a:rPr lang="en-US" sz="1500" b="0" i="0" dirty="0">
                <a:solidFill>
                  <a:srgbClr val="000000"/>
                </a:solidFill>
              </a:rPr>
              <a:t>  Provide the user with a weekly summary of their sleep.</a:t>
            </a:r>
          </a:p>
        </p:txBody>
      </p:sp>
      <p:sp>
        <p:nvSpPr>
          <p:cNvPr id="116" name="ReqR7"/>
          <p:cNvSpPr/>
          <p:nvPr/>
        </p:nvSpPr>
        <p:spPr>
          <a:xfrm>
            <a:off x="3175000" y="5189582"/>
            <a:ext cx="5664200" cy="616857"/>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1500" b="1" i="0" dirty="0">
                <a:solidFill>
                  <a:srgbClr val="8E6F3E"/>
                </a:solidFill>
              </a:rPr>
              <a:t>R7</a:t>
            </a:r>
            <a:r>
              <a:rPr lang="en-US" sz="1500" b="0" i="0" dirty="0">
                <a:solidFill>
                  <a:srgbClr val="000000"/>
                </a:solidFill>
              </a:rPr>
              <a:t>  Let the user share a weekly sleep summary with their doctor.</a:t>
            </a:r>
          </a:p>
        </p:txBody>
      </p:sp>
      <p:sp>
        <p:nvSpPr>
          <p:cNvPr id="120" name="Band"/>
          <p:cNvSpPr/>
          <p:nvPr/>
        </p:nvSpPr>
        <p:spPr>
          <a:xfrm>
            <a:off x="279400" y="5943600"/>
            <a:ext cx="8559800" cy="502920"/>
          </a:xfrm>
          <a:prstGeom prst="rect">
            <a:avLst/>
          </a:prstGeom>
          <a:solidFill>
            <a:srgbClr val="8E6F3E"/>
          </a:solidFill>
          <a:ln>
            <a:noFill/>
          </a:ln>
        </p:spPr>
        <p:txBody>
          <a:bodyPr wrap="square" lIns="109728" tIns="82296" rIns="109728" bIns="82296" anchor="ctr">
            <a:normAutofit/>
          </a:bodyPr>
          <a:lstStyle/>
          <a:p>
            <a:pPr algn="ctr">
              <a:buNone/>
            </a:pPr>
            <a:r>
              <a:rPr lang="en-US" sz="2000" b="0" i="0" dirty="0">
                <a:solidFill>
                  <a:srgbClr val="FFFFFF"/>
                </a:solidFill>
              </a:rPr>
              <a:t>These say what we want. </a:t>
            </a:r>
            <a:r>
              <a:rPr lang="en-US" sz="2000" b="1" i="0" dirty="0">
                <a:solidFill>
                  <a:srgbClr val="FFFFFF"/>
                </a:solidFill>
              </a:rPr>
              <a:t>They do not yet say enough to build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pPr>
            <a:r>
              <a:rPr lang="en-US" sz="3000" b="1"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000000"/>
                </a:solidFill>
              </a:rPr>
              <a:t>R4   The app shall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A</a:t>
            </a:r>
          </a:p>
          <a:p>
            <a:pPr algn="l">
              <a:spcBef>
                <a:spcPts val="200"/>
              </a:spcBef>
              <a:buNone/>
            </a:pPr>
            <a:r>
              <a:rPr lang="en-US" sz="2000" b="0" i="0" dirty="0">
                <a:solidFill>
                  <a:srgbClr val="000000"/>
                </a:solidFill>
              </a:rPr>
              <a:t>baseline set at install</a:t>
            </a:r>
          </a:p>
          <a:p>
            <a:pPr algn="l">
              <a:spcBef>
                <a:spcPts val="200"/>
              </a:spcBef>
              <a:buNone/>
            </a:pPr>
            <a:r>
              <a:rPr lang="en-US" sz="20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B</a:t>
            </a:r>
          </a:p>
          <a:p>
            <a:pPr algn="l">
              <a:spcBef>
                <a:spcPts val="200"/>
              </a:spcBef>
              <a:buNone/>
            </a:pPr>
            <a:r>
              <a:rPr lang="en-US" sz="2000" b="0" i="0" dirty="0">
                <a:solidFill>
                  <a:srgbClr val="000000"/>
                </a:solidFill>
              </a:rPr>
              <a:t>rolling 30-day baseline</a:t>
            </a:r>
          </a:p>
          <a:p>
            <a:pPr algn="l">
              <a:spcBef>
                <a:spcPts val="200"/>
              </a:spcBef>
              <a:buNone/>
            </a:pPr>
            <a:r>
              <a:rPr lang="en-US" sz="20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C</a:t>
            </a:r>
          </a:p>
          <a:p>
            <a:pPr algn="l">
              <a:spcBef>
                <a:spcPts val="200"/>
              </a:spcBef>
              <a:buNone/>
            </a:pPr>
            <a:r>
              <a:rPr lang="en-US" sz="2000" b="0" i="0" dirty="0">
                <a:solidFill>
                  <a:srgbClr val="000000"/>
                </a:solidFill>
              </a:rPr>
              <a:t>heart-rate model</a:t>
            </a:r>
          </a:p>
          <a:p>
            <a:pPr algn="l">
              <a:spcBef>
                <a:spcPts val="200"/>
              </a:spcBef>
              <a:buNone/>
            </a:pPr>
            <a:r>
              <a:rPr lang="en-US" sz="20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200" b="0" i="0" dirty="0">
                <a:solidFill>
                  <a:srgbClr val="FFFFFF"/>
                </a:solidFill>
              </a:rPr>
              <a:t>All three satisfy R4 as written.</a:t>
            </a:r>
          </a:p>
          <a:p>
            <a:pPr algn="ctr">
              <a:spcBef>
                <a:spcPts val="200"/>
              </a:spcBef>
              <a:buNone/>
            </a:pPr>
            <a:r>
              <a:rPr lang="en-US" sz="26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p:txBody>
          <a:bodyPr>
            <a:normAutofit fontScale="90000"/>
          </a:bodyPr>
          <a:lstStyle/>
          <a:p>
            <a:pPr algn="l">
              <a:buNone/>
            </a:pPr>
            <a:r>
              <a:rPr lang="en-US" sz="3200" b="1" i="0" dirty="0">
                <a:solidFill>
                  <a:srgbClr val="000000"/>
                </a:solidFill>
              </a:rPr>
              <a:t>Requirements ≠ specification</a:t>
            </a: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par>
                                <p:cTn id="13" presetID="10" presetClass="entr" presetSubtype="0" fill="hold" nodeType="withEffect">
                                  <p:stCondLst>
                                    <p:cond delay="0"/>
                                  </p:stCondLst>
                                  <p:childTnLst>
                                    <p:set>
                                      <p:cBhvr>
                                        <p:cTn id="14" dur="1" fill="hold">
                                          <p:stCondLst>
                                            <p:cond delay="0"/>
                                          </p:stCondLst>
                                        </p:cTn>
                                        <p:tgtEl>
                                          <p:spTgt spid="62"/>
                                        </p:tgtEl>
                                        <p:attrNameLst>
                                          <p:attrName>style.visibility</p:attrName>
                                        </p:attrNameLst>
                                      </p:cBhvr>
                                      <p:to>
                                        <p:strVal val="visible"/>
                                      </p:to>
                                    </p:set>
                                    <p:animEffect transition="in" filter="fade">
                                      <p:cBhvr>
                                        <p:cTn id="15" dur="400"/>
                                        <p:tgtEl>
                                          <p:spTgt spid="6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63"/>
                                        </p:tgtEl>
                                        <p:attrNameLst>
                                          <p:attrName>style.visibility</p:attrName>
                                        </p:attrNameLst>
                                      </p:cBhvr>
                                      <p:to>
                                        <p:strVal val="visible"/>
                                      </p:to>
                                    </p:set>
                                    <p:animEffect transition="in" filter="fade">
                                      <p:cBhvr>
                                        <p:cTn id="20" dur="400"/>
                                        <p:tgtEl>
                                          <p:spTgt spid="63"/>
                                        </p:tgtEl>
                                      </p:cBhvr>
                                    </p:animEffect>
                                  </p:childTnLst>
                                </p:cTn>
                              </p:par>
                              <p:par>
                                <p:cTn id="21" presetID="10" presetClass="entr" presetSubtype="0" fill="hold" nodeType="with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400"/>
                                        <p:tgtEl>
                                          <p:spTgt spid="64"/>
                                        </p:tgtEl>
                                      </p:cBhvr>
                                    </p:animEffect>
                                  </p:childTnLst>
                                </p:cTn>
                              </p:par>
                              <p:par>
                                <p:cTn id="24" presetID="10" presetClass="entr" presetSubtype="0" fill="hold" nodeType="withEffect">
                                  <p:stCondLst>
                                    <p:cond delay="0"/>
                                  </p:stCondLst>
                                  <p:childTnLst>
                                    <p:set>
                                      <p:cBhvr>
                                        <p:cTn id="25" dur="1" fill="hold">
                                          <p:stCondLst>
                                            <p:cond delay="0"/>
                                          </p:stCondLst>
                                        </p:cTn>
                                        <p:tgtEl>
                                          <p:spTgt spid="65"/>
                                        </p:tgtEl>
                                        <p:attrNameLst>
                                          <p:attrName>style.visibility</p:attrName>
                                        </p:attrNameLst>
                                      </p:cBhvr>
                                      <p:to>
                                        <p:strVal val="visible"/>
                                      </p:to>
                                    </p:set>
                                    <p:animEffect transition="in" filter="fade">
                                      <p:cBhvr>
                                        <p:cTn id="26" dur="400"/>
                                        <p:tgtEl>
                                          <p:spTgt spid="65"/>
                                        </p:tgtEl>
                                      </p:cBhvr>
                                    </p:animEffect>
                                  </p:childTnLst>
                                </p:cTn>
                              </p:par>
                              <p:par>
                                <p:cTn id="27" presetID="10" presetClass="entr" presetSubtype="0" fill="hold" nodeType="with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fade">
                                      <p:cBhvr>
                                        <p:cTn id="29"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p:txBody>
          <a:bodyPr>
            <a:normAutofit fontScale="90000"/>
          </a:bodyPr>
          <a:lstStyle/>
          <a:p>
            <a:pPr>
              <a:buNone/>
            </a:pPr>
            <a:r>
              <a:rPr lang="en-US" b="1"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fontScale="92500"/>
          </a:bodyPr>
          <a:lstStyle/>
          <a:p>
            <a:pPr algn="ctr">
              <a:buNone/>
            </a:pPr>
            <a:r>
              <a:rPr lang="en-US" sz="2200" b="1" i="0" dirty="0">
                <a:solidFill>
                  <a:srgbClr val="000000"/>
                </a:solidFill>
              </a:rPr>
              <a:t>Correct software is not enough if our assumptions about the world are wrong.</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p:txBody>
          <a:bodyPr>
            <a:normAutofit fontScale="90000"/>
          </a:bodyPr>
          <a:lstStyle/>
          <a:p>
            <a:pPr algn="l">
              <a:buNone/>
            </a:pPr>
            <a:r>
              <a:rPr lang="en-US" sz="2800" b="1" i="0" dirty="0">
                <a:solidFill>
                  <a:srgbClr val="000000"/>
                </a:solidFill>
              </a:rPr>
              <a:t>What would you tell the implementor?</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8</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must the app do?</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facts are missing?</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3</a:t>
            </a:r>
          </a:p>
          <a:p>
            <a:pPr algn="l">
              <a:spcBef>
                <a:spcPts val="160"/>
              </a:spcBef>
              <a:buNone/>
            </a:pPr>
            <a:r>
              <a:rPr lang="en-US" sz="2200" b="1" i="0" dirty="0">
                <a:solidFill>
                  <a:srgbClr val="000000"/>
                </a:solidFill>
              </a:rPr>
              <a:t>What can remain unspecified?</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has the same status.</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What can we learn from how the A-7E specification makes obligations explicit?</a:t>
            </a:r>
          </a:p>
        </p:txBody>
      </p:sp>
      <p:sp>
        <p:nvSpPr>
          <p:cNvPr id="60" name="S60"/>
          <p:cNvSpPr/>
          <p:nvPr/>
        </p:nvSpPr>
        <p:spPr>
          <a:xfrm>
            <a:off x="5080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fontScale="92500"/>
          </a:bodyPr>
          <a:lstStyle/>
          <a:p>
            <a:pPr algn="ctr">
              <a:buNone/>
            </a:pPr>
            <a:r>
              <a:rPr lang="en-US" sz="2000" b="1" i="0" dirty="0">
                <a:solidFill>
                  <a:srgbClr val="7A7466"/>
                </a:solidFill>
              </a:rPr>
              <a:t>REQUIREMENTS</a:t>
            </a:r>
          </a:p>
        </p:txBody>
      </p:sp>
      <p:cxnSp>
        <p:nvCxnSpPr>
          <p:cNvPr id="61" name="L61"/>
          <p:cNvCxnSpPr/>
          <p:nvPr/>
        </p:nvCxnSpPr>
        <p:spPr>
          <a:xfrm>
            <a:off x="2463800" y="4573755"/>
            <a:ext cx="279400" cy="0"/>
          </a:xfrm>
          <a:prstGeom prst="line">
            <a:avLst/>
          </a:prstGeom>
          <a:ln w="12700">
            <a:solidFill>
              <a:srgbClr val="7A7466"/>
            </a:solidFill>
            <a:tailEnd type="triangle" w="med" len="med"/>
          </a:ln>
        </p:spPr>
      </p:cxnSp>
      <p:sp>
        <p:nvSpPr>
          <p:cNvPr id="62" name="S62"/>
          <p:cNvSpPr/>
          <p:nvPr/>
        </p:nvSpPr>
        <p:spPr>
          <a:xfrm>
            <a:off x="2819400" y="4141955"/>
            <a:ext cx="2413000" cy="863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5283200" y="4573755"/>
            <a:ext cx="279400" cy="0"/>
          </a:xfrm>
          <a:prstGeom prst="line">
            <a:avLst/>
          </a:prstGeom>
          <a:ln w="12700">
            <a:solidFill>
              <a:srgbClr val="7A7466"/>
            </a:solidFill>
            <a:tailEnd type="triangle" w="med" len="med"/>
          </a:ln>
        </p:spPr>
      </p:cxnSp>
      <p:sp>
        <p:nvSpPr>
          <p:cNvPr id="64" name="S64"/>
          <p:cNvSpPr/>
          <p:nvPr/>
        </p:nvSpPr>
        <p:spPr>
          <a:xfrm>
            <a:off x="56388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000" b="1" i="0" dirty="0">
                <a:solidFill>
                  <a:srgbClr val="7A7466"/>
                </a:solidFill>
              </a:rPr>
              <a:t>OBLIGATIONS</a:t>
            </a:r>
          </a:p>
        </p:txBody>
      </p:sp>
      <p:cxnSp>
        <p:nvCxnSpPr>
          <p:cNvPr id="65" name="L65"/>
          <p:cNvCxnSpPr/>
          <p:nvPr/>
        </p:nvCxnSpPr>
        <p:spPr>
          <a:xfrm>
            <a:off x="7594600" y="4573755"/>
            <a:ext cx="279400" cy="0"/>
          </a:xfrm>
          <a:prstGeom prst="line">
            <a:avLst/>
          </a:prstGeom>
          <a:ln w="12700">
            <a:solidFill>
              <a:srgbClr val="7A7466"/>
            </a:solidFill>
            <a:tailEnd type="triangle" w="med" len="med"/>
          </a:ln>
        </p:spPr>
      </p:cxnSp>
      <p:sp>
        <p:nvSpPr>
          <p:cNvPr id="66" name="S66"/>
          <p:cNvSpPr/>
          <p:nvPr/>
        </p:nvSpPr>
        <p:spPr>
          <a:xfrm>
            <a:off x="7950200" y="4243555"/>
            <a:ext cx="762000" cy="660400"/>
          </a:xfrm>
          <a:prstGeom prst="roundRect">
            <a:avLst/>
          </a:prstGeom>
          <a:solidFill>
            <a:srgbClr val="FFFFFF"/>
          </a:solidFill>
          <a:ln w="9525">
            <a:solidFill>
              <a:srgbClr val="7A7466"/>
            </a:solidFill>
            <a:prstDash val="dash"/>
          </a:ln>
        </p:spPr>
        <p:txBody>
          <a:bodyPr wrap="square" lIns="109728" tIns="82296" rIns="109728" bIns="82296" anchor="ctr">
            <a:normAutofit fontScale="85000" lnSpcReduction="10000"/>
          </a:bodyPr>
          <a:lstStyle/>
          <a:p>
            <a:pPr algn="ctr">
              <a:buNone/>
            </a:pPr>
            <a:r>
              <a:rPr lang="en-US" sz="20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pPr>
            <a:r>
              <a:rPr lang="en-US" b="1"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A substantial specification of externally visible behavior</a:t>
            </a:r>
          </a:p>
          <a:p>
            <a:pPr>
              <a:spcBef>
                <a:spcPts val="300"/>
              </a:spcBef>
              <a:buNone/>
            </a:pPr>
            <a:r>
              <a:rPr lang="en-US" sz="16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Multiple representations</a:t>
            </a:r>
          </a:p>
          <a:p>
            <a:pPr>
              <a:spcBef>
                <a:spcPts val="300"/>
              </a:spcBef>
              <a:buNone/>
            </a:pPr>
            <a:r>
              <a:rPr lang="en-US" sz="16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0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pPr>
            <a:r>
              <a:rPr lang="en-US" b="1"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Current mode</a:t>
            </a:r>
          </a:p>
          <a:p>
            <a:pPr>
              <a:spcBef>
                <a:spcPts val="200"/>
              </a:spcBef>
              <a:buNone/>
            </a:pPr>
            <a:r>
              <a:rPr lang="en-US" sz="1600" dirty="0">
                <a:solidFill>
                  <a:srgbClr val="555960"/>
                </a:solidFill>
              </a:rPr>
              <a:t>the state the software is in</a:t>
            </a:r>
          </a:p>
        </p:txBody>
      </p:sp>
      <p:sp>
        <p:nvSpPr>
          <p:cNvPr id="306" name="Item"/>
          <p:cNvSpPr txBox="1"/>
          <p:nvPr/>
        </p:nvSpPr>
        <p:spPr>
          <a:xfrm>
            <a:off x="4546600" y="22860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Event or condition</a:t>
            </a:r>
          </a:p>
          <a:p>
            <a:pPr>
              <a:spcBef>
                <a:spcPts val="200"/>
              </a:spcBef>
              <a:buNone/>
            </a:pPr>
            <a:r>
              <a:rPr lang="en-US" sz="1600" dirty="0">
                <a:solidFill>
                  <a:srgbClr val="555960"/>
                </a:solidFill>
              </a:rPr>
              <a:t>what happens, and what holds when it does</a:t>
            </a:r>
          </a:p>
        </p:txBody>
      </p:sp>
      <p:sp>
        <p:nvSpPr>
          <p:cNvPr id="308" name="Item"/>
          <p:cNvSpPr txBox="1"/>
          <p:nvPr/>
        </p:nvSpPr>
        <p:spPr>
          <a:xfrm>
            <a:off x="4546600" y="32512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Required resulting behavior</a:t>
            </a:r>
          </a:p>
          <a:p>
            <a:pPr>
              <a:spcBef>
                <a:spcPts val="200"/>
              </a:spcBef>
              <a:buNone/>
            </a:pPr>
            <a:r>
              <a:rPr lang="en-US" sz="16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7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1900" b="1" dirty="0">
                <a:solidFill>
                  <a:srgbClr val="FFFFFF"/>
                </a:solidFill>
              </a:rPr>
              <a:t>The specification constrains observable behavior;</a:t>
            </a:r>
          </a:p>
          <a:p>
            <a:pPr algn="ctr">
              <a:buNone/>
            </a:pPr>
            <a:r>
              <a:rPr lang="en-US" sz="19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pPr>
            <a:r>
              <a:rPr lang="en-US" b="1"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300" b="1" spc="80" dirty="0">
                <a:solidFill>
                  <a:srgbClr val="8E6F3E"/>
                </a:solidFill>
              </a:rPr>
              <a:t>THREE QUANTITIES, NOT ONE</a:t>
            </a:r>
          </a:p>
          <a:p>
            <a:pPr>
              <a:spcBef>
                <a:spcPts val="300"/>
              </a:spcBef>
              <a:buNone/>
            </a:pPr>
            <a:r>
              <a:rPr lang="en-US" sz="1500" dirty="0">
                <a:solidFill>
                  <a:srgbClr val="3A3A3A"/>
                </a:solidFill>
              </a:rPr>
              <a:t>Current rate — what the system does now</a:t>
            </a:r>
          </a:p>
          <a:p>
            <a:pPr>
              <a:spcBef>
                <a:spcPts val="200"/>
              </a:spcBef>
              <a:buNone/>
            </a:pPr>
            <a:r>
              <a:rPr lang="en-US" sz="1500" dirty="0">
                <a:solidFill>
                  <a:srgbClr val="3A3A3A"/>
                </a:solidFill>
              </a:rPr>
              <a:t>Minimum allowable rate — how slow it may become</a:t>
            </a:r>
          </a:p>
          <a:p>
            <a:pPr>
              <a:spcBef>
                <a:spcPts val="200"/>
              </a:spcBef>
              <a:buNone/>
            </a:pPr>
            <a:r>
              <a:rPr lang="en-US" sz="1500" dirty="0">
                <a:solidFill>
                  <a:srgbClr val="3A3A3A"/>
                </a:solidFill>
              </a:rPr>
              <a:t>Maximum useful rate — where faster stops buying anything</a:t>
            </a:r>
          </a:p>
        </p:txBody>
      </p:sp>
      <p:sp>
        <p:nvSpPr>
          <p:cNvPr id="1904" name="Right"/>
          <p:cNvSpPr txBox="1"/>
          <p:nvPr/>
        </p:nvSpPr>
        <p:spPr>
          <a:xfrm>
            <a:off x="5664200" y="3937000"/>
            <a:ext cx="3175000" cy="14732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300" b="1" spc="80" dirty="0">
                <a:solidFill>
                  <a:srgbClr val="8E6F3E"/>
                </a:solidFill>
              </a:rPr>
              <a:t>AND SOMETIMES THE CONSTRAINT IS: NONE</a:t>
            </a:r>
          </a:p>
          <a:p>
            <a:pPr>
              <a:spcBef>
                <a:spcPts val="300"/>
              </a:spcBef>
              <a:buNone/>
            </a:pPr>
            <a:r>
              <a:rPr lang="en-US" sz="16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613400"/>
            <a:ext cx="8559800" cy="660400"/>
          </a:xfrm>
          <a:prstGeom prst="rect">
            <a:avLst/>
          </a:prstGeom>
          <a:solidFill>
            <a:srgbClr val="8E6F3E"/>
          </a:solidFill>
          <a:ln>
            <a:noFill/>
          </a:ln>
        </p:spPr>
        <p:txBody>
          <a:bodyPr lIns="114300" tIns="68580" rIns="114300" bIns="68580" anchor="ctr">
            <a:noAutofit/>
          </a:bodyPr>
          <a:lstStyle/>
          <a:p>
            <a:pPr algn="ctr">
              <a:buNone/>
            </a:pPr>
            <a:r>
              <a:rPr lang="en-US" sz="18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pPr>
            <a:r>
              <a:rPr lang="en-US" b="1"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528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USEFUL SUBSET</a:t>
            </a:r>
          </a:p>
        </p:txBody>
      </p:sp>
      <p:sp>
        <p:nvSpPr>
          <p:cNvPr id="404" name="RowBar"/>
          <p:cNvSpPr txBox="1"/>
          <p:nvPr/>
        </p:nvSpPr>
        <p:spPr>
          <a:xfrm>
            <a:off x="2311400" y="3352800"/>
            <a:ext cx="2540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Input · Hardware test · Scheduling</a:t>
            </a:r>
          </a:p>
        </p:txBody>
      </p:sp>
      <p:sp>
        <p:nvSpPr>
          <p:cNvPr id="405" name="RowLabel"/>
          <p:cNvSpPr txBox="1"/>
          <p:nvPr/>
        </p:nvSpPr>
        <p:spPr>
          <a:xfrm>
            <a:off x="279400" y="39370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LARGER SUBSET</a:t>
            </a:r>
          </a:p>
        </p:txBody>
      </p:sp>
      <p:sp>
        <p:nvSpPr>
          <p:cNvPr id="406" name="RowBar"/>
          <p:cNvSpPr txBox="1"/>
          <p:nvPr/>
        </p:nvSpPr>
        <p:spPr>
          <a:xfrm>
            <a:off x="2311400" y="3937000"/>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 Navigation</a:t>
            </a:r>
          </a:p>
        </p:txBody>
      </p:sp>
      <p:sp>
        <p:nvSpPr>
          <p:cNvPr id="407" name="RowLabel"/>
          <p:cNvSpPr txBox="1"/>
          <p:nvPr/>
        </p:nvSpPr>
        <p:spPr>
          <a:xfrm>
            <a:off x="279400" y="45212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OPERATIONAL FLIGHT PROGRAM (OFP)</a:t>
            </a:r>
          </a:p>
        </p:txBody>
      </p:sp>
      <p:sp>
        <p:nvSpPr>
          <p:cNvPr id="408" name="RowBar"/>
          <p:cNvSpPr txBox="1"/>
          <p:nvPr/>
        </p:nvSpPr>
        <p:spPr>
          <a:xfrm>
            <a:off x="2311400" y="4521200"/>
            <a:ext cx="5969000" cy="431800"/>
          </a:xfrm>
          <a:prstGeom prst="rect">
            <a:avLst/>
          </a:prstGeom>
          <a:solidFill>
            <a:srgbClr val="8E6F3E"/>
          </a:solidFill>
          <a:ln>
            <a:noFill/>
          </a:ln>
        </p:spPr>
        <p:txBody>
          <a:bodyPr lIns="114300" tIns="45720" rIns="114300" bIns="45720" anchor="ctr">
            <a:noAutofit/>
          </a:bodyPr>
          <a:lstStyle/>
          <a:p>
            <a:pPr algn="ctr">
              <a:buNone/>
            </a:pPr>
            <a:r>
              <a:rPr lang="en-US" sz="1600" b="1" dirty="0">
                <a:solidFill>
                  <a:srgbClr val="FFFFFF"/>
                </a:solidFill>
              </a:rPr>
              <a:t>+ Pilot display · Weapons delivery</a:t>
            </a:r>
          </a:p>
        </p:txBody>
      </p:sp>
      <p:cxnSp>
        <p:nvCxnSpPr>
          <p:cNvPr id="409" name="Grow"/>
          <p:cNvCxnSpPr/>
          <p:nvPr/>
        </p:nvCxnSpPr>
        <p:spPr>
          <a:xfrm>
            <a:off x="2540000" y="3784600"/>
            <a:ext cx="0" cy="152400"/>
          </a:xfrm>
          <a:prstGeom prst="line">
            <a:avLst/>
          </a:prstGeom>
          <a:ln w="19050">
            <a:solidFill>
              <a:srgbClr val="8E6F3E"/>
            </a:solidFill>
            <a:tailEnd type="triangle"/>
          </a:ln>
        </p:spPr>
      </p:cxnSp>
      <p:cxnSp>
        <p:nvCxnSpPr>
          <p:cNvPr id="410" name="Grow"/>
          <p:cNvCxnSpPr/>
          <p:nvPr/>
        </p:nvCxnSpPr>
        <p:spPr>
          <a:xfrm>
            <a:off x="2540000" y="4368800"/>
            <a:ext cx="0" cy="152400"/>
          </a:xfrm>
          <a:prstGeom prst="line">
            <a:avLst/>
          </a:prstGeom>
          <a:ln w="19050">
            <a:solidFill>
              <a:srgbClr val="8E6F3E"/>
            </a:solidFill>
            <a:tailEnd type="triangle"/>
          </a:ln>
        </p:spPr>
      </p:cxnSp>
      <p:sp>
        <p:nvSpPr>
          <p:cNvPr id="411" name="Constraints"/>
          <p:cNvSpPr txBox="1"/>
          <p:nvPr/>
        </p:nvSpPr>
        <p:spPr>
          <a:xfrm>
            <a:off x="279400" y="5029200"/>
            <a:ext cx="8559800" cy="508000"/>
          </a:xfrm>
          <a:prstGeom prst="rect">
            <a:avLst/>
          </a:prstGeom>
          <a:noFill/>
          <a:ln>
            <a:noFill/>
          </a:ln>
        </p:spPr>
        <p:txBody>
          <a:bodyPr lIns="0" tIns="45720" rIns="0" bIns="45720" anchor="t">
            <a:noAutofit/>
          </a:bodyPr>
          <a:lstStyle/>
          <a:p>
            <a:pPr>
              <a:buNone/>
            </a:pPr>
            <a:r>
              <a:rPr lang="en-US" sz="1600" dirty="0">
                <a:solidFill>
                  <a:srgbClr val="3A3A3A"/>
                </a:solidFill>
              </a:rPr>
              <a:t>Add functionality: do not rewrite what already works.</a:t>
            </a:r>
          </a:p>
          <a:p>
            <a:pPr>
              <a:spcBef>
                <a:spcPts val="200"/>
              </a:spcBef>
              <a:buNone/>
            </a:pPr>
            <a:r>
              <a:rPr lang="en-US" sz="16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pPr>
            <a:r>
              <a:rPr lang="en-US" b="1"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14</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209800"/>
          </a:xfrm>
          <a:prstGeom prst="rect">
            <a:avLst/>
          </a:prstGeom>
          <a:noFill/>
          <a:ln w="9525">
            <a:solidFill>
              <a:srgbClr val="C9C4BB"/>
            </a:solidFill>
          </a:ln>
        </p:spPr>
        <p:txBody>
          <a:bodyPr lIns="114300" tIns="68580" rIns="114300" bIns="68580" anchor="t">
            <a:noAutofit/>
          </a:bodyPr>
          <a:lstStyle/>
          <a:p>
            <a:pPr>
              <a:buNone/>
            </a:pPr>
            <a:r>
              <a:rPr lang="en-US" sz="1500" b="1" spc="80" dirty="0">
                <a:solidFill>
                  <a:srgbClr val="555960"/>
                </a:solidFill>
              </a:rPr>
              <a:t>TREAT AS STABLE</a:t>
            </a:r>
          </a:p>
          <a:p>
            <a:pPr>
              <a:spcBef>
                <a:spcPts val="400"/>
              </a:spcBef>
              <a:buNone/>
            </a:pPr>
            <a:r>
              <a:rPr lang="en-US" sz="1500" dirty="0">
                <a:solidFill>
                  <a:srgbClr val="3A3A3A"/>
                </a:solidFill>
              </a:rPr>
              <a:t>· Flight and weapon characteristics are adequately modeled in the referenced documents (9.1.1)</a:t>
            </a:r>
          </a:p>
          <a:p>
            <a:pPr>
              <a:spcBef>
                <a:spcPts val="400"/>
              </a:spcBef>
              <a:buNone/>
            </a:pPr>
            <a:r>
              <a:rPr lang="en-US" sz="1500" dirty="0">
                <a:solidFill>
                  <a:srgbClr val="3A3A3A"/>
                </a:solidFill>
              </a:rPr>
              <a:t>· The computer is not assigned background, non-real-time functions (9.1.3)</a:t>
            </a:r>
          </a:p>
          <a:p>
            <a:pPr>
              <a:spcBef>
                <a:spcPts val="400"/>
              </a:spcBef>
              <a:buNone/>
            </a:pPr>
            <a:r>
              <a:rPr lang="en-US" sz="1500" dirty="0">
                <a:solidFill>
                  <a:srgbClr val="3A3A3A"/>
                </a:solidFill>
              </a:rPr>
              <a:t>· Worst-case memory and cpu bounds are predictable per function (9.1.4)</a:t>
            </a:r>
          </a:p>
        </p:txBody>
      </p:sp>
      <p:sp>
        <p:nvSpPr>
          <p:cNvPr id="504" name="ColFoot"/>
          <p:cNvSpPr txBox="1"/>
          <p:nvPr/>
        </p:nvSpPr>
        <p:spPr>
          <a:xfrm>
            <a:off x="2794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may rely on these.</a:t>
            </a:r>
          </a:p>
        </p:txBody>
      </p:sp>
      <p:sp>
        <p:nvSpPr>
          <p:cNvPr id="505" name="Col"/>
          <p:cNvSpPr txBox="1"/>
          <p:nvPr/>
        </p:nvSpPr>
        <p:spPr>
          <a:xfrm>
            <a:off x="4648200" y="2743200"/>
            <a:ext cx="4191000" cy="22098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500" b="1" spc="80" dirty="0">
                <a:solidFill>
                  <a:srgbClr val="8E6F3E"/>
                </a:solidFill>
              </a:rPr>
              <a:t>EXPECT MAY CHANGE</a:t>
            </a:r>
          </a:p>
          <a:p>
            <a:pPr>
              <a:spcBef>
                <a:spcPts val="400"/>
              </a:spcBef>
              <a:buNone/>
            </a:pPr>
            <a:r>
              <a:rPr lang="en-US" sz="1500" dirty="0">
                <a:solidFill>
                  <a:srgbClr val="3A3A3A"/>
                </a:solidFill>
              </a:rPr>
              <a:t>· The computer might be replaced by a TC-2A (9.2.1)</a:t>
            </a:r>
          </a:p>
          <a:p>
            <a:pPr>
              <a:spcBef>
                <a:spcPts val="400"/>
              </a:spcBef>
              <a:buNone/>
            </a:pPr>
            <a:r>
              <a:rPr lang="en-US" sz="1500" dirty="0">
                <a:solidFill>
                  <a:srgbClr val="3A3A3A"/>
                </a:solidFill>
              </a:rPr>
              <a:t>· FLR display symbology may be changed (9.3.2)</a:t>
            </a:r>
          </a:p>
          <a:p>
            <a:pPr>
              <a:spcBef>
                <a:spcPts val="400"/>
              </a:spcBef>
              <a:buNone/>
            </a:pPr>
            <a:r>
              <a:rPr lang="en-US" sz="1500" dirty="0">
                <a:solidFill>
                  <a:srgbClr val="3A3A3A"/>
                </a:solidFill>
              </a:rPr>
              <a:t>· Assignment of devices to channels may be changed (9.3.1)</a:t>
            </a:r>
          </a:p>
          <a:p>
            <a:pPr>
              <a:spcBef>
                <a:spcPts val="400"/>
              </a:spcBef>
              <a:buNone/>
            </a:pPr>
            <a:r>
              <a:rPr lang="en-US" sz="1500" dirty="0">
                <a:solidFill>
                  <a:srgbClr val="3A3A3A"/>
                </a:solidFill>
              </a:rPr>
              <a:t>· New weapons and HUD functions may be added (9.4)</a:t>
            </a:r>
          </a:p>
        </p:txBody>
      </p:sp>
      <p:sp>
        <p:nvSpPr>
          <p:cNvPr id="506" name="ColFoot"/>
          <p:cNvSpPr txBox="1"/>
          <p:nvPr/>
        </p:nvSpPr>
        <p:spPr>
          <a:xfrm>
            <a:off x="46482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should accommodate these.</a:t>
            </a:r>
          </a:p>
        </p:txBody>
      </p:sp>
      <p:sp>
        <p:nvSpPr>
          <p:cNvPr id="508" name="Takeaway"/>
          <p:cNvSpPr txBox="1"/>
          <p:nvPr/>
        </p:nvSpPr>
        <p:spPr>
          <a:xfrm>
            <a:off x="279400" y="5740400"/>
            <a:ext cx="8559800" cy="584200"/>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Why do different engineering questions require different representations?</a:t>
            </a:r>
          </a:p>
        </p:txBody>
      </p:sp>
      <p:sp>
        <p:nvSpPr>
          <p:cNvPr id="1801" name="StripFrom"/>
          <p:cNvSpPr txBox="1"/>
          <p:nvPr/>
        </p:nvSpPr>
        <p:spPr>
          <a:xfrm>
            <a:off x="2057400" y="4343400"/>
            <a:ext cx="1346200" cy="330200"/>
          </a:xfrm>
          <a:prstGeom prst="rect">
            <a:avLst/>
          </a:prstGeom>
          <a:noFill/>
          <a:ln>
            <a:noFill/>
          </a:ln>
        </p:spPr>
        <p:txBody>
          <a:bodyPr lIns="0" tIns="0" rIns="0" bIns="0" anchor="ctr">
            <a:noAutofit/>
          </a:bodyPr>
          <a:lstStyle/>
          <a:p>
            <a:pPr algn="r">
              <a:buNone/>
            </a:pPr>
            <a:r>
              <a:rPr lang="en-US" sz="1500" dirty="0">
                <a:solidFill>
                  <a:srgbClr val="7A7A7A"/>
                </a:solidFill>
              </a:rPr>
              <a:t>A-7E case study</a:t>
            </a:r>
          </a:p>
        </p:txBody>
      </p:sp>
      <p:cxnSp>
        <p:nvCxnSpPr>
          <p:cNvPr id="1802" name="Switch"/>
          <p:cNvCxnSpPr/>
          <p:nvPr/>
        </p:nvCxnSpPr>
        <p:spPr>
          <a:xfrm>
            <a:off x="3581400" y="4508500"/>
            <a:ext cx="558800" cy="0"/>
          </a:xfrm>
          <a:prstGeom prst="line">
            <a:avLst/>
          </a:prstGeom>
          <a:ln w="19050">
            <a:solidFill>
              <a:srgbClr val="8E6F3E"/>
            </a:solidFill>
            <a:tailEnd type="triangle"/>
          </a:ln>
        </p:spPr>
      </p:cxnSp>
      <p:sp>
        <p:nvSpPr>
          <p:cNvPr id="1803" name="StripTo"/>
          <p:cNvSpPr txBox="1"/>
          <p:nvPr/>
        </p:nvSpPr>
        <p:spPr>
          <a:xfrm>
            <a:off x="4724400" y="4318000"/>
            <a:ext cx="3048000" cy="381000"/>
          </a:xfrm>
          <a:prstGeom prst="rect">
            <a:avLst/>
          </a:prstGeom>
          <a:noFill/>
          <a:ln>
            <a:noFill/>
          </a:ln>
        </p:spPr>
        <p:txBody>
          <a:bodyPr lIns="0" tIns="0" rIns="0" bIns="0" anchor="ctr">
            <a:noAutofit/>
          </a:bodyPr>
          <a:lstStyle/>
          <a:p>
            <a:pPr>
              <a:buNone/>
            </a:pPr>
            <a:r>
              <a:rPr lang="en-US" sz="17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67200"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01800"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pPr>
            <a:r>
              <a:rPr lang="en-US" b="1"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A</a:t>
            </a:r>
          </a:p>
          <a:p>
            <a:pPr algn="ctr">
              <a:spcBef>
                <a:spcPts val="400"/>
              </a:spcBef>
              <a:buNone/>
            </a:pPr>
            <a:r>
              <a:rPr lang="en-US" sz="1500" dirty="0">
                <a:solidFill>
                  <a:srgbClr val="3A3A3A"/>
                </a:solidFill>
              </a:rPr>
              <a:t>keeps what question A needs</a:t>
            </a:r>
          </a:p>
        </p:txBody>
      </p:sp>
      <p:sp>
        <p:nvSpPr>
          <p:cNvPr id="806" name="View"/>
          <p:cNvSpPr txBox="1"/>
          <p:nvPr/>
        </p:nvSpPr>
        <p:spPr>
          <a:xfrm>
            <a:off x="31877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B</a:t>
            </a:r>
          </a:p>
          <a:p>
            <a:pPr algn="ctr">
              <a:spcBef>
                <a:spcPts val="400"/>
              </a:spcBef>
              <a:buNone/>
            </a:pPr>
            <a:r>
              <a:rPr lang="en-US" sz="1500" dirty="0">
                <a:solidFill>
                  <a:srgbClr val="3A3A3A"/>
                </a:solidFill>
              </a:rPr>
              <a:t>keeps what question B needs</a:t>
            </a:r>
          </a:p>
        </p:txBody>
      </p:sp>
      <p:sp>
        <p:nvSpPr>
          <p:cNvPr id="807" name="View"/>
          <p:cNvSpPr txBox="1"/>
          <p:nvPr/>
        </p:nvSpPr>
        <p:spPr>
          <a:xfrm>
            <a:off x="60960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C</a:t>
            </a:r>
          </a:p>
          <a:p>
            <a:pPr algn="ctr">
              <a:spcBef>
                <a:spcPts val="400"/>
              </a:spcBef>
              <a:buNone/>
            </a:pPr>
            <a:r>
              <a:rPr lang="en-US" sz="1500" dirty="0">
                <a:solidFill>
                  <a:srgbClr val="3A3A3A"/>
                </a:solidFill>
              </a:rPr>
              <a:t>keeps what question C needs</a:t>
            </a:r>
          </a:p>
        </p:txBody>
      </p:sp>
      <p:sp>
        <p:nvSpPr>
          <p:cNvPr id="808" name="Statement"/>
          <p:cNvSpPr txBox="1"/>
          <p:nvPr/>
        </p:nvSpPr>
        <p:spPr>
          <a:xfrm>
            <a:off x="279400" y="3683000"/>
            <a:ext cx="8559800" cy="812800"/>
          </a:xfrm>
          <a:prstGeom prst="rect">
            <a:avLst/>
          </a:prstGeom>
          <a:solidFill>
            <a:srgbClr val="8E6F3E"/>
          </a:solidFill>
          <a:ln>
            <a:noFill/>
          </a:ln>
        </p:spPr>
        <p:txBody>
          <a:bodyPr lIns="114300" tIns="68580" rIns="114300" bIns="68580" anchor="ctr">
            <a:noAutofit/>
          </a:bodyPr>
          <a:lstStyle/>
          <a:p>
            <a:pPr algn="ctr">
              <a:buNone/>
            </a:pPr>
            <a:r>
              <a:rPr lang="en-US" sz="1900" b="1" dirty="0">
                <a:solidFill>
                  <a:srgbClr val="FFFFFF"/>
                </a:solidFill>
              </a:rPr>
              <a:t>A useful model preserves the distinctions its question needs</a:t>
            </a:r>
          </a:p>
          <a:p>
            <a:pPr algn="ctr">
              <a:buNone/>
            </a:pPr>
            <a:r>
              <a:rPr lang="en-US" sz="1900" b="1" dirty="0">
                <a:solidFill>
                  <a:srgbClr val="FFFFFF"/>
                </a:solidFill>
              </a:rPr>
              <a:t>and leaves the rest behind.</a:t>
            </a:r>
          </a:p>
        </p:txBody>
      </p:sp>
      <p:sp>
        <p:nvSpPr>
          <p:cNvPr id="809" name="Sub"/>
          <p:cNvSpPr txBox="1"/>
          <p:nvPr/>
        </p:nvSpPr>
        <p:spPr>
          <a:xfrm>
            <a:off x="279400" y="4673600"/>
            <a:ext cx="8559800" cy="381000"/>
          </a:xfrm>
          <a:prstGeom prst="rect">
            <a:avLst/>
          </a:prstGeom>
          <a:noFill/>
          <a:ln>
            <a:noFill/>
          </a:ln>
        </p:spPr>
        <p:txBody>
          <a:bodyPr lIns="114300" tIns="68580" rIns="114300" bIns="68580" anchor="t">
            <a:noAutofit/>
          </a:bodyPr>
          <a:lstStyle/>
          <a:p>
            <a:pPr algn="ctr">
              <a:buNone/>
            </a:pPr>
            <a:r>
              <a:rPr lang="en-US" sz="1900" b="1" dirty="0">
                <a:solidFill>
                  <a:srgbClr val="1A1A1A"/>
                </a:solidFill>
              </a:rPr>
              <a:t>Same system. Different question. Different useful representation.</a:t>
            </a:r>
          </a:p>
        </p:txBody>
      </p:sp>
      <p:sp>
        <p:nvSpPr>
          <p:cNvPr id="811" name="Src"/>
          <p:cNvSpPr txBox="1"/>
          <p:nvPr/>
        </p:nvSpPr>
        <p:spPr>
          <a:xfrm>
            <a:off x="279400" y="6121400"/>
            <a:ext cx="5969000" cy="254000"/>
          </a:xfrm>
          <a:prstGeom prst="rect">
            <a:avLst/>
          </a:prstGeom>
          <a:noFill/>
          <a:ln>
            <a:noFill/>
          </a:ln>
        </p:spPr>
        <p:txBody>
          <a:bodyPr lIns="114300" tIns="68580" rIns="114300" bIns="68580" anchor="t">
            <a:noAutofit/>
          </a:bodyPr>
          <a:lstStyle/>
          <a:p>
            <a:pPr>
              <a:buNone/>
            </a:pPr>
            <a:r>
              <a:rPr lang="en-US" sz="1100" dirty="0">
                <a:solidFill>
                  <a:srgbClr val="555960"/>
                </a:solidFill>
              </a:rPr>
              <a:t>MAGE Part II, §2.1.2</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pPr>
            <a:r>
              <a:rPr lang="en-US" b="1"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901" name="Step"/>
          <p:cNvSpPr txBox="1"/>
          <p:nvPr/>
        </p:nvSpPr>
        <p:spPr>
          <a:xfrm>
            <a:off x="279400" y="11684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ENGINEERING QUESTION</a:t>
            </a:r>
          </a:p>
        </p:txBody>
      </p:sp>
      <p:cxnSp>
        <p:nvCxnSpPr>
          <p:cNvPr id="902" name="Flow"/>
          <p:cNvCxnSpPr/>
          <p:nvPr/>
        </p:nvCxnSpPr>
        <p:spPr>
          <a:xfrm>
            <a:off x="2184400" y="1803400"/>
            <a:ext cx="0" cy="177800"/>
          </a:xfrm>
          <a:prstGeom prst="line">
            <a:avLst/>
          </a:prstGeom>
          <a:ln w="19050">
            <a:solidFill>
              <a:srgbClr val="8E6F3E"/>
            </a:solidFill>
            <a:tailEnd type="triangle"/>
          </a:ln>
        </p:spPr>
      </p:cxnSp>
      <p:sp>
        <p:nvSpPr>
          <p:cNvPr id="903" name="Step"/>
          <p:cNvSpPr txBox="1"/>
          <p:nvPr/>
        </p:nvSpPr>
        <p:spPr>
          <a:xfrm>
            <a:off x="279400" y="19812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CHOOSE A REPRESENTATION</a:t>
            </a:r>
          </a:p>
        </p:txBody>
      </p:sp>
      <p:cxnSp>
        <p:nvCxnSpPr>
          <p:cNvPr id="904" name="Flow"/>
          <p:cNvCxnSpPr/>
          <p:nvPr/>
        </p:nvCxnSpPr>
        <p:spPr>
          <a:xfrm>
            <a:off x="2184400" y="2616200"/>
            <a:ext cx="0" cy="177800"/>
          </a:xfrm>
          <a:prstGeom prst="line">
            <a:avLst/>
          </a:prstGeom>
          <a:ln w="19050">
            <a:solidFill>
              <a:srgbClr val="8E6F3E"/>
            </a:solidFill>
            <a:tailEnd type="triangle"/>
          </a:ln>
        </p:spPr>
      </p:cxnSp>
      <p:sp>
        <p:nvSpPr>
          <p:cNvPr id="905" name="Step"/>
          <p:cNvSpPr txBox="1"/>
          <p:nvPr/>
        </p:nvSpPr>
        <p:spPr>
          <a:xfrm>
            <a:off x="279400" y="27940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STATE A PROPERTY</a:t>
            </a:r>
          </a:p>
        </p:txBody>
      </p:sp>
      <p:cxnSp>
        <p:nvCxnSpPr>
          <p:cNvPr id="906" name="Flow"/>
          <p:cNvCxnSpPr/>
          <p:nvPr/>
        </p:nvCxnSpPr>
        <p:spPr>
          <a:xfrm>
            <a:off x="2184400" y="3429000"/>
            <a:ext cx="0" cy="177800"/>
          </a:xfrm>
          <a:prstGeom prst="line">
            <a:avLst/>
          </a:prstGeom>
          <a:ln w="19050">
            <a:solidFill>
              <a:srgbClr val="8E6F3E"/>
            </a:solidFill>
            <a:tailEnd type="triangle"/>
          </a:ln>
        </p:spPr>
      </p:cxnSp>
      <p:sp>
        <p:nvSpPr>
          <p:cNvPr id="907" name="Step"/>
          <p:cNvSpPr txBox="1"/>
          <p:nvPr/>
        </p:nvSpPr>
        <p:spPr>
          <a:xfrm>
            <a:off x="279400" y="36068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ANALYZE OR CHECK IT</a:t>
            </a:r>
          </a:p>
        </p:txBody>
      </p:sp>
      <p:sp>
        <p:nvSpPr>
          <p:cNvPr id="908" name="Term"/>
          <p:cNvSpPr txBox="1"/>
          <p:nvPr/>
        </p:nvSpPr>
        <p:spPr>
          <a:xfrm>
            <a:off x="4648200" y="1168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Property</a:t>
            </a:r>
          </a:p>
          <a:p>
            <a:pPr>
              <a:spcBef>
                <a:spcPts val="300"/>
              </a:spcBef>
              <a:buNone/>
            </a:pPr>
            <a:r>
              <a:rPr lang="en-US" sz="1600" dirty="0">
                <a:solidFill>
                  <a:srgbClr val="3A3A3A"/>
                </a:solidFill>
              </a:rPr>
              <a:t>A claim we can express over the model.</a:t>
            </a:r>
          </a:p>
        </p:txBody>
      </p:sp>
      <p:sp>
        <p:nvSpPr>
          <p:cNvPr id="909" name="Term"/>
          <p:cNvSpPr txBox="1"/>
          <p:nvPr/>
        </p:nvSpPr>
        <p:spPr>
          <a:xfrm>
            <a:off x="4648200" y="2184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Invariant</a:t>
            </a:r>
          </a:p>
          <a:p>
            <a:pPr>
              <a:spcBef>
                <a:spcPts val="300"/>
              </a:spcBef>
              <a:buNone/>
            </a:pPr>
            <a:r>
              <a:rPr lang="en-US" sz="1600" dirty="0">
                <a:solidFill>
                  <a:srgbClr val="3A3A3A"/>
                </a:solidFill>
              </a:rPr>
              <a:t>A property required to hold over its declared domain.</a:t>
            </a:r>
          </a:p>
        </p:txBody>
      </p:sp>
      <p:sp>
        <p:nvSpPr>
          <p:cNvPr id="910" name="Term"/>
          <p:cNvSpPr txBox="1"/>
          <p:nvPr/>
        </p:nvSpPr>
        <p:spPr>
          <a:xfrm>
            <a:off x="4648200" y="3200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Check or analysis</a:t>
            </a:r>
          </a:p>
          <a:p>
            <a:pPr>
              <a:spcBef>
                <a:spcPts val="300"/>
              </a:spcBef>
              <a:buNone/>
            </a:pPr>
            <a:r>
              <a:rPr lang="en-US" sz="1600" dirty="0">
                <a:solidFill>
                  <a:srgbClr val="3A3A3A"/>
                </a:solidFill>
              </a:rPr>
              <a:t>Evidence about whether the property holds.</a:t>
            </a:r>
          </a:p>
        </p:txBody>
      </p:sp>
      <p:sp>
        <p:nvSpPr>
          <p:cNvPr id="912" name="Sub"/>
          <p:cNvSpPr txBox="1"/>
          <p:nvPr/>
        </p:nvSpPr>
        <p:spPr>
          <a:xfrm>
            <a:off x="279400" y="4648200"/>
            <a:ext cx="8559800" cy="508000"/>
          </a:xfrm>
          <a:prstGeom prst="rect">
            <a:avLst/>
          </a:prstGeom>
          <a:noFill/>
          <a:ln>
            <a:noFill/>
          </a:ln>
        </p:spPr>
        <p:txBody>
          <a:bodyPr lIns="114300" tIns="68580" rIns="114300" bIns="68580" anchor="t">
            <a:noAutofit/>
          </a:bodyPr>
          <a:lstStyle/>
          <a:p>
            <a:pPr algn="ctr">
              <a:buNone/>
            </a:pPr>
            <a:r>
              <a:rPr lang="en-US" sz="1600" dirty="0">
                <a:solidFill>
                  <a:srgbClr val="3A3A3A"/>
                </a:solidFill>
              </a:rPr>
              <a:t>Hold the system fixed, change the question, and the useful representation changes with it.</a:t>
            </a:r>
          </a:p>
        </p:txBody>
      </p:sp>
      <p:sp>
        <p:nvSpPr>
          <p:cNvPr id="913"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MAGE Part II, Figure 2.1-2</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pPr>
            <a:r>
              <a:rPr lang="en-US" b="1" dirty="0"/>
              <a:t>State models expose allowable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LEARNING</a:t>
            </a:r>
          </a:p>
        </p:txBody>
      </p:sp>
      <p:sp>
        <p:nvSpPr>
          <p:cNvPr id="1003" name="St"/>
          <p:cNvSpPr txBox="1"/>
          <p:nvPr/>
        </p:nvSpPr>
        <p:spPr>
          <a:xfrm>
            <a:off x="21082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400" b="1" dirty="0">
                <a:solidFill>
                  <a:srgbClr val="3A3A3A"/>
                </a:solidFill>
              </a:rPr>
              <a:t>MONITORING</a:t>
            </a:r>
          </a:p>
        </p:txBody>
      </p:sp>
      <p:sp>
        <p:nvSpPr>
          <p:cNvPr id="1004" name="St"/>
          <p:cNvSpPr txBox="1"/>
          <p:nvPr/>
        </p:nvSpPr>
        <p:spPr>
          <a:xfrm>
            <a:off x="39370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SUSPECT</a:t>
            </a:r>
          </a:p>
        </p:txBody>
      </p:sp>
      <p:sp>
        <p:nvSpPr>
          <p:cNvPr id="1005" name="St"/>
          <p:cNvSpPr txBox="1"/>
          <p:nvPr/>
        </p:nvSpPr>
        <p:spPr>
          <a:xfrm>
            <a:off x="3937000" y="2997200"/>
            <a:ext cx="1524000" cy="558800"/>
          </a:xfrm>
          <a:prstGeom prst="rect">
            <a:avLst/>
          </a:prstGeom>
          <a:solidFill>
            <a:srgbClr val="8E6F3E"/>
          </a:solidFill>
          <a:ln>
            <a:noFill/>
          </a:ln>
        </p:spPr>
        <p:txBody>
          <a:bodyPr lIns="114300" tIns="68580" rIns="114300" bIns="68580" anchor="ctr">
            <a:noAutofit/>
          </a:bodyPr>
          <a:lstStyle/>
          <a:p>
            <a:pPr algn="ctr">
              <a:buNone/>
            </a:pPr>
            <a:r>
              <a:rPr lang="en-US" sz="1300" b="1" dirty="0">
                <a:solidFill>
                  <a:srgbClr val="FFFFFF"/>
                </a:solidFill>
              </a:rPr>
              <a:t>REBASELINING</a:t>
            </a:r>
          </a:p>
        </p:txBody>
      </p:sp>
      <p:sp>
        <p:nvSpPr>
          <p:cNvPr id="1018" name="Panel"/>
          <p:cNvSpPr txBox="1"/>
          <p:nvPr/>
        </p:nvSpPr>
        <p:spPr>
          <a:xfrm>
            <a:off x="5740400" y="1270000"/>
            <a:ext cx="3098800" cy="381000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may happen next?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allowable states</a:t>
            </a:r>
          </a:p>
          <a:p>
            <a:pPr>
              <a:spcBef>
                <a:spcPts val="150"/>
              </a:spcBef>
              <a:buNone/>
            </a:pPr>
            <a:r>
              <a:rPr lang="en-US" sz="1500" dirty="0">
                <a:solidFill>
                  <a:srgbClr val="3A3A3A"/>
                </a:solidFill>
              </a:rPr>
              <a:t>· permitted transitions</a:t>
            </a:r>
          </a:p>
          <a:p>
            <a:pPr>
              <a:spcBef>
                <a:spcPts val="150"/>
              </a:spcBef>
              <a:buNone/>
            </a:pPr>
            <a:r>
              <a:rPr lang="en-US" sz="1500" dirty="0">
                <a:solidFill>
                  <a:srgbClr val="3A3A3A"/>
                </a:solidFill>
              </a:rPr>
              <a:t>· forbidden transitions</a:t>
            </a:r>
          </a:p>
          <a:p>
            <a:pPr>
              <a:spcBef>
                <a:spcPts val="150"/>
              </a:spcBef>
              <a:buNone/>
            </a:pPr>
            <a:r>
              <a:rPr lang="en-US" sz="1500" dirty="0">
                <a:solidFill>
                  <a:srgbClr val="3A3A3A"/>
                </a:solidFill>
              </a:rPr>
              <a:t>· conditions under which they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An advisory may be issued only in MONITORING or SUSPECT.</a:t>
            </a:r>
          </a:p>
        </p:txBody>
      </p:sp>
      <p:sp>
        <p:nvSpPr>
          <p:cNvPr id="1020"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Representation form: MAGE Part II, Figure 2.1-3, finite-state model</a:t>
            </a:r>
          </a:p>
        </p:txBody>
      </p:sp>
      <p:cxnSp>
        <p:nvCxnSpPr>
          <p:cNvPr id="1101" name="Flow"/>
          <p:cNvCxnSpPr/>
          <p:nvPr/>
        </p:nvCxnSpPr>
        <p:spPr>
          <a:xfrm>
            <a:off x="1803400" y="1676400"/>
            <a:ext cx="304800" cy="0"/>
          </a:xfrm>
          <a:prstGeom prst="line">
            <a:avLst/>
          </a:prstGeom>
          <a:ln w="19050">
            <a:solidFill>
              <a:srgbClr val="8E6F3E"/>
            </a:solidFill>
            <a:tailEnd type="triangle"/>
          </a:ln>
        </p:spPr>
      </p:cxnSp>
      <p:cxnSp>
        <p:nvCxnSpPr>
          <p:cNvPr id="1102" name="Flow"/>
          <p:cNvCxnSpPr/>
          <p:nvPr/>
        </p:nvCxnSpPr>
        <p:spPr>
          <a:xfrm>
            <a:off x="3632200" y="1524000"/>
            <a:ext cx="304800" cy="0"/>
          </a:xfrm>
          <a:prstGeom prst="line">
            <a:avLst/>
          </a:prstGeom>
          <a:ln w="19050">
            <a:solidFill>
              <a:srgbClr val="8E6F3E"/>
            </a:solidFill>
            <a:tailEnd type="triangle"/>
          </a:ln>
        </p:spPr>
      </p:cxnSp>
      <p:cxnSp>
        <p:nvCxnSpPr>
          <p:cNvPr id="1120" name="Flow"/>
          <p:cNvCxnSpPr/>
          <p:nvPr/>
        </p:nvCxnSpPr>
        <p:spPr>
          <a:xfrm flipH="1">
            <a:off x="3632200" y="1828800"/>
            <a:ext cx="304800" cy="0"/>
          </a:xfrm>
          <a:prstGeom prst="line">
            <a:avLst/>
          </a:prstGeom>
          <a:ln w="19050">
            <a:solidFill>
              <a:srgbClr val="8E6F3E"/>
            </a:solidFill>
            <a:tailEnd type="triangle"/>
          </a:ln>
        </p:spPr>
      </p:cxnSp>
      <p:sp>
        <p:nvSpPr>
          <p:cNvPr id="1103" name="Lb"/>
          <p:cNvSpPr txBox="1"/>
          <p:nvPr/>
        </p:nvSpPr>
        <p:spPr>
          <a:xfrm>
            <a:off x="1155700" y="1092200"/>
            <a:ext cx="1600200" cy="254000"/>
          </a:xfrm>
          <a:prstGeom prst="rect">
            <a:avLst/>
          </a:prstGeom>
          <a:noFill/>
          <a:ln>
            <a:noFill/>
          </a:ln>
        </p:spPr>
        <p:txBody>
          <a:bodyPr lIns="0" tIns="0" rIns="0" bIns="0" anchor="ctr">
            <a:noAutofit/>
          </a:bodyPr>
          <a:lstStyle/>
          <a:p>
            <a:pPr algn="ctr">
              <a:buNone/>
            </a:pPr>
            <a:r>
              <a:rPr lang="en-US" sz="1000" dirty="0">
                <a:solidFill>
                  <a:srgbClr val="555960"/>
                </a:solidFill>
              </a:rPr>
              <a:t>baseline established</a:t>
            </a:r>
          </a:p>
        </p:txBody>
      </p:sp>
      <p:sp>
        <p:nvSpPr>
          <p:cNvPr id="1121" name="Lb"/>
          <p:cNvSpPr txBox="1"/>
          <p:nvPr/>
        </p:nvSpPr>
        <p:spPr>
          <a:xfrm>
            <a:off x="2882900" y="2019300"/>
            <a:ext cx="1803400" cy="254000"/>
          </a:xfrm>
          <a:prstGeom prst="rect">
            <a:avLst/>
          </a:prstGeom>
          <a:noFill/>
          <a:ln>
            <a:noFill/>
          </a:ln>
        </p:spPr>
        <p:txBody>
          <a:bodyPr lIns="0" tIns="0" rIns="0" bIns="0" anchor="ctr">
            <a:noAutofit/>
          </a:bodyPr>
          <a:lstStyle/>
          <a:p>
            <a:pPr algn="ctr">
              <a:buNone/>
            </a:pPr>
            <a:r>
              <a:rPr lang="en-US" sz="1000" dirty="0">
                <a:solidFill>
                  <a:srgbClr val="555960"/>
                </a:solidFill>
              </a:rPr>
              <a:t>pattern returns to normal</a:t>
            </a:r>
          </a:p>
        </p:txBody>
      </p:sp>
      <p:sp>
        <p:nvSpPr>
          <p:cNvPr id="1104" name="Lb"/>
          <p:cNvSpPr txBox="1"/>
          <p:nvPr/>
        </p:nvSpPr>
        <p:spPr>
          <a:xfrm>
            <a:off x="2641600" y="1092200"/>
            <a:ext cx="2286000" cy="254000"/>
          </a:xfrm>
          <a:prstGeom prst="rect">
            <a:avLst/>
          </a:prstGeom>
          <a:noFill/>
          <a:ln>
            <a:noFill/>
          </a:ln>
        </p:spPr>
        <p:txBody>
          <a:bodyPr lIns="0" tIns="0" rIns="0" bIns="0" anchor="ctr">
            <a:noAutofit/>
          </a:bodyPr>
          <a:lstStyle/>
          <a:p>
            <a:pPr algn="ctr">
              <a:buNone/>
            </a:pPr>
            <a:r>
              <a:rPr lang="en-US" sz="1000" dirty="0">
                <a:solidFill>
                  <a:srgbClr val="555960"/>
                </a:solidFill>
              </a:rPr>
              <a:t>meaningful departure detected</a:t>
            </a:r>
          </a:p>
        </p:txBody>
      </p:sp>
      <p:cxnSp>
        <p:nvCxnSpPr>
          <p:cNvPr id="1105" name="Flow"/>
          <p:cNvCxnSpPr/>
          <p:nvPr/>
        </p:nvCxnSpPr>
        <p:spPr>
          <a:xfrm>
            <a:off x="4699000" y="1955800"/>
            <a:ext cx="0" cy="1041400"/>
          </a:xfrm>
          <a:prstGeom prst="line">
            <a:avLst/>
          </a:prstGeom>
          <a:ln w="19050">
            <a:solidFill>
              <a:srgbClr val="8E6F3E"/>
            </a:solidFill>
            <a:tailEnd type="triangle"/>
          </a:ln>
        </p:spPr>
      </p:cxnSp>
      <p:sp>
        <p:nvSpPr>
          <p:cNvPr id="1106" name="Lb"/>
          <p:cNvSpPr txBox="1"/>
          <p:nvPr/>
        </p:nvSpPr>
        <p:spPr>
          <a:xfrm>
            <a:off x="2921000" y="2620000"/>
            <a:ext cx="1651000" cy="254000"/>
          </a:xfrm>
          <a:prstGeom prst="rect">
            <a:avLst/>
          </a:prstGeom>
          <a:noFill/>
          <a:ln>
            <a:noFill/>
          </a:ln>
        </p:spPr>
        <p:txBody>
          <a:bodyPr lIns="0" tIns="0" rIns="0" bIns="0" anchor="ctr">
            <a:noAutofit/>
          </a:bodyPr>
          <a:lstStyle/>
          <a:p>
            <a:pPr algn="r">
              <a:buNone/>
            </a:pPr>
            <a:r>
              <a:rPr lang="en-US" sz="1000" dirty="0">
                <a:solidFill>
                  <a:srgbClr val="555960"/>
                </a:solidFill>
              </a:rPr>
              <a:t>change appears persistent</a:t>
            </a:r>
          </a:p>
        </p:txBody>
      </p:sp>
      <p:cxnSp>
        <p:nvCxnSpPr>
          <p:cNvPr id="1107" name="Flow"/>
          <p:cNvCxnSpPr/>
          <p:nvPr/>
        </p:nvCxnSpPr>
        <p:spPr>
          <a:xfrm>
            <a:off x="4699000" y="3556000"/>
            <a:ext cx="0" cy="279400"/>
          </a:xfrm>
          <a:prstGeom prst="line">
            <a:avLst/>
          </a:prstGeom>
          <a:ln w="19050">
            <a:solidFill>
              <a:srgbClr val="8E6F3E"/>
            </a:solidFill>
          </a:ln>
        </p:spPr>
      </p:cxnSp>
      <p:cxnSp>
        <p:nvCxnSpPr>
          <p:cNvPr id="1108" name="Flow"/>
          <p:cNvCxnSpPr/>
          <p:nvPr/>
        </p:nvCxnSpPr>
        <p:spPr>
          <a:xfrm flipH="1">
            <a:off x="2870200" y="3835400"/>
            <a:ext cx="1828800" cy="0"/>
          </a:xfrm>
          <a:prstGeom prst="line">
            <a:avLst/>
          </a:prstGeom>
          <a:ln w="19050">
            <a:solidFill>
              <a:srgbClr val="8E6F3E"/>
            </a:solidFill>
          </a:ln>
        </p:spPr>
      </p:cxnSp>
      <p:cxnSp>
        <p:nvCxnSpPr>
          <p:cNvPr id="1109" name="Flow"/>
          <p:cNvCxnSpPr/>
          <p:nvPr/>
        </p:nvCxnSpPr>
        <p:spPr>
          <a:xfrm flipV="1">
            <a:off x="2870200" y="1955800"/>
            <a:ext cx="0" cy="1879600"/>
          </a:xfrm>
          <a:prstGeom prst="line">
            <a:avLst/>
          </a:prstGeom>
          <a:ln w="19050">
            <a:solidFill>
              <a:srgbClr val="8E6F3E"/>
            </a:solidFill>
            <a:tailEnd type="triangle"/>
          </a:ln>
        </p:spPr>
      </p:cxnSp>
      <p:sp>
        <p:nvSpPr>
          <p:cNvPr id="1110" name="Lb"/>
          <p:cNvSpPr txBox="1"/>
          <p:nvPr/>
        </p:nvSpPr>
        <p:spPr>
          <a:xfrm>
            <a:off x="2997200" y="3886200"/>
            <a:ext cx="2032000" cy="254000"/>
          </a:xfrm>
          <a:prstGeom prst="rect">
            <a:avLst/>
          </a:prstGeom>
          <a:noFill/>
          <a:ln>
            <a:noFill/>
          </a:ln>
        </p:spPr>
        <p:txBody>
          <a:bodyPr lIns="0" tIns="0" rIns="0" bIns="0" anchor="ctr">
            <a:noAutofit/>
          </a:bodyPr>
          <a:lstStyle/>
          <a:p>
            <a:pPr algn="l">
              <a:buNone/>
            </a:pPr>
            <a:r>
              <a:rPr lang="en-US" sz="1000" dirty="0">
                <a:solidFill>
                  <a:srgbClr val="555960"/>
                </a:solidFill>
              </a:rPr>
              <a:t>new baseline established</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25579426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pPr>
            <a:r>
              <a:rPr lang="en-US" b="1"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20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Record the night's observations</a:t>
            </a:r>
          </a:p>
        </p:txBody>
      </p:sp>
      <p:cxnSp>
        <p:nvCxnSpPr>
          <p:cNvPr id="1203" name="Flow"/>
          <p:cNvCxnSpPr/>
          <p:nvPr/>
        </p:nvCxnSpPr>
        <p:spPr>
          <a:xfrm>
            <a:off x="1739900" y="1879600"/>
            <a:ext cx="0" cy="203200"/>
          </a:xfrm>
          <a:prstGeom prst="line">
            <a:avLst/>
          </a:prstGeom>
          <a:ln w="19050">
            <a:solidFill>
              <a:srgbClr val="8E6F3E"/>
            </a:solidFill>
            <a:tailEnd type="triangle"/>
          </a:ln>
        </p:spPr>
      </p:cxnSp>
      <p:sp>
        <p:nvSpPr>
          <p:cNvPr id="1204" name="Act"/>
          <p:cNvSpPr txBox="1"/>
          <p:nvPr/>
        </p:nvSpPr>
        <p:spPr>
          <a:xfrm>
            <a:off x="279400" y="2082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Classify the night</a:t>
            </a:r>
          </a:p>
        </p:txBody>
      </p:sp>
      <p:cxnSp>
        <p:nvCxnSpPr>
          <p:cNvPr id="1205" name="Flow"/>
          <p:cNvCxnSpPr/>
          <p:nvPr/>
        </p:nvCxnSpPr>
        <p:spPr>
          <a:xfrm>
            <a:off x="1739900" y="2641600"/>
            <a:ext cx="0" cy="203200"/>
          </a:xfrm>
          <a:prstGeom prst="line">
            <a:avLst/>
          </a:prstGeom>
          <a:ln w="19050">
            <a:solidFill>
              <a:srgbClr val="8E6F3E"/>
            </a:solidFill>
            <a:tailEnd type="triangle"/>
          </a:ln>
        </p:spPr>
      </p:cxnSp>
      <p:sp>
        <p:nvSpPr>
          <p:cNvPr id="1206" name="Act"/>
          <p:cNvSpPr txBox="1"/>
          <p:nvPr/>
        </p:nvSpPr>
        <p:spPr>
          <a:xfrm>
            <a:off x="279400" y="2844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Compare with the baseline</a:t>
            </a:r>
          </a:p>
        </p:txBody>
      </p:sp>
      <p:cxnSp>
        <p:nvCxnSpPr>
          <p:cNvPr id="1207" name="Flow"/>
          <p:cNvCxnSpPr/>
          <p:nvPr/>
        </p:nvCxnSpPr>
        <p:spPr>
          <a:xfrm>
            <a:off x="1739900" y="3403600"/>
            <a:ext cx="0" cy="203200"/>
          </a:xfrm>
          <a:prstGeom prst="line">
            <a:avLst/>
          </a:prstGeom>
          <a:ln w="19050">
            <a:solidFill>
              <a:srgbClr val="8E6F3E"/>
            </a:solidFill>
            <a:tailEnd type="triangle"/>
          </a:ln>
        </p:spPr>
      </p:cxnSp>
      <p:sp>
        <p:nvSpPr>
          <p:cNvPr id="1208" name="Act"/>
          <p:cNvSpPr txBox="1"/>
          <p:nvPr/>
        </p:nvSpPr>
        <p:spPr>
          <a:xfrm>
            <a:off x="279400" y="3606800"/>
            <a:ext cx="2921000" cy="558800"/>
          </a:xfrm>
          <a:prstGeom prst="rect">
            <a:avLst/>
          </a:prstGeom>
          <a:solidFill>
            <a:srgbClr val="8E6F3E"/>
          </a:solidFill>
          <a:ln>
            <a:noFill/>
          </a:ln>
        </p:spPr>
        <p:txBody>
          <a:bodyPr lIns="114300" tIns="45720" rIns="114300" bIns="45720" anchor="ctr">
            <a:noAutofit/>
          </a:bodyPr>
          <a:lstStyle/>
          <a:p>
            <a:pPr algn="ctr">
              <a:buNone/>
            </a:pPr>
            <a:r>
              <a:rPr lang="en-US" sz="1500" b="1" dirty="0">
                <a:solidFill>
                  <a:srgbClr val="FFFFFF"/>
                </a:solidFill>
              </a:rPr>
              <a:t>Issue advisory at wake</a:t>
            </a:r>
          </a:p>
        </p:txBody>
      </p:sp>
      <p:cxnSp>
        <p:nvCxnSpPr>
          <p:cNvPr id="1209" name="Flow"/>
          <p:cNvCxnSpPr/>
          <p:nvPr/>
        </p:nvCxnSpPr>
        <p:spPr>
          <a:xfrm>
            <a:off x="1739900" y="3403600"/>
            <a:ext cx="0" cy="203200"/>
          </a:xfrm>
          <a:prstGeom prst="line">
            <a:avLst/>
          </a:prstGeom>
          <a:ln w="19050">
            <a:solidFill>
              <a:srgbClr val="8E6F3E"/>
            </a:solidFill>
            <a:tailEnd type="triangle"/>
          </a:ln>
        </p:spPr>
      </p:cxnSp>
      <p:cxnSp>
        <p:nvCxnSpPr>
          <p:cNvPr id="1210" name="Flow"/>
          <p:cNvCxnSpPr/>
          <p:nvPr/>
        </p:nvCxnSpPr>
        <p:spPr>
          <a:xfrm>
            <a:off x="3200400" y="1600200"/>
            <a:ext cx="558800" cy="0"/>
          </a:xfrm>
          <a:prstGeom prst="line">
            <a:avLst/>
          </a:prstGeom>
          <a:ln w="19050">
            <a:solidFill>
              <a:srgbClr val="9B9B9B"/>
            </a:solidFill>
            <a:prstDash val="dash"/>
          </a:ln>
        </p:spPr>
      </p:cxnSp>
      <p:cxnSp>
        <p:nvCxnSpPr>
          <p:cNvPr id="1211" name="Flow"/>
          <p:cNvCxnSpPr/>
          <p:nvPr/>
        </p:nvCxnSpPr>
        <p:spPr>
          <a:xfrm>
            <a:off x="3759200" y="1600200"/>
            <a:ext cx="0" cy="2286000"/>
          </a:xfrm>
          <a:prstGeom prst="line">
            <a:avLst/>
          </a:prstGeom>
          <a:ln w="19050">
            <a:solidFill>
              <a:srgbClr val="9B9B9B"/>
            </a:solidFill>
            <a:prstDash val="dash"/>
          </a:ln>
        </p:spPr>
      </p:cxnSp>
      <p:cxnSp>
        <p:nvCxnSpPr>
          <p:cNvPr id="1212" name="Flow"/>
          <p:cNvCxnSpPr/>
          <p:nvPr/>
        </p:nvCxnSpPr>
        <p:spPr>
          <a:xfrm flipH="1">
            <a:off x="3200400" y="3886200"/>
            <a:ext cx="558800" cy="0"/>
          </a:xfrm>
          <a:prstGeom prst="line">
            <a:avLst/>
          </a:prstGeom>
          <a:ln w="19050">
            <a:solidFill>
              <a:srgbClr val="9B9B9B"/>
            </a:solidFill>
            <a:prstDash val="dash"/>
          </a:ln>
        </p:spPr>
      </p:cxnSp>
      <p:sp>
        <p:nvSpPr>
          <p:cNvPr id="1213" name="X"/>
          <p:cNvSpPr txBox="1"/>
          <p:nvPr/>
        </p:nvSpPr>
        <p:spPr>
          <a:xfrm>
            <a:off x="3581400" y="3632200"/>
            <a:ext cx="355600" cy="355600"/>
          </a:xfrm>
          <a:prstGeom prst="rect">
            <a:avLst/>
          </a:prstGeom>
          <a:noFill/>
          <a:ln>
            <a:noFill/>
          </a:ln>
        </p:spPr>
        <p:txBody>
          <a:bodyPr lIns="114300" tIns="45720" rIns="114300" bIns="45720" anchor="ctr">
            <a:noAutofit/>
          </a:bodyPr>
          <a:lstStyle/>
          <a:p>
            <a:pPr algn="ctr">
              <a:buNone/>
            </a:pPr>
            <a:r>
              <a:rPr lang="en-US" sz="1800" b="1" dirty="0">
                <a:solidFill>
                  <a:srgbClr val="9B9B9B"/>
                </a:solidFill>
              </a:rPr>
              <a:t>✕</a:t>
            </a:r>
          </a:p>
        </p:txBody>
      </p:sp>
      <p:sp>
        <p:nvSpPr>
          <p:cNvPr id="1214" name="XLb"/>
          <p:cNvSpPr txBox="1"/>
          <p:nvPr/>
        </p:nvSpPr>
        <p:spPr>
          <a:xfrm>
            <a:off x="279400" y="4267200"/>
            <a:ext cx="5207000" cy="330200"/>
          </a:xfrm>
          <a:prstGeom prst="rect">
            <a:avLst/>
          </a:prstGeom>
          <a:noFill/>
          <a:ln>
            <a:noFill/>
          </a:ln>
        </p:spPr>
        <p:txBody>
          <a:bodyPr lIns="0" tIns="45720" rIns="114300" bIns="45720" anchor="t">
            <a:noAutofit/>
          </a:bodyPr>
          <a:lstStyle/>
          <a:p>
            <a:pPr>
              <a:buNone/>
            </a:pPr>
            <a:r>
              <a:rPr lang="en-US" sz="1500" dirty="0">
                <a:solidFill>
                  <a:srgbClr val="555960"/>
                </a:solidFill>
              </a:rPr>
              <a:t>The dashed path must never occur.</a:t>
            </a:r>
          </a:p>
        </p:txBody>
      </p:sp>
      <p:sp>
        <p:nvSpPr>
          <p:cNvPr id="1215" name="Dist"/>
          <p:cNvSpPr txBox="1"/>
          <p:nvPr/>
        </p:nvSpPr>
        <p:spPr>
          <a:xfrm>
            <a:off x="279400" y="4673600"/>
            <a:ext cx="5207000" cy="838200"/>
          </a:xfrm>
          <a:prstGeom prst="rect">
            <a:avLst/>
          </a:prstGeom>
          <a:noFill/>
          <a:ln>
            <a:noFill/>
          </a:ln>
        </p:spPr>
        <p:txBody>
          <a:bodyPr lIns="0" tIns="45720" rIns="114300" bIns="45720" anchor="t">
            <a:noAutofit/>
          </a:bodyPr>
          <a:lstStyle/>
          <a:p>
            <a:pPr>
              <a:buNone/>
            </a:pPr>
            <a:r>
              <a:rPr lang="en-US" sz="1500" dirty="0">
                <a:solidFill>
                  <a:srgbClr val="3A3A3A"/>
                </a:solidFill>
              </a:rPr>
              <a:t>State model: which situations may exist.</a:t>
            </a:r>
          </a:p>
          <a:p>
            <a:pPr>
              <a:spcBef>
                <a:spcPts val="200"/>
              </a:spcBef>
              <a:buNone/>
            </a:pPr>
            <a:r>
              <a:rPr lang="en-US" sz="1500" dirty="0">
                <a:solidFill>
                  <a:srgbClr val="3A3A3A"/>
                </a:solidFill>
              </a:rPr>
              <a:t>Activity view: which orderings are permitted.</a:t>
            </a:r>
          </a:p>
        </p:txBody>
      </p:sp>
      <p:sp>
        <p:nvSpPr>
          <p:cNvPr id="1216"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must happen before what?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ordering</a:t>
            </a:r>
          </a:p>
          <a:p>
            <a:pPr>
              <a:spcBef>
                <a:spcPts val="150"/>
              </a:spcBef>
              <a:buNone/>
            </a:pPr>
            <a:r>
              <a:rPr lang="en-US" sz="1500" dirty="0">
                <a:solidFill>
                  <a:srgbClr val="3A3A3A"/>
                </a:solidFill>
              </a:rPr>
              <a:t>· allowed branches</a:t>
            </a:r>
          </a:p>
          <a:p>
            <a:pPr>
              <a:spcBef>
                <a:spcPts val="150"/>
              </a:spcBef>
              <a:buNone/>
            </a:pPr>
            <a:r>
              <a:rPr lang="en-US" sz="1500" dirty="0">
                <a:solidFill>
                  <a:srgbClr val="3A3A3A"/>
                </a:solidFill>
              </a:rPr>
              <a:t>· required responses to events</a:t>
            </a:r>
          </a:p>
          <a:p>
            <a:pPr>
              <a:spcBef>
                <a:spcPts val="150"/>
              </a:spcBef>
              <a:buNone/>
            </a:pPr>
            <a:r>
              <a:rPr lang="en-US" sz="1500" dirty="0">
                <a:solidFill>
                  <a:srgbClr val="3A3A3A"/>
                </a:solidFill>
              </a:rPr>
              <a:t>· paths that must never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pPr>
            <a:r>
              <a:rPr lang="en-US" b="1"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175000" cy="2413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600" b="1" dirty="0">
                <a:solidFill>
                  <a:srgbClr val="1A1A1A"/>
                </a:solidFill>
                <a:latin typeface="Consolas"/>
              </a:rPr>
              <a:t>WEEKLY SUMMARY</a:t>
            </a:r>
          </a:p>
          <a:p>
            <a:pPr>
              <a:spcBef>
                <a:spcPts val="400"/>
              </a:spcBef>
              <a:buNone/>
            </a:pPr>
            <a:r>
              <a:rPr lang="en-US" sz="1500" dirty="0">
                <a:solidFill>
                  <a:srgbClr val="3A3A3A"/>
                </a:solidFill>
                <a:latin typeface="Consolas"/>
              </a:rPr>
              <a:t>├── start_date</a:t>
            </a:r>
          </a:p>
          <a:p>
            <a:pPr>
              <a:spcBef>
                <a:spcPts val="250"/>
              </a:spcBef>
              <a:buNone/>
            </a:pPr>
            <a:r>
              <a:rPr lang="en-US" sz="1500" dirty="0">
                <a:solidFill>
                  <a:srgbClr val="3A3A3A"/>
                </a:solidFill>
                <a:latin typeface="Consolas"/>
              </a:rPr>
              <a:t>├── end_date</a:t>
            </a:r>
          </a:p>
          <a:p>
            <a:pPr>
              <a:spcBef>
                <a:spcPts val="250"/>
              </a:spcBef>
              <a:buNone/>
            </a:pPr>
            <a:r>
              <a:rPr lang="en-US" sz="1500" dirty="0">
                <a:solidFill>
                  <a:srgbClr val="3A3A3A"/>
                </a:solidFill>
                <a:latin typeface="Consolas"/>
              </a:rPr>
              <a:t>├── nightly_duration[ ]</a:t>
            </a:r>
          </a:p>
          <a:p>
            <a:pPr>
              <a:spcBef>
                <a:spcPts val="250"/>
              </a:spcBef>
              <a:buNone/>
            </a:pPr>
            <a:r>
              <a:rPr lang="en-US" sz="1500" dirty="0">
                <a:solidFill>
                  <a:srgbClr val="3A3A3A"/>
                </a:solidFill>
                <a:latin typeface="Consolas"/>
              </a:rPr>
              <a:t>└── advisory?</a:t>
            </a:r>
          </a:p>
        </p:txBody>
      </p:sp>
      <p:sp>
        <p:nvSpPr>
          <p:cNvPr id="1403" name="Types"/>
          <p:cNvSpPr txBox="1"/>
          <p:nvPr/>
        </p:nvSpPr>
        <p:spPr>
          <a:xfrm>
            <a:off x="3556000" y="1270000"/>
            <a:ext cx="1778000" cy="2413000"/>
          </a:xfrm>
          <a:prstGeom prst="rect">
            <a:avLst/>
          </a:prstGeom>
          <a:noFill/>
          <a:ln>
            <a:noFill/>
          </a:ln>
        </p:spPr>
        <p:txBody>
          <a:bodyPr lIns="0" tIns="45720" rIns="114300" bIns="45720" anchor="t">
            <a:noAutofit/>
          </a:bodyPr>
          <a:lstStyle/>
          <a:p>
            <a:pPr>
              <a:buNone/>
            </a:pPr>
            <a:r>
              <a:rPr lang="en-US" sz="1600" dirty="0"/>
              <a:t> </a:t>
            </a:r>
          </a:p>
          <a:p>
            <a:pPr>
              <a:spcBef>
                <a:spcPts val="400"/>
              </a:spcBef>
              <a:buNone/>
            </a:pPr>
            <a:r>
              <a:rPr lang="en-US" sz="1400" dirty="0">
                <a:solidFill>
                  <a:srgbClr val="555960"/>
                </a:solidFill>
              </a:rPr>
              <a:t>date · required</a:t>
            </a:r>
          </a:p>
          <a:p>
            <a:pPr>
              <a:spcBef>
                <a:spcPts val="250"/>
              </a:spcBef>
              <a:buNone/>
            </a:pPr>
            <a:r>
              <a:rPr lang="en-US" sz="1400" dirty="0">
                <a:solidFill>
                  <a:srgbClr val="555960"/>
                </a:solidFill>
              </a:rPr>
              <a:t>date · required</a:t>
            </a:r>
          </a:p>
          <a:p>
            <a:pPr>
              <a:spcBef>
                <a:spcPts val="250"/>
              </a:spcBef>
              <a:buNone/>
            </a:pPr>
            <a:r>
              <a:rPr lang="en-US" sz="1400" b="1" dirty="0">
                <a:solidFill>
                  <a:srgbClr val="8E6F3E"/>
                </a:solidFill>
              </a:rPr>
              <a:t>exactly 7 entries</a:t>
            </a:r>
          </a:p>
          <a:p>
            <a:pPr>
              <a:spcBef>
                <a:spcPts val="250"/>
              </a:spcBef>
              <a:buNone/>
            </a:pPr>
            <a:r>
              <a:rPr lang="en-US" sz="1400" dirty="0">
                <a:solidFill>
                  <a:srgbClr val="555960"/>
                </a:solidFill>
              </a:rPr>
              <a:t>string · optional</a:t>
            </a:r>
          </a:p>
        </p:txBody>
      </p:sp>
      <p:sp>
        <p:nvSpPr>
          <p:cNvPr id="1404" name="Bound"/>
          <p:cNvSpPr txBox="1"/>
          <p:nvPr/>
        </p:nvSpPr>
        <p:spPr>
          <a:xfrm>
            <a:off x="279400" y="3860800"/>
            <a:ext cx="5054600" cy="685800"/>
          </a:xfrm>
          <a:prstGeom prst="rect">
            <a:avLst/>
          </a:prstGeom>
          <a:noFill/>
          <a:ln>
            <a:noFill/>
          </a:ln>
        </p:spPr>
        <p:txBody>
          <a:bodyPr lIns="0" tIns="45720" rIns="114300" bIns="45720" anchor="t">
            <a:noAutofit/>
          </a:bodyPr>
          <a:lstStyle/>
          <a:p>
            <a:pPr>
              <a:buNone/>
            </a:pPr>
            <a:r>
              <a:rPr lang="en-US" sz="15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information is valid?</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fields</a:t>
            </a:r>
          </a:p>
          <a:p>
            <a:pPr>
              <a:spcBef>
                <a:spcPts val="150"/>
              </a:spcBef>
              <a:buNone/>
            </a:pPr>
            <a:r>
              <a:rPr lang="en-US" sz="1500" dirty="0">
                <a:solidFill>
                  <a:srgbClr val="3A3A3A"/>
                </a:solidFill>
              </a:rPr>
              <a:t>· types</a:t>
            </a:r>
          </a:p>
          <a:p>
            <a:pPr>
              <a:spcBef>
                <a:spcPts val="150"/>
              </a:spcBef>
              <a:buNone/>
            </a:pPr>
            <a:r>
              <a:rPr lang="en-US" sz="1500" dirty="0">
                <a:solidFill>
                  <a:srgbClr val="3A3A3A"/>
                </a:solidFill>
              </a:rPr>
              <a:t>· cardinality</a:t>
            </a:r>
          </a:p>
          <a:p>
            <a:pPr>
              <a:spcBef>
                <a:spcPts val="150"/>
              </a:spcBef>
              <a:buNone/>
            </a:pPr>
            <a:r>
              <a:rPr lang="en-US" sz="1500" dirty="0">
                <a:solidFill>
                  <a:srgbClr val="3A3A3A"/>
                </a:solidFill>
              </a:rPr>
              <a:t>· ranges</a:t>
            </a:r>
          </a:p>
          <a:p>
            <a:pPr>
              <a:spcBef>
                <a:spcPts val="150"/>
              </a:spcBef>
              <a:buNone/>
            </a:pPr>
            <a:r>
              <a:rPr lang="en-US" sz="1500" dirty="0">
                <a:solidFill>
                  <a:srgbClr val="3A3A3A"/>
                </a:solidFill>
              </a:rPr>
              <a:t>· referential relationships</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pPr>
            <a:r>
              <a:rPr lang="en-US" b="1"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SAME SYSTEM</a:t>
            </a:r>
          </a:p>
        </p:txBody>
      </p:sp>
      <p:sp>
        <p:nvSpPr>
          <p:cNvPr id="1503" name="View"/>
          <p:cNvSpPr txBox="1"/>
          <p:nvPr/>
        </p:nvSpPr>
        <p:spPr>
          <a:xfrm>
            <a:off x="2794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STATE</a:t>
            </a:r>
          </a:p>
          <a:p>
            <a:pPr algn="ctr">
              <a:spcBef>
                <a:spcPts val="350"/>
              </a:spcBef>
              <a:buNone/>
            </a:pPr>
            <a:r>
              <a:rPr lang="en-US" sz="1500" dirty="0">
                <a:solidFill>
                  <a:srgbClr val="3A3A3A"/>
                </a:solidFill>
              </a:rPr>
              <a:t>allowable behavior</a:t>
            </a:r>
          </a:p>
        </p:txBody>
      </p:sp>
      <p:sp>
        <p:nvSpPr>
          <p:cNvPr id="1505" name="View"/>
          <p:cNvSpPr txBox="1"/>
          <p:nvPr/>
        </p:nvSpPr>
        <p:spPr>
          <a:xfrm>
            <a:off x="32766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ACTIVITY</a:t>
            </a:r>
          </a:p>
          <a:p>
            <a:pPr algn="ctr">
              <a:spcBef>
                <a:spcPts val="350"/>
              </a:spcBef>
              <a:buNone/>
            </a:pPr>
            <a:r>
              <a:rPr lang="en-US" sz="1500" dirty="0">
                <a:solidFill>
                  <a:srgbClr val="3A3A3A"/>
                </a:solidFill>
              </a:rPr>
              <a:t>permitted ordering</a:t>
            </a:r>
          </a:p>
        </p:txBody>
      </p:sp>
      <p:sp>
        <p:nvSpPr>
          <p:cNvPr id="1509" name="View"/>
          <p:cNvSpPr txBox="1"/>
          <p:nvPr/>
        </p:nvSpPr>
        <p:spPr>
          <a:xfrm>
            <a:off x="62738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SCHEMA</a:t>
            </a:r>
          </a:p>
          <a:p>
            <a:pPr algn="ctr">
              <a:spcBef>
                <a:spcPts val="350"/>
              </a:spcBef>
              <a:buNone/>
            </a:pPr>
            <a:r>
              <a:rPr lang="en-US" sz="1500" dirty="0">
                <a:solidFill>
                  <a:srgbClr val="3A3A3A"/>
                </a:solidFill>
              </a:rPr>
              <a:t>valid information</a:t>
            </a:r>
          </a:p>
        </p:txBody>
      </p:sp>
      <p:sp>
        <p:nvSpPr>
          <p:cNvPr id="1510" name="Shared"/>
          <p:cNvSpPr txBox="1"/>
          <p:nvPr/>
        </p:nvSpPr>
        <p:spPr>
          <a:xfrm>
            <a:off x="279400" y="3581400"/>
            <a:ext cx="8559800" cy="558800"/>
          </a:xfrm>
          <a:prstGeom prst="rect">
            <a:avLst/>
          </a:prstGeom>
          <a:solidFill>
            <a:srgbClr val="DAD4C6"/>
          </a:solidFill>
          <a:ln>
            <a:noFill/>
          </a:ln>
        </p:spPr>
        <p:txBody>
          <a:bodyPr lIns="91440" tIns="45720" rIns="91440" bIns="45720" anchor="ctr">
            <a:noAutofit/>
          </a:bodyPr>
          <a:lstStyle/>
          <a:p>
            <a:pPr algn="ctr">
              <a:buNone/>
            </a:pPr>
            <a:r>
              <a:rPr lang="en-US" sz="1500" b="1" spc="60" dirty="0">
                <a:solidFill>
                  <a:srgbClr val="3A3A3A"/>
                </a:solidFill>
              </a:rPr>
              <a:t>SHARED CONCEPTS   observation · night · advisory</a:t>
            </a:r>
          </a:p>
        </p:txBody>
      </p:sp>
      <p:sp>
        <p:nvSpPr>
          <p:cNvPr id="1512" name="Final"/>
          <p:cNvSpPr txBox="1"/>
          <p:nvPr/>
        </p:nvSpPr>
        <p:spPr>
          <a:xfrm>
            <a:off x="279400" y="4521200"/>
            <a:ext cx="8559800" cy="406400"/>
          </a:xfrm>
          <a:prstGeom prst="rect">
            <a:avLst/>
          </a:prstGeom>
          <a:noFill/>
          <a:ln>
            <a:noFill/>
          </a:ln>
        </p:spPr>
        <p:txBody>
          <a:bodyPr lIns="91440" tIns="45720" rIns="91440" bIns="45720" anchor="t">
            <a:noAutofit/>
          </a:bodyPr>
          <a:lstStyle/>
          <a:p>
            <a:pPr algn="ctr">
              <a:buNone/>
            </a:pPr>
            <a:r>
              <a:rPr lang="en-US" sz="1900" b="1" dirty="0">
                <a:solidFill>
                  <a:srgbClr val="1A1A1A"/>
                </a:solidFill>
              </a:rPr>
              <a:t>Use the view that makes the consequential property expressible.</a:t>
            </a:r>
          </a:p>
        </p:txBody>
      </p:sp>
      <p:sp>
        <p:nvSpPr>
          <p:cNvPr id="1513" name="Sub"/>
          <p:cNvSpPr txBox="1"/>
          <p:nvPr/>
        </p:nvSpPr>
        <p:spPr>
          <a:xfrm>
            <a:off x="279400" y="5029200"/>
            <a:ext cx="8559800" cy="355600"/>
          </a:xfrm>
          <a:prstGeom prst="rect">
            <a:avLst/>
          </a:prstGeom>
          <a:noFill/>
          <a:ln>
            <a:noFill/>
          </a:ln>
        </p:spPr>
        <p:txBody>
          <a:bodyPr lIns="91440" tIns="45720" rIns="91440" bIns="45720" anchor="t">
            <a:noAutofit/>
          </a:bodyPr>
          <a:lstStyle/>
          <a:p>
            <a:pPr algn="ctr">
              <a:buNone/>
            </a:pPr>
            <a:r>
              <a:rPr lang="en-US" sz="1500" dirty="0">
                <a:solidFill>
                  <a:srgbClr val="3A3A3A"/>
                </a:solidFill>
              </a:rPr>
              <a:t>The system did not change. The engineering question changed, so the model changed.</a:t>
            </a:r>
          </a:p>
        </p:txBody>
      </p:sp>
      <p:sp>
        <p:nvSpPr>
          <p:cNvPr id="1514" name="Src"/>
          <p:cNvSpPr txBox="1"/>
          <p:nvPr/>
        </p:nvSpPr>
        <p:spPr>
          <a:xfrm>
            <a:off x="279400" y="61214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2.8-1</a:t>
            </a:r>
          </a:p>
        </p:txBody>
      </p:sp>
      <p:sp>
        <p:nvSpPr>
          <p:cNvPr id="1530" name="Kicker"/>
          <p:cNvSpPr txBox="1"/>
          <p:nvPr/>
        </p:nvSpPr>
        <p:spPr>
          <a:xfrm>
            <a:off x="635000" y="914400"/>
            <a:ext cx="30480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9144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1803400"/>
            <a:ext cx="7772400" cy="1092200"/>
          </a:xfrm>
        </p:spPr>
        <p:txBody>
          <a:bodyPr>
            <a:normAutofit fontScale="90000"/>
          </a:bodyPr>
          <a:lstStyle/>
          <a:p>
            <a:pPr algn="ctr">
              <a:buNone/>
            </a:pPr>
            <a:r>
              <a:rPr lang="en-US" sz="3600" b="1"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3</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200400"/>
            <a:ext cx="8026400"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should we constrain, leave open, or learn?</a:t>
            </a:r>
          </a:p>
        </p:txBody>
      </p:sp>
    </p:spTree>
    <p:extLst>
      <p:ext uri="{BB962C8B-B14F-4D97-AF65-F5344CB8AC3E}">
        <p14:creationId xmlns:p14="http://schemas.microsoft.com/office/powerpoint/2010/main" val="7491184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pPr>
            <a:r>
              <a:rPr lang="en-US" b="1"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400" b="1" dirty="0">
                <a:solidFill>
                  <a:srgbClr val="8E6F3E"/>
                </a:solidFill>
              </a:rPr>
              <a:t>satisfies the behavioral obligation</a:t>
            </a:r>
          </a:p>
        </p:txBody>
      </p:sp>
      <p:sp>
        <p:nvSpPr>
          <p:cNvPr id="1606" name="Lb2"/>
          <p:cNvSpPr txBox="1"/>
          <p:nvPr/>
        </p:nvSpPr>
        <p:spPr>
          <a:xfrm>
            <a:off x="5969000" y="1574800"/>
            <a:ext cx="2794000" cy="508000"/>
          </a:xfrm>
          <a:prstGeom prst="rect">
            <a:avLst/>
          </a:prstGeom>
          <a:noFill/>
          <a:ln>
            <a:noFill/>
          </a:ln>
        </p:spPr>
        <p:txBody>
          <a:bodyPr lIns="91440" tIns="45720" rIns="91440" bIns="45720" anchor="ctr">
            <a:noAutofit/>
          </a:bodyPr>
          <a:lstStyle/>
          <a:p>
            <a:pPr algn="r">
              <a:buNone/>
            </a:pPr>
            <a:r>
              <a:rPr lang="en-US" sz="14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300" b="1" spc="60" dirty="0">
                <a:solidFill>
                  <a:srgbClr val="1A1A1A"/>
                </a:solidFill>
              </a:rPr>
              <a:t>ACCEPTABLE</a:t>
            </a:r>
          </a:p>
          <a:p>
            <a:pPr algn="ctr">
              <a:buNone/>
            </a:pPr>
            <a:r>
              <a:rPr lang="en-US" sz="1300" b="1" spc="60" dirty="0">
                <a:solidFill>
                  <a:srgbClr val="1A1A1A"/>
                </a:solidFill>
              </a:rPr>
              <a:t>REALIZATIONS</a:t>
            </a:r>
          </a:p>
          <a:p>
            <a:pPr algn="ctr">
              <a:spcBef>
                <a:spcPts val="150"/>
              </a:spcBef>
              <a:buNone/>
            </a:pPr>
            <a:r>
              <a:rPr lang="en-US" sz="12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724400"/>
            <a:ext cx="8559800" cy="406400"/>
          </a:xfrm>
          <a:prstGeom prst="rect">
            <a:avLst/>
          </a:prstGeom>
          <a:noFill/>
          <a:ln>
            <a:noFill/>
          </a:ln>
        </p:spPr>
        <p:txBody>
          <a:bodyPr lIns="91440" tIns="45720" rIns="91440" bIns="45720" anchor="t">
            <a:noAutofit/>
          </a:bodyPr>
          <a:lstStyle/>
          <a:p>
            <a:pPr algn="ctr">
              <a:buNone/>
            </a:pPr>
            <a:r>
              <a:rPr lang="en-US" sz="1500" dirty="0">
                <a:solidFill>
                  <a:srgbClr val="3A3A3A"/>
                </a:solidFill>
              </a:rPr>
              <a:t>Each dot is a distinct possible realization. The obligations bound a region; they do not pick a point inside it.</a:t>
            </a:r>
          </a:p>
        </p:txBody>
      </p:sp>
      <p:sp>
        <p:nvSpPr>
          <p:cNvPr id="1625" name="Src"/>
          <p:cNvSpPr txBox="1"/>
          <p:nvPr/>
        </p:nvSpPr>
        <p:spPr>
          <a:xfrm>
            <a:off x="279400" y="6070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2.1-1, adapted</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156200"/>
            <a:ext cx="8559800" cy="508000"/>
          </a:xfrm>
          <a:prstGeom prst="rect">
            <a:avLst/>
          </a:prstGeom>
          <a:solidFill>
            <a:srgbClr val="8E6F3E"/>
          </a:solidFill>
          <a:ln>
            <a:noFill/>
          </a:ln>
        </p:spPr>
        <p:txBody>
          <a:bodyPr lIns="91440" tIns="45720" rIns="91440" bIns="45720" anchor="ctr">
            <a:noAutofit/>
          </a:bodyPr>
          <a:lstStyle/>
          <a:p>
            <a:pPr algn="ctr">
              <a:buNone/>
            </a:pPr>
            <a:r>
              <a:rPr lang="en-US" sz="1900" b="1" dirty="0">
                <a:solidFill>
                  <a:srgbClr val="FFFFFF"/>
                </a:solidFill>
              </a:rPr>
              <a:t>Every obligation eliminates realizations.</a:t>
            </a:r>
          </a:p>
        </p:txBody>
      </p:sp>
      <p:sp>
        <p:nvSpPr>
          <p:cNvPr id="1627" name="TakeawayB"/>
          <p:cNvSpPr txBox="1"/>
          <p:nvPr/>
        </p:nvSpPr>
        <p:spPr>
          <a:xfrm>
            <a:off x="279400" y="5715000"/>
            <a:ext cx="8559800" cy="330200"/>
          </a:xfrm>
          <a:prstGeom prst="rect">
            <a:avLst/>
          </a:prstGeom>
          <a:noFill/>
          <a:ln>
            <a:noFill/>
          </a:ln>
        </p:spPr>
        <p:txBody>
          <a:bodyPr lIns="91440" tIns="45720" rIns="91440" bIns="45720" anchor="ctr">
            <a:noAutofit/>
          </a:bodyPr>
          <a:lstStyle/>
          <a:p>
            <a:pPr algn="ctr">
              <a:buNone/>
            </a:pPr>
            <a:r>
              <a:rPr lang="en-US" sz="19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pPr>
            <a:r>
              <a:rPr lang="en-US" b="1"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1701" name="Top"/>
          <p:cNvSpPr txBox="1"/>
          <p:nvPr/>
        </p:nvSpPr>
        <p:spPr>
          <a:xfrm>
            <a:off x="3429000" y="1117600"/>
            <a:ext cx="2286000" cy="5080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NOT CONSTRAINED</a:t>
            </a:r>
          </a:p>
        </p:txBody>
      </p:sp>
      <p:cxnSp>
        <p:nvCxnSpPr>
          <p:cNvPr id="1702" name="Flow"/>
          <p:cNvCxnSpPr/>
          <p:nvPr/>
        </p:nvCxnSpPr>
        <p:spPr>
          <a:xfrm rot="5400000">
            <a:off x="2813050" y="425450"/>
            <a:ext cx="558800" cy="2959100"/>
          </a:xfrm>
          <a:prstGeom prst="bentConnector3">
            <a:avLst>
              <a:gd name="adj1" fmla="val 50000"/>
            </a:avLst>
          </a:prstGeom>
          <a:ln w="19050">
            <a:solidFill>
              <a:srgbClr val="8E6F3E"/>
            </a:solidFill>
            <a:tailEnd type="triangle"/>
          </a:ln>
        </p:spPr>
      </p:cxnSp>
      <p:cxnSp>
        <p:nvCxnSpPr>
          <p:cNvPr id="1703" name="Flow"/>
          <p:cNvCxnSpPr/>
          <p:nvPr/>
        </p:nvCxnSpPr>
        <p:spPr>
          <a:xfrm>
            <a:off x="4572000" y="1625600"/>
            <a:ext cx="0" cy="558800"/>
          </a:xfrm>
          <a:prstGeom prst="line">
            <a:avLst/>
          </a:prstGeom>
          <a:ln w="19050">
            <a:solidFill>
              <a:srgbClr val="8E6F3E"/>
            </a:solidFill>
            <a:tailEnd type="triangle"/>
          </a:ln>
        </p:spPr>
      </p:cxnSp>
      <p:cxnSp>
        <p:nvCxnSpPr>
          <p:cNvPr id="1704" name="Flow"/>
          <p:cNvCxnSpPr/>
          <p:nvPr/>
        </p:nvCxnSpPr>
        <p:spPr>
          <a:xfrm rot="16200000" flipH="1">
            <a:off x="5721350" y="476250"/>
            <a:ext cx="558800" cy="2857500"/>
          </a:xfrm>
          <a:prstGeom prst="bentConnector3">
            <a:avLst>
              <a:gd name="adj1" fmla="val 50000"/>
            </a:avLst>
          </a:prstGeom>
          <a:ln w="19050">
            <a:solidFill>
              <a:srgbClr val="8E6F3E"/>
            </a:solidFill>
            <a:tailEnd type="triangle"/>
          </a:ln>
        </p:spPr>
      </p:cxnSp>
      <p:sp>
        <p:nvSpPr>
          <p:cNvPr id="1705" name="Cat"/>
          <p:cNvSpPr txBox="1"/>
          <p:nvPr/>
        </p:nvSpPr>
        <p:spPr>
          <a:xfrm>
            <a:off x="2794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UNKNOWN</a:t>
            </a:r>
          </a:p>
        </p:txBody>
      </p:sp>
      <p:sp>
        <p:nvSpPr>
          <p:cNvPr id="1706" name="Def"/>
          <p:cNvSpPr txBox="1"/>
          <p:nvPr/>
        </p:nvSpPr>
        <p:spPr>
          <a:xfrm>
            <a:off x="2794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consequence is not yet understood</a:t>
            </a:r>
          </a:p>
        </p:txBody>
      </p:sp>
      <p:sp>
        <p:nvSpPr>
          <p:cNvPr id="1707" name="Act"/>
          <p:cNvSpPr txBox="1"/>
          <p:nvPr/>
        </p:nvSpPr>
        <p:spPr>
          <a:xfrm>
            <a:off x="2794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learn</a:t>
            </a:r>
          </a:p>
        </p:txBody>
      </p:sp>
      <p:sp>
        <p:nvSpPr>
          <p:cNvPr id="1708" name="Cat"/>
          <p:cNvSpPr txBox="1"/>
          <p:nvPr/>
        </p:nvSpPr>
        <p:spPr>
          <a:xfrm>
            <a:off x="31877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TACIT</a:t>
            </a:r>
          </a:p>
        </p:txBody>
      </p:sp>
      <p:sp>
        <p:nvSpPr>
          <p:cNvPr id="1709" name="Def"/>
          <p:cNvSpPr txBox="1"/>
          <p:nvPr/>
        </p:nvSpPr>
        <p:spPr>
          <a:xfrm>
            <a:off x="31877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a boundary exists, unwritten</a:t>
            </a:r>
          </a:p>
        </p:txBody>
      </p:sp>
      <p:sp>
        <p:nvSpPr>
          <p:cNvPr id="1710" name="Act"/>
          <p:cNvSpPr txBox="1"/>
          <p:nvPr/>
        </p:nvSpPr>
        <p:spPr>
          <a:xfrm>
            <a:off x="31877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externalize</a:t>
            </a:r>
          </a:p>
        </p:txBody>
      </p:sp>
      <p:sp>
        <p:nvSpPr>
          <p:cNvPr id="1711" name="Cat"/>
          <p:cNvSpPr txBox="1"/>
          <p:nvPr/>
        </p:nvSpPr>
        <p:spPr>
          <a:xfrm>
            <a:off x="60960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FREE</a:t>
            </a:r>
          </a:p>
        </p:txBody>
      </p:sp>
      <p:sp>
        <p:nvSpPr>
          <p:cNvPr id="1712" name="Def"/>
          <p:cNvSpPr txBox="1"/>
          <p:nvPr/>
        </p:nvSpPr>
        <p:spPr>
          <a:xfrm>
            <a:off x="60960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alternatives are genuinely acceptable</a:t>
            </a:r>
          </a:p>
        </p:txBody>
      </p:sp>
      <p:sp>
        <p:nvSpPr>
          <p:cNvPr id="1713" name="Act"/>
          <p:cNvSpPr txBox="1"/>
          <p:nvPr/>
        </p:nvSpPr>
        <p:spPr>
          <a:xfrm>
            <a:off x="60960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leave open</a:t>
            </a:r>
          </a:p>
        </p:txBody>
      </p:sp>
      <p:cxnSp>
        <p:nvCxnSpPr>
          <p:cNvPr id="1714" name="Flow"/>
          <p:cNvCxnSpPr/>
          <p:nvPr/>
        </p:nvCxnSpPr>
        <p:spPr>
          <a:xfrm>
            <a:off x="1612900" y="3708400"/>
            <a:ext cx="0" cy="203200"/>
          </a:xfrm>
          <a:prstGeom prst="line">
            <a:avLst/>
          </a:prstGeom>
          <a:ln w="19050">
            <a:solidFill>
              <a:srgbClr val="8E6F3E"/>
            </a:solidFill>
            <a:tailEnd type="triangle"/>
          </a:ln>
        </p:spPr>
      </p:cxnSp>
      <p:sp>
        <p:nvSpPr>
          <p:cNvPr id="1715" name="Loop"/>
          <p:cNvSpPr txBox="1"/>
          <p:nvPr/>
        </p:nvSpPr>
        <p:spPr>
          <a:xfrm>
            <a:off x="2794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BUILD</a:t>
            </a:r>
          </a:p>
        </p:txBody>
      </p:sp>
      <p:sp>
        <p:nvSpPr>
          <p:cNvPr id="1716" name="Loop"/>
          <p:cNvSpPr txBox="1"/>
          <p:nvPr/>
        </p:nvSpPr>
        <p:spPr>
          <a:xfrm>
            <a:off x="12192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OBSERVE</a:t>
            </a:r>
          </a:p>
        </p:txBody>
      </p:sp>
      <p:sp>
        <p:nvSpPr>
          <p:cNvPr id="1717" name="Loop"/>
          <p:cNvSpPr txBox="1"/>
          <p:nvPr/>
        </p:nvSpPr>
        <p:spPr>
          <a:xfrm>
            <a:off x="21590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DECIDE</a:t>
            </a:r>
          </a:p>
        </p:txBody>
      </p:sp>
      <p:cxnSp>
        <p:nvCxnSpPr>
          <p:cNvPr id="1718" name="Flow"/>
          <p:cNvCxnSpPr/>
          <p:nvPr/>
        </p:nvCxnSpPr>
        <p:spPr>
          <a:xfrm>
            <a:off x="1066800" y="4127500"/>
            <a:ext cx="152400" cy="0"/>
          </a:xfrm>
          <a:prstGeom prst="line">
            <a:avLst/>
          </a:prstGeom>
          <a:ln w="19050">
            <a:solidFill>
              <a:srgbClr val="8E6F3E"/>
            </a:solidFill>
            <a:tailEnd type="triangle"/>
          </a:ln>
        </p:spPr>
      </p:cxnSp>
      <p:cxnSp>
        <p:nvCxnSpPr>
          <p:cNvPr id="1719" name="Flow"/>
          <p:cNvCxnSpPr/>
          <p:nvPr/>
        </p:nvCxnSpPr>
        <p:spPr>
          <a:xfrm>
            <a:off x="2006600" y="4127500"/>
            <a:ext cx="152400" cy="0"/>
          </a:xfrm>
          <a:prstGeom prst="line">
            <a:avLst/>
          </a:prstGeom>
          <a:ln w="19050">
            <a:solidFill>
              <a:srgbClr val="8E6F3E"/>
            </a:solidFill>
            <a:tailEnd type="triangle"/>
          </a:ln>
        </p:spPr>
      </p:cxnSp>
      <p:sp>
        <p:nvSpPr>
          <p:cNvPr id="1720" name="LoopCap"/>
          <p:cNvSpPr txBox="1"/>
          <p:nvPr/>
        </p:nvSpPr>
        <p:spPr>
          <a:xfrm>
            <a:off x="279400" y="4394200"/>
            <a:ext cx="3048000" cy="381000"/>
          </a:xfrm>
          <a:prstGeom prst="rect">
            <a:avLst/>
          </a:prstGeom>
          <a:noFill/>
          <a:ln>
            <a:noFill/>
          </a:ln>
        </p:spPr>
        <p:txBody>
          <a:bodyPr lIns="0" tIns="45720" rIns="91440" bIns="45720" anchor="t">
            <a:noAutofit/>
          </a:bodyPr>
          <a:lstStyle/>
          <a:p>
            <a:pPr algn="ctr">
              <a:buNone/>
            </a:pPr>
            <a:r>
              <a:rPr lang="en-US" sz="1300" dirty="0">
                <a:solidFill>
                  <a:srgbClr val="555960"/>
                </a:solidFill>
              </a:rPr>
              <a:t>Specify once the difference shows up.</a:t>
            </a:r>
          </a:p>
        </p:txBody>
      </p:sp>
      <p:sp>
        <p:nvSpPr>
          <p:cNvPr id="1721" name="Diag"/>
          <p:cNvSpPr txBox="1"/>
          <p:nvPr/>
        </p:nvSpPr>
        <p:spPr>
          <a:xfrm>
            <a:off x="3378200" y="3911600"/>
            <a:ext cx="5461000" cy="762000"/>
          </a:xfrm>
          <a:prstGeom prst="rect">
            <a:avLst/>
          </a:prstGeom>
          <a:noFill/>
          <a:ln>
            <a:noFill/>
          </a:ln>
        </p:spPr>
        <p:txBody>
          <a:bodyPr lIns="0" tIns="45720" rIns="91440" bIns="45720" anchor="t">
            <a:noAutofit/>
          </a:bodyPr>
          <a:lstStyle/>
          <a:p>
            <a:pPr>
              <a:buNone/>
            </a:pPr>
            <a:r>
              <a:rPr lang="en-US" sz="1500" dirty="0">
                <a:solidFill>
                  <a:srgbClr val="3A3A3A"/>
                </a:solidFill>
              </a:rPr>
              <a:t>Diagnostic: if a realization would provoke “not that”, a consequential boundary remains, whether or not anyone wrote it down.</a:t>
            </a:r>
          </a:p>
        </p:txBody>
      </p:sp>
      <p:sp>
        <p:nvSpPr>
          <p:cNvPr id="1722" name="Takeaway"/>
          <p:cNvSpPr txBox="1"/>
          <p:nvPr/>
        </p:nvSpPr>
        <p:spPr>
          <a:xfrm>
            <a:off x="279400" y="5105400"/>
            <a:ext cx="8559800" cy="609600"/>
          </a:xfrm>
          <a:prstGeom prst="rect">
            <a:avLst/>
          </a:prstGeom>
          <a:solidFill>
            <a:srgbClr val="8E6F3E"/>
          </a:solidFill>
          <a:ln>
            <a:noFill/>
          </a:ln>
        </p:spPr>
        <p:txBody>
          <a:bodyPr lIns="91440" tIns="45720" rIns="91440" bIns="45720" anchor="ctr">
            <a:noAutofit/>
          </a:bodyPr>
          <a:lstStyle/>
          <a:p>
            <a:pPr algn="ctr">
              <a:buNone/>
            </a:pPr>
            <a:r>
              <a:rPr lang="en-US" sz="2000" b="1" dirty="0">
                <a:solidFill>
                  <a:srgbClr val="FFFFFF"/>
                </a:solidFill>
              </a:rPr>
              <a:t>Only the third one is freedom.</a:t>
            </a:r>
          </a:p>
        </p:txBody>
      </p:sp>
      <p:sp>
        <p:nvSpPr>
          <p:cNvPr id="1723" name="Src"/>
          <p:cNvSpPr txBox="1"/>
          <p:nvPr/>
        </p:nvSpPr>
        <p:spPr>
          <a:xfrm>
            <a:off x="279400" y="5943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§2.1.2 and the inset on uncertainty</a:t>
            </a:r>
          </a:p>
        </p:txBody>
      </p:sp>
    </p:spTree>
    <p:extLst>
      <p:ext uri="{BB962C8B-B14F-4D97-AF65-F5344CB8AC3E}">
        <p14:creationId xmlns:p14="http://schemas.microsoft.com/office/powerpoint/2010/main" val="421552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Effect transition="in" filter="fade">
                                      <p:cBhvr>
                                        <p:cTn id="7" dur="400"/>
                                        <p:tgtEl>
                                          <p:spTgt spid="1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pPr>
            <a:r>
              <a:rPr lang="en-US" sz="3200" b="1" i="0" dirty="0">
                <a:solidFill>
                  <a:srgbClr val="000000"/>
                </a:solidFill>
              </a:rPr>
              <a:t>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25</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6604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6604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Four things the specification does not say. Classify each.</a:t>
            </a:r>
          </a:p>
        </p:txBody>
      </p:sp>
      <p:sp>
        <p:nvSpPr>
          <p:cNvPr id="70" name="S70"/>
          <p:cNvSpPr/>
          <p:nvPr/>
        </p:nvSpPr>
        <p:spPr>
          <a:xfrm>
            <a:off x="2794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color for the advisory banner?</a:t>
            </a:r>
          </a:p>
        </p:txBody>
      </p:sp>
      <p:sp>
        <p:nvSpPr>
          <p:cNvPr id="71" name="S71"/>
          <p:cNvSpPr/>
          <p:nvPr/>
        </p:nvSpPr>
        <p:spPr>
          <a:xfrm>
            <a:off x="24511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How sensitive should illness detection be?</a:t>
            </a:r>
          </a:p>
        </p:txBody>
      </p:sp>
      <p:sp>
        <p:nvSpPr>
          <p:cNvPr id="72" name="S72"/>
          <p:cNvSpPr/>
          <p:nvPr/>
        </p:nvSpPr>
        <p:spPr>
          <a:xfrm>
            <a:off x="46228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Which database stores sleep history?</a:t>
            </a:r>
          </a:p>
        </p:txBody>
      </p:sp>
      <p:sp>
        <p:nvSpPr>
          <p:cNvPr id="73" name="S73"/>
          <p:cNvSpPr/>
          <p:nvPr/>
        </p:nvSpPr>
        <p:spPr>
          <a:xfrm>
            <a:off x="67945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if the doctor’s email bounces?</a:t>
            </a:r>
          </a:p>
        </p:txBody>
      </p:sp>
      <p:sp>
        <p:nvSpPr>
          <p:cNvPr id="80" name="S80"/>
          <p:cNvSpPr/>
          <p:nvPr/>
        </p:nvSpPr>
        <p:spPr>
          <a:xfrm>
            <a:off x="279400" y="51308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1308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674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There is no answer key.</a:t>
            </a:r>
          </a:p>
        </p:txBody>
      </p:sp>
    </p:spTree>
    <p:extLst>
      <p:ext uri="{BB962C8B-B14F-4D97-AF65-F5344CB8AC3E}">
        <p14:creationId xmlns:p14="http://schemas.microsoft.com/office/powerpoint/2010/main" val="1473792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pPr>
            <a:r>
              <a:rPr lang="en-US" sz="3000" b="1"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summary with their doctor.</a:t>
            </a:r>
          </a:p>
        </p:txBody>
      </p:sp>
      <p:sp>
        <p:nvSpPr>
          <p:cNvPr id="61" name="S61"/>
          <p:cNvSpPr/>
          <p:nvPr/>
        </p:nvSpPr>
        <p:spPr>
          <a:xfrm>
            <a:off x="279400" y="1930400"/>
            <a:ext cx="4140200" cy="1905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A teammate</a:t>
            </a:r>
          </a:p>
          <a:p>
            <a:pPr algn="l">
              <a:spcBef>
                <a:spcPts val="180"/>
              </a:spcBef>
              <a:buNone/>
            </a:pPr>
            <a:r>
              <a:rPr lang="en-US" sz="2000" b="0" i="0" dirty="0">
                <a:solidFill>
                  <a:srgbClr val="000000"/>
                </a:solidFill>
              </a:rPr>
              <a:t>Mail bounces, so it tells the user.</a:t>
            </a:r>
          </a:p>
          <a:p>
            <a:pPr algn="l">
              <a:spcBef>
                <a:spcPts val="120"/>
              </a:spcBef>
              <a:buNone/>
            </a:pPr>
            <a:r>
              <a:rPr lang="en-US" sz="2000" b="0" i="0" dirty="0">
                <a:solidFill>
                  <a:srgbClr val="555960"/>
                </a:solidFill>
              </a:rPr>
              <a:t>Obviously.</a:t>
            </a:r>
          </a:p>
        </p:txBody>
      </p:sp>
      <p:sp>
        <p:nvSpPr>
          <p:cNvPr id="62" name="S62"/>
          <p:cNvSpPr/>
          <p:nvPr/>
        </p:nvSpPr>
        <p:spPr>
          <a:xfrm>
            <a:off x="4699000" y="1930400"/>
            <a:ext cx="4140200" cy="190500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200" b="1" i="0" dirty="0">
                <a:solidFill>
                  <a:srgbClr val="5C4826"/>
                </a:solidFill>
              </a:rPr>
              <a:t>An agent</a:t>
            </a:r>
          </a:p>
          <a:p>
            <a:pPr algn="l">
              <a:spcBef>
                <a:spcPts val="180"/>
              </a:spcBef>
              <a:buNone/>
            </a:pPr>
            <a:r>
              <a:rPr lang="en-US" sz="2000" b="0" i="0" dirty="0">
                <a:solidFill>
                  <a:srgbClr val="000000"/>
                </a:solidFill>
              </a:rPr>
              <a:t>Mail bounces, so it logs and returns success.</a:t>
            </a:r>
          </a:p>
          <a:p>
            <a:pPr algn="l">
              <a:spcBef>
                <a:spcPts val="120"/>
              </a:spcBef>
              <a:buNone/>
            </a:pPr>
            <a:r>
              <a:rPr lang="en-US" sz="2000" b="0" i="0" dirty="0">
                <a:solidFill>
                  <a:srgbClr val="555960"/>
                </a:solidFill>
              </a:rPr>
              <a:t>Also permitted by R7.</a:t>
            </a:r>
          </a:p>
        </p:txBody>
      </p:sp>
      <p:sp>
        <p:nvSpPr>
          <p:cNvPr id="70" name="S70"/>
          <p:cNvSpPr/>
          <p:nvPr/>
        </p:nvSpPr>
        <p:spPr>
          <a:xfrm>
            <a:off x="279400" y="40132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“Obviously not that” is candidate D.</a:t>
            </a:r>
          </a:p>
          <a:p>
            <a:pPr algn="ctr">
              <a:spcBef>
                <a:spcPts val="180"/>
              </a:spcBef>
              <a:buNone/>
            </a:pPr>
            <a:r>
              <a:rPr lang="en-US" sz="2200" b="0" i="0" dirty="0">
                <a:solidFill>
                  <a:srgbClr val="FFFFFF"/>
                </a:solidFill>
              </a:rPr>
              <a:t>The boundary was in your head, never in the artifact.</a:t>
            </a:r>
          </a:p>
        </p:txBody>
      </p:sp>
    </p:spTree>
    <p:extLst>
      <p:ext uri="{BB962C8B-B14F-4D97-AF65-F5344CB8AC3E}">
        <p14:creationId xmlns:p14="http://schemas.microsoft.com/office/powerpoint/2010/main" val="2089110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4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pPr>
            <a:r>
              <a:rPr lang="en-US" sz="3000" b="1" i="0" dirty="0">
                <a:solidFill>
                  <a:srgbClr val="000000"/>
                </a:solidFill>
              </a:rPr>
              <a:t>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pPr>
            <a:r>
              <a:rPr lang="en-US" sz="3000" b="1"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0" name="S60"/>
          <p:cNvSpPr/>
          <p:nvPr/>
        </p:nvSpPr>
        <p:spPr>
          <a:xfrm>
            <a:off x="2794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SPECIFY</a:t>
            </a:r>
          </a:p>
          <a:p>
            <a:pPr algn="l">
              <a:spcBef>
                <a:spcPts val="200"/>
              </a:spcBef>
              <a:buNone/>
            </a:pPr>
            <a:r>
              <a:rPr lang="en-US" sz="2000" b="0" i="0" dirty="0">
                <a:solidFill>
                  <a:srgbClr val="000000"/>
                </a:solidFill>
              </a:rPr>
              <a:t>Rebaseline after a persistent shift.</a:t>
            </a:r>
          </a:p>
        </p:txBody>
      </p:sp>
      <p:cxnSp>
        <p:nvCxnSpPr>
          <p:cNvPr id="70" name="L70"/>
          <p:cNvCxnSpPr/>
          <p:nvPr/>
        </p:nvCxnSpPr>
        <p:spPr>
          <a:xfrm>
            <a:off x="2235200" y="2108200"/>
            <a:ext cx="228600" cy="0"/>
          </a:xfrm>
          <a:prstGeom prst="line">
            <a:avLst/>
          </a:prstGeom>
          <a:ln w="19050">
            <a:solidFill>
              <a:srgbClr val="8E6F3E"/>
            </a:solidFill>
            <a:tailEnd type="triangle" w="med" len="med"/>
          </a:ln>
        </p:spPr>
      </p:cxnSp>
      <p:sp>
        <p:nvSpPr>
          <p:cNvPr id="61" name="S61"/>
          <p:cNvSpPr/>
          <p:nvPr/>
        </p:nvSpPr>
        <p:spPr>
          <a:xfrm>
            <a:off x="24892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108200"/>
            <a:ext cx="228600" cy="0"/>
          </a:xfrm>
          <a:prstGeom prst="line">
            <a:avLst/>
          </a:prstGeom>
          <a:ln w="19050">
            <a:solidFill>
              <a:srgbClr val="8E6F3E"/>
            </a:solidFill>
            <a:tailEnd type="triangle" w="med" len="med"/>
          </a:ln>
        </p:spPr>
      </p:cxnSp>
      <p:sp>
        <p:nvSpPr>
          <p:cNvPr id="62" name="S62"/>
          <p:cNvSpPr/>
          <p:nvPr/>
        </p:nvSpPr>
        <p:spPr>
          <a:xfrm>
            <a:off x="46990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OBSERVE</a:t>
            </a:r>
          </a:p>
          <a:p>
            <a:pPr algn="l">
              <a:spcBef>
                <a:spcPts val="200"/>
              </a:spcBef>
              <a:buNone/>
            </a:pPr>
            <a:r>
              <a:rPr lang="en-US" sz="2000" b="0" i="0" dirty="0">
                <a:solidFill>
                  <a:srgbClr val="000000"/>
                </a:solidFill>
              </a:rPr>
              <a:t>Long temporary changes are mistaken for a new normal.</a:t>
            </a:r>
          </a:p>
        </p:txBody>
      </p:sp>
      <p:cxnSp>
        <p:nvCxnSpPr>
          <p:cNvPr id="72" name="L72"/>
          <p:cNvCxnSpPr/>
          <p:nvPr/>
        </p:nvCxnSpPr>
        <p:spPr>
          <a:xfrm>
            <a:off x="6654800" y="2108200"/>
            <a:ext cx="228600" cy="0"/>
          </a:xfrm>
          <a:prstGeom prst="line">
            <a:avLst/>
          </a:prstGeom>
          <a:ln w="19050">
            <a:solidFill>
              <a:srgbClr val="8E6F3E"/>
            </a:solidFill>
            <a:tailEnd type="triangle" w="med" len="med"/>
          </a:ln>
        </p:spPr>
      </p:cxnSp>
      <p:sp>
        <p:nvSpPr>
          <p:cNvPr id="63" name="S63"/>
          <p:cNvSpPr/>
          <p:nvPr/>
        </p:nvSpPr>
        <p:spPr>
          <a:xfrm>
            <a:off x="6908800" y="1219200"/>
            <a:ext cx="1930400" cy="1778000"/>
          </a:xfrm>
          <a:prstGeom prst="rect">
            <a:avLst/>
          </a:prstGeom>
          <a:solidFill>
            <a:srgbClr val="8E6F3E"/>
          </a:solidFill>
          <a:ln>
            <a:noFill/>
          </a:ln>
        </p:spPr>
        <p:txBody>
          <a:bodyPr wrap="square" lIns="109728" tIns="82296" rIns="109728" bIns="82296" anchor="t">
            <a:normAutofit/>
          </a:bodyPr>
          <a:lstStyle/>
          <a:p>
            <a:pPr algn="l">
              <a:buNone/>
            </a:pPr>
            <a:r>
              <a:rPr lang="en-US" sz="2200" b="1" i="0" dirty="0">
                <a:solidFill>
                  <a:srgbClr val="FFFFFF"/>
                </a:solidFill>
              </a:rPr>
              <a:t>LEARN</a:t>
            </a:r>
          </a:p>
          <a:p>
            <a:pPr algn="l">
              <a:spcBef>
                <a:spcPts val="200"/>
              </a:spcBef>
              <a:buNone/>
            </a:pPr>
            <a:r>
              <a:rPr lang="en-US" sz="2000" b="0" i="0" dirty="0">
                <a:solidFill>
                  <a:srgbClr val="FFFFFF"/>
                </a:solidFill>
              </a:rPr>
              <a:t>Persistence alone does not tell us what “normal” means.</a:t>
            </a:r>
          </a:p>
        </p:txBody>
      </p:sp>
      <p:cxnSp>
        <p:nvCxnSpPr>
          <p:cNvPr id="80" name="L80"/>
          <p:cNvCxnSpPr/>
          <p:nvPr/>
        </p:nvCxnSpPr>
        <p:spPr>
          <a:xfrm>
            <a:off x="7874000" y="2997200"/>
            <a:ext cx="0" cy="406400"/>
          </a:xfrm>
          <a:prstGeom prst="line">
            <a:avLst/>
          </a:prstGeom>
          <a:ln w="19050">
            <a:solidFill>
              <a:srgbClr val="8E6F3E"/>
            </a:solidFill>
          </a:ln>
        </p:spPr>
      </p:cxnSp>
      <p:cxnSp>
        <p:nvCxnSpPr>
          <p:cNvPr id="81" name="L81"/>
          <p:cNvCxnSpPr/>
          <p:nvPr/>
        </p:nvCxnSpPr>
        <p:spPr>
          <a:xfrm>
            <a:off x="1244600" y="3403600"/>
            <a:ext cx="6629400" cy="0"/>
          </a:xfrm>
          <a:prstGeom prst="line">
            <a:avLst/>
          </a:prstGeom>
          <a:ln w="19050">
            <a:solidFill>
              <a:srgbClr val="8E6F3E"/>
            </a:solidFill>
          </a:ln>
        </p:spPr>
      </p:cxnSp>
      <p:cxnSp>
        <p:nvCxnSpPr>
          <p:cNvPr id="82" name="L82"/>
          <p:cNvCxnSpPr/>
          <p:nvPr/>
        </p:nvCxnSpPr>
        <p:spPr>
          <a:xfrm flipV="1">
            <a:off x="1244600" y="2997200"/>
            <a:ext cx="0" cy="406400"/>
          </a:xfrm>
          <a:prstGeom prst="line">
            <a:avLst/>
          </a:prstGeom>
          <a:ln w="19050">
            <a:solidFill>
              <a:srgbClr val="8E6F3E"/>
            </a:solidFill>
            <a:tailEnd type="triangle" w="med" len="med"/>
          </a:ln>
        </p:spPr>
      </p:cxnSp>
      <p:sp>
        <p:nvSpPr>
          <p:cNvPr id="83" name="T83"/>
          <p:cNvSpPr txBox="1"/>
          <p:nvPr/>
        </p:nvSpPr>
        <p:spPr>
          <a:xfrm>
            <a:off x="2286000" y="3505200"/>
            <a:ext cx="4572000" cy="381000"/>
          </a:xfrm>
          <a:prstGeom prst="rect">
            <a:avLst/>
          </a:prstGeom>
          <a:noFill/>
          <a:ln>
            <a:noFill/>
          </a:ln>
        </p:spPr>
        <p:txBody>
          <a:bodyPr wrap="square" lIns="0" tIns="0" rIns="0" bIns="0" anchor="t">
            <a:normAutofit/>
          </a:bodyPr>
          <a:lstStyle/>
          <a:p>
            <a:pPr algn="ctr">
              <a:buNone/>
            </a:pPr>
            <a:r>
              <a:rPr lang="en-US" sz="2000" b="1" i="0" dirty="0">
                <a:solidFill>
                  <a:srgbClr val="5C4826"/>
                </a:solidFill>
              </a:rPr>
              <a:t>and the specification changes</a:t>
            </a:r>
          </a:p>
        </p:txBody>
      </p:sp>
      <p:sp>
        <p:nvSpPr>
          <p:cNvPr id="84" name="S84"/>
          <p:cNvSpPr/>
          <p:nvPr/>
        </p:nvSpPr>
        <p:spPr>
          <a:xfrm>
            <a:off x="279400" y="40640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 code did what we specified.</a:t>
            </a:r>
          </a:p>
          <a:p>
            <a:pPr algn="ctr">
              <a:spcBef>
                <a:spcPts val="180"/>
              </a:spcBef>
              <a:buNone/>
            </a:pPr>
            <a:r>
              <a:rPr lang="en-US" sz="2200" b="1" i="0" dirty="0">
                <a:solidFill>
                  <a:srgbClr val="FFFFFF"/>
                </a:solidFill>
              </a:rPr>
              <a:t>Use taught us that the boundary was wrong.</a:t>
            </a:r>
          </a:p>
        </p:txBody>
      </p:sp>
    </p:spTree>
    <p:extLst>
      <p:ext uri="{BB962C8B-B14F-4D97-AF65-F5344CB8AC3E}">
        <p14:creationId xmlns:p14="http://schemas.microsoft.com/office/powerpoint/2010/main" val="3269719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pPr>
            <a:r>
              <a:rPr lang="en-US" sz="3200" b="1"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Tree>
    <p:extLst>
      <p:ext uri="{BB962C8B-B14F-4D97-AF65-F5344CB8AC3E}">
        <p14:creationId xmlns:p14="http://schemas.microsoft.com/office/powerpoint/2010/main" val="23361703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pPr>
            <a:r>
              <a:rPr lang="en-US" sz="2400" b="1"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30</a:t>
            </a:fld>
            <a:endParaRPr lang="en-US"/>
          </a:p>
        </p:txBody>
      </p:sp>
      <p:sp>
        <p:nvSpPr>
          <p:cNvPr id="60" name="S60"/>
          <p:cNvSpPr/>
          <p:nvPr/>
        </p:nvSpPr>
        <p:spPr>
          <a:xfrm>
            <a:off x="3429000" y="9652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524000"/>
            <a:ext cx="0" cy="177800"/>
          </a:xfrm>
          <a:prstGeom prst="line">
            <a:avLst/>
          </a:prstGeom>
          <a:ln w="19050">
            <a:solidFill>
              <a:srgbClr val="8E6F3E"/>
            </a:solidFill>
            <a:tailEnd type="triangle" w="med" len="med"/>
          </a:ln>
        </p:spPr>
      </p:cxnSp>
      <p:sp>
        <p:nvSpPr>
          <p:cNvPr id="62" name="S62"/>
          <p:cNvSpPr/>
          <p:nvPr/>
        </p:nvSpPr>
        <p:spPr>
          <a:xfrm>
            <a:off x="3175000" y="1701800"/>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4572000" y="2311400"/>
            <a:ext cx="0" cy="177800"/>
          </a:xfrm>
          <a:prstGeom prst="line">
            <a:avLst/>
          </a:prstGeom>
          <a:ln w="19050">
            <a:solidFill>
              <a:srgbClr val="8E6F3E"/>
            </a:solidFill>
            <a:tailEnd type="triangle" w="med" len="med"/>
          </a:ln>
        </p:spPr>
      </p:cxnSp>
      <p:sp>
        <p:nvSpPr>
          <p:cNvPr id="64" name="S64"/>
          <p:cNvSpPr/>
          <p:nvPr/>
        </p:nvSpPr>
        <p:spPr>
          <a:xfrm>
            <a:off x="2159000" y="2489200"/>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5400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66" name="S66"/>
          <p:cNvSpPr/>
          <p:nvPr/>
        </p:nvSpPr>
        <p:spPr>
          <a:xfrm>
            <a:off x="24384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A</a:t>
            </a:r>
          </a:p>
        </p:txBody>
      </p:sp>
      <p:sp>
        <p:nvSpPr>
          <p:cNvPr id="67" name="S67"/>
          <p:cNvSpPr/>
          <p:nvPr/>
        </p:nvSpPr>
        <p:spPr>
          <a:xfrm>
            <a:off x="38862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B</a:t>
            </a:r>
          </a:p>
        </p:txBody>
      </p:sp>
      <p:sp>
        <p:nvSpPr>
          <p:cNvPr id="68" name="S68"/>
          <p:cNvSpPr/>
          <p:nvPr/>
        </p:nvSpPr>
        <p:spPr>
          <a:xfrm>
            <a:off x="53340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C</a:t>
            </a:r>
          </a:p>
        </p:txBody>
      </p:sp>
      <p:cxnSp>
        <p:nvCxnSpPr>
          <p:cNvPr id="70" name="L70"/>
          <p:cNvCxnSpPr/>
          <p:nvPr/>
        </p:nvCxnSpPr>
        <p:spPr>
          <a:xfrm>
            <a:off x="3124200" y="3454400"/>
            <a:ext cx="0" cy="254000"/>
          </a:xfrm>
          <a:prstGeom prst="line">
            <a:avLst/>
          </a:prstGeom>
          <a:ln w="19050">
            <a:solidFill>
              <a:srgbClr val="8E6F3E"/>
            </a:solidFill>
            <a:tailEnd type="triangle" w="med" len="med"/>
          </a:ln>
        </p:spPr>
      </p:cxnSp>
      <p:sp>
        <p:nvSpPr>
          <p:cNvPr id="71" name="S71"/>
          <p:cNvSpPr/>
          <p:nvPr/>
        </p:nvSpPr>
        <p:spPr>
          <a:xfrm>
            <a:off x="2108200" y="3708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ARCHITECTURE</a:t>
            </a:r>
          </a:p>
        </p:txBody>
      </p:sp>
      <p:cxnSp>
        <p:nvCxnSpPr>
          <p:cNvPr id="72" name="L72"/>
          <p:cNvCxnSpPr/>
          <p:nvPr/>
        </p:nvCxnSpPr>
        <p:spPr>
          <a:xfrm>
            <a:off x="3124200" y="4267200"/>
            <a:ext cx="0" cy="203200"/>
          </a:xfrm>
          <a:prstGeom prst="line">
            <a:avLst/>
          </a:prstGeom>
          <a:ln w="19050">
            <a:solidFill>
              <a:srgbClr val="8E6F3E"/>
            </a:solidFill>
            <a:tailEnd type="triangle" w="med" len="med"/>
          </a:ln>
        </p:spPr>
      </p:cxnSp>
      <p:sp>
        <p:nvSpPr>
          <p:cNvPr id="73" name="S73"/>
          <p:cNvSpPr/>
          <p:nvPr/>
        </p:nvSpPr>
        <p:spPr>
          <a:xfrm>
            <a:off x="2108200" y="4470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DESIGN</a:t>
            </a:r>
          </a:p>
        </p:txBody>
      </p:sp>
      <p:cxnSp>
        <p:nvCxnSpPr>
          <p:cNvPr id="74" name="L74"/>
          <p:cNvCxnSpPr/>
          <p:nvPr/>
        </p:nvCxnSpPr>
        <p:spPr>
          <a:xfrm>
            <a:off x="3124200" y="5029200"/>
            <a:ext cx="0" cy="203200"/>
          </a:xfrm>
          <a:prstGeom prst="line">
            <a:avLst/>
          </a:prstGeom>
          <a:ln w="19050">
            <a:solidFill>
              <a:srgbClr val="8E6F3E"/>
            </a:solidFill>
            <a:tailEnd type="triangle" w="med" len="med"/>
          </a:ln>
        </p:spPr>
      </p:cxnSp>
      <p:sp>
        <p:nvSpPr>
          <p:cNvPr id="75" name="S75"/>
          <p:cNvSpPr/>
          <p:nvPr/>
        </p:nvSpPr>
        <p:spPr>
          <a:xfrm>
            <a:off x="2108200" y="5232400"/>
            <a:ext cx="2032000" cy="558800"/>
          </a:xfrm>
          <a:prstGeom prst="rect">
            <a:avLst/>
          </a:prstGeom>
          <a:solidFill>
            <a:srgbClr val="FFFFFF"/>
          </a:solidFill>
          <a:ln w="19050">
            <a:solidFill>
              <a:srgbClr val="8E6F3E"/>
            </a:solidFill>
          </a:ln>
        </p:spPr>
        <p:txBody>
          <a:bodyPr wrap="square" lIns="109728" tIns="82296" rIns="109728" bIns="82296" anchor="ctr">
            <a:normAutofit fontScale="85000" lnSpcReduction="10000"/>
          </a:bodyPr>
          <a:lstStyle/>
          <a:p>
            <a:pPr algn="ctr">
              <a:buNone/>
            </a:pPr>
            <a:r>
              <a:rPr lang="en-US" sz="2000" b="1" i="0" dirty="0">
                <a:solidFill>
                  <a:srgbClr val="5C4826"/>
                </a:solidFill>
              </a:rPr>
              <a:t>IMPLEMENTATION</a:t>
            </a:r>
          </a:p>
        </p:txBody>
      </p:sp>
      <p:sp>
        <p:nvSpPr>
          <p:cNvPr id="76" name="S76"/>
          <p:cNvSpPr/>
          <p:nvPr/>
        </p:nvSpPr>
        <p:spPr>
          <a:xfrm>
            <a:off x="4521200" y="3708400"/>
            <a:ext cx="4318000" cy="20828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Choices inside the acceptable space.</a:t>
            </a:r>
          </a:p>
          <a:p>
            <a:pPr algn="l">
              <a:spcBef>
                <a:spcPts val="200"/>
              </a:spcBef>
              <a:buNone/>
            </a:pPr>
            <a:r>
              <a:rPr lang="en-US" sz="2000" b="0" i="0" dirty="0">
                <a:solidFill>
                  <a:srgbClr val="000000"/>
                </a:solidFill>
              </a:rPr>
              <a:t>Not more specification. We pick one of the systems the specification already accepts.</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fad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8454</TotalTime>
  <Words>7802</Words>
  <Application>Microsoft Macintosh PowerPoint</Application>
  <PresentationFormat>On-screen Show (4:3)</PresentationFormat>
  <Paragraphs>664</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Consolas</vt:lpstr>
      <vt:lpstr>Times</vt:lpstr>
      <vt:lpstr>Times New Roman</vt:lpstr>
      <vt:lpstr>Purdue1</vt:lpstr>
      <vt:lpstr>ECE 30861/46100: Software Engineering</vt:lpstr>
      <vt:lpstr>From requirements to acceptable realizations</vt:lpstr>
      <vt:lpstr>Specification</vt:lpstr>
      <vt:lpstr>We have requirements. Now what?</vt:lpstr>
      <vt:lpstr>Requirements ≠ specification</vt:lpstr>
      <vt:lpstr>A specification connects the machine to the requirement</vt:lpstr>
      <vt:lpstr>What would you tell the implementor?</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legal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Unknown, tacit, or free?</vt:lpstr>
      <vt:lpstr>Tacit requirements and agents (or the intern)</vt:lpstr>
      <vt:lpstr>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273</cp:revision>
  <dcterms:created xsi:type="dcterms:W3CDTF">2020-02-21T23:00:33Z</dcterms:created>
  <dcterms:modified xsi:type="dcterms:W3CDTF">2026-09-09T02:26:53Z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