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517" r:id="rId2"/>
    <p:sldId id="738" r:id="rId3"/>
    <p:sldId id="651" r:id="rId4"/>
    <p:sldId id="758" r:id="rId5"/>
    <p:sldId id="744" r:id="rId6"/>
    <p:sldId id="729" r:id="rId7"/>
    <p:sldId id="745" r:id="rId8"/>
    <p:sldId id="746" r:id="rId9"/>
    <p:sldId id="704" r:id="rId10"/>
    <p:sldId id="731" r:id="rId11"/>
    <p:sldId id="747" r:id="rId12"/>
    <p:sldId id="748" r:id="rId13"/>
    <p:sldId id="749" r:id="rId14"/>
    <p:sldId id="750" r:id="rId15"/>
    <p:sldId id="720" r:id="rId16"/>
    <p:sldId id="751" r:id="rId17"/>
    <p:sldId id="752" r:id="rId18"/>
    <p:sldId id="712" r:id="rId19"/>
    <p:sldId id="713" r:id="rId20"/>
    <p:sldId id="735" r:id="rId21"/>
    <p:sldId id="753" r:id="rId22"/>
    <p:sldId id="701" r:id="rId23"/>
    <p:sldId id="754" r:id="rId24"/>
    <p:sldId id="755" r:id="rId25"/>
    <p:sldId id="638" r:id="rId26"/>
    <p:sldId id="756" r:id="rId27"/>
    <p:sldId id="759" r:id="rId28"/>
    <p:sldId id="757" r:id="rId29"/>
    <p:sldId id="739" r:id="rId30"/>
    <p:sldId id="740" r:id="rId31"/>
    <p:sldId id="74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6" autoAdjust="0"/>
    <p:restoredTop sz="56137"/>
  </p:normalViewPr>
  <p:slideViewPr>
    <p:cSldViewPr snapToGrid="0" snapToObjects="1">
      <p:cViewPr varScale="1">
        <p:scale>
          <a:sx n="107" d="100"/>
          <a:sy n="107" d="100"/>
        </p:scale>
        <p:origin x="3048"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endParaRPr/>
          </a:p>
          <a:p>
            <a:r>
              <a:t>- Deliberately brief. Do not add content; the slide's job is structural.</a:t>
            </a:r>
          </a:p>
          <a:p>
            <a:endParaRPr/>
          </a:p>
          <a:p>
            <a:r>
              <a:t>- The four section names match the footer on slide 2: specification, representation, freedom, learning.</a:t>
            </a:r>
          </a:p>
          <a:p>
            <a:endParaRPr/>
          </a:p>
          <a:p>
            <a:r>
              <a:t>=====</a:t>
            </a:r>
          </a:p>
          <a:p>
            <a:endParaRPr/>
          </a:p>
          <a:p>
            <a:r>
              <a:t>Section one. The opening slide gave us a model of moving from requirements to acceptable realizations. Now we ask the first question: what does specification add?</a:t>
            </a:r>
          </a:p>
          <a:p>
            <a:endParaRPr/>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Show that reasonable requirements can still admit substantially different realizations.</a:t>
            </a:r>
          </a:p>
          <a:p>
            <a:endParaRPr dirty="0"/>
          </a:p>
          <a:p>
            <a:r>
              <a:rPr dirty="0"/>
              <a:t>- Slide 2 already framed the model; do not re-explain it. This slide makes the abstract arrow concrete.</a:t>
            </a:r>
          </a:p>
          <a:p>
            <a:endParaRPr dirty="0"/>
          </a:p>
          <a:p>
            <a:r>
              <a:rPr dirty="0"/>
              <a:t>- Name these Build A, B and C out loud. The letters carry through the lecture; later slides eliminate them one at a time.</a:t>
            </a:r>
          </a:p>
          <a:p>
            <a:endParaRPr dirty="0"/>
          </a:p>
          <a:p>
            <a:r>
              <a:rPr dirty="0"/>
              <a:t>- Ask the closing question and take two answers before moving on.</a:t>
            </a:r>
          </a:p>
          <a:p>
            <a:endParaRPr dirty="0"/>
          </a:p>
          <a:p>
            <a:r>
              <a:rPr dirty="0"/>
              <a:t>=====</a:t>
            </a:r>
          </a:p>
          <a:p>
            <a:endParaRPr dirty="0"/>
          </a:p>
          <a:p>
            <a:r>
              <a:rPr dirty="0"/>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endParaRPr dirty="0"/>
          </a:p>
          <a:p>
            <a:r>
              <a:rPr dirty="0"/>
              <a:t>Every one of those satisfies the sentence. None of them is the same product. A user would notice immediately which one they had.</a:t>
            </a:r>
          </a:p>
          <a:p>
            <a:endParaRPr dirty="0"/>
          </a:p>
          <a:p>
            <a:r>
              <a:rPr dirty="0"/>
              <a:t>So what does specification add that R4 did not tell us? Start with the boundary between the world we care about and the machine we can build.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endParaRPr/>
          </a:p>
          <a:p>
            <a:r>
              <a:t>- This is the slide that carries Zave &amp; Jackson. The next one only consolidates it visually.</a:t>
            </a:r>
          </a:p>
          <a:p>
            <a:endParaRPr/>
          </a:p>
          <a:p>
            <a:r>
              <a:t>- The concrete pair is the whole lesson: same intent, two vocabularies.</a:t>
            </a:r>
          </a:p>
          <a:p>
            <a:endParaRPr/>
          </a:p>
          <a:p>
            <a:r>
              <a:t>- Students read the paper. Do not lecture the taxonomy; make its central insight usable.</a:t>
            </a:r>
          </a:p>
          <a:p>
            <a:endParaRPr/>
          </a:p>
          <a:p>
            <a:r>
              <a:t>=====</a:t>
            </a:r>
          </a:p>
          <a:p>
            <a:endParaRPr/>
          </a:p>
          <a:p>
            <a:r>
              <a:t>Read the left card. Users are warned before illness affects their day. Notice the vocabulary: users, illness, days. None of those are things a program can touch.</a:t>
            </a:r>
          </a:p>
          <a:p>
            <a:endParaRPr/>
          </a:p>
          <a:p>
            <a:r>
              <a:t>Now the right card. Emit one advisory within sixty seconds of wake detection. Sleep data in, advisory out. Every term is something the machine can sense or emit.</a:t>
            </a:r>
          </a:p>
          <a:p>
            <a:endParaRPr/>
          </a:p>
          <a:p>
            <a:r>
              <a:t>That is the boundary. A requirement is about the world; a specification constrains the machine at its interface with the world.</a:t>
            </a:r>
          </a:p>
          <a:p>
            <a:endParaRPr/>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a:p>
          <a:p>
            <a:r>
              <a:t>That gives us the distinction. Now let's make the relationship precise.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endParaRPr/>
          </a:p>
          <a:p>
            <a:r>
              <a:t>That is the theory. Now try doing it yourself for another Sleep Advisor requirement.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discover that omissions differ in kind before we give them the vocabulary.</a:t>
            </a:r>
          </a:p>
          <a:p>
            <a:endParaRPr dirty="0"/>
          </a:p>
          <a:p>
            <a:r>
              <a:rPr dirty="0"/>
              <a:t>- Hold the timing firmly: 1 think, 2 pair, 2 share. Do not let the share run — the payoff is three slides away.</a:t>
            </a:r>
          </a:p>
          <a:p>
            <a:endParaRPr dirty="0"/>
          </a:p>
          <a:p>
            <a:r>
              <a:rPr dirty="0"/>
              <a:t>- Likely answers to Q1: send it, let them pick a doctor, pick a format. Q2: consent, retention, revocation, what counts as a summary, what if sending fails. Q3: transport, file format, styling.</a:t>
            </a:r>
          </a:p>
          <a:p>
            <a:endParaRPr dirty="0"/>
          </a:p>
          <a:p>
            <a:r>
              <a:rPr dirty="0"/>
              <a:t>- Do NOT introduce unknown / tacit / free here. Students must wrestle with the question first.</a:t>
            </a:r>
          </a:p>
          <a:p>
            <a:endParaRPr dirty="0"/>
          </a:p>
          <a:p>
            <a:r>
              <a:rPr dirty="0"/>
              <a:t>- Close with the line on screen; that is the transition, not a summary.</a:t>
            </a:r>
          </a:p>
          <a:p>
            <a:endParaRPr dirty="0"/>
          </a:p>
          <a:p>
            <a:r>
              <a:rPr dirty="0"/>
              <a:t>=====</a:t>
            </a:r>
          </a:p>
          <a:p>
            <a:endParaRPr dirty="0"/>
          </a:p>
          <a:p>
            <a:r>
              <a:rPr dirty="0"/>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endParaRPr dirty="0"/>
          </a:p>
          <a:p>
            <a:r>
              <a:rPr dirty="0"/>
              <a:t>Now two minutes with a neighbor. Compare your missing-facts lists and mark the ones you would be content to let the implementor decide.</a:t>
            </a:r>
          </a:p>
          <a:p>
            <a:endParaRPr dirty="0"/>
          </a:p>
          <a:p>
            <a:r>
              <a:rPr dirty="0"/>
              <a:t>Take three or four answers. Push on any two people who disagreed about whether something could be left open — that disagreement is the seed of the next section.</a:t>
            </a:r>
          </a:p>
          <a:p>
            <a:endParaRPr dirty="0"/>
          </a:p>
          <a:p>
            <a:r>
              <a:rPr dirty="0"/>
              <a:t>Then close: notice that not every missing </a:t>
            </a:r>
            <a:r>
              <a:rPr lang="en-US" dirty="0"/>
              <a:t>fact is handled the same way</a:t>
            </a:r>
            <a:r>
              <a:rPr dirty="0"/>
              <a:t>. Some you could answer today and did not. Some we do not yet know how to answer. Some you genuinely do not care about. We will come back to that.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 just tried this for one requirement in a much smaller system. What happens when engineers have to answer the same question for a much more complex system?</a:t>
            </a:r>
          </a:p>
          <a:p>
            <a:r>
              <a:rPr dirty="0"/>
              <a:t>Let's look at one substantial example: the A-7E aircraft software specification.</a:t>
            </a:r>
          </a:p>
          <a:p>
            <a:r>
              <a:rPr dirty="0"/>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For the next few minutes, I want to show you a substantial real specification.</a:t>
            </a:r>
          </a:p>
          <a:p>
            <a:r>
              <a:rPr dirty="0"/>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rPr dirty="0"/>
              <a:t>As we look at it, do not ask which specification language they chose. They did not choose one. They use prose, defined data, tables, modes, timing constraints, and other forms.</a:t>
            </a:r>
          </a:p>
          <a:p>
            <a:r>
              <a:rPr dirty="0"/>
              <a:t>Instead ask the question we have been asking throughout this lecture: what did they need to constrain, and what could they safely leave to the implementor?</a:t>
            </a:r>
          </a:p>
          <a:p>
            <a:r>
              <a:rPr dirty="0"/>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endParaRPr/>
          </a:p>
          <a:p>
            <a:r>
              <a:t>Suppose our specification makes those obligations concrete with this state model. Now we can ask a question that was difficult to answer from the requirements alone: what may happen next?</a:t>
            </a:r>
          </a:p>
          <a:p>
            <a:endParaRPr/>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endParaRPr/>
          </a:p>
          <a:p>
            <a:r>
              <a:t>The obligation existed before the diagram. The diagram makes it expressible, so it can be checked.</a:t>
            </a:r>
          </a:p>
          <a:p>
            <a:endParaRPr/>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endParaRPr/>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endParaRPr/>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endParaRPr/>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endParaRPr/>
          </a:p>
          <a:p>
            <a:r>
              <a:t>Suppose the specification defines that boundary object with this schema. A schema is specification-level when it constrains the information crossing the machine boundary: what a weekly summary must contain for anyone to accept it as a weekly summary.</a:t>
            </a:r>
          </a:p>
          <a:p>
            <a:endParaRPr/>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endParaRPr/>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endParaRPr/>
          </a:p>
          <a:p>
            <a:r>
              <a:t>None of them is a tier or a refinement of another. They are peers. They join through shared concepts: an observation, a night, an advisory. That shared vocabulary is what lets the three views describe one system without any of them being complete.</a:t>
            </a:r>
          </a:p>
          <a:p>
            <a:endParaRPr/>
          </a:p>
          <a:p>
            <a:r>
              <a:t>All three views elaborate requirements from the same seven-line requirements set we saw at the beginning.</a:t>
            </a:r>
          </a:p>
          <a:p>
            <a:endParaRPr/>
          </a:p>
          <a:p>
            <a:r>
              <a:t>So the closing claim of this section: no single representation needs to say everything. Use the view that makes the consequential property expressible.</a:t>
            </a:r>
          </a:p>
          <a:p>
            <a:endParaRPr/>
          </a:p>
          <a:p>
            <a:r>
              <a:t>And the reason this matters beyond today: the system did not change across these examples. The engineering question changed, so the model changed.</a:t>
            </a:r>
          </a:p>
          <a:p>
            <a:endParaRPr/>
          </a:p>
          <a:p>
            <a:r>
              <a:t>Next week the questions change again, to how the system should be structured, and the useful views will change with them. Same move, different questions.</a:t>
            </a:r>
          </a:p>
          <a:p>
            <a:endParaRPr/>
          </a:p>
          <a:p>
            <a:r>
              <a:t>So far we have asked how to represent an obligation once we know it matters. The next question is harder: which obligations should we impose at all?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endParaRPr/>
          </a:p>
          <a:p>
            <a:r>
              <a:t>- Sections 1 and 2 were about making obligations explicit and visible. This section asks how many there should be.</a:t>
            </a:r>
          </a:p>
          <a:p>
            <a:endParaRPr/>
          </a:p>
          <a:p>
            <a:r>
              <a:t>- Do not pause for discussion here.</a:t>
            </a:r>
          </a:p>
          <a:p>
            <a:endParaRPr/>
          </a:p>
          <a:p>
            <a:r>
              <a:t>=====</a:t>
            </a:r>
          </a:p>
          <a:p>
            <a:endParaRPr/>
          </a:p>
          <a:p>
            <a:r>
              <a:t>Section three. We now know how to write obligations down and how to choose a representation that makes them visible. The harder question is how much of the realization we should be deciding at all.</a:t>
            </a:r>
          </a:p>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the picture behind everything we have said about freedom.</a:t>
            </a:r>
          </a:p>
          <a:p>
            <a:r>
              <a:rPr dirty="0"/>
              <a:t>The outer box is the space of programs someone could write. Each obligation we state carves out a region: the realizations that satisfy it. The intersection is the acceptable set.</a:t>
            </a:r>
          </a:p>
          <a:p>
            <a:r>
              <a:rPr dirty="0"/>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rPr dirty="0"/>
              <a:t>Second, every obligation we add shrinks the region. That is the cost side. So the question is never how much can we specify. It is which eliminated alternatives actually mattered.</a:t>
            </a:r>
          </a:p>
          <a:p>
            <a:r>
              <a:rPr dirty="0"/>
              <a:t>Narrowing is valuable only when the eliminated alternatives matter. If two realizations are equally acceptable, a specification that forbids one has spent constraint and bought nothing.</a:t>
            </a:r>
          </a:p>
          <a:p>
            <a:endParaRPr dirty="0"/>
          </a:p>
          <a:p>
            <a:r>
              <a:rPr dirty="0"/>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endParaRPr/>
          </a:p>
          <a:p>
            <a:r>
              <a:t>Let's see whether that distinction survives contact with an actual system.</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Force engineering judgment rather than vocabulary recall.</a:t>
            </a:r>
          </a:p>
          <a:p>
            <a:endParaRPr dirty="0"/>
          </a:p>
          <a:p>
            <a:r>
              <a:rPr dirty="0"/>
              <a:t>- Hold the timing. Cut the share short rather than letting it run; the disagreement is the point, not resolving it.</a:t>
            </a:r>
          </a:p>
          <a:p>
            <a:endParaRPr dirty="0"/>
          </a:p>
          <a:p>
            <a:r>
              <a:rPr dirty="0"/>
              <a:t>- Banner color: usually free — unless color-blind users or a clinic house style make it consequential. Then tacit.</a:t>
            </a:r>
          </a:p>
          <a:p>
            <a:endParaRPr dirty="0"/>
          </a:p>
          <a:p>
            <a:r>
              <a:rPr dirty="0"/>
              <a:t>- Detection sensitivity: the clearest UNKNOWN candidate. We may not yet know what tradeoff users will tolerate between missed events and false alarms. The response is not to invent a number because a specification needs one. The response may be to learn.</a:t>
            </a:r>
          </a:p>
          <a:p>
            <a:endParaRPr dirty="0"/>
          </a:p>
          <a:p>
            <a:r>
              <a:rPr dirty="0"/>
              <a:t>- Database: usually free — unless hosting location is regulated, in which case tacit.</a:t>
            </a:r>
          </a:p>
          <a:p>
            <a:endParaRPr dirty="0"/>
          </a:p>
          <a:p>
            <a:r>
              <a:rPr dirty="0"/>
              <a:t>- Bounced mail: almost always tacit, and the most interesting one. Nobody wrote down that the user must find out.</a:t>
            </a:r>
          </a:p>
          <a:p>
            <a:endParaRPr dirty="0"/>
          </a:p>
          <a:p>
            <a:r>
              <a:rPr dirty="0"/>
              <a:t>- Ask what additional context would change their classification. That question is the learning objective.</a:t>
            </a:r>
          </a:p>
          <a:p>
            <a:endParaRPr dirty="0"/>
          </a:p>
          <a:p>
            <a:r>
              <a:rPr dirty="0"/>
              <a:t>=====</a:t>
            </a:r>
          </a:p>
          <a:p>
            <a:endParaRPr dirty="0"/>
          </a:p>
          <a:p>
            <a:r>
              <a:rPr dirty="0"/>
              <a:t>One minute alone, then two with a neighbor. Argue for a classification, then say what additional context would change your classification.</a:t>
            </a:r>
          </a:p>
          <a:p>
            <a:endParaRPr dirty="0"/>
          </a:p>
          <a:p>
            <a:r>
              <a:rPr dirty="0"/>
              <a:t>Take answers on the last one first — it produces the strongest disagreement. Then close: where you disagreed is where the engineering is. The label depends on what the system owes people, not on the words in the document.</a:t>
            </a:r>
          </a:p>
          <a:p>
            <a:endParaRPr dirty="0"/>
          </a:p>
          <a:p>
            <a:r>
              <a:rPr dirty="0"/>
              <a:t>One of those cases is worth following. Suppose we decide the bounced-email behavior wasn't free at all—it was tacit.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that agents change the economics of omitted context, not the nature of specification.</a:t>
            </a:r>
          </a:p>
          <a:p>
            <a:endParaRPr dirty="0"/>
          </a:p>
          <a:p>
            <a:r>
              <a:rPr dirty="0"/>
              <a:t>- This slide is about the TACIT category specifically. The general freedom argument is already made; do not repeat it.</a:t>
            </a:r>
          </a:p>
          <a:p>
            <a:endParaRPr dirty="0"/>
          </a:p>
          <a:p>
            <a:r>
              <a:rPr dirty="0"/>
              <a:t>- Candidate D callback: the specification appears to permit D, an agent builds it, a human objects — and the objection IS the unrepresented obligation.</a:t>
            </a:r>
          </a:p>
          <a:p>
            <a:endParaRPr dirty="0"/>
          </a:p>
          <a:p>
            <a:r>
              <a:rPr dirty="0"/>
              <a:t>- Keep it concrete and lightly funny. Avoid generic AI alarmism.</a:t>
            </a:r>
          </a:p>
          <a:p>
            <a:endParaRPr dirty="0"/>
          </a:p>
          <a:p>
            <a:r>
              <a:rPr dirty="0"/>
              <a:t>=====</a:t>
            </a:r>
          </a:p>
          <a:p>
            <a:endParaRPr dirty="0"/>
          </a:p>
          <a:p>
            <a:r>
              <a:rPr dirty="0"/>
              <a:t>Return to R7 one last time. Earlier you tried to decide what an implementor would need to know. Here is what happens when one of those consequential facts stays in someone's head.</a:t>
            </a:r>
          </a:p>
          <a:p>
            <a:endParaRPr dirty="0"/>
          </a:p>
          <a:p>
            <a:r>
              <a:rPr dirty="0"/>
              <a:t>A teammate who sits near you gets a bounced mail and tells the user, because obviously. An agent gets a bounced mail, logs a warning, and returns success. Nothing in R7 forbids that.</a:t>
            </a:r>
          </a:p>
          <a:p>
            <a:endParaRPr dirty="0"/>
          </a:p>
          <a:p>
            <a:r>
              <a:rPr dirty="0"/>
              <a:t>That objection — obviously not that — is the sound of an obligation nobody </a:t>
            </a:r>
            <a:r>
              <a:rPr dirty="0" err="1"/>
              <a:t>externalised</a:t>
            </a:r>
            <a:r>
              <a:rPr dirty="0"/>
              <a:t>. It was real; it just was not written anywhere.</a:t>
            </a:r>
          </a:p>
          <a:p>
            <a:endParaRPr dirty="0"/>
          </a:p>
          <a:p>
            <a:r>
              <a:rPr dirty="0"/>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endParaRPr dirty="0"/>
          </a:p>
          <a:p>
            <a:r>
              <a:rPr dirty="0"/>
              <a:t>Say aloud rather than showing: the agent does not share the team's unstated context, and what changed is the cost of leaving context unsaid.</a:t>
            </a:r>
          </a:p>
          <a:p>
            <a:endParaRPr dirty="0"/>
          </a:p>
          <a:p>
            <a:r>
              <a:rPr dirty="0"/>
              <a:t>So why not eliminate this problem by specifying everything? Because constraints have a cost too—and software changes the economics of when we need to commit.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240EE-317D-2525-E5D9-50FE2AFC88CB}"/>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E92D8356-4E83-E311-BE90-EFB133A2F0BE}"/>
              </a:ext>
            </a:extLst>
          </p:cNvPr>
          <p:cNvSpPr>
            <a:spLocks noGrp="1"/>
          </p:cNvSpPr>
          <p:nvPr>
            <p:ph type="body" idx="1"/>
          </p:nvPr>
        </p:nvSpPr>
        <p:spPr/>
        <p:txBody>
          <a:bodyPr/>
          <a:lstStyle/>
          <a:p>
            <a:r>
              <a:rPr lang="en-US" dirty="0"/>
              <a:t>We just spent a section arguing that consequential choices should be made explicit. And the agent example makes the cost of leaving them implicit especially obvious.</a:t>
            </a:r>
          </a:p>
          <a:p>
            <a:r>
              <a:rPr lang="en-US" dirty="0"/>
              <a:t>So, there is a tempting conclusion: </a:t>
            </a:r>
            <a:r>
              <a:rPr lang="en-US" b="1" dirty="0"/>
              <a:t>fine—then specify everything first. Make the specification complete enough that the implementor cannot surprise us.</a:t>
            </a:r>
            <a:endParaRPr lang="en-US" dirty="0"/>
          </a:p>
          <a:p>
            <a:r>
              <a:rPr lang="en-US" dirty="0"/>
              <a:t>In current software practice you will sometimes hear a version of this called </a:t>
            </a:r>
            <a:r>
              <a:rPr lang="en-US" i="1" dirty="0"/>
              <a:t>spec-driven development</a:t>
            </a:r>
            <a:r>
              <a:rPr lang="en-US" dirty="0"/>
              <a:t>: write the specification first, then let the implementation follow from it.</a:t>
            </a:r>
          </a:p>
          <a:p>
            <a:r>
              <a:rPr lang="en-US" dirty="0"/>
              <a:t>There is something right about that. If we already know a boundary matters, leaving it tacit is a mistake.</a:t>
            </a:r>
          </a:p>
          <a:p>
            <a:endParaRPr lang="en-US" dirty="0"/>
          </a:p>
          <a:p>
            <a:r>
              <a:rPr lang="en-US" dirty="0"/>
              <a:t>But there is a problem. </a:t>
            </a:r>
            <a:r>
              <a:rPr lang="en-US" b="1" dirty="0"/>
              <a:t>What if we do not yet know where the boundary should be?</a:t>
            </a:r>
            <a:endParaRPr lang="en-US" dirty="0"/>
          </a:p>
          <a:p>
            <a:r>
              <a:rPr lang="en-US" dirty="0"/>
              <a:t>That was the UNKNOWN category from the last section. More specification does not manufacture knowledge we do not have.</a:t>
            </a:r>
          </a:p>
          <a:p>
            <a:r>
              <a:rPr lang="en-US" dirty="0"/>
              <a:t>And software has an unusual property that changes what we can do about that: compared with many engineered artifacts, we can often build something, observe what happens, and change it.</a:t>
            </a:r>
          </a:p>
          <a:p>
            <a:r>
              <a:rPr lang="en-US" dirty="0"/>
              <a:t>So, this last section asks when implementation should follow specification—and when implementation can help us </a:t>
            </a:r>
            <a:r>
              <a:rPr lang="en-US" i="1" dirty="0"/>
              <a:t>discover</a:t>
            </a:r>
            <a:r>
              <a:rPr lang="en-US" dirty="0"/>
              <a:t> the specification.</a:t>
            </a:r>
          </a:p>
        </p:txBody>
      </p:sp>
    </p:spTree>
    <p:extLst>
      <p:ext uri="{BB962C8B-B14F-4D97-AF65-F5344CB8AC3E}">
        <p14:creationId xmlns:p14="http://schemas.microsoft.com/office/powerpoint/2010/main" val="7937110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endParaRPr/>
          </a:p>
          <a:p>
            <a:r>
              <a:t>If changing software is relatively cheap, building can sometimes be part of how we learn what should have been constrained.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Convert iteration from a scheduling habit into an epistemic claim.</a:t>
            </a:r>
          </a:p>
          <a:p>
            <a:endParaRPr dirty="0"/>
          </a:p>
          <a:p>
            <a:r>
              <a:rPr dirty="0"/>
              <a:t>- Second half of a pair with the not-constrained-is-not-free slide: that carried the principle, this is the story. Tell it once.</a:t>
            </a:r>
          </a:p>
          <a:p>
            <a:endParaRPr dirty="0"/>
          </a:p>
          <a:p>
            <a:r>
              <a:rPr dirty="0"/>
              <a:t>- This is the UNKNOWN case: the requirement (R5) was known from the beginning; the right specification of it was not.</a:t>
            </a:r>
          </a:p>
          <a:p>
            <a:endParaRPr dirty="0"/>
          </a:p>
          <a:p>
            <a:r>
              <a:rPr dirty="0"/>
              <a:t>- The state model already made REBASELINING explicit; this story is about learning that the boundary we specified for it was drawn wrong.</a:t>
            </a:r>
          </a:p>
          <a:p>
            <a:endParaRPr dirty="0"/>
          </a:p>
          <a:p>
            <a:r>
              <a:rPr dirty="0"/>
              <a:t>=====</a:t>
            </a:r>
          </a:p>
          <a:p>
            <a:endParaRPr dirty="0"/>
          </a:p>
          <a:p>
            <a:r>
              <a:rPr dirty="0"/>
              <a:t>Go back to R5. We knew from the beginning that the app must adapt when a user's normal changes. So</a:t>
            </a:r>
            <a:r>
              <a:rPr lang="en-US" dirty="0"/>
              <a:t>, </a:t>
            </a:r>
            <a:r>
              <a:rPr dirty="0"/>
              <a:t>the problem here is not that we forgot the requirement.</a:t>
            </a:r>
          </a:p>
          <a:p>
            <a:endParaRPr dirty="0"/>
          </a:p>
          <a:p>
            <a:r>
              <a:rPr dirty="0"/>
              <a:t>The problem is that knowing the requirement does not mean we already know the right specification. Suppose we decide that a sufficiently persistent shift should cause the system to establish a new baseline. We build that rule and put it into use.</a:t>
            </a:r>
          </a:p>
          <a:p>
            <a:endParaRPr dirty="0"/>
          </a:p>
          <a:p>
            <a:r>
              <a:rPr dirty="0"/>
              <a:t>Then observation teaches us that persistence alone does not capture the distinction we actually care about. The implementation may have done exactly what the specification required. What changed was our understanding of the acceptable boundary.</a:t>
            </a:r>
          </a:p>
          <a:p>
            <a:endParaRPr dirty="0"/>
          </a:p>
          <a:p>
            <a:r>
              <a:rPr dirty="0"/>
              <a:t>This is the UNKNOWN case from a few slides ago. The answer was not to specify harder before we had evidence. We specified enough to proceed, built, observed, and learned.</a:t>
            </a:r>
          </a:p>
          <a:p>
            <a:endParaRPr dirty="0"/>
          </a:p>
          <a:p>
            <a:r>
              <a:rPr dirty="0"/>
              <a:t>Do not turn this into an anti-specification argument. R5 remained valid. What changed was our specification of how that requirement should be realized.</a:t>
            </a:r>
          </a:p>
          <a:p>
            <a:endParaRPr dirty="0"/>
          </a:p>
          <a:p>
            <a:r>
              <a:rPr dirty="0"/>
              <a:t>That gives us the third response to an unsettled choice: not constrain, not leave open—explore.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Hand students the practical rule the whole lecture was arguing for.</a:t>
            </a:r>
          </a:p>
          <a:p>
            <a:endParaRPr dirty="0"/>
          </a:p>
          <a:p>
            <a:r>
              <a:rPr dirty="0"/>
              <a:t>- Deliver slowly; three sentences. This is the slide where you say less than you want to.</a:t>
            </a:r>
          </a:p>
          <a:p>
            <a:endParaRPr dirty="0"/>
          </a:p>
          <a:p>
            <a:r>
              <a:rPr dirty="0"/>
              <a:t>- EXPLORE is the third answer the degrees-of-freedom section earned. It is not a euphemism for failing to decide.</a:t>
            </a:r>
          </a:p>
          <a:p>
            <a:endParaRPr dirty="0"/>
          </a:p>
          <a:p>
            <a:r>
              <a:rPr dirty="0"/>
              <a:t>- Line one answers the obligations side of the model, line two the freedom side, line three the unknown category.</a:t>
            </a:r>
          </a:p>
          <a:p>
            <a:endParaRPr dirty="0"/>
          </a:p>
          <a:p>
            <a:r>
              <a:rPr dirty="0"/>
              <a:t>- Protect this slide's time even if earlier sections ran long.</a:t>
            </a:r>
          </a:p>
          <a:p>
            <a:endParaRPr dirty="0"/>
          </a:p>
          <a:p>
            <a:r>
              <a:rPr dirty="0"/>
              <a:t>=====</a:t>
            </a:r>
          </a:p>
          <a:p>
            <a:endParaRPr dirty="0"/>
          </a:p>
          <a:p>
            <a:r>
              <a:rPr dirty="0"/>
              <a:t>Constrain when two reasonable answers would produce products a user could tell apart, or different risk. Build A versus Build B was exactly this.</a:t>
            </a:r>
          </a:p>
          <a:p>
            <a:endParaRPr dirty="0"/>
          </a:p>
          <a:p>
            <a:r>
              <a:rPr dirty="0"/>
              <a:t>Leave open when every answer is acceptable. Say so in writing if you can — marking something deliberately open stops the next reader treating it as an oversight</a:t>
            </a:r>
            <a:r>
              <a:rPr lang="en-US" dirty="0"/>
              <a:t> </a:t>
            </a:r>
            <a:r>
              <a:rPr dirty="0"/>
              <a:t>and stops an agent treating it as an invitation.</a:t>
            </a:r>
          </a:p>
          <a:p>
            <a:endParaRPr dirty="0"/>
          </a:p>
          <a:p>
            <a:r>
              <a:rPr dirty="0"/>
              <a:t>Explore when you do not yet know which of those two it is. Build something, look, then decide.</a:t>
            </a:r>
          </a:p>
          <a:p>
            <a:endParaRPr dirty="0"/>
          </a:p>
          <a:p>
            <a:r>
              <a:rPr dirty="0"/>
              <a:t>Read the three rules slowly and stop. They are the practical synthesis of the lecture.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ANIMATE — MAGE Moment.</a:t>
            </a:r>
            <a:br>
              <a:rPr lang="en-US" dirty="0"/>
            </a:br>
            <a:r>
              <a:rPr lang="en-US" dirty="0"/>
              <a:t>“But now we have a tension. Agents benefit from explicit specification, while learning requires us not to commit every decision too early. How do we preserve room to learn while still giving agents enough specification to work reliably? We will keep returning to that question throughout the course.”</a:t>
            </a:r>
          </a:p>
          <a:p>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today inside the course, and correct the ladder misconception.</a:t>
            </a:r>
          </a:p>
          <a:p>
            <a:endParaRPr dirty="0"/>
          </a:p>
          <a:p>
            <a:r>
              <a:rPr dirty="0"/>
              <a:t>- It is the model from slide 2, extended forward. Students should </a:t>
            </a:r>
            <a:r>
              <a:rPr dirty="0" err="1"/>
              <a:t>recognise</a:t>
            </a:r>
            <a:r>
              <a:rPr dirty="0"/>
              <a:t> it instantly.</a:t>
            </a:r>
          </a:p>
          <a:p>
            <a:endParaRPr dirty="0"/>
          </a:p>
          <a:p>
            <a:r>
              <a:rPr dirty="0"/>
              <a:t>- Architecture and design hang under A, not under SPECIFICATION. That is the argument.</a:t>
            </a:r>
          </a:p>
          <a:p>
            <a:endParaRPr dirty="0"/>
          </a:p>
          <a:p>
            <a:r>
              <a:rPr dirty="0"/>
              <a:t>- Students picture requirements to design as one ladder of increasing detail. If architecture were more specification, every architectural decision would be an obligation on the implementor — which is not how anyone works.</a:t>
            </a:r>
          </a:p>
          <a:p>
            <a:endParaRPr dirty="0"/>
          </a:p>
          <a:p>
            <a:r>
              <a:rPr dirty="0"/>
              <a:t>- If over time: skip the second build and say the closing line.</a:t>
            </a:r>
          </a:p>
          <a:p>
            <a:endParaRPr dirty="0"/>
          </a:p>
          <a:p>
            <a:r>
              <a:rPr dirty="0"/>
              <a:t>- Check: can they say why requirements alone may not be buildable, what a specification adds, why more than one representation, what a degree of freedom is, why unspecified is not free, why not specify everything, and how iteration discovers specification?</a:t>
            </a:r>
          </a:p>
          <a:p>
            <a:endParaRPr dirty="0"/>
          </a:p>
          <a:p>
            <a:r>
              <a:rPr dirty="0"/>
              <a:t>=====</a:t>
            </a:r>
          </a:p>
          <a:p>
            <a:endParaRPr dirty="0"/>
          </a:p>
          <a:p>
            <a:r>
              <a:rPr dirty="0"/>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endParaRPr dirty="0"/>
          </a:p>
          <a:p>
            <a:r>
              <a:rPr dirty="0"/>
              <a:t>ANIMATE</a:t>
            </a:r>
          </a:p>
          <a:p>
            <a:endParaRPr dirty="0"/>
          </a:p>
          <a:p>
            <a:r>
              <a:rPr dirty="0"/>
              <a:t>Architecture asks how the system is structured. Design asks how each part is </a:t>
            </a:r>
            <a:r>
              <a:rPr dirty="0" err="1"/>
              <a:t>realised</a:t>
            </a:r>
            <a:r>
              <a:rPr dirty="0"/>
              <a:t> inside. Both hang under one candidate.</a:t>
            </a:r>
          </a:p>
          <a:p>
            <a:endParaRPr dirty="0"/>
          </a:p>
          <a:p>
            <a:r>
              <a:rPr dirty="0"/>
              <a:t>ANIMATE</a:t>
            </a:r>
          </a:p>
          <a:p>
            <a:endParaRPr dirty="0"/>
          </a:p>
          <a:p>
            <a:r>
              <a:rPr dirty="0"/>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endParaRPr dirty="0"/>
          </a:p>
          <a:p>
            <a:r>
              <a:rPr dirty="0"/>
              <a:t>Today we asked which realizations are acceptable. Next we start choosing how one of those acceptable systems should be structured.</a:t>
            </a:r>
          </a:p>
          <a:p>
            <a:endParaRPr dirty="0"/>
          </a:p>
          <a:p>
            <a:r>
              <a:rPr dirty="0"/>
              <a:t>Constrain what matters. Leave acceptable alternatives open. Explore what you do not yet understand.</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2.emf"/></Relationships>
</file>

<file path=ppt/slides/_rels/slide2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lnSpcReduction="10000"/>
          </a:bodyPr>
          <a:lstStyle/>
          <a:p>
            <a:pPr algn="ctr">
              <a:buNone/>
            </a:pPr>
            <a:r>
              <a:rPr lang="en-US" sz="26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2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pPr algn="l">
              <a:buNone/>
              <a:defRPr b="0"/>
            </a:pPr>
            <a:r>
              <a:rPr lang="en-US" sz="3000" b="0"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478024" cy="3584448"/>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408176" y="4526280"/>
            <a:ext cx="768096" cy="64008"/>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106424" y="1673352"/>
            <a:ext cx="1362456" cy="1362456"/>
          </a:xfrm>
          <a:prstGeom prst="rect">
            <a:avLst/>
          </a:prstGeom>
        </p:spPr>
      </p:pic>
      <p:sp>
        <p:nvSpPr>
          <p:cNvPr id="105" name="ScreenBar1"/>
          <p:cNvSpPr/>
          <p:nvPr/>
        </p:nvSpPr>
        <p:spPr>
          <a:xfrm>
            <a:off x="731520" y="3666744"/>
            <a:ext cx="2130552" cy="118872"/>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31520" y="3941064"/>
            <a:ext cx="1709928" cy="118872"/>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31520" y="4224528"/>
            <a:ext cx="1929384" cy="118872"/>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21792" y="3154680"/>
            <a:ext cx="2368296" cy="310896"/>
          </a:xfrm>
          <a:prstGeom prst="rect">
            <a:avLst/>
          </a:prstGeom>
          <a:noFill/>
          <a:ln>
            <a:noFill/>
          </a:ln>
        </p:spPr>
        <p:txBody>
          <a:bodyPr lIns="0" tIns="0" rIns="0" bIns="0" anchor="ctr">
            <a:noAutofit/>
          </a:bodyPr>
          <a:lstStyle/>
          <a:p>
            <a:pPr algn="ctr">
              <a:buNone/>
            </a:pPr>
            <a:r>
              <a:rPr lang="en-US" sz="1500" b="1" spc="120" dirty="0">
                <a:solidFill>
                  <a:srgbClr val="8E6F3E"/>
                </a:solidFill>
              </a:rPr>
              <a:t>SLEEP ADVISOR</a:t>
            </a:r>
          </a:p>
        </p:txBody>
      </p:sp>
      <p:sp>
        <p:nvSpPr>
          <p:cNvPr id="104" name="AppDesc"/>
          <p:cNvSpPr txBox="1"/>
          <p:nvPr/>
        </p:nvSpPr>
        <p:spPr>
          <a:xfrm>
            <a:off x="279400" y="4919472"/>
            <a:ext cx="2781300" cy="960120"/>
          </a:xfrm>
          <a:prstGeom prst="rect">
            <a:avLst/>
          </a:prstGeom>
          <a:noFill/>
          <a:ln>
            <a:noFill/>
          </a:ln>
        </p:spPr>
        <p:txBody>
          <a:bodyPr lIns="0" tIns="0" rIns="0" bIns="0" anchor="t">
            <a:noAutofit/>
          </a:bodyPr>
          <a:lstStyle/>
          <a:p>
            <a:pPr algn="l">
              <a:buNone/>
            </a:pPr>
            <a:r>
              <a:rPr lang="en-US" sz="15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896112"/>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R1</a:t>
            </a:r>
            <a:r>
              <a:rPr lang="en-US" sz="1800" b="0" i="0" dirty="0">
                <a:solidFill>
                  <a:srgbClr val="000000"/>
                </a:solidFill>
              </a:rPr>
              <a:t>  Track the user's sleep each night.</a:t>
            </a:r>
          </a:p>
        </p:txBody>
      </p:sp>
      <p:sp>
        <p:nvSpPr>
          <p:cNvPr id="111" name="ReqR2"/>
          <p:cNvSpPr/>
          <p:nvPr/>
        </p:nvSpPr>
        <p:spPr>
          <a:xfrm>
            <a:off x="3175000" y="1609344"/>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R2</a:t>
            </a:r>
            <a:r>
              <a:rPr lang="en-US" sz="1800" b="0" i="0" dirty="0">
                <a:solidFill>
                  <a:srgbClr val="000000"/>
                </a:solidFill>
              </a:rPr>
              <a:t>  Learn what constitutes a normal sleep pattern for the user.</a:t>
            </a:r>
          </a:p>
        </p:txBody>
      </p:sp>
      <p:sp>
        <p:nvSpPr>
          <p:cNvPr id="112" name="ReqR3"/>
          <p:cNvSpPr/>
          <p:nvPr/>
        </p:nvSpPr>
        <p:spPr>
          <a:xfrm>
            <a:off x="3175000" y="2322576"/>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R3</a:t>
            </a:r>
            <a:r>
              <a:rPr lang="en-US" sz="1800" b="0" i="0" dirty="0">
                <a:solidFill>
                  <a:srgbClr val="000000"/>
                </a:solidFill>
              </a:rPr>
              <a:t>  Identify meaningful departures from the user's normal pattern.</a:t>
            </a:r>
          </a:p>
        </p:txBody>
      </p:sp>
      <p:sp>
        <p:nvSpPr>
          <p:cNvPr id="113" name="ReqR4"/>
          <p:cNvSpPr/>
          <p:nvPr/>
        </p:nvSpPr>
        <p:spPr>
          <a:xfrm>
            <a:off x="3175000" y="3035808"/>
            <a:ext cx="5664200" cy="640080"/>
          </a:xfrm>
          <a:prstGeom prst="rect">
            <a:avLst/>
          </a:prstGeom>
          <a:solidFill>
            <a:srgbClr val="F5F1E8"/>
          </a:solidFill>
          <a:ln w="12700">
            <a:solidFill>
              <a:srgbClr val="C9B991"/>
            </a:solidFill>
          </a:ln>
        </p:spPr>
        <p:txBody>
          <a:bodyPr wrap="square" lIns="109728" tIns="82296" rIns="109728" bIns="82296" anchor="ctr">
            <a:normAutofit fontScale="92500"/>
          </a:bodyPr>
          <a:lstStyle/>
          <a:p>
            <a:pPr algn="l">
              <a:buNone/>
            </a:pPr>
            <a:r>
              <a:rPr lang="en-US" sz="1800" b="1" i="0" dirty="0">
                <a:solidFill>
                  <a:srgbClr val="8E6F3E"/>
                </a:solidFill>
              </a:rPr>
              <a:t>R4</a:t>
            </a:r>
            <a:r>
              <a:rPr lang="en-US" sz="1800" b="0" i="0" dirty="0">
                <a:solidFill>
                  <a:srgbClr val="000000"/>
                </a:solidFill>
              </a:rPr>
              <a:t>  Alert the user when their sleep pattern suggests illness.</a:t>
            </a:r>
          </a:p>
        </p:txBody>
      </p:sp>
      <p:sp>
        <p:nvSpPr>
          <p:cNvPr id="114" name="ReqR5"/>
          <p:cNvSpPr/>
          <p:nvPr/>
        </p:nvSpPr>
        <p:spPr>
          <a:xfrm>
            <a:off x="3175000" y="3749040"/>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R5</a:t>
            </a:r>
            <a:r>
              <a:rPr lang="en-US" sz="1800" b="0" i="0" dirty="0">
                <a:solidFill>
                  <a:srgbClr val="000000"/>
                </a:solidFill>
              </a:rPr>
              <a:t>  Adapt when the user's normal sleep pattern changes.</a:t>
            </a:r>
          </a:p>
        </p:txBody>
      </p:sp>
      <p:sp>
        <p:nvSpPr>
          <p:cNvPr id="115" name="ReqR6"/>
          <p:cNvSpPr/>
          <p:nvPr/>
        </p:nvSpPr>
        <p:spPr>
          <a:xfrm>
            <a:off x="3175000" y="4462272"/>
            <a:ext cx="5664200" cy="640080"/>
          </a:xfrm>
          <a:prstGeom prst="rect">
            <a:avLst/>
          </a:prstGeom>
          <a:solidFill>
            <a:srgbClr val="F5F1E8"/>
          </a:solidFill>
          <a:ln w="12700">
            <a:solidFill>
              <a:srgbClr val="C9B991"/>
            </a:solidFill>
          </a:ln>
        </p:spPr>
        <p:txBody>
          <a:bodyPr wrap="square" lIns="109728" tIns="82296" rIns="109728" bIns="82296" anchor="ctr">
            <a:normAutofit fontScale="92500"/>
          </a:bodyPr>
          <a:lstStyle/>
          <a:p>
            <a:pPr algn="l">
              <a:buNone/>
            </a:pPr>
            <a:r>
              <a:rPr lang="en-US" sz="1800" b="1" i="0" dirty="0">
                <a:solidFill>
                  <a:srgbClr val="8E6F3E"/>
                </a:solidFill>
              </a:rPr>
              <a:t>R6</a:t>
            </a:r>
            <a:r>
              <a:rPr lang="en-US" sz="1800" b="0" i="0" dirty="0">
                <a:solidFill>
                  <a:srgbClr val="000000"/>
                </a:solidFill>
              </a:rPr>
              <a:t>  Provide the user with a weekly summary of their sleep.</a:t>
            </a:r>
          </a:p>
        </p:txBody>
      </p:sp>
      <p:sp>
        <p:nvSpPr>
          <p:cNvPr id="116" name="ReqR7"/>
          <p:cNvSpPr/>
          <p:nvPr/>
        </p:nvSpPr>
        <p:spPr>
          <a:xfrm>
            <a:off x="3175000" y="5175504"/>
            <a:ext cx="5664200" cy="640080"/>
          </a:xfrm>
          <a:prstGeom prst="rect">
            <a:avLst/>
          </a:prstGeom>
          <a:solidFill>
            <a:srgbClr val="F5F1E8"/>
          </a:solidFill>
          <a:ln w="12700">
            <a:solidFill>
              <a:srgbClr val="C9B991"/>
            </a:solidFill>
          </a:ln>
        </p:spPr>
        <p:txBody>
          <a:bodyPr wrap="square" lIns="109728" tIns="82296" rIns="109728" bIns="82296" anchor="ctr">
            <a:normAutofit fontScale="92500" lnSpcReduction="10000"/>
          </a:bodyPr>
          <a:lstStyle/>
          <a:p>
            <a:pPr algn="l">
              <a:buNone/>
            </a:pPr>
            <a:r>
              <a:rPr lang="en-US" sz="1800" b="1" i="0" dirty="0">
                <a:solidFill>
                  <a:srgbClr val="8E6F3E"/>
                </a:solidFill>
              </a:rPr>
              <a:t>R7</a:t>
            </a:r>
            <a:r>
              <a:rPr lang="en-US" sz="1800" b="0" i="0" dirty="0">
                <a:solidFill>
                  <a:srgbClr val="000000"/>
                </a:solidFill>
              </a:rPr>
              <a:t>  Let the user share a weekly sleep summary with their doctor.</a:t>
            </a:r>
          </a:p>
        </p:txBody>
      </p:sp>
      <p:sp>
        <p:nvSpPr>
          <p:cNvPr id="120" name="Band"/>
          <p:cNvSpPr/>
          <p:nvPr/>
        </p:nvSpPr>
        <p:spPr>
          <a:xfrm>
            <a:off x="279400" y="5943600"/>
            <a:ext cx="8559800" cy="566928"/>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These say what we want. </a:t>
            </a:r>
            <a:r>
              <a:rPr lang="en-US" sz="22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400" b="1" i="0" dirty="0">
                <a:solidFill>
                  <a:srgbClr val="000000"/>
                </a:solidFill>
              </a:rPr>
              <a:t>R4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A</a:t>
            </a:r>
          </a:p>
          <a:p>
            <a:pPr algn="l">
              <a:spcBef>
                <a:spcPts val="200"/>
              </a:spcBef>
              <a:buNone/>
            </a:pPr>
            <a:r>
              <a:rPr lang="en-US" sz="2200" b="0" i="0" dirty="0">
                <a:solidFill>
                  <a:srgbClr val="000000"/>
                </a:solidFill>
              </a:rPr>
              <a:t>baseline set at install</a:t>
            </a:r>
          </a:p>
          <a:p>
            <a:pPr algn="l">
              <a:spcBef>
                <a:spcPts val="200"/>
              </a:spcBef>
              <a:buNone/>
            </a:pPr>
            <a:r>
              <a:rPr lang="en-US" sz="22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B</a:t>
            </a:r>
          </a:p>
          <a:p>
            <a:pPr algn="l">
              <a:spcBef>
                <a:spcPts val="200"/>
              </a:spcBef>
              <a:buNone/>
            </a:pPr>
            <a:r>
              <a:rPr lang="en-US" sz="2200" b="0" i="0" dirty="0">
                <a:solidFill>
                  <a:srgbClr val="000000"/>
                </a:solidFill>
              </a:rPr>
              <a:t>rolling</a:t>
            </a:r>
            <a:br/>
            <a:r>
              <a:rPr lang="en-US" sz="2200" b="0" i="0" dirty="0">
                <a:solidFill>
                  <a:srgbClr val="000000"/>
                </a:solidFill>
              </a:rPr>
              <a:t>30-day baseline</a:t>
            </a:r>
          </a:p>
          <a:p>
            <a:pPr algn="l">
              <a:spcBef>
                <a:spcPts val="200"/>
              </a:spcBef>
              <a:buNone/>
            </a:pPr>
            <a:r>
              <a:rPr lang="en-US" sz="22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C</a:t>
            </a:r>
          </a:p>
          <a:p>
            <a:pPr algn="l">
              <a:spcBef>
                <a:spcPts val="200"/>
              </a:spcBef>
              <a:buNone/>
            </a:pPr>
            <a:r>
              <a:rPr lang="en-US" sz="2200" b="0" i="0" dirty="0">
                <a:solidFill>
                  <a:srgbClr val="000000"/>
                </a:solidFill>
              </a:rPr>
              <a:t>heart-rate model</a:t>
            </a:r>
          </a:p>
          <a:p>
            <a:pPr algn="l">
              <a:spcBef>
                <a:spcPts val="200"/>
              </a:spcBef>
              <a:buNone/>
            </a:pPr>
            <a:r>
              <a:rPr lang="en-US" sz="22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400" b="0" i="0" dirty="0">
                <a:solidFill>
                  <a:srgbClr val="FFFFFF"/>
                </a:solidFill>
              </a:rPr>
              <a:t>All three satisfy R4 as written.</a:t>
            </a:r>
          </a:p>
          <a:p>
            <a:pPr algn="ctr">
              <a:spcBef>
                <a:spcPts val="200"/>
              </a:spcBef>
              <a:buNone/>
            </a:pPr>
            <a:r>
              <a:rPr lang="en-US" sz="28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6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a:xfrm>
            <a:off x="277148" y="118428"/>
            <a:ext cx="8324254" cy="638175"/>
          </a:xfrm>
        </p:spPr>
        <p:txBody>
          <a:bodyPr>
            <a:normAutofit fontScale="90000"/>
          </a:bodyPr>
          <a:lstStyle/>
          <a:p>
            <a:pPr>
              <a:defRPr b="0"/>
            </a:pPr>
            <a:r>
              <a:rPr lang="en-US" sz="3200" b="0" i="0" dirty="0">
                <a:solidFill>
                  <a:srgbClr val="000000"/>
                </a:solidFill>
              </a:rPr>
              <a:t>Requirements ≠ S</a:t>
            </a:r>
            <a:r>
              <a:rPr lang="en-US" sz="3200" dirty="0">
                <a:solidFill>
                  <a:srgbClr val="000000"/>
                </a:solidFill>
              </a:rPr>
              <a:t>pecification ≠ Machine instr.</a:t>
            </a:r>
            <a:endParaRPr lang="en-US" sz="3200" b="0" i="0" dirty="0">
              <a:solidFill>
                <a:srgbClr val="000000"/>
              </a:solidFill>
            </a:endParaRP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a:xfrm>
            <a:off x="277147" y="118428"/>
            <a:ext cx="8716727" cy="638175"/>
          </a:xfrm>
        </p:spPr>
        <p:txBody>
          <a:bodyPr>
            <a:normAutofit fontScale="90000"/>
          </a:bodyPr>
          <a:lstStyle/>
          <a:p>
            <a:pPr>
              <a:buNone/>
              <a:defRPr b="0"/>
            </a:pPr>
            <a:r>
              <a:rPr lang="en-US" b="0"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a:bodyPr>
          <a:lstStyle/>
          <a:p>
            <a:pPr algn="ctr">
              <a:buNone/>
            </a:pPr>
            <a:r>
              <a:rPr lang="en-US" sz="2200" b="1" i="0" dirty="0">
                <a:solidFill>
                  <a:srgbClr val="000000"/>
                </a:solidFill>
              </a:rPr>
              <a:t>Anyone remember formal logic? What’s the contrapositive?</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a:xfrm>
            <a:off x="277148" y="118428"/>
            <a:ext cx="8559800" cy="638175"/>
          </a:xfrm>
        </p:spPr>
        <p:txBody>
          <a:bodyPr>
            <a:normAutofit fontScale="90000"/>
          </a:bodyPr>
          <a:lstStyle/>
          <a:p>
            <a:pPr algn="l">
              <a:buNone/>
              <a:defRPr b="0"/>
            </a:pPr>
            <a:r>
              <a:rPr lang="en-US" sz="2800" b="0" i="0" dirty="0">
                <a:solidFill>
                  <a:srgbClr val="000000"/>
                </a:solidFill>
              </a:rPr>
              <a:t>How would you constrain the machine (implementation)?</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97706"/>
            <a:ext cx="4066969" cy="1170794"/>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lnSpcReduction="10000"/>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a:t>
            </a:r>
            <a:r>
              <a:rPr lang="en-US" sz="2200" b="1" dirty="0">
                <a:solidFill>
                  <a:srgbClr val="000000"/>
                </a:solidFill>
              </a:rPr>
              <a:t>must</a:t>
            </a:r>
            <a:r>
              <a:rPr lang="en-US" sz="2200" b="1" i="0" dirty="0">
                <a:solidFill>
                  <a:srgbClr val="000000"/>
                </a:solidFill>
              </a:rPr>
              <a:t> the app do?</a:t>
            </a:r>
          </a:p>
          <a:p>
            <a:pPr algn="l">
              <a:spcBef>
                <a:spcPts val="160"/>
              </a:spcBef>
              <a:buNone/>
            </a:pPr>
            <a:r>
              <a:rPr lang="en-US" i="1" dirty="0">
                <a:solidFill>
                  <a:srgbClr val="000000"/>
                </a:solidFill>
              </a:rPr>
              <a:t>required behavior</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lnSpcReduction="10000"/>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a:p>
            <a:pPr>
              <a:spcBef>
                <a:spcPts val="160"/>
              </a:spcBef>
            </a:pPr>
            <a:r>
              <a:rPr lang="en-US" i="1" dirty="0">
                <a:solidFill>
                  <a:srgbClr val="000000"/>
                </a:solidFill>
              </a:rPr>
              <a:t>domain assumptions</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fontScale="85000" lnSpcReduction="10000"/>
          </a:bodyPr>
          <a:lstStyle/>
          <a:p>
            <a:pPr algn="l">
              <a:buNone/>
            </a:pPr>
            <a:r>
              <a:rPr lang="en-US" sz="2600" b="1" i="0" dirty="0">
                <a:solidFill>
                  <a:srgbClr val="8E6F3E"/>
                </a:solidFill>
              </a:rPr>
              <a:t>3</a:t>
            </a:r>
          </a:p>
          <a:p>
            <a:pPr algn="l">
              <a:spcBef>
                <a:spcPts val="160"/>
              </a:spcBef>
              <a:buNone/>
            </a:pPr>
            <a:r>
              <a:rPr lang="en-US" sz="2600" b="1" i="0" dirty="0">
                <a:solidFill>
                  <a:srgbClr val="000000"/>
                </a:solidFill>
              </a:rPr>
              <a:t>What can remain unspecified?</a:t>
            </a:r>
          </a:p>
          <a:p>
            <a:pPr algn="l">
              <a:spcBef>
                <a:spcPts val="160"/>
              </a:spcBef>
              <a:buNone/>
            </a:pPr>
            <a:r>
              <a:rPr lang="en-US" sz="2100" i="1" dirty="0">
                <a:solidFill>
                  <a:srgbClr val="000000"/>
                </a:solidFill>
              </a:rPr>
              <a:t>implementor may choose</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is handled the same way.</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2176272"/>
            <a:ext cx="7772400" cy="838200"/>
          </a:xfrm>
        </p:spPr>
        <p:txBody>
          <a:bodyPr>
            <a:normAutofit fontScale="90000"/>
          </a:bodyPr>
          <a:lstStyle/>
          <a:p>
            <a:pPr algn="ctr">
              <a:buNone/>
              <a:defRPr b="0"/>
            </a:pPr>
            <a:r>
              <a:rPr lang="en-US" b="0"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69164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329184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703320"/>
            <a:ext cx="8026400" cy="822960"/>
          </a:xfrm>
          <a:prstGeom prst="rect">
            <a:avLst/>
          </a:prstGeom>
          <a:noFill/>
          <a:ln>
            <a:noFill/>
          </a:ln>
        </p:spPr>
        <p:txBody>
          <a:bodyPr wrap="square" lIns="0" tIns="0" rIns="0" bIns="0" anchor="t">
            <a:normAutofit/>
          </a:bodyPr>
          <a:lstStyle/>
          <a:p>
            <a:pPr algn="ctr">
              <a:buNone/>
            </a:pPr>
            <a:r>
              <a:rPr lang="en-US" sz="2400" dirty="0">
                <a:solidFill>
                  <a:srgbClr val="555960"/>
                </a:solidFill>
              </a:rPr>
              <a:t>What can we learn from how the A-7E specification makes obligations explicit?</a:t>
            </a:r>
          </a:p>
        </p:txBody>
      </p:sp>
      <p:sp>
        <p:nvSpPr>
          <p:cNvPr id="60" name="S60"/>
          <p:cNvSpPr/>
          <p:nvPr/>
        </p:nvSpPr>
        <p:spPr>
          <a:xfrm>
            <a:off x="457200" y="5074920"/>
            <a:ext cx="2240280" cy="73152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REQUIREMENTS</a:t>
            </a:r>
          </a:p>
        </p:txBody>
      </p:sp>
      <p:cxnSp>
        <p:nvCxnSpPr>
          <p:cNvPr id="61" name="L61"/>
          <p:cNvCxnSpPr/>
          <p:nvPr/>
        </p:nvCxnSpPr>
        <p:spPr>
          <a:xfrm>
            <a:off x="2743200" y="5440680"/>
            <a:ext cx="182880" cy="0"/>
          </a:xfrm>
          <a:prstGeom prst="line">
            <a:avLst/>
          </a:prstGeom>
          <a:ln w="12700">
            <a:solidFill>
              <a:srgbClr val="7A7466"/>
            </a:solidFill>
            <a:tailEnd type="triangle" w="med" len="med"/>
          </a:ln>
        </p:spPr>
      </p:cxnSp>
      <p:sp>
        <p:nvSpPr>
          <p:cNvPr id="62" name="S62"/>
          <p:cNvSpPr/>
          <p:nvPr/>
        </p:nvSpPr>
        <p:spPr>
          <a:xfrm>
            <a:off x="2971800" y="4974336"/>
            <a:ext cx="2413000" cy="932688"/>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5431536" y="5440680"/>
            <a:ext cx="182880" cy="0"/>
          </a:xfrm>
          <a:prstGeom prst="line">
            <a:avLst/>
          </a:prstGeom>
          <a:ln w="12700">
            <a:solidFill>
              <a:srgbClr val="7A7466"/>
            </a:solidFill>
            <a:tailEnd type="triangle" w="med" len="med"/>
          </a:ln>
        </p:spPr>
      </p:cxnSp>
      <p:sp>
        <p:nvSpPr>
          <p:cNvPr id="64" name="S64"/>
          <p:cNvSpPr/>
          <p:nvPr/>
        </p:nvSpPr>
        <p:spPr>
          <a:xfrm>
            <a:off x="5660136" y="5074920"/>
            <a:ext cx="1905000" cy="73152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OBLIGATIONS</a:t>
            </a:r>
          </a:p>
        </p:txBody>
      </p:sp>
      <p:cxnSp>
        <p:nvCxnSpPr>
          <p:cNvPr id="65" name="L65"/>
          <p:cNvCxnSpPr/>
          <p:nvPr/>
        </p:nvCxnSpPr>
        <p:spPr>
          <a:xfrm>
            <a:off x="7607808" y="5440680"/>
            <a:ext cx="182880" cy="0"/>
          </a:xfrm>
          <a:prstGeom prst="line">
            <a:avLst/>
          </a:prstGeom>
          <a:ln w="12700">
            <a:solidFill>
              <a:srgbClr val="7A7466"/>
            </a:solidFill>
            <a:tailEnd type="triangle" w="med" len="med"/>
          </a:ln>
        </p:spPr>
      </p:cxnSp>
      <p:sp>
        <p:nvSpPr>
          <p:cNvPr id="66" name="S66"/>
          <p:cNvSpPr/>
          <p:nvPr/>
        </p:nvSpPr>
        <p:spPr>
          <a:xfrm>
            <a:off x="7836408" y="5074920"/>
            <a:ext cx="896112" cy="731520"/>
          </a:xfrm>
          <a:prstGeom prst="round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defRPr b="0"/>
            </a:pPr>
            <a:r>
              <a:rPr lang="en-US" b="0"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A substantial specification of externally visible behavior</a:t>
            </a:r>
          </a:p>
          <a:p>
            <a:pPr>
              <a:spcBef>
                <a:spcPts val="300"/>
              </a:spcBef>
              <a:buNone/>
            </a:pPr>
            <a:r>
              <a:rPr lang="en-US" sz="18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Multiple representations</a:t>
            </a:r>
          </a:p>
          <a:p>
            <a:pPr>
              <a:spcBef>
                <a:spcPts val="300"/>
              </a:spcBef>
              <a:buNone/>
            </a:pPr>
            <a:r>
              <a:rPr lang="en-US" sz="18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2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defRPr b="0"/>
            </a:pPr>
            <a:r>
              <a:rPr lang="en-US" b="0"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Current mode</a:t>
            </a:r>
          </a:p>
          <a:p>
            <a:pPr>
              <a:spcBef>
                <a:spcPts val="200"/>
              </a:spcBef>
              <a:buNone/>
            </a:pPr>
            <a:r>
              <a:rPr lang="en-US" sz="1800" dirty="0">
                <a:solidFill>
                  <a:srgbClr val="555960"/>
                </a:solidFill>
              </a:rPr>
              <a:t>the state the software is in</a:t>
            </a:r>
          </a:p>
        </p:txBody>
      </p:sp>
      <p:sp>
        <p:nvSpPr>
          <p:cNvPr id="306" name="Item"/>
          <p:cNvSpPr txBox="1"/>
          <p:nvPr/>
        </p:nvSpPr>
        <p:spPr>
          <a:xfrm>
            <a:off x="4546600" y="22860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Event or condition</a:t>
            </a:r>
          </a:p>
          <a:p>
            <a:pPr>
              <a:spcBef>
                <a:spcPts val="200"/>
              </a:spcBef>
              <a:buNone/>
            </a:pPr>
            <a:r>
              <a:rPr lang="en-US" sz="1800" dirty="0">
                <a:solidFill>
                  <a:srgbClr val="555960"/>
                </a:solidFill>
              </a:rPr>
              <a:t>what happens, and what holds when it does</a:t>
            </a:r>
          </a:p>
        </p:txBody>
      </p:sp>
      <p:sp>
        <p:nvSpPr>
          <p:cNvPr id="308" name="Item"/>
          <p:cNvSpPr txBox="1"/>
          <p:nvPr/>
        </p:nvSpPr>
        <p:spPr>
          <a:xfrm>
            <a:off x="4546600" y="32512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Required resulting behavior</a:t>
            </a:r>
          </a:p>
          <a:p>
            <a:pPr>
              <a:spcBef>
                <a:spcPts val="200"/>
              </a:spcBef>
              <a:buNone/>
            </a:pPr>
            <a:r>
              <a:rPr lang="en-US" sz="18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8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2000" b="1" dirty="0">
                <a:solidFill>
                  <a:srgbClr val="FFFFFF"/>
                </a:solidFill>
              </a:rPr>
              <a:t>The specification constrains observable behavior;</a:t>
            </a:r>
          </a:p>
          <a:p>
            <a:pPr algn="ctr">
              <a:buNone/>
            </a:pPr>
            <a:r>
              <a:rPr lang="en-US" sz="20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defRPr b="0"/>
            </a:pPr>
            <a:r>
              <a:rPr lang="en-US" b="0"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400" b="1" spc="80" dirty="0">
                <a:solidFill>
                  <a:srgbClr val="8E6F3E"/>
                </a:solidFill>
              </a:rPr>
              <a:t>THREE QUANTITIES, NOT ONE</a:t>
            </a:r>
          </a:p>
          <a:p>
            <a:pPr>
              <a:spcBef>
                <a:spcPts val="300"/>
              </a:spcBef>
              <a:buNone/>
            </a:pPr>
            <a:r>
              <a:rPr lang="en-US" sz="1700" dirty="0">
                <a:solidFill>
                  <a:srgbClr val="3A3A3A"/>
                </a:solidFill>
              </a:rPr>
              <a:t>Current rate — what the system does now</a:t>
            </a:r>
          </a:p>
          <a:p>
            <a:pPr>
              <a:spcBef>
                <a:spcPts val="200"/>
              </a:spcBef>
              <a:buNone/>
            </a:pPr>
            <a:r>
              <a:rPr lang="en-US" sz="1700" dirty="0">
                <a:solidFill>
                  <a:srgbClr val="3A3A3A"/>
                </a:solidFill>
              </a:rPr>
              <a:t>Minimum allowable rate — how slow it may become</a:t>
            </a:r>
          </a:p>
          <a:p>
            <a:pPr>
              <a:spcBef>
                <a:spcPts val="200"/>
              </a:spcBef>
              <a:buNone/>
            </a:pPr>
            <a:r>
              <a:rPr lang="en-US" sz="1700" dirty="0">
                <a:solidFill>
                  <a:srgbClr val="3A3A3A"/>
                </a:solidFill>
              </a:rPr>
              <a:t>Maximum useful rate — where faster stops buying anything</a:t>
            </a:r>
          </a:p>
        </p:txBody>
      </p:sp>
      <p:sp>
        <p:nvSpPr>
          <p:cNvPr id="1904" name="Right"/>
          <p:cNvSpPr txBox="1"/>
          <p:nvPr/>
        </p:nvSpPr>
        <p:spPr>
          <a:xfrm>
            <a:off x="5664200" y="3913632"/>
            <a:ext cx="3175000" cy="150876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400" b="1" spc="80" dirty="0">
                <a:solidFill>
                  <a:srgbClr val="8E6F3E"/>
                </a:solidFill>
              </a:rPr>
              <a:t>AND SOMETIMES THE CONSTRAINT IS: NONE</a:t>
            </a:r>
          </a:p>
          <a:p>
            <a:pPr>
              <a:spcBef>
                <a:spcPts val="300"/>
              </a:spcBef>
              <a:buNone/>
            </a:pPr>
            <a:r>
              <a:rPr lang="en-US" sz="18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715000"/>
            <a:ext cx="8559800" cy="658368"/>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defRPr b="0"/>
            </a:pPr>
            <a:r>
              <a:rPr lang="en-US" b="0"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37560"/>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USEFUL SUBSET</a:t>
            </a:r>
          </a:p>
        </p:txBody>
      </p:sp>
      <p:sp>
        <p:nvSpPr>
          <p:cNvPr id="404" name="RowBar"/>
          <p:cNvSpPr txBox="1"/>
          <p:nvPr/>
        </p:nvSpPr>
        <p:spPr>
          <a:xfrm>
            <a:off x="2311400" y="3337560"/>
            <a:ext cx="4059936"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Input · Hardware test · Scheduling</a:t>
            </a:r>
          </a:p>
        </p:txBody>
      </p:sp>
      <p:sp>
        <p:nvSpPr>
          <p:cNvPr id="405" name="RowLabel"/>
          <p:cNvSpPr txBox="1"/>
          <p:nvPr/>
        </p:nvSpPr>
        <p:spPr>
          <a:xfrm>
            <a:off x="279400" y="3904488"/>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LARGER SUBSET</a:t>
            </a:r>
          </a:p>
        </p:txBody>
      </p:sp>
      <p:sp>
        <p:nvSpPr>
          <p:cNvPr id="406" name="RowBar"/>
          <p:cNvSpPr txBox="1"/>
          <p:nvPr/>
        </p:nvSpPr>
        <p:spPr>
          <a:xfrm>
            <a:off x="2311400" y="3904488"/>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 Navigation</a:t>
            </a:r>
          </a:p>
        </p:txBody>
      </p:sp>
      <p:sp>
        <p:nvSpPr>
          <p:cNvPr id="407" name="RowLabel"/>
          <p:cNvSpPr txBox="1"/>
          <p:nvPr/>
        </p:nvSpPr>
        <p:spPr>
          <a:xfrm>
            <a:off x="279400" y="4471416"/>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471416"/>
            <a:ext cx="5969000" cy="431800"/>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 Pilot display · Weapons delivery</a:t>
            </a:r>
          </a:p>
        </p:txBody>
      </p:sp>
      <p:cxnSp>
        <p:nvCxnSpPr>
          <p:cNvPr id="409" name="Grow"/>
          <p:cNvCxnSpPr/>
          <p:nvPr/>
        </p:nvCxnSpPr>
        <p:spPr>
          <a:xfrm>
            <a:off x="2540000" y="3767328"/>
            <a:ext cx="0" cy="137160"/>
          </a:xfrm>
          <a:prstGeom prst="line">
            <a:avLst/>
          </a:prstGeom>
          <a:ln w="19050">
            <a:solidFill>
              <a:srgbClr val="8E6F3E"/>
            </a:solidFill>
            <a:tailEnd type="triangle"/>
          </a:ln>
        </p:spPr>
      </p:cxnSp>
      <p:cxnSp>
        <p:nvCxnSpPr>
          <p:cNvPr id="410" name="Grow"/>
          <p:cNvCxnSpPr/>
          <p:nvPr/>
        </p:nvCxnSpPr>
        <p:spPr>
          <a:xfrm>
            <a:off x="2540000" y="4334256"/>
            <a:ext cx="0" cy="137160"/>
          </a:xfrm>
          <a:prstGeom prst="line">
            <a:avLst/>
          </a:prstGeom>
          <a:ln w="19050">
            <a:solidFill>
              <a:srgbClr val="8E6F3E"/>
            </a:solidFill>
            <a:tailEnd type="triangle"/>
          </a:ln>
        </p:spPr>
      </p:cxnSp>
      <p:sp>
        <p:nvSpPr>
          <p:cNvPr id="411" name="Constraints"/>
          <p:cNvSpPr txBox="1"/>
          <p:nvPr/>
        </p:nvSpPr>
        <p:spPr>
          <a:xfrm>
            <a:off x="279400" y="4956048"/>
            <a:ext cx="8559800" cy="621792"/>
          </a:xfrm>
          <a:prstGeom prst="rect">
            <a:avLst/>
          </a:prstGeom>
          <a:noFill/>
          <a:ln>
            <a:noFill/>
          </a:ln>
        </p:spPr>
        <p:txBody>
          <a:bodyPr lIns="0" tIns="45720" rIns="0" bIns="45720" anchor="t">
            <a:noAutofit/>
          </a:bodyPr>
          <a:lstStyle/>
          <a:p>
            <a:pPr>
              <a:buNone/>
            </a:pPr>
            <a:r>
              <a:rPr lang="en-US" sz="1800" dirty="0">
                <a:solidFill>
                  <a:srgbClr val="3A3A3A"/>
                </a:solidFill>
              </a:rPr>
              <a:t>Add functionality: do not rewrite what already works.</a:t>
            </a:r>
          </a:p>
          <a:p>
            <a:pPr>
              <a:spcBef>
                <a:spcPts val="200"/>
              </a:spcBef>
              <a:buNone/>
            </a:pPr>
            <a:r>
              <a:rPr lang="en-US" sz="18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defRPr b="0"/>
            </a:pPr>
            <a:r>
              <a:rPr lang="en-US" b="0"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514600"/>
          </a:xfrm>
          <a:prstGeom prst="rect">
            <a:avLst/>
          </a:prstGeom>
          <a:noFill/>
          <a:ln w="9525">
            <a:solidFill>
              <a:srgbClr val="C9C4BB"/>
            </a:solidFill>
          </a:ln>
        </p:spPr>
        <p:txBody>
          <a:bodyPr lIns="114300" tIns="68580" rIns="114300" bIns="68580" anchor="t">
            <a:noAutofit/>
          </a:bodyPr>
          <a:lstStyle/>
          <a:p>
            <a:pPr>
              <a:buNone/>
            </a:pPr>
            <a:r>
              <a:rPr lang="en-US" sz="1700" b="1" spc="80" dirty="0">
                <a:solidFill>
                  <a:srgbClr val="555960"/>
                </a:solidFill>
              </a:rPr>
              <a:t>TREAT AS STABLE</a:t>
            </a:r>
          </a:p>
          <a:p>
            <a:pPr>
              <a:spcBef>
                <a:spcPts val="400"/>
              </a:spcBef>
              <a:buNone/>
            </a:pPr>
            <a:r>
              <a:rPr lang="en-US" sz="1700" dirty="0">
                <a:solidFill>
                  <a:srgbClr val="3A3A3A"/>
                </a:solidFill>
              </a:rPr>
              <a:t>· Flight and weapon characteristics are adequately modeled in the referenced documents (9.1.1)</a:t>
            </a:r>
          </a:p>
          <a:p>
            <a:pPr>
              <a:spcBef>
                <a:spcPts val="400"/>
              </a:spcBef>
              <a:buNone/>
            </a:pPr>
            <a:r>
              <a:rPr lang="en-US" sz="1700" dirty="0">
                <a:solidFill>
                  <a:srgbClr val="3A3A3A"/>
                </a:solidFill>
              </a:rPr>
              <a:t>· The computer is not assigned background, non-real-time functions (9.1.3)</a:t>
            </a:r>
          </a:p>
          <a:p>
            <a:pPr>
              <a:spcBef>
                <a:spcPts val="400"/>
              </a:spcBef>
              <a:buNone/>
            </a:pPr>
            <a:r>
              <a:rPr lang="en-US" sz="1700" dirty="0">
                <a:solidFill>
                  <a:srgbClr val="3A3A3A"/>
                </a:solidFill>
              </a:rPr>
              <a:t>· Worst-case memory and CPU bounds are predictable per function (9.1.4)</a:t>
            </a:r>
          </a:p>
        </p:txBody>
      </p:sp>
      <p:sp>
        <p:nvSpPr>
          <p:cNvPr id="504" name="ColFoot"/>
          <p:cNvSpPr txBox="1"/>
          <p:nvPr/>
        </p:nvSpPr>
        <p:spPr>
          <a:xfrm>
            <a:off x="2794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may rely on these.</a:t>
            </a:r>
          </a:p>
        </p:txBody>
      </p:sp>
      <p:sp>
        <p:nvSpPr>
          <p:cNvPr id="505" name="Col"/>
          <p:cNvSpPr txBox="1"/>
          <p:nvPr/>
        </p:nvSpPr>
        <p:spPr>
          <a:xfrm>
            <a:off x="4572000" y="2743200"/>
            <a:ext cx="4445876" cy="25146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700" b="1" spc="80" dirty="0">
                <a:solidFill>
                  <a:srgbClr val="8E6F3E"/>
                </a:solidFill>
              </a:rPr>
              <a:t>EXPECT MAY CHANGE</a:t>
            </a:r>
          </a:p>
          <a:p>
            <a:pPr>
              <a:spcBef>
                <a:spcPts val="400"/>
              </a:spcBef>
              <a:buNone/>
            </a:pPr>
            <a:r>
              <a:rPr lang="en-US" sz="1700" dirty="0">
                <a:solidFill>
                  <a:srgbClr val="3A3A3A"/>
                </a:solidFill>
              </a:rPr>
              <a:t>· The computer might be replaced by a TC-2A (9.2.1)</a:t>
            </a:r>
          </a:p>
          <a:p>
            <a:pPr>
              <a:spcBef>
                <a:spcPts val="400"/>
              </a:spcBef>
              <a:buNone/>
            </a:pPr>
            <a:r>
              <a:rPr lang="en-US" sz="1700" dirty="0">
                <a:solidFill>
                  <a:srgbClr val="3A3A3A"/>
                </a:solidFill>
              </a:rPr>
              <a:t>· FLR display symbology (9.3.2)</a:t>
            </a:r>
          </a:p>
          <a:p>
            <a:pPr>
              <a:spcBef>
                <a:spcPts val="400"/>
              </a:spcBef>
              <a:buNone/>
            </a:pPr>
            <a:r>
              <a:rPr lang="en-US" sz="1700" dirty="0">
                <a:solidFill>
                  <a:srgbClr val="3A3A3A"/>
                </a:solidFill>
              </a:rPr>
              <a:t>· Assignment of devices to channels (9.3.1)</a:t>
            </a:r>
          </a:p>
          <a:p>
            <a:pPr>
              <a:spcBef>
                <a:spcPts val="400"/>
              </a:spcBef>
              <a:buNone/>
            </a:pPr>
            <a:r>
              <a:rPr lang="en-US" sz="1700" dirty="0">
                <a:solidFill>
                  <a:srgbClr val="3A3A3A"/>
                </a:solidFill>
              </a:rPr>
              <a:t>· New weapons and HUD functions may be added (9.4)</a:t>
            </a:r>
          </a:p>
        </p:txBody>
      </p:sp>
      <p:sp>
        <p:nvSpPr>
          <p:cNvPr id="506" name="ColFoot"/>
          <p:cNvSpPr txBox="1"/>
          <p:nvPr/>
        </p:nvSpPr>
        <p:spPr>
          <a:xfrm>
            <a:off x="46482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should accommodate these.</a:t>
            </a:r>
          </a:p>
        </p:txBody>
      </p:sp>
      <p:sp>
        <p:nvSpPr>
          <p:cNvPr id="508" name="Takeaway"/>
          <p:cNvSpPr txBox="1"/>
          <p:nvPr/>
        </p:nvSpPr>
        <p:spPr>
          <a:xfrm>
            <a:off x="279400" y="5760720"/>
            <a:ext cx="8559800" cy="530352"/>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defRPr b="0"/>
            </a:pPr>
            <a:r>
              <a:rPr lang="en-US" b="0"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548640"/>
          </a:xfrm>
          <a:prstGeom prst="rect">
            <a:avLst/>
          </a:prstGeom>
          <a:noFill/>
          <a:ln>
            <a:noFill/>
          </a:ln>
        </p:spPr>
        <p:txBody>
          <a:bodyPr wrap="square" lIns="0" tIns="0" rIns="0" bIns="0" anchor="t">
            <a:normAutofit fontScale="92500"/>
          </a:bodyPr>
          <a:lstStyle/>
          <a:p>
            <a:pPr algn="ctr">
              <a:buNone/>
            </a:pPr>
            <a:r>
              <a:rPr lang="en-US" sz="2200" dirty="0">
                <a:solidFill>
                  <a:srgbClr val="555960"/>
                </a:solidFill>
              </a:rPr>
              <a:t>Why do different engineering questions require different representations?</a:t>
            </a:r>
          </a:p>
        </p:txBody>
      </p:sp>
      <p:sp>
        <p:nvSpPr>
          <p:cNvPr id="1801" name="StripFrom"/>
          <p:cNvSpPr txBox="1"/>
          <p:nvPr/>
        </p:nvSpPr>
        <p:spPr>
          <a:xfrm>
            <a:off x="2671555" y="4343400"/>
            <a:ext cx="1600200" cy="330200"/>
          </a:xfrm>
          <a:prstGeom prst="rect">
            <a:avLst/>
          </a:prstGeom>
          <a:noFill/>
          <a:ln>
            <a:noFill/>
          </a:ln>
        </p:spPr>
        <p:txBody>
          <a:bodyPr lIns="0" tIns="0" rIns="0" bIns="0" anchor="ctr">
            <a:noAutofit/>
          </a:bodyPr>
          <a:lstStyle/>
          <a:p>
            <a:pPr algn="r">
              <a:buNone/>
            </a:pPr>
            <a:r>
              <a:rPr lang="en-US" sz="1700" dirty="0">
                <a:solidFill>
                  <a:srgbClr val="7A7A7A"/>
                </a:solidFill>
              </a:rPr>
              <a:t>A-7E case study</a:t>
            </a:r>
          </a:p>
        </p:txBody>
      </p:sp>
      <p:sp>
        <p:nvSpPr>
          <p:cNvPr id="1803" name="StripTo"/>
          <p:cNvSpPr txBox="1"/>
          <p:nvPr/>
        </p:nvSpPr>
        <p:spPr>
          <a:xfrm>
            <a:off x="5011007" y="4318000"/>
            <a:ext cx="3474720" cy="381000"/>
          </a:xfrm>
          <a:prstGeom prst="rect">
            <a:avLst/>
          </a:prstGeom>
          <a:noFill/>
          <a:ln>
            <a:noFill/>
          </a:ln>
        </p:spPr>
        <p:txBody>
          <a:bodyPr lIns="0" tIns="0" rIns="0" bIns="0" anchor="ctr">
            <a:noAutofit/>
          </a:bodyPr>
          <a:lstStyle/>
          <a:p>
            <a:pPr>
              <a:buNone/>
            </a:pPr>
            <a:r>
              <a:rPr lang="en-US" sz="18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3807"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15955"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defRPr b="0"/>
            </a:pPr>
            <a:r>
              <a:rPr lang="en-US" b="0"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A</a:t>
            </a:r>
          </a:p>
          <a:p>
            <a:pPr algn="ctr">
              <a:spcBef>
                <a:spcPts val="400"/>
              </a:spcBef>
              <a:buNone/>
            </a:pPr>
            <a:r>
              <a:rPr lang="en-US" sz="1800" dirty="0">
                <a:solidFill>
                  <a:srgbClr val="3A3A3A"/>
                </a:solidFill>
              </a:rPr>
              <a:t>keeps what question A needs</a:t>
            </a:r>
          </a:p>
        </p:txBody>
      </p:sp>
      <p:sp>
        <p:nvSpPr>
          <p:cNvPr id="806" name="View"/>
          <p:cNvSpPr txBox="1"/>
          <p:nvPr/>
        </p:nvSpPr>
        <p:spPr>
          <a:xfrm>
            <a:off x="31877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B</a:t>
            </a:r>
          </a:p>
          <a:p>
            <a:pPr algn="ctr">
              <a:spcBef>
                <a:spcPts val="400"/>
              </a:spcBef>
              <a:buNone/>
            </a:pPr>
            <a:r>
              <a:rPr lang="en-US" sz="1800" dirty="0">
                <a:solidFill>
                  <a:srgbClr val="3A3A3A"/>
                </a:solidFill>
              </a:rPr>
              <a:t>keeps what question B needs</a:t>
            </a:r>
          </a:p>
        </p:txBody>
      </p:sp>
      <p:sp>
        <p:nvSpPr>
          <p:cNvPr id="807" name="View"/>
          <p:cNvSpPr txBox="1"/>
          <p:nvPr/>
        </p:nvSpPr>
        <p:spPr>
          <a:xfrm>
            <a:off x="60960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C</a:t>
            </a:r>
          </a:p>
          <a:p>
            <a:pPr algn="ctr">
              <a:spcBef>
                <a:spcPts val="400"/>
              </a:spcBef>
              <a:buNone/>
            </a:pPr>
            <a:r>
              <a:rPr lang="en-US" sz="1800" dirty="0">
                <a:solidFill>
                  <a:srgbClr val="3A3A3A"/>
                </a:solidFill>
              </a:rPr>
              <a:t>keeps what question C needs</a:t>
            </a:r>
          </a:p>
        </p:txBody>
      </p:sp>
      <p:sp>
        <p:nvSpPr>
          <p:cNvPr id="808" name="Statement"/>
          <p:cNvSpPr txBox="1"/>
          <p:nvPr/>
        </p:nvSpPr>
        <p:spPr>
          <a:xfrm>
            <a:off x="279400" y="4251960"/>
            <a:ext cx="8559800" cy="914400"/>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A useful model preserves the distinctions its question needs</a:t>
            </a:r>
          </a:p>
          <a:p>
            <a:pPr algn="ctr">
              <a:buNone/>
            </a:pPr>
            <a:r>
              <a:rPr lang="en-US" sz="2200" b="1" dirty="0">
                <a:solidFill>
                  <a:srgbClr val="FFFFFF"/>
                </a:solidFill>
              </a:rPr>
              <a:t>and leaves the rest behind.</a:t>
            </a:r>
          </a:p>
        </p:txBody>
      </p:sp>
      <p:sp>
        <p:nvSpPr>
          <p:cNvPr id="809" name="Sub"/>
          <p:cNvSpPr txBox="1"/>
          <p:nvPr/>
        </p:nvSpPr>
        <p:spPr>
          <a:xfrm>
            <a:off x="279400" y="5486400"/>
            <a:ext cx="8559800" cy="457200"/>
          </a:xfrm>
          <a:prstGeom prst="rect">
            <a:avLst/>
          </a:prstGeom>
          <a:noFill/>
          <a:ln>
            <a:noFill/>
          </a:ln>
        </p:spPr>
        <p:txBody>
          <a:bodyPr lIns="114300" tIns="68580" rIns="114300" bIns="68580" anchor="t">
            <a:noAutofit/>
          </a:bodyPr>
          <a:lstStyle/>
          <a:p>
            <a:pPr algn="ctr">
              <a:buNone/>
            </a:pPr>
            <a:r>
              <a:rPr lang="en-US" sz="2000" b="1" dirty="0">
                <a:solidFill>
                  <a:srgbClr val="1A1A1A"/>
                </a:solidFill>
              </a:rPr>
              <a:t>Same system. Different question. Different useful representation.</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defRPr b="0"/>
            </a:pPr>
            <a:r>
              <a:rPr lang="en-US" b="0"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23444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ENGINEERING QUESTION</a:t>
            </a:r>
          </a:p>
        </p:txBody>
      </p:sp>
      <p:cxnSp>
        <p:nvCxnSpPr>
          <p:cNvPr id="902" name="Flow"/>
          <p:cNvCxnSpPr/>
          <p:nvPr/>
        </p:nvCxnSpPr>
        <p:spPr>
          <a:xfrm>
            <a:off x="2184400" y="1965960"/>
            <a:ext cx="0" cy="228600"/>
          </a:xfrm>
          <a:prstGeom prst="line">
            <a:avLst/>
          </a:prstGeom>
          <a:ln w="19050">
            <a:solidFill>
              <a:srgbClr val="8E6F3E"/>
            </a:solidFill>
            <a:tailEnd type="triangle"/>
          </a:ln>
        </p:spPr>
      </p:cxnSp>
      <p:sp>
        <p:nvSpPr>
          <p:cNvPr id="903" name="Step"/>
          <p:cNvSpPr txBox="1"/>
          <p:nvPr/>
        </p:nvSpPr>
        <p:spPr>
          <a:xfrm>
            <a:off x="279400" y="219456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CHOOSE A REPRESENTATION</a:t>
            </a:r>
          </a:p>
        </p:txBody>
      </p:sp>
      <p:cxnSp>
        <p:nvCxnSpPr>
          <p:cNvPr id="904" name="Flow"/>
          <p:cNvCxnSpPr/>
          <p:nvPr/>
        </p:nvCxnSpPr>
        <p:spPr>
          <a:xfrm>
            <a:off x="2184400" y="2926080"/>
            <a:ext cx="0" cy="228600"/>
          </a:xfrm>
          <a:prstGeom prst="line">
            <a:avLst/>
          </a:prstGeom>
          <a:ln w="19050">
            <a:solidFill>
              <a:srgbClr val="8E6F3E"/>
            </a:solidFill>
            <a:tailEnd type="triangle"/>
          </a:ln>
        </p:spPr>
      </p:cxnSp>
      <p:sp>
        <p:nvSpPr>
          <p:cNvPr id="905" name="Step"/>
          <p:cNvSpPr txBox="1"/>
          <p:nvPr/>
        </p:nvSpPr>
        <p:spPr>
          <a:xfrm>
            <a:off x="279400" y="315468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STATE A PROPERTY</a:t>
            </a:r>
          </a:p>
        </p:txBody>
      </p:sp>
      <p:cxnSp>
        <p:nvCxnSpPr>
          <p:cNvPr id="906" name="Flow"/>
          <p:cNvCxnSpPr/>
          <p:nvPr/>
        </p:nvCxnSpPr>
        <p:spPr>
          <a:xfrm>
            <a:off x="2184400" y="3886200"/>
            <a:ext cx="0" cy="228600"/>
          </a:xfrm>
          <a:prstGeom prst="line">
            <a:avLst/>
          </a:prstGeom>
          <a:ln w="19050">
            <a:solidFill>
              <a:srgbClr val="8E6F3E"/>
            </a:solidFill>
            <a:tailEnd type="triangle"/>
          </a:ln>
        </p:spPr>
      </p:cxnSp>
      <p:sp>
        <p:nvSpPr>
          <p:cNvPr id="907" name="Step"/>
          <p:cNvSpPr txBox="1"/>
          <p:nvPr/>
        </p:nvSpPr>
        <p:spPr>
          <a:xfrm>
            <a:off x="279400" y="411480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ANALYZE OR CHECK IT</a:t>
            </a:r>
          </a:p>
        </p:txBody>
      </p:sp>
      <p:sp>
        <p:nvSpPr>
          <p:cNvPr id="908" name="Term"/>
          <p:cNvSpPr txBox="1"/>
          <p:nvPr/>
        </p:nvSpPr>
        <p:spPr>
          <a:xfrm>
            <a:off x="4648200" y="123444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Property</a:t>
            </a:r>
          </a:p>
          <a:p>
            <a:pPr>
              <a:spcBef>
                <a:spcPts val="300"/>
              </a:spcBef>
              <a:buNone/>
            </a:pPr>
            <a:r>
              <a:rPr lang="en-US" sz="1800" dirty="0">
                <a:solidFill>
                  <a:srgbClr val="3A3A3A"/>
                </a:solidFill>
              </a:rPr>
              <a:t>A claim we can express over the model.</a:t>
            </a:r>
          </a:p>
        </p:txBody>
      </p:sp>
      <p:sp>
        <p:nvSpPr>
          <p:cNvPr id="909" name="Term"/>
          <p:cNvSpPr txBox="1"/>
          <p:nvPr/>
        </p:nvSpPr>
        <p:spPr>
          <a:xfrm>
            <a:off x="4648200" y="251460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Invariant</a:t>
            </a:r>
          </a:p>
          <a:p>
            <a:pPr>
              <a:spcBef>
                <a:spcPts val="300"/>
              </a:spcBef>
              <a:buNone/>
            </a:pPr>
            <a:r>
              <a:rPr lang="en-US" sz="1800" dirty="0">
                <a:solidFill>
                  <a:srgbClr val="3A3A3A"/>
                </a:solidFill>
              </a:rPr>
              <a:t>A property required to hold over its declared domain.</a:t>
            </a:r>
          </a:p>
        </p:txBody>
      </p:sp>
      <p:sp>
        <p:nvSpPr>
          <p:cNvPr id="910" name="Term"/>
          <p:cNvSpPr txBox="1"/>
          <p:nvPr/>
        </p:nvSpPr>
        <p:spPr>
          <a:xfrm>
            <a:off x="4648200" y="379476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Check or analysis</a:t>
            </a:r>
          </a:p>
          <a:p>
            <a:pPr>
              <a:spcBef>
                <a:spcPts val="300"/>
              </a:spcBef>
              <a:buNone/>
            </a:pPr>
            <a:r>
              <a:rPr lang="en-US" sz="1800" dirty="0">
                <a:solidFill>
                  <a:srgbClr val="3A3A3A"/>
                </a:solidFill>
              </a:rPr>
              <a:t>Evidence about whether the property holds.</a:t>
            </a:r>
          </a:p>
        </p:txBody>
      </p:sp>
      <p:sp>
        <p:nvSpPr>
          <p:cNvPr id="912" name="Sub"/>
          <p:cNvSpPr txBox="1"/>
          <p:nvPr/>
        </p:nvSpPr>
        <p:spPr>
          <a:xfrm>
            <a:off x="279400" y="5394960"/>
            <a:ext cx="8559800" cy="548640"/>
          </a:xfrm>
          <a:prstGeom prst="rect">
            <a:avLst/>
          </a:prstGeom>
          <a:noFill/>
          <a:ln>
            <a:noFill/>
          </a:ln>
        </p:spPr>
        <p:txBody>
          <a:bodyPr lIns="114300" tIns="68580" rIns="114300" bIns="68580" anchor="t">
            <a:noAutofit/>
          </a:bodyPr>
          <a:lstStyle/>
          <a:p>
            <a:pPr algn="ctr">
              <a:buNone/>
            </a:pPr>
            <a:r>
              <a:rPr lang="en-US" sz="1900" dirty="0">
                <a:solidFill>
                  <a:srgbClr val="3A3A3A"/>
                </a:solidFill>
              </a:rPr>
              <a:t>Hold the system fixed, change the question, and the useful representation changes with it.</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defRPr b="0"/>
            </a:pPr>
            <a:r>
              <a:rPr lang="en-US" b="0"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490472"/>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LEARNING</a:t>
            </a:r>
          </a:p>
        </p:txBody>
      </p:sp>
      <p:sp>
        <p:nvSpPr>
          <p:cNvPr id="1003" name="St"/>
          <p:cNvSpPr txBox="1"/>
          <p:nvPr/>
        </p:nvSpPr>
        <p:spPr>
          <a:xfrm>
            <a:off x="1515992" y="2524569"/>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dirty="0">
                <a:solidFill>
                  <a:srgbClr val="3A3A3A"/>
                </a:solidFill>
              </a:rPr>
              <a:t>MONITORING</a:t>
            </a:r>
          </a:p>
        </p:txBody>
      </p:sp>
      <p:sp>
        <p:nvSpPr>
          <p:cNvPr id="1004" name="St"/>
          <p:cNvSpPr txBox="1"/>
          <p:nvPr/>
        </p:nvSpPr>
        <p:spPr>
          <a:xfrm>
            <a:off x="3344792" y="2524569"/>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SUSPECT</a:t>
            </a:r>
          </a:p>
        </p:txBody>
      </p:sp>
      <p:sp>
        <p:nvSpPr>
          <p:cNvPr id="1005" name="St"/>
          <p:cNvSpPr txBox="1"/>
          <p:nvPr/>
        </p:nvSpPr>
        <p:spPr>
          <a:xfrm>
            <a:off x="3344792" y="4609401"/>
            <a:ext cx="1524000" cy="658368"/>
          </a:xfrm>
          <a:prstGeom prst="rect">
            <a:avLst/>
          </a:prstGeom>
          <a:solidFill>
            <a:srgbClr val="8E6F3E"/>
          </a:solidFill>
          <a:ln>
            <a:noFill/>
          </a:ln>
        </p:spPr>
        <p:txBody>
          <a:bodyPr lIns="114300" tIns="68580" rIns="114300" bIns="68580" anchor="ctr">
            <a:noAutofit/>
          </a:bodyPr>
          <a:lstStyle/>
          <a:p>
            <a:pPr algn="ctr">
              <a:buNone/>
            </a:pPr>
            <a:r>
              <a:rPr lang="en-US" sz="1500" b="1" dirty="0">
                <a:solidFill>
                  <a:srgbClr val="FFFFFF"/>
                </a:solidFill>
              </a:rPr>
              <a:t>REBASELINING</a:t>
            </a:r>
          </a:p>
        </p:txBody>
      </p:sp>
      <p:sp>
        <p:nvSpPr>
          <p:cNvPr id="1018" name="Panel"/>
          <p:cNvSpPr txBox="1"/>
          <p:nvPr/>
        </p:nvSpPr>
        <p:spPr>
          <a:xfrm>
            <a:off x="5740400" y="1270000"/>
            <a:ext cx="3098800" cy="438912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may happen next?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allowable states</a:t>
            </a:r>
          </a:p>
          <a:p>
            <a:pPr>
              <a:spcBef>
                <a:spcPts val="150"/>
              </a:spcBef>
              <a:buNone/>
            </a:pPr>
            <a:r>
              <a:rPr lang="en-US" sz="1700" dirty="0">
                <a:solidFill>
                  <a:srgbClr val="3A3A3A"/>
                </a:solidFill>
              </a:rPr>
              <a:t>· permitted transitions</a:t>
            </a:r>
          </a:p>
          <a:p>
            <a:pPr>
              <a:spcBef>
                <a:spcPts val="150"/>
              </a:spcBef>
              <a:buNone/>
            </a:pPr>
            <a:r>
              <a:rPr lang="en-US" sz="1700" dirty="0">
                <a:solidFill>
                  <a:srgbClr val="3A3A3A"/>
                </a:solidFill>
              </a:rPr>
              <a:t>· forbidden transitions</a:t>
            </a:r>
          </a:p>
          <a:p>
            <a:pPr>
              <a:spcBef>
                <a:spcPts val="150"/>
              </a:spcBef>
              <a:buNone/>
            </a:pPr>
            <a:r>
              <a:rPr lang="en-US" sz="1700" dirty="0">
                <a:solidFill>
                  <a:srgbClr val="3A3A3A"/>
                </a:solidFill>
              </a:rPr>
              <a:t>· conditions under which they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An advisory may be issued only in MONITORING or SUSPECT.</a:t>
            </a:r>
          </a:p>
        </p:txBody>
      </p:sp>
      <p:cxnSp>
        <p:nvCxnSpPr>
          <p:cNvPr id="1102" name="Flow"/>
          <p:cNvCxnSpPr>
            <a:cxnSpLocks/>
          </p:cNvCxnSpPr>
          <p:nvPr/>
        </p:nvCxnSpPr>
        <p:spPr>
          <a:xfrm>
            <a:off x="3039992" y="2725737"/>
            <a:ext cx="304800" cy="0"/>
          </a:xfrm>
          <a:prstGeom prst="line">
            <a:avLst/>
          </a:prstGeom>
          <a:ln w="19050">
            <a:solidFill>
              <a:srgbClr val="8E6F3E"/>
            </a:solidFill>
            <a:tailEnd type="triangle"/>
          </a:ln>
        </p:spPr>
      </p:cxnSp>
      <p:cxnSp>
        <p:nvCxnSpPr>
          <p:cNvPr id="1120" name="Flow"/>
          <p:cNvCxnSpPr>
            <a:cxnSpLocks/>
          </p:cNvCxnSpPr>
          <p:nvPr/>
        </p:nvCxnSpPr>
        <p:spPr>
          <a:xfrm flipH="1">
            <a:off x="3039992" y="3027489"/>
            <a:ext cx="304800" cy="0"/>
          </a:xfrm>
          <a:prstGeom prst="line">
            <a:avLst/>
          </a:prstGeom>
          <a:ln w="19050">
            <a:solidFill>
              <a:srgbClr val="8E6F3E"/>
            </a:solidFill>
            <a:tailEnd type="triangle"/>
          </a:ln>
        </p:spPr>
      </p:cxnSp>
      <p:sp>
        <p:nvSpPr>
          <p:cNvPr id="1103" name="Lb"/>
          <p:cNvSpPr txBox="1"/>
          <p:nvPr/>
        </p:nvSpPr>
        <p:spPr>
          <a:xfrm>
            <a:off x="205207" y="2364232"/>
            <a:ext cx="874981" cy="391160"/>
          </a:xfrm>
          <a:prstGeom prst="rect">
            <a:avLst/>
          </a:prstGeom>
          <a:noFill/>
          <a:ln>
            <a:noFill/>
          </a:ln>
        </p:spPr>
        <p:txBody>
          <a:bodyPr lIns="0" tIns="0" rIns="0" bIns="0" anchor="ctr">
            <a:noAutofit/>
          </a:bodyPr>
          <a:lstStyle/>
          <a:p>
            <a:pPr algn="ctr">
              <a:buNone/>
            </a:pPr>
            <a:r>
              <a:rPr lang="en-US" sz="1200" dirty="0">
                <a:solidFill>
                  <a:srgbClr val="555960"/>
                </a:solidFill>
              </a:rPr>
              <a:t>baseline established</a:t>
            </a:r>
          </a:p>
        </p:txBody>
      </p:sp>
      <p:sp>
        <p:nvSpPr>
          <p:cNvPr id="1121" name="Lb"/>
          <p:cNvSpPr txBox="1"/>
          <p:nvPr/>
        </p:nvSpPr>
        <p:spPr>
          <a:xfrm>
            <a:off x="2672650" y="3205421"/>
            <a:ext cx="977358" cy="502863"/>
          </a:xfrm>
          <a:prstGeom prst="rect">
            <a:avLst/>
          </a:prstGeom>
          <a:noFill/>
          <a:ln>
            <a:noFill/>
          </a:ln>
        </p:spPr>
        <p:txBody>
          <a:bodyPr lIns="0" tIns="0" rIns="0" bIns="0" anchor="ctr">
            <a:noAutofit/>
          </a:bodyPr>
          <a:lstStyle/>
          <a:p>
            <a:pPr algn="ctr">
              <a:buNone/>
            </a:pPr>
            <a:r>
              <a:rPr lang="en-US" sz="1200" dirty="0">
                <a:solidFill>
                  <a:srgbClr val="555960"/>
                </a:solidFill>
              </a:rPr>
              <a:t>pattern returns to normal</a:t>
            </a:r>
          </a:p>
        </p:txBody>
      </p:sp>
      <p:sp>
        <p:nvSpPr>
          <p:cNvPr id="1104" name="Lb"/>
          <p:cNvSpPr txBox="1"/>
          <p:nvPr/>
        </p:nvSpPr>
        <p:spPr>
          <a:xfrm>
            <a:off x="2333996" y="2148377"/>
            <a:ext cx="1742190" cy="343172"/>
          </a:xfrm>
          <a:prstGeom prst="rect">
            <a:avLst/>
          </a:prstGeom>
          <a:noFill/>
          <a:ln>
            <a:noFill/>
          </a:ln>
        </p:spPr>
        <p:txBody>
          <a:bodyPr lIns="0" tIns="0" rIns="0" bIns="0" anchor="ctr">
            <a:noAutofit/>
          </a:bodyPr>
          <a:lstStyle/>
          <a:p>
            <a:pPr algn="ctr">
              <a:buNone/>
            </a:pPr>
            <a:r>
              <a:rPr lang="en-US" sz="1200" dirty="0">
                <a:solidFill>
                  <a:srgbClr val="555960"/>
                </a:solidFill>
              </a:rPr>
              <a:t>meaningful </a:t>
            </a:r>
          </a:p>
          <a:p>
            <a:pPr algn="ctr">
              <a:buNone/>
            </a:pPr>
            <a:r>
              <a:rPr lang="en-US" sz="1200" dirty="0">
                <a:solidFill>
                  <a:srgbClr val="555960"/>
                </a:solidFill>
              </a:rPr>
              <a:t>departure detected</a:t>
            </a:r>
          </a:p>
        </p:txBody>
      </p:sp>
      <p:cxnSp>
        <p:nvCxnSpPr>
          <p:cNvPr id="1105" name="Flow"/>
          <p:cNvCxnSpPr>
            <a:cxnSpLocks/>
          </p:cNvCxnSpPr>
          <p:nvPr/>
        </p:nvCxnSpPr>
        <p:spPr>
          <a:xfrm>
            <a:off x="4106792" y="3256089"/>
            <a:ext cx="0" cy="1353312"/>
          </a:xfrm>
          <a:prstGeom prst="line">
            <a:avLst/>
          </a:prstGeom>
          <a:ln w="19050">
            <a:solidFill>
              <a:srgbClr val="8E6F3E"/>
            </a:solidFill>
            <a:tailEnd type="triangle"/>
          </a:ln>
        </p:spPr>
      </p:cxnSp>
      <p:sp>
        <p:nvSpPr>
          <p:cNvPr id="1106" name="Lb"/>
          <p:cNvSpPr txBox="1"/>
          <p:nvPr/>
        </p:nvSpPr>
        <p:spPr>
          <a:xfrm>
            <a:off x="3271506" y="3894099"/>
            <a:ext cx="757003" cy="502920"/>
          </a:xfrm>
          <a:prstGeom prst="rect">
            <a:avLst/>
          </a:prstGeom>
          <a:noFill/>
          <a:ln>
            <a:noFill/>
          </a:ln>
        </p:spPr>
        <p:txBody>
          <a:bodyPr lIns="0" tIns="0" rIns="0" bIns="0" anchor="ctr">
            <a:noAutofit/>
          </a:bodyPr>
          <a:lstStyle/>
          <a:p>
            <a:pPr algn="r">
              <a:buNone/>
            </a:pPr>
            <a:r>
              <a:rPr lang="en-US" sz="1200" dirty="0">
                <a:solidFill>
                  <a:srgbClr val="555960"/>
                </a:solidFill>
              </a:rPr>
              <a:t>change appears persistent</a:t>
            </a:r>
          </a:p>
        </p:txBody>
      </p:sp>
      <p:cxnSp>
        <p:nvCxnSpPr>
          <p:cNvPr id="1107" name="Flow"/>
          <p:cNvCxnSpPr>
            <a:cxnSpLocks/>
          </p:cNvCxnSpPr>
          <p:nvPr/>
        </p:nvCxnSpPr>
        <p:spPr>
          <a:xfrm>
            <a:off x="4106792" y="5267769"/>
            <a:ext cx="0" cy="365760"/>
          </a:xfrm>
          <a:prstGeom prst="line">
            <a:avLst/>
          </a:prstGeom>
          <a:ln w="19050">
            <a:solidFill>
              <a:srgbClr val="8E6F3E"/>
            </a:solidFill>
          </a:ln>
        </p:spPr>
      </p:cxnSp>
      <p:cxnSp>
        <p:nvCxnSpPr>
          <p:cNvPr id="1108" name="Flow"/>
          <p:cNvCxnSpPr>
            <a:cxnSpLocks/>
          </p:cNvCxnSpPr>
          <p:nvPr/>
        </p:nvCxnSpPr>
        <p:spPr>
          <a:xfrm flipH="1">
            <a:off x="2277992" y="5633529"/>
            <a:ext cx="1828800" cy="0"/>
          </a:xfrm>
          <a:prstGeom prst="line">
            <a:avLst/>
          </a:prstGeom>
          <a:ln w="19050">
            <a:solidFill>
              <a:srgbClr val="8E6F3E"/>
            </a:solidFill>
          </a:ln>
        </p:spPr>
      </p:cxnSp>
      <p:cxnSp>
        <p:nvCxnSpPr>
          <p:cNvPr id="1109" name="Flow"/>
          <p:cNvCxnSpPr>
            <a:cxnSpLocks/>
          </p:cNvCxnSpPr>
          <p:nvPr/>
        </p:nvCxnSpPr>
        <p:spPr>
          <a:xfrm flipV="1">
            <a:off x="2277992" y="3182937"/>
            <a:ext cx="0" cy="2450592"/>
          </a:xfrm>
          <a:prstGeom prst="line">
            <a:avLst/>
          </a:prstGeom>
          <a:ln w="19050">
            <a:solidFill>
              <a:srgbClr val="8E6F3E"/>
            </a:solidFill>
            <a:tailEnd type="triangle"/>
          </a:ln>
        </p:spPr>
      </p:cxnSp>
      <p:sp>
        <p:nvSpPr>
          <p:cNvPr id="1110" name="Lb"/>
          <p:cNvSpPr txBox="1"/>
          <p:nvPr/>
        </p:nvSpPr>
        <p:spPr>
          <a:xfrm>
            <a:off x="2404992" y="5697537"/>
            <a:ext cx="2032000" cy="254000"/>
          </a:xfrm>
          <a:prstGeom prst="rect">
            <a:avLst/>
          </a:prstGeom>
          <a:noFill/>
          <a:ln>
            <a:noFill/>
          </a:ln>
        </p:spPr>
        <p:txBody>
          <a:bodyPr lIns="0" tIns="0" rIns="0" bIns="0" anchor="ctr">
            <a:noAutofit/>
          </a:bodyPr>
          <a:lstStyle/>
          <a:p>
            <a:pPr algn="l">
              <a:buNone/>
            </a:pPr>
            <a:r>
              <a:rPr lang="en-US" sz="12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cxnSp>
        <p:nvCxnSpPr>
          <p:cNvPr id="7" name="Elbow Connector 6">
            <a:extLst>
              <a:ext uri="{FF2B5EF4-FFF2-40B4-BE49-F238E27FC236}">
                <a16:creationId xmlns:a16="http://schemas.microsoft.com/office/drawing/2014/main" id="{EFE52EF8-AAD5-C64F-F173-00BC6D39E3B8}"/>
              </a:ext>
            </a:extLst>
          </p:cNvPr>
          <p:cNvCxnSpPr>
            <a:cxnSpLocks/>
            <a:stCxn id="1002" idx="2"/>
            <a:endCxn id="1003" idx="1"/>
          </p:cNvCxnSpPr>
          <p:nvPr/>
        </p:nvCxnSpPr>
        <p:spPr>
          <a:xfrm rot="16200000" flipH="1">
            <a:off x="926240" y="2264000"/>
            <a:ext cx="704913" cy="474592"/>
          </a:xfrm>
          <a:prstGeom prst="bentConnector2">
            <a:avLst/>
          </a:prstGeom>
          <a:ln w="19050">
            <a:solidFill>
              <a:srgbClr val="8E6F3E"/>
            </a:solidFill>
            <a:tailEnd type="triangle"/>
          </a:ln>
        </p:spPr>
      </p:cxnSp>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defRPr b="0"/>
            </a:pPr>
            <a:r>
              <a:rPr lang="en-US" b="0"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1673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Record the night's observations</a:t>
            </a:r>
          </a:p>
        </p:txBody>
      </p:sp>
      <p:cxnSp>
        <p:nvCxnSpPr>
          <p:cNvPr id="1203" name="Flow"/>
          <p:cNvCxnSpPr/>
          <p:nvPr/>
        </p:nvCxnSpPr>
        <p:spPr>
          <a:xfrm>
            <a:off x="2020824" y="1975104"/>
            <a:ext cx="0" cy="210312"/>
          </a:xfrm>
          <a:prstGeom prst="line">
            <a:avLst/>
          </a:prstGeom>
          <a:ln w="19050">
            <a:solidFill>
              <a:srgbClr val="8E6F3E"/>
            </a:solidFill>
            <a:tailEnd type="triangle"/>
          </a:ln>
        </p:spPr>
      </p:cxnSp>
      <p:sp>
        <p:nvSpPr>
          <p:cNvPr id="1204" name="Act"/>
          <p:cNvSpPr txBox="1"/>
          <p:nvPr/>
        </p:nvSpPr>
        <p:spPr>
          <a:xfrm>
            <a:off x="279400" y="218541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Classify the night</a:t>
            </a:r>
          </a:p>
        </p:txBody>
      </p:sp>
      <p:cxnSp>
        <p:nvCxnSpPr>
          <p:cNvPr id="1205" name="Flow"/>
          <p:cNvCxnSpPr/>
          <p:nvPr/>
        </p:nvCxnSpPr>
        <p:spPr>
          <a:xfrm>
            <a:off x="2020824" y="2843784"/>
            <a:ext cx="0" cy="210312"/>
          </a:xfrm>
          <a:prstGeom prst="line">
            <a:avLst/>
          </a:prstGeom>
          <a:ln w="19050">
            <a:solidFill>
              <a:srgbClr val="8E6F3E"/>
            </a:solidFill>
            <a:tailEnd type="triangle"/>
          </a:ln>
        </p:spPr>
      </p:cxnSp>
      <p:sp>
        <p:nvSpPr>
          <p:cNvPr id="1206" name="Act"/>
          <p:cNvSpPr txBox="1"/>
          <p:nvPr/>
        </p:nvSpPr>
        <p:spPr>
          <a:xfrm>
            <a:off x="279400" y="305409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Compare with the baseline</a:t>
            </a:r>
          </a:p>
        </p:txBody>
      </p:sp>
      <p:cxnSp>
        <p:nvCxnSpPr>
          <p:cNvPr id="1207" name="Flow"/>
          <p:cNvCxnSpPr/>
          <p:nvPr/>
        </p:nvCxnSpPr>
        <p:spPr>
          <a:xfrm>
            <a:off x="2020824" y="3712464"/>
            <a:ext cx="0" cy="210312"/>
          </a:xfrm>
          <a:prstGeom prst="line">
            <a:avLst/>
          </a:prstGeom>
          <a:ln w="19050">
            <a:solidFill>
              <a:srgbClr val="8E6F3E"/>
            </a:solidFill>
            <a:tailEnd type="triangle"/>
          </a:ln>
        </p:spPr>
      </p:cxnSp>
      <p:sp>
        <p:nvSpPr>
          <p:cNvPr id="1208" name="Act"/>
          <p:cNvSpPr txBox="1"/>
          <p:nvPr/>
        </p:nvSpPr>
        <p:spPr>
          <a:xfrm>
            <a:off x="279400" y="3922776"/>
            <a:ext cx="3474720" cy="658368"/>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Issue advisory at wake</a:t>
            </a:r>
          </a:p>
        </p:txBody>
      </p:sp>
      <p:cxnSp>
        <p:nvCxnSpPr>
          <p:cNvPr id="1209" name="Flow"/>
          <p:cNvCxnSpPr/>
          <p:nvPr/>
        </p:nvCxnSpPr>
        <p:spPr>
          <a:xfrm>
            <a:off x="2020824" y="3712464"/>
            <a:ext cx="0" cy="210312"/>
          </a:xfrm>
          <a:prstGeom prst="line">
            <a:avLst/>
          </a:prstGeom>
          <a:ln w="19050">
            <a:solidFill>
              <a:srgbClr val="8E6F3E"/>
            </a:solidFill>
            <a:tailEnd type="triangle"/>
          </a:ln>
        </p:spPr>
      </p:cxnSp>
      <p:cxnSp>
        <p:nvCxnSpPr>
          <p:cNvPr id="1210" name="Flow"/>
          <p:cNvCxnSpPr/>
          <p:nvPr/>
        </p:nvCxnSpPr>
        <p:spPr>
          <a:xfrm>
            <a:off x="3758184" y="1645920"/>
            <a:ext cx="558800" cy="0"/>
          </a:xfrm>
          <a:prstGeom prst="line">
            <a:avLst/>
          </a:prstGeom>
          <a:ln w="19050">
            <a:solidFill>
              <a:srgbClr val="9B9B9B"/>
            </a:solidFill>
            <a:prstDash val="dash"/>
          </a:ln>
        </p:spPr>
      </p:cxnSp>
      <p:cxnSp>
        <p:nvCxnSpPr>
          <p:cNvPr id="1211" name="Flow"/>
          <p:cNvCxnSpPr/>
          <p:nvPr/>
        </p:nvCxnSpPr>
        <p:spPr>
          <a:xfrm>
            <a:off x="4315968" y="1645920"/>
            <a:ext cx="0" cy="2606040"/>
          </a:xfrm>
          <a:prstGeom prst="line">
            <a:avLst/>
          </a:prstGeom>
          <a:ln w="19050">
            <a:solidFill>
              <a:srgbClr val="9B9B9B"/>
            </a:solidFill>
            <a:prstDash val="dash"/>
          </a:ln>
        </p:spPr>
      </p:cxnSp>
      <p:cxnSp>
        <p:nvCxnSpPr>
          <p:cNvPr id="1212" name="Flow"/>
          <p:cNvCxnSpPr/>
          <p:nvPr/>
        </p:nvCxnSpPr>
        <p:spPr>
          <a:xfrm flipH="1">
            <a:off x="3758184" y="4251960"/>
            <a:ext cx="558800" cy="0"/>
          </a:xfrm>
          <a:prstGeom prst="line">
            <a:avLst/>
          </a:prstGeom>
          <a:ln w="19050">
            <a:solidFill>
              <a:srgbClr val="9B9B9B"/>
            </a:solidFill>
            <a:prstDash val="dash"/>
          </a:ln>
        </p:spPr>
      </p:cxnSp>
      <p:sp>
        <p:nvSpPr>
          <p:cNvPr id="1213" name="X"/>
          <p:cNvSpPr txBox="1"/>
          <p:nvPr/>
        </p:nvSpPr>
        <p:spPr>
          <a:xfrm>
            <a:off x="3858768" y="4069080"/>
            <a:ext cx="355600" cy="355600"/>
          </a:xfrm>
          <a:prstGeom prst="rect">
            <a:avLst/>
          </a:prstGeom>
          <a:noFill/>
          <a:ln>
            <a:noFill/>
          </a:ln>
        </p:spPr>
        <p:txBody>
          <a:bodyPr lIns="114300" tIns="45720" rIns="114300" bIns="45720" anchor="ctr">
            <a:noAutofit/>
          </a:bodyPr>
          <a:lstStyle/>
          <a:p>
            <a:pPr algn="ctr">
              <a:buNone/>
            </a:pPr>
            <a:r>
              <a:rPr lang="en-US" sz="2000" b="1" dirty="0">
                <a:solidFill>
                  <a:srgbClr val="9B9B9B"/>
                </a:solidFill>
              </a:rPr>
              <a:t>✕</a:t>
            </a:r>
          </a:p>
        </p:txBody>
      </p:sp>
      <p:sp>
        <p:nvSpPr>
          <p:cNvPr id="1214" name="XLb"/>
          <p:cNvSpPr txBox="1"/>
          <p:nvPr/>
        </p:nvSpPr>
        <p:spPr>
          <a:xfrm>
            <a:off x="279400" y="4754880"/>
            <a:ext cx="5207000" cy="330200"/>
          </a:xfrm>
          <a:prstGeom prst="rect">
            <a:avLst/>
          </a:prstGeom>
          <a:noFill/>
          <a:ln>
            <a:noFill/>
          </a:ln>
        </p:spPr>
        <p:txBody>
          <a:bodyPr lIns="0" tIns="45720" rIns="114300" bIns="45720" anchor="t">
            <a:noAutofit/>
          </a:bodyPr>
          <a:lstStyle/>
          <a:p>
            <a:pPr>
              <a:buNone/>
            </a:pPr>
            <a:r>
              <a:rPr lang="en-US" sz="1700" dirty="0">
                <a:solidFill>
                  <a:srgbClr val="555960"/>
                </a:solidFill>
              </a:rPr>
              <a:t>The dashed path must never occur.</a:t>
            </a:r>
          </a:p>
        </p:txBody>
      </p:sp>
      <p:sp>
        <p:nvSpPr>
          <p:cNvPr id="1215" name="Dist"/>
          <p:cNvSpPr txBox="1"/>
          <p:nvPr/>
        </p:nvSpPr>
        <p:spPr>
          <a:xfrm>
            <a:off x="279400" y="5166360"/>
            <a:ext cx="5207000" cy="914400"/>
          </a:xfrm>
          <a:prstGeom prst="rect">
            <a:avLst/>
          </a:prstGeom>
          <a:noFill/>
          <a:ln>
            <a:noFill/>
          </a:ln>
        </p:spPr>
        <p:txBody>
          <a:bodyPr lIns="0" tIns="45720" rIns="114300" bIns="45720" anchor="t">
            <a:noAutofit/>
          </a:bodyPr>
          <a:lstStyle/>
          <a:p>
            <a:pPr>
              <a:buNone/>
            </a:pPr>
            <a:r>
              <a:rPr lang="en-US" sz="1700" dirty="0">
                <a:solidFill>
                  <a:srgbClr val="3A3A3A"/>
                </a:solidFill>
              </a:rPr>
              <a:t>State model: which situations may exist.</a:t>
            </a:r>
          </a:p>
          <a:p>
            <a:pPr>
              <a:spcBef>
                <a:spcPts val="200"/>
              </a:spcBef>
              <a:buNone/>
            </a:pPr>
            <a:r>
              <a:rPr lang="en-US" sz="1700" dirty="0">
                <a:solidFill>
                  <a:srgbClr val="3A3A3A"/>
                </a:solidFill>
              </a:rPr>
              <a:t>Activity view: which orderings are permitted.</a:t>
            </a:r>
          </a:p>
        </p:txBody>
      </p:sp>
      <p:sp>
        <p:nvSpPr>
          <p:cNvPr id="1216"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must happen before what?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ordering</a:t>
            </a:r>
          </a:p>
          <a:p>
            <a:pPr>
              <a:spcBef>
                <a:spcPts val="150"/>
              </a:spcBef>
              <a:buNone/>
            </a:pPr>
            <a:r>
              <a:rPr lang="en-US" sz="1700" dirty="0">
                <a:solidFill>
                  <a:srgbClr val="3A3A3A"/>
                </a:solidFill>
              </a:rPr>
              <a:t>· allowed branches</a:t>
            </a:r>
          </a:p>
          <a:p>
            <a:pPr>
              <a:spcBef>
                <a:spcPts val="150"/>
              </a:spcBef>
              <a:buNone/>
            </a:pPr>
            <a:r>
              <a:rPr lang="en-US" sz="1700" dirty="0">
                <a:solidFill>
                  <a:srgbClr val="3A3A3A"/>
                </a:solidFill>
              </a:rPr>
              <a:t>· required responses to events</a:t>
            </a:r>
          </a:p>
          <a:p>
            <a:pPr>
              <a:spcBef>
                <a:spcPts val="150"/>
              </a:spcBef>
              <a:buNone/>
            </a:pPr>
            <a:r>
              <a:rPr lang="en-US" sz="1700" dirty="0">
                <a:solidFill>
                  <a:srgbClr val="3A3A3A"/>
                </a:solidFill>
              </a:rPr>
              <a:t>· paths that must never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defRPr b="0"/>
            </a:pPr>
            <a:r>
              <a:rPr lang="en-US" b="0"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246120" cy="265176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800" b="1" dirty="0">
                <a:solidFill>
                  <a:srgbClr val="1A1A1A"/>
                </a:solidFill>
                <a:latin typeface="Consolas"/>
              </a:rPr>
              <a:t>WEEKLY SUMMARY</a:t>
            </a:r>
          </a:p>
          <a:p>
            <a:pPr>
              <a:spcBef>
                <a:spcPts val="400"/>
              </a:spcBef>
              <a:buNone/>
            </a:pPr>
            <a:r>
              <a:rPr lang="en-US" sz="1700" dirty="0">
                <a:solidFill>
                  <a:srgbClr val="3A3A3A"/>
                </a:solidFill>
                <a:latin typeface="Consolas"/>
              </a:rPr>
              <a:t>├── start_date</a:t>
            </a:r>
          </a:p>
          <a:p>
            <a:pPr>
              <a:spcBef>
                <a:spcPts val="250"/>
              </a:spcBef>
              <a:buNone/>
            </a:pPr>
            <a:r>
              <a:rPr lang="en-US" sz="1700" dirty="0">
                <a:solidFill>
                  <a:srgbClr val="3A3A3A"/>
                </a:solidFill>
                <a:latin typeface="Consolas"/>
              </a:rPr>
              <a:t>├── end_date</a:t>
            </a:r>
          </a:p>
          <a:p>
            <a:pPr>
              <a:spcBef>
                <a:spcPts val="250"/>
              </a:spcBef>
              <a:buNone/>
            </a:pPr>
            <a:r>
              <a:rPr lang="en-US" sz="1700" dirty="0">
                <a:solidFill>
                  <a:srgbClr val="3A3A3A"/>
                </a:solidFill>
                <a:latin typeface="Consolas"/>
              </a:rPr>
              <a:t>├── nightly_duration[ ]</a:t>
            </a:r>
          </a:p>
          <a:p>
            <a:pPr>
              <a:spcBef>
                <a:spcPts val="250"/>
              </a:spcBef>
              <a:buNone/>
            </a:pPr>
            <a:r>
              <a:rPr lang="en-US" sz="1700" dirty="0">
                <a:solidFill>
                  <a:srgbClr val="3A3A3A"/>
                </a:solidFill>
                <a:latin typeface="Consolas"/>
              </a:rPr>
              <a:t>└── advisory?</a:t>
            </a:r>
          </a:p>
        </p:txBody>
      </p:sp>
      <p:sp>
        <p:nvSpPr>
          <p:cNvPr id="1403" name="Types"/>
          <p:cNvSpPr txBox="1"/>
          <p:nvPr/>
        </p:nvSpPr>
        <p:spPr>
          <a:xfrm>
            <a:off x="3621024" y="1270000"/>
            <a:ext cx="2029968" cy="2651760"/>
          </a:xfrm>
          <a:prstGeom prst="rect">
            <a:avLst/>
          </a:prstGeom>
          <a:noFill/>
          <a:ln>
            <a:noFill/>
          </a:ln>
        </p:spPr>
        <p:txBody>
          <a:bodyPr lIns="0" tIns="45720" rIns="114300" bIns="45720" anchor="t">
            <a:noAutofit/>
          </a:bodyPr>
          <a:lstStyle/>
          <a:p>
            <a:pPr>
              <a:buNone/>
            </a:pPr>
            <a:r>
              <a:rPr lang="en-US" sz="1800" dirty="0"/>
              <a:t> </a:t>
            </a:r>
          </a:p>
          <a:p>
            <a:pPr>
              <a:spcBef>
                <a:spcPts val="400"/>
              </a:spcBef>
              <a:buNone/>
            </a:pPr>
            <a:r>
              <a:rPr lang="en-US" sz="1700" dirty="0">
                <a:solidFill>
                  <a:srgbClr val="555960"/>
                </a:solidFill>
              </a:rPr>
              <a:t>date · required</a:t>
            </a:r>
          </a:p>
          <a:p>
            <a:pPr>
              <a:spcBef>
                <a:spcPts val="250"/>
              </a:spcBef>
              <a:buNone/>
            </a:pPr>
            <a:r>
              <a:rPr lang="en-US" sz="1700" dirty="0">
                <a:solidFill>
                  <a:srgbClr val="555960"/>
                </a:solidFill>
              </a:rPr>
              <a:t>date · required</a:t>
            </a:r>
          </a:p>
          <a:p>
            <a:pPr>
              <a:spcBef>
                <a:spcPts val="250"/>
              </a:spcBef>
              <a:buNone/>
            </a:pPr>
            <a:r>
              <a:rPr lang="en-US" sz="1700" b="1" dirty="0">
                <a:solidFill>
                  <a:srgbClr val="8E6F3E"/>
                </a:solidFill>
              </a:rPr>
              <a:t>exactly 7 entries</a:t>
            </a:r>
          </a:p>
          <a:p>
            <a:pPr>
              <a:spcBef>
                <a:spcPts val="250"/>
              </a:spcBef>
              <a:buNone/>
            </a:pPr>
            <a:r>
              <a:rPr lang="en-US" sz="1700" dirty="0">
                <a:solidFill>
                  <a:srgbClr val="555960"/>
                </a:solidFill>
              </a:rPr>
              <a:t>string · optional</a:t>
            </a:r>
          </a:p>
        </p:txBody>
      </p:sp>
      <p:sp>
        <p:nvSpPr>
          <p:cNvPr id="1404" name="Bound"/>
          <p:cNvSpPr txBox="1"/>
          <p:nvPr/>
        </p:nvSpPr>
        <p:spPr>
          <a:xfrm>
            <a:off x="279400" y="4343400"/>
            <a:ext cx="5054600" cy="822960"/>
          </a:xfrm>
          <a:prstGeom prst="rect">
            <a:avLst/>
          </a:prstGeom>
          <a:noFill/>
          <a:ln>
            <a:noFill/>
          </a:ln>
        </p:spPr>
        <p:txBody>
          <a:bodyPr lIns="0" tIns="45720" rIns="114300" bIns="45720" anchor="t">
            <a:noAutofit/>
          </a:bodyPr>
          <a:lstStyle/>
          <a:p>
            <a:pPr>
              <a:buNone/>
            </a:pPr>
            <a:r>
              <a:rPr lang="en-US" sz="18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information is valid?</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fields</a:t>
            </a:r>
          </a:p>
          <a:p>
            <a:pPr>
              <a:spcBef>
                <a:spcPts val="150"/>
              </a:spcBef>
              <a:buNone/>
            </a:pPr>
            <a:r>
              <a:rPr lang="en-US" sz="1700" dirty="0">
                <a:solidFill>
                  <a:srgbClr val="3A3A3A"/>
                </a:solidFill>
              </a:rPr>
              <a:t>· types</a:t>
            </a:r>
          </a:p>
          <a:p>
            <a:pPr>
              <a:spcBef>
                <a:spcPts val="150"/>
              </a:spcBef>
              <a:buNone/>
            </a:pPr>
            <a:r>
              <a:rPr lang="en-US" sz="1700" dirty="0">
                <a:solidFill>
                  <a:srgbClr val="3A3A3A"/>
                </a:solidFill>
              </a:rPr>
              <a:t>· cardinality</a:t>
            </a:r>
          </a:p>
          <a:p>
            <a:pPr>
              <a:spcBef>
                <a:spcPts val="150"/>
              </a:spcBef>
              <a:buNone/>
            </a:pPr>
            <a:r>
              <a:rPr lang="en-US" sz="1700" dirty="0">
                <a:solidFill>
                  <a:srgbClr val="3A3A3A"/>
                </a:solidFill>
              </a:rPr>
              <a:t>· ranges</a:t>
            </a:r>
          </a:p>
          <a:p>
            <a:pPr>
              <a:spcBef>
                <a:spcPts val="150"/>
              </a:spcBef>
              <a:buNone/>
            </a:pPr>
            <a:r>
              <a:rPr lang="en-US" sz="1700" dirty="0">
                <a:solidFill>
                  <a:srgbClr val="3A3A3A"/>
                </a:solidFill>
              </a:rPr>
              <a:t>· referential relationships</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defRPr b="0"/>
            </a:pPr>
            <a:r>
              <a:rPr lang="en-US" b="0"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700" b="1" spc="60" dirty="0">
                <a:solidFill>
                  <a:srgbClr val="FFFFFF"/>
                </a:solidFill>
              </a:rPr>
              <a:t>SAME SYSTEM</a:t>
            </a:r>
          </a:p>
        </p:txBody>
      </p:sp>
      <p:sp>
        <p:nvSpPr>
          <p:cNvPr id="1503" name="View"/>
          <p:cNvSpPr txBox="1"/>
          <p:nvPr/>
        </p:nvSpPr>
        <p:spPr>
          <a:xfrm>
            <a:off x="2794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STATE</a:t>
            </a:r>
          </a:p>
          <a:p>
            <a:pPr algn="ctr">
              <a:spcBef>
                <a:spcPts val="350"/>
              </a:spcBef>
              <a:buNone/>
            </a:pPr>
            <a:r>
              <a:rPr lang="en-US" sz="1800" dirty="0">
                <a:solidFill>
                  <a:srgbClr val="3A3A3A"/>
                </a:solidFill>
              </a:rPr>
              <a:t>allowable behavior</a:t>
            </a:r>
          </a:p>
        </p:txBody>
      </p:sp>
      <p:sp>
        <p:nvSpPr>
          <p:cNvPr id="1505" name="View"/>
          <p:cNvSpPr txBox="1"/>
          <p:nvPr/>
        </p:nvSpPr>
        <p:spPr>
          <a:xfrm>
            <a:off x="32766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ACTIVITY</a:t>
            </a:r>
          </a:p>
          <a:p>
            <a:pPr algn="ctr">
              <a:spcBef>
                <a:spcPts val="350"/>
              </a:spcBef>
              <a:buNone/>
            </a:pPr>
            <a:r>
              <a:rPr lang="en-US" sz="1800" dirty="0">
                <a:solidFill>
                  <a:srgbClr val="3A3A3A"/>
                </a:solidFill>
              </a:rPr>
              <a:t>permitted ordering</a:t>
            </a:r>
          </a:p>
        </p:txBody>
      </p:sp>
      <p:sp>
        <p:nvSpPr>
          <p:cNvPr id="1509" name="View"/>
          <p:cNvSpPr txBox="1"/>
          <p:nvPr/>
        </p:nvSpPr>
        <p:spPr>
          <a:xfrm>
            <a:off x="62738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SCHEMA</a:t>
            </a:r>
          </a:p>
          <a:p>
            <a:pPr algn="ctr">
              <a:spcBef>
                <a:spcPts val="350"/>
              </a:spcBef>
              <a:buNone/>
            </a:pPr>
            <a:r>
              <a:rPr lang="en-US" sz="1800" dirty="0">
                <a:solidFill>
                  <a:srgbClr val="3A3A3A"/>
                </a:solidFill>
              </a:rPr>
              <a:t>valid information</a:t>
            </a:r>
          </a:p>
        </p:txBody>
      </p:sp>
      <p:sp>
        <p:nvSpPr>
          <p:cNvPr id="1510" name="Shared"/>
          <p:cNvSpPr txBox="1"/>
          <p:nvPr/>
        </p:nvSpPr>
        <p:spPr>
          <a:xfrm>
            <a:off x="279400" y="3794760"/>
            <a:ext cx="8559800" cy="658368"/>
          </a:xfrm>
          <a:prstGeom prst="rect">
            <a:avLst/>
          </a:prstGeom>
          <a:solidFill>
            <a:srgbClr val="DAD4C6"/>
          </a:solidFill>
          <a:ln>
            <a:noFill/>
          </a:ln>
        </p:spPr>
        <p:txBody>
          <a:bodyPr lIns="91440" tIns="45720" rIns="91440" bIns="45720" anchor="ctr">
            <a:noAutofit/>
          </a:bodyPr>
          <a:lstStyle/>
          <a:p>
            <a:pPr algn="ctr">
              <a:buNone/>
            </a:pPr>
            <a:r>
              <a:rPr lang="en-US" sz="1800" b="1" spc="60" dirty="0">
                <a:solidFill>
                  <a:srgbClr val="3A3A3A"/>
                </a:solidFill>
              </a:rPr>
              <a:t>SHARED CONCEPTS   observation · night · advisory</a:t>
            </a:r>
          </a:p>
        </p:txBody>
      </p:sp>
      <p:sp>
        <p:nvSpPr>
          <p:cNvPr id="1512" name="Final"/>
          <p:cNvSpPr txBox="1"/>
          <p:nvPr/>
        </p:nvSpPr>
        <p:spPr>
          <a:xfrm>
            <a:off x="279400" y="4892040"/>
            <a:ext cx="8559800" cy="502920"/>
          </a:xfrm>
          <a:prstGeom prst="rect">
            <a:avLst/>
          </a:prstGeom>
          <a:noFill/>
          <a:ln>
            <a:noFill/>
          </a:ln>
        </p:spPr>
        <p:txBody>
          <a:bodyPr lIns="91440" tIns="45720" rIns="91440" bIns="45720" anchor="t">
            <a:noAutofit/>
          </a:bodyPr>
          <a:lstStyle/>
          <a:p>
            <a:pPr algn="ctr">
              <a:buNone/>
            </a:pPr>
            <a:r>
              <a:rPr lang="en-US" sz="2200" b="1" dirty="0">
                <a:solidFill>
                  <a:srgbClr val="1A1A1A"/>
                </a:solidFill>
              </a:rPr>
              <a:t>Use the view that makes the consequential property expressible.</a:t>
            </a:r>
          </a:p>
        </p:txBody>
      </p:sp>
      <p:sp>
        <p:nvSpPr>
          <p:cNvPr id="1513" name="Sub"/>
          <p:cNvSpPr txBox="1"/>
          <p:nvPr/>
        </p:nvSpPr>
        <p:spPr>
          <a:xfrm>
            <a:off x="279400" y="5577840"/>
            <a:ext cx="8559800" cy="411480"/>
          </a:xfrm>
          <a:prstGeom prst="rect">
            <a:avLst/>
          </a:prstGeom>
          <a:noFill/>
          <a:ln>
            <a:noFill/>
          </a:ln>
        </p:spPr>
        <p:txBody>
          <a:bodyPr lIns="91440" tIns="45720" rIns="91440" bIns="45720" anchor="t">
            <a:noAutofit/>
          </a:bodyPr>
          <a:lstStyle/>
          <a:p>
            <a:pPr algn="ctr">
              <a:buNone/>
            </a:pPr>
            <a:r>
              <a:rPr lang="en-US" sz="1700" dirty="0">
                <a:solidFill>
                  <a:srgbClr val="3A3A3A"/>
                </a:solidFill>
              </a:rPr>
              <a:t>The system did not change. The engineering question changed, so the model changed.</a:t>
            </a:r>
          </a:p>
        </p:txBody>
      </p:sp>
      <p:sp>
        <p:nvSpPr>
          <p:cNvPr id="1530" name="Kicker"/>
          <p:cNvSpPr txBox="1"/>
          <p:nvPr/>
        </p:nvSpPr>
        <p:spPr>
          <a:xfrm>
            <a:off x="635000" y="914400"/>
            <a:ext cx="22352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2194560"/>
            <a:ext cx="7772400" cy="1092200"/>
          </a:xfrm>
        </p:spPr>
        <p:txBody>
          <a:bodyPr>
            <a:normAutofit fontScale="90000"/>
          </a:bodyPr>
          <a:lstStyle/>
          <a:p>
            <a:pPr algn="ctr">
              <a:buNone/>
              <a:defRPr b="0"/>
            </a:pPr>
            <a:r>
              <a:rPr lang="en-US" sz="4000" b="0"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4290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4114800"/>
            <a:ext cx="8026400" cy="640080"/>
          </a:xfrm>
          <a:prstGeom prst="rect">
            <a:avLst/>
          </a:prstGeom>
          <a:noFill/>
          <a:ln>
            <a:noFill/>
          </a:ln>
        </p:spPr>
        <p:txBody>
          <a:bodyPr wrap="square" lIns="0" tIns="0" rIns="0" bIns="0" anchor="t">
            <a:normAutofit fontScale="92500"/>
          </a:bodyPr>
          <a:lstStyle/>
          <a:p>
            <a:pPr algn="ctr">
              <a:buNone/>
            </a:pPr>
            <a:r>
              <a:rPr lang="en-US" sz="2800" b="0" i="0" dirty="0">
                <a:solidFill>
                  <a:srgbClr val="555960"/>
                </a:solidFill>
              </a:rPr>
              <a:t>What should we constrain</a:t>
            </a:r>
            <a:r>
              <a:rPr lang="en-US" sz="2800" dirty="0">
                <a:solidFill>
                  <a:srgbClr val="555960"/>
                </a:solidFill>
              </a:rPr>
              <a:t>? W</a:t>
            </a:r>
            <a:r>
              <a:rPr lang="en-US" sz="2800" b="0" i="0" dirty="0">
                <a:solidFill>
                  <a:srgbClr val="555960"/>
                </a:solidFill>
              </a:rPr>
              <a:t>hat should we leave open?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defRPr b="0"/>
            </a:pPr>
            <a:r>
              <a:rPr lang="en-US" b="0"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500" b="1" dirty="0">
                <a:solidFill>
                  <a:srgbClr val="8E6F3E"/>
                </a:solidFill>
              </a:rPr>
              <a:t>satisfies the behavioral obligation</a:t>
            </a:r>
          </a:p>
        </p:txBody>
      </p:sp>
      <p:sp>
        <p:nvSpPr>
          <p:cNvPr id="1606" name="Lb2"/>
          <p:cNvSpPr txBox="1"/>
          <p:nvPr/>
        </p:nvSpPr>
        <p:spPr>
          <a:xfrm>
            <a:off x="6096000" y="1524000"/>
            <a:ext cx="2305050" cy="508000"/>
          </a:xfrm>
          <a:prstGeom prst="rect">
            <a:avLst/>
          </a:prstGeom>
          <a:noFill/>
          <a:ln>
            <a:noFill/>
          </a:ln>
        </p:spPr>
        <p:txBody>
          <a:bodyPr lIns="91440" tIns="45720" rIns="91440" bIns="45720" anchor="ctr">
            <a:noAutofit/>
          </a:bodyPr>
          <a:lstStyle/>
          <a:p>
            <a:pPr algn="r">
              <a:buNone/>
            </a:pPr>
            <a:r>
              <a:rPr lang="en-US" sz="15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400" b="1" spc="60" dirty="0">
                <a:solidFill>
                  <a:srgbClr val="1A1A1A"/>
                </a:solidFill>
              </a:rPr>
              <a:t>ACCEPTABLE</a:t>
            </a:r>
          </a:p>
          <a:p>
            <a:pPr algn="ctr">
              <a:buNone/>
            </a:pPr>
            <a:r>
              <a:rPr lang="en-US" sz="1400" b="1" spc="60" dirty="0">
                <a:solidFill>
                  <a:srgbClr val="1A1A1A"/>
                </a:solidFill>
              </a:rPr>
              <a:t>REALIZATIONS</a:t>
            </a:r>
          </a:p>
          <a:p>
            <a:pPr algn="ctr">
              <a:spcBef>
                <a:spcPts val="150"/>
              </a:spcBef>
              <a:buNone/>
            </a:pPr>
            <a:r>
              <a:rPr lang="en-US" sz="13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590288"/>
            <a:ext cx="8559800" cy="566928"/>
          </a:xfrm>
          <a:prstGeom prst="rect">
            <a:avLst/>
          </a:prstGeom>
          <a:noFill/>
          <a:ln>
            <a:noFill/>
          </a:ln>
        </p:spPr>
        <p:txBody>
          <a:bodyPr lIns="91440" tIns="45720" rIns="91440" bIns="45720" anchor="t">
            <a:noAutofit/>
          </a:bodyPr>
          <a:lstStyle/>
          <a:p>
            <a:pPr algn="ctr">
              <a:buNone/>
            </a:pPr>
            <a:r>
              <a:rPr lang="en-US" sz="1700" dirty="0">
                <a:solidFill>
                  <a:srgbClr val="3A3A3A"/>
                </a:solidFill>
              </a:rPr>
              <a:t>Each dot is a distinct possible realization. </a:t>
            </a:r>
          </a:p>
          <a:p>
            <a:pPr algn="ctr">
              <a:buNone/>
            </a:pPr>
            <a:r>
              <a:rPr lang="en-US" sz="1700" dirty="0">
                <a:solidFill>
                  <a:srgbClr val="3A3A3A"/>
                </a:solidFill>
              </a:rPr>
              <a:t>The obligations bound a region; they do not pick a point inside it.</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303520"/>
            <a:ext cx="8559800" cy="457200"/>
          </a:xfrm>
          <a:prstGeom prst="rect">
            <a:avLst/>
          </a:prstGeom>
          <a:solidFill>
            <a:srgbClr val="8E6F3E"/>
          </a:solidFill>
          <a:ln>
            <a:noFill/>
          </a:ln>
        </p:spPr>
        <p:txBody>
          <a:bodyPr lIns="91440" tIns="45720" rIns="91440" bIns="45720" anchor="ctr">
            <a:noAutofit/>
          </a:bodyPr>
          <a:lstStyle/>
          <a:p>
            <a:pPr algn="ctr">
              <a:buNone/>
            </a:pPr>
            <a:r>
              <a:rPr lang="en-US" sz="2100" b="1" dirty="0">
                <a:solidFill>
                  <a:srgbClr val="FFFFFF"/>
                </a:solidFill>
              </a:rPr>
              <a:t>Every obligation eliminates realizations.</a:t>
            </a:r>
          </a:p>
        </p:txBody>
      </p:sp>
      <p:sp>
        <p:nvSpPr>
          <p:cNvPr id="1627" name="TakeawayB"/>
          <p:cNvSpPr txBox="1"/>
          <p:nvPr/>
        </p:nvSpPr>
        <p:spPr>
          <a:xfrm>
            <a:off x="279400" y="5833872"/>
            <a:ext cx="8559800" cy="365760"/>
          </a:xfrm>
          <a:prstGeom prst="rect">
            <a:avLst/>
          </a:prstGeom>
          <a:noFill/>
          <a:ln>
            <a:noFill/>
          </a:ln>
        </p:spPr>
        <p:txBody>
          <a:bodyPr lIns="91440" tIns="45720" rIns="91440" bIns="45720" anchor="ctr">
            <a:noAutofit/>
          </a:bodyPr>
          <a:lstStyle/>
          <a:p>
            <a:pPr algn="ctr">
              <a:buNone/>
            </a:pPr>
            <a:r>
              <a:rPr lang="en-US" sz="21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defRPr b="0"/>
            </a:pPr>
            <a:r>
              <a:rPr lang="en-US" b="0"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234440"/>
            <a:ext cx="2286000" cy="566928"/>
          </a:xfrm>
          <a:prstGeom prst="rect">
            <a:avLst/>
          </a:prstGeom>
          <a:solidFill>
            <a:srgbClr val="8E6F3E"/>
          </a:solidFill>
          <a:ln>
            <a:noFill/>
          </a:ln>
        </p:spPr>
        <p:txBody>
          <a:bodyPr lIns="91440" tIns="45720" rIns="91440" bIns="45720" anchor="ctr">
            <a:noAutofit/>
          </a:bodyPr>
          <a:lstStyle/>
          <a:p>
            <a:pPr algn="ctr">
              <a:buNone/>
            </a:pPr>
            <a:r>
              <a:rPr lang="en-US" sz="1800" b="1" spc="60" dirty="0">
                <a:solidFill>
                  <a:srgbClr val="FFFFFF"/>
                </a:solidFill>
              </a:rPr>
              <a:t>NOT CONSTRAINED</a:t>
            </a:r>
          </a:p>
        </p:txBody>
      </p:sp>
      <p:cxnSp>
        <p:nvCxnSpPr>
          <p:cNvPr id="1702" name="Flow"/>
          <p:cNvCxnSpPr/>
          <p:nvPr/>
        </p:nvCxnSpPr>
        <p:spPr>
          <a:xfrm rot="5400000">
            <a:off x="2647188" y="772668"/>
            <a:ext cx="896112" cy="2953512"/>
          </a:xfrm>
          <a:prstGeom prst="bentConnector3">
            <a:avLst>
              <a:gd name="adj1" fmla="val 50000"/>
            </a:avLst>
          </a:prstGeom>
          <a:ln w="19050">
            <a:solidFill>
              <a:srgbClr val="8E6F3E"/>
            </a:solidFill>
            <a:tailEnd type="triangle"/>
          </a:ln>
        </p:spPr>
      </p:cxnSp>
      <p:cxnSp>
        <p:nvCxnSpPr>
          <p:cNvPr id="1703" name="Flow"/>
          <p:cNvCxnSpPr/>
          <p:nvPr/>
        </p:nvCxnSpPr>
        <p:spPr>
          <a:xfrm>
            <a:off x="4572000" y="1801368"/>
            <a:ext cx="0" cy="896112"/>
          </a:xfrm>
          <a:prstGeom prst="line">
            <a:avLst/>
          </a:prstGeom>
          <a:ln w="19050">
            <a:solidFill>
              <a:srgbClr val="8E6F3E"/>
            </a:solidFill>
            <a:tailEnd type="triangle"/>
          </a:ln>
        </p:spPr>
      </p:cxnSp>
      <p:cxnSp>
        <p:nvCxnSpPr>
          <p:cNvPr id="1704" name="Flow"/>
          <p:cNvCxnSpPr/>
          <p:nvPr/>
        </p:nvCxnSpPr>
        <p:spPr>
          <a:xfrm rot="16200000" flipH="1">
            <a:off x="5554980" y="818388"/>
            <a:ext cx="896112" cy="2862072"/>
          </a:xfrm>
          <a:prstGeom prst="bentConnector3">
            <a:avLst>
              <a:gd name="adj1" fmla="val 50000"/>
            </a:avLst>
          </a:prstGeom>
          <a:ln w="19050">
            <a:solidFill>
              <a:srgbClr val="8E6F3E"/>
            </a:solidFill>
            <a:tailEnd type="triangle"/>
          </a:ln>
        </p:spPr>
      </p:cxnSp>
      <p:sp>
        <p:nvSpPr>
          <p:cNvPr id="1705" name="Cat"/>
          <p:cNvSpPr txBox="1"/>
          <p:nvPr/>
        </p:nvSpPr>
        <p:spPr>
          <a:xfrm>
            <a:off x="2794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UNKNOWN</a:t>
            </a:r>
          </a:p>
        </p:txBody>
      </p:sp>
      <p:sp>
        <p:nvSpPr>
          <p:cNvPr id="1706" name="Def"/>
          <p:cNvSpPr txBox="1"/>
          <p:nvPr/>
        </p:nvSpPr>
        <p:spPr>
          <a:xfrm>
            <a:off x="2794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consequence is not yet understood</a:t>
            </a:r>
          </a:p>
        </p:txBody>
      </p:sp>
      <p:sp>
        <p:nvSpPr>
          <p:cNvPr id="1707" name="Act"/>
          <p:cNvSpPr txBox="1"/>
          <p:nvPr/>
        </p:nvSpPr>
        <p:spPr>
          <a:xfrm>
            <a:off x="2794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learn</a:t>
            </a:r>
          </a:p>
        </p:txBody>
      </p:sp>
      <p:sp>
        <p:nvSpPr>
          <p:cNvPr id="1708" name="Cat"/>
          <p:cNvSpPr txBox="1"/>
          <p:nvPr/>
        </p:nvSpPr>
        <p:spPr>
          <a:xfrm>
            <a:off x="31877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TACIT</a:t>
            </a:r>
          </a:p>
        </p:txBody>
      </p:sp>
      <p:sp>
        <p:nvSpPr>
          <p:cNvPr id="1709" name="Def"/>
          <p:cNvSpPr txBox="1"/>
          <p:nvPr/>
        </p:nvSpPr>
        <p:spPr>
          <a:xfrm>
            <a:off x="31877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a boundary exists, unwritten</a:t>
            </a:r>
          </a:p>
        </p:txBody>
      </p:sp>
      <p:sp>
        <p:nvSpPr>
          <p:cNvPr id="1710" name="Act"/>
          <p:cNvSpPr txBox="1"/>
          <p:nvPr/>
        </p:nvSpPr>
        <p:spPr>
          <a:xfrm>
            <a:off x="31877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externalize</a:t>
            </a:r>
          </a:p>
        </p:txBody>
      </p:sp>
      <p:sp>
        <p:nvSpPr>
          <p:cNvPr id="1711" name="Cat"/>
          <p:cNvSpPr txBox="1"/>
          <p:nvPr/>
        </p:nvSpPr>
        <p:spPr>
          <a:xfrm>
            <a:off x="60960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FREE</a:t>
            </a:r>
          </a:p>
        </p:txBody>
      </p:sp>
      <p:sp>
        <p:nvSpPr>
          <p:cNvPr id="1712" name="Def"/>
          <p:cNvSpPr txBox="1"/>
          <p:nvPr/>
        </p:nvSpPr>
        <p:spPr>
          <a:xfrm>
            <a:off x="60960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alternatives are genuinely acceptable</a:t>
            </a:r>
          </a:p>
        </p:txBody>
      </p:sp>
      <p:sp>
        <p:nvSpPr>
          <p:cNvPr id="1713" name="Act"/>
          <p:cNvSpPr txBox="1"/>
          <p:nvPr/>
        </p:nvSpPr>
        <p:spPr>
          <a:xfrm>
            <a:off x="60960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leave open</a:t>
            </a:r>
          </a:p>
        </p:txBody>
      </p:sp>
      <p:cxnSp>
        <p:nvCxnSpPr>
          <p:cNvPr id="1714" name="Flow"/>
          <p:cNvCxnSpPr/>
          <p:nvPr/>
        </p:nvCxnSpPr>
        <p:spPr>
          <a:xfrm>
            <a:off x="1612900" y="4617720"/>
            <a:ext cx="0" cy="91440"/>
          </a:xfrm>
          <a:prstGeom prst="line">
            <a:avLst/>
          </a:prstGeom>
          <a:ln w="19050">
            <a:solidFill>
              <a:srgbClr val="8E6F3E"/>
            </a:solidFill>
            <a:tailEnd type="triangle"/>
          </a:ln>
        </p:spPr>
      </p:cxnSp>
      <p:sp>
        <p:nvSpPr>
          <p:cNvPr id="1715" name="Loop"/>
          <p:cNvSpPr txBox="1"/>
          <p:nvPr/>
        </p:nvSpPr>
        <p:spPr>
          <a:xfrm>
            <a:off x="283464"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BUILD</a:t>
            </a:r>
          </a:p>
        </p:txBody>
      </p:sp>
      <p:sp>
        <p:nvSpPr>
          <p:cNvPr id="1716" name="Loop"/>
          <p:cNvSpPr txBox="1"/>
          <p:nvPr/>
        </p:nvSpPr>
        <p:spPr>
          <a:xfrm>
            <a:off x="1353312"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OBSERVE</a:t>
            </a:r>
          </a:p>
        </p:txBody>
      </p:sp>
      <p:sp>
        <p:nvSpPr>
          <p:cNvPr id="1717" name="Loop"/>
          <p:cNvSpPr txBox="1"/>
          <p:nvPr/>
        </p:nvSpPr>
        <p:spPr>
          <a:xfrm>
            <a:off x="2423160"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DECIDE</a:t>
            </a:r>
          </a:p>
        </p:txBody>
      </p:sp>
      <p:cxnSp>
        <p:nvCxnSpPr>
          <p:cNvPr id="1718" name="Flow"/>
          <p:cNvCxnSpPr/>
          <p:nvPr/>
        </p:nvCxnSpPr>
        <p:spPr>
          <a:xfrm>
            <a:off x="1197864" y="4960620"/>
            <a:ext cx="152400" cy="0"/>
          </a:xfrm>
          <a:prstGeom prst="line">
            <a:avLst/>
          </a:prstGeom>
          <a:ln w="19050">
            <a:solidFill>
              <a:srgbClr val="8E6F3E"/>
            </a:solidFill>
            <a:tailEnd type="triangle"/>
          </a:ln>
        </p:spPr>
      </p:cxnSp>
      <p:cxnSp>
        <p:nvCxnSpPr>
          <p:cNvPr id="1719" name="Flow"/>
          <p:cNvCxnSpPr/>
          <p:nvPr/>
        </p:nvCxnSpPr>
        <p:spPr>
          <a:xfrm>
            <a:off x="2267712" y="4960620"/>
            <a:ext cx="152400" cy="0"/>
          </a:xfrm>
          <a:prstGeom prst="line">
            <a:avLst/>
          </a:prstGeom>
          <a:ln w="19050">
            <a:solidFill>
              <a:srgbClr val="8E6F3E"/>
            </a:solidFill>
            <a:tailEnd type="triangle"/>
          </a:ln>
        </p:spPr>
      </p:cxnSp>
      <p:sp>
        <p:nvSpPr>
          <p:cNvPr id="1720" name="LoopCap"/>
          <p:cNvSpPr txBox="1"/>
          <p:nvPr/>
        </p:nvSpPr>
        <p:spPr>
          <a:xfrm>
            <a:off x="279400" y="5248656"/>
            <a:ext cx="3048000" cy="365760"/>
          </a:xfrm>
          <a:prstGeom prst="rect">
            <a:avLst/>
          </a:prstGeom>
          <a:noFill/>
          <a:ln>
            <a:noFill/>
          </a:ln>
        </p:spPr>
        <p:txBody>
          <a:bodyPr lIns="0" tIns="45720" rIns="91440" bIns="45720" anchor="t">
            <a:noAutofit/>
          </a:bodyPr>
          <a:lstStyle/>
          <a:p>
            <a:pPr algn="ctr">
              <a:buNone/>
            </a:pPr>
            <a:r>
              <a:rPr lang="en-US" sz="1400" dirty="0">
                <a:solidFill>
                  <a:srgbClr val="555960"/>
                </a:solidFill>
              </a:rPr>
              <a:t>Specify once the difference shows up.</a:t>
            </a:r>
          </a:p>
        </p:txBody>
      </p:sp>
      <p:sp>
        <p:nvSpPr>
          <p:cNvPr id="1721" name="Diag"/>
          <p:cNvSpPr txBox="1"/>
          <p:nvPr/>
        </p:nvSpPr>
        <p:spPr>
          <a:xfrm>
            <a:off x="283464" y="5687568"/>
            <a:ext cx="8558784" cy="640080"/>
          </a:xfrm>
          <a:prstGeom prst="rect">
            <a:avLst/>
          </a:prstGeom>
          <a:solidFill>
            <a:srgbClr val="8E6F3E"/>
          </a:solidFill>
          <a:ln>
            <a:noFill/>
          </a:ln>
        </p:spPr>
        <p:txBody>
          <a:bodyPr lIns="91440" tIns="45720" rIns="91440" bIns="45720" anchor="ctr">
            <a:noAutofit/>
          </a:bodyPr>
          <a:lstStyle/>
          <a:p>
            <a:pPr algn="ctr">
              <a:buNone/>
            </a:pPr>
            <a:r>
              <a:rPr lang="en-US" sz="1900" dirty="0">
                <a:solidFill>
                  <a:srgbClr val="FFFFFF"/>
                </a:solidFill>
              </a:rPr>
              <a:t>Diagnostic: if a realization would provoke “not that”, a consequential boundary remains, whether or not anyone wrote it down.</a:t>
            </a:r>
          </a:p>
        </p:txBody>
      </p:sp>
    </p:spTree>
    <p:extLst>
      <p:ext uri="{BB962C8B-B14F-4D97-AF65-F5344CB8AC3E}">
        <p14:creationId xmlns:p14="http://schemas.microsoft.com/office/powerpoint/2010/main" val="4215521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Classify each: 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70" name="S70"/>
          <p:cNvSpPr/>
          <p:nvPr/>
        </p:nvSpPr>
        <p:spPr>
          <a:xfrm>
            <a:off x="86868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color for the advisory banner?</a:t>
            </a:r>
          </a:p>
        </p:txBody>
      </p:sp>
      <p:sp>
        <p:nvSpPr>
          <p:cNvPr id="71" name="S71"/>
          <p:cNvSpPr/>
          <p:nvPr/>
        </p:nvSpPr>
        <p:spPr>
          <a:xfrm>
            <a:off x="86868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How sensitive should illness detection be?</a:t>
            </a:r>
          </a:p>
        </p:txBody>
      </p:sp>
      <p:sp>
        <p:nvSpPr>
          <p:cNvPr id="72" name="S72"/>
          <p:cNvSpPr/>
          <p:nvPr/>
        </p:nvSpPr>
        <p:spPr>
          <a:xfrm>
            <a:off x="489204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Which database for sleep data?</a:t>
            </a:r>
          </a:p>
        </p:txBody>
      </p:sp>
      <p:sp>
        <p:nvSpPr>
          <p:cNvPr id="73" name="S73"/>
          <p:cNvSpPr/>
          <p:nvPr/>
        </p:nvSpPr>
        <p:spPr>
          <a:xfrm>
            <a:off x="489204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if the doctor’s email bounces?</a:t>
            </a:r>
          </a:p>
        </p:txBody>
      </p:sp>
      <p:pic>
        <p:nvPicPr>
          <p:cNvPr id="2" name="Think Pair Share banner" descr="Think, Pair, Share">
            <a:extLst>
              <a:ext uri="{FF2B5EF4-FFF2-40B4-BE49-F238E27FC236}">
                <a16:creationId xmlns:a16="http://schemas.microsoft.com/office/drawing/2014/main" id="{F5C909AE-DDFD-E290-3EEC-E98335FEB2A2}"/>
              </a:ext>
            </a:extLst>
          </p:cNvPr>
          <p:cNvPicPr>
            <a:picLocks noChangeAspect="1"/>
          </p:cNvPicPr>
          <p:nvPr/>
        </p:nvPicPr>
        <p:blipFill>
          <a:blip r:embed="rId3"/>
          <a:stretch>
            <a:fillRect/>
          </a:stretch>
        </p:blipFill>
        <p:spPr>
          <a:xfrm>
            <a:off x="2476500" y="1008825"/>
            <a:ext cx="4191000" cy="1206500"/>
          </a:xfrm>
          <a:prstGeom prst="rect">
            <a:avLst/>
          </a:prstGeom>
        </p:spPr>
      </p:pic>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sleep summary with their doctor.</a:t>
            </a:r>
          </a:p>
        </p:txBody>
      </p:sp>
      <p:sp>
        <p:nvSpPr>
          <p:cNvPr id="61" name="S61"/>
          <p:cNvSpPr/>
          <p:nvPr/>
        </p:nvSpPr>
        <p:spPr>
          <a:xfrm>
            <a:off x="279400" y="1930400"/>
            <a:ext cx="4140200" cy="233172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5C4826"/>
                </a:solidFill>
              </a:rPr>
              <a:t>A human</a:t>
            </a:r>
          </a:p>
          <a:p>
            <a:pPr algn="l">
              <a:spcBef>
                <a:spcPts val="180"/>
              </a:spcBef>
              <a:buNone/>
            </a:pPr>
            <a:r>
              <a:rPr lang="en-US" sz="2200" b="0" i="0" dirty="0">
                <a:solidFill>
                  <a:srgbClr val="000000"/>
                </a:solidFill>
              </a:rPr>
              <a:t>Mail bounces, so it tells the user.</a:t>
            </a:r>
          </a:p>
          <a:p>
            <a:pPr algn="l">
              <a:spcBef>
                <a:spcPts val="120"/>
              </a:spcBef>
              <a:buNone/>
            </a:pPr>
            <a:r>
              <a:rPr lang="en-US" sz="2200" b="0" i="0" dirty="0">
                <a:solidFill>
                  <a:srgbClr val="555960"/>
                </a:solidFill>
              </a:rPr>
              <a:t>Obviously.</a:t>
            </a:r>
          </a:p>
        </p:txBody>
      </p:sp>
      <p:sp>
        <p:nvSpPr>
          <p:cNvPr id="62" name="S62"/>
          <p:cNvSpPr/>
          <p:nvPr/>
        </p:nvSpPr>
        <p:spPr>
          <a:xfrm>
            <a:off x="4699000" y="1930400"/>
            <a:ext cx="4140200" cy="233172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600" b="1" i="0" dirty="0">
                <a:solidFill>
                  <a:srgbClr val="5C4826"/>
                </a:solidFill>
              </a:rPr>
              <a:t>An agent</a:t>
            </a:r>
          </a:p>
          <a:p>
            <a:pPr algn="l">
              <a:spcBef>
                <a:spcPts val="180"/>
              </a:spcBef>
              <a:buNone/>
            </a:pPr>
            <a:r>
              <a:rPr lang="en-US" sz="2200" b="0" i="0" dirty="0">
                <a:solidFill>
                  <a:srgbClr val="000000"/>
                </a:solidFill>
              </a:rPr>
              <a:t>Mail bounces, so it logs and returns success.</a:t>
            </a:r>
          </a:p>
          <a:p>
            <a:pPr algn="l">
              <a:spcBef>
                <a:spcPts val="120"/>
              </a:spcBef>
              <a:buNone/>
            </a:pPr>
            <a:r>
              <a:rPr lang="en-US" sz="2200" b="0" i="0" dirty="0">
                <a:solidFill>
                  <a:srgbClr val="555960"/>
                </a:solidFill>
              </a:rPr>
              <a:t>Also permitted by R7.</a:t>
            </a:r>
          </a:p>
        </p:txBody>
      </p:sp>
      <p:sp>
        <p:nvSpPr>
          <p:cNvPr id="70" name="S70"/>
          <p:cNvSpPr/>
          <p:nvPr/>
        </p:nvSpPr>
        <p:spPr>
          <a:xfrm>
            <a:off x="279400" y="470916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“Obviously not that” is not the agent’s fault.</a:t>
            </a:r>
          </a:p>
          <a:p>
            <a:pPr algn="ctr">
              <a:buNone/>
            </a:pPr>
            <a:r>
              <a:rPr lang="en-US" sz="2400" i="0" dirty="0">
                <a:solidFill>
                  <a:srgbClr val="FFFFFF"/>
                </a:solidFill>
              </a:rPr>
              <a:t>Agents (mostly) abide by their specification.</a:t>
            </a:r>
            <a:endParaRPr lang="en-US" sz="2400" b="0" i="0" dirty="0">
              <a:solidFill>
                <a:srgbClr val="FFFFFF"/>
              </a:solidFill>
            </a:endParaRPr>
          </a:p>
        </p:txBody>
      </p:sp>
    </p:spTree>
    <p:extLst>
      <p:ext uri="{BB962C8B-B14F-4D97-AF65-F5344CB8AC3E}">
        <p14:creationId xmlns:p14="http://schemas.microsoft.com/office/powerpoint/2010/main" val="208911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7BB9-6215-84AB-57FB-1F24153BD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2B31C-B153-24BE-8735-2A694B84447F}"/>
              </a:ext>
            </a:extLst>
          </p:cNvPr>
          <p:cNvSpPr>
            <a:spLocks noGrp="1"/>
          </p:cNvSpPr>
          <p:nvPr>
            <p:ph type="title"/>
          </p:nvPr>
        </p:nvSpPr>
        <p:spPr>
          <a:xfrm>
            <a:off x="685800" y="854077"/>
            <a:ext cx="7772400" cy="1092200"/>
          </a:xfrm>
        </p:spPr>
        <p:txBody>
          <a:bodyPr>
            <a:normAutofit/>
          </a:bodyPr>
          <a:lstStyle/>
          <a:p>
            <a:pPr algn="ctr">
              <a:buNone/>
              <a:defRPr b="0"/>
            </a:pPr>
            <a:r>
              <a:rPr lang="en-US" sz="3600" b="0" i="0" dirty="0">
                <a:solidFill>
                  <a:srgbClr val="000000"/>
                </a:solidFill>
              </a:rPr>
              <a:t>Learning specifications</a:t>
            </a:r>
          </a:p>
        </p:txBody>
      </p:sp>
      <p:sp>
        <p:nvSpPr>
          <p:cNvPr id="3" name="Slide Number Placeholder 2">
            <a:extLst>
              <a:ext uri="{FF2B5EF4-FFF2-40B4-BE49-F238E27FC236}">
                <a16:creationId xmlns:a16="http://schemas.microsoft.com/office/drawing/2014/main" id="{10005F43-CB52-CD7D-7F43-F90C5AF2423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50" name="T50">
            <a:extLst>
              <a:ext uri="{FF2B5EF4-FFF2-40B4-BE49-F238E27FC236}">
                <a16:creationId xmlns:a16="http://schemas.microsoft.com/office/drawing/2014/main" id="{13D7A8BA-D87F-5E13-D6CD-31D4917B24EE}"/>
              </a:ext>
            </a:extLst>
          </p:cNvPr>
          <p:cNvSpPr txBox="1"/>
          <p:nvPr/>
        </p:nvSpPr>
        <p:spPr>
          <a:xfrm>
            <a:off x="685800" y="447677"/>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a:extLst>
              <a:ext uri="{FF2B5EF4-FFF2-40B4-BE49-F238E27FC236}">
                <a16:creationId xmlns:a16="http://schemas.microsoft.com/office/drawing/2014/main" id="{00FC75D6-B764-AAE9-7F91-27BFD03CD545}"/>
              </a:ext>
            </a:extLst>
          </p:cNvPr>
          <p:cNvSpPr/>
          <p:nvPr/>
        </p:nvSpPr>
        <p:spPr>
          <a:xfrm>
            <a:off x="3429000" y="1895477"/>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a:extLst>
              <a:ext uri="{FF2B5EF4-FFF2-40B4-BE49-F238E27FC236}">
                <a16:creationId xmlns:a16="http://schemas.microsoft.com/office/drawing/2014/main" id="{B85F6F9E-1EED-CA24-856A-F513EE78F31E}"/>
              </a:ext>
            </a:extLst>
          </p:cNvPr>
          <p:cNvSpPr txBox="1"/>
          <p:nvPr/>
        </p:nvSpPr>
        <p:spPr>
          <a:xfrm>
            <a:off x="558800" y="2251077"/>
            <a:ext cx="8026400" cy="960120"/>
          </a:xfrm>
          <a:prstGeom prst="rect">
            <a:avLst/>
          </a:prstGeom>
          <a:noFill/>
          <a:ln>
            <a:noFill/>
          </a:ln>
        </p:spPr>
        <p:txBody>
          <a:bodyPr wrap="square" lIns="0" tIns="0" rIns="0" bIns="0" anchor="t">
            <a:normAutofit/>
          </a:bodyPr>
          <a:lstStyle/>
          <a:p>
            <a:pPr algn="ctr">
              <a:buNone/>
            </a:pPr>
            <a:r>
              <a:rPr lang="en-US" sz="2600" b="0" i="0" dirty="0">
                <a:solidFill>
                  <a:srgbClr val="555960"/>
                </a:solidFill>
              </a:rPr>
              <a:t>Why might we build before we know the full specification?</a:t>
            </a:r>
          </a:p>
        </p:txBody>
      </p:sp>
      <p:pic>
        <p:nvPicPr>
          <p:cNvPr id="4" name="Picture 3" descr="Waterfall process diagram: requirements and specification flow in sequence into development, validation, then release and maintenance.">
            <a:extLst>
              <a:ext uri="{FF2B5EF4-FFF2-40B4-BE49-F238E27FC236}">
                <a16:creationId xmlns:a16="http://schemas.microsoft.com/office/drawing/2014/main" id="{1BD03BAB-29D2-44A2-4CF2-6A591FA93FF2}"/>
              </a:ext>
            </a:extLst>
          </p:cNvPr>
          <p:cNvPicPr>
            <a:picLocks noChangeAspect="1"/>
          </p:cNvPicPr>
          <p:nvPr/>
        </p:nvPicPr>
        <p:blipFill>
          <a:blip r:embed="rId3"/>
          <a:stretch>
            <a:fillRect/>
          </a:stretch>
        </p:blipFill>
        <p:spPr>
          <a:xfrm>
            <a:off x="157354" y="3566499"/>
            <a:ext cx="5057393" cy="2843824"/>
          </a:xfrm>
          <a:prstGeom prst="rect">
            <a:avLst/>
          </a:prstGeom>
        </p:spPr>
      </p:pic>
      <p:pic>
        <p:nvPicPr>
          <p:cNvPr id="5" name="Picture 4" descr="Incremental process diagram: the same activities repeat in short cycles, so requirements are revisited in every increment.">
            <a:extLst>
              <a:ext uri="{FF2B5EF4-FFF2-40B4-BE49-F238E27FC236}">
                <a16:creationId xmlns:a16="http://schemas.microsoft.com/office/drawing/2014/main" id="{9439E6DC-6B86-68AE-C25D-3DA2CF424C36}"/>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6" name="TextBox 5">
            <a:extLst>
              <a:ext uri="{FF2B5EF4-FFF2-40B4-BE49-F238E27FC236}">
                <a16:creationId xmlns:a16="http://schemas.microsoft.com/office/drawing/2014/main" id="{DD3A5776-AE30-EDC7-FAB2-5C9D57E7B193}"/>
              </a:ext>
            </a:extLst>
          </p:cNvPr>
          <p:cNvSpPr txBox="1"/>
          <p:nvPr/>
        </p:nvSpPr>
        <p:spPr>
          <a:xfrm>
            <a:off x="345038" y="3075545"/>
            <a:ext cx="2747868" cy="369332"/>
          </a:xfrm>
          <a:prstGeom prst="rect">
            <a:avLst/>
          </a:prstGeom>
          <a:noFill/>
        </p:spPr>
        <p:txBody>
          <a:bodyPr wrap="none" rtlCol="0">
            <a:spAutoFit/>
          </a:bodyPr>
          <a:lstStyle/>
          <a:p>
            <a:r>
              <a:rPr lang="en-US" b="1" i="1" dirty="0"/>
              <a:t>Plan-based </a:t>
            </a:r>
            <a:r>
              <a:rPr lang="en-US" b="1" i="1" dirty="0">
                <a:sym typeface="Wingdings" pitchFamily="2" charset="2"/>
              </a:rPr>
              <a:t> SDD all day!</a:t>
            </a:r>
            <a:endParaRPr lang="en-US" b="1" i="1" dirty="0"/>
          </a:p>
        </p:txBody>
      </p:sp>
      <p:sp>
        <p:nvSpPr>
          <p:cNvPr id="7" name="TextBox 6">
            <a:extLst>
              <a:ext uri="{FF2B5EF4-FFF2-40B4-BE49-F238E27FC236}">
                <a16:creationId xmlns:a16="http://schemas.microsoft.com/office/drawing/2014/main" id="{4EFD8B02-949E-4E60-644D-425E791A7450}"/>
              </a:ext>
            </a:extLst>
          </p:cNvPr>
          <p:cNvSpPr txBox="1"/>
          <p:nvPr/>
        </p:nvSpPr>
        <p:spPr>
          <a:xfrm>
            <a:off x="5884261" y="3075545"/>
            <a:ext cx="3259739" cy="369332"/>
          </a:xfrm>
          <a:prstGeom prst="rect">
            <a:avLst/>
          </a:prstGeom>
          <a:noFill/>
        </p:spPr>
        <p:txBody>
          <a:bodyPr wrap="none" rtlCol="0">
            <a:spAutoFit/>
          </a:bodyPr>
          <a:lstStyle/>
          <a:p>
            <a:r>
              <a:rPr lang="en-US" b="1" i="1" dirty="0"/>
              <a:t>Incremental </a:t>
            </a:r>
            <a:r>
              <a:rPr lang="en-US" b="1" i="1" dirty="0">
                <a:sym typeface="Wingdings" pitchFamily="2" charset="2"/>
              </a:rPr>
              <a:t> Just enough SDD</a:t>
            </a:r>
            <a:endParaRPr lang="en-US" b="1" i="1" dirty="0"/>
          </a:p>
        </p:txBody>
      </p:sp>
    </p:spTree>
    <p:extLst>
      <p:ext uri="{BB962C8B-B14F-4D97-AF65-F5344CB8AC3E}">
        <p14:creationId xmlns:p14="http://schemas.microsoft.com/office/powerpoint/2010/main" val="165487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Remember, 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377440"/>
            <a:ext cx="228600" cy="0"/>
          </a:xfrm>
          <a:prstGeom prst="line">
            <a:avLst/>
          </a:prstGeom>
          <a:ln w="19050">
            <a:solidFill>
              <a:srgbClr val="8E6F3E"/>
            </a:solidFill>
            <a:tailEnd type="triangle" w="med" len="med"/>
          </a:ln>
        </p:spPr>
      </p:cxnSp>
      <p:sp>
        <p:nvSpPr>
          <p:cNvPr id="61" name="S61"/>
          <p:cNvSpPr/>
          <p:nvPr/>
        </p:nvSpPr>
        <p:spPr>
          <a:xfrm>
            <a:off x="24892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377440"/>
            <a:ext cx="228600" cy="0"/>
          </a:xfrm>
          <a:prstGeom prst="line">
            <a:avLst/>
          </a:prstGeom>
          <a:ln w="19050">
            <a:solidFill>
              <a:srgbClr val="8E6F3E"/>
            </a:solidFill>
            <a:tailEnd type="triangle" w="med" len="med"/>
          </a:ln>
        </p:spPr>
      </p:cxnSp>
      <p:sp>
        <p:nvSpPr>
          <p:cNvPr id="62" name="S62"/>
          <p:cNvSpPr/>
          <p:nvPr/>
        </p:nvSpPr>
        <p:spPr>
          <a:xfrm>
            <a:off x="46990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377440"/>
            <a:ext cx="228600" cy="0"/>
          </a:xfrm>
          <a:prstGeom prst="line">
            <a:avLst/>
          </a:prstGeom>
          <a:ln w="19050">
            <a:solidFill>
              <a:srgbClr val="8E6F3E"/>
            </a:solidFill>
            <a:tailEnd type="triangle" w="med" len="med"/>
          </a:ln>
        </p:spPr>
      </p:cxnSp>
      <p:sp>
        <p:nvSpPr>
          <p:cNvPr id="63" name="S63"/>
          <p:cNvSpPr/>
          <p:nvPr/>
        </p:nvSpPr>
        <p:spPr>
          <a:xfrm>
            <a:off x="6908800" y="1371600"/>
            <a:ext cx="1930400" cy="2011680"/>
          </a:xfrm>
          <a:prstGeom prst="rect">
            <a:avLst/>
          </a:prstGeom>
          <a:solidFill>
            <a:srgbClr val="8E6F3E"/>
          </a:solidFill>
          <a:ln>
            <a:noFill/>
          </a:ln>
        </p:spPr>
        <p:txBody>
          <a:bodyPr wrap="square" lIns="109728" tIns="82296" rIns="109728" bIns="82296" anchor="t">
            <a:normAutofit/>
          </a:bodyPr>
          <a:lstStyle/>
          <a:p>
            <a:pPr algn="l">
              <a:buNone/>
            </a:pPr>
            <a:r>
              <a:rPr lang="en-US" sz="2400" b="1" i="0" dirty="0">
                <a:solidFill>
                  <a:srgbClr val="FFFFFF"/>
                </a:solidFill>
              </a:rPr>
              <a:t>LEARN</a:t>
            </a:r>
          </a:p>
          <a:p>
            <a:pPr algn="l">
              <a:spcBef>
                <a:spcPts val="200"/>
              </a:spcBef>
              <a:buNone/>
            </a:pPr>
            <a:r>
              <a:rPr lang="en-US" sz="1900" b="0" i="0" dirty="0">
                <a:solidFill>
                  <a:srgbClr val="FFFFFF"/>
                </a:solidFill>
              </a:rPr>
              <a:t>Persistence alone does not tell us what “normal” means.</a:t>
            </a:r>
          </a:p>
        </p:txBody>
      </p:sp>
      <p:cxnSp>
        <p:nvCxnSpPr>
          <p:cNvPr id="80" name="L80"/>
          <p:cNvCxnSpPr/>
          <p:nvPr/>
        </p:nvCxnSpPr>
        <p:spPr>
          <a:xfrm>
            <a:off x="7874000" y="3383280"/>
            <a:ext cx="0" cy="402336"/>
          </a:xfrm>
          <a:prstGeom prst="line">
            <a:avLst/>
          </a:prstGeom>
          <a:ln w="19050">
            <a:solidFill>
              <a:srgbClr val="8E6F3E"/>
            </a:solidFill>
          </a:ln>
        </p:spPr>
      </p:cxnSp>
      <p:cxnSp>
        <p:nvCxnSpPr>
          <p:cNvPr id="81" name="L81"/>
          <p:cNvCxnSpPr/>
          <p:nvPr/>
        </p:nvCxnSpPr>
        <p:spPr>
          <a:xfrm>
            <a:off x="1244600" y="3785616"/>
            <a:ext cx="6629400" cy="0"/>
          </a:xfrm>
          <a:prstGeom prst="line">
            <a:avLst/>
          </a:prstGeom>
          <a:ln w="19050">
            <a:solidFill>
              <a:srgbClr val="8E6F3E"/>
            </a:solidFill>
          </a:ln>
        </p:spPr>
      </p:cxnSp>
      <p:cxnSp>
        <p:nvCxnSpPr>
          <p:cNvPr id="82" name="L82"/>
          <p:cNvCxnSpPr/>
          <p:nvPr/>
        </p:nvCxnSpPr>
        <p:spPr>
          <a:xfrm flipV="1">
            <a:off x="1244600" y="3383280"/>
            <a:ext cx="0" cy="402336"/>
          </a:xfrm>
          <a:prstGeom prst="line">
            <a:avLst/>
          </a:prstGeom>
          <a:ln w="19050">
            <a:solidFill>
              <a:srgbClr val="8E6F3E"/>
            </a:solidFill>
            <a:tailEnd type="triangle" w="med" len="med"/>
          </a:ln>
        </p:spPr>
      </p:cxnSp>
      <p:sp>
        <p:nvSpPr>
          <p:cNvPr id="83" name="T83"/>
          <p:cNvSpPr txBox="1"/>
          <p:nvPr/>
        </p:nvSpPr>
        <p:spPr>
          <a:xfrm>
            <a:off x="2286000" y="3886200"/>
            <a:ext cx="4572000" cy="381000"/>
          </a:xfrm>
          <a:prstGeom prst="rect">
            <a:avLst/>
          </a:prstGeom>
          <a:noFill/>
          <a:ln>
            <a:noFill/>
          </a:ln>
        </p:spPr>
        <p:txBody>
          <a:bodyPr wrap="square" lIns="0" tIns="0" rIns="0" bIns="0" anchor="t">
            <a:normAutofit/>
          </a:bodyPr>
          <a:lstStyle/>
          <a:p>
            <a:pPr algn="ctr">
              <a:buNone/>
            </a:pPr>
            <a:r>
              <a:rPr lang="en-US" sz="2200" b="1" i="0" dirty="0">
                <a:solidFill>
                  <a:srgbClr val="5C4826"/>
                </a:solidFill>
              </a:rPr>
              <a:t>and the specification changes</a:t>
            </a:r>
          </a:p>
        </p:txBody>
      </p:sp>
      <p:sp>
        <p:nvSpPr>
          <p:cNvPr id="84" name="S84"/>
          <p:cNvSpPr/>
          <p:nvPr/>
        </p:nvSpPr>
        <p:spPr>
          <a:xfrm>
            <a:off x="279400" y="452628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The code did what we specified.</a:t>
            </a:r>
          </a:p>
          <a:p>
            <a:pPr algn="ctr">
              <a:spcBef>
                <a:spcPts val="180"/>
              </a:spcBef>
              <a:buNone/>
            </a:pPr>
            <a:r>
              <a:rPr lang="en-US" sz="2400" b="1" i="0" dirty="0">
                <a:solidFill>
                  <a:srgbClr val="FFFFFF"/>
                </a:solidFill>
              </a:rPr>
              <a:t>Use taught us that the boundary was wrong.</a:t>
            </a:r>
          </a:p>
        </p:txBody>
      </p:sp>
      <p:sp>
        <p:nvSpPr>
          <p:cNvPr id="2" name="TextBox 1">
            <a:extLst>
              <a:ext uri="{FF2B5EF4-FFF2-40B4-BE49-F238E27FC236}">
                <a16:creationId xmlns:a16="http://schemas.microsoft.com/office/drawing/2014/main" id="{9F19DB55-52BA-B031-1260-417A1BC04940}"/>
              </a:ext>
            </a:extLst>
          </p:cNvPr>
          <p:cNvSpPr txBox="1"/>
          <p:nvPr/>
        </p:nvSpPr>
        <p:spPr>
          <a:xfrm>
            <a:off x="283464" y="6446520"/>
            <a:ext cx="7368620" cy="369332"/>
          </a:xfrm>
          <a:prstGeom prst="rect">
            <a:avLst/>
          </a:prstGeom>
          <a:noFill/>
        </p:spPr>
        <p:txBody>
          <a:bodyPr wrap="none" rtlCol="0">
            <a:spAutoFit/>
          </a:bodyPr>
          <a:lstStyle/>
          <a:p>
            <a:r>
              <a:rPr lang="en-US" sz="1200" i="1" dirty="0">
                <a:solidFill>
                  <a:srgbClr val="8A8A8A"/>
                </a:solidFill>
              </a:rPr>
              <a:t>https://</a:t>
            </a:r>
            <a:r>
              <a:rPr lang="en-US" sz="1200" i="1" dirty="0" err="1">
                <a:solidFill>
                  <a:srgbClr val="8A8A8A"/>
                </a:solidFill>
              </a:rPr>
              <a:t>amolnotes.substack.com</a:t>
            </a:r>
            <a:r>
              <a:rPr lang="en-US" sz="1200" i="1" dirty="0">
                <a:solidFill>
                  <a:srgbClr val="8A8A8A"/>
                </a:solidFill>
              </a:rPr>
              <a:t>/p/stop-planning-start-probing-and-evolving</a:t>
            </a:r>
          </a:p>
        </p:txBody>
      </p:sp>
    </p:spTree>
    <p:extLst>
      <p:ext uri="{BB962C8B-B14F-4D97-AF65-F5344CB8AC3E}">
        <p14:creationId xmlns:p14="http://schemas.microsoft.com/office/powerpoint/2010/main" val="3269719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
        <p:nvSpPr>
          <p:cNvPr id="6" name="MAGE Moment badge">
            <a:extLst>
              <a:ext uri="{FF2B5EF4-FFF2-40B4-BE49-F238E27FC236}">
                <a16:creationId xmlns:a16="http://schemas.microsoft.com/office/drawing/2014/main" id="{57019F54-BFD9-AD31-43B4-C4DDC3669380}"/>
              </a:ext>
            </a:extLst>
          </p:cNvPr>
          <p:cNvSpPr txBox="1"/>
          <p:nvPr/>
        </p:nvSpPr>
        <p:spPr>
          <a:xfrm>
            <a:off x="2691524" y="4828182"/>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a:extLst>
              <a:ext uri="{FF2B5EF4-FFF2-40B4-BE49-F238E27FC236}">
                <a16:creationId xmlns:a16="http://schemas.microsoft.com/office/drawing/2014/main" id="{8ED27179-FD0F-260C-54B8-C7C56F37AEF0}"/>
              </a:ext>
            </a:extLst>
          </p:cNvPr>
          <p:cNvSpPr txBox="1"/>
          <p:nvPr/>
        </p:nvSpPr>
        <p:spPr>
          <a:xfrm>
            <a:off x="628649" y="5615582"/>
            <a:ext cx="8341929" cy="830997"/>
          </a:xfrm>
          <a:prstGeom prst="rect">
            <a:avLst/>
          </a:prstGeom>
          <a:noFill/>
        </p:spPr>
        <p:txBody>
          <a:bodyPr wrap="square" rtlCol="0">
            <a:spAutoFit/>
          </a:bodyPr>
          <a:lstStyle/>
          <a:p>
            <a:r>
              <a:rPr lang="en-US" sz="2400" b="1" dirty="0"/>
              <a:t>But how do we preserve room to learn while giving agents enough specification to work reliably?</a:t>
            </a:r>
            <a:endParaRPr lang="en-US" sz="2400" dirty="0"/>
          </a:p>
        </p:txBody>
      </p:sp>
    </p:spTree>
    <p:extLst>
      <p:ext uri="{BB962C8B-B14F-4D97-AF65-F5344CB8AC3E}">
        <p14:creationId xmlns:p14="http://schemas.microsoft.com/office/powerpoint/2010/main" val="2336170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60" name="S60"/>
          <p:cNvSpPr/>
          <p:nvPr/>
        </p:nvSpPr>
        <p:spPr>
          <a:xfrm>
            <a:off x="3429000" y="1390876"/>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949676"/>
            <a:ext cx="0" cy="177800"/>
          </a:xfrm>
          <a:prstGeom prst="line">
            <a:avLst/>
          </a:prstGeom>
          <a:ln w="19050">
            <a:solidFill>
              <a:srgbClr val="8E6F3E"/>
            </a:solidFill>
            <a:tailEnd type="triangle" w="med" len="med"/>
          </a:ln>
        </p:spPr>
      </p:cxnSp>
      <p:sp>
        <p:nvSpPr>
          <p:cNvPr id="62" name="S62"/>
          <p:cNvSpPr/>
          <p:nvPr/>
        </p:nvSpPr>
        <p:spPr>
          <a:xfrm>
            <a:off x="3175000" y="2127476"/>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4572000" y="2737076"/>
            <a:ext cx="0" cy="177800"/>
          </a:xfrm>
          <a:prstGeom prst="line">
            <a:avLst/>
          </a:prstGeom>
          <a:ln w="19050">
            <a:solidFill>
              <a:srgbClr val="8E6F3E"/>
            </a:solidFill>
            <a:tailEnd type="triangle" w="med" len="med"/>
          </a:ln>
        </p:spPr>
      </p:cxnSp>
      <p:sp>
        <p:nvSpPr>
          <p:cNvPr id="64" name="S64"/>
          <p:cNvSpPr/>
          <p:nvPr/>
        </p:nvSpPr>
        <p:spPr>
          <a:xfrm>
            <a:off x="2159000" y="2914876"/>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965676"/>
            <a:ext cx="4521200" cy="330200"/>
          </a:xfrm>
          <a:prstGeom prst="rect">
            <a:avLst/>
          </a:prstGeom>
          <a:noFill/>
          <a:ln>
            <a:noFill/>
          </a:ln>
        </p:spPr>
        <p:txBody>
          <a:bodyPr wrap="square" lIns="0" tIns="0" rIns="0" bIns="0" anchor="t">
            <a:normAutofit lnSpcReduction="10000"/>
          </a:bodyPr>
          <a:lstStyle/>
          <a:p>
            <a:pPr algn="l">
              <a:buNone/>
            </a:pPr>
            <a:r>
              <a:rPr lang="en-US" sz="2200" b="1" i="0" dirty="0">
                <a:solidFill>
                  <a:srgbClr val="8E6F3E"/>
                </a:solidFill>
              </a:rPr>
              <a:t>ACCEPTABLE REALIZATIONS</a:t>
            </a:r>
          </a:p>
        </p:txBody>
      </p:sp>
      <p:sp>
        <p:nvSpPr>
          <p:cNvPr id="66" name="S66"/>
          <p:cNvSpPr/>
          <p:nvPr/>
        </p:nvSpPr>
        <p:spPr>
          <a:xfrm>
            <a:off x="24384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A</a:t>
            </a:r>
          </a:p>
        </p:txBody>
      </p:sp>
      <p:sp>
        <p:nvSpPr>
          <p:cNvPr id="67" name="S67"/>
          <p:cNvSpPr/>
          <p:nvPr/>
        </p:nvSpPr>
        <p:spPr>
          <a:xfrm>
            <a:off x="38862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B</a:t>
            </a:r>
          </a:p>
        </p:txBody>
      </p:sp>
      <p:sp>
        <p:nvSpPr>
          <p:cNvPr id="68" name="S68"/>
          <p:cNvSpPr/>
          <p:nvPr/>
        </p:nvSpPr>
        <p:spPr>
          <a:xfrm>
            <a:off x="5334000" y="3321276"/>
            <a:ext cx="1371600" cy="4826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200" b="1" i="0" dirty="0">
                <a:solidFill>
                  <a:srgbClr val="5C4826"/>
                </a:solidFill>
              </a:rPr>
              <a:t>C</a:t>
            </a:r>
          </a:p>
        </p:txBody>
      </p:sp>
      <p:cxnSp>
        <p:nvCxnSpPr>
          <p:cNvPr id="70" name="L70"/>
          <p:cNvCxnSpPr/>
          <p:nvPr/>
        </p:nvCxnSpPr>
        <p:spPr>
          <a:xfrm>
            <a:off x="4572000" y="3905012"/>
            <a:ext cx="0" cy="254000"/>
          </a:xfrm>
          <a:prstGeom prst="line">
            <a:avLst/>
          </a:prstGeom>
          <a:ln w="19050">
            <a:solidFill>
              <a:srgbClr val="8E6F3E"/>
            </a:solidFill>
            <a:tailEnd type="triangle" w="med" len="med"/>
          </a:ln>
        </p:spPr>
      </p:cxnSp>
      <p:sp>
        <p:nvSpPr>
          <p:cNvPr id="71" name="S71"/>
          <p:cNvSpPr/>
          <p:nvPr/>
        </p:nvSpPr>
        <p:spPr>
          <a:xfrm>
            <a:off x="3465576" y="4159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ARCHITECTURE</a:t>
            </a:r>
          </a:p>
        </p:txBody>
      </p:sp>
      <p:cxnSp>
        <p:nvCxnSpPr>
          <p:cNvPr id="72" name="L72"/>
          <p:cNvCxnSpPr/>
          <p:nvPr/>
        </p:nvCxnSpPr>
        <p:spPr>
          <a:xfrm>
            <a:off x="4572000" y="4717812"/>
            <a:ext cx="0" cy="203200"/>
          </a:xfrm>
          <a:prstGeom prst="line">
            <a:avLst/>
          </a:prstGeom>
          <a:ln w="19050">
            <a:solidFill>
              <a:srgbClr val="8E6F3E"/>
            </a:solidFill>
            <a:tailEnd type="triangle" w="med" len="med"/>
          </a:ln>
        </p:spPr>
      </p:cxnSp>
      <p:sp>
        <p:nvSpPr>
          <p:cNvPr id="73" name="S73"/>
          <p:cNvSpPr/>
          <p:nvPr/>
        </p:nvSpPr>
        <p:spPr>
          <a:xfrm>
            <a:off x="3465576" y="4921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DESIGN</a:t>
            </a:r>
          </a:p>
        </p:txBody>
      </p:sp>
      <p:cxnSp>
        <p:nvCxnSpPr>
          <p:cNvPr id="74" name="L74"/>
          <p:cNvCxnSpPr/>
          <p:nvPr/>
        </p:nvCxnSpPr>
        <p:spPr>
          <a:xfrm>
            <a:off x="4572000" y="5479812"/>
            <a:ext cx="0" cy="203200"/>
          </a:xfrm>
          <a:prstGeom prst="line">
            <a:avLst/>
          </a:prstGeom>
          <a:ln w="19050">
            <a:solidFill>
              <a:srgbClr val="8E6F3E"/>
            </a:solidFill>
            <a:tailEnd type="triangle" w="med" len="med"/>
          </a:ln>
        </p:spPr>
      </p:cxnSp>
      <p:sp>
        <p:nvSpPr>
          <p:cNvPr id="75" name="S75"/>
          <p:cNvSpPr/>
          <p:nvPr/>
        </p:nvSpPr>
        <p:spPr>
          <a:xfrm>
            <a:off x="3465576" y="5683012"/>
            <a:ext cx="2212848" cy="558800"/>
          </a:xfrm>
          <a:prstGeom prst="rect">
            <a:avLst/>
          </a:prstGeom>
          <a:solidFill>
            <a:srgbClr val="FFFFFF"/>
          </a:solidFill>
          <a:ln w="19050">
            <a:solidFill>
              <a:srgbClr val="8E6F3E"/>
            </a:solidFill>
          </a:ln>
        </p:spPr>
        <p:txBody>
          <a:bodyPr wrap="square" lIns="109728" tIns="82296" rIns="109728" bIns="82296" anchor="ctr">
            <a:normAutofit fontScale="92500"/>
          </a:bodyPr>
          <a:lstStyle/>
          <a:p>
            <a:pPr algn="ctr">
              <a:buNone/>
            </a:pPr>
            <a:r>
              <a:rPr lang="en-US" sz="2200" b="1" i="0" dirty="0">
                <a:solidFill>
                  <a:srgbClr val="5C4826"/>
                </a:solidFill>
              </a:rPr>
              <a:t>IMPLEMENTATION</a:t>
            </a:r>
          </a:p>
        </p:txBody>
      </p:sp>
      <p:sp>
        <p:nvSpPr>
          <p:cNvPr id="2" name="Right Brace 1">
            <a:extLst>
              <a:ext uri="{FF2B5EF4-FFF2-40B4-BE49-F238E27FC236}">
                <a16:creationId xmlns:a16="http://schemas.microsoft.com/office/drawing/2014/main" id="{6FC471C8-BA11-64E0-E312-9EF0CB33BB27}"/>
              </a:ext>
            </a:extLst>
          </p:cNvPr>
          <p:cNvSpPr/>
          <p:nvPr/>
        </p:nvSpPr>
        <p:spPr>
          <a:xfrm>
            <a:off x="5969000" y="4159012"/>
            <a:ext cx="488950" cy="20828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525899" y="4938802"/>
            <a:ext cx="2148840" cy="594360"/>
          </a:xfrm>
          <a:prstGeom prst="rect">
            <a:avLst/>
          </a:prstGeom>
          <a:noFill/>
        </p:spPr>
        <p:txBody>
          <a:bodyPr wrap="none" rtlCol="0">
            <a:spAutoFit/>
          </a:bodyPr>
          <a:lstStyle/>
          <a:p>
            <a:r>
              <a:rPr lang="en-US" sz="3200" dirty="0"/>
              <a:t>Next week!</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8515</TotalTime>
  <Words>8606</Words>
  <Application>Microsoft Macintosh PowerPoint</Application>
  <PresentationFormat>On-screen Show (4:3)</PresentationFormat>
  <Paragraphs>726</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Times</vt:lpstr>
      <vt:lpstr>Arial</vt:lpstr>
      <vt:lpstr>Calibri</vt:lpstr>
      <vt:lpstr>Consolas</vt:lpstr>
      <vt:lpstr>Times New Roman</vt:lpstr>
      <vt:lpstr>Wingdings</vt:lpstr>
      <vt:lpstr>Purdue1</vt:lpstr>
      <vt:lpstr>PowerPoint Presentation</vt:lpstr>
      <vt:lpstr>From requirements to acceptable realizations</vt:lpstr>
      <vt:lpstr>Specification</vt:lpstr>
      <vt:lpstr>Running example: Sleep Advisor</vt:lpstr>
      <vt:lpstr>We have requirements. Now what?</vt:lpstr>
      <vt:lpstr>Requirements ≠ Specification ≠ Machine instr.</vt:lpstr>
      <vt:lpstr>A specification connects the machine to the requirement</vt:lpstr>
      <vt:lpstr>How would you constrain the machine (implementation)?</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333</cp:revision>
  <dcterms:created xsi:type="dcterms:W3CDTF">2020-02-21T23:00:33Z</dcterms:created>
  <dcterms:modified xsi:type="dcterms:W3CDTF">2026-09-10T14:18:17Z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