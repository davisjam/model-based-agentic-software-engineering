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p>
            <a:r>
              <a:t>- Deliberately brief. Do not add content; the slide's job is structural.</a:t>
            </a:r>
          </a:p>
          <a:p/>
          <a:p>
            <a:r>
              <a:t>- The four section names match the footer on slide 2: specification, representation, freedom, learning.</a:t>
            </a:r>
          </a:p>
          <a:p/>
          <a:p>
            <a:r>
              <a:t>=====</a:t>
            </a:r>
          </a:p>
          <a:p/>
          <a:p>
            <a:r>
              <a:t>Section one. The opening slide gave us a model of moving from requirements to acceptable realizations. Now we ask the first question: what does specification add?</a:t>
            </a:r>
          </a:p>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p>
            <a:r>
              <a:t>- Slide 2 already framed the model; do not re-explain it. This slide makes the abstract arrow concrete.</a:t>
            </a:r>
          </a:p>
          <a:p/>
          <a:p>
            <a:r>
              <a:t>- Name these Build A, B and C out loud. The letters carry through the lecture; later slides eliminate them one at a time.</a:t>
            </a:r>
          </a:p>
          <a:p/>
          <a:p>
            <a:r>
              <a:t>- Ask the closing question and take two answers before moving on.</a:t>
            </a:r>
          </a:p>
          <a:p/>
          <a:p>
            <a:r>
              <a:t>=====</a:t>
            </a:r>
          </a:p>
          <a:p/>
          <a:p>
            <a:r>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p>
            <a:r>
              <a:t>Every one of those satisfies the sentence. None of them is the same product. A user would notice immediately which one they had.</a:t>
            </a:r>
          </a:p>
          <a:p/>
          <a:p>
            <a:r>
              <a:t>So what does specification add that R4 did not tell us? Start with the boundary between the world we care about and the machine we can build.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p>
            <a:r>
              <a:t>- This is the slide that carries Zave &amp; Jackson. The next one only consolidates it visually.</a:t>
            </a:r>
          </a:p>
          <a:p/>
          <a:p>
            <a:r>
              <a:t>- The concrete pair is the whole lesson: same intent, two vocabularies.</a:t>
            </a:r>
          </a:p>
          <a:p/>
          <a:p>
            <a:r>
              <a:t>- Students read the paper. Do not lecture the taxonomy; make its central insight usable.</a:t>
            </a:r>
          </a:p>
          <a:p/>
          <a:p>
            <a:r>
              <a:t>=====</a:t>
            </a:r>
          </a:p>
          <a:p/>
          <a:p>
            <a:r>
              <a:t>Read the left card. Users are warned before illness affects their day. Notice the vocabulary: users, illness, days. None of those are things a program can touch.</a:t>
            </a:r>
          </a:p>
          <a:p/>
          <a:p>
            <a:r>
              <a:t>Now the right card. Emit one advisory within sixty seconds of wake detection. Sleep data in, advisory out. Every term is something the machine can sense or emit.</a:t>
            </a:r>
          </a:p>
          <a:p/>
          <a:p>
            <a:r>
              <a:t>That is the boundary. A requirement is about the world; a specification constrains the machine at its interface with the world.</a:t>
            </a:r>
          </a:p>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p>
            <a:r>
              <a:t>That gives us the distinction. Now let's make the relationship precise.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p>
            <a:r>
              <a:t>That is the theory. Now try doing it yourself for another Sleep Advisor requirement.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p>
            <a:r>
              <a:t>- Hold the timing firmly: 1 think, 2 pair, 2 share. Do not let the share run — the payoff is three slides away.</a:t>
            </a:r>
          </a:p>
          <a:p/>
          <a:p>
            <a:r>
              <a:t>- Likely answers to Q1: send it, let them pick a doctor, pick a format. Q2: consent, retention, revocation, what counts as a summary, what if sending fails. Q3: transport, file format, styling.</a:t>
            </a:r>
          </a:p>
          <a:p/>
          <a:p>
            <a:r>
              <a:t>- Do NOT introduce unknown / tacit / free here. Students must wrestle with the question first.</a:t>
            </a:r>
          </a:p>
          <a:p/>
          <a:p>
            <a:r>
              <a:t>- Close with the line on screen; that is the transition, not a summary.</a:t>
            </a:r>
          </a:p>
          <a:p/>
          <a:p>
            <a:r>
              <a:t>=====</a:t>
            </a:r>
          </a:p>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p>
            <a:r>
              <a:t>Now two minutes with a neighbour. Compare your missing-facts lists and mark the ones you would be content to let the implementor decide.</a:t>
            </a:r>
          </a:p>
          <a:p/>
          <a:p>
            <a:r>
              <a:t>Take three or four answers. Push on any two people who disagreed about whether something could be left open — that disagreement is the seed of the next section.</a:t>
            </a:r>
          </a:p>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just tried this for one requirement in a much smaller system. What happens when engineers have to answer the same question for a much more complex system?</a:t>
            </a:r>
          </a:p>
          <a:p>
            <a:r>
              <a:t>Let's look at one substantial example: the A-7E aircraft software specification.</a:t>
            </a:r>
          </a:p>
          <a:p>
            <a:r>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next few minutes, I want to show you a substantial real specification.</a:t>
            </a:r>
          </a:p>
          <a:p>
            <a:r>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t>As we look at it, do not ask which specification language they chose. They did not choose one. They use prose, defined data, tables, modes, timing constraints, and other forms.</a:t>
            </a:r>
          </a:p>
          <a:p>
            <a:r>
              <a:t>Instead ask the question we have been asking throughout this lecture: what did they need to constrain, and what could they safely leave to the implementor?</a:t>
            </a:r>
          </a:p>
          <a:p>
            <a:r>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p>
            <a:r>
              <a:t>Suppose our specification makes those obligations concrete with this state model. Now we can ask a question that was difficult to answer from the requirements alone: what may happen next?</a:t>
            </a:r>
          </a:p>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p>
            <a:r>
              <a:t>The obligation existed before the diagram. The diagram makes it expressible, so it can be checked.</a:t>
            </a:r>
          </a:p>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p>
            <a:r>
              <a:t>Suppose the specification defines that boundary object with this schema. A schema is specification-level when it constrains the information crossing the machine boundary: what a weekly summary must contain for anyone to accept it as a weekly summary.</a:t>
            </a:r>
          </a:p>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p>
            <a:r>
              <a:t>None of them is a tier or a refinement of another. They are peers. They join through shared concepts: an observation, a night, an advisory. That shared vocabulary is what lets the three views describe one system without any of them being complete.</a:t>
            </a:r>
          </a:p>
          <a:p/>
          <a:p>
            <a:r>
              <a:t>All three views elaborate requirements from the same seven-line requirements set we saw at the beginning.</a:t>
            </a:r>
          </a:p>
          <a:p/>
          <a:p>
            <a:r>
              <a:t>So the closing claim of this section: no single representation needs to say everything. Use the view that makes the consequential property expressible.</a:t>
            </a:r>
          </a:p>
          <a:p/>
          <a:p>
            <a:r>
              <a:t>And the reason this matters beyond today: the system did not change across these examples. The engineering question changed, so the model changed.</a:t>
            </a:r>
          </a:p>
          <a:p/>
          <a:p>
            <a:r>
              <a:t>Next week the questions change again, to how the system should be structured, and the useful views will change with them. Same move, different questions.</a:t>
            </a:r>
          </a:p>
          <a:p/>
          <a:p>
            <a:r>
              <a:t>So far we have asked how to represent an obligation once we know it matters. The next question is harder: which obligations should we impose at all?</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p>
            <a:r>
              <a:t>- Sections 1 and 2 were about making obligations explicit and visible. This section asks how many there should be.</a:t>
            </a:r>
          </a:p>
          <a:p/>
          <a:p>
            <a:r>
              <a:t>- Do not pause for discussion here.</a:t>
            </a:r>
          </a:p>
          <a:p/>
          <a:p>
            <a:r>
              <a:t>=====</a:t>
            </a:r>
          </a:p>
          <a:p/>
          <a:p>
            <a:r>
              <a:t>Section three. We now know how to write obligations down and how to choose a representation that makes them visible. The harder question is how much of the realization we should be deciding at all.</a:t>
            </a:r>
          </a:p>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picture behind everything we have said about freedom.</a:t>
            </a:r>
          </a:p>
          <a:p>
            <a:r>
              <a:t>The outer box is the space of programs someone could write. Each obligation we state carves out a region: the realizations that satisfy it. The intersection is the acceptable set.</a:t>
            </a:r>
          </a:p>
          <a:p>
            <a:r>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t>Second, every obligation we add shrinks the region. That is the cost side. So the question is never how much can we specify. It is which eliminated alternatives actually mattered.</a:t>
            </a:r>
          </a:p>
          <a:p>
            <a:r>
              <a:t>Narrowing is valuable only when the eliminated alternatives matter. If two realizations are equally acceptable, a specification that forbids one has spent constraint and bought nothing.</a:t>
            </a:r>
          </a:p>
          <a:p/>
          <a:p>
            <a:r>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p>
            <a:r>
              <a:t>Let's see whether that distinction survives contact with an actual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p>
            <a:r>
              <a:t>- Hold the timing. Cut the share short rather than letting it run; the disagreement is the point, not resolving it.</a:t>
            </a:r>
          </a:p>
          <a:p/>
          <a:p>
            <a:r>
              <a:t>- Banner colour: usually free — unless colour-blind users or a clinic house style make it consequential. Then tacit.</a:t>
            </a:r>
          </a:p>
          <a:p/>
          <a:p>
            <a:r>
              <a:t>- Detection sensitivity: the clearest UNKNOWN candidate. We may not yet know what tradeoff users will tolerate between missed events and false alarms. The response is not to invent a number because a specification needs one. The response may be to learn.</a:t>
            </a:r>
          </a:p>
          <a:p/>
          <a:p>
            <a:r>
              <a:t>- Database: usually free — unless hosting location is regulated, in which case tacit.</a:t>
            </a:r>
          </a:p>
          <a:p/>
          <a:p>
            <a:r>
              <a:t>- Bounced mail: almost always tacit, and the most interesting one. Nobody wrote down that the user must find out.</a:t>
            </a:r>
          </a:p>
          <a:p/>
          <a:p>
            <a:r>
              <a:t>- Ask what additional context would change their classification. That question is the learning objective.</a:t>
            </a:r>
          </a:p>
          <a:p/>
          <a:p>
            <a:r>
              <a:t>=====</a:t>
            </a:r>
          </a:p>
          <a:p/>
          <a:p>
            <a:r>
              <a:t>One minute alone, then two with a neighbour. Argue for a classification, then say what additional context would change your classification.</a:t>
            </a:r>
          </a:p>
          <a:p/>
          <a:p>
            <a:r>
              <a:t>Take answers on the last one first — it produces the strongest disagreement. Then close: where you disagreed is where the engineering is. The label depends on what the system owes people, not on the words in the document.</a:t>
            </a:r>
          </a:p>
          <a:p/>
          <a:p>
            <a:r>
              <a:t>One of those cases is worth following. Suppose we decide the bounced-email behavior wasn't free at all—it was tacit.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p>
            <a:r>
              <a:t>- This slide is about the TACIT category specifically. The general freedom argument is already made; do not repeat it.</a:t>
            </a:r>
          </a:p>
          <a:p/>
          <a:p>
            <a:r>
              <a:t>- Candidate D callback: the specification appears to permit D, an agent builds it, a human objects — and the objection IS the unrepresented obligation.</a:t>
            </a:r>
          </a:p>
          <a:p/>
          <a:p>
            <a:r>
              <a:t>- Keep it concrete and lightly funny. Avoid generic AI alarmism.</a:t>
            </a:r>
          </a:p>
          <a:p/>
          <a:p>
            <a:r>
              <a:t>=====</a:t>
            </a:r>
          </a:p>
          <a:p/>
          <a:p>
            <a:r>
              <a:t>Return to R7 one last time. Earlier you tried to decide what an implementor would need to know. Here is what happens when one of those consequential facts stays in someone's head.</a:t>
            </a:r>
          </a:p>
          <a:p/>
          <a:p>
            <a:r>
              <a:t>A teammate who sits near you gets a bounced mail and tells the user, because obviously. An agent gets a bounced mail, logs a warning, and returns success. Nothing in R7 forbids that.</a:t>
            </a:r>
          </a:p>
          <a:p/>
          <a:p>
            <a:r>
              <a:t>That objection — obviously not that — is the sound of an obligation nobody externalised. It was real; it just was not written anywhere.</a:t>
            </a:r>
          </a:p>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p>
            <a:r>
              <a:t>Say aloud rather than showing: the agent does not share the team's unstated context, and what changed is the cost of leaving context unsaid.</a:t>
            </a:r>
          </a:p>
          <a:p/>
          <a:p>
            <a:r>
              <a:t>So why not eliminate this problem by specifying everything? Because constraints have a cost too—and software changes the economics of when we need to commit.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p>
            <a:r>
              <a:t>If changing software is relatively cheap, building can sometimes be part of how we learn what should have been constrained.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p>
            <a:r>
              <a:t>- Second half of a pair with the not-constrained-is-not-free slide: that carried the principle, this is the story. Tell it once.</a:t>
            </a:r>
          </a:p>
          <a:p/>
          <a:p>
            <a:r>
              <a:t>- This is the UNKNOWN case: the requirement (R5) was known from the beginning; the right specification of it was not.</a:t>
            </a:r>
          </a:p>
          <a:p/>
          <a:p>
            <a:r>
              <a:t>- The state model already made REBASELINING explicit; this story is about learning that the boundary we specified for it was drawn wrong.</a:t>
            </a:r>
          </a:p>
          <a:p/>
          <a:p>
            <a:r>
              <a:t>=====</a:t>
            </a:r>
          </a:p>
          <a:p/>
          <a:p>
            <a:r>
              <a:t>Go back to R5. We knew from the beginning that the app must adapt when a user's normal changes. So the problem here is not that we forgot the requirement.</a:t>
            </a:r>
          </a:p>
          <a:p/>
          <a:p>
            <a:r>
              <a:t>The problem is that knowing the requirement does not mean we already know the right specification. Suppose we decide that a sufficiently persistent shift should cause the system to establish a new baseline. We build that rule and put it into use.</a:t>
            </a:r>
          </a:p>
          <a:p/>
          <a:p>
            <a:r>
              <a:t>Then observation teaches us that persistence alone does not capture the distinction we actually care about. The implementation may have done exactly what the specification required. What changed was our understanding of the acceptable boundary.</a:t>
            </a:r>
          </a:p>
          <a:p/>
          <a:p>
            <a:r>
              <a:t>This is the UNKNOWN case from a few slides ago. The answer was not to specify harder before we had evidence. We specified enough to proceed, built, observed, and learned.</a:t>
            </a:r>
          </a:p>
          <a:p/>
          <a:p>
            <a:r>
              <a:t>Do not turn this into an anti-specification argument. R5 remained valid. What changed was our specification of how that requirement should be realized.</a:t>
            </a:r>
          </a:p>
          <a:p/>
          <a:p>
            <a:r>
              <a:t>That gives us the third response to an unsettled choice: not constrain, not leave open—explore.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Hand students the practical rule the whole lecture was arguing for.</a:t>
            </a:r>
          </a:p>
          <a:p/>
          <a:p>
            <a:r>
              <a:t>- Deliver slowly; three sentences. This is the slide where you say less than you want to.</a:t>
            </a:r>
          </a:p>
          <a:p/>
          <a:p>
            <a:r>
              <a:t>- EXPLORE is the third answer the degrees-of-freedom section earned. It is not a euphemism for failing to decide.</a:t>
            </a:r>
          </a:p>
          <a:p/>
          <a:p>
            <a:r>
              <a:t>- Line one answers the obligations side of the model, line two the freedom side, line three the unknown category.</a:t>
            </a:r>
          </a:p>
          <a:p/>
          <a:p>
            <a:r>
              <a:t>- Protect this slide's time even if earlier sections ran long.</a:t>
            </a:r>
          </a:p>
          <a:p/>
          <a:p>
            <a:r>
              <a:t>=====</a:t>
            </a:r>
          </a:p>
          <a:p/>
          <a:p>
            <a:r>
              <a:t>Constrain when two reasonable answers would produce products a user could tell apart, or different risk. Build A versus Build B was exactly this.</a:t>
            </a:r>
          </a:p>
          <a:p/>
          <a:p>
            <a:r>
              <a:t>Leave open when every answer is acceptable. Say so in writing if you can — marking something deliberately open stops the next reader treating it as an oversight, and stops an agent treating it as an invitation.</a:t>
            </a:r>
          </a:p>
          <a:p/>
          <a:p>
            <a:r>
              <a:t>Explore when you do not yet know which of those two it is. Build something, look, then decide.</a:t>
            </a:r>
          </a:p>
          <a:p/>
          <a:p>
            <a:r>
              <a:t>Read the three rules slowly and stop. They are the practical synthesis of the lecture.</a:t>
            </a:r>
          </a:p>
          <a:p/>
          <a:p>
            <a:r>
              <a:t>Check the room: ask someone to state the rule applied to their project. If what comes back is "write more requirements", it has not landed.</a:t>
            </a:r>
          </a:p>
          <a:p/>
          <a:p>
            <a:r>
              <a:t>One last distinction: once we've bounded the acceptable realizations, specification is not the rest of software engineering.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p>
            <a:r>
              <a:t>- It is the model from slide 2, extended forward. Students should recognise it instantly.</a:t>
            </a:r>
          </a:p>
          <a:p/>
          <a:p>
            <a:r>
              <a:t>- Architecture and design hang under A, not under SPECIFICATION. That is the argument.</a:t>
            </a:r>
          </a:p>
          <a:p/>
          <a:p>
            <a:r>
              <a:t>- Students picture requirements to design as one ladder of increasing detail. If architecture were more specification, every architectural decision would be an obligation on the implementor — which is not how anyone works.</a:t>
            </a:r>
          </a:p>
          <a:p/>
          <a:p>
            <a:r>
              <a:t>- If over time: skip the second build and say the closing line.</a:t>
            </a:r>
          </a:p>
          <a:p/>
          <a:p>
            <a:r>
              <a:t>- Check: can they say why requirements alone may not be buildable, what a specification adds, why more than one representation, what a degree of freedom is, why unspecified is not free, why not specify everything, and how iteration discovers specification?</a:t>
            </a:r>
          </a:p>
          <a:p/>
          <a:p>
            <a:r>
              <a:t>=====</a:t>
            </a:r>
          </a:p>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p>
            <a:r>
              <a:t>ANIMATE</a:t>
            </a:r>
          </a:p>
          <a:p/>
          <a:p>
            <a:r>
              <a:t>Architecture asks how the system is structured. Design asks how each part is realised inside. Both hang under one candidate.</a:t>
            </a:r>
          </a:p>
          <a:p/>
          <a:p>
            <a:r>
              <a:t>ANIMATE</a:t>
            </a:r>
          </a:p>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p>
            <a:r>
              <a:t>Today we asked which realizations are acceptable. Next we start choosing how one of those acceptable systems should be structured.</a:t>
            </a:r>
          </a:p>
          <a:p/>
          <a:p>
            <a:r>
              <a:t>Constrain what matters. Leave acceptable alternatives open. Explore what you do not yet understand.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sv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jpeg"/><Relationship Id="rId4" Type="http://schemas.openxmlformats.org/officeDocument/2006/relationships/image" Target="../media/image11.svg"/><Relationship Id="rId5" Type="http://schemas.openxmlformats.org/officeDocument/2006/relationships/image" Target="../media/image1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pPr>
            <a:r>
              <a:rPr lang="en-US" sz="3000" b="1"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400" b="1" dirty="0">
                <a:solidFill>
                  <a:srgbClr val="3A3A3A"/>
                </a:solidFill>
              </a:rPr>
              <a:t>MONITORING</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300" b="1" dirty="0">
                <a:solidFill>
                  <a:srgbClr val="FFFFFF"/>
                </a:solidFill>
              </a:rPr>
              <a:t>REBASELINING</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allowable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MONITORING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524000"/>
            <a:ext cx="304800" cy="0"/>
          </a:xfrm>
          <a:prstGeom prst="line">
            <a:avLst/>
          </a:prstGeom>
          <a:ln w="19050">
            <a:solidFill>
              <a:srgbClr val="8E6F3E"/>
            </a:solidFill>
            <a:tailEnd type="triangle"/>
          </a:ln>
        </p:spPr>
      </p:cxnSp>
      <p:cxnSp>
        <p:nvCxnSpPr>
          <p:cNvPr id="1120" name="Flow"/>
          <p:cNvCxnSpPr/>
          <p:nvPr/>
        </p:nvCxnSpPr>
        <p:spPr>
          <a:xfrm flipH="1">
            <a:off x="3632200" y="1828800"/>
            <a:ext cx="304800" cy="0"/>
          </a:xfrm>
          <a:prstGeom prst="line">
            <a:avLst/>
          </a:prstGeom>
          <a:ln w="19050">
            <a:solidFill>
              <a:srgbClr val="8E6F3E"/>
            </a:solidFill>
            <a:tailEnd type="triangle"/>
          </a:ln>
        </p:spPr>
      </p:cxnSp>
      <p:sp>
        <p:nvSpPr>
          <p:cNvPr id="1103" name="Lb"/>
          <p:cNvSpPr txBox="1"/>
          <p:nvPr/>
        </p:nvSpPr>
        <p:spPr>
          <a:xfrm>
            <a:off x="1155700" y="1092200"/>
            <a:ext cx="1600200" cy="254000"/>
          </a:xfrm>
          <a:prstGeom prst="rect">
            <a:avLst/>
          </a:prstGeom>
          <a:noFill/>
          <a:ln>
            <a:noFill/>
          </a:ln>
        </p:spPr>
        <p:txBody>
          <a:bodyPr lIns="0" tIns="0" rIns="0" bIns="0" anchor="ctr">
            <a:noAutofit/>
          </a:bodyPr>
          <a:lstStyle/>
          <a:p>
            <a:pPr algn="ctr">
              <a:buNone/>
            </a:pPr>
            <a:r>
              <a:rPr lang="en-US" sz="1000" dirty="0">
                <a:solidFill>
                  <a:srgbClr val="555960"/>
                </a:solidFill>
              </a:rPr>
              <a:t>baseline established</a:t>
            </a:r>
          </a:p>
        </p:txBody>
      </p:sp>
      <p:sp>
        <p:nvSpPr>
          <p:cNvPr id="1121" name="Lb"/>
          <p:cNvSpPr txBox="1"/>
          <p:nvPr/>
        </p:nvSpPr>
        <p:spPr>
          <a:xfrm>
            <a:off x="2882900" y="2019300"/>
            <a:ext cx="1803400" cy="254000"/>
          </a:xfrm>
          <a:prstGeom prst="rect">
            <a:avLst/>
          </a:prstGeom>
          <a:noFill/>
          <a:ln>
            <a:noFill/>
          </a:ln>
        </p:spPr>
        <p:txBody>
          <a:bodyPr lIns="0" tIns="0" rIns="0" bIns="0" anchor="ctr">
            <a:noAutofit/>
          </a:bodyPr>
          <a:lstStyle/>
          <a:p>
            <a:pPr algn="ctr">
              <a:buNone/>
            </a:pPr>
            <a:r>
              <a:rPr lang="en-US" sz="1000" dirty="0">
                <a:solidFill>
                  <a:srgbClr val="555960"/>
                </a:solidFill>
              </a:rPr>
              <a:t>pattern returns to normal</a:t>
            </a:r>
          </a:p>
        </p:txBody>
      </p:sp>
      <p:sp>
        <p:nvSpPr>
          <p:cNvPr id="1104" name="Lb"/>
          <p:cNvSpPr txBox="1"/>
          <p:nvPr/>
        </p:nvSpPr>
        <p:spPr>
          <a:xfrm>
            <a:off x="2641600" y="1092200"/>
            <a:ext cx="2286000" cy="254000"/>
          </a:xfrm>
          <a:prstGeom prst="rect">
            <a:avLst/>
          </a:prstGeom>
          <a:noFill/>
          <a:ln>
            <a:noFill/>
          </a:ln>
        </p:spPr>
        <p:txBody>
          <a:bodyPr lIns="0" tIns="0" rIns="0" bIns="0" anchor="ctr">
            <a:noAutofit/>
          </a:bodyPr>
          <a:lstStyle/>
          <a:p>
            <a:pPr algn="ctr">
              <a:buNone/>
            </a:pPr>
            <a:r>
              <a:rPr lang="en-US" sz="1000" dirty="0">
                <a:solidFill>
                  <a:srgbClr val="555960"/>
                </a:solidFill>
              </a:rPr>
              <a:t>meaningful departure detected</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2921000" y="2620000"/>
            <a:ext cx="1651000" cy="254000"/>
          </a:xfrm>
          <a:prstGeom prst="rect">
            <a:avLst/>
          </a:prstGeom>
          <a:noFill/>
          <a:ln>
            <a:noFill/>
          </a:ln>
        </p:spPr>
        <p:txBody>
          <a:bodyPr lIns="0" tIns="0" rIns="0" bIns="0" anchor="ctr">
            <a:noAutofit/>
          </a:bodyPr>
          <a:lstStyle/>
          <a:p>
            <a:pPr algn="r">
              <a:buNone/>
            </a:pPr>
            <a:r>
              <a:rPr lang="en-US" sz="1000" dirty="0">
                <a:solidFill>
                  <a:srgbClr val="555960"/>
                </a:solidFill>
              </a:rPr>
              <a:t>change appears persistent</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lgn="l">
              <a:buNone/>
            </a:pPr>
            <a:r>
              <a:rPr lang="en-US" sz="10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allowable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sensitive should illness detection be?</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Persistence alone does not tell us what “normal” means.</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what we specified.</a:t>
            </a:r>
          </a:p>
          <a:p>
            <a:pPr algn="ctr">
              <a:spcBef>
                <a:spcPts val="180"/>
              </a:spcBef>
              <a:buNone/>
            </a:pPr>
            <a:r>
              <a:rPr lang="en-US" sz="2200" b="1" i="0" dirty="0">
                <a:solidFill>
                  <a:srgbClr val="FFFFFF"/>
                </a:solidFill>
              </a:rPr>
              <a:t>Use taught us that the boundary was wrong.</a:t>
            </a:r>
          </a:p>
        </p:txBody>
      </p:sp>
    </p:spTree>
    <p:extLst>
      <p:ext uri="{BB962C8B-B14F-4D97-AF65-F5344CB8AC3E}">
        <p14:creationId xmlns:p14="http://schemas.microsoft.com/office/powerpoint/2010/main" val="326971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