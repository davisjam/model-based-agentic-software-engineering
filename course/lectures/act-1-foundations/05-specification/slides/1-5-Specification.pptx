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651" r:id="rId4"/>
    <p:sldId id="758" r:id="rId36"/>
    <p:sldId id="744" r:id="rId5"/>
    <p:sldId id="729" r:id="rId6"/>
    <p:sldId id="745" r:id="rId7"/>
    <p:sldId id="746" r:id="rId8"/>
    <p:sldId id="704" r:id="rId9"/>
    <p:sldId id="731" r:id="rId10"/>
    <p:sldId id="747" r:id="rId11"/>
    <p:sldId id="748" r:id="rId12"/>
    <p:sldId id="749" r:id="rId13"/>
    <p:sldId id="750" r:id="rId14"/>
    <p:sldId id="720" r:id="rId15"/>
    <p:sldId id="751" r:id="rId16"/>
    <p:sldId id="752" r:id="rId17"/>
    <p:sldId id="712" r:id="rId18"/>
    <p:sldId id="713" r:id="rId19"/>
    <p:sldId id="735" r:id="rId20"/>
    <p:sldId id="753" r:id="rId21"/>
    <p:sldId id="701" r:id="rId22"/>
    <p:sldId id="754" r:id="rId23"/>
    <p:sldId id="755" r:id="rId24"/>
    <p:sldId id="638" r:id="rId25"/>
    <p:sldId id="756" r:id="rId26"/>
    <p:sldId id="757" r:id="rId27"/>
    <p:sldId id="739" r:id="rId28"/>
    <p:sldId id="740"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1" autoAdjust="0"/>
    <p:restoredTop sz="68973"/>
  </p:normalViewPr>
  <p:slideViewPr>
    <p:cSldViewPr snapToGrid="0" snapToObjects="1">
      <p:cViewPr varScale="1">
        <p:scale>
          <a:sx n="81" d="100"/>
          <a:sy n="81" d="100"/>
        </p:scale>
        <p:origin x="148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20 seconds — Give the lecture a visible hierarchy; name the first movement and move on.</a:t>
            </a:r>
          </a:p>
          <a:p>
            <a:endParaRPr lang="en-US" sz="1200"/>
          </a:p>
          <a:p>
            <a:r>
              <a:rPr lang="en-US" sz="1200" dirty="0"/>
              <a:t>- Deliberately brief. Do not add content; the slide's job is structural.</a:t>
            </a:r>
          </a:p>
          <a:p>
            <a:endParaRPr lang="en-US" sz="1200"/>
          </a:p>
          <a:p>
            <a:r>
              <a:rPr lang="en-US" sz="1200" dirty="0"/>
              <a:t>- The four section names match the footer on slide 2: specification, representation, freedom, learning.</a:t>
            </a:r>
          </a:p>
          <a:p>
            <a:endParaRPr lang="en-US" sz="1200"/>
          </a:p>
          <a:p>
            <a:r>
              <a:rPr lang="en-US" sz="1200" dirty="0"/>
              <a:t>=====</a:t>
            </a:r>
          </a:p>
          <a:p>
            <a:endParaRPr lang="en-US" sz="1200"/>
          </a:p>
          <a:p>
            <a:r>
              <a:rPr lang="en-US" sz="1200" dirty="0"/>
              <a:t>Section one. The opening slide gave us a model of moving from requirements to acceptable realizations. Now we ask the first question: what does specification add?</a:t>
            </a:r>
          </a:p>
          <a:p>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Show that reasonable requirements can still admit substantially different realizations.</a:t>
            </a:r>
          </a:p>
          <a:p/>
          <a:p>
            <a:r>
              <a:t>- Slide 2 already framed the model; do not re-explain it. This slide makes the abstract arrow concrete.</a:t>
            </a:r>
          </a:p>
          <a:p/>
          <a:p>
            <a:r>
              <a:t>- Name these Build A, B and C out loud. The letters carry through the lecture; later slides eliminate them one at a time.</a:t>
            </a:r>
          </a:p>
          <a:p/>
          <a:p>
            <a:r>
              <a:t>- Ask the closing question and take two answers before moving on.</a:t>
            </a:r>
          </a:p>
          <a:p/>
          <a:p>
            <a:r>
              <a:t>=====</a:t>
            </a:r>
          </a:p>
          <a:p/>
          <a:p>
            <a:r>
              <a:t>Take just one of those requirements: R4. 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p>
            <a:r>
              <a:t>Every one of those satisfies the sentence. None of them is the same product. A user would notice immediately which one they had.</a:t>
            </a:r>
          </a:p>
          <a:p/>
          <a:p>
            <a:r>
              <a:t>So which differences did we actually mean to constrain? That question is what specification is for, and it is the rest of the hour.</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3 minutes — Install the world/machine boundary as a working distinction, not a formalism.</a:t>
            </a:r>
          </a:p>
          <a:p>
            <a:endParaRPr lang="en-US" sz="1200"/>
          </a:p>
          <a:p>
            <a:r>
              <a:rPr lang="en-US" sz="1200" dirty="0"/>
              <a:t>- This is the slide that carries Zave &amp; Jackson. The next one only consolidates it visually.</a:t>
            </a:r>
          </a:p>
          <a:p>
            <a:endParaRPr lang="en-US" sz="1200"/>
          </a:p>
          <a:p>
            <a:r>
              <a:rPr lang="en-US" sz="1200" dirty="0"/>
              <a:t>- The concrete pair is the whole lesson: same intent, two vocabularies.</a:t>
            </a:r>
          </a:p>
          <a:p>
            <a:endParaRPr lang="en-US" sz="1200"/>
          </a:p>
          <a:p>
            <a:r>
              <a:rPr lang="en-US" sz="1200" dirty="0"/>
              <a:t>- Students read the paper. Do not lecture the taxonomy; make its central insight usable.</a:t>
            </a:r>
          </a:p>
          <a:p>
            <a:endParaRPr lang="en-US" sz="1200"/>
          </a:p>
          <a:p>
            <a:r>
              <a:rPr lang="en-US" sz="1200" dirty="0"/>
              <a:t>=====</a:t>
            </a:r>
          </a:p>
          <a:p>
            <a:endParaRPr lang="en-US" sz="1200"/>
          </a:p>
          <a:p>
            <a:r>
              <a:rPr lang="en-US" sz="1200" dirty="0"/>
              <a:t>Read the left card. Users are warned before illness affects their day. Notice the vocabulary: users, illness, days. None of those are things a program can touch.</a:t>
            </a:r>
          </a:p>
          <a:p>
            <a:endParaRPr lang="en-US" sz="1200"/>
          </a:p>
          <a:p>
            <a:r>
              <a:rPr lang="en-US" sz="1200" dirty="0"/>
              <a:t>Now the right card. Emit one advisory within sixty seconds of wake detection. Sleep data in, advisory out. Every term is something the machine can sense or emit.</a:t>
            </a:r>
          </a:p>
          <a:p>
            <a:endParaRPr lang="en-US" sz="1200"/>
          </a:p>
          <a:p>
            <a:r>
              <a:rPr lang="en-US" sz="1200" dirty="0"/>
              <a:t>That is the boundary. A requirement is about the world; a specification constrains the machine at its interface with the world.</a:t>
            </a:r>
          </a:p>
          <a:p>
            <a:endParaRPr lang="en-US" sz="1200"/>
          </a:p>
          <a:p>
            <a:r>
              <a:rPr lang="en-US" sz="1200" dirty="0"/>
              <a:t>Zave and Jackson's point is that confusing the two is the most common way this work goes wrong. You end up with a document that reads like a requirement and is handed over as if it were buildable — or one that reads like code and no longer says what anyone wanted.</a:t>
            </a:r>
          </a:p>
          <a:p>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Zave and Jackson picture of the relationship between the world and the machine.</a:t>
            </a:r>
          </a:p>
          <a:p>
            <a:r>
              <a:rPr lang="en-US" dirty="0"/>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rPr lang="en-US" dirty="0"/>
              <a:t>Put together: specification plus domain assumptions should imply the requirement.</a:t>
            </a:r>
          </a:p>
          <a:p>
            <a:r>
              <a:rPr lang="en-US" dirty="0"/>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rPr lang="en-US" dirty="0"/>
              <a:t>Zave and Jackson call the problems clustered around these relationships the four dark corners of requirements engineering. You do not need the terminology; you need the relationship.</a:t>
            </a:r>
          </a:p>
          <a:p>
            <a:r>
              <a:rPr lang="en-US" dirty="0"/>
              <a:t>If the requirement does not follow, inspect both the specification and the domain assumptions.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Students discover that omissions differ in kind before we give them the vocabulary.</a:t>
            </a:r>
          </a:p>
          <a:p/>
          <a:p>
            <a:r>
              <a:t>- Hold the timing firmly: 1 think, 2 pair, 2 share. Do not let the share run — the payoff is three slides away.</a:t>
            </a:r>
          </a:p>
          <a:p/>
          <a:p>
            <a:r>
              <a:t>- Likely answers to Q1: send it, let them pick a doctor, pick a format. Q2: consent, retention, revocation, what counts as a summary, what if sending fails. Q3: transport, file format, styling.</a:t>
            </a:r>
          </a:p>
          <a:p/>
          <a:p>
            <a:r>
              <a:t>- Do NOT introduce unknown / tacit / free here. Students must wrestle with the question first.</a:t>
            </a:r>
          </a:p>
          <a:p/>
          <a:p>
            <a:r>
              <a:t>- Close with the line on screen; that is the transition, not a summary.</a:t>
            </a:r>
          </a:p>
          <a:p/>
          <a:p>
            <a:r>
              <a:t>=====</a:t>
            </a:r>
          </a:p>
          <a:p/>
          <a:p>
            <a:r>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p>
            <a:r>
              <a:t>Now two minutes with a neighbour. Compare your missing-facts lists and mark the ones you would be content to let the implementor decide.</a:t>
            </a:r>
          </a:p>
          <a:p/>
          <a:p>
            <a:r>
              <a:t>Take three or four answers. Push on any two people who disagreed about whether something could be left open — that disagreement is the seed of the next section.</a:t>
            </a:r>
          </a:p>
          <a:p/>
          <a:p>
            <a:r>
              <a:t>Then close: notice that not every missing fact has the same status. Some you could answer today and did not. Some we do not yet know how to answer. Some you genuinely do not care about. We will come back to that.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 have been talking abstractly about what a specification does.</a:t>
            </a:r>
          </a:p>
          <a:p>
            <a:r>
              <a:rPr lang="en-US" dirty="0"/>
              <a:t>Let us look at what happens when somebody actually has to do this for a complicated engineered system.</a:t>
            </a:r>
          </a:p>
          <a:p>
            <a:r>
              <a:rPr lang="en-US" dirty="0"/>
              <a:t>We are going to spend a few slides with one real specification: the A-7E aircraft software specification.</a:t>
            </a:r>
          </a:p>
          <a:p>
            <a:r>
              <a:rPr lang="en-US" dirty="0"/>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showing you toy specifications for a few minutes and show you a real one.</a:t>
            </a:r>
          </a:p>
          <a:p>
            <a:r>
              <a:rPr lang="en-US" dirty="0"/>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rPr lang="en-US" dirty="0"/>
              <a:t>As we look at it, do not ask which specification language they chose. They did not choose one. They use prose, defined data, tables, modes, timing constraints, and other forms.</a:t>
            </a:r>
          </a:p>
          <a:p>
            <a:r>
              <a:rPr lang="en-US" dirty="0"/>
              <a:t>Instead ask the question we have been asking throughout this lecture: what did they need to constrain, and what could they safely leave to the implementor?</a:t>
            </a:r>
          </a:p>
          <a:p>
            <a:r>
              <a:rPr lang="en-US" dirty="0"/>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more unusual thing in this document: it explicitly discusses expected types of future changes.</a:t>
            </a:r>
          </a:p>
          <a:p>
            <a:r>
              <a:rPr lang="en-US" dirty="0"/>
              <a:t>Why would that belong in a specification?</a:t>
            </a:r>
          </a:p>
          <a:p>
            <a:r>
              <a:rPr lang="en-US" dirty="0"/>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rPr lang="en-US" dirty="0"/>
              <a:t>So the specification gives designers another kind of information: what can I safely treat as stable, and where should I preserve flexibility? Chapter 9 lists the fundamental assumptions first, then computer changes, interface changes, and function changes.</a:t>
            </a:r>
          </a:p>
          <a:p>
            <a:r>
              <a:rPr lang="en-US" dirty="0"/>
              <a:t>Notice again what the authors are not doing. They are not prescribing every internal decision. They are telling the implementor which decisions are consequential.</a:t>
            </a:r>
          </a:p>
          <a:p>
            <a:r>
              <a:rPr lang="en-US" dirty="0"/>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rPr lang="en-US" dirty="0"/>
              <a:t>Transition: which brings us back to representation. These obligations do not all look alike, so neither do the representations we use to express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now step away from the aircraft. What should we generalize from what we just saw?</a:t>
            </a:r>
          </a:p>
          <a:p>
            <a:r>
              <a:rPr lang="en-US" dirty="0"/>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rPr lang="en-US" dirty="0"/>
              <a:t>We have learned what we wanted from the A-7E, so I am going to leave the aircraft here. To generalize the lesson we are going back to our Sleep Advisor running example. The system is changing, but the modeling question is the same: what representation makes the property we care about visible?</a:t>
            </a:r>
          </a:p>
          <a:p>
            <a:r>
              <a:rPr lang="en-US" dirty="0"/>
              <a:t>The A-7E needed several representations because different obligations required us to see different things. The same thing happens in our much simpler system.</a:t>
            </a:r>
          </a:p>
          <a:p>
            <a:r>
              <a:rPr lang="en-US" dirty="0"/>
              <a:t>This idea has a long history in software engineering. Kruchten's 4+1 view model is a famous example of reasoning about one system through multiple complementary views. MAGE generalizes the move rather than inheriting it: hold the system constant, change the engineering question, and the useful model changes.</a:t>
            </a:r>
          </a:p>
          <a:p>
            <a:r>
              <a:rPr lang="en-US" dirty="0"/>
              <a:t>So for the next few slides we will hold the Sleep Advisor constant and deliberately change the question.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specification is not a notation. We can state obligations in prose, tables, diagrams, equations, schemas, and many other forms. The engineering question determines which representation helps.</a:t>
            </a:r>
          </a:p>
          <a:p>
            <a:r>
              <a:rPr lang="en-US" dirty="0"/>
              <a:t>Part II makes the point sharply: a model is a purposeful reduction. It represents the distinctions the engineering question requires, and it declines to settle choices that do not matter to that question.</a:t>
            </a:r>
          </a:p>
          <a:p>
            <a:r>
              <a:rPr lang="en-US" dirty="0"/>
              <a:t>So hold the system constant and change the question. The useful view changes with it. That is the move we are going to make four times in the next few slides.</a:t>
            </a:r>
          </a:p>
          <a:p>
            <a:r>
              <a:rPr lang="en-US" dirty="0"/>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reason the next four exist.</a:t>
            </a:r>
          </a:p>
          <a:p>
            <a:r>
              <a:rPr lang="en-US" dirty="0"/>
              <a:t>An engineering question comes first. The representation we choose determines which properties we can state at all, and which analyses become tractable. The analysis then produces evidence about whether the property holds.</a:t>
            </a:r>
          </a:p>
          <a:p>
            <a:r>
              <a:rPr lang="en-US" dirty="0"/>
              <a:t>Three words worth keeping distinct. A property is a claim we can express over the model. An invariant is a property required to hold over its declared domain. A check or analysis is evidence about whether it holds.</a:t>
            </a:r>
          </a:p>
          <a:p>
            <a:r>
              <a:rPr lang="en-US" dirty="0"/>
              <a:t>The representation does not create the obligation. The obligation comes from the world and from what we have promised. What the representation gives us is a vocabulary in which the obligation becomes easier to state and reason about.</a:t>
            </a:r>
          </a:p>
          <a:p>
            <a:r>
              <a:rPr lang="en-US" dirty="0"/>
              <a:t>We are not doing formal methods here. We are noticing that an obligation you cannot express is an obligation you cannot check.</a:t>
            </a:r>
          </a:p>
          <a:p>
            <a:r>
              <a:rPr lang="en-US" dirty="0"/>
              <a:t>Part II crops here for us on purpose: analysis can also inform architecture and design, but that is next week's question.</a:t>
            </a:r>
          </a:p>
          <a:p>
            <a:r>
              <a:rPr lang="en-US" dirty="0"/>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 back to the requirements we started with.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p>
            <a:r>
              <a:t>Suppose our specification makes those obligations concrete with this state model. Now we can ask a question that was difficult to answer from the requirements alone: what may happen next?</a:t>
            </a:r>
          </a:p>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p>
            <a:r>
              <a:t>The obligation existed before the diagram. The diagram makes it expressible, so it can be checked.</a:t>
            </a:r>
          </a:p>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hold the Sleep Advisor fixed and change the engineering question. R1 says to track sleep, R3 says to identify departures, and R4 says to alert the user. The requirements do not establish every allowable ordering among those activities. Suppose the specification adds this ordering constraint.</a:t>
            </a:r>
          </a:p>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take R6: provide the user with a weekly sleep summary. That tells us something important about the product, but it does not yet tell an implementor — or another system consuming the summary — what constitutes a valid weekly summary.</a:t>
            </a:r>
          </a:p>
          <a:p/>
          <a:p>
            <a:r>
              <a:t>Suppose the specification defines that boundary object with this schema. A schema is specification-level when it constrains the information crossing the machine boundary: what a weekly summary must contain for anyone to accept it as a weekly summary.</a:t>
            </a:r>
          </a:p>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p>
            <a:r>
              <a:t>None of them is a tier or a refinement of another. They are peers. They join through shared concepts: an observation, a night, an advisory. That shared vocabulary is what lets the three views describe one system without any of them being complete.</a:t>
            </a:r>
          </a:p>
          <a:p/>
          <a:p>
            <a:r>
              <a:t>All three views elaborate requirements from the same seven-line requirements set we saw at the beginning.</a:t>
            </a:r>
          </a:p>
          <a:p/>
          <a:p>
            <a:r>
              <a:t>So the closing claim of this section: no single representation needs to say everything. Use the view that makes the consequential property expressible.</a:t>
            </a:r>
          </a:p>
          <a:p/>
          <a:p>
            <a:r>
              <a:t>And the reason this matters beyond today: the system did not change across those four slides. The engineering question changed, so the model changed.</a:t>
            </a:r>
          </a:p>
          <a:p/>
          <a:p>
            <a:r>
              <a:t>Next week the questions change again, to how the system should be structured, and the useful views will change with them. Same move, different questions.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20 seconds — Mark the turn from how we represent obligations to how many we should impose.</a:t>
            </a:r>
          </a:p>
          <a:p>
            <a:endParaRPr lang="en-US" sz="1200"/>
          </a:p>
          <a:p>
            <a:r>
              <a:rPr lang="en-US" sz="1200" dirty="0"/>
              <a:t>- Sections 1 and 2 were about making obligations explicit and visible. This section asks how many there should be.</a:t>
            </a:r>
          </a:p>
          <a:p>
            <a:endParaRPr lang="en-US" sz="1200"/>
          </a:p>
          <a:p>
            <a:r>
              <a:rPr lang="en-US" sz="1200" dirty="0"/>
              <a:t>- Leads straight into the first MAGE Moment. Do not pause for discussion here.</a:t>
            </a:r>
          </a:p>
          <a:p>
            <a:endParaRPr lang="en-US" sz="1200"/>
          </a:p>
          <a:p>
            <a:r>
              <a:rPr lang="en-US" sz="1200" dirty="0"/>
              <a:t>=====</a:t>
            </a:r>
          </a:p>
          <a:p>
            <a:endParaRPr lang="en-US" sz="1200"/>
          </a:p>
          <a:p>
            <a:r>
              <a:rPr lang="en-US" sz="1200" dirty="0"/>
              <a:t>Section three. We now know how to write obligations down and how to choose a representation that makes them visible. The harder question is how much of the realization we should be deciding at all.</a:t>
            </a:r>
          </a:p>
          <a:p>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picture behind everything we have said about freedom.</a:t>
            </a:r>
          </a:p>
          <a:p>
            <a:r>
              <a:rPr lang="en-US" dirty="0"/>
              <a:t>The outer box is the space of programs someone could write. Each obligation we state carves out a region: the realizations that satisfy it. The intersection is the acceptable set.</a:t>
            </a:r>
          </a:p>
          <a:p>
            <a:r>
              <a:rPr lang="en-US" dirty="0"/>
              <a:t>Two things to notice. First, the obligations bound a region; they do not select a point. The realizations inside that intersection can differ substantially and all remain acceptable. MAGE Part II calls those remaining choices degrees of freedom, and a tolerance is what bounds the permitted variation.</a:t>
            </a:r>
          </a:p>
          <a:p>
            <a:r>
              <a:rPr lang="en-US" dirty="0"/>
              <a:t>Second, every obligation we add shrinks the region. That is the cost side. So the question is never how much can we specify. It is which eliminated alternatives actually mattered.</a:t>
            </a:r>
          </a:p>
          <a:p>
            <a:r>
              <a:rPr lang="en-US" dirty="0"/>
              <a:t>Narrowing is valuable only when the eliminated alternatives matter. If two realizations are equally acceptable, a specification that forbids one has spent constraint and bought nothing.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said obligations bound a region. This one says the unbounded part is not one thing.</a:t>
            </a:r>
          </a:p>
          <a:p>
            <a:r>
              <a:rPr lang="en-US" dirty="0"/>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rPr lang="en-US" dirty="0"/>
              <a:t>MAGE Part II's diagnostic is the useful one to give students. If a proposed realization would provoke not that, then some consequential boundary remains, whether or not anyone has written it down. The choice was never wholly free.</a:t>
            </a:r>
          </a:p>
          <a:p>
            <a:r>
              <a:rPr lang="en-US" dirty="0"/>
              <a:t>And for the unknown case, notice what the response is. We do not specify harder. We build, observe, and then decide, because sometimes the system is how we learn which property mattered. A degree of freedom is known freedom; uncertainty is not.</a:t>
            </a:r>
          </a:p>
          <a:p>
            <a:r>
              <a:rPr lang="en-US" dirty="0"/>
              <a:t>That is why modeling can precede specification. Sometimes we model because we know which property must hold; sometimes we model to discover which properties matter.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Force engineering judgment rather than vocabulary recall.</a:t>
            </a:r>
          </a:p>
          <a:p/>
          <a:p>
            <a:r>
              <a:t>- Hold the timing. Cut the share short rather than letting it run; the disagreement is the point, not resolving it.</a:t>
            </a:r>
          </a:p>
          <a:p/>
          <a:p>
            <a:r>
              <a:t>- Banner colour: usually free — unless colour-blind users or a clinic house style make it consequential. Then tacit.</a:t>
            </a:r>
          </a:p>
          <a:p/>
          <a:p>
            <a:r>
              <a:t>- Detection sensitivity: the clearest UNKNOWN candidate. We may not yet know what tradeoff users will tolerate between missed events and false alarms. The response is not to invent a number because a specification needs one. The response may be to learn.</a:t>
            </a:r>
          </a:p>
          <a:p/>
          <a:p>
            <a:r>
              <a:t>- Database: usually free — unless hosting location is regulated, in which case tacit.</a:t>
            </a:r>
          </a:p>
          <a:p/>
          <a:p>
            <a:r>
              <a:t>- Bounced mail: almost always tacit, and the most interesting one. Nobody wrote down that the user must find out.</a:t>
            </a:r>
          </a:p>
          <a:p/>
          <a:p>
            <a:r>
              <a:t>- Ask what the system would have to be for them to change their answer. That question is the learning objective.</a:t>
            </a:r>
          </a:p>
          <a:p/>
          <a:p>
            <a:r>
              <a:t>=====</a:t>
            </a:r>
          </a:p>
          <a:p/>
          <a:p>
            <a:r>
              <a:t>One minute alone, then two with a neighbour. Argue for a classification, then say what additional context would change your classification.</a:t>
            </a:r>
          </a:p>
          <a:p/>
          <a:p>
            <a:r>
              <a:t>Take answers on the last one first — it produces the strongest disagreement. Then close: where you disagreed is where the engineering is. The label depends on what the system owes people, not on the words in the document.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Show that agents change the economics of omitted context, not the nature of specification.</a:t>
            </a:r>
          </a:p>
          <a:p/>
          <a:p>
            <a:r>
              <a:t>- This slide is about the TACIT category specifically. The general freedom argument is already made; do not repeat it.</a:t>
            </a:r>
          </a:p>
          <a:p/>
          <a:p>
            <a:r>
              <a:t>- Candidate D callback: the specification appears to permit D, an agent builds it, a human objects — and the objection IS the unrepresented obligation.</a:t>
            </a:r>
          </a:p>
          <a:p/>
          <a:p>
            <a:r>
              <a:t>- Keep it concrete and lightly funny. Avoid generic AI alarmism.</a:t>
            </a:r>
          </a:p>
          <a:p/>
          <a:p>
            <a:r>
              <a:t>=====</a:t>
            </a:r>
          </a:p>
          <a:p/>
          <a:p>
            <a:r>
              <a:t>Return to R7 one last time. Earlier you tried to decide what an implementor would need to know. Here is what happens when one of those consequential facts stays in someone's head.</a:t>
            </a:r>
          </a:p>
          <a:p/>
          <a:p>
            <a:r>
              <a:t>A teammate who sits near you gets a bounced mail and tells the user, because obviously. An agent gets a bounced mail, logs a warning, and returns success. Nothing in R7 forbids that.</a:t>
            </a:r>
          </a:p>
          <a:p/>
          <a:p>
            <a:r>
              <a:t>That objection — obviously not that — is the sound of an obligation nobody externalised. It was real; it just was not written anywhere.</a:t>
            </a:r>
          </a:p>
          <a:p/>
          <a:p>
            <a:r>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p>
            <a:r>
              <a:t>Say aloud rather than showing: the agent does not share the team's unstated context, and what changed is the cost of leaving context unsaid.</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rPr lang="en-US" dirty="0"/>
              <a:t>The circuit is the middle case. A circuit design is highly changeable before fabrication. The physical board is much less so. Software is unusual because the realized artifact itself often remains changeable.</a:t>
            </a:r>
          </a:p>
          <a:p>
            <a:r>
              <a:rPr lang="en-US" dirty="0"/>
              <a:t>Qualification: software choices can become expensive commitments too.</a:t>
            </a:r>
          </a:p>
          <a:p>
            <a:r>
              <a:rPr lang="en-US" dirty="0"/>
              <a:t>Orally: APIs acquire clients. Data models acquire data. Architectures acquire dependencies. Certification creates obligations.</a:t>
            </a:r>
          </a:p>
          <a:p>
            <a:r>
              <a:rPr lang="en-US" dirty="0"/>
              <a:t>Callback to changeability in 1-2-SEProcessesAndMethodologies.pptx; seeds Architecture, Design, Engineering Capital, and Maintenance.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Convert iteration from a scheduling habit into an epistemic claim.</a:t>
            </a:r>
          </a:p>
          <a:p/>
          <a:p>
            <a:r>
              <a:t>- Second half of a pair with the not-constrained-is-not-free slide: that carried the principle, this is the story. Tell it once.</a:t>
            </a:r>
          </a:p>
          <a:p/>
          <a:p>
            <a:r>
              <a:t>- This is the UNKNOWN case: the requirement (R5) was known from the beginning; the right specification of it was not.</a:t>
            </a:r>
          </a:p>
          <a:p/>
          <a:p>
            <a:r>
              <a:t>- The state model already made REBASELINING explicit; this story is about learning that the boundary we specified for it was drawn wrong.</a:t>
            </a:r>
          </a:p>
          <a:p/>
          <a:p>
            <a:r>
              <a:t>=====</a:t>
            </a:r>
          </a:p>
          <a:p/>
          <a:p>
            <a:r>
              <a:t>Go back to R5. We knew from the beginning that the app must adapt when a user's normal changes. So the problem here is not that we forgot the requirement.</a:t>
            </a:r>
          </a:p>
          <a:p/>
          <a:p>
            <a:r>
              <a:t>The problem is that knowing the requirement does not mean we already know the right specification. Suppose we decide that a sufficiently persistent shift should cause the system to establish a new baseline. We build that rule and put it into use.</a:t>
            </a:r>
          </a:p>
          <a:p/>
          <a:p>
            <a:r>
              <a:t>Then observation teaches us that persistence alone does not capture the distinction we actually care about. The implementation may have done exactly what the specification required. What changed was our understanding of the acceptable boundary.</a:t>
            </a:r>
          </a:p>
          <a:p/>
          <a:p>
            <a:r>
              <a:t>This is the UNKNOWN case from a few slides ago. The answer was not to specify harder before we had evidence. We specified enough to proceed, built, observed, and learned.</a:t>
            </a:r>
          </a:p>
          <a:p/>
          <a:p>
            <a:r>
              <a:t>Do not turn this into an anti-specification argument. R5 remained valid. What changed was our specification of how that requirement should be realized.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3 minutes — Hand students the practical rule the whole lecture was arguing for.</a:t>
            </a:r>
          </a:p>
          <a:p>
            <a:endParaRPr lang="en-US" sz="1200"/>
          </a:p>
          <a:p>
            <a:r>
              <a:rPr lang="en-US" sz="1200" dirty="0"/>
              <a:t>- Deliver slowly; three sentences. This is the slide where you say less than you want to.</a:t>
            </a:r>
          </a:p>
          <a:p>
            <a:endParaRPr lang="en-US" sz="1200"/>
          </a:p>
          <a:p>
            <a:r>
              <a:rPr lang="en-US" sz="1200" dirty="0"/>
              <a:t>- EXPLORE is the third answer the degrees-of-freedom section earned. It is not a euphemism for failing to decide.</a:t>
            </a:r>
          </a:p>
          <a:p>
            <a:endParaRPr lang="en-US" sz="1200"/>
          </a:p>
          <a:p>
            <a:r>
              <a:rPr lang="en-US" sz="1200" dirty="0"/>
              <a:t>- Line one answers the obligations side of the model, line two the freedom side, line three the unknown category.</a:t>
            </a:r>
          </a:p>
          <a:p>
            <a:endParaRPr lang="en-US" sz="1200"/>
          </a:p>
          <a:p>
            <a:r>
              <a:rPr lang="en-US" sz="1200" dirty="0"/>
              <a:t>- Protect this slide's time even if earlier sections ran long.</a:t>
            </a:r>
          </a:p>
          <a:p>
            <a:endParaRPr lang="en-US" sz="1200"/>
          </a:p>
          <a:p>
            <a:r>
              <a:rPr lang="en-US" sz="1200" dirty="0"/>
              <a:t>=====</a:t>
            </a:r>
          </a:p>
          <a:p>
            <a:endParaRPr lang="en-US" sz="1200"/>
          </a:p>
          <a:p>
            <a:r>
              <a:rPr lang="en-US" sz="1200" dirty="0"/>
              <a:t>Constrain when two reasonable answers would produce products a user could tell apart, or different risk. Build A versus Build B was exactly this.</a:t>
            </a:r>
          </a:p>
          <a:p>
            <a:endParaRPr lang="en-US" sz="1200"/>
          </a:p>
          <a:p>
            <a:r>
              <a:rPr lang="en-US" sz="1200" dirty="0"/>
              <a:t>Leave open when every answer is acceptable. Say so in writing if you can — marking something deliberately open stops the next reader treating it as an oversight, and stops an agent treating it as an invitation.</a:t>
            </a:r>
          </a:p>
          <a:p>
            <a:endParaRPr lang="en-US" sz="1200"/>
          </a:p>
          <a:p>
            <a:r>
              <a:rPr lang="en-US" sz="1200" dirty="0"/>
              <a:t>Explore when you do not yet know which of those two it is. Build something, look, then decide.</a:t>
            </a:r>
          </a:p>
          <a:p>
            <a:endParaRPr lang="en-US" sz="1200"/>
          </a:p>
          <a:p>
            <a:r>
              <a:rPr lang="en-US" sz="1200" dirty="0"/>
              <a:t>Read the three rules slowly and stop. They are the practical synthesis of the lecture. If students remember one artifact from this lecture, it should be this box and the degrees-of-freedom figure.</a:t>
            </a:r>
          </a:p>
          <a:p>
            <a:endParaRPr lang="en-US" sz="1200"/>
          </a:p>
          <a:p>
            <a:r>
              <a:rPr lang="en-US" sz="1200" dirty="0"/>
              <a:t>Check the room: ask someone to state the rule applied to their project. If what comes back is "write more requirements", it has not landed.</a:t>
            </a:r>
          </a:p>
          <a:p>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Close by locating today inside the course, and correct the ladder misconception.</a:t>
            </a:r>
          </a:p>
          <a:p/>
          <a:p>
            <a:r>
              <a:t>- It is the model from slide 2, extended forward. Students should recognise it instantly.</a:t>
            </a:r>
          </a:p>
          <a:p/>
          <a:p>
            <a:r>
              <a:t>- Architecture and design hang under A, not under SPECIFICATION. That is the argument.</a:t>
            </a:r>
          </a:p>
          <a:p/>
          <a:p>
            <a:r>
              <a:t>- Students picture requirements to design as one ladder of increasing detail. If architecture were more specification, every architectural decision would be an obligation on the implementor — which is not how anyone works.</a:t>
            </a:r>
          </a:p>
          <a:p/>
          <a:p>
            <a:r>
              <a:t>- If over time: skip the second build and say the closing line.</a:t>
            </a:r>
          </a:p>
          <a:p/>
          <a:p>
            <a:r>
              <a:t>- Check: can they say why requirements alone may not be buildable, what a specification adds, why more than one representation, what a degree of freedom is, why unspecified is not free, why not specify everything, and how iteration discovers specification?</a:t>
            </a:r>
          </a:p>
          <a:p/>
          <a:p>
            <a:r>
              <a:t>=====</a:t>
            </a:r>
          </a:p>
          <a:p/>
          <a:p>
            <a:r>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p>
            <a:r>
              <a:t>ANIMATE</a:t>
            </a:r>
          </a:p>
          <a:p/>
          <a:p>
            <a:r>
              <a:t>Architecture asks how the system is structured. Design asks how each part is realised inside. Both hang under one candidate.</a:t>
            </a:r>
          </a:p>
          <a:p/>
          <a:p>
            <a:r>
              <a:t>ANIMATE</a:t>
            </a:r>
          </a:p>
          <a:p/>
          <a:p>
            <a:r>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p>
            <a:r>
              <a:t>Today we asked what makes a realization acceptable. Next we start choosing how one of those systems should be structured.</a:t>
            </a:r>
          </a:p>
          <a:p/>
          <a:p>
            <a:r>
              <a:t>Constrain what matters. Leave acceptable alternatives open. Explore what you do not yet understand.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This system is fictional. We will use it throughout the lecture because it is complicated enough to have real specification questions, but small enough that we can keep the whole problem in our heads. These are its requirements. Notice that they sound perfectly reasonable. The question for today is whether they are enough.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8.sv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8.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jpeg"/><Relationship Id="rId4" Type="http://schemas.openxmlformats.org/officeDocument/2006/relationships/image" Target="../media/image11.svg"/><Relationship Id="rId5" Type="http://schemas.openxmlformats.org/officeDocument/2006/relationships/image" Target="../media/image12.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pPr>
            <a:r>
              <a:rPr lang="en-US" sz="2400" b="1"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600" b="1" i="0" dirty="0">
                <a:solidFill>
                  <a:srgbClr val="FFFFFF"/>
                </a:solidFill>
              </a:rPr>
              <a:t>SPECIFICATION</a:t>
            </a:r>
          </a:p>
          <a:p>
            <a:pPr algn="ctr">
              <a:spcBef>
                <a:spcPts val="150"/>
              </a:spcBef>
              <a:buNone/>
            </a:pPr>
            <a:r>
              <a:rPr lang="en-US" sz="2000" b="0" i="0" dirty="0">
                <a:solidFill>
                  <a:srgbClr val="FFFFFF"/>
                </a:solidFill>
              </a:rPr>
              <a:t>consequential obligations</a:t>
            </a:r>
            <a:br>
              <a:rPr lang="en-US" sz="2000" b="0" i="0" dirty="0">
                <a:solidFill>
                  <a:srgbClr val="FFFFFF"/>
                </a:solidFill>
              </a:rPr>
            </a:br>
            <a:r>
              <a:rPr lang="en-US" sz="20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OBLIGATIONS</a:t>
            </a:r>
          </a:p>
          <a:p>
            <a:pPr algn="ctr">
              <a:spcBef>
                <a:spcPts val="120"/>
              </a:spcBef>
              <a:buNone/>
            </a:pPr>
            <a:r>
              <a:rPr lang="en-US" sz="20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DEGREES OF FREEDOM</a:t>
            </a:r>
          </a:p>
          <a:p>
            <a:pPr algn="ctr">
              <a:spcBef>
                <a:spcPts val="120"/>
              </a:spcBef>
              <a:buNone/>
            </a:pPr>
            <a:r>
              <a:rPr lang="en-US" sz="20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4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0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1879600"/>
            <a:ext cx="7772400" cy="838200"/>
          </a:xfrm>
        </p:spPr>
        <p:txBody>
          <a:bodyPr>
            <a:normAutofit fontScale="90000"/>
          </a:bodyPr>
          <a:lstStyle/>
          <a:p>
            <a:pPr algn="ctr">
              <a:buNone/>
            </a:pPr>
            <a:r>
              <a:rPr lang="en-US" sz="3600" b="1"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1</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887483" y="3429000"/>
            <a:ext cx="5369034"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pPr algn="l">
              <a:buNone/>
            </a:pPr>
            <a:r>
              <a:rPr lang="en-US" sz="3000" b="1"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209800" cy="3200400"/>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320800" y="4172585"/>
            <a:ext cx="685800" cy="57150"/>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054100" y="1629410"/>
            <a:ext cx="1219200" cy="1219200"/>
          </a:xfrm>
          <a:prstGeom prst="rect">
            <a:avLst/>
          </a:prstGeom>
        </p:spPr>
      </p:pic>
      <p:sp>
        <p:nvSpPr>
          <p:cNvPr id="105" name="ScreenBar1"/>
          <p:cNvSpPr/>
          <p:nvPr/>
        </p:nvSpPr>
        <p:spPr>
          <a:xfrm>
            <a:off x="711200" y="3397250"/>
            <a:ext cx="1905000" cy="114300"/>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11200" y="3648710"/>
            <a:ext cx="1524000" cy="114300"/>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11200" y="3900170"/>
            <a:ext cx="1714500" cy="114300"/>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09600" y="2940050"/>
            <a:ext cx="2108200" cy="274320"/>
          </a:xfrm>
          <a:prstGeom prst="rect">
            <a:avLst/>
          </a:prstGeom>
          <a:noFill/>
          <a:ln>
            <a:noFill/>
          </a:ln>
        </p:spPr>
        <p:txBody>
          <a:bodyPr lIns="0" tIns="0" rIns="0" bIns="0" anchor="ctr">
            <a:noAutofit/>
          </a:bodyPr>
          <a:lstStyle/>
          <a:p>
            <a:pPr algn="ctr">
              <a:buNone/>
            </a:pPr>
            <a:r>
              <a:rPr lang="en-US" sz="1400" b="1" spc="120" dirty="0">
                <a:solidFill>
                  <a:srgbClr val="8E6F3E"/>
                </a:solidFill>
              </a:rPr>
              <a:t>SLEEP ADVISOR</a:t>
            </a:r>
          </a:p>
        </p:txBody>
      </p:sp>
      <p:sp>
        <p:nvSpPr>
          <p:cNvPr id="104" name="AppDesc"/>
          <p:cNvSpPr txBox="1"/>
          <p:nvPr/>
        </p:nvSpPr>
        <p:spPr>
          <a:xfrm>
            <a:off x="279400" y="4632960"/>
            <a:ext cx="2781300" cy="731520"/>
          </a:xfrm>
          <a:prstGeom prst="rect">
            <a:avLst/>
          </a:prstGeom>
          <a:noFill/>
          <a:ln>
            <a:noFill/>
          </a:ln>
        </p:spPr>
        <p:txBody>
          <a:bodyPr lIns="0" tIns="0" rIns="0" bIns="0" anchor="t">
            <a:noAutofit/>
          </a:bodyPr>
          <a:lstStyle/>
          <a:p>
            <a:pPr algn="l">
              <a:buNone/>
            </a:pPr>
            <a:r>
              <a:rPr lang="en-US" sz="13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939800"/>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R1</a:t>
            </a:r>
            <a:r>
              <a:rPr lang="en-US" sz="1500" b="0" i="0" dirty="0">
                <a:solidFill>
                  <a:srgbClr val="000000"/>
                </a:solidFill>
              </a:rPr>
              <a:t>  Track the user's sleep each night.</a:t>
            </a:r>
          </a:p>
        </p:txBody>
      </p:sp>
      <p:sp>
        <p:nvSpPr>
          <p:cNvPr id="111" name="ReqR2"/>
          <p:cNvSpPr/>
          <p:nvPr/>
        </p:nvSpPr>
        <p:spPr>
          <a:xfrm>
            <a:off x="3175000" y="1648097"/>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R2</a:t>
            </a:r>
            <a:r>
              <a:rPr lang="en-US" sz="1500" b="0" i="0" dirty="0">
                <a:solidFill>
                  <a:srgbClr val="000000"/>
                </a:solidFill>
              </a:rPr>
              <a:t>  Learn what constitutes a normal sleep pattern for the user.</a:t>
            </a:r>
          </a:p>
        </p:txBody>
      </p:sp>
      <p:sp>
        <p:nvSpPr>
          <p:cNvPr id="112" name="ReqR3"/>
          <p:cNvSpPr/>
          <p:nvPr/>
        </p:nvSpPr>
        <p:spPr>
          <a:xfrm>
            <a:off x="3175000" y="2356394"/>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R3</a:t>
            </a:r>
            <a:r>
              <a:rPr lang="en-US" sz="1500" b="0" i="0" dirty="0">
                <a:solidFill>
                  <a:srgbClr val="000000"/>
                </a:solidFill>
              </a:rPr>
              <a:t>  Identify meaningful departures from the user's normal pattern.</a:t>
            </a:r>
          </a:p>
        </p:txBody>
      </p:sp>
      <p:sp>
        <p:nvSpPr>
          <p:cNvPr id="113" name="ReqR4"/>
          <p:cNvSpPr/>
          <p:nvPr/>
        </p:nvSpPr>
        <p:spPr>
          <a:xfrm>
            <a:off x="3175000" y="3064691"/>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R4</a:t>
            </a:r>
            <a:r>
              <a:rPr lang="en-US" sz="1500" b="0" i="0" dirty="0">
                <a:solidFill>
                  <a:srgbClr val="000000"/>
                </a:solidFill>
              </a:rPr>
              <a:t>  Alert the user when their sleep pattern suggests illness.</a:t>
            </a:r>
          </a:p>
        </p:txBody>
      </p:sp>
      <p:sp>
        <p:nvSpPr>
          <p:cNvPr id="114" name="ReqR5"/>
          <p:cNvSpPr/>
          <p:nvPr/>
        </p:nvSpPr>
        <p:spPr>
          <a:xfrm>
            <a:off x="3175000" y="3772988"/>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R5</a:t>
            </a:r>
            <a:r>
              <a:rPr lang="en-US" sz="1500" b="0" i="0" dirty="0">
                <a:solidFill>
                  <a:srgbClr val="000000"/>
                </a:solidFill>
              </a:rPr>
              <a:t>  Adapt when the user's normal sleep pattern changes.</a:t>
            </a:r>
          </a:p>
        </p:txBody>
      </p:sp>
      <p:sp>
        <p:nvSpPr>
          <p:cNvPr id="115" name="ReqR6"/>
          <p:cNvSpPr/>
          <p:nvPr/>
        </p:nvSpPr>
        <p:spPr>
          <a:xfrm>
            <a:off x="3175000" y="4481285"/>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R6</a:t>
            </a:r>
            <a:r>
              <a:rPr lang="en-US" sz="1500" b="0" i="0" dirty="0">
                <a:solidFill>
                  <a:srgbClr val="000000"/>
                </a:solidFill>
              </a:rPr>
              <a:t>  Provide the user with a weekly summary of their sleep.</a:t>
            </a:r>
          </a:p>
        </p:txBody>
      </p:sp>
      <p:sp>
        <p:nvSpPr>
          <p:cNvPr id="116" name="ReqR7"/>
          <p:cNvSpPr/>
          <p:nvPr/>
        </p:nvSpPr>
        <p:spPr>
          <a:xfrm>
            <a:off x="3175000" y="5189582"/>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R7</a:t>
            </a:r>
            <a:r>
              <a:rPr lang="en-US" sz="1500" b="0" i="0" dirty="0">
                <a:solidFill>
                  <a:srgbClr val="000000"/>
                </a:solidFill>
              </a:rPr>
              <a:t>  Let the user share a weekly sleep summary with their doctor.</a:t>
            </a:r>
          </a:p>
        </p:txBody>
      </p:sp>
      <p:sp>
        <p:nvSpPr>
          <p:cNvPr id="120" name="Band"/>
          <p:cNvSpPr/>
          <p:nvPr/>
        </p:nvSpPr>
        <p:spPr>
          <a:xfrm>
            <a:off x="279400" y="5943600"/>
            <a:ext cx="8559800" cy="502920"/>
          </a:xfrm>
          <a:prstGeom prst="rect">
            <a:avLst/>
          </a:prstGeom>
          <a:solidFill>
            <a:srgbClr val="8E6F3E"/>
          </a:solidFill>
          <a:ln>
            <a:noFill/>
          </a:ln>
        </p:spPr>
        <p:txBody>
          <a:bodyPr wrap="square" lIns="109728" tIns="82296" rIns="109728" bIns="82296" anchor="ctr">
            <a:normAutofit/>
          </a:bodyPr>
          <a:lstStyle/>
          <a:p>
            <a:pPr algn="ctr">
              <a:buNone/>
            </a:pPr>
            <a:r>
              <a:rPr lang="en-US" sz="2000" b="0" i="0" dirty="0">
                <a:solidFill>
                  <a:srgbClr val="FFFFFF"/>
                </a:solidFill>
              </a:rPr>
              <a:t>These say what we want. </a:t>
            </a:r>
            <a:r>
              <a:rPr lang="en-US" sz="20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pPr>
            <a:r>
              <a:rPr lang="en-US" sz="3000" b="1"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000000"/>
                </a:solidFill>
              </a:rPr>
              <a:t>R4   The app shall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A</a:t>
            </a:r>
          </a:p>
          <a:p>
            <a:pPr algn="l">
              <a:spcBef>
                <a:spcPts val="200"/>
              </a:spcBef>
              <a:buNone/>
            </a:pPr>
            <a:r>
              <a:rPr lang="en-US" sz="2000" b="0" i="0" dirty="0">
                <a:solidFill>
                  <a:srgbClr val="000000"/>
                </a:solidFill>
              </a:rPr>
              <a:t>baseline set at install</a:t>
            </a:r>
          </a:p>
          <a:p>
            <a:pPr algn="l">
              <a:spcBef>
                <a:spcPts val="200"/>
              </a:spcBef>
              <a:buNone/>
            </a:pPr>
            <a:r>
              <a:rPr lang="en-US" sz="20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B</a:t>
            </a:r>
          </a:p>
          <a:p>
            <a:pPr algn="l">
              <a:spcBef>
                <a:spcPts val="200"/>
              </a:spcBef>
              <a:buNone/>
            </a:pPr>
            <a:r>
              <a:rPr lang="en-US" sz="2000" b="0" i="0" dirty="0">
                <a:solidFill>
                  <a:srgbClr val="000000"/>
                </a:solidFill>
              </a:rPr>
              <a:t>rolling 30-day baseline</a:t>
            </a:r>
          </a:p>
          <a:p>
            <a:pPr algn="l">
              <a:spcBef>
                <a:spcPts val="200"/>
              </a:spcBef>
              <a:buNone/>
            </a:pPr>
            <a:r>
              <a:rPr lang="en-US" sz="20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C</a:t>
            </a:r>
          </a:p>
          <a:p>
            <a:pPr algn="l">
              <a:spcBef>
                <a:spcPts val="200"/>
              </a:spcBef>
              <a:buNone/>
            </a:pPr>
            <a:r>
              <a:rPr lang="en-US" sz="2000" b="0" i="0" dirty="0">
                <a:solidFill>
                  <a:srgbClr val="000000"/>
                </a:solidFill>
              </a:rPr>
              <a:t>heart-rate model</a:t>
            </a:r>
          </a:p>
          <a:p>
            <a:pPr algn="l">
              <a:spcBef>
                <a:spcPts val="200"/>
              </a:spcBef>
              <a:buNone/>
            </a:pPr>
            <a:r>
              <a:rPr lang="en-US" sz="20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200" b="0" i="0" dirty="0">
                <a:solidFill>
                  <a:srgbClr val="FFFFFF"/>
                </a:solidFill>
              </a:rPr>
              <a:t>All three satisfy R4 as written.</a:t>
            </a:r>
          </a:p>
          <a:p>
            <a:pPr algn="ctr">
              <a:spcBef>
                <a:spcPts val="200"/>
              </a:spcBef>
              <a:buNone/>
            </a:pPr>
            <a:r>
              <a:rPr lang="en-US" sz="26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pPr>
            <a:r>
              <a:rPr lang="en-US" sz="3200" b="1"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p:txBody>
          <a:bodyPr>
            <a:normAutofit fontScale="90000"/>
          </a:bodyPr>
          <a:lstStyle/>
          <a:p>
            <a:pPr>
              <a:buNone/>
            </a:pPr>
            <a:r>
              <a:rPr lang="en-US" b="1"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fontScale="92500"/>
          </a:bodyPr>
          <a:lstStyle/>
          <a:p>
            <a:pPr algn="ctr">
              <a:buNone/>
            </a:pPr>
            <a:r>
              <a:rPr lang="en-US" sz="2200" b="1" i="0" dirty="0">
                <a:solidFill>
                  <a:srgbClr val="000000"/>
                </a:solidFill>
              </a:rPr>
              <a:t>Correct software is not enough if our assumptions about the world are wrong.</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pPr>
            <a:r>
              <a:rPr lang="en-US" sz="2800" b="1"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7</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the app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remain unspecified?</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8</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What can we learn from how the A-7E specification makes obligations explicit?</a:t>
            </a:r>
          </a:p>
        </p:txBody>
      </p:sp>
      <p:sp>
        <p:nvSpPr>
          <p:cNvPr id="60" name="S60"/>
          <p:cNvSpPr/>
          <p:nvPr/>
        </p:nvSpPr>
        <p:spPr>
          <a:xfrm>
            <a:off x="5080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000" b="1" i="0" dirty="0">
                <a:solidFill>
                  <a:srgbClr val="7A7466"/>
                </a:solidFill>
              </a:rPr>
              <a:t>REQUIREMENTS</a:t>
            </a:r>
          </a:p>
        </p:txBody>
      </p:sp>
      <p:cxnSp>
        <p:nvCxnSpPr>
          <p:cNvPr id="61" name="L61"/>
          <p:cNvCxnSpPr/>
          <p:nvPr/>
        </p:nvCxnSpPr>
        <p:spPr>
          <a:xfrm>
            <a:off x="2463800" y="4573755"/>
            <a:ext cx="279400" cy="0"/>
          </a:xfrm>
          <a:prstGeom prst="line">
            <a:avLst/>
          </a:prstGeom>
          <a:ln w="12700">
            <a:solidFill>
              <a:srgbClr val="7A7466"/>
            </a:solidFill>
            <a:tailEnd type="triangle" w="med" len="med"/>
          </a:ln>
        </p:spPr>
      </p:cxnSp>
      <p:sp>
        <p:nvSpPr>
          <p:cNvPr id="62" name="S62"/>
          <p:cNvSpPr/>
          <p:nvPr/>
        </p:nvSpPr>
        <p:spPr>
          <a:xfrm>
            <a:off x="2819400" y="4141955"/>
            <a:ext cx="2413000" cy="863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5283200" y="4573755"/>
            <a:ext cx="279400" cy="0"/>
          </a:xfrm>
          <a:prstGeom prst="line">
            <a:avLst/>
          </a:prstGeom>
          <a:ln w="12700">
            <a:solidFill>
              <a:srgbClr val="7A7466"/>
            </a:solidFill>
            <a:tailEnd type="triangle" w="med" len="med"/>
          </a:ln>
        </p:spPr>
      </p:cxnSp>
      <p:sp>
        <p:nvSpPr>
          <p:cNvPr id="64" name="S64"/>
          <p:cNvSpPr/>
          <p:nvPr/>
        </p:nvSpPr>
        <p:spPr>
          <a:xfrm>
            <a:off x="56388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000" b="1" i="0" dirty="0">
                <a:solidFill>
                  <a:srgbClr val="7A7466"/>
                </a:solidFill>
              </a:rPr>
              <a:t>OBLIGATIONS</a:t>
            </a:r>
          </a:p>
        </p:txBody>
      </p:sp>
      <p:cxnSp>
        <p:nvCxnSpPr>
          <p:cNvPr id="65" name="L65"/>
          <p:cNvCxnSpPr/>
          <p:nvPr/>
        </p:nvCxnSpPr>
        <p:spPr>
          <a:xfrm>
            <a:off x="7594600" y="4573755"/>
            <a:ext cx="279400" cy="0"/>
          </a:xfrm>
          <a:prstGeom prst="line">
            <a:avLst/>
          </a:prstGeom>
          <a:ln w="12700">
            <a:solidFill>
              <a:srgbClr val="7A7466"/>
            </a:solidFill>
            <a:tailEnd type="triangle" w="med" len="med"/>
          </a:ln>
        </p:spPr>
      </p:cxnSp>
      <p:sp>
        <p:nvSpPr>
          <p:cNvPr id="66" name="S66"/>
          <p:cNvSpPr/>
          <p:nvPr/>
        </p:nvSpPr>
        <p:spPr>
          <a:xfrm>
            <a:off x="7950200" y="4243555"/>
            <a:ext cx="762000" cy="66040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0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pPr>
            <a:r>
              <a:rPr lang="en-US" b="1"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A substantial specification of externally visible behavior</a:t>
            </a:r>
          </a:p>
          <a:p>
            <a:pPr>
              <a:spcBef>
                <a:spcPts val="300"/>
              </a:spcBef>
              <a:buNone/>
            </a:pPr>
            <a:r>
              <a:rPr lang="en-US" sz="16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Multiple representations</a:t>
            </a:r>
          </a:p>
          <a:p>
            <a:pPr>
              <a:spcBef>
                <a:spcPts val="300"/>
              </a:spcBef>
              <a:buNone/>
            </a:pPr>
            <a:r>
              <a:rPr lang="en-US" sz="16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0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pPr>
            <a:r>
              <a:rPr lang="en-US" b="1"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10</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Current mode</a:t>
            </a:r>
          </a:p>
          <a:p>
            <a:pPr>
              <a:spcBef>
                <a:spcPts val="200"/>
              </a:spcBef>
              <a:buNone/>
            </a:pPr>
            <a:r>
              <a:rPr lang="en-US" sz="1600" dirty="0">
                <a:solidFill>
                  <a:srgbClr val="555960"/>
                </a:solidFill>
              </a:rPr>
              <a:t>the state the software is in</a:t>
            </a:r>
          </a:p>
        </p:txBody>
      </p:sp>
      <p:sp>
        <p:nvSpPr>
          <p:cNvPr id="306" name="Item"/>
          <p:cNvSpPr txBox="1"/>
          <p:nvPr/>
        </p:nvSpPr>
        <p:spPr>
          <a:xfrm>
            <a:off x="4546600" y="22860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Event or condition</a:t>
            </a:r>
          </a:p>
          <a:p>
            <a:pPr>
              <a:spcBef>
                <a:spcPts val="200"/>
              </a:spcBef>
              <a:buNone/>
            </a:pPr>
            <a:r>
              <a:rPr lang="en-US" sz="1600" dirty="0">
                <a:solidFill>
                  <a:srgbClr val="555960"/>
                </a:solidFill>
              </a:rPr>
              <a:t>what happens, and what holds when it does</a:t>
            </a:r>
          </a:p>
        </p:txBody>
      </p:sp>
      <p:sp>
        <p:nvSpPr>
          <p:cNvPr id="308" name="Item"/>
          <p:cNvSpPr txBox="1"/>
          <p:nvPr/>
        </p:nvSpPr>
        <p:spPr>
          <a:xfrm>
            <a:off x="4546600" y="32512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Required resulting behavior</a:t>
            </a:r>
          </a:p>
          <a:p>
            <a:pPr>
              <a:spcBef>
                <a:spcPts val="200"/>
              </a:spcBef>
              <a:buNone/>
            </a:pPr>
            <a:r>
              <a:rPr lang="en-US" sz="16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7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1900" b="1" dirty="0">
                <a:solidFill>
                  <a:srgbClr val="FFFFFF"/>
                </a:solidFill>
              </a:rPr>
              <a:t>The specification constrains observable behavior;</a:t>
            </a:r>
          </a:p>
          <a:p>
            <a:pPr algn="ctr">
              <a:buNone/>
            </a:pPr>
            <a:r>
              <a:rPr lang="en-US" sz="19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pPr>
            <a:r>
              <a:rPr lang="en-US" b="1"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300" b="1" spc="80" dirty="0">
                <a:solidFill>
                  <a:srgbClr val="8E6F3E"/>
                </a:solidFill>
              </a:rPr>
              <a:t>THREE QUANTITIES, NOT ONE</a:t>
            </a:r>
          </a:p>
          <a:p>
            <a:pPr>
              <a:spcBef>
                <a:spcPts val="300"/>
              </a:spcBef>
              <a:buNone/>
            </a:pPr>
            <a:r>
              <a:rPr lang="en-US" sz="1500" dirty="0">
                <a:solidFill>
                  <a:srgbClr val="3A3A3A"/>
                </a:solidFill>
              </a:rPr>
              <a:t>Current rate — what the system does now</a:t>
            </a:r>
          </a:p>
          <a:p>
            <a:pPr>
              <a:spcBef>
                <a:spcPts val="200"/>
              </a:spcBef>
              <a:buNone/>
            </a:pPr>
            <a:r>
              <a:rPr lang="en-US" sz="1500" dirty="0">
                <a:solidFill>
                  <a:srgbClr val="3A3A3A"/>
                </a:solidFill>
              </a:rPr>
              <a:t>Minimum allowable rate — how slow it may become</a:t>
            </a:r>
          </a:p>
          <a:p>
            <a:pPr>
              <a:spcBef>
                <a:spcPts val="200"/>
              </a:spcBef>
              <a:buNone/>
            </a:pPr>
            <a:r>
              <a:rPr lang="en-US" sz="1500" dirty="0">
                <a:solidFill>
                  <a:srgbClr val="3A3A3A"/>
                </a:solidFill>
              </a:rPr>
              <a:t>Maximum useful rate — where faster stops buying anything</a:t>
            </a:r>
          </a:p>
        </p:txBody>
      </p:sp>
      <p:sp>
        <p:nvSpPr>
          <p:cNvPr id="1904" name="Right"/>
          <p:cNvSpPr txBox="1"/>
          <p:nvPr/>
        </p:nvSpPr>
        <p:spPr>
          <a:xfrm>
            <a:off x="5664200" y="3937000"/>
            <a:ext cx="3175000" cy="14732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300" b="1" spc="80" dirty="0">
                <a:solidFill>
                  <a:srgbClr val="8E6F3E"/>
                </a:solidFill>
              </a:rPr>
              <a:t>AND SOMETIMES THE CONSTRAINT IS: NONE</a:t>
            </a:r>
          </a:p>
          <a:p>
            <a:pPr>
              <a:spcBef>
                <a:spcPts val="300"/>
              </a:spcBef>
              <a:buNone/>
            </a:pPr>
            <a:r>
              <a:rPr lang="en-US" sz="16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613400"/>
            <a:ext cx="8559800" cy="660400"/>
          </a:xfrm>
          <a:prstGeom prst="rect">
            <a:avLst/>
          </a:prstGeom>
          <a:solidFill>
            <a:srgbClr val="8E6F3E"/>
          </a:solidFill>
          <a:ln>
            <a:noFill/>
          </a:ln>
        </p:spPr>
        <p:txBody>
          <a:bodyPr lIns="114300" tIns="68580" rIns="114300" bIns="68580" anchor="ctr">
            <a:noAutofit/>
          </a:bodyPr>
          <a:lstStyle/>
          <a:p>
            <a:pPr algn="ctr">
              <a:buNone/>
            </a:pPr>
            <a:r>
              <a:rPr lang="en-US" sz="18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pPr>
            <a:r>
              <a:rPr lang="en-US" b="1"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528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USEFUL SUBSET</a:t>
            </a:r>
          </a:p>
        </p:txBody>
      </p:sp>
      <p:sp>
        <p:nvSpPr>
          <p:cNvPr id="404" name="RowBar"/>
          <p:cNvSpPr txBox="1"/>
          <p:nvPr/>
        </p:nvSpPr>
        <p:spPr>
          <a:xfrm>
            <a:off x="2311400" y="3352800"/>
            <a:ext cx="2540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Input · Hardware test · Scheduling</a:t>
            </a:r>
          </a:p>
        </p:txBody>
      </p:sp>
      <p:sp>
        <p:nvSpPr>
          <p:cNvPr id="405" name="RowLabel"/>
          <p:cNvSpPr txBox="1"/>
          <p:nvPr/>
        </p:nvSpPr>
        <p:spPr>
          <a:xfrm>
            <a:off x="279400" y="39370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LARGER SUBSET</a:t>
            </a:r>
          </a:p>
        </p:txBody>
      </p:sp>
      <p:sp>
        <p:nvSpPr>
          <p:cNvPr id="406" name="RowBar"/>
          <p:cNvSpPr txBox="1"/>
          <p:nvPr/>
        </p:nvSpPr>
        <p:spPr>
          <a:xfrm>
            <a:off x="2311400" y="3937000"/>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 Navigation</a:t>
            </a:r>
          </a:p>
        </p:txBody>
      </p:sp>
      <p:sp>
        <p:nvSpPr>
          <p:cNvPr id="407" name="RowLabel"/>
          <p:cNvSpPr txBox="1"/>
          <p:nvPr/>
        </p:nvSpPr>
        <p:spPr>
          <a:xfrm>
            <a:off x="279400" y="45212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521200"/>
            <a:ext cx="5969000" cy="431800"/>
          </a:xfrm>
          <a:prstGeom prst="rect">
            <a:avLst/>
          </a:prstGeom>
          <a:solidFill>
            <a:srgbClr val="8E6F3E"/>
          </a:solidFill>
          <a:ln>
            <a:noFill/>
          </a:ln>
        </p:spPr>
        <p:txBody>
          <a:bodyPr lIns="114300" tIns="45720" rIns="114300" bIns="45720" anchor="ctr">
            <a:noAutofit/>
          </a:bodyPr>
          <a:lstStyle/>
          <a:p>
            <a:pPr algn="ctr">
              <a:buNone/>
            </a:pPr>
            <a:r>
              <a:rPr lang="en-US" sz="1600" b="1" dirty="0">
                <a:solidFill>
                  <a:srgbClr val="FFFFFF"/>
                </a:solidFill>
              </a:rPr>
              <a:t>+ Pilot display · Weapons delivery</a:t>
            </a:r>
          </a:p>
        </p:txBody>
      </p:sp>
      <p:cxnSp>
        <p:nvCxnSpPr>
          <p:cNvPr id="409" name="Grow"/>
          <p:cNvCxnSpPr/>
          <p:nvPr/>
        </p:nvCxnSpPr>
        <p:spPr>
          <a:xfrm>
            <a:off x="2540000" y="3784600"/>
            <a:ext cx="0" cy="152400"/>
          </a:xfrm>
          <a:prstGeom prst="line">
            <a:avLst/>
          </a:prstGeom>
          <a:ln w="19050">
            <a:solidFill>
              <a:srgbClr val="8E6F3E"/>
            </a:solidFill>
            <a:tailEnd type="triangle"/>
          </a:ln>
        </p:spPr>
      </p:cxnSp>
      <p:cxnSp>
        <p:nvCxnSpPr>
          <p:cNvPr id="410" name="Grow"/>
          <p:cNvCxnSpPr/>
          <p:nvPr/>
        </p:nvCxnSpPr>
        <p:spPr>
          <a:xfrm>
            <a:off x="2540000" y="4368800"/>
            <a:ext cx="0" cy="152400"/>
          </a:xfrm>
          <a:prstGeom prst="line">
            <a:avLst/>
          </a:prstGeom>
          <a:ln w="19050">
            <a:solidFill>
              <a:srgbClr val="8E6F3E"/>
            </a:solidFill>
            <a:tailEnd type="triangle"/>
          </a:ln>
        </p:spPr>
      </p:cxnSp>
      <p:sp>
        <p:nvSpPr>
          <p:cNvPr id="411" name="Constraints"/>
          <p:cNvSpPr txBox="1"/>
          <p:nvPr/>
        </p:nvSpPr>
        <p:spPr>
          <a:xfrm>
            <a:off x="279400" y="5029200"/>
            <a:ext cx="8559800" cy="508000"/>
          </a:xfrm>
          <a:prstGeom prst="rect">
            <a:avLst/>
          </a:prstGeom>
          <a:noFill/>
          <a:ln>
            <a:noFill/>
          </a:ln>
        </p:spPr>
        <p:txBody>
          <a:bodyPr lIns="0" tIns="45720" rIns="0" bIns="45720" anchor="t">
            <a:noAutofit/>
          </a:bodyPr>
          <a:lstStyle/>
          <a:p>
            <a:pPr>
              <a:buNone/>
            </a:pPr>
            <a:r>
              <a:rPr lang="en-US" sz="1600" dirty="0">
                <a:solidFill>
                  <a:srgbClr val="3A3A3A"/>
                </a:solidFill>
              </a:rPr>
              <a:t>Add functionality: do not rewrite what already works.</a:t>
            </a:r>
          </a:p>
          <a:p>
            <a:pPr>
              <a:spcBef>
                <a:spcPts val="200"/>
              </a:spcBef>
              <a:buNone/>
            </a:pPr>
            <a:r>
              <a:rPr lang="en-US" sz="16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pPr>
            <a:r>
              <a:rPr lang="en-US" b="1"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209800"/>
          </a:xfrm>
          <a:prstGeom prst="rect">
            <a:avLst/>
          </a:prstGeom>
          <a:noFill/>
          <a:ln w="9525">
            <a:solidFill>
              <a:srgbClr val="C9C4BB"/>
            </a:solidFill>
          </a:ln>
        </p:spPr>
        <p:txBody>
          <a:bodyPr lIns="114300" tIns="68580" rIns="114300" bIns="68580" anchor="t">
            <a:noAutofit/>
          </a:bodyPr>
          <a:lstStyle/>
          <a:p>
            <a:pPr>
              <a:buNone/>
            </a:pPr>
            <a:r>
              <a:rPr lang="en-US" sz="1500" b="1" spc="80" dirty="0">
                <a:solidFill>
                  <a:srgbClr val="555960"/>
                </a:solidFill>
              </a:rPr>
              <a:t>TREAT AS STABLE</a:t>
            </a:r>
          </a:p>
          <a:p>
            <a:pPr>
              <a:spcBef>
                <a:spcPts val="400"/>
              </a:spcBef>
              <a:buNone/>
            </a:pPr>
            <a:r>
              <a:rPr lang="en-US" sz="1500" dirty="0">
                <a:solidFill>
                  <a:srgbClr val="3A3A3A"/>
                </a:solidFill>
              </a:rPr>
              <a:t>· Flight and weapon characteristics are adequately modeled in the referenced documents (9.1.1)</a:t>
            </a:r>
          </a:p>
          <a:p>
            <a:pPr>
              <a:spcBef>
                <a:spcPts val="400"/>
              </a:spcBef>
              <a:buNone/>
            </a:pPr>
            <a:r>
              <a:rPr lang="en-US" sz="1500" dirty="0">
                <a:solidFill>
                  <a:srgbClr val="3A3A3A"/>
                </a:solidFill>
              </a:rPr>
              <a:t>· The computer is not assigned background, non-real-time functions (9.1.3)</a:t>
            </a:r>
          </a:p>
          <a:p>
            <a:pPr>
              <a:spcBef>
                <a:spcPts val="400"/>
              </a:spcBef>
              <a:buNone/>
            </a:pPr>
            <a:r>
              <a:rPr lang="en-US" sz="1500" dirty="0">
                <a:solidFill>
                  <a:srgbClr val="3A3A3A"/>
                </a:solidFill>
              </a:rPr>
              <a:t>· Worst-case memory and cpu bounds are predictable per function (9.1.4)</a:t>
            </a:r>
          </a:p>
        </p:txBody>
      </p:sp>
      <p:sp>
        <p:nvSpPr>
          <p:cNvPr id="504" name="ColFoot"/>
          <p:cNvSpPr txBox="1"/>
          <p:nvPr/>
        </p:nvSpPr>
        <p:spPr>
          <a:xfrm>
            <a:off x="2794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may rely on these.</a:t>
            </a:r>
          </a:p>
        </p:txBody>
      </p:sp>
      <p:sp>
        <p:nvSpPr>
          <p:cNvPr id="505" name="Col"/>
          <p:cNvSpPr txBox="1"/>
          <p:nvPr/>
        </p:nvSpPr>
        <p:spPr>
          <a:xfrm>
            <a:off x="4648200" y="2743200"/>
            <a:ext cx="4191000" cy="22098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500" b="1" spc="80" dirty="0">
                <a:solidFill>
                  <a:srgbClr val="8E6F3E"/>
                </a:solidFill>
              </a:rPr>
              <a:t>EXPECT MAY CHANGE</a:t>
            </a:r>
          </a:p>
          <a:p>
            <a:pPr>
              <a:spcBef>
                <a:spcPts val="400"/>
              </a:spcBef>
              <a:buNone/>
            </a:pPr>
            <a:r>
              <a:rPr lang="en-US" sz="1500" dirty="0">
                <a:solidFill>
                  <a:srgbClr val="3A3A3A"/>
                </a:solidFill>
              </a:rPr>
              <a:t>· The computer might be replaced by a TC-2A (9.2.1)</a:t>
            </a:r>
          </a:p>
          <a:p>
            <a:pPr>
              <a:spcBef>
                <a:spcPts val="400"/>
              </a:spcBef>
              <a:buNone/>
            </a:pPr>
            <a:r>
              <a:rPr lang="en-US" sz="1500" dirty="0">
                <a:solidFill>
                  <a:srgbClr val="3A3A3A"/>
                </a:solidFill>
              </a:rPr>
              <a:t>· FLR display symbology may be changed (9.3.2)</a:t>
            </a:r>
          </a:p>
          <a:p>
            <a:pPr>
              <a:spcBef>
                <a:spcPts val="400"/>
              </a:spcBef>
              <a:buNone/>
            </a:pPr>
            <a:r>
              <a:rPr lang="en-US" sz="1500" dirty="0">
                <a:solidFill>
                  <a:srgbClr val="3A3A3A"/>
                </a:solidFill>
              </a:rPr>
              <a:t>· Assignment of devices to channels may be changed (9.3.1)</a:t>
            </a:r>
          </a:p>
          <a:p>
            <a:pPr>
              <a:spcBef>
                <a:spcPts val="400"/>
              </a:spcBef>
              <a:buNone/>
            </a:pPr>
            <a:r>
              <a:rPr lang="en-US" sz="1500" dirty="0">
                <a:solidFill>
                  <a:srgbClr val="3A3A3A"/>
                </a:solidFill>
              </a:rPr>
              <a:t>· New weapons and HUD functions may be added (9.4)</a:t>
            </a:r>
          </a:p>
        </p:txBody>
      </p:sp>
      <p:sp>
        <p:nvSpPr>
          <p:cNvPr id="506" name="ColFoot"/>
          <p:cNvSpPr txBox="1"/>
          <p:nvPr/>
        </p:nvSpPr>
        <p:spPr>
          <a:xfrm>
            <a:off x="46482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should accommodate these.</a:t>
            </a:r>
          </a:p>
        </p:txBody>
      </p:sp>
      <p:sp>
        <p:nvSpPr>
          <p:cNvPr id="508" name="Takeaway"/>
          <p:cNvSpPr txBox="1"/>
          <p:nvPr/>
        </p:nvSpPr>
        <p:spPr>
          <a:xfrm>
            <a:off x="279400" y="5740400"/>
            <a:ext cx="8559800" cy="584200"/>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14</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Why do different engineering questions require different representations?</a:t>
            </a:r>
          </a:p>
        </p:txBody>
      </p:sp>
      <p:sp>
        <p:nvSpPr>
          <p:cNvPr id="1801" name="StripFrom"/>
          <p:cNvSpPr txBox="1"/>
          <p:nvPr/>
        </p:nvSpPr>
        <p:spPr>
          <a:xfrm>
            <a:off x="2057400" y="4343400"/>
            <a:ext cx="1346200" cy="330200"/>
          </a:xfrm>
          <a:prstGeom prst="rect">
            <a:avLst/>
          </a:prstGeom>
          <a:noFill/>
          <a:ln>
            <a:noFill/>
          </a:ln>
        </p:spPr>
        <p:txBody>
          <a:bodyPr lIns="0" tIns="0" rIns="0" bIns="0" anchor="ctr">
            <a:noAutofit/>
          </a:bodyPr>
          <a:lstStyle/>
          <a:p>
            <a:pPr algn="r">
              <a:buNone/>
            </a:pPr>
            <a:r>
              <a:rPr lang="en-US" sz="1500" dirty="0">
                <a:solidFill>
                  <a:srgbClr val="7A7A7A"/>
                </a:solidFill>
              </a:rPr>
              <a:t>A-7E case study</a:t>
            </a:r>
          </a:p>
        </p:txBody>
      </p:sp>
      <p:cxnSp>
        <p:nvCxnSpPr>
          <p:cNvPr id="1802" name="Switch"/>
          <p:cNvCxnSpPr/>
          <p:nvPr/>
        </p:nvCxnSpPr>
        <p:spPr>
          <a:xfrm>
            <a:off x="3581400" y="4508500"/>
            <a:ext cx="558800" cy="0"/>
          </a:xfrm>
          <a:prstGeom prst="line">
            <a:avLst/>
          </a:prstGeom>
          <a:ln w="19050">
            <a:solidFill>
              <a:srgbClr val="8E6F3E"/>
            </a:solidFill>
            <a:tailEnd type="triangle"/>
          </a:ln>
        </p:spPr>
      </p:cxnSp>
      <p:sp>
        <p:nvSpPr>
          <p:cNvPr id="1803" name="StripTo"/>
          <p:cNvSpPr txBox="1"/>
          <p:nvPr/>
        </p:nvSpPr>
        <p:spPr>
          <a:xfrm>
            <a:off x="4724400" y="4318000"/>
            <a:ext cx="3048000" cy="381000"/>
          </a:xfrm>
          <a:prstGeom prst="rect">
            <a:avLst/>
          </a:prstGeom>
          <a:noFill/>
          <a:ln>
            <a:noFill/>
          </a:ln>
        </p:spPr>
        <p:txBody>
          <a:bodyPr lIns="0" tIns="0" rIns="0" bIns="0" anchor="ctr">
            <a:noAutofit/>
          </a:bodyPr>
          <a:lstStyle/>
          <a:p>
            <a:pPr>
              <a:buNone/>
            </a:pPr>
            <a:r>
              <a:rPr lang="en-US" sz="17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67200"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01800"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pPr>
            <a:r>
              <a:rPr lang="en-US" b="1"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A</a:t>
            </a:r>
          </a:p>
          <a:p>
            <a:pPr algn="ctr">
              <a:spcBef>
                <a:spcPts val="400"/>
              </a:spcBef>
              <a:buNone/>
            </a:pPr>
            <a:r>
              <a:rPr lang="en-US" sz="1500" dirty="0">
                <a:solidFill>
                  <a:srgbClr val="3A3A3A"/>
                </a:solidFill>
              </a:rPr>
              <a:t>keeps what question A needs</a:t>
            </a:r>
          </a:p>
        </p:txBody>
      </p:sp>
      <p:sp>
        <p:nvSpPr>
          <p:cNvPr id="806" name="View"/>
          <p:cNvSpPr txBox="1"/>
          <p:nvPr/>
        </p:nvSpPr>
        <p:spPr>
          <a:xfrm>
            <a:off x="31877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B</a:t>
            </a:r>
          </a:p>
          <a:p>
            <a:pPr algn="ctr">
              <a:spcBef>
                <a:spcPts val="400"/>
              </a:spcBef>
              <a:buNone/>
            </a:pPr>
            <a:r>
              <a:rPr lang="en-US" sz="1500" dirty="0">
                <a:solidFill>
                  <a:srgbClr val="3A3A3A"/>
                </a:solidFill>
              </a:rPr>
              <a:t>keeps what question B needs</a:t>
            </a:r>
          </a:p>
        </p:txBody>
      </p:sp>
      <p:sp>
        <p:nvSpPr>
          <p:cNvPr id="807" name="View"/>
          <p:cNvSpPr txBox="1"/>
          <p:nvPr/>
        </p:nvSpPr>
        <p:spPr>
          <a:xfrm>
            <a:off x="60960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C</a:t>
            </a:r>
          </a:p>
          <a:p>
            <a:pPr algn="ctr">
              <a:spcBef>
                <a:spcPts val="400"/>
              </a:spcBef>
              <a:buNone/>
            </a:pPr>
            <a:r>
              <a:rPr lang="en-US" sz="1500" dirty="0">
                <a:solidFill>
                  <a:srgbClr val="3A3A3A"/>
                </a:solidFill>
              </a:rPr>
              <a:t>keeps what question C needs</a:t>
            </a:r>
          </a:p>
        </p:txBody>
      </p:sp>
      <p:sp>
        <p:nvSpPr>
          <p:cNvPr id="808" name="Statement"/>
          <p:cNvSpPr txBox="1"/>
          <p:nvPr/>
        </p:nvSpPr>
        <p:spPr>
          <a:xfrm>
            <a:off x="279400" y="3683000"/>
            <a:ext cx="8559800" cy="812800"/>
          </a:xfrm>
          <a:prstGeom prst="rect">
            <a:avLst/>
          </a:prstGeom>
          <a:solidFill>
            <a:srgbClr val="8E6F3E"/>
          </a:solidFill>
          <a:ln>
            <a:noFill/>
          </a:ln>
        </p:spPr>
        <p:txBody>
          <a:bodyPr lIns="114300" tIns="68580" rIns="114300" bIns="68580" anchor="ctr">
            <a:noAutofit/>
          </a:bodyPr>
          <a:lstStyle/>
          <a:p>
            <a:pPr algn="ctr">
              <a:buNone/>
            </a:pPr>
            <a:r>
              <a:rPr lang="en-US" sz="1900" b="1" dirty="0">
                <a:solidFill>
                  <a:srgbClr val="FFFFFF"/>
                </a:solidFill>
              </a:rPr>
              <a:t>A useful model preserves the distinctions its question needs</a:t>
            </a:r>
          </a:p>
          <a:p>
            <a:pPr algn="ctr">
              <a:buNone/>
            </a:pPr>
            <a:r>
              <a:rPr lang="en-US" sz="1900" b="1" dirty="0">
                <a:solidFill>
                  <a:srgbClr val="FFFFFF"/>
                </a:solidFill>
              </a:rPr>
              <a:t>and leaves the rest behind.</a:t>
            </a:r>
          </a:p>
        </p:txBody>
      </p:sp>
      <p:sp>
        <p:nvSpPr>
          <p:cNvPr id="809" name="Sub"/>
          <p:cNvSpPr txBox="1"/>
          <p:nvPr/>
        </p:nvSpPr>
        <p:spPr>
          <a:xfrm>
            <a:off x="279400" y="4673600"/>
            <a:ext cx="8559800" cy="381000"/>
          </a:xfrm>
          <a:prstGeom prst="rect">
            <a:avLst/>
          </a:prstGeom>
          <a:noFill/>
          <a:ln>
            <a:noFill/>
          </a:ln>
        </p:spPr>
        <p:txBody>
          <a:bodyPr lIns="114300" tIns="68580" rIns="114300" bIns="68580" anchor="t">
            <a:noAutofit/>
          </a:bodyPr>
          <a:lstStyle/>
          <a:p>
            <a:pPr algn="ctr">
              <a:buNone/>
            </a:pPr>
            <a:r>
              <a:rPr lang="en-US" sz="1900" b="1" dirty="0">
                <a:solidFill>
                  <a:srgbClr val="1A1A1A"/>
                </a:solidFill>
              </a:rPr>
              <a:t>Same system. Different question. Different useful representation.</a:t>
            </a:r>
          </a:p>
        </p:txBody>
      </p:sp>
      <p:sp>
        <p:nvSpPr>
          <p:cNvPr id="811" name="Src"/>
          <p:cNvSpPr txBox="1"/>
          <p:nvPr/>
        </p:nvSpPr>
        <p:spPr>
          <a:xfrm>
            <a:off x="279400" y="6121400"/>
            <a:ext cx="5969000" cy="254000"/>
          </a:xfrm>
          <a:prstGeom prst="rect">
            <a:avLst/>
          </a:prstGeom>
          <a:noFill/>
          <a:ln>
            <a:noFill/>
          </a:ln>
        </p:spPr>
        <p:txBody>
          <a:bodyPr lIns="114300" tIns="68580" rIns="114300" bIns="68580" anchor="t">
            <a:noAutofit/>
          </a:bodyPr>
          <a:lstStyle/>
          <a:p>
            <a:pPr>
              <a:buNone/>
            </a:pPr>
            <a:r>
              <a:rPr lang="en-US" sz="1100" dirty="0">
                <a:solidFill>
                  <a:srgbClr val="555960"/>
                </a:solidFill>
              </a:rPr>
              <a:t>MAGE Part II, §2.1.2</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pPr>
            <a:r>
              <a:rPr lang="en-US" b="1"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901" name="Step"/>
          <p:cNvSpPr txBox="1"/>
          <p:nvPr/>
        </p:nvSpPr>
        <p:spPr>
          <a:xfrm>
            <a:off x="279400" y="11684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ENGINEERING QUESTION</a:t>
            </a:r>
          </a:p>
        </p:txBody>
      </p:sp>
      <p:cxnSp>
        <p:nvCxnSpPr>
          <p:cNvPr id="902" name="Flow"/>
          <p:cNvCxnSpPr/>
          <p:nvPr/>
        </p:nvCxnSpPr>
        <p:spPr>
          <a:xfrm>
            <a:off x="2184400" y="1803400"/>
            <a:ext cx="0" cy="177800"/>
          </a:xfrm>
          <a:prstGeom prst="line">
            <a:avLst/>
          </a:prstGeom>
          <a:ln w="19050">
            <a:solidFill>
              <a:srgbClr val="8E6F3E"/>
            </a:solidFill>
            <a:tailEnd type="triangle"/>
          </a:ln>
        </p:spPr>
      </p:cxnSp>
      <p:sp>
        <p:nvSpPr>
          <p:cNvPr id="903" name="Step"/>
          <p:cNvSpPr txBox="1"/>
          <p:nvPr/>
        </p:nvSpPr>
        <p:spPr>
          <a:xfrm>
            <a:off x="279400" y="19812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CHOOSE A REPRESENTATION</a:t>
            </a:r>
          </a:p>
        </p:txBody>
      </p:sp>
      <p:cxnSp>
        <p:nvCxnSpPr>
          <p:cNvPr id="904" name="Flow"/>
          <p:cNvCxnSpPr/>
          <p:nvPr/>
        </p:nvCxnSpPr>
        <p:spPr>
          <a:xfrm>
            <a:off x="2184400" y="2616200"/>
            <a:ext cx="0" cy="177800"/>
          </a:xfrm>
          <a:prstGeom prst="line">
            <a:avLst/>
          </a:prstGeom>
          <a:ln w="19050">
            <a:solidFill>
              <a:srgbClr val="8E6F3E"/>
            </a:solidFill>
            <a:tailEnd type="triangle"/>
          </a:ln>
        </p:spPr>
      </p:cxnSp>
      <p:sp>
        <p:nvSpPr>
          <p:cNvPr id="905" name="Step"/>
          <p:cNvSpPr txBox="1"/>
          <p:nvPr/>
        </p:nvSpPr>
        <p:spPr>
          <a:xfrm>
            <a:off x="279400" y="27940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STATE A PROPERTY</a:t>
            </a:r>
          </a:p>
        </p:txBody>
      </p:sp>
      <p:cxnSp>
        <p:nvCxnSpPr>
          <p:cNvPr id="906" name="Flow"/>
          <p:cNvCxnSpPr/>
          <p:nvPr/>
        </p:nvCxnSpPr>
        <p:spPr>
          <a:xfrm>
            <a:off x="2184400" y="3429000"/>
            <a:ext cx="0" cy="177800"/>
          </a:xfrm>
          <a:prstGeom prst="line">
            <a:avLst/>
          </a:prstGeom>
          <a:ln w="19050">
            <a:solidFill>
              <a:srgbClr val="8E6F3E"/>
            </a:solidFill>
            <a:tailEnd type="triangle"/>
          </a:ln>
        </p:spPr>
      </p:cxnSp>
      <p:sp>
        <p:nvSpPr>
          <p:cNvPr id="907" name="Step"/>
          <p:cNvSpPr txBox="1"/>
          <p:nvPr/>
        </p:nvSpPr>
        <p:spPr>
          <a:xfrm>
            <a:off x="279400" y="36068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ANALYZE OR CHECK IT</a:t>
            </a:r>
          </a:p>
        </p:txBody>
      </p:sp>
      <p:sp>
        <p:nvSpPr>
          <p:cNvPr id="908" name="Term"/>
          <p:cNvSpPr txBox="1"/>
          <p:nvPr/>
        </p:nvSpPr>
        <p:spPr>
          <a:xfrm>
            <a:off x="4648200" y="1168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Property</a:t>
            </a:r>
          </a:p>
          <a:p>
            <a:pPr>
              <a:spcBef>
                <a:spcPts val="300"/>
              </a:spcBef>
              <a:buNone/>
            </a:pPr>
            <a:r>
              <a:rPr lang="en-US" sz="1600" dirty="0">
                <a:solidFill>
                  <a:srgbClr val="3A3A3A"/>
                </a:solidFill>
              </a:rPr>
              <a:t>A claim we can express over the model.</a:t>
            </a:r>
          </a:p>
        </p:txBody>
      </p:sp>
      <p:sp>
        <p:nvSpPr>
          <p:cNvPr id="909" name="Term"/>
          <p:cNvSpPr txBox="1"/>
          <p:nvPr/>
        </p:nvSpPr>
        <p:spPr>
          <a:xfrm>
            <a:off x="4648200" y="2184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Invariant</a:t>
            </a:r>
          </a:p>
          <a:p>
            <a:pPr>
              <a:spcBef>
                <a:spcPts val="300"/>
              </a:spcBef>
              <a:buNone/>
            </a:pPr>
            <a:r>
              <a:rPr lang="en-US" sz="1600" dirty="0">
                <a:solidFill>
                  <a:srgbClr val="3A3A3A"/>
                </a:solidFill>
              </a:rPr>
              <a:t>A property required to hold over its declared domain.</a:t>
            </a:r>
          </a:p>
        </p:txBody>
      </p:sp>
      <p:sp>
        <p:nvSpPr>
          <p:cNvPr id="910" name="Term"/>
          <p:cNvSpPr txBox="1"/>
          <p:nvPr/>
        </p:nvSpPr>
        <p:spPr>
          <a:xfrm>
            <a:off x="4648200" y="3200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Check or analysis</a:t>
            </a:r>
          </a:p>
          <a:p>
            <a:pPr>
              <a:spcBef>
                <a:spcPts val="300"/>
              </a:spcBef>
              <a:buNone/>
            </a:pPr>
            <a:r>
              <a:rPr lang="en-US" sz="1600" dirty="0">
                <a:solidFill>
                  <a:srgbClr val="3A3A3A"/>
                </a:solidFill>
              </a:rPr>
              <a:t>Evidence about whether the property holds.</a:t>
            </a:r>
          </a:p>
        </p:txBody>
      </p:sp>
      <p:sp>
        <p:nvSpPr>
          <p:cNvPr id="912" name="Sub"/>
          <p:cNvSpPr txBox="1"/>
          <p:nvPr/>
        </p:nvSpPr>
        <p:spPr>
          <a:xfrm>
            <a:off x="279400" y="4648200"/>
            <a:ext cx="8559800" cy="508000"/>
          </a:xfrm>
          <a:prstGeom prst="rect">
            <a:avLst/>
          </a:prstGeom>
          <a:noFill/>
          <a:ln>
            <a:noFill/>
          </a:ln>
        </p:spPr>
        <p:txBody>
          <a:bodyPr lIns="114300" tIns="68580" rIns="114300" bIns="68580" anchor="t">
            <a:noAutofit/>
          </a:bodyPr>
          <a:lstStyle/>
          <a:p>
            <a:pPr algn="ctr">
              <a:buNone/>
            </a:pPr>
            <a:r>
              <a:rPr lang="en-US" sz="1600" dirty="0">
                <a:solidFill>
                  <a:srgbClr val="3A3A3A"/>
                </a:solidFill>
              </a:rPr>
              <a:t>Hold the system fixed, change the question, and the useful representation changes with it.</a:t>
            </a:r>
          </a:p>
        </p:txBody>
      </p:sp>
      <p:sp>
        <p:nvSpPr>
          <p:cNvPr id="913"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MAGE Part II, Figure 2.1-2</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pPr>
            <a:r>
              <a:rPr lang="en-US" b="1"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LEARNING</a:t>
            </a:r>
          </a:p>
        </p:txBody>
      </p:sp>
      <p:sp>
        <p:nvSpPr>
          <p:cNvPr id="1003" name="St"/>
          <p:cNvSpPr txBox="1"/>
          <p:nvPr/>
        </p:nvSpPr>
        <p:spPr>
          <a:xfrm>
            <a:off x="21082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400" b="1" dirty="0">
                <a:solidFill>
                  <a:srgbClr val="3A3A3A"/>
                </a:solidFill>
              </a:rPr>
              <a:t>MONITORING</a:t>
            </a:r>
          </a:p>
        </p:txBody>
      </p:sp>
      <p:sp>
        <p:nvSpPr>
          <p:cNvPr id="1004" name="St"/>
          <p:cNvSpPr txBox="1"/>
          <p:nvPr/>
        </p:nvSpPr>
        <p:spPr>
          <a:xfrm>
            <a:off x="39370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SUSPECT</a:t>
            </a:r>
          </a:p>
        </p:txBody>
      </p:sp>
      <p:sp>
        <p:nvSpPr>
          <p:cNvPr id="1005" name="St"/>
          <p:cNvSpPr txBox="1"/>
          <p:nvPr/>
        </p:nvSpPr>
        <p:spPr>
          <a:xfrm>
            <a:off x="3937000" y="2997200"/>
            <a:ext cx="1524000" cy="558800"/>
          </a:xfrm>
          <a:prstGeom prst="rect">
            <a:avLst/>
          </a:prstGeom>
          <a:solidFill>
            <a:srgbClr val="8E6F3E"/>
          </a:solidFill>
          <a:ln>
            <a:noFill/>
          </a:ln>
        </p:spPr>
        <p:txBody>
          <a:bodyPr lIns="114300" tIns="68580" rIns="114300" bIns="68580" anchor="ctr">
            <a:noAutofit/>
          </a:bodyPr>
          <a:lstStyle/>
          <a:p>
            <a:pPr algn="ctr">
              <a:buNone/>
            </a:pPr>
            <a:r>
              <a:rPr lang="en-US" sz="1300" b="1" dirty="0">
                <a:solidFill>
                  <a:srgbClr val="FFFFFF"/>
                </a:solidFill>
              </a:rPr>
              <a:t>REBASELINING</a:t>
            </a:r>
          </a:p>
        </p:txBody>
      </p:sp>
      <p:sp>
        <p:nvSpPr>
          <p:cNvPr id="1018" name="Panel"/>
          <p:cNvSpPr txBox="1"/>
          <p:nvPr/>
        </p:nvSpPr>
        <p:spPr>
          <a:xfrm>
            <a:off x="5740400" y="1270000"/>
            <a:ext cx="3098800" cy="381000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may happen next?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allowable states</a:t>
            </a:r>
          </a:p>
          <a:p>
            <a:pPr>
              <a:spcBef>
                <a:spcPts val="150"/>
              </a:spcBef>
              <a:buNone/>
            </a:pPr>
            <a:r>
              <a:rPr lang="en-US" sz="1500" dirty="0">
                <a:solidFill>
                  <a:srgbClr val="3A3A3A"/>
                </a:solidFill>
              </a:rPr>
              <a:t>· permitted transitions</a:t>
            </a:r>
          </a:p>
          <a:p>
            <a:pPr>
              <a:spcBef>
                <a:spcPts val="150"/>
              </a:spcBef>
              <a:buNone/>
            </a:pPr>
            <a:r>
              <a:rPr lang="en-US" sz="1500" dirty="0">
                <a:solidFill>
                  <a:srgbClr val="3A3A3A"/>
                </a:solidFill>
              </a:rPr>
              <a:t>· forbidden transitions</a:t>
            </a:r>
          </a:p>
          <a:p>
            <a:pPr>
              <a:spcBef>
                <a:spcPts val="150"/>
              </a:spcBef>
              <a:buNone/>
            </a:pPr>
            <a:r>
              <a:rPr lang="en-US" sz="1500" dirty="0">
                <a:solidFill>
                  <a:srgbClr val="3A3A3A"/>
                </a:solidFill>
              </a:rPr>
              <a:t>· conditions under which they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An advisory may be issued only in MONITORING or SUSPECT.</a:t>
            </a:r>
          </a:p>
        </p:txBody>
      </p:sp>
      <p:sp>
        <p:nvSpPr>
          <p:cNvPr id="1020"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Representation form: MAGE Part II, Figure 2.1-3, finite-state model</a:t>
            </a:r>
          </a:p>
        </p:txBody>
      </p:sp>
      <p:cxnSp>
        <p:nvCxnSpPr>
          <p:cNvPr id="1101" name="Flow"/>
          <p:cNvCxnSpPr/>
          <p:nvPr/>
        </p:nvCxnSpPr>
        <p:spPr>
          <a:xfrm>
            <a:off x="1803400" y="1676400"/>
            <a:ext cx="304800" cy="0"/>
          </a:xfrm>
          <a:prstGeom prst="line">
            <a:avLst/>
          </a:prstGeom>
          <a:ln w="19050">
            <a:solidFill>
              <a:srgbClr val="8E6F3E"/>
            </a:solidFill>
            <a:tailEnd type="triangle"/>
          </a:ln>
        </p:spPr>
      </p:cxnSp>
      <p:cxnSp>
        <p:nvCxnSpPr>
          <p:cNvPr id="1102" name="Flow"/>
          <p:cNvCxnSpPr/>
          <p:nvPr/>
        </p:nvCxnSpPr>
        <p:spPr>
          <a:xfrm>
            <a:off x="3632200" y="1524000"/>
            <a:ext cx="304800" cy="0"/>
          </a:xfrm>
          <a:prstGeom prst="line">
            <a:avLst/>
          </a:prstGeom>
          <a:ln w="19050">
            <a:solidFill>
              <a:srgbClr val="8E6F3E"/>
            </a:solidFill>
            <a:tailEnd type="triangle"/>
          </a:ln>
        </p:spPr>
      </p:cxnSp>
      <p:cxnSp>
        <p:nvCxnSpPr>
          <p:cNvPr id="1120" name="Flow"/>
          <p:cNvCxnSpPr/>
          <p:nvPr/>
        </p:nvCxnSpPr>
        <p:spPr>
          <a:xfrm flipH="1">
            <a:off x="3632200" y="1828800"/>
            <a:ext cx="304800" cy="0"/>
          </a:xfrm>
          <a:prstGeom prst="line">
            <a:avLst/>
          </a:prstGeom>
          <a:ln w="19050">
            <a:solidFill>
              <a:srgbClr val="8E6F3E"/>
            </a:solidFill>
            <a:tailEnd type="triangle"/>
          </a:ln>
        </p:spPr>
      </p:cxnSp>
      <p:sp>
        <p:nvSpPr>
          <p:cNvPr id="1103" name="Lb"/>
          <p:cNvSpPr txBox="1"/>
          <p:nvPr/>
        </p:nvSpPr>
        <p:spPr>
          <a:xfrm>
            <a:off x="1155700" y="1092200"/>
            <a:ext cx="1600200" cy="254000"/>
          </a:xfrm>
          <a:prstGeom prst="rect">
            <a:avLst/>
          </a:prstGeom>
          <a:noFill/>
          <a:ln>
            <a:noFill/>
          </a:ln>
        </p:spPr>
        <p:txBody>
          <a:bodyPr lIns="0" tIns="0" rIns="0" bIns="0" anchor="ctr">
            <a:noAutofit/>
          </a:bodyPr>
          <a:lstStyle/>
          <a:p>
            <a:pPr algn="ctr">
              <a:buNone/>
            </a:pPr>
            <a:r>
              <a:rPr lang="en-US" sz="1000" dirty="0">
                <a:solidFill>
                  <a:srgbClr val="555960"/>
                </a:solidFill>
              </a:rPr>
              <a:t>baseline established</a:t>
            </a:r>
          </a:p>
        </p:txBody>
      </p:sp>
      <p:sp>
        <p:nvSpPr>
          <p:cNvPr id="1121" name="Lb"/>
          <p:cNvSpPr txBox="1"/>
          <p:nvPr/>
        </p:nvSpPr>
        <p:spPr>
          <a:xfrm>
            <a:off x="2882900" y="2019300"/>
            <a:ext cx="1803400" cy="254000"/>
          </a:xfrm>
          <a:prstGeom prst="rect">
            <a:avLst/>
          </a:prstGeom>
          <a:noFill/>
          <a:ln>
            <a:noFill/>
          </a:ln>
        </p:spPr>
        <p:txBody>
          <a:bodyPr lIns="0" tIns="0" rIns="0" bIns="0" anchor="ctr">
            <a:noAutofit/>
          </a:bodyPr>
          <a:lstStyle/>
          <a:p>
            <a:pPr algn="ctr">
              <a:buNone/>
            </a:pPr>
            <a:r>
              <a:rPr lang="en-US" sz="1000" dirty="0">
                <a:solidFill>
                  <a:srgbClr val="555960"/>
                </a:solidFill>
              </a:rPr>
              <a:t>pattern returns to normal</a:t>
            </a:r>
          </a:p>
        </p:txBody>
      </p:sp>
      <p:sp>
        <p:nvSpPr>
          <p:cNvPr id="1104" name="Lb"/>
          <p:cNvSpPr txBox="1"/>
          <p:nvPr/>
        </p:nvSpPr>
        <p:spPr>
          <a:xfrm>
            <a:off x="2641600" y="1092200"/>
            <a:ext cx="2286000" cy="254000"/>
          </a:xfrm>
          <a:prstGeom prst="rect">
            <a:avLst/>
          </a:prstGeom>
          <a:noFill/>
          <a:ln>
            <a:noFill/>
          </a:ln>
        </p:spPr>
        <p:txBody>
          <a:bodyPr lIns="0" tIns="0" rIns="0" bIns="0" anchor="ctr">
            <a:noAutofit/>
          </a:bodyPr>
          <a:lstStyle/>
          <a:p>
            <a:pPr algn="ctr">
              <a:buNone/>
            </a:pPr>
            <a:r>
              <a:rPr lang="en-US" sz="1000" dirty="0">
                <a:solidFill>
                  <a:srgbClr val="555960"/>
                </a:solidFill>
              </a:rPr>
              <a:t>meaningful departure detected</a:t>
            </a:r>
          </a:p>
        </p:txBody>
      </p:sp>
      <p:cxnSp>
        <p:nvCxnSpPr>
          <p:cNvPr id="1105" name="Flow"/>
          <p:cNvCxnSpPr/>
          <p:nvPr/>
        </p:nvCxnSpPr>
        <p:spPr>
          <a:xfrm>
            <a:off x="4699000" y="1955800"/>
            <a:ext cx="0" cy="1041400"/>
          </a:xfrm>
          <a:prstGeom prst="line">
            <a:avLst/>
          </a:prstGeom>
          <a:ln w="19050">
            <a:solidFill>
              <a:srgbClr val="8E6F3E"/>
            </a:solidFill>
            <a:tailEnd type="triangle"/>
          </a:ln>
        </p:spPr>
      </p:cxnSp>
      <p:sp>
        <p:nvSpPr>
          <p:cNvPr id="1106" name="Lb"/>
          <p:cNvSpPr txBox="1"/>
          <p:nvPr/>
        </p:nvSpPr>
        <p:spPr>
          <a:xfrm>
            <a:off x="2921000" y="2620000"/>
            <a:ext cx="1651000" cy="254000"/>
          </a:xfrm>
          <a:prstGeom prst="rect">
            <a:avLst/>
          </a:prstGeom>
          <a:noFill/>
          <a:ln>
            <a:noFill/>
          </a:ln>
        </p:spPr>
        <p:txBody>
          <a:bodyPr lIns="0" tIns="0" rIns="0" bIns="0" anchor="ctr">
            <a:noAutofit/>
          </a:bodyPr>
          <a:lstStyle/>
          <a:p>
            <a:pPr algn="r">
              <a:buNone/>
            </a:pPr>
            <a:r>
              <a:rPr lang="en-US" sz="1000" dirty="0">
                <a:solidFill>
                  <a:srgbClr val="555960"/>
                </a:solidFill>
              </a:rPr>
              <a:t>change appears persistent</a:t>
            </a:r>
          </a:p>
        </p:txBody>
      </p:sp>
      <p:cxnSp>
        <p:nvCxnSpPr>
          <p:cNvPr id="1107" name="Flow"/>
          <p:cNvCxnSpPr/>
          <p:nvPr/>
        </p:nvCxnSpPr>
        <p:spPr>
          <a:xfrm>
            <a:off x="4699000" y="3556000"/>
            <a:ext cx="0" cy="279400"/>
          </a:xfrm>
          <a:prstGeom prst="line">
            <a:avLst/>
          </a:prstGeom>
          <a:ln w="19050">
            <a:solidFill>
              <a:srgbClr val="8E6F3E"/>
            </a:solidFill>
          </a:ln>
        </p:spPr>
      </p:cxnSp>
      <p:cxnSp>
        <p:nvCxnSpPr>
          <p:cNvPr id="1108" name="Flow"/>
          <p:cNvCxnSpPr/>
          <p:nvPr/>
        </p:nvCxnSpPr>
        <p:spPr>
          <a:xfrm flipH="1">
            <a:off x="2870200" y="3835400"/>
            <a:ext cx="1828800" cy="0"/>
          </a:xfrm>
          <a:prstGeom prst="line">
            <a:avLst/>
          </a:prstGeom>
          <a:ln w="19050">
            <a:solidFill>
              <a:srgbClr val="8E6F3E"/>
            </a:solidFill>
          </a:ln>
        </p:spPr>
      </p:cxnSp>
      <p:cxnSp>
        <p:nvCxnSpPr>
          <p:cNvPr id="1109" name="Flow"/>
          <p:cNvCxnSpPr/>
          <p:nvPr/>
        </p:nvCxnSpPr>
        <p:spPr>
          <a:xfrm flipV="1">
            <a:off x="2870200" y="1955800"/>
            <a:ext cx="0" cy="1879600"/>
          </a:xfrm>
          <a:prstGeom prst="line">
            <a:avLst/>
          </a:prstGeom>
          <a:ln w="19050">
            <a:solidFill>
              <a:srgbClr val="8E6F3E"/>
            </a:solidFill>
            <a:tailEnd type="triangle"/>
          </a:ln>
        </p:spPr>
      </p:cxnSp>
      <p:sp>
        <p:nvSpPr>
          <p:cNvPr id="1110" name="Lb"/>
          <p:cNvSpPr txBox="1"/>
          <p:nvPr/>
        </p:nvSpPr>
        <p:spPr>
          <a:xfrm>
            <a:off x="2997200" y="3886200"/>
            <a:ext cx="2032000" cy="254000"/>
          </a:xfrm>
          <a:prstGeom prst="rect">
            <a:avLst/>
          </a:prstGeom>
          <a:noFill/>
          <a:ln>
            <a:noFill/>
          </a:ln>
        </p:spPr>
        <p:txBody>
          <a:bodyPr lIns="0" tIns="0" rIns="0" bIns="0" anchor="ctr">
            <a:noAutofit/>
          </a:bodyPr>
          <a:lstStyle/>
          <a:p>
            <a:pPr algn="l">
              <a:buNone/>
            </a:pPr>
            <a:r>
              <a:rPr lang="en-US" sz="10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pPr>
            <a:r>
              <a:rPr lang="en-US" b="1"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20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Record the night's observations</a:t>
            </a:r>
          </a:p>
        </p:txBody>
      </p:sp>
      <p:cxnSp>
        <p:nvCxnSpPr>
          <p:cNvPr id="1203" name="Flow"/>
          <p:cNvCxnSpPr/>
          <p:nvPr/>
        </p:nvCxnSpPr>
        <p:spPr>
          <a:xfrm>
            <a:off x="1739900" y="1879600"/>
            <a:ext cx="0" cy="203200"/>
          </a:xfrm>
          <a:prstGeom prst="line">
            <a:avLst/>
          </a:prstGeom>
          <a:ln w="19050">
            <a:solidFill>
              <a:srgbClr val="8E6F3E"/>
            </a:solidFill>
            <a:tailEnd type="triangle"/>
          </a:ln>
        </p:spPr>
      </p:cxnSp>
      <p:sp>
        <p:nvSpPr>
          <p:cNvPr id="1204" name="Act"/>
          <p:cNvSpPr txBox="1"/>
          <p:nvPr/>
        </p:nvSpPr>
        <p:spPr>
          <a:xfrm>
            <a:off x="279400" y="2082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Classify the night</a:t>
            </a:r>
          </a:p>
        </p:txBody>
      </p:sp>
      <p:cxnSp>
        <p:nvCxnSpPr>
          <p:cNvPr id="1205" name="Flow"/>
          <p:cNvCxnSpPr/>
          <p:nvPr/>
        </p:nvCxnSpPr>
        <p:spPr>
          <a:xfrm>
            <a:off x="1739900" y="2641600"/>
            <a:ext cx="0" cy="203200"/>
          </a:xfrm>
          <a:prstGeom prst="line">
            <a:avLst/>
          </a:prstGeom>
          <a:ln w="19050">
            <a:solidFill>
              <a:srgbClr val="8E6F3E"/>
            </a:solidFill>
            <a:tailEnd type="triangle"/>
          </a:ln>
        </p:spPr>
      </p:cxnSp>
      <p:sp>
        <p:nvSpPr>
          <p:cNvPr id="1206" name="Act"/>
          <p:cNvSpPr txBox="1"/>
          <p:nvPr/>
        </p:nvSpPr>
        <p:spPr>
          <a:xfrm>
            <a:off x="279400" y="2844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Compare with the baseline</a:t>
            </a:r>
          </a:p>
        </p:txBody>
      </p:sp>
      <p:cxnSp>
        <p:nvCxnSpPr>
          <p:cNvPr id="1207" name="Flow"/>
          <p:cNvCxnSpPr/>
          <p:nvPr/>
        </p:nvCxnSpPr>
        <p:spPr>
          <a:xfrm>
            <a:off x="1739900" y="3403600"/>
            <a:ext cx="0" cy="203200"/>
          </a:xfrm>
          <a:prstGeom prst="line">
            <a:avLst/>
          </a:prstGeom>
          <a:ln w="19050">
            <a:solidFill>
              <a:srgbClr val="8E6F3E"/>
            </a:solidFill>
            <a:tailEnd type="triangle"/>
          </a:ln>
        </p:spPr>
      </p:cxnSp>
      <p:sp>
        <p:nvSpPr>
          <p:cNvPr id="1208" name="Act"/>
          <p:cNvSpPr txBox="1"/>
          <p:nvPr/>
        </p:nvSpPr>
        <p:spPr>
          <a:xfrm>
            <a:off x="279400" y="3606800"/>
            <a:ext cx="2921000" cy="558800"/>
          </a:xfrm>
          <a:prstGeom prst="rect">
            <a:avLst/>
          </a:prstGeom>
          <a:solidFill>
            <a:srgbClr val="8E6F3E"/>
          </a:solidFill>
          <a:ln>
            <a:noFill/>
          </a:ln>
        </p:spPr>
        <p:txBody>
          <a:bodyPr lIns="114300" tIns="45720" rIns="114300" bIns="45720" anchor="ctr">
            <a:noAutofit/>
          </a:bodyPr>
          <a:lstStyle/>
          <a:p>
            <a:pPr algn="ctr">
              <a:buNone/>
            </a:pPr>
            <a:r>
              <a:rPr lang="en-US" sz="1500" b="1" dirty="0">
                <a:solidFill>
                  <a:srgbClr val="FFFFFF"/>
                </a:solidFill>
              </a:rPr>
              <a:t>Issue advisory at wake</a:t>
            </a:r>
          </a:p>
        </p:txBody>
      </p:sp>
      <p:cxnSp>
        <p:nvCxnSpPr>
          <p:cNvPr id="1209" name="Flow"/>
          <p:cNvCxnSpPr/>
          <p:nvPr/>
        </p:nvCxnSpPr>
        <p:spPr>
          <a:xfrm>
            <a:off x="1739900" y="3403600"/>
            <a:ext cx="0" cy="203200"/>
          </a:xfrm>
          <a:prstGeom prst="line">
            <a:avLst/>
          </a:prstGeom>
          <a:ln w="19050">
            <a:solidFill>
              <a:srgbClr val="8E6F3E"/>
            </a:solidFill>
            <a:tailEnd type="triangle"/>
          </a:ln>
        </p:spPr>
      </p:cxnSp>
      <p:cxnSp>
        <p:nvCxnSpPr>
          <p:cNvPr id="1210" name="Flow"/>
          <p:cNvCxnSpPr/>
          <p:nvPr/>
        </p:nvCxnSpPr>
        <p:spPr>
          <a:xfrm>
            <a:off x="3200400" y="1600200"/>
            <a:ext cx="558800" cy="0"/>
          </a:xfrm>
          <a:prstGeom prst="line">
            <a:avLst/>
          </a:prstGeom>
          <a:ln w="19050">
            <a:solidFill>
              <a:srgbClr val="9B9B9B"/>
            </a:solidFill>
            <a:prstDash val="dash"/>
          </a:ln>
        </p:spPr>
      </p:cxnSp>
      <p:cxnSp>
        <p:nvCxnSpPr>
          <p:cNvPr id="1211" name="Flow"/>
          <p:cNvCxnSpPr/>
          <p:nvPr/>
        </p:nvCxnSpPr>
        <p:spPr>
          <a:xfrm>
            <a:off x="3759200" y="1600200"/>
            <a:ext cx="0" cy="2286000"/>
          </a:xfrm>
          <a:prstGeom prst="line">
            <a:avLst/>
          </a:prstGeom>
          <a:ln w="19050">
            <a:solidFill>
              <a:srgbClr val="9B9B9B"/>
            </a:solidFill>
            <a:prstDash val="dash"/>
          </a:ln>
        </p:spPr>
      </p:cxnSp>
      <p:cxnSp>
        <p:nvCxnSpPr>
          <p:cNvPr id="1212" name="Flow"/>
          <p:cNvCxnSpPr/>
          <p:nvPr/>
        </p:nvCxnSpPr>
        <p:spPr>
          <a:xfrm flipH="1">
            <a:off x="3200400" y="3886200"/>
            <a:ext cx="558800" cy="0"/>
          </a:xfrm>
          <a:prstGeom prst="line">
            <a:avLst/>
          </a:prstGeom>
          <a:ln w="19050">
            <a:solidFill>
              <a:srgbClr val="9B9B9B"/>
            </a:solidFill>
            <a:prstDash val="dash"/>
          </a:ln>
        </p:spPr>
      </p:cxnSp>
      <p:sp>
        <p:nvSpPr>
          <p:cNvPr id="1213" name="X"/>
          <p:cNvSpPr txBox="1"/>
          <p:nvPr/>
        </p:nvSpPr>
        <p:spPr>
          <a:xfrm>
            <a:off x="3581400" y="3632200"/>
            <a:ext cx="355600" cy="355600"/>
          </a:xfrm>
          <a:prstGeom prst="rect">
            <a:avLst/>
          </a:prstGeom>
          <a:noFill/>
          <a:ln>
            <a:noFill/>
          </a:ln>
        </p:spPr>
        <p:txBody>
          <a:bodyPr lIns="114300" tIns="45720" rIns="114300" bIns="45720" anchor="ctr">
            <a:noAutofit/>
          </a:bodyPr>
          <a:lstStyle/>
          <a:p>
            <a:pPr algn="ctr">
              <a:buNone/>
            </a:pPr>
            <a:r>
              <a:rPr lang="en-US" sz="1800" b="1" dirty="0">
                <a:solidFill>
                  <a:srgbClr val="9B9B9B"/>
                </a:solidFill>
              </a:rPr>
              <a:t>✕</a:t>
            </a:r>
          </a:p>
        </p:txBody>
      </p:sp>
      <p:sp>
        <p:nvSpPr>
          <p:cNvPr id="1214" name="XLb"/>
          <p:cNvSpPr txBox="1"/>
          <p:nvPr/>
        </p:nvSpPr>
        <p:spPr>
          <a:xfrm>
            <a:off x="279400" y="4267200"/>
            <a:ext cx="5207000" cy="330200"/>
          </a:xfrm>
          <a:prstGeom prst="rect">
            <a:avLst/>
          </a:prstGeom>
          <a:noFill/>
          <a:ln>
            <a:noFill/>
          </a:ln>
        </p:spPr>
        <p:txBody>
          <a:bodyPr lIns="0" tIns="45720" rIns="114300" bIns="45720" anchor="t">
            <a:noAutofit/>
          </a:bodyPr>
          <a:lstStyle/>
          <a:p>
            <a:pPr>
              <a:buNone/>
            </a:pPr>
            <a:r>
              <a:rPr lang="en-US" sz="1500" dirty="0">
                <a:solidFill>
                  <a:srgbClr val="555960"/>
                </a:solidFill>
              </a:rPr>
              <a:t>The dashed path must never occur.</a:t>
            </a:r>
          </a:p>
        </p:txBody>
      </p:sp>
      <p:sp>
        <p:nvSpPr>
          <p:cNvPr id="1215" name="Dist"/>
          <p:cNvSpPr txBox="1"/>
          <p:nvPr/>
        </p:nvSpPr>
        <p:spPr>
          <a:xfrm>
            <a:off x="279400" y="4673600"/>
            <a:ext cx="5207000" cy="838200"/>
          </a:xfrm>
          <a:prstGeom prst="rect">
            <a:avLst/>
          </a:prstGeom>
          <a:noFill/>
          <a:ln>
            <a:noFill/>
          </a:ln>
        </p:spPr>
        <p:txBody>
          <a:bodyPr lIns="0" tIns="45720" rIns="114300" bIns="45720" anchor="t">
            <a:noAutofit/>
          </a:bodyPr>
          <a:lstStyle/>
          <a:p>
            <a:pPr>
              <a:buNone/>
            </a:pPr>
            <a:r>
              <a:rPr lang="en-US" sz="1500" dirty="0">
                <a:solidFill>
                  <a:srgbClr val="3A3A3A"/>
                </a:solidFill>
              </a:rPr>
              <a:t>State model: which situations may exist.</a:t>
            </a:r>
          </a:p>
          <a:p>
            <a:pPr>
              <a:spcBef>
                <a:spcPts val="200"/>
              </a:spcBef>
              <a:buNone/>
            </a:pPr>
            <a:r>
              <a:rPr lang="en-US" sz="1500" dirty="0">
                <a:solidFill>
                  <a:srgbClr val="3A3A3A"/>
                </a:solidFill>
              </a:rPr>
              <a:t>Activity view: which orderings are permitted.</a:t>
            </a:r>
          </a:p>
        </p:txBody>
      </p:sp>
      <p:sp>
        <p:nvSpPr>
          <p:cNvPr id="1216"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must happen before what?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ordering</a:t>
            </a:r>
          </a:p>
          <a:p>
            <a:pPr>
              <a:spcBef>
                <a:spcPts val="150"/>
              </a:spcBef>
              <a:buNone/>
            </a:pPr>
            <a:r>
              <a:rPr lang="en-US" sz="1500" dirty="0">
                <a:solidFill>
                  <a:srgbClr val="3A3A3A"/>
                </a:solidFill>
              </a:rPr>
              <a:t>· allowed branches</a:t>
            </a:r>
          </a:p>
          <a:p>
            <a:pPr>
              <a:spcBef>
                <a:spcPts val="150"/>
              </a:spcBef>
              <a:buNone/>
            </a:pPr>
            <a:r>
              <a:rPr lang="en-US" sz="1500" dirty="0">
                <a:solidFill>
                  <a:srgbClr val="3A3A3A"/>
                </a:solidFill>
              </a:rPr>
              <a:t>· required responses to events</a:t>
            </a:r>
          </a:p>
          <a:p>
            <a:pPr>
              <a:spcBef>
                <a:spcPts val="150"/>
              </a:spcBef>
              <a:buNone/>
            </a:pPr>
            <a:r>
              <a:rPr lang="en-US" sz="1500" dirty="0">
                <a:solidFill>
                  <a:srgbClr val="3A3A3A"/>
                </a:solidFill>
              </a:rPr>
              <a:t>· paths that must never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pPr>
            <a:r>
              <a:rPr lang="en-US" b="1"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175000" cy="2413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600" b="1" dirty="0">
                <a:solidFill>
                  <a:srgbClr val="1A1A1A"/>
                </a:solidFill>
                <a:latin typeface="Consolas"/>
              </a:rPr>
              <a:t>WEEKLY SUMMARY</a:t>
            </a:r>
          </a:p>
          <a:p>
            <a:pPr>
              <a:spcBef>
                <a:spcPts val="400"/>
              </a:spcBef>
              <a:buNone/>
            </a:pPr>
            <a:r>
              <a:rPr lang="en-US" sz="1500" dirty="0">
                <a:solidFill>
                  <a:srgbClr val="3A3A3A"/>
                </a:solidFill>
                <a:latin typeface="Consolas"/>
              </a:rPr>
              <a:t>├── start_date</a:t>
            </a:r>
          </a:p>
          <a:p>
            <a:pPr>
              <a:spcBef>
                <a:spcPts val="250"/>
              </a:spcBef>
              <a:buNone/>
            </a:pPr>
            <a:r>
              <a:rPr lang="en-US" sz="1500" dirty="0">
                <a:solidFill>
                  <a:srgbClr val="3A3A3A"/>
                </a:solidFill>
                <a:latin typeface="Consolas"/>
              </a:rPr>
              <a:t>├── end_date</a:t>
            </a:r>
          </a:p>
          <a:p>
            <a:pPr>
              <a:spcBef>
                <a:spcPts val="250"/>
              </a:spcBef>
              <a:buNone/>
            </a:pPr>
            <a:r>
              <a:rPr lang="en-US" sz="1500" dirty="0">
                <a:solidFill>
                  <a:srgbClr val="3A3A3A"/>
                </a:solidFill>
                <a:latin typeface="Consolas"/>
              </a:rPr>
              <a:t>├── nightly_duration[ ]</a:t>
            </a:r>
          </a:p>
          <a:p>
            <a:pPr>
              <a:spcBef>
                <a:spcPts val="250"/>
              </a:spcBef>
              <a:buNone/>
            </a:pPr>
            <a:r>
              <a:rPr lang="en-US" sz="1500" dirty="0">
                <a:solidFill>
                  <a:srgbClr val="3A3A3A"/>
                </a:solidFill>
                <a:latin typeface="Consolas"/>
              </a:rPr>
              <a:t>└── advisory?</a:t>
            </a:r>
          </a:p>
        </p:txBody>
      </p:sp>
      <p:sp>
        <p:nvSpPr>
          <p:cNvPr id="1403" name="Types"/>
          <p:cNvSpPr txBox="1"/>
          <p:nvPr/>
        </p:nvSpPr>
        <p:spPr>
          <a:xfrm>
            <a:off x="3556000" y="1270000"/>
            <a:ext cx="1778000" cy="2413000"/>
          </a:xfrm>
          <a:prstGeom prst="rect">
            <a:avLst/>
          </a:prstGeom>
          <a:noFill/>
          <a:ln>
            <a:noFill/>
          </a:ln>
        </p:spPr>
        <p:txBody>
          <a:bodyPr lIns="0" tIns="45720" rIns="114300" bIns="45720" anchor="t">
            <a:noAutofit/>
          </a:bodyPr>
          <a:lstStyle/>
          <a:p>
            <a:pPr>
              <a:buNone/>
            </a:pPr>
            <a:r>
              <a:rPr lang="en-US" sz="1600" dirty="0"/>
              <a:t> </a:t>
            </a:r>
          </a:p>
          <a:p>
            <a:pPr>
              <a:spcBef>
                <a:spcPts val="400"/>
              </a:spcBef>
              <a:buNone/>
            </a:pPr>
            <a:r>
              <a:rPr lang="en-US" sz="1400" dirty="0">
                <a:solidFill>
                  <a:srgbClr val="555960"/>
                </a:solidFill>
              </a:rPr>
              <a:t>date · required</a:t>
            </a:r>
          </a:p>
          <a:p>
            <a:pPr>
              <a:spcBef>
                <a:spcPts val="250"/>
              </a:spcBef>
              <a:buNone/>
            </a:pPr>
            <a:r>
              <a:rPr lang="en-US" sz="1400" dirty="0">
                <a:solidFill>
                  <a:srgbClr val="555960"/>
                </a:solidFill>
              </a:rPr>
              <a:t>date · required</a:t>
            </a:r>
          </a:p>
          <a:p>
            <a:pPr>
              <a:spcBef>
                <a:spcPts val="250"/>
              </a:spcBef>
              <a:buNone/>
            </a:pPr>
            <a:r>
              <a:rPr lang="en-US" sz="1400" b="1" dirty="0">
                <a:solidFill>
                  <a:srgbClr val="8E6F3E"/>
                </a:solidFill>
              </a:rPr>
              <a:t>exactly 7 entries</a:t>
            </a:r>
          </a:p>
          <a:p>
            <a:pPr>
              <a:spcBef>
                <a:spcPts val="250"/>
              </a:spcBef>
              <a:buNone/>
            </a:pPr>
            <a:r>
              <a:rPr lang="en-US" sz="1400" dirty="0">
                <a:solidFill>
                  <a:srgbClr val="555960"/>
                </a:solidFill>
              </a:rPr>
              <a:t>string · optional</a:t>
            </a:r>
          </a:p>
        </p:txBody>
      </p:sp>
      <p:sp>
        <p:nvSpPr>
          <p:cNvPr id="1404" name="Bound"/>
          <p:cNvSpPr txBox="1"/>
          <p:nvPr/>
        </p:nvSpPr>
        <p:spPr>
          <a:xfrm>
            <a:off x="279400" y="3860800"/>
            <a:ext cx="5054600" cy="685800"/>
          </a:xfrm>
          <a:prstGeom prst="rect">
            <a:avLst/>
          </a:prstGeom>
          <a:noFill/>
          <a:ln>
            <a:noFill/>
          </a:ln>
        </p:spPr>
        <p:txBody>
          <a:bodyPr lIns="0" tIns="45720" rIns="114300" bIns="45720" anchor="t">
            <a:noAutofit/>
          </a:bodyPr>
          <a:lstStyle/>
          <a:p>
            <a:pPr>
              <a:buNone/>
            </a:pPr>
            <a:r>
              <a:rPr lang="en-US" sz="15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information is valid?</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fields</a:t>
            </a:r>
          </a:p>
          <a:p>
            <a:pPr>
              <a:spcBef>
                <a:spcPts val="150"/>
              </a:spcBef>
              <a:buNone/>
            </a:pPr>
            <a:r>
              <a:rPr lang="en-US" sz="1500" dirty="0">
                <a:solidFill>
                  <a:srgbClr val="3A3A3A"/>
                </a:solidFill>
              </a:rPr>
              <a:t>· types</a:t>
            </a:r>
          </a:p>
          <a:p>
            <a:pPr>
              <a:spcBef>
                <a:spcPts val="150"/>
              </a:spcBef>
              <a:buNone/>
            </a:pPr>
            <a:r>
              <a:rPr lang="en-US" sz="1500" dirty="0">
                <a:solidFill>
                  <a:srgbClr val="3A3A3A"/>
                </a:solidFill>
              </a:rPr>
              <a:t>· cardinality</a:t>
            </a:r>
          </a:p>
          <a:p>
            <a:pPr>
              <a:spcBef>
                <a:spcPts val="150"/>
              </a:spcBef>
              <a:buNone/>
            </a:pPr>
            <a:r>
              <a:rPr lang="en-US" sz="1500" dirty="0">
                <a:solidFill>
                  <a:srgbClr val="3A3A3A"/>
                </a:solidFill>
              </a:rPr>
              <a:t>· ranges</a:t>
            </a:r>
          </a:p>
          <a:p>
            <a:pPr>
              <a:spcBef>
                <a:spcPts val="150"/>
              </a:spcBef>
              <a:buNone/>
            </a:pPr>
            <a:r>
              <a:rPr lang="en-US" sz="1500" dirty="0">
                <a:solidFill>
                  <a:srgbClr val="3A3A3A"/>
                </a:solidFill>
              </a:rPr>
              <a:t>· referential relationships</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pPr>
            <a:r>
              <a:rPr lang="en-US" b="1"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SAME SYSTEM</a:t>
            </a:r>
          </a:p>
        </p:txBody>
      </p:sp>
      <p:sp>
        <p:nvSpPr>
          <p:cNvPr id="1503" name="View"/>
          <p:cNvSpPr txBox="1"/>
          <p:nvPr/>
        </p:nvSpPr>
        <p:spPr>
          <a:xfrm>
            <a:off x="2794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STATE</a:t>
            </a:r>
          </a:p>
          <a:p>
            <a:pPr algn="ctr">
              <a:spcBef>
                <a:spcPts val="350"/>
              </a:spcBef>
              <a:buNone/>
            </a:pPr>
            <a:r>
              <a:rPr lang="en-US" sz="1500" dirty="0">
                <a:solidFill>
                  <a:srgbClr val="3A3A3A"/>
                </a:solidFill>
              </a:rPr>
              <a:t>allowable behavior</a:t>
            </a:r>
          </a:p>
        </p:txBody>
      </p:sp>
      <p:sp>
        <p:nvSpPr>
          <p:cNvPr id="1505" name="View"/>
          <p:cNvSpPr txBox="1"/>
          <p:nvPr/>
        </p:nvSpPr>
        <p:spPr>
          <a:xfrm>
            <a:off x="32766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ACTIVITY</a:t>
            </a:r>
          </a:p>
          <a:p>
            <a:pPr algn="ctr">
              <a:spcBef>
                <a:spcPts val="350"/>
              </a:spcBef>
              <a:buNone/>
            </a:pPr>
            <a:r>
              <a:rPr lang="en-US" sz="1500" dirty="0">
                <a:solidFill>
                  <a:srgbClr val="3A3A3A"/>
                </a:solidFill>
              </a:rPr>
              <a:t>permitted ordering</a:t>
            </a:r>
          </a:p>
        </p:txBody>
      </p:sp>
      <p:sp>
        <p:nvSpPr>
          <p:cNvPr id="1509" name="View"/>
          <p:cNvSpPr txBox="1"/>
          <p:nvPr/>
        </p:nvSpPr>
        <p:spPr>
          <a:xfrm>
            <a:off x="62738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SCHEMA</a:t>
            </a:r>
          </a:p>
          <a:p>
            <a:pPr algn="ctr">
              <a:spcBef>
                <a:spcPts val="350"/>
              </a:spcBef>
              <a:buNone/>
            </a:pPr>
            <a:r>
              <a:rPr lang="en-US" sz="1500" dirty="0">
                <a:solidFill>
                  <a:srgbClr val="3A3A3A"/>
                </a:solidFill>
              </a:rPr>
              <a:t>valid information</a:t>
            </a:r>
          </a:p>
        </p:txBody>
      </p:sp>
      <p:sp>
        <p:nvSpPr>
          <p:cNvPr id="1510" name="Shared"/>
          <p:cNvSpPr txBox="1"/>
          <p:nvPr/>
        </p:nvSpPr>
        <p:spPr>
          <a:xfrm>
            <a:off x="279400" y="3581400"/>
            <a:ext cx="8559800" cy="558800"/>
          </a:xfrm>
          <a:prstGeom prst="rect">
            <a:avLst/>
          </a:prstGeom>
          <a:solidFill>
            <a:srgbClr val="DAD4C6"/>
          </a:solidFill>
          <a:ln>
            <a:noFill/>
          </a:ln>
        </p:spPr>
        <p:txBody>
          <a:bodyPr lIns="91440" tIns="45720" rIns="91440" bIns="45720" anchor="ctr">
            <a:noAutofit/>
          </a:bodyPr>
          <a:lstStyle/>
          <a:p>
            <a:pPr algn="ctr">
              <a:buNone/>
            </a:pPr>
            <a:r>
              <a:rPr lang="en-US" sz="1500" b="1" spc="60" dirty="0">
                <a:solidFill>
                  <a:srgbClr val="3A3A3A"/>
                </a:solidFill>
              </a:rPr>
              <a:t>SHARED CONCEPTS   observation · night · advisory</a:t>
            </a:r>
          </a:p>
        </p:txBody>
      </p:sp>
      <p:sp>
        <p:nvSpPr>
          <p:cNvPr id="1512" name="Final"/>
          <p:cNvSpPr txBox="1"/>
          <p:nvPr/>
        </p:nvSpPr>
        <p:spPr>
          <a:xfrm>
            <a:off x="279400" y="4521200"/>
            <a:ext cx="8559800" cy="406400"/>
          </a:xfrm>
          <a:prstGeom prst="rect">
            <a:avLst/>
          </a:prstGeom>
          <a:noFill/>
          <a:ln>
            <a:noFill/>
          </a:ln>
        </p:spPr>
        <p:txBody>
          <a:bodyPr lIns="91440" tIns="45720" rIns="91440" bIns="45720" anchor="t">
            <a:noAutofit/>
          </a:bodyPr>
          <a:lstStyle/>
          <a:p>
            <a:pPr algn="ctr">
              <a:buNone/>
            </a:pPr>
            <a:r>
              <a:rPr lang="en-US" sz="1900" b="1" dirty="0">
                <a:solidFill>
                  <a:srgbClr val="1A1A1A"/>
                </a:solidFill>
              </a:rPr>
              <a:t>Use the view that makes the consequential property expressible.</a:t>
            </a:r>
          </a:p>
        </p:txBody>
      </p:sp>
      <p:sp>
        <p:nvSpPr>
          <p:cNvPr id="1513" name="Sub"/>
          <p:cNvSpPr txBox="1"/>
          <p:nvPr/>
        </p:nvSpPr>
        <p:spPr>
          <a:xfrm>
            <a:off x="279400" y="5029200"/>
            <a:ext cx="8559800" cy="355600"/>
          </a:xfrm>
          <a:prstGeom prst="rect">
            <a:avLst/>
          </a:prstGeom>
          <a:noFill/>
          <a:ln>
            <a:noFill/>
          </a:ln>
        </p:spPr>
        <p:txBody>
          <a:bodyPr lIns="91440" tIns="45720" rIns="91440" bIns="45720" anchor="t">
            <a:noAutofit/>
          </a:bodyPr>
          <a:lstStyle/>
          <a:p>
            <a:pPr algn="ctr">
              <a:buNone/>
            </a:pPr>
            <a:r>
              <a:rPr lang="en-US" sz="1500" dirty="0">
                <a:solidFill>
                  <a:srgbClr val="3A3A3A"/>
                </a:solidFill>
              </a:rPr>
              <a:t>The system did not change. The engineering question changed, so the model changed.</a:t>
            </a:r>
          </a:p>
        </p:txBody>
      </p:sp>
      <p:sp>
        <p:nvSpPr>
          <p:cNvPr id="1514" name="Src"/>
          <p:cNvSpPr txBox="1"/>
          <p:nvPr/>
        </p:nvSpPr>
        <p:spPr>
          <a:xfrm>
            <a:off x="279400" y="61214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2.8-1</a:t>
            </a:r>
          </a:p>
        </p:txBody>
      </p:sp>
      <p:sp>
        <p:nvSpPr>
          <p:cNvPr id="1530" name="Kicker"/>
          <p:cNvSpPr txBox="1"/>
          <p:nvPr/>
        </p:nvSpPr>
        <p:spPr>
          <a:xfrm>
            <a:off x="635000" y="914400"/>
            <a:ext cx="30480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1803400"/>
            <a:ext cx="7772400" cy="1092200"/>
          </a:xfrm>
        </p:spPr>
        <p:txBody>
          <a:bodyPr>
            <a:normAutofit fontScale="90000"/>
          </a:bodyPr>
          <a:lstStyle/>
          <a:p>
            <a:pPr algn="ctr">
              <a:buNone/>
            </a:pPr>
            <a:r>
              <a:rPr lang="en-US" sz="3600" b="1"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3</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200400"/>
            <a:ext cx="8026400"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should we constrain, leave open, or learn?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pPr>
            <a:r>
              <a:rPr lang="en-US" b="1"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4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4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300" b="1" spc="60" dirty="0">
                <a:solidFill>
                  <a:srgbClr val="1A1A1A"/>
                </a:solidFill>
              </a:rPr>
              <a:t>ACCEPTABLE</a:t>
            </a:r>
          </a:p>
          <a:p>
            <a:pPr algn="ctr">
              <a:buNone/>
            </a:pPr>
            <a:r>
              <a:rPr lang="en-US" sz="1300" b="1" spc="60" dirty="0">
                <a:solidFill>
                  <a:srgbClr val="1A1A1A"/>
                </a:solidFill>
              </a:rPr>
              <a:t>REALIZATIONS</a:t>
            </a:r>
          </a:p>
          <a:p>
            <a:pPr algn="ctr">
              <a:spcBef>
                <a:spcPts val="150"/>
              </a:spcBef>
              <a:buNone/>
            </a:pPr>
            <a:r>
              <a:rPr lang="en-US" sz="12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724400"/>
            <a:ext cx="8559800" cy="406400"/>
          </a:xfrm>
          <a:prstGeom prst="rect">
            <a:avLst/>
          </a:prstGeom>
          <a:noFill/>
          <a:ln>
            <a:noFill/>
          </a:ln>
        </p:spPr>
        <p:txBody>
          <a:bodyPr lIns="91440" tIns="45720" rIns="91440" bIns="45720" anchor="t">
            <a:noAutofit/>
          </a:bodyPr>
          <a:lstStyle/>
          <a:p>
            <a:pPr algn="ctr">
              <a:buNone/>
            </a:pPr>
            <a:r>
              <a:rPr lang="en-US" sz="1500" dirty="0">
                <a:solidFill>
                  <a:srgbClr val="3A3A3A"/>
                </a:solidFill>
              </a:rPr>
              <a:t>Each dot is a distinct possible realization. The obligations bound a region; they do not pick a point inside it.</a:t>
            </a:r>
          </a:p>
        </p:txBody>
      </p:sp>
      <p:sp>
        <p:nvSpPr>
          <p:cNvPr id="1625" name="Src"/>
          <p:cNvSpPr txBox="1"/>
          <p:nvPr/>
        </p:nvSpPr>
        <p:spPr>
          <a:xfrm>
            <a:off x="279400" y="6070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2.1-1, adapted</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156200"/>
            <a:ext cx="8559800" cy="508000"/>
          </a:xfrm>
          <a:prstGeom prst="rect">
            <a:avLst/>
          </a:prstGeom>
          <a:solidFill>
            <a:srgbClr val="8E6F3E"/>
          </a:solidFill>
          <a:ln>
            <a:noFill/>
          </a:ln>
        </p:spPr>
        <p:txBody>
          <a:bodyPr lIns="91440" tIns="45720" rIns="91440" bIns="45720" anchor="ctr">
            <a:noAutofit/>
          </a:bodyPr>
          <a:lstStyle/>
          <a:p>
            <a:pPr algn="ctr">
              <a:buNone/>
            </a:pPr>
            <a:r>
              <a:rPr lang="en-US" sz="1900" b="1" dirty="0">
                <a:solidFill>
                  <a:srgbClr val="FFFFFF"/>
                </a:solidFill>
              </a:rPr>
              <a:t>Every obligation eliminates realizations.</a:t>
            </a:r>
          </a:p>
        </p:txBody>
      </p:sp>
      <p:sp>
        <p:nvSpPr>
          <p:cNvPr id="1627" name="TakeawayB"/>
          <p:cNvSpPr txBox="1"/>
          <p:nvPr/>
        </p:nvSpPr>
        <p:spPr>
          <a:xfrm>
            <a:off x="279400" y="5715000"/>
            <a:ext cx="8559800" cy="330200"/>
          </a:xfrm>
          <a:prstGeom prst="rect">
            <a:avLst/>
          </a:prstGeom>
          <a:noFill/>
          <a:ln>
            <a:noFill/>
          </a:ln>
        </p:spPr>
        <p:txBody>
          <a:bodyPr lIns="91440" tIns="45720" rIns="91440" bIns="45720" anchor="ctr">
            <a:noAutofit/>
          </a:bodyPr>
          <a:lstStyle/>
          <a:p>
            <a:pPr algn="ctr">
              <a:buNone/>
            </a:pPr>
            <a:r>
              <a:rPr lang="en-US" sz="19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pPr>
            <a:r>
              <a:rPr lang="en-US" b="1"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701" name="Top"/>
          <p:cNvSpPr txBox="1"/>
          <p:nvPr/>
        </p:nvSpPr>
        <p:spPr>
          <a:xfrm>
            <a:off x="3429000" y="1117600"/>
            <a:ext cx="2286000" cy="5080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NOT CONSTRAINED</a:t>
            </a:r>
          </a:p>
        </p:txBody>
      </p:sp>
      <p:cxnSp>
        <p:nvCxnSpPr>
          <p:cNvPr id="1702" name="Flow"/>
          <p:cNvCxnSpPr/>
          <p:nvPr/>
        </p:nvCxnSpPr>
        <p:spPr>
          <a:xfrm rot="5400000">
            <a:off x="2813050" y="425450"/>
            <a:ext cx="558800" cy="2959100"/>
          </a:xfrm>
          <a:prstGeom prst="bentConnector3">
            <a:avLst>
              <a:gd name="adj1" fmla="val 50000"/>
            </a:avLst>
          </a:prstGeom>
          <a:ln w="19050">
            <a:solidFill>
              <a:srgbClr val="8E6F3E"/>
            </a:solidFill>
            <a:tailEnd type="triangle"/>
          </a:ln>
        </p:spPr>
      </p:cxnSp>
      <p:cxnSp>
        <p:nvCxnSpPr>
          <p:cNvPr id="1703" name="Flow"/>
          <p:cNvCxnSpPr/>
          <p:nvPr/>
        </p:nvCxnSpPr>
        <p:spPr>
          <a:xfrm>
            <a:off x="4572000" y="1625600"/>
            <a:ext cx="0" cy="558800"/>
          </a:xfrm>
          <a:prstGeom prst="line">
            <a:avLst/>
          </a:prstGeom>
          <a:ln w="19050">
            <a:solidFill>
              <a:srgbClr val="8E6F3E"/>
            </a:solidFill>
            <a:tailEnd type="triangle"/>
          </a:ln>
        </p:spPr>
      </p:cxnSp>
      <p:cxnSp>
        <p:nvCxnSpPr>
          <p:cNvPr id="1704" name="Flow"/>
          <p:cNvCxnSpPr/>
          <p:nvPr/>
        </p:nvCxnSpPr>
        <p:spPr>
          <a:xfrm rot="16200000" flipH="1">
            <a:off x="5721350" y="476250"/>
            <a:ext cx="558800" cy="2857500"/>
          </a:xfrm>
          <a:prstGeom prst="bentConnector3">
            <a:avLst>
              <a:gd name="adj1" fmla="val 50000"/>
            </a:avLst>
          </a:prstGeom>
          <a:ln w="19050">
            <a:solidFill>
              <a:srgbClr val="8E6F3E"/>
            </a:solidFill>
            <a:tailEnd type="triangle"/>
          </a:ln>
        </p:spPr>
      </p:cxnSp>
      <p:sp>
        <p:nvSpPr>
          <p:cNvPr id="1705" name="Cat"/>
          <p:cNvSpPr txBox="1"/>
          <p:nvPr/>
        </p:nvSpPr>
        <p:spPr>
          <a:xfrm>
            <a:off x="2794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UNKNOWN</a:t>
            </a:r>
          </a:p>
        </p:txBody>
      </p:sp>
      <p:sp>
        <p:nvSpPr>
          <p:cNvPr id="1706" name="Def"/>
          <p:cNvSpPr txBox="1"/>
          <p:nvPr/>
        </p:nvSpPr>
        <p:spPr>
          <a:xfrm>
            <a:off x="2794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consequence is not yet understood</a:t>
            </a:r>
          </a:p>
        </p:txBody>
      </p:sp>
      <p:sp>
        <p:nvSpPr>
          <p:cNvPr id="1707" name="Act"/>
          <p:cNvSpPr txBox="1"/>
          <p:nvPr/>
        </p:nvSpPr>
        <p:spPr>
          <a:xfrm>
            <a:off x="2794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learn</a:t>
            </a:r>
          </a:p>
        </p:txBody>
      </p:sp>
      <p:sp>
        <p:nvSpPr>
          <p:cNvPr id="1708" name="Cat"/>
          <p:cNvSpPr txBox="1"/>
          <p:nvPr/>
        </p:nvSpPr>
        <p:spPr>
          <a:xfrm>
            <a:off x="31877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TACIT</a:t>
            </a:r>
          </a:p>
        </p:txBody>
      </p:sp>
      <p:sp>
        <p:nvSpPr>
          <p:cNvPr id="1709" name="Def"/>
          <p:cNvSpPr txBox="1"/>
          <p:nvPr/>
        </p:nvSpPr>
        <p:spPr>
          <a:xfrm>
            <a:off x="31877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a boundary exists, unwritten</a:t>
            </a:r>
          </a:p>
        </p:txBody>
      </p:sp>
      <p:sp>
        <p:nvSpPr>
          <p:cNvPr id="1710" name="Act"/>
          <p:cNvSpPr txBox="1"/>
          <p:nvPr/>
        </p:nvSpPr>
        <p:spPr>
          <a:xfrm>
            <a:off x="31877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externalize</a:t>
            </a:r>
          </a:p>
        </p:txBody>
      </p:sp>
      <p:sp>
        <p:nvSpPr>
          <p:cNvPr id="1711" name="Cat"/>
          <p:cNvSpPr txBox="1"/>
          <p:nvPr/>
        </p:nvSpPr>
        <p:spPr>
          <a:xfrm>
            <a:off x="60960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FREE</a:t>
            </a:r>
          </a:p>
        </p:txBody>
      </p:sp>
      <p:sp>
        <p:nvSpPr>
          <p:cNvPr id="1712" name="Def"/>
          <p:cNvSpPr txBox="1"/>
          <p:nvPr/>
        </p:nvSpPr>
        <p:spPr>
          <a:xfrm>
            <a:off x="60960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alternatives are genuinely acceptable</a:t>
            </a:r>
          </a:p>
        </p:txBody>
      </p:sp>
      <p:sp>
        <p:nvSpPr>
          <p:cNvPr id="1713" name="Act"/>
          <p:cNvSpPr txBox="1"/>
          <p:nvPr/>
        </p:nvSpPr>
        <p:spPr>
          <a:xfrm>
            <a:off x="60960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leave open</a:t>
            </a:r>
          </a:p>
        </p:txBody>
      </p:sp>
      <p:cxnSp>
        <p:nvCxnSpPr>
          <p:cNvPr id="1714" name="Flow"/>
          <p:cNvCxnSpPr/>
          <p:nvPr/>
        </p:nvCxnSpPr>
        <p:spPr>
          <a:xfrm>
            <a:off x="1612900" y="3708400"/>
            <a:ext cx="0" cy="203200"/>
          </a:xfrm>
          <a:prstGeom prst="line">
            <a:avLst/>
          </a:prstGeom>
          <a:ln w="19050">
            <a:solidFill>
              <a:srgbClr val="8E6F3E"/>
            </a:solidFill>
            <a:tailEnd type="triangle"/>
          </a:ln>
        </p:spPr>
      </p:cxnSp>
      <p:sp>
        <p:nvSpPr>
          <p:cNvPr id="1715" name="Loop"/>
          <p:cNvSpPr txBox="1"/>
          <p:nvPr/>
        </p:nvSpPr>
        <p:spPr>
          <a:xfrm>
            <a:off x="2794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BUILD</a:t>
            </a:r>
          </a:p>
        </p:txBody>
      </p:sp>
      <p:sp>
        <p:nvSpPr>
          <p:cNvPr id="1716" name="Loop"/>
          <p:cNvSpPr txBox="1"/>
          <p:nvPr/>
        </p:nvSpPr>
        <p:spPr>
          <a:xfrm>
            <a:off x="12192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OBSERVE</a:t>
            </a:r>
          </a:p>
        </p:txBody>
      </p:sp>
      <p:sp>
        <p:nvSpPr>
          <p:cNvPr id="1717" name="Loop"/>
          <p:cNvSpPr txBox="1"/>
          <p:nvPr/>
        </p:nvSpPr>
        <p:spPr>
          <a:xfrm>
            <a:off x="21590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DECIDE</a:t>
            </a:r>
          </a:p>
        </p:txBody>
      </p:sp>
      <p:cxnSp>
        <p:nvCxnSpPr>
          <p:cNvPr id="1718" name="Flow"/>
          <p:cNvCxnSpPr/>
          <p:nvPr/>
        </p:nvCxnSpPr>
        <p:spPr>
          <a:xfrm>
            <a:off x="1066800" y="4127500"/>
            <a:ext cx="152400" cy="0"/>
          </a:xfrm>
          <a:prstGeom prst="line">
            <a:avLst/>
          </a:prstGeom>
          <a:ln w="19050">
            <a:solidFill>
              <a:srgbClr val="8E6F3E"/>
            </a:solidFill>
            <a:tailEnd type="triangle"/>
          </a:ln>
        </p:spPr>
      </p:cxnSp>
      <p:cxnSp>
        <p:nvCxnSpPr>
          <p:cNvPr id="1719" name="Flow"/>
          <p:cNvCxnSpPr/>
          <p:nvPr/>
        </p:nvCxnSpPr>
        <p:spPr>
          <a:xfrm>
            <a:off x="2006600" y="4127500"/>
            <a:ext cx="152400" cy="0"/>
          </a:xfrm>
          <a:prstGeom prst="line">
            <a:avLst/>
          </a:prstGeom>
          <a:ln w="19050">
            <a:solidFill>
              <a:srgbClr val="8E6F3E"/>
            </a:solidFill>
            <a:tailEnd type="triangle"/>
          </a:ln>
        </p:spPr>
      </p:cxnSp>
      <p:sp>
        <p:nvSpPr>
          <p:cNvPr id="1720" name="LoopCap"/>
          <p:cNvSpPr txBox="1"/>
          <p:nvPr/>
        </p:nvSpPr>
        <p:spPr>
          <a:xfrm>
            <a:off x="279400" y="4394200"/>
            <a:ext cx="3048000" cy="381000"/>
          </a:xfrm>
          <a:prstGeom prst="rect">
            <a:avLst/>
          </a:prstGeom>
          <a:noFill/>
          <a:ln>
            <a:noFill/>
          </a:ln>
        </p:spPr>
        <p:txBody>
          <a:bodyPr lIns="0" tIns="45720" rIns="91440" bIns="45720" anchor="t">
            <a:noAutofit/>
          </a:bodyPr>
          <a:lstStyle/>
          <a:p>
            <a:pPr algn="ctr">
              <a:buNone/>
            </a:pPr>
            <a:r>
              <a:rPr lang="en-US" sz="1300" dirty="0">
                <a:solidFill>
                  <a:srgbClr val="555960"/>
                </a:solidFill>
              </a:rPr>
              <a:t>Specify once the difference shows up.</a:t>
            </a:r>
          </a:p>
        </p:txBody>
      </p:sp>
      <p:sp>
        <p:nvSpPr>
          <p:cNvPr id="1721" name="Diag"/>
          <p:cNvSpPr txBox="1"/>
          <p:nvPr/>
        </p:nvSpPr>
        <p:spPr>
          <a:xfrm>
            <a:off x="3378200" y="3911600"/>
            <a:ext cx="5461000" cy="762000"/>
          </a:xfrm>
          <a:prstGeom prst="rect">
            <a:avLst/>
          </a:prstGeom>
          <a:noFill/>
          <a:ln>
            <a:noFill/>
          </a:ln>
        </p:spPr>
        <p:txBody>
          <a:bodyPr lIns="0" tIns="45720" rIns="91440" bIns="45720" anchor="t">
            <a:noAutofit/>
          </a:bodyPr>
          <a:lstStyle/>
          <a:p>
            <a:pPr>
              <a:buNone/>
            </a:pPr>
            <a:r>
              <a:rPr lang="en-US" sz="1500" dirty="0">
                <a:solidFill>
                  <a:srgbClr val="3A3A3A"/>
                </a:solidFill>
              </a:rPr>
              <a:t>Diagnostic: if a realization would provoke “not that”, a consequential boundary remains, whether or not anyone wrote it down.</a:t>
            </a:r>
          </a:p>
        </p:txBody>
      </p:sp>
      <p:sp>
        <p:nvSpPr>
          <p:cNvPr id="1722" name="Takeaway"/>
          <p:cNvSpPr txBox="1"/>
          <p:nvPr/>
        </p:nvSpPr>
        <p:spPr>
          <a:xfrm>
            <a:off x="279400" y="5105400"/>
            <a:ext cx="8559800" cy="609600"/>
          </a:xfrm>
          <a:prstGeom prst="rect">
            <a:avLst/>
          </a:prstGeom>
          <a:solidFill>
            <a:srgbClr val="8E6F3E"/>
          </a:solidFill>
          <a:ln>
            <a:noFill/>
          </a:ln>
        </p:spPr>
        <p:txBody>
          <a:bodyPr lIns="91440" tIns="45720" rIns="91440" bIns="45720" anchor="ctr">
            <a:noAutofit/>
          </a:bodyPr>
          <a:lstStyle/>
          <a:p>
            <a:pPr algn="ctr">
              <a:buNone/>
            </a:pPr>
            <a:r>
              <a:rPr lang="en-US" sz="2000" b="1" dirty="0">
                <a:solidFill>
                  <a:srgbClr val="FFFFFF"/>
                </a:solidFill>
              </a:rPr>
              <a:t>Only the third one is freedom.</a:t>
            </a:r>
          </a:p>
        </p:txBody>
      </p:sp>
      <p:sp>
        <p:nvSpPr>
          <p:cNvPr id="1723" name="Src"/>
          <p:cNvSpPr txBox="1"/>
          <p:nvPr/>
        </p:nvSpPr>
        <p:spPr>
          <a:xfrm>
            <a:off x="279400" y="5943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§2.1.2 and the inset on uncertainty</a:t>
            </a:r>
          </a:p>
        </p:txBody>
      </p:sp>
    </p:spTree>
    <p:extLst>
      <p:ext uri="{BB962C8B-B14F-4D97-AF65-F5344CB8AC3E}">
        <p14:creationId xmlns:p14="http://schemas.microsoft.com/office/powerpoint/2010/main" val="421552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Effect transition="in" filter="fade">
                                      <p:cBhvr>
                                        <p:cTn id="7" dur="400"/>
                                        <p:tgtEl>
                                          <p:spTgt spid="1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pPr>
            <a:r>
              <a:rPr lang="en-US" sz="3200" b="1" i="0" dirty="0">
                <a:solidFill>
                  <a:srgbClr val="000000"/>
                </a:solidFill>
              </a:rPr>
              <a:t>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24</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6604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6604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Four things the specification does not say. Classify each.</a:t>
            </a:r>
          </a:p>
        </p:txBody>
      </p:sp>
      <p:sp>
        <p:nvSpPr>
          <p:cNvPr id="70" name="S70"/>
          <p:cNvSpPr/>
          <p:nvPr/>
        </p:nvSpPr>
        <p:spPr>
          <a:xfrm>
            <a:off x="2794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color for the advisory banner?</a:t>
            </a:r>
          </a:p>
        </p:txBody>
      </p:sp>
      <p:sp>
        <p:nvSpPr>
          <p:cNvPr id="71" name="S71"/>
          <p:cNvSpPr/>
          <p:nvPr/>
        </p:nvSpPr>
        <p:spPr>
          <a:xfrm>
            <a:off x="24511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How sensitive should illness detection be?</a:t>
            </a:r>
          </a:p>
        </p:txBody>
      </p:sp>
      <p:sp>
        <p:nvSpPr>
          <p:cNvPr id="72" name="S72"/>
          <p:cNvSpPr/>
          <p:nvPr/>
        </p:nvSpPr>
        <p:spPr>
          <a:xfrm>
            <a:off x="46228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Which database stores sleep history?</a:t>
            </a:r>
          </a:p>
        </p:txBody>
      </p:sp>
      <p:sp>
        <p:nvSpPr>
          <p:cNvPr id="73" name="S73"/>
          <p:cNvSpPr/>
          <p:nvPr/>
        </p:nvSpPr>
        <p:spPr>
          <a:xfrm>
            <a:off x="67945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if the doctor’s email bounces?</a:t>
            </a:r>
          </a:p>
        </p:txBody>
      </p:sp>
      <p:sp>
        <p:nvSpPr>
          <p:cNvPr id="80" name="S80"/>
          <p:cNvSpPr/>
          <p:nvPr/>
        </p:nvSpPr>
        <p:spPr>
          <a:xfrm>
            <a:off x="279400" y="51308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1308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674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There is no answer key.</a:t>
            </a:r>
          </a:p>
        </p:txBody>
      </p:sp>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pPr>
            <a:r>
              <a:rPr lang="en-US" sz="3000" b="1"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summary with their doctor.</a:t>
            </a:r>
          </a:p>
        </p:txBody>
      </p:sp>
      <p:sp>
        <p:nvSpPr>
          <p:cNvPr id="61" name="S61"/>
          <p:cNvSpPr/>
          <p:nvPr/>
        </p:nvSpPr>
        <p:spPr>
          <a:xfrm>
            <a:off x="279400" y="1930400"/>
            <a:ext cx="4140200" cy="1905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A teammate</a:t>
            </a:r>
          </a:p>
          <a:p>
            <a:pPr algn="l">
              <a:spcBef>
                <a:spcPts val="180"/>
              </a:spcBef>
              <a:buNone/>
            </a:pPr>
            <a:r>
              <a:rPr lang="en-US" sz="2000" b="0" i="0" dirty="0">
                <a:solidFill>
                  <a:srgbClr val="000000"/>
                </a:solidFill>
              </a:rPr>
              <a:t>Mail bounces, so it tells the user.</a:t>
            </a:r>
          </a:p>
          <a:p>
            <a:pPr algn="l">
              <a:spcBef>
                <a:spcPts val="120"/>
              </a:spcBef>
              <a:buNone/>
            </a:pPr>
            <a:r>
              <a:rPr lang="en-US" sz="2000" b="0" i="0" dirty="0">
                <a:solidFill>
                  <a:srgbClr val="555960"/>
                </a:solidFill>
              </a:rPr>
              <a:t>Obviously.</a:t>
            </a:r>
          </a:p>
        </p:txBody>
      </p:sp>
      <p:sp>
        <p:nvSpPr>
          <p:cNvPr id="62" name="S62"/>
          <p:cNvSpPr/>
          <p:nvPr/>
        </p:nvSpPr>
        <p:spPr>
          <a:xfrm>
            <a:off x="4699000" y="1930400"/>
            <a:ext cx="4140200" cy="190500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200" b="1" i="0" dirty="0">
                <a:solidFill>
                  <a:srgbClr val="5C4826"/>
                </a:solidFill>
              </a:rPr>
              <a:t>An agent</a:t>
            </a:r>
          </a:p>
          <a:p>
            <a:pPr algn="l">
              <a:spcBef>
                <a:spcPts val="180"/>
              </a:spcBef>
              <a:buNone/>
            </a:pPr>
            <a:r>
              <a:rPr lang="en-US" sz="2000" b="0" i="0" dirty="0">
                <a:solidFill>
                  <a:srgbClr val="000000"/>
                </a:solidFill>
              </a:rPr>
              <a:t>Mail bounces, so it logs and returns success.</a:t>
            </a:r>
          </a:p>
          <a:p>
            <a:pPr algn="l">
              <a:spcBef>
                <a:spcPts val="120"/>
              </a:spcBef>
              <a:buNone/>
            </a:pPr>
            <a:r>
              <a:rPr lang="en-US" sz="2000" b="0" i="0" dirty="0">
                <a:solidFill>
                  <a:srgbClr val="555960"/>
                </a:solidFill>
              </a:rPr>
              <a:t>Also permitted by R7.</a:t>
            </a:r>
          </a:p>
        </p:txBody>
      </p:sp>
      <p:sp>
        <p:nvSpPr>
          <p:cNvPr id="70" name="S70"/>
          <p:cNvSpPr/>
          <p:nvPr/>
        </p:nvSpPr>
        <p:spPr>
          <a:xfrm>
            <a:off x="279400" y="40132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“Obviously not that” is candidate D.</a:t>
            </a:r>
          </a:p>
          <a:p>
            <a:pPr algn="ctr">
              <a:spcBef>
                <a:spcPts val="180"/>
              </a:spcBef>
              <a:buNone/>
            </a:pPr>
            <a:r>
              <a:rPr lang="en-US" sz="2200" b="0" i="0" dirty="0">
                <a:solidFill>
                  <a:srgbClr val="FFFFFF"/>
                </a:solidFill>
              </a:rPr>
              <a:t>The boundary was in your head, never in the artifact.</a:t>
            </a:r>
          </a:p>
        </p:txBody>
      </p:sp>
    </p:spTree>
    <p:extLst>
      <p:ext uri="{BB962C8B-B14F-4D97-AF65-F5344CB8AC3E}">
        <p14:creationId xmlns:p14="http://schemas.microsoft.com/office/powerpoint/2010/main" val="2089110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pPr>
            <a:r>
              <a:rPr lang="en-US" sz="3000" b="1" i="0" dirty="0">
                <a:solidFill>
                  <a:srgbClr val="000000"/>
                </a:solidFill>
              </a:rPr>
              <a:t>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pPr>
            <a:r>
              <a:rPr lang="en-US" sz="3000" b="1"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0" name="S60"/>
          <p:cNvSpPr/>
          <p:nvPr/>
        </p:nvSpPr>
        <p:spPr>
          <a:xfrm>
            <a:off x="2794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108200"/>
            <a:ext cx="228600" cy="0"/>
          </a:xfrm>
          <a:prstGeom prst="line">
            <a:avLst/>
          </a:prstGeom>
          <a:ln w="19050">
            <a:solidFill>
              <a:srgbClr val="8E6F3E"/>
            </a:solidFill>
            <a:tailEnd type="triangle" w="med" len="med"/>
          </a:ln>
        </p:spPr>
      </p:cxnSp>
      <p:sp>
        <p:nvSpPr>
          <p:cNvPr id="61" name="S61"/>
          <p:cNvSpPr/>
          <p:nvPr/>
        </p:nvSpPr>
        <p:spPr>
          <a:xfrm>
            <a:off x="24892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108200"/>
            <a:ext cx="228600" cy="0"/>
          </a:xfrm>
          <a:prstGeom prst="line">
            <a:avLst/>
          </a:prstGeom>
          <a:ln w="19050">
            <a:solidFill>
              <a:srgbClr val="8E6F3E"/>
            </a:solidFill>
            <a:tailEnd type="triangle" w="med" len="med"/>
          </a:ln>
        </p:spPr>
      </p:cxnSp>
      <p:sp>
        <p:nvSpPr>
          <p:cNvPr id="62" name="S62"/>
          <p:cNvSpPr/>
          <p:nvPr/>
        </p:nvSpPr>
        <p:spPr>
          <a:xfrm>
            <a:off x="46990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OBSERVE</a:t>
            </a:r>
          </a:p>
          <a:p>
            <a:pPr algn="l">
              <a:spcBef>
                <a:spcPts val="200"/>
              </a:spcBef>
              <a:buNone/>
            </a:pPr>
            <a:r>
              <a:rPr lang="en-US" sz="2000" b="0" i="0" dirty="0">
                <a:solidFill>
                  <a:srgbClr val="000000"/>
                </a:solidFill>
              </a:rPr>
              <a:t>Temporary changes sometimes become the new baseline.</a:t>
            </a:r>
          </a:p>
        </p:txBody>
      </p:sp>
      <p:cxnSp>
        <p:nvCxnSpPr>
          <p:cNvPr id="72" name="L72"/>
          <p:cNvCxnSpPr/>
          <p:nvPr/>
        </p:nvCxnSpPr>
        <p:spPr>
          <a:xfrm>
            <a:off x="6654800" y="2108200"/>
            <a:ext cx="228600" cy="0"/>
          </a:xfrm>
          <a:prstGeom prst="line">
            <a:avLst/>
          </a:prstGeom>
          <a:ln w="19050">
            <a:solidFill>
              <a:srgbClr val="8E6F3E"/>
            </a:solidFill>
            <a:tailEnd type="triangle" w="med" len="med"/>
          </a:ln>
        </p:spPr>
      </p:cxnSp>
      <p:sp>
        <p:nvSpPr>
          <p:cNvPr id="63" name="S63"/>
          <p:cNvSpPr/>
          <p:nvPr/>
        </p:nvSpPr>
        <p:spPr>
          <a:xfrm>
            <a:off x="6908800" y="1219200"/>
            <a:ext cx="1930400" cy="1778000"/>
          </a:xfrm>
          <a:prstGeom prst="rect">
            <a:avLst/>
          </a:prstGeom>
          <a:solidFill>
            <a:srgbClr val="8E6F3E"/>
          </a:solidFill>
          <a:ln>
            <a:noFill/>
          </a:ln>
        </p:spPr>
        <p:txBody>
          <a:bodyPr wrap="square" lIns="109728" tIns="82296" rIns="109728" bIns="82296" anchor="t">
            <a:normAutofit/>
          </a:bodyPr>
          <a:lstStyle/>
          <a:p>
            <a:pPr algn="l">
              <a:buNone/>
            </a:pPr>
            <a:r>
              <a:rPr lang="en-US" sz="2200" b="1" i="0" dirty="0">
                <a:solidFill>
                  <a:srgbClr val="FFFFFF"/>
                </a:solidFill>
              </a:rPr>
              <a:t>LEARN</a:t>
            </a:r>
          </a:p>
          <a:p>
            <a:pPr algn="l">
              <a:spcBef>
                <a:spcPts val="200"/>
              </a:spcBef>
              <a:buNone/>
            </a:pPr>
            <a:r>
              <a:rPr lang="en-US" sz="2000" b="0" i="0" dirty="0">
                <a:solidFill>
                  <a:srgbClr val="FFFFFF"/>
                </a:solidFill>
              </a:rPr>
              <a:t>Persistence alone does not tell us what “normal” means.</a:t>
            </a:r>
          </a:p>
        </p:txBody>
      </p:sp>
      <p:cxnSp>
        <p:nvCxnSpPr>
          <p:cNvPr id="80" name="L80"/>
          <p:cNvCxnSpPr/>
          <p:nvPr/>
        </p:nvCxnSpPr>
        <p:spPr>
          <a:xfrm>
            <a:off x="7874000" y="2997200"/>
            <a:ext cx="0" cy="406400"/>
          </a:xfrm>
          <a:prstGeom prst="line">
            <a:avLst/>
          </a:prstGeom>
          <a:ln w="19050">
            <a:solidFill>
              <a:srgbClr val="8E6F3E"/>
            </a:solidFill>
          </a:ln>
        </p:spPr>
      </p:cxnSp>
      <p:cxnSp>
        <p:nvCxnSpPr>
          <p:cNvPr id="81" name="L81"/>
          <p:cNvCxnSpPr/>
          <p:nvPr/>
        </p:nvCxnSpPr>
        <p:spPr>
          <a:xfrm>
            <a:off x="1244600" y="3403600"/>
            <a:ext cx="6629400" cy="0"/>
          </a:xfrm>
          <a:prstGeom prst="line">
            <a:avLst/>
          </a:prstGeom>
          <a:ln w="19050">
            <a:solidFill>
              <a:srgbClr val="8E6F3E"/>
            </a:solidFill>
          </a:ln>
        </p:spPr>
      </p:cxnSp>
      <p:cxnSp>
        <p:nvCxnSpPr>
          <p:cNvPr id="82" name="L82"/>
          <p:cNvCxnSpPr/>
          <p:nvPr/>
        </p:nvCxnSpPr>
        <p:spPr>
          <a:xfrm flipV="1">
            <a:off x="1244600" y="2997200"/>
            <a:ext cx="0" cy="406400"/>
          </a:xfrm>
          <a:prstGeom prst="line">
            <a:avLst/>
          </a:prstGeom>
          <a:ln w="19050">
            <a:solidFill>
              <a:srgbClr val="8E6F3E"/>
            </a:solidFill>
            <a:tailEnd type="triangle" w="med" len="med"/>
          </a:ln>
        </p:spPr>
      </p:cxnSp>
      <p:sp>
        <p:nvSpPr>
          <p:cNvPr id="83" name="T83"/>
          <p:cNvSpPr txBox="1"/>
          <p:nvPr/>
        </p:nvSpPr>
        <p:spPr>
          <a:xfrm>
            <a:off x="2286000" y="3505200"/>
            <a:ext cx="4572000" cy="381000"/>
          </a:xfrm>
          <a:prstGeom prst="rect">
            <a:avLst/>
          </a:prstGeom>
          <a:noFill/>
          <a:ln>
            <a:noFill/>
          </a:ln>
        </p:spPr>
        <p:txBody>
          <a:bodyPr wrap="square" lIns="0" tIns="0" rIns="0" bIns="0" anchor="t">
            <a:normAutofit/>
          </a:bodyPr>
          <a:lstStyle/>
          <a:p>
            <a:pPr algn="ctr">
              <a:buNone/>
            </a:pPr>
            <a:r>
              <a:rPr lang="en-US" sz="2000" b="1" i="0" dirty="0">
                <a:solidFill>
                  <a:srgbClr val="5C4826"/>
                </a:solidFill>
              </a:rPr>
              <a:t>and the specification changes</a:t>
            </a:r>
          </a:p>
        </p:txBody>
      </p:sp>
      <p:sp>
        <p:nvSpPr>
          <p:cNvPr id="84" name="S84"/>
          <p:cNvSpPr/>
          <p:nvPr/>
        </p:nvSpPr>
        <p:spPr>
          <a:xfrm>
            <a:off x="279400" y="40640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 code did what we specified.</a:t>
            </a:r>
          </a:p>
          <a:p>
            <a:pPr algn="ctr">
              <a:spcBef>
                <a:spcPts val="180"/>
              </a:spcBef>
              <a:buNone/>
            </a:pPr>
            <a:r>
              <a:rPr lang="en-US" sz="2200" b="1" i="0" dirty="0">
                <a:solidFill>
                  <a:srgbClr val="FFFFFF"/>
                </a:solidFill>
              </a:rPr>
              <a:t>Use taught us that the boundary was wrong.</a:t>
            </a:r>
          </a:p>
        </p:txBody>
      </p:sp>
    </p:spTree>
    <p:extLst>
      <p:ext uri="{BB962C8B-B14F-4D97-AF65-F5344CB8AC3E}">
        <p14:creationId xmlns:p14="http://schemas.microsoft.com/office/powerpoint/2010/main" val="3269719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pPr>
            <a:r>
              <a:rPr lang="en-US" sz="3200" b="1"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Tree>
    <p:extLst>
      <p:ext uri="{BB962C8B-B14F-4D97-AF65-F5344CB8AC3E}">
        <p14:creationId xmlns:p14="http://schemas.microsoft.com/office/powerpoint/2010/main" val="23361703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pPr>
            <a:r>
              <a:rPr lang="en-US" sz="2400" b="1"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3429000" y="9652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524000"/>
            <a:ext cx="0" cy="177800"/>
          </a:xfrm>
          <a:prstGeom prst="line">
            <a:avLst/>
          </a:prstGeom>
          <a:ln w="19050">
            <a:solidFill>
              <a:srgbClr val="8E6F3E"/>
            </a:solidFill>
            <a:tailEnd type="triangle" w="med" len="med"/>
          </a:ln>
        </p:spPr>
      </p:cxnSp>
      <p:sp>
        <p:nvSpPr>
          <p:cNvPr id="62" name="S62"/>
          <p:cNvSpPr/>
          <p:nvPr/>
        </p:nvSpPr>
        <p:spPr>
          <a:xfrm>
            <a:off x="3175000" y="1701800"/>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4572000" y="2311400"/>
            <a:ext cx="0" cy="177800"/>
          </a:xfrm>
          <a:prstGeom prst="line">
            <a:avLst/>
          </a:prstGeom>
          <a:ln w="19050">
            <a:solidFill>
              <a:srgbClr val="8E6F3E"/>
            </a:solidFill>
            <a:tailEnd type="triangle" w="med" len="med"/>
          </a:ln>
        </p:spPr>
      </p:cxnSp>
      <p:sp>
        <p:nvSpPr>
          <p:cNvPr id="64" name="S64"/>
          <p:cNvSpPr/>
          <p:nvPr/>
        </p:nvSpPr>
        <p:spPr>
          <a:xfrm>
            <a:off x="2159000" y="2489200"/>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5400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66" name="S66"/>
          <p:cNvSpPr/>
          <p:nvPr/>
        </p:nvSpPr>
        <p:spPr>
          <a:xfrm>
            <a:off x="24384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A</a:t>
            </a:r>
          </a:p>
        </p:txBody>
      </p:sp>
      <p:sp>
        <p:nvSpPr>
          <p:cNvPr id="67" name="S67"/>
          <p:cNvSpPr/>
          <p:nvPr/>
        </p:nvSpPr>
        <p:spPr>
          <a:xfrm>
            <a:off x="38862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B</a:t>
            </a:r>
          </a:p>
        </p:txBody>
      </p:sp>
      <p:sp>
        <p:nvSpPr>
          <p:cNvPr id="68" name="S68"/>
          <p:cNvSpPr/>
          <p:nvPr/>
        </p:nvSpPr>
        <p:spPr>
          <a:xfrm>
            <a:off x="53340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C</a:t>
            </a:r>
          </a:p>
        </p:txBody>
      </p:sp>
      <p:cxnSp>
        <p:nvCxnSpPr>
          <p:cNvPr id="70" name="L70"/>
          <p:cNvCxnSpPr/>
          <p:nvPr/>
        </p:nvCxnSpPr>
        <p:spPr>
          <a:xfrm>
            <a:off x="3124200" y="3454400"/>
            <a:ext cx="0" cy="254000"/>
          </a:xfrm>
          <a:prstGeom prst="line">
            <a:avLst/>
          </a:prstGeom>
          <a:ln w="19050">
            <a:solidFill>
              <a:srgbClr val="8E6F3E"/>
            </a:solidFill>
            <a:tailEnd type="triangle" w="med" len="med"/>
          </a:ln>
        </p:spPr>
      </p:cxnSp>
      <p:sp>
        <p:nvSpPr>
          <p:cNvPr id="71" name="S71"/>
          <p:cNvSpPr/>
          <p:nvPr/>
        </p:nvSpPr>
        <p:spPr>
          <a:xfrm>
            <a:off x="2108200" y="3708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ARCHITECTURE</a:t>
            </a:r>
          </a:p>
        </p:txBody>
      </p:sp>
      <p:cxnSp>
        <p:nvCxnSpPr>
          <p:cNvPr id="72" name="L72"/>
          <p:cNvCxnSpPr/>
          <p:nvPr/>
        </p:nvCxnSpPr>
        <p:spPr>
          <a:xfrm>
            <a:off x="3124200" y="4267200"/>
            <a:ext cx="0" cy="203200"/>
          </a:xfrm>
          <a:prstGeom prst="line">
            <a:avLst/>
          </a:prstGeom>
          <a:ln w="19050">
            <a:solidFill>
              <a:srgbClr val="8E6F3E"/>
            </a:solidFill>
            <a:tailEnd type="triangle" w="med" len="med"/>
          </a:ln>
        </p:spPr>
      </p:cxnSp>
      <p:sp>
        <p:nvSpPr>
          <p:cNvPr id="73" name="S73"/>
          <p:cNvSpPr/>
          <p:nvPr/>
        </p:nvSpPr>
        <p:spPr>
          <a:xfrm>
            <a:off x="2108200" y="4470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DESIGN</a:t>
            </a:r>
          </a:p>
        </p:txBody>
      </p:sp>
      <p:cxnSp>
        <p:nvCxnSpPr>
          <p:cNvPr id="74" name="L74"/>
          <p:cNvCxnSpPr/>
          <p:nvPr/>
        </p:nvCxnSpPr>
        <p:spPr>
          <a:xfrm>
            <a:off x="3124200" y="5029200"/>
            <a:ext cx="0" cy="203200"/>
          </a:xfrm>
          <a:prstGeom prst="line">
            <a:avLst/>
          </a:prstGeom>
          <a:ln w="19050">
            <a:solidFill>
              <a:srgbClr val="8E6F3E"/>
            </a:solidFill>
            <a:tailEnd type="triangle" w="med" len="med"/>
          </a:ln>
        </p:spPr>
      </p:cxnSp>
      <p:sp>
        <p:nvSpPr>
          <p:cNvPr id="75" name="S75"/>
          <p:cNvSpPr/>
          <p:nvPr/>
        </p:nvSpPr>
        <p:spPr>
          <a:xfrm>
            <a:off x="2108200" y="5232400"/>
            <a:ext cx="2032000"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000" b="1" i="0" dirty="0">
                <a:solidFill>
                  <a:srgbClr val="5C4826"/>
                </a:solidFill>
              </a:rPr>
              <a:t>IMPLEMENTATION</a:t>
            </a:r>
          </a:p>
        </p:txBody>
      </p:sp>
      <p:sp>
        <p:nvSpPr>
          <p:cNvPr id="76" name="S76"/>
          <p:cNvSpPr/>
          <p:nvPr/>
        </p:nvSpPr>
        <p:spPr>
          <a:xfrm>
            <a:off x="4521200" y="3708400"/>
            <a:ext cx="4318000" cy="20828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Choices inside the acceptable space.</a:t>
            </a:r>
          </a:p>
          <a:p>
            <a:pPr algn="l">
              <a:spcBef>
                <a:spcPts val="200"/>
              </a:spcBef>
              <a:buNone/>
            </a:pPr>
            <a:r>
              <a:rPr lang="en-US" sz="2000" b="0" i="0" dirty="0">
                <a:solidFill>
                  <a:srgbClr val="000000"/>
                </a:solidFill>
              </a:rPr>
              <a:t>Not more specification. We pick one of the systems the specification already accepts.</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8454</TotalTime>
  <Words>7802</Words>
  <Application>Microsoft Macintosh PowerPoint</Application>
  <PresentationFormat>On-screen Show (4:3)</PresentationFormat>
  <Paragraphs>664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Consolas</vt:lpstr>
      <vt:lpstr>Times</vt:lpstr>
      <vt:lpstr>Times New Roman</vt:lpstr>
      <vt:lpstr>Purdue1</vt:lpstr>
      <vt:lpstr>ECE 30861/46100: Software Engineering</vt:lpstr>
      <vt:lpstr>From requirements to acceptable realizations</vt:lpstr>
      <vt:lpstr>Specification</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legal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Unknown, tacit, or free?</vt:lpstr>
      <vt:lpstr>Tacit requirements and agents (or the intern)</vt:lpstr>
      <vt:lpstr>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273</cp:revision>
  <dcterms:created xsi:type="dcterms:W3CDTF">2020-02-21T23:00:33Z</dcterms:created>
  <dcterms:modified xsi:type="dcterms:W3CDTF">2026-09-09T02:26:53Z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