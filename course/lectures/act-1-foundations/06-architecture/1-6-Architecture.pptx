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762" r:id="rId4"/>
    <p:sldId id="761" r:id="rId5"/>
    <p:sldId id="751" r:id="rId6"/>
    <p:sldId id="744" r:id="rId7"/>
    <p:sldId id="651" r:id="rId8"/>
    <p:sldId id="746" r:id="rId9"/>
    <p:sldId id="747" r:id="rId10"/>
    <p:sldId id="748" r:id="rId11"/>
    <p:sldId id="749" r:id="rId12"/>
    <p:sldId id="750" r:id="rId13"/>
    <p:sldId id="701" r:id="rId14"/>
    <p:sldId id="752" r:id="rId15"/>
    <p:sldId id="731" r:id="rId16"/>
    <p:sldId id="712" r:id="rId17"/>
    <p:sldId id="713" r:id="rId18"/>
    <p:sldId id="735" r:id="rId19"/>
    <p:sldId id="753" r:id="rId20"/>
    <p:sldId id="720" r:id="rId21"/>
    <p:sldId id="754" r:id="rId22"/>
    <p:sldId id="755" r:id="rId23"/>
    <p:sldId id="638" r:id="rId24"/>
    <p:sldId id="756" r:id="rId25"/>
    <p:sldId id="740" r:id="rId26"/>
    <p:sldId id="759" r:id="rId27"/>
    <p:sldId id="757" r:id="rId28"/>
    <p:sldId id="739"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56164"/>
  </p:normalViewPr>
  <p:slideViewPr>
    <p:cSldViewPr snapToGrid="0" snapToObjects="1">
      <p:cViewPr>
        <p:scale>
          <a:sx n="75" d="100"/>
          <a:sy n="75" d="100"/>
        </p:scale>
        <p:origin x="2768" y="-29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consider one acceptable realization and ask how it should be organized.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identifies the modeled critical path, and decomposition is a candidate change you can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the modeled critical path is A → B → F, 120 ms. Paths that cannot exceed that value do not determine this model's critical-path latency.</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In specification we separate obligations. 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does it mean to say that a</a:t>
            </a:r>
          </a:p>
          <a:p>
            <a:pPr algn="ctr">
              <a:buNone/>
            </a:pPr>
            <a:r>
              <a:rPr lang="en-US" sz="2800" b="0" i="0" dirty="0">
                <a:solidFill>
                  <a:srgbClr val="555960"/>
                </a:solidFill>
              </a:rPr>
              <a:t>software system is “organized”?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060000"/>
            <a:ext cx="7772400" cy="360000"/>
          </a:xfrm>
          <a:prstGeom prst="rect">
            <a:avLst/>
          </a:prstGeom>
          <a:noFill/>
          <a:ln>
            <a:noFill/>
          </a:ln>
        </p:spPr>
        <p:txBody>
          <a:bodyPr wrap="square" lIns="0" tIns="0" rIns="0" bIns="0" anchor="t">
            <a:normAutofit lnSpcReduction="10000"/>
          </a:bodyPr>
          <a:lstStyle/>
          <a:p>
            <a:pPr algn="ctr">
              <a:buNone/>
            </a:pPr>
            <a:r>
              <a:rPr lang="en-US" sz="2600" b="0" i="1" dirty="0">
                <a:solidFill>
                  <a:srgbClr val="000000"/>
                </a:solidFill>
              </a:rPr>
              <a:t>Architecture: organizing one acceptable realization</a:t>
            </a:r>
          </a:p>
        </p:txBody>
      </p:sp>
      <p:sp>
        <p:nvSpPr>
          <p:cNvPr id="9" name="ArchDefStrip"/>
          <p:cNvSpPr/>
          <p:nvPr/>
        </p:nvSpPr>
        <p:spPr>
          <a:xfrm>
            <a:off x="2000000" y="6440000"/>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13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architectures?</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fontScale="92500" lnSpcReduction="20000"/>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49999"/>
            <a:ext cx="7772400" cy="1589573"/>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from use in other contexts</a:t>
            </a:r>
          </a:p>
          <a:p>
            <a:pPr algn="ctr">
              <a:buNone/>
            </a:pPr>
            <a:endParaRPr lang="en-US" sz="2400" b="0" i="1" dirty="0">
              <a:solidFill>
                <a:srgbClr val="000000"/>
              </a:solidFill>
            </a:endParaRPr>
          </a:p>
          <a:p>
            <a:pPr algn="ctr">
              <a:buNone/>
            </a:pPr>
            <a:r>
              <a:rPr lang="en-US" sz="2400" b="0" i="1" dirty="0">
                <a:solidFill>
                  <a:srgbClr val="000000"/>
                </a:solidFill>
              </a:rPr>
              <a:t>(though not guarantees in THIS context)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8509043" cy="638175"/>
          </a:xfrm>
        </p:spPr>
        <p:txBody>
          <a:bodyPr>
            <a:normAutofit fontScale="90000"/>
          </a:bodyPr>
          <a:lstStyle/>
          <a:p>
            <a:pPr algn="l">
              <a:buNone/>
              <a:defRPr b="0"/>
            </a:pPr>
            <a:r>
              <a:rPr lang="en-US" sz="2800" b="0" i="0" dirty="0">
                <a:solidFill>
                  <a:srgbClr val="000000"/>
                </a:solidFill>
              </a:rPr>
              <a:t>Shall we layer communication paths? How strictly?</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fontScale="92500"/>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lnSpcReduction="10000"/>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lnSpcReduction="10000"/>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6852" cy="638175"/>
          </a:xfrm>
        </p:spPr>
        <p:txBody>
          <a:bodyPr>
            <a:normAutofit fontScale="90000"/>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square" lIns="0" tIns="0" rIns="0" bIns="0" anchor="t">
            <a:normAutofit fontScale="70000" lnSpcReduction="20000"/>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fontScale="85000" lnSpcReduction="10000"/>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buys — </a:t>
            </a:r>
            <a:r>
              <a:rPr lang="en-US" sz="2000" b="0" i="0" dirty="0">
                <a:solidFill>
                  <a:srgbClr val="000000"/>
                </a:solidFill>
              </a:rPr>
              <a:t>authoritative shared state, integration</a:t>
            </a:r>
          </a:p>
          <a:p>
            <a:pPr algn="l">
              <a:spcBef>
                <a:spcPts val="600"/>
              </a:spcBef>
              <a:buNone/>
            </a:pPr>
            <a:r>
              <a:rPr lang="en-US" sz="2000" b="1" i="0" dirty="0">
                <a:solidFill>
                  <a:srgbClr val="555960"/>
                </a:solidFill>
              </a:rPr>
              <a:t>costs — </a:t>
            </a:r>
            <a:r>
              <a:rPr lang="en-US" sz="20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fontScale="92500" lnSpcReduction="10000"/>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2852" cy="638175"/>
          </a:xfrm>
        </p:spPr>
        <p:txBody>
          <a:bodyPr>
            <a:normAutofit fontScale="90000"/>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fontScale="92500" lnSpcReduction="10000"/>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fontScale="85000" lnSpcReduction="10000"/>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fontScale="85000" lnSpcReduction="10000"/>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give us alternatives, not answers</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graphicFrame>
        <p:nvGraphicFramePr>
          <p:cNvPr id="150" name="ComparisonTable"/>
          <p:cNvGraphicFramePr>
            <a:graphicFrameLocks noGrp="1"/>
          </p:cNvGraphicFramePr>
          <p:nvPr/>
        </p:nvGraphicFramePr>
        <p:xfrm>
          <a:off x="685800" y="1250000"/>
          <a:ext cx="7772400" cy="3580000"/>
        </p:xfrm>
        <a:graphic>
          <a:graphicData uri="http://schemas.openxmlformats.org/drawingml/2006/table">
            <a:tbl>
              <a:tblPr firstRow="1" bandRow="0">
                <a:tableStyleId>{5C22544A-7EE6-4342-B048-85BDC9FD1C3A}</a:tableStyleId>
              </a:tblPr>
              <a:tblGrid>
                <a:gridCol w="2400000"/>
                <a:gridCol w="1650000"/>
                <a:gridCol w="1650000"/>
                <a:gridCol w="2072400"/>
              </a:tblGrid>
              <a:tr h="460000">
                <a:tc>
                  <a:txBody>
                    <a:bodyPr/>
                    <a:lstStyle/>
                    <a:p>
                      <a:pPr algn="l">
                        <a:buNone/>
                      </a:pPr>
                      <a:r>
                        <a:rPr lang="en-US" sz="1600" b="1" i="0" dirty="0">
                          <a:solidFill>
                            <a:srgbClr val="FFFFFF"/>
                          </a:solidFill>
                        </a:rPr>
                        <a:t>RECURRING PROBLEM</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A</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B</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WHAT IS TRADED</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r>
              <a:tr h="780000">
                <a:tc>
                  <a:txBody>
                    <a:bodyPr/>
                    <a:lstStyle/>
                    <a:p>
                      <a:pPr algn="l">
                        <a:buNone/>
                      </a:pPr>
                      <a:r>
                        <a:rPr lang="en-US" sz="1800" b="1" i="0" dirty="0">
                          <a:solidFill>
                            <a:srgbClr val="5C4826"/>
                          </a:solidFill>
                        </a:rPr>
                        <a:t>Abstraction boundaries</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Strict layering</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Deliberate crossing</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isolation ↔ capability</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r>
              <a:tr h="780000">
                <a:tc>
                  <a:txBody>
                    <a:bodyPr/>
                    <a:lstStyle/>
                    <a:p>
                      <a:pPr algn="l">
                        <a:buNone/>
                      </a:pPr>
                      <a:r>
                        <a:rPr lang="en-US" sz="1800" b="1" i="0" dirty="0">
                          <a:solidFill>
                            <a:srgbClr val="5C4826"/>
                          </a:solidFill>
                        </a:rPr>
                        <a:t>State organization</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Pipeline</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Repository</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local flow ↔ shared consistency</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r>
              <a:tr h="780000">
                <a:tc>
                  <a:txBody>
                    <a:bodyPr/>
                    <a:lstStyle/>
                    <a:p>
                      <a:pPr algn="l">
                        <a:buNone/>
                      </a:pPr>
                      <a:r>
                        <a:rPr lang="en-US" sz="1800" b="1" i="0" dirty="0">
                          <a:solidFill>
                            <a:srgbClr val="5C4826"/>
                          </a:solidFill>
                        </a:rPr>
                        <a:t>Communication</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RPC</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Event messaging</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coordination ↔ decoupling</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r>
              <a:tr h="780000">
                <a:tc>
                  <a:txBody>
                    <a:bodyPr/>
                    <a:lstStyle/>
                    <a:p>
                      <a:pPr algn="l">
                        <a:buNone/>
                      </a:pPr>
                      <a:r>
                        <a:rPr lang="en-US" sz="1800" b="1" i="0" dirty="0">
                          <a:solidFill>
                            <a:srgbClr val="5C4826"/>
                          </a:solidFill>
                        </a:rPr>
                        <a:t>Infrastructure dependencies</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Direct dependency</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Ports &amp; adapters</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directness ↔ infrastructure isolation</a:t>
                      </a:r>
                    </a:p>
                  </a:txBody>
                  <a:tcPr marL="91440" marR="91440" marT="45720" marB="45720"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r>
            </a:tbl>
          </a:graphicData>
        </a:graphic>
      </p:graphicFrame>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A pattern tells us what tends to happen. It does not tell us which consequence matters more here.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weighted flow</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view</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fontScale="92500" lnSpcReduction="20000"/>
          </a:bodyPr>
          <a:lstStyle/>
          <a:p>
            <a:pPr algn="r">
              <a:buNone/>
            </a:pPr>
            <a:r>
              <a:rPr lang="en-US" sz="2000" b="1" i="0" dirty="0">
                <a:solidFill>
                  <a:srgbClr val="5C4826"/>
                </a:solidFill>
              </a:rPr>
              <a:t>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be returned within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61">
                                            <p:txEl>
                                              <p:pRg st="0" end="0"/>
                                            </p:txEl>
                                          </p:spTgt>
                                        </p:tgtEl>
                                        <p:attrNameLst>
                                          <p:attrName>style.visibility</p:attrName>
                                        </p:attrNameLst>
                                      </p:cBhvr>
                                      <p:to>
                                        <p:strVal val="visible"/>
                                      </p:to>
                                    </p:set>
                                    <p:animEffect transition="in" filter="fade">
                                      <p:cBhvr>
                                        <p:cTn id="39" dur="400"/>
                                        <p:tgtEl>
                                          <p:spTgt spid="61">
                                            <p:txEl>
                                              <p:pRg st="0" end="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61">
                                            <p:txEl>
                                              <p:pRg st="1" end="1"/>
                                            </p:txEl>
                                          </p:spTgt>
                                        </p:tgtEl>
                                        <p:attrNameLst>
                                          <p:attrName>style.visibility</p:attrName>
                                        </p:attrNameLst>
                                      </p:cBhvr>
                                      <p:to>
                                        <p:strVal val="visible"/>
                                      </p:to>
                                    </p:set>
                                    <p:animEffect transition="in" filter="fade">
                                      <p:cBhvr>
                                        <p:cTn id="44" dur="400"/>
                                        <p:tgtEl>
                                          <p:spTgt spid="61">
                                            <p:txEl>
                                              <p:pRg st="1" end="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28</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a:t>
            </a:r>
            <a:r>
              <a:rPr lang="en-US" sz="2200" b="0" i="0" dirty="0">
                <a:solidFill>
                  <a:srgbClr val="000000"/>
                </a:solidFill>
              </a:rPr>
              <a:t>Is any candidate Pareto-dominated?</a:t>
            </a:r>
          </a:p>
          <a:p>
            <a:pPr algn="l">
              <a:spcBef>
                <a:spcPts val="150"/>
              </a:spcBef>
              <a:buNone/>
            </a:pPr>
            <a:r>
              <a:rPr lang="en-US" sz="2200" b="1" i="0" dirty="0">
                <a:solidFill>
                  <a:srgbClr val="8E6F3E"/>
                </a:solidFill>
              </a:rPr>
              <a:t>·  </a:t>
            </a:r>
            <a:r>
              <a:rPr lang="en-US" sz="2200" b="0" i="0" dirty="0">
                <a:solidFill>
                  <a:srgbClr val="000000"/>
                </a:solidFill>
              </a:rPr>
              <a:t>What genuine tradeoff remains?</a:t>
            </a:r>
          </a:p>
          <a:p>
            <a:pPr algn="l">
              <a:spcBef>
                <a:spcPts val="150"/>
              </a:spcBef>
              <a:buNone/>
            </a:pPr>
            <a:r>
              <a:rPr lang="en-US" sz="2200" b="1" i="0" dirty="0">
                <a:solidFill>
                  <a:srgbClr val="8E6F3E"/>
                </a:solidFill>
              </a:rPr>
              <a:t>·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8545</TotalTime>
  <Words>8977</Words>
  <Application>Microsoft Macintosh PowerPoint</Application>
  <PresentationFormat>On-screen Show (4:3)</PresentationFormat>
  <Paragraphs>980</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alternatives, not answers</vt:lpstr>
      <vt:lpstr>How much can we know before we build it?</vt:lpstr>
      <vt:lpstr>An architecture diagram is useful only if it answers a question</vt:lpstr>
      <vt:lpstr>Some claims require less betting than others</vt:lpstr>
      <vt:lpstr>Can this change remain local?</vt:lpstr>
      <vt:lpstr>What sets the latency floor?</vt:lpstr>
      <vt:lpstr>What happens when architectural evidence gets cheap?</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358</cp:revision>
  <dcterms:created xsi:type="dcterms:W3CDTF">2020-02-21T23:00:33Z</dcterms:created>
  <dcterms:modified xsi:type="dcterms:W3CDTF">2026-09-12T01:38:49Z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