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3"/>
  </p:notesMasterIdLst>
  <p:sldIdLst>
    <p:sldId id="517" r:id="rId2"/>
    <p:sldId id="738" r:id="rId3"/>
    <p:sldId id="760" r:id="rId38"/>
    <p:sldId id="751" r:id="rId17"/>
    <p:sldId id="744" r:id="rId6"/>
    <p:sldId id="651" r:id="rId4"/>
    <p:sldId id="746" r:id="rId9"/>
    <p:sldId id="747" r:id="rId12"/>
    <p:sldId id="748" r:id="rId13"/>
    <p:sldId id="749" r:id="rId14"/>
    <p:sldId id="750" r:id="rId15"/>
    <p:sldId id="701" r:id="rId23"/>
    <p:sldId id="752" r:id="rId18"/>
    <p:sldId id="731" r:id="rId11"/>
    <p:sldId id="712" r:id="rId19"/>
    <p:sldId id="713" r:id="rId20"/>
    <p:sldId id="735" r:id="rId21"/>
    <p:sldId id="753" r:id="rId22"/>
    <p:sldId id="720" r:id="rId16"/>
    <p:sldId id="754" r:id="rId24"/>
    <p:sldId id="755" r:id="rId25"/>
    <p:sldId id="638" r:id="rId26"/>
    <p:sldId id="756" r:id="rId27"/>
    <p:sldId id="740" r:id="rId31"/>
    <p:sldId id="759" r:id="rId28"/>
    <p:sldId id="757" r:id="rId29"/>
    <p:sldId id="739" r:id="rId30"/>
    <p:sldId id="74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66" autoAdjust="0"/>
    <p:restoredTop sz="56137"/>
  </p:normalViewPr>
  <p:slideViewPr>
    <p:cSldViewPr snapToGrid="0" snapToObjects="1">
      <p:cViewPr varScale="1">
        <p:scale>
          <a:sx n="107" d="100"/>
          <a:sy n="107" d="100"/>
        </p:scale>
        <p:origin x="30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3" Type="http://schemas.openxmlformats.org/officeDocument/2006/relationships/slide" Target="slides/slide2.xml"/><Relationship Id="rId38" Type="http://schemas.openxmlformats.org/officeDocument/2006/relationships/slide" Target="slides/slide3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DEFINITION (deliver orally, not as a figure): Architecture describes the consequential organization of the system: its major parts, their responsibilities, their interfaces, and the rules governing their interaction.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emf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89D1F61-B74F-FD46-9676-D29849AD25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874712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2D48-A395-DA43-BD56-73B6F8BCB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/>
              <a:t>1</a:t>
            </a:fld>
            <a:endParaRPr lang="en-US"/>
          </a:p>
        </p:txBody>
      </p:sp>
      <p:sp>
        <p:nvSpPr>
          <p:cNvPr id="7" name="Subtitle 1">
            <a:extLst>
              <a:ext uri="{FF2B5EF4-FFF2-40B4-BE49-F238E27FC236}">
                <a16:creationId xmlns:a16="http://schemas.microsoft.com/office/drawing/2014/main" id="{8F813479-8512-DCF4-B5C8-FFAD6ABA1785}"/>
              </a:ext>
            </a:extLst>
          </p:cNvPr>
          <p:cNvSpPr txBox="1">
            <a:spLocks/>
          </p:cNvSpPr>
          <p:nvPr/>
        </p:nvSpPr>
        <p:spPr>
          <a:xfrm>
            <a:off x="224171" y="2488405"/>
            <a:ext cx="8695654" cy="2887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Times" pitchFamily="18" charset="0"/>
              <a:buNone/>
              <a:defRPr sz="1800" kern="1200">
                <a:solidFill>
                  <a:srgbClr val="000000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3144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59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200" dirty="0"/>
              <a:t>Software Architecture</a:t>
            </a:r>
          </a:p>
          <a:p>
            <a:r>
              <a:rPr lang="en-US" sz="2800" i="1" dirty="0">
                <a:solidFill>
                  <a:srgbClr val="8E6F3E"/>
                </a:solidFill>
              </a:rPr>
              <a:t>How should one acceptable system be organized?</a:t>
            </a:r>
          </a:p>
          <a:p>
            <a:endParaRPr lang="en-US" sz="1200" dirty="0"/>
          </a:p>
          <a:p>
            <a:r>
              <a:rPr lang="en-US" i="1" dirty="0"/>
              <a:t>Prof. James C. Davis</a:t>
            </a:r>
          </a:p>
          <a:p>
            <a:r>
              <a:rPr lang="en-US" i="1" dirty="0"/>
              <a:t>Prof. Steve France</a:t>
            </a:r>
          </a:p>
        </p:txBody>
      </p:sp>
    </p:spTree>
    <p:extLst>
      <p:ext uri="{BB962C8B-B14F-4D97-AF65-F5344CB8AC3E}">
        <p14:creationId xmlns:p14="http://schemas.microsoft.com/office/powerpoint/2010/main" val="407349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 xml:space="preserve">Yesterday we kept these separate. We have to build ONE MACHINE.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StateCard"/>
          <p:cNvSpPr/>
          <p:nvPr/>
        </p:nvSpPr>
        <p:spPr>
          <a:xfrm>
            <a:off x="685800" y="13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STATE VIEW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asleep  →  awake</a:t>
            </a:r>
          </a:p>
        </p:txBody>
      </p:sp>
      <p:sp>
        <p:nvSpPr>
          <p:cNvPr id="61" name="ActivityCard"/>
          <p:cNvSpPr/>
          <p:nvPr/>
        </p:nvSpPr>
        <p:spPr>
          <a:xfrm>
            <a:off x="5958200" y="13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ACTIVITY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collect  →  classify</a:t>
            </a:r>
          </a:p>
        </p:txBody>
      </p:sp>
      <p:sp>
        <p:nvSpPr>
          <p:cNvPr id="62" name="SchemaCard"/>
          <p:cNvSpPr/>
          <p:nvPr/>
        </p:nvSpPr>
        <p:spPr>
          <a:xfrm>
            <a:off x="685800" y="47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SCHEMA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Night Summary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Advice</a:t>
            </a:r>
          </a:p>
        </p:txBody>
      </p:sp>
      <p:sp>
        <p:nvSpPr>
          <p:cNvPr id="63" name="TimingCard"/>
          <p:cNvSpPr/>
          <p:nvPr/>
        </p:nvSpPr>
        <p:spPr>
          <a:xfrm>
            <a:off x="5958200" y="47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TIMING / OTHER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 xml:space="preserve">≤ 60 seconds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 xml:space="preserve">privacy · 7 nights</a:t>
            </a:r>
          </a:p>
        </p:txBody>
      </p:sp>
      <p:cxnSp>
        <p:nvCxnSpPr>
          <p:cNvPr id="64" name="Arr64"/>
          <p:cNvCxnSpPr/>
          <p:nvPr/>
        </p:nvCxnSpPr>
        <p:spPr>
          <a:xfrm>
            <a:off x="3300000" y="27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5" name="Arr65"/>
          <p:cNvCxnSpPr/>
          <p:nvPr/>
        </p:nvCxnSpPr>
        <p:spPr>
          <a:xfrm flipH="1">
            <a:off x="5194000" y="27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6" name="Arr66"/>
          <p:cNvCxnSpPr/>
          <p:nvPr/>
        </p:nvCxnSpPr>
        <p:spPr>
          <a:xfrm flipV="1">
            <a:off x="3300000" y="43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7" name="Arr67"/>
          <p:cNvCxnSpPr/>
          <p:nvPr/>
        </p:nvCxnSpPr>
        <p:spPr>
          <a:xfrm flipH="1" flipV="1">
            <a:off x="5194000" y="43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68" name="OneMachine"/>
          <p:cNvSpPr/>
          <p:nvPr/>
        </p:nvSpPr>
        <p:spPr>
          <a:xfrm>
            <a:off x="3172000" y="3250000"/>
            <a:ext cx="2800000" cy="10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FFFFFF"/>
                </a:solidFill>
              </a:rPr>
              <a:t xml:space="preserve">ONE MACHINE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 xml:space="preserve">Choosing among acceptable organizations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2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Architecture is decision-making under tradeoffs.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Where should the boundaries go?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3600000"/>
            <a:ext cx="8585200" cy="7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CHANGE TOGETHER? · FAIL TOGETHER? · SCALE TOGETHER? · CONSISTENT TOGETHER? · SECURE TOGETHER? · OWNED TOGETHER?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4520000"/>
            <a:ext cx="77724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Architecture allocates coupling; it does not eliminate it.</a:t>
            </a:r>
          </a:p>
        </p:txBody>
      </p:sp>
      <p:sp>
        <p:nvSpPr>
          <p:cNvPr id="63" name="Band63"/>
          <p:cNvSpPr/>
          <p:nvPr/>
        </p:nvSpPr>
        <p:spPr>
          <a:xfrm>
            <a:off x="279400" y="5200000"/>
            <a:ext cx="8585200" cy="11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Where should we draw boundaries so the interactions and changes we expect are easy, while the interactions and changes we do not want are difficult?</a:t>
            </a:r>
          </a:p>
        </p:txBody>
      </p:sp>
      <p:sp>
        <p:nvSpPr>
          <p:cNvPr id="100" name="OrgALbl"/>
          <p:cNvSpPr txBox="1"/>
          <p:nvPr/>
        </p:nvSpPr>
        <p:spPr>
          <a:xfrm>
            <a:off x="750000" y="1200000"/>
            <a:ext cx="3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ORGANIZATION A</a:t>
            </a:r>
          </a:p>
        </p:txBody>
      </p:sp>
      <p:sp>
        <p:nvSpPr>
          <p:cNvPr id="101" name="OrgA0"/>
          <p:cNvSpPr/>
          <p:nvPr/>
        </p:nvSpPr>
        <p:spPr>
          <a:xfrm>
            <a:off x="1550000" y="158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collect</a:t>
            </a:r>
          </a:p>
        </p:txBody>
      </p:sp>
      <p:sp>
        <p:nvSpPr>
          <p:cNvPr id="102" name="OrgA1"/>
          <p:cNvSpPr/>
          <p:nvPr/>
        </p:nvSpPr>
        <p:spPr>
          <a:xfrm>
            <a:off x="1550000" y="200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classify</a:t>
            </a:r>
          </a:p>
        </p:txBody>
      </p:sp>
      <p:sp>
        <p:nvSpPr>
          <p:cNvPr id="103" name="OrgA2"/>
          <p:cNvSpPr/>
          <p:nvPr/>
        </p:nvSpPr>
        <p:spPr>
          <a:xfrm>
            <a:off x="1550000" y="242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summarize</a:t>
            </a:r>
          </a:p>
        </p:txBody>
      </p:sp>
      <p:sp>
        <p:nvSpPr>
          <p:cNvPr id="104" name="OrgA3"/>
          <p:cNvSpPr/>
          <p:nvPr/>
        </p:nvSpPr>
        <p:spPr>
          <a:xfrm>
            <a:off x="1550000" y="284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advise</a:t>
            </a:r>
          </a:p>
        </p:txBody>
      </p:sp>
      <p:sp>
        <p:nvSpPr>
          <p:cNvPr id="105" name="OrgAOuter"/>
          <p:cNvSpPr/>
          <p:nvPr/>
        </p:nvSpPr>
        <p:spPr>
          <a:xfrm>
            <a:off x="1550000" y="1580000"/>
            <a:ext cx="1600000" cy="1680000"/>
          </a:xfrm>
          <a:prstGeom prst="rect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06" name="Div"/>
          <p:cNvCxnSpPr/>
          <p:nvPr/>
        </p:nvCxnSpPr>
        <p:spPr>
          <a:xfrm>
            <a:off x="4572000" y="1350000"/>
            <a:ext cx="0" cy="190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7" name="OrgBLbl"/>
          <p:cNvSpPr txBox="1"/>
          <p:nvPr/>
        </p:nvSpPr>
        <p:spPr>
          <a:xfrm>
            <a:off x="5200000" y="1200000"/>
            <a:ext cx="3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ORGANIZATION B</a:t>
            </a:r>
          </a:p>
        </p:txBody>
      </p:sp>
      <p:sp>
        <p:nvSpPr>
          <p:cNvPr id="108" name="OrgB1"/>
          <p:cNvSpPr/>
          <p:nvPr/>
        </p:nvSpPr>
        <p:spPr>
          <a:xfrm>
            <a:off x="5350000" y="1580000"/>
            <a:ext cx="135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collect · store</a:t>
            </a:r>
          </a:p>
        </p:txBody>
      </p:sp>
      <p:sp>
        <p:nvSpPr>
          <p:cNvPr id="109" name="OrgB2"/>
          <p:cNvSpPr/>
          <p:nvPr/>
        </p:nvSpPr>
        <p:spPr>
          <a:xfrm>
            <a:off x="6950000" y="1580000"/>
            <a:ext cx="135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model · advise</a:t>
            </a:r>
          </a:p>
        </p:txBody>
      </p:sp>
      <p:sp>
        <p:nvSpPr>
          <p:cNvPr id="110" name="OrgBShare"/>
          <p:cNvSpPr/>
          <p:nvPr/>
        </p:nvSpPr>
        <p:spPr>
          <a:xfrm>
            <a:off x="6150000" y="2750000"/>
            <a:ext cx="1350000" cy="5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sharing</a:t>
            </a:r>
          </a:p>
        </p:txBody>
      </p:sp>
      <p:cxnSp>
        <p:nvCxnSpPr>
          <p:cNvPr id="111" name="OrgBa1"/>
          <p:cNvCxnSpPr/>
          <p:nvPr/>
        </p:nvCxnSpPr>
        <p:spPr>
          <a:xfrm>
            <a:off x="6025000" y="2080000"/>
            <a:ext cx="575000" cy="6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OrgBa2"/>
          <p:cNvCxnSpPr/>
          <p:nvPr/>
        </p:nvCxnSpPr>
        <p:spPr>
          <a:xfrm flipH="1">
            <a:off x="7050000" y="2080000"/>
            <a:ext cx="575000" cy="6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Cap"/>
          <p:cNvSpPr txBox="1"/>
          <p:nvPr/>
        </p:nvSpPr>
        <p:spPr>
          <a:xfrm>
            <a:off x="685800" y="3330000"/>
            <a:ext cx="7772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 xml:space="preserve">Different boundaries → different coupling.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Two architectures. Which one is better?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pic>
        <p:nvPicPr>
          <p:cNvPr id="60" name="Think Pair Share banner" descr="Think, Pair, Sh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797706"/>
            <a:ext cx="4066969" cy="1170794"/>
          </a:xfrm>
          <a:prstGeom prst="rect">
            <a:avLst/>
          </a:prstGeom>
        </p:spPr>
      </p:pic>
      <p:sp>
        <p:nvSpPr>
          <p:cNvPr id="101" name="C101"/>
          <p:cNvSpPr/>
          <p:nvPr/>
        </p:nvSpPr>
        <p:spPr>
          <a:xfrm>
            <a:off x="3800000" y="2150000"/>
            <a:ext cx="19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102" name="C102"/>
          <p:cNvSpPr/>
          <p:nvPr/>
        </p:nvSpPr>
        <p:spPr>
          <a:xfrm>
            <a:off x="5700000" y="2150000"/>
            <a:ext cx="19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103" name="C103"/>
          <p:cNvSpPr/>
          <p:nvPr/>
        </p:nvSpPr>
        <p:spPr>
          <a:xfrm>
            <a:off x="1500000" y="267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Latency</a:t>
            </a:r>
          </a:p>
        </p:txBody>
      </p:sp>
      <p:sp>
        <p:nvSpPr>
          <p:cNvPr id="104" name="C104"/>
          <p:cNvSpPr/>
          <p:nvPr/>
        </p:nvSpPr>
        <p:spPr>
          <a:xfrm>
            <a:off x="3800000" y="26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~100 ms</a:t>
            </a:r>
          </a:p>
        </p:txBody>
      </p:sp>
      <p:sp>
        <p:nvSpPr>
          <p:cNvPr id="105" name="C105"/>
          <p:cNvSpPr/>
          <p:nvPr/>
        </p:nvSpPr>
        <p:spPr>
          <a:xfrm>
            <a:off x="5700000" y="26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~180 ms</a:t>
            </a:r>
          </a:p>
        </p:txBody>
      </p:sp>
      <p:sp>
        <p:nvSpPr>
          <p:cNvPr id="106" name="C106"/>
          <p:cNvSpPr/>
          <p:nvPr/>
        </p:nvSpPr>
        <p:spPr>
          <a:xfrm>
            <a:off x="1500000" y="319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107" name="C107"/>
          <p:cNvSpPr/>
          <p:nvPr/>
        </p:nvSpPr>
        <p:spPr>
          <a:xfrm>
            <a:off x="3800000" y="319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$$$</a:t>
            </a:r>
          </a:p>
        </p:txBody>
      </p:sp>
      <p:sp>
        <p:nvSpPr>
          <p:cNvPr id="108" name="C108"/>
          <p:cNvSpPr/>
          <p:nvPr/>
        </p:nvSpPr>
        <p:spPr>
          <a:xfrm>
            <a:off x="5700000" y="319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$</a:t>
            </a:r>
          </a:p>
        </p:txBody>
      </p:sp>
      <p:sp>
        <p:nvSpPr>
          <p:cNvPr id="109" name="C109"/>
          <p:cNvSpPr/>
          <p:nvPr/>
        </p:nvSpPr>
        <p:spPr>
          <a:xfrm>
            <a:off x="1500000" y="371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Change</a:t>
            </a:r>
          </a:p>
        </p:txBody>
      </p:sp>
      <p:sp>
        <p:nvSpPr>
          <p:cNvPr id="110" name="C110"/>
          <p:cNvSpPr/>
          <p:nvPr/>
        </p:nvSpPr>
        <p:spPr>
          <a:xfrm>
            <a:off x="3800000" y="37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more coupled</a:t>
            </a:r>
          </a:p>
        </p:txBody>
      </p:sp>
      <p:sp>
        <p:nvSpPr>
          <p:cNvPr id="111" name="C111"/>
          <p:cNvSpPr/>
          <p:nvPr/>
        </p:nvSpPr>
        <p:spPr>
          <a:xfrm>
            <a:off x="5700000" y="37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more local</a:t>
            </a:r>
          </a:p>
        </p:txBody>
      </p:sp>
      <p:sp>
        <p:nvSpPr>
          <p:cNvPr id="112" name="C112"/>
          <p:cNvSpPr/>
          <p:nvPr/>
        </p:nvSpPr>
        <p:spPr>
          <a:xfrm>
            <a:off x="1500000" y="423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sp>
        <p:nvSpPr>
          <p:cNvPr id="113" name="C113"/>
          <p:cNvSpPr/>
          <p:nvPr/>
        </p:nvSpPr>
        <p:spPr>
          <a:xfrm>
            <a:off x="38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higher</a:t>
            </a:r>
          </a:p>
        </p:txBody>
      </p:sp>
      <p:sp>
        <p:nvSpPr>
          <p:cNvPr id="114" name="C114"/>
          <p:cNvSpPr/>
          <p:nvPr/>
        </p:nvSpPr>
        <p:spPr>
          <a:xfrm>
            <a:off x="57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lower</a:t>
            </a:r>
          </a:p>
        </p:txBody>
      </p:sp>
      <p:sp>
        <p:nvSpPr>
          <p:cNvPr id="80" name="S80"/>
          <p:cNvSpPr/>
          <p:nvPr/>
        </p:nvSpPr>
        <p:spPr>
          <a:xfrm>
            <a:off x="279400" y="5054600"/>
            <a:ext cx="88900" cy="558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81" name="S81"/>
          <p:cNvSpPr/>
          <p:nvPr/>
        </p:nvSpPr>
        <p:spPr>
          <a:xfrm>
            <a:off x="368300" y="5054600"/>
            <a:ext cx="8293100" cy="5588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THINK 1 min   ·   PAIR 2 min   ·   SHARE 2 min</a:t>
            </a:r>
          </a:p>
        </p:txBody>
      </p:sp>
      <p:sp>
        <p:nvSpPr>
          <p:cNvPr id="82" name="T82"/>
          <p:cNvSpPr txBox="1"/>
          <p:nvPr/>
        </p:nvSpPr>
        <p:spPr>
          <a:xfrm>
            <a:off x="279400" y="5816600"/>
            <a:ext cx="8559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 xml:space="preserve">WHICH ONE?</a:t>
            </a:r>
            <a:r>
              <a:rPr lang="en-US" sz="2400" b="1" i="0" dirty="0">
                <a:solidFill>
                  <a:srgbClr val="8E6F3E"/>
                </a:solidFill>
              </a:rPr>
              <a:t xml:space="preserve">    ·    </a:t>
            </a:r>
            <a:r>
              <a:rPr lang="en-US" sz="2400" b="1" i="0" dirty="0">
                <a:solidFill>
                  <a:srgbClr val="000000"/>
                </a:solidFill>
              </a:rPr>
              <a:t xml:space="preserve">Choose 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Layers: constrain which parts may depend on which.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650000"/>
            <a:ext cx="7772400" cy="1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 xml:space="preserve">Real systems sometimes deliberately cross or blur conceptual layers because doing so buys something important — mmap is why “follow the layered pattern” is a rule of thumb, not a law.</a:t>
            </a:r>
          </a:p>
        </p:txBody>
      </p:sp>
      <p:sp>
        <p:nvSpPr>
          <p:cNvPr id="100" name="LblPat"/>
          <p:cNvSpPr txBox="1"/>
          <p:nvPr/>
        </p:nvSpPr>
        <p:spPr>
          <a:xfrm>
            <a:off x="1000000" y="1180000"/>
            <a:ext cx="2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THE PATTERN</a:t>
            </a:r>
          </a:p>
        </p:txBody>
      </p:sp>
      <p:sp>
        <p:nvSpPr>
          <p:cNvPr id="101" name="LblReal"/>
          <p:cNvSpPr txBox="1"/>
          <p:nvPr/>
        </p:nvSpPr>
        <p:spPr>
          <a:xfrm>
            <a:off x="5300000" y="1180000"/>
            <a:ext cx="2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IN PRACTICE: mmap</a:t>
            </a:r>
          </a:p>
        </p:txBody>
      </p:sp>
      <p:sp>
        <p:nvSpPr>
          <p:cNvPr id="102" name="L0"/>
          <p:cNvSpPr/>
          <p:nvPr/>
        </p:nvSpPr>
        <p:spPr>
          <a:xfrm>
            <a:off x="1000000" y="152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3" name="L1"/>
          <p:cNvSpPr/>
          <p:nvPr/>
        </p:nvSpPr>
        <p:spPr>
          <a:xfrm>
            <a:off x="1000000" y="224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APPLICATION</a:t>
            </a:r>
          </a:p>
        </p:txBody>
      </p:sp>
      <p:cxnSp>
        <p:nvCxnSpPr>
          <p:cNvPr id="104" name="LA1"/>
          <p:cNvCxnSpPr/>
          <p:nvPr/>
        </p:nvCxnSpPr>
        <p:spPr>
          <a:xfrm>
            <a:off x="2100000" y="210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L2"/>
          <p:cNvSpPr/>
          <p:nvPr/>
        </p:nvSpPr>
        <p:spPr>
          <a:xfrm>
            <a:off x="1000000" y="296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cxnSp>
        <p:nvCxnSpPr>
          <p:cNvPr id="106" name="LA2"/>
          <p:cNvCxnSpPr/>
          <p:nvPr/>
        </p:nvCxnSpPr>
        <p:spPr>
          <a:xfrm>
            <a:off x="2100000" y="282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L3"/>
          <p:cNvSpPr/>
          <p:nvPr/>
        </p:nvSpPr>
        <p:spPr>
          <a:xfrm>
            <a:off x="1000000" y="368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INFRASTRUCTURE</a:t>
            </a:r>
          </a:p>
        </p:txBody>
      </p:sp>
      <p:cxnSp>
        <p:nvCxnSpPr>
          <p:cNvPr id="108" name="LA3"/>
          <p:cNvCxnSpPr/>
          <p:nvPr/>
        </p:nvCxnSpPr>
        <p:spPr>
          <a:xfrm>
            <a:off x="2100000" y="354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9" name="Allowed"/>
          <p:cNvCxnSpPr/>
          <p:nvPr/>
        </p:nvCxnSpPr>
        <p:spPr>
          <a:xfrm>
            <a:off x="700000" y="1650000"/>
            <a:ext cx="0" cy="2450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0" name="AllowedLbl"/>
          <p:cNvSpPr txBox="1"/>
          <p:nvPr/>
        </p:nvSpPr>
        <p:spPr>
          <a:xfrm rot="-5400000">
            <a:off x="-335000" y="2740000"/>
            <a:ext cx="1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allowed dependencies</a:t>
            </a:r>
          </a:p>
        </p:txBody>
      </p:sp>
      <p:sp>
        <p:nvSpPr>
          <p:cNvPr id="111" name="R0"/>
          <p:cNvSpPr/>
          <p:nvPr/>
        </p:nvSpPr>
        <p:spPr>
          <a:xfrm>
            <a:off x="5300000" y="152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APPLICATION</a:t>
            </a:r>
          </a:p>
        </p:txBody>
      </p:sp>
      <p:sp>
        <p:nvSpPr>
          <p:cNvPr id="112" name="R1"/>
          <p:cNvSpPr/>
          <p:nvPr/>
        </p:nvSpPr>
        <p:spPr>
          <a:xfrm>
            <a:off x="5300000" y="224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FILE / STORAGE API</a:t>
            </a:r>
          </a:p>
        </p:txBody>
      </p:sp>
      <p:cxnSp>
        <p:nvCxnSpPr>
          <p:cNvPr id="113" name="RA1"/>
          <p:cNvCxnSpPr/>
          <p:nvPr/>
        </p:nvCxnSpPr>
        <p:spPr>
          <a:xfrm>
            <a:off x="6400000" y="210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4" name="R2"/>
          <p:cNvSpPr/>
          <p:nvPr/>
        </p:nvSpPr>
        <p:spPr>
          <a:xfrm>
            <a:off x="5300000" y="296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OPERATING SYSTEM</a:t>
            </a:r>
          </a:p>
        </p:txBody>
      </p:sp>
      <p:cxnSp>
        <p:nvCxnSpPr>
          <p:cNvPr id="115" name="RA2"/>
          <p:cNvCxnSpPr/>
          <p:nvPr/>
        </p:nvCxnSpPr>
        <p:spPr>
          <a:xfrm>
            <a:off x="6400000" y="282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6" name="R3"/>
          <p:cNvSpPr/>
          <p:nvPr/>
        </p:nvSpPr>
        <p:spPr>
          <a:xfrm>
            <a:off x="5300000" y="368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STORAGE</a:t>
            </a:r>
          </a:p>
        </p:txBody>
      </p:sp>
      <p:cxnSp>
        <p:nvCxnSpPr>
          <p:cNvPr id="117" name="RA3"/>
          <p:cNvCxnSpPr/>
          <p:nvPr/>
        </p:nvCxnSpPr>
        <p:spPr>
          <a:xfrm>
            <a:off x="6400000" y="354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8" name="VM"/>
          <p:cNvSpPr/>
          <p:nvPr/>
        </p:nvSpPr>
        <p:spPr>
          <a:xfrm>
            <a:off x="7900000" y="2240000"/>
            <a:ext cx="1150000" cy="58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VIRTUAL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MEMORY</a:t>
            </a:r>
          </a:p>
        </p:txBody>
      </p:sp>
      <p:cxnSp>
        <p:nvCxnSpPr>
          <p:cNvPr id="119" name="MmapA"/>
          <p:cNvCxnSpPr/>
          <p:nvPr/>
        </p:nvCxnSpPr>
        <p:spPr>
          <a:xfrm>
            <a:off x="7500000" y="1810000"/>
            <a:ext cx="600000" cy="43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20" name="MmapLbl"/>
          <p:cNvSpPr txBox="1"/>
          <p:nvPr/>
        </p:nvSpPr>
        <p:spPr>
          <a:xfrm>
            <a:off x="7960000" y="1830000"/>
            <a:ext cx="9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1" dirty="0">
                <a:solidFill>
                  <a:srgbClr val="8E6F3E"/>
                </a:solidFill>
              </a:rPr>
              <a:t xml:space="preserve">mmap</a:t>
            </a:r>
          </a:p>
        </p:txBody>
      </p:sp>
      <p:cxnSp>
        <p:nvCxnSpPr>
          <p:cNvPr id="121" name="PfA"/>
          <p:cNvCxnSpPr/>
          <p:nvPr/>
        </p:nvCxnSpPr>
        <p:spPr>
          <a:xfrm flipH="1">
            <a:off x="7500000" y="2820000"/>
            <a:ext cx="975000" cy="108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22" name="PfLbl"/>
          <p:cNvSpPr txBox="1"/>
          <p:nvPr/>
        </p:nvSpPr>
        <p:spPr>
          <a:xfrm>
            <a:off x="8210000" y="3400000"/>
            <a:ext cx="10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page faults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→ FILE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The decision matrix says Architecture A wins, 3.95 to 3.70.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C61"/>
          <p:cNvSpPr/>
          <p:nvPr/>
        </p:nvSpPr>
        <p:spPr>
          <a:xfrm>
            <a:off x="36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Weight</a:t>
            </a:r>
          </a:p>
        </p:txBody>
      </p:sp>
      <p:sp>
        <p:nvSpPr>
          <p:cNvPr id="62" name="C62"/>
          <p:cNvSpPr/>
          <p:nvPr/>
        </p:nvSpPr>
        <p:spPr>
          <a:xfrm>
            <a:off x="49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63" name="C63"/>
          <p:cNvSpPr/>
          <p:nvPr/>
        </p:nvSpPr>
        <p:spPr>
          <a:xfrm>
            <a:off x="62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64" name="C64"/>
          <p:cNvSpPr/>
          <p:nvPr/>
        </p:nvSpPr>
        <p:spPr>
          <a:xfrm>
            <a:off x="1200000" y="163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Performance</a:t>
            </a:r>
          </a:p>
        </p:txBody>
      </p:sp>
      <p:sp>
        <p:nvSpPr>
          <p:cNvPr id="65" name="C65"/>
          <p:cNvSpPr/>
          <p:nvPr/>
        </p:nvSpPr>
        <p:spPr>
          <a:xfrm>
            <a:off x="36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.30</a:t>
            </a:r>
          </a:p>
        </p:txBody>
      </p:sp>
      <p:sp>
        <p:nvSpPr>
          <p:cNvPr id="66" name="C66"/>
          <p:cNvSpPr/>
          <p:nvPr/>
        </p:nvSpPr>
        <p:spPr>
          <a:xfrm>
            <a:off x="49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67" name="C67"/>
          <p:cNvSpPr/>
          <p:nvPr/>
        </p:nvSpPr>
        <p:spPr>
          <a:xfrm>
            <a:off x="62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3</a:t>
            </a:r>
          </a:p>
        </p:txBody>
      </p:sp>
      <p:sp>
        <p:nvSpPr>
          <p:cNvPr id="68" name="C68"/>
          <p:cNvSpPr/>
          <p:nvPr/>
        </p:nvSpPr>
        <p:spPr>
          <a:xfrm>
            <a:off x="1200000" y="211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69" name="C69"/>
          <p:cNvSpPr/>
          <p:nvPr/>
        </p:nvSpPr>
        <p:spPr>
          <a:xfrm>
            <a:off x="36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.25</a:t>
            </a:r>
          </a:p>
        </p:txBody>
      </p:sp>
      <p:sp>
        <p:nvSpPr>
          <p:cNvPr id="70" name="C70"/>
          <p:cNvSpPr/>
          <p:nvPr/>
        </p:nvSpPr>
        <p:spPr>
          <a:xfrm>
            <a:off x="49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2</a:t>
            </a:r>
          </a:p>
        </p:txBody>
      </p:sp>
      <p:sp>
        <p:nvSpPr>
          <p:cNvPr id="71" name="C71"/>
          <p:cNvSpPr/>
          <p:nvPr/>
        </p:nvSpPr>
        <p:spPr>
          <a:xfrm>
            <a:off x="62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72" name="C72"/>
          <p:cNvSpPr/>
          <p:nvPr/>
        </p:nvSpPr>
        <p:spPr>
          <a:xfrm>
            <a:off x="1200000" y="259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Changeability</a:t>
            </a:r>
          </a:p>
        </p:txBody>
      </p:sp>
      <p:sp>
        <p:nvSpPr>
          <p:cNvPr id="73" name="C73"/>
          <p:cNvSpPr/>
          <p:nvPr/>
        </p:nvSpPr>
        <p:spPr>
          <a:xfrm>
            <a:off x="36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.20</a:t>
            </a:r>
          </a:p>
        </p:txBody>
      </p:sp>
      <p:sp>
        <p:nvSpPr>
          <p:cNvPr id="74" name="C74"/>
          <p:cNvSpPr/>
          <p:nvPr/>
        </p:nvSpPr>
        <p:spPr>
          <a:xfrm>
            <a:off x="49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4</a:t>
            </a:r>
          </a:p>
        </p:txBody>
      </p:sp>
      <p:sp>
        <p:nvSpPr>
          <p:cNvPr id="75" name="C75"/>
          <p:cNvSpPr/>
          <p:nvPr/>
        </p:nvSpPr>
        <p:spPr>
          <a:xfrm>
            <a:off x="62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3</a:t>
            </a:r>
          </a:p>
        </p:txBody>
      </p:sp>
      <p:sp>
        <p:nvSpPr>
          <p:cNvPr id="76" name="C76"/>
          <p:cNvSpPr/>
          <p:nvPr/>
        </p:nvSpPr>
        <p:spPr>
          <a:xfrm>
            <a:off x="1200000" y="307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Reliability</a:t>
            </a:r>
          </a:p>
        </p:txBody>
      </p:sp>
      <p:sp>
        <p:nvSpPr>
          <p:cNvPr id="77" name="C77"/>
          <p:cNvSpPr/>
          <p:nvPr/>
        </p:nvSpPr>
        <p:spPr>
          <a:xfrm>
            <a:off x="36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.25</a:t>
            </a:r>
          </a:p>
        </p:txBody>
      </p:sp>
      <p:sp>
        <p:nvSpPr>
          <p:cNvPr id="78" name="C78"/>
          <p:cNvSpPr/>
          <p:nvPr/>
        </p:nvSpPr>
        <p:spPr>
          <a:xfrm>
            <a:off x="49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79" name="C79"/>
          <p:cNvSpPr/>
          <p:nvPr/>
        </p:nvSpPr>
        <p:spPr>
          <a:xfrm>
            <a:off x="62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4</a:t>
            </a:r>
          </a:p>
        </p:txBody>
      </p:sp>
      <p:sp>
        <p:nvSpPr>
          <p:cNvPr id="80" name="C80"/>
          <p:cNvSpPr/>
          <p:nvPr/>
        </p:nvSpPr>
        <p:spPr>
          <a:xfrm>
            <a:off x="1200000" y="355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Weighted</a:t>
            </a:r>
          </a:p>
        </p:txBody>
      </p:sp>
      <p:sp>
        <p:nvSpPr>
          <p:cNvPr id="82" name="C82"/>
          <p:cNvSpPr/>
          <p:nvPr/>
        </p:nvSpPr>
        <p:spPr>
          <a:xfrm>
            <a:off x="4900000" y="355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 xml:space="preserve">3.95</a:t>
            </a:r>
          </a:p>
        </p:txBody>
      </p:sp>
      <p:sp>
        <p:nvSpPr>
          <p:cNvPr id="83" name="C83"/>
          <p:cNvSpPr/>
          <p:nvPr/>
        </p:nvSpPr>
        <p:spPr>
          <a:xfrm>
            <a:off x="6200000" y="355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 xml:space="preserve">3.70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685800" y="418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🏆  A WINS  🏆</a:t>
            </a:r>
          </a:p>
        </p:txBody>
      </p:sp>
      <p:sp>
        <p:nvSpPr>
          <p:cNvPr id="92" name="T92"/>
          <p:cNvSpPr txBox="1"/>
          <p:nvPr/>
        </p:nvSpPr>
        <p:spPr>
          <a:xfrm>
            <a:off x="685800" y="5800000"/>
            <a:ext cx="77724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 xml:space="preserve">This is not measurement merely because a spreadsheet produced a number.</a:t>
            </a:r>
          </a:p>
        </p:txBody>
      </p:sp>
      <p:sp>
        <p:nvSpPr>
          <p:cNvPr id="120" name="Callout1"/>
          <p:cNvSpPr/>
          <p:nvPr/>
        </p:nvSpPr>
        <p:spPr>
          <a:xfrm>
            <a:off x="90000" y="1833372"/>
            <a:ext cx="1020000" cy="44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WHY .30?</a:t>
            </a:r>
          </a:p>
        </p:txBody>
      </p:sp>
      <p:cxnSp>
        <p:nvCxnSpPr>
          <p:cNvPr id="121" name="CalloutArw1"/>
          <p:cNvCxnSpPr/>
          <p:nvPr/>
        </p:nvCxnSpPr>
        <p:spPr>
          <a:xfrm>
            <a:off x="1110000" y="2052828"/>
            <a:ext cx="2666472" cy="0"/>
          </a:xfrm>
          <a:prstGeom prst="line">
            <a:avLst/>
          </a:prstGeom>
          <a:ln w="15875">
            <a:solidFill>
              <a:srgbClr val="B23B3B"/>
            </a:solidFill>
            <a:tailEnd type="triangle" w="med" len="med"/>
          </a:ln>
        </p:spPr>
      </p:cxnSp>
      <p:sp>
        <p:nvSpPr>
          <p:cNvPr id="122" name="Callout2"/>
          <p:cNvSpPr/>
          <p:nvPr/>
        </p:nvSpPr>
        <p:spPr>
          <a:xfrm>
            <a:off x="7590000" y="1412748"/>
            <a:ext cx="1450000" cy="56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WHAT IS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A “5”?</a:t>
            </a:r>
          </a:p>
        </p:txBody>
      </p:sp>
      <p:cxnSp>
        <p:nvCxnSpPr>
          <p:cNvPr id="123" name="CalloutArw2"/>
          <p:cNvCxnSpPr/>
          <p:nvPr/>
        </p:nvCxnSpPr>
        <p:spPr>
          <a:xfrm flipH="1">
            <a:off x="6053328" y="1691640"/>
            <a:ext cx="1536672" cy="0"/>
          </a:xfrm>
          <a:prstGeom prst="line">
            <a:avLst/>
          </a:prstGeom>
          <a:ln w="15875">
            <a:solidFill>
              <a:srgbClr val="B23B3B"/>
            </a:solidFill>
            <a:tailEnd type="triangle" w="med" len="med"/>
          </a:ln>
        </p:spPr>
      </p:cxnSp>
      <p:sp>
        <p:nvSpPr>
          <p:cNvPr id="124" name="CalloutBrace"/>
          <p:cNvSpPr/>
          <p:nvPr/>
        </p:nvSpPr>
        <p:spPr>
          <a:xfrm>
            <a:off x="7530000" y="2110000"/>
            <a:ext cx="240000" cy="1440000"/>
          </a:xfrm>
          <a:prstGeom prst="leftBrace">
            <a:avLst/>
          </a:prstGeom>
          <a:noFill/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5" name="Callout3"/>
          <p:cNvSpPr/>
          <p:nvPr/>
        </p:nvSpPr>
        <p:spPr>
          <a:xfrm>
            <a:off x="7800000" y="2350000"/>
            <a:ext cx="1300000" cy="10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WHY CAN COST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COMPENSATE FOR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RELIABILITY?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First eliminate unacceptable and dominated alternatives.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8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000000"/>
                </a:solidFill>
              </a:rPr>
              <a:t xml:space="preserve">Constraints are not objectives.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Specification first removes infeasible candidates; then dominance removes the clearly-worse ones.</a:t>
            </a:r>
          </a:p>
        </p:txBody>
      </p:sp>
      <p:sp>
        <p:nvSpPr>
          <p:cNvPr id="100" name="S1Lbl"/>
          <p:cNvSpPr txBox="1"/>
          <p:nvPr/>
        </p:nvSpPr>
        <p:spPr>
          <a:xfrm>
            <a:off x="685800" y="130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STAGE 1 — SPECIFICATION</a:t>
            </a:r>
          </a:p>
        </p:txBody>
      </p:sp>
      <p:sp>
        <p:nvSpPr>
          <p:cNvPr id="101" name="S1A"/>
          <p:cNvSpPr/>
          <p:nvPr/>
        </p:nvSpPr>
        <p:spPr>
          <a:xfrm>
            <a:off x="68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A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2" name="S1B"/>
          <p:cNvSpPr/>
          <p:nvPr/>
        </p:nvSpPr>
        <p:spPr>
          <a:xfrm>
            <a:off x="1565800" y="1750000"/>
            <a:ext cx="780000" cy="850000"/>
          </a:xfrm>
          <a:prstGeom prst="rect">
            <a:avLst/>
          </a:prstGeom>
          <a:solidFill>
            <a:srgbClr val="F5F1E8"/>
          </a:solidFill>
          <a:ln w="19050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B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B23B3B"/>
                </a:solidFill>
              </a:rPr>
              <a:t xml:space="preserve">✗</a:t>
            </a:r>
          </a:p>
        </p:txBody>
      </p:sp>
      <p:sp>
        <p:nvSpPr>
          <p:cNvPr id="103" name="S1C"/>
          <p:cNvSpPr/>
          <p:nvPr/>
        </p:nvSpPr>
        <p:spPr>
          <a:xfrm>
            <a:off x="244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C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4" name="S1D"/>
          <p:cNvSpPr/>
          <p:nvPr/>
        </p:nvSpPr>
        <p:spPr>
          <a:xfrm>
            <a:off x="332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5" name="S1Btag"/>
          <p:cNvSpPr txBox="1"/>
          <p:nvPr/>
        </p:nvSpPr>
        <p:spPr>
          <a:xfrm>
            <a:off x="1145800" y="2700000"/>
            <a:ext cx="16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B violates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required latency</a:t>
            </a:r>
          </a:p>
        </p:txBody>
      </p:sp>
      <p:cxnSp>
        <p:nvCxnSpPr>
          <p:cNvPr id="106" name="Div"/>
          <p:cNvCxnSpPr/>
          <p:nvPr/>
        </p:nvCxnSpPr>
        <p:spPr>
          <a:xfrm>
            <a:off x="46000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7" name="S2Lbl"/>
          <p:cNvSpPr txBox="1"/>
          <p:nvPr/>
        </p:nvSpPr>
        <p:spPr>
          <a:xfrm>
            <a:off x="4950000" y="130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STAGE 2 — DOMINANCE</a:t>
            </a:r>
          </a:p>
        </p:txBody>
      </p:sp>
      <p:cxnSp>
        <p:nvCxnSpPr>
          <p:cNvPr id="108" name="AxX"/>
          <p:cNvCxnSpPr/>
          <p:nvPr/>
        </p:nvCxnSpPr>
        <p:spPr>
          <a:xfrm>
            <a:off x="5100000" y="4100000"/>
            <a:ext cx="3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9" name="AxY"/>
          <p:cNvCxnSpPr/>
          <p:nvPr/>
        </p:nvCxnSpPr>
        <p:spPr>
          <a:xfrm flipV="1">
            <a:off x="5100000" y="1750000"/>
            <a:ext cx="0" cy="23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0" name="AxXLbl"/>
          <p:cNvSpPr txBox="1"/>
          <p:nvPr/>
        </p:nvSpPr>
        <p:spPr>
          <a:xfrm>
            <a:off x="7300000" y="4180000"/>
            <a:ext cx="11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better →</a:t>
            </a:r>
          </a:p>
        </p:txBody>
      </p:sp>
      <p:sp>
        <p:nvSpPr>
          <p:cNvPr id="111" name="AxYLbl"/>
          <p:cNvSpPr txBox="1"/>
          <p:nvPr/>
        </p:nvSpPr>
        <p:spPr>
          <a:xfrm rot="-5400000">
            <a:off x="4300000" y="2050000"/>
            <a:ext cx="11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better →</a:t>
            </a:r>
          </a:p>
        </p:txBody>
      </p:sp>
      <p:sp>
        <p:nvSpPr>
          <p:cNvPr id="112" name="DomRegion"/>
          <p:cNvSpPr/>
          <p:nvPr/>
        </p:nvSpPr>
        <p:spPr>
          <a:xfrm>
            <a:off x="5100000" y="2450000"/>
            <a:ext cx="2300000" cy="1650000"/>
          </a:xfrm>
          <a:prstGeom prst="rect">
            <a:avLst/>
          </a:prstGeom>
          <a:solidFill>
            <a:srgbClr val="B23B3B">
              <a:alpha val="9000"/>
            </a:srgbClr>
          </a:solidFill>
          <a:ln w="12700">
            <a:solidFill>
              <a:srgbClr val="B23B3B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PtA"/>
          <p:cNvSpPr/>
          <p:nvPr/>
        </p:nvSpPr>
        <p:spPr>
          <a:xfrm>
            <a:off x="7305000" y="2355000"/>
            <a:ext cx="190000" cy="19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4" name="PtLblA"/>
          <p:cNvSpPr txBox="1"/>
          <p:nvPr/>
        </p:nvSpPr>
        <p:spPr>
          <a:xfrm>
            <a:off x="7510000" y="216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5" name="PtC"/>
          <p:cNvSpPr/>
          <p:nvPr/>
        </p:nvSpPr>
        <p:spPr>
          <a:xfrm>
            <a:off x="5705000" y="1855000"/>
            <a:ext cx="190000" cy="19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6" name="PtLblC"/>
          <p:cNvSpPr txBox="1"/>
          <p:nvPr/>
        </p:nvSpPr>
        <p:spPr>
          <a:xfrm>
            <a:off x="5910000" y="166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7" name="PtD"/>
          <p:cNvSpPr/>
          <p:nvPr/>
        </p:nvSpPr>
        <p:spPr>
          <a:xfrm>
            <a:off x="6505000" y="3205000"/>
            <a:ext cx="190000" cy="19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8" name="PtLblD"/>
          <p:cNvSpPr txBox="1"/>
          <p:nvPr/>
        </p:nvSpPr>
        <p:spPr>
          <a:xfrm>
            <a:off x="6710000" y="301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B23B3B"/>
                </a:solidFill>
              </a:rPr>
              <a:t xml:space="preserve">D</a:t>
            </a:r>
          </a:p>
        </p:txBody>
      </p:sp>
      <p:sp>
        <p:nvSpPr>
          <p:cNvPr id="119" name="DomLbl"/>
          <p:cNvSpPr txBox="1"/>
          <p:nvPr/>
        </p:nvSpPr>
        <p:spPr>
          <a:xfrm>
            <a:off x="5200000" y="3480000"/>
            <a:ext cx="1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B23B3B"/>
                </a:solidFill>
              </a:rPr>
              <a:t xml:space="preserve">D is dominated by 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A real tradeoff requires judgment.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51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Mathematics has not chosen for us.</a:t>
            </a:r>
          </a:p>
        </p:txBody>
      </p:sp>
      <p:cxnSp>
        <p:nvCxnSpPr>
          <p:cNvPr id="100" name="AxX"/>
          <p:cNvCxnSpPr/>
          <p:nvPr/>
        </p:nvCxnSpPr>
        <p:spPr>
          <a:xfrm>
            <a:off x="1700000" y="4300000"/>
            <a:ext cx="6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1" name="AxY"/>
          <p:cNvCxnSpPr/>
          <p:nvPr/>
        </p:nvCxnSpPr>
        <p:spPr>
          <a:xfrm flipV="1">
            <a:off x="1700000" y="1400000"/>
            <a:ext cx="0" cy="29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AxXLbl"/>
          <p:cNvSpPr txBox="1"/>
          <p:nvPr/>
        </p:nvSpPr>
        <p:spPr>
          <a:xfrm>
            <a:off x="5900000" y="4390000"/>
            <a:ext cx="20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Property X → better</a:t>
            </a:r>
          </a:p>
        </p:txBody>
      </p:sp>
      <p:sp>
        <p:nvSpPr>
          <p:cNvPr id="103" name="AxYLbl"/>
          <p:cNvSpPr txBox="1"/>
          <p:nvPr/>
        </p:nvSpPr>
        <p:spPr>
          <a:xfrm rot="-5400000">
            <a:off x="250000" y="2500000"/>
            <a:ext cx="20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Property Y → better</a:t>
            </a:r>
          </a:p>
        </p:txBody>
      </p:sp>
      <p:cxnSp>
        <p:nvCxnSpPr>
          <p:cNvPr id="104" name="Fr0"/>
          <p:cNvCxnSpPr/>
          <p:nvPr/>
        </p:nvCxnSpPr>
        <p:spPr>
          <a:xfrm>
            <a:off x="2500000" y="1800000"/>
            <a:ext cx="1600000" cy="50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cxnSp>
        <p:nvCxnSpPr>
          <p:cNvPr id="105" name="Fr1"/>
          <p:cNvCxnSpPr/>
          <p:nvPr/>
        </p:nvCxnSpPr>
        <p:spPr>
          <a:xfrm>
            <a:off x="4100000" y="2300000"/>
            <a:ext cx="1600000" cy="70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cxnSp>
        <p:nvCxnSpPr>
          <p:cNvPr id="106" name="Fr2"/>
          <p:cNvCxnSpPr/>
          <p:nvPr/>
        </p:nvCxnSpPr>
        <p:spPr>
          <a:xfrm>
            <a:off x="5700000" y="3000000"/>
            <a:ext cx="1500000" cy="85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sp>
        <p:nvSpPr>
          <p:cNvPr id="107" name="PtA"/>
          <p:cNvSpPr/>
          <p:nvPr/>
        </p:nvSpPr>
        <p:spPr>
          <a:xfrm>
            <a:off x="2400000" y="17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8" name="PtLblA"/>
          <p:cNvSpPr txBox="1"/>
          <p:nvPr/>
        </p:nvSpPr>
        <p:spPr>
          <a:xfrm>
            <a:off x="2620000" y="14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PtB"/>
          <p:cNvSpPr/>
          <p:nvPr/>
        </p:nvSpPr>
        <p:spPr>
          <a:xfrm>
            <a:off x="4000000" y="22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0" name="PtLblB"/>
          <p:cNvSpPr txBox="1"/>
          <p:nvPr/>
        </p:nvSpPr>
        <p:spPr>
          <a:xfrm>
            <a:off x="4220000" y="19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1" name="PtC"/>
          <p:cNvSpPr/>
          <p:nvPr/>
        </p:nvSpPr>
        <p:spPr>
          <a:xfrm>
            <a:off x="5600000" y="29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2" name="PtLblC"/>
          <p:cNvSpPr txBox="1"/>
          <p:nvPr/>
        </p:nvSpPr>
        <p:spPr>
          <a:xfrm>
            <a:off x="5820000" y="26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3" name="PtD"/>
          <p:cNvSpPr/>
          <p:nvPr/>
        </p:nvSpPr>
        <p:spPr>
          <a:xfrm>
            <a:off x="7100000" y="375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4" name="PtLblD"/>
          <p:cNvSpPr txBox="1"/>
          <p:nvPr/>
        </p:nvSpPr>
        <p:spPr>
          <a:xfrm>
            <a:off x="7320000" y="351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sp>
        <p:nvSpPr>
          <p:cNvPr id="115" name="NoDom"/>
          <p:cNvSpPr txBox="1"/>
          <p:nvPr/>
        </p:nvSpPr>
        <p:spPr>
          <a:xfrm>
            <a:off x="5500000" y="165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no point dominates another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Sometimes the right decision is to buy more information.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51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FFFFFF"/>
                </a:solidFill>
              </a:rPr>
              <a:t xml:space="preserve">Is the information worth more than it costs to obtain?</a:t>
            </a:r>
          </a:p>
        </p:txBody>
      </p:sp>
      <p:sp>
        <p:nvSpPr>
          <p:cNvPr id="100" name="Uncertain"/>
          <p:cNvSpPr/>
          <p:nvPr/>
        </p:nvSpPr>
        <p:spPr>
          <a:xfrm>
            <a:off x="685800" y="2400000"/>
            <a:ext cx="1500000" cy="6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UNCERTAIN CHOICE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185800" y="2725000"/>
            <a:ext cx="3142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Diamond"/>
          <p:cNvSpPr/>
          <p:nvPr/>
        </p:nvSpPr>
        <p:spPr>
          <a:xfrm>
            <a:off x="2550000" y="1900000"/>
            <a:ext cx="2300000" cy="1650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80000" tIns="180000" rIns="180000" bIns="180000" anchor="ctr">
            <a:normAutofit/>
          </a:bodyPr>
          <a:lstStyle/>
          <a:p>
            <a:pPr algn="ctr"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Could knowing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more change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the decision?</a:t>
            </a:r>
          </a:p>
        </p:txBody>
      </p:sp>
      <p:cxnSp>
        <p:nvCxnSpPr>
          <p:cNvPr id="103" name="ANo"/>
          <p:cNvCxnSpPr/>
          <p:nvPr/>
        </p:nvCxnSpPr>
        <p:spPr>
          <a:xfrm>
            <a:off x="3700000" y="3550000"/>
            <a:ext cx="0" cy="5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NoLbl"/>
          <p:cNvSpPr txBox="1"/>
          <p:nvPr/>
        </p:nvSpPr>
        <p:spPr>
          <a:xfrm>
            <a:off x="3790000" y="3620000"/>
            <a:ext cx="5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555960"/>
                </a:solidFill>
              </a:rPr>
              <a:t xml:space="preserve">NO</a:t>
            </a:r>
          </a:p>
        </p:txBody>
      </p:sp>
      <p:sp>
        <p:nvSpPr>
          <p:cNvPr id="105" name="Decide"/>
          <p:cNvSpPr/>
          <p:nvPr/>
        </p:nvSpPr>
        <p:spPr>
          <a:xfrm>
            <a:off x="3100000" y="4050000"/>
            <a:ext cx="12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DECIDE</a:t>
            </a:r>
          </a:p>
        </p:txBody>
      </p:sp>
      <p:cxnSp>
        <p:nvCxnSpPr>
          <p:cNvPr id="106" name="AYes"/>
          <p:cNvCxnSpPr/>
          <p:nvPr/>
        </p:nvCxnSpPr>
        <p:spPr>
          <a:xfrm>
            <a:off x="4850000" y="2725000"/>
            <a:ext cx="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YesLbl"/>
          <p:cNvSpPr txBox="1"/>
          <p:nvPr/>
        </p:nvSpPr>
        <p:spPr>
          <a:xfrm>
            <a:off x="4820000" y="2400000"/>
            <a:ext cx="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555960"/>
                </a:solidFill>
              </a:rPr>
              <a:t xml:space="preserve">YES</a:t>
            </a:r>
          </a:p>
        </p:txBody>
      </p:sp>
      <p:sp>
        <p:nvSpPr>
          <p:cNvPr id="108" name="BuyEv"/>
          <p:cNvSpPr/>
          <p:nvPr/>
        </p:nvSpPr>
        <p:spPr>
          <a:xfrm>
            <a:off x="5150000" y="2400000"/>
            <a:ext cx="1400000" cy="6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 xml:space="preserve">BUY EVIDENCE</a:t>
            </a:r>
          </a:p>
        </p:txBody>
      </p:sp>
      <p:sp>
        <p:nvSpPr>
          <p:cNvPr id="109" name="Kid0"/>
          <p:cNvSpPr/>
          <p:nvPr/>
        </p:nvSpPr>
        <p:spPr>
          <a:xfrm>
            <a:off x="6850000" y="1500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10" name="KA0"/>
          <p:cNvCxnSpPr/>
          <p:nvPr/>
        </p:nvCxnSpPr>
        <p:spPr>
          <a:xfrm flipV="1">
            <a:off x="6550000" y="1740000"/>
            <a:ext cx="30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Kid1"/>
          <p:cNvSpPr/>
          <p:nvPr/>
        </p:nvSpPr>
        <p:spPr>
          <a:xfrm>
            <a:off x="6850000" y="2485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PROTOTYPE</a:t>
            </a:r>
          </a:p>
        </p:txBody>
      </p:sp>
      <p:cxnSp>
        <p:nvCxnSpPr>
          <p:cNvPr id="112" name="KA1"/>
          <p:cNvCxnSpPr/>
          <p:nvPr/>
        </p:nvCxnSpPr>
        <p:spPr>
          <a:xfrm>
            <a:off x="6550000" y="2725000"/>
            <a:ext cx="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Kid2"/>
          <p:cNvSpPr/>
          <p:nvPr/>
        </p:nvSpPr>
        <p:spPr>
          <a:xfrm>
            <a:off x="6850000" y="3470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MEASURE</a:t>
            </a:r>
          </a:p>
        </p:txBody>
      </p:sp>
      <p:cxnSp>
        <p:nvCxnSpPr>
          <p:cNvPr id="114" name="KA2"/>
          <p:cNvCxnSpPr/>
          <p:nvPr/>
        </p:nvCxnSpPr>
        <p:spPr>
          <a:xfrm>
            <a:off x="6550000" y="2725000"/>
            <a:ext cx="30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DecideBetter"/>
          <p:cNvSpPr/>
          <p:nvPr/>
        </p:nvSpPr>
        <p:spPr>
          <a:xfrm>
            <a:off x="8150000" y="2425000"/>
            <a:ext cx="9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DECIDE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BETTER</a:t>
            </a:r>
          </a:p>
        </p:txBody>
      </p:sp>
      <p:cxnSp>
        <p:nvCxnSpPr>
          <p:cNvPr id="116" name="CA0"/>
          <p:cNvCxnSpPr/>
          <p:nvPr/>
        </p:nvCxnSpPr>
        <p:spPr>
          <a:xfrm>
            <a:off x="8000000" y="1740000"/>
            <a:ext cx="15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CA1"/>
          <p:cNvCxnSpPr/>
          <p:nvPr/>
        </p:nvCxnSpPr>
        <p:spPr>
          <a:xfrm>
            <a:off x="8000000" y="2725000"/>
            <a:ext cx="1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8" name="CA2"/>
          <p:cNvCxnSpPr/>
          <p:nvPr/>
        </p:nvCxnSpPr>
        <p:spPr>
          <a:xfrm flipV="1">
            <a:off x="8000000" y="2725000"/>
            <a:ext cx="15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 xml:space="preserve">How much can we know before we build it?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4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Architecture makes some</a:t>
            </a:r>
            <a:br>
              <a:rPr lang="en-US" sz="2800"/>
            </a:br>
            <a:r>
              <a:rPr lang="en-US" sz="2800" b="0" i="0" dirty="0">
                <a:solidFill>
                  <a:srgbClr val="555960"/>
                </a:solidFill>
              </a:rPr>
              <a:t xml:space="preserve">properties analyzable.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Architecture answers four questions.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100" name="QCard0"/>
          <p:cNvSpPr/>
          <p:nvPr/>
        </p:nvSpPr>
        <p:spPr>
          <a:xfrm>
            <a:off x="685800" y="1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1" name="QTxt0"/>
          <p:cNvSpPr txBox="1"/>
          <p:nvPr/>
        </p:nvSpPr>
        <p:spPr>
          <a:xfrm>
            <a:off x="835800" y="1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What are the parts?</a:t>
            </a:r>
          </a:p>
        </p:txBody>
      </p:sp>
      <p:sp>
        <p:nvSpPr>
          <p:cNvPr id="102" name="QCard1"/>
          <p:cNvSpPr/>
          <p:nvPr/>
        </p:nvSpPr>
        <p:spPr>
          <a:xfrm>
            <a:off x="4749800" y="1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3" name="QTxt1"/>
          <p:cNvSpPr txBox="1"/>
          <p:nvPr/>
        </p:nvSpPr>
        <p:spPr>
          <a:xfrm>
            <a:off x="4899800" y="1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Where are the boundaries?</a:t>
            </a:r>
          </a:p>
        </p:txBody>
      </p:sp>
      <p:sp>
        <p:nvSpPr>
          <p:cNvPr id="104" name="QCard2"/>
          <p:cNvSpPr/>
          <p:nvPr/>
        </p:nvSpPr>
        <p:spPr>
          <a:xfrm>
            <a:off x="685800" y="3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5" name="QTxt2"/>
          <p:cNvSpPr txBox="1"/>
          <p:nvPr/>
        </p:nvSpPr>
        <p:spPr>
          <a:xfrm>
            <a:off x="835800" y="3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How may they interact?</a:t>
            </a:r>
          </a:p>
        </p:txBody>
      </p:sp>
      <p:sp>
        <p:nvSpPr>
          <p:cNvPr id="106" name="QCard3"/>
          <p:cNvSpPr/>
          <p:nvPr/>
        </p:nvSpPr>
        <p:spPr>
          <a:xfrm>
            <a:off x="4749800" y="3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7" name="QTxt3"/>
          <p:cNvSpPr txBox="1"/>
          <p:nvPr/>
        </p:nvSpPr>
        <p:spPr>
          <a:xfrm>
            <a:off x="4899800" y="3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What properties must the organization support?</a:t>
            </a:r>
          </a:p>
        </p:txBody>
      </p:sp>
      <p:sp>
        <p:nvSpPr>
          <p:cNvPr id="108" name="G1A"/>
          <p:cNvSpPr/>
          <p:nvPr/>
        </p:nvSpPr>
        <p:spPr>
          <a:xfrm>
            <a:off x="1740000" y="2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G1B"/>
          <p:cNvSpPr/>
          <p:nvPr/>
        </p:nvSpPr>
        <p:spPr>
          <a:xfrm>
            <a:off x="2640000" y="2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0" name="G2box"/>
          <p:cNvSpPr/>
          <p:nvPr/>
        </p:nvSpPr>
        <p:spPr>
          <a:xfrm>
            <a:off x="5804000" y="2250000"/>
            <a:ext cx="16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11" name="G2div"/>
          <p:cNvCxnSpPr/>
          <p:nvPr/>
        </p:nvCxnSpPr>
        <p:spPr>
          <a:xfrm>
            <a:off x="6604000" y="2160000"/>
            <a:ext cx="0" cy="680000"/>
          </a:xfrm>
          <a:prstGeom prst="line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112" name="G2A"/>
          <p:cNvSpPr txBox="1"/>
          <p:nvPr/>
        </p:nvSpPr>
        <p:spPr>
          <a:xfrm>
            <a:off x="5804000" y="236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3" name="G2B"/>
          <p:cNvSpPr txBox="1"/>
          <p:nvPr/>
        </p:nvSpPr>
        <p:spPr>
          <a:xfrm>
            <a:off x="6604000" y="236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4" name="G3A"/>
          <p:cNvSpPr/>
          <p:nvPr/>
        </p:nvSpPr>
        <p:spPr>
          <a:xfrm>
            <a:off x="1540000" y="4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5" name="G3B"/>
          <p:cNvSpPr/>
          <p:nvPr/>
        </p:nvSpPr>
        <p:spPr>
          <a:xfrm>
            <a:off x="2840000" y="4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16" name="G3arw"/>
          <p:cNvCxnSpPr/>
          <p:nvPr/>
        </p:nvCxnSpPr>
        <p:spPr>
          <a:xfrm>
            <a:off x="2240000" y="4500000"/>
            <a:ext cx="600000" cy="0"/>
          </a:xfrm>
          <a:prstGeom prst="line">
            <a:avLst/>
          </a:prstGeom>
          <a:ln w="25400">
            <a:solidFill>
              <a:srgbClr val="8E6F3E"/>
            </a:solidFill>
            <a:tailEnd type="triangle" w="med" len="med"/>
          </a:ln>
        </p:spPr>
      </p:cxnSp>
      <p:sp>
        <p:nvSpPr>
          <p:cNvPr id="117" name="G4clock"/>
          <p:cNvSpPr/>
          <p:nvPr/>
        </p:nvSpPr>
        <p:spPr>
          <a:xfrm>
            <a:off x="5044000" y="4230000"/>
            <a:ext cx="420000" cy="420000"/>
          </a:xfrm>
          <a:prstGeom prst="ellips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18" name="G4h1"/>
          <p:cNvCxnSpPr/>
          <p:nvPr/>
        </p:nvCxnSpPr>
        <p:spPr>
          <a:xfrm flipV="1">
            <a:off x="5254000" y="4320000"/>
            <a:ext cx="0" cy="120000"/>
          </a:xfrm>
          <a:prstGeom prst="line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G4h2"/>
          <p:cNvCxnSpPr/>
          <p:nvPr/>
        </p:nvCxnSpPr>
        <p:spPr>
          <a:xfrm>
            <a:off x="5254000" y="4440000"/>
            <a:ext cx="100000" cy="0"/>
          </a:xfrm>
          <a:prstGeom prst="line">
            <a:avLst/>
          </a:prstGeom>
          <a:ln w="19050">
            <a:solidFill>
              <a:srgbClr val="8E6F3E"/>
            </a:solidFill>
          </a:ln>
        </p:spPr>
      </p:cxnSp>
      <p:sp>
        <p:nvSpPr>
          <p:cNvPr id="120" name="G4shackle"/>
          <p:cNvSpPr/>
          <p:nvPr/>
        </p:nvSpPr>
        <p:spPr>
          <a:xfrm>
            <a:off x="5904000" y="4230000"/>
            <a:ext cx="260000" cy="260000"/>
          </a:xfrm>
          <a:prstGeom prst="ellips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1" name="G4lockbody"/>
          <p:cNvSpPr/>
          <p:nvPr/>
        </p:nvSpPr>
        <p:spPr>
          <a:xfrm>
            <a:off x="5824000" y="4390000"/>
            <a:ext cx="420000" cy="2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2" name="G4cycle"/>
          <p:cNvSpPr/>
          <p:nvPr/>
        </p:nvSpPr>
        <p:spPr>
          <a:xfrm>
            <a:off x="6644000" y="4230000"/>
            <a:ext cx="420000" cy="420000"/>
          </a:xfrm>
          <a:prstGeom prst="circularArrow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3" name="G4bang"/>
          <p:cNvSpPr/>
          <p:nvPr/>
        </p:nvSpPr>
        <p:spPr>
          <a:xfrm>
            <a:off x="7444000" y="4210000"/>
            <a:ext cx="420000" cy="440000"/>
          </a:xfrm>
          <a:prstGeom prst="triangl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0" tIns="120000" rIns="0" bIns="0" anchor="ctr">
            <a:normAutofit/>
          </a:bodyPr>
          <a:lstStyle/>
          <a:p>
            <a:endParaRPr/>
          </a:p>
        </p:txBody>
      </p:sp>
      <p:sp>
        <p:nvSpPr>
          <p:cNvPr id="124" name="G4cap"/>
          <p:cNvSpPr txBox="1"/>
          <p:nvPr/>
        </p:nvSpPr>
        <p:spPr>
          <a:xfrm>
            <a:off x="4949800" y="4750000"/>
            <a:ext cx="33084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latency · security · change · failure</a:t>
            </a:r>
          </a:p>
        </p:txBody>
      </p:sp>
      <p:sp>
        <p:nvSpPr>
          <p:cNvPr id="140" name="G4bangTxt"/>
          <p:cNvSpPr txBox="1"/>
          <p:nvPr/>
        </p:nvSpPr>
        <p:spPr>
          <a:xfrm>
            <a:off x="7444000" y="4390000"/>
            <a:ext cx="42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8E6F3E"/>
                </a:solidFill>
              </a:rPr>
              <a:t xml:space="preserve">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Patterns give us alternatives—and expectations about their consequences.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9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These are rules of thumb, not guarantees.</a:t>
            </a:r>
          </a:p>
        </p:txBody>
      </p:sp>
      <p:sp>
        <p:nvSpPr>
          <p:cNvPr id="100" name="PastExp"/>
          <p:cNvSpPr/>
          <p:nvPr/>
        </p:nvSpPr>
        <p:spPr>
          <a:xfrm>
            <a:off x="685800" y="2200000"/>
            <a:ext cx="210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PAST ENGINEERING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EXPERIENCE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recurring problem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785800" y="2700000"/>
            <a:ext cx="5642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Pattern"/>
          <p:cNvSpPr/>
          <p:nvPr/>
        </p:nvSpPr>
        <p:spPr>
          <a:xfrm>
            <a:off x="3350000" y="2350000"/>
            <a:ext cx="1700000" cy="7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 xml:space="preserve">PATTERN</a:t>
            </a:r>
          </a:p>
        </p:txBody>
      </p:sp>
      <p:sp>
        <p:nvSpPr>
          <p:cNvPr id="103" name="Org"/>
          <p:cNvSpPr/>
          <p:nvPr/>
        </p:nvSpPr>
        <p:spPr>
          <a:xfrm>
            <a:off x="6000000" y="1600000"/>
            <a:ext cx="245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ORGANIZATION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“try organizing it this way”</a:t>
            </a:r>
          </a:p>
        </p:txBody>
      </p:sp>
      <p:sp>
        <p:nvSpPr>
          <p:cNvPr id="104" name="ExpProp"/>
          <p:cNvSpPr/>
          <p:nvPr/>
        </p:nvSpPr>
        <p:spPr>
          <a:xfrm>
            <a:off x="6000000" y="3000000"/>
            <a:ext cx="245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EXPECTED PROPERTIES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“tends to make X easier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and Y harder”</a:t>
            </a:r>
          </a:p>
        </p:txBody>
      </p:sp>
      <p:cxnSp>
        <p:nvCxnSpPr>
          <p:cNvPr id="105" name="A2"/>
          <p:cNvCxnSpPr/>
          <p:nvPr/>
        </p:nvCxnSpPr>
        <p:spPr>
          <a:xfrm flipV="1">
            <a:off x="5050000" y="2100000"/>
            <a:ext cx="950000" cy="4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6" name="A3"/>
          <p:cNvCxnSpPr/>
          <p:nvPr/>
        </p:nvCxnSpPr>
        <p:spPr>
          <a:xfrm>
            <a:off x="5050000" y="2850000"/>
            <a:ext cx="950000" cy="6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MVC: separate model, view, and interaction logic.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8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100" b="1" i="0" dirty="0">
                <a:solidFill>
                  <a:srgbClr val="000000"/>
                </a:solidFill>
              </a:rPr>
              <a:t xml:space="preserve">Expected tradeoff: </a:t>
            </a:r>
            <a:r>
              <a:rPr lang="en-US" sz="2100" b="0" i="1" dirty="0">
                <a:solidFill>
                  <a:srgbClr val="000000"/>
                </a:solidFill>
              </a:rPr>
              <a:t xml:space="preserve">multiple presentations and independent evolution — vs. coordination and indirection.</a:t>
            </a:r>
          </a:p>
        </p:txBody>
      </p:sp>
      <p:sp>
        <p:nvSpPr>
          <p:cNvPr id="100" name="User"/>
          <p:cNvSpPr/>
          <p:nvPr/>
        </p:nvSpPr>
        <p:spPr>
          <a:xfrm>
            <a:off x="900000" y="2600000"/>
            <a:ext cx="1400000" cy="62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USER</a:t>
            </a:r>
          </a:p>
        </p:txBody>
      </p:sp>
      <p:sp>
        <p:nvSpPr>
          <p:cNvPr id="101" name="Controller"/>
          <p:cNvSpPr/>
          <p:nvPr/>
        </p:nvSpPr>
        <p:spPr>
          <a:xfrm>
            <a:off x="3800000" y="1500000"/>
            <a:ext cx="19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CONTROLLER</a:t>
            </a:r>
          </a:p>
        </p:txBody>
      </p:sp>
      <p:sp>
        <p:nvSpPr>
          <p:cNvPr id="102" name="Model"/>
          <p:cNvSpPr/>
          <p:nvPr/>
        </p:nvSpPr>
        <p:spPr>
          <a:xfrm>
            <a:off x="6900000" y="2600000"/>
            <a:ext cx="15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3" name="View"/>
          <p:cNvSpPr/>
          <p:nvPr/>
        </p:nvSpPr>
        <p:spPr>
          <a:xfrm>
            <a:off x="3800000" y="3750000"/>
            <a:ext cx="19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VIEW</a:t>
            </a:r>
          </a:p>
        </p:txBody>
      </p:sp>
      <p:cxnSp>
        <p:nvCxnSpPr>
          <p:cNvPr id="104" name="UC"/>
          <p:cNvCxnSpPr/>
          <p:nvPr/>
        </p:nvCxnSpPr>
        <p:spPr>
          <a:xfrm flipV="1">
            <a:off x="2100000" y="1900000"/>
            <a:ext cx="1700000" cy="7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5" name="CM"/>
          <p:cNvCxnSpPr/>
          <p:nvPr/>
        </p:nvCxnSpPr>
        <p:spPr>
          <a:xfrm>
            <a:off x="5700000" y="1900000"/>
            <a:ext cx="1300000" cy="7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CMLbl"/>
          <p:cNvSpPr txBox="1"/>
          <p:nvPr/>
        </p:nvSpPr>
        <p:spPr>
          <a:xfrm>
            <a:off x="6350000" y="1830000"/>
            <a:ext cx="13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changes</a:t>
            </a:r>
          </a:p>
        </p:txBody>
      </p:sp>
      <p:cxnSp>
        <p:nvCxnSpPr>
          <p:cNvPr id="107" name="MV"/>
          <p:cNvCxnSpPr/>
          <p:nvPr/>
        </p:nvCxnSpPr>
        <p:spPr>
          <a:xfrm flipH="1">
            <a:off x="5700000" y="3220000"/>
            <a:ext cx="1350000" cy="76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MVLbl"/>
          <p:cNvSpPr txBox="1"/>
          <p:nvPr/>
        </p:nvSpPr>
        <p:spPr>
          <a:xfrm>
            <a:off x="6500000" y="3720000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observed by</a:t>
            </a:r>
          </a:p>
        </p:txBody>
      </p:sp>
      <p:cxnSp>
        <p:nvCxnSpPr>
          <p:cNvPr id="109" name="VU"/>
          <p:cNvCxnSpPr/>
          <p:nvPr/>
        </p:nvCxnSpPr>
        <p:spPr>
          <a:xfrm flipH="1" flipV="1">
            <a:off x="2000000" y="3220000"/>
            <a:ext cx="1800000" cy="8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Repository: organize around shared authoritative state.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550000"/>
            <a:ext cx="8585200" cy="13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 xml:space="preserve">Expected property: </a:t>
            </a:r>
            <a:r>
              <a:rPr lang="en-US" sz="2000" b="0" i="0" dirty="0">
                <a:solidFill>
                  <a:srgbClr val="000000"/>
                </a:solidFill>
              </a:rPr>
              <a:t xml:space="preserve">a shared representation simplifies consistency and integration.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 xml:space="preserve">Tradeoff: </a:t>
            </a:r>
            <a:r>
              <a:rPr lang="en-US" sz="2000" b="0" i="0" dirty="0">
                <a:solidFill>
                  <a:srgbClr val="000000"/>
                </a:solidFill>
              </a:rPr>
              <a:t xml:space="preserve">everyone now depends on the center — central coupling, potential bottleneck.</a:t>
            </a:r>
          </a:p>
        </p:txBody>
      </p:sp>
      <p:sp>
        <p:nvSpPr>
          <p:cNvPr id="100" name="Repo"/>
          <p:cNvSpPr/>
          <p:nvPr/>
        </p:nvSpPr>
        <p:spPr>
          <a:xfrm>
            <a:off x="3600000" y="2300000"/>
            <a:ext cx="19500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 xml:space="preserve">REPOSITORY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FFFFFF"/>
                </a:solidFill>
              </a:rPr>
              <a:t xml:space="preserve">shared authoritative state</a:t>
            </a:r>
          </a:p>
        </p:txBody>
      </p:sp>
      <p:sp>
        <p:nvSpPr>
          <p:cNvPr id="101" name="Input"/>
          <p:cNvSpPr/>
          <p:nvPr/>
        </p:nvSpPr>
        <p:spPr>
          <a:xfrm>
            <a:off x="1000000" y="2450000"/>
            <a:ext cx="13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INPUT</a:t>
            </a:r>
          </a:p>
        </p:txBody>
      </p:sp>
      <p:cxnSp>
        <p:nvCxnSpPr>
          <p:cNvPr id="102" name="AIn"/>
          <p:cNvCxnSpPr/>
          <p:nvPr/>
        </p:nvCxnSpPr>
        <p:spPr>
          <a:xfrm>
            <a:off x="2300000" y="2750000"/>
            <a:ext cx="1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3" name="Reporter"/>
          <p:cNvSpPr/>
          <p:nvPr/>
        </p:nvSpPr>
        <p:spPr>
          <a:xfrm>
            <a:off x="7000000" y="2450000"/>
            <a:ext cx="1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REPORTER</a:t>
            </a:r>
          </a:p>
        </p:txBody>
      </p:sp>
      <p:cxnSp>
        <p:nvCxnSpPr>
          <p:cNvPr id="104" name="AOut"/>
          <p:cNvCxnSpPr/>
          <p:nvPr/>
        </p:nvCxnSpPr>
        <p:spPr>
          <a:xfrm>
            <a:off x="5550000" y="2750000"/>
            <a:ext cx="14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Analyzer"/>
          <p:cNvSpPr/>
          <p:nvPr/>
        </p:nvSpPr>
        <p:spPr>
          <a:xfrm>
            <a:off x="3925000" y="135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ANALYZER</a:t>
            </a:r>
          </a:p>
        </p:txBody>
      </p:sp>
      <p:cxnSp>
        <p:nvCxnSpPr>
          <p:cNvPr id="106" name="ADown"/>
          <p:cNvCxnSpPr/>
          <p:nvPr/>
        </p:nvCxnSpPr>
        <p:spPr>
          <a:xfrm>
            <a:off x="4575000" y="1900000"/>
            <a:ext cx="0" cy="4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Optimizer"/>
          <p:cNvSpPr/>
          <p:nvPr/>
        </p:nvSpPr>
        <p:spPr>
          <a:xfrm>
            <a:off x="3925000" y="365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OPTIMIZER</a:t>
            </a:r>
          </a:p>
        </p:txBody>
      </p:sp>
      <p:cxnSp>
        <p:nvCxnSpPr>
          <p:cNvPr id="108" name="AUp"/>
          <p:cNvCxnSpPr/>
          <p:nvPr/>
        </p:nvCxnSpPr>
        <p:spPr>
          <a:xfrm flipV="1">
            <a:off x="4575000" y="3200000"/>
            <a:ext cx="0" cy="4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onsLbl"/>
          <p:cNvSpPr txBox="1"/>
          <p:nvPr/>
        </p:nvSpPr>
        <p:spPr>
          <a:xfrm>
            <a:off x="1000000" y="3750000"/>
            <a:ext cx="21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1" dirty="0">
                <a:solidFill>
                  <a:srgbClr val="1F7A4D"/>
                </a:solidFill>
              </a:rPr>
              <a:t xml:space="preserve">consistency ↑</a:t>
            </a:r>
          </a:p>
        </p:txBody>
      </p:sp>
      <p:sp>
        <p:nvSpPr>
          <p:cNvPr id="110" name="CoupLbl"/>
          <p:cNvSpPr txBox="1"/>
          <p:nvPr/>
        </p:nvSpPr>
        <p:spPr>
          <a:xfrm>
            <a:off x="6512840" y="375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200" b="1" i="1" dirty="0">
                <a:solidFill>
                  <a:srgbClr val="B23B3B"/>
                </a:solidFill>
              </a:rPr>
              <a:t xml:space="preserve">central coupling 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Control dependencies across boundaries.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4000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We’re no longer merely grouping responsibilities — we’re deliberately arranging the direction of dependency so infrastructure choices don’t become domain dependencies.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6050000"/>
            <a:ext cx="77724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Often called ports-and-adapters / hexagonal / clean architecture.</a:t>
            </a:r>
          </a:p>
        </p:txBody>
      </p:sp>
      <p:sp>
        <p:nvSpPr>
          <p:cNvPr id="100" name="BeforeLbl"/>
          <p:cNvSpPr txBox="1"/>
          <p:nvPr/>
        </p:nvSpPr>
        <p:spPr>
          <a:xfrm>
            <a:off x="685800" y="128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BEFORE</a:t>
            </a:r>
          </a:p>
        </p:txBody>
      </p:sp>
      <p:sp>
        <p:nvSpPr>
          <p:cNvPr id="101" name="BUI"/>
          <p:cNvSpPr/>
          <p:nvPr/>
        </p:nvSpPr>
        <p:spPr>
          <a:xfrm>
            <a:off x="1200000" y="162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2" name="BDomain"/>
          <p:cNvSpPr/>
          <p:nvPr/>
        </p:nvSpPr>
        <p:spPr>
          <a:xfrm>
            <a:off x="3300000" y="16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sp>
        <p:nvSpPr>
          <p:cNvPr id="103" name="BDb"/>
          <p:cNvSpPr/>
          <p:nvPr/>
        </p:nvSpPr>
        <p:spPr>
          <a:xfrm>
            <a:off x="5700000" y="16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DATABASE</a:t>
            </a:r>
          </a:p>
        </p:txBody>
      </p:sp>
      <p:cxnSp>
        <p:nvCxnSpPr>
          <p:cNvPr id="104" name="BA1"/>
          <p:cNvCxnSpPr/>
          <p:nvPr/>
        </p:nvCxnSpPr>
        <p:spPr>
          <a:xfrm>
            <a:off x="2500000" y="1895000"/>
            <a:ext cx="8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5" name="BA2"/>
          <p:cNvCxnSpPr/>
          <p:nvPr/>
        </p:nvCxnSpPr>
        <p:spPr>
          <a:xfrm>
            <a:off x="4900000" y="1895000"/>
            <a:ext cx="800000" cy="0"/>
          </a:xfrm>
          <a:prstGeom prst="line">
            <a:avLst/>
          </a:prstGeom>
          <a:ln w="19050">
            <a:solidFill>
              <a:srgbClr val="B23B3B"/>
            </a:solidFill>
            <a:tailEnd type="triangle" w="med" len="med"/>
          </a:ln>
        </p:spPr>
      </p:cxnSp>
      <p:sp>
        <p:nvSpPr>
          <p:cNvPr id="106" name="BCap"/>
          <p:cNvSpPr txBox="1"/>
          <p:nvPr/>
        </p:nvSpPr>
        <p:spPr>
          <a:xfrm>
            <a:off x="3900000" y="2300000"/>
            <a:ext cx="3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infrastructure becomes a domain dependency</a:t>
            </a:r>
          </a:p>
        </p:txBody>
      </p:sp>
      <p:sp>
        <p:nvSpPr>
          <p:cNvPr id="107" name="AfterLbl"/>
          <p:cNvSpPr txBox="1"/>
          <p:nvPr/>
        </p:nvSpPr>
        <p:spPr>
          <a:xfrm>
            <a:off x="685800" y="278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AFTER</a:t>
            </a:r>
          </a:p>
        </p:txBody>
      </p:sp>
      <p:sp>
        <p:nvSpPr>
          <p:cNvPr id="108" name="AUI"/>
          <p:cNvSpPr/>
          <p:nvPr/>
        </p:nvSpPr>
        <p:spPr>
          <a:xfrm>
            <a:off x="1200000" y="312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9" name="ADomain"/>
          <p:cNvSpPr/>
          <p:nvPr/>
        </p:nvSpPr>
        <p:spPr>
          <a:xfrm>
            <a:off x="3300000" y="31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sp>
        <p:nvSpPr>
          <p:cNvPr id="110" name="Iface"/>
          <p:cNvSpPr/>
          <p:nvPr/>
        </p:nvSpPr>
        <p:spPr>
          <a:xfrm>
            <a:off x="4900000" y="3050000"/>
            <a:ext cx="100000" cy="69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1" name="IfaceLbl"/>
          <p:cNvSpPr txBox="1"/>
          <p:nvPr/>
        </p:nvSpPr>
        <p:spPr>
          <a:xfrm>
            <a:off x="4050000" y="2790000"/>
            <a:ext cx="2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1" i="0" dirty="0">
                <a:solidFill>
                  <a:srgbClr val="8E6F3E"/>
                </a:solidFill>
              </a:rPr>
              <a:t xml:space="preserve">DOMAIN-DEFINED INTERFACE</a:t>
            </a:r>
          </a:p>
        </p:txBody>
      </p:sp>
      <p:sp>
        <p:nvSpPr>
          <p:cNvPr id="112" name="AAdapter"/>
          <p:cNvSpPr/>
          <p:nvPr/>
        </p:nvSpPr>
        <p:spPr>
          <a:xfrm>
            <a:off x="5700000" y="31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DB ADAPTER</a:t>
            </a:r>
          </a:p>
        </p:txBody>
      </p:sp>
      <p:cxnSp>
        <p:nvCxnSpPr>
          <p:cNvPr id="113" name="AA1"/>
          <p:cNvCxnSpPr/>
          <p:nvPr/>
        </p:nvCxnSpPr>
        <p:spPr>
          <a:xfrm>
            <a:off x="2500000" y="3395000"/>
            <a:ext cx="8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4" name="AA2"/>
          <p:cNvCxnSpPr/>
          <p:nvPr/>
        </p:nvCxnSpPr>
        <p:spPr>
          <a:xfrm flipH="1">
            <a:off x="5030000" y="3395000"/>
            <a:ext cx="670000" cy="0"/>
          </a:xfrm>
          <a:prstGeom prst="line">
            <a:avLst/>
          </a:prstGeom>
          <a:ln w="25400">
            <a:solidFill>
              <a:srgbClr val="1F7A4D"/>
            </a:solidFill>
            <a:tailEnd type="triangle" w="med" len="med"/>
          </a:ln>
        </p:spPr>
      </p:cxnSp>
      <p:sp>
        <p:nvSpPr>
          <p:cNvPr id="115" name="ACap"/>
          <p:cNvSpPr txBox="1"/>
          <p:nvPr/>
        </p:nvSpPr>
        <p:spPr>
          <a:xfrm>
            <a:off x="3900000" y="380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1F7A4D"/>
                </a:solidFill>
              </a:rPr>
              <a:t xml:space="preserve">the dependency now points into the domain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Events: producers need not know their consumers.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3500000"/>
            <a:ext cx="77724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 xml:space="preserve">Rule of thumb: </a:t>
            </a:r>
            <a:r>
              <a:rPr lang="en-US" sz="1900" b="0" i="0" dirty="0">
                <a:solidFill>
                  <a:srgbClr val="000000"/>
                </a:solidFill>
              </a:rPr>
              <a:t xml:space="preserve">event-based often makes adding consumers easier.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3980000"/>
            <a:ext cx="77724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 xml:space="preserve">Engineering question: </a:t>
            </a:r>
            <a:r>
              <a:rPr lang="en-US" sz="1900" b="0" i="1" dirty="0">
                <a:solidFill>
                  <a:srgbClr val="000000"/>
                </a:solidFill>
              </a:rPr>
              <a:t xml:space="preserve">does THIS event architecture satisfy our ordering, latency, reliability, and observability obligations?</a:t>
            </a:r>
          </a:p>
        </p:txBody>
      </p:sp>
      <p:sp>
        <p:nvSpPr>
          <p:cNvPr id="63" name="Band63"/>
          <p:cNvSpPr/>
          <p:nvPr/>
        </p:nvSpPr>
        <p:spPr>
          <a:xfrm>
            <a:off x="279400" y="4900000"/>
            <a:ext cx="85852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 xml:space="preserve">PATTERN KNOWLEDGE  ——  increasing complexity / consequence  ——▶  ANALYSIS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500" b="0" i="1" dirty="0">
                <a:solidFill>
                  <a:srgbClr val="FFFFFF"/>
                </a:solidFill>
              </a:rPr>
              <a:t xml:space="preserve">“reasonable expectation”  →  “show me”</a:t>
            </a:r>
          </a:p>
        </p:txBody>
      </p:sp>
      <p:sp>
        <p:nvSpPr>
          <p:cNvPr id="64" name="T64"/>
          <p:cNvSpPr txBox="1"/>
          <p:nvPr/>
        </p:nvSpPr>
        <p:spPr>
          <a:xfrm>
            <a:off x="685800" y="6000000"/>
            <a:ext cx="77724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 xml:space="preserve">—  STRETCH BREAK  —</a:t>
            </a:r>
          </a:p>
        </p:txBody>
      </p:sp>
      <p:sp>
        <p:nvSpPr>
          <p:cNvPr id="100" name="DirLbl"/>
          <p:cNvSpPr txBox="1"/>
          <p:nvPr/>
        </p:nvSpPr>
        <p:spPr>
          <a:xfrm>
            <a:off x="685800" y="1150000"/>
            <a:ext cx="20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DIRECT</a:t>
            </a:r>
          </a:p>
        </p:txBody>
      </p:sp>
      <p:sp>
        <p:nvSpPr>
          <p:cNvPr id="101" name="DA"/>
          <p:cNvSpPr/>
          <p:nvPr/>
        </p:nvSpPr>
        <p:spPr>
          <a:xfrm>
            <a:off x="800000" y="2050000"/>
            <a:ext cx="7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2" name="DB"/>
          <p:cNvSpPr/>
          <p:nvPr/>
        </p:nvSpPr>
        <p:spPr>
          <a:xfrm>
            <a:off x="2750000" y="150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03" name="DA0"/>
          <p:cNvCxnSpPr/>
          <p:nvPr/>
        </p:nvCxnSpPr>
        <p:spPr>
          <a:xfrm flipV="1">
            <a:off x="1500000" y="1720000"/>
            <a:ext cx="125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DC"/>
          <p:cNvSpPr/>
          <p:nvPr/>
        </p:nvSpPr>
        <p:spPr>
          <a:xfrm>
            <a:off x="2750000" y="208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5" name="DA1"/>
          <p:cNvCxnSpPr/>
          <p:nvPr/>
        </p:nvCxnSpPr>
        <p:spPr>
          <a:xfrm>
            <a:off x="1500000" y="2300000"/>
            <a:ext cx="1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DD"/>
          <p:cNvSpPr/>
          <p:nvPr/>
        </p:nvSpPr>
        <p:spPr>
          <a:xfrm>
            <a:off x="2750000" y="266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07" name="DA2"/>
          <p:cNvCxnSpPr/>
          <p:nvPr/>
        </p:nvCxnSpPr>
        <p:spPr>
          <a:xfrm>
            <a:off x="1500000" y="2300000"/>
            <a:ext cx="125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DCap"/>
          <p:cNvSpPr txBox="1"/>
          <p:nvPr/>
        </p:nvSpPr>
        <p:spPr>
          <a:xfrm>
            <a:off x="800000" y="3220000"/>
            <a:ext cx="29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knows B, C, D</a:t>
            </a:r>
          </a:p>
        </p:txBody>
      </p:sp>
      <p:cxnSp>
        <p:nvCxnSpPr>
          <p:cNvPr id="109" name="Div"/>
          <p:cNvCxnSpPr/>
          <p:nvPr/>
        </p:nvCxnSpPr>
        <p:spPr>
          <a:xfrm>
            <a:off x="4370000" y="1300000"/>
            <a:ext cx="0" cy="1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10" name="EvLbl"/>
          <p:cNvSpPr txBox="1"/>
          <p:nvPr/>
        </p:nvSpPr>
        <p:spPr>
          <a:xfrm>
            <a:off x="4750000" y="1150000"/>
            <a:ext cx="2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EVENT-BASED</a:t>
            </a:r>
          </a:p>
        </p:txBody>
      </p:sp>
      <p:sp>
        <p:nvSpPr>
          <p:cNvPr id="111" name="EA"/>
          <p:cNvSpPr/>
          <p:nvPr/>
        </p:nvSpPr>
        <p:spPr>
          <a:xfrm>
            <a:off x="4750000" y="2050000"/>
            <a:ext cx="7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2" name="EBus"/>
          <p:cNvSpPr/>
          <p:nvPr/>
        </p:nvSpPr>
        <p:spPr>
          <a:xfrm>
            <a:off x="6000000" y="1450000"/>
            <a:ext cx="380000" cy="16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EBusLbl"/>
          <p:cNvSpPr txBox="1"/>
          <p:nvPr/>
        </p:nvSpPr>
        <p:spPr>
          <a:xfrm rot="-5400000">
            <a:off x="5290000" y="2145000"/>
            <a:ext cx="1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 xml:space="preserve">EVENT BUS</a:t>
            </a:r>
          </a:p>
        </p:txBody>
      </p:sp>
      <p:cxnSp>
        <p:nvCxnSpPr>
          <p:cNvPr id="114" name="EAB"/>
          <p:cNvCxnSpPr/>
          <p:nvPr/>
        </p:nvCxnSpPr>
        <p:spPr>
          <a:xfrm>
            <a:off x="5450000" y="2300000"/>
            <a:ext cx="5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EB"/>
          <p:cNvSpPr/>
          <p:nvPr/>
        </p:nvSpPr>
        <p:spPr>
          <a:xfrm>
            <a:off x="7250000" y="150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16" name="EA0"/>
          <p:cNvCxnSpPr/>
          <p:nvPr/>
        </p:nvCxnSpPr>
        <p:spPr>
          <a:xfrm flipV="1">
            <a:off x="6380000" y="1720000"/>
            <a:ext cx="87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7" name="EC"/>
          <p:cNvSpPr/>
          <p:nvPr/>
        </p:nvSpPr>
        <p:spPr>
          <a:xfrm>
            <a:off x="7250000" y="208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18" name="EA1"/>
          <p:cNvCxnSpPr/>
          <p:nvPr/>
        </p:nvCxnSpPr>
        <p:spPr>
          <a:xfrm>
            <a:off x="6380000" y="2300000"/>
            <a:ext cx="87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9" name="ED"/>
          <p:cNvSpPr/>
          <p:nvPr/>
        </p:nvSpPr>
        <p:spPr>
          <a:xfrm>
            <a:off x="7250000" y="266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20" name="EA2"/>
          <p:cNvCxnSpPr/>
          <p:nvPr/>
        </p:nvCxnSpPr>
        <p:spPr>
          <a:xfrm>
            <a:off x="6380000" y="2300000"/>
            <a:ext cx="87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21" name="ECap"/>
          <p:cNvSpPr txBox="1"/>
          <p:nvPr/>
        </p:nvSpPr>
        <p:spPr>
          <a:xfrm>
            <a:off x="4750000" y="3220000"/>
            <a:ext cx="3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knows the event, not the consumers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 xml:space="preserve">Patterns capture recurring architectural choices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3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What organizations recur, and what do they tend to buy—and cost?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An architecture diagram is useful only if it answers a question.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 xml:space="preserve">Different question → different model.</a:t>
            </a:r>
          </a:p>
        </p:txBody>
      </p:sp>
      <p:sp>
        <p:nvSpPr>
          <p:cNvPr id="100" name="PH0"/>
          <p:cNvSpPr txBox="1"/>
          <p:nvPr/>
        </p:nvSpPr>
        <p:spPr>
          <a:xfrm>
            <a:off x="6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CHANGE?</a:t>
            </a:r>
          </a:p>
        </p:txBody>
      </p:sp>
      <p:sp>
        <p:nvSpPr>
          <p:cNvPr id="101" name="PS0"/>
          <p:cNvSpPr txBox="1"/>
          <p:nvPr/>
        </p:nvSpPr>
        <p:spPr>
          <a:xfrm>
            <a:off x="6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dependency view</a:t>
            </a:r>
          </a:p>
        </p:txBody>
      </p:sp>
      <p:sp>
        <p:nvSpPr>
          <p:cNvPr id="102" name="PH1"/>
          <p:cNvSpPr txBox="1"/>
          <p:nvPr/>
        </p:nvSpPr>
        <p:spPr>
          <a:xfrm>
            <a:off x="33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LATENCY?</a:t>
            </a:r>
          </a:p>
        </p:txBody>
      </p:sp>
      <p:sp>
        <p:nvSpPr>
          <p:cNvPr id="103" name="PS1"/>
          <p:cNvSpPr txBox="1"/>
          <p:nvPr/>
        </p:nvSpPr>
        <p:spPr>
          <a:xfrm>
            <a:off x="33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weighted flow</a:t>
            </a:r>
          </a:p>
        </p:txBody>
      </p:sp>
      <p:cxnSp>
        <p:nvCxnSpPr>
          <p:cNvPr id="104" name="PDiv1"/>
          <p:cNvCxnSpPr/>
          <p:nvPr/>
        </p:nvCxnSpPr>
        <p:spPr>
          <a:xfrm>
            <a:off x="32358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5" name="PH2"/>
          <p:cNvSpPr txBox="1"/>
          <p:nvPr/>
        </p:nvSpPr>
        <p:spPr>
          <a:xfrm>
            <a:off x="60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FAILURE?</a:t>
            </a:r>
          </a:p>
        </p:txBody>
      </p:sp>
      <p:sp>
        <p:nvSpPr>
          <p:cNvPr id="106" name="PS2"/>
          <p:cNvSpPr txBox="1"/>
          <p:nvPr/>
        </p:nvSpPr>
        <p:spPr>
          <a:xfrm>
            <a:off x="60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deployment view</a:t>
            </a:r>
          </a:p>
        </p:txBody>
      </p:sp>
      <p:cxnSp>
        <p:nvCxnSpPr>
          <p:cNvPr id="107" name="PDiv2"/>
          <p:cNvCxnSpPr/>
          <p:nvPr/>
        </p:nvCxnSpPr>
        <p:spPr>
          <a:xfrm>
            <a:off x="59358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8" name="P1A"/>
          <p:cNvSpPr/>
          <p:nvPr/>
        </p:nvSpPr>
        <p:spPr>
          <a:xfrm>
            <a:off x="1185800" y="21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P1B"/>
          <p:cNvSpPr/>
          <p:nvPr/>
        </p:nvSpPr>
        <p:spPr>
          <a:xfrm>
            <a:off x="1185800" y="29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0" name="P1C"/>
          <p:cNvSpPr/>
          <p:nvPr/>
        </p:nvSpPr>
        <p:spPr>
          <a:xfrm>
            <a:off x="1185800" y="36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1" name="P1D"/>
          <p:cNvSpPr/>
          <p:nvPr/>
        </p:nvSpPr>
        <p:spPr>
          <a:xfrm>
            <a:off x="2285800" y="29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12" name="P1ab"/>
          <p:cNvCxnSpPr/>
          <p:nvPr/>
        </p:nvCxnSpPr>
        <p:spPr>
          <a:xfrm>
            <a:off x="1505800" y="2580000"/>
            <a:ext cx="0" cy="32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P1bc"/>
          <p:cNvCxnSpPr/>
          <p:nvPr/>
        </p:nvCxnSpPr>
        <p:spPr>
          <a:xfrm>
            <a:off x="1505800" y="3330000"/>
            <a:ext cx="0" cy="32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4" name="P1bd"/>
          <p:cNvCxnSpPr/>
          <p:nvPr/>
        </p:nvCxnSpPr>
        <p:spPr>
          <a:xfrm>
            <a:off x="1825800" y="3115000"/>
            <a:ext cx="46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P2A"/>
          <p:cNvSpPr/>
          <p:nvPr/>
        </p:nvSpPr>
        <p:spPr>
          <a:xfrm>
            <a:off x="4265800" y="21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6" name="P2B"/>
          <p:cNvSpPr/>
          <p:nvPr/>
        </p:nvSpPr>
        <p:spPr>
          <a:xfrm>
            <a:off x="4265800" y="29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7" name="P2C"/>
          <p:cNvSpPr/>
          <p:nvPr/>
        </p:nvSpPr>
        <p:spPr>
          <a:xfrm>
            <a:off x="4265800" y="37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18" name="P2ab"/>
          <p:cNvCxnSpPr/>
          <p:nvPr/>
        </p:nvCxnSpPr>
        <p:spPr>
          <a:xfrm>
            <a:off x="4585800" y="2580000"/>
            <a:ext cx="0" cy="3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9" name="P2abL"/>
          <p:cNvSpPr txBox="1"/>
          <p:nvPr/>
        </p:nvSpPr>
        <p:spPr>
          <a:xfrm>
            <a:off x="4685800" y="262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20 ms</a:t>
            </a:r>
          </a:p>
        </p:txBody>
      </p:sp>
      <p:cxnSp>
        <p:nvCxnSpPr>
          <p:cNvPr id="120" name="P2bc"/>
          <p:cNvCxnSpPr/>
          <p:nvPr/>
        </p:nvCxnSpPr>
        <p:spPr>
          <a:xfrm>
            <a:off x="4585800" y="3380000"/>
            <a:ext cx="0" cy="370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1" name="P2bcL"/>
          <p:cNvSpPr txBox="1"/>
          <p:nvPr/>
        </p:nvSpPr>
        <p:spPr>
          <a:xfrm>
            <a:off x="4685800" y="342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1" i="1" dirty="0">
                <a:solidFill>
                  <a:srgbClr val="5C4826"/>
                </a:solidFill>
              </a:rPr>
              <a:t xml:space="preserve">80 ms</a:t>
            </a:r>
          </a:p>
        </p:txBody>
      </p:sp>
      <p:sp>
        <p:nvSpPr>
          <p:cNvPr id="122" name="P3R0"/>
          <p:cNvSpPr/>
          <p:nvPr/>
        </p:nvSpPr>
        <p:spPr>
          <a:xfrm>
            <a:off x="6145800" y="2150000"/>
            <a:ext cx="1080000" cy="195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ctr">
              <a:buNone/>
            </a:pPr>
            <a:r>
              <a:rPr lang="en-US" sz="950" b="1" i="0" dirty="0">
                <a:solidFill>
                  <a:srgbClr val="8E6F3E"/>
                </a:solidFill>
              </a:rPr>
              <a:t xml:space="preserve">REGION 1</a:t>
            </a:r>
          </a:p>
        </p:txBody>
      </p:sp>
      <p:sp>
        <p:nvSpPr>
          <p:cNvPr id="123" name="P3A"/>
          <p:cNvSpPr/>
          <p:nvPr/>
        </p:nvSpPr>
        <p:spPr>
          <a:xfrm>
            <a:off x="6365800" y="26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24" name="P3B"/>
          <p:cNvSpPr/>
          <p:nvPr/>
        </p:nvSpPr>
        <p:spPr>
          <a:xfrm>
            <a:off x="6365800" y="33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25" name="P3R1"/>
          <p:cNvSpPr/>
          <p:nvPr/>
        </p:nvSpPr>
        <p:spPr>
          <a:xfrm>
            <a:off x="7375800" y="2150000"/>
            <a:ext cx="1080000" cy="195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ctr">
              <a:buNone/>
            </a:pPr>
            <a:r>
              <a:rPr lang="en-US" sz="950" b="1" i="0" dirty="0">
                <a:solidFill>
                  <a:srgbClr val="8E6F3E"/>
                </a:solidFill>
              </a:rPr>
              <a:t xml:space="preserve">REGION 2</a:t>
            </a:r>
          </a:p>
        </p:txBody>
      </p:sp>
      <p:sp>
        <p:nvSpPr>
          <p:cNvPr id="126" name="P3C"/>
          <p:cNvSpPr/>
          <p:nvPr/>
        </p:nvSpPr>
        <p:spPr>
          <a:xfrm>
            <a:off x="7595800" y="26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27" name="P3D"/>
          <p:cNvSpPr/>
          <p:nvPr/>
        </p:nvSpPr>
        <p:spPr>
          <a:xfrm>
            <a:off x="7595800" y="33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Some claims require less betting than others.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900000"/>
            <a:ext cx="85852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more faithfully the model captures the property we care about, the less we have to bet.</a:t>
            </a:r>
          </a:p>
        </p:txBody>
      </p:sp>
      <p:cxnSp>
        <p:nvCxnSpPr>
          <p:cNvPr id="100" name="Axis"/>
          <p:cNvCxnSpPr/>
          <p:nvPr/>
        </p:nvCxnSpPr>
        <p:spPr>
          <a:xfrm>
            <a:off x="800000" y="2850000"/>
            <a:ext cx="7544000" cy="0"/>
          </a:xfrm>
          <a:prstGeom prst="line">
            <a:avLst/>
          </a:prstGeom>
          <a:ln w="28575">
            <a:solidFill>
              <a:srgbClr val="8E6F3E"/>
            </a:solidFill>
            <a:headEnd type="triangle" w="med" len="med"/>
            <a:tailEnd type="triangle" w="med" len="med"/>
          </a:ln>
        </p:spPr>
      </p:cxnSp>
      <p:sp>
        <p:nvSpPr>
          <p:cNvPr id="101" name="MoreLbl"/>
          <p:cNvSpPr txBox="1"/>
          <p:nvPr/>
        </p:nvSpPr>
        <p:spPr>
          <a:xfrm>
            <a:off x="700000" y="2480000"/>
            <a:ext cx="14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MORE BETTING</a:t>
            </a:r>
          </a:p>
        </p:txBody>
      </p:sp>
      <p:sp>
        <p:nvSpPr>
          <p:cNvPr id="102" name="LessLbl"/>
          <p:cNvSpPr txBox="1"/>
          <p:nvPr/>
        </p:nvSpPr>
        <p:spPr>
          <a:xfrm>
            <a:off x="7100000" y="2480000"/>
            <a:ext cx="1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LESS BETTING</a:t>
            </a:r>
          </a:p>
        </p:txBody>
      </p:sp>
      <p:sp>
        <p:nvSpPr>
          <p:cNvPr id="103" name="Stop0"/>
          <p:cNvSpPr/>
          <p:nvPr/>
        </p:nvSpPr>
        <p:spPr>
          <a:xfrm>
            <a:off x="18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4" name="StopLbl0"/>
          <p:cNvSpPr txBox="1"/>
          <p:nvPr/>
        </p:nvSpPr>
        <p:spPr>
          <a:xfrm>
            <a:off x="10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REASONED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EXPECTATION</a:t>
            </a:r>
          </a:p>
        </p:txBody>
      </p:sp>
      <p:sp>
        <p:nvSpPr>
          <p:cNvPr id="105" name="StopQ0"/>
          <p:cNvSpPr txBox="1"/>
          <p:nvPr/>
        </p:nvSpPr>
        <p:spPr>
          <a:xfrm>
            <a:off x="10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“should remain local”</a:t>
            </a:r>
          </a:p>
        </p:txBody>
      </p:sp>
      <p:sp>
        <p:nvSpPr>
          <p:cNvPr id="106" name="Stop1"/>
          <p:cNvSpPr/>
          <p:nvPr/>
        </p:nvSpPr>
        <p:spPr>
          <a:xfrm>
            <a:off x="35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7" name="StopLbl1"/>
          <p:cNvSpPr txBox="1"/>
          <p:nvPr/>
        </p:nvSpPr>
        <p:spPr>
          <a:xfrm>
            <a:off x="27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STRUCTURAL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ARGUMENT</a:t>
            </a:r>
          </a:p>
        </p:txBody>
      </p:sp>
      <p:sp>
        <p:nvSpPr>
          <p:cNvPr id="108" name="StopQ1"/>
          <p:cNvSpPr txBox="1"/>
          <p:nvPr/>
        </p:nvSpPr>
        <p:spPr>
          <a:xfrm>
            <a:off x="27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“no dependency crosses this boundary”</a:t>
            </a:r>
          </a:p>
        </p:txBody>
      </p:sp>
      <p:sp>
        <p:nvSpPr>
          <p:cNvPr id="109" name="Stop2"/>
          <p:cNvSpPr/>
          <p:nvPr/>
        </p:nvSpPr>
        <p:spPr>
          <a:xfrm>
            <a:off x="52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0" name="StopLbl2"/>
          <p:cNvSpPr txBox="1"/>
          <p:nvPr/>
        </p:nvSpPr>
        <p:spPr>
          <a:xfrm>
            <a:off x="44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QUANTITATIVE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PREDICTION</a:t>
            </a:r>
          </a:p>
        </p:txBody>
      </p:sp>
      <p:sp>
        <p:nvSpPr>
          <p:cNvPr id="111" name="StopQ2"/>
          <p:cNvSpPr txBox="1"/>
          <p:nvPr/>
        </p:nvSpPr>
        <p:spPr>
          <a:xfrm>
            <a:off x="44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“≈ 11.5 s”</a:t>
            </a:r>
          </a:p>
        </p:txBody>
      </p:sp>
      <p:sp>
        <p:nvSpPr>
          <p:cNvPr id="112" name="Stop3"/>
          <p:cNvSpPr/>
          <p:nvPr/>
        </p:nvSpPr>
        <p:spPr>
          <a:xfrm>
            <a:off x="69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StopLbl3"/>
          <p:cNvSpPr txBox="1"/>
          <p:nvPr/>
        </p:nvSpPr>
        <p:spPr>
          <a:xfrm>
            <a:off x="61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OBSERVED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EVIDENCE</a:t>
            </a:r>
          </a:p>
        </p:txBody>
      </p:sp>
      <p:sp>
        <p:nvSpPr>
          <p:cNvPr id="114" name="StopQ3"/>
          <p:cNvSpPr txBox="1"/>
          <p:nvPr/>
        </p:nvSpPr>
        <p:spPr>
          <a:xfrm>
            <a:off x="61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“11.8 s measured”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Can this change remain local?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What claim can the dependency model actually establish?</a:t>
            </a:r>
          </a:p>
        </p:txBody>
      </p:sp>
      <p:sp>
        <p:nvSpPr>
          <p:cNvPr id="100" name="BeforeLbl"/>
          <p:cNvSpPr txBox="1"/>
          <p:nvPr/>
        </p:nvSpPr>
        <p:spPr>
          <a:xfrm>
            <a:off x="685800" y="130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BEFORE</a:t>
            </a:r>
          </a:p>
        </p:txBody>
      </p:sp>
      <p:sp>
        <p:nvSpPr>
          <p:cNvPr id="101" name="BModel"/>
          <p:cNvSpPr/>
          <p:nvPr/>
        </p:nvSpPr>
        <p:spPr>
          <a:xfrm>
            <a:off x="800000" y="2500000"/>
            <a:ext cx="155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ILLNESS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2" name="BDelta"/>
          <p:cNvSpPr/>
          <p:nvPr/>
        </p:nvSpPr>
        <p:spPr>
          <a:xfrm>
            <a:off x="2160000" y="2360000"/>
            <a:ext cx="300000" cy="30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 xml:space="preserve">Δ</a:t>
            </a:r>
          </a:p>
        </p:txBody>
      </p:sp>
      <p:sp>
        <p:nvSpPr>
          <p:cNvPr id="103" name="BUI"/>
          <p:cNvSpPr/>
          <p:nvPr/>
        </p:nvSpPr>
        <p:spPr>
          <a:xfrm>
            <a:off x="3150000" y="165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cxnSp>
        <p:nvCxnSpPr>
          <p:cNvPr id="104" name="BA0"/>
          <p:cNvCxnSpPr/>
          <p:nvPr/>
        </p:nvCxnSpPr>
        <p:spPr>
          <a:xfrm flipV="1">
            <a:off x="2350000" y="1910000"/>
            <a:ext cx="800000" cy="94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5" name="BADVICE"/>
          <p:cNvSpPr/>
          <p:nvPr/>
        </p:nvSpPr>
        <p:spPr>
          <a:xfrm>
            <a:off x="3150000" y="26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ADVICE</a:t>
            </a:r>
          </a:p>
        </p:txBody>
      </p:sp>
      <p:cxnSp>
        <p:nvCxnSpPr>
          <p:cNvPr id="106" name="BA1"/>
          <p:cNvCxnSpPr/>
          <p:nvPr/>
        </p:nvCxnSpPr>
        <p:spPr>
          <a:xfrm>
            <a:off x="2350000" y="2850000"/>
            <a:ext cx="800000" cy="1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7" name="BSTORAGE"/>
          <p:cNvSpPr/>
          <p:nvPr/>
        </p:nvSpPr>
        <p:spPr>
          <a:xfrm>
            <a:off x="3150000" y="355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STORAGE</a:t>
            </a:r>
          </a:p>
        </p:txBody>
      </p:sp>
      <p:cxnSp>
        <p:nvCxnSpPr>
          <p:cNvPr id="108" name="BA2"/>
          <p:cNvCxnSpPr/>
          <p:nvPr/>
        </p:nvCxnSpPr>
        <p:spPr>
          <a:xfrm>
            <a:off x="2350000" y="2850000"/>
            <a:ext cx="800000" cy="96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9" name="BCap"/>
          <p:cNvSpPr txBox="1"/>
          <p:nvPr/>
        </p:nvSpPr>
        <p:spPr>
          <a:xfrm>
            <a:off x="750000" y="4200000"/>
            <a:ext cx="3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one expected change touches everything</a:t>
            </a:r>
          </a:p>
        </p:txBody>
      </p:sp>
      <p:cxnSp>
        <p:nvCxnSpPr>
          <p:cNvPr id="110" name="Div"/>
          <p:cNvCxnSpPr/>
          <p:nvPr/>
        </p:nvCxnSpPr>
        <p:spPr>
          <a:xfrm>
            <a:off x="46000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11" name="AfterLbl"/>
          <p:cNvSpPr txBox="1"/>
          <p:nvPr/>
        </p:nvSpPr>
        <p:spPr>
          <a:xfrm>
            <a:off x="4900000" y="130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AFTER</a:t>
            </a:r>
          </a:p>
        </p:txBody>
      </p:sp>
      <p:sp>
        <p:nvSpPr>
          <p:cNvPr id="112" name="AUI"/>
          <p:cNvSpPr/>
          <p:nvPr/>
        </p:nvSpPr>
        <p:spPr>
          <a:xfrm>
            <a:off x="4950000" y="18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13" name="AAdvice"/>
          <p:cNvSpPr/>
          <p:nvPr/>
        </p:nvSpPr>
        <p:spPr>
          <a:xfrm>
            <a:off x="4950000" y="28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ADVICE</a:t>
            </a:r>
          </a:p>
        </p:txBody>
      </p:sp>
      <p:sp>
        <p:nvSpPr>
          <p:cNvPr id="114" name="AIface"/>
          <p:cNvSpPr/>
          <p:nvPr/>
        </p:nvSpPr>
        <p:spPr>
          <a:xfrm>
            <a:off x="6650000" y="1700000"/>
            <a:ext cx="100000" cy="1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5" name="AIfaceLbl"/>
          <p:cNvSpPr txBox="1"/>
          <p:nvPr/>
        </p:nvSpPr>
        <p:spPr>
          <a:xfrm>
            <a:off x="5550000" y="138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8E6F3E"/>
                </a:solidFill>
              </a:rPr>
              <a:t xml:space="preserve">MODEL SERVICE INTERFACE</a:t>
            </a:r>
          </a:p>
        </p:txBody>
      </p:sp>
      <p:sp>
        <p:nvSpPr>
          <p:cNvPr id="116" name="AModel"/>
          <p:cNvSpPr/>
          <p:nvPr/>
        </p:nvSpPr>
        <p:spPr>
          <a:xfrm>
            <a:off x="6900000" y="2250000"/>
            <a:ext cx="1600000" cy="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ILLNESS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17" name="ADelta"/>
          <p:cNvSpPr/>
          <p:nvPr/>
        </p:nvSpPr>
        <p:spPr>
          <a:xfrm>
            <a:off x="8250000" y="2110000"/>
            <a:ext cx="300000" cy="30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 xml:space="preserve">Δ</a:t>
            </a:r>
          </a:p>
        </p:txBody>
      </p:sp>
      <p:cxnSp>
        <p:nvCxnSpPr>
          <p:cNvPr id="118" name="AA1"/>
          <p:cNvCxnSpPr/>
          <p:nvPr/>
        </p:nvCxnSpPr>
        <p:spPr>
          <a:xfrm>
            <a:off x="6100000" y="2060000"/>
            <a:ext cx="550000" cy="29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9" name="AA2"/>
          <p:cNvCxnSpPr/>
          <p:nvPr/>
        </p:nvCxnSpPr>
        <p:spPr>
          <a:xfrm flipV="1">
            <a:off x="6100000" y="2900000"/>
            <a:ext cx="550000" cy="16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20" name="ACap"/>
          <p:cNvSpPr txBox="1"/>
          <p:nvPr/>
        </p:nvSpPr>
        <p:spPr>
          <a:xfrm>
            <a:off x="4950000" y="4200000"/>
            <a:ext cx="38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1F7A4D"/>
                </a:solidFill>
              </a:rPr>
              <a:t xml:space="preserve">the change stays behind the seam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What sets the latency floor?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Could decomposition shorten the critical path?</a:t>
            </a:r>
          </a:p>
        </p:txBody>
      </p:sp>
      <p:sp>
        <p:nvSpPr>
          <p:cNvPr id="100" name="NA"/>
          <p:cNvSpPr/>
          <p:nvPr/>
        </p:nvSpPr>
        <p:spPr>
          <a:xfrm>
            <a:off x="800000" y="2000000"/>
            <a:ext cx="650000" cy="4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101" name="NB"/>
          <p:cNvSpPr/>
          <p:nvPr/>
        </p:nvSpPr>
        <p:spPr>
          <a:xfrm>
            <a:off x="2600000" y="1400000"/>
            <a:ext cx="950000" cy="5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102" name="NC"/>
          <p:cNvSpPr/>
          <p:nvPr/>
        </p:nvSpPr>
        <p:spPr>
          <a:xfrm>
            <a:off x="2850000" y="285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03" name="NE"/>
          <p:cNvSpPr/>
          <p:nvPr/>
        </p:nvSpPr>
        <p:spPr>
          <a:xfrm>
            <a:off x="4700000" y="285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E</a:t>
            </a:r>
          </a:p>
        </p:txBody>
      </p:sp>
      <p:sp>
        <p:nvSpPr>
          <p:cNvPr id="104" name="ND"/>
          <p:cNvSpPr/>
          <p:nvPr/>
        </p:nvSpPr>
        <p:spPr>
          <a:xfrm>
            <a:off x="4600000" y="120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sp>
        <p:nvSpPr>
          <p:cNvPr id="105" name="NF"/>
          <p:cNvSpPr/>
          <p:nvPr/>
        </p:nvSpPr>
        <p:spPr>
          <a:xfrm>
            <a:off x="6500000" y="1850000"/>
            <a:ext cx="650000" cy="4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 xml:space="preserve">F</a:t>
            </a:r>
          </a:p>
        </p:txBody>
      </p:sp>
      <p:cxnSp>
        <p:nvCxnSpPr>
          <p:cNvPr id="106" name="EAB"/>
          <p:cNvCxnSpPr/>
          <p:nvPr/>
        </p:nvCxnSpPr>
        <p:spPr>
          <a:xfrm flipV="1">
            <a:off x="1450000" y="1800000"/>
            <a:ext cx="1150000" cy="350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7" name="WAB"/>
          <p:cNvSpPr txBox="1"/>
          <p:nvPr/>
        </p:nvSpPr>
        <p:spPr>
          <a:xfrm>
            <a:off x="1750000" y="15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1" i="1" dirty="0">
                <a:solidFill>
                  <a:srgbClr val="5C4826"/>
                </a:solidFill>
              </a:rPr>
              <a:t xml:space="preserve">80 ms</a:t>
            </a:r>
          </a:p>
        </p:txBody>
      </p:sp>
      <p:cxnSp>
        <p:nvCxnSpPr>
          <p:cNvPr id="108" name="EBF"/>
          <p:cNvCxnSpPr/>
          <p:nvPr/>
        </p:nvCxnSpPr>
        <p:spPr>
          <a:xfrm>
            <a:off x="3550000" y="1675000"/>
            <a:ext cx="2950000" cy="325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9" name="WBF"/>
          <p:cNvSpPr txBox="1"/>
          <p:nvPr/>
        </p:nvSpPr>
        <p:spPr>
          <a:xfrm>
            <a:off x="5350000" y="198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1" i="1" dirty="0">
                <a:solidFill>
                  <a:srgbClr val="5C4826"/>
                </a:solidFill>
              </a:rPr>
              <a:t xml:space="preserve">40 ms</a:t>
            </a:r>
          </a:p>
        </p:txBody>
      </p:sp>
      <p:cxnSp>
        <p:nvCxnSpPr>
          <p:cNvPr id="110" name="EAC"/>
          <p:cNvCxnSpPr/>
          <p:nvPr/>
        </p:nvCxnSpPr>
        <p:spPr>
          <a:xfrm>
            <a:off x="1275000" y="2450000"/>
            <a:ext cx="1575000" cy="550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WAC"/>
          <p:cNvSpPr txBox="1"/>
          <p:nvPr/>
        </p:nvSpPr>
        <p:spPr>
          <a:xfrm>
            <a:off x="1650000" y="276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10 ms</a:t>
            </a:r>
          </a:p>
        </p:txBody>
      </p:sp>
      <p:cxnSp>
        <p:nvCxnSpPr>
          <p:cNvPr id="112" name="ECE"/>
          <p:cNvCxnSpPr/>
          <p:nvPr/>
        </p:nvCxnSpPr>
        <p:spPr>
          <a:xfrm>
            <a:off x="3500000" y="3075000"/>
            <a:ext cx="1200000" cy="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WCE"/>
          <p:cNvSpPr txBox="1"/>
          <p:nvPr/>
        </p:nvSpPr>
        <p:spPr>
          <a:xfrm>
            <a:off x="3800000" y="276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15 ms</a:t>
            </a:r>
          </a:p>
        </p:txBody>
      </p:sp>
      <p:cxnSp>
        <p:nvCxnSpPr>
          <p:cNvPr id="114" name="EDF"/>
          <p:cNvCxnSpPr/>
          <p:nvPr/>
        </p:nvCxnSpPr>
        <p:spPr>
          <a:xfrm>
            <a:off x="5250000" y="1425000"/>
            <a:ext cx="1400000" cy="425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5" name="WDF"/>
          <p:cNvSpPr txBox="1"/>
          <p:nvPr/>
        </p:nvSpPr>
        <p:spPr>
          <a:xfrm>
            <a:off x="5900000" y="118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20 ms</a:t>
            </a:r>
          </a:p>
        </p:txBody>
      </p:sp>
      <p:sp>
        <p:nvSpPr>
          <p:cNvPr id="116" name="CritLbl"/>
          <p:cNvSpPr txBox="1"/>
          <p:nvPr/>
        </p:nvSpPr>
        <p:spPr>
          <a:xfrm>
            <a:off x="7000000" y="2500000"/>
            <a:ext cx="20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critical path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A → B → F  ·  120 ms</a:t>
            </a:r>
          </a:p>
        </p:txBody>
      </p:sp>
      <p:cxnSp>
        <p:nvCxnSpPr>
          <p:cNvPr id="117" name="CandArw"/>
          <p:cNvCxnSpPr/>
          <p:nvPr/>
        </p:nvCxnSpPr>
        <p:spPr>
          <a:xfrm flipH="1">
            <a:off x="2550000" y="1950000"/>
            <a:ext cx="250000" cy="160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18" name="CandBox"/>
          <p:cNvSpPr/>
          <p:nvPr/>
        </p:nvSpPr>
        <p:spPr>
          <a:xfrm>
            <a:off x="2000000" y="3550000"/>
            <a:ext cx="2700000" cy="8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9" name="CandB1"/>
          <p:cNvSpPr/>
          <p:nvPr/>
        </p:nvSpPr>
        <p:spPr>
          <a:xfrm>
            <a:off x="22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B1</a:t>
            </a:r>
          </a:p>
        </p:txBody>
      </p:sp>
      <p:sp>
        <p:nvSpPr>
          <p:cNvPr id="120" name="CandB2"/>
          <p:cNvSpPr/>
          <p:nvPr/>
        </p:nvSpPr>
        <p:spPr>
          <a:xfrm>
            <a:off x="30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B2</a:t>
            </a:r>
          </a:p>
        </p:txBody>
      </p:sp>
      <p:sp>
        <p:nvSpPr>
          <p:cNvPr id="121" name="CandB3"/>
          <p:cNvSpPr/>
          <p:nvPr/>
        </p:nvSpPr>
        <p:spPr>
          <a:xfrm>
            <a:off x="38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B3</a:t>
            </a:r>
          </a:p>
        </p:txBody>
      </p:sp>
      <p:sp>
        <p:nvSpPr>
          <p:cNvPr id="122" name="CandLbl"/>
          <p:cNvSpPr txBox="1"/>
          <p:nvPr/>
        </p:nvSpPr>
        <p:spPr>
          <a:xfrm>
            <a:off x="4900000" y="3900000"/>
            <a:ext cx="2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8E6F3E"/>
                </a:solidFill>
              </a:rPr>
              <a:t xml:space="preserve">candidate: decompose 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 xml:space="preserve">Architect one system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5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Enough vocabulary. Make the decision.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Exercise: Here is the specification.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500000"/>
            <a:ext cx="8585200" cy="13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2100" b="1" i="0" dirty="0">
                <a:solidFill>
                  <a:srgbClr val="000000"/>
                </a:solidFill>
              </a:rPr>
              <a:t xml:space="preserve">Sketch the major parts, the boundaries, and the interactions.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 xml:space="preserve">Produce TWO plausible organizations — do not converge on one yet.</a:t>
            </a:r>
          </a:p>
        </p:txBody>
      </p:sp>
      <p:sp>
        <p:nvSpPr>
          <p:cNvPr id="100" name="SysBox"/>
          <p:cNvSpPr/>
          <p:nvPr/>
        </p:nvSpPr>
        <p:spPr>
          <a:xfrm>
            <a:off x="3600000" y="2350000"/>
            <a:ext cx="195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 xml:space="preserve">SYSTEM ?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900" b="0" i="1" dirty="0">
                <a:solidFill>
                  <a:srgbClr val="8E6F3E"/>
                </a:solidFill>
              </a:rPr>
              <a:t xml:space="preserve">YOUR ARCHITECTURE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900" b="0" i="1" dirty="0">
                <a:solidFill>
                  <a:srgbClr val="8E6F3E"/>
                </a:solidFill>
              </a:rPr>
              <a:t xml:space="preserve">GOES HERE</a:t>
            </a:r>
          </a:p>
        </p:txBody>
      </p:sp>
      <p:sp>
        <p:nvSpPr>
          <p:cNvPr id="101" name="Obl0"/>
          <p:cNvSpPr/>
          <p:nvPr/>
        </p:nvSpPr>
        <p:spPr>
          <a:xfrm>
            <a:off x="3775000" y="13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≤ 2 s latency</a:t>
            </a:r>
          </a:p>
        </p:txBody>
      </p:sp>
      <p:cxnSp>
        <p:nvCxnSpPr>
          <p:cNvPr id="102" name="OblA0"/>
          <p:cNvCxnSpPr/>
          <p:nvPr/>
        </p:nvCxnSpPr>
        <p:spPr>
          <a:xfrm>
            <a:off x="4575000" y="1800000"/>
            <a:ext cx="0" cy="56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3" name="Obl1"/>
          <p:cNvSpPr/>
          <p:nvPr/>
        </p:nvSpPr>
        <p:spPr>
          <a:xfrm>
            <a:off x="1000000" y="175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privacy</a:t>
            </a:r>
          </a:p>
        </p:txBody>
      </p:sp>
      <p:cxnSp>
        <p:nvCxnSpPr>
          <p:cNvPr id="104" name="OblA1"/>
          <p:cNvCxnSpPr/>
          <p:nvPr/>
        </p:nvCxnSpPr>
        <p:spPr>
          <a:xfrm>
            <a:off x="2600000" y="2000000"/>
            <a:ext cx="1086250" cy="45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5" name="Obl2"/>
          <p:cNvSpPr/>
          <p:nvPr/>
        </p:nvSpPr>
        <p:spPr>
          <a:xfrm>
            <a:off x="6750000" y="175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expected change</a:t>
            </a:r>
          </a:p>
        </p:txBody>
      </p:sp>
      <p:cxnSp>
        <p:nvCxnSpPr>
          <p:cNvPr id="106" name="OblA2"/>
          <p:cNvCxnSpPr/>
          <p:nvPr/>
        </p:nvCxnSpPr>
        <p:spPr>
          <a:xfrm flipH="1">
            <a:off x="5553750" y="2000000"/>
            <a:ext cx="1196250" cy="45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7" name="Obl3"/>
          <p:cNvSpPr/>
          <p:nvPr/>
        </p:nvSpPr>
        <p:spPr>
          <a:xfrm>
            <a:off x="1400000" y="35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cxnSp>
        <p:nvCxnSpPr>
          <p:cNvPr id="108" name="OblA3"/>
          <p:cNvCxnSpPr/>
          <p:nvPr/>
        </p:nvCxnSpPr>
        <p:spPr>
          <a:xfrm flipV="1">
            <a:off x="3000000" y="3241250"/>
            <a:ext cx="866250" cy="508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9" name="Obl4"/>
          <p:cNvSpPr/>
          <p:nvPr/>
        </p:nvSpPr>
        <p:spPr>
          <a:xfrm>
            <a:off x="6350000" y="35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consistency</a:t>
            </a:r>
          </a:p>
        </p:txBody>
      </p:sp>
      <p:cxnSp>
        <p:nvCxnSpPr>
          <p:cNvPr id="110" name="OblA4"/>
          <p:cNvCxnSpPr/>
          <p:nvPr/>
        </p:nvCxnSpPr>
        <p:spPr>
          <a:xfrm flipH="1" flipV="1">
            <a:off x="5373750" y="3241250"/>
            <a:ext cx="976250" cy="508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Defend the architectural decision.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3900000"/>
            <a:ext cx="8585200" cy="19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Which candidates violate specification?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Is anything Pareto-dominated?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genuine tradeoff remains?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architectural model would help distinguish the alternatives?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information would you buy before committing?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5950000"/>
            <a:ext cx="77724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There need not be one “correct” architecture.</a:t>
            </a:r>
          </a:p>
        </p:txBody>
      </p:sp>
      <p:sp>
        <p:nvSpPr>
          <p:cNvPr id="100" name="CandA"/>
          <p:cNvSpPr/>
          <p:nvPr/>
        </p:nvSpPr>
        <p:spPr>
          <a:xfrm>
            <a:off x="3184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1" name="CandB"/>
          <p:cNvSpPr/>
          <p:nvPr/>
        </p:nvSpPr>
        <p:spPr>
          <a:xfrm>
            <a:off x="4109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02" name="CandC"/>
          <p:cNvSpPr/>
          <p:nvPr/>
        </p:nvSpPr>
        <p:spPr>
          <a:xfrm>
            <a:off x="5034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3" name="FunA0"/>
          <p:cNvCxnSpPr/>
          <p:nvPr/>
        </p:nvCxnSpPr>
        <p:spPr>
          <a:xfrm>
            <a:off x="4459500" y="149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300" name="FunAa"/>
          <p:cNvCxnSpPr/>
          <p:nvPr/>
        </p:nvCxnSpPr>
        <p:spPr>
          <a:xfrm>
            <a:off x="3534500" y="149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301" name="FunAc"/>
          <p:cNvCxnSpPr/>
          <p:nvPr/>
        </p:nvCxnSpPr>
        <p:spPr>
          <a:xfrm>
            <a:off x="5384500" y="149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FunR0"/>
          <p:cNvSpPr/>
          <p:nvPr/>
        </p:nvSpPr>
        <p:spPr>
          <a:xfrm>
            <a:off x="1572000" y="1600000"/>
            <a:ext cx="60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SPECIFICATION — eliminate the invalid</a:t>
            </a:r>
          </a:p>
        </p:txBody>
      </p:sp>
      <p:cxnSp>
        <p:nvCxnSpPr>
          <p:cNvPr id="105" name="FunA1"/>
          <p:cNvCxnSpPr/>
          <p:nvPr/>
        </p:nvCxnSpPr>
        <p:spPr>
          <a:xfrm>
            <a:off x="4572000" y="193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FunR1"/>
          <p:cNvSpPr/>
          <p:nvPr/>
        </p:nvSpPr>
        <p:spPr>
          <a:xfrm>
            <a:off x="2172000" y="2040000"/>
            <a:ext cx="48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DOMINANCE — eliminate the clearly worse</a:t>
            </a:r>
          </a:p>
        </p:txBody>
      </p:sp>
      <p:cxnSp>
        <p:nvCxnSpPr>
          <p:cNvPr id="107" name="FunA2"/>
          <p:cNvCxnSpPr/>
          <p:nvPr/>
        </p:nvCxnSpPr>
        <p:spPr>
          <a:xfrm>
            <a:off x="4572000" y="237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FunR2"/>
          <p:cNvSpPr/>
          <p:nvPr/>
        </p:nvSpPr>
        <p:spPr>
          <a:xfrm>
            <a:off x="2722000" y="2480000"/>
            <a:ext cx="3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WHAT DON’T WE KNOW?</a:t>
            </a:r>
          </a:p>
        </p:txBody>
      </p:sp>
      <p:cxnSp>
        <p:nvCxnSpPr>
          <p:cNvPr id="109" name="FunA3"/>
          <p:cNvCxnSpPr/>
          <p:nvPr/>
        </p:nvCxnSpPr>
        <p:spPr>
          <a:xfrm>
            <a:off x="4572000" y="281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0" name="FunR3"/>
          <p:cNvSpPr/>
          <p:nvPr/>
        </p:nvSpPr>
        <p:spPr>
          <a:xfrm>
            <a:off x="3122000" y="2920000"/>
            <a:ext cx="29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BUY INFORMATION?</a:t>
            </a:r>
          </a:p>
        </p:txBody>
      </p:sp>
      <p:cxnSp>
        <p:nvCxnSpPr>
          <p:cNvPr id="111" name="FunA4"/>
          <p:cNvCxnSpPr/>
          <p:nvPr/>
        </p:nvCxnSpPr>
        <p:spPr>
          <a:xfrm>
            <a:off x="4572000" y="325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FunR4"/>
          <p:cNvSpPr/>
          <p:nvPr/>
        </p:nvSpPr>
        <p:spPr>
          <a:xfrm>
            <a:off x="3572000" y="3360000"/>
            <a:ext cx="2000000" cy="33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DECIDE</a:t>
            </a:r>
          </a:p>
        </p:txBody>
      </p:sp>
      <p:sp>
        <p:nvSpPr>
          <p:cNvPr id="113" name="TradeLbl"/>
          <p:cNvSpPr txBox="1"/>
          <p:nvPr/>
        </p:nvSpPr>
        <p:spPr>
          <a:xfrm>
            <a:off x="7100000" y="2510000"/>
            <a:ext cx="1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a genuine tradeoff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remains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What happens when architectural evidence gets cheap?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3650000"/>
            <a:ext cx="77724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100" b="0" i="1" dirty="0">
                <a:solidFill>
                  <a:srgbClr val="000000"/>
                </a:solidFill>
              </a:rPr>
              <a:t xml:space="preserve">GenAI doesn’t remove architectural tradeoffs. It can make evidence about those tradeoffs cheaper.</a:t>
            </a:r>
          </a:p>
        </p:txBody>
      </p:sp>
      <p:sp>
        <p:nvSpPr>
          <p:cNvPr id="6" name="MAGE Moment badge"/>
          <p:cNvSpPr txBox="1"/>
          <p:nvPr/>
        </p:nvSpPr>
        <p:spPr>
          <a:xfrm>
            <a:off x="2691524" y="4428182"/>
            <a:ext cx="5080000" cy="7874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l">
              <a:buNone/>
            </a:pPr>
            <a:r>
              <a:rPr lang="en-US" sz="4800" dirty="0"/>
              <a:t>🧙</a:t>
            </a:r>
            <a:r>
              <a:rPr lang="en-US" sz="2400" i="1" dirty="0"/>
              <a:t xml:space="preserve">  MAGE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49" y="5215582"/>
            <a:ext cx="8341929" cy="123099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en-US" sz="2200" b="1" dirty="0">
                <a:solidFill>
                  <a:srgbClr val="5C4826"/>
                </a:solidFill>
              </a:rPr>
              <a:t>DON’T ASK THE AGENT TO CHOOSE YOUR ARCHITECTURE.</a:t>
            </a:r>
          </a:p>
          <a:p>
            <a:pPr algn="ctr">
              <a:buNone/>
            </a:pPr>
            <a:r>
              <a:rPr lang="en-US" sz="2200" b="1" dirty="0">
                <a:solidFill>
                  <a:srgbClr val="5C4826"/>
                </a:solidFill>
              </a:rPr>
              <a:t>USE IT TO REDUCE HOW MUCH OF</a:t>
            </a:r>
            <a:br>
              <a:rPr lang="en-US" sz="2200"/>
            </a:br>
            <a:r>
              <a:rPr lang="en-US" sz="2200" b="1" dirty="0">
                <a:solidFill>
                  <a:srgbClr val="5C4826"/>
                </a:solidFill>
              </a:rPr>
              <a:t>YOUR ARCHITECTURE REMAINS A BET.</a:t>
            </a:r>
          </a:p>
        </p:txBody>
      </p:sp>
      <p:sp>
        <p:nvSpPr>
          <p:cNvPr id="100" name="ArchUnc"/>
          <p:cNvSpPr/>
          <p:nvPr/>
        </p:nvSpPr>
        <p:spPr>
          <a:xfrm>
            <a:off x="400000" y="1750000"/>
            <a:ext cx="160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ARCHITECTURAL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UNCERTAINTY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000000" y="2100000"/>
            <a:ext cx="32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BuyInfo"/>
          <p:cNvSpPr/>
          <p:nvPr/>
        </p:nvSpPr>
        <p:spPr>
          <a:xfrm>
            <a:off x="2320000" y="1800000"/>
            <a:ext cx="15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BUY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INFORMATION</a:t>
            </a:r>
          </a:p>
        </p:txBody>
      </p:sp>
      <p:sp>
        <p:nvSpPr>
          <p:cNvPr id="103" name="Kid0"/>
          <p:cNvSpPr/>
          <p:nvPr/>
        </p:nvSpPr>
        <p:spPr>
          <a:xfrm>
            <a:off x="4400000" y="130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04" name="KA0"/>
          <p:cNvCxnSpPr/>
          <p:nvPr/>
        </p:nvCxnSpPr>
        <p:spPr>
          <a:xfrm flipV="1">
            <a:off x="3820000" y="1530000"/>
            <a:ext cx="580000" cy="5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Kid1"/>
          <p:cNvSpPr/>
          <p:nvPr/>
        </p:nvSpPr>
        <p:spPr>
          <a:xfrm>
            <a:off x="4400000" y="188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PROTOTYPE</a:t>
            </a:r>
          </a:p>
        </p:txBody>
      </p:sp>
      <p:cxnSp>
        <p:nvCxnSpPr>
          <p:cNvPr id="106" name="KA1"/>
          <p:cNvCxnSpPr/>
          <p:nvPr/>
        </p:nvCxnSpPr>
        <p:spPr>
          <a:xfrm>
            <a:off x="3820000" y="2100000"/>
            <a:ext cx="580000" cy="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Kid2"/>
          <p:cNvSpPr/>
          <p:nvPr/>
        </p:nvSpPr>
        <p:spPr>
          <a:xfrm>
            <a:off x="4400000" y="246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EXPERIMENT</a:t>
            </a:r>
          </a:p>
        </p:txBody>
      </p:sp>
      <p:cxnSp>
        <p:nvCxnSpPr>
          <p:cNvPr id="108" name="KA2"/>
          <p:cNvCxnSpPr/>
          <p:nvPr/>
        </p:nvCxnSpPr>
        <p:spPr>
          <a:xfrm>
            <a:off x="3820000" y="2100000"/>
            <a:ext cx="580000" cy="59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ostBox"/>
          <p:cNvSpPr/>
          <p:nvPr/>
        </p:nvSpPr>
        <p:spPr>
          <a:xfrm>
            <a:off x="6450000" y="1830000"/>
            <a:ext cx="1250000" cy="6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B23B3B"/>
                </a:solidFill>
              </a:rPr>
              <a:t xml:space="preserve">$$$ · TIME</a:t>
            </a:r>
          </a:p>
        </p:txBody>
      </p:sp>
      <p:cxnSp>
        <p:nvCxnSpPr>
          <p:cNvPr id="110" name="CA0"/>
          <p:cNvCxnSpPr/>
          <p:nvPr/>
        </p:nvCxnSpPr>
        <p:spPr>
          <a:xfrm>
            <a:off x="5750000" y="1530000"/>
            <a:ext cx="700000" cy="6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CA1"/>
          <p:cNvCxnSpPr/>
          <p:nvPr/>
        </p:nvCxnSpPr>
        <p:spPr>
          <a:xfrm>
            <a:off x="5750000" y="2110000"/>
            <a:ext cx="700000" cy="3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CA2"/>
          <p:cNvCxnSpPr/>
          <p:nvPr/>
        </p:nvCxnSpPr>
        <p:spPr>
          <a:xfrm flipV="1">
            <a:off x="5750000" y="2140000"/>
            <a:ext cx="700000" cy="5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CostCap"/>
          <p:cNvSpPr txBox="1"/>
          <p:nvPr/>
        </p:nvSpPr>
        <p:spPr>
          <a:xfrm>
            <a:off x="6100000" y="2550000"/>
            <a:ext cx="24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historically limits how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often we can do this</a:t>
            </a:r>
          </a:p>
        </p:txBody>
      </p:sp>
      <p:sp>
        <p:nvSpPr>
          <p:cNvPr id="150" name="GenAI"/>
          <p:cNvSpPr/>
          <p:nvPr/>
        </p:nvSpPr>
        <p:spPr>
          <a:xfrm>
            <a:off x="400000" y="3000000"/>
            <a:ext cx="11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 xml:space="preserve">GenAI</a:t>
            </a:r>
          </a:p>
        </p:txBody>
      </p:sp>
      <p:cxnSp>
        <p:nvCxnSpPr>
          <p:cNvPr id="151" name="G1"/>
          <p:cNvCxnSpPr/>
          <p:nvPr/>
        </p:nvCxnSpPr>
        <p:spPr>
          <a:xfrm>
            <a:off x="1500000" y="3240000"/>
            <a:ext cx="3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52" name="CostDown"/>
          <p:cNvSpPr/>
          <p:nvPr/>
        </p:nvSpPr>
        <p:spPr>
          <a:xfrm>
            <a:off x="1850000" y="3000000"/>
            <a:ext cx="2100000" cy="4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COST OF EVIDENCE ↓</a:t>
            </a:r>
          </a:p>
        </p:txBody>
      </p:sp>
      <p:cxnSp>
        <p:nvCxnSpPr>
          <p:cNvPr id="153" name="G2"/>
          <p:cNvCxnSpPr/>
          <p:nvPr/>
        </p:nvCxnSpPr>
        <p:spPr>
          <a:xfrm>
            <a:off x="3950000" y="3240000"/>
            <a:ext cx="3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54" name="MoreQ"/>
          <p:cNvSpPr/>
          <p:nvPr/>
        </p:nvSpPr>
        <p:spPr>
          <a:xfrm>
            <a:off x="4300000" y="3000000"/>
            <a:ext cx="43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MORE QUESTIONS BECOME WORTH INVESTIGATING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A07E37-5A58-8F72-4386-C963BB75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Specification → Architecture →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15202-6E93-5123-3161-3510B7FB3A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6FC471C8-BA11-64E0-E312-9EF0CB33BB27}"/>
              </a:ext>
            </a:extLst>
          </p:cNvPr>
          <p:cNvSpPr/>
          <p:nvPr/>
        </p:nvSpPr>
        <p:spPr>
          <a:xfrm>
            <a:off x="6480000" y="3910000"/>
            <a:ext cx="380000" cy="2430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D68F9-9FC5-8DCB-B698-72DAEEC94731}"/>
              </a:ext>
            </a:extLst>
          </p:cNvPr>
          <p:cNvSpPr txBox="1"/>
          <p:nvPr/>
        </p:nvSpPr>
        <p:spPr>
          <a:xfrm>
            <a:off x="6960000" y="3900000"/>
            <a:ext cx="2050000" cy="24500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8E6F3E"/>
                </a:solidFill>
              </a:rPr>
              <a:t>Specification</a:t>
            </a:r>
            <a:r>
              <a:rPr lang="en-US" sz="1400" dirty="0">
                <a:solidFill>
                  <a:srgbClr val="000000"/>
                </a:solidFill>
              </a:rPr>
              <a:t xml:space="preserve">  constrain what an acceptable system may do.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8E6F3E"/>
                </a:solidFill>
              </a:rPr>
              <a:t>Architecture</a:t>
            </a:r>
            <a:r>
              <a:rPr lang="en-US" sz="1400" dirty="0">
                <a:solidFill>
                  <a:srgbClr val="000000"/>
                </a:solidFill>
              </a:rPr>
              <a:t xml:space="preserve">  choose how the acceptable system is organized and how its parts may interact.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8E6F3E"/>
                </a:solidFill>
              </a:rPr>
              <a:t>Design</a:t>
            </a:r>
            <a:r>
              <a:rPr lang="en-US" sz="1400" dirty="0">
                <a:solidFill>
                  <a:srgbClr val="000000"/>
                </a:solidFill>
              </a:rPr>
              <a:t xml:space="preserve">  choose how each part realizes its responsibility.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279400" y="6400800"/>
            <a:ext cx="858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Next time: given one of these parts, how should we engineer it well?</a:t>
            </a:r>
          </a:p>
        </p:txBody>
      </p:sp>
      <p:sp>
        <p:nvSpPr>
          <p:cNvPr id="100" name="Req"/>
          <p:cNvSpPr/>
          <p:nvPr/>
        </p:nvSpPr>
        <p:spPr>
          <a:xfrm>
            <a:off x="2750000" y="134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REQUIREMENTS</a:t>
            </a:r>
          </a:p>
        </p:txBody>
      </p:sp>
      <p:cxnSp>
        <p:nvCxnSpPr>
          <p:cNvPr id="101" name="Arr1"/>
          <p:cNvCxnSpPr/>
          <p:nvPr/>
        </p:nvCxnSpPr>
        <p:spPr>
          <a:xfrm>
            <a:off x="3900000" y="186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Spec"/>
          <p:cNvSpPr/>
          <p:nvPr/>
        </p:nvSpPr>
        <p:spPr>
          <a:xfrm>
            <a:off x="2750000" y="2040000"/>
            <a:ext cx="23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SPECIFICATION</a:t>
            </a:r>
          </a:p>
        </p:txBody>
      </p:sp>
      <p:cxnSp>
        <p:nvCxnSpPr>
          <p:cNvPr id="103" name="Arr2"/>
          <p:cNvCxnSpPr/>
          <p:nvPr/>
        </p:nvCxnSpPr>
        <p:spPr>
          <a:xfrm>
            <a:off x="3900000" y="260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Cont1"/>
          <p:cNvSpPr/>
          <p:nvPr/>
        </p:nvSpPr>
        <p:spPr>
          <a:xfrm>
            <a:off x="1450000" y="2780000"/>
            <a:ext cx="490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l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ACCEPTABLE REALIZATIONS</a:t>
            </a:r>
          </a:p>
        </p:txBody>
      </p:sp>
      <p:sp>
        <p:nvSpPr>
          <p:cNvPr id="105" name="RealA"/>
          <p:cNvSpPr/>
          <p:nvPr/>
        </p:nvSpPr>
        <p:spPr>
          <a:xfrm>
            <a:off x="17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6" name="RealB"/>
          <p:cNvSpPr/>
          <p:nvPr/>
        </p:nvSpPr>
        <p:spPr>
          <a:xfrm>
            <a:off x="33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07" name="RealC"/>
          <p:cNvSpPr/>
          <p:nvPr/>
        </p:nvSpPr>
        <p:spPr>
          <a:xfrm>
            <a:off x="49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8" name="Arr3"/>
          <p:cNvCxnSpPr/>
          <p:nvPr/>
        </p:nvCxnSpPr>
        <p:spPr>
          <a:xfrm>
            <a:off x="3900000" y="373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hooseLbl"/>
          <p:cNvSpPr txBox="1"/>
          <p:nvPr/>
        </p:nvSpPr>
        <p:spPr>
          <a:xfrm>
            <a:off x="4080000" y="3720000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choose one</a:t>
            </a:r>
          </a:p>
        </p:txBody>
      </p:sp>
      <p:sp>
        <p:nvSpPr>
          <p:cNvPr id="110" name="Arch"/>
          <p:cNvSpPr/>
          <p:nvPr/>
        </p:nvSpPr>
        <p:spPr>
          <a:xfrm>
            <a:off x="2750000" y="3910000"/>
            <a:ext cx="2300000" cy="5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ARCHITECTURE</a:t>
            </a:r>
          </a:p>
        </p:txBody>
      </p:sp>
      <p:cxnSp>
        <p:nvCxnSpPr>
          <p:cNvPr id="111" name="Arr4"/>
          <p:cNvCxnSpPr/>
          <p:nvPr/>
        </p:nvCxnSpPr>
        <p:spPr>
          <a:xfrm>
            <a:off x="3900000" y="447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Cont2"/>
          <p:cNvSpPr/>
          <p:nvPr/>
        </p:nvSpPr>
        <p:spPr>
          <a:xfrm>
            <a:off x="1450000" y="4650000"/>
            <a:ext cx="490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l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PARTS OF THE CHOSEN SYSTEM</a:t>
            </a:r>
          </a:p>
        </p:txBody>
      </p:sp>
      <p:sp>
        <p:nvSpPr>
          <p:cNvPr id="113" name="Part0"/>
          <p:cNvSpPr/>
          <p:nvPr/>
        </p:nvSpPr>
        <p:spPr>
          <a:xfrm>
            <a:off x="166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A</a:t>
            </a:r>
          </a:p>
        </p:txBody>
      </p:sp>
      <p:sp>
        <p:nvSpPr>
          <p:cNvPr id="114" name="Part1"/>
          <p:cNvSpPr/>
          <p:nvPr/>
        </p:nvSpPr>
        <p:spPr>
          <a:xfrm>
            <a:off x="284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B</a:t>
            </a:r>
          </a:p>
        </p:txBody>
      </p:sp>
      <p:sp>
        <p:nvSpPr>
          <p:cNvPr id="115" name="Part2"/>
          <p:cNvSpPr/>
          <p:nvPr/>
        </p:nvSpPr>
        <p:spPr>
          <a:xfrm>
            <a:off x="402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C</a:t>
            </a:r>
          </a:p>
        </p:txBody>
      </p:sp>
      <p:sp>
        <p:nvSpPr>
          <p:cNvPr id="116" name="Part3"/>
          <p:cNvSpPr/>
          <p:nvPr/>
        </p:nvSpPr>
        <p:spPr>
          <a:xfrm>
            <a:off x="520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D</a:t>
            </a:r>
          </a:p>
        </p:txBody>
      </p:sp>
      <p:cxnSp>
        <p:nvCxnSpPr>
          <p:cNvPr id="117" name="Arr5"/>
          <p:cNvCxnSpPr/>
          <p:nvPr/>
        </p:nvCxnSpPr>
        <p:spPr>
          <a:xfrm>
            <a:off x="3900000" y="560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8" name="Design"/>
          <p:cNvSpPr/>
          <p:nvPr/>
        </p:nvSpPr>
        <p:spPr>
          <a:xfrm>
            <a:off x="2750000" y="5780000"/>
            <a:ext cx="23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DESIGN</a:t>
            </a:r>
          </a:p>
        </p:txBody>
      </p:sp>
    </p:spTree>
    <p:extLst>
      <p:ext uri="{BB962C8B-B14F-4D97-AF65-F5344CB8AC3E}">
        <p14:creationId xmlns:p14="http://schemas.microsoft.com/office/powerpoint/2010/main" val="255497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3E2FCF-E673-9928-E320-9D7777FE9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75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specification tells us what must be true—but deliberately leaves organization open.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5202C-4A61-F639-A638-0A90AFE88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0" name="S60"/>
          <p:cNvSpPr/>
          <p:nvPr/>
        </p:nvSpPr>
        <p:spPr>
          <a:xfrm>
            <a:off x="3429000" y="914400"/>
            <a:ext cx="2286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REQUIREMENTS</a:t>
            </a:r>
          </a:p>
        </p:txBody>
      </p:sp>
      <p:cxnSp>
        <p:nvCxnSpPr>
          <p:cNvPr id="61" name="L61"/>
          <p:cNvCxnSpPr/>
          <p:nvPr/>
        </p:nvCxnSpPr>
        <p:spPr>
          <a:xfrm>
            <a:off x="4572000" y="1473200"/>
            <a:ext cx="0" cy="2032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2" name="S62"/>
          <p:cNvSpPr/>
          <p:nvPr/>
        </p:nvSpPr>
        <p:spPr>
          <a:xfrm>
            <a:off x="2540000" y="1676400"/>
            <a:ext cx="4064000" cy="11176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 fontScale="92500" lnSpcReduction="10000"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FFFFFF"/>
                </a:solidFill>
              </a:rPr>
              <a:t>SPECIFICATION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200" b="0" i="0" dirty="0">
                <a:solidFill>
                  <a:srgbClr val="FFFFFF"/>
                </a:solidFill>
              </a:rPr>
              <a:t>consequential obligations</a:t>
            </a:r>
            <a:br>
              <a:rPr lang="en-US" sz="2200" b="0" i="0" dirty="0">
                <a:solidFill>
                  <a:srgbClr val="FFFFFF"/>
                </a:solidFill>
              </a:rPr>
            </a:br>
            <a:r>
              <a:rPr lang="en-US" sz="2200" b="0" i="0" dirty="0">
                <a:solidFill>
                  <a:srgbClr val="FFFFFF"/>
                </a:solidFill>
              </a:rPr>
              <a:t>made explicit</a:t>
            </a:r>
          </a:p>
        </p:txBody>
      </p:sp>
      <p:cxnSp>
        <p:nvCxnSpPr>
          <p:cNvPr id="63" name="L63"/>
          <p:cNvCxnSpPr/>
          <p:nvPr/>
        </p:nvCxnSpPr>
        <p:spPr>
          <a:xfrm>
            <a:off x="3200400" y="2794000"/>
            <a:ext cx="0" cy="479552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64" name="L64"/>
          <p:cNvCxnSpPr/>
          <p:nvPr/>
        </p:nvCxnSpPr>
        <p:spPr>
          <a:xfrm>
            <a:off x="5943600" y="2794000"/>
            <a:ext cx="0" cy="479552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5" name="S65"/>
          <p:cNvSpPr/>
          <p:nvPr/>
        </p:nvSpPr>
        <p:spPr>
          <a:xfrm>
            <a:off x="698500" y="3276600"/>
            <a:ext cx="3175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OBLIGATIONS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>what we constrain</a:t>
            </a:r>
          </a:p>
        </p:txBody>
      </p:sp>
      <p:sp>
        <p:nvSpPr>
          <p:cNvPr id="66" name="S66"/>
          <p:cNvSpPr/>
          <p:nvPr/>
        </p:nvSpPr>
        <p:spPr>
          <a:xfrm>
            <a:off x="5270500" y="3276600"/>
            <a:ext cx="3175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DEGREES OF FREEDOM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>what we leave open</a:t>
            </a:r>
          </a:p>
        </p:txBody>
      </p:sp>
      <p:cxnSp>
        <p:nvCxnSpPr>
          <p:cNvPr id="67" name="L67"/>
          <p:cNvCxnSpPr/>
          <p:nvPr/>
        </p:nvCxnSpPr>
        <p:spPr>
          <a:xfrm>
            <a:off x="3017520" y="4191000"/>
            <a:ext cx="0" cy="24384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68" name="L68"/>
          <p:cNvCxnSpPr/>
          <p:nvPr/>
        </p:nvCxnSpPr>
        <p:spPr>
          <a:xfrm>
            <a:off x="6126480" y="4191000"/>
            <a:ext cx="0" cy="24384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9" name="S69"/>
          <p:cNvSpPr/>
          <p:nvPr/>
        </p:nvSpPr>
        <p:spPr>
          <a:xfrm>
            <a:off x="2159000" y="4434840"/>
            <a:ext cx="4826000" cy="1197864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t">
            <a:normAutofit/>
          </a:bodyPr>
          <a:lstStyle/>
          <a:p>
            <a:endParaRPr/>
          </a:p>
        </p:txBody>
      </p:sp>
      <p:sp>
        <p:nvSpPr>
          <p:cNvPr id="70" name="T70"/>
          <p:cNvSpPr txBox="1"/>
          <p:nvPr/>
        </p:nvSpPr>
        <p:spPr>
          <a:xfrm>
            <a:off x="2311400" y="4485132"/>
            <a:ext cx="4521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2100" b="1" i="0" dirty="0">
                <a:solidFill>
                  <a:srgbClr val="8E6F3E"/>
                </a:solidFill>
              </a:rPr>
              <a:t>ACCEPTABLE REALIZATIONS</a:t>
            </a:r>
          </a:p>
        </p:txBody>
      </p:sp>
      <p:sp>
        <p:nvSpPr>
          <p:cNvPr id="71" name="S71"/>
          <p:cNvSpPr/>
          <p:nvPr/>
        </p:nvSpPr>
        <p:spPr>
          <a:xfrm>
            <a:off x="24765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A   ✓</a:t>
            </a:r>
          </a:p>
        </p:txBody>
      </p:sp>
      <p:sp>
        <p:nvSpPr>
          <p:cNvPr id="72" name="S72"/>
          <p:cNvSpPr/>
          <p:nvPr/>
        </p:nvSpPr>
        <p:spPr>
          <a:xfrm>
            <a:off x="39370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B   ✓</a:t>
            </a:r>
          </a:p>
        </p:txBody>
      </p:sp>
      <p:sp>
        <p:nvSpPr>
          <p:cNvPr id="73" name="S73"/>
          <p:cNvSpPr/>
          <p:nvPr/>
        </p:nvSpPr>
        <p:spPr>
          <a:xfrm>
            <a:off x="53975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C   ✓</a:t>
            </a:r>
          </a:p>
        </p:txBody>
      </p:sp>
      <p:sp>
        <p:nvSpPr>
          <p:cNvPr id="80" name="S80"/>
          <p:cNvSpPr/>
          <p:nvPr/>
        </p:nvSpPr>
        <p:spPr>
          <a:xfrm>
            <a:off x="7569200" y="4953000"/>
            <a:ext cx="1143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555960"/>
            </a:solidFill>
            <a:prstDash val="dash"/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55960"/>
                </a:solidFill>
              </a:rPr>
              <a:t>D   ✗</a:t>
            </a:r>
          </a:p>
        </p:txBody>
      </p:sp>
      <p:sp>
        <p:nvSpPr>
          <p:cNvPr id="81" name="T81"/>
          <p:cNvSpPr txBox="1"/>
          <p:nvPr/>
        </p:nvSpPr>
        <p:spPr>
          <a:xfrm>
            <a:off x="7188200" y="55118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not acceptable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279400" y="5892800"/>
            <a:ext cx="8559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We pick one. But how should this realization be organized?</a:t>
            </a:r>
          </a:p>
        </p:txBody>
      </p:sp>
      <p:sp>
        <p:nvSpPr>
          <p:cNvPr id="100" name="SelectionRing"/>
          <p:cNvSpPr/>
          <p:nvPr/>
        </p:nvSpPr>
        <p:spPr>
          <a:xfrm>
            <a:off x="3835400" y="4851400"/>
            <a:ext cx="1473200" cy="762000"/>
          </a:xfrm>
          <a:prstGeom prst="roundRect">
            <a:avLst/>
          </a:prstGeom>
          <a:noFill/>
          <a:ln w="38100">
            <a:solidFill>
              <a:srgbClr val="5C4826"/>
            </a:solidFill>
          </a:ln>
        </p:spPr>
        <p:txBody>
          <a:bodyPr wrap="square" lIns="0" tIns="0" rIns="0" bIns="0" anchor="ctr">
            <a:norm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74577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8515</TotalTime>
  <Words>8606</Words>
  <Application>Microsoft Macintosh PowerPoint</Application>
  <PresentationFormat>On-screen Show (4:3)</PresentationFormat>
  <Paragraphs>726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Times</vt:lpstr>
      <vt:lpstr>Arial</vt:lpstr>
      <vt:lpstr>Calibri</vt:lpstr>
      <vt:lpstr>Consolas</vt:lpstr>
      <vt:lpstr>Times New Roman</vt:lpstr>
      <vt:lpstr>Wingdings</vt:lpstr>
      <vt:lpstr>Purdue1</vt:lpstr>
      <vt:lpstr>ECE 30861/46100: Software Engineering</vt:lpstr>
      <vt:lpstr>From requirements to acceptable realizations</vt:lpstr>
      <vt:lpstr>Specification</vt:lpstr>
      <vt:lpstr>Running example: Sleep Advisor</vt:lpstr>
      <vt:lpstr>We have requirements. Now what?</vt:lpstr>
      <vt:lpstr>Requirements ≠ Specification ≠ Machine instr.</vt:lpstr>
      <vt:lpstr>A specification connects the machine to the requirement</vt:lpstr>
      <vt:lpstr>How would you constrain the machine (implementation)?</vt:lpstr>
      <vt:lpstr>A real software specification</vt:lpstr>
      <vt:lpstr>A real software specification: the A-7E aircraft</vt:lpstr>
      <vt:lpstr>Specifies behavior, not the implementation</vt:lpstr>
      <vt:lpstr>Timing requirements: Responsiveness of functions</vt:lpstr>
      <vt:lpstr>The system must work in useful subsets</vt:lpstr>
      <vt:lpstr>The specification acknowledges what may change</vt:lpstr>
      <vt:lpstr>One system, many views</vt:lpstr>
      <vt:lpstr>A model is a purposeful view</vt:lpstr>
      <vt:lpstr>Representations make different properties expressible</vt:lpstr>
      <vt:lpstr>State models expose allowable behavior</vt:lpstr>
      <vt:lpstr>Sequence and activity models expose ordering</vt:lpstr>
      <vt:lpstr>Schemas expose permitted structure</vt:lpstr>
      <vt:lpstr>Three views of one system</vt:lpstr>
      <vt:lpstr>Specification and degrees of freedom</vt:lpstr>
      <vt:lpstr>Specification bounds a realization space</vt:lpstr>
      <vt:lpstr>Not constrained is not the same as free</vt:lpstr>
      <vt:lpstr>Classify each: Unknown, tacit, or free?</vt:lpstr>
      <vt:lpstr>Tacit requirements and agents (or the intern)</vt:lpstr>
      <vt:lpstr>Learning specifications</vt:lpstr>
      <vt:lpstr>Remember, software is unusually changeable</vt:lpstr>
      <vt:lpstr>Specification through iteration</vt:lpstr>
      <vt:lpstr>Specify what matters</vt:lpstr>
      <vt:lpstr>Requirements, specification, architecture, design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Steve France</cp:lastModifiedBy>
  <cp:revision>333</cp:revision>
  <dcterms:created xsi:type="dcterms:W3CDTF">2020-02-21T23:00:33Z</dcterms:created>
  <dcterms:modified xsi:type="dcterms:W3CDTF">2026-09-10T14:18:17Z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