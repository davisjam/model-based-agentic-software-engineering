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517" r:id="rId2"/>
    <p:sldId id="738" r:id="rId3"/>
    <p:sldId id="762" r:id="rId4"/>
    <p:sldId id="761" r:id="rId5"/>
    <p:sldId id="751" r:id="rId6"/>
    <p:sldId id="744" r:id="rId7"/>
    <p:sldId id="763" r:id="rId8"/>
    <p:sldId id="764" r:id="rId9"/>
    <p:sldId id="651" r:id="rId10"/>
    <p:sldId id="746" r:id="rId11"/>
    <p:sldId id="747" r:id="rId12"/>
    <p:sldId id="748" r:id="rId13"/>
    <p:sldId id="749" r:id="rId14"/>
    <p:sldId id="750" r:id="rId15"/>
    <p:sldId id="701" r:id="rId16"/>
    <p:sldId id="752" r:id="rId17"/>
    <p:sldId id="731" r:id="rId18"/>
    <p:sldId id="712" r:id="rId19"/>
    <p:sldId id="713" r:id="rId20"/>
    <p:sldId id="735" r:id="rId21"/>
    <p:sldId id="753" r:id="rId22"/>
    <p:sldId id="720" r:id="rId23"/>
    <p:sldId id="754" r:id="rId24"/>
    <p:sldId id="755" r:id="rId25"/>
    <p:sldId id="638" r:id="rId26"/>
    <p:sldId id="756" r:id="rId27"/>
    <p:sldId id="740" r:id="rId28"/>
    <p:sldId id="759" r:id="rId29"/>
    <p:sldId id="757" r:id="rId30"/>
    <p:sldId id="739" r:id="rId31"/>
    <p:sldId id="741" r:id="rId32"/>
    <p:sldId id="765"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937" autoAdjust="0"/>
    <p:restoredTop sz="76438"/>
  </p:normalViewPr>
  <p:slideViewPr>
    <p:cSldViewPr snapToGrid="0" snapToObjects="1">
      <p:cViewPr varScale="1">
        <p:scale>
          <a:sx n="91" d="100"/>
          <a:sy n="91" d="100"/>
        </p:scale>
        <p:origin x="2408"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9/15/26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Last week: Specification — which realizations we are willing to accept. This week: pick one and organize it.</a:t>
            </a:r>
          </a:p>
          <a:p>
            <a:endParaRPr dirty="0"/>
          </a:p>
          <a:p>
            <a:r>
              <a:rPr dirty="0"/>
              <a:t>- Do not define architecture here. The definition lands after the opening problem has made the need for architecture concrete.</a:t>
            </a:r>
          </a:p>
          <a:p>
            <a:endParaRPr dirty="0"/>
          </a:p>
          <a:p>
            <a:r>
              <a:rPr dirty="0"/>
              <a:t>=====</a:t>
            </a:r>
          </a:p>
          <a:p>
            <a:r>
              <a:rPr dirty="0"/>
              <a:t>Last time we asked what must be true of an acceptable system, and we ended with a space of acceptable realizations. This week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last week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ONE MACHINE click is the point; an optional final click draws the connectors. Let ONE MACHINE sit for a beat before speaking over it.</a:t>
            </a:r>
          </a:p>
          <a:p>
            <a:endParaRPr dirty="0"/>
          </a:p>
          <a:p>
            <a:r>
              <a:rPr dirty="0"/>
              <a:t>=====</a:t>
            </a:r>
          </a:p>
          <a:p>
            <a:r>
              <a:rPr dirty="0"/>
              <a:t>Last week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modeling trick. Each representation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last week's acceptable-realizations argument and deliver the definition of architecture orally.</a:t>
            </a:r>
          </a:p>
          <a:p>
            <a:endParaRPr lang="en-US" dirty="0"/>
          </a:p>
          <a:p>
            <a:r>
              <a:rPr lang="en-US" dirty="0"/>
              <a:t>- The figure is last week's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last week on purpose.</a:t>
            </a:r>
          </a:p>
          <a:p>
            <a:endParaRPr lang="en-US" dirty="0"/>
          </a:p>
          <a:p>
            <a:r>
              <a:rPr lang="en-US" dirty="0"/>
              <a:t>=====</a:t>
            </a:r>
          </a:p>
          <a:p>
            <a:r>
              <a:rPr lang="en-US" dirty="0"/>
              <a:t>This is last week's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This week we consider one acceptable realization and ask how it should be organized. And the moment we do, last week's question flips: not 'is this system acceptable?' but 'how should this system be organized?'</a:t>
            </a:r>
          </a:p>
          <a:p>
            <a:endParaRPr lang="en-US" dirty="0"/>
          </a:p>
          <a:p>
            <a:r>
              <a:rPr lang="en-US" dirty="0"/>
              <a:t>Here is the definition, and it is the only one you need this week.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this week's map.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this week answers one or more.</a:t>
            </a:r>
          </a:p>
          <a:p>
            <a:endParaRPr dirty="0"/>
          </a:p>
          <a:p>
            <a:r>
              <a:rPr dirty="0"/>
              <a:t>- The fourth question — properties — is the one students underrate. Flag it: architecture can support, constrain, or frustrate latency, security, changeability, and behavior under failure.</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questions sound structural. The fourth explains why the structure matters. We do not draw boxes for their own sake: organization can support, constrain, or frustrate properties such as latency, security, changeability, and behavior under failure.</a:t>
            </a:r>
          </a:p>
          <a:p>
            <a:endParaRPr dirty="0"/>
          </a:p>
          <a:p>
            <a:r>
              <a:rPr dirty="0"/>
              <a:t>Of these, the boundary question is where the consequences concentrate. Let us look at it properly.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last week's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last week.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But there is one consequence of these boundaries we have not considered yet. The header asks whether things should be owned together. Architectural boundaries can become boundaries not just in the software, but in the engineering organization.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Think about a building. The architect need not specify the exact plumbing fittings inside this wall. But the architecture has already made consequential decisions: where the wall goes, how thick it is, which spaces may be penetrated, perhaps where the service chase runs.</a:t>
            </a:r>
          </a:p>
          <a:p>
            <a:endParaRPr dirty="0"/>
          </a:p>
          <a:p>
            <a:r>
              <a:rPr dirty="0"/>
              <a:t>Those choices do not determine the plumbing design. They create the possibilities and constraints within which the plumbing designer works.</a:t>
            </a:r>
          </a:p>
          <a:p>
            <a:endParaRPr dirty="0"/>
          </a:p>
          <a:p>
            <a:r>
              <a:rPr dirty="0"/>
              <a:t>Software architecture does the same thing. A boundary, interface, deployment decision, or interaction rule leaves many implementations possible, but it changes which implementations are easy, difficult, or impossible.</a:t>
            </a:r>
          </a:p>
          <a:p>
            <a:endParaRPr dirty="0"/>
          </a:p>
          <a:p>
            <a:r>
              <a:rPr dirty="0"/>
              <a:t>That is why architecture matters before we open the boxes and design their internals.</a:t>
            </a:r>
          </a:p>
        </p:txBody>
      </p:sp>
    </p:spTree>
    <p:extLst>
      <p:ext uri="{BB962C8B-B14F-4D97-AF65-F5344CB8AC3E}">
        <p14:creationId xmlns:p14="http://schemas.microsoft.com/office/powerpoint/2010/main" val="7146804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There was one test in the header of the previous slide that I did not explain: owned together?</a:t>
            </a:r>
          </a:p>
          <a:p>
            <a:endParaRPr dirty="0"/>
          </a:p>
          <a:p>
            <a:r>
              <a:rPr dirty="0"/>
              <a:t>Architectural boundaries do not only affect the software. They also affect how we can divide the engineering work.</a:t>
            </a:r>
          </a:p>
          <a:p>
            <a:endParaRPr dirty="0"/>
          </a:p>
          <a:p>
            <a:r>
              <a:rPr dirty="0"/>
              <a:t>[ANIMATE] Once we have coarse-grained parts with reasonably clear responsibilities and interfaces, those parts can become units of ownership. One team might own collection, another classification, another sharing. If the boundaries are good, some changes can happen largely inside one team’s part.</a:t>
            </a:r>
          </a:p>
          <a:p>
            <a:endParaRPr dirty="0"/>
          </a:p>
          <a:p>
            <a:r>
              <a:rPr dirty="0"/>
              <a:t>[ANIMATE] Change the architecture, and you change the possible division of labor. If collection and storage are deliberately one architectural unit, perhaps they should be reasoned about and owned together. If a feature routinely cuts across three architectural boundaries, implementing that feature may require coordination among three teams.</a:t>
            </a:r>
          </a:p>
          <a:p>
            <a:endParaRPr dirty="0"/>
          </a:p>
          <a:p>
            <a:r>
              <a:rPr dirty="0"/>
              <a:t>This connection between software structure and organizational structure is old enough to have a name: Conway’s Law.</a:t>
            </a:r>
          </a:p>
          <a:p>
            <a:endParaRPr dirty="0"/>
          </a:p>
          <a:p>
            <a:r>
              <a:rPr dirty="0"/>
              <a:t>[ANIMATE] Mel Conway observed that organizations tend to design systems whose communication structures resemble their own. If two groups must communicate constantly to build something, that relationship tends to appear in the system they produce.</a:t>
            </a:r>
          </a:p>
          <a:p>
            <a:endParaRPr dirty="0"/>
          </a:p>
          <a:p>
            <a:r>
              <a:rPr dirty="0"/>
              <a:t>Do not read this as a law saying that every component needs its own team, or that we should simply draw our org chart as software. The useful engineering point is that the relationship runs both ways for us. The organization we already have can push the architecture toward certain boundaries. And the architecture we choose can make some divisions of engineering work much easier than others.</a:t>
            </a:r>
          </a:p>
          <a:p>
            <a:endParaRPr dirty="0"/>
          </a:p>
          <a:p>
            <a:r>
              <a:rPr dirty="0"/>
              <a:t>[ANIMATE] So extend the principle from the previous slide: architecture allocates coupling in software and coordination among people.</a:t>
            </a:r>
          </a:p>
          <a:p>
            <a:endParaRPr dirty="0"/>
          </a:p>
          <a:p>
            <a:r>
              <a:rPr dirty="0"/>
              <a:t>That gives us one more consequence to consider when choosing among acceptable architectures. Different organizations of the same acceptable system may require very different patterns of human coordination.</a:t>
            </a:r>
          </a:p>
          <a:p>
            <a:endParaRPr dirty="0"/>
          </a:p>
          <a:p>
            <a:r>
              <a:rPr dirty="0"/>
              <a:t>And that brings us to the next question: if several architectures remain acceptable, how do we choose among them?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Weighted scores and verdict first, then three callout clicks, then the footer. Let students read the verdict line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last week's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Five clicks: strict stack,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cross-layer capability.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Five clicks: pipeline, the repository core, the components attaching,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Staged clicks: request, then response, then downstream C; producer, bus, consumers; D arrives last, then consequences and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producer/consumer decoupling.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Staged clicks: each domain, the direct dependency, then the port (the domain defines it), the adapter, the infrastructure, the source-dependency arrow,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decoupling.</a:t>
            </a:r>
          </a:p>
          <a:p>
            <a:r>
              <a:rPr dirty="0"/>
              <a:t>ANIMATE</a:t>
            </a:r>
          </a:p>
          <a:p>
            <a:r>
              <a:rPr dirty="0"/>
              <a:t>Infrastructure: depend on it directly, or make it conform to your interface — directness against infrastructure isolation.</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Last week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expectation based on prior engineering experience. Useful evidence, but substantial betting remains.</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last week's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dependency model shows the anticipated change staying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last week: the specification told the implementor where the world was expected to move. Expected change is specification output — and architecture is where we act on it. In this course the Sleep Advisor's illness model carries that point: our specification named it as the part expected to change independently.</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dependency model shows the anticipated change staying behind the seam.</a:t>
            </a:r>
          </a:p>
          <a:p>
            <a:endParaRPr dirty="0"/>
          </a:p>
          <a:p>
            <a:r>
              <a:rPr dirty="0"/>
              <a:t>Be precise about the claim. The model establishes a structural fact about the dependency graph: no dependency crosses the boundary into the model's internals. That supports a strong argument for locality, provided the model remains faithful to the implementation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b="1" dirty="0"/>
              <a:t>2.5-minute guidance</a:t>
            </a:r>
          </a:p>
          <a:p>
            <a:r>
              <a:rPr lang="en-US" dirty="0"/>
              <a:t>Show a quantitative prediction from an architectural model, then use it to expose a deeper point: </a:t>
            </a:r>
            <a:r>
              <a:rPr lang="en-US" b="1" dirty="0"/>
              <a:t>the architecture determines which design moves are available to us.</a:t>
            </a:r>
            <a:endParaRPr lang="en-US" dirty="0"/>
          </a:p>
          <a:p>
            <a:pPr lvl="0"/>
            <a:r>
              <a:rPr lang="en-US" dirty="0"/>
              <a:t>Frame this as an ordinary data-processing pipeline. Components perform stages of processing; edges carry modeled latency.</a:t>
            </a:r>
          </a:p>
          <a:p>
            <a:pPr lvl="0"/>
            <a:r>
              <a:rPr lang="en-US" dirty="0"/>
              <a:t>Walk the arithmetic: </a:t>
            </a:r>
            <a:r>
              <a:rPr lang="en-US" b="1" dirty="0"/>
              <a:t>A → B → F = 80 </a:t>
            </a:r>
            <a:r>
              <a:rPr lang="en-US" b="1" dirty="0" err="1"/>
              <a:t>ms</a:t>
            </a:r>
            <a:r>
              <a:rPr lang="en-US" b="1" dirty="0"/>
              <a:t> + 40 </a:t>
            </a:r>
            <a:r>
              <a:rPr lang="en-US" b="1" dirty="0" err="1"/>
              <a:t>ms</a:t>
            </a:r>
            <a:r>
              <a:rPr lang="en-US" b="1" dirty="0"/>
              <a:t> = 120 </a:t>
            </a:r>
            <a:r>
              <a:rPr lang="en-US" b="1" dirty="0" err="1"/>
              <a:t>ms.</a:t>
            </a:r>
            <a:r>
              <a:rPr lang="en-US" dirty="0"/>
              <a:t> Given this architecture and these assumptions, that path sets the modeled latency floor.</a:t>
            </a:r>
          </a:p>
          <a:p>
            <a:pPr lvl="0"/>
            <a:r>
              <a:rPr lang="en-US" dirty="0"/>
              <a:t>Reveal </a:t>
            </a:r>
            <a:r>
              <a:rPr lang="en-US" b="1" dirty="0"/>
              <a:t>#5</a:t>
            </a:r>
            <a:r>
              <a:rPr lang="en-US" dirty="0"/>
              <a:t>. Ask what we can change. Within this architecture, B is the obvious target: decompose it, parallelize work, reduce its cost, perhaps eliminate work. The model lets us evaluate that design choice before implementation.</a:t>
            </a:r>
          </a:p>
          <a:p>
            <a:pPr lvl="0"/>
            <a:r>
              <a:rPr lang="en-US" dirty="0"/>
              <a:t>Then reveal </a:t>
            </a:r>
            <a:r>
              <a:rPr lang="en-US" b="1" dirty="0"/>
              <a:t>#6</a:t>
            </a:r>
            <a:r>
              <a:rPr lang="en-US" dirty="0"/>
              <a:t>. Challenge the frame itself: </a:t>
            </a:r>
            <a:r>
              <a:rPr lang="en-US" b="1" dirty="0"/>
              <a:t>why are those the design moves we are considering?</a:t>
            </a:r>
            <a:r>
              <a:rPr lang="en-US" dirty="0"/>
              <a:t> Because the pipeline architecture has already constrained the design space. A different architecture might expose entirely different opportunities.</a:t>
            </a:r>
          </a:p>
          <a:p>
            <a:pPr lvl="0"/>
            <a:r>
              <a:rPr lang="en-US" dirty="0"/>
              <a:t>Connect explicitly to the Handbook’s treatment of design: design is choosing among alternatives under constraints. Architecture supplies some of the most consequential constraints on which alternatives are even available.</a:t>
            </a:r>
          </a:p>
          <a:p>
            <a:pPr lvl="0"/>
            <a:r>
              <a:rPr lang="en-US" dirty="0"/>
              <a:t>The lesson is therefore </a:t>
            </a:r>
            <a:r>
              <a:rPr lang="en-US" i="1" dirty="0"/>
              <a:t>not</a:t>
            </a:r>
            <a:r>
              <a:rPr lang="en-US" dirty="0"/>
              <a:t> “decompose B.” It is: </a:t>
            </a:r>
            <a:r>
              <a:rPr lang="en-US" b="1" dirty="0"/>
              <a:t>an architectural model lets us reason about both the consequences of a design move and the space of design moves the architecture permits.</a:t>
            </a:r>
            <a:endParaRPr lang="en-US" dirty="0"/>
          </a:p>
          <a:p>
            <a:endParaRPr lang="en-US" b="1"/>
          </a:p>
          <a:p>
            <a:r>
              <a:rPr lang="en-US" b="1"/>
              <a:t>Speaker </a:t>
            </a:r>
            <a:r>
              <a:rPr lang="en-US" b="1" dirty="0"/>
              <a:t>notes</a:t>
            </a:r>
          </a:p>
          <a:p>
            <a:r>
              <a:rPr lang="en-US" dirty="0"/>
              <a:t>Here is a very ordinary data-processing pipeline. Components perform stages of computation, and the edges represent dependencies with modeled latency.</a:t>
            </a:r>
          </a:p>
          <a:p>
            <a:r>
              <a:rPr lang="en-US" dirty="0"/>
              <a:t>Once we put costs on those edges, the architectural model can make a quantitative prediction. Follow the paths. A to B is eighty milliseconds; B to F is forty. So A to B to F gives us a modeled critical path of </a:t>
            </a:r>
            <a:r>
              <a:rPr lang="en-US" b="1" dirty="0"/>
              <a:t>120 milliseconds</a:t>
            </a:r>
            <a:r>
              <a:rPr lang="en-US" dirty="0"/>
              <a:t>. Given the dependencies and latency assumptions represented here, that is what sets the latency floor.</a:t>
            </a:r>
          </a:p>
          <a:p>
            <a:r>
              <a:rPr lang="en-US" b="1" dirty="0"/>
              <a:t>[Reveal 5]</a:t>
            </a:r>
            <a:endParaRPr lang="en-US" dirty="0"/>
          </a:p>
          <a:p>
            <a:r>
              <a:rPr lang="en-US" dirty="0"/>
              <a:t>Now we have a design problem. What could we change?</a:t>
            </a:r>
          </a:p>
          <a:p>
            <a:r>
              <a:rPr lang="en-US" dirty="0"/>
              <a:t>Looking at </a:t>
            </a:r>
            <a:r>
              <a:rPr lang="en-US" i="1" dirty="0"/>
              <a:t>this architecture</a:t>
            </a:r>
            <a:r>
              <a:rPr lang="en-US" dirty="0"/>
              <a:t>, B immediately attracts our attention. Perhaps we can decompose B into B1, B2, and B3 and execute some of that work in parallel. We can represent that candidate design in the model, estimate its costs, and rerun the arithmetic before implementing anything.</a:t>
            </a:r>
          </a:p>
          <a:p>
            <a:r>
              <a:rPr lang="en-US" dirty="0"/>
              <a:t>This is exactly the kind of choice we have been calling </a:t>
            </a:r>
            <a:r>
              <a:rPr lang="en-US" b="1" dirty="0"/>
              <a:t>design</a:t>
            </a:r>
            <a:r>
              <a:rPr lang="en-US" dirty="0"/>
              <a:t>: choosing among alternatives under constraints. The architecture gives us the constraints within which we are making that choice.</a:t>
            </a:r>
          </a:p>
          <a:p>
            <a:r>
              <a:rPr lang="en-US" b="1" dirty="0"/>
              <a:t>[Reveal 6]</a:t>
            </a:r>
            <a:endParaRPr lang="en-US" dirty="0"/>
          </a:p>
          <a:p>
            <a:r>
              <a:rPr lang="en-US" dirty="0"/>
              <a:t>But that should make you ask a more interesting question: </a:t>
            </a:r>
            <a:r>
              <a:rPr lang="en-US" b="1" dirty="0"/>
              <a:t>why is decomposition the design move that occurred to us?</a:t>
            </a:r>
            <a:endParaRPr lang="en-US" dirty="0"/>
          </a:p>
          <a:p>
            <a:r>
              <a:rPr lang="en-US" dirty="0"/>
              <a:t>Because this architecture has already shaped the design space. We drew the system as a pipeline of dependent processing stages, so the natural moves are things like decomposing stages, parallelizing them, changing dependencies, or reducing their costs.</a:t>
            </a:r>
          </a:p>
          <a:p>
            <a:r>
              <a:rPr lang="en-US" dirty="0"/>
              <a:t>If we chose a different architecture, we might get different design moves. Perhaps work could be event-driven rather than sequential. Perhaps results could be precomputed or cached. Perhaps data could move to the computation instead of computation following the data. Perhaps some work could disappear from the request path entirely.</a:t>
            </a:r>
          </a:p>
          <a:p>
            <a:r>
              <a:rPr lang="en-US" dirty="0"/>
              <a:t>So architecture does more than describe the system. </a:t>
            </a:r>
            <a:r>
              <a:rPr lang="en-US" b="1" dirty="0"/>
              <a:t>It constrains the space in which subsequent design happens.</a:t>
            </a:r>
            <a:r>
              <a:rPr lang="en-US" dirty="0"/>
              <a:t> And an architectural model makes those constraints visible enough that we can ask whether we are optimizing within the right architecture or whether we should change the architecture itself.</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tradeoff has not disappeared. Better evidence can reduce uncertainty about the consequences, but it cannot tell us which consequences matter unless those preferences and obligations have been established. And responsibility for accepting the resulting architecture does not disappear because an agent helped analyze it. The betting is what we can now buy down.</a:t>
            </a:r>
          </a:p>
          <a:p>
            <a:endParaRPr dirty="0"/>
          </a:p>
          <a:p>
            <a:r>
              <a:rPr dirty="0"/>
              <a:t>That is the full toolkit. Time to use all of 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a:t>
            </a:r>
            <a:r>
              <a:rPr lang="en-US" dirty="0"/>
              <a:t>In pairs:</a:t>
            </a:r>
            <a:r>
              <a:rPr dirty="0"/>
              <a:t> Read the five obligations aloud once: two-second advice latency, no raw-data disclosure to sharing recipients, an independently changing illness model, sharing failure must not block local advice, a consistent seven-night weekly summary.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boundary test?);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a:t>
            </a:r>
            <a:r>
              <a:rPr lang="en-US" dirty="0"/>
              <a:t>In pairs. s</a:t>
            </a:r>
            <a:r>
              <a:rPr dirty="0"/>
              <a:t>ketch the major parts, the boundaries between them, and how the parts may interact.</a:t>
            </a:r>
          </a:p>
          <a:p>
            <a:endParaRPr dirty="0"/>
          </a:p>
          <a:p>
            <a:r>
              <a:rPr dirty="0"/>
              <a:t>And produce two plausible organizations — two, genuinely different, both defensible. Do not converge on your favorite; do not vote yet. Your job is not to draw the obvious architecture. Your job is to produce two genuinely plausible organizations that satisfy all five obligations. If your second architecture is obviously stupid, it does not count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this week: where does this sit in the arc of the course?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the opening section,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This week's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In specification we separate obligations. 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STATE VIEW</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ACTIVITY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SCHEMA</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TIMING / OTHER</a:t>
            </a:r>
          </a:p>
        </p:txBody>
      </p:sp>
      <p:cxnSp>
        <p:nvCxnSpPr>
          <p:cNvPr id="64" name="Arr64"/>
          <p:cNvCxnSpPr/>
          <p:nvPr/>
        </p:nvCxnSpPr>
        <p:spPr>
          <a:xfrm>
            <a:off x="2916700" y="2522900"/>
            <a:ext cx="500000" cy="544850"/>
          </a:xfrm>
          <a:prstGeom prst="line">
            <a:avLst/>
          </a:prstGeom>
          <a:ln w="28575">
            <a:solidFill>
              <a:srgbClr val="8E6F3E"/>
            </a:solidFill>
            <a:tailEnd type="triangle" w="med" len="med"/>
          </a:ln>
        </p:spPr>
      </p:cxnSp>
      <p:cxnSp>
        <p:nvCxnSpPr>
          <p:cNvPr id="65" name="Arr65"/>
          <p:cNvCxnSpPr/>
          <p:nvPr/>
        </p:nvCxnSpPr>
        <p:spPr>
          <a:xfrm flipH="1">
            <a:off x="5727300" y="2522900"/>
            <a:ext cx="500000" cy="544850"/>
          </a:xfrm>
          <a:prstGeom prst="line">
            <a:avLst/>
          </a:prstGeom>
          <a:ln w="28575">
            <a:solidFill>
              <a:srgbClr val="8E6F3E"/>
            </a:solidFill>
            <a:tailEnd type="triangle" w="med" len="med"/>
          </a:ln>
        </p:spPr>
      </p:cxnSp>
      <p:cxnSp>
        <p:nvCxnSpPr>
          <p:cNvPr id="66" name="Arr66"/>
          <p:cNvCxnSpPr/>
          <p:nvPr/>
        </p:nvCxnSpPr>
        <p:spPr>
          <a:xfrm flipV="1">
            <a:off x="2916700" y="4567750"/>
            <a:ext cx="500000" cy="269350"/>
          </a:xfrm>
          <a:prstGeom prst="line">
            <a:avLst/>
          </a:prstGeom>
          <a:ln w="28575">
            <a:solidFill>
              <a:srgbClr val="8E6F3E"/>
            </a:solidFill>
            <a:tailEnd type="triangle" w="med" len="med"/>
          </a:ln>
        </p:spPr>
      </p:cxnSp>
      <p:cxnSp>
        <p:nvCxnSpPr>
          <p:cNvPr id="67" name="Arr67"/>
          <p:cNvCxnSpPr/>
          <p:nvPr/>
        </p:nvCxnSpPr>
        <p:spPr>
          <a:xfrm flipH="1" flipV="1">
            <a:off x="5727300" y="4567750"/>
            <a:ext cx="500000" cy="269350"/>
          </a:xfrm>
          <a:prstGeom prst="line">
            <a:avLst/>
          </a:prstGeom>
          <a:ln w="28575">
            <a:solidFill>
              <a:srgbClr val="8E6F3E"/>
            </a:solidFill>
            <a:tailEnd type="triangle" w="med" len="med"/>
          </a:ln>
        </p:spPr>
      </p:cxnSp>
      <p:sp>
        <p:nvSpPr>
          <p:cNvPr id="68" name="OneMachine"/>
          <p:cNvSpPr/>
          <p:nvPr/>
        </p:nvSpPr>
        <p:spPr>
          <a:xfrm>
            <a:off x="2622000" y="3067750"/>
            <a:ext cx="3900000" cy="1500000"/>
          </a:xfrm>
          <a:prstGeom prst="rect">
            <a:avLst/>
          </a:prstGeom>
          <a:solidFill>
            <a:srgbClr val="8E6F3E"/>
          </a:solidFill>
          <a:ln>
            <a:noFill/>
          </a:ln>
        </p:spPr>
        <p:txBody>
          <a:bodyPr wrap="square" lIns="109728" tIns="82296" rIns="109728" bIns="82296" anchor="ctr">
            <a:normAutofit/>
          </a:bodyPr>
          <a:lstStyle/>
          <a:p>
            <a:pPr algn="ctr">
              <a:buNone/>
            </a:pPr>
            <a:r>
              <a:rPr lang="en-US" sz="4600" b="1" i="0" dirty="0">
                <a:solidFill>
                  <a:srgbClr val="FFFFFF"/>
                </a:solidFill>
              </a:rPr>
              <a:t>ONE MACHINE</a:t>
            </a:r>
          </a:p>
        </p:txBody>
      </p:sp>
      <p:sp>
        <p:nvSpPr>
          <p:cNvPr id="70" name="StateN1"/>
          <p:cNvSpPr/>
          <p:nvPr/>
        </p:nvSpPr>
        <p:spPr>
          <a:xfrm>
            <a:off x="45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asleep</a:t>
            </a:r>
          </a:p>
        </p:txBody>
      </p:sp>
      <p:sp>
        <p:nvSpPr>
          <p:cNvPr id="71" name="StateN2"/>
          <p:cNvSpPr/>
          <p:nvPr/>
        </p:nvSpPr>
        <p:spPr>
          <a:xfrm>
            <a:off x="198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awake</a:t>
            </a:r>
          </a:p>
        </p:txBody>
      </p:sp>
      <p:cxnSp>
        <p:nvCxnSpPr>
          <p:cNvPr id="72" name="StateArr"/>
          <p:cNvCxnSpPr/>
          <p:nvPr/>
        </p:nvCxnSpPr>
        <p:spPr>
          <a:xfrm>
            <a:off x="1360000" y="1905000"/>
            <a:ext cx="610000" cy="0"/>
          </a:xfrm>
          <a:prstGeom prst="line">
            <a:avLst/>
          </a:prstGeom>
          <a:ln w="28575">
            <a:solidFill>
              <a:srgbClr val="8E6F3E"/>
            </a:solidFill>
            <a:tailEnd type="triangle" w="med" len="med"/>
          </a:ln>
        </p:spPr>
      </p:cxnSp>
      <p:sp>
        <p:nvSpPr>
          <p:cNvPr id="73" name="ActChev1"/>
          <p:cNvSpPr/>
          <p:nvPr/>
        </p:nvSpPr>
        <p:spPr>
          <a:xfrm>
            <a:off x="629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collect</a:t>
            </a:r>
          </a:p>
        </p:txBody>
      </p:sp>
      <p:sp>
        <p:nvSpPr>
          <p:cNvPr id="74" name="ActChev2"/>
          <p:cNvSpPr/>
          <p:nvPr/>
        </p:nvSpPr>
        <p:spPr>
          <a:xfrm>
            <a:off x="752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classify</a:t>
            </a:r>
          </a:p>
        </p:txBody>
      </p:sp>
      <p:sp>
        <p:nvSpPr>
          <p:cNvPr id="75" name="SchHdr"/>
          <p:cNvSpPr/>
          <p:nvPr/>
        </p:nvSpPr>
        <p:spPr>
          <a:xfrm>
            <a:off x="816791" y="5264016"/>
            <a:ext cx="1705000" cy="330000"/>
          </a:xfrm>
          <a:prstGeom prst="rect">
            <a:avLst/>
          </a:prstGeom>
          <a:solidFill>
            <a:srgbClr val="8E6F3E"/>
          </a:solidFill>
          <a:ln w="15875">
            <a:solidFill>
              <a:srgbClr val="8E6F3E"/>
            </a:solidFill>
          </a:ln>
        </p:spPr>
        <p:txBody>
          <a:bodyPr wrap="square" lIns="54864" tIns="27432" rIns="54864" bIns="27432" anchor="ctr">
            <a:noAutofit/>
          </a:bodyPr>
          <a:lstStyle/>
          <a:p>
            <a:pPr algn="ctr">
              <a:buNone/>
            </a:pPr>
            <a:r>
              <a:rPr lang="en-US" sz="1600" b="1" i="0" dirty="0">
                <a:solidFill>
                  <a:srgbClr val="FFFFFF"/>
                </a:solidFill>
              </a:rPr>
              <a:t>NIGHT SUMMARY</a:t>
            </a:r>
          </a:p>
        </p:txBody>
      </p:sp>
      <p:sp>
        <p:nvSpPr>
          <p:cNvPr id="76" name="SchR1"/>
          <p:cNvSpPr/>
          <p:nvPr/>
        </p:nvSpPr>
        <p:spPr>
          <a:xfrm>
            <a:off x="816791" y="5594016"/>
            <a:ext cx="1705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date · score</a:t>
            </a:r>
          </a:p>
        </p:txBody>
      </p:sp>
      <p:sp>
        <p:nvSpPr>
          <p:cNvPr id="77" name="SchR2"/>
          <p:cNvSpPr/>
          <p:nvPr/>
        </p:nvSpPr>
        <p:spPr>
          <a:xfrm>
            <a:off x="816791" y="5924016"/>
            <a:ext cx="1705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b="0" i="0" dirty="0">
                <a:solidFill>
                  <a:srgbClr val="000000"/>
                </a:solidFill>
              </a:rPr>
              <a:t>advice</a:t>
            </a:r>
          </a:p>
        </p:txBody>
      </p:sp>
      <p:cxnSp>
        <p:nvCxnSpPr>
          <p:cNvPr id="78" name="TimeLine"/>
          <p:cNvCxnSpPr/>
          <p:nvPr/>
        </p:nvCxnSpPr>
        <p:spPr>
          <a:xfrm>
            <a:off x="6329592" y="5760000"/>
            <a:ext cx="2295000" cy="0"/>
          </a:xfrm>
          <a:prstGeom prst="line">
            <a:avLst/>
          </a:prstGeom>
          <a:ln w="28575">
            <a:solidFill>
              <a:srgbClr val="8E6F3E"/>
            </a:solidFill>
            <a:tailEnd type="triangle" w="med" len="med"/>
          </a:ln>
        </p:spPr>
      </p:cxnSp>
      <p:cxnSp>
        <p:nvCxnSpPr>
          <p:cNvPr id="79" name="TimeTick"/>
          <p:cNvCxnSpPr/>
          <p:nvPr/>
        </p:nvCxnSpPr>
        <p:spPr>
          <a:xfrm>
            <a:off x="6329592" y="5670000"/>
            <a:ext cx="0" cy="180000"/>
          </a:xfrm>
          <a:prstGeom prst="line">
            <a:avLst/>
          </a:prstGeom>
          <a:ln w="28575">
            <a:solidFill>
              <a:srgbClr val="8E6F3E"/>
            </a:solidFill>
          </a:ln>
        </p:spPr>
      </p:cxnSp>
      <p:sp>
        <p:nvSpPr>
          <p:cNvPr id="80" name="TimeLblTop"/>
          <p:cNvSpPr/>
          <p:nvPr/>
        </p:nvSpPr>
        <p:spPr>
          <a:xfrm>
            <a:off x="6329592" y="5350000"/>
            <a:ext cx="2295000" cy="320000"/>
          </a:xfrm>
          <a:prstGeom prst="rect">
            <a:avLst/>
          </a:prstGeom>
          <a:noFill/>
          <a:ln>
            <a:noFill/>
          </a:ln>
        </p:spPr>
        <p:txBody>
          <a:bodyPr wrap="square" lIns="54864" tIns="27432" rIns="54864" bIns="27432" anchor="ctr">
            <a:normAutofit lnSpcReduction="10000"/>
          </a:bodyPr>
          <a:lstStyle/>
          <a:p>
            <a:pPr algn="ctr">
              <a:buNone/>
            </a:pPr>
            <a:r>
              <a:rPr lang="en-US" b="0" i="0" dirty="0">
                <a:solidFill>
                  <a:srgbClr val="000000"/>
                </a:solidFill>
              </a:rPr>
              <a:t>≤ 60 seconds</a:t>
            </a:r>
          </a:p>
        </p:txBody>
      </p:sp>
      <p:sp>
        <p:nvSpPr>
          <p:cNvPr id="81" name="TimeLblBot"/>
          <p:cNvSpPr/>
          <p:nvPr/>
        </p:nvSpPr>
        <p:spPr>
          <a:xfrm>
            <a:off x="6329592" y="5890000"/>
            <a:ext cx="2295000" cy="300000"/>
          </a:xfrm>
          <a:prstGeom prst="rect">
            <a:avLst/>
          </a:prstGeom>
          <a:noFill/>
          <a:ln>
            <a:noFill/>
          </a:ln>
        </p:spPr>
        <p:txBody>
          <a:bodyPr wrap="square" lIns="54864" tIns="27432" rIns="54864" bIns="27432" anchor="ctr">
            <a:normAutofit/>
          </a:bodyPr>
          <a:lstStyle/>
          <a:p>
            <a:pPr algn="ctr">
              <a:buNone/>
            </a:pPr>
            <a:r>
              <a:rPr lang="en-US" sz="1600" b="0" i="0" dirty="0">
                <a:solidFill>
                  <a:srgbClr val="000000"/>
                </a:solidFill>
              </a:rPr>
              <a:t>privacy · 7 nights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70"/>
                                        </p:tgtEl>
                                        <p:attrNameLst>
                                          <p:attrName>style.visibility</p:attrName>
                                        </p:attrNameLst>
                                      </p:cBhvr>
                                      <p:to>
                                        <p:strVal val="visible"/>
                                      </p:to>
                                    </p:set>
                                    <p:animEffect transition="in" filter="fade">
                                      <p:cBhvr>
                                        <p:cTn id="10" dur="400"/>
                                        <p:tgtEl>
                                          <p:spTgt spid="70"/>
                                        </p:tgtEl>
                                      </p:cBhvr>
                                    </p:animEffect>
                                  </p:childTnLst>
                                </p:cTn>
                              </p:par>
                              <p:par>
                                <p:cTn id="11" presetID="10"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400"/>
                                        <p:tgtEl>
                                          <p:spTgt spid="71"/>
                                        </p:tgtEl>
                                      </p:cBhvr>
                                    </p:animEffect>
                                  </p:childTnLst>
                                </p:cTn>
                              </p:par>
                              <p:par>
                                <p:cTn id="14" presetID="10" presetClass="entr" presetSubtype="0" fill="hold"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400"/>
                                        <p:tgtEl>
                                          <p:spTgt spid="7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400"/>
                                        <p:tgtEl>
                                          <p:spTgt spid="61"/>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400"/>
                                        <p:tgtEl>
                                          <p:spTgt spid="73"/>
                                        </p:tgtEl>
                                      </p:cBhvr>
                                    </p:animEffect>
                                  </p:childTnLst>
                                </p:cTn>
                              </p:par>
                              <p:par>
                                <p:cTn id="25" presetID="10" presetClass="entr" presetSubtype="0" fill="hold"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4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400"/>
                                        <p:tgtEl>
                                          <p:spTgt spid="62"/>
                                        </p:tgtEl>
                                      </p:cBhvr>
                                    </p:animEffect>
                                  </p:childTnLst>
                                </p:cTn>
                              </p:par>
                              <p:par>
                                <p:cTn id="33" presetID="10" presetClass="entr" presetSubtype="0" fill="hold" nodeType="withEffect">
                                  <p:stCondLst>
                                    <p:cond delay="0"/>
                                  </p:stCondLst>
                                  <p:childTnLst>
                                    <p:set>
                                      <p:cBhvr>
                                        <p:cTn id="34" dur="1" fill="hold">
                                          <p:stCondLst>
                                            <p:cond delay="0"/>
                                          </p:stCondLst>
                                        </p:cTn>
                                        <p:tgtEl>
                                          <p:spTgt spid="75"/>
                                        </p:tgtEl>
                                        <p:attrNameLst>
                                          <p:attrName>style.visibility</p:attrName>
                                        </p:attrNameLst>
                                      </p:cBhvr>
                                      <p:to>
                                        <p:strVal val="visible"/>
                                      </p:to>
                                    </p:set>
                                    <p:animEffect transition="in" filter="fade">
                                      <p:cBhvr>
                                        <p:cTn id="35" dur="400"/>
                                        <p:tgtEl>
                                          <p:spTgt spid="75"/>
                                        </p:tgtEl>
                                      </p:cBhvr>
                                    </p:animEffect>
                                  </p:childTnLst>
                                </p:cTn>
                              </p:par>
                              <p:par>
                                <p:cTn id="36" presetID="10" presetClass="entr" presetSubtype="0" fill="hold" nodeType="with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400"/>
                                        <p:tgtEl>
                                          <p:spTgt spid="76"/>
                                        </p:tgtEl>
                                      </p:cBhvr>
                                    </p:animEffect>
                                  </p:childTnLst>
                                </p:cTn>
                              </p:par>
                              <p:par>
                                <p:cTn id="39" presetID="10" presetClass="entr" presetSubtype="0" fill="hold" nodeType="withEffect">
                                  <p:stCondLst>
                                    <p:cond delay="0"/>
                                  </p:stCondLst>
                                  <p:childTnLst>
                                    <p:set>
                                      <p:cBhvr>
                                        <p:cTn id="40" dur="1" fill="hold">
                                          <p:stCondLst>
                                            <p:cond delay="0"/>
                                          </p:stCondLst>
                                        </p:cTn>
                                        <p:tgtEl>
                                          <p:spTgt spid="77"/>
                                        </p:tgtEl>
                                        <p:attrNameLst>
                                          <p:attrName>style.visibility</p:attrName>
                                        </p:attrNameLst>
                                      </p:cBhvr>
                                      <p:to>
                                        <p:strVal val="visible"/>
                                      </p:to>
                                    </p:set>
                                    <p:animEffect transition="in" filter="fade">
                                      <p:cBhvr>
                                        <p:cTn id="41" dur="400"/>
                                        <p:tgtEl>
                                          <p:spTgt spid="7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400"/>
                                        <p:tgtEl>
                                          <p:spTgt spid="78"/>
                                        </p:tgtEl>
                                      </p:cBhvr>
                                    </p:animEffect>
                                  </p:childTnLst>
                                </p:cTn>
                              </p:par>
                              <p:par>
                                <p:cTn id="50" presetID="10" presetClass="entr" presetSubtype="0" fill="hold" nodeType="withEffect">
                                  <p:stCondLst>
                                    <p:cond delay="0"/>
                                  </p:stCondLst>
                                  <p:childTnLst>
                                    <p:set>
                                      <p:cBhvr>
                                        <p:cTn id="51" dur="1" fill="hold">
                                          <p:stCondLst>
                                            <p:cond delay="0"/>
                                          </p:stCondLst>
                                        </p:cTn>
                                        <p:tgtEl>
                                          <p:spTgt spid="79"/>
                                        </p:tgtEl>
                                        <p:attrNameLst>
                                          <p:attrName>style.visibility</p:attrName>
                                        </p:attrNameLst>
                                      </p:cBhvr>
                                      <p:to>
                                        <p:strVal val="visible"/>
                                      </p:to>
                                    </p:set>
                                    <p:animEffect transition="in" filter="fade">
                                      <p:cBhvr>
                                        <p:cTn id="52" dur="400"/>
                                        <p:tgtEl>
                                          <p:spTgt spid="79"/>
                                        </p:tgtEl>
                                      </p:cBhvr>
                                    </p:animEffect>
                                  </p:childTnLst>
                                </p:cTn>
                              </p:par>
                              <p:par>
                                <p:cTn id="53" presetID="10" presetClass="entr" presetSubtype="0" fill="hold" nodeType="withEffect">
                                  <p:stCondLst>
                                    <p:cond delay="0"/>
                                  </p:stCondLst>
                                  <p:childTnLst>
                                    <p:set>
                                      <p:cBhvr>
                                        <p:cTn id="54" dur="1" fill="hold">
                                          <p:stCondLst>
                                            <p:cond delay="0"/>
                                          </p:stCondLst>
                                        </p:cTn>
                                        <p:tgtEl>
                                          <p:spTgt spid="80"/>
                                        </p:tgtEl>
                                        <p:attrNameLst>
                                          <p:attrName>style.visibility</p:attrName>
                                        </p:attrNameLst>
                                      </p:cBhvr>
                                      <p:to>
                                        <p:strVal val="visible"/>
                                      </p:to>
                                    </p:set>
                                    <p:animEffect transition="in" filter="fade">
                                      <p:cBhvr>
                                        <p:cTn id="55" dur="400"/>
                                        <p:tgtEl>
                                          <p:spTgt spid="80"/>
                                        </p:tgtEl>
                                      </p:cBhvr>
                                    </p:animEffect>
                                  </p:childTnLst>
                                </p:cTn>
                              </p:par>
                              <p:par>
                                <p:cTn id="56" presetID="10" presetClass="entr" presetSubtype="0" fill="hold" nodeType="withEffect">
                                  <p:stCondLst>
                                    <p:cond delay="0"/>
                                  </p:stCondLst>
                                  <p:childTnLst>
                                    <p:set>
                                      <p:cBhvr>
                                        <p:cTn id="57" dur="1" fill="hold">
                                          <p:stCondLst>
                                            <p:cond delay="0"/>
                                          </p:stCondLst>
                                        </p:cTn>
                                        <p:tgtEl>
                                          <p:spTgt spid="81"/>
                                        </p:tgtEl>
                                        <p:attrNameLst>
                                          <p:attrName>style.visibility</p:attrName>
                                        </p:attrNameLst>
                                      </p:cBhvr>
                                      <p:to>
                                        <p:strVal val="visible"/>
                                      </p:to>
                                    </p:set>
                                    <p:animEffect transition="in" filter="fade">
                                      <p:cBhvr>
                                        <p:cTn id="58" dur="400"/>
                                        <p:tgtEl>
                                          <p:spTgt spid="8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8"/>
                                        </p:tgtEl>
                                        <p:attrNameLst>
                                          <p:attrName>style.visibility</p:attrName>
                                        </p:attrNameLst>
                                      </p:cBhvr>
                                      <p:to>
                                        <p:strVal val="visible"/>
                                      </p:to>
                                    </p:set>
                                    <p:animEffect transition="in" filter="fade">
                                      <p:cBhvr>
                                        <p:cTn id="63" dur="400"/>
                                        <p:tgtEl>
                                          <p:spTgt spid="6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400"/>
                                        <p:tgtEl>
                                          <p:spTgt spid="64"/>
                                        </p:tgtEl>
                                      </p:cBhvr>
                                    </p:animEffect>
                                  </p:childTnLst>
                                </p:cTn>
                              </p:par>
                              <p:par>
                                <p:cTn id="69" presetID="10" presetClass="entr" presetSubtype="0" fill="hold" nodeType="withEffect">
                                  <p:stCondLst>
                                    <p:cond delay="0"/>
                                  </p:stCondLst>
                                  <p:childTnLst>
                                    <p:set>
                                      <p:cBhvr>
                                        <p:cTn id="70" dur="1" fill="hold">
                                          <p:stCondLst>
                                            <p:cond delay="0"/>
                                          </p:stCondLst>
                                        </p:cTn>
                                        <p:tgtEl>
                                          <p:spTgt spid="65"/>
                                        </p:tgtEl>
                                        <p:attrNameLst>
                                          <p:attrName>style.visibility</p:attrName>
                                        </p:attrNameLst>
                                      </p:cBhvr>
                                      <p:to>
                                        <p:strVal val="visible"/>
                                      </p:to>
                                    </p:set>
                                    <p:animEffect transition="in" filter="fade">
                                      <p:cBhvr>
                                        <p:cTn id="71" dur="400"/>
                                        <p:tgtEl>
                                          <p:spTgt spid="65"/>
                                        </p:tgtEl>
                                      </p:cBhvr>
                                    </p:animEffect>
                                  </p:childTnLst>
                                </p:cTn>
                              </p:par>
                              <p:par>
                                <p:cTn id="72" presetID="10" presetClass="entr" presetSubtype="0" fill="hold" nodeType="withEffect">
                                  <p:stCondLst>
                                    <p:cond delay="0"/>
                                  </p:stCondLst>
                                  <p:childTnLst>
                                    <p:set>
                                      <p:cBhvr>
                                        <p:cTn id="73" dur="1" fill="hold">
                                          <p:stCondLst>
                                            <p:cond delay="0"/>
                                          </p:stCondLst>
                                        </p:cTn>
                                        <p:tgtEl>
                                          <p:spTgt spid="66"/>
                                        </p:tgtEl>
                                        <p:attrNameLst>
                                          <p:attrName>style.visibility</p:attrName>
                                        </p:attrNameLst>
                                      </p:cBhvr>
                                      <p:to>
                                        <p:strVal val="visible"/>
                                      </p:to>
                                    </p:set>
                                    <p:animEffect transition="in" filter="fade">
                                      <p:cBhvr>
                                        <p:cTn id="74" dur="400"/>
                                        <p:tgtEl>
                                          <p:spTgt spid="66"/>
                                        </p:tgtEl>
                                      </p:cBhvr>
                                    </p:animEffect>
                                  </p:childTnLst>
                                </p:cTn>
                              </p:par>
                              <p:par>
                                <p:cTn id="75" presetID="10" presetClass="entr" presetSubtype="0" fill="hold" nodeType="withEffect">
                                  <p:stCondLst>
                                    <p:cond delay="0"/>
                                  </p:stCondLst>
                                  <p:childTnLst>
                                    <p:set>
                                      <p:cBhvr>
                                        <p:cTn id="76" dur="1" fill="hold">
                                          <p:stCondLst>
                                            <p:cond delay="0"/>
                                          </p:stCondLst>
                                        </p:cTn>
                                        <p:tgtEl>
                                          <p:spTgt spid="67"/>
                                        </p:tgtEl>
                                        <p:attrNameLst>
                                          <p:attrName>style.visibility</p:attrName>
                                        </p:attrNameLst>
                                      </p:cBhvr>
                                      <p:to>
                                        <p:strVal val="visible"/>
                                      </p:to>
                                    </p:set>
                                    <p:animEffect transition="in" filter="fade">
                                      <p:cBhvr>
                                        <p:cTn id="77"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does it mean to say that a</a:t>
            </a:r>
          </a:p>
          <a:p>
            <a:pPr algn="ctr">
              <a:buNone/>
            </a:pPr>
            <a:r>
              <a:rPr lang="en-US" sz="2800" b="0" i="0" dirty="0">
                <a:solidFill>
                  <a:srgbClr val="555960"/>
                </a:solidFill>
              </a:rPr>
              <a:t>software system is “organized”?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p:cNvCxnSpPr>
          <p:nvPr/>
        </p:nvCxnSpPr>
        <p:spPr>
          <a:xfrm flipV="1">
            <a:off x="4559300" y="5737412"/>
            <a:ext cx="0" cy="349624"/>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5998464"/>
            <a:ext cx="7772400" cy="384048"/>
          </a:xfrm>
          <a:prstGeom prst="rect">
            <a:avLst/>
          </a:prstGeom>
          <a:noFill/>
          <a:ln>
            <a:noFill/>
          </a:ln>
        </p:spPr>
        <p:txBody>
          <a:bodyPr wrap="square" lIns="0" tIns="0" rIns="0" bIns="0" anchor="t">
            <a:normAutofit/>
          </a:bodyPr>
          <a:lstStyle/>
          <a:p>
            <a:pPr algn="ctr">
              <a:buNone/>
            </a:pPr>
            <a:r>
              <a:rPr lang="en-US" sz="2400" b="0" i="1" dirty="0">
                <a:solidFill>
                  <a:srgbClr val="000000"/>
                </a:solidFill>
              </a:rPr>
              <a:t>Architecture: organizing one acceptable realization</a:t>
            </a:r>
          </a:p>
        </p:txBody>
      </p:sp>
      <p:sp>
        <p:nvSpPr>
          <p:cNvPr id="9" name="ArchDefStrip"/>
          <p:cNvSpPr/>
          <p:nvPr/>
        </p:nvSpPr>
        <p:spPr>
          <a:xfrm>
            <a:off x="1139868" y="6437376"/>
            <a:ext cx="6989524" cy="297688"/>
          </a:xfrm>
          <a:prstGeom prst="rect">
            <a:avLst/>
          </a:prstGeom>
          <a:solidFill>
            <a:srgbClr val="F5F0E6"/>
          </a:solidFill>
          <a:ln>
            <a:noFill/>
          </a:ln>
        </p:spPr>
        <p:txBody>
          <a:bodyPr wrap="square" lIns="54864" tIns="27432" rIns="54864" bIns="27432" anchor="ctr">
            <a:noAutofit/>
          </a:bodyPr>
          <a:lstStyle/>
          <a:p>
            <a:pPr algn="ctr">
              <a:buNone/>
            </a:pPr>
            <a:r>
              <a:rPr lang="en-US" sz="2000" b="0" i="0" dirty="0">
                <a:solidFill>
                  <a:srgbClr val="8E6F3E"/>
                </a:solidFill>
              </a:rPr>
              <a:t>major parts · responsibilities · interfaces · interaction rules</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par>
                                <p:cTn id="8" presetID="10" presetClass="entr" presetSubtype="0" fill="hold"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4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fade">
                                      <p:cBhvr>
                                        <p:cTn id="18" dur="400"/>
                                        <p:tgtEl>
                                          <p:spTgt spid="64"/>
                                        </p:tgtEl>
                                      </p:cBhvr>
                                    </p:animEffect>
                                  </p:childTnLst>
                                </p:cTn>
                              </p:par>
                              <p:par>
                                <p:cTn id="19" presetID="10" presetClass="entr" presetSubtype="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fade">
                                      <p:cBhvr>
                                        <p:cTn id="21" dur="400"/>
                                        <p:tgtEl>
                                          <p:spTgt spid="65"/>
                                        </p:tgtEl>
                                      </p:cBhvr>
                                    </p:animEffect>
                                  </p:childTnLst>
                                </p:cTn>
                              </p:par>
                              <p:par>
                                <p:cTn id="22" presetID="10" presetClass="entr" presetSubtype="0" fill="hold"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fade">
                                      <p:cBhvr>
                                        <p:cTn id="24" dur="400"/>
                                        <p:tgtEl>
                                          <p:spTgt spid="6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400"/>
                                        <p:tgtEl>
                                          <p:spTgt spid="67"/>
                                        </p:tgtEl>
                                      </p:cBhvr>
                                    </p:animEffect>
                                  </p:childTnLst>
                                </p:cTn>
                              </p:par>
                              <p:par>
                                <p:cTn id="30" presetID="10" presetClass="entr" presetSubtype="0" fill="hold" nodeType="with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400"/>
                                        <p:tgtEl>
                                          <p:spTgt spid="68"/>
                                        </p:tgtEl>
                                      </p:cBhvr>
                                    </p:animEffect>
                                  </p:childTnLst>
                                </p:cTn>
                              </p:par>
                              <p:par>
                                <p:cTn id="33" presetID="10"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animEffect transition="in" filter="fade">
                                      <p:cBhvr>
                                        <p:cTn id="35" dur="400"/>
                                        <p:tgtEl>
                                          <p:spTgt spid="69"/>
                                        </p:tgtEl>
                                      </p:cBhvr>
                                    </p:animEffect>
                                  </p:childTnLst>
                                </p:cTn>
                              </p:par>
                              <p:par>
                                <p:cTn id="36" presetID="10" presetClass="entr" presetSubtype="0" fill="hold" nodeType="withEffect">
                                  <p:stCondLst>
                                    <p:cond delay="0"/>
                                  </p:stCondLst>
                                  <p:childTnLst>
                                    <p:set>
                                      <p:cBhvr>
                                        <p:cTn id="37" dur="1" fill="hold">
                                          <p:stCondLst>
                                            <p:cond delay="0"/>
                                          </p:stCondLst>
                                        </p:cTn>
                                        <p:tgtEl>
                                          <p:spTgt spid="70"/>
                                        </p:tgtEl>
                                        <p:attrNameLst>
                                          <p:attrName>style.visibility</p:attrName>
                                        </p:attrNameLst>
                                      </p:cBhvr>
                                      <p:to>
                                        <p:strVal val="visible"/>
                                      </p:to>
                                    </p:set>
                                    <p:animEffect transition="in" filter="fade">
                                      <p:cBhvr>
                                        <p:cTn id="38" dur="400"/>
                                        <p:tgtEl>
                                          <p:spTgt spid="70"/>
                                        </p:tgtEl>
                                      </p:cBhvr>
                                    </p:animEffect>
                                  </p:childTnLst>
                                </p:cTn>
                              </p:par>
                              <p:par>
                                <p:cTn id="39" presetID="10" presetClass="entr" presetSubtype="0" fill="hold" nodeType="withEffect">
                                  <p:stCondLst>
                                    <p:cond delay="0"/>
                                  </p:stCondLst>
                                  <p:childTnLst>
                                    <p:set>
                                      <p:cBhvr>
                                        <p:cTn id="40" dur="1" fill="hold">
                                          <p:stCondLst>
                                            <p:cond delay="0"/>
                                          </p:stCondLst>
                                        </p:cTn>
                                        <p:tgtEl>
                                          <p:spTgt spid="71"/>
                                        </p:tgtEl>
                                        <p:attrNameLst>
                                          <p:attrName>style.visibility</p:attrName>
                                        </p:attrNameLst>
                                      </p:cBhvr>
                                      <p:to>
                                        <p:strVal val="visible"/>
                                      </p:to>
                                    </p:set>
                                    <p:animEffect transition="in" filter="fade">
                                      <p:cBhvr>
                                        <p:cTn id="41" dur="400"/>
                                        <p:tgtEl>
                                          <p:spTgt spid="71"/>
                                        </p:tgtEl>
                                      </p:cBhvr>
                                    </p:animEffect>
                                  </p:childTnLst>
                                </p:cTn>
                              </p:par>
                              <p:par>
                                <p:cTn id="42" presetID="10" presetClass="entr" presetSubtype="0" fill="hold" nodeType="withEffect">
                                  <p:stCondLst>
                                    <p:cond delay="0"/>
                                  </p:stCondLst>
                                  <p:childTnLst>
                                    <p:set>
                                      <p:cBhvr>
                                        <p:cTn id="43" dur="1" fill="hold">
                                          <p:stCondLst>
                                            <p:cond delay="0"/>
                                          </p:stCondLst>
                                        </p:cTn>
                                        <p:tgtEl>
                                          <p:spTgt spid="72"/>
                                        </p:tgtEl>
                                        <p:attrNameLst>
                                          <p:attrName>style.visibility</p:attrName>
                                        </p:attrNameLst>
                                      </p:cBhvr>
                                      <p:to>
                                        <p:strVal val="visible"/>
                                      </p:to>
                                    </p:set>
                                    <p:animEffect transition="in" filter="fade">
                                      <p:cBhvr>
                                        <p:cTn id="44" dur="400"/>
                                        <p:tgtEl>
                                          <p:spTgt spid="72"/>
                                        </p:tgtEl>
                                      </p:cBhvr>
                                    </p:animEffect>
                                  </p:childTnLst>
                                </p:cTn>
                              </p:par>
                              <p:par>
                                <p:cTn id="45" presetID="10" presetClass="entr" presetSubtype="0" fill="hold" nodeType="withEffect">
                                  <p:stCondLst>
                                    <p:cond delay="0"/>
                                  </p:stCondLst>
                                  <p:childTnLst>
                                    <p:set>
                                      <p:cBhvr>
                                        <p:cTn id="46" dur="1" fill="hold">
                                          <p:stCondLst>
                                            <p:cond delay="0"/>
                                          </p:stCondLst>
                                        </p:cTn>
                                        <p:tgtEl>
                                          <p:spTgt spid="73"/>
                                        </p:tgtEl>
                                        <p:attrNameLst>
                                          <p:attrName>style.visibility</p:attrName>
                                        </p:attrNameLst>
                                      </p:cBhvr>
                                      <p:to>
                                        <p:strVal val="visible"/>
                                      </p:to>
                                    </p:set>
                                    <p:animEffect transition="in" filter="fade">
                                      <p:cBhvr>
                                        <p:cTn id="47" dur="400"/>
                                        <p:tgtEl>
                                          <p:spTgt spid="7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gtEl>
                                        <p:attrNameLst>
                                          <p:attrName>style.visibility</p:attrName>
                                        </p:attrNameLst>
                                      </p:cBhvr>
                                      <p:to>
                                        <p:strVal val="visible"/>
                                      </p:to>
                                    </p:set>
                                    <p:animEffect transition="in" filter="fade">
                                      <p:cBhvr>
                                        <p:cTn id="52" dur="400"/>
                                        <p:tgtEl>
                                          <p:spTgt spid="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400"/>
                                        <p:tgtEl>
                                          <p:spTgt spid="6"/>
                                        </p:tgtEl>
                                      </p:cBhvr>
                                    </p:animEffect>
                                  </p:childTnLst>
                                </p:cTn>
                              </p:par>
                              <p:par>
                                <p:cTn id="58" presetID="10" presetClass="entr" presetSubtype="0" fill="hold" nodeType="with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4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400"/>
                                        <p:tgtEl>
                                          <p:spTgt spid="103"/>
                                        </p:tgtEl>
                                      </p:cBhvr>
                                    </p:animEffect>
                                  </p:childTnLst>
                                </p:cTn>
                              </p:par>
                              <p:par>
                                <p:cTn id="25" presetID="10" presetClass="entr" presetSubtype="0" fill="hold" nodeType="withEffect">
                                  <p:stCondLst>
                                    <p:cond delay="0"/>
                                  </p:stCondLst>
                                  <p:childTnLst>
                                    <p:set>
                                      <p:cBhvr>
                                        <p:cTn id="26" dur="1" fill="hold">
                                          <p:stCondLst>
                                            <p:cond delay="0"/>
                                          </p:stCondLst>
                                        </p:cTn>
                                        <p:tgtEl>
                                          <p:spTgt spid="110"/>
                                        </p:tgtEl>
                                        <p:attrNameLst>
                                          <p:attrName>style.visibility</p:attrName>
                                        </p:attrNameLst>
                                      </p:cBhvr>
                                      <p:to>
                                        <p:strVal val="visible"/>
                                      </p:to>
                                    </p:set>
                                    <p:animEffect transition="in" filter="fade">
                                      <p:cBhvr>
                                        <p:cTn id="27" dur="400"/>
                                        <p:tgtEl>
                                          <p:spTgt spid="110"/>
                                        </p:tgtEl>
                                      </p:cBhvr>
                                    </p:animEffect>
                                  </p:childTnLst>
                                </p:cTn>
                              </p:par>
                              <p:par>
                                <p:cTn id="28" presetID="10"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fade">
                                      <p:cBhvr>
                                        <p:cTn id="30" dur="400"/>
                                        <p:tgtEl>
                                          <p:spTgt spid="111"/>
                                        </p:tgtEl>
                                      </p:cBhvr>
                                    </p:animEffect>
                                  </p:childTnLst>
                                </p:cTn>
                              </p:par>
                              <p:par>
                                <p:cTn id="31" presetID="10" presetClass="entr" presetSubtype="0" fill="hold" nodeType="with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4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113"/>
                                        </p:tgtEl>
                                        <p:attrNameLst>
                                          <p:attrName>style.visibility</p:attrName>
                                        </p:attrNameLst>
                                      </p:cBhvr>
                                      <p:to>
                                        <p:strVal val="visible"/>
                                      </p:to>
                                    </p:set>
                                    <p:animEffect transition="in" filter="fade">
                                      <p:cBhvr>
                                        <p:cTn id="36" dur="400"/>
                                        <p:tgtEl>
                                          <p:spTgt spid="1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fade">
                                      <p:cBhvr>
                                        <p:cTn id="41" dur="400"/>
                                        <p:tgtEl>
                                          <p:spTgt spid="104"/>
                                        </p:tgtEl>
                                      </p:cBhvr>
                                    </p:animEffect>
                                  </p:childTnLst>
                                </p:cTn>
                              </p:par>
                              <p:par>
                                <p:cTn id="42" presetID="10" presetClass="entr" presetSubtype="0" fill="hold"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fade">
                                      <p:cBhvr>
                                        <p:cTn id="44" dur="400"/>
                                        <p:tgtEl>
                                          <p:spTgt spid="105"/>
                                        </p:tgtEl>
                                      </p:cBhvr>
                                    </p:animEffect>
                                  </p:childTnLst>
                                </p:cTn>
                              </p:par>
                              <p:par>
                                <p:cTn id="45" presetID="10"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fade">
                                      <p:cBhvr>
                                        <p:cTn id="47" dur="400"/>
                                        <p:tgtEl>
                                          <p:spTgt spid="114"/>
                                        </p:tgtEl>
                                      </p:cBhvr>
                                    </p:animEffect>
                                  </p:childTnLst>
                                </p:cTn>
                              </p:par>
                              <p:par>
                                <p:cTn id="48" presetID="10" presetClass="entr" presetSubtype="0" fill="hold" nodeType="withEffect">
                                  <p:stCondLst>
                                    <p:cond delay="0"/>
                                  </p:stCondLst>
                                  <p:childTnLst>
                                    <p:set>
                                      <p:cBhvr>
                                        <p:cTn id="49" dur="1" fill="hold">
                                          <p:stCondLst>
                                            <p:cond delay="0"/>
                                          </p:stCondLst>
                                        </p:cTn>
                                        <p:tgtEl>
                                          <p:spTgt spid="115"/>
                                        </p:tgtEl>
                                        <p:attrNameLst>
                                          <p:attrName>style.visibility</p:attrName>
                                        </p:attrNameLst>
                                      </p:cBhvr>
                                      <p:to>
                                        <p:strVal val="visible"/>
                                      </p:to>
                                    </p:set>
                                    <p:animEffect transition="in" filter="fade">
                                      <p:cBhvr>
                                        <p:cTn id="50" dur="400"/>
                                        <p:tgtEl>
                                          <p:spTgt spid="115"/>
                                        </p:tgtEl>
                                      </p:cBhvr>
                                    </p:animEffect>
                                  </p:childTnLst>
                                </p:cTn>
                              </p:par>
                              <p:par>
                                <p:cTn id="51" presetID="10" presetClass="entr" presetSubtype="0" fill="hold" nodeType="withEffect">
                                  <p:stCondLst>
                                    <p:cond delay="0"/>
                                  </p:stCondLst>
                                  <p:childTnLst>
                                    <p:set>
                                      <p:cBhvr>
                                        <p:cTn id="52" dur="1" fill="hold">
                                          <p:stCondLst>
                                            <p:cond delay="0"/>
                                          </p:stCondLst>
                                        </p:cTn>
                                        <p:tgtEl>
                                          <p:spTgt spid="116"/>
                                        </p:tgtEl>
                                        <p:attrNameLst>
                                          <p:attrName>style.visibility</p:attrName>
                                        </p:attrNameLst>
                                      </p:cBhvr>
                                      <p:to>
                                        <p:strVal val="visible"/>
                                      </p:to>
                                    </p:set>
                                    <p:animEffect transition="in" filter="fade">
                                      <p:cBhvr>
                                        <p:cTn id="53" dur="400"/>
                                        <p:tgtEl>
                                          <p:spTgt spid="11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06"/>
                                        </p:tgtEl>
                                        <p:attrNameLst>
                                          <p:attrName>style.visibility</p:attrName>
                                        </p:attrNameLst>
                                      </p:cBhvr>
                                      <p:to>
                                        <p:strVal val="visible"/>
                                      </p:to>
                                    </p:set>
                                    <p:animEffect transition="in" filter="fade">
                                      <p:cBhvr>
                                        <p:cTn id="58" dur="400"/>
                                        <p:tgtEl>
                                          <p:spTgt spid="106"/>
                                        </p:tgtEl>
                                      </p:cBhvr>
                                    </p:animEffect>
                                  </p:childTnLst>
                                </p:cTn>
                              </p:par>
                              <p:par>
                                <p:cTn id="59" presetID="10" presetClass="entr" presetSubtype="0" fill="hold" nodeType="withEffect">
                                  <p:stCondLst>
                                    <p:cond delay="0"/>
                                  </p:stCondLst>
                                  <p:childTnLst>
                                    <p:set>
                                      <p:cBhvr>
                                        <p:cTn id="60" dur="1" fill="hold">
                                          <p:stCondLst>
                                            <p:cond delay="0"/>
                                          </p:stCondLst>
                                        </p:cTn>
                                        <p:tgtEl>
                                          <p:spTgt spid="107"/>
                                        </p:tgtEl>
                                        <p:attrNameLst>
                                          <p:attrName>style.visibility</p:attrName>
                                        </p:attrNameLst>
                                      </p:cBhvr>
                                      <p:to>
                                        <p:strVal val="visible"/>
                                      </p:to>
                                    </p:set>
                                    <p:animEffect transition="in" filter="fade">
                                      <p:cBhvr>
                                        <p:cTn id="61" dur="400"/>
                                        <p:tgtEl>
                                          <p:spTgt spid="107"/>
                                        </p:tgtEl>
                                      </p:cBhvr>
                                    </p:animEffect>
                                  </p:childTnLst>
                                </p:cTn>
                              </p:par>
                              <p:par>
                                <p:cTn id="62" presetID="10" presetClass="entr" presetSubtype="0" fill="hold" nodeType="withEffect">
                                  <p:stCondLst>
                                    <p:cond delay="0"/>
                                  </p:stCondLst>
                                  <p:childTnLst>
                                    <p:set>
                                      <p:cBhvr>
                                        <p:cTn id="63" dur="1" fill="hold">
                                          <p:stCondLst>
                                            <p:cond delay="0"/>
                                          </p:stCondLst>
                                        </p:cTn>
                                        <p:tgtEl>
                                          <p:spTgt spid="117"/>
                                        </p:tgtEl>
                                        <p:attrNameLst>
                                          <p:attrName>style.visibility</p:attrName>
                                        </p:attrNameLst>
                                      </p:cBhvr>
                                      <p:to>
                                        <p:strVal val="visible"/>
                                      </p:to>
                                    </p:set>
                                    <p:animEffect transition="in" filter="fade">
                                      <p:cBhvr>
                                        <p:cTn id="64" dur="400"/>
                                        <p:tgtEl>
                                          <p:spTgt spid="117"/>
                                        </p:tgtEl>
                                      </p:cBhvr>
                                    </p:animEffect>
                                  </p:childTnLst>
                                </p:cTn>
                              </p:par>
                              <p:par>
                                <p:cTn id="65" presetID="10" presetClass="entr" presetSubtype="0" fill="hold" nodeType="withEffect">
                                  <p:stCondLst>
                                    <p:cond delay="0"/>
                                  </p:stCondLst>
                                  <p:childTnLst>
                                    <p:set>
                                      <p:cBhvr>
                                        <p:cTn id="66" dur="1" fill="hold">
                                          <p:stCondLst>
                                            <p:cond delay="0"/>
                                          </p:stCondLst>
                                        </p:cTn>
                                        <p:tgtEl>
                                          <p:spTgt spid="118"/>
                                        </p:tgtEl>
                                        <p:attrNameLst>
                                          <p:attrName>style.visibility</p:attrName>
                                        </p:attrNameLst>
                                      </p:cBhvr>
                                      <p:to>
                                        <p:strVal val="visible"/>
                                      </p:to>
                                    </p:set>
                                    <p:animEffect transition="in" filter="fade">
                                      <p:cBhvr>
                                        <p:cTn id="67" dur="400"/>
                                        <p:tgtEl>
                                          <p:spTgt spid="118"/>
                                        </p:tgtEl>
                                      </p:cBhvr>
                                    </p:animEffect>
                                  </p:childTnLst>
                                </p:cTn>
                              </p:par>
                              <p:par>
                                <p:cTn id="68" presetID="10" presetClass="entr" presetSubtype="0"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fade">
                                      <p:cBhvr>
                                        <p:cTn id="70" dur="400"/>
                                        <p:tgtEl>
                                          <p:spTgt spid="119"/>
                                        </p:tgtEl>
                                      </p:cBhvr>
                                    </p:animEffect>
                                  </p:childTnLst>
                                </p:cTn>
                              </p:par>
                              <p:par>
                                <p:cTn id="71" presetID="10"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fade">
                                      <p:cBhvr>
                                        <p:cTn id="73" dur="400"/>
                                        <p:tgtEl>
                                          <p:spTgt spid="120"/>
                                        </p:tgtEl>
                                      </p:cBhvr>
                                    </p:animEffect>
                                  </p:childTnLst>
                                </p:cTn>
                              </p:par>
                              <p:par>
                                <p:cTn id="74" presetID="10" presetClass="entr" presetSubtype="0"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fade">
                                      <p:cBhvr>
                                        <p:cTn id="76" dur="400"/>
                                        <p:tgtEl>
                                          <p:spTgt spid="121"/>
                                        </p:tgtEl>
                                      </p:cBhvr>
                                    </p:animEffect>
                                  </p:childTnLst>
                                </p:cTn>
                              </p:par>
                              <p:par>
                                <p:cTn id="77" presetID="10"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animEffect transition="in" filter="fade">
                                      <p:cBhvr>
                                        <p:cTn id="79" dur="400"/>
                                        <p:tgtEl>
                                          <p:spTgt spid="122"/>
                                        </p:tgtEl>
                                      </p:cBhvr>
                                    </p:animEffect>
                                  </p:childTnLst>
                                </p:cTn>
                              </p:par>
                              <p:par>
                                <p:cTn id="80" presetID="10" presetClass="entr" presetSubtype="0" fill="hold" nodeType="withEffect">
                                  <p:stCondLst>
                                    <p:cond delay="0"/>
                                  </p:stCondLst>
                                  <p:childTnLst>
                                    <p:set>
                                      <p:cBhvr>
                                        <p:cTn id="81" dur="1" fill="hold">
                                          <p:stCondLst>
                                            <p:cond delay="0"/>
                                          </p:stCondLst>
                                        </p:cTn>
                                        <p:tgtEl>
                                          <p:spTgt spid="123"/>
                                        </p:tgtEl>
                                        <p:attrNameLst>
                                          <p:attrName>style.visibility</p:attrName>
                                        </p:attrNameLst>
                                      </p:cBhvr>
                                      <p:to>
                                        <p:strVal val="visible"/>
                                      </p:to>
                                    </p:set>
                                    <p:animEffect transition="in" filter="fade">
                                      <p:cBhvr>
                                        <p:cTn id="82" dur="400"/>
                                        <p:tgtEl>
                                          <p:spTgt spid="123"/>
                                        </p:tgtEl>
                                      </p:cBhvr>
                                    </p:animEffect>
                                  </p:childTnLst>
                                </p:cTn>
                              </p:par>
                              <p:par>
                                <p:cTn id="83" presetID="10" presetClass="entr" presetSubtype="0" fill="hold" nodeType="withEffect">
                                  <p:stCondLst>
                                    <p:cond delay="0"/>
                                  </p:stCondLst>
                                  <p:childTnLst>
                                    <p:set>
                                      <p:cBhvr>
                                        <p:cTn id="84" dur="1" fill="hold">
                                          <p:stCondLst>
                                            <p:cond delay="0"/>
                                          </p:stCondLst>
                                        </p:cTn>
                                        <p:tgtEl>
                                          <p:spTgt spid="140"/>
                                        </p:tgtEl>
                                        <p:attrNameLst>
                                          <p:attrName>style.visibility</p:attrName>
                                        </p:attrNameLst>
                                      </p:cBhvr>
                                      <p:to>
                                        <p:strVal val="visible"/>
                                      </p:to>
                                    </p:set>
                                    <p:animEffect transition="in" filter="fade">
                                      <p:cBhvr>
                                        <p:cTn id="85" dur="400"/>
                                        <p:tgtEl>
                                          <p:spTgt spid="140"/>
                                        </p:tgtEl>
                                      </p:cBhvr>
                                    </p:animEffect>
                                  </p:childTnLst>
                                </p:cTn>
                              </p:par>
                              <p:par>
                                <p:cTn id="86" presetID="10" presetClass="entr" presetSubtype="0" fill="hold" nodeType="withEffect">
                                  <p:stCondLst>
                                    <p:cond delay="0"/>
                                  </p:stCondLst>
                                  <p:childTnLst>
                                    <p:set>
                                      <p:cBhvr>
                                        <p:cTn id="87" dur="1" fill="hold">
                                          <p:stCondLst>
                                            <p:cond delay="0"/>
                                          </p:stCondLst>
                                        </p:cTn>
                                        <p:tgtEl>
                                          <p:spTgt spid="124"/>
                                        </p:tgtEl>
                                        <p:attrNameLst>
                                          <p:attrName>style.visibility</p:attrName>
                                        </p:attrNameLst>
                                      </p:cBhvr>
                                      <p:to>
                                        <p:strVal val="visible"/>
                                      </p:to>
                                    </p:set>
                                    <p:animEffect transition="in" filter="fade">
                                      <p:cBhvr>
                                        <p:cTn id="88" dur="4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61" name="Band61"/>
          <p:cNvSpPr/>
          <p:nvPr/>
        </p:nvSpPr>
        <p:spPr>
          <a:xfrm>
            <a:off x="279400" y="4560000"/>
            <a:ext cx="8585200" cy="560000"/>
          </a:xfrm>
          <a:prstGeom prst="rect">
            <a:avLst/>
          </a:prstGeom>
          <a:solidFill>
            <a:srgbClr val="F5F1E8"/>
          </a:solidFill>
          <a:ln>
            <a:noFill/>
          </a:ln>
        </p:spPr>
        <p:txBody>
          <a:bodyPr wrap="square" lIns="109728" tIns="82296" rIns="109728" bIns="82296" anchor="ctr">
            <a:noAutofit/>
          </a:bodyPr>
          <a:lstStyle/>
          <a:p>
            <a:pPr algn="ctr">
              <a:buNone/>
            </a:pPr>
            <a:r>
              <a:rPr lang="en-US" sz="1600" b="1" i="0" dirty="0">
                <a:solidFill>
                  <a:srgbClr val="8E6F3E"/>
                </a:solidFill>
              </a:rPr>
              <a:t>CHANGE TOGETHER? · FAIL TOGETHER? · SCALE TOGETHER? · CONSISTENT TOGETHER? · SECURE TOGETHER? · OWNED TOGETHER?</a:t>
            </a:r>
          </a:p>
        </p:txBody>
      </p:sp>
      <p:sp>
        <p:nvSpPr>
          <p:cNvPr id="62" name="T62"/>
          <p:cNvSpPr txBox="1"/>
          <p:nvPr/>
        </p:nvSpPr>
        <p:spPr>
          <a:xfrm>
            <a:off x="685800" y="5170000"/>
            <a:ext cx="7772400" cy="360000"/>
          </a:xfrm>
          <a:prstGeom prst="rect">
            <a:avLst/>
          </a:prstGeom>
          <a:noFill/>
          <a:ln>
            <a:noFill/>
          </a:ln>
        </p:spPr>
        <p:txBody>
          <a:bodyPr wrap="square" lIns="0" tIns="0" rIns="0" bIns="0" anchor="t">
            <a:normAutofit/>
          </a:bodyPr>
          <a:lstStyle/>
          <a:p>
            <a:pPr algn="ctr">
              <a:buNone/>
            </a:pPr>
            <a:r>
              <a:rPr lang="en-US" sz="18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046000" y="12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046000" y="19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046000" y="26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046000" y="33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046000" y="1250000"/>
            <a:ext cx="2600000" cy="28000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00000"/>
            <a:ext cx="0" cy="3050000"/>
          </a:xfrm>
          <a:prstGeom prst="line">
            <a:avLst/>
          </a:prstGeom>
          <a:ln w="28575">
            <a:solidFill>
              <a:srgbClr val="C9B991"/>
            </a:solidFill>
            <a:prstDash val="dash"/>
          </a:ln>
        </p:spPr>
      </p:cxnSp>
      <p:sp>
        <p:nvSpPr>
          <p:cNvPr id="107" name="OrgBLbl"/>
          <p:cNvSpPr txBox="1"/>
          <p:nvPr/>
        </p:nvSpPr>
        <p:spPr>
          <a:xfrm>
            <a:off x="459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2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697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model · advise</a:t>
            </a:r>
          </a:p>
        </p:txBody>
      </p:sp>
      <p:sp>
        <p:nvSpPr>
          <p:cNvPr id="110" name="OrgBShare"/>
          <p:cNvSpPr/>
          <p:nvPr/>
        </p:nvSpPr>
        <p:spPr>
          <a:xfrm>
            <a:off x="5845000" y="2950000"/>
            <a:ext cx="2050000" cy="80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d111"/>
          <p:cNvCxnSpPr/>
          <p:nvPr/>
        </p:nvCxnSpPr>
        <p:spPr>
          <a:xfrm>
            <a:off x="5745000" y="2100000"/>
            <a:ext cx="0" cy="620000"/>
          </a:xfrm>
          <a:prstGeom prst="line">
            <a:avLst/>
          </a:prstGeom>
          <a:ln w="44450">
            <a:solidFill>
              <a:srgbClr val="8E6F3E"/>
            </a:solidFill>
          </a:ln>
        </p:spPr>
      </p:cxnSp>
      <p:cxnSp>
        <p:nvCxnSpPr>
          <p:cNvPr id="112" name="OrgBd112"/>
          <p:cNvCxnSpPr/>
          <p:nvPr/>
        </p:nvCxnSpPr>
        <p:spPr>
          <a:xfrm>
            <a:off x="7995000" y="2100000"/>
            <a:ext cx="0" cy="620000"/>
          </a:xfrm>
          <a:prstGeom prst="line">
            <a:avLst/>
          </a:prstGeom>
          <a:ln w="44450">
            <a:solidFill>
              <a:srgbClr val="8E6F3E"/>
            </a:solidFill>
          </a:ln>
        </p:spPr>
      </p:cxnSp>
      <p:sp>
        <p:nvSpPr>
          <p:cNvPr id="113" name="Cap"/>
          <p:cNvSpPr txBox="1"/>
          <p:nvPr/>
        </p:nvSpPr>
        <p:spPr>
          <a:xfrm>
            <a:off x="685800" y="409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cxnSp>
        <p:nvCxnSpPr>
          <p:cNvPr id="114" name="OrgBh1"/>
          <p:cNvCxnSpPr/>
          <p:nvPr/>
        </p:nvCxnSpPr>
        <p:spPr>
          <a:xfrm>
            <a:off x="5745000" y="2700000"/>
            <a:ext cx="725000" cy="0"/>
          </a:xfrm>
          <a:prstGeom prst="line">
            <a:avLst/>
          </a:prstGeom>
          <a:ln w="44450">
            <a:solidFill>
              <a:srgbClr val="8E6F3E"/>
            </a:solidFill>
          </a:ln>
        </p:spPr>
      </p:cxnSp>
      <p:cxnSp>
        <p:nvCxnSpPr>
          <p:cNvPr id="115" name="OrgBv1"/>
          <p:cNvCxnSpPr/>
          <p:nvPr/>
        </p:nvCxnSpPr>
        <p:spPr>
          <a:xfrm>
            <a:off x="6470000" y="2700000"/>
            <a:ext cx="0" cy="250000"/>
          </a:xfrm>
          <a:prstGeom prst="line">
            <a:avLst/>
          </a:prstGeom>
          <a:ln w="44450">
            <a:solidFill>
              <a:srgbClr val="8E6F3E"/>
            </a:solidFill>
            <a:tailEnd type="triangle" w="med" len="med"/>
          </a:ln>
        </p:spPr>
      </p:cxnSp>
      <p:cxnSp>
        <p:nvCxnSpPr>
          <p:cNvPr id="116" name="OrgBh2"/>
          <p:cNvCxnSpPr/>
          <p:nvPr/>
        </p:nvCxnSpPr>
        <p:spPr>
          <a:xfrm>
            <a:off x="7270000" y="2700000"/>
            <a:ext cx="725000" cy="0"/>
          </a:xfrm>
          <a:prstGeom prst="line">
            <a:avLst/>
          </a:prstGeom>
          <a:ln w="44450">
            <a:solidFill>
              <a:srgbClr val="8E6F3E"/>
            </a:solidFill>
          </a:ln>
        </p:spPr>
      </p:cxnSp>
      <p:cxnSp>
        <p:nvCxnSpPr>
          <p:cNvPr id="117" name="OrgBv2"/>
          <p:cNvCxnSpPr/>
          <p:nvPr/>
        </p:nvCxnSpPr>
        <p:spPr>
          <a:xfrm>
            <a:off x="7270000" y="2700000"/>
            <a:ext cx="0" cy="250000"/>
          </a:xfrm>
          <a:prstGeom prst="line">
            <a:avLst/>
          </a:prstGeom>
          <a:ln w="4445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fade">
                                      <p:cBhvr>
                                        <p:cTn id="12" dur="400"/>
                                        <p:tgtEl>
                                          <p:spTgt spid="100"/>
                                        </p:tgtEl>
                                      </p:cBhvr>
                                    </p:animEffect>
                                  </p:childTnLst>
                                </p:cTn>
                              </p:par>
                              <p:par>
                                <p:cTn id="13" presetID="10" presetClass="entr" presetSubtype="0" fill="hold"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4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4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400"/>
                                        <p:tgtEl>
                                          <p:spTgt spid="104"/>
                                        </p:tgtEl>
                                      </p:cBhvr>
                                    </p:animEffect>
                                  </p:childTnLst>
                                </p:cTn>
                              </p:par>
                              <p:par>
                                <p:cTn id="25" presetID="10" presetClass="entr" presetSubtype="0" fill="hold" nodeType="withEffect">
                                  <p:stCondLst>
                                    <p:cond delay="0"/>
                                  </p:stCondLst>
                                  <p:childTnLst>
                                    <p:set>
                                      <p:cBhvr>
                                        <p:cTn id="26" dur="1" fill="hold">
                                          <p:stCondLst>
                                            <p:cond delay="0"/>
                                          </p:stCondLst>
                                        </p:cTn>
                                        <p:tgtEl>
                                          <p:spTgt spid="105"/>
                                        </p:tgtEl>
                                        <p:attrNameLst>
                                          <p:attrName>style.visibility</p:attrName>
                                        </p:attrNameLst>
                                      </p:cBhvr>
                                      <p:to>
                                        <p:strVal val="visible"/>
                                      </p:to>
                                    </p:set>
                                    <p:animEffect transition="in" filter="fade">
                                      <p:cBhvr>
                                        <p:cTn id="27" dur="400"/>
                                        <p:tgtEl>
                                          <p:spTgt spid="1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par>
                                <p:cTn id="39" presetID="10" presetClass="entr" presetSubtype="0" fill="hold" nodeType="withEffect">
                                  <p:stCondLst>
                                    <p:cond delay="0"/>
                                  </p:stCondLst>
                                  <p:childTnLst>
                                    <p:set>
                                      <p:cBhvr>
                                        <p:cTn id="40" dur="1" fill="hold">
                                          <p:stCondLst>
                                            <p:cond delay="0"/>
                                          </p:stCondLst>
                                        </p:cTn>
                                        <p:tgtEl>
                                          <p:spTgt spid="110"/>
                                        </p:tgtEl>
                                        <p:attrNameLst>
                                          <p:attrName>style.visibility</p:attrName>
                                        </p:attrNameLst>
                                      </p:cBhvr>
                                      <p:to>
                                        <p:strVal val="visible"/>
                                      </p:to>
                                    </p:set>
                                    <p:animEffect transition="in" filter="fade">
                                      <p:cBhvr>
                                        <p:cTn id="41" dur="400"/>
                                        <p:tgtEl>
                                          <p:spTgt spid="110"/>
                                        </p:tgtEl>
                                      </p:cBhvr>
                                    </p:animEffect>
                                  </p:childTnLst>
                                </p:cTn>
                              </p:par>
                              <p:par>
                                <p:cTn id="42" presetID="10" presetClass="entr" presetSubtype="0" fill="hold" nodeType="with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4"/>
                                        </p:tgtEl>
                                        <p:attrNameLst>
                                          <p:attrName>style.visibility</p:attrName>
                                        </p:attrNameLst>
                                      </p:cBhvr>
                                      <p:to>
                                        <p:strVal val="visible"/>
                                      </p:to>
                                    </p:set>
                                    <p:animEffect transition="in" filter="fade">
                                      <p:cBhvr>
                                        <p:cTn id="50" dur="400"/>
                                        <p:tgtEl>
                                          <p:spTgt spid="114"/>
                                        </p:tgtEl>
                                      </p:cBhvr>
                                    </p:animEffect>
                                  </p:childTnLst>
                                </p:cTn>
                              </p:par>
                              <p:par>
                                <p:cTn id="51" presetID="10" presetClass="entr" presetSubtype="0" fill="hold" nodeType="withEffect">
                                  <p:stCondLst>
                                    <p:cond delay="0"/>
                                  </p:stCondLst>
                                  <p:childTnLst>
                                    <p:set>
                                      <p:cBhvr>
                                        <p:cTn id="52" dur="1" fill="hold">
                                          <p:stCondLst>
                                            <p:cond delay="0"/>
                                          </p:stCondLst>
                                        </p:cTn>
                                        <p:tgtEl>
                                          <p:spTgt spid="115"/>
                                        </p:tgtEl>
                                        <p:attrNameLst>
                                          <p:attrName>style.visibility</p:attrName>
                                        </p:attrNameLst>
                                      </p:cBhvr>
                                      <p:to>
                                        <p:strVal val="visible"/>
                                      </p:to>
                                    </p:set>
                                    <p:animEffect transition="in" filter="fade">
                                      <p:cBhvr>
                                        <p:cTn id="53" dur="400"/>
                                        <p:tgtEl>
                                          <p:spTgt spid="115"/>
                                        </p:tgtEl>
                                      </p:cBhvr>
                                    </p:animEffect>
                                  </p:childTnLst>
                                </p:cTn>
                              </p:par>
                              <p:par>
                                <p:cTn id="54" presetID="10" presetClass="entr" presetSubtype="0" fill="hold" nodeType="withEffect">
                                  <p:stCondLst>
                                    <p:cond delay="0"/>
                                  </p:stCondLst>
                                  <p:childTnLst>
                                    <p:set>
                                      <p:cBhvr>
                                        <p:cTn id="55" dur="1" fill="hold">
                                          <p:stCondLst>
                                            <p:cond delay="0"/>
                                          </p:stCondLst>
                                        </p:cTn>
                                        <p:tgtEl>
                                          <p:spTgt spid="116"/>
                                        </p:tgtEl>
                                        <p:attrNameLst>
                                          <p:attrName>style.visibility</p:attrName>
                                        </p:attrNameLst>
                                      </p:cBhvr>
                                      <p:to>
                                        <p:strVal val="visible"/>
                                      </p:to>
                                    </p:set>
                                    <p:animEffect transition="in" filter="fade">
                                      <p:cBhvr>
                                        <p:cTn id="56" dur="400"/>
                                        <p:tgtEl>
                                          <p:spTgt spid="116"/>
                                        </p:tgtEl>
                                      </p:cBhvr>
                                    </p:animEffect>
                                  </p:childTnLst>
                                </p:cTn>
                              </p:par>
                              <p:par>
                                <p:cTn id="57" presetID="10" presetClass="entr" presetSubtype="0" fill="hold" nodeType="withEffect">
                                  <p:stCondLst>
                                    <p:cond delay="0"/>
                                  </p:stCondLst>
                                  <p:childTnLst>
                                    <p:set>
                                      <p:cBhvr>
                                        <p:cTn id="58" dur="1" fill="hold">
                                          <p:stCondLst>
                                            <p:cond delay="0"/>
                                          </p:stCondLst>
                                        </p:cTn>
                                        <p:tgtEl>
                                          <p:spTgt spid="117"/>
                                        </p:tgtEl>
                                        <p:attrNameLst>
                                          <p:attrName>style.visibility</p:attrName>
                                        </p:attrNameLst>
                                      </p:cBhvr>
                                      <p:to>
                                        <p:strVal val="visible"/>
                                      </p:to>
                                    </p:set>
                                    <p:animEffect transition="in" filter="fade">
                                      <p:cBhvr>
                                        <p:cTn id="59" dur="400"/>
                                        <p:tgtEl>
                                          <p:spTgt spid="1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3"/>
                                        </p:tgtEl>
                                        <p:attrNameLst>
                                          <p:attrName>style.visibility</p:attrName>
                                        </p:attrNameLst>
                                      </p:cBhvr>
                                      <p:to>
                                        <p:strVal val="visible"/>
                                      </p:to>
                                    </p:set>
                                    <p:animEffect transition="in" filter="fade">
                                      <p:cBhvr>
                                        <p:cTn id="64" dur="400"/>
                                        <p:tgtEl>
                                          <p:spTgt spid="11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
                                        </p:tgtEl>
                                        <p:attrNameLst>
                                          <p:attrName>style.visibility</p:attrName>
                                        </p:attrNameLst>
                                      </p:cBhvr>
                                      <p:to>
                                        <p:strVal val="visible"/>
                                      </p:to>
                                    </p:set>
                                    <p:animEffect transition="in" filter="fade">
                                      <p:cBhvr>
                                        <p:cTn id="69" dur="400"/>
                                        <p:tgtEl>
                                          <p:spTgt spid="6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3"/>
                                        </p:tgtEl>
                                        <p:attrNameLst>
                                          <p:attrName>style.visibility</p:attrName>
                                        </p:attrNameLst>
                                      </p:cBhvr>
                                      <p:to>
                                        <p:strVal val="visible"/>
                                      </p:to>
                                    </p:set>
                                    <p:animEffect transition="in" filter="fade">
                                      <p:cBhvr>
                                        <p:cTn id="74"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creates possibilities and constraints</a:t>
            </a:r>
          </a:p>
        </p:txBody>
      </p:sp>
      <p:sp>
        <p:nvSpPr>
          <p:cNvPr id="3" name="Slide Number Placeholder 2"/>
          <p:cNvSpPr>
            <a:spLocks noGrp="1"/>
          </p:cNvSpPr>
          <p:nvPr>
            <p:ph type="sldNum" sz="quarter" idx="4"/>
          </p:nvPr>
        </p:nvSpPr>
        <p:spPr/>
        <p:txBody>
          <a:bodyPr/>
          <a:lstStyle/>
          <a:p>
            <a:fld id="{4E1D2A6B-8C3F-4A5D-9E7B-2F6C1D8A9B30}" type="slidenum">
              <a:rPr lang="en-US" smtClean="0"/>
              <a:t>7</a:t>
            </a:fld>
            <a:endParaRPr lang="en-US"/>
          </a:p>
        </p:txBody>
      </p:sp>
      <p:sp>
        <p:nvSpPr>
          <p:cNvPr id="100" name="SketchHeader"/>
          <p:cNvSpPr txBox="1"/>
          <p:nvPr/>
        </p:nvSpPr>
        <p:spPr>
          <a:xfrm>
            <a:off x="258318" y="1150000"/>
            <a:ext cx="4116324" cy="300000"/>
          </a:xfrm>
          <a:prstGeom prst="rect">
            <a:avLst/>
          </a:prstGeom>
          <a:noFill/>
          <a:ln>
            <a:noFill/>
          </a:ln>
        </p:spPr>
        <p:txBody>
          <a:bodyPr wrap="square" lIns="0" tIns="0" rIns="0" bIns="0" anchor="t">
            <a:normAutofit/>
          </a:bodyPr>
          <a:lstStyle/>
          <a:p>
            <a:pPr algn="ctr">
              <a:buNone/>
            </a:pPr>
            <a:r>
              <a:rPr lang="en-US" sz="1600" b="1" i="0" dirty="0">
                <a:solidFill>
                  <a:srgbClr val="8E6F3E"/>
                </a:solidFill>
              </a:rPr>
              <a:t>BUILDING ARCHITECTURE</a:t>
            </a:r>
          </a:p>
        </p:txBody>
      </p:sp>
      <p:sp>
        <p:nvSpPr>
          <p:cNvPr id="101" name="WallLabel"/>
          <p:cNvSpPr txBox="1"/>
          <p:nvPr/>
        </p:nvSpPr>
        <p:spPr>
          <a:xfrm>
            <a:off x="258318" y="1500000"/>
            <a:ext cx="4116324" cy="28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structural wall</a:t>
            </a:r>
          </a:p>
        </p:txBody>
      </p:sp>
      <p:sp>
        <p:nvSpPr>
          <p:cNvPr id="102" name="WallRect"/>
          <p:cNvSpPr/>
          <p:nvPr/>
        </p:nvSpPr>
        <p:spPr>
          <a:xfrm>
            <a:off x="1366480" y="1850000"/>
            <a:ext cx="1900000" cy="3000000"/>
          </a:xfrm>
          <a:prstGeom prst="rect">
            <a:avLst/>
          </a:prstGeom>
          <a:solidFill>
            <a:srgbClr val="C9B991"/>
          </a:solidFill>
          <a:ln w="19050">
            <a:solidFill>
              <a:srgbClr val="555960"/>
            </a:solidFill>
          </a:ln>
        </p:spPr>
        <p:txBody>
          <a:bodyPr wrap="square" lIns="0" tIns="0" rIns="0" bIns="0" anchor="ctr">
            <a:normAutofit/>
          </a:bodyPr>
          <a:lstStyle/>
          <a:p>
            <a:endParaRPr/>
          </a:p>
        </p:txBody>
      </p:sp>
      <p:sp>
        <p:nvSpPr>
          <p:cNvPr id="103" name="ServiceSpace"/>
          <p:cNvSpPr/>
          <p:nvPr/>
        </p:nvSpPr>
        <p:spPr>
          <a:xfrm>
            <a:off x="1741480" y="2750000"/>
            <a:ext cx="1150000" cy="1200000"/>
          </a:xfrm>
          <a:prstGeom prst="rect">
            <a:avLst/>
          </a:prstGeom>
          <a:solidFill>
            <a:srgbClr val="F5F1E8"/>
          </a:solidFill>
          <a:ln w="12700">
            <a:solidFill>
              <a:srgbClr val="555960"/>
            </a:solidFill>
            <a:prstDash val="dash"/>
          </a:ln>
        </p:spPr>
        <p:txBody>
          <a:bodyPr wrap="square" lIns="27432" tIns="27432" rIns="27432" bIns="27432" anchor="ctr">
            <a:normAutofit/>
          </a:bodyPr>
          <a:lstStyle/>
          <a:p>
            <a:pPr algn="ctr">
              <a:buNone/>
            </a:pPr>
            <a:r>
              <a:rPr lang="en-US" sz="1600" b="0" i="0" dirty="0">
                <a:solidFill>
                  <a:srgbClr val="555960"/>
                </a:solidFill>
              </a:rPr>
              <a:t>service space</a:t>
            </a:r>
          </a:p>
        </p:txBody>
      </p:sp>
      <p:sp>
        <p:nvSpPr>
          <p:cNvPr id="104" name="RoomLeft"/>
          <p:cNvSpPr txBox="1"/>
          <p:nvPr/>
        </p:nvSpPr>
        <p:spPr>
          <a:xfrm>
            <a:off x="258318" y="3175000"/>
            <a:ext cx="1058162" cy="350000"/>
          </a:xfrm>
          <a:prstGeom prst="rect">
            <a:avLst/>
          </a:prstGeom>
          <a:noFill/>
          <a:ln>
            <a:noFill/>
          </a:ln>
        </p:spPr>
        <p:txBody>
          <a:bodyPr wrap="square" lIns="0" tIns="0" rIns="0" bIns="0" anchor="ctr">
            <a:normAutofit/>
          </a:bodyPr>
          <a:lstStyle/>
          <a:p>
            <a:pPr algn="ctr">
              <a:buNone/>
            </a:pPr>
            <a:r>
              <a:rPr lang="en-US" sz="1600" b="0" i="1" dirty="0">
                <a:solidFill>
                  <a:srgbClr val="555960"/>
                </a:solidFill>
              </a:rPr>
              <a:t>room</a:t>
            </a:r>
          </a:p>
        </p:txBody>
      </p:sp>
      <p:sp>
        <p:nvSpPr>
          <p:cNvPr id="105" name="RoomRight"/>
          <p:cNvSpPr txBox="1"/>
          <p:nvPr/>
        </p:nvSpPr>
        <p:spPr>
          <a:xfrm>
            <a:off x="3316480" y="3175000"/>
            <a:ext cx="1058162" cy="350000"/>
          </a:xfrm>
          <a:prstGeom prst="rect">
            <a:avLst/>
          </a:prstGeom>
          <a:noFill/>
          <a:ln>
            <a:noFill/>
          </a:ln>
        </p:spPr>
        <p:txBody>
          <a:bodyPr wrap="square" lIns="0" tIns="0" rIns="0" bIns="0" anchor="ctr">
            <a:normAutofit/>
          </a:bodyPr>
          <a:lstStyle/>
          <a:p>
            <a:pPr algn="ctr">
              <a:buNone/>
            </a:pPr>
            <a:r>
              <a:rPr lang="en-US" sz="1600" b="0" i="1" dirty="0">
                <a:solidFill>
                  <a:srgbClr val="555960"/>
                </a:solidFill>
              </a:rPr>
              <a:t>room</a:t>
            </a:r>
          </a:p>
        </p:txBody>
      </p:sp>
      <p:sp>
        <p:nvSpPr>
          <p:cNvPr id="106" name="SketchCaption"/>
          <p:cNvSpPr txBox="1"/>
          <p:nvPr/>
        </p:nvSpPr>
        <p:spPr>
          <a:xfrm>
            <a:off x="258318" y="5050000"/>
            <a:ext cx="4511040" cy="320000"/>
          </a:xfrm>
          <a:prstGeom prst="rect">
            <a:avLst/>
          </a:prstGeom>
          <a:noFill/>
          <a:ln>
            <a:noFill/>
          </a:ln>
        </p:spPr>
        <p:txBody>
          <a:bodyPr wrap="square" lIns="0" tIns="0" rIns="0" bIns="0" anchor="t">
            <a:normAutofit fontScale="92500"/>
          </a:bodyPr>
          <a:lstStyle/>
          <a:p>
            <a:pPr algn="ctr">
              <a:buNone/>
            </a:pPr>
            <a:r>
              <a:rPr lang="en-US" sz="1600" b="0" i="1" dirty="0">
                <a:solidFill>
                  <a:srgbClr val="555960"/>
                </a:solidFill>
              </a:rPr>
              <a:t>wall location · available depth · permitted penetrations</a:t>
            </a:r>
          </a:p>
        </p:txBody>
      </p:sp>
      <p:sp>
        <p:nvSpPr>
          <p:cNvPr id="107" name="LineCard1"/>
          <p:cNvSpPr/>
          <p:nvPr/>
        </p:nvSpPr>
        <p:spPr>
          <a:xfrm>
            <a:off x="4769358" y="2300000"/>
            <a:ext cx="4116324" cy="950000"/>
          </a:xfrm>
          <a:prstGeom prst="rect">
            <a:avLst/>
          </a:prstGeom>
          <a:solidFill>
            <a:srgbClr val="F5F1E8"/>
          </a:solidFill>
          <a:ln w="14097">
            <a:solidFill>
              <a:srgbClr val="C9B991"/>
            </a:solidFill>
          </a:ln>
        </p:spPr>
        <p:txBody>
          <a:bodyPr wrap="square" lIns="182880" tIns="45720" rIns="182880" bIns="45720" anchor="ctr">
            <a:normAutofit/>
          </a:bodyPr>
          <a:lstStyle/>
          <a:p>
            <a:pPr algn="l">
              <a:buNone/>
            </a:pPr>
            <a:r>
              <a:rPr lang="en-US" sz="1800" b="0" i="0" dirty="0">
                <a:solidFill>
                  <a:srgbClr val="000000"/>
                </a:solidFill>
              </a:rPr>
              <a:t>The architecture does not specify the plumbing</a:t>
            </a:r>
          </a:p>
        </p:txBody>
      </p:sp>
      <p:sp>
        <p:nvSpPr>
          <p:cNvPr id="108" name="LineCard2"/>
          <p:cNvSpPr/>
          <p:nvPr/>
        </p:nvSpPr>
        <p:spPr>
          <a:xfrm>
            <a:off x="4769358" y="3600000"/>
            <a:ext cx="4116324" cy="950000"/>
          </a:xfrm>
          <a:prstGeom prst="rect">
            <a:avLst/>
          </a:prstGeom>
          <a:solidFill>
            <a:srgbClr val="F5F1E8"/>
          </a:solidFill>
          <a:ln w="14097">
            <a:solidFill>
              <a:srgbClr val="C9B991"/>
            </a:solidFill>
          </a:ln>
        </p:spPr>
        <p:txBody>
          <a:bodyPr wrap="square" lIns="182880" tIns="45720" rIns="182880" bIns="45720" anchor="ctr">
            <a:normAutofit/>
          </a:bodyPr>
          <a:lstStyle/>
          <a:p>
            <a:pPr algn="l">
              <a:buNone/>
            </a:pPr>
            <a:r>
              <a:rPr lang="en-US" sz="1800" b="0" i="0" dirty="0">
                <a:solidFill>
                  <a:srgbClr val="000000"/>
                </a:solidFill>
              </a:rPr>
              <a:t>It </a:t>
            </a:r>
            <a:r>
              <a:rPr lang="en-US" sz="1800" b="1" i="0" dirty="0">
                <a:solidFill>
                  <a:srgbClr val="8E6F3E"/>
                </a:solidFill>
              </a:rPr>
              <a:t>DOES</a:t>
            </a:r>
            <a:r>
              <a:rPr lang="en-US" sz="1800" b="0" i="0" dirty="0">
                <a:solidFill>
                  <a:srgbClr val="000000"/>
                </a:solidFill>
              </a:rPr>
              <a:t> constrain where the plumbing can go</a:t>
            </a:r>
          </a:p>
        </p:txBody>
      </p:sp>
      <p:sp>
        <p:nvSpPr>
          <p:cNvPr id="109" name="FooterBand"/>
          <p:cNvSpPr/>
          <p:nvPr/>
        </p:nvSpPr>
        <p:spPr>
          <a:xfrm>
            <a:off x="279400" y="5850000"/>
            <a:ext cx="8585200" cy="610000"/>
          </a:xfrm>
          <a:prstGeom prst="rect">
            <a:avLst/>
          </a:prstGeom>
          <a:solidFill>
            <a:srgbClr val="8E6F3E"/>
          </a:solidFill>
          <a:ln>
            <a:noFill/>
          </a:ln>
        </p:spPr>
        <p:txBody>
          <a:bodyPr wrap="square" lIns="109728" tIns="45720" rIns="109728" bIns="45720" anchor="ctr">
            <a:normAutofit/>
          </a:bodyPr>
          <a:lstStyle/>
          <a:p>
            <a:pPr algn="ctr">
              <a:buNone/>
            </a:pPr>
            <a:r>
              <a:rPr lang="en-US" b="1" i="0" dirty="0">
                <a:solidFill>
                  <a:srgbClr val="FFFFFF"/>
                </a:solidFill>
              </a:rPr>
              <a:t>Architecture creates the space within which later design must work.</a:t>
            </a:r>
          </a:p>
        </p:txBody>
      </p:sp>
    </p:spTree>
    <p:extLst>
      <p:ext uri="{BB962C8B-B14F-4D97-AF65-F5344CB8AC3E}">
        <p14:creationId xmlns:p14="http://schemas.microsoft.com/office/powerpoint/2010/main" val="9171610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also affords a division of labor</a:t>
            </a:r>
          </a:p>
        </p:txBody>
      </p:sp>
      <p:sp>
        <p:nvSpPr>
          <p:cNvPr id="3" name="Slide Number Placeholder 2"/>
          <p:cNvSpPr>
            <a:spLocks noGrp="1"/>
          </p:cNvSpPr>
          <p:nvPr>
            <p:ph type="sldNum" sz="quarter" idx="4"/>
          </p:nvPr>
        </p:nvSpPr>
        <p:spPr/>
        <p:txBody>
          <a:bodyPr/>
          <a:lstStyle/>
          <a:p>
            <a:fld id="{7B3E9C4D-2A61-4F8B-A05C-9D1E4B7A2C31}" type="slidenum">
              <a:rPr lang="en-US" smtClean="0"/>
              <a:t>8</a:t>
            </a:fld>
            <a:endParaRPr lang="en-US"/>
          </a:p>
        </p:txBody>
      </p:sp>
      <p:sp>
        <p:nvSpPr>
          <p:cNvPr id="100" name="OrgALbl"/>
          <p:cNvSpPr txBox="1"/>
          <p:nvPr/>
        </p:nvSpPr>
        <p:spPr>
          <a:xfrm>
            <a:off x="700000" y="800000"/>
            <a:ext cx="3600000" cy="4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ORGANIZATION A</a:t>
            </a:r>
          </a:p>
        </p:txBody>
      </p:sp>
      <p:sp>
        <p:nvSpPr>
          <p:cNvPr id="101" name="OrgA0"/>
          <p:cNvSpPr/>
          <p:nvPr/>
        </p:nvSpPr>
        <p:spPr>
          <a:xfrm>
            <a:off x="700000" y="13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collect</a:t>
            </a:r>
          </a:p>
        </p:txBody>
      </p:sp>
      <p:sp>
        <p:nvSpPr>
          <p:cNvPr id="102" name="OrgA1"/>
          <p:cNvSpPr/>
          <p:nvPr/>
        </p:nvSpPr>
        <p:spPr>
          <a:xfrm>
            <a:off x="700000" y="19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classify</a:t>
            </a:r>
          </a:p>
        </p:txBody>
      </p:sp>
      <p:sp>
        <p:nvSpPr>
          <p:cNvPr id="103" name="OrgA2"/>
          <p:cNvSpPr/>
          <p:nvPr/>
        </p:nvSpPr>
        <p:spPr>
          <a:xfrm>
            <a:off x="700000" y="25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summarize</a:t>
            </a:r>
          </a:p>
        </p:txBody>
      </p:sp>
      <p:sp>
        <p:nvSpPr>
          <p:cNvPr id="104" name="OrgA3"/>
          <p:cNvSpPr/>
          <p:nvPr/>
        </p:nvSpPr>
        <p:spPr>
          <a:xfrm>
            <a:off x="700000" y="31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advise</a:t>
            </a:r>
          </a:p>
        </p:txBody>
      </p:sp>
      <p:sp>
        <p:nvSpPr>
          <p:cNvPr id="110" name="BraceA1"/>
          <p:cNvSpPr/>
          <p:nvPr/>
        </p:nvSpPr>
        <p:spPr>
          <a:xfrm>
            <a:off x="2960000" y="13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1" name="BraceA2"/>
          <p:cNvSpPr/>
          <p:nvPr/>
        </p:nvSpPr>
        <p:spPr>
          <a:xfrm>
            <a:off x="2960000" y="19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2" name="BraceA3"/>
          <p:cNvSpPr/>
          <p:nvPr/>
        </p:nvSpPr>
        <p:spPr>
          <a:xfrm>
            <a:off x="2960000" y="25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3" name="BraceA4"/>
          <p:cNvSpPr/>
          <p:nvPr/>
        </p:nvSpPr>
        <p:spPr>
          <a:xfrm>
            <a:off x="2960000" y="31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4" name="TeamA1"/>
          <p:cNvSpPr txBox="1"/>
          <p:nvPr/>
        </p:nvSpPr>
        <p:spPr>
          <a:xfrm>
            <a:off x="3220000" y="14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1</a:t>
            </a:r>
          </a:p>
        </p:txBody>
      </p:sp>
      <p:sp>
        <p:nvSpPr>
          <p:cNvPr id="115" name="TeamA2"/>
          <p:cNvSpPr txBox="1"/>
          <p:nvPr/>
        </p:nvSpPr>
        <p:spPr>
          <a:xfrm>
            <a:off x="3220000" y="20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2</a:t>
            </a:r>
          </a:p>
        </p:txBody>
      </p:sp>
      <p:sp>
        <p:nvSpPr>
          <p:cNvPr id="116" name="TeamA3"/>
          <p:cNvSpPr txBox="1"/>
          <p:nvPr/>
        </p:nvSpPr>
        <p:spPr>
          <a:xfrm>
            <a:off x="3220000" y="26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3</a:t>
            </a:r>
          </a:p>
        </p:txBody>
      </p:sp>
      <p:sp>
        <p:nvSpPr>
          <p:cNvPr id="117" name="TeamA4"/>
          <p:cNvSpPr txBox="1"/>
          <p:nvPr/>
        </p:nvSpPr>
        <p:spPr>
          <a:xfrm>
            <a:off x="3220000" y="32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4</a:t>
            </a:r>
          </a:p>
        </p:txBody>
      </p:sp>
      <p:cxnSp>
        <p:nvCxnSpPr>
          <p:cNvPr id="130" name="Div"/>
          <p:cNvCxnSpPr/>
          <p:nvPr/>
        </p:nvCxnSpPr>
        <p:spPr>
          <a:xfrm>
            <a:off x="4780000" y="1300000"/>
            <a:ext cx="0" cy="2400000"/>
          </a:xfrm>
          <a:prstGeom prst="line">
            <a:avLst/>
          </a:prstGeom>
          <a:ln w="12700">
            <a:solidFill>
              <a:srgbClr val="C9B991"/>
            </a:solidFill>
            <a:prstDash val="dash"/>
          </a:ln>
        </p:spPr>
      </p:cxnSp>
      <p:sp>
        <p:nvSpPr>
          <p:cNvPr id="120" name="OrgBLbl"/>
          <p:cNvSpPr txBox="1"/>
          <p:nvPr/>
        </p:nvSpPr>
        <p:spPr>
          <a:xfrm>
            <a:off x="5250000" y="800000"/>
            <a:ext cx="3600000" cy="4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ORGANIZATION B</a:t>
            </a:r>
          </a:p>
        </p:txBody>
      </p:sp>
      <p:sp>
        <p:nvSpPr>
          <p:cNvPr id="121" name="OrgB1"/>
          <p:cNvSpPr/>
          <p:nvPr/>
        </p:nvSpPr>
        <p:spPr>
          <a:xfrm>
            <a:off x="5250000" y="13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collect · store</a:t>
            </a:r>
          </a:p>
        </p:txBody>
      </p:sp>
      <p:sp>
        <p:nvSpPr>
          <p:cNvPr id="122" name="OrgB2"/>
          <p:cNvSpPr/>
          <p:nvPr/>
        </p:nvSpPr>
        <p:spPr>
          <a:xfrm>
            <a:off x="5250000" y="19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model · advise</a:t>
            </a:r>
          </a:p>
        </p:txBody>
      </p:sp>
      <p:sp>
        <p:nvSpPr>
          <p:cNvPr id="123" name="OrgB3"/>
          <p:cNvSpPr/>
          <p:nvPr/>
        </p:nvSpPr>
        <p:spPr>
          <a:xfrm>
            <a:off x="5250000" y="2500000"/>
            <a:ext cx="2200000" cy="600000"/>
          </a:xfrm>
          <a:prstGeom prst="rect">
            <a:avLst/>
          </a:prstGeom>
          <a:solidFill>
            <a:srgbClr val="8E6F3E"/>
          </a:solidFill>
          <a:ln w="17526">
            <a:solidFill>
              <a:srgbClr val="8E6F3E"/>
            </a:solidFill>
          </a:ln>
        </p:spPr>
        <p:txBody>
          <a:bodyPr wrap="square" lIns="54864" tIns="27432" rIns="54864" bIns="27432" anchor="ctr">
            <a:normAutofit/>
          </a:bodyPr>
          <a:lstStyle/>
          <a:p>
            <a:pPr algn="ctr">
              <a:buNone/>
            </a:pPr>
            <a:r>
              <a:rPr lang="en-US" sz="2000" b="0" i="0" dirty="0">
                <a:solidFill>
                  <a:srgbClr val="FFFFFF"/>
                </a:solidFill>
              </a:rPr>
              <a:t>sharing</a:t>
            </a:r>
          </a:p>
        </p:txBody>
      </p:sp>
      <p:sp>
        <p:nvSpPr>
          <p:cNvPr id="124" name="BraceB1"/>
          <p:cNvSpPr/>
          <p:nvPr/>
        </p:nvSpPr>
        <p:spPr>
          <a:xfrm>
            <a:off x="7510000" y="13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5" name="BraceB2"/>
          <p:cNvSpPr/>
          <p:nvPr/>
        </p:nvSpPr>
        <p:spPr>
          <a:xfrm>
            <a:off x="7510000" y="19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6" name="BraceB3"/>
          <p:cNvSpPr/>
          <p:nvPr/>
        </p:nvSpPr>
        <p:spPr>
          <a:xfrm>
            <a:off x="7510000" y="25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7" name="TeamB1"/>
          <p:cNvSpPr txBox="1"/>
          <p:nvPr/>
        </p:nvSpPr>
        <p:spPr>
          <a:xfrm>
            <a:off x="7770000" y="14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1</a:t>
            </a:r>
          </a:p>
        </p:txBody>
      </p:sp>
      <p:sp>
        <p:nvSpPr>
          <p:cNvPr id="128" name="TeamB2"/>
          <p:cNvSpPr txBox="1"/>
          <p:nvPr/>
        </p:nvSpPr>
        <p:spPr>
          <a:xfrm>
            <a:off x="7770000" y="20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2</a:t>
            </a:r>
          </a:p>
        </p:txBody>
      </p:sp>
      <p:sp>
        <p:nvSpPr>
          <p:cNvPr id="129" name="TeamB3"/>
          <p:cNvSpPr txBox="1"/>
          <p:nvPr/>
        </p:nvSpPr>
        <p:spPr>
          <a:xfrm>
            <a:off x="7770000" y="26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3</a:t>
            </a:r>
          </a:p>
        </p:txBody>
      </p:sp>
      <p:sp>
        <p:nvSpPr>
          <p:cNvPr id="140" name="Cap"/>
          <p:cNvSpPr txBox="1"/>
          <p:nvPr/>
        </p:nvSpPr>
        <p:spPr>
          <a:xfrm>
            <a:off x="685800" y="4020000"/>
            <a:ext cx="7772400" cy="380000"/>
          </a:xfrm>
          <a:prstGeom prst="rect">
            <a:avLst/>
          </a:prstGeom>
          <a:noFill/>
          <a:ln>
            <a:noFill/>
          </a:ln>
        </p:spPr>
        <p:txBody>
          <a:bodyPr wrap="square" lIns="0" tIns="0" rIns="0" bIns="0" anchor="t">
            <a:normAutofit/>
          </a:bodyPr>
          <a:lstStyle/>
          <a:p>
            <a:pPr algn="ctr">
              <a:buNone/>
            </a:pPr>
            <a:r>
              <a:rPr lang="en-US" sz="1600" b="0" i="1" dirty="0">
                <a:solidFill>
                  <a:srgbClr val="5C4826"/>
                </a:solidFill>
              </a:rPr>
              <a:t>Software boundaries create possible ownership boundaries</a:t>
            </a:r>
          </a:p>
        </p:txBody>
      </p:sp>
      <p:sp>
        <p:nvSpPr>
          <p:cNvPr id="141" name="ConwayBox"/>
          <p:cNvSpPr/>
          <p:nvPr/>
        </p:nvSpPr>
        <p:spPr>
          <a:xfrm>
            <a:off x="1200000" y="4560000"/>
            <a:ext cx="6744000" cy="800000"/>
          </a:xfrm>
          <a:prstGeom prst="rect">
            <a:avLst/>
          </a:prstGeom>
          <a:solidFill>
            <a:srgbClr val="F5F1E8"/>
          </a:solidFill>
          <a:ln w="14097">
            <a:solidFill>
              <a:srgbClr val="C9B991"/>
            </a:solidFill>
          </a:ln>
        </p:spPr>
        <p:txBody>
          <a:bodyPr wrap="square" lIns="137160" tIns="45720" rIns="137160" bIns="45720" anchor="ctr">
            <a:normAutofit/>
          </a:bodyPr>
          <a:lstStyle/>
          <a:p>
            <a:pPr algn="ctr">
              <a:buNone/>
            </a:pPr>
            <a:r>
              <a:rPr lang="en-US" sz="1600" b="1" i="0" dirty="0">
                <a:solidFill>
                  <a:srgbClr val="5C4826"/>
                </a:solidFill>
              </a:rPr>
              <a:t>Conway’s Law</a:t>
            </a:r>
            <a:r>
              <a:rPr lang="en-US" sz="1600" b="0" i="0" dirty="0">
                <a:solidFill>
                  <a:srgbClr val="000000"/>
                </a:solidFill>
              </a:rPr>
              <a:t> — Organizations tend to design systems whose communication structures resemble their own.</a:t>
            </a:r>
          </a:p>
        </p:txBody>
      </p:sp>
      <p:sp>
        <p:nvSpPr>
          <p:cNvPr id="142" name="TakeawayBand"/>
          <p:cNvSpPr/>
          <p:nvPr/>
        </p:nvSpPr>
        <p:spPr>
          <a:xfrm>
            <a:off x="279400" y="5640000"/>
            <a:ext cx="8585200" cy="820000"/>
          </a:xfrm>
          <a:prstGeom prst="rect">
            <a:avLst/>
          </a:prstGeom>
          <a:solidFill>
            <a:srgbClr val="8E6F3E"/>
          </a:solidFill>
          <a:ln>
            <a:noFill/>
          </a:ln>
        </p:spPr>
        <p:txBody>
          <a:bodyPr wrap="square" lIns="109728" tIns="45720" rIns="109728" bIns="45720" anchor="ctr">
            <a:normAutofit/>
          </a:bodyPr>
          <a:lstStyle/>
          <a:p>
            <a:pPr algn="ctr">
              <a:buNone/>
            </a:pPr>
            <a:r>
              <a:rPr lang="en-US" sz="2200" b="1" i="0" dirty="0">
                <a:solidFill>
                  <a:srgbClr val="FFFFFF"/>
                </a:solidFill>
              </a:rPr>
              <a:t>Architecture allocates coupling in software </a:t>
            </a:r>
          </a:p>
          <a:p>
            <a:pPr algn="ctr">
              <a:buNone/>
            </a:pPr>
            <a:r>
              <a:rPr lang="en-US" sz="2200" b="1" i="0" dirty="0">
                <a:solidFill>
                  <a:srgbClr val="FFFFFF"/>
                </a:solidFill>
              </a:rPr>
              <a:t>and coordination among people.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4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4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4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400"/>
                                        <p:tgtEl>
                                          <p:spTgt spid="113"/>
                                        </p:tgtEl>
                                      </p:cBhvr>
                                    </p:animEffect>
                                  </p:childTnLst>
                                </p:cTn>
                              </p:par>
                              <p:par>
                                <p:cTn id="17" presetID="10"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400"/>
                                        <p:tgtEl>
                                          <p:spTgt spid="114"/>
                                        </p:tgtEl>
                                      </p:cBhvr>
                                    </p:animEffect>
                                  </p:childTnLst>
                                </p:cTn>
                              </p:par>
                              <p:par>
                                <p:cTn id="20" presetID="10" presetClass="entr" presetSubtype="0" fill="hold"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400"/>
                                        <p:tgtEl>
                                          <p:spTgt spid="115"/>
                                        </p:tgtEl>
                                      </p:cBhvr>
                                    </p:animEffect>
                                  </p:childTnLst>
                                </p:cTn>
                              </p:par>
                              <p:par>
                                <p:cTn id="23" presetID="10" presetClass="entr" presetSubtype="0" fill="hold" nodeType="withEffect">
                                  <p:stCondLst>
                                    <p:cond delay="0"/>
                                  </p:stCondLst>
                                  <p:childTnLst>
                                    <p:set>
                                      <p:cBhvr>
                                        <p:cTn id="24" dur="1" fill="hold">
                                          <p:stCondLst>
                                            <p:cond delay="0"/>
                                          </p:stCondLst>
                                        </p:cTn>
                                        <p:tgtEl>
                                          <p:spTgt spid="116"/>
                                        </p:tgtEl>
                                        <p:attrNameLst>
                                          <p:attrName>style.visibility</p:attrName>
                                        </p:attrNameLst>
                                      </p:cBhvr>
                                      <p:to>
                                        <p:strVal val="visible"/>
                                      </p:to>
                                    </p:set>
                                    <p:animEffect transition="in" filter="fade">
                                      <p:cBhvr>
                                        <p:cTn id="25" dur="400"/>
                                        <p:tgtEl>
                                          <p:spTgt spid="116"/>
                                        </p:tgtEl>
                                      </p:cBhvr>
                                    </p:animEffect>
                                  </p:childTnLst>
                                </p:cTn>
                              </p:par>
                              <p:par>
                                <p:cTn id="26" presetID="10" presetClass="entr" presetSubtype="0" fill="hold" nodeType="withEffect">
                                  <p:stCondLst>
                                    <p:cond delay="0"/>
                                  </p:stCondLst>
                                  <p:childTnLst>
                                    <p:set>
                                      <p:cBhvr>
                                        <p:cTn id="27" dur="1" fill="hold">
                                          <p:stCondLst>
                                            <p:cond delay="0"/>
                                          </p:stCondLst>
                                        </p:cTn>
                                        <p:tgtEl>
                                          <p:spTgt spid="117"/>
                                        </p:tgtEl>
                                        <p:attrNameLst>
                                          <p:attrName>style.visibility</p:attrName>
                                        </p:attrNameLst>
                                      </p:cBhvr>
                                      <p:to>
                                        <p:strVal val="visible"/>
                                      </p:to>
                                    </p:set>
                                    <p:animEffect transition="in" filter="fade">
                                      <p:cBhvr>
                                        <p:cTn id="28" dur="400"/>
                                        <p:tgtEl>
                                          <p:spTgt spid="117"/>
                                        </p:tgtEl>
                                      </p:cBhvr>
                                    </p:animEffect>
                                  </p:childTnLst>
                                </p:cTn>
                              </p:par>
                              <p:par>
                                <p:cTn id="29" presetID="10" presetClass="entr" presetSubtype="0" fill="hold" nodeType="withEffect">
                                  <p:stCondLst>
                                    <p:cond delay="0"/>
                                  </p:stCondLst>
                                  <p:childTnLst>
                                    <p:set>
                                      <p:cBhvr>
                                        <p:cTn id="30" dur="1" fill="hold">
                                          <p:stCondLst>
                                            <p:cond delay="0"/>
                                          </p:stCondLst>
                                        </p:cTn>
                                        <p:tgtEl>
                                          <p:spTgt spid="140"/>
                                        </p:tgtEl>
                                        <p:attrNameLst>
                                          <p:attrName>style.visibility</p:attrName>
                                        </p:attrNameLst>
                                      </p:cBhvr>
                                      <p:to>
                                        <p:strVal val="visible"/>
                                      </p:to>
                                    </p:set>
                                    <p:animEffect transition="in" filter="fade">
                                      <p:cBhvr>
                                        <p:cTn id="31" dur="400"/>
                                        <p:tgtEl>
                                          <p:spTgt spid="14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4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4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21"/>
                                        </p:tgtEl>
                                        <p:attrNameLst>
                                          <p:attrName>style.visibility</p:attrName>
                                        </p:attrNameLst>
                                      </p:cBhvr>
                                      <p:to>
                                        <p:strVal val="visible"/>
                                      </p:to>
                                    </p:set>
                                    <p:animEffect transition="in" filter="fade">
                                      <p:cBhvr>
                                        <p:cTn id="42" dur="400"/>
                                        <p:tgtEl>
                                          <p:spTgt spid="121"/>
                                        </p:tgtEl>
                                      </p:cBhvr>
                                    </p:animEffect>
                                  </p:childTnLst>
                                </p:cTn>
                              </p:par>
                              <p:par>
                                <p:cTn id="43" presetID="10"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animEffect transition="in" filter="fade">
                                      <p:cBhvr>
                                        <p:cTn id="45" dur="400"/>
                                        <p:tgtEl>
                                          <p:spTgt spid="122"/>
                                        </p:tgtEl>
                                      </p:cBhvr>
                                    </p:animEffect>
                                  </p:childTnLst>
                                </p:cTn>
                              </p:par>
                              <p:par>
                                <p:cTn id="46" presetID="10" presetClass="entr" presetSubtype="0" fill="hold" nodeType="withEffect">
                                  <p:stCondLst>
                                    <p:cond delay="0"/>
                                  </p:stCondLst>
                                  <p:childTnLst>
                                    <p:set>
                                      <p:cBhvr>
                                        <p:cTn id="47" dur="1" fill="hold">
                                          <p:stCondLst>
                                            <p:cond delay="0"/>
                                          </p:stCondLst>
                                        </p:cTn>
                                        <p:tgtEl>
                                          <p:spTgt spid="123"/>
                                        </p:tgtEl>
                                        <p:attrNameLst>
                                          <p:attrName>style.visibility</p:attrName>
                                        </p:attrNameLst>
                                      </p:cBhvr>
                                      <p:to>
                                        <p:strVal val="visible"/>
                                      </p:to>
                                    </p:set>
                                    <p:animEffect transition="in" filter="fade">
                                      <p:cBhvr>
                                        <p:cTn id="48" dur="400"/>
                                        <p:tgtEl>
                                          <p:spTgt spid="123"/>
                                        </p:tgtEl>
                                      </p:cBhvr>
                                    </p:animEffect>
                                  </p:childTnLst>
                                </p:cTn>
                              </p:par>
                              <p:par>
                                <p:cTn id="49" presetID="10" presetClass="entr" presetSubtype="0" fill="hold" nodeType="withEffect">
                                  <p:stCondLst>
                                    <p:cond delay="0"/>
                                  </p:stCondLst>
                                  <p:childTnLst>
                                    <p:set>
                                      <p:cBhvr>
                                        <p:cTn id="50" dur="1" fill="hold">
                                          <p:stCondLst>
                                            <p:cond delay="0"/>
                                          </p:stCondLst>
                                        </p:cTn>
                                        <p:tgtEl>
                                          <p:spTgt spid="124"/>
                                        </p:tgtEl>
                                        <p:attrNameLst>
                                          <p:attrName>style.visibility</p:attrName>
                                        </p:attrNameLst>
                                      </p:cBhvr>
                                      <p:to>
                                        <p:strVal val="visible"/>
                                      </p:to>
                                    </p:set>
                                    <p:animEffect transition="in" filter="fade">
                                      <p:cBhvr>
                                        <p:cTn id="51" dur="400"/>
                                        <p:tgtEl>
                                          <p:spTgt spid="124"/>
                                        </p:tgtEl>
                                      </p:cBhvr>
                                    </p:animEffect>
                                  </p:childTnLst>
                                </p:cTn>
                              </p:par>
                              <p:par>
                                <p:cTn id="52" presetID="10" presetClass="entr" presetSubtype="0" fill="hold" nodeType="withEffect">
                                  <p:stCondLst>
                                    <p:cond delay="0"/>
                                  </p:stCondLst>
                                  <p:childTnLst>
                                    <p:set>
                                      <p:cBhvr>
                                        <p:cTn id="53" dur="1" fill="hold">
                                          <p:stCondLst>
                                            <p:cond delay="0"/>
                                          </p:stCondLst>
                                        </p:cTn>
                                        <p:tgtEl>
                                          <p:spTgt spid="125"/>
                                        </p:tgtEl>
                                        <p:attrNameLst>
                                          <p:attrName>style.visibility</p:attrName>
                                        </p:attrNameLst>
                                      </p:cBhvr>
                                      <p:to>
                                        <p:strVal val="visible"/>
                                      </p:to>
                                    </p:set>
                                    <p:animEffect transition="in" filter="fade">
                                      <p:cBhvr>
                                        <p:cTn id="54" dur="400"/>
                                        <p:tgtEl>
                                          <p:spTgt spid="125"/>
                                        </p:tgtEl>
                                      </p:cBhvr>
                                    </p:animEffect>
                                  </p:childTnLst>
                                </p:cTn>
                              </p:par>
                              <p:par>
                                <p:cTn id="55" presetID="10" presetClass="entr" presetSubtype="0" fill="hold" nodeType="withEffect">
                                  <p:stCondLst>
                                    <p:cond delay="0"/>
                                  </p:stCondLst>
                                  <p:childTnLst>
                                    <p:set>
                                      <p:cBhvr>
                                        <p:cTn id="56" dur="1" fill="hold">
                                          <p:stCondLst>
                                            <p:cond delay="0"/>
                                          </p:stCondLst>
                                        </p:cTn>
                                        <p:tgtEl>
                                          <p:spTgt spid="126"/>
                                        </p:tgtEl>
                                        <p:attrNameLst>
                                          <p:attrName>style.visibility</p:attrName>
                                        </p:attrNameLst>
                                      </p:cBhvr>
                                      <p:to>
                                        <p:strVal val="visible"/>
                                      </p:to>
                                    </p:set>
                                    <p:animEffect transition="in" filter="fade">
                                      <p:cBhvr>
                                        <p:cTn id="57" dur="400"/>
                                        <p:tgtEl>
                                          <p:spTgt spid="126"/>
                                        </p:tgtEl>
                                      </p:cBhvr>
                                    </p:animEffect>
                                  </p:childTnLst>
                                </p:cTn>
                              </p:par>
                              <p:par>
                                <p:cTn id="58" presetID="10" presetClass="entr" presetSubtype="0" fill="hold" nodeType="withEffect">
                                  <p:stCondLst>
                                    <p:cond delay="0"/>
                                  </p:stCondLst>
                                  <p:childTnLst>
                                    <p:set>
                                      <p:cBhvr>
                                        <p:cTn id="59" dur="1" fill="hold">
                                          <p:stCondLst>
                                            <p:cond delay="0"/>
                                          </p:stCondLst>
                                        </p:cTn>
                                        <p:tgtEl>
                                          <p:spTgt spid="127"/>
                                        </p:tgtEl>
                                        <p:attrNameLst>
                                          <p:attrName>style.visibility</p:attrName>
                                        </p:attrNameLst>
                                      </p:cBhvr>
                                      <p:to>
                                        <p:strVal val="visible"/>
                                      </p:to>
                                    </p:set>
                                    <p:animEffect transition="in" filter="fade">
                                      <p:cBhvr>
                                        <p:cTn id="60" dur="400"/>
                                        <p:tgtEl>
                                          <p:spTgt spid="127"/>
                                        </p:tgtEl>
                                      </p:cBhvr>
                                    </p:animEffect>
                                  </p:childTnLst>
                                </p:cTn>
                              </p:par>
                              <p:par>
                                <p:cTn id="61" presetID="10" presetClass="entr" presetSubtype="0" fill="hold" nodeType="withEffect">
                                  <p:stCondLst>
                                    <p:cond delay="0"/>
                                  </p:stCondLst>
                                  <p:childTnLst>
                                    <p:set>
                                      <p:cBhvr>
                                        <p:cTn id="62" dur="1" fill="hold">
                                          <p:stCondLst>
                                            <p:cond delay="0"/>
                                          </p:stCondLst>
                                        </p:cTn>
                                        <p:tgtEl>
                                          <p:spTgt spid="128"/>
                                        </p:tgtEl>
                                        <p:attrNameLst>
                                          <p:attrName>style.visibility</p:attrName>
                                        </p:attrNameLst>
                                      </p:cBhvr>
                                      <p:to>
                                        <p:strVal val="visible"/>
                                      </p:to>
                                    </p:set>
                                    <p:animEffect transition="in" filter="fade">
                                      <p:cBhvr>
                                        <p:cTn id="63" dur="400"/>
                                        <p:tgtEl>
                                          <p:spTgt spid="128"/>
                                        </p:tgtEl>
                                      </p:cBhvr>
                                    </p:animEffect>
                                  </p:childTnLst>
                                </p:cTn>
                              </p:par>
                              <p:par>
                                <p:cTn id="64" presetID="10" presetClass="entr" presetSubtype="0" fill="hold" nodeType="withEffect">
                                  <p:stCondLst>
                                    <p:cond delay="0"/>
                                  </p:stCondLst>
                                  <p:childTnLst>
                                    <p:set>
                                      <p:cBhvr>
                                        <p:cTn id="65" dur="1" fill="hold">
                                          <p:stCondLst>
                                            <p:cond delay="0"/>
                                          </p:stCondLst>
                                        </p:cTn>
                                        <p:tgtEl>
                                          <p:spTgt spid="129"/>
                                        </p:tgtEl>
                                        <p:attrNameLst>
                                          <p:attrName>style.visibility</p:attrName>
                                        </p:attrNameLst>
                                      </p:cBhvr>
                                      <p:to>
                                        <p:strVal val="visible"/>
                                      </p:to>
                                    </p:set>
                                    <p:animEffect transition="in" filter="fade">
                                      <p:cBhvr>
                                        <p:cTn id="66" dur="400"/>
                                        <p:tgtEl>
                                          <p:spTgt spid="129"/>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41"/>
                                        </p:tgtEl>
                                        <p:attrNameLst>
                                          <p:attrName>style.visibility</p:attrName>
                                        </p:attrNameLst>
                                      </p:cBhvr>
                                      <p:to>
                                        <p:strVal val="visible"/>
                                      </p:to>
                                    </p:set>
                                    <p:animEffect transition="in" filter="fade">
                                      <p:cBhvr>
                                        <p:cTn id="71" dur="400"/>
                                        <p:tgtEl>
                                          <p:spTgt spid="141"/>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42"/>
                                        </p:tgtEl>
                                        <p:attrNameLst>
                                          <p:attrName>style.visibility</p:attrName>
                                        </p:attrNameLst>
                                      </p:cBhvr>
                                      <p:to>
                                        <p:strVal val="visible"/>
                                      </p:to>
                                    </p:set>
                                    <p:animEffect transition="in" filter="fade">
                                      <p:cBhvr>
                                        <p:cTn id="76" dur="4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architectures?</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among competing priorities.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101" name="C101"/>
          <p:cNvSpPr/>
          <p:nvPr/>
        </p:nvSpPr>
        <p:spPr>
          <a:xfrm>
            <a:off x="3634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0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26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3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39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par>
                                <p:cTn id="35" presetID="10" presetClass="entr" presetSubtype="0" fill="hold" nodeType="withEffect">
                                  <p:stCondLst>
                                    <p:cond delay="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00"/>
                                        <p:tgtEl>
                                          <p:spTgt spid="111"/>
                                        </p:tgtEl>
                                      </p:cBhvr>
                                    </p:animEffect>
                                  </p:childTnLst>
                                </p:cTn>
                              </p:par>
                              <p:par>
                                <p:cTn id="38" presetID="10" presetClass="entr" presetSubtype="0" fill="hold" nodeType="with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2"/>
                                        </p:tgtEl>
                                        <p:attrNameLst>
                                          <p:attrName>style.visibility</p:attrName>
                                        </p:attrNameLst>
                                      </p:cBhvr>
                                      <p:to>
                                        <p:strVal val="visible"/>
                                      </p:to>
                                    </p:set>
                                    <p:animEffect transition="in" filter="fade">
                                      <p:cBhvr>
                                        <p:cTn id="51" dur="400"/>
                                        <p:tgtEl>
                                          <p:spTgt spid="8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fade">
                                      <p:cBhvr>
                                        <p:cTn id="56" dur="400"/>
                                        <p:tgtEl>
                                          <p:spTgt spid="80"/>
                                        </p:tgtEl>
                                      </p:cBhvr>
                                    </p:animEffect>
                                  </p:childTnLst>
                                </p:cTn>
                              </p:par>
                              <p:par>
                                <p:cTn id="57" presetID="10" presetClass="entr" presetSubtype="0" fill="hold" nodeType="withEffect">
                                  <p:stCondLst>
                                    <p:cond delay="0"/>
                                  </p:stCondLst>
                                  <p:childTnLst>
                                    <p:set>
                                      <p:cBhvr>
                                        <p:cTn id="58" dur="1" fill="hold">
                                          <p:stCondLst>
                                            <p:cond delay="0"/>
                                          </p:stCondLst>
                                        </p:cTn>
                                        <p:tgtEl>
                                          <p:spTgt spid="81"/>
                                        </p:tgtEl>
                                        <p:attrNameLst>
                                          <p:attrName>style.visibility</p:attrName>
                                        </p:attrNameLst>
                                      </p:cBhvr>
                                      <p:to>
                                        <p:strVal val="visible"/>
                                      </p:to>
                                    </p:set>
                                    <p:animEffect transition="in" filter="fade">
                                      <p:cBhvr>
                                        <p:cTn id="59"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Weighted sums are not a decision-making approach</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A WINS</a:t>
            </a:r>
          </a:p>
        </p:txBody>
      </p:sp>
      <p:sp>
        <p:nvSpPr>
          <p:cNvPr id="92" name="T92"/>
          <p:cNvSpPr txBox="1"/>
          <p:nvPr/>
        </p:nvSpPr>
        <p:spPr>
          <a:xfrm>
            <a:off x="2231112" y="5580349"/>
            <a:ext cx="5328887" cy="900001"/>
          </a:xfrm>
          <a:prstGeom prst="rect">
            <a:avLst/>
          </a:prstGeom>
          <a:noFill/>
          <a:ln>
            <a:noFill/>
          </a:ln>
        </p:spPr>
        <p:txBody>
          <a:bodyPr wrap="square" lIns="0" tIns="0" rIns="0" bIns="0" anchor="t">
            <a:normAutofit/>
          </a:bodyPr>
          <a:lstStyle/>
          <a:p>
            <a:pPr algn="ctr">
              <a:buNone/>
            </a:pPr>
            <a:r>
              <a:rPr lang="en-US" sz="2400" b="0" i="1" dirty="0">
                <a:solidFill>
                  <a:srgbClr val="000000"/>
                </a:solidFill>
              </a:rPr>
              <a:t>A number in a spreadsheet does not mean a valid decision was made.</a:t>
            </a:r>
          </a:p>
        </p:txBody>
      </p:sp>
      <p:sp>
        <p:nvSpPr>
          <p:cNvPr id="120" name="Callout1"/>
          <p:cNvSpPr/>
          <p:nvPr/>
        </p:nvSpPr>
        <p:spPr>
          <a:xfrm>
            <a:off x="100000" y="1350000"/>
            <a:ext cx="1150000" cy="52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600" b="1" i="0" dirty="0">
                <a:solidFill>
                  <a:srgbClr val="B23B3B"/>
                </a:solidFill>
              </a:rPr>
              <a:t>WHY .30?</a:t>
            </a:r>
          </a:p>
        </p:txBody>
      </p:sp>
      <p:cxnSp>
        <p:nvCxnSpPr>
          <p:cNvPr id="121" name="CalloutArw1"/>
          <p:cNvCxnSpPr/>
          <p:nvPr/>
        </p:nvCxnSpPr>
        <p:spPr>
          <a:xfrm>
            <a:off x="1270000" y="1620000"/>
            <a:ext cx="2100000" cy="380000"/>
          </a:xfrm>
          <a:prstGeom prst="line">
            <a:avLst/>
          </a:prstGeom>
          <a:ln w="12700">
            <a:solidFill>
              <a:srgbClr val="B23B3B"/>
            </a:solidFill>
            <a:tailEnd type="triangle" w="sm" len="sm"/>
          </a:ln>
        </p:spPr>
      </p:cxnSp>
      <p:sp>
        <p:nvSpPr>
          <p:cNvPr id="122" name="Callout2"/>
          <p:cNvSpPr/>
          <p:nvPr/>
        </p:nvSpPr>
        <p:spPr>
          <a:xfrm>
            <a:off x="7560000" y="1150000"/>
            <a:ext cx="1520000" cy="640000"/>
          </a:xfrm>
          <a:prstGeom prst="roundRect">
            <a:avLst/>
          </a:prstGeom>
          <a:solidFill>
            <a:srgbClr val="F5F0E6"/>
          </a:solidFill>
          <a:ln w="12700">
            <a:solidFill>
              <a:srgbClr val="B23B3B"/>
            </a:solidFill>
          </a:ln>
        </p:spPr>
        <p:txBody>
          <a:bodyPr wrap="square" lIns="54864" tIns="27432" rIns="54864" bIns="27432" anchor="ctr">
            <a:noAutofit/>
          </a:bodyPr>
          <a:lstStyle/>
          <a:p>
            <a:pPr algn="ctr">
              <a:buNone/>
            </a:pPr>
            <a:r>
              <a:rPr lang="en-US" sz="1600" b="1" i="0" dirty="0">
                <a:solidFill>
                  <a:srgbClr val="B23B3B"/>
                </a:solidFill>
              </a:rPr>
              <a:t>WHAT IS</a:t>
            </a:r>
          </a:p>
          <a:p>
            <a:pPr algn="ctr">
              <a:spcBef>
                <a:spcPts val="300"/>
              </a:spcBef>
              <a:buNone/>
            </a:pPr>
            <a:r>
              <a:rPr lang="en-US" sz="1600" b="1" i="0" dirty="0">
                <a:solidFill>
                  <a:srgbClr val="B23B3B"/>
                </a:solidFill>
              </a:rPr>
              <a:t>A “5”?</a:t>
            </a:r>
          </a:p>
        </p:txBody>
      </p:sp>
      <p:cxnSp>
        <p:nvCxnSpPr>
          <p:cNvPr id="123" name="CalloutArw2"/>
          <p:cNvCxnSpPr/>
          <p:nvPr/>
        </p:nvCxnSpPr>
        <p:spPr>
          <a:xfrm flipH="1">
            <a:off x="6040000" y="1785000"/>
            <a:ext cx="1620000" cy="55000"/>
          </a:xfrm>
          <a:prstGeom prst="line">
            <a:avLst/>
          </a:prstGeom>
          <a:ln w="12700">
            <a:solidFill>
              <a:srgbClr val="B23B3B"/>
            </a:solidFill>
            <a:tailEnd type="triangle" w="sm" len="sm"/>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700000"/>
            <a:ext cx="1420000" cy="1250000"/>
          </a:xfrm>
          <a:prstGeom prst="roundRect">
            <a:avLst/>
          </a:prstGeom>
          <a:solidFill>
            <a:srgbClr val="F5F0E6"/>
          </a:solidFill>
          <a:ln w="12700">
            <a:solidFill>
              <a:srgbClr val="B23B3B"/>
            </a:solidFill>
          </a:ln>
        </p:spPr>
        <p:txBody>
          <a:bodyPr wrap="square" lIns="45720" tIns="27432" rIns="45720" bIns="27432" anchor="ctr">
            <a:normAutofit/>
          </a:bodyPr>
          <a:lstStyle/>
          <a:p>
            <a:pPr algn="ctr">
              <a:buNone/>
            </a:pPr>
            <a:r>
              <a:rPr lang="en-US" sz="1400" b="1" i="0" dirty="0">
                <a:solidFill>
                  <a:srgbClr val="B23B3B"/>
                </a:solidFill>
              </a:rPr>
              <a:t>WHY MAY COST</a:t>
            </a:r>
          </a:p>
          <a:p>
            <a:pPr algn="ctr">
              <a:spcBef>
                <a:spcPts val="300"/>
              </a:spcBef>
              <a:buNone/>
            </a:pPr>
            <a:r>
              <a:rPr lang="en-US" sz="1400" b="1" i="0" dirty="0">
                <a:solidFill>
                  <a:srgbClr val="B23B3B"/>
                </a:solidFill>
              </a:rPr>
              <a:t>COMPENSATE FOR</a:t>
            </a:r>
          </a:p>
          <a:p>
            <a:pPr algn="ctr">
              <a:spcBef>
                <a:spcPts val="300"/>
              </a:spcBef>
              <a:buNone/>
            </a:pPr>
            <a:r>
              <a:rPr lang="en-US" sz="14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4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3"/>
                                        </p:tgtEl>
                                        <p:attrNameLst>
                                          <p:attrName>style.visibility</p:attrName>
                                        </p:attrNameLst>
                                      </p:cBhvr>
                                      <p:to>
                                        <p:strVal val="visible"/>
                                      </p:to>
                                    </p:set>
                                    <p:animEffect transition="in" filter="fade">
                                      <p:cBhvr>
                                        <p:cTn id="13" dur="400"/>
                                        <p:tgtEl>
                                          <p:spTgt spid="83"/>
                                        </p:tgtEl>
                                      </p:cBhvr>
                                    </p:animEffect>
                                  </p:childTnLst>
                                </p:cTn>
                              </p:par>
                              <p:par>
                                <p:cTn id="14" presetID="10" presetClass="entr" presetSubtype="0" fill="hold" nodeType="withEffect">
                                  <p:stCondLst>
                                    <p:cond delay="0"/>
                                  </p:stCondLst>
                                  <p:childTnLst>
                                    <p:set>
                                      <p:cBhvr>
                                        <p:cTn id="15" dur="1" fill="hold">
                                          <p:stCondLst>
                                            <p:cond delay="0"/>
                                          </p:stCondLst>
                                        </p:cTn>
                                        <p:tgtEl>
                                          <p:spTgt spid="90"/>
                                        </p:tgtEl>
                                        <p:attrNameLst>
                                          <p:attrName>style.visibility</p:attrName>
                                        </p:attrNameLst>
                                      </p:cBhvr>
                                      <p:to>
                                        <p:strVal val="visible"/>
                                      </p:to>
                                    </p:set>
                                    <p:animEffect transition="in" filter="fade">
                                      <p:cBhvr>
                                        <p:cTn id="16" dur="4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4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400"/>
                                        <p:tgtEl>
                                          <p:spTgt spid="1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4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400"/>
                                        <p:tgtEl>
                                          <p:spTgt spid="1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4"/>
                                        </p:tgtEl>
                                        <p:attrNameLst>
                                          <p:attrName>style.visibility</p:attrName>
                                        </p:attrNameLst>
                                      </p:cBhvr>
                                      <p:to>
                                        <p:strVal val="visible"/>
                                      </p:to>
                                    </p:set>
                                    <p:animEffect transition="in" filter="fade">
                                      <p:cBhvr>
                                        <p:cTn id="37" dur="400"/>
                                        <p:tgtEl>
                                          <p:spTgt spid="124"/>
                                        </p:tgtEl>
                                      </p:cBhvr>
                                    </p:animEffect>
                                  </p:childTnLst>
                                </p:cTn>
                              </p:par>
                              <p:par>
                                <p:cTn id="38" presetID="10" presetClass="entr" presetSubtype="0" fill="hold" nodeType="withEffect">
                                  <p:stCondLst>
                                    <p:cond delay="0"/>
                                  </p:stCondLst>
                                  <p:childTnLst>
                                    <p:set>
                                      <p:cBhvr>
                                        <p:cTn id="39" dur="1" fill="hold">
                                          <p:stCondLst>
                                            <p:cond delay="0"/>
                                          </p:stCondLst>
                                        </p:cTn>
                                        <p:tgtEl>
                                          <p:spTgt spid="125"/>
                                        </p:tgtEl>
                                        <p:attrNameLst>
                                          <p:attrName>style.visibility</p:attrName>
                                        </p:attrNameLst>
                                      </p:cBhvr>
                                      <p:to>
                                        <p:strVal val="visible"/>
                                      </p:to>
                                    </p:set>
                                    <p:animEffect transition="in" filter="fade">
                                      <p:cBhvr>
                                        <p:cTn id="40" dur="400"/>
                                        <p:tgtEl>
                                          <p:spTgt spid="12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2"/>
                                        </p:tgtEl>
                                        <p:attrNameLst>
                                          <p:attrName>style.visibility</p:attrName>
                                        </p:attrNameLst>
                                      </p:cBhvr>
                                      <p:to>
                                        <p:strVal val="visible"/>
                                      </p:to>
                                    </p:set>
                                    <p:animEffect transition="in" filter="fade">
                                      <p:cBhvr>
                                        <p:cTn id="45"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B</a:t>
            </a:r>
          </a:p>
          <a:p>
            <a:pPr algn="ctr">
              <a:buNone/>
            </a:pPr>
            <a:endParaRPr lang="en-US" sz="2800"/>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589452" y="1540000"/>
            <a:ext cx="0" cy="2950000"/>
          </a:xfrm>
          <a:prstGeom prst="line">
            <a:avLst/>
          </a:prstGeom>
          <a:ln w="28575">
            <a:solidFill>
              <a:srgbClr val="C9B991"/>
            </a:solidFill>
            <a:prstDash val="dash"/>
          </a:ln>
        </p:spPr>
      </p:cxnSp>
      <p:sp>
        <p:nvSpPr>
          <p:cNvPr id="107" name="S2Lbl"/>
          <p:cNvSpPr txBox="1"/>
          <p:nvPr/>
        </p:nvSpPr>
        <p:spPr>
          <a:xfrm>
            <a:off x="4933202" y="1299552"/>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974352" y="4651250"/>
            <a:ext cx="4062500" cy="0"/>
          </a:xfrm>
          <a:prstGeom prst="line">
            <a:avLst/>
          </a:prstGeom>
          <a:ln w="53577">
            <a:solidFill>
              <a:srgbClr val="8E6F3E"/>
            </a:solidFill>
            <a:tailEnd type="triangle" w="med" len="med"/>
          </a:ln>
        </p:spPr>
      </p:cxnSp>
      <p:cxnSp>
        <p:nvCxnSpPr>
          <p:cNvPr id="109" name="AxY"/>
          <p:cNvCxnSpPr/>
          <p:nvPr/>
        </p:nvCxnSpPr>
        <p:spPr>
          <a:xfrm flipV="1">
            <a:off x="4974352" y="1713750"/>
            <a:ext cx="0" cy="2937500"/>
          </a:xfrm>
          <a:prstGeom prst="line">
            <a:avLst/>
          </a:prstGeom>
          <a:ln w="53577">
            <a:solidFill>
              <a:srgbClr val="8E6F3E"/>
            </a:solidFill>
            <a:tailEnd type="triangle" w="med" len="med"/>
          </a:ln>
        </p:spPr>
      </p:cxnSp>
      <p:sp>
        <p:nvSpPr>
          <p:cNvPr id="110" name="AxXLbl"/>
          <p:cNvSpPr txBox="1"/>
          <p:nvPr/>
        </p:nvSpPr>
        <p:spPr>
          <a:xfrm>
            <a:off x="7671010" y="4729777"/>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114273" y="3076251"/>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974352" y="258875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730602" y="247000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986852" y="222625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730602" y="184500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986852" y="160125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730602" y="353250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730602" y="353250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986852" y="328875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986852" y="328875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155602" y="402625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
        <p:nvSpPr>
          <p:cNvPr id="130" name="S1BRejectRing"/>
          <p:cNvSpPr/>
          <p:nvPr/>
        </p:nvSpPr>
        <p:spPr>
          <a:xfrm>
            <a:off x="1354000" y="1880000"/>
            <a:ext cx="936000" cy="1020000"/>
          </a:xfrm>
          <a:prstGeom prst="rect">
            <a:avLst/>
          </a:prstGeom>
          <a:noFill/>
          <a:ln w="22860">
            <a:solidFill>
              <a:srgbClr val="B23B3B"/>
            </a:solidFill>
          </a:ln>
        </p:spPr>
        <p:txBody>
          <a:bodyPr wrap="square" lIns="54864" tIns="27432" rIns="54864" bIns="27432" anchor="ctr">
            <a:normAutofit/>
          </a:bodyPr>
          <a:lstStyle/>
          <a:p>
            <a:endParaRPr lang="en-US"/>
          </a:p>
        </p:txBody>
      </p:sp>
      <p:sp>
        <p:nvSpPr>
          <p:cNvPr id="131" name="S1BRejectX"/>
          <p:cNvSpPr txBox="1"/>
          <p:nvPr/>
        </p:nvSpPr>
        <p:spPr>
          <a:xfrm>
            <a:off x="1354000" y="2280000"/>
            <a:ext cx="936000" cy="560000"/>
          </a:xfrm>
          <a:prstGeom prst="rect">
            <a:avLst/>
          </a:prstGeom>
          <a:noFill/>
          <a:ln>
            <a:noFill/>
          </a:ln>
        </p:spPr>
        <p:txBody>
          <a:bodyPr wrap="square" lIns="0" tIns="0" rIns="0" bIns="0" anchor="ctr">
            <a:normAutofit/>
          </a:bodyPr>
          <a:lstStyle/>
          <a:p>
            <a:pPr algn="ctr">
              <a:spcBef>
                <a:spcPts val="480"/>
              </a:spcBef>
              <a:buNone/>
            </a:pPr>
            <a:r>
              <a:rPr lang="en-US" sz="2600" b="1" i="0" dirty="0">
                <a:solidFill>
                  <a:srgbClr val="B23B3B"/>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400"/>
                                        <p:tgtEl>
                                          <p:spTgt spid="130"/>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400"/>
                                        <p:tgtEl>
                                          <p:spTgt spid="1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6"/>
                                        </p:tgtEl>
                                        <p:attrNameLst>
                                          <p:attrName>style.visibility</p:attrName>
                                        </p:attrNameLst>
                                      </p:cBhvr>
                                      <p:to>
                                        <p:strVal val="visible"/>
                                      </p:to>
                                    </p:set>
                                    <p:animEffect transition="in" filter="fade">
                                      <p:cBhvr>
                                        <p:cTn id="37" dur="400"/>
                                        <p:tgtEl>
                                          <p:spTgt spid="106"/>
                                        </p:tgtEl>
                                      </p:cBhvr>
                                    </p:animEffect>
                                  </p:childTnLst>
                                </p:cTn>
                              </p:par>
                              <p:par>
                                <p:cTn id="38" presetID="10" presetClass="entr" presetSubtype="0" fill="hold" nodeType="with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400"/>
                                        <p:tgtEl>
                                          <p:spTgt spid="107"/>
                                        </p:tgtEl>
                                      </p:cBhvr>
                                    </p:animEffect>
                                  </p:childTnLst>
                                </p:cTn>
                              </p:par>
                              <p:par>
                                <p:cTn id="41" presetID="10" presetClass="entr" presetSubtype="0" fill="hold" nodeType="withEffect">
                                  <p:stCondLst>
                                    <p:cond delay="0"/>
                                  </p:stCondLst>
                                  <p:childTnLst>
                                    <p:set>
                                      <p:cBhvr>
                                        <p:cTn id="42" dur="1" fill="hold">
                                          <p:stCondLst>
                                            <p:cond delay="0"/>
                                          </p:stCondLst>
                                        </p:cTn>
                                        <p:tgtEl>
                                          <p:spTgt spid="108"/>
                                        </p:tgtEl>
                                        <p:attrNameLst>
                                          <p:attrName>style.visibility</p:attrName>
                                        </p:attrNameLst>
                                      </p:cBhvr>
                                      <p:to>
                                        <p:strVal val="visible"/>
                                      </p:to>
                                    </p:set>
                                    <p:animEffect transition="in" filter="fade">
                                      <p:cBhvr>
                                        <p:cTn id="43" dur="400"/>
                                        <p:tgtEl>
                                          <p:spTgt spid="108"/>
                                        </p:tgtEl>
                                      </p:cBhvr>
                                    </p:animEffect>
                                  </p:childTnLst>
                                </p:cTn>
                              </p:par>
                              <p:par>
                                <p:cTn id="44" presetID="10" presetClass="entr" presetSubtype="0" fill="hold" nodeType="withEffect">
                                  <p:stCondLst>
                                    <p:cond delay="0"/>
                                  </p:stCondLst>
                                  <p:childTnLst>
                                    <p:set>
                                      <p:cBhvr>
                                        <p:cTn id="45" dur="1" fill="hold">
                                          <p:stCondLst>
                                            <p:cond delay="0"/>
                                          </p:stCondLst>
                                        </p:cTn>
                                        <p:tgtEl>
                                          <p:spTgt spid="109"/>
                                        </p:tgtEl>
                                        <p:attrNameLst>
                                          <p:attrName>style.visibility</p:attrName>
                                        </p:attrNameLst>
                                      </p:cBhvr>
                                      <p:to>
                                        <p:strVal val="visible"/>
                                      </p:to>
                                    </p:set>
                                    <p:animEffect transition="in" filter="fade">
                                      <p:cBhvr>
                                        <p:cTn id="46" dur="400"/>
                                        <p:tgtEl>
                                          <p:spTgt spid="109"/>
                                        </p:tgtEl>
                                      </p:cBhvr>
                                    </p:animEffect>
                                  </p:childTnLst>
                                </p:cTn>
                              </p:par>
                              <p:par>
                                <p:cTn id="47" presetID="10" presetClass="entr" presetSubtype="0" fill="hold" nodeType="withEffect">
                                  <p:stCondLst>
                                    <p:cond delay="0"/>
                                  </p:stCondLst>
                                  <p:childTnLst>
                                    <p:set>
                                      <p:cBhvr>
                                        <p:cTn id="48" dur="1" fill="hold">
                                          <p:stCondLst>
                                            <p:cond delay="0"/>
                                          </p:stCondLst>
                                        </p:cTn>
                                        <p:tgtEl>
                                          <p:spTgt spid="110"/>
                                        </p:tgtEl>
                                        <p:attrNameLst>
                                          <p:attrName>style.visibility</p:attrName>
                                        </p:attrNameLst>
                                      </p:cBhvr>
                                      <p:to>
                                        <p:strVal val="visible"/>
                                      </p:to>
                                    </p:set>
                                    <p:animEffect transition="in" filter="fade">
                                      <p:cBhvr>
                                        <p:cTn id="49" dur="400"/>
                                        <p:tgtEl>
                                          <p:spTgt spid="110"/>
                                        </p:tgtEl>
                                      </p:cBhvr>
                                    </p:animEffect>
                                  </p:childTnLst>
                                </p:cTn>
                              </p:par>
                              <p:par>
                                <p:cTn id="50" presetID="10" presetClass="entr" presetSubtype="0" fill="hold" nodeType="with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4" dur="1" fill="hold">
                                          <p:stCondLst>
                                            <p:cond delay="0"/>
                                          </p:stCondLst>
                                        </p:cTn>
                                        <p:tgtEl>
                                          <p:spTgt spid="113"/>
                                        </p:tgtEl>
                                        <p:attrNameLst>
                                          <p:attrName>style.visibility</p:attrName>
                                        </p:attrNameLst>
                                      </p:cBhvr>
                                      <p:to>
                                        <p:strVal val="visible"/>
                                      </p:to>
                                    </p:set>
                                    <p:animEffect transition="in" filter="fade">
                                      <p:cBhvr>
                                        <p:cTn id="55" dur="400"/>
                                        <p:tgtEl>
                                          <p:spTgt spid="113"/>
                                        </p:tgtEl>
                                      </p:cBhvr>
                                    </p:animEffect>
                                  </p:childTnLst>
                                </p:cTn>
                              </p:par>
                              <p:par>
                                <p:cTn id="56" presetID="10" presetClass="entr" presetSubtype="0" fill="hold"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fade">
                                      <p:cBhvr>
                                        <p:cTn id="58" dur="400"/>
                                        <p:tgtEl>
                                          <p:spTgt spid="114"/>
                                        </p:tgtEl>
                                      </p:cBhvr>
                                    </p:animEffect>
                                  </p:childTnLst>
                                </p:cTn>
                              </p:par>
                              <p:par>
                                <p:cTn id="59" presetID="10" presetClass="entr" presetSubtype="0" fill="hold" nodeType="withEffect">
                                  <p:stCondLst>
                                    <p:cond delay="0"/>
                                  </p:stCondLst>
                                  <p:childTnLst>
                                    <p:set>
                                      <p:cBhvr>
                                        <p:cTn id="60" dur="1" fill="hold">
                                          <p:stCondLst>
                                            <p:cond delay="0"/>
                                          </p:stCondLst>
                                        </p:cTn>
                                        <p:tgtEl>
                                          <p:spTgt spid="115"/>
                                        </p:tgtEl>
                                        <p:attrNameLst>
                                          <p:attrName>style.visibility</p:attrName>
                                        </p:attrNameLst>
                                      </p:cBhvr>
                                      <p:to>
                                        <p:strVal val="visible"/>
                                      </p:to>
                                    </p:set>
                                    <p:animEffect transition="in" filter="fade">
                                      <p:cBhvr>
                                        <p:cTn id="61" dur="400"/>
                                        <p:tgtEl>
                                          <p:spTgt spid="115"/>
                                        </p:tgtEl>
                                      </p:cBhvr>
                                    </p:animEffect>
                                  </p:childTnLst>
                                </p:cTn>
                              </p:par>
                              <p:par>
                                <p:cTn id="62" presetID="10" presetClass="entr" presetSubtype="0" fill="hold" nodeType="withEffect">
                                  <p:stCondLst>
                                    <p:cond delay="0"/>
                                  </p:stCondLst>
                                  <p:childTnLst>
                                    <p:set>
                                      <p:cBhvr>
                                        <p:cTn id="63" dur="1" fill="hold">
                                          <p:stCondLst>
                                            <p:cond delay="0"/>
                                          </p:stCondLst>
                                        </p:cTn>
                                        <p:tgtEl>
                                          <p:spTgt spid="116"/>
                                        </p:tgtEl>
                                        <p:attrNameLst>
                                          <p:attrName>style.visibility</p:attrName>
                                        </p:attrNameLst>
                                      </p:cBhvr>
                                      <p:to>
                                        <p:strVal val="visible"/>
                                      </p:to>
                                    </p:set>
                                    <p:animEffect transition="in" filter="fade">
                                      <p:cBhvr>
                                        <p:cTn id="64" dur="400"/>
                                        <p:tgtEl>
                                          <p:spTgt spid="116"/>
                                        </p:tgtEl>
                                      </p:cBhvr>
                                    </p:animEffect>
                                  </p:childTnLst>
                                </p:cTn>
                              </p:par>
                              <p:par>
                                <p:cTn id="65" presetID="10" presetClass="entr" presetSubtype="0" fill="hold" nodeType="withEffect">
                                  <p:stCondLst>
                                    <p:cond delay="0"/>
                                  </p:stCondLst>
                                  <p:childTnLst>
                                    <p:set>
                                      <p:cBhvr>
                                        <p:cTn id="66" dur="1" fill="hold">
                                          <p:stCondLst>
                                            <p:cond delay="0"/>
                                          </p:stCondLst>
                                        </p:cTn>
                                        <p:tgtEl>
                                          <p:spTgt spid="120"/>
                                        </p:tgtEl>
                                        <p:attrNameLst>
                                          <p:attrName>style.visibility</p:attrName>
                                        </p:attrNameLst>
                                      </p:cBhvr>
                                      <p:to>
                                        <p:strVal val="visible"/>
                                      </p:to>
                                    </p:set>
                                    <p:animEffect transition="in" filter="fade">
                                      <p:cBhvr>
                                        <p:cTn id="67" dur="400"/>
                                        <p:tgtEl>
                                          <p:spTgt spid="120"/>
                                        </p:tgtEl>
                                      </p:cBhvr>
                                    </p:animEffect>
                                  </p:childTnLst>
                                </p:cTn>
                              </p:par>
                              <p:par>
                                <p:cTn id="68" presetID="10" presetClass="entr" presetSubtype="0" fill="hold" nodeType="withEffect">
                                  <p:stCondLst>
                                    <p:cond delay="0"/>
                                  </p:stCondLst>
                                  <p:childTnLst>
                                    <p:set>
                                      <p:cBhvr>
                                        <p:cTn id="69" dur="1" fill="hold">
                                          <p:stCondLst>
                                            <p:cond delay="0"/>
                                          </p:stCondLst>
                                        </p:cTn>
                                        <p:tgtEl>
                                          <p:spTgt spid="121"/>
                                        </p:tgtEl>
                                        <p:attrNameLst>
                                          <p:attrName>style.visibility</p:attrName>
                                        </p:attrNameLst>
                                      </p:cBhvr>
                                      <p:to>
                                        <p:strVal val="visible"/>
                                      </p:to>
                                    </p:set>
                                    <p:animEffect transition="in" filter="fade">
                                      <p:cBhvr>
                                        <p:cTn id="70" dur="4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12"/>
                                        </p:tgtEl>
                                        <p:attrNameLst>
                                          <p:attrName>style.visibility</p:attrName>
                                        </p:attrNameLst>
                                      </p:cBhvr>
                                      <p:to>
                                        <p:strVal val="visible"/>
                                      </p:to>
                                    </p:set>
                                    <p:animEffect transition="in" filter="fade">
                                      <p:cBhvr>
                                        <p:cTn id="75" dur="400"/>
                                        <p:tgtEl>
                                          <p:spTgt spid="112"/>
                                        </p:tgtEl>
                                      </p:cBhvr>
                                    </p:animEffect>
                                  </p:childTnLst>
                                </p:cTn>
                              </p:par>
                              <p:par>
                                <p:cTn id="76" presetID="10" presetClass="entr" presetSubtype="0" fill="hold" nodeType="with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0" dur="1" fill="hold">
                                          <p:stCondLst>
                                            <p:cond delay="0"/>
                                          </p:stCondLst>
                                        </p:cTn>
                                        <p:tgtEl>
                                          <p:spTgt spid="118"/>
                                        </p:tgtEl>
                                        <p:attrNameLst>
                                          <p:attrName>style.visibility</p:attrName>
                                        </p:attrNameLst>
                                      </p:cBhvr>
                                      <p:to>
                                        <p:strVal val="visible"/>
                                      </p:to>
                                    </p:set>
                                    <p:animEffect transition="in" filter="fade">
                                      <p:cBhvr>
                                        <p:cTn id="81" dur="400"/>
                                        <p:tgtEl>
                                          <p:spTgt spid="11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9"/>
                                        </p:tgtEl>
                                        <p:attrNameLst>
                                          <p:attrName>style.visibility</p:attrName>
                                        </p:attrNameLst>
                                      </p:cBhvr>
                                      <p:to>
                                        <p:strVal val="visible"/>
                                      </p:to>
                                    </p:set>
                                    <p:animEffect transition="in" filter="fade">
                                      <p:cBhvr>
                                        <p:cTn id="86" dur="400"/>
                                        <p:tgtEl>
                                          <p:spTgt spid="11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cannot resolve this tradeoff.</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1"/>
                                        </p:tgtEl>
                                        <p:attrNameLst>
                                          <p:attrName>style.visibility</p:attrName>
                                        </p:attrNameLst>
                                      </p:cBhvr>
                                      <p:to>
                                        <p:strVal val="visible"/>
                                      </p:to>
                                    </p:set>
                                    <p:animEffect transition="in" filter="fade">
                                      <p:cBhvr>
                                        <p:cTn id="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165000" y="2492614"/>
            <a:ext cx="1540000" cy="70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UNCERTAIN CHOICE</a:t>
            </a:r>
          </a:p>
        </p:txBody>
      </p:sp>
      <p:cxnSp>
        <p:nvCxnSpPr>
          <p:cNvPr id="101" name="A1"/>
          <p:cNvCxnSpPr>
            <a:cxnSpLocks/>
            <a:stCxn id="100" idx="3"/>
            <a:endCxn id="102" idx="1"/>
          </p:cNvCxnSpPr>
          <p:nvPr/>
        </p:nvCxnSpPr>
        <p:spPr>
          <a:xfrm>
            <a:off x="1705000" y="2842614"/>
            <a:ext cx="332504" cy="17079"/>
          </a:xfrm>
          <a:prstGeom prst="line">
            <a:avLst/>
          </a:prstGeom>
          <a:ln w="43720">
            <a:solidFill>
              <a:srgbClr val="8E6F3E"/>
            </a:solidFill>
            <a:tailEnd type="triangle" w="med" len="med"/>
          </a:ln>
        </p:spPr>
      </p:cxnSp>
      <p:sp>
        <p:nvSpPr>
          <p:cNvPr id="102" name="Diamond"/>
          <p:cNvSpPr/>
          <p:nvPr/>
        </p:nvSpPr>
        <p:spPr>
          <a:xfrm>
            <a:off x="2037504" y="1609385"/>
            <a:ext cx="2374991" cy="2500615"/>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a:cxnSpLocks/>
            <a:stCxn id="102" idx="2"/>
            <a:endCxn id="105" idx="0"/>
          </p:cNvCxnSpPr>
          <p:nvPr/>
        </p:nvCxnSpPr>
        <p:spPr>
          <a:xfrm flipH="1">
            <a:off x="3224999" y="4110000"/>
            <a:ext cx="1" cy="340000"/>
          </a:xfrm>
          <a:prstGeom prst="line">
            <a:avLst/>
          </a:prstGeom>
          <a:ln w="43720">
            <a:solidFill>
              <a:srgbClr val="8E6F3E"/>
            </a:solidFill>
            <a:tailEnd type="triangle" w="med" len="med"/>
          </a:ln>
        </p:spPr>
      </p:cxnSp>
      <p:sp>
        <p:nvSpPr>
          <p:cNvPr id="104" name="NoLbl"/>
          <p:cNvSpPr txBox="1"/>
          <p:nvPr/>
        </p:nvSpPr>
        <p:spPr>
          <a:xfrm>
            <a:off x="3299999" y="4135833"/>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624999"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a:cxnSpLocks/>
            <a:stCxn id="102" idx="3"/>
            <a:endCxn id="108" idx="1"/>
          </p:cNvCxnSpPr>
          <p:nvPr/>
        </p:nvCxnSpPr>
        <p:spPr>
          <a:xfrm flipV="1">
            <a:off x="4412495" y="2850000"/>
            <a:ext cx="487505" cy="9693"/>
          </a:xfrm>
          <a:prstGeom prst="line">
            <a:avLst/>
          </a:prstGeom>
          <a:ln w="43720">
            <a:solidFill>
              <a:srgbClr val="8E6F3E"/>
            </a:solidFill>
            <a:tailEnd type="triangle" w="med" len="med"/>
          </a:ln>
        </p:spPr>
      </p:cxnSp>
      <p:sp>
        <p:nvSpPr>
          <p:cNvPr id="107" name="YesLbl"/>
          <p:cNvSpPr txBox="1"/>
          <p:nvPr/>
        </p:nvSpPr>
        <p:spPr>
          <a:xfrm>
            <a:off x="4412495" y="250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109302" y="2492614"/>
            <a:ext cx="929000" cy="700000"/>
          </a:xfrm>
          <a:prstGeom prst="rect">
            <a:avLst/>
          </a:prstGeom>
          <a:solidFill>
            <a:srgbClr val="8E6F3E"/>
          </a:solidFill>
          <a:ln>
            <a:noFill/>
          </a:ln>
        </p:spPr>
        <p:txBody>
          <a:bodyPr wrap="square" lIns="54864" tIns="27432" rIns="54864" bIns="27432" anchor="ctr">
            <a:noAutofit/>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a:cxnSpLocks/>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a:cxnSpLocks/>
          </p:cNvCxnSpPr>
          <p:nvPr/>
        </p:nvCxnSpPr>
        <p:spPr>
          <a:xfrm>
            <a:off x="7900000" y="2850000"/>
            <a:ext cx="150000" cy="0"/>
          </a:xfrm>
          <a:prstGeom prst="line">
            <a:avLst/>
          </a:prstGeom>
          <a:ln w="43720">
            <a:solidFill>
              <a:srgbClr val="8E6F3E"/>
            </a:solidFill>
            <a:tailEnd type="triangle" w="med" len="med"/>
          </a:ln>
        </p:spPr>
      </p:cxnSp>
      <p:cxnSp>
        <p:nvCxnSpPr>
          <p:cNvPr id="118" name="CA2"/>
          <p:cNvCxnSpPr>
            <a:cxnSpLocks/>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14"/>
                                        </p:tgtEl>
                                        <p:attrNameLst>
                                          <p:attrName>style.visibility</p:attrName>
                                        </p:attrNameLst>
                                      </p:cBhvr>
                                      <p:to>
                                        <p:strVal val="visible"/>
                                      </p:to>
                                    </p:set>
                                    <p:animEffect transition="in" filter="fade">
                                      <p:cBhvr>
                                        <p:cTn id="55" dur="400"/>
                                        <p:tgtEl>
                                          <p:spTgt spid="1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par>
                                <p:cTn id="64" presetID="10" presetClass="entr" presetSubtype="0" fill="hold" nodeType="withEffect">
                                  <p:stCondLst>
                                    <p:cond delay="0"/>
                                  </p:stCondLst>
                                  <p:childTnLst>
                                    <p:set>
                                      <p:cBhvr>
                                        <p:cTn id="65" dur="1" fill="hold">
                                          <p:stCondLst>
                                            <p:cond delay="0"/>
                                          </p:stCondLst>
                                        </p:cTn>
                                        <p:tgtEl>
                                          <p:spTgt spid="117"/>
                                        </p:tgtEl>
                                        <p:attrNameLst>
                                          <p:attrName>style.visibility</p:attrName>
                                        </p:attrNameLst>
                                      </p:cBhvr>
                                      <p:to>
                                        <p:strVal val="visible"/>
                                      </p:to>
                                    </p:set>
                                    <p:animEffect transition="in" filter="fade">
                                      <p:cBhvr>
                                        <p:cTn id="66" dur="400"/>
                                        <p:tgtEl>
                                          <p:spTgt spid="117"/>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fontScale="92500" lnSpcReduction="20000"/>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capture recurring choices and expected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49999"/>
            <a:ext cx="7772400" cy="1589573"/>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information about their consequences from use in other contexts</a:t>
            </a:r>
          </a:p>
          <a:p>
            <a:pPr algn="ctr">
              <a:buNone/>
            </a:pPr>
            <a:endParaRPr lang="en-US" sz="2400" b="0" i="1" dirty="0">
              <a:solidFill>
                <a:srgbClr val="000000"/>
              </a:solidFill>
            </a:endParaRPr>
          </a:p>
          <a:p>
            <a:pPr algn="ctr">
              <a:buNone/>
            </a:pPr>
            <a:r>
              <a:rPr lang="en-US" sz="2400" b="0" i="1" dirty="0">
                <a:solidFill>
                  <a:srgbClr val="000000"/>
                </a:solidFill>
              </a:rPr>
              <a:t>(though not guaranteed in THIS context)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8509043" cy="638175"/>
          </a:xfrm>
        </p:spPr>
        <p:txBody>
          <a:bodyPr>
            <a:normAutofit fontScale="90000"/>
          </a:bodyPr>
          <a:lstStyle/>
          <a:p>
            <a:pPr algn="l">
              <a:buNone/>
              <a:defRPr b="0"/>
            </a:pPr>
            <a:r>
              <a:rPr lang="en-US" sz="2800" b="0" i="0" dirty="0">
                <a:solidFill>
                  <a:srgbClr val="000000"/>
                </a:solidFill>
              </a:rPr>
              <a:t>Shall we layer communication paths? How strictly?</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fontScale="92500"/>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lnSpcReduction="10000"/>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lnSpcReduction="10000"/>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cross-layer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116"/>
                                        </p:tgtEl>
                                        <p:attrNameLst>
                                          <p:attrName>style.visibility</p:attrName>
                                        </p:attrNameLst>
                                      </p:cBhvr>
                                      <p:to>
                                        <p:strVal val="visible"/>
                                      </p:to>
                                    </p:set>
                                    <p:animEffect transition="in" filter="fade">
                                      <p:cBhvr>
                                        <p:cTn id="57" dur="400"/>
                                        <p:tgtEl>
                                          <p:spTgt spid="11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4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400"/>
                                        <p:tgtEl>
                                          <p:spTgt spid="121"/>
                                        </p:tgtEl>
                                      </p:cBhvr>
                                    </p:animEffect>
                                  </p:childTnLst>
                                </p:cTn>
                              </p:par>
                              <p:par>
                                <p:cTn id="66" presetID="10" presetClass="entr" presetSubtype="0" fill="hold" nodeType="withEffect">
                                  <p:stCondLst>
                                    <p:cond delay="0"/>
                                  </p:stCondLst>
                                  <p:childTnLst>
                                    <p:set>
                                      <p:cBhvr>
                                        <p:cTn id="67" dur="1" fill="hold">
                                          <p:stCondLst>
                                            <p:cond delay="0"/>
                                          </p:stCondLst>
                                        </p:cTn>
                                        <p:tgtEl>
                                          <p:spTgt spid="122"/>
                                        </p:tgtEl>
                                        <p:attrNameLst>
                                          <p:attrName>style.visibility</p:attrName>
                                        </p:attrNameLst>
                                      </p:cBhvr>
                                      <p:to>
                                        <p:strVal val="visible"/>
                                      </p:to>
                                    </p:set>
                                    <p:animEffect transition="in" filter="fade">
                                      <p:cBhvr>
                                        <p:cTn id="68" dur="400"/>
                                        <p:tgtEl>
                                          <p:spTgt spid="122"/>
                                        </p:tgtEl>
                                      </p:cBhvr>
                                    </p:animEffect>
                                  </p:childTnLst>
                                </p:cTn>
                              </p:par>
                              <p:par>
                                <p:cTn id="69" presetID="10" presetClass="entr" presetSubtype="0" fill="hold" nodeType="withEffect">
                                  <p:stCondLst>
                                    <p:cond delay="0"/>
                                  </p:stCondLst>
                                  <p:childTnLst>
                                    <p:set>
                                      <p:cBhvr>
                                        <p:cTn id="70" dur="1" fill="hold">
                                          <p:stCondLst>
                                            <p:cond delay="0"/>
                                          </p:stCondLst>
                                        </p:cTn>
                                        <p:tgtEl>
                                          <p:spTgt spid="123"/>
                                        </p:tgtEl>
                                        <p:attrNameLst>
                                          <p:attrName>style.visibility</p:attrName>
                                        </p:attrNameLst>
                                      </p:cBhvr>
                                      <p:to>
                                        <p:strVal val="visible"/>
                                      </p:to>
                                    </p:set>
                                    <p:animEffect transition="in" filter="fade">
                                      <p:cBhvr>
                                        <p:cTn id="71" dur="400"/>
                                        <p:tgtEl>
                                          <p:spTgt spid="123"/>
                                        </p:tgtEl>
                                      </p:cBhvr>
                                    </p:animEffect>
                                  </p:childTnLst>
                                </p:cTn>
                              </p:par>
                              <p:par>
                                <p:cTn id="72" presetID="10" presetClass="entr" presetSubtype="0" fill="hold" nodeType="withEffect">
                                  <p:stCondLst>
                                    <p:cond delay="0"/>
                                  </p:stCondLst>
                                  <p:childTnLst>
                                    <p:set>
                                      <p:cBhvr>
                                        <p:cTn id="73" dur="1" fill="hold">
                                          <p:stCondLst>
                                            <p:cond delay="0"/>
                                          </p:stCondLst>
                                        </p:cTn>
                                        <p:tgtEl>
                                          <p:spTgt spid="124"/>
                                        </p:tgtEl>
                                        <p:attrNameLst>
                                          <p:attrName>style.visibility</p:attrName>
                                        </p:attrNameLst>
                                      </p:cBhvr>
                                      <p:to>
                                        <p:strVal val="visible"/>
                                      </p:to>
                                    </p:set>
                                    <p:animEffect transition="in" filter="fade">
                                      <p:cBhvr>
                                        <p:cTn id="74" dur="400"/>
                                        <p:tgtEl>
                                          <p:spTgt spid="124"/>
                                        </p:tgtEl>
                                      </p:cBhvr>
                                    </p:animEffect>
                                  </p:childTnLst>
                                </p:cTn>
                              </p:par>
                              <p:par>
                                <p:cTn id="75" presetID="10" presetClass="entr" presetSubtype="0" fill="hold" nodeType="withEffect">
                                  <p:stCondLst>
                                    <p:cond delay="0"/>
                                  </p:stCondLst>
                                  <p:childTnLst>
                                    <p:set>
                                      <p:cBhvr>
                                        <p:cTn id="76" dur="1" fill="hold">
                                          <p:stCondLst>
                                            <p:cond delay="0"/>
                                          </p:stCondLst>
                                        </p:cTn>
                                        <p:tgtEl>
                                          <p:spTgt spid="94"/>
                                        </p:tgtEl>
                                        <p:attrNameLst>
                                          <p:attrName>style.visibility</p:attrName>
                                        </p:attrNameLst>
                                      </p:cBhvr>
                                      <p:to>
                                        <p:strVal val="visible"/>
                                      </p:to>
                                    </p:set>
                                    <p:animEffect transition="in" filter="fade">
                                      <p:cBhvr>
                                        <p:cTn id="77" dur="400"/>
                                        <p:tgtEl>
                                          <p:spTgt spid="9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95"/>
                                        </p:tgtEl>
                                        <p:attrNameLst>
                                          <p:attrName>style.visibility</p:attrName>
                                        </p:attrNameLst>
                                      </p:cBhvr>
                                      <p:to>
                                        <p:strVal val="visible"/>
                                      </p:to>
                                    </p:set>
                                    <p:animEffect transition="in" filter="fade">
                                      <p:cBhvr>
                                        <p:cTn id="82" dur="400"/>
                                        <p:tgtEl>
                                          <p:spTgt spid="95"/>
                                        </p:tgtEl>
                                      </p:cBhvr>
                                    </p:animEffect>
                                  </p:childTnLst>
                                </p:cTn>
                              </p:par>
                              <p:par>
                                <p:cTn id="83" presetID="10" presetClass="entr" presetSubtype="0"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animEffect transition="in" filter="fade">
                                      <p:cBhvr>
                                        <p:cTn id="85" dur="400"/>
                                        <p:tgtEl>
                                          <p:spTgt spid="9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97"/>
                                        </p:tgtEl>
                                        <p:attrNameLst>
                                          <p:attrName>style.visibility</p:attrName>
                                        </p:attrNameLst>
                                      </p:cBhvr>
                                      <p:to>
                                        <p:strVal val="visible"/>
                                      </p:to>
                                    </p:set>
                                    <p:animEffect transition="in" filter="fade">
                                      <p:cBhvr>
                                        <p:cTn id="90" dur="400"/>
                                        <p:tgtEl>
                                          <p:spTgt spid="97"/>
                                        </p:tgtEl>
                                      </p:cBhvr>
                                    </p:animEffect>
                                  </p:childTnLst>
                                </p:cTn>
                              </p:par>
                              <p:par>
                                <p:cTn id="91" presetID="10" presetClass="entr" presetSubtype="0" fill="hold" nodeType="withEffect">
                                  <p:stCondLst>
                                    <p:cond delay="0"/>
                                  </p:stCondLst>
                                  <p:childTnLst>
                                    <p:set>
                                      <p:cBhvr>
                                        <p:cTn id="92" dur="1" fill="hold">
                                          <p:stCondLst>
                                            <p:cond delay="0"/>
                                          </p:stCondLst>
                                        </p:cTn>
                                        <p:tgtEl>
                                          <p:spTgt spid="98"/>
                                        </p:tgtEl>
                                        <p:attrNameLst>
                                          <p:attrName>style.visibility</p:attrName>
                                        </p:attrNameLst>
                                      </p:cBhvr>
                                      <p:to>
                                        <p:strVal val="visible"/>
                                      </p:to>
                                    </p:set>
                                    <p:animEffect transition="in" filter="fade">
                                      <p:cBhvr>
                                        <p:cTn id="93" dur="400"/>
                                        <p:tgtEl>
                                          <p:spTgt spid="98"/>
                                        </p:tgtEl>
                                      </p:cBhvr>
                                    </p:animEffect>
                                  </p:childTnLst>
                                </p:cTn>
                              </p:par>
                              <p:par>
                                <p:cTn id="94" presetID="10" presetClass="entr" presetSubtype="0" fill="hold" nodeType="withEffect">
                                  <p:stCondLst>
                                    <p:cond delay="0"/>
                                  </p:stCondLst>
                                  <p:childTnLst>
                                    <p:set>
                                      <p:cBhvr>
                                        <p:cTn id="95" dur="1" fill="hold">
                                          <p:stCondLst>
                                            <p:cond delay="0"/>
                                          </p:stCondLst>
                                        </p:cTn>
                                        <p:tgtEl>
                                          <p:spTgt spid="99"/>
                                        </p:tgtEl>
                                        <p:attrNameLst>
                                          <p:attrName>style.visibility</p:attrName>
                                        </p:attrNameLst>
                                      </p:cBhvr>
                                      <p:to>
                                        <p:strVal val="visible"/>
                                      </p:to>
                                    </p:set>
                                    <p:animEffect transition="in" filter="fade">
                                      <p:cBhvr>
                                        <p:cTn id="96" dur="400"/>
                                        <p:tgtEl>
                                          <p:spTgt spid="99"/>
                                        </p:tgtEl>
                                      </p:cBhvr>
                                    </p:animEffect>
                                  </p:childTnLst>
                                </p:cTn>
                              </p:par>
                              <p:par>
                                <p:cTn id="97" presetID="10" presetClass="entr" presetSubtype="0" fill="hold" nodeType="withEffect">
                                  <p:stCondLst>
                                    <p:cond delay="0"/>
                                  </p:stCondLst>
                                  <p:childTnLst>
                                    <p:set>
                                      <p:cBhvr>
                                        <p:cTn id="98" dur="1" fill="hold">
                                          <p:stCondLst>
                                            <p:cond delay="0"/>
                                          </p:stCondLst>
                                        </p:cTn>
                                        <p:tgtEl>
                                          <p:spTgt spid="125"/>
                                        </p:tgtEl>
                                        <p:attrNameLst>
                                          <p:attrName>style.visibility</p:attrName>
                                        </p:attrNameLst>
                                      </p:cBhvr>
                                      <p:to>
                                        <p:strVal val="visible"/>
                                      </p:to>
                                    </p:set>
                                    <p:animEffect transition="in" filter="fade">
                                      <p:cBhvr>
                                        <p:cTn id="99"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6852" cy="638175"/>
          </a:xfrm>
        </p:spPr>
        <p:txBody>
          <a:bodyPr>
            <a:normAutofit fontScale="90000"/>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Pipeline vs. repository: same computations, different organization of state</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PIPELINE</a:t>
            </a:r>
          </a:p>
        </p:txBody>
      </p:sp>
      <p:sp>
        <p:nvSpPr>
          <p:cNvPr id="100" name="P100"/>
          <p:cNvSpPr/>
          <p:nvPr/>
        </p:nvSpPr>
        <p:spPr>
          <a:xfrm>
            <a:off x="1288000" y="14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288000" y="22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288000" y="30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288000" y="38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000" y="2070000"/>
            <a:ext cx="0" cy="20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000" y="2870000"/>
            <a:ext cx="0" cy="20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000" y="3670000"/>
            <a:ext cx="0" cy="200000"/>
          </a:xfrm>
          <a:prstGeom prst="line">
            <a:avLst/>
          </a:prstGeom>
          <a:ln w="53577">
            <a:solidFill>
              <a:srgbClr val="8E6F3E"/>
            </a:solidFill>
            <a:tailEnd type="triangle" w="med" len="med"/>
          </a:ln>
        </p:spPr>
      </p:cxnSp>
      <p:sp>
        <p:nvSpPr>
          <p:cNvPr id="92" name="CapL"/>
          <p:cNvSpPr txBox="1"/>
          <p:nvPr/>
        </p:nvSpPr>
        <p:spPr>
          <a:xfrm>
            <a:off x="685800" y="4560000"/>
            <a:ext cx="3736200" cy="280000"/>
          </a:xfrm>
          <a:prstGeom prst="rect">
            <a:avLst/>
          </a:prstGeom>
          <a:noFill/>
          <a:ln>
            <a:noFill/>
          </a:ln>
        </p:spPr>
        <p:txBody>
          <a:bodyPr wrap="none" lIns="0" tIns="0" rIns="0" bIns="0" anchor="t">
            <a:normAutofit/>
          </a:bodyPr>
          <a:lstStyle/>
          <a:p>
            <a:pPr algn="ctr">
              <a:buNone/>
            </a:pPr>
            <a:r>
              <a:rPr lang="en-US" sz="15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REPOSITORY</a:t>
            </a:r>
          </a:p>
        </p:txBody>
      </p:sp>
      <p:sp>
        <p:nvSpPr>
          <p:cNvPr id="110" name="Repo"/>
          <p:cNvSpPr/>
          <p:nvPr/>
        </p:nvSpPr>
        <p:spPr>
          <a:xfrm>
            <a:off x="5850000" y="2600000"/>
            <a:ext cx="1500000" cy="7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875000" y="148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875000" y="380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64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75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600000" y="210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600000" y="3340000"/>
            <a:ext cx="0" cy="46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500000" y="2970000"/>
            <a:ext cx="3500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350000" y="2970000"/>
            <a:ext cx="400000" cy="0"/>
          </a:xfrm>
          <a:prstGeom prst="line">
            <a:avLst/>
          </a:prstGeom>
          <a:ln w="53577">
            <a:solidFill>
              <a:srgbClr val="8E6F3E"/>
            </a:solidFill>
            <a:headEnd type="triangle" w="med" len="med"/>
            <a:tailEnd type="triangle" w="med" len="med"/>
          </a:ln>
        </p:spPr>
      </p:cxnSp>
      <p:sp>
        <p:nvSpPr>
          <p:cNvPr id="94" name="CapR"/>
          <p:cNvSpPr txBox="1"/>
          <p:nvPr/>
        </p:nvSpPr>
        <p:spPr>
          <a:xfrm>
            <a:off x="4722000" y="4560000"/>
            <a:ext cx="3736200" cy="280000"/>
          </a:xfrm>
          <a:prstGeom prst="rect">
            <a:avLst/>
          </a:prstGeom>
          <a:noFill/>
          <a:ln>
            <a:noFill/>
          </a:ln>
        </p:spPr>
        <p:txBody>
          <a:bodyPr wrap="none" lIns="0" tIns="0" rIns="0" bIns="0" anchor="t">
            <a:normAutofit/>
          </a:bodyPr>
          <a:lstStyle/>
          <a:p>
            <a:pPr algn="ctr">
              <a:buNone/>
            </a:pPr>
            <a:r>
              <a:rPr lang="en-US" sz="1500" b="0" i="1" dirty="0">
                <a:solidFill>
                  <a:srgbClr val="555960"/>
                </a:solidFill>
              </a:rPr>
              <a:t>computations meet at one authoritative state</a:t>
            </a:r>
          </a:p>
        </p:txBody>
      </p:sp>
      <p:sp>
        <p:nvSpPr>
          <p:cNvPr id="95" name="BuysL"/>
          <p:cNvSpPr txBox="1"/>
          <p:nvPr/>
        </p:nvSpPr>
        <p:spPr>
          <a:xfrm>
            <a:off x="685800" y="4900000"/>
            <a:ext cx="3736200" cy="1100000"/>
          </a:xfrm>
          <a:prstGeom prst="rect">
            <a:avLst/>
          </a:prstGeom>
          <a:noFill/>
          <a:ln>
            <a:noFill/>
          </a:ln>
        </p:spPr>
        <p:txBody>
          <a:bodyPr wrap="square" lIns="0" tIns="0" rIns="0" bIns="0" anchor="t">
            <a:normAutofit lnSpcReduction="10000"/>
          </a:bodyPr>
          <a:lstStyle/>
          <a:p>
            <a:pPr algn="l">
              <a:buNone/>
            </a:pPr>
            <a:r>
              <a:rPr lang="en-US" sz="1700" b="1" i="0" dirty="0">
                <a:solidFill>
                  <a:srgbClr val="5C4826"/>
                </a:solidFill>
              </a:rPr>
              <a:t>buys — </a:t>
            </a:r>
            <a:r>
              <a:rPr lang="en-US" sz="1700" b="0" i="0" dirty="0">
                <a:solidFill>
                  <a:srgbClr val="000000"/>
                </a:solidFill>
              </a:rPr>
              <a:t>explicit flow, local stage dependencies, incremental processing</a:t>
            </a:r>
          </a:p>
          <a:p>
            <a:pPr algn="l">
              <a:spcBef>
                <a:spcPts val="600"/>
              </a:spcBef>
              <a:buNone/>
            </a:pPr>
            <a:r>
              <a:rPr lang="en-US" sz="1700" b="1" i="0" dirty="0">
                <a:solidFill>
                  <a:srgbClr val="555960"/>
                </a:solidFill>
              </a:rPr>
              <a:t>costs — </a:t>
            </a:r>
            <a:r>
              <a:rPr lang="en-US" sz="1700" b="0" i="0" dirty="0">
                <a:solidFill>
                  <a:srgbClr val="000000"/>
                </a:solidFill>
              </a:rPr>
              <a:t>shared state across stages is harder</a:t>
            </a:r>
          </a:p>
        </p:txBody>
      </p:sp>
      <p:sp>
        <p:nvSpPr>
          <p:cNvPr id="96" name="BuysR"/>
          <p:cNvSpPr txBox="1"/>
          <p:nvPr/>
        </p:nvSpPr>
        <p:spPr>
          <a:xfrm>
            <a:off x="4722000" y="4900000"/>
            <a:ext cx="3736200" cy="1100000"/>
          </a:xfrm>
          <a:prstGeom prst="rect">
            <a:avLst/>
          </a:prstGeom>
          <a:noFill/>
          <a:ln>
            <a:noFill/>
          </a:ln>
        </p:spPr>
        <p:txBody>
          <a:bodyPr wrap="square" lIns="0" tIns="0" rIns="0" bIns="0" anchor="t">
            <a:normAutofit lnSpcReduction="10000"/>
          </a:bodyPr>
          <a:lstStyle/>
          <a:p>
            <a:pPr algn="l">
              <a:buNone/>
            </a:pPr>
            <a:r>
              <a:rPr lang="en-US" sz="1700" b="1" i="0" dirty="0">
                <a:solidFill>
                  <a:srgbClr val="5C4826"/>
                </a:solidFill>
              </a:rPr>
              <a:t>buys — </a:t>
            </a:r>
            <a:r>
              <a:rPr lang="en-US" sz="1700" b="0" i="0" dirty="0">
                <a:solidFill>
                  <a:srgbClr val="000000"/>
                </a:solidFill>
              </a:rPr>
              <a:t>authoritative shared state, integration</a:t>
            </a:r>
          </a:p>
          <a:p>
            <a:pPr algn="l">
              <a:spcBef>
                <a:spcPts val="600"/>
              </a:spcBef>
              <a:buNone/>
            </a:pPr>
            <a:r>
              <a:rPr lang="en-US" sz="1700" b="1" i="0" dirty="0">
                <a:solidFill>
                  <a:srgbClr val="555960"/>
                </a:solidFill>
              </a:rPr>
              <a:t>costs — </a:t>
            </a:r>
            <a:r>
              <a:rPr lang="en-US" sz="1700" b="0" i="0" dirty="0">
                <a:solidFill>
                  <a:srgbClr val="000000"/>
                </a:solidFill>
              </a:rPr>
              <a:t>central schema coupling,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92500" lnSpcReduction="10000"/>
          </a:bodyPr>
          <a:lstStyle/>
          <a:p>
            <a:pPr algn="r">
              <a:buNone/>
            </a:pPr>
            <a:r>
              <a:rPr lang="en-US" sz="17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17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400"/>
                                        <p:tgtEl>
                                          <p:spTgt spid="113"/>
                                        </p:tgtEl>
                                      </p:cBhvr>
                                    </p:animEffect>
                                  </p:childTnLst>
                                </p:cTn>
                              </p:par>
                              <p:par>
                                <p:cTn id="51" presetID="10" presetClass="entr" presetSubtype="0" fill="hold" nodeType="withEffect">
                                  <p:stCondLst>
                                    <p:cond delay="0"/>
                                  </p:stCondLst>
                                  <p:childTnLst>
                                    <p:set>
                                      <p:cBhvr>
                                        <p:cTn id="52" dur="1" fill="hold">
                                          <p:stCondLst>
                                            <p:cond delay="0"/>
                                          </p:stCondLst>
                                        </p:cTn>
                                        <p:tgtEl>
                                          <p:spTgt spid="114"/>
                                        </p:tgtEl>
                                        <p:attrNameLst>
                                          <p:attrName>style.visibility</p:attrName>
                                        </p:attrNameLst>
                                      </p:cBhvr>
                                      <p:to>
                                        <p:strVal val="visible"/>
                                      </p:to>
                                    </p:set>
                                    <p:animEffect transition="in" filter="fade">
                                      <p:cBhvr>
                                        <p:cTn id="53" dur="400"/>
                                        <p:tgtEl>
                                          <p:spTgt spid="114"/>
                                        </p:tgtEl>
                                      </p:cBhvr>
                                    </p:animEffect>
                                  </p:childTnLst>
                                </p:cTn>
                              </p:par>
                              <p:par>
                                <p:cTn id="54" presetID="10" presetClass="entr" presetSubtype="0" fill="hold" nodeType="with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par>
                                <p:cTn id="57" presetID="10" presetClass="entr" presetSubtype="0" fill="hold" nodeType="withEffect">
                                  <p:stCondLst>
                                    <p:cond delay="0"/>
                                  </p:stCondLst>
                                  <p:childTnLst>
                                    <p:set>
                                      <p:cBhvr>
                                        <p:cTn id="58" dur="1" fill="hold">
                                          <p:stCondLst>
                                            <p:cond delay="0"/>
                                          </p:stCondLst>
                                        </p:cTn>
                                        <p:tgtEl>
                                          <p:spTgt spid="116"/>
                                        </p:tgtEl>
                                        <p:attrNameLst>
                                          <p:attrName>style.visibility</p:attrName>
                                        </p:attrNameLst>
                                      </p:cBhvr>
                                      <p:to>
                                        <p:strVal val="visible"/>
                                      </p:to>
                                    </p:set>
                                    <p:animEffect transition="in" filter="fade">
                                      <p:cBhvr>
                                        <p:cTn id="59" dur="400"/>
                                        <p:tgtEl>
                                          <p:spTgt spid="116"/>
                                        </p:tgtEl>
                                      </p:cBhvr>
                                    </p:animEffect>
                                  </p:childTnLst>
                                </p:cTn>
                              </p:par>
                              <p:par>
                                <p:cTn id="60" presetID="10" presetClass="entr" presetSubtype="0" fill="hold" nodeType="withEffect">
                                  <p:stCondLst>
                                    <p:cond delay="0"/>
                                  </p:stCondLst>
                                  <p:childTnLst>
                                    <p:set>
                                      <p:cBhvr>
                                        <p:cTn id="61" dur="1" fill="hold">
                                          <p:stCondLst>
                                            <p:cond delay="0"/>
                                          </p:stCondLst>
                                        </p:cTn>
                                        <p:tgtEl>
                                          <p:spTgt spid="117"/>
                                        </p:tgtEl>
                                        <p:attrNameLst>
                                          <p:attrName>style.visibility</p:attrName>
                                        </p:attrNameLst>
                                      </p:cBhvr>
                                      <p:to>
                                        <p:strVal val="visible"/>
                                      </p:to>
                                    </p:set>
                                    <p:animEffect transition="in" filter="fade">
                                      <p:cBhvr>
                                        <p:cTn id="62" dur="400"/>
                                        <p:tgtEl>
                                          <p:spTgt spid="117"/>
                                        </p:tgtEl>
                                      </p:cBhvr>
                                    </p:animEffect>
                                  </p:childTnLst>
                                </p:cTn>
                              </p:par>
                              <p:par>
                                <p:cTn id="63" presetID="10" presetClass="entr" presetSubtype="0" fill="hold" nodeType="withEffect">
                                  <p:stCondLst>
                                    <p:cond delay="0"/>
                                  </p:stCondLst>
                                  <p:childTnLst>
                                    <p:set>
                                      <p:cBhvr>
                                        <p:cTn id="64" dur="1" fill="hold">
                                          <p:stCondLst>
                                            <p:cond delay="0"/>
                                          </p:stCondLst>
                                        </p:cTn>
                                        <p:tgtEl>
                                          <p:spTgt spid="118"/>
                                        </p:tgtEl>
                                        <p:attrNameLst>
                                          <p:attrName>style.visibility</p:attrName>
                                        </p:attrNameLst>
                                      </p:cBhvr>
                                      <p:to>
                                        <p:strVal val="visible"/>
                                      </p:to>
                                    </p:set>
                                    <p:animEffect transition="in" filter="fade">
                                      <p:cBhvr>
                                        <p:cTn id="65" dur="400"/>
                                        <p:tgtEl>
                                          <p:spTgt spid="118"/>
                                        </p:tgtEl>
                                      </p:cBhvr>
                                    </p:animEffect>
                                  </p:childTnLst>
                                </p:cTn>
                              </p:par>
                              <p:par>
                                <p:cTn id="66" presetID="10" presetClass="entr" presetSubtype="0" fill="hold" nodeType="withEffect">
                                  <p:stCondLst>
                                    <p:cond delay="0"/>
                                  </p:stCondLst>
                                  <p:childTnLst>
                                    <p:set>
                                      <p:cBhvr>
                                        <p:cTn id="67" dur="1" fill="hold">
                                          <p:stCondLst>
                                            <p:cond delay="0"/>
                                          </p:stCondLst>
                                        </p:cTn>
                                        <p:tgtEl>
                                          <p:spTgt spid="94"/>
                                        </p:tgtEl>
                                        <p:attrNameLst>
                                          <p:attrName>style.visibility</p:attrName>
                                        </p:attrNameLst>
                                      </p:cBhvr>
                                      <p:to>
                                        <p:strVal val="visible"/>
                                      </p:to>
                                    </p:set>
                                    <p:animEffect transition="in" filter="fade">
                                      <p:cBhvr>
                                        <p:cTn id="68" dur="400"/>
                                        <p:tgtEl>
                                          <p:spTgt spid="94"/>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5"/>
                                        </p:tgtEl>
                                        <p:attrNameLst>
                                          <p:attrName>style.visibility</p:attrName>
                                        </p:attrNameLst>
                                      </p:cBhvr>
                                      <p:to>
                                        <p:strVal val="visible"/>
                                      </p:to>
                                    </p:set>
                                    <p:animEffect transition="in" filter="fade">
                                      <p:cBhvr>
                                        <p:cTn id="73" dur="400"/>
                                        <p:tgtEl>
                                          <p:spTgt spid="95"/>
                                        </p:tgtEl>
                                      </p:cBhvr>
                                    </p:animEffect>
                                  </p:childTnLst>
                                </p:cTn>
                              </p:par>
                              <p:par>
                                <p:cTn id="74" presetID="10" presetClass="entr" presetSubtype="0" fill="hold" nodeType="withEffect">
                                  <p:stCondLst>
                                    <p:cond delay="0"/>
                                  </p:stCondLst>
                                  <p:childTnLst>
                                    <p:set>
                                      <p:cBhvr>
                                        <p:cTn id="75" dur="1" fill="hold">
                                          <p:stCondLst>
                                            <p:cond delay="0"/>
                                          </p:stCondLst>
                                        </p:cTn>
                                        <p:tgtEl>
                                          <p:spTgt spid="96"/>
                                        </p:tgtEl>
                                        <p:attrNameLst>
                                          <p:attrName>style.visibility</p:attrName>
                                        </p:attrNameLst>
                                      </p:cBhvr>
                                      <p:to>
                                        <p:strVal val="visible"/>
                                      </p:to>
                                    </p:set>
                                    <p:animEffect transition="in" filter="fade">
                                      <p:cBhvr>
                                        <p:cTn id="76" dur="400"/>
                                        <p:tgtEl>
                                          <p:spTgt spid="9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97"/>
                                        </p:tgtEl>
                                        <p:attrNameLst>
                                          <p:attrName>style.visibility</p:attrName>
                                        </p:attrNameLst>
                                      </p:cBhvr>
                                      <p:to>
                                        <p:strVal val="visible"/>
                                      </p:to>
                                    </p:set>
                                    <p:animEffect transition="in" filter="fade">
                                      <p:cBhvr>
                                        <p:cTn id="81" dur="400"/>
                                        <p:tgtEl>
                                          <p:spTgt spid="97"/>
                                        </p:tgtEl>
                                      </p:cBhvr>
                                    </p:animEffect>
                                  </p:childTnLst>
                                </p:cTn>
                              </p:par>
                              <p:par>
                                <p:cTn id="82" presetID="10" presetClass="entr" presetSubtype="0" fill="hold" nodeType="withEffect">
                                  <p:stCondLst>
                                    <p:cond delay="0"/>
                                  </p:stCondLst>
                                  <p:childTnLst>
                                    <p:set>
                                      <p:cBhvr>
                                        <p:cTn id="83" dur="1" fill="hold">
                                          <p:stCondLst>
                                            <p:cond delay="0"/>
                                          </p:stCondLst>
                                        </p:cTn>
                                        <p:tgtEl>
                                          <p:spTgt spid="98"/>
                                        </p:tgtEl>
                                        <p:attrNameLst>
                                          <p:attrName>style.visibility</p:attrName>
                                        </p:attrNameLst>
                                      </p:cBhvr>
                                      <p:to>
                                        <p:strVal val="visible"/>
                                      </p:to>
                                    </p:set>
                                    <p:animEffect transition="in" filter="fade">
                                      <p:cBhvr>
                                        <p:cTn id="84" dur="400"/>
                                        <p:tgtEl>
                                          <p:spTgt spid="98"/>
                                        </p:tgtEl>
                                      </p:cBhvr>
                                    </p:animEffect>
                                  </p:childTnLst>
                                </p:cTn>
                              </p:par>
                              <p:par>
                                <p:cTn id="85" presetID="10" presetClass="entr" presetSubtype="0" fill="hold" nodeType="withEffect">
                                  <p:stCondLst>
                                    <p:cond delay="0"/>
                                  </p:stCondLst>
                                  <p:childTnLst>
                                    <p:set>
                                      <p:cBhvr>
                                        <p:cTn id="86" dur="1" fill="hold">
                                          <p:stCondLst>
                                            <p:cond delay="0"/>
                                          </p:stCondLst>
                                        </p:cTn>
                                        <p:tgtEl>
                                          <p:spTgt spid="99"/>
                                        </p:tgtEl>
                                        <p:attrNameLst>
                                          <p:attrName>style.visibility</p:attrName>
                                        </p:attrNameLst>
                                      </p:cBhvr>
                                      <p:to>
                                        <p:strVal val="visible"/>
                                      </p:to>
                                    </p:set>
                                    <p:animEffect transition="in" filter="fade">
                                      <p:cBhvr>
                                        <p:cTn id="87" dur="400"/>
                                        <p:tgtEl>
                                          <p:spTgt spid="99"/>
                                        </p:tgtEl>
                                      </p:cBhvr>
                                    </p:animEffect>
                                  </p:childTnLst>
                                </p:cTn>
                              </p:par>
                              <p:par>
                                <p:cTn id="88" presetID="10" presetClass="entr" presetSubtype="0" fill="hold" nodeType="withEffect">
                                  <p:stCondLst>
                                    <p:cond delay="0"/>
                                  </p:stCondLst>
                                  <p:childTnLst>
                                    <p:set>
                                      <p:cBhvr>
                                        <p:cTn id="89" dur="1" fill="hold">
                                          <p:stCondLst>
                                            <p:cond delay="0"/>
                                          </p:stCondLst>
                                        </p:cTn>
                                        <p:tgtEl>
                                          <p:spTgt spid="120"/>
                                        </p:tgtEl>
                                        <p:attrNameLst>
                                          <p:attrName>style.visibility</p:attrName>
                                        </p:attrNameLst>
                                      </p:cBhvr>
                                      <p:to>
                                        <p:strVal val="visible"/>
                                      </p:to>
                                    </p:set>
                                    <p:animEffect transition="in" filter="fade">
                                      <p:cBhvr>
                                        <p:cTn id="90"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Arr"/>
          <p:cNvCxnSpPr/>
          <p:nvPr/>
        </p:nvCxnSpPr>
        <p:spPr>
          <a:xfrm>
            <a:off x="2135800" y="2040000"/>
            <a:ext cx="900000" cy="0"/>
          </a:xfrm>
          <a:prstGeom prst="line">
            <a:avLst/>
          </a:prstGeom>
          <a:ln w="53577">
            <a:solidFill>
              <a:srgbClr val="8E6F3E"/>
            </a:solidFill>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request</a:t>
            </a:r>
          </a:p>
        </p:txBody>
      </p:sp>
      <p:sp>
        <p:nvSpPr>
          <p:cNvPr id="104" name="RespLbl"/>
          <p:cNvSpPr txBox="1"/>
          <p:nvPr/>
        </p:nvSpPr>
        <p:spPr>
          <a:xfrm>
            <a:off x="2135800" y="232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1800" b="1" i="0" dirty="0">
                <a:solidFill>
                  <a:srgbClr val="5C4826"/>
                </a:solidFill>
              </a:rPr>
              <a:t>buys — </a:t>
            </a:r>
            <a:r>
              <a:rPr lang="en-US" sz="1800" b="0" i="0" dirty="0">
                <a:solidFill>
                  <a:srgbClr val="000000"/>
                </a:solidFill>
              </a:rPr>
              <a:t>immediate coordination, clear request/response semantics</a:t>
            </a:r>
          </a:p>
          <a:p>
            <a:pPr algn="l">
              <a:spcBef>
                <a:spcPts val="600"/>
              </a:spcBef>
              <a:buNone/>
            </a:pPr>
            <a:r>
              <a:rPr lang="en-US" sz="1800" b="1" i="0" dirty="0">
                <a:solidFill>
                  <a:srgbClr val="555960"/>
                </a:solidFill>
              </a:rPr>
              <a:t>costs — </a:t>
            </a:r>
            <a:r>
              <a:rPr lang="en-US" sz="18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1800" b="1" i="0" dirty="0">
                <a:solidFill>
                  <a:srgbClr val="5C4826"/>
                </a:solidFill>
              </a:rPr>
              <a:t>buys — </a:t>
            </a:r>
            <a:r>
              <a:rPr lang="en-US" sz="1800" b="0" i="0" dirty="0">
                <a:solidFill>
                  <a:srgbClr val="000000"/>
                </a:solidFill>
              </a:rPr>
              <a:t>producer/consumer decoupling; adding consumers is easy</a:t>
            </a:r>
          </a:p>
          <a:p>
            <a:pPr algn="l">
              <a:spcBef>
                <a:spcPts val="600"/>
              </a:spcBef>
              <a:buNone/>
            </a:pPr>
            <a:r>
              <a:rPr lang="en-US" sz="1800" b="1" i="0" dirty="0">
                <a:solidFill>
                  <a:srgbClr val="555960"/>
                </a:solidFill>
              </a:rPr>
              <a:t>costs — </a:t>
            </a:r>
            <a:r>
              <a:rPr lang="en-US" sz="18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17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1700" b="0" i="0" dirty="0">
                <a:solidFill>
                  <a:srgbClr val="5C4826"/>
                </a:solidFill>
              </a:rPr>
              <a:t>producer/consumer decoupling</a:t>
            </a:r>
          </a:p>
        </p:txBody>
      </p:sp>
      <p:cxnSp>
        <p:nvCxnSpPr>
          <p:cNvPr id="126" name="RespArr"/>
          <p:cNvCxnSpPr/>
          <p:nvPr/>
        </p:nvCxnSpPr>
        <p:spPr>
          <a:xfrm flipH="1">
            <a:off x="2135800" y="2260000"/>
            <a:ext cx="900000" cy="0"/>
          </a:xfrm>
          <a:prstGeom prst="line">
            <a:avLst/>
          </a:prstGeom>
          <a:ln w="53577">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4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6"/>
                                        </p:tgtEl>
                                        <p:attrNameLst>
                                          <p:attrName>style.visibility</p:attrName>
                                        </p:attrNameLst>
                                      </p:cBhvr>
                                      <p:to>
                                        <p:strVal val="visible"/>
                                      </p:to>
                                    </p:set>
                                    <p:animEffect transition="in" filter="fade">
                                      <p:cBhvr>
                                        <p:cTn id="24" dur="400"/>
                                        <p:tgtEl>
                                          <p:spTgt spid="126"/>
                                        </p:tgtEl>
                                      </p:cBhvr>
                                    </p:animEffect>
                                  </p:childTnLst>
                                </p:cTn>
                              </p:par>
                              <p:par>
                                <p:cTn id="25" presetID="10" presetClass="entr" presetSubtype="0" fill="hold" nodeType="with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400"/>
                                        <p:tgtEl>
                                          <p:spTgt spid="106"/>
                                        </p:tgtEl>
                                      </p:cBhvr>
                                    </p:animEffect>
                                  </p:childTnLst>
                                </p:cTn>
                              </p:par>
                              <p:par>
                                <p:cTn id="36" presetID="10" presetClass="entr" presetSubtype="0" fill="hold" nodeType="withEffect">
                                  <p:stCondLst>
                                    <p:cond delay="0"/>
                                  </p:stCondLst>
                                  <p:childTnLst>
                                    <p:set>
                                      <p:cBhvr>
                                        <p:cTn id="37" dur="1" fill="hold">
                                          <p:stCondLst>
                                            <p:cond delay="0"/>
                                          </p:stCondLst>
                                        </p:cTn>
                                        <p:tgtEl>
                                          <p:spTgt spid="92"/>
                                        </p:tgtEl>
                                        <p:attrNameLst>
                                          <p:attrName>style.visibility</p:attrName>
                                        </p:attrNameLst>
                                      </p:cBhvr>
                                      <p:to>
                                        <p:strVal val="visible"/>
                                      </p:to>
                                    </p:set>
                                    <p:animEffect transition="in" filter="fade">
                                      <p:cBhvr>
                                        <p:cTn id="38" dur="400"/>
                                        <p:tgtEl>
                                          <p:spTgt spid="9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93"/>
                                        </p:tgtEl>
                                        <p:attrNameLst>
                                          <p:attrName>style.visibility</p:attrName>
                                        </p:attrNameLst>
                                      </p:cBhvr>
                                      <p:to>
                                        <p:strVal val="visible"/>
                                      </p:to>
                                    </p:set>
                                    <p:animEffect transition="in" filter="fade">
                                      <p:cBhvr>
                                        <p:cTn id="43" dur="400"/>
                                        <p:tgtEl>
                                          <p:spTgt spid="93"/>
                                        </p:tgtEl>
                                      </p:cBhvr>
                                    </p:animEffect>
                                  </p:childTnLst>
                                </p:cTn>
                              </p:par>
                              <p:par>
                                <p:cTn id="44"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1"/>
                                        </p:tgtEl>
                                        <p:attrNameLst>
                                          <p:attrName>style.visibility</p:attrName>
                                        </p:attrNameLst>
                                      </p:cBhvr>
                                      <p:to>
                                        <p:strVal val="visible"/>
                                      </p:to>
                                    </p:set>
                                    <p:animEffect transition="in" filter="fade">
                                      <p:cBhvr>
                                        <p:cTn id="51" dur="400"/>
                                        <p:tgtEl>
                                          <p:spTgt spid="111"/>
                                        </p:tgtEl>
                                      </p:cBhvr>
                                    </p:animEffect>
                                  </p:childTnLst>
                                </p:cTn>
                              </p:par>
                              <p:par>
                                <p:cTn id="52" presetID="10" presetClass="entr" presetSubtype="0" fill="hold"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400"/>
                                        <p:tgtEl>
                                          <p:spTgt spid="112"/>
                                        </p:tgtEl>
                                      </p:cBhvr>
                                    </p:animEffect>
                                  </p:childTnLst>
                                </p:cTn>
                              </p:par>
                              <p:par>
                                <p:cTn id="55" presetID="10" presetClass="entr" presetSubtype="0" fill="hold" nodeType="withEffect">
                                  <p:stCondLst>
                                    <p:cond delay="0"/>
                                  </p:stCondLst>
                                  <p:childTnLst>
                                    <p:set>
                                      <p:cBhvr>
                                        <p:cTn id="56" dur="1" fill="hold">
                                          <p:stCondLst>
                                            <p:cond delay="0"/>
                                          </p:stCondLst>
                                        </p:cTn>
                                        <p:tgtEl>
                                          <p:spTgt spid="113"/>
                                        </p:tgtEl>
                                        <p:attrNameLst>
                                          <p:attrName>style.visibility</p:attrName>
                                        </p:attrNameLst>
                                      </p:cBhvr>
                                      <p:to>
                                        <p:strVal val="visible"/>
                                      </p:to>
                                    </p:set>
                                    <p:animEffect transition="in" filter="fade">
                                      <p:cBhvr>
                                        <p:cTn id="57" dur="400"/>
                                        <p:tgtEl>
                                          <p:spTgt spid="11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
                                        </p:tgtEl>
                                        <p:attrNameLst>
                                          <p:attrName>style.visibility</p:attrName>
                                        </p:attrNameLst>
                                      </p:cBhvr>
                                      <p:to>
                                        <p:strVal val="visible"/>
                                      </p:to>
                                    </p:set>
                                    <p:animEffect transition="in" filter="fade">
                                      <p:cBhvr>
                                        <p:cTn id="62" dur="400"/>
                                        <p:tgtEl>
                                          <p:spTgt spid="114"/>
                                        </p:tgtEl>
                                      </p:cBhvr>
                                    </p:animEffect>
                                  </p:childTnLst>
                                </p:cTn>
                              </p:par>
                              <p:par>
                                <p:cTn id="63" presetID="10" presetClass="entr" presetSubtype="0" fill="hold" nodeType="withEffect">
                                  <p:stCondLst>
                                    <p:cond delay="0"/>
                                  </p:stCondLst>
                                  <p:childTnLst>
                                    <p:set>
                                      <p:cBhvr>
                                        <p:cTn id="64" dur="1" fill="hold">
                                          <p:stCondLst>
                                            <p:cond delay="0"/>
                                          </p:stCondLst>
                                        </p:cTn>
                                        <p:tgtEl>
                                          <p:spTgt spid="115"/>
                                        </p:tgtEl>
                                        <p:attrNameLst>
                                          <p:attrName>style.visibility</p:attrName>
                                        </p:attrNameLst>
                                      </p:cBhvr>
                                      <p:to>
                                        <p:strVal val="visible"/>
                                      </p:to>
                                    </p:set>
                                    <p:animEffect transition="in" filter="fade">
                                      <p:cBhvr>
                                        <p:cTn id="65" dur="400"/>
                                        <p:tgtEl>
                                          <p:spTgt spid="115"/>
                                        </p:tgtEl>
                                      </p:cBhvr>
                                    </p:animEffect>
                                  </p:childTnLst>
                                </p:cTn>
                              </p:par>
                              <p:par>
                                <p:cTn id="66" presetID="10" presetClass="entr" presetSubtype="0" fill="hold" nodeType="withEffect">
                                  <p:stCondLst>
                                    <p:cond delay="0"/>
                                  </p:stCondLst>
                                  <p:childTnLst>
                                    <p:set>
                                      <p:cBhvr>
                                        <p:cTn id="67" dur="1" fill="hold">
                                          <p:stCondLst>
                                            <p:cond delay="0"/>
                                          </p:stCondLst>
                                        </p:cTn>
                                        <p:tgtEl>
                                          <p:spTgt spid="116"/>
                                        </p:tgtEl>
                                        <p:attrNameLst>
                                          <p:attrName>style.visibility</p:attrName>
                                        </p:attrNameLst>
                                      </p:cBhvr>
                                      <p:to>
                                        <p:strVal val="visible"/>
                                      </p:to>
                                    </p:set>
                                    <p:animEffect transition="in" filter="fade">
                                      <p:cBhvr>
                                        <p:cTn id="68" dur="400"/>
                                        <p:tgtEl>
                                          <p:spTgt spid="116"/>
                                        </p:tgtEl>
                                      </p:cBhvr>
                                    </p:animEffect>
                                  </p:childTnLst>
                                </p:cTn>
                              </p:par>
                              <p:par>
                                <p:cTn id="69" presetID="10" presetClass="entr" presetSubtype="0"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fade">
                                      <p:cBhvr>
                                        <p:cTn id="71" dur="400"/>
                                        <p:tgtEl>
                                          <p:spTgt spid="117"/>
                                        </p:tgtEl>
                                      </p:cBhvr>
                                    </p:animEffect>
                                  </p:childTnLst>
                                </p:cTn>
                              </p:par>
                              <p:par>
                                <p:cTn id="72" presetID="10" presetClass="entr" presetSubtype="0"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fade">
                                      <p:cBhvr>
                                        <p:cTn id="74" dur="400"/>
                                        <p:tgtEl>
                                          <p:spTgt spid="119"/>
                                        </p:tgtEl>
                                      </p:cBhvr>
                                    </p:animEffect>
                                  </p:childTnLst>
                                </p:cTn>
                              </p:par>
                              <p:par>
                                <p:cTn id="75" presetID="10" presetClass="entr" presetSubtype="0" fill="hold" nodeType="withEffect">
                                  <p:stCondLst>
                                    <p:cond delay="0"/>
                                  </p:stCondLst>
                                  <p:childTnLst>
                                    <p:set>
                                      <p:cBhvr>
                                        <p:cTn id="76" dur="1" fill="hold">
                                          <p:stCondLst>
                                            <p:cond delay="0"/>
                                          </p:stCondLst>
                                        </p:cTn>
                                        <p:tgtEl>
                                          <p:spTgt spid="120"/>
                                        </p:tgtEl>
                                        <p:attrNameLst>
                                          <p:attrName>style.visibility</p:attrName>
                                        </p:attrNameLst>
                                      </p:cBhvr>
                                      <p:to>
                                        <p:strVal val="visible"/>
                                      </p:to>
                                    </p:set>
                                    <p:animEffect transition="in" filter="fade">
                                      <p:cBhvr>
                                        <p:cTn id="77" dur="400"/>
                                        <p:tgtEl>
                                          <p:spTgt spid="12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par>
                                <p:cTn id="83" presetID="10" presetClass="entr" presetSubtype="0" fill="hold" nodeType="withEffect">
                                  <p:stCondLst>
                                    <p:cond delay="0"/>
                                  </p:stCondLst>
                                  <p:childTnLst>
                                    <p:set>
                                      <p:cBhvr>
                                        <p:cTn id="84" dur="1" fill="hold">
                                          <p:stCondLst>
                                            <p:cond delay="0"/>
                                          </p:stCondLst>
                                        </p:cTn>
                                        <p:tgtEl>
                                          <p:spTgt spid="121"/>
                                        </p:tgtEl>
                                        <p:attrNameLst>
                                          <p:attrName>style.visibility</p:attrName>
                                        </p:attrNameLst>
                                      </p:cBhvr>
                                      <p:to>
                                        <p:strVal val="visible"/>
                                      </p:to>
                                    </p:set>
                                    <p:animEffect transition="in" filter="fade">
                                      <p:cBhvr>
                                        <p:cTn id="85" dur="400"/>
                                        <p:tgtEl>
                                          <p:spTgt spid="121"/>
                                        </p:tgtEl>
                                      </p:cBhvr>
                                    </p:animEffect>
                                  </p:childTnLst>
                                </p:cTn>
                              </p:par>
                              <p:par>
                                <p:cTn id="86" presetID="10" presetClass="entr" presetSubtype="0" fill="hold" nodeType="withEffect">
                                  <p:stCondLst>
                                    <p:cond delay="0"/>
                                  </p:stCondLst>
                                  <p:childTnLst>
                                    <p:set>
                                      <p:cBhvr>
                                        <p:cTn id="87" dur="1" fill="hold">
                                          <p:stCondLst>
                                            <p:cond delay="0"/>
                                          </p:stCondLst>
                                        </p:cTn>
                                        <p:tgtEl>
                                          <p:spTgt spid="94"/>
                                        </p:tgtEl>
                                        <p:attrNameLst>
                                          <p:attrName>style.visibility</p:attrName>
                                        </p:attrNameLst>
                                      </p:cBhvr>
                                      <p:to>
                                        <p:strVal val="visible"/>
                                      </p:to>
                                    </p:set>
                                    <p:animEffect transition="in" filter="fade">
                                      <p:cBhvr>
                                        <p:cTn id="88" dur="400"/>
                                        <p:tgtEl>
                                          <p:spTgt spid="9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95"/>
                                        </p:tgtEl>
                                        <p:attrNameLst>
                                          <p:attrName>style.visibility</p:attrName>
                                        </p:attrNameLst>
                                      </p:cBhvr>
                                      <p:to>
                                        <p:strVal val="visible"/>
                                      </p:to>
                                    </p:set>
                                    <p:animEffect transition="in" filter="fade">
                                      <p:cBhvr>
                                        <p:cTn id="93" dur="400"/>
                                        <p:tgtEl>
                                          <p:spTgt spid="95"/>
                                        </p:tgtEl>
                                      </p:cBhvr>
                                    </p:animEffect>
                                  </p:childTnLst>
                                </p:cTn>
                              </p:par>
                              <p:par>
                                <p:cTn id="94" presetID="10" presetClass="entr" presetSubtype="0" fill="hold" nodeType="withEffect">
                                  <p:stCondLst>
                                    <p:cond delay="0"/>
                                  </p:stCondLst>
                                  <p:childTnLst>
                                    <p:set>
                                      <p:cBhvr>
                                        <p:cTn id="95" dur="1" fill="hold">
                                          <p:stCondLst>
                                            <p:cond delay="0"/>
                                          </p:stCondLst>
                                        </p:cTn>
                                        <p:tgtEl>
                                          <p:spTgt spid="96"/>
                                        </p:tgtEl>
                                        <p:attrNameLst>
                                          <p:attrName>style.visibility</p:attrName>
                                        </p:attrNameLst>
                                      </p:cBhvr>
                                      <p:to>
                                        <p:strVal val="visible"/>
                                      </p:to>
                                    </p:set>
                                    <p:animEffect transition="in" filter="fade">
                                      <p:cBhvr>
                                        <p:cTn id="96" dur="400"/>
                                        <p:tgtEl>
                                          <p:spTgt spid="96"/>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97"/>
                                        </p:tgtEl>
                                        <p:attrNameLst>
                                          <p:attrName>style.visibility</p:attrName>
                                        </p:attrNameLst>
                                      </p:cBhvr>
                                      <p:to>
                                        <p:strVal val="visible"/>
                                      </p:to>
                                    </p:set>
                                    <p:animEffect transition="in" filter="fade">
                                      <p:cBhvr>
                                        <p:cTn id="101" dur="400"/>
                                        <p:tgtEl>
                                          <p:spTgt spid="97"/>
                                        </p:tgtEl>
                                      </p:cBhvr>
                                    </p:animEffect>
                                  </p:childTnLst>
                                </p:cTn>
                              </p:par>
                              <p:par>
                                <p:cTn id="102" presetID="10" presetClass="entr" presetSubtype="0" fill="hold" nodeType="withEffect">
                                  <p:stCondLst>
                                    <p:cond delay="0"/>
                                  </p:stCondLst>
                                  <p:childTnLst>
                                    <p:set>
                                      <p:cBhvr>
                                        <p:cTn id="103" dur="1" fill="hold">
                                          <p:stCondLst>
                                            <p:cond delay="0"/>
                                          </p:stCondLst>
                                        </p:cTn>
                                        <p:tgtEl>
                                          <p:spTgt spid="98"/>
                                        </p:tgtEl>
                                        <p:attrNameLst>
                                          <p:attrName>style.visibility</p:attrName>
                                        </p:attrNameLst>
                                      </p:cBhvr>
                                      <p:to>
                                        <p:strVal val="visible"/>
                                      </p:to>
                                    </p:set>
                                    <p:animEffect transition="in" filter="fade">
                                      <p:cBhvr>
                                        <p:cTn id="104" dur="400"/>
                                        <p:tgtEl>
                                          <p:spTgt spid="98"/>
                                        </p:tgtEl>
                                      </p:cBhvr>
                                    </p:animEffect>
                                  </p:childTnLst>
                                </p:cTn>
                              </p:par>
                              <p:par>
                                <p:cTn id="105" presetID="10" presetClass="entr" presetSubtype="0" fill="hold" nodeType="withEffect">
                                  <p:stCondLst>
                                    <p:cond delay="0"/>
                                  </p:stCondLst>
                                  <p:childTnLst>
                                    <p:set>
                                      <p:cBhvr>
                                        <p:cTn id="106" dur="1" fill="hold">
                                          <p:stCondLst>
                                            <p:cond delay="0"/>
                                          </p:stCondLst>
                                        </p:cTn>
                                        <p:tgtEl>
                                          <p:spTgt spid="99"/>
                                        </p:tgtEl>
                                        <p:attrNameLst>
                                          <p:attrName>style.visibility</p:attrName>
                                        </p:attrNameLst>
                                      </p:cBhvr>
                                      <p:to>
                                        <p:strVal val="visible"/>
                                      </p:to>
                                    </p:set>
                                    <p:animEffect transition="in" filter="fade">
                                      <p:cBhvr>
                                        <p:cTn id="107" dur="400"/>
                                        <p:tgtEl>
                                          <p:spTgt spid="99"/>
                                        </p:tgtEl>
                                      </p:cBhvr>
                                    </p:animEffect>
                                  </p:childTnLst>
                                </p:cTn>
                              </p:par>
                              <p:par>
                                <p:cTn id="108" presetID="10" presetClass="entr" presetSubtype="0" fill="hold" nodeType="withEffect">
                                  <p:stCondLst>
                                    <p:cond delay="0"/>
                                  </p:stCondLst>
                                  <p:childTnLst>
                                    <p:set>
                                      <p:cBhvr>
                                        <p:cTn id="109" dur="1" fill="hold">
                                          <p:stCondLst>
                                            <p:cond delay="0"/>
                                          </p:stCondLst>
                                        </p:cTn>
                                        <p:tgtEl>
                                          <p:spTgt spid="125"/>
                                        </p:tgtEl>
                                        <p:attrNameLst>
                                          <p:attrName>style.visibility</p:attrName>
                                        </p:attrNameLst>
                                      </p:cBhvr>
                                      <p:to>
                                        <p:strVal val="visible"/>
                                      </p:to>
                                    </p:set>
                                    <p:animEffect transition="in" filter="fade">
                                      <p:cBhvr>
                                        <p:cTn id="11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2852" cy="638175"/>
          </a:xfrm>
        </p:spPr>
        <p:txBody>
          <a:bodyPr>
            <a:normAutofit fontScale="90000"/>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76200">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PORTS &amp; ADAPTERS</a:t>
            </a:r>
          </a:p>
        </p:txBody>
      </p:sp>
      <p:sp>
        <p:nvSpPr>
          <p:cNvPr id="110" name="DomR"/>
          <p:cNvSpPr/>
          <p:nvPr/>
        </p:nvSpPr>
        <p:spPr>
          <a:xfrm>
            <a:off x="5590100" y="1500000"/>
            <a:ext cx="2000000" cy="5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240000"/>
            <a:ext cx="900000" cy="320000"/>
          </a:xfrm>
          <a:prstGeom prst="rect">
            <a:avLst/>
          </a:prstGeom>
          <a:solidFill>
            <a:srgbClr val="FFFFFF"/>
          </a:solidFill>
          <a:ln w="15875">
            <a:solidFill>
              <a:srgbClr val="8E6F3E"/>
            </a:solidFill>
          </a:ln>
        </p:spPr>
        <p:txBody>
          <a:bodyPr wrap="square" lIns="18288" tIns="27432" rIns="18288" bIns="27432" anchor="ctr">
            <a:normAutofit fontScale="92500" lnSpcReduction="10000"/>
          </a:bodyPr>
          <a:lstStyle/>
          <a:p>
            <a:pPr algn="ctr">
              <a:buNone/>
            </a:pPr>
            <a:r>
              <a:rPr lang="en-US" sz="2000" b="1" i="0" dirty="0">
                <a:solidFill>
                  <a:srgbClr val="5C4826"/>
                </a:solidFill>
              </a:rPr>
              <a:t>PORT</a:t>
            </a:r>
          </a:p>
        </p:txBody>
      </p:sp>
      <p:sp>
        <p:nvSpPr>
          <p:cNvPr id="112" name="Adap"/>
          <p:cNvSpPr/>
          <p:nvPr/>
        </p:nvSpPr>
        <p:spPr>
          <a:xfrm>
            <a:off x="5690100" y="3060000"/>
            <a:ext cx="1800000" cy="48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560000"/>
            <a:ext cx="0" cy="500000"/>
          </a:xfrm>
          <a:prstGeom prst="line">
            <a:avLst/>
          </a:prstGeom>
          <a:ln w="76200">
            <a:solidFill>
              <a:srgbClr val="8E6F3E"/>
            </a:solidFill>
            <a:prstDash val="dash"/>
            <a:tailEnd type="triangle" w="med" len="med"/>
          </a:ln>
        </p:spPr>
      </p:cxnSp>
      <p:sp>
        <p:nvSpPr>
          <p:cNvPr id="114" name="ImplLbl"/>
          <p:cNvSpPr txBox="1"/>
          <p:nvPr/>
        </p:nvSpPr>
        <p:spPr>
          <a:xfrm>
            <a:off x="6720100" y="2680000"/>
            <a:ext cx="15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implements</a:t>
            </a:r>
          </a:p>
        </p:txBody>
      </p:sp>
      <p:sp>
        <p:nvSpPr>
          <p:cNvPr id="115" name="Db"/>
          <p:cNvSpPr/>
          <p:nvPr/>
        </p:nvSpPr>
        <p:spPr>
          <a:xfrm>
            <a:off x="5690100" y="3920000"/>
            <a:ext cx="1800000" cy="4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540000"/>
            <a:ext cx="0" cy="380000"/>
          </a:xfrm>
          <a:prstGeom prst="line">
            <a:avLst/>
          </a:prstGeom>
          <a:ln w="76200">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17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17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1700" b="0" i="0" dirty="0">
                <a:solidFill>
                  <a:srgbClr val="5C4826"/>
                </a:solidFill>
              </a:rPr>
              <a:t>isolation from infrastructure change</a:t>
            </a:r>
          </a:p>
        </p:txBody>
      </p:sp>
      <p:cxnSp>
        <p:nvCxnSpPr>
          <p:cNvPr id="130" name="Defines"/>
          <p:cNvCxnSpPr/>
          <p:nvPr/>
        </p:nvCxnSpPr>
        <p:spPr>
          <a:xfrm>
            <a:off x="6590100" y="2040000"/>
            <a:ext cx="0" cy="200000"/>
          </a:xfrm>
          <a:prstGeom prst="line">
            <a:avLst/>
          </a:prstGeom>
          <a:ln w="28575">
            <a:solidFill>
              <a:srgbClr val="8E6F3E"/>
            </a:solidFill>
            <a:tailEnd type="triangle" w="med" len="med"/>
          </a:ln>
        </p:spPr>
      </p:cxnSp>
      <p:sp>
        <p:nvSpPr>
          <p:cNvPr id="131" name="DefinesLbl"/>
          <p:cNvSpPr/>
          <p:nvPr/>
        </p:nvSpPr>
        <p:spPr>
          <a:xfrm>
            <a:off x="5290100" y="2020000"/>
            <a:ext cx="1200000" cy="260000"/>
          </a:xfrm>
          <a:prstGeom prst="rect">
            <a:avLst/>
          </a:prstGeom>
          <a:noFill/>
          <a:ln>
            <a:noFill/>
          </a:ln>
        </p:spPr>
        <p:txBody>
          <a:bodyPr wrap="square" lIns="54864" tIns="27432" rIns="54864" bIns="27432" anchor="ctr">
            <a:normAutofit/>
          </a:bodyPr>
          <a:lstStyle/>
          <a:p>
            <a:pPr algn="r">
              <a:buNone/>
            </a:pPr>
            <a:r>
              <a:rPr lang="en-US" sz="1300" b="0" i="1" dirty="0">
                <a:solidFill>
                  <a:srgbClr val="555960"/>
                </a:solidFill>
              </a:rPr>
              <a:t>defines</a:t>
            </a:r>
          </a:p>
        </p:txBody>
      </p:sp>
      <p:sp>
        <p:nvSpPr>
          <p:cNvPr id="132" name="SrcDepLbl"/>
          <p:cNvSpPr/>
          <p:nvPr/>
        </p:nvSpPr>
        <p:spPr>
          <a:xfrm>
            <a:off x="7590000" y="3120000"/>
            <a:ext cx="1550000" cy="320000"/>
          </a:xfrm>
          <a:prstGeom prst="rect">
            <a:avLst/>
          </a:prstGeom>
          <a:noFill/>
          <a:ln>
            <a:noFill/>
          </a:ln>
        </p:spPr>
        <p:txBody>
          <a:bodyPr wrap="square" lIns="54864" tIns="27432" rIns="54864" bIns="27432" anchor="ctr">
            <a:normAutofit fontScale="85000" lnSpcReduction="10000"/>
          </a:bodyPr>
          <a:lstStyle/>
          <a:p>
            <a:pPr algn="l">
              <a:buNone/>
            </a:pPr>
            <a:r>
              <a:rPr lang="en-US" sz="1400" b="1" i="0" dirty="0">
                <a:solidFill>
                  <a:srgbClr val="8E6F3E"/>
                </a:solidFill>
              </a:rPr>
              <a:t>↑ source dependency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400"/>
                                        <p:tgtEl>
                                          <p:spTgt spid="9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3"/>
                                        </p:tgtEl>
                                        <p:attrNameLst>
                                          <p:attrName>style.visibility</p:attrName>
                                        </p:attrNameLst>
                                      </p:cBhvr>
                                      <p:to>
                                        <p:strVal val="visible"/>
                                      </p:to>
                                    </p:set>
                                    <p:animEffect transition="in" filter="fade">
                                      <p:cBhvr>
                                        <p:cTn id="29" dur="400"/>
                                        <p:tgtEl>
                                          <p:spTgt spid="93"/>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
                                        </p:tgtEl>
                                        <p:attrNameLst>
                                          <p:attrName>style.visibility</p:attrName>
                                        </p:attrNameLst>
                                      </p:cBhvr>
                                      <p:to>
                                        <p:strVal val="visible"/>
                                      </p:to>
                                    </p:set>
                                    <p:animEffect transition="in" filter="fade">
                                      <p:cBhvr>
                                        <p:cTn id="37" dur="400"/>
                                        <p:tgtEl>
                                          <p:spTgt spid="130"/>
                                        </p:tgtEl>
                                      </p:cBhvr>
                                    </p:animEffect>
                                  </p:childTnLst>
                                </p:cTn>
                              </p:par>
                              <p:par>
                                <p:cTn id="38" presetID="10" presetClass="entr" presetSubtype="0" fill="hold" nodeType="withEffect">
                                  <p:stCondLst>
                                    <p:cond delay="0"/>
                                  </p:stCondLst>
                                  <p:childTnLst>
                                    <p:set>
                                      <p:cBhvr>
                                        <p:cTn id="39" dur="1" fill="hold">
                                          <p:stCondLst>
                                            <p:cond delay="0"/>
                                          </p:stCondLst>
                                        </p:cTn>
                                        <p:tgtEl>
                                          <p:spTgt spid="131"/>
                                        </p:tgtEl>
                                        <p:attrNameLst>
                                          <p:attrName>style.visibility</p:attrName>
                                        </p:attrNameLst>
                                      </p:cBhvr>
                                      <p:to>
                                        <p:strVal val="visible"/>
                                      </p:to>
                                    </p:set>
                                    <p:animEffect transition="in" filter="fade">
                                      <p:cBhvr>
                                        <p:cTn id="40" dur="400"/>
                                        <p:tgtEl>
                                          <p:spTgt spid="131"/>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2"/>
                                        </p:tgtEl>
                                        <p:attrNameLst>
                                          <p:attrName>style.visibility</p:attrName>
                                        </p:attrNameLst>
                                      </p:cBhvr>
                                      <p:to>
                                        <p:strVal val="visible"/>
                                      </p:to>
                                    </p:set>
                                    <p:animEffect transition="in" filter="fade">
                                      <p:cBhvr>
                                        <p:cTn id="48" dur="400"/>
                                        <p:tgtEl>
                                          <p:spTgt spid="112"/>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400"/>
                                        <p:tgtEl>
                                          <p:spTgt spid="1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5"/>
                                        </p:tgtEl>
                                        <p:attrNameLst>
                                          <p:attrName>style.visibility</p:attrName>
                                        </p:attrNameLst>
                                      </p:cBhvr>
                                      <p:to>
                                        <p:strVal val="visible"/>
                                      </p:to>
                                    </p:set>
                                    <p:animEffect transition="in" filter="fade">
                                      <p:cBhvr>
                                        <p:cTn id="59" dur="400"/>
                                        <p:tgtEl>
                                          <p:spTgt spid="115"/>
                                        </p:tgtEl>
                                      </p:cBhvr>
                                    </p:animEffect>
                                  </p:childTnLst>
                                </p:cTn>
                              </p:par>
                              <p:par>
                                <p:cTn id="60" presetID="10" presetClass="entr" presetSubtype="0" fill="hold" nodeType="withEffect">
                                  <p:stCondLst>
                                    <p:cond delay="0"/>
                                  </p:stCondLst>
                                  <p:childTnLst>
                                    <p:set>
                                      <p:cBhvr>
                                        <p:cTn id="61" dur="1" fill="hold">
                                          <p:stCondLst>
                                            <p:cond delay="0"/>
                                          </p:stCondLst>
                                        </p:cTn>
                                        <p:tgtEl>
                                          <p:spTgt spid="116"/>
                                        </p:tgtEl>
                                        <p:attrNameLst>
                                          <p:attrName>style.visibility</p:attrName>
                                        </p:attrNameLst>
                                      </p:cBhvr>
                                      <p:to>
                                        <p:strVal val="visible"/>
                                      </p:to>
                                    </p:set>
                                    <p:animEffect transition="in" filter="fade">
                                      <p:cBhvr>
                                        <p:cTn id="62" dur="400"/>
                                        <p:tgtEl>
                                          <p:spTgt spid="116"/>
                                        </p:tgtEl>
                                      </p:cBhvr>
                                    </p:animEffect>
                                  </p:childTnLst>
                                </p:cTn>
                              </p:par>
                              <p:par>
                                <p:cTn id="63" presetID="10"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animEffect transition="in" filter="fade">
                                      <p:cBhvr>
                                        <p:cTn id="65" dur="400"/>
                                        <p:tgtEl>
                                          <p:spTgt spid="9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2"/>
                                        </p:tgtEl>
                                        <p:attrNameLst>
                                          <p:attrName>style.visibility</p:attrName>
                                        </p:attrNameLst>
                                      </p:cBhvr>
                                      <p:to>
                                        <p:strVal val="visible"/>
                                      </p:to>
                                    </p:set>
                                    <p:animEffect transition="in" filter="fade">
                                      <p:cBhvr>
                                        <p:cTn id="70" dur="400"/>
                                        <p:tgtEl>
                                          <p:spTgt spid="13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95"/>
                                        </p:tgtEl>
                                        <p:attrNameLst>
                                          <p:attrName>style.visibility</p:attrName>
                                        </p:attrNameLst>
                                      </p:cBhvr>
                                      <p:to>
                                        <p:strVal val="visible"/>
                                      </p:to>
                                    </p:set>
                                    <p:animEffect transition="in" filter="fade">
                                      <p:cBhvr>
                                        <p:cTn id="75" dur="400"/>
                                        <p:tgtEl>
                                          <p:spTgt spid="95"/>
                                        </p:tgtEl>
                                      </p:cBhvr>
                                    </p:animEffect>
                                  </p:childTnLst>
                                </p:cTn>
                              </p:par>
                              <p:par>
                                <p:cTn id="76" presetID="10" presetClass="entr" presetSubtype="0" fill="hold" nodeType="withEffect">
                                  <p:stCondLst>
                                    <p:cond delay="0"/>
                                  </p:stCondLst>
                                  <p:childTnLst>
                                    <p:set>
                                      <p:cBhvr>
                                        <p:cTn id="77" dur="1" fill="hold">
                                          <p:stCondLst>
                                            <p:cond delay="0"/>
                                          </p:stCondLst>
                                        </p:cTn>
                                        <p:tgtEl>
                                          <p:spTgt spid="96"/>
                                        </p:tgtEl>
                                        <p:attrNameLst>
                                          <p:attrName>style.visibility</p:attrName>
                                        </p:attrNameLst>
                                      </p:cBhvr>
                                      <p:to>
                                        <p:strVal val="visible"/>
                                      </p:to>
                                    </p:set>
                                    <p:animEffect transition="in" filter="fade">
                                      <p:cBhvr>
                                        <p:cTn id="78" dur="400"/>
                                        <p:tgtEl>
                                          <p:spTgt spid="96"/>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97"/>
                                        </p:tgtEl>
                                        <p:attrNameLst>
                                          <p:attrName>style.visibility</p:attrName>
                                        </p:attrNameLst>
                                      </p:cBhvr>
                                      <p:to>
                                        <p:strVal val="visible"/>
                                      </p:to>
                                    </p:set>
                                    <p:animEffect transition="in" filter="fade">
                                      <p:cBhvr>
                                        <p:cTn id="83" dur="400"/>
                                        <p:tgtEl>
                                          <p:spTgt spid="97"/>
                                        </p:tgtEl>
                                      </p:cBhvr>
                                    </p:animEffect>
                                  </p:childTnLst>
                                </p:cTn>
                              </p:par>
                              <p:par>
                                <p:cTn id="84" presetID="10" presetClass="entr" presetSubtype="0" fill="hold" nodeType="withEffect">
                                  <p:stCondLst>
                                    <p:cond delay="0"/>
                                  </p:stCondLst>
                                  <p:childTnLst>
                                    <p:set>
                                      <p:cBhvr>
                                        <p:cTn id="85" dur="1" fill="hold">
                                          <p:stCondLst>
                                            <p:cond delay="0"/>
                                          </p:stCondLst>
                                        </p:cTn>
                                        <p:tgtEl>
                                          <p:spTgt spid="98"/>
                                        </p:tgtEl>
                                        <p:attrNameLst>
                                          <p:attrName>style.visibility</p:attrName>
                                        </p:attrNameLst>
                                      </p:cBhvr>
                                      <p:to>
                                        <p:strVal val="visible"/>
                                      </p:to>
                                    </p:set>
                                    <p:animEffect transition="in" filter="fade">
                                      <p:cBhvr>
                                        <p:cTn id="86" dur="400"/>
                                        <p:tgtEl>
                                          <p:spTgt spid="98"/>
                                        </p:tgtEl>
                                      </p:cBhvr>
                                    </p:animEffect>
                                  </p:childTnLst>
                                </p:cTn>
                              </p:par>
                              <p:par>
                                <p:cTn id="87" presetID="10" presetClass="entr" presetSubtype="0"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animEffect transition="in" filter="fade">
                                      <p:cBhvr>
                                        <p:cTn id="89" dur="400"/>
                                        <p:tgtEl>
                                          <p:spTgt spid="99"/>
                                        </p:tgtEl>
                                      </p:cBhvr>
                                    </p:animEffect>
                                  </p:childTnLst>
                                </p:cTn>
                              </p:par>
                              <p:par>
                                <p:cTn id="90" presetID="10" presetClass="entr" presetSubtype="0" fill="hold" nodeType="withEffect">
                                  <p:stCondLst>
                                    <p:cond delay="0"/>
                                  </p:stCondLst>
                                  <p:childTnLst>
                                    <p:set>
                                      <p:cBhvr>
                                        <p:cTn id="91" dur="1" fill="hold">
                                          <p:stCondLst>
                                            <p:cond delay="0"/>
                                          </p:stCondLst>
                                        </p:cTn>
                                        <p:tgtEl>
                                          <p:spTgt spid="120"/>
                                        </p:tgtEl>
                                        <p:attrNameLst>
                                          <p:attrName>style.visibility</p:attrName>
                                        </p:attrNameLst>
                                      </p:cBhvr>
                                      <p:to>
                                        <p:strVal val="visible"/>
                                      </p:to>
                                    </p:set>
                                    <p:animEffect transition="in" filter="fade">
                                      <p:cBhvr>
                                        <p:cTn id="92"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give us expectations, not measurements</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graphicFrame>
        <p:nvGraphicFramePr>
          <p:cNvPr id="150" name="ComparisonTable"/>
          <p:cNvGraphicFramePr>
            <a:graphicFrameLocks noGrp="1"/>
          </p:cNvGraphicFramePr>
          <p:nvPr>
            <p:extLst>
              <p:ext uri="{D42A27DB-BD31-4B8C-83A1-F6EECF244321}">
                <p14:modId xmlns:p14="http://schemas.microsoft.com/office/powerpoint/2010/main" val="2967546854"/>
              </p:ext>
            </p:extLst>
          </p:nvPr>
        </p:nvGraphicFramePr>
        <p:xfrm>
          <a:off x="286992" y="1413301"/>
          <a:ext cx="8570016" cy="3580000"/>
        </p:xfrm>
        <a:graphic>
          <a:graphicData uri="http://schemas.openxmlformats.org/drawingml/2006/table">
            <a:tbl>
              <a:tblPr firstRow="1">
                <a:tableStyleId>{5C22544A-7EE6-4342-B048-85BDC9FD1C3A}</a:tableStyleId>
              </a:tblPr>
              <a:tblGrid>
                <a:gridCol w="2646291">
                  <a:extLst>
                    <a:ext uri="{9D8B030D-6E8A-4147-A177-3AD203B41FA5}">
                      <a16:colId xmlns:a16="http://schemas.microsoft.com/office/drawing/2014/main" val="20000"/>
                    </a:ext>
                  </a:extLst>
                </a:gridCol>
                <a:gridCol w="1819326">
                  <a:extLst>
                    <a:ext uri="{9D8B030D-6E8A-4147-A177-3AD203B41FA5}">
                      <a16:colId xmlns:a16="http://schemas.microsoft.com/office/drawing/2014/main" val="20001"/>
                    </a:ext>
                  </a:extLst>
                </a:gridCol>
                <a:gridCol w="1819326">
                  <a:extLst>
                    <a:ext uri="{9D8B030D-6E8A-4147-A177-3AD203B41FA5}">
                      <a16:colId xmlns:a16="http://schemas.microsoft.com/office/drawing/2014/main" val="20002"/>
                    </a:ext>
                  </a:extLst>
                </a:gridCol>
                <a:gridCol w="2285073">
                  <a:extLst>
                    <a:ext uri="{9D8B030D-6E8A-4147-A177-3AD203B41FA5}">
                      <a16:colId xmlns:a16="http://schemas.microsoft.com/office/drawing/2014/main" val="20003"/>
                    </a:ext>
                  </a:extLst>
                </a:gridCol>
              </a:tblGrid>
              <a:tr h="460000">
                <a:tc>
                  <a:txBody>
                    <a:bodyPr/>
                    <a:lstStyle/>
                    <a:p>
                      <a:pPr algn="l">
                        <a:buNone/>
                      </a:pPr>
                      <a:r>
                        <a:rPr lang="en-US" sz="1600" b="1" i="0" dirty="0">
                          <a:solidFill>
                            <a:srgbClr val="FFFFFF"/>
                          </a:solidFill>
                        </a:rPr>
                        <a:t>RECURRING PROBLEM</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A</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B</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WHAT IS TRADED</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extLst>
                  <a:ext uri="{0D108BD9-81ED-4DB2-BD59-A6C34878D82A}">
                    <a16:rowId xmlns:a16="http://schemas.microsoft.com/office/drawing/2014/main" val="10000"/>
                  </a:ext>
                </a:extLst>
              </a:tr>
              <a:tr h="780000">
                <a:tc>
                  <a:txBody>
                    <a:bodyPr/>
                    <a:lstStyle/>
                    <a:p>
                      <a:pPr algn="l">
                        <a:buNone/>
                      </a:pPr>
                      <a:r>
                        <a:rPr lang="en-US" sz="1800" b="1" i="0" dirty="0">
                          <a:solidFill>
                            <a:srgbClr val="5C4826"/>
                          </a:solidFill>
                        </a:rPr>
                        <a:t>Abstraction boundaries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Strict layering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Deliberate crossing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isolation ↔ capability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1"/>
                  </a:ext>
                </a:extLst>
              </a:tr>
              <a:tr h="780000">
                <a:tc>
                  <a:txBody>
                    <a:bodyPr/>
                    <a:lstStyle/>
                    <a:p>
                      <a:pPr algn="l">
                        <a:buNone/>
                      </a:pPr>
                      <a:r>
                        <a:rPr lang="en-US" sz="1800" b="1" i="0" dirty="0">
                          <a:solidFill>
                            <a:srgbClr val="5C4826"/>
                          </a:solidFill>
                        </a:rPr>
                        <a:t>State organization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Pipeline</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Repository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local flow ↔ shared consistency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2"/>
                  </a:ext>
                </a:extLst>
              </a:tr>
              <a:tr h="780000">
                <a:tc>
                  <a:txBody>
                    <a:bodyPr/>
                    <a:lstStyle/>
                    <a:p>
                      <a:pPr algn="l">
                        <a:buNone/>
                      </a:pPr>
                      <a:r>
                        <a:rPr lang="en-US" sz="1800" b="1" i="0" dirty="0">
                          <a:solidFill>
                            <a:srgbClr val="5C4826"/>
                          </a:solidFill>
                        </a:rPr>
                        <a:t>Communication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RPC</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Event messaging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coordination ↔ decoupling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3"/>
                  </a:ext>
                </a:extLst>
              </a:tr>
              <a:tr h="780000">
                <a:tc>
                  <a:txBody>
                    <a:bodyPr/>
                    <a:lstStyle/>
                    <a:p>
                      <a:pPr algn="l">
                        <a:buNone/>
                      </a:pPr>
                      <a:r>
                        <a:rPr lang="en-US" sz="1800" b="1" i="0" dirty="0">
                          <a:solidFill>
                            <a:srgbClr val="5C4826"/>
                          </a:solidFill>
                        </a:rPr>
                        <a:t>Infrastructure dependencies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Direct dependency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Ports &amp; adapters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directness ↔ infrastructure isolation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We learn wha</a:t>
            </a:r>
            <a:r>
              <a:rPr lang="en-US" sz="2400" i="1" dirty="0">
                <a:solidFill>
                  <a:srgbClr val="000000"/>
                </a:solidFill>
              </a:rPr>
              <a:t>t TENDS to happen…</a:t>
            </a:r>
          </a:p>
          <a:p>
            <a:pPr algn="ctr">
              <a:buNone/>
            </a:pPr>
            <a:r>
              <a:rPr lang="en-US" sz="2400" b="0" i="1" dirty="0">
                <a:solidFill>
                  <a:srgbClr val="000000"/>
                </a:solidFill>
              </a:rPr>
              <a:t>Not what WILL happen in our context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2352" y="2239645"/>
            <a:ext cx="8279296" cy="914400"/>
          </a:xfrm>
        </p:spPr>
        <p:txBody>
          <a:bodyPr>
            <a:normAutofit fontScale="90000"/>
          </a:bodyPr>
          <a:lstStyle/>
          <a:p>
            <a:pPr algn="ctr">
              <a:buNone/>
              <a:defRPr b="0"/>
            </a:pPr>
            <a:r>
              <a:rPr lang="en-US" sz="3600" b="0" i="0" dirty="0">
                <a:solidFill>
                  <a:srgbClr val="000000"/>
                </a:solidFill>
              </a:rPr>
              <a:t>How much can we know before we build?</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09" y="99809"/>
            <a:ext cx="9423441" cy="638175"/>
          </a:xfrm>
        </p:spPr>
        <p:txBody>
          <a:bodyPr>
            <a:normAutofit fontScale="90000"/>
          </a:bodyPr>
          <a:lstStyle/>
          <a:p>
            <a:pPr algn="l">
              <a:buNone/>
              <a:defRPr b="0"/>
            </a:pPr>
            <a:r>
              <a:rPr lang="en-US" sz="2600" b="0" i="0" dirty="0">
                <a:solidFill>
                  <a:srgbClr val="000000"/>
                </a:solidFill>
              </a:rPr>
              <a:t>An architecture model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model</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i="1" dirty="0">
                <a:solidFill>
                  <a:srgbClr val="555960"/>
                </a:solidFill>
              </a:rPr>
              <a:t>f</a:t>
            </a:r>
            <a:r>
              <a:rPr lang="en-US" sz="2000" b="0" i="1" dirty="0">
                <a:solidFill>
                  <a:srgbClr val="555960"/>
                </a:solidFill>
              </a:rPr>
              <a:t>low model</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model</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par>
                                <p:cTn id="17" presetID="10"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400"/>
                                        <p:tgtEl>
                                          <p:spTgt spid="110"/>
                                        </p:tgtEl>
                                      </p:cBhvr>
                                    </p:animEffect>
                                  </p:childTnLst>
                                </p:cTn>
                              </p:par>
                              <p:par>
                                <p:cTn id="20" presetID="10" presetClass="entr" presetSubtype="0" fill="hold" nodeType="with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400"/>
                                        <p:tgtEl>
                                          <p:spTgt spid="111"/>
                                        </p:tgtEl>
                                      </p:cBhvr>
                                    </p:animEffect>
                                  </p:childTnLst>
                                </p:cTn>
                              </p:par>
                              <p:par>
                                <p:cTn id="23" presetID="10"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400"/>
                                        <p:tgtEl>
                                          <p:spTgt spid="112"/>
                                        </p:tgtEl>
                                      </p:cBhvr>
                                    </p:animEffect>
                                  </p:childTnLst>
                                </p:cTn>
                              </p:par>
                              <p:par>
                                <p:cTn id="26" presetID="10" presetClass="entr" presetSubtype="0" fill="hold" nodeType="withEffect">
                                  <p:stCondLst>
                                    <p:cond delay="0"/>
                                  </p:stCondLst>
                                  <p:childTnLst>
                                    <p:set>
                                      <p:cBhvr>
                                        <p:cTn id="27" dur="1" fill="hold">
                                          <p:stCondLst>
                                            <p:cond delay="0"/>
                                          </p:stCondLst>
                                        </p:cTn>
                                        <p:tgtEl>
                                          <p:spTgt spid="113"/>
                                        </p:tgtEl>
                                        <p:attrNameLst>
                                          <p:attrName>style.visibility</p:attrName>
                                        </p:attrNameLst>
                                      </p:cBhvr>
                                      <p:to>
                                        <p:strVal val="visible"/>
                                      </p:to>
                                    </p:set>
                                    <p:animEffect transition="in" filter="fade">
                                      <p:cBhvr>
                                        <p:cTn id="28" dur="400"/>
                                        <p:tgtEl>
                                          <p:spTgt spid="113"/>
                                        </p:tgtEl>
                                      </p:cBhvr>
                                    </p:animEffect>
                                  </p:childTnLst>
                                </p:cTn>
                              </p:par>
                              <p:par>
                                <p:cTn id="29" presetID="10"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400"/>
                                        <p:tgtEl>
                                          <p:spTgt spid="1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400"/>
                                        <p:tgtEl>
                                          <p:spTgt spid="104"/>
                                        </p:tgtEl>
                                      </p:cBhvr>
                                    </p:animEffect>
                                  </p:childTnLst>
                                </p:cTn>
                              </p:par>
                              <p:par>
                                <p:cTn id="37" presetID="10" presetClass="entr" presetSubtype="0"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Effect transition="in" filter="fade">
                                      <p:cBhvr>
                                        <p:cTn id="39" dur="400"/>
                                        <p:tgtEl>
                                          <p:spTgt spid="102"/>
                                        </p:tgtEl>
                                      </p:cBhvr>
                                    </p:animEffect>
                                  </p:childTnLst>
                                </p:cTn>
                              </p:par>
                              <p:par>
                                <p:cTn id="40" presetID="10" presetClass="entr" presetSubtype="0" fill="hold" nodeType="withEffect">
                                  <p:stCondLst>
                                    <p:cond delay="0"/>
                                  </p:stCondLst>
                                  <p:childTnLst>
                                    <p:set>
                                      <p:cBhvr>
                                        <p:cTn id="41" dur="1" fill="hold">
                                          <p:stCondLst>
                                            <p:cond delay="0"/>
                                          </p:stCondLst>
                                        </p:cTn>
                                        <p:tgtEl>
                                          <p:spTgt spid="103"/>
                                        </p:tgtEl>
                                        <p:attrNameLst>
                                          <p:attrName>style.visibility</p:attrName>
                                        </p:attrNameLst>
                                      </p:cBhvr>
                                      <p:to>
                                        <p:strVal val="visible"/>
                                      </p:to>
                                    </p:set>
                                    <p:animEffect transition="in" filter="fade">
                                      <p:cBhvr>
                                        <p:cTn id="42" dur="400"/>
                                        <p:tgtEl>
                                          <p:spTgt spid="103"/>
                                        </p:tgtEl>
                                      </p:cBhvr>
                                    </p:animEffect>
                                  </p:childTnLst>
                                </p:cTn>
                              </p:par>
                              <p:par>
                                <p:cTn id="43" presetID="10" presetClass="entr" presetSubtype="0" fill="hold" nodeType="withEffect">
                                  <p:stCondLst>
                                    <p:cond delay="0"/>
                                  </p:stCondLst>
                                  <p:childTnLst>
                                    <p:set>
                                      <p:cBhvr>
                                        <p:cTn id="44" dur="1" fill="hold">
                                          <p:stCondLst>
                                            <p:cond delay="0"/>
                                          </p:stCondLst>
                                        </p:cTn>
                                        <p:tgtEl>
                                          <p:spTgt spid="115"/>
                                        </p:tgtEl>
                                        <p:attrNameLst>
                                          <p:attrName>style.visibility</p:attrName>
                                        </p:attrNameLst>
                                      </p:cBhvr>
                                      <p:to>
                                        <p:strVal val="visible"/>
                                      </p:to>
                                    </p:set>
                                    <p:animEffect transition="in" filter="fade">
                                      <p:cBhvr>
                                        <p:cTn id="45" dur="400"/>
                                        <p:tgtEl>
                                          <p:spTgt spid="115"/>
                                        </p:tgtEl>
                                      </p:cBhvr>
                                    </p:animEffect>
                                  </p:childTnLst>
                                </p:cTn>
                              </p:par>
                              <p:par>
                                <p:cTn id="46" presetID="10" presetClass="entr" presetSubtype="0" fill="hold" nodeType="withEffect">
                                  <p:stCondLst>
                                    <p:cond delay="0"/>
                                  </p:stCondLst>
                                  <p:childTnLst>
                                    <p:set>
                                      <p:cBhvr>
                                        <p:cTn id="47" dur="1" fill="hold">
                                          <p:stCondLst>
                                            <p:cond delay="0"/>
                                          </p:stCondLst>
                                        </p:cTn>
                                        <p:tgtEl>
                                          <p:spTgt spid="116"/>
                                        </p:tgtEl>
                                        <p:attrNameLst>
                                          <p:attrName>style.visibility</p:attrName>
                                        </p:attrNameLst>
                                      </p:cBhvr>
                                      <p:to>
                                        <p:strVal val="visible"/>
                                      </p:to>
                                    </p:set>
                                    <p:animEffect transition="in" filter="fade">
                                      <p:cBhvr>
                                        <p:cTn id="48" dur="400"/>
                                        <p:tgtEl>
                                          <p:spTgt spid="116"/>
                                        </p:tgtEl>
                                      </p:cBhvr>
                                    </p:animEffect>
                                  </p:childTnLst>
                                </p:cTn>
                              </p:par>
                              <p:par>
                                <p:cTn id="49" presetID="10" presetClass="entr" presetSubtype="0" fill="hold"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400"/>
                                        <p:tgtEl>
                                          <p:spTgt spid="117"/>
                                        </p:tgtEl>
                                      </p:cBhvr>
                                    </p:animEffect>
                                  </p:childTnLst>
                                </p:cTn>
                              </p:par>
                              <p:par>
                                <p:cTn id="52" presetID="10" presetClass="entr" presetSubtype="0" fill="hold" nodeType="withEffect">
                                  <p:stCondLst>
                                    <p:cond delay="0"/>
                                  </p:stCondLst>
                                  <p:childTnLst>
                                    <p:set>
                                      <p:cBhvr>
                                        <p:cTn id="53" dur="1" fill="hold">
                                          <p:stCondLst>
                                            <p:cond delay="0"/>
                                          </p:stCondLst>
                                        </p:cTn>
                                        <p:tgtEl>
                                          <p:spTgt spid="118"/>
                                        </p:tgtEl>
                                        <p:attrNameLst>
                                          <p:attrName>style.visibility</p:attrName>
                                        </p:attrNameLst>
                                      </p:cBhvr>
                                      <p:to>
                                        <p:strVal val="visible"/>
                                      </p:to>
                                    </p:set>
                                    <p:animEffect transition="in" filter="fade">
                                      <p:cBhvr>
                                        <p:cTn id="54" dur="400"/>
                                        <p:tgtEl>
                                          <p:spTgt spid="118"/>
                                        </p:tgtEl>
                                      </p:cBhvr>
                                    </p:animEffect>
                                  </p:childTnLst>
                                </p:cTn>
                              </p:par>
                              <p:par>
                                <p:cTn id="55" presetID="10" presetClass="entr" presetSubtype="0" fill="hold" nodeType="withEffect">
                                  <p:stCondLst>
                                    <p:cond delay="0"/>
                                  </p:stCondLst>
                                  <p:childTnLst>
                                    <p:set>
                                      <p:cBhvr>
                                        <p:cTn id="56" dur="1" fill="hold">
                                          <p:stCondLst>
                                            <p:cond delay="0"/>
                                          </p:stCondLst>
                                        </p:cTn>
                                        <p:tgtEl>
                                          <p:spTgt spid="119"/>
                                        </p:tgtEl>
                                        <p:attrNameLst>
                                          <p:attrName>style.visibility</p:attrName>
                                        </p:attrNameLst>
                                      </p:cBhvr>
                                      <p:to>
                                        <p:strVal val="visible"/>
                                      </p:to>
                                    </p:set>
                                    <p:animEffect transition="in" filter="fade">
                                      <p:cBhvr>
                                        <p:cTn id="57" dur="400"/>
                                        <p:tgtEl>
                                          <p:spTgt spid="119"/>
                                        </p:tgtEl>
                                      </p:cBhvr>
                                    </p:animEffect>
                                  </p:childTnLst>
                                </p:cTn>
                              </p:par>
                              <p:par>
                                <p:cTn id="58" presetID="10" presetClass="entr" presetSubtype="0" fill="hold" nodeType="withEffect">
                                  <p:stCondLst>
                                    <p:cond delay="0"/>
                                  </p:stCondLst>
                                  <p:childTnLst>
                                    <p:set>
                                      <p:cBhvr>
                                        <p:cTn id="59" dur="1" fill="hold">
                                          <p:stCondLst>
                                            <p:cond delay="0"/>
                                          </p:stCondLst>
                                        </p:cTn>
                                        <p:tgtEl>
                                          <p:spTgt spid="120"/>
                                        </p:tgtEl>
                                        <p:attrNameLst>
                                          <p:attrName>style.visibility</p:attrName>
                                        </p:attrNameLst>
                                      </p:cBhvr>
                                      <p:to>
                                        <p:strVal val="visible"/>
                                      </p:to>
                                    </p:set>
                                    <p:animEffect transition="in" filter="fade">
                                      <p:cBhvr>
                                        <p:cTn id="60" dur="400"/>
                                        <p:tgtEl>
                                          <p:spTgt spid="120"/>
                                        </p:tgtEl>
                                      </p:cBhvr>
                                    </p:animEffect>
                                  </p:childTnLst>
                                </p:cTn>
                              </p:par>
                              <p:par>
                                <p:cTn id="61" presetID="10" presetClass="entr" presetSubtype="0" fill="hold" nodeType="withEffect">
                                  <p:stCondLst>
                                    <p:cond delay="0"/>
                                  </p:stCondLst>
                                  <p:childTnLst>
                                    <p:set>
                                      <p:cBhvr>
                                        <p:cTn id="62" dur="1" fill="hold">
                                          <p:stCondLst>
                                            <p:cond delay="0"/>
                                          </p:stCondLst>
                                        </p:cTn>
                                        <p:tgtEl>
                                          <p:spTgt spid="121"/>
                                        </p:tgtEl>
                                        <p:attrNameLst>
                                          <p:attrName>style.visibility</p:attrName>
                                        </p:attrNameLst>
                                      </p:cBhvr>
                                      <p:to>
                                        <p:strVal val="visible"/>
                                      </p:to>
                                    </p:set>
                                    <p:animEffect transition="in" filter="fade">
                                      <p:cBhvr>
                                        <p:cTn id="63" dur="400"/>
                                        <p:tgtEl>
                                          <p:spTgt spid="121"/>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4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400"/>
                                        <p:tgtEl>
                                          <p:spTgt spid="105"/>
                                        </p:tgtEl>
                                      </p:cBhvr>
                                    </p:animEffect>
                                  </p:childTnLst>
                                </p:cTn>
                              </p:par>
                              <p:par>
                                <p:cTn id="72" presetID="10" presetClass="entr" presetSubtype="0" fill="hold" nodeType="withEffect">
                                  <p:stCondLst>
                                    <p:cond delay="0"/>
                                  </p:stCondLst>
                                  <p:childTnLst>
                                    <p:set>
                                      <p:cBhvr>
                                        <p:cTn id="73" dur="1" fill="hold">
                                          <p:stCondLst>
                                            <p:cond delay="0"/>
                                          </p:stCondLst>
                                        </p:cTn>
                                        <p:tgtEl>
                                          <p:spTgt spid="106"/>
                                        </p:tgtEl>
                                        <p:attrNameLst>
                                          <p:attrName>style.visibility</p:attrName>
                                        </p:attrNameLst>
                                      </p:cBhvr>
                                      <p:to>
                                        <p:strVal val="visible"/>
                                      </p:to>
                                    </p:set>
                                    <p:animEffect transition="in" filter="fade">
                                      <p:cBhvr>
                                        <p:cTn id="74" dur="400"/>
                                        <p:tgtEl>
                                          <p:spTgt spid="106"/>
                                        </p:tgtEl>
                                      </p:cBhvr>
                                    </p:animEffect>
                                  </p:childTnLst>
                                </p:cTn>
                              </p:par>
                              <p:par>
                                <p:cTn id="75" presetID="10" presetClass="entr" presetSubtype="0" fill="hold" nodeType="withEffect">
                                  <p:stCondLst>
                                    <p:cond delay="0"/>
                                  </p:stCondLst>
                                  <p:childTnLst>
                                    <p:set>
                                      <p:cBhvr>
                                        <p:cTn id="76" dur="1" fill="hold">
                                          <p:stCondLst>
                                            <p:cond delay="0"/>
                                          </p:stCondLst>
                                        </p:cTn>
                                        <p:tgtEl>
                                          <p:spTgt spid="122"/>
                                        </p:tgtEl>
                                        <p:attrNameLst>
                                          <p:attrName>style.visibility</p:attrName>
                                        </p:attrNameLst>
                                      </p:cBhvr>
                                      <p:to>
                                        <p:strVal val="visible"/>
                                      </p:to>
                                    </p:set>
                                    <p:animEffect transition="in" filter="fade">
                                      <p:cBhvr>
                                        <p:cTn id="77" dur="400"/>
                                        <p:tgtEl>
                                          <p:spTgt spid="122"/>
                                        </p:tgtEl>
                                      </p:cBhvr>
                                    </p:animEffect>
                                  </p:childTnLst>
                                </p:cTn>
                              </p:par>
                              <p:par>
                                <p:cTn id="78" presetID="10" presetClass="entr" presetSubtype="0" fill="hold" nodeType="withEffect">
                                  <p:stCondLst>
                                    <p:cond delay="0"/>
                                  </p:stCondLst>
                                  <p:childTnLst>
                                    <p:set>
                                      <p:cBhvr>
                                        <p:cTn id="79" dur="1" fill="hold">
                                          <p:stCondLst>
                                            <p:cond delay="0"/>
                                          </p:stCondLst>
                                        </p:cTn>
                                        <p:tgtEl>
                                          <p:spTgt spid="123"/>
                                        </p:tgtEl>
                                        <p:attrNameLst>
                                          <p:attrName>style.visibility</p:attrName>
                                        </p:attrNameLst>
                                      </p:cBhvr>
                                      <p:to>
                                        <p:strVal val="visible"/>
                                      </p:to>
                                    </p:set>
                                    <p:animEffect transition="in" filter="fade">
                                      <p:cBhvr>
                                        <p:cTn id="80" dur="400"/>
                                        <p:tgtEl>
                                          <p:spTgt spid="123"/>
                                        </p:tgtEl>
                                      </p:cBhvr>
                                    </p:animEffect>
                                  </p:childTnLst>
                                </p:cTn>
                              </p:par>
                              <p:par>
                                <p:cTn id="81" presetID="10" presetClass="entr" presetSubtype="0" fill="hold" nodeType="withEffect">
                                  <p:stCondLst>
                                    <p:cond delay="0"/>
                                  </p:stCondLst>
                                  <p:childTnLst>
                                    <p:set>
                                      <p:cBhvr>
                                        <p:cTn id="82" dur="1" fill="hold">
                                          <p:stCondLst>
                                            <p:cond delay="0"/>
                                          </p:stCondLst>
                                        </p:cTn>
                                        <p:tgtEl>
                                          <p:spTgt spid="124"/>
                                        </p:tgtEl>
                                        <p:attrNameLst>
                                          <p:attrName>style.visibility</p:attrName>
                                        </p:attrNameLst>
                                      </p:cBhvr>
                                      <p:to>
                                        <p:strVal val="visible"/>
                                      </p:to>
                                    </p:set>
                                    <p:animEffect transition="in" filter="fade">
                                      <p:cBhvr>
                                        <p:cTn id="83" dur="400"/>
                                        <p:tgtEl>
                                          <p:spTgt spid="124"/>
                                        </p:tgtEl>
                                      </p:cBhvr>
                                    </p:animEffect>
                                  </p:childTnLst>
                                </p:cTn>
                              </p:par>
                              <p:par>
                                <p:cTn id="84" presetID="10" presetClass="entr" presetSubtype="0" fill="hold" nodeType="withEffect">
                                  <p:stCondLst>
                                    <p:cond delay="0"/>
                                  </p:stCondLst>
                                  <p:childTnLst>
                                    <p:set>
                                      <p:cBhvr>
                                        <p:cTn id="85" dur="1" fill="hold">
                                          <p:stCondLst>
                                            <p:cond delay="0"/>
                                          </p:stCondLst>
                                        </p:cTn>
                                        <p:tgtEl>
                                          <p:spTgt spid="125"/>
                                        </p:tgtEl>
                                        <p:attrNameLst>
                                          <p:attrName>style.visibility</p:attrName>
                                        </p:attrNameLst>
                                      </p:cBhvr>
                                      <p:to>
                                        <p:strVal val="visible"/>
                                      </p:to>
                                    </p:set>
                                    <p:animEffect transition="in" filter="fade">
                                      <p:cBhvr>
                                        <p:cTn id="86" dur="400"/>
                                        <p:tgtEl>
                                          <p:spTgt spid="125"/>
                                        </p:tgtEl>
                                      </p:cBhvr>
                                    </p:animEffect>
                                  </p:childTnLst>
                                </p:cTn>
                              </p:par>
                              <p:par>
                                <p:cTn id="87" presetID="10" presetClass="entr" presetSubtype="0" fill="hold" nodeType="withEffect">
                                  <p:stCondLst>
                                    <p:cond delay="0"/>
                                  </p:stCondLst>
                                  <p:childTnLst>
                                    <p:set>
                                      <p:cBhvr>
                                        <p:cTn id="88" dur="1" fill="hold">
                                          <p:stCondLst>
                                            <p:cond delay="0"/>
                                          </p:stCondLst>
                                        </p:cTn>
                                        <p:tgtEl>
                                          <p:spTgt spid="126"/>
                                        </p:tgtEl>
                                        <p:attrNameLst>
                                          <p:attrName>style.visibility</p:attrName>
                                        </p:attrNameLst>
                                      </p:cBhvr>
                                      <p:to>
                                        <p:strVal val="visible"/>
                                      </p:to>
                                    </p:set>
                                    <p:animEffect transition="in" filter="fade">
                                      <p:cBhvr>
                                        <p:cTn id="89" dur="400"/>
                                        <p:tgtEl>
                                          <p:spTgt spid="126"/>
                                        </p:tgtEl>
                                      </p:cBhvr>
                                    </p:animEffect>
                                  </p:childTnLst>
                                </p:cTn>
                              </p:par>
                              <p:par>
                                <p:cTn id="90" presetID="10" presetClass="entr" presetSubtype="0" fill="hold" nodeType="withEffect">
                                  <p:stCondLst>
                                    <p:cond delay="0"/>
                                  </p:stCondLst>
                                  <p:childTnLst>
                                    <p:set>
                                      <p:cBhvr>
                                        <p:cTn id="91" dur="1" fill="hold">
                                          <p:stCondLst>
                                            <p:cond delay="0"/>
                                          </p:stCondLst>
                                        </p:cTn>
                                        <p:tgtEl>
                                          <p:spTgt spid="127"/>
                                        </p:tgtEl>
                                        <p:attrNameLst>
                                          <p:attrName>style.visibility</p:attrName>
                                        </p:attrNameLst>
                                      </p:cBhvr>
                                      <p:to>
                                        <p:strVal val="visible"/>
                                      </p:to>
                                    </p:set>
                                    <p:animEffect transition="in" filter="fade">
                                      <p:cBhvr>
                                        <p:cTn id="92" dur="400"/>
                                        <p:tgtEl>
                                          <p:spTgt spid="12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9224661" cy="638175"/>
          </a:xfrm>
        </p:spPr>
        <p:txBody>
          <a:bodyPr>
            <a:normAutofit fontScale="90000"/>
          </a:bodyPr>
          <a:lstStyle/>
          <a:p>
            <a:pPr algn="l">
              <a:buNone/>
              <a:defRPr b="0"/>
            </a:pPr>
            <a:r>
              <a:rPr lang="en-US" sz="2800" b="0" i="0" dirty="0">
                <a:solidFill>
                  <a:srgbClr val="000000"/>
                </a:solidFill>
              </a:rPr>
              <a:t>How strongly can we support an architectural claim?</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a:bodyPr>
          <a:lstStyle/>
          <a:p>
            <a:pPr algn="l">
              <a:buNone/>
            </a:pPr>
            <a:r>
              <a:rPr lang="en-US" sz="2000" b="1" i="0" dirty="0">
                <a:solidFill>
                  <a:srgbClr val="5C4826"/>
                </a:solidFill>
              </a:rPr>
              <a:t>Weaker</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a:bodyPr>
          <a:lstStyle/>
          <a:p>
            <a:pPr algn="r">
              <a:buNone/>
            </a:pPr>
            <a:r>
              <a:rPr lang="en-US" sz="2000" b="1" i="0" dirty="0">
                <a:solidFill>
                  <a:srgbClr val="5C4826"/>
                </a:solidFill>
              </a:rPr>
              <a:t>Stronger</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a:p>
            <a:pPr algn="ctr">
              <a:spcBef>
                <a:spcPts val="262"/>
              </a:spcBef>
              <a:buNone/>
            </a:pPr>
            <a:r>
              <a:rPr lang="en-US" sz="2100" b="1" dirty="0">
                <a:solidFill>
                  <a:srgbClr val="8E6F3E"/>
                </a:solidFill>
              </a:rPr>
              <a:t>(Pattern)</a:t>
            </a:r>
            <a:endParaRPr lang="en-US" sz="2100" b="1" i="0" dirty="0">
              <a:solidFill>
                <a:srgbClr val="8E6F3E"/>
              </a:solidFill>
            </a:endParaRP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a:p>
            <a:pPr algn="ctr">
              <a:spcBef>
                <a:spcPts val="262"/>
              </a:spcBef>
              <a:buNone/>
            </a:pPr>
            <a:r>
              <a:rPr lang="en-US" sz="2100" b="1" dirty="0">
                <a:solidFill>
                  <a:srgbClr val="8E6F3E"/>
                </a:solidFill>
              </a:rPr>
              <a:t>(Analytic model)</a:t>
            </a:r>
            <a:endParaRPr lang="en-US" sz="2100" b="1" i="0" dirty="0">
              <a:solidFill>
                <a:srgbClr val="8E6F3E"/>
              </a:solidFill>
            </a:endParaRP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a:p>
            <a:pPr algn="ctr">
              <a:spcBef>
                <a:spcPts val="262"/>
              </a:spcBef>
              <a:buNone/>
            </a:pPr>
            <a:r>
              <a:rPr lang="en-US" sz="2100" b="1" dirty="0">
                <a:solidFill>
                  <a:srgbClr val="8E6F3E"/>
                </a:solidFill>
              </a:rPr>
              <a:t>(Quant. model)</a:t>
            </a:r>
            <a:endParaRPr lang="en-US" sz="2100" b="1" i="0" dirty="0">
              <a:solidFill>
                <a:srgbClr val="8E6F3E"/>
              </a:solidFill>
            </a:endParaRP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a:p>
            <a:pPr algn="ctr">
              <a:spcBef>
                <a:spcPts val="262"/>
              </a:spcBef>
              <a:buNone/>
            </a:pPr>
            <a:r>
              <a:rPr lang="en-US" sz="2100" b="1" dirty="0">
                <a:solidFill>
                  <a:srgbClr val="8E6F3E"/>
                </a:solidFill>
              </a:rPr>
              <a:t>(Measurement)</a:t>
            </a:r>
            <a:endParaRPr lang="en-US" sz="2100" b="1" i="0" dirty="0">
              <a:solidFill>
                <a:srgbClr val="8E6F3E"/>
              </a:solidFill>
            </a:endParaRP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4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4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400"/>
                                        <p:tgtEl>
                                          <p:spTgt spid="10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400"/>
                                        <p:tgtEl>
                                          <p:spTgt spid="106"/>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400"/>
                                        <p:tgtEl>
                                          <p:spTgt spid="107"/>
                                        </p:tgtEl>
                                      </p:cBhvr>
                                    </p:animEffect>
                                  </p:childTnLst>
                                </p:cTn>
                              </p:par>
                              <p:par>
                                <p:cTn id="22" presetID="10" presetClass="entr" presetSubtype="0" fill="hold" nodeType="withEffect">
                                  <p:stCondLst>
                                    <p:cond delay="0"/>
                                  </p:stCondLst>
                                  <p:childTnLst>
                                    <p:set>
                                      <p:cBhvr>
                                        <p:cTn id="23" dur="1" fill="hold">
                                          <p:stCondLst>
                                            <p:cond delay="0"/>
                                          </p:stCondLst>
                                        </p:cTn>
                                        <p:tgtEl>
                                          <p:spTgt spid="108"/>
                                        </p:tgtEl>
                                        <p:attrNameLst>
                                          <p:attrName>style.visibility</p:attrName>
                                        </p:attrNameLst>
                                      </p:cBhvr>
                                      <p:to>
                                        <p:strVal val="visible"/>
                                      </p:to>
                                    </p:set>
                                    <p:animEffect transition="in" filter="fade">
                                      <p:cBhvr>
                                        <p:cTn id="24" dur="400"/>
                                        <p:tgtEl>
                                          <p:spTgt spid="10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400"/>
                                        <p:tgtEl>
                                          <p:spTgt spid="109"/>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par>
                                <p:cTn id="33" presetID="10" presetClass="entr" presetSubtype="0" fill="hold" nodeType="withEffect">
                                  <p:stCondLst>
                                    <p:cond delay="0"/>
                                  </p:stCondLst>
                                  <p:childTnLst>
                                    <p:set>
                                      <p:cBhvr>
                                        <p:cTn id="34" dur="1" fill="hold">
                                          <p:stCondLst>
                                            <p:cond delay="0"/>
                                          </p:stCondLst>
                                        </p:cTn>
                                        <p:tgtEl>
                                          <p:spTgt spid="111"/>
                                        </p:tgtEl>
                                        <p:attrNameLst>
                                          <p:attrName>style.visibility</p:attrName>
                                        </p:attrNameLst>
                                      </p:cBhvr>
                                      <p:to>
                                        <p:strVal val="visible"/>
                                      </p:to>
                                    </p:set>
                                    <p:animEffect transition="in" filter="fade">
                                      <p:cBhvr>
                                        <p:cTn id="35" dur="400"/>
                                        <p:tgtEl>
                                          <p:spTgt spid="1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350000" y="2550000"/>
            <a:ext cx="2000000" cy="95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180000" y="2380000"/>
            <a:ext cx="380000" cy="380000"/>
          </a:xfrm>
          <a:prstGeom prst="ellipse">
            <a:avLst/>
          </a:prstGeom>
          <a:solidFill>
            <a:srgbClr val="B23B3B"/>
          </a:solidFill>
          <a:ln>
            <a:noFill/>
          </a:ln>
        </p:spPr>
        <p:txBody>
          <a:bodyPr wrap="square" lIns="0" tIns="0" rIns="0" bIns="0" anchor="ctr">
            <a:normAutofit lnSpcReduction="10000"/>
          </a:bodyPr>
          <a:lstStyle/>
          <a:p>
            <a:pPr algn="ctr">
              <a:buNone/>
            </a:pPr>
            <a:r>
              <a:rPr lang="en-US" sz="1800" b="1" i="0" dirty="0">
                <a:solidFill>
                  <a:srgbClr val="FFFFFF"/>
                </a:solidFill>
              </a:rPr>
              <a:t>Δ</a:t>
            </a:r>
          </a:p>
        </p:txBody>
      </p:sp>
      <p:sp>
        <p:nvSpPr>
          <p:cNvPr id="103" name="BUI"/>
          <p:cNvSpPr/>
          <p:nvPr/>
        </p:nvSpPr>
        <p:spPr>
          <a:xfrm>
            <a:off x="3100000" y="155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104"/>
          <p:cNvCxnSpPr/>
          <p:nvPr/>
        </p:nvCxnSpPr>
        <p:spPr>
          <a:xfrm flipV="1">
            <a:off x="2350000" y="1890000"/>
            <a:ext cx="750000" cy="890000"/>
          </a:xfrm>
          <a:prstGeom prst="line">
            <a:avLst/>
          </a:prstGeom>
          <a:ln w="28575">
            <a:solidFill>
              <a:srgbClr val="B23B3B"/>
            </a:solidFill>
            <a:prstDash val="dash"/>
            <a:headEnd type="triangle" w="med" len="med"/>
          </a:ln>
        </p:spPr>
      </p:cxnSp>
      <p:sp>
        <p:nvSpPr>
          <p:cNvPr id="105" name="BADVICE"/>
          <p:cNvSpPr/>
          <p:nvPr/>
        </p:nvSpPr>
        <p:spPr>
          <a:xfrm>
            <a:off x="3100000" y="268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06"/>
          <p:cNvCxnSpPr/>
          <p:nvPr/>
        </p:nvCxnSpPr>
        <p:spPr>
          <a:xfrm>
            <a:off x="2350000" y="3020000"/>
            <a:ext cx="750000" cy="0"/>
          </a:xfrm>
          <a:prstGeom prst="line">
            <a:avLst/>
          </a:prstGeom>
          <a:ln w="28575">
            <a:solidFill>
              <a:srgbClr val="B23B3B"/>
            </a:solidFill>
            <a:prstDash val="dash"/>
            <a:headEnd type="triangle" w="med" len="med"/>
          </a:ln>
        </p:spPr>
      </p:cxnSp>
      <p:sp>
        <p:nvSpPr>
          <p:cNvPr id="107" name="BSTORAGE"/>
          <p:cNvSpPr/>
          <p:nvPr/>
        </p:nvSpPr>
        <p:spPr>
          <a:xfrm>
            <a:off x="3100000" y="381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108"/>
          <p:cNvCxnSpPr/>
          <p:nvPr/>
        </p:nvCxnSpPr>
        <p:spPr>
          <a:xfrm>
            <a:off x="2350000" y="3260000"/>
            <a:ext cx="750000" cy="890000"/>
          </a:xfrm>
          <a:prstGeom prst="line">
            <a:avLst/>
          </a:prstGeom>
          <a:ln w="28575">
            <a:solidFill>
              <a:srgbClr val="B23B3B"/>
            </a:solidFill>
            <a:prstDash val="dash"/>
            <a:headEnd type="triangle" w="med" len="med"/>
          </a:ln>
        </p:spPr>
      </p:cxnSp>
      <p:sp>
        <p:nvSpPr>
          <p:cNvPr id="109" name="BCap"/>
          <p:cNvSpPr txBox="1"/>
          <p:nvPr/>
        </p:nvSpPr>
        <p:spPr>
          <a:xfrm>
            <a:off x="350000" y="4700000"/>
            <a:ext cx="4170000" cy="3240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720000" y="16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720000" y="250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350000" y="1500000"/>
            <a:ext cx="160000" cy="260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30000" y="1180000"/>
            <a:ext cx="3300000" cy="3000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850000" y="2350000"/>
            <a:ext cx="1900000" cy="90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60000" y="21900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18"/>
          <p:cNvCxnSpPr/>
          <p:nvPr/>
        </p:nvCxnSpPr>
        <p:spPr>
          <a:xfrm>
            <a:off x="5970000" y="1940000"/>
            <a:ext cx="380000" cy="0"/>
          </a:xfrm>
          <a:prstGeom prst="line">
            <a:avLst/>
          </a:prstGeom>
          <a:ln w="41275">
            <a:solidFill>
              <a:srgbClr val="8E6F3E"/>
            </a:solidFill>
            <a:tailEnd type="triangle" w="med" len="med"/>
          </a:ln>
        </p:spPr>
      </p:cxnSp>
      <p:cxnSp>
        <p:nvCxnSpPr>
          <p:cNvPr id="119" name="AA119"/>
          <p:cNvCxnSpPr/>
          <p:nvPr/>
        </p:nvCxnSpPr>
        <p:spPr>
          <a:xfrm>
            <a:off x="5970000" y="2790000"/>
            <a:ext cx="380000" cy="0"/>
          </a:xfrm>
          <a:prstGeom prst="line">
            <a:avLst/>
          </a:prstGeom>
          <a:ln w="41275">
            <a:solidFill>
              <a:srgbClr val="8E6F3E"/>
            </a:solidFill>
            <a:tailEnd type="triangle" w="med" len="med"/>
          </a:ln>
        </p:spPr>
      </p:cxnSp>
      <p:sp>
        <p:nvSpPr>
          <p:cNvPr id="120" name="ACap"/>
          <p:cNvSpPr txBox="1"/>
          <p:nvPr/>
        </p:nvSpPr>
        <p:spPr>
          <a:xfrm>
            <a:off x="4720000" y="4700000"/>
            <a:ext cx="4100000" cy="324000"/>
          </a:xfrm>
          <a:prstGeom prst="rect">
            <a:avLst/>
          </a:prstGeom>
          <a:noFill/>
          <a:ln>
            <a:noFill/>
          </a:ln>
        </p:spPr>
        <p:txBody>
          <a:bodyPr wrap="square" lIns="0" tIns="0" rIns="0" bIns="0" anchor="t">
            <a:normAutofit/>
          </a:bodyPr>
          <a:lstStyle/>
          <a:p>
            <a:pPr algn="l">
              <a:buNone/>
            </a:pPr>
            <a:r>
              <a:rPr lang="en-US" sz="1900" b="0" i="1" dirty="0">
                <a:solidFill>
                  <a:srgbClr val="1F7A4D"/>
                </a:solidFill>
              </a:rPr>
              <a:t>anticipated change stays behind the seam</a:t>
            </a:r>
          </a:p>
        </p:txBody>
      </p:sp>
      <p:sp>
        <p:nvSpPr>
          <p:cNvPr id="130" name="AStorage"/>
          <p:cNvSpPr/>
          <p:nvPr/>
        </p:nvSpPr>
        <p:spPr>
          <a:xfrm>
            <a:off x="4720000" y="33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31" name="AA131"/>
          <p:cNvCxnSpPr/>
          <p:nvPr/>
        </p:nvCxnSpPr>
        <p:spPr>
          <a:xfrm>
            <a:off x="5970000" y="3640000"/>
            <a:ext cx="380000" cy="0"/>
          </a:xfrm>
          <a:prstGeom prst="line">
            <a:avLst/>
          </a:prstGeom>
          <a:ln w="41275">
            <a:solidFill>
              <a:srgbClr val="8E6F3E"/>
            </a:solidFill>
            <a:tailEnd type="triangle" w="med" len="med"/>
          </a:ln>
        </p:spPr>
      </p:cxnSp>
      <p:cxnSp>
        <p:nvCxnSpPr>
          <p:cNvPr id="132" name="SeamToModel"/>
          <p:cNvCxnSpPr/>
          <p:nvPr/>
        </p:nvCxnSpPr>
        <p:spPr>
          <a:xfrm>
            <a:off x="6510000" y="2800000"/>
            <a:ext cx="340000" cy="0"/>
          </a:xfrm>
          <a:prstGeom prst="line">
            <a:avLst/>
          </a:prstGeom>
          <a:ln w="41275">
            <a:solidFill>
              <a:srgbClr val="8E6F3E"/>
            </a:solidFill>
            <a:tailEnd type="triangle" w="med" len="med"/>
          </a:ln>
        </p:spPr>
      </p:cxnSp>
      <p:pic>
        <p:nvPicPr>
          <p:cNvPr id="133" name="Picture 132" descr="sleep-advisor-icon.png"/>
          <p:cNvPicPr>
            <a:picLocks noChangeAspect="1"/>
          </p:cNvPicPr>
          <p:nvPr/>
        </p:nvPicPr>
        <p:blipFill>
          <a:blip r:embed="rId3"/>
          <a:stretch>
            <a:fillRect/>
          </a:stretch>
        </p:blipFill>
        <p:spPr>
          <a:xfrm>
            <a:off x="502920" y="1691640"/>
            <a:ext cx="658368" cy="6583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5"/>
                                        </p:tgtEl>
                                        <p:attrNameLst>
                                          <p:attrName>style.visibility</p:attrName>
                                        </p:attrNameLst>
                                      </p:cBhvr>
                                      <p:to>
                                        <p:strVal val="visible"/>
                                      </p:to>
                                    </p:set>
                                    <p:animEffect transition="in" filter="fade">
                                      <p:cBhvr>
                                        <p:cTn id="16" dur="400"/>
                                        <p:tgtEl>
                                          <p:spTgt spid="105"/>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400"/>
                                        <p:tgtEl>
                                          <p:spTgt spid="1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2"/>
                                        </p:tgtEl>
                                        <p:attrNameLst>
                                          <p:attrName>style.visibility</p:attrName>
                                        </p:attrNameLst>
                                      </p:cBhvr>
                                      <p:to>
                                        <p:strVal val="visible"/>
                                      </p:to>
                                    </p:set>
                                    <p:animEffect transition="in" filter="fade">
                                      <p:cBhvr>
                                        <p:cTn id="24" dur="400"/>
                                        <p:tgtEl>
                                          <p:spTgt spid="10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4"/>
                                        </p:tgtEl>
                                        <p:attrNameLst>
                                          <p:attrName>style.visibility</p:attrName>
                                        </p:attrNameLst>
                                      </p:cBhvr>
                                      <p:to>
                                        <p:strVal val="visible"/>
                                      </p:to>
                                    </p:set>
                                    <p:animEffect transition="in" filter="fade">
                                      <p:cBhvr>
                                        <p:cTn id="29" dur="400"/>
                                        <p:tgtEl>
                                          <p:spTgt spid="104"/>
                                        </p:tgtEl>
                                      </p:cBhvr>
                                    </p:animEffect>
                                  </p:childTnLst>
                                </p:cTn>
                              </p:par>
                              <p:par>
                                <p:cTn id="30" presetID="10" presetClass="entr" presetSubtype="0" fill="hold" nodeType="withEffect">
                                  <p:stCondLst>
                                    <p:cond delay="0"/>
                                  </p:stCondLst>
                                  <p:childTnLst>
                                    <p:set>
                                      <p:cBhvr>
                                        <p:cTn id="31" dur="1" fill="hold">
                                          <p:stCondLst>
                                            <p:cond delay="0"/>
                                          </p:stCondLst>
                                        </p:cTn>
                                        <p:tgtEl>
                                          <p:spTgt spid="106"/>
                                        </p:tgtEl>
                                        <p:attrNameLst>
                                          <p:attrName>style.visibility</p:attrName>
                                        </p:attrNameLst>
                                      </p:cBhvr>
                                      <p:to>
                                        <p:strVal val="visible"/>
                                      </p:to>
                                    </p:set>
                                    <p:animEffect transition="in" filter="fade">
                                      <p:cBhvr>
                                        <p:cTn id="32" dur="400"/>
                                        <p:tgtEl>
                                          <p:spTgt spid="106"/>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Effect transition="in" filter="fade">
                                      <p:cBhvr>
                                        <p:cTn id="55" dur="400"/>
                                        <p:tgtEl>
                                          <p:spTgt spid="130"/>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4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15"/>
                                        </p:tgtEl>
                                        <p:attrNameLst>
                                          <p:attrName>style.visibility</p:attrName>
                                        </p:attrNameLst>
                                      </p:cBhvr>
                                      <p:to>
                                        <p:strVal val="visible"/>
                                      </p:to>
                                    </p:set>
                                    <p:animEffect transition="in" filter="fade">
                                      <p:cBhvr>
                                        <p:cTn id="66" dur="400"/>
                                        <p:tgtEl>
                                          <p:spTgt spid="115"/>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par>
                                <p:cTn id="70" presetID="10" presetClass="entr" presetSubtype="0" fill="hold" nodeType="withEffect">
                                  <p:stCondLst>
                                    <p:cond delay="0"/>
                                  </p:stCondLst>
                                  <p:childTnLst>
                                    <p:set>
                                      <p:cBhvr>
                                        <p:cTn id="71" dur="1" fill="hold">
                                          <p:stCondLst>
                                            <p:cond delay="0"/>
                                          </p:stCondLst>
                                        </p:cTn>
                                        <p:tgtEl>
                                          <p:spTgt spid="119"/>
                                        </p:tgtEl>
                                        <p:attrNameLst>
                                          <p:attrName>style.visibility</p:attrName>
                                        </p:attrNameLst>
                                      </p:cBhvr>
                                      <p:to>
                                        <p:strVal val="visible"/>
                                      </p:to>
                                    </p:set>
                                    <p:animEffect transition="in" filter="fade">
                                      <p:cBhvr>
                                        <p:cTn id="72" dur="400"/>
                                        <p:tgtEl>
                                          <p:spTgt spid="119"/>
                                        </p:tgtEl>
                                      </p:cBhvr>
                                    </p:animEffect>
                                  </p:childTnLst>
                                </p:cTn>
                              </p:par>
                              <p:par>
                                <p:cTn id="73" presetID="10" presetClass="entr" presetSubtype="0" fill="hold" nodeType="withEffect">
                                  <p:stCondLst>
                                    <p:cond delay="0"/>
                                  </p:stCondLst>
                                  <p:childTnLst>
                                    <p:set>
                                      <p:cBhvr>
                                        <p:cTn id="74" dur="1" fill="hold">
                                          <p:stCondLst>
                                            <p:cond delay="0"/>
                                          </p:stCondLst>
                                        </p:cTn>
                                        <p:tgtEl>
                                          <p:spTgt spid="131"/>
                                        </p:tgtEl>
                                        <p:attrNameLst>
                                          <p:attrName>style.visibility</p:attrName>
                                        </p:attrNameLst>
                                      </p:cBhvr>
                                      <p:to>
                                        <p:strVal val="visible"/>
                                      </p:to>
                                    </p:set>
                                    <p:animEffect transition="in" filter="fade">
                                      <p:cBhvr>
                                        <p:cTn id="75" dur="400"/>
                                        <p:tgtEl>
                                          <p:spTgt spid="131"/>
                                        </p:tgtEl>
                                      </p:cBhvr>
                                    </p:animEffect>
                                  </p:childTnLst>
                                </p:cTn>
                              </p:par>
                              <p:par>
                                <p:cTn id="76" presetID="10" presetClass="entr" presetSubtype="0" fill="hold" nodeType="withEffect">
                                  <p:stCondLst>
                                    <p:cond delay="0"/>
                                  </p:stCondLst>
                                  <p:childTnLst>
                                    <p:set>
                                      <p:cBhvr>
                                        <p:cTn id="77" dur="1" fill="hold">
                                          <p:stCondLst>
                                            <p:cond delay="0"/>
                                          </p:stCondLst>
                                        </p:cTn>
                                        <p:tgtEl>
                                          <p:spTgt spid="132"/>
                                        </p:tgtEl>
                                        <p:attrNameLst>
                                          <p:attrName>style.visibility</p:attrName>
                                        </p:attrNameLst>
                                      </p:cBhvr>
                                      <p:to>
                                        <p:strVal val="visible"/>
                                      </p:to>
                                    </p:set>
                                    <p:animEffect transition="in" filter="fade">
                                      <p:cBhvr>
                                        <p:cTn id="78" dur="400"/>
                                        <p:tgtEl>
                                          <p:spTgt spid="13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17"/>
                                        </p:tgtEl>
                                        <p:attrNameLst>
                                          <p:attrName>style.visibility</p:attrName>
                                        </p:attrNameLst>
                                      </p:cBhvr>
                                      <p:to>
                                        <p:strVal val="visible"/>
                                      </p:to>
                                    </p:set>
                                    <p:animEffect transition="in" filter="fade">
                                      <p:cBhvr>
                                        <p:cTn id="83" dur="400"/>
                                        <p:tgtEl>
                                          <p:spTgt spid="117"/>
                                        </p:tgtEl>
                                      </p:cBhvr>
                                    </p:animEffect>
                                  </p:childTnLst>
                                </p:cTn>
                              </p:par>
                              <p:par>
                                <p:cTn id="84" presetID="10" presetClass="entr" presetSubtype="0" fill="hold" nodeType="withEffect">
                                  <p:stCondLst>
                                    <p:cond delay="0"/>
                                  </p:stCondLst>
                                  <p:childTnLst>
                                    <p:set>
                                      <p:cBhvr>
                                        <p:cTn id="85" dur="1" fill="hold">
                                          <p:stCondLst>
                                            <p:cond delay="0"/>
                                          </p:stCondLst>
                                        </p:cTn>
                                        <p:tgtEl>
                                          <p:spTgt spid="120"/>
                                        </p:tgtEl>
                                        <p:attrNameLst>
                                          <p:attrName>style.visibility</p:attrName>
                                        </p:attrNameLst>
                                      </p:cBhvr>
                                      <p:to>
                                        <p:strVal val="visible"/>
                                      </p:to>
                                    </p:set>
                                    <p:animEffect transition="in" filter="fade">
                                      <p:cBhvr>
                                        <p:cTn id="86" dur="400"/>
                                        <p:tgtEl>
                                          <p:spTgt spid="12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Data processing: 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8E6F3E"/>
                </a:solidFill>
              </a:rPr>
              <a:t>modeled 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change: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
        <p:nvSpPr>
          <p:cNvPr id="4" name="T61">
            <a:extLst>
              <a:ext uri="{FF2B5EF4-FFF2-40B4-BE49-F238E27FC236}">
                <a16:creationId xmlns:a16="http://schemas.microsoft.com/office/drawing/2014/main" id="{9AC8A97C-BA67-4A51-1E88-62342C7B09F7}"/>
              </a:ext>
            </a:extLst>
          </p:cNvPr>
          <p:cNvSpPr txBox="1"/>
          <p:nvPr/>
        </p:nvSpPr>
        <p:spPr>
          <a:xfrm>
            <a:off x="685800" y="60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Would another architecture give us another design move?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par>
                                <p:cTn id="20" presetID="10" presetClass="entr" presetSubtype="0" fill="hold"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400"/>
                                        <p:tgtEl>
                                          <p:spTgt spid="105"/>
                                        </p:tgtEl>
                                      </p:cBhvr>
                                    </p:animEffect>
                                  </p:childTnLst>
                                </p:cTn>
                              </p:par>
                              <p:par>
                                <p:cTn id="23" presetID="10"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400"/>
                                        <p:tgtEl>
                                          <p:spTgt spid="106"/>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10"/>
                                        </p:tgtEl>
                                        <p:attrNameLst>
                                          <p:attrName>style.visibility</p:attrName>
                                        </p:attrNameLst>
                                      </p:cBhvr>
                                      <p:to>
                                        <p:strVal val="visible"/>
                                      </p:to>
                                    </p:set>
                                    <p:animEffect transition="in" filter="fade">
                                      <p:cBhvr>
                                        <p:cTn id="31" dur="400"/>
                                        <p:tgtEl>
                                          <p:spTgt spid="110"/>
                                        </p:tgtEl>
                                      </p:cBhvr>
                                    </p:animEffect>
                                  </p:childTnLst>
                                </p:cTn>
                              </p:par>
                              <p:par>
                                <p:cTn id="32" presetID="10" presetClass="entr" presetSubtype="0" fill="hold" nodeType="with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400"/>
                                        <p:tgtEl>
                                          <p:spTgt spid="112"/>
                                        </p:tgtEl>
                                      </p:cBhvr>
                                    </p:animEffect>
                                  </p:childTnLst>
                                </p:cTn>
                              </p:par>
                              <p:par>
                                <p:cTn id="35" presetID="10" presetClass="entr" presetSubtype="0" fill="hold" nodeType="withEffect">
                                  <p:stCondLst>
                                    <p:cond delay="0"/>
                                  </p:stCondLst>
                                  <p:childTnLst>
                                    <p:set>
                                      <p:cBhvr>
                                        <p:cTn id="36" dur="1" fill="hold">
                                          <p:stCondLst>
                                            <p:cond delay="0"/>
                                          </p:stCondLst>
                                        </p:cTn>
                                        <p:tgtEl>
                                          <p:spTgt spid="114"/>
                                        </p:tgtEl>
                                        <p:attrNameLst>
                                          <p:attrName>style.visibility</p:attrName>
                                        </p:attrNameLst>
                                      </p:cBhvr>
                                      <p:to>
                                        <p:strVal val="visible"/>
                                      </p:to>
                                    </p:set>
                                    <p:animEffect transition="in" filter="fade">
                                      <p:cBhvr>
                                        <p:cTn id="37" dur="400"/>
                                        <p:tgtEl>
                                          <p:spTgt spid="1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400"/>
                                        <p:tgtEl>
                                          <p:spTgt spid="107"/>
                                        </p:tgtEl>
                                      </p:cBhvr>
                                    </p:animEffect>
                                  </p:childTnLst>
                                </p:cTn>
                              </p:par>
                              <p:par>
                                <p:cTn id="43" presetID="10"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animEffect transition="in" filter="fade">
                                      <p:cBhvr>
                                        <p:cTn id="45" dur="400"/>
                                        <p:tgtEl>
                                          <p:spTgt spid="109"/>
                                        </p:tgtEl>
                                      </p:cBhvr>
                                    </p:animEffect>
                                  </p:childTnLst>
                                </p:cTn>
                              </p:par>
                              <p:par>
                                <p:cTn id="46" presetID="10" presetClass="entr" presetSubtype="0" fill="hold" nodeType="with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400"/>
                                        </p:tgtEl>
                                        <p:attrNameLst>
                                          <p:attrName>style.visibility</p:attrName>
                                        </p:attrNameLst>
                                      </p:cBhvr>
                                      <p:to>
                                        <p:strVal val="visible"/>
                                      </p:to>
                                    </p:set>
                                    <p:animEffect transition="in" filter="fade">
                                      <p:cBhvr>
                                        <p:cTn id="57" dur="400"/>
                                        <p:tgtEl>
                                          <p:spTgt spid="40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6">
                                            <p:txEl>
                                              <p:pRg st="0" end="0"/>
                                            </p:txEl>
                                          </p:spTgt>
                                        </p:tgtEl>
                                        <p:attrNameLst>
                                          <p:attrName>style.visibility</p:attrName>
                                        </p:attrNameLst>
                                      </p:cBhvr>
                                      <p:to>
                                        <p:strVal val="visible"/>
                                      </p:to>
                                    </p:set>
                                    <p:animEffect transition="in" filter="fade">
                                      <p:cBhvr>
                                        <p:cTn id="62" dur="400"/>
                                        <p:tgtEl>
                                          <p:spTgt spid="116">
                                            <p:txEl>
                                              <p:pRg st="0" end="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6">
                                            <p:txEl>
                                              <p:pRg st="1" end="1"/>
                                            </p:txEl>
                                          </p:spTgt>
                                        </p:tgtEl>
                                        <p:attrNameLst>
                                          <p:attrName>style.visibility</p:attrName>
                                        </p:attrNameLst>
                                      </p:cBhvr>
                                      <p:to>
                                        <p:strVal val="visible"/>
                                      </p:to>
                                    </p:set>
                                    <p:animEffect transition="in" filter="fade">
                                      <p:cBhvr>
                                        <p:cTn id="67" dur="400"/>
                                        <p:tgtEl>
                                          <p:spTgt spid="116">
                                            <p:txEl>
                                              <p:pRg st="1" end="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fade">
                                      <p:cBhvr>
                                        <p:cTn id="72" dur="400"/>
                                        <p:tgtEl>
                                          <p:spTgt spid="117"/>
                                        </p:tgtEl>
                                      </p:cBhvr>
                                    </p:animEffect>
                                  </p:childTnLst>
                                </p:cTn>
                              </p:par>
                              <p:par>
                                <p:cTn id="73" presetID="10" presetClass="entr" presetSubtype="0" fill="hold" nodeType="withEffect">
                                  <p:stCondLst>
                                    <p:cond delay="0"/>
                                  </p:stCondLst>
                                  <p:childTnLst>
                                    <p:set>
                                      <p:cBhvr>
                                        <p:cTn id="74" dur="1" fill="hold">
                                          <p:stCondLst>
                                            <p:cond delay="0"/>
                                          </p:stCondLst>
                                        </p:cTn>
                                        <p:tgtEl>
                                          <p:spTgt spid="118"/>
                                        </p:tgtEl>
                                        <p:attrNameLst>
                                          <p:attrName>style.visibility</p:attrName>
                                        </p:attrNameLst>
                                      </p:cBhvr>
                                      <p:to>
                                        <p:strVal val="visible"/>
                                      </p:to>
                                    </p:set>
                                    <p:animEffect transition="in" filter="fade">
                                      <p:cBhvr>
                                        <p:cTn id="75" dur="400"/>
                                        <p:tgtEl>
                                          <p:spTgt spid="118"/>
                                        </p:tgtEl>
                                      </p:cBhvr>
                                    </p:animEffect>
                                  </p:childTnLst>
                                </p:cTn>
                              </p:par>
                              <p:par>
                                <p:cTn id="76" presetID="10" presetClass="entr" presetSubtype="0" fill="hold" nodeType="withEffect">
                                  <p:stCondLst>
                                    <p:cond delay="0"/>
                                  </p:stCondLst>
                                  <p:childTnLst>
                                    <p:set>
                                      <p:cBhvr>
                                        <p:cTn id="77" dur="1" fill="hold">
                                          <p:stCondLst>
                                            <p:cond delay="0"/>
                                          </p:stCondLst>
                                        </p:cTn>
                                        <p:tgtEl>
                                          <p:spTgt spid="119"/>
                                        </p:tgtEl>
                                        <p:attrNameLst>
                                          <p:attrName>style.visibility</p:attrName>
                                        </p:attrNameLst>
                                      </p:cBhvr>
                                      <p:to>
                                        <p:strVal val="visible"/>
                                      </p:to>
                                    </p:set>
                                    <p:animEffect transition="in" filter="fade">
                                      <p:cBhvr>
                                        <p:cTn id="78" dur="400"/>
                                        <p:tgtEl>
                                          <p:spTgt spid="119"/>
                                        </p:tgtEl>
                                      </p:cBhvr>
                                    </p:animEffect>
                                  </p:childTnLst>
                                </p:cTn>
                              </p:par>
                              <p:par>
                                <p:cTn id="79" presetID="10" presetClass="entr" presetSubtype="0" fill="hold" nodeType="withEffect">
                                  <p:stCondLst>
                                    <p:cond delay="0"/>
                                  </p:stCondLst>
                                  <p:childTnLst>
                                    <p:set>
                                      <p:cBhvr>
                                        <p:cTn id="80" dur="1" fill="hold">
                                          <p:stCondLst>
                                            <p:cond delay="0"/>
                                          </p:stCondLst>
                                        </p:cTn>
                                        <p:tgtEl>
                                          <p:spTgt spid="120"/>
                                        </p:tgtEl>
                                        <p:attrNameLst>
                                          <p:attrName>style.visibility</p:attrName>
                                        </p:attrNameLst>
                                      </p:cBhvr>
                                      <p:to>
                                        <p:strVal val="visible"/>
                                      </p:to>
                                    </p:set>
                                    <p:animEffect transition="in" filter="fade">
                                      <p:cBhvr>
                                        <p:cTn id="81" dur="400"/>
                                        <p:tgtEl>
                                          <p:spTgt spid="120"/>
                                        </p:tgtEl>
                                      </p:cBhvr>
                                    </p:animEffect>
                                  </p:childTnLst>
                                </p:cTn>
                              </p:par>
                              <p:par>
                                <p:cTn id="82" presetID="10" presetClass="entr" presetSubtype="0" fill="hold" nodeType="withEffect">
                                  <p:stCondLst>
                                    <p:cond delay="0"/>
                                  </p:stCondLst>
                                  <p:childTnLst>
                                    <p:set>
                                      <p:cBhvr>
                                        <p:cTn id="83" dur="1" fill="hold">
                                          <p:stCondLst>
                                            <p:cond delay="0"/>
                                          </p:stCondLst>
                                        </p:cTn>
                                        <p:tgtEl>
                                          <p:spTgt spid="121"/>
                                        </p:tgtEl>
                                        <p:attrNameLst>
                                          <p:attrName>style.visibility</p:attrName>
                                        </p:attrNameLst>
                                      </p:cBhvr>
                                      <p:to>
                                        <p:strVal val="visible"/>
                                      </p:to>
                                    </p:set>
                                    <p:animEffect transition="in" filter="fade">
                                      <p:cBhvr>
                                        <p:cTn id="84" dur="400"/>
                                        <p:tgtEl>
                                          <p:spTgt spid="121"/>
                                        </p:tgtEl>
                                      </p:cBhvr>
                                    </p:animEffect>
                                  </p:childTnLst>
                                </p:cTn>
                              </p:par>
                              <p:par>
                                <p:cTn id="85" presetID="10" presetClass="entr" presetSubtype="0" fill="hold" nodeType="withEffect">
                                  <p:stCondLst>
                                    <p:cond delay="0"/>
                                  </p:stCondLst>
                                  <p:childTnLst>
                                    <p:set>
                                      <p:cBhvr>
                                        <p:cTn id="86" dur="1" fill="hold">
                                          <p:stCondLst>
                                            <p:cond delay="0"/>
                                          </p:stCondLst>
                                        </p:cTn>
                                        <p:tgtEl>
                                          <p:spTgt spid="122"/>
                                        </p:tgtEl>
                                        <p:attrNameLst>
                                          <p:attrName>style.visibility</p:attrName>
                                        </p:attrNameLst>
                                      </p:cBhvr>
                                      <p:to>
                                        <p:strVal val="visible"/>
                                      </p:to>
                                    </p:set>
                                    <p:animEffect transition="in" filter="fade">
                                      <p:cBhvr>
                                        <p:cTn id="87" dur="400"/>
                                        <p:tgtEl>
                                          <p:spTgt spid="122"/>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61"/>
                                        </p:tgtEl>
                                        <p:attrNameLst>
                                          <p:attrName>style.visibility</p:attrName>
                                        </p:attrNameLst>
                                      </p:cBhvr>
                                      <p:to>
                                        <p:strVal val="visible"/>
                                      </p:to>
                                    </p:se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grpId="0" nodeType="clickEffect">
                                  <p:stCondLst>
                                    <p:cond delay="0"/>
                                  </p:stCondLst>
                                  <p:childTnLst>
                                    <p:set>
                                      <p:cBhvr>
                                        <p:cTn id="93"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P spid="4"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913" y="136525"/>
            <a:ext cx="9304174" cy="638175"/>
          </a:xfrm>
        </p:spPr>
        <p:txBody>
          <a:bodyPr>
            <a:normAutofit fontScale="90000"/>
          </a:bodyPr>
          <a:lstStyle/>
          <a:p>
            <a:pPr algn="l">
              <a:buNone/>
              <a:defRPr b="0"/>
            </a:pPr>
            <a:r>
              <a:rPr lang="en-US" sz="2800" b="0" i="0" dirty="0">
                <a:solidFill>
                  <a:srgbClr val="000000"/>
                </a:solidFill>
              </a:rPr>
              <a:t>What happens when architectural evidence gets cheaper?</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400"/>
                                        <p:tgtEl>
                                          <p:spTgt spid="150"/>
                                        </p:tgtEl>
                                      </p:cBhvr>
                                    </p:animEffect>
                                  </p:childTnLst>
                                </p:cTn>
                              </p:par>
                              <p:par>
                                <p:cTn id="51" presetID="10" presetClass="entr" presetSubtype="0" fill="hold" nodeType="withEffect">
                                  <p:stCondLst>
                                    <p:cond delay="0"/>
                                  </p:stCondLst>
                                  <p:childTnLst>
                                    <p:set>
                                      <p:cBhvr>
                                        <p:cTn id="52" dur="1" fill="hold">
                                          <p:stCondLst>
                                            <p:cond delay="0"/>
                                          </p:stCondLst>
                                        </p:cTn>
                                        <p:tgtEl>
                                          <p:spTgt spid="151"/>
                                        </p:tgtEl>
                                        <p:attrNameLst>
                                          <p:attrName>style.visibility</p:attrName>
                                        </p:attrNameLst>
                                      </p:cBhvr>
                                      <p:to>
                                        <p:strVal val="visible"/>
                                      </p:to>
                                    </p:set>
                                    <p:animEffect transition="in" filter="fade">
                                      <p:cBhvr>
                                        <p:cTn id="53" dur="400"/>
                                        <p:tgtEl>
                                          <p:spTgt spid="15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2"/>
                                        </p:tgtEl>
                                        <p:attrNameLst>
                                          <p:attrName>style.visibility</p:attrName>
                                        </p:attrNameLst>
                                      </p:cBhvr>
                                      <p:to>
                                        <p:strVal val="visible"/>
                                      </p:to>
                                    </p:set>
                                    <p:animEffect transition="in" filter="fade">
                                      <p:cBhvr>
                                        <p:cTn id="58" dur="400"/>
                                        <p:tgtEl>
                                          <p:spTgt spid="152"/>
                                        </p:tgtEl>
                                      </p:cBhvr>
                                    </p:animEffect>
                                  </p:childTnLst>
                                </p:cTn>
                              </p:par>
                              <p:par>
                                <p:cTn id="59" presetID="10" presetClass="entr" presetSubtype="0" fill="hold" nodeType="withEffect">
                                  <p:stCondLst>
                                    <p:cond delay="0"/>
                                  </p:stCondLst>
                                  <p:childTnLst>
                                    <p:set>
                                      <p:cBhvr>
                                        <p:cTn id="60" dur="1" fill="hold">
                                          <p:stCondLst>
                                            <p:cond delay="0"/>
                                          </p:stCondLst>
                                        </p:cTn>
                                        <p:tgtEl>
                                          <p:spTgt spid="153"/>
                                        </p:tgtEl>
                                        <p:attrNameLst>
                                          <p:attrName>style.visibility</p:attrName>
                                        </p:attrNameLst>
                                      </p:cBhvr>
                                      <p:to>
                                        <p:strVal val="visible"/>
                                      </p:to>
                                    </p:set>
                                    <p:animEffect transition="in" filter="fade">
                                      <p:cBhvr>
                                        <p:cTn id="61" dur="400"/>
                                        <p:tgtEl>
                                          <p:spTgt spid="1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400"/>
                                        <p:tgtEl>
                                          <p:spTgt spid="154"/>
                                        </p:tgtEl>
                                      </p:cBhvr>
                                    </p:animEffect>
                                  </p:childTnLst>
                                </p:cTn>
                              </p:par>
                              <p:par>
                                <p:cTn id="67" presetID="10"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animEffect transition="in" filter="fade">
                                      <p:cBhvr>
                                        <p:cTn id="69" dur="400"/>
                                        <p:tgtEl>
                                          <p:spTgt spid="6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400"/>
                                        <p:tgtEl>
                                          <p:spTgt spid="6"/>
                                        </p:tgtEl>
                                      </p:cBhvr>
                                    </p:animEffect>
                                  </p:childTnLst>
                                </p:cTn>
                              </p:par>
                              <p:par>
                                <p:cTn id="75" presetID="10"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fade">
                                      <p:cBhvr>
                                        <p:cTn id="7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28</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29</a:t>
            </a:fld>
            <a:endParaRPr lang="en-US"/>
          </a:p>
        </p:txBody>
      </p:sp>
      <p:sp>
        <p:nvSpPr>
          <p:cNvPr id="61" name="Band61"/>
          <p:cNvSpPr/>
          <p:nvPr/>
        </p:nvSpPr>
        <p:spPr>
          <a:xfrm>
            <a:off x="279400" y="4700000"/>
            <a:ext cx="8585200" cy="125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3F3121"/>
                </a:solidFill>
              </a:rPr>
              <a:t>Sketch the major parts, boundaries, and interactions</a:t>
            </a:r>
          </a:p>
          <a:p>
            <a:pPr algn="l">
              <a:spcBef>
                <a:spcPts val="400"/>
              </a:spcBef>
              <a:buNone/>
            </a:pPr>
            <a:r>
              <a:rPr lang="en-US" sz="1800" b="0" i="0" dirty="0">
                <a:solidFill>
                  <a:srgbClr val="3F3121"/>
                </a:solidFill>
              </a:rPr>
              <a:t>Produce TWO plausible organizations</a:t>
            </a:r>
          </a:p>
          <a:p>
            <a:pPr algn="l">
              <a:spcBef>
                <a:spcPts val="400"/>
              </a:spcBef>
              <a:buNone/>
            </a:pPr>
            <a:r>
              <a:rPr lang="en-US" sz="1800" b="0" i="1" dirty="0">
                <a:solidFill>
                  <a:srgbClr val="3F3121"/>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322000" y="1000000"/>
            <a:ext cx="2500000" cy="8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Advice must return w/in 2 seconds</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350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Raw sleep data must not be disclosed to sharing recipients</a:t>
            </a:r>
          </a:p>
        </p:txBody>
      </p:sp>
      <p:cxnSp>
        <p:nvCxnSpPr>
          <p:cNvPr id="104" name="OblA1"/>
          <p:cNvCxnSpPr/>
          <p:nvPr/>
        </p:nvCxnSpPr>
        <p:spPr>
          <a:xfrm>
            <a:off x="2870000" y="2050000"/>
            <a:ext cx="255000" cy="250000"/>
          </a:xfrm>
          <a:prstGeom prst="line">
            <a:avLst/>
          </a:prstGeom>
          <a:ln w="42862">
            <a:solidFill>
              <a:srgbClr val="C9B991"/>
            </a:solidFill>
            <a:tailEnd type="triangle" w="med" len="med"/>
          </a:ln>
        </p:spPr>
      </p:cxnSp>
      <p:sp>
        <p:nvSpPr>
          <p:cNvPr id="105" name="Obl2"/>
          <p:cNvSpPr/>
          <p:nvPr/>
        </p:nvSpPr>
        <p:spPr>
          <a:xfrm>
            <a:off x="6294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The illness model is expected to change independently</a:t>
            </a:r>
          </a:p>
        </p:txBody>
      </p:sp>
      <p:cxnSp>
        <p:nvCxnSpPr>
          <p:cNvPr id="106" name="OblA2"/>
          <p:cNvCxnSpPr/>
          <p:nvPr/>
        </p:nvCxnSpPr>
        <p:spPr>
          <a:xfrm flipH="1">
            <a:off x="6039000" y="2050000"/>
            <a:ext cx="255000" cy="250000"/>
          </a:xfrm>
          <a:prstGeom prst="line">
            <a:avLst/>
          </a:prstGeom>
          <a:ln w="42862">
            <a:solidFill>
              <a:srgbClr val="C9B991"/>
            </a:solidFill>
            <a:tailEnd type="triangle" w="med" len="med"/>
          </a:ln>
        </p:spPr>
      </p:cxnSp>
      <p:sp>
        <p:nvSpPr>
          <p:cNvPr id="107" name="Obl3"/>
          <p:cNvSpPr/>
          <p:nvPr/>
        </p:nvSpPr>
        <p:spPr>
          <a:xfrm>
            <a:off x="700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Failure of sharing must not prevent local advice</a:t>
            </a:r>
          </a:p>
        </p:txBody>
      </p:sp>
      <p:cxnSp>
        <p:nvCxnSpPr>
          <p:cNvPr id="108" name="OblA3"/>
          <p:cNvCxnSpPr/>
          <p:nvPr/>
        </p:nvCxnSpPr>
        <p:spPr>
          <a:xfrm flipV="1">
            <a:off x="3200000" y="3550000"/>
            <a:ext cx="200000" cy="150000"/>
          </a:xfrm>
          <a:prstGeom prst="line">
            <a:avLst/>
          </a:prstGeom>
          <a:ln w="42862">
            <a:solidFill>
              <a:srgbClr val="C9B991"/>
            </a:solidFill>
            <a:tailEnd type="triangle" w="med" len="med"/>
          </a:ln>
        </p:spPr>
      </p:cxnSp>
      <p:sp>
        <p:nvSpPr>
          <p:cNvPr id="109" name="Obl4"/>
          <p:cNvSpPr/>
          <p:nvPr/>
        </p:nvSpPr>
        <p:spPr>
          <a:xfrm>
            <a:off x="5944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 weekly summary must reflect a consistent 7-night window</a:t>
            </a:r>
          </a:p>
        </p:txBody>
      </p:sp>
      <p:cxnSp>
        <p:nvCxnSpPr>
          <p:cNvPr id="110" name="OblA4"/>
          <p:cNvCxnSpPr/>
          <p:nvPr/>
        </p:nvCxnSpPr>
        <p:spPr>
          <a:xfrm flipH="1" flipV="1">
            <a:off x="5744000" y="3550000"/>
            <a:ext cx="200000" cy="150000"/>
          </a:xfrm>
          <a:prstGeom prst="line">
            <a:avLst/>
          </a:prstGeom>
          <a:ln w="42862">
            <a:solidFill>
              <a:srgbClr val="C9B991"/>
            </a:solidFill>
            <a:tailEnd type="triangle" w="med" len="med"/>
          </a:ln>
        </p:spPr>
      </p:cxnSp>
      <p:pic>
        <p:nvPicPr>
          <p:cNvPr id="111" name="Picture 110" descr="sleep-advisor-icon.png"/>
          <p:cNvPicPr>
            <a:picLocks noChangeAspect="1"/>
          </p:cNvPicPr>
          <p:nvPr/>
        </p:nvPicPr>
        <p:blipFill>
          <a:blip r:embed="rId3"/>
          <a:stretch>
            <a:fillRect/>
          </a:stretch>
        </p:blipFill>
        <p:spPr>
          <a:xfrm>
            <a:off x="4242816" y="3822191"/>
            <a:ext cx="658368" cy="6583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xEl>
                                              <p:pRg st="0" end="0"/>
                                            </p:txEl>
                                          </p:spTgt>
                                        </p:tgtEl>
                                        <p:attrNameLst>
                                          <p:attrName>style.visibility</p:attrName>
                                        </p:attrNameLst>
                                      </p:cBhvr>
                                      <p:to>
                                        <p:strVal val="visible"/>
                                      </p:to>
                                    </p:set>
                                    <p:animEffect transition="in" filter="fade">
                                      <p:cBhvr>
                                        <p:cTn id="7" dur="400"/>
                                        <p:tgtEl>
                                          <p:spTgt spid="61">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1">
                                            <p:txEl>
                                              <p:pRg st="1" end="1"/>
                                            </p:txEl>
                                          </p:spTgt>
                                        </p:tgtEl>
                                        <p:attrNameLst>
                                          <p:attrName>style.visibility</p:attrName>
                                        </p:attrNameLst>
                                      </p:cBhvr>
                                      <p:to>
                                        <p:strVal val="visible"/>
                                      </p:to>
                                    </p:set>
                                    <p:animEffect transition="in" filter="fade">
                                      <p:cBhvr>
                                        <p:cTn id="10" dur="400"/>
                                        <p:tgtEl>
                                          <p:spTgt spid="61">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1">
                                            <p:txEl>
                                              <p:pRg st="2" end="2"/>
                                            </p:txEl>
                                          </p:spTgt>
                                        </p:tgtEl>
                                        <p:attrNameLst>
                                          <p:attrName>style.visibility</p:attrName>
                                        </p:attrNameLst>
                                      </p:cBhvr>
                                      <p:to>
                                        <p:strVal val="visible"/>
                                      </p:to>
                                    </p:set>
                                    <p:animEffect transition="in" filter="fade">
                                      <p:cBhvr>
                                        <p:cTn id="13" dur="400"/>
                                        <p:tgtEl>
                                          <p:spTgt spid="61">
                                            <p:txEl>
                                              <p:pRg st="2" end="2"/>
                                            </p:txEl>
                                          </p:spTgt>
                                        </p:tgtEl>
                                      </p:cBhvr>
                                    </p:animEffect>
                                  </p:childTnLst>
                                </p:cTn>
                              </p:par>
                              <p:par>
                                <p:cTn id="14" presetID="1" presetClass="entr" presetSubtype="0" fill="hold" grpId="0" nodeType="withEffect">
                                  <p:stCondLst>
                                    <p:cond delay="0"/>
                                  </p:stCondLst>
                                  <p:childTnLst>
                                    <p:set>
                                      <p:cBhvr>
                                        <p:cTn id="15" dur="1" fill="hold">
                                          <p:stCondLst>
                                            <p:cond delay="0"/>
                                          </p:stCondLst>
                                        </p:cTn>
                                        <p:tgtEl>
                                          <p:spTgt spid="61">
                                            <p:bg/>
                                          </p:spTgt>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61">
                                            <p:txEl>
                                              <p:pRg st="0" end="0"/>
                                            </p:txEl>
                                          </p:spTgt>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61">
                                            <p:txEl>
                                              <p:pRg st="1" end="1"/>
                                            </p:txEl>
                                          </p:spTgt>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6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build="allAtOnce"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30</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a:t>
            </a:r>
            <a:r>
              <a:rPr lang="en-US" sz="2200" b="0" i="0" dirty="0">
                <a:solidFill>
                  <a:srgbClr val="000000"/>
                </a:solidFill>
              </a:rPr>
              <a:t>Which candidates violate the specification?</a:t>
            </a:r>
          </a:p>
          <a:p>
            <a:pPr algn="l">
              <a:spcBef>
                <a:spcPts val="150"/>
              </a:spcBef>
              <a:buNone/>
            </a:pPr>
            <a:r>
              <a:rPr lang="en-US" sz="2200" b="1" i="0" dirty="0">
                <a:solidFill>
                  <a:srgbClr val="8E6F3E"/>
                </a:solidFill>
              </a:rPr>
              <a:t>·  </a:t>
            </a:r>
            <a:r>
              <a:rPr lang="en-US" sz="2200" b="0" i="0" dirty="0">
                <a:solidFill>
                  <a:srgbClr val="000000"/>
                </a:solidFill>
              </a:rPr>
              <a:t>Is any candidate Pareto-dominated?</a:t>
            </a:r>
          </a:p>
          <a:p>
            <a:pPr algn="l">
              <a:spcBef>
                <a:spcPts val="150"/>
              </a:spcBef>
              <a:buNone/>
            </a:pPr>
            <a:r>
              <a:rPr lang="en-US" sz="2200" b="1" i="0" dirty="0">
                <a:solidFill>
                  <a:srgbClr val="8E6F3E"/>
                </a:solidFill>
              </a:rPr>
              <a:t>·  </a:t>
            </a:r>
            <a:r>
              <a:rPr lang="en-US" sz="2200" b="0" i="0" dirty="0">
                <a:solidFill>
                  <a:srgbClr val="000000"/>
                </a:solidFill>
              </a:rPr>
              <a:t>What genuine tradeoff remains?</a:t>
            </a:r>
          </a:p>
          <a:p>
            <a:pPr algn="l">
              <a:spcBef>
                <a:spcPts val="150"/>
              </a:spcBef>
              <a:buNone/>
            </a:pPr>
            <a:r>
              <a:rPr lang="en-US" sz="2200" b="1" i="0" dirty="0">
                <a:solidFill>
                  <a:srgbClr val="8E6F3E"/>
                </a:solidFill>
              </a:rPr>
              <a:t>·  </a:t>
            </a:r>
            <a:r>
              <a:rPr lang="en-US" sz="2200" b="0" i="0" dirty="0">
                <a:solidFill>
                  <a:srgbClr val="000000"/>
                </a:solidFill>
              </a:rPr>
              <a:t>Which architectural model could distinguish the alternatives?</a:t>
            </a:r>
          </a:p>
          <a:p>
            <a:pPr algn="l">
              <a:spcBef>
                <a:spcPts val="150"/>
              </a:spcBef>
              <a:buNone/>
            </a:pPr>
            <a:r>
              <a:rPr lang="en-US" sz="2200" b="1" i="0" dirty="0">
                <a:solidFill>
                  <a:srgbClr val="8E6F3E"/>
                </a:solidFill>
              </a:rPr>
              <a:t>·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(and rarely is)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300"/>
                                        </p:tgtEl>
                                        <p:attrNameLst>
                                          <p:attrName>style.visibility</p:attrName>
                                        </p:attrNameLst>
                                      </p:cBhvr>
                                      <p:to>
                                        <p:strVal val="visible"/>
                                      </p:to>
                                    </p:set>
                                    <p:animEffect transition="in" filter="fade">
                                      <p:cBhvr>
                                        <p:cTn id="19" dur="400"/>
                                        <p:tgtEl>
                                          <p:spTgt spid="300"/>
                                        </p:tgtEl>
                                      </p:cBhvr>
                                    </p:animEffect>
                                  </p:childTnLst>
                                </p:cTn>
                              </p:par>
                              <p:par>
                                <p:cTn id="20" presetID="10" presetClass="entr" presetSubtype="0" fill="hold" nodeType="withEffect">
                                  <p:stCondLst>
                                    <p:cond delay="0"/>
                                  </p:stCondLst>
                                  <p:childTnLst>
                                    <p:set>
                                      <p:cBhvr>
                                        <p:cTn id="21" dur="1" fill="hold">
                                          <p:stCondLst>
                                            <p:cond delay="0"/>
                                          </p:stCondLst>
                                        </p:cTn>
                                        <p:tgtEl>
                                          <p:spTgt spid="301"/>
                                        </p:tgtEl>
                                        <p:attrNameLst>
                                          <p:attrName>style.visibility</p:attrName>
                                        </p:attrNameLst>
                                      </p:cBhvr>
                                      <p:to>
                                        <p:strVal val="visible"/>
                                      </p:to>
                                    </p:set>
                                    <p:animEffect transition="in" filter="fade">
                                      <p:cBhvr>
                                        <p:cTn id="22" dur="400"/>
                                        <p:tgtEl>
                                          <p:spTgt spid="30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par>
                                <p:cTn id="28" presetID="10" presetClass="entr" presetSubtype="0" fill="hold" nodeType="withEffect">
                                  <p:stCondLst>
                                    <p:cond delay="0"/>
                                  </p:stCondLst>
                                  <p:childTnLst>
                                    <p:set>
                                      <p:cBhvr>
                                        <p:cTn id="29" dur="1" fill="hold">
                                          <p:stCondLst>
                                            <p:cond delay="0"/>
                                          </p:stCondLst>
                                        </p:cTn>
                                        <p:tgtEl>
                                          <p:spTgt spid="61">
                                            <p:txEl>
                                              <p:pRg st="0" end="0"/>
                                            </p:txEl>
                                          </p:spTgt>
                                        </p:tgtEl>
                                        <p:attrNameLst>
                                          <p:attrName>style.visibility</p:attrName>
                                        </p:attrNameLst>
                                      </p:cBhvr>
                                      <p:to>
                                        <p:strVal val="visible"/>
                                      </p:to>
                                    </p:set>
                                    <p:animEffect transition="in" filter="fade">
                                      <p:cBhvr>
                                        <p:cTn id="30" dur="400"/>
                                        <p:tgtEl>
                                          <p:spTgt spid="6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5"/>
                                        </p:tgtEl>
                                        <p:attrNameLst>
                                          <p:attrName>style.visibility</p:attrName>
                                        </p:attrNameLst>
                                      </p:cBhvr>
                                      <p:to>
                                        <p:strVal val="visible"/>
                                      </p:to>
                                    </p:set>
                                    <p:animEffect transition="in" filter="fade">
                                      <p:cBhvr>
                                        <p:cTn id="35" dur="400"/>
                                        <p:tgtEl>
                                          <p:spTgt spid="105"/>
                                        </p:tgtEl>
                                      </p:cBhvr>
                                    </p:animEffect>
                                  </p:childTnLst>
                                </p:cTn>
                              </p:par>
                              <p:par>
                                <p:cTn id="36" presetID="10" presetClass="entr" presetSubtype="0" fill="hold" nodeType="withEffect">
                                  <p:stCondLst>
                                    <p:cond delay="0"/>
                                  </p:stCondLst>
                                  <p:childTnLst>
                                    <p:set>
                                      <p:cBhvr>
                                        <p:cTn id="37" dur="1" fill="hold">
                                          <p:stCondLst>
                                            <p:cond delay="0"/>
                                          </p:stCondLst>
                                        </p:cTn>
                                        <p:tgtEl>
                                          <p:spTgt spid="106"/>
                                        </p:tgtEl>
                                        <p:attrNameLst>
                                          <p:attrName>style.visibility</p:attrName>
                                        </p:attrNameLst>
                                      </p:cBhvr>
                                      <p:to>
                                        <p:strVal val="visible"/>
                                      </p:to>
                                    </p:set>
                                    <p:animEffect transition="in" filter="fade">
                                      <p:cBhvr>
                                        <p:cTn id="38" dur="400"/>
                                        <p:tgtEl>
                                          <p:spTgt spid="106"/>
                                        </p:tgtEl>
                                      </p:cBhvr>
                                    </p:animEffect>
                                  </p:childTnLst>
                                </p:cTn>
                              </p:par>
                              <p:par>
                                <p:cTn id="39" presetID="10" presetClass="entr" presetSubtype="0" fill="hold" nodeType="withEffect">
                                  <p:stCondLst>
                                    <p:cond delay="0"/>
                                  </p:stCondLst>
                                  <p:childTnLst>
                                    <p:set>
                                      <p:cBhvr>
                                        <p:cTn id="40" dur="1" fill="hold">
                                          <p:stCondLst>
                                            <p:cond delay="0"/>
                                          </p:stCondLst>
                                        </p:cTn>
                                        <p:tgtEl>
                                          <p:spTgt spid="61">
                                            <p:txEl>
                                              <p:pRg st="1" end="1"/>
                                            </p:txEl>
                                          </p:spTgt>
                                        </p:tgtEl>
                                        <p:attrNameLst>
                                          <p:attrName>style.visibility</p:attrName>
                                        </p:attrNameLst>
                                      </p:cBhvr>
                                      <p:to>
                                        <p:strVal val="visible"/>
                                      </p:to>
                                    </p:set>
                                    <p:animEffect transition="in" filter="fade">
                                      <p:cBhvr>
                                        <p:cTn id="41" dur="400"/>
                                        <p:tgtEl>
                                          <p:spTgt spid="61">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7"/>
                                        </p:tgtEl>
                                        <p:attrNameLst>
                                          <p:attrName>style.visibility</p:attrName>
                                        </p:attrNameLst>
                                      </p:cBhvr>
                                      <p:to>
                                        <p:strVal val="visible"/>
                                      </p:to>
                                    </p:set>
                                    <p:animEffect transition="in" filter="fade">
                                      <p:cBhvr>
                                        <p:cTn id="54" dur="400"/>
                                        <p:tgtEl>
                                          <p:spTgt spid="107"/>
                                        </p:tgtEl>
                                      </p:cBhvr>
                                    </p:animEffect>
                                  </p:childTnLst>
                                </p:cTn>
                              </p:par>
                              <p:par>
                                <p:cTn id="55" presetID="10" presetClass="entr" presetSubtype="0" fill="hold" nodeType="withEffect">
                                  <p:stCondLst>
                                    <p:cond delay="0"/>
                                  </p:stCondLst>
                                  <p:childTnLst>
                                    <p:set>
                                      <p:cBhvr>
                                        <p:cTn id="56" dur="1" fill="hold">
                                          <p:stCondLst>
                                            <p:cond delay="0"/>
                                          </p:stCondLst>
                                        </p:cTn>
                                        <p:tgtEl>
                                          <p:spTgt spid="108"/>
                                        </p:tgtEl>
                                        <p:attrNameLst>
                                          <p:attrName>style.visibility</p:attrName>
                                        </p:attrNameLst>
                                      </p:cBhvr>
                                      <p:to>
                                        <p:strVal val="visible"/>
                                      </p:to>
                                    </p:set>
                                    <p:animEffect transition="in" filter="fade">
                                      <p:cBhvr>
                                        <p:cTn id="57" dur="400"/>
                                        <p:tgtEl>
                                          <p:spTgt spid="108"/>
                                        </p:tgtEl>
                                      </p:cBhvr>
                                    </p:animEffect>
                                  </p:childTnLst>
                                </p:cTn>
                              </p:par>
                              <p:par>
                                <p:cTn id="58" presetID="10" presetClass="entr" presetSubtype="0" fill="hold" nodeType="withEffect">
                                  <p:stCondLst>
                                    <p:cond delay="0"/>
                                  </p:stCondLst>
                                  <p:childTnLst>
                                    <p:set>
                                      <p:cBhvr>
                                        <p:cTn id="59" dur="1" fill="hold">
                                          <p:stCondLst>
                                            <p:cond delay="0"/>
                                          </p:stCondLst>
                                        </p:cTn>
                                        <p:tgtEl>
                                          <p:spTgt spid="61">
                                            <p:txEl>
                                              <p:pRg st="3" end="3"/>
                                            </p:txEl>
                                          </p:spTgt>
                                        </p:tgtEl>
                                        <p:attrNameLst>
                                          <p:attrName>style.visibility</p:attrName>
                                        </p:attrNameLst>
                                      </p:cBhvr>
                                      <p:to>
                                        <p:strVal val="visible"/>
                                      </p:to>
                                    </p:set>
                                    <p:animEffect transition="in" filter="fade">
                                      <p:cBhvr>
                                        <p:cTn id="60" dur="400"/>
                                        <p:tgtEl>
                                          <p:spTgt spid="61">
                                            <p:txEl>
                                              <p:pRg st="3" end="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9"/>
                                        </p:tgtEl>
                                        <p:attrNameLst>
                                          <p:attrName>style.visibility</p:attrName>
                                        </p:attrNameLst>
                                      </p:cBhvr>
                                      <p:to>
                                        <p:strVal val="visible"/>
                                      </p:to>
                                    </p:set>
                                    <p:animEffect transition="in" filter="fade">
                                      <p:cBhvr>
                                        <p:cTn id="65" dur="400"/>
                                        <p:tgtEl>
                                          <p:spTgt spid="109"/>
                                        </p:tgtEl>
                                      </p:cBhvr>
                                    </p:animEffect>
                                  </p:childTnLst>
                                </p:cTn>
                              </p:par>
                              <p:par>
                                <p:cTn id="66" presetID="10" presetClass="entr" presetSubtype="0" fill="hold" nodeType="with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400"/>
                                        <p:tgtEl>
                                          <p:spTgt spid="110"/>
                                        </p:tgtEl>
                                      </p:cBhvr>
                                    </p:animEffect>
                                  </p:childTnLst>
                                </p:cTn>
                              </p:par>
                              <p:par>
                                <p:cTn id="69" presetID="10" presetClass="entr" presetSubtype="0" fill="hold" nodeType="withEffect">
                                  <p:stCondLst>
                                    <p:cond delay="0"/>
                                  </p:stCondLst>
                                  <p:childTnLst>
                                    <p:set>
                                      <p:cBhvr>
                                        <p:cTn id="70" dur="1" fill="hold">
                                          <p:stCondLst>
                                            <p:cond delay="0"/>
                                          </p:stCondLst>
                                        </p:cTn>
                                        <p:tgtEl>
                                          <p:spTgt spid="61">
                                            <p:txEl>
                                              <p:pRg st="4" end="4"/>
                                            </p:txEl>
                                          </p:spTgt>
                                        </p:tgtEl>
                                        <p:attrNameLst>
                                          <p:attrName>style.visibility</p:attrName>
                                        </p:attrNameLst>
                                      </p:cBhvr>
                                      <p:to>
                                        <p:strVal val="visible"/>
                                      </p:to>
                                    </p:set>
                                    <p:animEffect transition="in" filter="fade">
                                      <p:cBhvr>
                                        <p:cTn id="71" dur="400"/>
                                        <p:tgtEl>
                                          <p:spTgt spid="61">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11"/>
                                        </p:tgtEl>
                                        <p:attrNameLst>
                                          <p:attrName>style.visibility</p:attrName>
                                        </p:attrNameLst>
                                      </p:cBhvr>
                                      <p:to>
                                        <p:strVal val="visible"/>
                                      </p:to>
                                    </p:set>
                                    <p:animEffect transition="in" filter="fade">
                                      <p:cBhvr>
                                        <p:cTn id="76" dur="400"/>
                                        <p:tgtEl>
                                          <p:spTgt spid="111"/>
                                        </p:tgtEl>
                                      </p:cBhvr>
                                    </p:animEffect>
                                  </p:childTnLst>
                                </p:cTn>
                              </p:par>
                              <p:par>
                                <p:cTn id="77" presetID="10" presetClass="entr" presetSubtype="0" fill="hold" nodeType="withEffect">
                                  <p:stCondLst>
                                    <p:cond delay="0"/>
                                  </p:stCondLst>
                                  <p:childTnLst>
                                    <p:set>
                                      <p:cBhvr>
                                        <p:cTn id="78" dur="1" fill="hold">
                                          <p:stCondLst>
                                            <p:cond delay="0"/>
                                          </p:stCondLst>
                                        </p:cTn>
                                        <p:tgtEl>
                                          <p:spTgt spid="112"/>
                                        </p:tgtEl>
                                        <p:attrNameLst>
                                          <p:attrName>style.visibility</p:attrName>
                                        </p:attrNameLst>
                                      </p:cBhvr>
                                      <p:to>
                                        <p:strVal val="visible"/>
                                      </p:to>
                                    </p:set>
                                    <p:animEffect transition="in" filter="fade">
                                      <p:cBhvr>
                                        <p:cTn id="79" dur="400"/>
                                        <p:tgtEl>
                                          <p:spTgt spid="1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a:t>
            </a:r>
            <a:r>
              <a:rPr lang="en-US" sz="2400" b="0" i="1" dirty="0">
                <a:solidFill>
                  <a:srgbClr val="000000"/>
                </a:solidFill>
              </a:rPr>
              <a:t>→ Design’s up next!</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31</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4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4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400"/>
                                        <p:tgtEl>
                                          <p:spTgt spid="103"/>
                                        </p:tgtEl>
                                      </p:cBhvr>
                                    </p:animEffect>
                                  </p:childTnLst>
                                </p:cTn>
                              </p:par>
                              <p:par>
                                <p:cTn id="21" presetID="10" presetClass="entr" presetSubtype="0" fill="hold"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400"/>
                                        <p:tgtEl>
                                          <p:spTgt spid="104"/>
                                        </p:tgtEl>
                                      </p:cBhvr>
                                    </p:animEffect>
                                  </p:childTnLst>
                                </p:cTn>
                              </p:par>
                              <p:par>
                                <p:cTn id="24" presetID="10" presetClass="entr" presetSubtype="0" fill="hold" nodeType="with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400"/>
                                        <p:tgtEl>
                                          <p:spTgt spid="105"/>
                                        </p:tgtEl>
                                      </p:cBhvr>
                                    </p:animEffect>
                                  </p:childTnLst>
                                </p:cTn>
                              </p:par>
                              <p:par>
                                <p:cTn id="27" presetID="10" presetClass="entr" presetSubtype="0" fill="hold"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8"/>
                                        </p:tgtEl>
                                        <p:attrNameLst>
                                          <p:attrName>style.visibility</p:attrName>
                                        </p:attrNameLst>
                                      </p:cBhvr>
                                      <p:to>
                                        <p:strVal val="visible"/>
                                      </p:to>
                                    </p:set>
                                    <p:animEffect transition="in" filter="fade">
                                      <p:cBhvr>
                                        <p:cTn id="37" dur="400"/>
                                        <p:tgtEl>
                                          <p:spTgt spid="108"/>
                                        </p:tgtEl>
                                      </p:cBhvr>
                                    </p:animEffect>
                                  </p:childTnLst>
                                </p:cTn>
                              </p:par>
                              <p:par>
                                <p:cTn id="38" presetID="10" presetClass="entr" presetSubtype="0" fill="hold"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400"/>
                                        <p:tgtEl>
                                          <p:spTgt spid="112"/>
                                        </p:tgtEl>
                                      </p:cBhvr>
                                    </p:animEffect>
                                  </p:childTnLst>
                                </p:cTn>
                              </p:par>
                              <p:par>
                                <p:cTn id="52" presetID="10" presetClass="entr" presetSubtype="0" fill="hold" nodeType="withEffect">
                                  <p:stCondLst>
                                    <p:cond delay="0"/>
                                  </p:stCondLst>
                                  <p:childTnLst>
                                    <p:set>
                                      <p:cBhvr>
                                        <p:cTn id="53" dur="1" fill="hold">
                                          <p:stCondLst>
                                            <p:cond delay="0"/>
                                          </p:stCondLst>
                                        </p:cTn>
                                        <p:tgtEl>
                                          <p:spTgt spid="113"/>
                                        </p:tgtEl>
                                        <p:attrNameLst>
                                          <p:attrName>style.visibility</p:attrName>
                                        </p:attrNameLst>
                                      </p:cBhvr>
                                      <p:to>
                                        <p:strVal val="visible"/>
                                      </p:to>
                                    </p:set>
                                    <p:animEffect transition="in" filter="fade">
                                      <p:cBhvr>
                                        <p:cTn id="54" dur="400"/>
                                        <p:tgtEl>
                                          <p:spTgt spid="113"/>
                                        </p:tgtEl>
                                      </p:cBhvr>
                                    </p:animEffect>
                                  </p:childTnLst>
                                </p:cTn>
                              </p:par>
                              <p:par>
                                <p:cTn id="55" presetID="10" presetClass="entr" presetSubtype="0" fill="hold" nodeType="withEffect">
                                  <p:stCondLst>
                                    <p:cond delay="0"/>
                                  </p:stCondLst>
                                  <p:childTnLst>
                                    <p:set>
                                      <p:cBhvr>
                                        <p:cTn id="56" dur="1" fill="hold">
                                          <p:stCondLst>
                                            <p:cond delay="0"/>
                                          </p:stCondLst>
                                        </p:cTn>
                                        <p:tgtEl>
                                          <p:spTgt spid="114"/>
                                        </p:tgtEl>
                                        <p:attrNameLst>
                                          <p:attrName>style.visibility</p:attrName>
                                        </p:attrNameLst>
                                      </p:cBhvr>
                                      <p:to>
                                        <p:strVal val="visible"/>
                                      </p:to>
                                    </p:set>
                                    <p:animEffect transition="in" filter="fade">
                                      <p:cBhvr>
                                        <p:cTn id="57" dur="400"/>
                                        <p:tgtEl>
                                          <p:spTgt spid="114"/>
                                        </p:tgtEl>
                                      </p:cBhvr>
                                    </p:animEffect>
                                  </p:childTnLst>
                                </p:cTn>
                              </p:par>
                              <p:par>
                                <p:cTn id="58" presetID="10" presetClass="entr" presetSubtype="0" fill="hold" nodeType="with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7"/>
                                        </p:tgtEl>
                                        <p:attrNameLst>
                                          <p:attrName>style.visibility</p:attrName>
                                        </p:attrNameLst>
                                      </p:cBhvr>
                                      <p:to>
                                        <p:strVal val="visible"/>
                                      </p:to>
                                    </p:set>
                                    <p:animEffect transition="in" filter="fade">
                                      <p:cBhvr>
                                        <p:cTn id="68" dur="400"/>
                                        <p:tgtEl>
                                          <p:spTgt spid="117"/>
                                        </p:tgtEl>
                                      </p:cBhvr>
                                    </p:animEffect>
                                  </p:childTnLst>
                                </p:cTn>
                              </p:par>
                              <p:par>
                                <p:cTn id="69" presetID="10" presetClass="entr" presetSubtype="0" fill="hold" nodeType="withEffect">
                                  <p:stCondLst>
                                    <p:cond delay="0"/>
                                  </p:stCondLst>
                                  <p:childTnLst>
                                    <p:set>
                                      <p:cBhvr>
                                        <p:cTn id="70" dur="1" fill="hold">
                                          <p:stCondLst>
                                            <p:cond delay="0"/>
                                          </p:stCondLst>
                                        </p:cTn>
                                        <p:tgtEl>
                                          <p:spTgt spid="118"/>
                                        </p:tgtEl>
                                        <p:attrNameLst>
                                          <p:attrName>style.visibility</p:attrName>
                                        </p:attrNameLst>
                                      </p:cBhvr>
                                      <p:to>
                                        <p:strVal val="visible"/>
                                      </p:to>
                                    </p:set>
                                    <p:animEffect transition="in" filter="fade">
                                      <p:cBhvr>
                                        <p:cTn id="71" dur="400"/>
                                        <p:tgtEl>
                                          <p:spTgt spid="118"/>
                                        </p:tgtEl>
                                      </p:cBhvr>
                                    </p:animEffect>
                                  </p:childTnLst>
                                </p:cTn>
                              </p:par>
                              <p:par>
                                <p:cTn id="72" presetID="10" presetClass="entr" presetSubtype="0" fill="hold" nodeType="withEffect">
                                  <p:stCondLst>
                                    <p:cond delay="0"/>
                                  </p:stCondLst>
                                  <p:childTnLst>
                                    <p:set>
                                      <p:cBhvr>
                                        <p:cTn id="73" dur="1" fill="hold">
                                          <p:stCondLst>
                                            <p:cond delay="0"/>
                                          </p:stCondLst>
                                        </p:cTn>
                                        <p:tgtEl>
                                          <p:spTgt spid="90"/>
                                        </p:tgtEl>
                                        <p:attrNameLst>
                                          <p:attrName>style.visibility</p:attrName>
                                        </p:attrNameLst>
                                      </p:cBhvr>
                                      <p:to>
                                        <p:strVal val="visible"/>
                                      </p:to>
                                    </p:set>
                                    <p:animEffect transition="in" filter="fade">
                                      <p:cBhvr>
                                        <p:cTn id="74" dur="400"/>
                                        <p:tgtEl>
                                          <p:spTgt spid="90"/>
                                        </p:tgtEl>
                                      </p:cBhvr>
                                    </p:animEffect>
                                  </p:childTnLst>
                                </p:cTn>
                              </p:par>
                              <p:par>
                                <p:cTn id="75" presetID="10" presetClass="entr" presetSubtype="0" fill="hold" nodeType="withEffect">
                                  <p:stCondLst>
                                    <p:cond delay="0"/>
                                  </p:stCondLst>
                                  <p:childTnLst>
                                    <p:set>
                                      <p:cBhvr>
                                        <p:cTn id="76" dur="1" fill="hold">
                                          <p:stCondLst>
                                            <p:cond delay="0"/>
                                          </p:stCondLst>
                                        </p:cTn>
                                        <p:tgtEl>
                                          <p:spTgt spid="2"/>
                                        </p:tgtEl>
                                        <p:attrNameLst>
                                          <p:attrName>style.visibility</p:attrName>
                                        </p:attrNameLst>
                                      </p:cBhvr>
                                      <p:to>
                                        <p:strVal val="visible"/>
                                      </p:to>
                                    </p:set>
                                    <p:animEffect transition="in" filter="fade">
                                      <p:cBhvr>
                                        <p:cTn id="77" dur="400"/>
                                        <p:tgtEl>
                                          <p:spTgt spid="2"/>
                                        </p:tgtEl>
                                      </p:cBhvr>
                                    </p:animEffect>
                                  </p:childTnLst>
                                </p:cTn>
                              </p:par>
                              <p:par>
                                <p:cTn id="78" presetID="10" presetClass="entr" presetSubtype="0" fill="hold" nodeType="with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400"/>
                                        <p:tgtEl>
                                          <p:spTgt spid="5"/>
                                        </p:tgtEl>
                                      </p:cBhvr>
                                    </p:animEffect>
                                  </p:childTnLst>
                                </p:cTn>
                              </p:par>
                              <p:par>
                                <p:cTn id="81" presetID="10" presetClass="entr" presetSubtype="0" fill="hold" nodeType="withEffect">
                                  <p:stCondLst>
                                    <p:cond delay="0"/>
                                  </p:stCondLst>
                                  <p:childTnLst>
                                    <p:set>
                                      <p:cBhvr>
                                        <p:cTn id="82" dur="1" fill="hold">
                                          <p:stCondLst>
                                            <p:cond delay="0"/>
                                          </p:stCondLst>
                                        </p:cTn>
                                        <p:tgtEl>
                                          <p:spTgt spid="300"/>
                                        </p:tgtEl>
                                        <p:attrNameLst>
                                          <p:attrName>style.visibility</p:attrName>
                                        </p:attrNameLst>
                                      </p:cBhvr>
                                      <p:to>
                                        <p:strVal val="visible"/>
                                      </p:to>
                                    </p:set>
                                    <p:animEffect transition="in" filter="fade">
                                      <p:cBhvr>
                                        <p:cTn id="83" dur="400"/>
                                        <p:tgtEl>
                                          <p:spTgt spid="300"/>
                                        </p:tgtEl>
                                      </p:cBhvr>
                                    </p:animEffect>
                                  </p:childTnLst>
                                </p:cTn>
                              </p:par>
                              <p:par>
                                <p:cTn id="84" presetID="10" presetClass="entr" presetSubtype="0" fill="hold" nodeType="withEffect">
                                  <p:stCondLst>
                                    <p:cond delay="0"/>
                                  </p:stCondLst>
                                  <p:childTnLst>
                                    <p:set>
                                      <p:cBhvr>
                                        <p:cTn id="85" dur="1" fill="hold">
                                          <p:stCondLst>
                                            <p:cond delay="0"/>
                                          </p:stCondLst>
                                        </p:cTn>
                                        <p:tgtEl>
                                          <p:spTgt spid="301"/>
                                        </p:tgtEl>
                                        <p:attrNameLst>
                                          <p:attrName>style.visibility</p:attrName>
                                        </p:attrNameLst>
                                      </p:cBhvr>
                                      <p:to>
                                        <p:strVal val="visible"/>
                                      </p:to>
                                    </p:set>
                                    <p:animEffect transition="in" filter="fade">
                                      <p:cBhvr>
                                        <p:cTn id="8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ED0858-1AED-37B3-1F79-CBE5A16B2DA1}"/>
              </a:ext>
            </a:extLst>
          </p:cNvPr>
          <p:cNvSpPr>
            <a:spLocks noGrp="1"/>
          </p:cNvSpPr>
          <p:nvPr>
            <p:ph idx="1"/>
          </p:nvPr>
        </p:nvSpPr>
        <p:spPr/>
        <p:txBody>
          <a:bodyPr/>
          <a:lstStyle/>
          <a:p>
            <a:r>
              <a:rPr lang="en-US" dirty="0"/>
              <a:t>Please fill this out by 4 PM today</a:t>
            </a:r>
          </a:p>
          <a:p>
            <a:r>
              <a:rPr lang="en-US" dirty="0"/>
              <a:t>https://</a:t>
            </a:r>
            <a:r>
              <a:rPr lang="en-US" dirty="0" err="1"/>
              <a:t>docs.google.com</a:t>
            </a:r>
            <a:r>
              <a:rPr lang="en-US" dirty="0"/>
              <a:t>/forms/d/e/1FAIpQLSeP1KI_ooyPF0H7lG6yvj3li6VcINkZ1YczGPrPe__Ew0KjWg/</a:t>
            </a:r>
            <a:r>
              <a:rPr lang="en-US" dirty="0" err="1"/>
              <a:t>viewform?usp</a:t>
            </a:r>
            <a:r>
              <a:rPr lang="en-US" dirty="0"/>
              <a:t>=preview</a:t>
            </a:r>
          </a:p>
        </p:txBody>
      </p:sp>
      <p:sp>
        <p:nvSpPr>
          <p:cNvPr id="3" name="Title 2">
            <a:extLst>
              <a:ext uri="{FF2B5EF4-FFF2-40B4-BE49-F238E27FC236}">
                <a16:creationId xmlns:a16="http://schemas.microsoft.com/office/drawing/2014/main" id="{D83BBFEE-FAA6-E278-5211-3733A6796288}"/>
              </a:ext>
            </a:extLst>
          </p:cNvPr>
          <p:cNvSpPr>
            <a:spLocks noGrp="1"/>
          </p:cNvSpPr>
          <p:nvPr>
            <p:ph type="title"/>
          </p:nvPr>
        </p:nvSpPr>
        <p:spPr/>
        <p:txBody>
          <a:bodyPr>
            <a:normAutofit fontScale="90000"/>
          </a:bodyPr>
          <a:lstStyle/>
          <a:p>
            <a:r>
              <a:rPr lang="en-US" dirty="0"/>
              <a:t>In-class participation survey</a:t>
            </a:r>
          </a:p>
        </p:txBody>
      </p:sp>
      <p:sp>
        <p:nvSpPr>
          <p:cNvPr id="4" name="Slide Number Placeholder 3">
            <a:extLst>
              <a:ext uri="{FF2B5EF4-FFF2-40B4-BE49-F238E27FC236}">
                <a16:creationId xmlns:a16="http://schemas.microsoft.com/office/drawing/2014/main" id="{19B2D29E-4CA7-C936-E483-1B3F5233EE71}"/>
              </a:ext>
            </a:extLst>
          </p:cNvPr>
          <p:cNvSpPr>
            <a:spLocks noGrp="1"/>
          </p:cNvSpPr>
          <p:nvPr>
            <p:ph type="sldNum" sz="quarter" idx="4"/>
          </p:nvPr>
        </p:nvSpPr>
        <p:spPr/>
        <p:txBody>
          <a:bodyPr/>
          <a:lstStyle/>
          <a:p>
            <a:fld id="{B7EB45DA-9A0D-DC49-8E02-F30A5DDC21C3}" type="slidenum">
              <a:rPr lang="en-US" smtClean="0"/>
              <a:t>32</a:t>
            </a:fld>
            <a:endParaRPr lang="en-US"/>
          </a:p>
        </p:txBody>
      </p:sp>
      <p:pic>
        <p:nvPicPr>
          <p:cNvPr id="5" name="Picture 4">
            <a:extLst>
              <a:ext uri="{FF2B5EF4-FFF2-40B4-BE49-F238E27FC236}">
                <a16:creationId xmlns:a16="http://schemas.microsoft.com/office/drawing/2014/main" id="{83BFE7FB-9DD4-CA5D-C169-1D639E9FC423}"/>
              </a:ext>
            </a:extLst>
          </p:cNvPr>
          <p:cNvPicPr>
            <a:picLocks noChangeAspect="1"/>
          </p:cNvPicPr>
          <p:nvPr/>
        </p:nvPicPr>
        <p:blipFill>
          <a:blip r:embed="rId2"/>
          <a:stretch>
            <a:fillRect/>
          </a:stretch>
        </p:blipFill>
        <p:spPr>
          <a:xfrm>
            <a:off x="3206554" y="2956964"/>
            <a:ext cx="2730891" cy="2596032"/>
          </a:xfrm>
          <a:prstGeom prst="rect">
            <a:avLst/>
          </a:prstGeom>
        </p:spPr>
      </p:pic>
    </p:spTree>
    <p:extLst>
      <p:ext uri="{BB962C8B-B14F-4D97-AF65-F5344CB8AC3E}">
        <p14:creationId xmlns:p14="http://schemas.microsoft.com/office/powerpoint/2010/main" val="3007066689"/>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8593</TotalTime>
  <Words>9894</Words>
  <Application>Microsoft Macintosh PowerPoint</Application>
  <PresentationFormat>On-screen Show (4:3)</PresentationFormat>
  <Paragraphs>1052</Paragraphs>
  <Slides>32</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Architecture creates possibilities and constraints</vt:lpstr>
      <vt:lpstr>Architecture also affords a division of labor</vt:lpstr>
      <vt:lpstr>How do we choose among acceptable architectures?</vt:lpstr>
      <vt:lpstr>Two architectures. Which one is better?</vt:lpstr>
      <vt:lpstr>Weighted sums are not a decision-making approach</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Data processing: What sets the latency floor?</vt:lpstr>
      <vt:lpstr>What happens when architectural evidence gets cheaper?</vt:lpstr>
      <vt:lpstr>Architect one system</vt:lpstr>
      <vt:lpstr>Exercise: Here is the specification</vt:lpstr>
      <vt:lpstr>Defend the architectural decision</vt:lpstr>
      <vt:lpstr>Specification → Architecture → Design’s up next!</vt:lpstr>
      <vt:lpstr>In-class participation survey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412</cp:revision>
  <dcterms:created xsi:type="dcterms:W3CDTF">2020-02-21T23:00:33Z</dcterms:created>
  <dcterms:modified xsi:type="dcterms:W3CDTF">2026-09-15T17:20:10Z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