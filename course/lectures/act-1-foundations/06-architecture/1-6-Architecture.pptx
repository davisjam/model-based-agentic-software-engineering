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29.xml" ContentType="application/vnd.openxmlformats-officedocument.presentationml.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0"/>
  </p:notesMasterIdLst>
  <p:sldIdLst>
    <p:sldId id="517" r:id="rId2"/>
    <p:sldId id="738" r:id="rId3"/>
    <p:sldId id="762" r:id="rId35"/>
    <p:sldId id="761" r:id="rId4"/>
    <p:sldId id="751" r:id="rId5"/>
    <p:sldId id="744" r:id="rId6"/>
    <p:sldId id="651" r:id="rId7"/>
    <p:sldId id="746" r:id="rId8"/>
    <p:sldId id="747" r:id="rId9"/>
    <p:sldId id="748" r:id="rId10"/>
    <p:sldId id="749" r:id="rId11"/>
    <p:sldId id="750" r:id="rId12"/>
    <p:sldId id="701" r:id="rId13"/>
    <p:sldId id="752" r:id="rId14"/>
    <p:sldId id="731" r:id="rId15"/>
    <p:sldId id="712" r:id="rId16"/>
    <p:sldId id="713" r:id="rId17"/>
    <p:sldId id="735" r:id="rId18"/>
    <p:sldId id="753" r:id="rId19"/>
    <p:sldId id="720" r:id="rId20"/>
    <p:sldId id="754" r:id="rId21"/>
    <p:sldId id="755" r:id="rId22"/>
    <p:sldId id="638" r:id="rId23"/>
    <p:sldId id="756" r:id="rId24"/>
    <p:sldId id="740" r:id="rId25"/>
    <p:sldId id="759" r:id="rId26"/>
    <p:sldId id="757" r:id="rId27"/>
    <p:sldId id="739" r:id="rId28"/>
    <p:sldId id="741"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1" autoAdjust="0"/>
    <p:restoredTop sz="56164"/>
  </p:normalViewPr>
  <p:slideViewPr>
    <p:cSldViewPr snapToGrid="0" snapToObjects="1">
      <p:cViewPr varScale="1">
        <p:scale>
          <a:sx n="64" d="100"/>
          <a:sy n="64" d="100"/>
        </p:scale>
        <p:origin x="1944"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 Id="rId35" Type="http://schemas.openxmlformats.org/officeDocument/2006/relationships/slide" Target="slides/slide29.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on slide 3, after the problem that motivates it.</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last click is the point.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whole trick. Each view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yesterday's acceptable-realizations argument and deliver the definition of architecture orally.</a:t>
            </a:r>
          </a:p>
          <a:p>
            <a:endParaRPr lang="en-US" dirty="0"/>
          </a:p>
          <a:p>
            <a:r>
              <a:rPr lang="en-US" dirty="0"/>
              <a:t>- The figure is yesterday's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yesterday on purpose.</a:t>
            </a:r>
          </a:p>
          <a:p>
            <a:endParaRPr lang="en-US" dirty="0"/>
          </a:p>
          <a:p>
            <a:r>
              <a:rPr lang="en-US" dirty="0"/>
              <a:t>=====</a:t>
            </a:r>
          </a:p>
          <a:p>
            <a:r>
              <a:rPr lang="en-US" dirty="0"/>
              <a:t>This is yesterday's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Today we pick one of the acceptable systems. And the moment we do, yesterday's question flips: not 'is this system acceptable?' but 'how should this system be organized?'</a:t>
            </a:r>
          </a:p>
          <a:p>
            <a:endParaRPr lang="en-US" dirty="0"/>
          </a:p>
          <a:p>
            <a:r>
              <a:rPr lang="en-US"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today's map.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latency, security, change, failure are decided here, not discovered later.</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sound structural. The fourth is why the structure matters: we do not draw boxes for their own sake, we draw them because the drawing determines what the system can promise.</a:t>
            </a:r>
          </a:p>
          <a:p>
            <a:endParaRPr dirty="0"/>
          </a:p>
          <a:p>
            <a:r>
              <a:rPr dirty="0"/>
              <a:t>Of these, the boundary question is where the consequences concentrate. Let us look at it properly.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Three callout clicks. Let students read the verdict line first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Four clicks: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capability and performance.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Three clicks: repository side,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Five clicks: downstream C, producer and bus, consumers, consequences,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independent evolution.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Four clicks: domain defines the port, adapter and database,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independent evolution.</a:t>
            </a:r>
          </a:p>
          <a:p>
            <a:r>
              <a:rPr dirty="0"/>
              <a:t>ANIMATE</a:t>
            </a:r>
          </a:p>
          <a:p>
            <a:r>
              <a:rPr dirty="0"/>
              <a:t>Infrastructure: depend on it directly, or make it conform to your interface — simplicity against isolation from change.</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guess. Real evidence; maximum betting.</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delta stays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change stays behind the seam.</a:t>
            </a:r>
          </a:p>
          <a:p>
            <a:endParaRPr dirty="0"/>
          </a:p>
          <a:p>
            <a:r>
              <a:rPr dirty="0"/>
              <a:t>Be precise about the rung we are standing on. The model establishes a structural fact: no dependency crosses the boundary. That is a guarantee about the graph — and it buys strong qualitative confidence about the change, provided the graph is faithful to the code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sets a latency floor, and decomposition is a candidate change you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critical path A to B to F, 120 ms. Everything off the path is latency-irrelevant.</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That is not an implementation detail; that is a floor the organization itself imposes. Given these dependencies and modeled costs, the critical path establishes the predicted latency floor for this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yesterday's spectrum: a number, from a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choosing still takes a preference, a stake, and a person who owns the outcome. The betting is what you can now buy down.</a:t>
            </a:r>
          </a:p>
          <a:p>
            <a:endParaRPr dirty="0"/>
          </a:p>
          <a:p>
            <a:r>
              <a:rPr dirty="0"/>
              <a:t>That is the full toolkit. Time to use all of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specification excerpt aloud once: two-second latency, privacy, the expected change, availability, consistency.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test from slide 5?);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If your second candidate is a strawman, you have done the exercise wrong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slide 3,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 xml:space="preserve">In specification we separate obligations. </a:t>
            </a:r>
            <a:r>
              <a:rPr lang="en-US" sz="1800" b="0" i="0" dirty="0">
                <a:solidFill>
                  <a:srgbClr val="000000"/>
                </a:solidFill>
              </a:rPr>
              <a:t>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STATE VIEW</a:t>
            </a:r>
          </a:p>
          <a:p>
            <a:pPr algn="ctr">
              <a:spcBef>
                <a:spcPts val="204"/>
              </a:spcBef>
              <a:buNone/>
            </a:pPr>
            <a:r>
              <a:rPr lang="en-US" sz="2700" b="0" i="0" dirty="0">
                <a:solidFill>
                  <a:srgbClr val="000000"/>
                </a:solidFill>
              </a:rPr>
              <a:t>asleep  →  awake</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ACTIVITY</a:t>
            </a:r>
          </a:p>
          <a:p>
            <a:pPr algn="ctr">
              <a:spcBef>
                <a:spcPts val="204"/>
              </a:spcBef>
              <a:buNone/>
            </a:pPr>
            <a:r>
              <a:rPr lang="en-US" sz="2700" b="0" i="0" dirty="0">
                <a:solidFill>
                  <a:srgbClr val="000000"/>
                </a:solidFill>
              </a:rPr>
              <a:t>collect  →  classify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SCHEMA</a:t>
            </a:r>
          </a:p>
          <a:p>
            <a:pPr algn="ctr">
              <a:spcBef>
                <a:spcPts val="204"/>
              </a:spcBef>
              <a:buNone/>
            </a:pPr>
            <a:r>
              <a:rPr lang="en-US" sz="2400" b="0" i="0" dirty="0">
                <a:solidFill>
                  <a:srgbClr val="000000"/>
                </a:solidFill>
              </a:rPr>
              <a:t>Night Summary</a:t>
            </a:r>
          </a:p>
          <a:p>
            <a:pPr algn="ctr">
              <a:spcBef>
                <a:spcPts val="136"/>
              </a:spcBef>
              <a:buNone/>
            </a:pPr>
            <a:r>
              <a:rPr lang="en-US" sz="2400" b="0" i="0" dirty="0">
                <a:solidFill>
                  <a:srgbClr val="000000"/>
                </a:solidFill>
              </a:rPr>
              <a:t>Advice</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TIMING / OTHER</a:t>
            </a:r>
          </a:p>
          <a:p>
            <a:pPr algn="ctr">
              <a:spcBef>
                <a:spcPts val="204"/>
              </a:spcBef>
              <a:buNone/>
            </a:pPr>
            <a:r>
              <a:rPr lang="en-US" sz="2400" b="0" i="0" dirty="0">
                <a:solidFill>
                  <a:srgbClr val="000000"/>
                </a:solidFill>
              </a:rPr>
              <a:t>≤ 60 seconds</a:t>
            </a:r>
          </a:p>
          <a:p>
            <a:pPr algn="ctr">
              <a:spcBef>
                <a:spcPts val="136"/>
              </a:spcBef>
              <a:buNone/>
            </a:pPr>
            <a:r>
              <a:rPr lang="en-US" sz="2400" b="0" i="0" dirty="0">
                <a:solidFill>
                  <a:srgbClr val="000000"/>
                </a:solidFill>
              </a:rPr>
              <a:t>privacy · 7 nights</a:t>
            </a:r>
          </a:p>
        </p:txBody>
      </p:sp>
      <p:cxnSp>
        <p:nvCxnSpPr>
          <p:cNvPr id="64" name="Arr64"/>
          <p:cNvCxnSpPr/>
          <p:nvPr/>
        </p:nvCxnSpPr>
        <p:spPr>
          <a:xfrm>
            <a:off x="3040002" y="2522900"/>
            <a:ext cx="846554" cy="716300"/>
          </a:xfrm>
          <a:prstGeom prst="line">
            <a:avLst/>
          </a:prstGeom>
          <a:ln w="59831">
            <a:solidFill>
              <a:srgbClr val="8E6F3E"/>
            </a:solidFill>
            <a:tailEnd type="triangle" w="med" len="med"/>
          </a:ln>
        </p:spPr>
      </p:cxnSp>
      <p:cxnSp>
        <p:nvCxnSpPr>
          <p:cNvPr id="65" name="Arr65"/>
          <p:cNvCxnSpPr/>
          <p:nvPr/>
        </p:nvCxnSpPr>
        <p:spPr>
          <a:xfrm flipH="1">
            <a:off x="5257444" y="2522900"/>
            <a:ext cx="846554" cy="716300"/>
          </a:xfrm>
          <a:prstGeom prst="line">
            <a:avLst/>
          </a:prstGeom>
          <a:ln w="59831">
            <a:solidFill>
              <a:srgbClr val="8E6F3E"/>
            </a:solidFill>
            <a:tailEnd type="triangle" w="med" len="med"/>
          </a:ln>
        </p:spPr>
      </p:cxnSp>
      <p:cxnSp>
        <p:nvCxnSpPr>
          <p:cNvPr id="66" name="Arr66"/>
          <p:cNvCxnSpPr/>
          <p:nvPr/>
        </p:nvCxnSpPr>
        <p:spPr>
          <a:xfrm flipV="1">
            <a:off x="3044408" y="4396300"/>
            <a:ext cx="842148" cy="712600"/>
          </a:xfrm>
          <a:prstGeom prst="line">
            <a:avLst/>
          </a:prstGeom>
          <a:ln w="59831">
            <a:solidFill>
              <a:srgbClr val="8E6F3E"/>
            </a:solidFill>
            <a:tailEnd type="triangle" w="med" len="med"/>
          </a:ln>
        </p:spPr>
      </p:cxnSp>
      <p:cxnSp>
        <p:nvCxnSpPr>
          <p:cNvPr id="67" name="Arr67"/>
          <p:cNvCxnSpPr/>
          <p:nvPr/>
        </p:nvCxnSpPr>
        <p:spPr>
          <a:xfrm flipH="1" flipV="1">
            <a:off x="5257444" y="4396300"/>
            <a:ext cx="842148" cy="712600"/>
          </a:xfrm>
          <a:prstGeom prst="line">
            <a:avLst/>
          </a:prstGeom>
          <a:ln w="59831">
            <a:solidFill>
              <a:srgbClr val="8E6F3E"/>
            </a:solidFill>
            <a:tailEnd type="triangle" w="med" len="med"/>
          </a:ln>
        </p:spPr>
      </p:cxnSp>
      <p:sp>
        <p:nvSpPr>
          <p:cNvPr id="68" name="OneMachine"/>
          <p:cNvSpPr/>
          <p:nvPr/>
        </p:nvSpPr>
        <p:spPr>
          <a:xfrm>
            <a:off x="3029200" y="3239200"/>
            <a:ext cx="3085600" cy="1157100"/>
          </a:xfrm>
          <a:prstGeom prst="rect">
            <a:avLst/>
          </a:prstGeom>
          <a:solidFill>
            <a:srgbClr val="8E6F3E"/>
          </a:solidFill>
          <a:ln>
            <a:noFill/>
          </a:ln>
        </p:spPr>
        <p:txBody>
          <a:bodyPr wrap="square" lIns="109728" tIns="82296" rIns="109728" bIns="82296" anchor="ctr">
            <a:normAutofit fontScale="92500"/>
          </a:bodyPr>
          <a:lstStyle/>
          <a:p>
            <a:pPr algn="ctr">
              <a:buNone/>
            </a:pPr>
            <a:r>
              <a:rPr lang="en-US" sz="3800" b="1" i="0" dirty="0">
                <a:solidFill>
                  <a:srgbClr val="FFFFFF"/>
                </a:solidFill>
              </a:rPr>
              <a:t>ONE MACHINE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400"/>
                                        <p:tgtEl>
                                          <p:spTgt spid="6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35"/>
            <a:ext cx="0" cy="489226"/>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6167783"/>
            <a:ext cx="7772400" cy="42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Architecture: Describing a “B”</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2"/>
                                        </p:tgtEl>
                                        <p:attrNameLst>
                                          <p:attrName>style.visibility</p:attrName>
                                        </p:attrNameLst>
                                      </p:cBhvr>
                                      <p:to>
                                        <p:strVal val="visible"/>
                                      </p:to>
                                    </p:set>
                                    <p:animEffect transition="in" filter="fade">
                                      <p:cBhvr>
                                        <p:cTn id="44" dur="400"/>
                                        <p:tgtEl>
                                          <p:spTgt spid="2"/>
                                        </p:tgtEl>
                                      </p:cBhvr>
                                    </p:animEffect>
                                  </p:childTnLst>
                                </p:cTn>
                              </p:par>
                              <p:par>
                                <p:cTn id="45" presetID="1" presetClass="entr" presetSubtype="0" fill="hold" nodeType="withEffect">
                                  <p:stCondLst>
                                    <p:cond delay="0"/>
                                  </p:stCondLst>
                                  <p:childTnLst>
                                    <p:set>
                                      <p:cBhvr>
                                        <p:cTn id="46" dur="1" fill="hold">
                                          <p:stCondLst>
                                            <p:cond delay="0"/>
                                          </p:stCondLst>
                                        </p:cTn>
                                        <p:tgtEl>
                                          <p:spTgt spid="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4</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61" name="Band61"/>
          <p:cNvSpPr/>
          <p:nvPr/>
        </p:nvSpPr>
        <p:spPr>
          <a:xfrm>
            <a:off x="279400" y="4230000"/>
            <a:ext cx="8585200" cy="820000"/>
          </a:xfrm>
          <a:prstGeom prst="rect">
            <a:avLst/>
          </a:prstGeom>
          <a:solidFill>
            <a:srgbClr val="F5F1E8"/>
          </a:solidFill>
          <a:ln>
            <a:noFill/>
          </a:ln>
        </p:spPr>
        <p:txBody>
          <a:bodyPr wrap="square" lIns="109728" tIns="82296" rIns="109728" bIns="82296" anchor="ctr">
            <a:normAutofit lnSpcReduction="10000"/>
          </a:bodyPr>
          <a:lstStyle/>
          <a:p>
            <a:pPr algn="ctr">
              <a:buNone/>
            </a:pPr>
            <a:r>
              <a:rPr lang="en-US" sz="2200" b="1" i="0" dirty="0">
                <a:solidFill>
                  <a:srgbClr val="8E6F3E"/>
                </a:solidFill>
              </a:rPr>
              <a:t>CHANGE TOGETHER? · FAIL TOGETHER? · SCALE TOGETHER? · CONSISTENT TOGETHER? · SECURE TOGETHER? · OWNED TOGETHER?</a:t>
            </a:r>
          </a:p>
        </p:txBody>
      </p:sp>
      <p:sp>
        <p:nvSpPr>
          <p:cNvPr id="62" name="T62"/>
          <p:cNvSpPr txBox="1"/>
          <p:nvPr/>
        </p:nvSpPr>
        <p:spPr>
          <a:xfrm>
            <a:off x="685800" y="5120000"/>
            <a:ext cx="7772400" cy="42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9086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246000" y="14330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246000" y="20126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246000" y="25922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246000" y="31718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246000" y="1433000"/>
            <a:ext cx="2208000" cy="23184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50000"/>
            <a:ext cx="0" cy="2650000"/>
          </a:xfrm>
          <a:prstGeom prst="line">
            <a:avLst/>
          </a:prstGeom>
          <a:ln w="28575">
            <a:solidFill>
              <a:srgbClr val="C9B991"/>
            </a:solidFill>
            <a:prstDash val="dash"/>
          </a:ln>
        </p:spPr>
      </p:cxnSp>
      <p:sp>
        <p:nvSpPr>
          <p:cNvPr id="107" name="OrgBLbl"/>
          <p:cNvSpPr txBox="1"/>
          <p:nvPr/>
        </p:nvSpPr>
        <p:spPr>
          <a:xfrm>
            <a:off x="4592000" y="9155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99000" y="1439900"/>
            <a:ext cx="1863000" cy="69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7007000" y="1439900"/>
            <a:ext cx="1863000" cy="690000"/>
          </a:xfrm>
          <a:prstGeom prst="rect">
            <a:avLst/>
          </a:prstGeom>
          <a:solidFill>
            <a:srgbClr val="F5F1E8"/>
          </a:solidFill>
          <a:ln w="17526">
            <a:solidFill>
              <a:srgbClr val="C9B991"/>
            </a:solidFill>
          </a:ln>
        </p:spPr>
        <p:txBody>
          <a:bodyPr wrap="square" lIns="54864" tIns="27432" rIns="54864" bIns="27432" anchor="ctr">
            <a:normAutofit fontScale="92500"/>
          </a:bodyPr>
          <a:lstStyle/>
          <a:p>
            <a:pPr algn="ctr">
              <a:buNone/>
            </a:pPr>
            <a:r>
              <a:rPr lang="en-US" sz="2400" b="0" i="0" dirty="0">
                <a:solidFill>
                  <a:srgbClr val="5C4826"/>
                </a:solidFill>
              </a:rPr>
              <a:t>model · advise</a:t>
            </a:r>
          </a:p>
        </p:txBody>
      </p:sp>
      <p:sp>
        <p:nvSpPr>
          <p:cNvPr id="110" name="OrgBShare"/>
          <p:cNvSpPr/>
          <p:nvPr/>
        </p:nvSpPr>
        <p:spPr>
          <a:xfrm>
            <a:off x="5903000" y="3054500"/>
            <a:ext cx="1863000" cy="69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a1"/>
          <p:cNvCxnSpPr/>
          <p:nvPr/>
        </p:nvCxnSpPr>
        <p:spPr>
          <a:xfrm>
            <a:off x="5730500" y="2129900"/>
            <a:ext cx="793500" cy="924600"/>
          </a:xfrm>
          <a:prstGeom prst="line">
            <a:avLst/>
          </a:prstGeom>
          <a:ln w="59150">
            <a:solidFill>
              <a:srgbClr val="8E6F3E"/>
            </a:solidFill>
            <a:tailEnd type="triangle" w="med" len="med"/>
          </a:ln>
        </p:spPr>
      </p:cxnSp>
      <p:cxnSp>
        <p:nvCxnSpPr>
          <p:cNvPr id="112" name="OrgBa2"/>
          <p:cNvCxnSpPr/>
          <p:nvPr/>
        </p:nvCxnSpPr>
        <p:spPr>
          <a:xfrm flipH="1">
            <a:off x="7145000" y="2129900"/>
            <a:ext cx="793500" cy="924600"/>
          </a:xfrm>
          <a:prstGeom prst="line">
            <a:avLst/>
          </a:prstGeom>
          <a:ln w="59150">
            <a:solidFill>
              <a:srgbClr val="8E6F3E"/>
            </a:solidFill>
            <a:tailEnd type="triangle" w="med" len="med"/>
          </a:ln>
        </p:spPr>
      </p:cxnSp>
      <p:sp>
        <p:nvSpPr>
          <p:cNvPr id="113" name="Cap"/>
          <p:cNvSpPr txBox="1"/>
          <p:nvPr/>
        </p:nvSpPr>
        <p:spPr>
          <a:xfrm>
            <a:off x="685800" y="3790000"/>
            <a:ext cx="7772400" cy="43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825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organizations?</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under tradeoffs.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pic>
        <p:nvPicPr>
          <p:cNvPr id="60" name="Think Pair Share banner" descr="Think, Pair, Share"/>
          <p:cNvPicPr>
            <a:picLocks noChangeAspect="1"/>
          </p:cNvPicPr>
          <p:nvPr/>
        </p:nvPicPr>
        <p:blipFill>
          <a:blip r:embed="rId3"/>
          <a:stretch>
            <a:fillRect/>
          </a:stretch>
        </p:blipFill>
        <p:spPr>
          <a:xfrm>
            <a:off x="482497" y="764355"/>
            <a:ext cx="3871754" cy="1114596"/>
          </a:xfrm>
          <a:prstGeom prst="rect">
            <a:avLst/>
          </a:prstGeom>
        </p:spPr>
      </p:pic>
      <p:sp>
        <p:nvSpPr>
          <p:cNvPr id="101" name="C101"/>
          <p:cNvSpPr/>
          <p:nvPr/>
        </p:nvSpPr>
        <p:spPr>
          <a:xfrm>
            <a:off x="3634500" y="18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8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5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5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5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31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31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31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8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8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8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44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44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44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xml:space="preserve">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  A WINS  🏆</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FFFFF"/>
          </a:solidFill>
          <a:ln w="15875">
            <a:solidFill>
              <a:srgbClr val="B23B3B"/>
            </a:solidFill>
          </a:ln>
        </p:spPr>
        <p:txBody>
          <a:bodyPr wrap="square" lIns="54864" tIns="27432" rIns="54864" bIns="27432" anchor="ctr">
            <a:normAutofit/>
          </a:bodyPr>
          <a:lstStyle/>
          <a:p>
            <a:pPr algn="ctr">
              <a:buNone/>
            </a:pPr>
            <a:r>
              <a:rPr lang="en-US" sz="1600" b="1" i="0" dirty="0">
                <a:solidFill>
                  <a:srgbClr val="B23B3B"/>
                </a:solidFill>
              </a:rPr>
              <a:t>WHY .30?</a:t>
            </a:r>
          </a:p>
        </p:txBody>
      </p:sp>
      <p:cxnSp>
        <p:nvCxnSpPr>
          <p:cNvPr id="121" name="CalloutArw1"/>
          <p:cNvCxnSpPr/>
          <p:nvPr/>
        </p:nvCxnSpPr>
        <p:spPr>
          <a:xfrm>
            <a:off x="1270000" y="1620000"/>
            <a:ext cx="2100000" cy="380000"/>
          </a:xfrm>
          <a:prstGeom prst="line">
            <a:avLst/>
          </a:prstGeom>
          <a:ln w="35719">
            <a:solidFill>
              <a:srgbClr val="B23B3B"/>
            </a:solidFill>
            <a:tailEnd type="triangle" w="med" len="med"/>
          </a:ln>
        </p:spPr>
      </p:cxnSp>
      <p:sp>
        <p:nvSpPr>
          <p:cNvPr id="122" name="Callout2"/>
          <p:cNvSpPr/>
          <p:nvPr/>
        </p:nvSpPr>
        <p:spPr>
          <a:xfrm>
            <a:off x="7560000" y="1150000"/>
            <a:ext cx="1520000" cy="640000"/>
          </a:xfrm>
          <a:prstGeom prst="roundRect">
            <a:avLst/>
          </a:prstGeom>
          <a:solidFill>
            <a:srgbClr val="FFFFFF"/>
          </a:solidFill>
          <a:ln w="15875">
            <a:solidFill>
              <a:srgbClr val="B23B3B"/>
            </a:solidFill>
          </a:ln>
        </p:spPr>
        <p:txBody>
          <a:bodyPr wrap="square" lIns="54864" tIns="27432" rIns="54864" bIns="27432" anchor="ctr">
            <a:normAutofit lnSpcReduction="10000"/>
          </a:bodyPr>
          <a:lstStyle/>
          <a:p>
            <a:pPr algn="ctr">
              <a:buNone/>
            </a:pPr>
            <a:r>
              <a:rPr lang="en-US" sz="1600" b="1" i="0" dirty="0">
                <a:solidFill>
                  <a:srgbClr val="B23B3B"/>
                </a:solidFill>
              </a:rPr>
              <a:t>WHAT IS</a:t>
            </a:r>
          </a:p>
          <a:p>
            <a:pPr algn="ctr">
              <a:spcBef>
                <a:spcPts val="300"/>
              </a:spcBef>
              <a:buNone/>
            </a:pPr>
            <a:r>
              <a:rPr lang="en-US" sz="1600" b="1" i="0" dirty="0">
                <a:solidFill>
                  <a:srgbClr val="B23B3B"/>
                </a:solidFill>
              </a:rPr>
              <a:t>A “5”?</a:t>
            </a:r>
          </a:p>
        </p:txBody>
      </p:sp>
      <p:cxnSp>
        <p:nvCxnSpPr>
          <p:cNvPr id="123" name="CalloutArw2"/>
          <p:cNvCxnSpPr/>
          <p:nvPr/>
        </p:nvCxnSpPr>
        <p:spPr>
          <a:xfrm flipH="1">
            <a:off x="6040000" y="1785000"/>
            <a:ext cx="1620000" cy="55000"/>
          </a:xfrm>
          <a:prstGeom prst="line">
            <a:avLst/>
          </a:prstGeom>
          <a:ln w="35719">
            <a:solidFill>
              <a:srgbClr val="B23B3B"/>
            </a:solidFill>
            <a:tailEnd type="triangle" w="med" len="med"/>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450000"/>
            <a:ext cx="1440000" cy="1750000"/>
          </a:xfrm>
          <a:prstGeom prst="roundRect">
            <a:avLst/>
          </a:prstGeom>
          <a:solidFill>
            <a:srgbClr val="FFFFFF"/>
          </a:solidFill>
          <a:ln w="15875">
            <a:solidFill>
              <a:srgbClr val="B23B3B"/>
            </a:solidFill>
          </a:ln>
        </p:spPr>
        <p:txBody>
          <a:bodyPr wrap="square" lIns="45720" tIns="27432" rIns="45720" bIns="27432" anchor="ctr">
            <a:normAutofit/>
          </a:bodyPr>
          <a:lstStyle/>
          <a:p>
            <a:pPr algn="ctr">
              <a:buNone/>
            </a:pPr>
            <a:r>
              <a:rPr lang="en-US" sz="1500" b="1" i="0" dirty="0">
                <a:solidFill>
                  <a:srgbClr val="B23B3B"/>
                </a:solidFill>
              </a:rPr>
              <a:t>WHY CAN COST</a:t>
            </a:r>
          </a:p>
          <a:p>
            <a:pPr algn="ctr">
              <a:spcBef>
                <a:spcPts val="300"/>
              </a:spcBef>
              <a:buNone/>
            </a:pPr>
            <a:r>
              <a:rPr lang="en-US" sz="1500" b="1" i="0" dirty="0">
                <a:solidFill>
                  <a:srgbClr val="B23B3B"/>
                </a:solidFill>
              </a:rPr>
              <a:t>COMPENSATE FOR</a:t>
            </a:r>
          </a:p>
          <a:p>
            <a:pPr algn="ctr">
              <a:spcBef>
                <a:spcPts val="300"/>
              </a:spcBef>
              <a:buNone/>
            </a:pPr>
            <a:r>
              <a:rPr lang="en-US" sz="15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400"/>
                                        <p:tgtEl>
                                          <p:spTgt spid="1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2"/>
                                        </p:tgtEl>
                                        <p:attrNameLst>
                                          <p:attrName>style.visibility</p:attrName>
                                        </p:attrNameLst>
                                      </p:cBhvr>
                                      <p:to>
                                        <p:strVal val="visible"/>
                                      </p:to>
                                    </p:set>
                                    <p:animEffect transition="in" filter="fade">
                                      <p:cBhvr>
                                        <p:cTn id="15" dur="400"/>
                                        <p:tgtEl>
                                          <p:spTgt spid="122"/>
                                        </p:tgtEl>
                                      </p:cBhvr>
                                    </p:animEffect>
                                  </p:childTnLst>
                                </p:cTn>
                              </p:par>
                              <p:par>
                                <p:cTn id="16" presetID="10" presetClass="entr" presetSubtype="0" fill="hold" nodeType="withEffect">
                                  <p:stCondLst>
                                    <p:cond delay="0"/>
                                  </p:stCondLst>
                                  <p:childTnLst>
                                    <p:set>
                                      <p:cBhvr>
                                        <p:cTn id="17" dur="1" fill="hold">
                                          <p:stCondLst>
                                            <p:cond delay="0"/>
                                          </p:stCondLst>
                                        </p:cTn>
                                        <p:tgtEl>
                                          <p:spTgt spid="123"/>
                                        </p:tgtEl>
                                        <p:attrNameLst>
                                          <p:attrName>style.visibility</p:attrName>
                                        </p:attrNameLst>
                                      </p:cBhvr>
                                      <p:to>
                                        <p:strVal val="visible"/>
                                      </p:to>
                                    </p:set>
                                    <p:animEffect transition="in" filter="fade">
                                      <p:cBhvr>
                                        <p:cTn id="18" dur="400"/>
                                        <p:tgtEl>
                                          <p:spTgt spid="1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4"/>
                                        </p:tgtEl>
                                        <p:attrNameLst>
                                          <p:attrName>style.visibility</p:attrName>
                                        </p:attrNameLst>
                                      </p:cBhvr>
                                      <p:to>
                                        <p:strVal val="visible"/>
                                      </p:to>
                                    </p:set>
                                    <p:animEffect transition="in" filter="fade">
                                      <p:cBhvr>
                                        <p:cTn id="23" dur="400"/>
                                        <p:tgtEl>
                                          <p:spTgt spid="124"/>
                                        </p:tgtEl>
                                      </p:cBhvr>
                                    </p:animEffect>
                                  </p:childTnLst>
                                </p:cTn>
                              </p:par>
                              <p:par>
                                <p:cTn id="24" presetID="10" presetClass="entr" presetSubtype="0" fill="hold" nodeType="withEffect">
                                  <p:stCondLst>
                                    <p:cond delay="0"/>
                                  </p:stCondLst>
                                  <p:childTnLst>
                                    <p:set>
                                      <p:cBhvr>
                                        <p:cTn id="25" dur="1" fill="hold">
                                          <p:stCondLst>
                                            <p:cond delay="0"/>
                                          </p:stCondLst>
                                        </p:cTn>
                                        <p:tgtEl>
                                          <p:spTgt spid="125"/>
                                        </p:tgtEl>
                                        <p:attrNameLst>
                                          <p:attrName>style.visibility</p:attrName>
                                        </p:attrNameLst>
                                      </p:cBhvr>
                                      <p:to>
                                        <p:strVal val="visible"/>
                                      </p:to>
                                    </p:set>
                                    <p:animEffect transition="in" filter="fade">
                                      <p:cBhvr>
                                        <p:cTn id="26"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fontScale="92500" lnSpcReduction="20000"/>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22860">
            <a:solidFill>
              <a:srgbClr val="B23B3B"/>
            </a:solidFill>
          </a:ln>
        </p:spPr>
        <p:txBody>
          <a:bodyPr wrap="square" lIns="54864" tIns="27432" rIns="54864" bIns="27432" anchor="ctr">
            <a:normAutofit/>
          </a:bodyPr>
          <a:lstStyle/>
          <a:p>
            <a:pPr algn="ctr">
              <a:buNone/>
            </a:pPr>
            <a:r>
              <a:rPr lang="en-US" sz="2600" b="1" i="0" dirty="0">
                <a:solidFill>
                  <a:srgbClr val="5C4826"/>
                </a:solidFill>
              </a:rPr>
              <a:t>B</a:t>
            </a:r>
          </a:p>
          <a:p>
            <a:pPr algn="ctr">
              <a:spcBef>
                <a:spcPts val="480"/>
              </a:spcBef>
              <a:buNone/>
            </a:pPr>
            <a:r>
              <a:rPr lang="en-US" sz="2600" b="1" i="0" dirty="0">
                <a:solidFill>
                  <a:srgbClr val="B23B3B"/>
                </a:solidFill>
              </a:rPr>
              <a:t>✗</a:t>
            </a:r>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625000" y="34062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100"/>
                                        </p:tgtEl>
                                        <p:attrNameLst>
                                          <p:attrName>style.visibility</p:attrName>
                                        </p:attrNameLst>
                                      </p:cBhvr>
                                      <p:to>
                                        <p:strVal val="visible"/>
                                      </p:to>
                                    </p:set>
                                    <p:animEffect transition="in" filter="fade">
                                      <p:cBhvr>
                                        <p:cTn id="8" dur="400"/>
                                        <p:tgtEl>
                                          <p:spTgt spid="100"/>
                                        </p:tgtEl>
                                      </p:cBhvr>
                                    </p:animEffect>
                                  </p:childTnLst>
                                </p:cTn>
                              </p:par>
                              <p:par>
                                <p:cTn id="9" presetID="10" presetClass="entr" presetSubtype="0" fill="hold"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400"/>
                                        <p:tgtEl>
                                          <p:spTgt spid="101"/>
                                        </p:tgtEl>
                                      </p:cBhvr>
                                    </p:animEffect>
                                  </p:childTnLst>
                                </p:cTn>
                              </p:par>
                              <p:par>
                                <p:cTn id="12" presetID="10" presetClass="entr" presetSubtype="0" fill="hold" nodeType="withEffect">
                                  <p:stCondLst>
                                    <p:cond delay="0"/>
                                  </p:stCondLst>
                                  <p:childTnLst>
                                    <p:set>
                                      <p:cBhvr>
                                        <p:cTn id="13" dur="1" fill="hold">
                                          <p:stCondLst>
                                            <p:cond delay="0"/>
                                          </p:stCondLst>
                                        </p:cTn>
                                        <p:tgtEl>
                                          <p:spTgt spid="102"/>
                                        </p:tgtEl>
                                        <p:attrNameLst>
                                          <p:attrName>style.visibility</p:attrName>
                                        </p:attrNameLst>
                                      </p:cBhvr>
                                      <p:to>
                                        <p:strVal val="visible"/>
                                      </p:to>
                                    </p:set>
                                    <p:animEffect transition="in" filter="fade">
                                      <p:cBhvr>
                                        <p:cTn id="14" dur="400"/>
                                        <p:tgtEl>
                                          <p:spTgt spid="102"/>
                                        </p:tgtEl>
                                      </p:cBhvr>
                                    </p:animEffect>
                                  </p:childTnLst>
                                </p:cTn>
                              </p:par>
                              <p:par>
                                <p:cTn id="15" presetID="10" presetClass="entr" presetSubtype="0" fill="hold" nodeType="withEffect">
                                  <p:stCondLst>
                                    <p:cond delay="0"/>
                                  </p:stCondLst>
                                  <p:childTnLst>
                                    <p:set>
                                      <p:cBhvr>
                                        <p:cTn id="16" dur="1" fill="hold">
                                          <p:stCondLst>
                                            <p:cond delay="0"/>
                                          </p:stCondLst>
                                        </p:cTn>
                                        <p:tgtEl>
                                          <p:spTgt spid="103"/>
                                        </p:tgtEl>
                                        <p:attrNameLst>
                                          <p:attrName>style.visibility</p:attrName>
                                        </p:attrNameLst>
                                      </p:cBhvr>
                                      <p:to>
                                        <p:strVal val="visible"/>
                                      </p:to>
                                    </p:set>
                                    <p:animEffect transition="in" filter="fade">
                                      <p:cBhvr>
                                        <p:cTn id="17" dur="400"/>
                                        <p:tgtEl>
                                          <p:spTgt spid="103"/>
                                        </p:tgtEl>
                                      </p:cBhvr>
                                    </p:animEffect>
                                  </p:childTnLst>
                                </p:cTn>
                              </p:par>
                              <p:par>
                                <p:cTn id="18" presetID="10" presetClass="entr" presetSubtype="0" fill="hold" nodeType="withEffect">
                                  <p:stCondLst>
                                    <p:cond delay="0"/>
                                  </p:stCondLst>
                                  <p:childTnLst>
                                    <p:set>
                                      <p:cBhvr>
                                        <p:cTn id="19" dur="1" fill="hold">
                                          <p:stCondLst>
                                            <p:cond delay="0"/>
                                          </p:stCondLst>
                                        </p:cTn>
                                        <p:tgtEl>
                                          <p:spTgt spid="104"/>
                                        </p:tgtEl>
                                        <p:attrNameLst>
                                          <p:attrName>style.visibility</p:attrName>
                                        </p:attrNameLst>
                                      </p:cBhvr>
                                      <p:to>
                                        <p:strVal val="visible"/>
                                      </p:to>
                                    </p:set>
                                    <p:animEffect transition="in" filter="fade">
                                      <p:cBhvr>
                                        <p:cTn id="20" dur="400"/>
                                        <p:tgtEl>
                                          <p:spTgt spid="104"/>
                                        </p:tgtEl>
                                      </p:cBhvr>
                                    </p:animEffect>
                                  </p:childTnLst>
                                </p:cTn>
                              </p:par>
                              <p:par>
                                <p:cTn id="21" presetID="10" presetClass="entr" presetSubtype="0" fill="hold" nodeType="with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4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107"/>
                                        </p:tgtEl>
                                        <p:attrNameLst>
                                          <p:attrName>style.visibility</p:attrName>
                                        </p:attrNameLst>
                                      </p:cBhvr>
                                      <p:to>
                                        <p:strVal val="visible"/>
                                      </p:to>
                                    </p:set>
                                    <p:animEffect transition="in" filter="fade">
                                      <p:cBhvr>
                                        <p:cTn id="31" dur="400"/>
                                        <p:tgtEl>
                                          <p:spTgt spid="107"/>
                                        </p:tgtEl>
                                      </p:cBhvr>
                                    </p:animEffect>
                                  </p:childTnLst>
                                </p:cTn>
                              </p:par>
                              <p:par>
                                <p:cTn id="32" presetID="10" presetClass="entr" presetSubtype="0" fill="hold" nodeType="withEffect">
                                  <p:stCondLst>
                                    <p:cond delay="0"/>
                                  </p:stCondLst>
                                  <p:childTnLst>
                                    <p:set>
                                      <p:cBhvr>
                                        <p:cTn id="33" dur="1" fill="hold">
                                          <p:stCondLst>
                                            <p:cond delay="0"/>
                                          </p:stCondLst>
                                        </p:cTn>
                                        <p:tgtEl>
                                          <p:spTgt spid="108"/>
                                        </p:tgtEl>
                                        <p:attrNameLst>
                                          <p:attrName>style.visibility</p:attrName>
                                        </p:attrNameLst>
                                      </p:cBhvr>
                                      <p:to>
                                        <p:strVal val="visible"/>
                                      </p:to>
                                    </p:set>
                                    <p:animEffect transition="in" filter="fade">
                                      <p:cBhvr>
                                        <p:cTn id="34" dur="400"/>
                                        <p:tgtEl>
                                          <p:spTgt spid="108"/>
                                        </p:tgtEl>
                                      </p:cBhvr>
                                    </p:animEffect>
                                  </p:childTnLst>
                                </p:cTn>
                              </p:par>
                              <p:par>
                                <p:cTn id="35" presetID="10" presetClass="entr" presetSubtype="0" fill="hold" nodeType="with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par>
                                <p:cTn id="38" presetID="10" presetClass="entr" presetSubtype="0" fill="hold" nodeType="withEffect">
                                  <p:stCondLst>
                                    <p:cond delay="0"/>
                                  </p:stCondLst>
                                  <p:childTnLst>
                                    <p:set>
                                      <p:cBhvr>
                                        <p:cTn id="39" dur="1" fill="hold">
                                          <p:stCondLst>
                                            <p:cond delay="0"/>
                                          </p:stCondLst>
                                        </p:cTn>
                                        <p:tgtEl>
                                          <p:spTgt spid="110"/>
                                        </p:tgtEl>
                                        <p:attrNameLst>
                                          <p:attrName>style.visibility</p:attrName>
                                        </p:attrNameLst>
                                      </p:cBhvr>
                                      <p:to>
                                        <p:strVal val="visible"/>
                                      </p:to>
                                    </p:set>
                                    <p:animEffect transition="in" filter="fade">
                                      <p:cBhvr>
                                        <p:cTn id="40" dur="400"/>
                                        <p:tgtEl>
                                          <p:spTgt spid="110"/>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par>
                                <p:cTn id="44" presetID="10" presetClass="entr" presetSubtype="0" fill="hold" nodeType="with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114"/>
                                        </p:tgtEl>
                                        <p:attrNameLst>
                                          <p:attrName>style.visibility</p:attrName>
                                        </p:attrNameLst>
                                      </p:cBhvr>
                                      <p:to>
                                        <p:strVal val="visible"/>
                                      </p:to>
                                    </p:set>
                                    <p:animEffect transition="in" filter="fade">
                                      <p:cBhvr>
                                        <p:cTn id="49" dur="400"/>
                                        <p:tgtEl>
                                          <p:spTgt spid="114"/>
                                        </p:tgtEl>
                                      </p:cBhvr>
                                    </p:animEffect>
                                  </p:childTnLst>
                                </p:cTn>
                              </p:par>
                              <p:par>
                                <p:cTn id="50" presetID="10" presetClass="entr" presetSubtype="0" fill="hold" nodeType="withEffect">
                                  <p:stCondLst>
                                    <p:cond delay="0"/>
                                  </p:stCondLst>
                                  <p:childTnLst>
                                    <p:set>
                                      <p:cBhvr>
                                        <p:cTn id="51" dur="1" fill="hold">
                                          <p:stCondLst>
                                            <p:cond delay="0"/>
                                          </p:stCondLst>
                                        </p:cTn>
                                        <p:tgtEl>
                                          <p:spTgt spid="115"/>
                                        </p:tgtEl>
                                        <p:attrNameLst>
                                          <p:attrName>style.visibility</p:attrName>
                                        </p:attrNameLst>
                                      </p:cBhvr>
                                      <p:to>
                                        <p:strVal val="visible"/>
                                      </p:to>
                                    </p:set>
                                    <p:animEffect transition="in" filter="fade">
                                      <p:cBhvr>
                                        <p:cTn id="52" dur="400"/>
                                        <p:tgtEl>
                                          <p:spTgt spid="115"/>
                                        </p:tgtEl>
                                      </p:cBhvr>
                                    </p:animEffect>
                                  </p:childTnLst>
                                </p:cTn>
                              </p:par>
                              <p:par>
                                <p:cTn id="53" presetID="10" presetClass="entr" presetSubtype="0" fill="hold" nodeType="withEffect">
                                  <p:stCondLst>
                                    <p:cond delay="0"/>
                                  </p:stCondLst>
                                  <p:childTnLst>
                                    <p:set>
                                      <p:cBhvr>
                                        <p:cTn id="54" dur="1" fill="hold">
                                          <p:stCondLst>
                                            <p:cond delay="0"/>
                                          </p:stCondLst>
                                        </p:cTn>
                                        <p:tgtEl>
                                          <p:spTgt spid="116"/>
                                        </p:tgtEl>
                                        <p:attrNameLst>
                                          <p:attrName>style.visibility</p:attrName>
                                        </p:attrNameLst>
                                      </p:cBhvr>
                                      <p:to>
                                        <p:strVal val="visible"/>
                                      </p:to>
                                    </p:set>
                                    <p:animEffect transition="in" filter="fade">
                                      <p:cBhvr>
                                        <p:cTn id="55" dur="400"/>
                                        <p:tgtEl>
                                          <p:spTgt spid="116"/>
                                        </p:tgtEl>
                                      </p:cBhvr>
                                    </p:animEffect>
                                  </p:childTnLst>
                                </p:cTn>
                              </p:par>
                              <p:par>
                                <p:cTn id="56" presetID="10" presetClass="entr" presetSubtype="0" fill="hold" nodeType="withEffect">
                                  <p:stCondLst>
                                    <p:cond delay="0"/>
                                  </p:stCondLst>
                                  <p:childTnLst>
                                    <p:set>
                                      <p:cBhvr>
                                        <p:cTn id="57" dur="1" fill="hold">
                                          <p:stCondLst>
                                            <p:cond delay="0"/>
                                          </p:stCondLst>
                                        </p:cTn>
                                        <p:tgtEl>
                                          <p:spTgt spid="120"/>
                                        </p:tgtEl>
                                        <p:attrNameLst>
                                          <p:attrName>style.visibility</p:attrName>
                                        </p:attrNameLst>
                                      </p:cBhvr>
                                      <p:to>
                                        <p:strVal val="visible"/>
                                      </p:to>
                                    </p:set>
                                    <p:animEffect transition="in" filter="fade">
                                      <p:cBhvr>
                                        <p:cTn id="58" dur="400"/>
                                        <p:tgtEl>
                                          <p:spTgt spid="120"/>
                                        </p:tgtEl>
                                      </p:cBhvr>
                                    </p:animEffect>
                                  </p:childTnLst>
                                </p:cTn>
                              </p:par>
                              <p:par>
                                <p:cTn id="59" presetID="10" presetClass="entr" presetSubtype="0" fill="hold" nodeType="withEffect">
                                  <p:stCondLst>
                                    <p:cond delay="0"/>
                                  </p:stCondLst>
                                  <p:childTnLst>
                                    <p:set>
                                      <p:cBhvr>
                                        <p:cTn id="60" dur="1" fill="hold">
                                          <p:stCondLst>
                                            <p:cond delay="0"/>
                                          </p:stCondLst>
                                        </p:cTn>
                                        <p:tgtEl>
                                          <p:spTgt spid="121"/>
                                        </p:tgtEl>
                                        <p:attrNameLst>
                                          <p:attrName>style.visibility</p:attrName>
                                        </p:attrNameLst>
                                      </p:cBhvr>
                                      <p:to>
                                        <p:strVal val="visible"/>
                                      </p:to>
                                    </p:set>
                                    <p:animEffect transition="in" filter="fade">
                                      <p:cBhvr>
                                        <p:cTn id="61" dur="400"/>
                                        <p:tgtEl>
                                          <p:spTgt spid="12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12"/>
                                        </p:tgtEl>
                                        <p:attrNameLst>
                                          <p:attrName>style.visibility</p:attrName>
                                        </p:attrNameLst>
                                      </p:cBhvr>
                                      <p:to>
                                        <p:strVal val="visible"/>
                                      </p:to>
                                    </p:set>
                                    <p:animEffect transition="in" filter="fade">
                                      <p:cBhvr>
                                        <p:cTn id="66" dur="400"/>
                                        <p:tgtEl>
                                          <p:spTgt spid="112"/>
                                        </p:tgtEl>
                                      </p:cBhvr>
                                    </p:animEffect>
                                  </p:childTnLst>
                                </p:cTn>
                              </p:par>
                              <p:par>
                                <p:cTn id="67" presetID="10" presetClass="entr" presetSubtype="0" fill="hold" nodeType="withEffect">
                                  <p:stCondLst>
                                    <p:cond delay="0"/>
                                  </p:stCondLst>
                                  <p:childTnLst>
                                    <p:set>
                                      <p:cBhvr>
                                        <p:cTn id="68" dur="1" fill="hold">
                                          <p:stCondLst>
                                            <p:cond delay="0"/>
                                          </p:stCondLst>
                                        </p:cTn>
                                        <p:tgtEl>
                                          <p:spTgt spid="117"/>
                                        </p:tgtEl>
                                        <p:attrNameLst>
                                          <p:attrName>style.visibility</p:attrName>
                                        </p:attrNameLst>
                                      </p:cBhvr>
                                      <p:to>
                                        <p:strVal val="visible"/>
                                      </p:to>
                                    </p:set>
                                    <p:animEffect transition="in" filter="fade">
                                      <p:cBhvr>
                                        <p:cTn id="69" dur="400"/>
                                        <p:tgtEl>
                                          <p:spTgt spid="117"/>
                                        </p:tgtEl>
                                      </p:cBhvr>
                                    </p:animEffect>
                                  </p:childTnLst>
                                </p:cTn>
                              </p:par>
                              <p:par>
                                <p:cTn id="70" presetID="10" presetClass="entr" presetSubtype="0" fill="hold" nodeType="withEffect">
                                  <p:stCondLst>
                                    <p:cond delay="0"/>
                                  </p:stCondLst>
                                  <p:childTnLst>
                                    <p:set>
                                      <p:cBhvr>
                                        <p:cTn id="71" dur="1" fill="hold">
                                          <p:stCondLst>
                                            <p:cond delay="0"/>
                                          </p:stCondLst>
                                        </p:cTn>
                                        <p:tgtEl>
                                          <p:spTgt spid="118"/>
                                        </p:tgtEl>
                                        <p:attrNameLst>
                                          <p:attrName>style.visibility</p:attrName>
                                        </p:attrNameLst>
                                      </p:cBhvr>
                                      <p:to>
                                        <p:strVal val="visible"/>
                                      </p:to>
                                    </p:set>
                                    <p:animEffect transition="in" filter="fade">
                                      <p:cBhvr>
                                        <p:cTn id="72" dur="400"/>
                                        <p:tgtEl>
                                          <p:spTgt spid="118"/>
                                        </p:tgtEl>
                                      </p:cBhvr>
                                    </p:animEffect>
                                  </p:childTnLst>
                                </p:cTn>
                              </p:par>
                              <p:par>
                                <p:cTn id="73" presetID="10" presetClass="entr" presetSubtype="0" fill="hold" nodeType="withEffect">
                                  <p:stCondLst>
                                    <p:cond delay="0"/>
                                  </p:stCondLst>
                                  <p:childTnLst>
                                    <p:set>
                                      <p:cBhvr>
                                        <p:cTn id="74" dur="1" fill="hold">
                                          <p:stCondLst>
                                            <p:cond delay="0"/>
                                          </p:stCondLst>
                                        </p:cTn>
                                        <p:tgtEl>
                                          <p:spTgt spid="119"/>
                                        </p:tgtEl>
                                        <p:attrNameLst>
                                          <p:attrName>style.visibility</p:attrName>
                                        </p:attrNameLst>
                                      </p:cBhvr>
                                      <p:to>
                                        <p:strVal val="visible"/>
                                      </p:to>
                                    </p:set>
                                    <p:animEffect transition="in" filter="fade">
                                      <p:cBhvr>
                                        <p:cTn id="75" dur="400"/>
                                        <p:tgtEl>
                                          <p:spTgt spid="119"/>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500000"/>
            <a:ext cx="2700000" cy="2700000"/>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p:nvPr/>
        </p:nvCxnSpPr>
        <p:spPr>
          <a:xfrm>
            <a:off x="3300000" y="4200000"/>
            <a:ext cx="0" cy="250000"/>
          </a:xfrm>
          <a:prstGeom prst="line">
            <a:avLst/>
          </a:prstGeom>
          <a:ln w="43720">
            <a:solidFill>
              <a:srgbClr val="8E6F3E"/>
            </a:solidFill>
            <a:tailEnd type="triangle" w="med" len="med"/>
          </a:ln>
        </p:spPr>
      </p:cxnSp>
      <p:sp>
        <p:nvSpPr>
          <p:cNvPr id="104" name="NoLbl"/>
          <p:cNvSpPr txBox="1"/>
          <p:nvPr/>
        </p:nvSpPr>
        <p:spPr>
          <a:xfrm>
            <a:off x="3390000" y="418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Patterns: Pre-canned alternatives and expectations</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50000"/>
            <a:ext cx="7772400" cy="7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priors about their consequences, not guarantees.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strictly should dependencies follow the layers?</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capability and performance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
                                        </p:tgtEl>
                                        <p:attrNameLst>
                                          <p:attrName>style.visibility</p:attrName>
                                        </p:attrNameLst>
                                      </p:cBhvr>
                                      <p:to>
                                        <p:strVal val="visible"/>
                                      </p:to>
                                    </p:set>
                                    <p:animEffect transition="in" filter="fade">
                                      <p:cBhvr>
                                        <p:cTn id="7" dur="400"/>
                                        <p:tgtEl>
                                          <p:spTgt spid="93"/>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4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400"/>
                                        <p:tgtEl>
                                          <p:spTgt spid="111"/>
                                        </p:tgtEl>
                                      </p:cBhvr>
                                    </p:animEffect>
                                  </p:childTnLst>
                                </p:cTn>
                              </p:par>
                              <p:par>
                                <p:cTn id="14" presetID="10" presetClass="entr" presetSubtype="0" fill="hold" nodeType="withEffect">
                                  <p:stCondLst>
                                    <p:cond delay="0"/>
                                  </p:stCondLst>
                                  <p:childTnLst>
                                    <p:set>
                                      <p:cBhvr>
                                        <p:cTn id="15" dur="1" fill="hold">
                                          <p:stCondLst>
                                            <p:cond delay="0"/>
                                          </p:stCondLst>
                                        </p:cTn>
                                        <p:tgtEl>
                                          <p:spTgt spid="112"/>
                                        </p:tgtEl>
                                        <p:attrNameLst>
                                          <p:attrName>style.visibility</p:attrName>
                                        </p:attrNameLst>
                                      </p:cBhvr>
                                      <p:to>
                                        <p:strVal val="visible"/>
                                      </p:to>
                                    </p:set>
                                    <p:animEffect transition="in" filter="fade">
                                      <p:cBhvr>
                                        <p:cTn id="16" dur="400"/>
                                        <p:tgtEl>
                                          <p:spTgt spid="112"/>
                                        </p:tgtEl>
                                      </p:cBhvr>
                                    </p:animEffect>
                                  </p:childTnLst>
                                </p:cTn>
                              </p:par>
                              <p:par>
                                <p:cTn id="17" presetID="10" presetClass="entr" presetSubtype="0" fill="hold"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400"/>
                                        <p:tgtEl>
                                          <p:spTgt spid="113"/>
                                        </p:tgtEl>
                                      </p:cBhvr>
                                    </p:animEffect>
                                  </p:childTnLst>
                                </p:cTn>
                              </p:par>
                              <p:par>
                                <p:cTn id="20" presetID="10" presetClass="entr" presetSubtype="0" fill="hold" nodeType="withEffect">
                                  <p:stCondLst>
                                    <p:cond delay="0"/>
                                  </p:stCondLst>
                                  <p:childTnLst>
                                    <p:set>
                                      <p:cBhvr>
                                        <p:cTn id="21" dur="1" fill="hold">
                                          <p:stCondLst>
                                            <p:cond delay="0"/>
                                          </p:stCondLst>
                                        </p:cTn>
                                        <p:tgtEl>
                                          <p:spTgt spid="114"/>
                                        </p:tgtEl>
                                        <p:attrNameLst>
                                          <p:attrName>style.visibility</p:attrName>
                                        </p:attrNameLst>
                                      </p:cBhvr>
                                      <p:to>
                                        <p:strVal val="visible"/>
                                      </p:to>
                                    </p:set>
                                    <p:animEffect transition="in" filter="fade">
                                      <p:cBhvr>
                                        <p:cTn id="22" dur="400"/>
                                        <p:tgtEl>
                                          <p:spTgt spid="114"/>
                                        </p:tgtEl>
                                      </p:cBhvr>
                                    </p:animEffect>
                                  </p:childTnLst>
                                </p:cTn>
                              </p:par>
                              <p:par>
                                <p:cTn id="23" presetID="10" presetClass="entr" presetSubtype="0" fill="hold" nodeType="withEffect">
                                  <p:stCondLst>
                                    <p:cond delay="0"/>
                                  </p:stCondLst>
                                  <p:childTnLst>
                                    <p:set>
                                      <p:cBhvr>
                                        <p:cTn id="24" dur="1" fill="hold">
                                          <p:stCondLst>
                                            <p:cond delay="0"/>
                                          </p:stCondLst>
                                        </p:cTn>
                                        <p:tgtEl>
                                          <p:spTgt spid="115"/>
                                        </p:tgtEl>
                                        <p:attrNameLst>
                                          <p:attrName>style.visibility</p:attrName>
                                        </p:attrNameLst>
                                      </p:cBhvr>
                                      <p:to>
                                        <p:strVal val="visible"/>
                                      </p:to>
                                    </p:set>
                                    <p:animEffect transition="in" filter="fade">
                                      <p:cBhvr>
                                        <p:cTn id="25" dur="400"/>
                                        <p:tgtEl>
                                          <p:spTgt spid="115"/>
                                        </p:tgtEl>
                                      </p:cBhvr>
                                    </p:animEffect>
                                  </p:childTnLst>
                                </p:cTn>
                              </p:par>
                              <p:par>
                                <p:cTn id="26" presetID="10" presetClass="entr" presetSubtype="0" fill="hold" nodeType="withEffect">
                                  <p:stCondLst>
                                    <p:cond delay="0"/>
                                  </p:stCondLst>
                                  <p:childTnLst>
                                    <p:set>
                                      <p:cBhvr>
                                        <p:cTn id="27" dur="1" fill="hold">
                                          <p:stCondLst>
                                            <p:cond delay="0"/>
                                          </p:stCondLst>
                                        </p:cTn>
                                        <p:tgtEl>
                                          <p:spTgt spid="116"/>
                                        </p:tgtEl>
                                        <p:attrNameLst>
                                          <p:attrName>style.visibility</p:attrName>
                                        </p:attrNameLst>
                                      </p:cBhvr>
                                      <p:to>
                                        <p:strVal val="visible"/>
                                      </p:to>
                                    </p:set>
                                    <p:animEffect transition="in" filter="fade">
                                      <p:cBhvr>
                                        <p:cTn id="28" dur="400"/>
                                        <p:tgtEl>
                                          <p:spTgt spid="11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20"/>
                                        </p:tgtEl>
                                        <p:attrNameLst>
                                          <p:attrName>style.visibility</p:attrName>
                                        </p:attrNameLst>
                                      </p:cBhvr>
                                      <p:to>
                                        <p:strVal val="visible"/>
                                      </p:to>
                                    </p:set>
                                    <p:animEffect transition="in" filter="fade">
                                      <p:cBhvr>
                                        <p:cTn id="33" dur="400"/>
                                        <p:tgtEl>
                                          <p:spTgt spid="120"/>
                                        </p:tgtEl>
                                      </p:cBhvr>
                                    </p:animEffect>
                                  </p:childTnLst>
                                </p:cTn>
                              </p:par>
                              <p:par>
                                <p:cTn id="34" presetID="10" presetClass="entr" presetSubtype="0" fill="hold" nodeType="withEffect">
                                  <p:stCondLst>
                                    <p:cond delay="0"/>
                                  </p:stCondLst>
                                  <p:childTnLst>
                                    <p:set>
                                      <p:cBhvr>
                                        <p:cTn id="35" dur="1" fill="hold">
                                          <p:stCondLst>
                                            <p:cond delay="0"/>
                                          </p:stCondLst>
                                        </p:cTn>
                                        <p:tgtEl>
                                          <p:spTgt spid="121"/>
                                        </p:tgtEl>
                                        <p:attrNameLst>
                                          <p:attrName>style.visibility</p:attrName>
                                        </p:attrNameLst>
                                      </p:cBhvr>
                                      <p:to>
                                        <p:strVal val="visible"/>
                                      </p:to>
                                    </p:set>
                                    <p:animEffect transition="in" filter="fade">
                                      <p:cBhvr>
                                        <p:cTn id="36" dur="400"/>
                                        <p:tgtEl>
                                          <p:spTgt spid="121"/>
                                        </p:tgtEl>
                                      </p:cBhvr>
                                    </p:animEffect>
                                  </p:childTnLst>
                                </p:cTn>
                              </p:par>
                              <p:par>
                                <p:cTn id="37" presetID="10" presetClass="entr" presetSubtype="0" fill="hold" nodeType="withEffect">
                                  <p:stCondLst>
                                    <p:cond delay="0"/>
                                  </p:stCondLst>
                                  <p:childTnLst>
                                    <p:set>
                                      <p:cBhvr>
                                        <p:cTn id="38" dur="1" fill="hold">
                                          <p:stCondLst>
                                            <p:cond delay="0"/>
                                          </p:stCondLst>
                                        </p:cTn>
                                        <p:tgtEl>
                                          <p:spTgt spid="122"/>
                                        </p:tgtEl>
                                        <p:attrNameLst>
                                          <p:attrName>style.visibility</p:attrName>
                                        </p:attrNameLst>
                                      </p:cBhvr>
                                      <p:to>
                                        <p:strVal val="visible"/>
                                      </p:to>
                                    </p:set>
                                    <p:animEffect transition="in" filter="fade">
                                      <p:cBhvr>
                                        <p:cTn id="39" dur="400"/>
                                        <p:tgtEl>
                                          <p:spTgt spid="122"/>
                                        </p:tgtEl>
                                      </p:cBhvr>
                                    </p:animEffect>
                                  </p:childTnLst>
                                </p:cTn>
                              </p:par>
                              <p:par>
                                <p:cTn id="40" presetID="10" presetClass="entr" presetSubtype="0" fill="hold" nodeType="withEffect">
                                  <p:stCondLst>
                                    <p:cond delay="0"/>
                                  </p:stCondLst>
                                  <p:childTnLst>
                                    <p:set>
                                      <p:cBhvr>
                                        <p:cTn id="41" dur="1" fill="hold">
                                          <p:stCondLst>
                                            <p:cond delay="0"/>
                                          </p:stCondLst>
                                        </p:cTn>
                                        <p:tgtEl>
                                          <p:spTgt spid="123"/>
                                        </p:tgtEl>
                                        <p:attrNameLst>
                                          <p:attrName>style.visibility</p:attrName>
                                        </p:attrNameLst>
                                      </p:cBhvr>
                                      <p:to>
                                        <p:strVal val="visible"/>
                                      </p:to>
                                    </p:set>
                                    <p:animEffect transition="in" filter="fade">
                                      <p:cBhvr>
                                        <p:cTn id="42" dur="400"/>
                                        <p:tgtEl>
                                          <p:spTgt spid="123"/>
                                        </p:tgtEl>
                                      </p:cBhvr>
                                    </p:animEffect>
                                  </p:childTnLst>
                                </p:cTn>
                              </p:par>
                              <p:par>
                                <p:cTn id="43" presetID="10" presetClass="entr" presetSubtype="0" fill="hold" nodeType="withEffect">
                                  <p:stCondLst>
                                    <p:cond delay="0"/>
                                  </p:stCondLst>
                                  <p:childTnLst>
                                    <p:set>
                                      <p:cBhvr>
                                        <p:cTn id="44" dur="1" fill="hold">
                                          <p:stCondLst>
                                            <p:cond delay="0"/>
                                          </p:stCondLst>
                                        </p:cTn>
                                        <p:tgtEl>
                                          <p:spTgt spid="124"/>
                                        </p:tgtEl>
                                        <p:attrNameLst>
                                          <p:attrName>style.visibility</p:attrName>
                                        </p:attrNameLst>
                                      </p:cBhvr>
                                      <p:to>
                                        <p:strVal val="visible"/>
                                      </p:to>
                                    </p:set>
                                    <p:animEffect transition="in" filter="fade">
                                      <p:cBhvr>
                                        <p:cTn id="45" dur="400"/>
                                        <p:tgtEl>
                                          <p:spTgt spid="124"/>
                                        </p:tgtEl>
                                      </p:cBhvr>
                                    </p:animEffect>
                                  </p:childTnLst>
                                </p:cTn>
                              </p:par>
                              <p:par>
                                <p:cTn id="46" presetID="10" presetClass="entr" presetSubtype="0" fill="hold" nodeType="withEffect">
                                  <p:stCondLst>
                                    <p:cond delay="0"/>
                                  </p:stCondLst>
                                  <p:childTnLst>
                                    <p:set>
                                      <p:cBhvr>
                                        <p:cTn id="47" dur="1" fill="hold">
                                          <p:stCondLst>
                                            <p:cond delay="0"/>
                                          </p:stCondLst>
                                        </p:cTn>
                                        <p:tgtEl>
                                          <p:spTgt spid="94"/>
                                        </p:tgtEl>
                                        <p:attrNameLst>
                                          <p:attrName>style.visibility</p:attrName>
                                        </p:attrNameLst>
                                      </p:cBhvr>
                                      <p:to>
                                        <p:strVal val="visible"/>
                                      </p:to>
                                    </p:set>
                                    <p:animEffect transition="in" filter="fade">
                                      <p:cBhvr>
                                        <p:cTn id="48" dur="400"/>
                                        <p:tgtEl>
                                          <p:spTgt spid="9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95"/>
                                        </p:tgtEl>
                                        <p:attrNameLst>
                                          <p:attrName>style.visibility</p:attrName>
                                        </p:attrNameLst>
                                      </p:cBhvr>
                                      <p:to>
                                        <p:strVal val="visible"/>
                                      </p:to>
                                    </p:set>
                                    <p:animEffect transition="in" filter="fade">
                                      <p:cBhvr>
                                        <p:cTn id="53" dur="400"/>
                                        <p:tgtEl>
                                          <p:spTgt spid="95"/>
                                        </p:tgtEl>
                                      </p:cBhvr>
                                    </p:animEffect>
                                  </p:childTnLst>
                                </p:cTn>
                              </p:par>
                              <p:par>
                                <p:cTn id="54" presetID="10" presetClass="entr" presetSubtype="0" fill="hold" nodeType="withEffect">
                                  <p:stCondLst>
                                    <p:cond delay="0"/>
                                  </p:stCondLst>
                                  <p:childTnLst>
                                    <p:set>
                                      <p:cBhvr>
                                        <p:cTn id="55" dur="1" fill="hold">
                                          <p:stCondLst>
                                            <p:cond delay="0"/>
                                          </p:stCondLst>
                                        </p:cTn>
                                        <p:tgtEl>
                                          <p:spTgt spid="96"/>
                                        </p:tgtEl>
                                        <p:attrNameLst>
                                          <p:attrName>style.visibility</p:attrName>
                                        </p:attrNameLst>
                                      </p:cBhvr>
                                      <p:to>
                                        <p:strVal val="visible"/>
                                      </p:to>
                                    </p:set>
                                    <p:animEffect transition="in" filter="fade">
                                      <p:cBhvr>
                                        <p:cTn id="56" dur="400"/>
                                        <p:tgtEl>
                                          <p:spTgt spid="9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97"/>
                                        </p:tgtEl>
                                        <p:attrNameLst>
                                          <p:attrName>style.visibility</p:attrName>
                                        </p:attrNameLst>
                                      </p:cBhvr>
                                      <p:to>
                                        <p:strVal val="visible"/>
                                      </p:to>
                                    </p:set>
                                    <p:animEffect transition="in" filter="fade">
                                      <p:cBhvr>
                                        <p:cTn id="61" dur="400"/>
                                        <p:tgtEl>
                                          <p:spTgt spid="97"/>
                                        </p:tgtEl>
                                      </p:cBhvr>
                                    </p:animEffect>
                                  </p:childTnLst>
                                </p:cTn>
                              </p:par>
                              <p:par>
                                <p:cTn id="62" presetID="10" presetClass="entr" presetSubtype="0" fill="hold" nodeType="withEffect">
                                  <p:stCondLst>
                                    <p:cond delay="0"/>
                                  </p:stCondLst>
                                  <p:childTnLst>
                                    <p:set>
                                      <p:cBhvr>
                                        <p:cTn id="63" dur="1" fill="hold">
                                          <p:stCondLst>
                                            <p:cond delay="0"/>
                                          </p:stCondLst>
                                        </p:cTn>
                                        <p:tgtEl>
                                          <p:spTgt spid="98"/>
                                        </p:tgtEl>
                                        <p:attrNameLst>
                                          <p:attrName>style.visibility</p:attrName>
                                        </p:attrNameLst>
                                      </p:cBhvr>
                                      <p:to>
                                        <p:strVal val="visible"/>
                                      </p:to>
                                    </p:set>
                                    <p:animEffect transition="in" filter="fade">
                                      <p:cBhvr>
                                        <p:cTn id="64" dur="400"/>
                                        <p:tgtEl>
                                          <p:spTgt spid="98"/>
                                        </p:tgtEl>
                                      </p:cBhvr>
                                    </p:animEffect>
                                  </p:childTnLst>
                                </p:cTn>
                              </p:par>
                              <p:par>
                                <p:cTn id="65" presetID="10" presetClass="entr" presetSubtype="0" fill="hold" nodeType="withEffect">
                                  <p:stCondLst>
                                    <p:cond delay="0"/>
                                  </p:stCondLst>
                                  <p:childTnLst>
                                    <p:set>
                                      <p:cBhvr>
                                        <p:cTn id="66" dur="1" fill="hold">
                                          <p:stCondLst>
                                            <p:cond delay="0"/>
                                          </p:stCondLst>
                                        </p:cTn>
                                        <p:tgtEl>
                                          <p:spTgt spid="99"/>
                                        </p:tgtEl>
                                        <p:attrNameLst>
                                          <p:attrName>style.visibility</p:attrName>
                                        </p:attrNameLst>
                                      </p:cBhvr>
                                      <p:to>
                                        <p:strVal val="visible"/>
                                      </p:to>
                                    </p:set>
                                    <p:animEffect transition="in" filter="fade">
                                      <p:cBhvr>
                                        <p:cTn id="67" dur="400"/>
                                        <p:tgtEl>
                                          <p:spTgt spid="99"/>
                                        </p:tgtEl>
                                      </p:cBhvr>
                                    </p:animEffect>
                                  </p:childTnLst>
                                </p:cTn>
                              </p:par>
                              <p:par>
                                <p:cTn id="68" presetID="10" presetClass="entr" presetSubtype="0" fill="hold" nodeType="withEffect">
                                  <p:stCondLst>
                                    <p:cond delay="0"/>
                                  </p:stCondLst>
                                  <p:childTnLst>
                                    <p:set>
                                      <p:cBhvr>
                                        <p:cTn id="69" dur="1" fill="hold">
                                          <p:stCondLst>
                                            <p:cond delay="0"/>
                                          </p:stCondLst>
                                        </p:cTn>
                                        <p:tgtEl>
                                          <p:spTgt spid="125"/>
                                        </p:tgtEl>
                                        <p:attrNameLst>
                                          <p:attrName>style.visibility</p:attrName>
                                        </p:attrNameLst>
                                      </p:cBhvr>
                                      <p:to>
                                        <p:strVal val="visible"/>
                                      </p:to>
                                    </p:set>
                                    <p:animEffect transition="in" filter="fade">
                                      <p:cBhvr>
                                        <p:cTn id="7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Pipeline vs. repository</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PIPELINE</a:t>
            </a:r>
          </a:p>
        </p:txBody>
      </p:sp>
      <p:sp>
        <p:nvSpPr>
          <p:cNvPr id="100" name="P100"/>
          <p:cNvSpPr/>
          <p:nvPr/>
        </p:nvSpPr>
        <p:spPr>
          <a:xfrm>
            <a:off x="1453900" y="1540000"/>
            <a:ext cx="22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453900" y="2290000"/>
            <a:ext cx="22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453900" y="3040000"/>
            <a:ext cx="22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453900" y="3790000"/>
            <a:ext cx="22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REPOSITORY</a:t>
            </a:r>
          </a:p>
        </p:txBody>
      </p:sp>
      <p:sp>
        <p:nvSpPr>
          <p:cNvPr id="110" name="Repo"/>
          <p:cNvSpPr/>
          <p:nvPr/>
        </p:nvSpPr>
        <p:spPr>
          <a:xfrm>
            <a:off x="5870100" y="2650000"/>
            <a:ext cx="1400000" cy="6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920100" y="1590000"/>
            <a:ext cx="13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920100" y="3790000"/>
            <a:ext cx="13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722000" y="2690000"/>
            <a:ext cx="720000" cy="56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698200" y="2690000"/>
            <a:ext cx="760000" cy="56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570100" y="215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570100" y="3290000"/>
            <a:ext cx="0" cy="50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442000" y="2970000"/>
            <a:ext cx="4281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270100" y="2970000"/>
            <a:ext cx="428100" cy="0"/>
          </a:xfrm>
          <a:prstGeom prst="line">
            <a:avLst/>
          </a:prstGeom>
          <a:ln w="53577">
            <a:solidFill>
              <a:srgbClr val="8E6F3E"/>
            </a:solidFill>
            <a:headEnd type="triangle" w="med" len="med"/>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computations meet at one authoritative state</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explicit flow, local stage dependencies, incremental processing</a:t>
            </a:r>
          </a:p>
          <a:p>
            <a:pPr algn="l">
              <a:spcBef>
                <a:spcPts val="600"/>
              </a:spcBef>
              <a:buNone/>
            </a:pPr>
            <a:r>
              <a:rPr lang="en-US" sz="2000" b="1" i="0" dirty="0">
                <a:solidFill>
                  <a:srgbClr val="555960"/>
                </a:solidFill>
              </a:rPr>
              <a:t>costs — </a:t>
            </a:r>
            <a:r>
              <a:rPr lang="en-US" sz="2000" b="0" i="0" dirty="0">
                <a:solidFill>
                  <a:srgbClr val="000000"/>
                </a:solidFill>
              </a:rPr>
              <a:t>sharing state across stages becomes difficult</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one authoritative representation; integration and consistency</a:t>
            </a:r>
          </a:p>
          <a:p>
            <a:pPr algn="l">
              <a:spcBef>
                <a:spcPts val="600"/>
              </a:spcBef>
              <a:buNone/>
            </a:pPr>
            <a:r>
              <a:rPr lang="en-US" sz="2000" b="1" i="0" dirty="0">
                <a:solidFill>
                  <a:srgbClr val="555960"/>
                </a:solidFill>
              </a:rPr>
              <a:t>costs — </a:t>
            </a:r>
            <a:r>
              <a:rPr lang="en-US" sz="2000" b="0" i="0" dirty="0">
                <a:solidFill>
                  <a:srgbClr val="000000"/>
                </a:solidFill>
              </a:rPr>
              <a:t>central schema coupling and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
                                        </p:tgtEl>
                                        <p:attrNameLst>
                                          <p:attrName>style.visibility</p:attrName>
                                        </p:attrNameLst>
                                      </p:cBhvr>
                                      <p:to>
                                        <p:strVal val="visible"/>
                                      </p:to>
                                    </p:set>
                                    <p:animEffect transition="in" filter="fade">
                                      <p:cBhvr>
                                        <p:cTn id="7" dur="400"/>
                                        <p:tgtEl>
                                          <p:spTgt spid="93"/>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4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400"/>
                                        <p:tgtEl>
                                          <p:spTgt spid="111"/>
                                        </p:tgtEl>
                                      </p:cBhvr>
                                    </p:animEffect>
                                  </p:childTnLst>
                                </p:cTn>
                              </p:par>
                              <p:par>
                                <p:cTn id="14" presetID="10" presetClass="entr" presetSubtype="0" fill="hold" nodeType="withEffect">
                                  <p:stCondLst>
                                    <p:cond delay="0"/>
                                  </p:stCondLst>
                                  <p:childTnLst>
                                    <p:set>
                                      <p:cBhvr>
                                        <p:cTn id="15" dur="1" fill="hold">
                                          <p:stCondLst>
                                            <p:cond delay="0"/>
                                          </p:stCondLst>
                                        </p:cTn>
                                        <p:tgtEl>
                                          <p:spTgt spid="112"/>
                                        </p:tgtEl>
                                        <p:attrNameLst>
                                          <p:attrName>style.visibility</p:attrName>
                                        </p:attrNameLst>
                                      </p:cBhvr>
                                      <p:to>
                                        <p:strVal val="visible"/>
                                      </p:to>
                                    </p:set>
                                    <p:animEffect transition="in" filter="fade">
                                      <p:cBhvr>
                                        <p:cTn id="16" dur="400"/>
                                        <p:tgtEl>
                                          <p:spTgt spid="112"/>
                                        </p:tgtEl>
                                      </p:cBhvr>
                                    </p:animEffect>
                                  </p:childTnLst>
                                </p:cTn>
                              </p:par>
                              <p:par>
                                <p:cTn id="17" presetID="10" presetClass="entr" presetSubtype="0" fill="hold"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400"/>
                                        <p:tgtEl>
                                          <p:spTgt spid="113"/>
                                        </p:tgtEl>
                                      </p:cBhvr>
                                    </p:animEffect>
                                  </p:childTnLst>
                                </p:cTn>
                              </p:par>
                              <p:par>
                                <p:cTn id="20" presetID="10" presetClass="entr" presetSubtype="0" fill="hold" nodeType="withEffect">
                                  <p:stCondLst>
                                    <p:cond delay="0"/>
                                  </p:stCondLst>
                                  <p:childTnLst>
                                    <p:set>
                                      <p:cBhvr>
                                        <p:cTn id="21" dur="1" fill="hold">
                                          <p:stCondLst>
                                            <p:cond delay="0"/>
                                          </p:stCondLst>
                                        </p:cTn>
                                        <p:tgtEl>
                                          <p:spTgt spid="114"/>
                                        </p:tgtEl>
                                        <p:attrNameLst>
                                          <p:attrName>style.visibility</p:attrName>
                                        </p:attrNameLst>
                                      </p:cBhvr>
                                      <p:to>
                                        <p:strVal val="visible"/>
                                      </p:to>
                                    </p:set>
                                    <p:animEffect transition="in" filter="fade">
                                      <p:cBhvr>
                                        <p:cTn id="22" dur="400"/>
                                        <p:tgtEl>
                                          <p:spTgt spid="114"/>
                                        </p:tgtEl>
                                      </p:cBhvr>
                                    </p:animEffect>
                                  </p:childTnLst>
                                </p:cTn>
                              </p:par>
                              <p:par>
                                <p:cTn id="23" presetID="10" presetClass="entr" presetSubtype="0" fill="hold" nodeType="withEffect">
                                  <p:stCondLst>
                                    <p:cond delay="0"/>
                                  </p:stCondLst>
                                  <p:childTnLst>
                                    <p:set>
                                      <p:cBhvr>
                                        <p:cTn id="24" dur="1" fill="hold">
                                          <p:stCondLst>
                                            <p:cond delay="0"/>
                                          </p:stCondLst>
                                        </p:cTn>
                                        <p:tgtEl>
                                          <p:spTgt spid="115"/>
                                        </p:tgtEl>
                                        <p:attrNameLst>
                                          <p:attrName>style.visibility</p:attrName>
                                        </p:attrNameLst>
                                      </p:cBhvr>
                                      <p:to>
                                        <p:strVal val="visible"/>
                                      </p:to>
                                    </p:set>
                                    <p:animEffect transition="in" filter="fade">
                                      <p:cBhvr>
                                        <p:cTn id="25" dur="400"/>
                                        <p:tgtEl>
                                          <p:spTgt spid="115"/>
                                        </p:tgtEl>
                                      </p:cBhvr>
                                    </p:animEffect>
                                  </p:childTnLst>
                                </p:cTn>
                              </p:par>
                              <p:par>
                                <p:cTn id="26" presetID="10" presetClass="entr" presetSubtype="0" fill="hold" nodeType="withEffect">
                                  <p:stCondLst>
                                    <p:cond delay="0"/>
                                  </p:stCondLst>
                                  <p:childTnLst>
                                    <p:set>
                                      <p:cBhvr>
                                        <p:cTn id="27" dur="1" fill="hold">
                                          <p:stCondLst>
                                            <p:cond delay="0"/>
                                          </p:stCondLst>
                                        </p:cTn>
                                        <p:tgtEl>
                                          <p:spTgt spid="116"/>
                                        </p:tgtEl>
                                        <p:attrNameLst>
                                          <p:attrName>style.visibility</p:attrName>
                                        </p:attrNameLst>
                                      </p:cBhvr>
                                      <p:to>
                                        <p:strVal val="visible"/>
                                      </p:to>
                                    </p:set>
                                    <p:animEffect transition="in" filter="fade">
                                      <p:cBhvr>
                                        <p:cTn id="28" dur="400"/>
                                        <p:tgtEl>
                                          <p:spTgt spid="116"/>
                                        </p:tgtEl>
                                      </p:cBhvr>
                                    </p:animEffect>
                                  </p:childTnLst>
                                </p:cTn>
                              </p:par>
                              <p:par>
                                <p:cTn id="29" presetID="10" presetClass="entr" presetSubtype="0" fill="hold" nodeType="withEffect">
                                  <p:stCondLst>
                                    <p:cond delay="0"/>
                                  </p:stCondLst>
                                  <p:childTnLst>
                                    <p:set>
                                      <p:cBhvr>
                                        <p:cTn id="30" dur="1" fill="hold">
                                          <p:stCondLst>
                                            <p:cond delay="0"/>
                                          </p:stCondLst>
                                        </p:cTn>
                                        <p:tgtEl>
                                          <p:spTgt spid="117"/>
                                        </p:tgtEl>
                                        <p:attrNameLst>
                                          <p:attrName>style.visibility</p:attrName>
                                        </p:attrNameLst>
                                      </p:cBhvr>
                                      <p:to>
                                        <p:strVal val="visible"/>
                                      </p:to>
                                    </p:set>
                                    <p:animEffect transition="in" filter="fade">
                                      <p:cBhvr>
                                        <p:cTn id="31" dur="400"/>
                                        <p:tgtEl>
                                          <p:spTgt spid="117"/>
                                        </p:tgtEl>
                                      </p:cBhvr>
                                    </p:animEffect>
                                  </p:childTnLst>
                                </p:cTn>
                              </p:par>
                              <p:par>
                                <p:cTn id="32" presetID="10" presetClass="entr" presetSubtype="0" fill="hold" nodeType="withEffect">
                                  <p:stCondLst>
                                    <p:cond delay="0"/>
                                  </p:stCondLst>
                                  <p:childTnLst>
                                    <p:set>
                                      <p:cBhvr>
                                        <p:cTn id="33" dur="1" fill="hold">
                                          <p:stCondLst>
                                            <p:cond delay="0"/>
                                          </p:stCondLst>
                                        </p:cTn>
                                        <p:tgtEl>
                                          <p:spTgt spid="118"/>
                                        </p:tgtEl>
                                        <p:attrNameLst>
                                          <p:attrName>style.visibility</p:attrName>
                                        </p:attrNameLst>
                                      </p:cBhvr>
                                      <p:to>
                                        <p:strVal val="visible"/>
                                      </p:to>
                                    </p:set>
                                    <p:animEffect transition="in" filter="fade">
                                      <p:cBhvr>
                                        <p:cTn id="34" dur="400"/>
                                        <p:tgtEl>
                                          <p:spTgt spid="118"/>
                                        </p:tgtEl>
                                      </p:cBhvr>
                                    </p:animEffect>
                                  </p:childTnLst>
                                </p:cTn>
                              </p:par>
                              <p:par>
                                <p:cTn id="35" presetID="10" presetClass="entr" presetSubtype="0" fill="hold" nodeType="withEffect">
                                  <p:stCondLst>
                                    <p:cond delay="0"/>
                                  </p:stCondLst>
                                  <p:childTnLst>
                                    <p:set>
                                      <p:cBhvr>
                                        <p:cTn id="36" dur="1" fill="hold">
                                          <p:stCondLst>
                                            <p:cond delay="0"/>
                                          </p:stCondLst>
                                        </p:cTn>
                                        <p:tgtEl>
                                          <p:spTgt spid="94"/>
                                        </p:tgtEl>
                                        <p:attrNameLst>
                                          <p:attrName>style.visibility</p:attrName>
                                        </p:attrNameLst>
                                      </p:cBhvr>
                                      <p:to>
                                        <p:strVal val="visible"/>
                                      </p:to>
                                    </p:set>
                                    <p:animEffect transition="in" filter="fade">
                                      <p:cBhvr>
                                        <p:cTn id="37" dur="400"/>
                                        <p:tgtEl>
                                          <p:spTgt spid="9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95"/>
                                        </p:tgtEl>
                                        <p:attrNameLst>
                                          <p:attrName>style.visibility</p:attrName>
                                        </p:attrNameLst>
                                      </p:cBhvr>
                                      <p:to>
                                        <p:strVal val="visible"/>
                                      </p:to>
                                    </p:set>
                                    <p:animEffect transition="in" filter="fade">
                                      <p:cBhvr>
                                        <p:cTn id="42" dur="400"/>
                                        <p:tgtEl>
                                          <p:spTgt spid="95"/>
                                        </p:tgtEl>
                                      </p:cBhvr>
                                    </p:animEffect>
                                  </p:childTnLst>
                                </p:cTn>
                              </p:par>
                              <p:par>
                                <p:cTn id="43" presetID="10" presetClass="entr" presetSubtype="0" fill="hold" nodeType="withEffect">
                                  <p:stCondLst>
                                    <p:cond delay="0"/>
                                  </p:stCondLst>
                                  <p:childTnLst>
                                    <p:set>
                                      <p:cBhvr>
                                        <p:cTn id="44" dur="1" fill="hold">
                                          <p:stCondLst>
                                            <p:cond delay="0"/>
                                          </p:stCondLst>
                                        </p:cTn>
                                        <p:tgtEl>
                                          <p:spTgt spid="96"/>
                                        </p:tgtEl>
                                        <p:attrNameLst>
                                          <p:attrName>style.visibility</p:attrName>
                                        </p:attrNameLst>
                                      </p:cBhvr>
                                      <p:to>
                                        <p:strVal val="visible"/>
                                      </p:to>
                                    </p:set>
                                    <p:animEffect transition="in" filter="fade">
                                      <p:cBhvr>
                                        <p:cTn id="45" dur="400"/>
                                        <p:tgtEl>
                                          <p:spTgt spid="9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7"/>
                                        </p:tgtEl>
                                        <p:attrNameLst>
                                          <p:attrName>style.visibility</p:attrName>
                                        </p:attrNameLst>
                                      </p:cBhvr>
                                      <p:to>
                                        <p:strVal val="visible"/>
                                      </p:to>
                                    </p:set>
                                    <p:animEffect transition="in" filter="fade">
                                      <p:cBhvr>
                                        <p:cTn id="50" dur="400"/>
                                        <p:tgtEl>
                                          <p:spTgt spid="97"/>
                                        </p:tgtEl>
                                      </p:cBhvr>
                                    </p:animEffect>
                                  </p:childTnLst>
                                </p:cTn>
                              </p:par>
                              <p:par>
                                <p:cTn id="51" presetID="10" presetClass="entr" presetSubtype="0" fill="hold" nodeType="withEffect">
                                  <p:stCondLst>
                                    <p:cond delay="0"/>
                                  </p:stCondLst>
                                  <p:childTnLst>
                                    <p:set>
                                      <p:cBhvr>
                                        <p:cTn id="52" dur="1" fill="hold">
                                          <p:stCondLst>
                                            <p:cond delay="0"/>
                                          </p:stCondLst>
                                        </p:cTn>
                                        <p:tgtEl>
                                          <p:spTgt spid="98"/>
                                        </p:tgtEl>
                                        <p:attrNameLst>
                                          <p:attrName>style.visibility</p:attrName>
                                        </p:attrNameLst>
                                      </p:cBhvr>
                                      <p:to>
                                        <p:strVal val="visible"/>
                                      </p:to>
                                    </p:set>
                                    <p:animEffect transition="in" filter="fade">
                                      <p:cBhvr>
                                        <p:cTn id="53" dur="400"/>
                                        <p:tgtEl>
                                          <p:spTgt spid="98"/>
                                        </p:tgtEl>
                                      </p:cBhvr>
                                    </p:animEffect>
                                  </p:childTnLst>
                                </p:cTn>
                              </p:par>
                              <p:par>
                                <p:cTn id="54" presetID="10" presetClass="entr" presetSubtype="0" fill="hold" nodeType="withEffect">
                                  <p:stCondLst>
                                    <p:cond delay="0"/>
                                  </p:stCondLst>
                                  <p:childTnLst>
                                    <p:set>
                                      <p:cBhvr>
                                        <p:cTn id="55" dur="1" fill="hold">
                                          <p:stCondLst>
                                            <p:cond delay="0"/>
                                          </p:stCondLst>
                                        </p:cTn>
                                        <p:tgtEl>
                                          <p:spTgt spid="99"/>
                                        </p:tgtEl>
                                        <p:attrNameLst>
                                          <p:attrName>style.visibility</p:attrName>
                                        </p:attrNameLst>
                                      </p:cBhvr>
                                      <p:to>
                                        <p:strVal val="visible"/>
                                      </p:to>
                                    </p:set>
                                    <p:animEffect transition="in" filter="fade">
                                      <p:cBhvr>
                                        <p:cTn id="56" dur="400"/>
                                        <p:tgtEl>
                                          <p:spTgt spid="99"/>
                                        </p:tgtEl>
                                      </p:cBhvr>
                                    </p:animEffect>
                                  </p:childTnLst>
                                </p:cTn>
                              </p:par>
                              <p:par>
                                <p:cTn id="57" presetID="10" presetClass="entr" presetSubtype="0" fill="hold" nodeType="withEffect">
                                  <p:stCondLst>
                                    <p:cond delay="0"/>
                                  </p:stCondLst>
                                  <p:childTnLst>
                                    <p:set>
                                      <p:cBhvr>
                                        <p:cTn id="58" dur="1" fill="hold">
                                          <p:stCondLst>
                                            <p:cond delay="0"/>
                                          </p:stCondLst>
                                        </p:cTn>
                                        <p:tgtEl>
                                          <p:spTgt spid="120"/>
                                        </p:tgtEl>
                                        <p:attrNameLst>
                                          <p:attrName>style.visibility</p:attrName>
                                        </p:attrNameLst>
                                      </p:cBhvr>
                                      <p:to>
                                        <p:strVal val="visible"/>
                                      </p:to>
                                    </p:set>
                                    <p:animEffect transition="in" filter="fade">
                                      <p:cBhvr>
                                        <p:cTn id="59"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RPC vs. event-driven messaging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Resp"/>
          <p:cNvCxnSpPr>
            <a:stCxn id="100" idx="3"/>
            <a:endCxn id="101" idx="1"/>
          </p:cNvCxnSpPr>
          <p:nvPr/>
        </p:nvCxnSpPr>
        <p:spPr>
          <a:xfrm>
            <a:off x="2135800" y="2070000"/>
            <a:ext cx="900000" cy="0"/>
          </a:xfrm>
          <a:prstGeom prst="line">
            <a:avLst/>
          </a:prstGeom>
          <a:ln w="53577">
            <a:solidFill>
              <a:srgbClr val="8E6F3E"/>
            </a:solidFill>
            <a:headEnd type="triangle" w="med" len="med"/>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request</a:t>
            </a:r>
          </a:p>
        </p:txBody>
      </p:sp>
      <p:sp>
        <p:nvSpPr>
          <p:cNvPr id="104" name="RespLbl"/>
          <p:cNvSpPr txBox="1"/>
          <p:nvPr/>
        </p:nvSpPr>
        <p:spPr>
          <a:xfrm>
            <a:off x="2135800" y="2120000"/>
            <a:ext cx="900000" cy="26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immediate coordination, clear request/response semantics</a:t>
            </a:r>
          </a:p>
          <a:p>
            <a:pPr algn="l">
              <a:spcBef>
                <a:spcPts val="600"/>
              </a:spcBef>
              <a:buNone/>
            </a:pPr>
            <a:r>
              <a:rPr lang="en-US" sz="2000" b="1" i="0" dirty="0">
                <a:solidFill>
                  <a:srgbClr val="555960"/>
                </a:solidFill>
              </a:rPr>
              <a:t>costs — </a:t>
            </a:r>
            <a:r>
              <a:rPr lang="en-US" sz="20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producer/consumer decoupling; adding consumers is easy</a:t>
            </a:r>
          </a:p>
          <a:p>
            <a:pPr algn="l">
              <a:spcBef>
                <a:spcPts val="600"/>
              </a:spcBef>
              <a:buNone/>
            </a:pPr>
            <a:r>
              <a:rPr lang="en-US" sz="2000" b="1" i="0" dirty="0">
                <a:solidFill>
                  <a:srgbClr val="555960"/>
                </a:solidFill>
              </a:rPr>
              <a:t>costs — </a:t>
            </a:r>
            <a:r>
              <a:rPr lang="en-US" sz="20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independent evolution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400"/>
                                        <p:tgtEl>
                                          <p:spTgt spid="105"/>
                                        </p:tgtEl>
                                      </p:cBhvr>
                                    </p:animEffect>
                                  </p:childTnLst>
                                </p:cTn>
                              </p:par>
                              <p:par>
                                <p:cTn id="8" presetID="10" presetClass="entr" presetSubtype="0" fill="hold" nodeType="withEffect">
                                  <p:stCondLst>
                                    <p:cond delay="0"/>
                                  </p:stCondLst>
                                  <p:childTnLst>
                                    <p:set>
                                      <p:cBhvr>
                                        <p:cTn id="9" dur="1" fill="hold">
                                          <p:stCondLst>
                                            <p:cond delay="0"/>
                                          </p:stCondLst>
                                        </p:cTn>
                                        <p:tgtEl>
                                          <p:spTgt spid="106"/>
                                        </p:tgtEl>
                                        <p:attrNameLst>
                                          <p:attrName>style.visibility</p:attrName>
                                        </p:attrNameLst>
                                      </p:cBhvr>
                                      <p:to>
                                        <p:strVal val="visible"/>
                                      </p:to>
                                    </p:set>
                                    <p:animEffect transition="in" filter="fade">
                                      <p:cBhvr>
                                        <p:cTn id="10" dur="400"/>
                                        <p:tgtEl>
                                          <p:spTgt spid="106"/>
                                        </p:tgtEl>
                                      </p:cBhvr>
                                    </p:animEffect>
                                  </p:childTnLst>
                                </p:cTn>
                              </p:par>
                              <p:par>
                                <p:cTn id="11" presetID="10" presetClass="entr" presetSubtype="0" fill="hold" nodeType="withEffect">
                                  <p:stCondLst>
                                    <p:cond delay="0"/>
                                  </p:stCondLst>
                                  <p:childTnLst>
                                    <p:set>
                                      <p:cBhvr>
                                        <p:cTn id="12" dur="1" fill="hold">
                                          <p:stCondLst>
                                            <p:cond delay="0"/>
                                          </p:stCondLst>
                                        </p:cTn>
                                        <p:tgtEl>
                                          <p:spTgt spid="92"/>
                                        </p:tgtEl>
                                        <p:attrNameLst>
                                          <p:attrName>style.visibility</p:attrName>
                                        </p:attrNameLst>
                                      </p:cBhvr>
                                      <p:to>
                                        <p:strVal val="visible"/>
                                      </p:to>
                                    </p:set>
                                    <p:animEffect transition="in" filter="fade">
                                      <p:cBhvr>
                                        <p:cTn id="13" dur="400"/>
                                        <p:tgtEl>
                                          <p:spTgt spid="9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3"/>
                                        </p:tgtEl>
                                        <p:attrNameLst>
                                          <p:attrName>style.visibility</p:attrName>
                                        </p:attrNameLst>
                                      </p:cBhvr>
                                      <p:to>
                                        <p:strVal val="visible"/>
                                      </p:to>
                                    </p:set>
                                    <p:animEffect transition="in" filter="fade">
                                      <p:cBhvr>
                                        <p:cTn id="18" dur="400"/>
                                        <p:tgtEl>
                                          <p:spTgt spid="93"/>
                                        </p:tgtEl>
                                      </p:cBhvr>
                                    </p:animEffect>
                                  </p:childTnLst>
                                </p:cTn>
                              </p:par>
                              <p:par>
                                <p:cTn id="19" presetID="10" presetClass="entr" presetSubtype="0" fill="hold" nodeType="withEffect">
                                  <p:stCondLst>
                                    <p:cond delay="0"/>
                                  </p:stCondLst>
                                  <p:childTnLst>
                                    <p:set>
                                      <p:cBhvr>
                                        <p:cTn id="20" dur="1" fill="hold">
                                          <p:stCondLst>
                                            <p:cond delay="0"/>
                                          </p:stCondLst>
                                        </p:cTn>
                                        <p:tgtEl>
                                          <p:spTgt spid="110"/>
                                        </p:tgtEl>
                                        <p:attrNameLst>
                                          <p:attrName>style.visibility</p:attrName>
                                        </p:attrNameLst>
                                      </p:cBhvr>
                                      <p:to>
                                        <p:strVal val="visible"/>
                                      </p:to>
                                    </p:set>
                                    <p:animEffect transition="in" filter="fade">
                                      <p:cBhvr>
                                        <p:cTn id="21" dur="400"/>
                                        <p:tgtEl>
                                          <p:spTgt spid="11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4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4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13"/>
                                        </p:tgtEl>
                                        <p:attrNameLst>
                                          <p:attrName>style.visibility</p:attrName>
                                        </p:attrNameLst>
                                      </p:cBhvr>
                                      <p:to>
                                        <p:strVal val="visible"/>
                                      </p:to>
                                    </p:set>
                                    <p:animEffect transition="in" filter="fade">
                                      <p:cBhvr>
                                        <p:cTn id="30" dur="400"/>
                                        <p:tgtEl>
                                          <p:spTgt spid="11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4"/>
                                        </p:tgtEl>
                                        <p:attrNameLst>
                                          <p:attrName>style.visibility</p:attrName>
                                        </p:attrNameLst>
                                      </p:cBhvr>
                                      <p:to>
                                        <p:strVal val="visible"/>
                                      </p:to>
                                    </p:set>
                                    <p:animEffect transition="in" filter="fade">
                                      <p:cBhvr>
                                        <p:cTn id="35" dur="400"/>
                                        <p:tgtEl>
                                          <p:spTgt spid="114"/>
                                        </p:tgtEl>
                                      </p:cBhvr>
                                    </p:animEffect>
                                  </p:childTnLst>
                                </p:cTn>
                              </p:par>
                              <p:par>
                                <p:cTn id="36" presetID="10" presetClass="entr" presetSubtype="0" fill="hold" nodeType="withEffect">
                                  <p:stCondLst>
                                    <p:cond delay="0"/>
                                  </p:stCondLst>
                                  <p:childTnLst>
                                    <p:set>
                                      <p:cBhvr>
                                        <p:cTn id="37" dur="1" fill="hold">
                                          <p:stCondLst>
                                            <p:cond delay="0"/>
                                          </p:stCondLst>
                                        </p:cTn>
                                        <p:tgtEl>
                                          <p:spTgt spid="115"/>
                                        </p:tgtEl>
                                        <p:attrNameLst>
                                          <p:attrName>style.visibility</p:attrName>
                                        </p:attrNameLst>
                                      </p:cBhvr>
                                      <p:to>
                                        <p:strVal val="visible"/>
                                      </p:to>
                                    </p:set>
                                    <p:animEffect transition="in" filter="fade">
                                      <p:cBhvr>
                                        <p:cTn id="38" dur="400"/>
                                        <p:tgtEl>
                                          <p:spTgt spid="115"/>
                                        </p:tgtEl>
                                      </p:cBhvr>
                                    </p:animEffect>
                                  </p:childTnLst>
                                </p:cTn>
                              </p:par>
                              <p:par>
                                <p:cTn id="39" presetID="10" presetClass="entr" presetSubtype="0" fill="hold" nodeType="withEffect">
                                  <p:stCondLst>
                                    <p:cond delay="0"/>
                                  </p:stCondLst>
                                  <p:childTnLst>
                                    <p:set>
                                      <p:cBhvr>
                                        <p:cTn id="40" dur="1" fill="hold">
                                          <p:stCondLst>
                                            <p:cond delay="0"/>
                                          </p:stCondLst>
                                        </p:cTn>
                                        <p:tgtEl>
                                          <p:spTgt spid="116"/>
                                        </p:tgtEl>
                                        <p:attrNameLst>
                                          <p:attrName>style.visibility</p:attrName>
                                        </p:attrNameLst>
                                      </p:cBhvr>
                                      <p:to>
                                        <p:strVal val="visible"/>
                                      </p:to>
                                    </p:set>
                                    <p:animEffect transition="in" filter="fade">
                                      <p:cBhvr>
                                        <p:cTn id="41" dur="400"/>
                                        <p:tgtEl>
                                          <p:spTgt spid="116"/>
                                        </p:tgtEl>
                                      </p:cBhvr>
                                    </p:animEffect>
                                  </p:childTnLst>
                                </p:cTn>
                              </p:par>
                              <p:par>
                                <p:cTn id="42" presetID="10" presetClass="entr" presetSubtype="0" fill="hold" nodeType="withEffect">
                                  <p:stCondLst>
                                    <p:cond delay="0"/>
                                  </p:stCondLst>
                                  <p:childTnLst>
                                    <p:set>
                                      <p:cBhvr>
                                        <p:cTn id="43" dur="1" fill="hold">
                                          <p:stCondLst>
                                            <p:cond delay="0"/>
                                          </p:stCondLst>
                                        </p:cTn>
                                        <p:tgtEl>
                                          <p:spTgt spid="117"/>
                                        </p:tgtEl>
                                        <p:attrNameLst>
                                          <p:attrName>style.visibility</p:attrName>
                                        </p:attrNameLst>
                                      </p:cBhvr>
                                      <p:to>
                                        <p:strVal val="visible"/>
                                      </p:to>
                                    </p:set>
                                    <p:animEffect transition="in" filter="fade">
                                      <p:cBhvr>
                                        <p:cTn id="44" dur="400"/>
                                        <p:tgtEl>
                                          <p:spTgt spid="117"/>
                                        </p:tgtEl>
                                      </p:cBhvr>
                                    </p:animEffect>
                                  </p:childTnLst>
                                </p:cTn>
                              </p:par>
                              <p:par>
                                <p:cTn id="45" presetID="10" presetClass="entr" presetSubtype="0" fill="hold" nodeType="withEffect">
                                  <p:stCondLst>
                                    <p:cond delay="0"/>
                                  </p:stCondLst>
                                  <p:childTnLst>
                                    <p:set>
                                      <p:cBhvr>
                                        <p:cTn id="46" dur="1" fill="hold">
                                          <p:stCondLst>
                                            <p:cond delay="0"/>
                                          </p:stCondLst>
                                        </p:cTn>
                                        <p:tgtEl>
                                          <p:spTgt spid="118"/>
                                        </p:tgtEl>
                                        <p:attrNameLst>
                                          <p:attrName>style.visibility</p:attrName>
                                        </p:attrNameLst>
                                      </p:cBhvr>
                                      <p:to>
                                        <p:strVal val="visible"/>
                                      </p:to>
                                    </p:set>
                                    <p:animEffect transition="in" filter="fade">
                                      <p:cBhvr>
                                        <p:cTn id="47" dur="400"/>
                                        <p:tgtEl>
                                          <p:spTgt spid="118"/>
                                        </p:tgtEl>
                                      </p:cBhvr>
                                    </p:animEffect>
                                  </p:childTnLst>
                                </p:cTn>
                              </p:par>
                              <p:par>
                                <p:cTn id="48" presetID="10" presetClass="entr" presetSubtype="0" fill="hold" nodeType="withEffect">
                                  <p:stCondLst>
                                    <p:cond delay="0"/>
                                  </p:stCondLst>
                                  <p:childTnLst>
                                    <p:set>
                                      <p:cBhvr>
                                        <p:cTn id="49" dur="1" fill="hold">
                                          <p:stCondLst>
                                            <p:cond delay="0"/>
                                          </p:stCondLst>
                                        </p:cTn>
                                        <p:tgtEl>
                                          <p:spTgt spid="119"/>
                                        </p:tgtEl>
                                        <p:attrNameLst>
                                          <p:attrName>style.visibility</p:attrName>
                                        </p:attrNameLst>
                                      </p:cBhvr>
                                      <p:to>
                                        <p:strVal val="visible"/>
                                      </p:to>
                                    </p:set>
                                    <p:animEffect transition="in" filter="fade">
                                      <p:cBhvr>
                                        <p:cTn id="50" dur="400"/>
                                        <p:tgtEl>
                                          <p:spTgt spid="119"/>
                                        </p:tgtEl>
                                      </p:cBhvr>
                                    </p:animEffect>
                                  </p:childTnLst>
                                </p:cTn>
                              </p:par>
                              <p:par>
                                <p:cTn id="51" presetID="10" presetClass="entr" presetSubtype="0" fill="hold" nodeType="withEffect">
                                  <p:stCondLst>
                                    <p:cond delay="0"/>
                                  </p:stCondLst>
                                  <p:childTnLst>
                                    <p:set>
                                      <p:cBhvr>
                                        <p:cTn id="52" dur="1" fill="hold">
                                          <p:stCondLst>
                                            <p:cond delay="0"/>
                                          </p:stCondLst>
                                        </p:cTn>
                                        <p:tgtEl>
                                          <p:spTgt spid="120"/>
                                        </p:tgtEl>
                                        <p:attrNameLst>
                                          <p:attrName>style.visibility</p:attrName>
                                        </p:attrNameLst>
                                      </p:cBhvr>
                                      <p:to>
                                        <p:strVal val="visible"/>
                                      </p:to>
                                    </p:set>
                                    <p:animEffect transition="in" filter="fade">
                                      <p:cBhvr>
                                        <p:cTn id="53" dur="400"/>
                                        <p:tgtEl>
                                          <p:spTgt spid="120"/>
                                        </p:tgtEl>
                                      </p:cBhvr>
                                    </p:animEffect>
                                  </p:childTnLst>
                                </p:cTn>
                              </p:par>
                              <p:par>
                                <p:cTn id="54" presetID="10" presetClass="entr" presetSubtype="0" fill="hold" nodeType="withEffect">
                                  <p:stCondLst>
                                    <p:cond delay="0"/>
                                  </p:stCondLst>
                                  <p:childTnLst>
                                    <p:set>
                                      <p:cBhvr>
                                        <p:cTn id="55" dur="1" fill="hold">
                                          <p:stCondLst>
                                            <p:cond delay="0"/>
                                          </p:stCondLst>
                                        </p:cTn>
                                        <p:tgtEl>
                                          <p:spTgt spid="121"/>
                                        </p:tgtEl>
                                        <p:attrNameLst>
                                          <p:attrName>style.visibility</p:attrName>
                                        </p:attrNameLst>
                                      </p:cBhvr>
                                      <p:to>
                                        <p:strVal val="visible"/>
                                      </p:to>
                                    </p:set>
                                    <p:animEffect transition="in" filter="fade">
                                      <p:cBhvr>
                                        <p:cTn id="56" dur="400"/>
                                        <p:tgtEl>
                                          <p:spTgt spid="121"/>
                                        </p:tgtEl>
                                      </p:cBhvr>
                                    </p:animEffect>
                                  </p:childTnLst>
                                </p:cTn>
                              </p:par>
                              <p:par>
                                <p:cTn id="57" presetID="10" presetClass="entr" presetSubtype="0" fill="hold" nodeType="withEffect">
                                  <p:stCondLst>
                                    <p:cond delay="0"/>
                                  </p:stCondLst>
                                  <p:childTnLst>
                                    <p:set>
                                      <p:cBhvr>
                                        <p:cTn id="58" dur="1" fill="hold">
                                          <p:stCondLst>
                                            <p:cond delay="0"/>
                                          </p:stCondLst>
                                        </p:cTn>
                                        <p:tgtEl>
                                          <p:spTgt spid="94"/>
                                        </p:tgtEl>
                                        <p:attrNameLst>
                                          <p:attrName>style.visibility</p:attrName>
                                        </p:attrNameLst>
                                      </p:cBhvr>
                                      <p:to>
                                        <p:strVal val="visible"/>
                                      </p:to>
                                    </p:set>
                                    <p:animEffect transition="in" filter="fade">
                                      <p:cBhvr>
                                        <p:cTn id="59" dur="400"/>
                                        <p:tgtEl>
                                          <p:spTgt spid="9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95"/>
                                        </p:tgtEl>
                                        <p:attrNameLst>
                                          <p:attrName>style.visibility</p:attrName>
                                        </p:attrNameLst>
                                      </p:cBhvr>
                                      <p:to>
                                        <p:strVal val="visible"/>
                                      </p:to>
                                    </p:set>
                                    <p:animEffect transition="in" filter="fade">
                                      <p:cBhvr>
                                        <p:cTn id="64" dur="400"/>
                                        <p:tgtEl>
                                          <p:spTgt spid="95"/>
                                        </p:tgtEl>
                                      </p:cBhvr>
                                    </p:animEffect>
                                  </p:childTnLst>
                                </p:cTn>
                              </p:par>
                              <p:par>
                                <p:cTn id="65" presetID="10" presetClass="entr" presetSubtype="0" fill="hold" nodeType="withEffect">
                                  <p:stCondLst>
                                    <p:cond delay="0"/>
                                  </p:stCondLst>
                                  <p:childTnLst>
                                    <p:set>
                                      <p:cBhvr>
                                        <p:cTn id="66" dur="1" fill="hold">
                                          <p:stCondLst>
                                            <p:cond delay="0"/>
                                          </p:stCondLst>
                                        </p:cTn>
                                        <p:tgtEl>
                                          <p:spTgt spid="96"/>
                                        </p:tgtEl>
                                        <p:attrNameLst>
                                          <p:attrName>style.visibility</p:attrName>
                                        </p:attrNameLst>
                                      </p:cBhvr>
                                      <p:to>
                                        <p:strVal val="visible"/>
                                      </p:to>
                                    </p:set>
                                    <p:animEffect transition="in" filter="fade">
                                      <p:cBhvr>
                                        <p:cTn id="67" dur="400"/>
                                        <p:tgtEl>
                                          <p:spTgt spid="96"/>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97"/>
                                        </p:tgtEl>
                                        <p:attrNameLst>
                                          <p:attrName>style.visibility</p:attrName>
                                        </p:attrNameLst>
                                      </p:cBhvr>
                                      <p:to>
                                        <p:strVal val="visible"/>
                                      </p:to>
                                    </p:set>
                                    <p:animEffect transition="in" filter="fade">
                                      <p:cBhvr>
                                        <p:cTn id="72" dur="400"/>
                                        <p:tgtEl>
                                          <p:spTgt spid="97"/>
                                        </p:tgtEl>
                                      </p:cBhvr>
                                    </p:animEffect>
                                  </p:childTnLst>
                                </p:cTn>
                              </p:par>
                              <p:par>
                                <p:cTn id="73" presetID="10" presetClass="entr" presetSubtype="0" fill="hold" nodeType="withEffect">
                                  <p:stCondLst>
                                    <p:cond delay="0"/>
                                  </p:stCondLst>
                                  <p:childTnLst>
                                    <p:set>
                                      <p:cBhvr>
                                        <p:cTn id="74" dur="1" fill="hold">
                                          <p:stCondLst>
                                            <p:cond delay="0"/>
                                          </p:stCondLst>
                                        </p:cTn>
                                        <p:tgtEl>
                                          <p:spTgt spid="98"/>
                                        </p:tgtEl>
                                        <p:attrNameLst>
                                          <p:attrName>style.visibility</p:attrName>
                                        </p:attrNameLst>
                                      </p:cBhvr>
                                      <p:to>
                                        <p:strVal val="visible"/>
                                      </p:to>
                                    </p:set>
                                    <p:animEffect transition="in" filter="fade">
                                      <p:cBhvr>
                                        <p:cTn id="75" dur="400"/>
                                        <p:tgtEl>
                                          <p:spTgt spid="98"/>
                                        </p:tgtEl>
                                      </p:cBhvr>
                                    </p:animEffect>
                                  </p:childTnLst>
                                </p:cTn>
                              </p:par>
                              <p:par>
                                <p:cTn id="76" presetID="10" presetClass="entr" presetSubtype="0" fill="hold" nodeType="withEffect">
                                  <p:stCondLst>
                                    <p:cond delay="0"/>
                                  </p:stCondLst>
                                  <p:childTnLst>
                                    <p:set>
                                      <p:cBhvr>
                                        <p:cTn id="77" dur="1" fill="hold">
                                          <p:stCondLst>
                                            <p:cond delay="0"/>
                                          </p:stCondLst>
                                        </p:cTn>
                                        <p:tgtEl>
                                          <p:spTgt spid="99"/>
                                        </p:tgtEl>
                                        <p:attrNameLst>
                                          <p:attrName>style.visibility</p:attrName>
                                        </p:attrNameLst>
                                      </p:cBhvr>
                                      <p:to>
                                        <p:strVal val="visible"/>
                                      </p:to>
                                    </p:set>
                                    <p:animEffect transition="in" filter="fade">
                                      <p:cBhvr>
                                        <p:cTn id="78" dur="400"/>
                                        <p:tgtEl>
                                          <p:spTgt spid="99"/>
                                        </p:tgtEl>
                                      </p:cBhvr>
                                    </p:animEffect>
                                  </p:childTnLst>
                                </p:cTn>
                              </p:par>
                              <p:par>
                                <p:cTn id="79" presetID="10" presetClass="entr" presetSubtype="0" fill="hold" nodeType="withEffect">
                                  <p:stCondLst>
                                    <p:cond delay="0"/>
                                  </p:stCondLst>
                                  <p:childTnLst>
                                    <p:set>
                                      <p:cBhvr>
                                        <p:cTn id="80" dur="1" fill="hold">
                                          <p:stCondLst>
                                            <p:cond delay="0"/>
                                          </p:stCondLst>
                                        </p:cTn>
                                        <p:tgtEl>
                                          <p:spTgt spid="125"/>
                                        </p:tgtEl>
                                        <p:attrNameLst>
                                          <p:attrName>style.visibility</p:attrName>
                                        </p:attrNameLst>
                                      </p:cBhvr>
                                      <p:to>
                                        <p:strVal val="visible"/>
                                      </p:to>
                                    </p:set>
                                    <p:animEffect transition="in" filter="fade">
                                      <p:cBhvr>
                                        <p:cTn id="81"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53577">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PORTS &amp; ADAPTERS</a:t>
            </a:r>
          </a:p>
        </p:txBody>
      </p:sp>
      <p:sp>
        <p:nvSpPr>
          <p:cNvPr id="110" name="DomR"/>
          <p:cNvSpPr/>
          <p:nvPr/>
        </p:nvSpPr>
        <p:spPr>
          <a:xfrm>
            <a:off x="5590100" y="154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020000"/>
            <a:ext cx="900000" cy="320000"/>
          </a:xfrm>
          <a:prstGeom prst="rect">
            <a:avLst/>
          </a:prstGeom>
          <a:solidFill>
            <a:srgbClr val="FFFFFF"/>
          </a:solidFill>
          <a:ln w="15875">
            <a:solidFill>
              <a:srgbClr val="8E6F3E"/>
            </a:solidFill>
          </a:ln>
        </p:spPr>
        <p:txBody>
          <a:bodyPr wrap="square" lIns="18288" tIns="27432" rIns="18288" bIns="27432" anchor="ctr">
            <a:normAutofit/>
          </a:bodyPr>
          <a:lstStyle/>
          <a:p>
            <a:pPr algn="ctr">
              <a:buNone/>
            </a:pPr>
            <a:r>
              <a:rPr lang="en-US" sz="2000" b="1" i="0" dirty="0">
                <a:solidFill>
                  <a:srgbClr val="5C4826"/>
                </a:solidFill>
              </a:rPr>
              <a:t>PORT</a:t>
            </a:r>
          </a:p>
        </p:txBody>
      </p:sp>
      <p:sp>
        <p:nvSpPr>
          <p:cNvPr id="112" name="Adap"/>
          <p:cNvSpPr/>
          <p:nvPr/>
        </p:nvSpPr>
        <p:spPr>
          <a:xfrm>
            <a:off x="5690100" y="2780000"/>
            <a:ext cx="18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340000"/>
            <a:ext cx="0" cy="440000"/>
          </a:xfrm>
          <a:prstGeom prst="line">
            <a:avLst/>
          </a:prstGeom>
          <a:ln w="53577">
            <a:solidFill>
              <a:srgbClr val="8E6F3E"/>
            </a:solidFill>
            <a:prstDash val="dash"/>
            <a:tailEnd type="arrow" w="med" len="med"/>
          </a:ln>
        </p:spPr>
      </p:cxnSp>
      <p:sp>
        <p:nvSpPr>
          <p:cNvPr id="114" name="ImplLbl"/>
          <p:cNvSpPr txBox="1"/>
          <p:nvPr/>
        </p:nvSpPr>
        <p:spPr>
          <a:xfrm>
            <a:off x="6720100" y="2450000"/>
            <a:ext cx="150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implements</a:t>
            </a:r>
          </a:p>
        </p:txBody>
      </p:sp>
      <p:sp>
        <p:nvSpPr>
          <p:cNvPr id="115" name="Db"/>
          <p:cNvSpPr/>
          <p:nvPr/>
        </p:nvSpPr>
        <p:spPr>
          <a:xfrm>
            <a:off x="5690100" y="3790000"/>
            <a:ext cx="18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340000"/>
            <a:ext cx="0" cy="450000"/>
          </a:xfrm>
          <a:prstGeom prst="line">
            <a:avLst/>
          </a:prstGeom>
          <a:ln w="53577">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isolation from infrastructure change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
                                        </p:tgtEl>
                                        <p:attrNameLst>
                                          <p:attrName>style.visibility</p:attrName>
                                        </p:attrNameLst>
                                      </p:cBhvr>
                                      <p:to>
                                        <p:strVal val="visible"/>
                                      </p:to>
                                    </p:set>
                                    <p:animEffect transition="in" filter="fade">
                                      <p:cBhvr>
                                        <p:cTn id="7" dur="400"/>
                                        <p:tgtEl>
                                          <p:spTgt spid="93"/>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4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4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2"/>
                                        </p:tgtEl>
                                        <p:attrNameLst>
                                          <p:attrName>style.visibility</p:attrName>
                                        </p:attrNameLst>
                                      </p:cBhvr>
                                      <p:to>
                                        <p:strVal val="visible"/>
                                      </p:to>
                                    </p:set>
                                    <p:animEffect transition="in" filter="fade">
                                      <p:cBhvr>
                                        <p:cTn id="18" dur="400"/>
                                        <p:tgtEl>
                                          <p:spTgt spid="112"/>
                                        </p:tgtEl>
                                      </p:cBhvr>
                                    </p:animEffect>
                                  </p:childTnLst>
                                </p:cTn>
                              </p:par>
                              <p:par>
                                <p:cTn id="19" presetID="10" presetClass="entr" presetSubtype="0" fill="hold" nodeType="withEffect">
                                  <p:stCondLst>
                                    <p:cond delay="0"/>
                                  </p:stCondLst>
                                  <p:childTnLst>
                                    <p:set>
                                      <p:cBhvr>
                                        <p:cTn id="20" dur="1" fill="hold">
                                          <p:stCondLst>
                                            <p:cond delay="0"/>
                                          </p:stCondLst>
                                        </p:cTn>
                                        <p:tgtEl>
                                          <p:spTgt spid="113"/>
                                        </p:tgtEl>
                                        <p:attrNameLst>
                                          <p:attrName>style.visibility</p:attrName>
                                        </p:attrNameLst>
                                      </p:cBhvr>
                                      <p:to>
                                        <p:strVal val="visible"/>
                                      </p:to>
                                    </p:set>
                                    <p:animEffect transition="in" filter="fade">
                                      <p:cBhvr>
                                        <p:cTn id="21" dur="400"/>
                                        <p:tgtEl>
                                          <p:spTgt spid="113"/>
                                        </p:tgtEl>
                                      </p:cBhvr>
                                    </p:animEffect>
                                  </p:childTnLst>
                                </p:cTn>
                              </p:par>
                              <p:par>
                                <p:cTn id="22" presetID="10" presetClass="entr" presetSubtype="0" fill="hold" nodeType="withEffect">
                                  <p:stCondLst>
                                    <p:cond delay="0"/>
                                  </p:stCondLst>
                                  <p:childTnLst>
                                    <p:set>
                                      <p:cBhvr>
                                        <p:cTn id="23" dur="1" fill="hold">
                                          <p:stCondLst>
                                            <p:cond delay="0"/>
                                          </p:stCondLst>
                                        </p:cTn>
                                        <p:tgtEl>
                                          <p:spTgt spid="114"/>
                                        </p:tgtEl>
                                        <p:attrNameLst>
                                          <p:attrName>style.visibility</p:attrName>
                                        </p:attrNameLst>
                                      </p:cBhvr>
                                      <p:to>
                                        <p:strVal val="visible"/>
                                      </p:to>
                                    </p:set>
                                    <p:animEffect transition="in" filter="fade">
                                      <p:cBhvr>
                                        <p:cTn id="24" dur="400"/>
                                        <p:tgtEl>
                                          <p:spTgt spid="114"/>
                                        </p:tgtEl>
                                      </p:cBhvr>
                                    </p:animEffect>
                                  </p:childTnLst>
                                </p:cTn>
                              </p:par>
                              <p:par>
                                <p:cTn id="25" presetID="10" presetClass="entr" presetSubtype="0" fill="hold" nodeType="withEffect">
                                  <p:stCondLst>
                                    <p:cond delay="0"/>
                                  </p:stCondLst>
                                  <p:childTnLst>
                                    <p:set>
                                      <p:cBhvr>
                                        <p:cTn id="26" dur="1" fill="hold">
                                          <p:stCondLst>
                                            <p:cond delay="0"/>
                                          </p:stCondLst>
                                        </p:cTn>
                                        <p:tgtEl>
                                          <p:spTgt spid="115"/>
                                        </p:tgtEl>
                                        <p:attrNameLst>
                                          <p:attrName>style.visibility</p:attrName>
                                        </p:attrNameLst>
                                      </p:cBhvr>
                                      <p:to>
                                        <p:strVal val="visible"/>
                                      </p:to>
                                    </p:set>
                                    <p:animEffect transition="in" filter="fade">
                                      <p:cBhvr>
                                        <p:cTn id="27" dur="400"/>
                                        <p:tgtEl>
                                          <p:spTgt spid="115"/>
                                        </p:tgtEl>
                                      </p:cBhvr>
                                    </p:animEffect>
                                  </p:childTnLst>
                                </p:cTn>
                              </p:par>
                              <p:par>
                                <p:cTn id="28" presetID="10" presetClass="entr" presetSubtype="0" fill="hold" nodeType="withEffect">
                                  <p:stCondLst>
                                    <p:cond delay="0"/>
                                  </p:stCondLst>
                                  <p:childTnLst>
                                    <p:set>
                                      <p:cBhvr>
                                        <p:cTn id="29" dur="1" fill="hold">
                                          <p:stCondLst>
                                            <p:cond delay="0"/>
                                          </p:stCondLst>
                                        </p:cTn>
                                        <p:tgtEl>
                                          <p:spTgt spid="116"/>
                                        </p:tgtEl>
                                        <p:attrNameLst>
                                          <p:attrName>style.visibility</p:attrName>
                                        </p:attrNameLst>
                                      </p:cBhvr>
                                      <p:to>
                                        <p:strVal val="visible"/>
                                      </p:to>
                                    </p:set>
                                    <p:animEffect transition="in" filter="fade">
                                      <p:cBhvr>
                                        <p:cTn id="30" dur="400"/>
                                        <p:tgtEl>
                                          <p:spTgt spid="116"/>
                                        </p:tgtEl>
                                      </p:cBhvr>
                                    </p:animEffect>
                                  </p:childTnLst>
                                </p:cTn>
                              </p:par>
                              <p:par>
                                <p:cTn id="31" presetID="10" presetClass="entr" presetSubtype="0" fill="hold" nodeType="withEffect">
                                  <p:stCondLst>
                                    <p:cond delay="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400"/>
                                        <p:tgtEl>
                                          <p:spTgt spid="94"/>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95"/>
                                        </p:tgtEl>
                                        <p:attrNameLst>
                                          <p:attrName>style.visibility</p:attrName>
                                        </p:attrNameLst>
                                      </p:cBhvr>
                                      <p:to>
                                        <p:strVal val="visible"/>
                                      </p:to>
                                    </p:set>
                                    <p:animEffect transition="in" filter="fade">
                                      <p:cBhvr>
                                        <p:cTn id="38" dur="400"/>
                                        <p:tgtEl>
                                          <p:spTgt spid="95"/>
                                        </p:tgtEl>
                                      </p:cBhvr>
                                    </p:animEffect>
                                  </p:childTnLst>
                                </p:cTn>
                              </p:par>
                              <p:par>
                                <p:cTn id="39" presetID="10" presetClass="entr" presetSubtype="0" fill="hold" nodeType="withEffect">
                                  <p:stCondLst>
                                    <p:cond delay="0"/>
                                  </p:stCondLst>
                                  <p:childTnLst>
                                    <p:set>
                                      <p:cBhvr>
                                        <p:cTn id="40" dur="1" fill="hold">
                                          <p:stCondLst>
                                            <p:cond delay="0"/>
                                          </p:stCondLst>
                                        </p:cTn>
                                        <p:tgtEl>
                                          <p:spTgt spid="96"/>
                                        </p:tgtEl>
                                        <p:attrNameLst>
                                          <p:attrName>style.visibility</p:attrName>
                                        </p:attrNameLst>
                                      </p:cBhvr>
                                      <p:to>
                                        <p:strVal val="visible"/>
                                      </p:to>
                                    </p:set>
                                    <p:animEffect transition="in" filter="fade">
                                      <p:cBhvr>
                                        <p:cTn id="41" dur="400"/>
                                        <p:tgtEl>
                                          <p:spTgt spid="9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97"/>
                                        </p:tgtEl>
                                        <p:attrNameLst>
                                          <p:attrName>style.visibility</p:attrName>
                                        </p:attrNameLst>
                                      </p:cBhvr>
                                      <p:to>
                                        <p:strVal val="visible"/>
                                      </p:to>
                                    </p:set>
                                    <p:animEffect transition="in" filter="fade">
                                      <p:cBhvr>
                                        <p:cTn id="46" dur="400"/>
                                        <p:tgtEl>
                                          <p:spTgt spid="97"/>
                                        </p:tgtEl>
                                      </p:cBhvr>
                                    </p:animEffect>
                                  </p:childTnLst>
                                </p:cTn>
                              </p:par>
                              <p:par>
                                <p:cTn id="47" presetID="10" presetClass="entr" presetSubtype="0" fill="hold" nodeType="withEffect">
                                  <p:stCondLst>
                                    <p:cond delay="0"/>
                                  </p:stCondLst>
                                  <p:childTnLst>
                                    <p:set>
                                      <p:cBhvr>
                                        <p:cTn id="48" dur="1" fill="hold">
                                          <p:stCondLst>
                                            <p:cond delay="0"/>
                                          </p:stCondLst>
                                        </p:cTn>
                                        <p:tgtEl>
                                          <p:spTgt spid="98"/>
                                        </p:tgtEl>
                                        <p:attrNameLst>
                                          <p:attrName>style.visibility</p:attrName>
                                        </p:attrNameLst>
                                      </p:cBhvr>
                                      <p:to>
                                        <p:strVal val="visible"/>
                                      </p:to>
                                    </p:set>
                                    <p:animEffect transition="in" filter="fade">
                                      <p:cBhvr>
                                        <p:cTn id="49" dur="400"/>
                                        <p:tgtEl>
                                          <p:spTgt spid="98"/>
                                        </p:tgtEl>
                                      </p:cBhvr>
                                    </p:animEffect>
                                  </p:childTnLst>
                                </p:cTn>
                              </p:par>
                              <p:par>
                                <p:cTn id="50" presetID="10" presetClass="entr" presetSubtype="0" fill="hold" nodeType="withEffect">
                                  <p:stCondLst>
                                    <p:cond delay="0"/>
                                  </p:stCondLst>
                                  <p:childTnLst>
                                    <p:set>
                                      <p:cBhvr>
                                        <p:cTn id="51" dur="1" fill="hold">
                                          <p:stCondLst>
                                            <p:cond delay="0"/>
                                          </p:stCondLst>
                                        </p:cTn>
                                        <p:tgtEl>
                                          <p:spTgt spid="99"/>
                                        </p:tgtEl>
                                        <p:attrNameLst>
                                          <p:attrName>style.visibility</p:attrName>
                                        </p:attrNameLst>
                                      </p:cBhvr>
                                      <p:to>
                                        <p:strVal val="visible"/>
                                      </p:to>
                                    </p:set>
                                    <p:animEffect transition="in" filter="fade">
                                      <p:cBhvr>
                                        <p:cTn id="52" dur="400"/>
                                        <p:tgtEl>
                                          <p:spTgt spid="99"/>
                                        </p:tgtEl>
                                      </p:cBhvr>
                                    </p:animEffect>
                                  </p:childTnLst>
                                </p:cTn>
                              </p:par>
                              <p:par>
                                <p:cTn id="53" presetID="10" presetClass="entr" presetSubtype="0" fill="hold" nodeType="withEffect">
                                  <p:stCondLst>
                                    <p:cond delay="0"/>
                                  </p:stCondLst>
                                  <p:childTnLst>
                                    <p:set>
                                      <p:cBhvr>
                                        <p:cTn id="54" dur="1" fill="hold">
                                          <p:stCondLst>
                                            <p:cond delay="0"/>
                                          </p:stCondLst>
                                        </p:cTn>
                                        <p:tgtEl>
                                          <p:spTgt spid="120"/>
                                        </p:tgtEl>
                                        <p:attrNameLst>
                                          <p:attrName>style.visibility</p:attrName>
                                        </p:attrNameLst>
                                      </p:cBhvr>
                                      <p:to>
                                        <p:strVal val="visible"/>
                                      </p:to>
                                    </p:set>
                                    <p:animEffect transition="in" filter="fade">
                                      <p:cBhvr>
                                        <p:cTn id="55"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Patterns give us alternatives, not answers</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100" name="H100"/>
          <p:cNvSpPr txBox="1"/>
          <p:nvPr/>
        </p:nvSpPr>
        <p:spPr>
          <a:xfrm>
            <a:off x="685800" y="1250000"/>
            <a:ext cx="228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RECURRING PROBLEM</a:t>
            </a:r>
          </a:p>
        </p:txBody>
      </p:sp>
      <p:sp>
        <p:nvSpPr>
          <p:cNvPr id="101" name="H101"/>
          <p:cNvSpPr txBox="1"/>
          <p:nvPr/>
        </p:nvSpPr>
        <p:spPr>
          <a:xfrm>
            <a:off x="3085800" y="1250000"/>
            <a:ext cx="153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OPTION A</a:t>
            </a:r>
          </a:p>
        </p:txBody>
      </p:sp>
      <p:sp>
        <p:nvSpPr>
          <p:cNvPr id="102" name="H102"/>
          <p:cNvSpPr txBox="1"/>
          <p:nvPr/>
        </p:nvSpPr>
        <p:spPr>
          <a:xfrm>
            <a:off x="4735800" y="1250000"/>
            <a:ext cx="153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OPTION B</a:t>
            </a:r>
          </a:p>
        </p:txBody>
      </p:sp>
      <p:sp>
        <p:nvSpPr>
          <p:cNvPr id="103" name="H103"/>
          <p:cNvSpPr txBox="1"/>
          <p:nvPr/>
        </p:nvSpPr>
        <p:spPr>
          <a:xfrm>
            <a:off x="6385800" y="1250000"/>
            <a:ext cx="19524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WHAT IS TRADED</a:t>
            </a:r>
          </a:p>
        </p:txBody>
      </p:sp>
      <p:cxnSp>
        <p:nvCxnSpPr>
          <p:cNvPr id="104" name="HdrRule"/>
          <p:cNvCxnSpPr/>
          <p:nvPr/>
        </p:nvCxnSpPr>
        <p:spPr>
          <a:xfrm>
            <a:off x="685800" y="1710000"/>
            <a:ext cx="7772400" cy="0"/>
          </a:xfrm>
          <a:prstGeom prst="line">
            <a:avLst/>
          </a:prstGeom>
          <a:ln w="25400">
            <a:solidFill>
              <a:srgbClr val="8E6F3E"/>
            </a:solidFill>
          </a:ln>
        </p:spPr>
      </p:cxnSp>
      <p:sp>
        <p:nvSpPr>
          <p:cNvPr id="110" name="R0C0"/>
          <p:cNvSpPr txBox="1"/>
          <p:nvPr/>
        </p:nvSpPr>
        <p:spPr>
          <a:xfrm>
            <a:off x="685800" y="177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Abstraction boundaries</a:t>
            </a:r>
          </a:p>
        </p:txBody>
      </p:sp>
      <p:sp>
        <p:nvSpPr>
          <p:cNvPr id="111" name="R0C1"/>
          <p:cNvSpPr txBox="1"/>
          <p:nvPr/>
        </p:nvSpPr>
        <p:spPr>
          <a:xfrm>
            <a:off x="3085800" y="177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Strict layering</a:t>
            </a:r>
          </a:p>
        </p:txBody>
      </p:sp>
      <p:sp>
        <p:nvSpPr>
          <p:cNvPr id="112" name="R0C2"/>
          <p:cNvSpPr txBox="1"/>
          <p:nvPr/>
        </p:nvSpPr>
        <p:spPr>
          <a:xfrm>
            <a:off x="4735800" y="177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Deliberate crossing</a:t>
            </a:r>
          </a:p>
        </p:txBody>
      </p:sp>
      <p:sp>
        <p:nvSpPr>
          <p:cNvPr id="113" name="R0C3"/>
          <p:cNvSpPr txBox="1"/>
          <p:nvPr/>
        </p:nvSpPr>
        <p:spPr>
          <a:xfrm>
            <a:off x="6385800" y="177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isolation ↔ capability</a:t>
            </a:r>
          </a:p>
        </p:txBody>
      </p:sp>
      <p:cxnSp>
        <p:nvCxnSpPr>
          <p:cNvPr id="114" name="Rule0"/>
          <p:cNvCxnSpPr/>
          <p:nvPr/>
        </p:nvCxnSpPr>
        <p:spPr>
          <a:xfrm>
            <a:off x="685800" y="2560000"/>
            <a:ext cx="7772400" cy="0"/>
          </a:xfrm>
          <a:prstGeom prst="line">
            <a:avLst/>
          </a:prstGeom>
          <a:ln w="12700">
            <a:solidFill>
              <a:srgbClr val="C9B991"/>
            </a:solidFill>
          </a:ln>
        </p:spPr>
      </p:cxnSp>
      <p:sp>
        <p:nvSpPr>
          <p:cNvPr id="115" name="R1C0"/>
          <p:cNvSpPr txBox="1"/>
          <p:nvPr/>
        </p:nvSpPr>
        <p:spPr>
          <a:xfrm>
            <a:off x="685800" y="259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State organization</a:t>
            </a:r>
          </a:p>
        </p:txBody>
      </p:sp>
      <p:sp>
        <p:nvSpPr>
          <p:cNvPr id="116" name="R1C1"/>
          <p:cNvSpPr txBox="1"/>
          <p:nvPr/>
        </p:nvSpPr>
        <p:spPr>
          <a:xfrm>
            <a:off x="3085800" y="259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Pipeline</a:t>
            </a:r>
          </a:p>
        </p:txBody>
      </p:sp>
      <p:sp>
        <p:nvSpPr>
          <p:cNvPr id="117" name="R1C2"/>
          <p:cNvSpPr txBox="1"/>
          <p:nvPr/>
        </p:nvSpPr>
        <p:spPr>
          <a:xfrm>
            <a:off x="4735800" y="259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Repository</a:t>
            </a:r>
          </a:p>
        </p:txBody>
      </p:sp>
      <p:sp>
        <p:nvSpPr>
          <p:cNvPr id="118" name="R1C3"/>
          <p:cNvSpPr txBox="1"/>
          <p:nvPr/>
        </p:nvSpPr>
        <p:spPr>
          <a:xfrm>
            <a:off x="6385800" y="259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local flow ↔ shared consistency</a:t>
            </a:r>
          </a:p>
        </p:txBody>
      </p:sp>
      <p:cxnSp>
        <p:nvCxnSpPr>
          <p:cNvPr id="119" name="Rule1"/>
          <p:cNvCxnSpPr/>
          <p:nvPr/>
        </p:nvCxnSpPr>
        <p:spPr>
          <a:xfrm>
            <a:off x="685800" y="3380000"/>
            <a:ext cx="7772400" cy="0"/>
          </a:xfrm>
          <a:prstGeom prst="line">
            <a:avLst/>
          </a:prstGeom>
          <a:ln w="12700">
            <a:solidFill>
              <a:srgbClr val="C9B991"/>
            </a:solidFill>
          </a:ln>
        </p:spPr>
      </p:cxnSp>
      <p:sp>
        <p:nvSpPr>
          <p:cNvPr id="120" name="R2C0"/>
          <p:cNvSpPr txBox="1"/>
          <p:nvPr/>
        </p:nvSpPr>
        <p:spPr>
          <a:xfrm>
            <a:off x="685800" y="341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Communication</a:t>
            </a:r>
          </a:p>
        </p:txBody>
      </p:sp>
      <p:sp>
        <p:nvSpPr>
          <p:cNvPr id="121" name="R2C1"/>
          <p:cNvSpPr txBox="1"/>
          <p:nvPr/>
        </p:nvSpPr>
        <p:spPr>
          <a:xfrm>
            <a:off x="3085800" y="341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RPC</a:t>
            </a:r>
          </a:p>
        </p:txBody>
      </p:sp>
      <p:sp>
        <p:nvSpPr>
          <p:cNvPr id="122" name="R2C2"/>
          <p:cNvSpPr txBox="1"/>
          <p:nvPr/>
        </p:nvSpPr>
        <p:spPr>
          <a:xfrm>
            <a:off x="4735800" y="341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Event-driven messaging</a:t>
            </a:r>
          </a:p>
        </p:txBody>
      </p:sp>
      <p:sp>
        <p:nvSpPr>
          <p:cNvPr id="123" name="R2C3"/>
          <p:cNvSpPr txBox="1"/>
          <p:nvPr/>
        </p:nvSpPr>
        <p:spPr>
          <a:xfrm>
            <a:off x="6385800" y="341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coordination ↔ independence</a:t>
            </a:r>
          </a:p>
        </p:txBody>
      </p:sp>
      <p:cxnSp>
        <p:nvCxnSpPr>
          <p:cNvPr id="124" name="Rule2"/>
          <p:cNvCxnSpPr/>
          <p:nvPr/>
        </p:nvCxnSpPr>
        <p:spPr>
          <a:xfrm>
            <a:off x="685800" y="4200000"/>
            <a:ext cx="7772400" cy="0"/>
          </a:xfrm>
          <a:prstGeom prst="line">
            <a:avLst/>
          </a:prstGeom>
          <a:ln w="12700">
            <a:solidFill>
              <a:srgbClr val="C9B991"/>
            </a:solidFill>
          </a:ln>
        </p:spPr>
      </p:cxnSp>
      <p:sp>
        <p:nvSpPr>
          <p:cNvPr id="125" name="R3C0"/>
          <p:cNvSpPr txBox="1"/>
          <p:nvPr/>
        </p:nvSpPr>
        <p:spPr>
          <a:xfrm>
            <a:off x="685800" y="423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Infrastructure dependencies</a:t>
            </a:r>
          </a:p>
        </p:txBody>
      </p:sp>
      <p:sp>
        <p:nvSpPr>
          <p:cNvPr id="126" name="R3C1"/>
          <p:cNvSpPr txBox="1"/>
          <p:nvPr/>
        </p:nvSpPr>
        <p:spPr>
          <a:xfrm>
            <a:off x="3085800" y="423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Direct dependency</a:t>
            </a:r>
          </a:p>
        </p:txBody>
      </p:sp>
      <p:sp>
        <p:nvSpPr>
          <p:cNvPr id="127" name="R3C2"/>
          <p:cNvSpPr txBox="1"/>
          <p:nvPr/>
        </p:nvSpPr>
        <p:spPr>
          <a:xfrm>
            <a:off x="4735800" y="423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Ports &amp; adapters</a:t>
            </a:r>
          </a:p>
        </p:txBody>
      </p:sp>
      <p:sp>
        <p:nvSpPr>
          <p:cNvPr id="128" name="R3C3"/>
          <p:cNvSpPr txBox="1"/>
          <p:nvPr/>
        </p:nvSpPr>
        <p:spPr>
          <a:xfrm>
            <a:off x="6385800" y="423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simple ↔ isolated</a:t>
            </a:r>
          </a:p>
        </p:txBody>
      </p:sp>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A pattern tells us what tends to happen. It does not tell us which consequence matters more here.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400"/>
                                        <p:tgtEl>
                                          <p:spTgt spid="115"/>
                                        </p:tgtEl>
                                      </p:cBhvr>
                                    </p:animEffect>
                                  </p:childTnLst>
                                </p:cTn>
                              </p:par>
                              <p:par>
                                <p:cTn id="8" presetID="10" presetClass="entr" presetSubtype="0" fill="hold" nodeType="withEffect">
                                  <p:stCondLst>
                                    <p:cond delay="0"/>
                                  </p:stCondLst>
                                  <p:childTnLst>
                                    <p:set>
                                      <p:cBhvr>
                                        <p:cTn id="9" dur="1" fill="hold">
                                          <p:stCondLst>
                                            <p:cond delay="0"/>
                                          </p:stCondLst>
                                        </p:cTn>
                                        <p:tgtEl>
                                          <p:spTgt spid="116"/>
                                        </p:tgtEl>
                                        <p:attrNameLst>
                                          <p:attrName>style.visibility</p:attrName>
                                        </p:attrNameLst>
                                      </p:cBhvr>
                                      <p:to>
                                        <p:strVal val="visible"/>
                                      </p:to>
                                    </p:set>
                                    <p:animEffect transition="in" filter="fade">
                                      <p:cBhvr>
                                        <p:cTn id="10" dur="400"/>
                                        <p:tgtEl>
                                          <p:spTgt spid="116"/>
                                        </p:tgtEl>
                                      </p:cBhvr>
                                    </p:animEffect>
                                  </p:childTnLst>
                                </p:cTn>
                              </p:par>
                              <p:par>
                                <p:cTn id="11" presetID="10" presetClass="entr" presetSubtype="0" fill="hold" nodeType="withEffect">
                                  <p:stCondLst>
                                    <p:cond delay="0"/>
                                  </p:stCondLst>
                                  <p:childTnLst>
                                    <p:set>
                                      <p:cBhvr>
                                        <p:cTn id="12" dur="1" fill="hold">
                                          <p:stCondLst>
                                            <p:cond delay="0"/>
                                          </p:stCondLst>
                                        </p:cTn>
                                        <p:tgtEl>
                                          <p:spTgt spid="117"/>
                                        </p:tgtEl>
                                        <p:attrNameLst>
                                          <p:attrName>style.visibility</p:attrName>
                                        </p:attrNameLst>
                                      </p:cBhvr>
                                      <p:to>
                                        <p:strVal val="visible"/>
                                      </p:to>
                                    </p:set>
                                    <p:animEffect transition="in" filter="fade">
                                      <p:cBhvr>
                                        <p:cTn id="13" dur="400"/>
                                        <p:tgtEl>
                                          <p:spTgt spid="117"/>
                                        </p:tgtEl>
                                      </p:cBhvr>
                                    </p:animEffect>
                                  </p:childTnLst>
                                </p:cTn>
                              </p:par>
                              <p:par>
                                <p:cTn id="14" presetID="10" presetClass="entr" presetSubtype="0" fill="hold" nodeType="withEffect">
                                  <p:stCondLst>
                                    <p:cond delay="0"/>
                                  </p:stCondLst>
                                  <p:childTnLst>
                                    <p:set>
                                      <p:cBhvr>
                                        <p:cTn id="15" dur="1" fill="hold">
                                          <p:stCondLst>
                                            <p:cond delay="0"/>
                                          </p:stCondLst>
                                        </p:cTn>
                                        <p:tgtEl>
                                          <p:spTgt spid="118"/>
                                        </p:tgtEl>
                                        <p:attrNameLst>
                                          <p:attrName>style.visibility</p:attrName>
                                        </p:attrNameLst>
                                      </p:cBhvr>
                                      <p:to>
                                        <p:strVal val="visible"/>
                                      </p:to>
                                    </p:set>
                                    <p:animEffect transition="in" filter="fade">
                                      <p:cBhvr>
                                        <p:cTn id="16" dur="400"/>
                                        <p:tgtEl>
                                          <p:spTgt spid="118"/>
                                        </p:tgtEl>
                                      </p:cBhvr>
                                    </p:animEffect>
                                  </p:childTnLst>
                                </p:cTn>
                              </p:par>
                              <p:par>
                                <p:cTn id="17" presetID="10" presetClass="entr" presetSubtype="0" fill="hold" nodeType="withEffect">
                                  <p:stCondLst>
                                    <p:cond delay="0"/>
                                  </p:stCondLst>
                                  <p:childTnLst>
                                    <p:set>
                                      <p:cBhvr>
                                        <p:cTn id="18" dur="1" fill="hold">
                                          <p:stCondLst>
                                            <p:cond delay="0"/>
                                          </p:stCondLst>
                                        </p:cTn>
                                        <p:tgtEl>
                                          <p:spTgt spid="119"/>
                                        </p:tgtEl>
                                        <p:attrNameLst>
                                          <p:attrName>style.visibility</p:attrName>
                                        </p:attrNameLst>
                                      </p:cBhvr>
                                      <p:to>
                                        <p:strVal val="visible"/>
                                      </p:to>
                                    </p:set>
                                    <p:animEffect transition="in" filter="fade">
                                      <p:cBhvr>
                                        <p:cTn id="19" dur="400"/>
                                        <p:tgtEl>
                                          <p:spTgt spid="11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4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4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22"/>
                                        </p:tgtEl>
                                        <p:attrNameLst>
                                          <p:attrName>style.visibility</p:attrName>
                                        </p:attrNameLst>
                                      </p:cBhvr>
                                      <p:to>
                                        <p:strVal val="visible"/>
                                      </p:to>
                                    </p:set>
                                    <p:animEffect transition="in" filter="fade">
                                      <p:cBhvr>
                                        <p:cTn id="30" dur="400"/>
                                        <p:tgtEl>
                                          <p:spTgt spid="122"/>
                                        </p:tgtEl>
                                      </p:cBhvr>
                                    </p:animEffect>
                                  </p:childTnLst>
                                </p:cTn>
                              </p:par>
                              <p:par>
                                <p:cTn id="31" presetID="10" presetClass="entr" presetSubtype="0" fill="hold" nodeType="withEffect">
                                  <p:stCondLst>
                                    <p:cond delay="0"/>
                                  </p:stCondLst>
                                  <p:childTnLst>
                                    <p:set>
                                      <p:cBhvr>
                                        <p:cTn id="32" dur="1" fill="hold">
                                          <p:stCondLst>
                                            <p:cond delay="0"/>
                                          </p:stCondLst>
                                        </p:cTn>
                                        <p:tgtEl>
                                          <p:spTgt spid="123"/>
                                        </p:tgtEl>
                                        <p:attrNameLst>
                                          <p:attrName>style.visibility</p:attrName>
                                        </p:attrNameLst>
                                      </p:cBhvr>
                                      <p:to>
                                        <p:strVal val="visible"/>
                                      </p:to>
                                    </p:set>
                                    <p:animEffect transition="in" filter="fade">
                                      <p:cBhvr>
                                        <p:cTn id="33" dur="400"/>
                                        <p:tgtEl>
                                          <p:spTgt spid="123"/>
                                        </p:tgtEl>
                                      </p:cBhvr>
                                    </p:animEffect>
                                  </p:childTnLst>
                                </p:cTn>
                              </p:par>
                              <p:par>
                                <p:cTn id="34" presetID="10" presetClass="entr" presetSubtype="0" fill="hold" nodeType="withEffect">
                                  <p:stCondLst>
                                    <p:cond delay="0"/>
                                  </p:stCondLst>
                                  <p:childTnLst>
                                    <p:set>
                                      <p:cBhvr>
                                        <p:cTn id="35" dur="1" fill="hold">
                                          <p:stCondLst>
                                            <p:cond delay="0"/>
                                          </p:stCondLst>
                                        </p:cTn>
                                        <p:tgtEl>
                                          <p:spTgt spid="124"/>
                                        </p:tgtEl>
                                        <p:attrNameLst>
                                          <p:attrName>style.visibility</p:attrName>
                                        </p:attrNameLst>
                                      </p:cBhvr>
                                      <p:to>
                                        <p:strVal val="visible"/>
                                      </p:to>
                                    </p:set>
                                    <p:animEffect transition="in" filter="fade">
                                      <p:cBhvr>
                                        <p:cTn id="36" dur="400"/>
                                        <p:tgtEl>
                                          <p:spTgt spid="12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25"/>
                                        </p:tgtEl>
                                        <p:attrNameLst>
                                          <p:attrName>style.visibility</p:attrName>
                                        </p:attrNameLst>
                                      </p:cBhvr>
                                      <p:to>
                                        <p:strVal val="visible"/>
                                      </p:to>
                                    </p:set>
                                    <p:animEffect transition="in" filter="fade">
                                      <p:cBhvr>
                                        <p:cTn id="41" dur="400"/>
                                        <p:tgtEl>
                                          <p:spTgt spid="125"/>
                                        </p:tgtEl>
                                      </p:cBhvr>
                                    </p:animEffect>
                                  </p:childTnLst>
                                </p:cTn>
                              </p:par>
                              <p:par>
                                <p:cTn id="42" presetID="10" presetClass="entr" presetSubtype="0" fill="hold" nodeType="withEffect">
                                  <p:stCondLst>
                                    <p:cond delay="0"/>
                                  </p:stCondLst>
                                  <p:childTnLst>
                                    <p:set>
                                      <p:cBhvr>
                                        <p:cTn id="43" dur="1" fill="hold">
                                          <p:stCondLst>
                                            <p:cond delay="0"/>
                                          </p:stCondLst>
                                        </p:cTn>
                                        <p:tgtEl>
                                          <p:spTgt spid="126"/>
                                        </p:tgtEl>
                                        <p:attrNameLst>
                                          <p:attrName>style.visibility</p:attrName>
                                        </p:attrNameLst>
                                      </p:cBhvr>
                                      <p:to>
                                        <p:strVal val="visible"/>
                                      </p:to>
                                    </p:set>
                                    <p:animEffect transition="in" filter="fade">
                                      <p:cBhvr>
                                        <p:cTn id="44" dur="400"/>
                                        <p:tgtEl>
                                          <p:spTgt spid="126"/>
                                        </p:tgtEl>
                                      </p:cBhvr>
                                    </p:animEffect>
                                  </p:childTnLst>
                                </p:cTn>
                              </p:par>
                              <p:par>
                                <p:cTn id="45" presetID="10" presetClass="entr" presetSubtype="0" fill="hold" nodeType="withEffect">
                                  <p:stCondLst>
                                    <p:cond delay="0"/>
                                  </p:stCondLst>
                                  <p:childTnLst>
                                    <p:set>
                                      <p:cBhvr>
                                        <p:cTn id="46" dur="1" fill="hold">
                                          <p:stCondLst>
                                            <p:cond delay="0"/>
                                          </p:stCondLst>
                                        </p:cTn>
                                        <p:tgtEl>
                                          <p:spTgt spid="127"/>
                                        </p:tgtEl>
                                        <p:attrNameLst>
                                          <p:attrName>style.visibility</p:attrName>
                                        </p:attrNameLst>
                                      </p:cBhvr>
                                      <p:to>
                                        <p:strVal val="visible"/>
                                      </p:to>
                                    </p:set>
                                    <p:animEffect transition="in" filter="fade">
                                      <p:cBhvr>
                                        <p:cTn id="47" dur="400"/>
                                        <p:tgtEl>
                                          <p:spTgt spid="127"/>
                                        </p:tgtEl>
                                      </p:cBhvr>
                                    </p:animEffect>
                                  </p:childTnLst>
                                </p:cTn>
                              </p:par>
                              <p:par>
                                <p:cTn id="48" presetID="10" presetClass="entr" presetSubtype="0" fill="hold" nodeType="withEffect">
                                  <p:stCondLst>
                                    <p:cond delay="0"/>
                                  </p:stCondLst>
                                  <p:childTnLst>
                                    <p:set>
                                      <p:cBhvr>
                                        <p:cTn id="49" dur="1" fill="hold">
                                          <p:stCondLst>
                                            <p:cond delay="0"/>
                                          </p:stCondLst>
                                        </p:cTn>
                                        <p:tgtEl>
                                          <p:spTgt spid="128"/>
                                        </p:tgtEl>
                                        <p:attrNameLst>
                                          <p:attrName>style.visibility</p:attrName>
                                        </p:attrNameLst>
                                      </p:cBhvr>
                                      <p:to>
                                        <p:strVal val="visible"/>
                                      </p:to>
                                    </p:set>
                                    <p:animEffect transition="in" filter="fade">
                                      <p:cBhvr>
                                        <p:cTn id="50" dur="400"/>
                                        <p:tgtEl>
                                          <p:spTgt spid="128"/>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4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much can we know before we build it?</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An architecture diagram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view</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weighted flow</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view</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Some claims require less betting than others</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MORE BETTING</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fontScale="92500" lnSpcReduction="20000"/>
          </a:bodyPr>
          <a:lstStyle/>
          <a:p>
            <a:pPr algn="r">
              <a:buNone/>
            </a:pPr>
            <a:r>
              <a:rPr lang="en-US" sz="2000" b="1" i="0" dirty="0">
                <a:solidFill>
                  <a:srgbClr val="5C4826"/>
                </a:solidFill>
              </a:rPr>
              <a:t>LESS BETTING</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764" y="1305600"/>
            <a:ext cx="1624000" cy="3248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457236" y="2697600"/>
            <a:ext cx="1798000" cy="812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034836" y="25352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sp>
        <p:nvSpPr>
          <p:cNvPr id="103" name="BUI"/>
          <p:cNvSpPr/>
          <p:nvPr/>
        </p:nvSpPr>
        <p:spPr>
          <a:xfrm>
            <a:off x="3183236" y="1711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0"/>
          <p:cNvCxnSpPr/>
          <p:nvPr/>
        </p:nvCxnSpPr>
        <p:spPr>
          <a:xfrm flipV="1">
            <a:off x="2255236" y="2013200"/>
            <a:ext cx="928000" cy="1090400"/>
          </a:xfrm>
          <a:prstGeom prst="line">
            <a:avLst/>
          </a:prstGeom>
          <a:ln w="49720">
            <a:solidFill>
              <a:srgbClr val="B23B3B"/>
            </a:solidFill>
            <a:prstDash val="dash"/>
            <a:tailEnd type="triangle" w="med" len="med"/>
          </a:ln>
        </p:spPr>
      </p:cxnSp>
      <p:sp>
        <p:nvSpPr>
          <p:cNvPr id="105" name="BADVICE"/>
          <p:cNvSpPr/>
          <p:nvPr/>
        </p:nvSpPr>
        <p:spPr>
          <a:xfrm>
            <a:off x="3183236" y="2813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
          <p:cNvCxnSpPr/>
          <p:nvPr/>
        </p:nvCxnSpPr>
        <p:spPr>
          <a:xfrm>
            <a:off x="2255236" y="3103600"/>
            <a:ext cx="928000" cy="0"/>
          </a:xfrm>
          <a:prstGeom prst="line">
            <a:avLst/>
          </a:prstGeom>
          <a:ln w="49720">
            <a:solidFill>
              <a:srgbClr val="B23B3B"/>
            </a:solidFill>
            <a:prstDash val="dash"/>
            <a:tailEnd type="triangle" w="med" len="med"/>
          </a:ln>
        </p:spPr>
      </p:cxnSp>
      <p:sp>
        <p:nvSpPr>
          <p:cNvPr id="107" name="BSTORAGE"/>
          <p:cNvSpPr/>
          <p:nvPr/>
        </p:nvSpPr>
        <p:spPr>
          <a:xfrm>
            <a:off x="3183236" y="391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2"/>
          <p:cNvCxnSpPr/>
          <p:nvPr/>
        </p:nvCxnSpPr>
        <p:spPr>
          <a:xfrm>
            <a:off x="2255236" y="3103600"/>
            <a:ext cx="928000" cy="1113600"/>
          </a:xfrm>
          <a:prstGeom prst="line">
            <a:avLst/>
          </a:prstGeom>
          <a:ln w="49720">
            <a:solidFill>
              <a:srgbClr val="B23B3B"/>
            </a:solidFill>
            <a:prstDash val="dash"/>
            <a:tailEnd type="triangle" w="med" len="med"/>
          </a:ln>
        </p:spPr>
      </p:cxnSp>
      <p:sp>
        <p:nvSpPr>
          <p:cNvPr id="109" name="BCap"/>
          <p:cNvSpPr txBox="1"/>
          <p:nvPr/>
        </p:nvSpPr>
        <p:spPr>
          <a:xfrm>
            <a:off x="399236" y="4669600"/>
            <a:ext cx="4176000" cy="3248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305600"/>
            <a:ext cx="1624000" cy="3248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667000" y="188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667000" y="304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639000" y="1769600"/>
            <a:ext cx="116000" cy="203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63000" y="1398400"/>
            <a:ext cx="3828000" cy="3016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929000" y="2407600"/>
            <a:ext cx="1856000" cy="87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95000" y="22452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
          <p:cNvCxnSpPr/>
          <p:nvPr/>
        </p:nvCxnSpPr>
        <p:spPr>
          <a:xfrm>
            <a:off x="6001000" y="2187200"/>
            <a:ext cx="638000" cy="336400"/>
          </a:xfrm>
          <a:prstGeom prst="line">
            <a:avLst/>
          </a:prstGeom>
          <a:ln w="49720">
            <a:solidFill>
              <a:srgbClr val="8E6F3E"/>
            </a:solidFill>
            <a:tailEnd type="triangle" w="med" len="med"/>
          </a:ln>
        </p:spPr>
      </p:cxnSp>
      <p:cxnSp>
        <p:nvCxnSpPr>
          <p:cNvPr id="119" name="AA2"/>
          <p:cNvCxnSpPr/>
          <p:nvPr/>
        </p:nvCxnSpPr>
        <p:spPr>
          <a:xfrm flipV="1">
            <a:off x="6001000" y="3161600"/>
            <a:ext cx="638000" cy="185600"/>
          </a:xfrm>
          <a:prstGeom prst="line">
            <a:avLst/>
          </a:prstGeom>
          <a:ln w="49720">
            <a:solidFill>
              <a:srgbClr val="8E6F3E"/>
            </a:solidFill>
            <a:tailEnd type="triangle" w="med" len="med"/>
          </a:ln>
        </p:spPr>
      </p:cxnSp>
      <p:sp>
        <p:nvSpPr>
          <p:cNvPr id="120" name="ACap"/>
          <p:cNvSpPr txBox="1"/>
          <p:nvPr/>
        </p:nvSpPr>
        <p:spPr>
          <a:xfrm>
            <a:off x="4667000" y="4669600"/>
            <a:ext cx="4408000" cy="324800"/>
          </a:xfrm>
          <a:prstGeom prst="rect">
            <a:avLst/>
          </a:prstGeom>
          <a:noFill/>
          <a:ln>
            <a:noFill/>
          </a:ln>
        </p:spPr>
        <p:txBody>
          <a:bodyPr wrap="square" lIns="0" tIns="0" rIns="0" bIns="0" anchor="t">
            <a:normAutofit/>
          </a:bodyPr>
          <a:lstStyle/>
          <a:p>
            <a:pPr algn="l">
              <a:buNone/>
            </a:pPr>
            <a:r>
              <a:rPr lang="en-US" sz="1900" b="0" i="1" dirty="0">
                <a:solidFill>
                  <a:srgbClr val="1F7A4D"/>
                </a:solidFill>
              </a:rPr>
              <a:t>the change stays behind the seam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a:bodyPr>
          <a:lstStyle/>
          <a:p>
            <a:pPr algn="l">
              <a:buNone/>
            </a:pPr>
            <a:r>
              <a:rPr lang="en-US" sz="2000" b="1" i="0" dirty="0">
                <a:solidFill>
                  <a:srgbClr val="8E6F3E"/>
                </a:solidFill>
              </a:rPr>
              <a:t>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happens when architectural evidence gets cheap?</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xml:space="preserve">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0"/>
                                        </p:tgtEl>
                                        <p:attrNameLst>
                                          <p:attrName>style.visibility</p:attrName>
                                        </p:attrNameLst>
                                      </p:cBhvr>
                                      <p:to>
                                        <p:strVal val="visible"/>
                                      </p:to>
                                    </p:set>
                                    <p:animEffect transition="in" filter="fade">
                                      <p:cBhvr>
                                        <p:cTn id="7" dur="400"/>
                                        <p:tgtEl>
                                          <p:spTgt spid="150"/>
                                        </p:tgtEl>
                                      </p:cBhvr>
                                    </p:animEffect>
                                  </p:childTnLst>
                                </p:cTn>
                              </p:par>
                              <p:par>
                                <p:cTn id="8" presetID="10" presetClass="entr" presetSubtype="0" fill="hold" nodeType="withEffect">
                                  <p:stCondLst>
                                    <p:cond delay="0"/>
                                  </p:stCondLst>
                                  <p:childTnLst>
                                    <p:set>
                                      <p:cBhvr>
                                        <p:cTn id="9" dur="1" fill="hold">
                                          <p:stCondLst>
                                            <p:cond delay="0"/>
                                          </p:stCondLst>
                                        </p:cTn>
                                        <p:tgtEl>
                                          <p:spTgt spid="151"/>
                                        </p:tgtEl>
                                        <p:attrNameLst>
                                          <p:attrName>style.visibility</p:attrName>
                                        </p:attrNameLst>
                                      </p:cBhvr>
                                      <p:to>
                                        <p:strVal val="visible"/>
                                      </p:to>
                                    </p:set>
                                    <p:animEffect transition="in" filter="fade">
                                      <p:cBhvr>
                                        <p:cTn id="10" dur="400"/>
                                        <p:tgtEl>
                                          <p:spTgt spid="151"/>
                                        </p:tgtEl>
                                      </p:cBhvr>
                                    </p:animEffect>
                                  </p:childTnLst>
                                </p:cTn>
                              </p:par>
                              <p:par>
                                <p:cTn id="11" presetID="10" presetClass="entr" presetSubtype="0" fill="hold" nodeType="withEffect">
                                  <p:stCondLst>
                                    <p:cond delay="0"/>
                                  </p:stCondLst>
                                  <p:childTnLst>
                                    <p:set>
                                      <p:cBhvr>
                                        <p:cTn id="12" dur="1" fill="hold">
                                          <p:stCondLst>
                                            <p:cond delay="0"/>
                                          </p:stCondLst>
                                        </p:cTn>
                                        <p:tgtEl>
                                          <p:spTgt spid="152"/>
                                        </p:tgtEl>
                                        <p:attrNameLst>
                                          <p:attrName>style.visibility</p:attrName>
                                        </p:attrNameLst>
                                      </p:cBhvr>
                                      <p:to>
                                        <p:strVal val="visible"/>
                                      </p:to>
                                    </p:set>
                                    <p:animEffect transition="in" filter="fade">
                                      <p:cBhvr>
                                        <p:cTn id="13" dur="400"/>
                                        <p:tgtEl>
                                          <p:spTgt spid="152"/>
                                        </p:tgtEl>
                                      </p:cBhvr>
                                    </p:animEffect>
                                  </p:childTnLst>
                                </p:cTn>
                              </p:par>
                              <p:par>
                                <p:cTn id="14" presetID="10" presetClass="entr" presetSubtype="0" fill="hold" nodeType="withEffect">
                                  <p:stCondLst>
                                    <p:cond delay="0"/>
                                  </p:stCondLst>
                                  <p:childTnLst>
                                    <p:set>
                                      <p:cBhvr>
                                        <p:cTn id="15" dur="1" fill="hold">
                                          <p:stCondLst>
                                            <p:cond delay="0"/>
                                          </p:stCondLst>
                                        </p:cTn>
                                        <p:tgtEl>
                                          <p:spTgt spid="153"/>
                                        </p:tgtEl>
                                        <p:attrNameLst>
                                          <p:attrName>style.visibility</p:attrName>
                                        </p:attrNameLst>
                                      </p:cBhvr>
                                      <p:to>
                                        <p:strVal val="visible"/>
                                      </p:to>
                                    </p:set>
                                    <p:animEffect transition="in" filter="fade">
                                      <p:cBhvr>
                                        <p:cTn id="16" dur="400"/>
                                        <p:tgtEl>
                                          <p:spTgt spid="153"/>
                                        </p:tgtEl>
                                      </p:cBhvr>
                                    </p:animEffect>
                                  </p:childTnLst>
                                </p:cTn>
                              </p:par>
                              <p:par>
                                <p:cTn id="17" presetID="10" presetClass="entr" presetSubtype="0" fill="hold" nodeType="withEffect">
                                  <p:stCondLst>
                                    <p:cond delay="0"/>
                                  </p:stCondLst>
                                  <p:childTnLst>
                                    <p:set>
                                      <p:cBhvr>
                                        <p:cTn id="18" dur="1" fill="hold">
                                          <p:stCondLst>
                                            <p:cond delay="0"/>
                                          </p:stCondLst>
                                        </p:cTn>
                                        <p:tgtEl>
                                          <p:spTgt spid="154"/>
                                        </p:tgtEl>
                                        <p:attrNameLst>
                                          <p:attrName>style.visibility</p:attrName>
                                        </p:attrNameLst>
                                      </p:cBhvr>
                                      <p:to>
                                        <p:strVal val="visible"/>
                                      </p:to>
                                    </p:set>
                                    <p:animEffect transition="in" filter="fade">
                                      <p:cBhvr>
                                        <p:cTn id="19" dur="400"/>
                                        <p:tgtEl>
                                          <p:spTgt spid="154"/>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61" name="Band61"/>
          <p:cNvSpPr/>
          <p:nvPr/>
        </p:nvSpPr>
        <p:spPr>
          <a:xfrm>
            <a:off x="279400" y="4500000"/>
            <a:ext cx="8585200" cy="1300000"/>
          </a:xfrm>
          <a:prstGeom prst="rect">
            <a:avLst/>
          </a:prstGeom>
          <a:solidFill>
            <a:srgbClr val="F5F1E8"/>
          </a:solidFill>
          <a:ln>
            <a:noFill/>
          </a:ln>
        </p:spPr>
        <p:txBody>
          <a:bodyPr wrap="square" lIns="109728" tIns="82296" rIns="109728" bIns="82296" anchor="ctr">
            <a:normAutofit/>
          </a:bodyPr>
          <a:lstStyle/>
          <a:p>
            <a:pPr algn="l">
              <a:buNone/>
            </a:pPr>
            <a:r>
              <a:rPr lang="en-US" sz="2400" b="1" i="0" dirty="0">
                <a:solidFill>
                  <a:srgbClr val="000000"/>
                </a:solidFill>
              </a:rPr>
              <a:t>Sketch the major parts, the boundaries, and the interactions.</a:t>
            </a:r>
          </a:p>
          <a:p>
            <a:pPr algn="l">
              <a:spcBef>
                <a:spcPts val="200"/>
              </a:spcBef>
              <a:buNone/>
            </a:pPr>
            <a:r>
              <a:rPr lang="en-US" sz="2400" b="0" i="0" dirty="0">
                <a:solidFill>
                  <a:srgbClr val="000000"/>
                </a:solidFill>
              </a:rPr>
              <a:t>Produce TWO plausible organizations —</a:t>
            </a:r>
            <a:br>
              <a:rPr lang="en-US" sz="2400" b="0" i="0" dirty="0">
                <a:solidFill>
                  <a:srgbClr val="000000"/>
                </a:solidFill>
              </a:rPr>
            </a:br>
            <a:r>
              <a:rPr lang="en-US" sz="2400" b="0" i="0" dirty="0">
                <a:solidFill>
                  <a:srgbClr val="000000"/>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455000" y="1150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2 s latency</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680000" y="1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privacy</a:t>
            </a:r>
          </a:p>
        </p:txBody>
      </p:sp>
      <p:cxnSp>
        <p:nvCxnSpPr>
          <p:cNvPr id="104" name="OblA1"/>
          <p:cNvCxnSpPr/>
          <p:nvPr/>
        </p:nvCxnSpPr>
        <p:spPr>
          <a:xfrm>
            <a:off x="2920000" y="2200000"/>
            <a:ext cx="205000" cy="450000"/>
          </a:xfrm>
          <a:prstGeom prst="line">
            <a:avLst/>
          </a:prstGeom>
          <a:ln w="42862">
            <a:solidFill>
              <a:srgbClr val="C9B991"/>
            </a:solidFill>
            <a:tailEnd type="triangle" w="med" len="med"/>
          </a:ln>
        </p:spPr>
      </p:cxnSp>
      <p:sp>
        <p:nvSpPr>
          <p:cNvPr id="105" name="Obl2"/>
          <p:cNvSpPr/>
          <p:nvPr/>
        </p:nvSpPr>
        <p:spPr>
          <a:xfrm>
            <a:off x="6230000" y="1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expected change</a:t>
            </a:r>
          </a:p>
        </p:txBody>
      </p:sp>
      <p:cxnSp>
        <p:nvCxnSpPr>
          <p:cNvPr id="106" name="OblA2"/>
          <p:cNvCxnSpPr/>
          <p:nvPr/>
        </p:nvCxnSpPr>
        <p:spPr>
          <a:xfrm flipH="1">
            <a:off x="6025000" y="2200000"/>
            <a:ext cx="205000" cy="450000"/>
          </a:xfrm>
          <a:prstGeom prst="line">
            <a:avLst/>
          </a:prstGeom>
          <a:ln w="42862">
            <a:solidFill>
              <a:srgbClr val="C9B991"/>
            </a:solidFill>
            <a:tailEnd type="triangle" w="med" len="med"/>
          </a:ln>
        </p:spPr>
      </p:cxnSp>
      <p:sp>
        <p:nvSpPr>
          <p:cNvPr id="107" name="Obl3"/>
          <p:cNvSpPr/>
          <p:nvPr/>
        </p:nvSpPr>
        <p:spPr>
          <a:xfrm>
            <a:off x="1080000" y="3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availability</a:t>
            </a:r>
          </a:p>
        </p:txBody>
      </p:sp>
      <p:cxnSp>
        <p:nvCxnSpPr>
          <p:cNvPr id="108" name="OblA3"/>
          <p:cNvCxnSpPr/>
          <p:nvPr/>
        </p:nvCxnSpPr>
        <p:spPr>
          <a:xfrm flipV="1">
            <a:off x="3320000" y="3550000"/>
            <a:ext cx="480000" cy="266675"/>
          </a:xfrm>
          <a:prstGeom prst="line">
            <a:avLst/>
          </a:prstGeom>
          <a:ln w="42862">
            <a:solidFill>
              <a:srgbClr val="C9B991"/>
            </a:solidFill>
            <a:tailEnd type="triangle" w="med" len="med"/>
          </a:ln>
        </p:spPr>
      </p:cxnSp>
      <p:sp>
        <p:nvSpPr>
          <p:cNvPr id="109" name="Obl4"/>
          <p:cNvSpPr/>
          <p:nvPr/>
        </p:nvSpPr>
        <p:spPr>
          <a:xfrm>
            <a:off x="5880000" y="3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consistency</a:t>
            </a:r>
          </a:p>
        </p:txBody>
      </p:sp>
      <p:cxnSp>
        <p:nvCxnSpPr>
          <p:cNvPr id="110" name="OblA4"/>
          <p:cNvCxnSpPr/>
          <p:nvPr/>
        </p:nvCxnSpPr>
        <p:spPr>
          <a:xfrm flipH="1" flipV="1">
            <a:off x="5350000" y="3550000"/>
            <a:ext cx="530000" cy="250000"/>
          </a:xfrm>
          <a:prstGeom prst="line">
            <a:avLst/>
          </a:prstGeom>
          <a:ln w="42862">
            <a:solidFill>
              <a:srgbClr val="C9B991"/>
            </a:solidFill>
            <a:tailEnd type="triangle" w="med" len="med"/>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xml:space="preserve">·  </a:t>
            </a:r>
            <a:r>
              <a:rPr lang="en-US" sz="2200" b="0" i="0" dirty="0">
                <a:solidFill>
                  <a:srgbClr val="000000"/>
                </a:solidFill>
              </a:rPr>
              <a:t>Which candidates violate specification?</a:t>
            </a:r>
          </a:p>
          <a:p>
            <a:pPr algn="l">
              <a:spcBef>
                <a:spcPts val="150"/>
              </a:spcBef>
              <a:buNone/>
            </a:pPr>
            <a:r>
              <a:rPr lang="en-US" sz="2200" b="1" i="0" dirty="0">
                <a:solidFill>
                  <a:srgbClr val="8E6F3E"/>
                </a:solidFill>
              </a:rPr>
              <a:t xml:space="preserve">·  </a:t>
            </a:r>
            <a:r>
              <a:rPr lang="en-US" sz="2200" b="0" i="0" dirty="0">
                <a:solidFill>
                  <a:srgbClr val="000000"/>
                </a:solidFill>
              </a:rPr>
              <a:t>Is anything Pareto-dominated?</a:t>
            </a:r>
          </a:p>
          <a:p>
            <a:pPr algn="l">
              <a:spcBef>
                <a:spcPts val="150"/>
              </a:spcBef>
              <a:buNone/>
            </a:pPr>
            <a:r>
              <a:rPr lang="en-US" sz="2200" b="1" i="0" dirty="0">
                <a:solidFill>
                  <a:srgbClr val="8E6F3E"/>
                </a:solidFill>
              </a:rPr>
              <a:t xml:space="preserve">·  </a:t>
            </a:r>
            <a:r>
              <a:rPr lang="en-US" sz="2200" b="0" i="0" dirty="0">
                <a:solidFill>
                  <a:srgbClr val="000000"/>
                </a:solidFill>
              </a:rPr>
              <a:t>What genuine tradeoff remains?</a:t>
            </a:r>
          </a:p>
          <a:p>
            <a:pPr algn="l">
              <a:spcBef>
                <a:spcPts val="150"/>
              </a:spcBef>
              <a:buNone/>
            </a:pPr>
            <a:r>
              <a:rPr lang="en-US" sz="2200" b="1" i="0" dirty="0">
                <a:solidFill>
                  <a:srgbClr val="8E6F3E"/>
                </a:solidFill>
              </a:rPr>
              <a:t xml:space="preserve">·  </a:t>
            </a:r>
            <a:r>
              <a:rPr lang="en-US" sz="2200" b="0" i="0" dirty="0">
                <a:solidFill>
                  <a:srgbClr val="000000"/>
                </a:solidFill>
              </a:rPr>
              <a:t>What architectural model would help distinguish the alternatives?</a:t>
            </a:r>
          </a:p>
          <a:p>
            <a:pPr algn="l">
              <a:spcBef>
                <a:spcPts val="150"/>
              </a:spcBef>
              <a:buNone/>
            </a:pPr>
            <a:r>
              <a:rPr lang="en-US" sz="2200" b="1" i="0" dirty="0">
                <a:solidFill>
                  <a:srgbClr val="8E6F3E"/>
                </a:solidFill>
              </a:rPr>
              <a:t xml:space="preserve">·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xml:space="preserve">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xml:space="preserve">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xml:space="preserve">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par>
                                <p:cTn id="25" presetID="10" presetClass="entr" presetSubtype="0" fill="hold" nodeType="withEffect">
                                  <p:stCondLst>
                                    <p:cond delay="0"/>
                                  </p:stCondLst>
                                  <p:childTnLst>
                                    <p:set>
                                      <p:cBhvr>
                                        <p:cTn id="26" dur="1" fill="hold">
                                          <p:stCondLst>
                                            <p:cond delay="0"/>
                                          </p:stCondLst>
                                        </p:cTn>
                                        <p:tgtEl>
                                          <p:spTgt spid="107"/>
                                        </p:tgtEl>
                                        <p:attrNameLst>
                                          <p:attrName>style.visibility</p:attrName>
                                        </p:attrNameLst>
                                      </p:cBhvr>
                                      <p:to>
                                        <p:strVal val="visible"/>
                                      </p:to>
                                    </p:set>
                                    <p:animEffect transition="in" filter="fade">
                                      <p:cBhvr>
                                        <p:cTn id="27" dur="400"/>
                                        <p:tgtEl>
                                          <p:spTgt spid="10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par>
                                <p:cTn id="33" presetID="10" presetClass="entr" presetSubtype="0" fill="hold" nodeType="withEffect">
                                  <p:stCondLst>
                                    <p:cond delay="0"/>
                                  </p:stCondLst>
                                  <p:childTnLst>
                                    <p:set>
                                      <p:cBhvr>
                                        <p:cTn id="34" dur="1" fill="hold">
                                          <p:stCondLst>
                                            <p:cond delay="0"/>
                                          </p:stCondLst>
                                        </p:cTn>
                                        <p:tgtEl>
                                          <p:spTgt spid="109"/>
                                        </p:tgtEl>
                                        <p:attrNameLst>
                                          <p:attrName>style.visibility</p:attrName>
                                        </p:attrNameLst>
                                      </p:cBhvr>
                                      <p:to>
                                        <p:strVal val="visible"/>
                                      </p:to>
                                    </p:set>
                                    <p:animEffect transition="in" filter="fade">
                                      <p:cBhvr>
                                        <p:cTn id="35" dur="400"/>
                                        <p:tgtEl>
                                          <p:spTgt spid="109"/>
                                        </p:tgtEl>
                                      </p:cBhvr>
                                    </p:animEffect>
                                  </p:childTnLst>
                                </p:cTn>
                              </p:par>
                              <p:par>
                                <p:cTn id="36" presetID="10" presetClass="entr" presetSubtype="0" fill="hold" nodeType="withEffect">
                                  <p:stCondLst>
                                    <p:cond delay="0"/>
                                  </p:stCondLst>
                                  <p:childTnLst>
                                    <p:set>
                                      <p:cBhvr>
                                        <p:cTn id="37" dur="1" fill="hold">
                                          <p:stCondLst>
                                            <p:cond delay="0"/>
                                          </p:stCondLst>
                                        </p:cTn>
                                        <p:tgtEl>
                                          <p:spTgt spid="110"/>
                                        </p:tgtEl>
                                        <p:attrNameLst>
                                          <p:attrName>style.visibility</p:attrName>
                                        </p:attrNameLst>
                                      </p:cBhvr>
                                      <p:to>
                                        <p:strVal val="visible"/>
                                      </p:to>
                                    </p:set>
                                    <p:animEffect transition="in" filter="fade">
                                      <p:cBhvr>
                                        <p:cTn id="38" dur="400"/>
                                        <p:tgtEl>
                                          <p:spTgt spid="11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par>
                                <p:cTn id="44" presetID="10" presetClass="entr" presetSubtype="0" fill="hold" nodeType="with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400"/>
                                        <p:tgtEl>
                                          <p:spTgt spid="112"/>
                                        </p:tgtEl>
                                      </p:cBhvr>
                                    </p:animEffect>
                                  </p:childTnLst>
                                </p:cTn>
                              </p:par>
                              <p:par>
                                <p:cTn id="47" presetID="10" presetClass="entr" presetSubtype="0" fill="hold" nodeType="with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4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14"/>
                                        </p:tgtEl>
                                        <p:attrNameLst>
                                          <p:attrName>style.visibility</p:attrName>
                                        </p:attrNameLst>
                                      </p:cBhvr>
                                      <p:to>
                                        <p:strVal val="visible"/>
                                      </p:to>
                                    </p:set>
                                    <p:animEffect transition="in" filter="fade">
                                      <p:cBhvr>
                                        <p:cTn id="52" dur="400"/>
                                        <p:tgtEl>
                                          <p:spTgt spid="114"/>
                                        </p:tgtEl>
                                      </p:cBhvr>
                                    </p:animEffect>
                                  </p:childTnLst>
                                </p:cTn>
                              </p:par>
                              <p:par>
                                <p:cTn id="53" presetID="10" presetClass="entr" presetSubtype="0" fill="hold" nodeType="withEffect">
                                  <p:stCondLst>
                                    <p:cond delay="0"/>
                                  </p:stCondLst>
                                  <p:childTnLst>
                                    <p:set>
                                      <p:cBhvr>
                                        <p:cTn id="54" dur="1" fill="hold">
                                          <p:stCondLst>
                                            <p:cond delay="0"/>
                                          </p:stCondLst>
                                        </p:cTn>
                                        <p:tgtEl>
                                          <p:spTgt spid="115"/>
                                        </p:tgtEl>
                                        <p:attrNameLst>
                                          <p:attrName>style.visibility</p:attrName>
                                        </p:attrNameLst>
                                      </p:cBhvr>
                                      <p:to>
                                        <p:strVal val="visible"/>
                                      </p:to>
                                    </p:set>
                                    <p:animEffect transition="in" filter="fade">
                                      <p:cBhvr>
                                        <p:cTn id="55" dur="400"/>
                                        <p:tgtEl>
                                          <p:spTgt spid="115"/>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7"/>
                                        </p:tgtEl>
                                        <p:attrNameLst>
                                          <p:attrName>style.visibility</p:attrName>
                                        </p:attrNameLst>
                                      </p:cBhvr>
                                      <p:to>
                                        <p:strVal val="visible"/>
                                      </p:to>
                                    </p:set>
                                    <p:animEffect transition="in" filter="fade">
                                      <p:cBhvr>
                                        <p:cTn id="63" dur="400"/>
                                        <p:tgtEl>
                                          <p:spTgt spid="117"/>
                                        </p:tgtEl>
                                      </p:cBhvr>
                                    </p:animEffect>
                                  </p:childTnLst>
                                </p:cTn>
                              </p:par>
                              <p:par>
                                <p:cTn id="64" presetID="10" presetClass="entr" presetSubtype="0" fill="hold" nodeType="withEffect">
                                  <p:stCondLst>
                                    <p:cond delay="0"/>
                                  </p:stCondLst>
                                  <p:childTnLst>
                                    <p:set>
                                      <p:cBhvr>
                                        <p:cTn id="65" dur="1" fill="hold">
                                          <p:stCondLst>
                                            <p:cond delay="0"/>
                                          </p:stCondLst>
                                        </p:cTn>
                                        <p:tgtEl>
                                          <p:spTgt spid="118"/>
                                        </p:tgtEl>
                                        <p:attrNameLst>
                                          <p:attrName>style.visibility</p:attrName>
                                        </p:attrNameLst>
                                      </p:cBhvr>
                                      <p:to>
                                        <p:strVal val="visible"/>
                                      </p:to>
                                    </p:set>
                                    <p:animEffect transition="in" filter="fade">
                                      <p:cBhvr>
                                        <p:cTn id="66" dur="400"/>
                                        <p:tgtEl>
                                          <p:spTgt spid="11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2"/>
                                        </p:tgtEl>
                                        <p:attrNameLst>
                                          <p:attrName>style.visibility</p:attrName>
                                        </p:attrNameLst>
                                      </p:cBhvr>
                                      <p:to>
                                        <p:strVal val="visible"/>
                                      </p:to>
                                    </p:set>
                                    <p:animEffect transition="in" filter="fade">
                                      <p:cBhvr>
                                        <p:cTn id="71" dur="400"/>
                                        <p:tgtEl>
                                          <p:spTgt spid="2"/>
                                        </p:tgtEl>
                                      </p:cBhvr>
                                    </p:animEffect>
                                  </p:childTnLst>
                                </p:cTn>
                              </p:par>
                              <p:par>
                                <p:cTn id="72" presetID="10" presetClass="entr" presetSubtype="0" fill="hold" nodeType="withEffect">
                                  <p:stCondLst>
                                    <p:cond delay="0"/>
                                  </p:stCondLst>
                                  <p:childTnLst>
                                    <p:set>
                                      <p:cBhvr>
                                        <p:cTn id="73" dur="1" fill="hold">
                                          <p:stCondLst>
                                            <p:cond delay="0"/>
                                          </p:stCondLst>
                                        </p:cTn>
                                        <p:tgtEl>
                                          <p:spTgt spid="5"/>
                                        </p:tgtEl>
                                        <p:attrNameLst>
                                          <p:attrName>style.visibility</p:attrName>
                                        </p:attrNameLst>
                                      </p:cBhvr>
                                      <p:to>
                                        <p:strVal val="visible"/>
                                      </p:to>
                                    </p:set>
                                    <p:animEffect transition="in" filter="fade">
                                      <p:cBhvr>
                                        <p:cTn id="74" dur="400"/>
                                        <p:tgtEl>
                                          <p:spTgt spid="5"/>
                                        </p:tgtEl>
                                      </p:cBhvr>
                                    </p:animEffect>
                                  </p:childTnLst>
                                </p:cTn>
                              </p:par>
                              <p:par>
                                <p:cTn id="75" presetID="10" presetClass="entr" presetSubtype="0" fill="hold" nodeType="withEffect">
                                  <p:stCondLst>
                                    <p:cond delay="0"/>
                                  </p:stCondLst>
                                  <p:childTnLst>
                                    <p:set>
                                      <p:cBhvr>
                                        <p:cTn id="76" dur="1" fill="hold">
                                          <p:stCondLst>
                                            <p:cond delay="0"/>
                                          </p:stCondLst>
                                        </p:cTn>
                                        <p:tgtEl>
                                          <p:spTgt spid="300"/>
                                        </p:tgtEl>
                                        <p:attrNameLst>
                                          <p:attrName>style.visibility</p:attrName>
                                        </p:attrNameLst>
                                      </p:cBhvr>
                                      <p:to>
                                        <p:strVal val="visible"/>
                                      </p:to>
                                    </p:set>
                                    <p:animEffect transition="in" filter="fade">
                                      <p:cBhvr>
                                        <p:cTn id="77" dur="400"/>
                                        <p:tgtEl>
                                          <p:spTgt spid="300"/>
                                        </p:tgtEl>
                                      </p:cBhvr>
                                    </p:animEffect>
                                  </p:childTnLst>
                                </p:cTn>
                              </p:par>
                              <p:par>
                                <p:cTn id="78" presetID="10" presetClass="entr" presetSubtype="0" fill="hold" nodeType="withEffect">
                                  <p:stCondLst>
                                    <p:cond delay="0"/>
                                  </p:stCondLst>
                                  <p:childTnLst>
                                    <p:set>
                                      <p:cBhvr>
                                        <p:cTn id="79" dur="1" fill="hold">
                                          <p:stCondLst>
                                            <p:cond delay="0"/>
                                          </p:stCondLst>
                                        </p:cTn>
                                        <p:tgtEl>
                                          <p:spTgt spid="301"/>
                                        </p:tgtEl>
                                        <p:attrNameLst>
                                          <p:attrName>style.visibility</p:attrName>
                                        </p:attrNameLst>
                                      </p:cBhvr>
                                      <p:to>
                                        <p:strVal val="visible"/>
                                      </p:to>
                                    </p:set>
                                    <p:animEffect transition="in" filter="fade">
                                      <p:cBhvr>
                                        <p:cTn id="80"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How should one acceptable system</a:t>
            </a:r>
            <a:br>
              <a:rPr lang="en-US" sz="2800"/>
            </a:br>
            <a:r>
              <a:rPr lang="en-US" sz="2800" b="0" i="0" dirty="0">
                <a:solidFill>
                  <a:srgbClr val="555960"/>
                </a:solidFill>
              </a:rPr>
              <a:t>be organized?</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8525</TotalTime>
  <Words>8514</Words>
  <Application>Microsoft Macintosh PowerPoint</Application>
  <PresentationFormat>On-screen Show (4:3)</PresentationFormat>
  <Paragraphs>915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Choosing among acceptable organizations</vt:lpstr>
      <vt:lpstr>Two architectures. Which one is better?</vt:lpstr>
      <vt:lpstr>The decision matrix says Architecture A wins, 3.95 to 3.70</vt:lpstr>
      <vt:lpstr>First eliminate unacceptable and dominated alternatives</vt:lpstr>
      <vt:lpstr>A real tradeoff requires judgment</vt:lpstr>
      <vt:lpstr>Sometimes the right decision is to “buy” more information</vt:lpstr>
      <vt:lpstr>Patterns capture recurring architectural choices</vt:lpstr>
      <vt:lpstr>Patterns: Pre-canned alternatives and expectations</vt:lpstr>
      <vt:lpstr>Layers: constrain which parts may depend on which</vt:lpstr>
      <vt:lpstr>MVC: separate model, view, and interaction logic</vt:lpstr>
      <vt:lpstr>Repository: organize around shared authoritative state</vt:lpstr>
      <vt:lpstr>Control dependencies across boundaries</vt:lpstr>
      <vt:lpstr>Events: producers need not know their consumers</vt:lpstr>
      <vt:lpstr>How much can we know before we build it?</vt:lpstr>
      <vt:lpstr>An architecture diagram is useful only if it answers a question</vt:lpstr>
      <vt:lpstr>Some claims require less betting than others</vt:lpstr>
      <vt:lpstr>Can this change remain local?</vt:lpstr>
      <vt:lpstr>What sets the latency floor?</vt:lpstr>
      <vt:lpstr>What happens when architectural evidence gets cheap?</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345</cp:revision>
  <dcterms:created xsi:type="dcterms:W3CDTF">2020-02-21T23:00:33Z</dcterms:created>
  <dcterms:modified xsi:type="dcterms:W3CDTF">2026-09-11T20:48:14Z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