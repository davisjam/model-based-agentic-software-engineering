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webextensions/webextension2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5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6" Type="http://schemas.openxmlformats.org/officeDocument/2006/relationships/custom-properties" Target="docProps/custom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708" r:id="rId1"/>
  </p:sldMasterIdLst>
  <p:notesMasterIdLst>
    <p:notesMasterId r:id="rId33"/>
  </p:notesMasterIdLst>
  <p:sldIdLst>
    <p:sldId id="517" r:id="rId2"/>
    <p:sldId id="738" r:id="rId3"/>
    <p:sldId id="760" r:id="rId38"/>
    <p:sldId id="751" r:id="rId17"/>
    <p:sldId id="744" r:id="rId6"/>
    <p:sldId id="651" r:id="rId4"/>
    <p:sldId id="746" r:id="rId9"/>
    <p:sldId id="747" r:id="rId12"/>
    <p:sldId id="748" r:id="rId13"/>
    <p:sldId id="749" r:id="rId14"/>
    <p:sldId id="750" r:id="rId15"/>
    <p:sldId id="701" r:id="rId23"/>
    <p:sldId id="752" r:id="rId18"/>
    <p:sldId id="731" r:id="rId11"/>
    <p:sldId id="712" r:id="rId19"/>
    <p:sldId id="713" r:id="rId20"/>
    <p:sldId id="735" r:id="rId21"/>
    <p:sldId id="753" r:id="rId22"/>
    <p:sldId id="720" r:id="rId16"/>
    <p:sldId id="754" r:id="rId24"/>
    <p:sldId id="755" r:id="rId25"/>
    <p:sldId id="638" r:id="rId26"/>
    <p:sldId id="756" r:id="rId27"/>
    <p:sldId id="740" r:id="rId31"/>
    <p:sldId id="759" r:id="rId28"/>
    <p:sldId id="757" r:id="rId29"/>
    <p:sldId id="739" r:id="rId30"/>
    <p:sldId id="741" r:id="rId3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766" autoAdjust="0"/>
    <p:restoredTop sz="56137"/>
  </p:normalViewPr>
  <p:slideViewPr>
    <p:cSldViewPr snapToGrid="0" snapToObjects="1">
      <p:cViewPr varScale="1">
        <p:scale>
          <a:sx n="107" d="100"/>
          <a:sy n="107" d="100"/>
        </p:scale>
        <p:origin x="3048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notesViewPr>
    <p:cSldViewPr snapToGrid="0" snapToObjects="1">
      <p:cViewPr varScale="1">
        <p:scale>
          <a:sx n="66" d="100"/>
          <a:sy n="66" d="100"/>
        </p:scale>
        <p:origin x="0" y="0"/>
      </p:cViewPr>
      <p:guideLst/>
    </p:cSldViewPr>
  </p:notesViewPr>
  <p:gridSpacing cx="76200" cy="76200"/>
</p:viewPr>
</file>

<file path=ppt/_rels/presentation.xml.rels><?xml version="1.0" encoding="UTF-8"?>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presProps" Target="presProps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ableStyles" Target="tableStyles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heme" Target="theme/theme1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viewProps" Target="viewProps.xml"/><Relationship Id="rId3" Type="http://schemas.openxmlformats.org/officeDocument/2006/relationships/slide" Target="slides/slide2.xml"/><Relationship Id="rId38" Type="http://schemas.openxmlformats.org/officeDocument/2006/relationships/slide" Target="slides/slide32.xml"/></Relationships>
</file>

<file path=ppt/notesMasters/_rels/notesMaster1.xml.rels><?xml version="1.0" encoding="UTF-8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7E8B4C4-0720-F64E-9EEE-9472CF165DC6}" type="datetimeFigureOut">
              <a:t>9/10/26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F209F92-05EE-6F4A-AD9C-ED35F0F76927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45567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3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dirty="0"/>
              <a:t>DEFINITION (deliver orally, not as a figure): Architecture describes the consequential organization of the system: its major parts, their responsibilities, their interfaces, and the rules governing their interaction.</a:t>
            </a:r>
          </a:p>
        </p:txBody>
      </p:sp>
    </p:spTree>
  </p:cSld>
  <p:clrMapOvr>
    <a:masterClrMapping/>
  </p:clrMapOvr>
</p:notes>
</file>

<file path=ppt/slideLayouts/_rels/slideLayout1.xml.rels><?xml version="1.0" encoding="UTF-8"?>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- sim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918" name="Rectangle 14"/>
          <p:cNvSpPr>
            <a:spLocks noGrp="1" noChangeArrowheads="1"/>
          </p:cNvSpPr>
          <p:nvPr>
            <p:ph type="subTitle" idx="1"/>
          </p:nvPr>
        </p:nvSpPr>
        <p:spPr>
          <a:xfrm>
            <a:off x="1308100" y="3235325"/>
            <a:ext cx="6400800" cy="1881188"/>
          </a:xfrm>
        </p:spPr>
        <p:txBody>
          <a:bodyPr/>
          <a:lstStyle>
            <a:lvl1pPr marL="0" indent="0" algn="ctr">
              <a:buFont typeface="Times" pitchFamily="18" charset="0"/>
              <a:buNone/>
              <a:defRPr>
                <a:solidFill>
                  <a:srgbClr val="000000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altLang="ko-KR" dirty="0"/>
              <a:t>Click to edit Master subtitle style</a:t>
            </a:r>
          </a:p>
        </p:txBody>
      </p:sp>
      <p:sp>
        <p:nvSpPr>
          <p:cNvPr id="251914" name="Rectangle 10"/>
          <p:cNvSpPr>
            <a:spLocks noGrp="1" noChangeArrowheads="1"/>
          </p:cNvSpPr>
          <p:nvPr>
            <p:ph type="ctrTitle" hasCustomPrompt="1"/>
          </p:nvPr>
        </p:nvSpPr>
        <p:spPr>
          <a:xfrm>
            <a:off x="1127125" y="2078038"/>
            <a:ext cx="7031038" cy="874712"/>
          </a:xfrm>
          <a:ln>
            <a:noFill/>
          </a:ln>
        </p:spPr>
        <p:txBody>
          <a:bodyPr/>
          <a:lstStyle>
            <a:lvl1pPr algn="ctr">
              <a:defRPr sz="3600" cap="none">
                <a:solidFill>
                  <a:srgbClr val="000000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altLang="ko-KR" dirty="0"/>
              <a:t>Click to edit master title style</a:t>
            </a:r>
          </a:p>
        </p:txBody>
      </p:sp>
      <p:sp>
        <p:nvSpPr>
          <p:cNvPr id="8" name="Line 66">
            <a:extLst>
              <a:ext uri="{FF2B5EF4-FFF2-40B4-BE49-F238E27FC236}">
                <a16:creationId xmlns:a16="http://schemas.microsoft.com/office/drawing/2014/main" id="{9629C0A1-FA46-974B-8B59-DAFA34D587F5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16760" y="0"/>
            <a:ext cx="9144000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11" name="Line 66">
            <a:extLst>
              <a:ext uri="{FF2B5EF4-FFF2-40B4-BE49-F238E27FC236}">
                <a16:creationId xmlns:a16="http://schemas.microsoft.com/office/drawing/2014/main" id="{F21F285B-3B58-4149-B959-9010CE636448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0" y="6858000"/>
            <a:ext cx="9144000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10" name="Slide Number Placeholder 4">
            <a:extLst>
              <a:ext uri="{FF2B5EF4-FFF2-40B4-BE49-F238E27FC236}">
                <a16:creationId xmlns:a16="http://schemas.microsoft.com/office/drawing/2014/main" id="{5F3C42A2-A875-7F49-9930-886B64F2621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  <p:pic>
        <p:nvPicPr>
          <p:cNvPr id="1026" name="Picture 2" descr="Electrical and Computer Engineering Black and Gold Co-Brand Logo">
            <a:extLst>
              <a:ext uri="{FF2B5EF4-FFF2-40B4-BE49-F238E27FC236}">
                <a16:creationId xmlns:a16="http://schemas.microsoft.com/office/drawing/2014/main" id="{DA2A365A-4E3B-2A48-8812-990B2A2EE92D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76158" y="5721845"/>
            <a:ext cx="1264684" cy="9996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326095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/>
          <p:cNvSpPr>
            <a:spLocks noGrp="1"/>
          </p:cNvSpPr>
          <p:nvPr>
            <p:ph idx="1" hasCustomPrompt="1"/>
          </p:nvPr>
        </p:nvSpPr>
        <p:spPr>
          <a:xfrm>
            <a:off x="277148" y="1305004"/>
            <a:ext cx="8557768" cy="5166916"/>
          </a:xfrm>
        </p:spPr>
        <p:txBody>
          <a:bodyPr/>
          <a:lstStyle>
            <a:lvl2pPr>
              <a:defRPr/>
            </a:lvl2pPr>
            <a:lvl3pPr>
              <a:defRPr/>
            </a:lvl3pPr>
          </a:lstStyle>
          <a:p>
            <a:pPr lvl="0"/>
            <a:r>
              <a:rPr lang="en-US" altLang="ko-KR" dirty="0"/>
              <a:t>Words</a:t>
            </a:r>
            <a:endParaRPr lang="ko-KR" altLang="en-US" dirty="0"/>
          </a:p>
          <a:p>
            <a:pPr lvl="1"/>
            <a:r>
              <a:rPr lang="en-US" altLang="ko-KR" dirty="0"/>
              <a:t>Words</a:t>
            </a:r>
            <a:endParaRPr lang="ko-KR" altLang="en-US" dirty="0"/>
          </a:p>
          <a:p>
            <a:pPr lvl="2"/>
            <a:r>
              <a:rPr lang="en-US" altLang="ko-KR" dirty="0"/>
              <a:t>Words</a:t>
            </a:r>
          </a:p>
          <a:p>
            <a:pPr lvl="3"/>
            <a:r>
              <a:rPr lang="en-US" altLang="ko-KR" dirty="0"/>
              <a:t>Words</a:t>
            </a:r>
          </a:p>
          <a:p>
            <a:pPr lvl="4"/>
            <a:r>
              <a:rPr lang="en-US" altLang="ko-KR" dirty="0"/>
              <a:t>Words</a:t>
            </a:r>
            <a:endParaRPr lang="ko-KR" altLang="en-US" dirty="0"/>
          </a:p>
        </p:txBody>
      </p:sp>
      <p:sp>
        <p:nvSpPr>
          <p:cNvPr id="5" name="제목 1"/>
          <p:cNvSpPr>
            <a:spLocks noGrp="1"/>
          </p:cNvSpPr>
          <p:nvPr>
            <p:ph type="title" hasCustomPrompt="1"/>
          </p:nvPr>
        </p:nvSpPr>
        <p:spPr>
          <a:xfrm>
            <a:off x="277148" y="118428"/>
            <a:ext cx="8043862" cy="638175"/>
          </a:xfrm>
          <a:noFill/>
          <a:ln>
            <a:noFill/>
          </a:ln>
        </p:spPr>
        <p:txBody>
          <a:bodyPr/>
          <a:lstStyle>
            <a:lvl1pPr algn="l">
              <a:defRPr b="0"/>
            </a:lvl1pPr>
          </a:lstStyle>
          <a:p>
            <a:r>
              <a:rPr lang="en-US" altLang="ko-KR" dirty="0"/>
              <a:t>Title</a:t>
            </a:r>
            <a:endParaRPr lang="ko-KR" altLang="en-US" dirty="0"/>
          </a:p>
        </p:txBody>
      </p:sp>
      <p:sp>
        <p:nvSpPr>
          <p:cNvPr id="4" name="Line 66">
            <a:extLst>
              <a:ext uri="{FF2B5EF4-FFF2-40B4-BE49-F238E27FC236}">
                <a16:creationId xmlns:a16="http://schemas.microsoft.com/office/drawing/2014/main" id="{67B3E873-1394-3543-8BD2-2C910090ECBD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277148" y="756603"/>
            <a:ext cx="8557769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7" name="Slide Number Placeholder 4">
            <a:extLst>
              <a:ext uri="{FF2B5EF4-FFF2-40B4-BE49-F238E27FC236}">
                <a16:creationId xmlns:a16="http://schemas.microsoft.com/office/drawing/2014/main" id="{010635A2-0953-8C4C-807B-9F1EE80A1BF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87181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oubl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/>
          <p:cNvSpPr>
            <a:spLocks noGrp="1"/>
          </p:cNvSpPr>
          <p:nvPr>
            <p:ph sz="half" idx="1" hasCustomPrompt="1"/>
          </p:nvPr>
        </p:nvSpPr>
        <p:spPr>
          <a:xfrm>
            <a:off x="484369" y="1250205"/>
            <a:ext cx="4038600" cy="452596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altLang="ko-KR" dirty="0"/>
              <a:t>Words</a:t>
            </a:r>
          </a:p>
          <a:p>
            <a:pPr lvl="1"/>
            <a:r>
              <a:rPr lang="en-US" altLang="ko-KR" dirty="0"/>
              <a:t>Words</a:t>
            </a:r>
          </a:p>
          <a:p>
            <a:pPr lvl="2"/>
            <a:r>
              <a:rPr lang="en-US" altLang="ko-KR" dirty="0"/>
              <a:t>Words</a:t>
            </a:r>
          </a:p>
          <a:p>
            <a:pPr lvl="3"/>
            <a:r>
              <a:rPr lang="en-US" altLang="ko-KR" dirty="0"/>
              <a:t>Words</a:t>
            </a:r>
          </a:p>
          <a:p>
            <a:pPr lvl="4"/>
            <a:r>
              <a:rPr lang="en-US" altLang="ko-KR" dirty="0"/>
              <a:t>Words</a:t>
            </a:r>
            <a:endParaRPr lang="ko-KR" altLang="en-US" dirty="0"/>
          </a:p>
        </p:txBody>
      </p:sp>
      <p:sp>
        <p:nvSpPr>
          <p:cNvPr id="4" name="내용 개체 틀 3"/>
          <p:cNvSpPr>
            <a:spLocks noGrp="1"/>
          </p:cNvSpPr>
          <p:nvPr>
            <p:ph sz="half" idx="2" hasCustomPrompt="1"/>
          </p:nvPr>
        </p:nvSpPr>
        <p:spPr>
          <a:xfrm>
            <a:off x="4675369" y="1250205"/>
            <a:ext cx="4038600" cy="452596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altLang="ko-KR" dirty="0"/>
              <a:t>Words</a:t>
            </a:r>
          </a:p>
          <a:p>
            <a:pPr lvl="1"/>
            <a:r>
              <a:rPr lang="en-US" altLang="ko-KR" dirty="0"/>
              <a:t>Words</a:t>
            </a:r>
          </a:p>
          <a:p>
            <a:pPr lvl="2"/>
            <a:r>
              <a:rPr lang="en-US" altLang="ko-KR" dirty="0"/>
              <a:t>Words</a:t>
            </a:r>
          </a:p>
          <a:p>
            <a:pPr lvl="3"/>
            <a:r>
              <a:rPr lang="en-US" altLang="ko-KR" dirty="0"/>
              <a:t>Words</a:t>
            </a:r>
          </a:p>
          <a:p>
            <a:pPr lvl="4"/>
            <a:r>
              <a:rPr lang="en-US" altLang="ko-KR" dirty="0"/>
              <a:t>Words</a:t>
            </a:r>
            <a:endParaRPr lang="ko-KR" altLang="en-US" dirty="0"/>
          </a:p>
        </p:txBody>
      </p:sp>
      <p:sp>
        <p:nvSpPr>
          <p:cNvPr id="7" name="Line 66">
            <a:extLst>
              <a:ext uri="{FF2B5EF4-FFF2-40B4-BE49-F238E27FC236}">
                <a16:creationId xmlns:a16="http://schemas.microsoft.com/office/drawing/2014/main" id="{43238AEC-E676-EF48-A1EE-CE1856C5DB86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277148" y="756603"/>
            <a:ext cx="8577217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12" name="제목 1">
            <a:extLst>
              <a:ext uri="{FF2B5EF4-FFF2-40B4-BE49-F238E27FC236}">
                <a16:creationId xmlns:a16="http://schemas.microsoft.com/office/drawing/2014/main" id="{4EEA1B3E-FF6B-734D-830E-C9FC203C0A8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77148" y="118428"/>
            <a:ext cx="8043862" cy="638175"/>
          </a:xfrm>
          <a:noFill/>
          <a:ln>
            <a:noFill/>
          </a:ln>
        </p:spPr>
        <p:txBody>
          <a:bodyPr/>
          <a:lstStyle>
            <a:lvl1pPr algn="l">
              <a:defRPr b="0"/>
            </a:lvl1pPr>
          </a:lstStyle>
          <a:p>
            <a:r>
              <a:rPr lang="en-US" altLang="ko-KR" dirty="0"/>
              <a:t>Title</a:t>
            </a:r>
            <a:endParaRPr lang="ko-KR" altLang="en-US" dirty="0"/>
          </a:p>
        </p:txBody>
      </p:sp>
      <p:sp>
        <p:nvSpPr>
          <p:cNvPr id="9" name="Slide Number Placeholder 4">
            <a:extLst>
              <a:ext uri="{FF2B5EF4-FFF2-40B4-BE49-F238E27FC236}">
                <a16:creationId xmlns:a16="http://schemas.microsoft.com/office/drawing/2014/main" id="{3596EAF3-2266-1C40-896A-50BCE8F3A59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469831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hasCustomPrompt="1"/>
          </p:nvPr>
        </p:nvSpPr>
        <p:spPr>
          <a:xfrm>
            <a:off x="685800" y="2747963"/>
            <a:ext cx="7772400" cy="1362075"/>
          </a:xfrm>
          <a:ln>
            <a:noFill/>
          </a:ln>
        </p:spPr>
        <p:txBody>
          <a:bodyPr anchor="t"/>
          <a:lstStyle>
            <a:lvl1pPr algn="ctr">
              <a:defRPr sz="4000" b="0" cap="none"/>
            </a:lvl1pPr>
          </a:lstStyle>
          <a:p>
            <a:r>
              <a:rPr lang="en-US" altLang="ko-KR" dirty="0"/>
              <a:t>Section heading</a:t>
            </a:r>
            <a:endParaRPr lang="ko-KR" altLang="en-US" dirty="0"/>
          </a:p>
        </p:txBody>
      </p:sp>
      <p:sp>
        <p:nvSpPr>
          <p:cNvPr id="5" name="Line 66">
            <a:extLst>
              <a:ext uri="{FF2B5EF4-FFF2-40B4-BE49-F238E27FC236}">
                <a16:creationId xmlns:a16="http://schemas.microsoft.com/office/drawing/2014/main" id="{5A7CBECB-F891-1E49-A038-D12E9EBD544E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57794" y="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6" name="Line 66">
            <a:extLst>
              <a:ext uri="{FF2B5EF4-FFF2-40B4-BE49-F238E27FC236}">
                <a16:creationId xmlns:a16="http://schemas.microsoft.com/office/drawing/2014/main" id="{A0F4931F-670B-5345-A445-E4A05AED83C7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78517" y="685800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8" name="Slide Number Placeholder 4">
            <a:extLst>
              <a:ext uri="{FF2B5EF4-FFF2-40B4-BE49-F238E27FC236}">
                <a16:creationId xmlns:a16="http://schemas.microsoft.com/office/drawing/2014/main" id="{8B85C08C-FD8D-C643-B13D-155D9A63D59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92555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ouble content - title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/>
          <p:cNvSpPr>
            <a:spLocks noGrp="1"/>
          </p:cNvSpPr>
          <p:nvPr>
            <p:ph type="body" idx="1" hasCustomPrompt="1"/>
          </p:nvPr>
        </p:nvSpPr>
        <p:spPr>
          <a:xfrm>
            <a:off x="457200" y="1258655"/>
            <a:ext cx="4040188" cy="639762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altLang="ko-KR" dirty="0"/>
              <a:t>Left title</a:t>
            </a:r>
            <a:endParaRPr lang="ko-KR" altLang="en-US" dirty="0"/>
          </a:p>
        </p:txBody>
      </p:sp>
      <p:sp>
        <p:nvSpPr>
          <p:cNvPr id="4" name="내용 개체 틀 3"/>
          <p:cNvSpPr>
            <a:spLocks noGrp="1"/>
          </p:cNvSpPr>
          <p:nvPr>
            <p:ph sz="half" idx="2" hasCustomPrompt="1"/>
          </p:nvPr>
        </p:nvSpPr>
        <p:spPr>
          <a:xfrm>
            <a:off x="457200" y="1898417"/>
            <a:ext cx="4040188" cy="3951288"/>
          </a:xfrm>
        </p:spPr>
        <p:txBody>
          <a:bodyPr/>
          <a:lstStyle>
            <a:lvl1pPr>
              <a:defRPr sz="3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altLang="ko-KR" dirty="0"/>
              <a:t>Words</a:t>
            </a:r>
            <a:endParaRPr lang="ko-KR" altLang="en-US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 hasCustomPrompt="1"/>
          </p:nvPr>
        </p:nvSpPr>
        <p:spPr>
          <a:xfrm>
            <a:off x="4645025" y="1258655"/>
            <a:ext cx="4041775" cy="639762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altLang="ko-KR" dirty="0"/>
              <a:t>Right title</a:t>
            </a:r>
            <a:endParaRPr lang="ko-KR" altLang="en-US" dirty="0"/>
          </a:p>
        </p:txBody>
      </p:sp>
      <p:sp>
        <p:nvSpPr>
          <p:cNvPr id="6" name="내용 개체 틀 5"/>
          <p:cNvSpPr>
            <a:spLocks noGrp="1"/>
          </p:cNvSpPr>
          <p:nvPr>
            <p:ph sz="quarter" idx="4" hasCustomPrompt="1"/>
          </p:nvPr>
        </p:nvSpPr>
        <p:spPr>
          <a:xfrm>
            <a:off x="4645025" y="1898417"/>
            <a:ext cx="4041775" cy="3951288"/>
          </a:xfrm>
        </p:spPr>
        <p:txBody>
          <a:bodyPr/>
          <a:lstStyle>
            <a:lvl1pPr>
              <a:defRPr sz="3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altLang="ko-KR" dirty="0"/>
              <a:t>Words</a:t>
            </a:r>
            <a:endParaRPr lang="ko-KR" altLang="en-US" dirty="0"/>
          </a:p>
        </p:txBody>
      </p:sp>
      <p:sp>
        <p:nvSpPr>
          <p:cNvPr id="9" name="Line 66">
            <a:extLst>
              <a:ext uri="{FF2B5EF4-FFF2-40B4-BE49-F238E27FC236}">
                <a16:creationId xmlns:a16="http://schemas.microsoft.com/office/drawing/2014/main" id="{2473502F-33E0-294C-B0A7-D634CB781736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277148" y="756603"/>
            <a:ext cx="8577217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13" name="제목 1">
            <a:extLst>
              <a:ext uri="{FF2B5EF4-FFF2-40B4-BE49-F238E27FC236}">
                <a16:creationId xmlns:a16="http://schemas.microsoft.com/office/drawing/2014/main" id="{AA231EA3-1A2F-1844-B410-74339C343F3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77148" y="118428"/>
            <a:ext cx="8043862" cy="638175"/>
          </a:xfrm>
          <a:noFill/>
          <a:ln>
            <a:noFill/>
          </a:ln>
        </p:spPr>
        <p:txBody>
          <a:bodyPr/>
          <a:lstStyle>
            <a:lvl1pPr algn="l">
              <a:defRPr b="0"/>
            </a:lvl1pPr>
          </a:lstStyle>
          <a:p>
            <a:r>
              <a:rPr lang="en-US" altLang="ko-KR" dirty="0"/>
              <a:t>Title</a:t>
            </a:r>
            <a:endParaRPr lang="ko-KR" altLang="en-US" dirty="0"/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9B355AFC-141A-4E45-A581-13630ADD3A5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1691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Just bord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Line 66">
            <a:extLst>
              <a:ext uri="{FF2B5EF4-FFF2-40B4-BE49-F238E27FC236}">
                <a16:creationId xmlns:a16="http://schemas.microsoft.com/office/drawing/2014/main" id="{5FBB5167-3962-F644-A1B0-164B48533467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37071" y="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4" name="Line 66">
            <a:extLst>
              <a:ext uri="{FF2B5EF4-FFF2-40B4-BE49-F238E27FC236}">
                <a16:creationId xmlns:a16="http://schemas.microsoft.com/office/drawing/2014/main" id="{E355375E-B5F3-774A-87F7-3A95BA8BDF7B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57794" y="685800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7" name="Slide Number Placeholder 4">
            <a:extLst>
              <a:ext uri="{FF2B5EF4-FFF2-40B4-BE49-F238E27FC236}">
                <a16:creationId xmlns:a16="http://schemas.microsoft.com/office/drawing/2014/main" id="{6ABDBE64-F9E8-B742-A7A4-414B9EF73E5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52982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adra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Line 66">
            <a:extLst>
              <a:ext uri="{FF2B5EF4-FFF2-40B4-BE49-F238E27FC236}">
                <a16:creationId xmlns:a16="http://schemas.microsoft.com/office/drawing/2014/main" id="{5FBB5167-3962-F644-A1B0-164B48533467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37071" y="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4" name="Line 66">
            <a:extLst>
              <a:ext uri="{FF2B5EF4-FFF2-40B4-BE49-F238E27FC236}">
                <a16:creationId xmlns:a16="http://schemas.microsoft.com/office/drawing/2014/main" id="{E355375E-B5F3-774A-87F7-3A95BA8BDF7B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57794" y="685800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5" name="그림 개체 틀 2">
            <a:extLst>
              <a:ext uri="{FF2B5EF4-FFF2-40B4-BE49-F238E27FC236}">
                <a16:creationId xmlns:a16="http://schemas.microsoft.com/office/drawing/2014/main" id="{672F7B82-6823-A344-B297-9A5CC48E1F1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877888" y="765140"/>
            <a:ext cx="3137521" cy="246833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7" name="그림 개체 틀 2">
            <a:extLst>
              <a:ext uri="{FF2B5EF4-FFF2-40B4-BE49-F238E27FC236}">
                <a16:creationId xmlns:a16="http://schemas.microsoft.com/office/drawing/2014/main" id="{07CA502D-41E1-4240-B817-57AFD70BC6F0}"/>
              </a:ext>
            </a:extLst>
          </p:cNvPr>
          <p:cNvSpPr>
            <a:spLocks noGrp="1"/>
          </p:cNvSpPr>
          <p:nvPr>
            <p:ph type="pic" idx="10"/>
          </p:nvPr>
        </p:nvSpPr>
        <p:spPr>
          <a:xfrm>
            <a:off x="5204723" y="765140"/>
            <a:ext cx="3137521" cy="246833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12" name="그림 개체 틀 2">
            <a:extLst>
              <a:ext uri="{FF2B5EF4-FFF2-40B4-BE49-F238E27FC236}">
                <a16:creationId xmlns:a16="http://schemas.microsoft.com/office/drawing/2014/main" id="{D1C72364-3DC9-604F-9514-883DF7EEBE18}"/>
              </a:ext>
            </a:extLst>
          </p:cNvPr>
          <p:cNvSpPr>
            <a:spLocks noGrp="1"/>
          </p:cNvSpPr>
          <p:nvPr>
            <p:ph type="pic" idx="11"/>
          </p:nvPr>
        </p:nvSpPr>
        <p:spPr>
          <a:xfrm>
            <a:off x="877887" y="3596647"/>
            <a:ext cx="3137521" cy="246833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16" name="그림 개체 틀 2">
            <a:extLst>
              <a:ext uri="{FF2B5EF4-FFF2-40B4-BE49-F238E27FC236}">
                <a16:creationId xmlns:a16="http://schemas.microsoft.com/office/drawing/2014/main" id="{4193784B-AAFC-0447-AC84-915471C69183}"/>
              </a:ext>
            </a:extLst>
          </p:cNvPr>
          <p:cNvSpPr>
            <a:spLocks noGrp="1"/>
          </p:cNvSpPr>
          <p:nvPr>
            <p:ph type="pic" idx="12"/>
          </p:nvPr>
        </p:nvSpPr>
        <p:spPr>
          <a:xfrm>
            <a:off x="5204723" y="3616525"/>
            <a:ext cx="3137521" cy="246833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32" name="Text Placeholder 31">
            <a:extLst>
              <a:ext uri="{FF2B5EF4-FFF2-40B4-BE49-F238E27FC236}">
                <a16:creationId xmlns:a16="http://schemas.microsoft.com/office/drawing/2014/main" id="{4036BF46-3CC3-FB43-A785-15DF5595B70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77819" y="213987"/>
            <a:ext cx="3136900" cy="550603"/>
          </a:xfrm>
        </p:spPr>
        <p:txBody>
          <a:bodyPr/>
          <a:lstStyle>
            <a:lvl1pPr marL="0" indent="0" algn="ctr">
              <a:buNone/>
              <a:defRPr sz="3200"/>
            </a:lvl1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36" name="Text Placeholder 31">
            <a:extLst>
              <a:ext uri="{FF2B5EF4-FFF2-40B4-BE49-F238E27FC236}">
                <a16:creationId xmlns:a16="http://schemas.microsoft.com/office/drawing/2014/main" id="{8484378F-A4EB-7845-937E-05F96717894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205344" y="213987"/>
            <a:ext cx="3136900" cy="550603"/>
          </a:xfrm>
        </p:spPr>
        <p:txBody>
          <a:bodyPr/>
          <a:lstStyle>
            <a:lvl1pPr marL="0" indent="0" algn="ctr">
              <a:buNone/>
              <a:defRPr sz="3200"/>
            </a:lvl1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37" name="Text Placeholder 31">
            <a:extLst>
              <a:ext uri="{FF2B5EF4-FFF2-40B4-BE49-F238E27FC236}">
                <a16:creationId xmlns:a16="http://schemas.microsoft.com/office/drawing/2014/main" id="{1EB6C479-EE50-B041-BED8-613EFA5D95F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77819" y="6093410"/>
            <a:ext cx="3136900" cy="550603"/>
          </a:xfrm>
        </p:spPr>
        <p:txBody>
          <a:bodyPr/>
          <a:lstStyle>
            <a:lvl1pPr marL="0" indent="0" algn="ctr">
              <a:buNone/>
              <a:defRPr sz="3200"/>
            </a:lvl1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38" name="Text Placeholder 31">
            <a:extLst>
              <a:ext uri="{FF2B5EF4-FFF2-40B4-BE49-F238E27FC236}">
                <a16:creationId xmlns:a16="http://schemas.microsoft.com/office/drawing/2014/main" id="{7D0CA80B-F16F-FF48-80A3-27652129D32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205344" y="6093410"/>
            <a:ext cx="3136900" cy="550603"/>
          </a:xfrm>
        </p:spPr>
        <p:txBody>
          <a:bodyPr/>
          <a:lstStyle>
            <a:lvl1pPr marL="0" indent="0" algn="ctr">
              <a:buNone/>
              <a:defRPr sz="3200"/>
            </a:lvl1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14" name="Slide Number Placeholder 4">
            <a:extLst>
              <a:ext uri="{FF2B5EF4-FFF2-40B4-BE49-F238E27FC236}">
                <a16:creationId xmlns:a16="http://schemas.microsoft.com/office/drawing/2014/main" id="{A66D64DC-EDD3-FD46-B93B-F8B818A43FD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239516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hasCustomPrompt="1"/>
          </p:nvPr>
        </p:nvSpPr>
        <p:spPr>
          <a:xfrm>
            <a:off x="1792288" y="4800600"/>
            <a:ext cx="5486400" cy="566738"/>
          </a:xfrm>
        </p:spPr>
        <p:txBody>
          <a:bodyPr/>
          <a:lstStyle>
            <a:lvl1pPr algn="l">
              <a:defRPr sz="2000" b="1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altLang="ko-KR" dirty="0"/>
              <a:t>Title</a:t>
            </a:r>
            <a:endParaRPr lang="ko-KR" altLang="en-US" dirty="0"/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 dirty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 hasCustomPrompt="1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altLang="ko-KR" dirty="0"/>
              <a:t>Remarks</a:t>
            </a:r>
            <a:endParaRPr lang="ko-KR" altLang="en-US" dirty="0"/>
          </a:p>
        </p:txBody>
      </p:sp>
      <p:sp>
        <p:nvSpPr>
          <p:cNvPr id="7" name="Line 66">
            <a:extLst>
              <a:ext uri="{FF2B5EF4-FFF2-40B4-BE49-F238E27FC236}">
                <a16:creationId xmlns:a16="http://schemas.microsoft.com/office/drawing/2014/main" id="{00379C94-9660-514E-8573-54286DE89411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37071" y="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8" name="Line 66">
            <a:extLst>
              <a:ext uri="{FF2B5EF4-FFF2-40B4-BE49-F238E27FC236}">
                <a16:creationId xmlns:a16="http://schemas.microsoft.com/office/drawing/2014/main" id="{D15DDF22-1F41-F644-A1F1-7ADD56BDE3A3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57794" y="685800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68A78BD7-835C-4B42-B0A0-24D4E1AA39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996155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ribu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93A8F23-A2CA-264E-8907-B0144A7D91A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95200" y="1060230"/>
            <a:ext cx="6064017" cy="1838037"/>
          </a:xfrm>
        </p:spPr>
        <p:txBody>
          <a:bodyPr/>
          <a:lstStyle>
            <a:lvl1pPr marL="0" marR="0" indent="0" algn="l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000000"/>
              </a:buClr>
              <a:buSzPct val="120000"/>
              <a:buFont typeface="+mj-lt"/>
              <a:buNone/>
              <a:tabLst/>
              <a:defRPr sz="2600" b="0" u="sng">
                <a:effectLst/>
              </a:defRPr>
            </a:lvl1pPr>
          </a:lstStyle>
          <a:p>
            <a:pPr lvl="0"/>
            <a:r>
              <a:rPr lang="en-US" dirty="0"/>
              <a:t>Contribution 1</a:t>
            </a:r>
            <a:r>
              <a:rPr lang="en-US" b="1" u="none" dirty="0"/>
              <a:t xml:space="preserve">		Details</a:t>
            </a:r>
          </a:p>
          <a:p>
            <a:pPr lvl="0"/>
            <a:endParaRPr lang="en-US" b="1" u="none" dirty="0"/>
          </a:p>
          <a:p>
            <a:pPr lvl="0"/>
            <a:endParaRPr lang="en-US" b="1" u="none" dirty="0"/>
          </a:p>
          <a:p>
            <a:pPr lvl="0"/>
            <a:endParaRPr lang="en-US" b="1" u="none" dirty="0"/>
          </a:p>
          <a:p>
            <a:pPr lvl="0"/>
            <a:endParaRPr lang="en-US" dirty="0"/>
          </a:p>
        </p:txBody>
      </p:sp>
      <p:sp>
        <p:nvSpPr>
          <p:cNvPr id="5" name="Line 66">
            <a:extLst>
              <a:ext uri="{FF2B5EF4-FFF2-40B4-BE49-F238E27FC236}">
                <a16:creationId xmlns:a16="http://schemas.microsoft.com/office/drawing/2014/main" id="{86516E46-FEB4-8747-ABDB-067B42ABF68D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277148" y="756603"/>
            <a:ext cx="8577217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21898EFD-2916-7E45-875E-EDC4A17C4091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761066" y="1749288"/>
            <a:ext cx="1456267" cy="91440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Picture Placeholder 7">
            <a:extLst>
              <a:ext uri="{FF2B5EF4-FFF2-40B4-BE49-F238E27FC236}">
                <a16:creationId xmlns:a16="http://schemas.microsoft.com/office/drawing/2014/main" id="{1F72ABDE-5179-AD48-8D9D-B12289E15BEC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843866" y="1749288"/>
            <a:ext cx="1456267" cy="914400"/>
          </a:xfrm>
        </p:spPr>
        <p:txBody>
          <a:bodyPr/>
          <a:lstStyle/>
          <a:p>
            <a:endParaRPr lang="en-US"/>
          </a:p>
        </p:txBody>
      </p:sp>
      <p:sp>
        <p:nvSpPr>
          <p:cNvPr id="22" name="Text Placeholder 3">
            <a:extLst>
              <a:ext uri="{FF2B5EF4-FFF2-40B4-BE49-F238E27FC236}">
                <a16:creationId xmlns:a16="http://schemas.microsoft.com/office/drawing/2014/main" id="{B91A572F-A890-4245-9D69-1E7986ADF74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5200" y="3129880"/>
            <a:ext cx="6064017" cy="1838037"/>
          </a:xfrm>
        </p:spPr>
        <p:txBody>
          <a:bodyPr/>
          <a:lstStyle>
            <a:lvl1pPr marL="0" marR="0" indent="0" algn="l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000000"/>
              </a:buClr>
              <a:buSzPct val="120000"/>
              <a:buFont typeface="+mj-lt"/>
              <a:buNone/>
              <a:tabLst/>
              <a:defRPr sz="2600" b="0" u="sng">
                <a:effectLst/>
              </a:defRPr>
            </a:lvl1pPr>
          </a:lstStyle>
          <a:p>
            <a:pPr lvl="0"/>
            <a:r>
              <a:rPr lang="en-US" dirty="0"/>
              <a:t>Contribution 2</a:t>
            </a:r>
            <a:r>
              <a:rPr lang="en-US" b="1" u="none" dirty="0"/>
              <a:t xml:space="preserve">		Details</a:t>
            </a:r>
          </a:p>
          <a:p>
            <a:pPr lvl="0"/>
            <a:endParaRPr lang="en-US" b="1" u="none" dirty="0"/>
          </a:p>
          <a:p>
            <a:pPr lvl="0"/>
            <a:endParaRPr lang="en-US" b="1" u="none" dirty="0"/>
          </a:p>
          <a:p>
            <a:pPr lvl="0"/>
            <a:endParaRPr lang="en-US" b="1" u="none" dirty="0"/>
          </a:p>
          <a:p>
            <a:pPr lvl="0"/>
            <a:endParaRPr lang="en-US" dirty="0"/>
          </a:p>
        </p:txBody>
      </p:sp>
      <p:sp>
        <p:nvSpPr>
          <p:cNvPr id="23" name="Picture Placeholder 7">
            <a:extLst>
              <a:ext uri="{FF2B5EF4-FFF2-40B4-BE49-F238E27FC236}">
                <a16:creationId xmlns:a16="http://schemas.microsoft.com/office/drawing/2014/main" id="{15D737B2-4D4D-4242-8E23-8DE607338BCE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761066" y="3818938"/>
            <a:ext cx="1456267" cy="914400"/>
          </a:xfrm>
        </p:spPr>
        <p:txBody>
          <a:bodyPr/>
          <a:lstStyle/>
          <a:p>
            <a:endParaRPr lang="en-US"/>
          </a:p>
        </p:txBody>
      </p:sp>
      <p:sp>
        <p:nvSpPr>
          <p:cNvPr id="24" name="Picture Placeholder 7">
            <a:extLst>
              <a:ext uri="{FF2B5EF4-FFF2-40B4-BE49-F238E27FC236}">
                <a16:creationId xmlns:a16="http://schemas.microsoft.com/office/drawing/2014/main" id="{96C1B088-3A02-5945-975E-54F1F9D0E5EF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843866" y="3818938"/>
            <a:ext cx="1456267" cy="914400"/>
          </a:xfrm>
        </p:spPr>
        <p:txBody>
          <a:bodyPr/>
          <a:lstStyle/>
          <a:p>
            <a:endParaRPr lang="en-US"/>
          </a:p>
        </p:txBody>
      </p:sp>
      <p:sp>
        <p:nvSpPr>
          <p:cNvPr id="11" name="제목 1">
            <a:extLst>
              <a:ext uri="{FF2B5EF4-FFF2-40B4-BE49-F238E27FC236}">
                <a16:creationId xmlns:a16="http://schemas.microsoft.com/office/drawing/2014/main" id="{763F7E14-41AB-9449-929A-4F43668AF03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77148" y="118428"/>
            <a:ext cx="8043862" cy="638175"/>
          </a:xfrm>
          <a:noFill/>
          <a:ln>
            <a:noFill/>
          </a:ln>
        </p:spPr>
        <p:txBody>
          <a:bodyPr/>
          <a:lstStyle>
            <a:lvl1pPr algn="l">
              <a:defRPr b="0"/>
            </a:lvl1pPr>
          </a:lstStyle>
          <a:p>
            <a:r>
              <a:rPr lang="en-US" altLang="ko-KR" dirty="0"/>
              <a:t>Summary of contributions</a:t>
            </a:r>
            <a:endParaRPr lang="ko-KR" altLang="en-US" dirty="0"/>
          </a:p>
        </p:txBody>
      </p:sp>
      <p:sp>
        <p:nvSpPr>
          <p:cNvPr id="13" name="Slide Number Placeholder 4">
            <a:extLst>
              <a:ext uri="{FF2B5EF4-FFF2-40B4-BE49-F238E27FC236}">
                <a16:creationId xmlns:a16="http://schemas.microsoft.com/office/drawing/2014/main" id="{218A7F7C-A154-3640-88AE-9E855B94CC3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5959151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1.png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black">
          <a:xfrm>
            <a:off x="1606045" y="964692"/>
            <a:ext cx="5937755" cy="1188720"/>
          </a:xfrm>
          <a:prstGeom prst="rect">
            <a:avLst/>
          </a:prstGeom>
          <a:solidFill>
            <a:srgbClr val="FFFFFF"/>
          </a:solidFill>
          <a:ln w="31750" cap="sq">
            <a:solidFill>
              <a:srgbClr val="404040"/>
            </a:solidFill>
            <a:miter lim="800000"/>
          </a:ln>
        </p:spPr>
        <p:txBody>
          <a:bodyPr vert="horz" lIns="182880" tIns="182880" rIns="182880" bIns="18288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06045" y="2638045"/>
            <a:ext cx="5937755" cy="31019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8" name="Picture 7" descr="A close up of a sign&#10;&#10;Description automatically generated">
            <a:extLst>
              <a:ext uri="{FF2B5EF4-FFF2-40B4-BE49-F238E27FC236}">
                <a16:creationId xmlns:a16="http://schemas.microsoft.com/office/drawing/2014/main" id="{C6965342-B6F4-4E4D-AE27-465DB42B2B52}"/>
              </a:ext>
            </a:extLst>
          </p:cNvPr>
          <p:cNvPicPr>
            <a:picLocks noChangeAspect="1"/>
          </p:cNvPicPr>
          <p:nvPr userDrawn="1"/>
        </p:nvPicPr>
        <p:blipFill>
          <a:blip r:embed="rId11"/>
          <a:stretch>
            <a:fillRect/>
          </a:stretch>
        </p:blipFill>
        <p:spPr>
          <a:xfrm>
            <a:off x="8746670" y="6562249"/>
            <a:ext cx="292555" cy="156273"/>
          </a:xfrm>
          <a:prstGeom prst="rect">
            <a:avLst/>
          </a:prstGeom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0ABD288-7B20-F443-BAE8-CBAAD13A464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533683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6" r:id="rId1"/>
    <p:sldLayoutId id="2147483728" r:id="rId2"/>
    <p:sldLayoutId id="2147483729" r:id="rId3"/>
    <p:sldLayoutId id="2147483730" r:id="rId4"/>
    <p:sldLayoutId id="2147483731" r:id="rId5"/>
    <p:sldLayoutId id="2147483732" r:id="rId6"/>
    <p:sldLayoutId id="2147483733" r:id="rId7"/>
    <p:sldLayoutId id="2147483734" r:id="rId8"/>
    <p:sldLayoutId id="2147483735" r:id="rId9"/>
  </p:sldLayoutIdLst>
  <p:hf hdr="0" dt="0"/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2600" kern="1200" cap="none" spc="200" baseline="0">
          <a:solidFill>
            <a:srgbClr val="262626"/>
          </a:solidFill>
          <a:latin typeface="Calibri" panose="020F0502020204030204" pitchFamily="34" charset="0"/>
          <a:ea typeface="+mj-ea"/>
          <a:cs typeface="Calibri" panose="020F050202020403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800" kern="1200">
          <a:solidFill>
            <a:schemeClr val="tx1">
              <a:lumMod val="85000"/>
              <a:lumOff val="15000"/>
            </a:schemeClr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1pPr>
      <a:lvl2pPr marL="4572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2pPr>
      <a:lvl3pPr marL="6858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3pPr>
      <a:lvl4pPr marL="9144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4pPr>
      <a:lvl5pPr marL="11430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5pPr>
      <a:lvl6pPr marL="131445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4859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165735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18288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2880">
          <p15:clr>
            <a:srgbClr val="F26B43"/>
          </p15:clr>
        </p15:guide>
        <p15:guide id="3" orient="horz" pos="4056">
          <p15:clr>
            <a:srgbClr val="F26B43"/>
          </p15:clr>
        </p15:guide>
        <p15:guide id="4" orient="horz" pos="3936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?><Relationships xmlns="http://schemas.openxmlformats.org/package/2006/relationships"><Relationship Id="rId3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?><Relationships xmlns="http://schemas.openxmlformats.org/package/2006/relationships"><Relationship Id="rId3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2.xml.rels><?xml version="1.0" encoding="UTF-8"?><Relationships xmlns="http://schemas.openxmlformats.org/package/2006/relationships"><Relationship Id="rId3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3.xml.rels><?xml version="1.0" encoding="UTF-8"?><Relationships xmlns="http://schemas.openxmlformats.org/package/2006/relationships"><Relationship Id="rId3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4.xml.rels><?xml version="1.0" encoding="UTF-8"?><Relationships xmlns="http://schemas.openxmlformats.org/package/2006/relationships"><Relationship Id="rId3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5.xml.rels><?xml version="1.0" encoding="UTF-8"?><Relationships xmlns="http://schemas.openxmlformats.org/package/2006/relationships"><Relationship Id="rId3" Type="http://schemas.openxmlformats.org/officeDocument/2006/relationships/image" Target="../media/image9.sv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0.svg"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?><Relationships xmlns="http://schemas.openxmlformats.org/package/2006/relationships"><Relationship Id="rId3" Type="http://schemas.openxmlformats.org/officeDocument/2006/relationships/image" Target="../media/image9.svg"/><Relationship Id="rId1" Type="http://schemas.openxmlformats.org/officeDocument/2006/relationships/slideLayout" Target="../slideLayouts/slideLayout2.xml"/></Relationships>
</file>

<file path=ppt/slides/_rels/slide19.xml.rels><?xml version="1.0" encoding="UTF-8"?><Relationships xmlns="http://schemas.openxmlformats.org/package/2006/relationships"><Relationship Id="rId3" Type="http://schemas.openxmlformats.org/officeDocument/2006/relationships/image" Target="../media/image9.svg"/><Relationship Id="rId1" Type="http://schemas.openxmlformats.org/officeDocument/2006/relationships/slideLayout" Target="../slideLayouts/slideLayout2.xml"/></Relationships>
</file>

<file path=ppt/slides/_rels/slide20.xml.rels><?xml version="1.0" encoding="UTF-8"?><Relationships xmlns="http://schemas.openxmlformats.org/package/2006/relationships"><Relationship Id="rId3" Type="http://schemas.openxmlformats.org/officeDocument/2006/relationships/image" Target="../media/image9.svg"/><Relationship Id="rId1" Type="http://schemas.openxmlformats.org/officeDocument/2006/relationships/slideLayout" Target="../slideLayouts/slideLayout2.xml"/></Relationships>
</file>

<file path=ppt/slides/_rels/slide21.xml.rels><?xml version="1.0" encoding="UTF-8"?><Relationships xmlns="http://schemas.openxmlformats.org/package/2006/relationships"><Relationship Id="rId3" Type="http://schemas.openxmlformats.org/officeDocument/2006/relationships/image" Target="../media/image9.svg"/><Relationship Id="rId1" Type="http://schemas.openxmlformats.org/officeDocument/2006/relationships/slideLayout" Target="../slideLayouts/slideLayout2.xml"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?><Relationships xmlns="http://schemas.openxmlformats.org/package/2006/relationships"><Relationship Id="rId3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?><Relationships xmlns="http://schemas.openxmlformats.org/package/2006/relationships"><Relationship Id="rId3" Type="http://schemas.openxmlformats.org/officeDocument/2006/relationships/image" Target="../media/image11.emf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2.emf"/></Relationships>
</file>

<file path=ppt/slides/_rels/slide28.xml.rels><?xml version="1.0" encoding="UTF-8"?><Relationships xmlns="http://schemas.openxmlformats.org/package/2006/relationships"><Relationship Id="rId3" Type="http://schemas.openxmlformats.org/officeDocument/2006/relationships/image" Target="../media/image13.jpe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5.svg"/><Relationship Id="rId4" Type="http://schemas.openxmlformats.org/officeDocument/2006/relationships/image" Target="../media/image14.svg"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089D1F61-B74F-FD46-9676-D29849AD257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39339" y="565150"/>
            <a:ext cx="8265319" cy="874712"/>
          </a:xfrm>
        </p:spPr>
        <p:txBody>
          <a:bodyPr>
            <a:normAutofit/>
          </a:bodyPr>
          <a:lstStyle/>
          <a:p>
            <a:pPr>
              <a:defRPr b="0"/>
            </a:pPr>
            <a:r>
              <a:rPr lang="en-US" sz="2000" b="0" i="1" dirty="0"/>
              <a:t>ECE 30861/46100: Software Engineering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B22D48-A395-DA43-BD56-73B6F8BCBF4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/>
              <a:t>1</a:t>
            </a:fld>
            <a:endParaRPr lang="en-US"/>
          </a:p>
        </p:txBody>
      </p:sp>
      <p:sp>
        <p:nvSpPr>
          <p:cNvPr id="7" name="Subtitle 1">
            <a:extLst>
              <a:ext uri="{FF2B5EF4-FFF2-40B4-BE49-F238E27FC236}">
                <a16:creationId xmlns:a16="http://schemas.microsoft.com/office/drawing/2014/main" id="{8F813479-8512-DCF4-B5C8-FFAD6ABA1785}"/>
              </a:ext>
            </a:extLst>
          </p:cNvPr>
          <p:cNvSpPr txBox="1">
            <a:spLocks/>
          </p:cNvSpPr>
          <p:nvPr/>
        </p:nvSpPr>
        <p:spPr>
          <a:xfrm>
            <a:off x="224171" y="2488405"/>
            <a:ext cx="8695654" cy="288763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Times" pitchFamily="18" charset="0"/>
              <a:buNone/>
              <a:defRPr sz="1800" kern="1200">
                <a:solidFill>
                  <a:srgbClr val="000000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4572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6858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9144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11430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131445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859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735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288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5200" dirty="0"/>
              <a:t>Software Architecture</a:t>
            </a:r>
          </a:p>
          <a:p>
            <a:r>
              <a:rPr lang="en-US" sz="2800" i="1" dirty="0">
                <a:solidFill>
                  <a:srgbClr val="8E6F3E"/>
                </a:solidFill>
              </a:rPr>
              <a:t>How should one acceptable system be organized?</a:t>
            </a:r>
          </a:p>
          <a:p>
            <a:endParaRPr lang="en-US" sz="1200" dirty="0"/>
          </a:p>
          <a:p>
            <a:r>
              <a:rPr lang="en-US" i="1" dirty="0"/>
              <a:t>Prof. James C. Davis</a:t>
            </a:r>
          </a:p>
          <a:p>
            <a:r>
              <a:rPr lang="en-US" i="1" dirty="0"/>
              <a:t>Prof. Steve France</a:t>
            </a:r>
          </a:p>
        </p:txBody>
      </p:sp>
    </p:spTree>
    <p:extLst>
      <p:ext uri="{BB962C8B-B14F-4D97-AF65-F5344CB8AC3E}">
        <p14:creationId xmlns:p14="http://schemas.microsoft.com/office/powerpoint/2010/main" val="4073495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algn="l"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 xml:space="preserve">Yesterday we kept these separate. We have to build ONE MACHINE.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0</a:t>
            </a:fld>
            <a:endParaRPr lang="en-US"/>
          </a:p>
        </p:txBody>
      </p:sp>
      <p:sp>
        <p:nvSpPr>
          <p:cNvPr id="60" name="StateCard"/>
          <p:cNvSpPr/>
          <p:nvPr/>
        </p:nvSpPr>
        <p:spPr>
          <a:xfrm>
            <a:off x="685800" y="1300000"/>
            <a:ext cx="2500000" cy="1300000"/>
          </a:xfrm>
          <a:prstGeom prst="rect">
            <a:avLst/>
          </a:prstGeom>
          <a:solidFill>
            <a:srgbClr val="FFFFFF"/>
          </a:solidFill>
          <a:ln w="19050">
            <a:solidFill>
              <a:srgbClr val="8E6F3E"/>
            </a:solidFill>
          </a:ln>
        </p:spPr>
        <p:txBody>
          <a:bodyPr wrap="square" lIns="109728" tIns="82296" rIns="109728" bIns="82296" anchor="ctr">
            <a:normAutofit/>
          </a:bodyPr>
          <a:lstStyle/>
          <a:p>
            <a:pPr algn="ctr">
              <a:buNone/>
            </a:pPr>
            <a:r>
              <a:rPr lang="en-US" sz="1800" b="1" i="0" dirty="0">
                <a:solidFill>
                  <a:srgbClr val="8E6F3E"/>
                </a:solidFill>
              </a:rPr>
              <a:t xml:space="preserve">STATE VIEW</a:t>
            </a:r>
          </a:p>
          <a:p>
            <a:pPr algn="ctr">
              <a:spcBef>
                <a:spcPts val="150"/>
              </a:spcBef>
              <a:buNone/>
            </a:pPr>
            <a:r>
              <a:rPr lang="en-US" sz="2000" b="0" i="0" dirty="0">
                <a:solidFill>
                  <a:srgbClr val="000000"/>
                </a:solidFill>
              </a:rPr>
              <a:t xml:space="preserve">asleep  →  awake</a:t>
            </a:r>
          </a:p>
        </p:txBody>
      </p:sp>
      <p:sp>
        <p:nvSpPr>
          <p:cNvPr id="61" name="ActivityCard"/>
          <p:cNvSpPr/>
          <p:nvPr/>
        </p:nvSpPr>
        <p:spPr>
          <a:xfrm>
            <a:off x="5958200" y="1300000"/>
            <a:ext cx="2500000" cy="1300000"/>
          </a:xfrm>
          <a:prstGeom prst="rect">
            <a:avLst/>
          </a:prstGeom>
          <a:solidFill>
            <a:srgbClr val="FFFFFF"/>
          </a:solidFill>
          <a:ln w="19050">
            <a:solidFill>
              <a:srgbClr val="8E6F3E"/>
            </a:solidFill>
          </a:ln>
        </p:spPr>
        <p:txBody>
          <a:bodyPr wrap="square" lIns="109728" tIns="82296" rIns="109728" bIns="82296" anchor="ctr">
            <a:normAutofit/>
          </a:bodyPr>
          <a:lstStyle/>
          <a:p>
            <a:pPr algn="ctr">
              <a:buNone/>
            </a:pPr>
            <a:r>
              <a:rPr lang="en-US" sz="1800" b="1" i="0" dirty="0">
                <a:solidFill>
                  <a:srgbClr val="8E6F3E"/>
                </a:solidFill>
              </a:rPr>
              <a:t xml:space="preserve">ACTIVITY</a:t>
            </a:r>
          </a:p>
          <a:p>
            <a:pPr algn="ctr">
              <a:spcBef>
                <a:spcPts val="150"/>
              </a:spcBef>
              <a:buNone/>
            </a:pPr>
            <a:r>
              <a:rPr lang="en-US" sz="2000" b="0" i="0" dirty="0">
                <a:solidFill>
                  <a:srgbClr val="000000"/>
                </a:solidFill>
              </a:rPr>
              <a:t xml:space="preserve">collect  →  classify</a:t>
            </a:r>
          </a:p>
        </p:txBody>
      </p:sp>
      <p:sp>
        <p:nvSpPr>
          <p:cNvPr id="62" name="SchemaCard"/>
          <p:cNvSpPr/>
          <p:nvPr/>
        </p:nvSpPr>
        <p:spPr>
          <a:xfrm>
            <a:off x="685800" y="4700000"/>
            <a:ext cx="2500000" cy="1300000"/>
          </a:xfrm>
          <a:prstGeom prst="rect">
            <a:avLst/>
          </a:prstGeom>
          <a:solidFill>
            <a:srgbClr val="FFFFFF"/>
          </a:solidFill>
          <a:ln w="19050">
            <a:solidFill>
              <a:srgbClr val="8E6F3E"/>
            </a:solidFill>
          </a:ln>
        </p:spPr>
        <p:txBody>
          <a:bodyPr wrap="square" lIns="109728" tIns="82296" rIns="109728" bIns="82296" anchor="ctr">
            <a:normAutofit/>
          </a:bodyPr>
          <a:lstStyle/>
          <a:p>
            <a:pPr algn="ctr">
              <a:buNone/>
            </a:pPr>
            <a:r>
              <a:rPr lang="en-US" sz="1800" b="1" i="0" dirty="0">
                <a:solidFill>
                  <a:srgbClr val="8E6F3E"/>
                </a:solidFill>
              </a:rPr>
              <a:t xml:space="preserve">SCHEMA</a:t>
            </a:r>
          </a:p>
          <a:p>
            <a:pPr algn="ctr">
              <a:spcBef>
                <a:spcPts val="150"/>
              </a:spcBef>
              <a:buNone/>
            </a:pPr>
            <a:r>
              <a:rPr lang="en-US" sz="1800" b="0" i="0" dirty="0">
                <a:solidFill>
                  <a:srgbClr val="000000"/>
                </a:solidFill>
              </a:rPr>
              <a:t xml:space="preserve">Night Summary</a:t>
            </a:r>
          </a:p>
          <a:p>
            <a:pPr algn="ctr">
              <a:spcBef>
                <a:spcPts val="100"/>
              </a:spcBef>
              <a:buNone/>
            </a:pPr>
            <a:r>
              <a:rPr lang="en-US" sz="1800" b="0" i="0" dirty="0">
                <a:solidFill>
                  <a:srgbClr val="000000"/>
                </a:solidFill>
              </a:rPr>
              <a:t xml:space="preserve">Advice</a:t>
            </a:r>
          </a:p>
        </p:txBody>
      </p:sp>
      <p:sp>
        <p:nvSpPr>
          <p:cNvPr id="63" name="TimingCard"/>
          <p:cNvSpPr/>
          <p:nvPr/>
        </p:nvSpPr>
        <p:spPr>
          <a:xfrm>
            <a:off x="5958200" y="4700000"/>
            <a:ext cx="2500000" cy="1300000"/>
          </a:xfrm>
          <a:prstGeom prst="rect">
            <a:avLst/>
          </a:prstGeom>
          <a:solidFill>
            <a:srgbClr val="FFFFFF"/>
          </a:solidFill>
          <a:ln w="19050">
            <a:solidFill>
              <a:srgbClr val="8E6F3E"/>
            </a:solidFill>
          </a:ln>
        </p:spPr>
        <p:txBody>
          <a:bodyPr wrap="square" lIns="109728" tIns="82296" rIns="109728" bIns="82296" anchor="ctr">
            <a:normAutofit/>
          </a:bodyPr>
          <a:lstStyle/>
          <a:p>
            <a:pPr algn="ctr">
              <a:buNone/>
            </a:pPr>
            <a:r>
              <a:rPr lang="en-US" sz="1800" b="1" i="0" dirty="0">
                <a:solidFill>
                  <a:srgbClr val="8E6F3E"/>
                </a:solidFill>
              </a:rPr>
              <a:t xml:space="preserve">TIMING / OTHER</a:t>
            </a:r>
          </a:p>
          <a:p>
            <a:pPr algn="ctr">
              <a:spcBef>
                <a:spcPts val="150"/>
              </a:spcBef>
              <a:buNone/>
            </a:pPr>
            <a:r>
              <a:rPr lang="en-US" sz="1700" b="0" i="0" dirty="0">
                <a:solidFill>
                  <a:srgbClr val="000000"/>
                </a:solidFill>
              </a:rPr>
              <a:t xml:space="preserve">≤ 60 seconds</a:t>
            </a:r>
          </a:p>
          <a:p>
            <a:pPr algn="ctr">
              <a:spcBef>
                <a:spcPts val="100"/>
              </a:spcBef>
              <a:buNone/>
            </a:pPr>
            <a:r>
              <a:rPr lang="en-US" sz="1700" b="0" i="0" dirty="0">
                <a:solidFill>
                  <a:srgbClr val="000000"/>
                </a:solidFill>
              </a:rPr>
              <a:t xml:space="preserve">privacy · 7 nights</a:t>
            </a:r>
          </a:p>
        </p:txBody>
      </p:sp>
      <p:cxnSp>
        <p:nvCxnSpPr>
          <p:cNvPr id="64" name="Arr64"/>
          <p:cNvCxnSpPr/>
          <p:nvPr/>
        </p:nvCxnSpPr>
        <p:spPr>
          <a:xfrm>
            <a:off x="3300000" y="2700000"/>
            <a:ext cx="650000" cy="55000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cxnSp>
        <p:nvCxnSpPr>
          <p:cNvPr id="65" name="Arr65"/>
          <p:cNvCxnSpPr/>
          <p:nvPr/>
        </p:nvCxnSpPr>
        <p:spPr>
          <a:xfrm flipH="1">
            <a:off x="5194000" y="2700000"/>
            <a:ext cx="650000" cy="55000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cxnSp>
        <p:nvCxnSpPr>
          <p:cNvPr id="66" name="Arr66"/>
          <p:cNvCxnSpPr/>
          <p:nvPr/>
        </p:nvCxnSpPr>
        <p:spPr>
          <a:xfrm flipV="1">
            <a:off x="3300000" y="4300000"/>
            <a:ext cx="650000" cy="55000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cxnSp>
        <p:nvCxnSpPr>
          <p:cNvPr id="67" name="Arr67"/>
          <p:cNvCxnSpPr/>
          <p:nvPr/>
        </p:nvCxnSpPr>
        <p:spPr>
          <a:xfrm flipH="1" flipV="1">
            <a:off x="5194000" y="4300000"/>
            <a:ext cx="650000" cy="55000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68" name="OneMachine"/>
          <p:cNvSpPr/>
          <p:nvPr/>
        </p:nvSpPr>
        <p:spPr>
          <a:xfrm>
            <a:off x="3172000" y="3250000"/>
            <a:ext cx="2800000" cy="10500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109728" tIns="82296" rIns="109728" bIns="82296" anchor="ctr">
            <a:normAutofit/>
          </a:bodyPr>
          <a:lstStyle/>
          <a:p>
            <a:pPr algn="ctr">
              <a:buNone/>
            </a:pPr>
            <a:r>
              <a:rPr lang="en-US" sz="2800" b="1" i="0" dirty="0">
                <a:solidFill>
                  <a:srgbClr val="FFFFFF"/>
                </a:solidFill>
              </a:rPr>
              <a:t xml:space="preserve">ONE MACHINE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2240280"/>
            <a:ext cx="7772400" cy="914400"/>
          </a:xfrm>
        </p:spPr>
        <p:txBody>
          <a:bodyPr>
            <a:normAutofit/>
          </a:bodyPr>
          <a:lstStyle/>
          <a:p>
            <a:pPr algn="ctr">
              <a:buNone/>
              <a:defRPr b="0"/>
            </a:pPr>
            <a:r>
              <a:rPr lang="en-US" sz="3600" b="0" i="0" dirty="0">
                <a:solidFill>
                  <a:srgbClr val="000000"/>
                </a:solidFill>
              </a:rPr>
              <a:t xml:space="preserve">Choosing among acceptable organizations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0</a:t>
            </a:fld>
            <a:endParaRPr lang="en-US"/>
          </a:p>
        </p:txBody>
      </p:sp>
      <p:sp>
        <p:nvSpPr>
          <p:cNvPr id="50" name="T50"/>
          <p:cNvSpPr txBox="1"/>
          <p:nvPr/>
        </p:nvSpPr>
        <p:spPr>
          <a:xfrm>
            <a:off x="685800" y="1737360"/>
            <a:ext cx="77724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</a:pPr>
            <a:r>
              <a:rPr lang="en-US" sz="2200" b="1" i="0" dirty="0">
                <a:solidFill>
                  <a:srgbClr val="8E6F3E"/>
                </a:solidFill>
              </a:rPr>
              <a:t xml:space="preserve">SECTION 2</a:t>
            </a:r>
          </a:p>
        </p:txBody>
      </p:sp>
      <p:sp>
        <p:nvSpPr>
          <p:cNvPr id="51" name="S51"/>
          <p:cNvSpPr/>
          <p:nvPr/>
        </p:nvSpPr>
        <p:spPr>
          <a:xfrm>
            <a:off x="3429000" y="3383280"/>
            <a:ext cx="2286000" cy="508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109728" tIns="82296" rIns="109728" bIns="82296" anchor="ctr">
            <a:normAutofit/>
          </a:bodyPr>
          <a:lstStyle/>
          <a:p>
            <a:endParaRPr/>
          </a:p>
        </p:txBody>
      </p:sp>
      <p:sp>
        <p:nvSpPr>
          <p:cNvPr id="52" name="T52"/>
          <p:cNvSpPr txBox="1"/>
          <p:nvPr/>
        </p:nvSpPr>
        <p:spPr>
          <a:xfrm>
            <a:off x="1371600" y="3977640"/>
            <a:ext cx="6400800" cy="10058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</a:pPr>
            <a:r>
              <a:rPr lang="en-US" sz="2800" b="0" i="0" dirty="0">
                <a:solidFill>
                  <a:srgbClr val="555960"/>
                </a:solidFill>
              </a:rPr>
              <a:t xml:space="preserve">Architecture is decision-making under tradeoffs.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algn="l">
              <a:buNone/>
              <a:defRPr b="0"/>
            </a:pPr>
            <a:r>
              <a:rPr lang="en-US" sz="2800" b="0" i="0" dirty="0">
                <a:solidFill>
                  <a:srgbClr val="000000"/>
                </a:solidFill>
              </a:rPr>
              <a:t xml:space="preserve">Where should the boundaries go?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0</a:t>
            </a:fld>
            <a:endParaRPr lang="en-US"/>
          </a:p>
        </p:txBody>
      </p:sp>
      <p:sp>
        <p:nvSpPr>
          <p:cNvPr id="60" name="FigurePlaceholder60"/>
          <p:cNvSpPr/>
          <p:nvPr/>
        </p:nvSpPr>
        <p:spPr>
          <a:xfrm>
            <a:off x="685800" y="1200000"/>
            <a:ext cx="7772400" cy="2200000"/>
          </a:xfrm>
          <a:prstGeom prst="roundRect">
            <a:avLst/>
          </a:prstGeom>
          <a:solidFill>
            <a:srgbClr val="FBF8F2"/>
          </a:solidFill>
          <a:ln w="19050">
            <a:solidFill>
              <a:srgbClr val="8E6F3E"/>
            </a:solidFill>
            <a:prstDash val="dash"/>
          </a:ln>
        </p:spPr>
        <p:txBody>
          <a:bodyPr wrap="square" lIns="109728" tIns="82296" rIns="109728" bIns="82296" anchor="ctr">
            <a:normAutofit/>
          </a:bodyPr>
          <a:lstStyle/>
          <a:p>
            <a:pPr algn="ctr">
              <a:buNone/>
            </a:pPr>
            <a:r>
              <a:rPr lang="en-US" sz="1500" b="1" i="0" dirty="0">
                <a:solidFill>
                  <a:srgbClr val="8E6F3E"/>
                </a:solidFill>
              </a:rPr>
              <a:t xml:space="preserve">[FIGURE — PASS 2]</a:t>
            </a:r>
          </a:p>
          <a:p>
            <a:pPr algn="ctr">
              <a:spcBef>
                <a:spcPts val="300"/>
              </a:spcBef>
              <a:buNone/>
            </a:pPr>
            <a:r>
              <a:rPr lang="en-US" sz="1600" b="0" i="1" dirty="0">
                <a:solidFill>
                  <a:srgbClr val="555960"/>
                </a:solidFill>
              </a:rPr>
              <a:t xml:space="preserve">one system decomposed two ways — Organization A vs Organization B, same responsibilities, different boundaries</a:t>
            </a:r>
          </a:p>
        </p:txBody>
      </p:sp>
      <p:sp>
        <p:nvSpPr>
          <p:cNvPr id="61" name="Band61"/>
          <p:cNvSpPr/>
          <p:nvPr/>
        </p:nvSpPr>
        <p:spPr>
          <a:xfrm>
            <a:off x="279400" y="3600000"/>
            <a:ext cx="8585200" cy="700000"/>
          </a:xfrm>
          <a:prstGeom prst="rect">
            <a:avLst/>
          </a:prstGeom>
          <a:solidFill>
            <a:srgbClr val="F5F1E8"/>
          </a:solidFill>
          <a:ln>
            <a:noFill/>
          </a:ln>
        </p:spPr>
        <p:txBody>
          <a:bodyPr wrap="square" lIns="109728" tIns="82296" rIns="109728" bIns="82296" anchor="ctr">
            <a:normAutofit/>
          </a:bodyPr>
          <a:lstStyle/>
          <a:p>
            <a:pPr algn="ctr">
              <a:buNone/>
            </a:pPr>
            <a:r>
              <a:rPr lang="en-US" sz="1500" b="1" i="0" dirty="0">
                <a:solidFill>
                  <a:srgbClr val="8E6F3E"/>
                </a:solidFill>
              </a:rPr>
              <a:t xml:space="preserve">CHANGE TOGETHER? · FAIL TOGETHER? · SCALE TOGETHER? · CONSISTENT TOGETHER? · SECURE TOGETHER? · OWNED TOGETHER?</a:t>
            </a:r>
          </a:p>
        </p:txBody>
      </p:sp>
      <p:sp>
        <p:nvSpPr>
          <p:cNvPr id="62" name="T62"/>
          <p:cNvSpPr txBox="1"/>
          <p:nvPr/>
        </p:nvSpPr>
        <p:spPr>
          <a:xfrm>
            <a:off x="685800" y="4520000"/>
            <a:ext cx="77724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</a:pPr>
            <a:r>
              <a:rPr lang="en-US" sz="2200" b="0" i="1" dirty="0">
                <a:solidFill>
                  <a:srgbClr val="000000"/>
                </a:solidFill>
              </a:rPr>
              <a:t xml:space="preserve">Architecture allocates coupling; it does not eliminate it.</a:t>
            </a:r>
          </a:p>
        </p:txBody>
      </p:sp>
      <p:sp>
        <p:nvSpPr>
          <p:cNvPr id="63" name="Band63"/>
          <p:cNvSpPr/>
          <p:nvPr/>
        </p:nvSpPr>
        <p:spPr>
          <a:xfrm>
            <a:off x="279400" y="5200000"/>
            <a:ext cx="8585200" cy="11000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109728" tIns="82296" rIns="109728" bIns="82296" anchor="ctr">
            <a:normAutofit/>
          </a:bodyPr>
          <a:lstStyle/>
          <a:p>
            <a:pPr algn="ctr">
              <a:buNone/>
            </a:pPr>
            <a:r>
              <a:rPr lang="en-US" sz="1800" b="1" i="0" dirty="0">
                <a:solidFill>
                  <a:srgbClr val="FFFFFF"/>
                </a:solidFill>
              </a:rPr>
              <a:t xml:space="preserve">Where should we draw boundaries so the interactions and changes we expect are easy, while the interactions and changes we do not want are difficult?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algn="l">
              <a:buNone/>
              <a:defRPr b="0"/>
            </a:pPr>
            <a:r>
              <a:rPr lang="en-US" sz="2800" b="0" i="0" dirty="0">
                <a:solidFill>
                  <a:srgbClr val="000000"/>
                </a:solidFill>
              </a:rPr>
              <a:t xml:space="preserve">Two architectures. Which one is better?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0</a:t>
            </a:fld>
            <a:endParaRPr lang="en-US"/>
          </a:p>
        </p:txBody>
      </p:sp>
      <p:pic>
        <p:nvPicPr>
          <p:cNvPr id="60" name="Think Pair Share banner" descr="Think, Pair, Shar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9400" y="797706"/>
            <a:ext cx="4066969" cy="1170794"/>
          </a:xfrm>
          <a:prstGeom prst="rect">
            <a:avLst/>
          </a:prstGeom>
        </p:spPr>
      </p:pic>
      <p:sp>
        <p:nvSpPr>
          <p:cNvPr id="101" name="C101"/>
          <p:cNvSpPr/>
          <p:nvPr/>
        </p:nvSpPr>
        <p:spPr>
          <a:xfrm>
            <a:off x="3800000" y="2150000"/>
            <a:ext cx="1900000" cy="5200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109728" tIns="82296" rIns="109728" bIns="82296" anchor="ctr">
            <a:normAutofit/>
          </a:bodyPr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 xml:space="preserve">A</a:t>
            </a:r>
          </a:p>
        </p:txBody>
      </p:sp>
      <p:sp>
        <p:nvSpPr>
          <p:cNvPr id="102" name="C102"/>
          <p:cNvSpPr/>
          <p:nvPr/>
        </p:nvSpPr>
        <p:spPr>
          <a:xfrm>
            <a:off x="5700000" y="2150000"/>
            <a:ext cx="1900000" cy="5200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109728" tIns="82296" rIns="109728" bIns="82296" anchor="ctr">
            <a:normAutofit/>
          </a:bodyPr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 xml:space="preserve">B</a:t>
            </a:r>
          </a:p>
        </p:txBody>
      </p:sp>
      <p:sp>
        <p:nvSpPr>
          <p:cNvPr id="103" name="C103"/>
          <p:cNvSpPr/>
          <p:nvPr/>
        </p:nvSpPr>
        <p:spPr>
          <a:xfrm>
            <a:off x="1500000" y="2670000"/>
            <a:ext cx="2300000" cy="52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109728" tIns="82296" rIns="109728" bIns="82296" anchor="ctr">
            <a:normAutofit/>
          </a:bodyPr>
          <a:lstStyle/>
          <a:p>
            <a:pPr algn="l">
              <a:buNone/>
            </a:pPr>
            <a:r>
              <a:rPr lang="en-US" sz="1800" b="1" i="0" dirty="0">
                <a:solidFill>
                  <a:srgbClr val="5C4826"/>
                </a:solidFill>
              </a:rPr>
              <a:t xml:space="preserve">Latency</a:t>
            </a:r>
          </a:p>
        </p:txBody>
      </p:sp>
      <p:sp>
        <p:nvSpPr>
          <p:cNvPr id="104" name="C104"/>
          <p:cNvSpPr/>
          <p:nvPr/>
        </p:nvSpPr>
        <p:spPr>
          <a:xfrm>
            <a:off x="3800000" y="2670000"/>
            <a:ext cx="1900000" cy="52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9B991"/>
            </a:solidFill>
          </a:ln>
        </p:spPr>
        <p:txBody>
          <a:bodyPr wrap="square" lIns="109728" tIns="82296" rIns="109728" bIns="82296" anchor="ctr">
            <a:normAutofit/>
          </a:bodyPr>
          <a:lstStyle/>
          <a:p>
            <a:pPr algn="ctr">
              <a:buNone/>
            </a:pPr>
            <a:r>
              <a:rPr lang="en-US" sz="1800" b="0" i="0" dirty="0">
                <a:solidFill>
                  <a:srgbClr val="000000"/>
                </a:solidFill>
              </a:rPr>
              <a:t xml:space="preserve">~100 ms</a:t>
            </a:r>
          </a:p>
        </p:txBody>
      </p:sp>
      <p:sp>
        <p:nvSpPr>
          <p:cNvPr id="105" name="C105"/>
          <p:cNvSpPr/>
          <p:nvPr/>
        </p:nvSpPr>
        <p:spPr>
          <a:xfrm>
            <a:off x="5700000" y="2670000"/>
            <a:ext cx="1900000" cy="52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9B991"/>
            </a:solidFill>
          </a:ln>
        </p:spPr>
        <p:txBody>
          <a:bodyPr wrap="square" lIns="109728" tIns="82296" rIns="109728" bIns="82296" anchor="ctr">
            <a:normAutofit/>
          </a:bodyPr>
          <a:lstStyle/>
          <a:p>
            <a:pPr algn="ctr">
              <a:buNone/>
            </a:pPr>
            <a:r>
              <a:rPr lang="en-US" sz="1800" b="0" i="0" dirty="0">
                <a:solidFill>
                  <a:srgbClr val="000000"/>
                </a:solidFill>
              </a:rPr>
              <a:t xml:space="preserve">~180 ms</a:t>
            </a:r>
          </a:p>
        </p:txBody>
      </p:sp>
      <p:sp>
        <p:nvSpPr>
          <p:cNvPr id="106" name="C106"/>
          <p:cNvSpPr/>
          <p:nvPr/>
        </p:nvSpPr>
        <p:spPr>
          <a:xfrm>
            <a:off x="1500000" y="3190000"/>
            <a:ext cx="2300000" cy="52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109728" tIns="82296" rIns="109728" bIns="82296" anchor="ctr">
            <a:normAutofit/>
          </a:bodyPr>
          <a:lstStyle/>
          <a:p>
            <a:pPr algn="l">
              <a:buNone/>
            </a:pPr>
            <a:r>
              <a:rPr lang="en-US" sz="1800" b="1" i="0" dirty="0">
                <a:solidFill>
                  <a:srgbClr val="5C4826"/>
                </a:solidFill>
              </a:rPr>
              <a:t xml:space="preserve">Cost</a:t>
            </a:r>
          </a:p>
        </p:txBody>
      </p:sp>
      <p:sp>
        <p:nvSpPr>
          <p:cNvPr id="107" name="C107"/>
          <p:cNvSpPr/>
          <p:nvPr/>
        </p:nvSpPr>
        <p:spPr>
          <a:xfrm>
            <a:off x="3800000" y="3190000"/>
            <a:ext cx="1900000" cy="52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9B991"/>
            </a:solidFill>
          </a:ln>
        </p:spPr>
        <p:txBody>
          <a:bodyPr wrap="square" lIns="109728" tIns="82296" rIns="109728" bIns="82296" anchor="ctr">
            <a:normAutofit/>
          </a:bodyPr>
          <a:lstStyle/>
          <a:p>
            <a:pPr algn="ctr">
              <a:buNone/>
            </a:pPr>
            <a:r>
              <a:rPr lang="en-US" sz="1800" b="0" i="0" dirty="0">
                <a:solidFill>
                  <a:srgbClr val="000000"/>
                </a:solidFill>
              </a:rPr>
              <a:t xml:space="preserve">$$$</a:t>
            </a:r>
          </a:p>
        </p:txBody>
      </p:sp>
      <p:sp>
        <p:nvSpPr>
          <p:cNvPr id="108" name="C108"/>
          <p:cNvSpPr/>
          <p:nvPr/>
        </p:nvSpPr>
        <p:spPr>
          <a:xfrm>
            <a:off x="5700000" y="3190000"/>
            <a:ext cx="1900000" cy="52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9B991"/>
            </a:solidFill>
          </a:ln>
        </p:spPr>
        <p:txBody>
          <a:bodyPr wrap="square" lIns="109728" tIns="82296" rIns="109728" bIns="82296" anchor="ctr">
            <a:normAutofit/>
          </a:bodyPr>
          <a:lstStyle/>
          <a:p>
            <a:pPr algn="ctr">
              <a:buNone/>
            </a:pPr>
            <a:r>
              <a:rPr lang="en-US" sz="1800" b="0" i="0" dirty="0">
                <a:solidFill>
                  <a:srgbClr val="000000"/>
                </a:solidFill>
              </a:rPr>
              <a:t xml:space="preserve">$</a:t>
            </a:r>
          </a:p>
        </p:txBody>
      </p:sp>
      <p:sp>
        <p:nvSpPr>
          <p:cNvPr id="109" name="C109"/>
          <p:cNvSpPr/>
          <p:nvPr/>
        </p:nvSpPr>
        <p:spPr>
          <a:xfrm>
            <a:off x="1500000" y="3710000"/>
            <a:ext cx="2300000" cy="52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109728" tIns="82296" rIns="109728" bIns="82296" anchor="ctr">
            <a:normAutofit/>
          </a:bodyPr>
          <a:lstStyle/>
          <a:p>
            <a:pPr algn="l">
              <a:buNone/>
            </a:pPr>
            <a:r>
              <a:rPr lang="en-US" sz="1800" b="1" i="0" dirty="0">
                <a:solidFill>
                  <a:srgbClr val="5C4826"/>
                </a:solidFill>
              </a:rPr>
              <a:t xml:space="preserve">Change</a:t>
            </a:r>
          </a:p>
        </p:txBody>
      </p:sp>
      <p:sp>
        <p:nvSpPr>
          <p:cNvPr id="110" name="C110"/>
          <p:cNvSpPr/>
          <p:nvPr/>
        </p:nvSpPr>
        <p:spPr>
          <a:xfrm>
            <a:off x="3800000" y="3710000"/>
            <a:ext cx="1900000" cy="52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9B991"/>
            </a:solidFill>
          </a:ln>
        </p:spPr>
        <p:txBody>
          <a:bodyPr wrap="square" lIns="109728" tIns="82296" rIns="109728" bIns="82296" anchor="ctr">
            <a:normAutofit/>
          </a:bodyPr>
          <a:lstStyle/>
          <a:p>
            <a:pPr algn="ctr">
              <a:buNone/>
            </a:pPr>
            <a:r>
              <a:rPr lang="en-US" sz="1800" b="0" i="0" dirty="0">
                <a:solidFill>
                  <a:srgbClr val="000000"/>
                </a:solidFill>
              </a:rPr>
              <a:t xml:space="preserve">more coupled</a:t>
            </a:r>
          </a:p>
        </p:txBody>
      </p:sp>
      <p:sp>
        <p:nvSpPr>
          <p:cNvPr id="111" name="C111"/>
          <p:cNvSpPr/>
          <p:nvPr/>
        </p:nvSpPr>
        <p:spPr>
          <a:xfrm>
            <a:off x="5700000" y="3710000"/>
            <a:ext cx="1900000" cy="52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9B991"/>
            </a:solidFill>
          </a:ln>
        </p:spPr>
        <p:txBody>
          <a:bodyPr wrap="square" lIns="109728" tIns="82296" rIns="109728" bIns="82296" anchor="ctr">
            <a:normAutofit/>
          </a:bodyPr>
          <a:lstStyle/>
          <a:p>
            <a:pPr algn="ctr">
              <a:buNone/>
            </a:pPr>
            <a:r>
              <a:rPr lang="en-US" sz="1800" b="0" i="0" dirty="0">
                <a:solidFill>
                  <a:srgbClr val="000000"/>
                </a:solidFill>
              </a:rPr>
              <a:t xml:space="preserve">more local</a:t>
            </a:r>
          </a:p>
        </p:txBody>
      </p:sp>
      <p:sp>
        <p:nvSpPr>
          <p:cNvPr id="112" name="C112"/>
          <p:cNvSpPr/>
          <p:nvPr/>
        </p:nvSpPr>
        <p:spPr>
          <a:xfrm>
            <a:off x="1500000" y="4230000"/>
            <a:ext cx="2300000" cy="52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109728" tIns="82296" rIns="109728" bIns="82296" anchor="ctr">
            <a:normAutofit/>
          </a:bodyPr>
          <a:lstStyle/>
          <a:p>
            <a:pPr algn="l">
              <a:buNone/>
            </a:pPr>
            <a:r>
              <a:rPr lang="en-US" sz="1800" b="1" i="0" dirty="0">
                <a:solidFill>
                  <a:srgbClr val="5C4826"/>
                </a:solidFill>
              </a:rPr>
              <a:t xml:space="preserve">Availability</a:t>
            </a:r>
          </a:p>
        </p:txBody>
      </p:sp>
      <p:sp>
        <p:nvSpPr>
          <p:cNvPr id="113" name="C113"/>
          <p:cNvSpPr/>
          <p:nvPr/>
        </p:nvSpPr>
        <p:spPr>
          <a:xfrm>
            <a:off x="3800000" y="4230000"/>
            <a:ext cx="1900000" cy="52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9B991"/>
            </a:solidFill>
          </a:ln>
        </p:spPr>
        <p:txBody>
          <a:bodyPr wrap="square" lIns="109728" tIns="82296" rIns="109728" bIns="82296" anchor="ctr">
            <a:normAutofit/>
          </a:bodyPr>
          <a:lstStyle/>
          <a:p>
            <a:pPr algn="ctr">
              <a:buNone/>
            </a:pPr>
            <a:r>
              <a:rPr lang="en-US" sz="1800" b="0" i="0" dirty="0">
                <a:solidFill>
                  <a:srgbClr val="000000"/>
                </a:solidFill>
              </a:rPr>
              <a:t xml:space="preserve">higher</a:t>
            </a:r>
          </a:p>
        </p:txBody>
      </p:sp>
      <p:sp>
        <p:nvSpPr>
          <p:cNvPr id="114" name="C114"/>
          <p:cNvSpPr/>
          <p:nvPr/>
        </p:nvSpPr>
        <p:spPr>
          <a:xfrm>
            <a:off x="5700000" y="4230000"/>
            <a:ext cx="1900000" cy="52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9B991"/>
            </a:solidFill>
          </a:ln>
        </p:spPr>
        <p:txBody>
          <a:bodyPr wrap="square" lIns="109728" tIns="82296" rIns="109728" bIns="82296" anchor="ctr">
            <a:normAutofit/>
          </a:bodyPr>
          <a:lstStyle/>
          <a:p>
            <a:pPr algn="ctr">
              <a:buNone/>
            </a:pPr>
            <a:r>
              <a:rPr lang="en-US" sz="1800" b="0" i="0" dirty="0">
                <a:solidFill>
                  <a:srgbClr val="000000"/>
                </a:solidFill>
              </a:rPr>
              <a:t xml:space="preserve">lower</a:t>
            </a:r>
          </a:p>
        </p:txBody>
      </p:sp>
      <p:sp>
        <p:nvSpPr>
          <p:cNvPr id="80" name="S80"/>
          <p:cNvSpPr/>
          <p:nvPr/>
        </p:nvSpPr>
        <p:spPr>
          <a:xfrm>
            <a:off x="279400" y="5054600"/>
            <a:ext cx="88900" cy="5588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109728" tIns="82296" rIns="109728" bIns="82296" anchor="ctr">
            <a:normAutofit/>
          </a:bodyPr>
          <a:lstStyle/>
          <a:p>
            <a:endParaRPr/>
          </a:p>
        </p:txBody>
      </p:sp>
      <p:sp>
        <p:nvSpPr>
          <p:cNvPr id="81" name="S81"/>
          <p:cNvSpPr/>
          <p:nvPr/>
        </p:nvSpPr>
        <p:spPr>
          <a:xfrm>
            <a:off x="368300" y="5054600"/>
            <a:ext cx="8293100" cy="558800"/>
          </a:xfrm>
          <a:prstGeom prst="rect">
            <a:avLst/>
          </a:prstGeom>
          <a:solidFill>
            <a:srgbClr val="F5F1E8"/>
          </a:solidFill>
          <a:ln>
            <a:noFill/>
          </a:ln>
        </p:spPr>
        <p:txBody>
          <a:bodyPr wrap="square" lIns="109728" tIns="82296" rIns="109728" bIns="82296" anchor="ctr">
            <a:normAutofit/>
          </a:bodyPr>
          <a:lstStyle/>
          <a:p>
            <a:pPr algn="ctr">
              <a:buNone/>
            </a:pPr>
            <a:r>
              <a:rPr lang="en-US" sz="2200" b="1" i="0" dirty="0">
                <a:solidFill>
                  <a:srgbClr val="5C4826"/>
                </a:solidFill>
              </a:rPr>
              <a:t xml:space="preserve">THINK 1 min   ·   PAIR 2 min   ·   SHARE 2 min</a:t>
            </a:r>
          </a:p>
        </p:txBody>
      </p:sp>
      <p:sp>
        <p:nvSpPr>
          <p:cNvPr id="82" name="T82"/>
          <p:cNvSpPr txBox="1"/>
          <p:nvPr/>
        </p:nvSpPr>
        <p:spPr>
          <a:xfrm>
            <a:off x="279400" y="5816600"/>
            <a:ext cx="8559800" cy="406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</a:pPr>
            <a:r>
              <a:rPr lang="en-US" sz="2400" b="1" i="0" dirty="0">
                <a:solidFill>
                  <a:srgbClr val="000000"/>
                </a:solidFill>
              </a:rPr>
              <a:t xml:space="preserve">WHICH ONE?</a:t>
            </a:r>
            <a:r>
              <a:rPr lang="en-US" sz="2400" b="1" i="0" dirty="0">
                <a:solidFill>
                  <a:srgbClr val="8E6F3E"/>
                </a:solidFill>
              </a:rPr>
              <a:t xml:space="preserve">    ·    </a:t>
            </a:r>
            <a:r>
              <a:rPr lang="en-US" sz="2400" b="1" i="0" dirty="0">
                <a:solidFill>
                  <a:srgbClr val="000000"/>
                </a:solidFill>
              </a:rPr>
              <a:t xml:space="preserve">Choose one.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algn="l">
              <a:buNone/>
              <a:defRPr b="0"/>
            </a:pPr>
            <a:r>
              <a:rPr lang="en-US" sz="2800" b="0" i="0" dirty="0">
                <a:solidFill>
                  <a:srgbClr val="000000"/>
                </a:solidFill>
              </a:rPr>
              <a:t xml:space="preserve">Layers: constrain which parts may depend on which.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0</a:t>
            </a:fld>
            <a:endParaRPr lang="en-US"/>
          </a:p>
        </p:txBody>
      </p:sp>
      <p:sp>
        <p:nvSpPr>
          <p:cNvPr id="60" name="FigurePlaceholder60"/>
          <p:cNvSpPr/>
          <p:nvPr/>
        </p:nvSpPr>
        <p:spPr>
          <a:xfrm>
            <a:off x="685800" y="1250000"/>
            <a:ext cx="7772400" cy="3100000"/>
          </a:xfrm>
          <a:prstGeom prst="roundRect">
            <a:avLst/>
          </a:prstGeom>
          <a:solidFill>
            <a:srgbClr val="FBF8F2"/>
          </a:solidFill>
          <a:ln w="19050">
            <a:solidFill>
              <a:srgbClr val="8E6F3E"/>
            </a:solidFill>
            <a:prstDash val="dash"/>
          </a:ln>
        </p:spPr>
        <p:txBody>
          <a:bodyPr wrap="square" lIns="109728" tIns="82296" rIns="109728" bIns="82296" anchor="ctr">
            <a:normAutofit/>
          </a:bodyPr>
          <a:lstStyle/>
          <a:p>
            <a:pPr algn="ctr">
              <a:buNone/>
            </a:pPr>
            <a:r>
              <a:rPr lang="en-US" sz="1500" b="1" i="0" dirty="0">
                <a:solidFill>
                  <a:srgbClr val="8E6F3E"/>
                </a:solidFill>
              </a:rPr>
              <a:t xml:space="preserve">[FIGURE — PASS 2]</a:t>
            </a:r>
          </a:p>
          <a:p>
            <a:pPr algn="ctr">
              <a:spcBef>
                <a:spcPts val="300"/>
              </a:spcBef>
              <a:buNone/>
            </a:pPr>
            <a:r>
              <a:rPr lang="en-US" sz="1600" b="0" i="1" dirty="0">
                <a:solidFill>
                  <a:srgbClr val="555960"/>
                </a:solidFill>
              </a:rPr>
              <a:t xml:space="preserve">layered stack UI / APPLICATION / DOMAIN / INFRASTRUCTURE, allowed dependencies pointing downward; plus the mmap complication — APPLICATION → FILE/STORAGE API → OS → STORAGE, with mmap letting file-backed data participate in virtual memory (demand paging / page faults)</a:t>
            </a:r>
          </a:p>
        </p:txBody>
      </p:sp>
      <p:sp>
        <p:nvSpPr>
          <p:cNvPr id="61" name="T61"/>
          <p:cNvSpPr txBox="1"/>
          <p:nvPr/>
        </p:nvSpPr>
        <p:spPr>
          <a:xfrm>
            <a:off x="685800" y="4650000"/>
            <a:ext cx="7772400" cy="1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</a:pPr>
            <a:r>
              <a:rPr lang="en-US" sz="1900" b="0" i="1" dirty="0">
                <a:solidFill>
                  <a:srgbClr val="000000"/>
                </a:solidFill>
              </a:rPr>
              <a:t xml:space="preserve">Real systems sometimes deliberately cross or blur conceptual layers because doing so buys something important — mmap is why “follow the layered pattern” is a rule of thumb, not a law.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algn="l">
              <a:buNone/>
              <a:defRPr b="0"/>
            </a:pPr>
            <a:r>
              <a:rPr lang="en-US" sz="2600" b="0" i="0" dirty="0">
                <a:solidFill>
                  <a:srgbClr val="000000"/>
                </a:solidFill>
              </a:rPr>
              <a:t xml:space="preserve">The decision matrix says Architecture A wins, 7.6 to 7.4.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0</a:t>
            </a:fld>
            <a:endParaRPr lang="en-US"/>
          </a:p>
        </p:txBody>
      </p:sp>
      <p:sp>
        <p:nvSpPr>
          <p:cNvPr id="61" name="C61"/>
          <p:cNvSpPr/>
          <p:nvPr/>
        </p:nvSpPr>
        <p:spPr>
          <a:xfrm>
            <a:off x="3600000" y="1150000"/>
            <a:ext cx="1300000" cy="4800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109728" tIns="82296" rIns="109728" bIns="82296" anchor="ctr">
            <a:normAutofit/>
          </a:bodyPr>
          <a:lstStyle/>
          <a:p>
            <a:pPr algn="ctr">
              <a:buNone/>
            </a:pPr>
            <a:r>
              <a:rPr lang="en-US" sz="1800" b="1" i="0" dirty="0">
                <a:solidFill>
                  <a:srgbClr val="FFFFFF"/>
                </a:solidFill>
              </a:rPr>
              <a:t xml:space="preserve">Weight</a:t>
            </a:r>
          </a:p>
        </p:txBody>
      </p:sp>
      <p:sp>
        <p:nvSpPr>
          <p:cNvPr id="62" name="C62"/>
          <p:cNvSpPr/>
          <p:nvPr/>
        </p:nvSpPr>
        <p:spPr>
          <a:xfrm>
            <a:off x="4900000" y="1150000"/>
            <a:ext cx="1300000" cy="4800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109728" tIns="82296" rIns="109728" bIns="82296" anchor="ctr">
            <a:normAutofit/>
          </a:bodyPr>
          <a:lstStyle/>
          <a:p>
            <a:pPr algn="ctr">
              <a:buNone/>
            </a:pPr>
            <a:r>
              <a:rPr lang="en-US" sz="1800" b="1" i="0" dirty="0">
                <a:solidFill>
                  <a:srgbClr val="FFFFFF"/>
                </a:solidFill>
              </a:rPr>
              <a:t xml:space="preserve">A</a:t>
            </a:r>
          </a:p>
        </p:txBody>
      </p:sp>
      <p:sp>
        <p:nvSpPr>
          <p:cNvPr id="63" name="C63"/>
          <p:cNvSpPr/>
          <p:nvPr/>
        </p:nvSpPr>
        <p:spPr>
          <a:xfrm>
            <a:off x="6200000" y="1150000"/>
            <a:ext cx="1300000" cy="4800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109728" tIns="82296" rIns="109728" bIns="82296" anchor="ctr">
            <a:normAutofit/>
          </a:bodyPr>
          <a:lstStyle/>
          <a:p>
            <a:pPr algn="ctr">
              <a:buNone/>
            </a:pPr>
            <a:r>
              <a:rPr lang="en-US" sz="1800" b="1" i="0" dirty="0">
                <a:solidFill>
                  <a:srgbClr val="FFFFFF"/>
                </a:solidFill>
              </a:rPr>
              <a:t xml:space="preserve">B</a:t>
            </a:r>
          </a:p>
        </p:txBody>
      </p:sp>
      <p:sp>
        <p:nvSpPr>
          <p:cNvPr id="64" name="C64"/>
          <p:cNvSpPr/>
          <p:nvPr/>
        </p:nvSpPr>
        <p:spPr>
          <a:xfrm>
            <a:off x="1200000" y="1630000"/>
            <a:ext cx="2400000" cy="48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109728" tIns="82296" rIns="109728" bIns="82296" anchor="ctr">
            <a:normAutofit/>
          </a:bodyPr>
          <a:lstStyle/>
          <a:p>
            <a:pPr algn="l">
              <a:buNone/>
            </a:pPr>
            <a:r>
              <a:rPr lang="en-US" sz="1800" b="1" i="0" dirty="0">
                <a:solidFill>
                  <a:srgbClr val="5C4826"/>
                </a:solidFill>
              </a:rPr>
              <a:t xml:space="preserve">Performance</a:t>
            </a:r>
          </a:p>
        </p:txBody>
      </p:sp>
      <p:sp>
        <p:nvSpPr>
          <p:cNvPr id="65" name="C65"/>
          <p:cNvSpPr/>
          <p:nvPr/>
        </p:nvSpPr>
        <p:spPr>
          <a:xfrm>
            <a:off x="3600000" y="1630000"/>
            <a:ext cx="1300000" cy="48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9B991"/>
            </a:solidFill>
          </a:ln>
        </p:spPr>
        <p:txBody>
          <a:bodyPr wrap="square" lIns="109728" tIns="82296" rIns="109728" bIns="82296" anchor="ctr">
            <a:normAutofit/>
          </a:bodyPr>
          <a:lstStyle/>
          <a:p>
            <a:pPr algn="ctr">
              <a:buNone/>
            </a:pPr>
            <a:r>
              <a:rPr lang="en-US" sz="1800" b="0" i="0" dirty="0">
                <a:solidFill>
                  <a:srgbClr val="000000"/>
                </a:solidFill>
              </a:rPr>
              <a:t xml:space="preserve">.30</a:t>
            </a:r>
          </a:p>
        </p:txBody>
      </p:sp>
      <p:sp>
        <p:nvSpPr>
          <p:cNvPr id="66" name="C66"/>
          <p:cNvSpPr/>
          <p:nvPr/>
        </p:nvSpPr>
        <p:spPr>
          <a:xfrm>
            <a:off x="4900000" y="1630000"/>
            <a:ext cx="1300000" cy="48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9B991"/>
            </a:solidFill>
          </a:ln>
        </p:spPr>
        <p:txBody>
          <a:bodyPr wrap="square" lIns="109728" tIns="82296" rIns="109728" bIns="82296" anchor="ctr">
            <a:normAutofit/>
          </a:bodyPr>
          <a:lstStyle/>
          <a:p>
            <a:pPr algn="ctr">
              <a:buNone/>
            </a:pPr>
            <a:r>
              <a:rPr lang="en-US" sz="1800" b="0" i="0" dirty="0">
                <a:solidFill>
                  <a:srgbClr val="000000"/>
                </a:solidFill>
              </a:rPr>
              <a:t xml:space="preserve">5</a:t>
            </a:r>
          </a:p>
        </p:txBody>
      </p:sp>
      <p:sp>
        <p:nvSpPr>
          <p:cNvPr id="67" name="C67"/>
          <p:cNvSpPr/>
          <p:nvPr/>
        </p:nvSpPr>
        <p:spPr>
          <a:xfrm>
            <a:off x="6200000" y="1630000"/>
            <a:ext cx="1300000" cy="48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9B991"/>
            </a:solidFill>
          </a:ln>
        </p:spPr>
        <p:txBody>
          <a:bodyPr wrap="square" lIns="109728" tIns="82296" rIns="109728" bIns="82296" anchor="ctr">
            <a:normAutofit/>
          </a:bodyPr>
          <a:lstStyle/>
          <a:p>
            <a:pPr algn="ctr">
              <a:buNone/>
            </a:pPr>
            <a:r>
              <a:rPr lang="en-US" sz="1800" b="0" i="0" dirty="0">
                <a:solidFill>
                  <a:srgbClr val="000000"/>
                </a:solidFill>
              </a:rPr>
              <a:t xml:space="preserve">3</a:t>
            </a:r>
          </a:p>
        </p:txBody>
      </p:sp>
      <p:sp>
        <p:nvSpPr>
          <p:cNvPr id="68" name="C68"/>
          <p:cNvSpPr/>
          <p:nvPr/>
        </p:nvSpPr>
        <p:spPr>
          <a:xfrm>
            <a:off x="1200000" y="2110000"/>
            <a:ext cx="2400000" cy="48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109728" tIns="82296" rIns="109728" bIns="82296" anchor="ctr">
            <a:normAutofit/>
          </a:bodyPr>
          <a:lstStyle/>
          <a:p>
            <a:pPr algn="l">
              <a:buNone/>
            </a:pPr>
            <a:r>
              <a:rPr lang="en-US" sz="1800" b="1" i="0" dirty="0">
                <a:solidFill>
                  <a:srgbClr val="5C4826"/>
                </a:solidFill>
              </a:rPr>
              <a:t xml:space="preserve">Cost</a:t>
            </a:r>
          </a:p>
        </p:txBody>
      </p:sp>
      <p:sp>
        <p:nvSpPr>
          <p:cNvPr id="69" name="C69"/>
          <p:cNvSpPr/>
          <p:nvPr/>
        </p:nvSpPr>
        <p:spPr>
          <a:xfrm>
            <a:off x="3600000" y="2110000"/>
            <a:ext cx="1300000" cy="48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9B991"/>
            </a:solidFill>
          </a:ln>
        </p:spPr>
        <p:txBody>
          <a:bodyPr wrap="square" lIns="109728" tIns="82296" rIns="109728" bIns="82296" anchor="ctr">
            <a:normAutofit/>
          </a:bodyPr>
          <a:lstStyle/>
          <a:p>
            <a:pPr algn="ctr">
              <a:buNone/>
            </a:pPr>
            <a:r>
              <a:rPr lang="en-US" sz="1800" b="0" i="0" dirty="0">
                <a:solidFill>
                  <a:srgbClr val="000000"/>
                </a:solidFill>
              </a:rPr>
              <a:t xml:space="preserve">.25</a:t>
            </a:r>
          </a:p>
        </p:txBody>
      </p:sp>
      <p:sp>
        <p:nvSpPr>
          <p:cNvPr id="70" name="C70"/>
          <p:cNvSpPr/>
          <p:nvPr/>
        </p:nvSpPr>
        <p:spPr>
          <a:xfrm>
            <a:off x="4900000" y="2110000"/>
            <a:ext cx="1300000" cy="48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9B991"/>
            </a:solidFill>
          </a:ln>
        </p:spPr>
        <p:txBody>
          <a:bodyPr wrap="square" lIns="109728" tIns="82296" rIns="109728" bIns="82296" anchor="ctr">
            <a:normAutofit/>
          </a:bodyPr>
          <a:lstStyle/>
          <a:p>
            <a:pPr algn="ctr">
              <a:buNone/>
            </a:pPr>
            <a:r>
              <a:rPr lang="en-US" sz="1800" b="0" i="0" dirty="0">
                <a:solidFill>
                  <a:srgbClr val="000000"/>
                </a:solidFill>
              </a:rPr>
              <a:t xml:space="preserve">2</a:t>
            </a:r>
          </a:p>
        </p:txBody>
      </p:sp>
      <p:sp>
        <p:nvSpPr>
          <p:cNvPr id="71" name="C71"/>
          <p:cNvSpPr/>
          <p:nvPr/>
        </p:nvSpPr>
        <p:spPr>
          <a:xfrm>
            <a:off x="6200000" y="2110000"/>
            <a:ext cx="1300000" cy="48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9B991"/>
            </a:solidFill>
          </a:ln>
        </p:spPr>
        <p:txBody>
          <a:bodyPr wrap="square" lIns="109728" tIns="82296" rIns="109728" bIns="82296" anchor="ctr">
            <a:normAutofit/>
          </a:bodyPr>
          <a:lstStyle/>
          <a:p>
            <a:pPr algn="ctr">
              <a:buNone/>
            </a:pPr>
            <a:r>
              <a:rPr lang="en-US" sz="1800" b="0" i="0" dirty="0">
                <a:solidFill>
                  <a:srgbClr val="000000"/>
                </a:solidFill>
              </a:rPr>
              <a:t xml:space="preserve">5</a:t>
            </a:r>
          </a:p>
        </p:txBody>
      </p:sp>
      <p:sp>
        <p:nvSpPr>
          <p:cNvPr id="72" name="C72"/>
          <p:cNvSpPr/>
          <p:nvPr/>
        </p:nvSpPr>
        <p:spPr>
          <a:xfrm>
            <a:off x="1200000" y="2590000"/>
            <a:ext cx="2400000" cy="48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109728" tIns="82296" rIns="109728" bIns="82296" anchor="ctr">
            <a:normAutofit/>
          </a:bodyPr>
          <a:lstStyle/>
          <a:p>
            <a:pPr algn="l">
              <a:buNone/>
            </a:pPr>
            <a:r>
              <a:rPr lang="en-US" sz="1800" b="1" i="0" dirty="0">
                <a:solidFill>
                  <a:srgbClr val="5C4826"/>
                </a:solidFill>
              </a:rPr>
              <a:t xml:space="preserve">Changeability</a:t>
            </a:r>
          </a:p>
        </p:txBody>
      </p:sp>
      <p:sp>
        <p:nvSpPr>
          <p:cNvPr id="73" name="C73"/>
          <p:cNvSpPr/>
          <p:nvPr/>
        </p:nvSpPr>
        <p:spPr>
          <a:xfrm>
            <a:off x="3600000" y="2590000"/>
            <a:ext cx="1300000" cy="48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9B991"/>
            </a:solidFill>
          </a:ln>
        </p:spPr>
        <p:txBody>
          <a:bodyPr wrap="square" lIns="109728" tIns="82296" rIns="109728" bIns="82296" anchor="ctr">
            <a:normAutofit/>
          </a:bodyPr>
          <a:lstStyle/>
          <a:p>
            <a:pPr algn="ctr">
              <a:buNone/>
            </a:pPr>
            <a:r>
              <a:rPr lang="en-US" sz="1800" b="0" i="0" dirty="0">
                <a:solidFill>
                  <a:srgbClr val="000000"/>
                </a:solidFill>
              </a:rPr>
              <a:t xml:space="preserve">.20</a:t>
            </a:r>
          </a:p>
        </p:txBody>
      </p:sp>
      <p:sp>
        <p:nvSpPr>
          <p:cNvPr id="74" name="C74"/>
          <p:cNvSpPr/>
          <p:nvPr/>
        </p:nvSpPr>
        <p:spPr>
          <a:xfrm>
            <a:off x="4900000" y="2590000"/>
            <a:ext cx="1300000" cy="48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9B991"/>
            </a:solidFill>
          </a:ln>
        </p:spPr>
        <p:txBody>
          <a:bodyPr wrap="square" lIns="109728" tIns="82296" rIns="109728" bIns="82296" anchor="ctr">
            <a:normAutofit/>
          </a:bodyPr>
          <a:lstStyle/>
          <a:p>
            <a:pPr algn="ctr">
              <a:buNone/>
            </a:pPr>
            <a:r>
              <a:rPr lang="en-US" sz="1800" b="0" i="0" dirty="0">
                <a:solidFill>
                  <a:srgbClr val="000000"/>
                </a:solidFill>
              </a:rPr>
              <a:t xml:space="preserve">4</a:t>
            </a:r>
          </a:p>
        </p:txBody>
      </p:sp>
      <p:sp>
        <p:nvSpPr>
          <p:cNvPr id="75" name="C75"/>
          <p:cNvSpPr/>
          <p:nvPr/>
        </p:nvSpPr>
        <p:spPr>
          <a:xfrm>
            <a:off x="6200000" y="2590000"/>
            <a:ext cx="1300000" cy="48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9B991"/>
            </a:solidFill>
          </a:ln>
        </p:spPr>
        <p:txBody>
          <a:bodyPr wrap="square" lIns="109728" tIns="82296" rIns="109728" bIns="82296" anchor="ctr">
            <a:normAutofit/>
          </a:bodyPr>
          <a:lstStyle/>
          <a:p>
            <a:pPr algn="ctr">
              <a:buNone/>
            </a:pPr>
            <a:r>
              <a:rPr lang="en-US" sz="1800" b="0" i="0" dirty="0">
                <a:solidFill>
                  <a:srgbClr val="000000"/>
                </a:solidFill>
              </a:rPr>
              <a:t xml:space="preserve">3</a:t>
            </a:r>
          </a:p>
        </p:txBody>
      </p:sp>
      <p:sp>
        <p:nvSpPr>
          <p:cNvPr id="76" name="C76"/>
          <p:cNvSpPr/>
          <p:nvPr/>
        </p:nvSpPr>
        <p:spPr>
          <a:xfrm>
            <a:off x="1200000" y="3070000"/>
            <a:ext cx="2400000" cy="48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109728" tIns="82296" rIns="109728" bIns="82296" anchor="ctr">
            <a:normAutofit/>
          </a:bodyPr>
          <a:lstStyle/>
          <a:p>
            <a:pPr algn="l">
              <a:buNone/>
            </a:pPr>
            <a:r>
              <a:rPr lang="en-US" sz="1800" b="1" i="0" dirty="0">
                <a:solidFill>
                  <a:srgbClr val="5C4826"/>
                </a:solidFill>
              </a:rPr>
              <a:t xml:space="preserve">Reliability</a:t>
            </a:r>
          </a:p>
        </p:txBody>
      </p:sp>
      <p:sp>
        <p:nvSpPr>
          <p:cNvPr id="77" name="C77"/>
          <p:cNvSpPr/>
          <p:nvPr/>
        </p:nvSpPr>
        <p:spPr>
          <a:xfrm>
            <a:off x="3600000" y="3070000"/>
            <a:ext cx="1300000" cy="48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9B991"/>
            </a:solidFill>
          </a:ln>
        </p:spPr>
        <p:txBody>
          <a:bodyPr wrap="square" lIns="109728" tIns="82296" rIns="109728" bIns="82296" anchor="ctr">
            <a:normAutofit/>
          </a:bodyPr>
          <a:lstStyle/>
          <a:p>
            <a:pPr algn="ctr">
              <a:buNone/>
            </a:pPr>
            <a:r>
              <a:rPr lang="en-US" sz="1800" b="0" i="0" dirty="0">
                <a:solidFill>
                  <a:srgbClr val="000000"/>
                </a:solidFill>
              </a:rPr>
              <a:t xml:space="preserve">.25</a:t>
            </a:r>
          </a:p>
        </p:txBody>
      </p:sp>
      <p:sp>
        <p:nvSpPr>
          <p:cNvPr id="78" name="C78"/>
          <p:cNvSpPr/>
          <p:nvPr/>
        </p:nvSpPr>
        <p:spPr>
          <a:xfrm>
            <a:off x="4900000" y="3070000"/>
            <a:ext cx="1300000" cy="48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9B991"/>
            </a:solidFill>
          </a:ln>
        </p:spPr>
        <p:txBody>
          <a:bodyPr wrap="square" lIns="109728" tIns="82296" rIns="109728" bIns="82296" anchor="ctr">
            <a:normAutofit/>
          </a:bodyPr>
          <a:lstStyle/>
          <a:p>
            <a:pPr algn="ctr">
              <a:buNone/>
            </a:pPr>
            <a:r>
              <a:rPr lang="en-US" sz="1800" b="0" i="0" dirty="0">
                <a:solidFill>
                  <a:srgbClr val="000000"/>
                </a:solidFill>
              </a:rPr>
              <a:t xml:space="preserve">5</a:t>
            </a:r>
          </a:p>
        </p:txBody>
      </p:sp>
      <p:sp>
        <p:nvSpPr>
          <p:cNvPr id="79" name="C79"/>
          <p:cNvSpPr/>
          <p:nvPr/>
        </p:nvSpPr>
        <p:spPr>
          <a:xfrm>
            <a:off x="6200000" y="3070000"/>
            <a:ext cx="1300000" cy="48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9B991"/>
            </a:solidFill>
          </a:ln>
        </p:spPr>
        <p:txBody>
          <a:bodyPr wrap="square" lIns="109728" tIns="82296" rIns="109728" bIns="82296" anchor="ctr">
            <a:normAutofit/>
          </a:bodyPr>
          <a:lstStyle/>
          <a:p>
            <a:pPr algn="ctr">
              <a:buNone/>
            </a:pPr>
            <a:r>
              <a:rPr lang="en-US" sz="1800" b="0" i="0" dirty="0">
                <a:solidFill>
                  <a:srgbClr val="000000"/>
                </a:solidFill>
              </a:rPr>
              <a:t xml:space="preserve">4</a:t>
            </a:r>
          </a:p>
        </p:txBody>
      </p:sp>
      <p:sp>
        <p:nvSpPr>
          <p:cNvPr id="80" name="C80"/>
          <p:cNvSpPr/>
          <p:nvPr/>
        </p:nvSpPr>
        <p:spPr>
          <a:xfrm>
            <a:off x="1200000" y="3550000"/>
            <a:ext cx="2400000" cy="48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109728" tIns="82296" rIns="109728" bIns="82296" anchor="ctr">
            <a:normAutofit/>
          </a:bodyPr>
          <a:lstStyle/>
          <a:p>
            <a:pPr algn="l">
              <a:buNone/>
            </a:pPr>
            <a:r>
              <a:rPr lang="en-US" sz="1800" b="1" i="0" dirty="0">
                <a:solidFill>
                  <a:srgbClr val="5C4826"/>
                </a:solidFill>
              </a:rPr>
              <a:t xml:space="preserve">Weighted</a:t>
            </a:r>
          </a:p>
        </p:txBody>
      </p:sp>
      <p:sp>
        <p:nvSpPr>
          <p:cNvPr id="82" name="C82"/>
          <p:cNvSpPr/>
          <p:nvPr/>
        </p:nvSpPr>
        <p:spPr>
          <a:xfrm>
            <a:off x="4900000" y="3550000"/>
            <a:ext cx="1300000" cy="48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9B991"/>
            </a:solidFill>
          </a:ln>
        </p:spPr>
        <p:txBody>
          <a:bodyPr wrap="square" lIns="109728" tIns="82296" rIns="109728" bIns="82296" anchor="ctr">
            <a:normAutofit/>
          </a:bodyPr>
          <a:lstStyle/>
          <a:p>
            <a:pPr algn="ctr">
              <a:buNone/>
            </a:pPr>
            <a:r>
              <a:rPr lang="en-US" sz="1800" b="1" i="0" dirty="0">
                <a:solidFill>
                  <a:srgbClr val="000000"/>
                </a:solidFill>
              </a:rPr>
              <a:t xml:space="preserve">3.95</a:t>
            </a:r>
          </a:p>
        </p:txBody>
      </p:sp>
      <p:sp>
        <p:nvSpPr>
          <p:cNvPr id="83" name="C83"/>
          <p:cNvSpPr/>
          <p:nvPr/>
        </p:nvSpPr>
        <p:spPr>
          <a:xfrm>
            <a:off x="6200000" y="3550000"/>
            <a:ext cx="1300000" cy="48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9B991"/>
            </a:solidFill>
          </a:ln>
        </p:spPr>
        <p:txBody>
          <a:bodyPr wrap="square" lIns="109728" tIns="82296" rIns="109728" bIns="82296" anchor="ctr">
            <a:normAutofit/>
          </a:bodyPr>
          <a:lstStyle/>
          <a:p>
            <a:pPr algn="ctr">
              <a:buNone/>
            </a:pPr>
            <a:r>
              <a:rPr lang="en-US" sz="1800" b="1" i="0" dirty="0">
                <a:solidFill>
                  <a:srgbClr val="000000"/>
                </a:solidFill>
              </a:rPr>
              <a:t xml:space="preserve">3.70</a:t>
            </a:r>
          </a:p>
        </p:txBody>
      </p:sp>
      <p:sp>
        <p:nvSpPr>
          <p:cNvPr id="90" name="T90"/>
          <p:cNvSpPr txBox="1"/>
          <p:nvPr/>
        </p:nvSpPr>
        <p:spPr>
          <a:xfrm>
            <a:off x="685800" y="4180000"/>
            <a:ext cx="777240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</a:pPr>
            <a:r>
              <a:rPr lang="en-US" sz="2800" b="1" i="0" dirty="0">
                <a:solidFill>
                  <a:srgbClr val="8E6F3E"/>
                </a:solidFill>
              </a:rPr>
              <a:t xml:space="preserve">🏆  A WINS  🏆</a:t>
            </a:r>
          </a:p>
        </p:txBody>
      </p:sp>
      <p:sp>
        <p:nvSpPr>
          <p:cNvPr id="91" name="FigurePlaceholder91"/>
          <p:cNvSpPr/>
          <p:nvPr/>
        </p:nvSpPr>
        <p:spPr>
          <a:xfrm>
            <a:off x="279400" y="4800000"/>
            <a:ext cx="8585200" cy="850000"/>
          </a:xfrm>
          <a:prstGeom prst="roundRect">
            <a:avLst/>
          </a:prstGeom>
          <a:solidFill>
            <a:srgbClr val="FBF8F2"/>
          </a:solidFill>
          <a:ln w="19050">
            <a:solidFill>
              <a:srgbClr val="8E6F3E"/>
            </a:solidFill>
            <a:prstDash val="dash"/>
          </a:ln>
        </p:spPr>
        <p:txBody>
          <a:bodyPr wrap="square" lIns="109728" tIns="82296" rIns="109728" bIns="82296" anchor="ctr">
            <a:normAutofit/>
          </a:bodyPr>
          <a:lstStyle/>
          <a:p>
            <a:pPr algn="ctr">
              <a:buNone/>
            </a:pPr>
            <a:r>
              <a:rPr lang="en-US" sz="1500" b="1" i="0" dirty="0">
                <a:solidFill>
                  <a:srgbClr val="8E6F3E"/>
                </a:solidFill>
              </a:rPr>
              <a:t xml:space="preserve">[FIGURE — PASS 2]</a:t>
            </a:r>
          </a:p>
          <a:p>
            <a:pPr algn="ctr">
              <a:spcBef>
                <a:spcPts val="300"/>
              </a:spcBef>
              <a:buNone/>
            </a:pPr>
            <a:r>
              <a:rPr lang="en-US" sz="1400" b="0" i="1" dirty="0">
                <a:solidFill>
                  <a:srgbClr val="555960"/>
                </a:solidFill>
              </a:rPr>
              <a:t xml:space="preserve">interrogation callouts around the matrix — WHY .30? / WHAT IS A “5”? / WHY CAN COST COMPENSATE FOR RELIABILITY?</a:t>
            </a:r>
          </a:p>
        </p:txBody>
      </p:sp>
      <p:sp>
        <p:nvSpPr>
          <p:cNvPr id="92" name="T92"/>
          <p:cNvSpPr txBox="1"/>
          <p:nvPr/>
        </p:nvSpPr>
        <p:spPr>
          <a:xfrm>
            <a:off x="685800" y="5800000"/>
            <a:ext cx="77724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</a:pPr>
            <a:r>
              <a:rPr lang="en-US" sz="2000" b="0" i="1" dirty="0">
                <a:solidFill>
                  <a:srgbClr val="000000"/>
                </a:solidFill>
              </a:rPr>
              <a:t xml:space="preserve">This is not measurement merely because a spreadsheet produced a number.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algn="l">
              <a:buNone/>
              <a:defRPr b="0"/>
            </a:pPr>
            <a:r>
              <a:rPr lang="en-US" sz="2800" b="0" i="0" dirty="0">
                <a:solidFill>
                  <a:srgbClr val="000000"/>
                </a:solidFill>
              </a:rPr>
              <a:t xml:space="preserve">First eliminate unacceptable and dominated alternatives.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0</a:t>
            </a:fld>
            <a:endParaRPr lang="en-US"/>
          </a:p>
        </p:txBody>
      </p:sp>
      <p:sp>
        <p:nvSpPr>
          <p:cNvPr id="60" name="FigurePlaceholder60"/>
          <p:cNvSpPr/>
          <p:nvPr/>
        </p:nvSpPr>
        <p:spPr>
          <a:xfrm>
            <a:off x="685800" y="1250000"/>
            <a:ext cx="7772400" cy="3200000"/>
          </a:xfrm>
          <a:prstGeom prst="roundRect">
            <a:avLst/>
          </a:prstGeom>
          <a:solidFill>
            <a:srgbClr val="FBF8F2"/>
          </a:solidFill>
          <a:ln w="19050">
            <a:solidFill>
              <a:srgbClr val="8E6F3E"/>
            </a:solidFill>
            <a:prstDash val="dash"/>
          </a:ln>
        </p:spPr>
        <p:txBody>
          <a:bodyPr wrap="square" lIns="109728" tIns="82296" rIns="109728" bIns="82296" anchor="ctr">
            <a:normAutofit/>
          </a:bodyPr>
          <a:lstStyle/>
          <a:p>
            <a:pPr algn="ctr">
              <a:buNone/>
            </a:pPr>
            <a:r>
              <a:rPr lang="en-US" sz="1500" b="1" i="0" dirty="0">
                <a:solidFill>
                  <a:srgbClr val="8E6F3E"/>
                </a:solidFill>
              </a:rPr>
              <a:t xml:space="preserve">[FIGURE — PASS 2]</a:t>
            </a:r>
          </a:p>
          <a:p>
            <a:pPr algn="ctr">
              <a:spcBef>
                <a:spcPts val="300"/>
              </a:spcBef>
              <a:buNone/>
            </a:pPr>
            <a:r>
              <a:rPr lang="en-US" sz="1800" b="0" i="1" dirty="0">
                <a:solidFill>
                  <a:srgbClr val="555960"/>
                </a:solidFill>
              </a:rPr>
              <a:t xml:space="preserve">two-stage elimination — Stage 1 SPECIFICATION: A✓ B✗ C✓ D✓ (B violates required latency); Stage 2 DOMINANCE: B dominated by A</a:t>
            </a:r>
          </a:p>
        </p:txBody>
      </p:sp>
      <p:sp>
        <p:nvSpPr>
          <p:cNvPr id="61" name="T61"/>
          <p:cNvSpPr txBox="1"/>
          <p:nvPr/>
        </p:nvSpPr>
        <p:spPr>
          <a:xfrm>
            <a:off x="685800" y="4800000"/>
            <a:ext cx="7772400" cy="9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</a:pPr>
            <a:r>
              <a:rPr lang="en-US" sz="2200" b="1" i="0" dirty="0">
                <a:solidFill>
                  <a:srgbClr val="000000"/>
                </a:solidFill>
              </a:rPr>
              <a:t xml:space="preserve">Constraints are not objectives.</a:t>
            </a:r>
          </a:p>
          <a:p>
            <a:pPr algn="ctr">
              <a:spcBef>
                <a:spcPts val="200"/>
              </a:spcBef>
              <a:buNone/>
            </a:pPr>
            <a:r>
              <a:rPr lang="en-US" sz="2000" b="0" i="0" dirty="0">
                <a:solidFill>
                  <a:srgbClr val="000000"/>
                </a:solidFill>
              </a:rPr>
              <a:t xml:space="preserve">Specification first removes infeasible candidates; then dominance removes the clearly-worse ones.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algn="l">
              <a:buNone/>
              <a:defRPr b="0"/>
            </a:pPr>
            <a:r>
              <a:rPr lang="en-US" sz="2800" b="0" i="0" dirty="0">
                <a:solidFill>
                  <a:srgbClr val="000000"/>
                </a:solidFill>
              </a:rPr>
              <a:t xml:space="preserve">A real tradeoff requires judgment.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0</a:t>
            </a:fld>
            <a:endParaRPr lang="en-US"/>
          </a:p>
        </p:txBody>
      </p:sp>
      <p:sp>
        <p:nvSpPr>
          <p:cNvPr id="60" name="FigurePlaceholder60"/>
          <p:cNvSpPr/>
          <p:nvPr/>
        </p:nvSpPr>
        <p:spPr>
          <a:xfrm>
            <a:off x="685800" y="1250000"/>
            <a:ext cx="7772400" cy="3400000"/>
          </a:xfrm>
          <a:prstGeom prst="roundRect">
            <a:avLst/>
          </a:prstGeom>
          <a:solidFill>
            <a:srgbClr val="FBF8F2"/>
          </a:solidFill>
          <a:ln w="19050">
            <a:solidFill>
              <a:srgbClr val="8E6F3E"/>
            </a:solidFill>
            <a:prstDash val="dash"/>
          </a:ln>
        </p:spPr>
        <p:txBody>
          <a:bodyPr wrap="square" lIns="109728" tIns="82296" rIns="109728" bIns="82296" anchor="ctr">
            <a:normAutofit/>
          </a:bodyPr>
          <a:lstStyle/>
          <a:p>
            <a:pPr algn="ctr">
              <a:buNone/>
            </a:pPr>
            <a:r>
              <a:rPr lang="en-US" sz="1500" b="1" i="0" dirty="0">
                <a:solidFill>
                  <a:srgbClr val="8E6F3E"/>
                </a:solidFill>
              </a:rPr>
              <a:t xml:space="preserve">[FIGURE — PASS 2]</a:t>
            </a:r>
          </a:p>
          <a:p>
            <a:pPr algn="ctr">
              <a:spcBef>
                <a:spcPts val="300"/>
              </a:spcBef>
              <a:buNone/>
            </a:pPr>
            <a:r>
              <a:rPr lang="en-US" sz="1800" b="0" i="1" dirty="0">
                <a:solidFill>
                  <a:srgbClr val="555960"/>
                </a:solidFill>
              </a:rPr>
              <a:t xml:space="preserve">Pareto frontier — axes “Property X → better” (horizontal) and “Property Y → better” (vertical); several nondominated alternatives sit on the frontier</a:t>
            </a:r>
          </a:p>
        </p:txBody>
      </p:sp>
      <p:sp>
        <p:nvSpPr>
          <p:cNvPr id="61" name="Band61"/>
          <p:cNvSpPr/>
          <p:nvPr/>
        </p:nvSpPr>
        <p:spPr>
          <a:xfrm>
            <a:off x="279400" y="5100000"/>
            <a:ext cx="8585200" cy="7500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109728" tIns="82296" rIns="109728" bIns="82296" anchor="ctr">
            <a:normAutofit/>
          </a:bodyPr>
          <a:lstStyle/>
          <a:p>
            <a:pPr algn="ctr">
              <a:buNone/>
            </a:pPr>
            <a:r>
              <a:rPr lang="en-US" sz="2400" b="1" i="0" dirty="0">
                <a:solidFill>
                  <a:srgbClr val="FFFFFF"/>
                </a:solidFill>
              </a:rPr>
              <a:t xml:space="preserve">Mathematics has not chosen for us.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algn="l">
              <a:buNone/>
              <a:defRPr b="0"/>
            </a:pPr>
            <a:r>
              <a:rPr lang="en-US" sz="2800" b="0" i="0" dirty="0">
                <a:solidFill>
                  <a:srgbClr val="000000"/>
                </a:solidFill>
              </a:rPr>
              <a:t xml:space="preserve">Sometimes the right decision is to buy more information.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0</a:t>
            </a:fld>
            <a:endParaRPr lang="en-US"/>
          </a:p>
        </p:txBody>
      </p:sp>
      <p:sp>
        <p:nvSpPr>
          <p:cNvPr id="60" name="FigurePlaceholder60"/>
          <p:cNvSpPr/>
          <p:nvPr/>
        </p:nvSpPr>
        <p:spPr>
          <a:xfrm>
            <a:off x="685800" y="1250000"/>
            <a:ext cx="7772400" cy="3400000"/>
          </a:xfrm>
          <a:prstGeom prst="roundRect">
            <a:avLst/>
          </a:prstGeom>
          <a:solidFill>
            <a:srgbClr val="FBF8F2"/>
          </a:solidFill>
          <a:ln w="19050">
            <a:solidFill>
              <a:srgbClr val="8E6F3E"/>
            </a:solidFill>
            <a:prstDash val="dash"/>
          </a:ln>
        </p:spPr>
        <p:txBody>
          <a:bodyPr wrap="square" lIns="109728" tIns="82296" rIns="109728" bIns="82296" anchor="ctr">
            <a:normAutofit/>
          </a:bodyPr>
          <a:lstStyle/>
          <a:p>
            <a:pPr algn="ctr">
              <a:buNone/>
            </a:pPr>
            <a:r>
              <a:rPr lang="en-US" sz="1500" b="1" i="0" dirty="0">
                <a:solidFill>
                  <a:srgbClr val="8E6F3E"/>
                </a:solidFill>
              </a:rPr>
              <a:t xml:space="preserve">[FIGURE — PASS 2]</a:t>
            </a:r>
          </a:p>
          <a:p>
            <a:pPr algn="ctr">
              <a:spcBef>
                <a:spcPts val="300"/>
              </a:spcBef>
              <a:buNone/>
            </a:pPr>
            <a:r>
              <a:rPr lang="en-US" sz="1800" b="0" i="1" dirty="0">
                <a:solidFill>
                  <a:srgbClr val="555960"/>
                </a:solidFill>
              </a:rPr>
              <a:t xml:space="preserve">decision fork — UNCERTAIN CHOICE → “Could knowing more change the decision?” → NO: DECIDE / YES: BUY EVIDENCE → MODEL / PROTOTYPE / MEASURE → DECIDE BETTER</a:t>
            </a:r>
          </a:p>
        </p:txBody>
      </p:sp>
      <p:sp>
        <p:nvSpPr>
          <p:cNvPr id="61" name="Band61"/>
          <p:cNvSpPr/>
          <p:nvPr/>
        </p:nvSpPr>
        <p:spPr>
          <a:xfrm>
            <a:off x="279400" y="5100000"/>
            <a:ext cx="8585200" cy="7500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109728" tIns="82296" rIns="109728" bIns="82296" anchor="ctr">
            <a:normAutofit/>
          </a:bodyPr>
          <a:lstStyle/>
          <a:p>
            <a:pPr algn="ctr">
              <a:buNone/>
            </a:pPr>
            <a:r>
              <a:rPr lang="en-US" sz="2200" b="1" i="0" dirty="0">
                <a:solidFill>
                  <a:srgbClr val="FFFFFF"/>
                </a:solidFill>
              </a:rPr>
              <a:t xml:space="preserve">Is the information worth more than it costs to obtain?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2240280"/>
            <a:ext cx="7772400" cy="914400"/>
          </a:xfrm>
        </p:spPr>
        <p:txBody>
          <a:bodyPr>
            <a:normAutofit/>
          </a:bodyPr>
          <a:lstStyle/>
          <a:p>
            <a:pPr algn="ctr">
              <a:buNone/>
              <a:defRPr b="0"/>
            </a:pPr>
            <a:r>
              <a:rPr lang="en-US" sz="3600" b="0" i="0" dirty="0">
                <a:solidFill>
                  <a:srgbClr val="000000"/>
                </a:solidFill>
              </a:rPr>
              <a:t xml:space="preserve">How much can we know before we build it?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0</a:t>
            </a:fld>
            <a:endParaRPr lang="en-US"/>
          </a:p>
        </p:txBody>
      </p:sp>
      <p:sp>
        <p:nvSpPr>
          <p:cNvPr id="50" name="T50"/>
          <p:cNvSpPr txBox="1"/>
          <p:nvPr/>
        </p:nvSpPr>
        <p:spPr>
          <a:xfrm>
            <a:off x="685800" y="1737360"/>
            <a:ext cx="77724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</a:pPr>
            <a:r>
              <a:rPr lang="en-US" sz="2200" b="1" i="0" dirty="0">
                <a:solidFill>
                  <a:srgbClr val="8E6F3E"/>
                </a:solidFill>
              </a:rPr>
              <a:t xml:space="preserve">SECTION 4</a:t>
            </a:r>
          </a:p>
        </p:txBody>
      </p:sp>
      <p:sp>
        <p:nvSpPr>
          <p:cNvPr id="51" name="S51"/>
          <p:cNvSpPr/>
          <p:nvPr/>
        </p:nvSpPr>
        <p:spPr>
          <a:xfrm>
            <a:off x="3429000" y="3383280"/>
            <a:ext cx="2286000" cy="508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109728" tIns="82296" rIns="109728" bIns="82296" anchor="ctr">
            <a:normAutofit/>
          </a:bodyPr>
          <a:lstStyle/>
          <a:p>
            <a:endParaRPr/>
          </a:p>
        </p:txBody>
      </p:sp>
      <p:sp>
        <p:nvSpPr>
          <p:cNvPr id="52" name="T52"/>
          <p:cNvSpPr txBox="1"/>
          <p:nvPr/>
        </p:nvSpPr>
        <p:spPr>
          <a:xfrm>
            <a:off x="1371600" y="3977640"/>
            <a:ext cx="6400800" cy="10058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</a:pPr>
            <a:r>
              <a:rPr lang="en-US" sz="2800" b="0" i="0" dirty="0">
                <a:solidFill>
                  <a:srgbClr val="555960"/>
                </a:solidFill>
              </a:rPr>
              <a:t xml:space="preserve">Architecture makes some properties analyzable.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algn="l">
              <a:buNone/>
              <a:defRPr b="0"/>
            </a:pPr>
            <a:r>
              <a:rPr lang="en-US" sz="2800" b="0" i="0" dirty="0">
                <a:solidFill>
                  <a:srgbClr val="000000"/>
                </a:solidFill>
              </a:rPr>
              <a:t xml:space="preserve">Architecture answers four questions.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0</a:t>
            </a:fld>
            <a:endParaRPr lang="en-US"/>
          </a:p>
        </p:txBody>
      </p:sp>
      <p:sp>
        <p:nvSpPr>
          <p:cNvPr id="60" name="Q1"/>
          <p:cNvSpPr/>
          <p:nvPr/>
        </p:nvSpPr>
        <p:spPr>
          <a:xfrm>
            <a:off x="685800" y="1350000"/>
            <a:ext cx="3708400" cy="125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109728" tIns="82296" rIns="109728" bIns="82296" anchor="ctr">
            <a:normAutofit/>
          </a:bodyPr>
          <a:lstStyle/>
          <a:p>
            <a:pPr algn="ctr">
              <a:buNone/>
            </a:pPr>
            <a:r>
              <a:rPr lang="en-US" sz="2200" b="1" i="0" dirty="0">
                <a:solidFill>
                  <a:srgbClr val="5C4826"/>
                </a:solidFill>
              </a:rPr>
              <a:t xml:space="preserve">What are the parts?</a:t>
            </a:r>
          </a:p>
        </p:txBody>
      </p:sp>
      <p:sp>
        <p:nvSpPr>
          <p:cNvPr id="61" name="Q2"/>
          <p:cNvSpPr/>
          <p:nvPr/>
        </p:nvSpPr>
        <p:spPr>
          <a:xfrm>
            <a:off x="4749800" y="1350000"/>
            <a:ext cx="3708400" cy="125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109728" tIns="82296" rIns="109728" bIns="82296" anchor="ctr">
            <a:normAutofit/>
          </a:bodyPr>
          <a:lstStyle/>
          <a:p>
            <a:pPr algn="ctr">
              <a:buNone/>
            </a:pPr>
            <a:r>
              <a:rPr lang="en-US" sz="2200" b="1" i="0" dirty="0">
                <a:solidFill>
                  <a:srgbClr val="5C4826"/>
                </a:solidFill>
              </a:rPr>
              <a:t xml:space="preserve">Where are the boundaries?</a:t>
            </a:r>
          </a:p>
        </p:txBody>
      </p:sp>
      <p:sp>
        <p:nvSpPr>
          <p:cNvPr id="62" name="Q3"/>
          <p:cNvSpPr/>
          <p:nvPr/>
        </p:nvSpPr>
        <p:spPr>
          <a:xfrm>
            <a:off x="685800" y="2800000"/>
            <a:ext cx="3708400" cy="125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109728" tIns="82296" rIns="109728" bIns="82296" anchor="ctr">
            <a:normAutofit/>
          </a:bodyPr>
          <a:lstStyle/>
          <a:p>
            <a:pPr algn="ctr">
              <a:buNone/>
            </a:pPr>
            <a:r>
              <a:rPr lang="en-US" sz="2200" b="1" i="0" dirty="0">
                <a:solidFill>
                  <a:srgbClr val="5C4826"/>
                </a:solidFill>
              </a:rPr>
              <a:t xml:space="preserve">How may they interact?</a:t>
            </a:r>
          </a:p>
        </p:txBody>
      </p:sp>
      <p:sp>
        <p:nvSpPr>
          <p:cNvPr id="63" name="Q4"/>
          <p:cNvSpPr/>
          <p:nvPr/>
        </p:nvSpPr>
        <p:spPr>
          <a:xfrm>
            <a:off x="4749800" y="2800000"/>
            <a:ext cx="3708400" cy="125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109728" tIns="82296" rIns="109728" bIns="82296" anchor="ctr">
            <a:normAutofit/>
          </a:bodyPr>
          <a:lstStyle/>
          <a:p>
            <a:pPr algn="ctr">
              <a:buNone/>
            </a:pPr>
            <a:r>
              <a:rPr lang="en-US" sz="2200" b="1" i="0" dirty="0">
                <a:solidFill>
                  <a:srgbClr val="5C4826"/>
                </a:solidFill>
              </a:rPr>
              <a:t xml:space="preserve">What properties must the organization support?</a:t>
            </a:r>
          </a:p>
        </p:txBody>
      </p:sp>
      <p:sp>
        <p:nvSpPr>
          <p:cNvPr id="70" name="FigurePlaceholder70"/>
          <p:cNvSpPr/>
          <p:nvPr/>
        </p:nvSpPr>
        <p:spPr>
          <a:xfrm>
            <a:off x="685800" y="4500000"/>
            <a:ext cx="7772400" cy="950000"/>
          </a:xfrm>
          <a:prstGeom prst="roundRect">
            <a:avLst/>
          </a:prstGeom>
          <a:solidFill>
            <a:srgbClr val="FBF8F2"/>
          </a:solidFill>
          <a:ln w="19050">
            <a:solidFill>
              <a:srgbClr val="8E6F3E"/>
            </a:solidFill>
            <a:prstDash val="dash"/>
          </a:ln>
        </p:spPr>
        <p:txBody>
          <a:bodyPr wrap="square" lIns="109728" tIns="82296" rIns="109728" bIns="82296" anchor="ctr">
            <a:normAutofit/>
          </a:bodyPr>
          <a:lstStyle/>
          <a:p>
            <a:pPr algn="ctr">
              <a:buNone/>
            </a:pPr>
            <a:r>
              <a:rPr lang="en-US" sz="1500" b="1" i="0" dirty="0">
                <a:solidFill>
                  <a:srgbClr val="8E6F3E"/>
                </a:solidFill>
              </a:rPr>
              <a:t xml:space="preserve">[FIGURE — PASS 2]</a:t>
            </a:r>
          </a:p>
          <a:p>
            <a:pPr algn="ctr">
              <a:spcBef>
                <a:spcPts val="300"/>
              </a:spcBef>
              <a:buNone/>
            </a:pPr>
            <a:r>
              <a:rPr lang="en-US" sz="1600" b="0" i="1" dirty="0">
                <a:solidFill>
                  <a:srgbClr val="555960"/>
                </a:solidFill>
              </a:rPr>
              <a:t xml:space="preserve">four-quadrant map — one quadrant per question; the map of today’s lecture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algn="l">
              <a:buNone/>
              <a:defRPr b="0"/>
            </a:pPr>
            <a:r>
              <a:rPr lang="en-US" sz="2600" b="0" i="0" dirty="0">
                <a:solidFill>
                  <a:srgbClr val="000000"/>
                </a:solidFill>
              </a:rPr>
              <a:t xml:space="preserve">Patterns give us alternatives—and expectations about their consequences.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0</a:t>
            </a:fld>
            <a:endParaRPr lang="en-US"/>
          </a:p>
        </p:txBody>
      </p:sp>
      <p:sp>
        <p:nvSpPr>
          <p:cNvPr id="60" name="FigurePlaceholder60"/>
          <p:cNvSpPr/>
          <p:nvPr/>
        </p:nvSpPr>
        <p:spPr>
          <a:xfrm>
            <a:off x="685800" y="1250000"/>
            <a:ext cx="7772400" cy="3200000"/>
          </a:xfrm>
          <a:prstGeom prst="roundRect">
            <a:avLst/>
          </a:prstGeom>
          <a:solidFill>
            <a:srgbClr val="FBF8F2"/>
          </a:solidFill>
          <a:ln w="19050">
            <a:solidFill>
              <a:srgbClr val="8E6F3E"/>
            </a:solidFill>
            <a:prstDash val="dash"/>
          </a:ln>
        </p:spPr>
        <p:txBody>
          <a:bodyPr wrap="square" lIns="109728" tIns="82296" rIns="109728" bIns="82296" anchor="ctr">
            <a:normAutofit/>
          </a:bodyPr>
          <a:lstStyle/>
          <a:p>
            <a:pPr algn="ctr">
              <a:buNone/>
            </a:pPr>
            <a:r>
              <a:rPr lang="en-US" sz="1500" b="1" i="0" dirty="0">
                <a:solidFill>
                  <a:srgbClr val="8E6F3E"/>
                </a:solidFill>
              </a:rPr>
              <a:t xml:space="preserve">[FIGURE — PASS 2]</a:t>
            </a:r>
          </a:p>
          <a:p>
            <a:pPr algn="ctr">
              <a:spcBef>
                <a:spcPts val="300"/>
              </a:spcBef>
              <a:buNone/>
            </a:pPr>
            <a:r>
              <a:rPr lang="en-US" sz="1800" b="0" i="1" dirty="0">
                <a:solidFill>
                  <a:srgbClr val="555960"/>
                </a:solidFill>
              </a:rPr>
              <a:t xml:space="preserve">PAST ENGINEERING EXPERIENCE → recurring problem → PATTERN → ORGANIZATION (“try organizing it this way”) + EXPECTED PROPERTIES (“tends to make X easier and Y harder”)</a:t>
            </a:r>
          </a:p>
        </p:txBody>
      </p:sp>
      <p:sp>
        <p:nvSpPr>
          <p:cNvPr id="61" name="Band61"/>
          <p:cNvSpPr/>
          <p:nvPr/>
        </p:nvSpPr>
        <p:spPr>
          <a:xfrm>
            <a:off x="279400" y="4900000"/>
            <a:ext cx="8585200" cy="7500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109728" tIns="82296" rIns="109728" bIns="82296" anchor="ctr">
            <a:normAutofit/>
          </a:bodyPr>
          <a:lstStyle/>
          <a:p>
            <a:pPr algn="ctr">
              <a:buNone/>
            </a:pPr>
            <a:r>
              <a:rPr lang="en-US" sz="2400" b="1" i="0" dirty="0">
                <a:solidFill>
                  <a:srgbClr val="FFFFFF"/>
                </a:solidFill>
              </a:rPr>
              <a:t xml:space="preserve">These are rules of thumb, not guarantees.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algn="l">
              <a:buNone/>
              <a:defRPr b="0"/>
            </a:pPr>
            <a:r>
              <a:rPr lang="en-US" sz="2800" b="0" i="0" dirty="0">
                <a:solidFill>
                  <a:srgbClr val="000000"/>
                </a:solidFill>
              </a:rPr>
              <a:t xml:space="preserve">MVC: separate model, view, and interaction logic.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0</a:t>
            </a:fld>
            <a:endParaRPr lang="en-US"/>
          </a:p>
        </p:txBody>
      </p:sp>
      <p:sp>
        <p:nvSpPr>
          <p:cNvPr id="60" name="FigurePlaceholder60"/>
          <p:cNvSpPr/>
          <p:nvPr/>
        </p:nvSpPr>
        <p:spPr>
          <a:xfrm>
            <a:off x="685800" y="1250000"/>
            <a:ext cx="7772400" cy="3200000"/>
          </a:xfrm>
          <a:prstGeom prst="roundRect">
            <a:avLst/>
          </a:prstGeom>
          <a:solidFill>
            <a:srgbClr val="FBF8F2"/>
          </a:solidFill>
          <a:ln w="19050">
            <a:solidFill>
              <a:srgbClr val="8E6F3E"/>
            </a:solidFill>
            <a:prstDash val="dash"/>
          </a:ln>
        </p:spPr>
        <p:txBody>
          <a:bodyPr wrap="square" lIns="109728" tIns="82296" rIns="109728" bIns="82296" anchor="ctr">
            <a:normAutofit/>
          </a:bodyPr>
          <a:lstStyle/>
          <a:p>
            <a:pPr algn="ctr">
              <a:buNone/>
            </a:pPr>
            <a:r>
              <a:rPr lang="en-US" sz="1500" b="1" i="0" dirty="0">
                <a:solidFill>
                  <a:srgbClr val="8E6F3E"/>
                </a:solidFill>
              </a:rPr>
              <a:t xml:space="preserve">[FIGURE — PASS 2]</a:t>
            </a:r>
          </a:p>
          <a:p>
            <a:pPr algn="ctr">
              <a:spcBef>
                <a:spcPts val="300"/>
              </a:spcBef>
              <a:buNone/>
            </a:pPr>
            <a:r>
              <a:rPr lang="en-US" sz="1800" b="0" i="1" dirty="0">
                <a:solidFill>
                  <a:srgbClr val="555960"/>
                </a:solidFill>
              </a:rPr>
              <a:t xml:space="preserve">USER → CONTROLLER → (changes) MODEL → (observed by) VIEW → USER</a:t>
            </a:r>
          </a:p>
        </p:txBody>
      </p:sp>
      <p:sp>
        <p:nvSpPr>
          <p:cNvPr id="61" name="T61"/>
          <p:cNvSpPr txBox="1"/>
          <p:nvPr/>
        </p:nvSpPr>
        <p:spPr>
          <a:xfrm>
            <a:off x="685800" y="4800000"/>
            <a:ext cx="7772400" cy="9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</a:pPr>
            <a:r>
              <a:rPr lang="en-US" sz="2100" b="1" i="0" dirty="0">
                <a:solidFill>
                  <a:srgbClr val="000000"/>
                </a:solidFill>
              </a:rPr>
              <a:t xml:space="preserve">Expected tradeoff: </a:t>
            </a:r>
            <a:r>
              <a:rPr lang="en-US" sz="2100" b="0" i="1" dirty="0">
                <a:solidFill>
                  <a:srgbClr val="000000"/>
                </a:solidFill>
              </a:rPr>
              <a:t xml:space="preserve">multiple presentations and independent evolution — vs. coordination and indirection.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algn="l">
              <a:buNone/>
              <a:defRPr b="0"/>
            </a:pPr>
            <a:r>
              <a:rPr lang="en-US" sz="2800" b="0" i="0" dirty="0">
                <a:solidFill>
                  <a:srgbClr val="000000"/>
                </a:solidFill>
              </a:rPr>
              <a:t xml:space="preserve">Repository: organize around shared authoritative state.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0</a:t>
            </a:fld>
            <a:endParaRPr lang="en-US"/>
          </a:p>
        </p:txBody>
      </p:sp>
      <p:sp>
        <p:nvSpPr>
          <p:cNvPr id="60" name="FigurePlaceholder60"/>
          <p:cNvSpPr/>
          <p:nvPr/>
        </p:nvSpPr>
        <p:spPr>
          <a:xfrm>
            <a:off x="685800" y="1250000"/>
            <a:ext cx="7772400" cy="3000000"/>
          </a:xfrm>
          <a:prstGeom prst="roundRect">
            <a:avLst/>
          </a:prstGeom>
          <a:solidFill>
            <a:srgbClr val="FBF8F2"/>
          </a:solidFill>
          <a:ln w="19050">
            <a:solidFill>
              <a:srgbClr val="8E6F3E"/>
            </a:solidFill>
            <a:prstDash val="dash"/>
          </a:ln>
        </p:spPr>
        <p:txBody>
          <a:bodyPr wrap="square" lIns="109728" tIns="82296" rIns="109728" bIns="82296" anchor="ctr">
            <a:normAutofit/>
          </a:bodyPr>
          <a:lstStyle/>
          <a:p>
            <a:pPr algn="ctr">
              <a:buNone/>
            </a:pPr>
            <a:r>
              <a:rPr lang="en-US" sz="1500" b="1" i="0" dirty="0">
                <a:solidFill>
                  <a:srgbClr val="8E6F3E"/>
                </a:solidFill>
              </a:rPr>
              <a:t xml:space="preserve">[FIGURE — PASS 2]</a:t>
            </a:r>
          </a:p>
          <a:p>
            <a:pPr algn="ctr">
              <a:spcBef>
                <a:spcPts val="300"/>
              </a:spcBef>
              <a:buNone/>
            </a:pPr>
            <a:r>
              <a:rPr lang="en-US" sz="1800" b="0" i="1" dirty="0">
                <a:solidFill>
                  <a:srgbClr val="555960"/>
                </a:solidFill>
              </a:rPr>
              <a:t xml:space="preserve">INPUT → REPOSITORY ← REPORTER, with ANALYZER and OPTIMIZER around the shared center</a:t>
            </a:r>
          </a:p>
        </p:txBody>
      </p:sp>
      <p:sp>
        <p:nvSpPr>
          <p:cNvPr id="61" name="Band61"/>
          <p:cNvSpPr/>
          <p:nvPr/>
        </p:nvSpPr>
        <p:spPr>
          <a:xfrm>
            <a:off x="279400" y="4550000"/>
            <a:ext cx="8585200" cy="1300000"/>
          </a:xfrm>
          <a:prstGeom prst="rect">
            <a:avLst/>
          </a:prstGeom>
          <a:solidFill>
            <a:srgbClr val="F5F1E8"/>
          </a:solidFill>
          <a:ln>
            <a:noFill/>
          </a:ln>
        </p:spPr>
        <p:txBody>
          <a:bodyPr wrap="square" lIns="109728" tIns="82296" rIns="109728" bIns="82296" anchor="ctr">
            <a:normAutofit/>
          </a:bodyPr>
          <a:lstStyle/>
          <a:p>
            <a:pPr algn="l">
              <a:buNone/>
            </a:pPr>
            <a:r>
              <a:rPr lang="en-US" sz="2000" b="1" i="0" dirty="0">
                <a:solidFill>
                  <a:srgbClr val="000000"/>
                </a:solidFill>
              </a:rPr>
              <a:t xml:space="preserve">Expected property: </a:t>
            </a:r>
            <a:r>
              <a:rPr lang="en-US" sz="2000" b="0" i="0" dirty="0">
                <a:solidFill>
                  <a:srgbClr val="000000"/>
                </a:solidFill>
              </a:rPr>
              <a:t xml:space="preserve">a shared representation simplifies consistency and integration.</a:t>
            </a:r>
          </a:p>
          <a:p>
            <a:pPr algn="l">
              <a:spcBef>
                <a:spcPts val="200"/>
              </a:spcBef>
              <a:buNone/>
            </a:pPr>
            <a:r>
              <a:rPr lang="en-US" sz="2000" b="1" i="0" dirty="0">
                <a:solidFill>
                  <a:srgbClr val="000000"/>
                </a:solidFill>
              </a:rPr>
              <a:t xml:space="preserve">Tradeoff: </a:t>
            </a:r>
            <a:r>
              <a:rPr lang="en-US" sz="2000" b="0" i="0" dirty="0">
                <a:solidFill>
                  <a:srgbClr val="000000"/>
                </a:solidFill>
              </a:rPr>
              <a:t xml:space="preserve">everyone now depends on the center — central coupling, potential bottleneck.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algn="l">
              <a:buNone/>
              <a:defRPr b="0"/>
            </a:pPr>
            <a:r>
              <a:rPr lang="en-US" sz="2800" b="0" i="0" dirty="0">
                <a:solidFill>
                  <a:srgbClr val="000000"/>
                </a:solidFill>
              </a:rPr>
              <a:t xml:space="preserve">Control dependencies across boundaries.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0</a:t>
            </a:fld>
            <a:endParaRPr lang="en-US"/>
          </a:p>
        </p:txBody>
      </p:sp>
      <p:sp>
        <p:nvSpPr>
          <p:cNvPr id="60" name="FigurePlaceholder60"/>
          <p:cNvSpPr/>
          <p:nvPr/>
        </p:nvSpPr>
        <p:spPr>
          <a:xfrm>
            <a:off x="685800" y="1250000"/>
            <a:ext cx="7772400" cy="2900000"/>
          </a:xfrm>
          <a:prstGeom prst="roundRect">
            <a:avLst/>
          </a:prstGeom>
          <a:solidFill>
            <a:srgbClr val="FBF8F2"/>
          </a:solidFill>
          <a:ln w="19050">
            <a:solidFill>
              <a:srgbClr val="8E6F3E"/>
            </a:solidFill>
            <a:prstDash val="dash"/>
          </a:ln>
        </p:spPr>
        <p:txBody>
          <a:bodyPr wrap="square" lIns="109728" tIns="82296" rIns="109728" bIns="82296" anchor="ctr">
            <a:normAutofit/>
          </a:bodyPr>
          <a:lstStyle/>
          <a:p>
            <a:pPr algn="ctr">
              <a:buNone/>
            </a:pPr>
            <a:r>
              <a:rPr lang="en-US" sz="1500" b="1" i="0" dirty="0">
                <a:solidFill>
                  <a:srgbClr val="8E6F3E"/>
                </a:solidFill>
              </a:rPr>
              <a:t xml:space="preserve">[FIGURE — PASS 2]</a:t>
            </a:r>
          </a:p>
          <a:p>
            <a:pPr algn="ctr">
              <a:spcBef>
                <a:spcPts val="300"/>
              </a:spcBef>
              <a:buNone/>
            </a:pPr>
            <a:r>
              <a:rPr lang="en-US" sz="1700" b="0" i="1" dirty="0">
                <a:solidFill>
                  <a:srgbClr val="555960"/>
                </a:solidFill>
              </a:rPr>
              <a:t xml:space="preserve">BEFORE — UI → DOMAIN → DATABASE (infrastructure becomes a domain dependency); AFTER — UI → DOMAIN ← DB ADAPTER, with a DOMAIN-DEFINED INTERFACE at the boundary</a:t>
            </a:r>
          </a:p>
        </p:txBody>
      </p:sp>
      <p:sp>
        <p:nvSpPr>
          <p:cNvPr id="61" name="T61"/>
          <p:cNvSpPr txBox="1"/>
          <p:nvPr/>
        </p:nvSpPr>
        <p:spPr>
          <a:xfrm>
            <a:off x="685800" y="4400000"/>
            <a:ext cx="7772400" cy="11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</a:pPr>
            <a:r>
              <a:rPr lang="en-US" sz="2000" b="0" i="0" dirty="0">
                <a:solidFill>
                  <a:srgbClr val="000000"/>
                </a:solidFill>
              </a:rPr>
              <a:t xml:space="preserve">We’re no longer merely grouping responsibilities — we’re deliberately arranging the direction of dependency so infrastructure choices don’t become domain dependencies.</a:t>
            </a:r>
          </a:p>
        </p:txBody>
      </p:sp>
      <p:sp>
        <p:nvSpPr>
          <p:cNvPr id="62" name="T62"/>
          <p:cNvSpPr txBox="1"/>
          <p:nvPr/>
        </p:nvSpPr>
        <p:spPr>
          <a:xfrm>
            <a:off x="685800" y="6050000"/>
            <a:ext cx="7772400" cy="3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</a:pPr>
            <a:r>
              <a:rPr lang="en-US" sz="1200" b="0" i="1" dirty="0">
                <a:solidFill>
                  <a:srgbClr val="555960"/>
                </a:solidFill>
              </a:rPr>
              <a:t xml:space="preserve">Often called ports-and-adapters / hexagonal / clean architecture.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algn="l">
              <a:buNone/>
              <a:defRPr b="0"/>
            </a:pPr>
            <a:r>
              <a:rPr lang="en-US" sz="2800" b="0" i="0" dirty="0">
                <a:solidFill>
                  <a:srgbClr val="000000"/>
                </a:solidFill>
              </a:rPr>
              <a:t xml:space="preserve">Events: producers need not know their consumers.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0</a:t>
            </a:fld>
            <a:endParaRPr lang="en-US"/>
          </a:p>
        </p:txBody>
      </p:sp>
      <p:sp>
        <p:nvSpPr>
          <p:cNvPr id="60" name="FigurePlaceholder60"/>
          <p:cNvSpPr/>
          <p:nvPr/>
        </p:nvSpPr>
        <p:spPr>
          <a:xfrm>
            <a:off x="685800" y="1150000"/>
            <a:ext cx="7772400" cy="2200000"/>
          </a:xfrm>
          <a:prstGeom prst="roundRect">
            <a:avLst/>
          </a:prstGeom>
          <a:solidFill>
            <a:srgbClr val="FBF8F2"/>
          </a:solidFill>
          <a:ln w="19050">
            <a:solidFill>
              <a:srgbClr val="8E6F3E"/>
            </a:solidFill>
            <a:prstDash val="dash"/>
          </a:ln>
        </p:spPr>
        <p:txBody>
          <a:bodyPr wrap="square" lIns="109728" tIns="82296" rIns="109728" bIns="82296" anchor="ctr">
            <a:normAutofit/>
          </a:bodyPr>
          <a:lstStyle/>
          <a:p>
            <a:pPr algn="ctr">
              <a:buNone/>
            </a:pPr>
            <a:r>
              <a:rPr lang="en-US" sz="1500" b="1" i="0" dirty="0">
                <a:solidFill>
                  <a:srgbClr val="8E6F3E"/>
                </a:solidFill>
              </a:rPr>
              <a:t xml:space="preserve">[FIGURE — PASS 2]</a:t>
            </a:r>
          </a:p>
          <a:p>
            <a:pPr algn="ctr">
              <a:spcBef>
                <a:spcPts val="300"/>
              </a:spcBef>
              <a:buNone/>
            </a:pPr>
            <a:r>
              <a:rPr lang="en-US" sz="1600" b="0" i="1" dirty="0">
                <a:solidFill>
                  <a:srgbClr val="555960"/>
                </a:solidFill>
              </a:rPr>
              <a:t xml:space="preserve">DIRECT (A → B, C, D; A knows B, C, D) vs EVENT-BASED (A → EVENT BUS → B, C, D; A knows the event, not the consumers)</a:t>
            </a:r>
          </a:p>
        </p:txBody>
      </p:sp>
      <p:sp>
        <p:nvSpPr>
          <p:cNvPr id="61" name="T61"/>
          <p:cNvSpPr txBox="1"/>
          <p:nvPr/>
        </p:nvSpPr>
        <p:spPr>
          <a:xfrm>
            <a:off x="685800" y="3500000"/>
            <a:ext cx="7772400" cy="4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</a:pPr>
            <a:r>
              <a:rPr lang="en-US" sz="1900" b="1" i="0" dirty="0">
                <a:solidFill>
                  <a:srgbClr val="000000"/>
                </a:solidFill>
              </a:rPr>
              <a:t xml:space="preserve">Rule of thumb: </a:t>
            </a:r>
            <a:r>
              <a:rPr lang="en-US" sz="1900" b="0" i="0" dirty="0">
                <a:solidFill>
                  <a:srgbClr val="000000"/>
                </a:solidFill>
              </a:rPr>
              <a:t xml:space="preserve">event-based often makes adding consumers easier.</a:t>
            </a:r>
          </a:p>
        </p:txBody>
      </p:sp>
      <p:sp>
        <p:nvSpPr>
          <p:cNvPr id="62" name="T62"/>
          <p:cNvSpPr txBox="1"/>
          <p:nvPr/>
        </p:nvSpPr>
        <p:spPr>
          <a:xfrm>
            <a:off x="685800" y="3980000"/>
            <a:ext cx="7772400" cy="7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</a:pPr>
            <a:r>
              <a:rPr lang="en-US" sz="1900" b="1" i="0" dirty="0">
                <a:solidFill>
                  <a:srgbClr val="5C4826"/>
                </a:solidFill>
              </a:rPr>
              <a:t xml:space="preserve">Engineering question: </a:t>
            </a:r>
            <a:r>
              <a:rPr lang="en-US" sz="1900" b="0" i="1" dirty="0">
                <a:solidFill>
                  <a:srgbClr val="000000"/>
                </a:solidFill>
              </a:rPr>
              <a:t xml:space="preserve">does THIS event architecture satisfy our ordering, latency, reliability, and observability obligations?</a:t>
            </a:r>
          </a:p>
        </p:txBody>
      </p:sp>
      <p:sp>
        <p:nvSpPr>
          <p:cNvPr id="63" name="Band63"/>
          <p:cNvSpPr/>
          <p:nvPr/>
        </p:nvSpPr>
        <p:spPr>
          <a:xfrm>
            <a:off x="279400" y="4900000"/>
            <a:ext cx="8585200" cy="9000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109728" tIns="82296" rIns="109728" bIns="82296" anchor="ctr">
            <a:normAutofit/>
          </a:bodyPr>
          <a:lstStyle/>
          <a:p>
            <a:pPr algn="ctr">
              <a:buNone/>
            </a:pPr>
            <a:r>
              <a:rPr lang="en-US" sz="1700" b="1" i="0" dirty="0">
                <a:solidFill>
                  <a:srgbClr val="FFFFFF"/>
                </a:solidFill>
              </a:rPr>
              <a:t xml:space="preserve">PATTERN KNOWLEDGE  ——  increasing complexity / consequence  ——▶  ANALYSIS</a:t>
            </a:r>
          </a:p>
          <a:p>
            <a:pPr algn="ctr">
              <a:spcBef>
                <a:spcPts val="150"/>
              </a:spcBef>
              <a:buNone/>
            </a:pPr>
            <a:r>
              <a:rPr lang="en-US" sz="1500" b="0" i="1" dirty="0">
                <a:solidFill>
                  <a:srgbClr val="FFFFFF"/>
                </a:solidFill>
              </a:rPr>
              <a:t xml:space="preserve">“reasonable expectation”  →  “show me”</a:t>
            </a:r>
          </a:p>
        </p:txBody>
      </p:sp>
      <p:sp>
        <p:nvSpPr>
          <p:cNvPr id="64" name="T64"/>
          <p:cNvSpPr txBox="1"/>
          <p:nvPr/>
        </p:nvSpPr>
        <p:spPr>
          <a:xfrm>
            <a:off x="685800" y="6000000"/>
            <a:ext cx="7772400" cy="3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</a:pPr>
            <a:r>
              <a:rPr lang="en-US" sz="1600" b="1" i="0" dirty="0">
                <a:solidFill>
                  <a:srgbClr val="8E6F3E"/>
                </a:solidFill>
              </a:rPr>
              <a:t xml:space="preserve">—  STRETCH BREAK  —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2240280"/>
            <a:ext cx="7772400" cy="914400"/>
          </a:xfrm>
        </p:spPr>
        <p:txBody>
          <a:bodyPr>
            <a:normAutofit/>
          </a:bodyPr>
          <a:lstStyle/>
          <a:p>
            <a:pPr algn="ctr">
              <a:buNone/>
              <a:defRPr b="0"/>
            </a:pPr>
            <a:r>
              <a:rPr lang="en-US" sz="3200" b="0" i="0" dirty="0">
                <a:solidFill>
                  <a:srgbClr val="000000"/>
                </a:solidFill>
              </a:rPr>
              <a:t xml:space="preserve">Patterns capture recurring architectural choices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0</a:t>
            </a:fld>
            <a:endParaRPr lang="en-US"/>
          </a:p>
        </p:txBody>
      </p:sp>
      <p:sp>
        <p:nvSpPr>
          <p:cNvPr id="50" name="T50"/>
          <p:cNvSpPr txBox="1"/>
          <p:nvPr/>
        </p:nvSpPr>
        <p:spPr>
          <a:xfrm>
            <a:off x="685800" y="1737360"/>
            <a:ext cx="77724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</a:pPr>
            <a:r>
              <a:rPr lang="en-US" sz="2200" b="1" i="0" dirty="0">
                <a:solidFill>
                  <a:srgbClr val="8E6F3E"/>
                </a:solidFill>
              </a:rPr>
              <a:t xml:space="preserve">SECTION 3</a:t>
            </a:r>
          </a:p>
        </p:txBody>
      </p:sp>
      <p:sp>
        <p:nvSpPr>
          <p:cNvPr id="51" name="S51"/>
          <p:cNvSpPr/>
          <p:nvPr/>
        </p:nvSpPr>
        <p:spPr>
          <a:xfrm>
            <a:off x="3429000" y="3383280"/>
            <a:ext cx="2286000" cy="508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109728" tIns="82296" rIns="109728" bIns="82296" anchor="ctr">
            <a:normAutofit/>
          </a:bodyPr>
          <a:lstStyle/>
          <a:p>
            <a:endParaRPr/>
          </a:p>
        </p:txBody>
      </p:sp>
      <p:sp>
        <p:nvSpPr>
          <p:cNvPr id="52" name="T52"/>
          <p:cNvSpPr txBox="1"/>
          <p:nvPr/>
        </p:nvSpPr>
        <p:spPr>
          <a:xfrm>
            <a:off x="1371600" y="3977640"/>
            <a:ext cx="6400800" cy="10058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</a:pPr>
            <a:r>
              <a:rPr lang="en-US" sz="2800" b="0" i="0" dirty="0">
                <a:solidFill>
                  <a:srgbClr val="555960"/>
                </a:solidFill>
              </a:rPr>
              <a:t xml:space="preserve">What organizations recur, and what do they tend to buy—and cost?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algn="l">
              <a:buNone/>
              <a:defRPr b="0"/>
            </a:pPr>
            <a:r>
              <a:rPr lang="en-US" sz="2600" b="0" i="0" dirty="0">
                <a:solidFill>
                  <a:srgbClr val="000000"/>
                </a:solidFill>
              </a:rPr>
              <a:t xml:space="preserve">An architecture diagram is useful only if it answers a question.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0</a:t>
            </a:fld>
            <a:endParaRPr lang="en-US"/>
          </a:p>
        </p:txBody>
      </p:sp>
      <p:sp>
        <p:nvSpPr>
          <p:cNvPr id="60" name="FigurePlaceholder60"/>
          <p:cNvSpPr/>
          <p:nvPr/>
        </p:nvSpPr>
        <p:spPr>
          <a:xfrm>
            <a:off x="685800" y="1250000"/>
            <a:ext cx="7772400" cy="3300000"/>
          </a:xfrm>
          <a:prstGeom prst="roundRect">
            <a:avLst/>
          </a:prstGeom>
          <a:solidFill>
            <a:srgbClr val="FBF8F2"/>
          </a:solidFill>
          <a:ln w="19050">
            <a:solidFill>
              <a:srgbClr val="8E6F3E"/>
            </a:solidFill>
            <a:prstDash val="dash"/>
          </a:ln>
        </p:spPr>
        <p:txBody>
          <a:bodyPr wrap="square" lIns="109728" tIns="82296" rIns="109728" bIns="82296" anchor="ctr">
            <a:normAutofit/>
          </a:bodyPr>
          <a:lstStyle/>
          <a:p>
            <a:pPr algn="ctr">
              <a:buNone/>
            </a:pPr>
            <a:r>
              <a:rPr lang="en-US" sz="1500" b="1" i="0" dirty="0">
                <a:solidFill>
                  <a:srgbClr val="8E6F3E"/>
                </a:solidFill>
              </a:rPr>
              <a:t xml:space="preserve">[FIGURE — PASS 2]</a:t>
            </a:r>
          </a:p>
          <a:p>
            <a:pPr algn="ctr">
              <a:spcBef>
                <a:spcPts val="300"/>
              </a:spcBef>
              <a:buNone/>
            </a:pPr>
            <a:r>
              <a:rPr lang="en-US" sz="1800" b="0" i="1" dirty="0">
                <a:solidFill>
                  <a:srgbClr val="555960"/>
                </a:solidFill>
              </a:rPr>
              <a:t xml:space="preserve">three representations of the same system — CHANGE? (dependency view) / LATENCY? (weighted flow) / FAILURE? (deployment/region view)</a:t>
            </a:r>
          </a:p>
        </p:txBody>
      </p:sp>
      <p:sp>
        <p:nvSpPr>
          <p:cNvPr id="61" name="T61"/>
          <p:cNvSpPr txBox="1"/>
          <p:nvPr/>
        </p:nvSpPr>
        <p:spPr>
          <a:xfrm>
            <a:off x="685800" y="5000000"/>
            <a:ext cx="777240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</a:pPr>
            <a:r>
              <a:rPr lang="en-US" sz="2400" b="1" i="0" dirty="0">
                <a:solidFill>
                  <a:srgbClr val="000000"/>
                </a:solidFill>
              </a:rPr>
              <a:t xml:space="preserve">Different question → different model.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algn="l">
              <a:buNone/>
              <a:defRPr b="0"/>
            </a:pPr>
            <a:r>
              <a:rPr lang="en-US" sz="2800" b="0" i="0" dirty="0">
                <a:solidFill>
                  <a:srgbClr val="000000"/>
                </a:solidFill>
              </a:rPr>
              <a:t xml:space="preserve">Some claims require less betting than others.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0</a:t>
            </a:fld>
            <a:endParaRPr lang="en-US"/>
          </a:p>
        </p:txBody>
      </p:sp>
      <p:sp>
        <p:nvSpPr>
          <p:cNvPr id="60" name="FigurePlaceholder60"/>
          <p:cNvSpPr/>
          <p:nvPr/>
        </p:nvSpPr>
        <p:spPr>
          <a:xfrm>
            <a:off x="685800" y="1250000"/>
            <a:ext cx="7772400" cy="3200000"/>
          </a:xfrm>
          <a:prstGeom prst="roundRect">
            <a:avLst/>
          </a:prstGeom>
          <a:solidFill>
            <a:srgbClr val="FBF8F2"/>
          </a:solidFill>
          <a:ln w="19050">
            <a:solidFill>
              <a:srgbClr val="8E6F3E"/>
            </a:solidFill>
            <a:prstDash val="dash"/>
          </a:ln>
        </p:spPr>
        <p:txBody>
          <a:bodyPr wrap="square" lIns="109728" tIns="82296" rIns="109728" bIns="82296" anchor="ctr">
            <a:normAutofit/>
          </a:bodyPr>
          <a:lstStyle/>
          <a:p>
            <a:pPr algn="ctr">
              <a:buNone/>
            </a:pPr>
            <a:r>
              <a:rPr lang="en-US" sz="1500" b="1" i="0" dirty="0">
                <a:solidFill>
                  <a:srgbClr val="8E6F3E"/>
                </a:solidFill>
              </a:rPr>
              <a:t xml:space="preserve">[FIGURE — PASS 2]</a:t>
            </a:r>
          </a:p>
          <a:p>
            <a:pPr algn="ctr">
              <a:spcBef>
                <a:spcPts val="300"/>
              </a:spcBef>
              <a:buNone/>
            </a:pPr>
            <a:r>
              <a:rPr lang="en-US" sz="1600" b="0" i="1" dirty="0">
                <a:solidFill>
                  <a:srgbClr val="555960"/>
                </a:solidFill>
              </a:rPr>
              <a:t xml:space="preserve">horizontal continuum — MORE BETTING ◀——▶ LESS BETTING: REASONED EXPECTATION → STRUCTURAL ARGUMENT → QUANTITATIVE PREDICTION → OBSERVED EVIDENCE; examples: “should remain local” / “no dependency crosses this boundary” / “≈ 11.5 s” / “11.8 s measured”</a:t>
            </a:r>
          </a:p>
        </p:txBody>
      </p:sp>
      <p:sp>
        <p:nvSpPr>
          <p:cNvPr id="61" name="Band61"/>
          <p:cNvSpPr/>
          <p:nvPr/>
        </p:nvSpPr>
        <p:spPr>
          <a:xfrm>
            <a:off x="279400" y="4900000"/>
            <a:ext cx="8585200" cy="9000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109728" tIns="82296" rIns="109728" bIns="82296" anchor="ctr">
            <a:normAutofit/>
          </a:bodyPr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 xml:space="preserve">The more faithfully the model captures the property we care about, the less we have to bet.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algn="l">
              <a:buNone/>
              <a:defRPr b="0"/>
            </a:pPr>
            <a:r>
              <a:rPr lang="en-US" sz="2800" b="0" i="0" dirty="0">
                <a:solidFill>
                  <a:srgbClr val="000000"/>
                </a:solidFill>
              </a:rPr>
              <a:t xml:space="preserve">Can this change remain local?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0</a:t>
            </a:fld>
            <a:endParaRPr lang="en-US"/>
          </a:p>
        </p:txBody>
      </p:sp>
      <p:sp>
        <p:nvSpPr>
          <p:cNvPr id="60" name="FigurePlaceholder60"/>
          <p:cNvSpPr/>
          <p:nvPr/>
        </p:nvSpPr>
        <p:spPr>
          <a:xfrm>
            <a:off x="685800" y="1250000"/>
            <a:ext cx="7772400" cy="3300000"/>
          </a:xfrm>
          <a:prstGeom prst="roundRect">
            <a:avLst/>
          </a:prstGeom>
          <a:solidFill>
            <a:srgbClr val="FBF8F2"/>
          </a:solidFill>
          <a:ln w="19050">
            <a:solidFill>
              <a:srgbClr val="8E6F3E"/>
            </a:solidFill>
            <a:prstDash val="dash"/>
          </a:ln>
        </p:spPr>
        <p:txBody>
          <a:bodyPr wrap="square" lIns="109728" tIns="82296" rIns="109728" bIns="82296" anchor="ctr">
            <a:normAutofit/>
          </a:bodyPr>
          <a:lstStyle/>
          <a:p>
            <a:pPr algn="ctr">
              <a:buNone/>
            </a:pPr>
            <a:r>
              <a:rPr lang="en-US" sz="1500" b="1" i="0" dirty="0">
                <a:solidFill>
                  <a:srgbClr val="8E6F3E"/>
                </a:solidFill>
              </a:rPr>
              <a:t xml:space="preserve">[FIGURE — PASS 2]</a:t>
            </a:r>
          </a:p>
          <a:p>
            <a:pPr algn="ctr">
              <a:spcBef>
                <a:spcPts val="300"/>
              </a:spcBef>
              <a:buNone/>
            </a:pPr>
            <a:r>
              <a:rPr lang="en-US" sz="1700" b="0" i="1" dirty="0">
                <a:solidFill>
                  <a:srgbClr val="555960"/>
                </a:solidFill>
              </a:rPr>
              <a:t xml:space="preserve">BEFORE — ILLNESS MODEL → UI / ADVICE / STORAGE (one expected change propagates everywhere); AFTER — UI / ADVICE → MODEL SERVICE INTERFACE → ILLNESS MODEL (the change stays behind the seam)</a:t>
            </a:r>
          </a:p>
        </p:txBody>
      </p:sp>
      <p:sp>
        <p:nvSpPr>
          <p:cNvPr id="61" name="T61"/>
          <p:cNvSpPr txBox="1"/>
          <p:nvPr/>
        </p:nvSpPr>
        <p:spPr>
          <a:xfrm>
            <a:off x="685800" y="5000000"/>
            <a:ext cx="777240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</a:pPr>
            <a:r>
              <a:rPr lang="en-US" sz="2200" b="0" i="1" dirty="0">
                <a:solidFill>
                  <a:srgbClr val="000000"/>
                </a:solidFill>
              </a:rPr>
              <a:t xml:space="preserve">What claim can the dependency model actually establish?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algn="l">
              <a:buNone/>
              <a:defRPr b="0"/>
            </a:pPr>
            <a:r>
              <a:rPr lang="en-US" sz="2800" b="0" i="0" dirty="0">
                <a:solidFill>
                  <a:srgbClr val="000000"/>
                </a:solidFill>
              </a:rPr>
              <a:t xml:space="preserve">What sets the latency floor?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0</a:t>
            </a:fld>
            <a:endParaRPr lang="en-US"/>
          </a:p>
        </p:txBody>
      </p:sp>
      <p:sp>
        <p:nvSpPr>
          <p:cNvPr id="60" name="FigurePlaceholder60"/>
          <p:cNvSpPr/>
          <p:nvPr/>
        </p:nvSpPr>
        <p:spPr>
          <a:xfrm>
            <a:off x="685800" y="1250000"/>
            <a:ext cx="7772400" cy="3300000"/>
          </a:xfrm>
          <a:prstGeom prst="roundRect">
            <a:avLst/>
          </a:prstGeom>
          <a:solidFill>
            <a:srgbClr val="FBF8F2"/>
          </a:solidFill>
          <a:ln w="19050">
            <a:solidFill>
              <a:srgbClr val="8E6F3E"/>
            </a:solidFill>
            <a:prstDash val="dash"/>
          </a:ln>
        </p:spPr>
        <p:txBody>
          <a:bodyPr wrap="square" lIns="109728" tIns="82296" rIns="109728" bIns="82296" anchor="ctr">
            <a:normAutofit/>
          </a:bodyPr>
          <a:lstStyle/>
          <a:p>
            <a:pPr algn="ctr">
              <a:buNone/>
            </a:pPr>
            <a:r>
              <a:rPr lang="en-US" sz="1500" b="1" i="0" dirty="0">
                <a:solidFill>
                  <a:srgbClr val="8E6F3E"/>
                </a:solidFill>
              </a:rPr>
              <a:t xml:space="preserve">[FIGURE — PASS 2]</a:t>
            </a:r>
          </a:p>
          <a:p>
            <a:pPr algn="ctr">
              <a:spcBef>
                <a:spcPts val="300"/>
              </a:spcBef>
              <a:buNone/>
            </a:pPr>
            <a:r>
              <a:rPr lang="en-US" sz="1800" b="0" i="1" dirty="0">
                <a:solidFill>
                  <a:srgbClr val="555960"/>
                </a:solidFill>
              </a:rPr>
              <a:t xml:space="preserve">critical-path DAG — A → (B heavy) → F, A → C → E, → D → F; the heaviest chain sets the latency floor; then candidate: decompose B into B1 / B2 / B3</a:t>
            </a:r>
          </a:p>
        </p:txBody>
      </p:sp>
      <p:sp>
        <p:nvSpPr>
          <p:cNvPr id="61" name="T61"/>
          <p:cNvSpPr txBox="1"/>
          <p:nvPr/>
        </p:nvSpPr>
        <p:spPr>
          <a:xfrm>
            <a:off x="685800" y="5000000"/>
            <a:ext cx="777240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</a:pPr>
            <a:r>
              <a:rPr lang="en-US" sz="2200" b="0" i="1" dirty="0">
                <a:solidFill>
                  <a:srgbClr val="000000"/>
                </a:solidFill>
              </a:rPr>
              <a:t xml:space="preserve">Could decomposition shorten the critical path?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2240280"/>
            <a:ext cx="7772400" cy="914400"/>
          </a:xfrm>
        </p:spPr>
        <p:txBody>
          <a:bodyPr>
            <a:normAutofit/>
          </a:bodyPr>
          <a:lstStyle/>
          <a:p>
            <a:pPr algn="ctr">
              <a:buNone/>
              <a:defRPr b="0"/>
            </a:pPr>
            <a:r>
              <a:rPr lang="en-US" sz="4000" b="0" i="0" dirty="0">
                <a:solidFill>
                  <a:srgbClr val="000000"/>
                </a:solidFill>
              </a:rPr>
              <a:t xml:space="preserve">Architect one system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0</a:t>
            </a:fld>
            <a:endParaRPr lang="en-US"/>
          </a:p>
        </p:txBody>
      </p:sp>
      <p:sp>
        <p:nvSpPr>
          <p:cNvPr id="50" name="T50"/>
          <p:cNvSpPr txBox="1"/>
          <p:nvPr/>
        </p:nvSpPr>
        <p:spPr>
          <a:xfrm>
            <a:off x="685800" y="1737360"/>
            <a:ext cx="77724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</a:pPr>
            <a:r>
              <a:rPr lang="en-US" sz="2200" b="1" i="0" dirty="0">
                <a:solidFill>
                  <a:srgbClr val="8E6F3E"/>
                </a:solidFill>
              </a:rPr>
              <a:t xml:space="preserve">SECTION 5</a:t>
            </a:r>
          </a:p>
        </p:txBody>
      </p:sp>
      <p:sp>
        <p:nvSpPr>
          <p:cNvPr id="51" name="S51"/>
          <p:cNvSpPr/>
          <p:nvPr/>
        </p:nvSpPr>
        <p:spPr>
          <a:xfrm>
            <a:off x="3429000" y="3383280"/>
            <a:ext cx="2286000" cy="508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109728" tIns="82296" rIns="109728" bIns="82296" anchor="ctr">
            <a:normAutofit/>
          </a:bodyPr>
          <a:lstStyle/>
          <a:p>
            <a:endParaRPr/>
          </a:p>
        </p:txBody>
      </p:sp>
      <p:sp>
        <p:nvSpPr>
          <p:cNvPr id="52" name="T52"/>
          <p:cNvSpPr txBox="1"/>
          <p:nvPr/>
        </p:nvSpPr>
        <p:spPr>
          <a:xfrm>
            <a:off x="1371600" y="3977640"/>
            <a:ext cx="6400800" cy="10058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</a:pPr>
            <a:r>
              <a:rPr lang="en-US" sz="2800" b="0" i="0" dirty="0">
                <a:solidFill>
                  <a:srgbClr val="555960"/>
                </a:solidFill>
              </a:rPr>
              <a:t xml:space="preserve">Enough vocabulary. Make the decision.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algn="l">
              <a:buNone/>
              <a:defRPr b="0"/>
            </a:pPr>
            <a:r>
              <a:rPr lang="en-US" sz="2800" b="0" i="0" dirty="0">
                <a:solidFill>
                  <a:srgbClr val="000000"/>
                </a:solidFill>
              </a:rPr>
              <a:t xml:space="preserve">Exercise: Here is the specification.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0</a:t>
            </a:fld>
            <a:endParaRPr lang="en-US"/>
          </a:p>
        </p:txBody>
      </p:sp>
      <p:sp>
        <p:nvSpPr>
          <p:cNvPr id="60" name="FigurePlaceholder60"/>
          <p:cNvSpPr/>
          <p:nvPr/>
        </p:nvSpPr>
        <p:spPr>
          <a:xfrm>
            <a:off x="685800" y="1250000"/>
            <a:ext cx="7772400" cy="2900000"/>
          </a:xfrm>
          <a:prstGeom prst="roundRect">
            <a:avLst/>
          </a:prstGeom>
          <a:solidFill>
            <a:srgbClr val="FBF8F2"/>
          </a:solidFill>
          <a:ln w="19050">
            <a:solidFill>
              <a:srgbClr val="8E6F3E"/>
            </a:solidFill>
            <a:prstDash val="dash"/>
          </a:ln>
        </p:spPr>
        <p:txBody>
          <a:bodyPr wrap="square" lIns="109728" tIns="82296" rIns="109728" bIns="82296" anchor="ctr">
            <a:normAutofit/>
          </a:bodyPr>
          <a:lstStyle/>
          <a:p>
            <a:pPr algn="ctr">
              <a:buNone/>
            </a:pPr>
            <a:r>
              <a:rPr lang="en-US" sz="1500" b="1" i="0" dirty="0">
                <a:solidFill>
                  <a:srgbClr val="8E6F3E"/>
                </a:solidFill>
              </a:rPr>
              <a:t xml:space="preserve">[FIGURE — PASS 2]</a:t>
            </a:r>
          </a:p>
          <a:p>
            <a:pPr algn="ctr">
              <a:spcBef>
                <a:spcPts val="300"/>
              </a:spcBef>
              <a:buNone/>
            </a:pPr>
            <a:r>
              <a:rPr lang="en-US" sz="1700" b="0" i="1" dirty="0">
                <a:solidFill>
                  <a:srgbClr val="555960"/>
                </a:solidFill>
              </a:rPr>
              <a:t xml:space="preserve">obligations arranged around an empty center — ≤ 2 s latency · privacy · expected change · availability · consistency, around a “SYSTEM ?” box; YOUR ARCHITECTURE GOES HERE</a:t>
            </a:r>
          </a:p>
        </p:txBody>
      </p:sp>
      <p:sp>
        <p:nvSpPr>
          <p:cNvPr id="61" name="Band61"/>
          <p:cNvSpPr/>
          <p:nvPr/>
        </p:nvSpPr>
        <p:spPr>
          <a:xfrm>
            <a:off x="279400" y="4500000"/>
            <a:ext cx="8585200" cy="1300000"/>
          </a:xfrm>
          <a:prstGeom prst="rect">
            <a:avLst/>
          </a:prstGeom>
          <a:solidFill>
            <a:srgbClr val="F5F1E8"/>
          </a:solidFill>
          <a:ln>
            <a:noFill/>
          </a:ln>
        </p:spPr>
        <p:txBody>
          <a:bodyPr wrap="square" lIns="109728" tIns="82296" rIns="109728" bIns="82296" anchor="ctr">
            <a:normAutofit/>
          </a:bodyPr>
          <a:lstStyle/>
          <a:p>
            <a:pPr algn="l">
              <a:buNone/>
            </a:pPr>
            <a:r>
              <a:rPr lang="en-US" sz="2100" b="1" i="0" dirty="0">
                <a:solidFill>
                  <a:srgbClr val="000000"/>
                </a:solidFill>
              </a:rPr>
              <a:t xml:space="preserve">Sketch the major parts, the boundaries, and the interactions.</a:t>
            </a:r>
          </a:p>
          <a:p>
            <a:pPr algn="l">
              <a:spcBef>
                <a:spcPts val="200"/>
              </a:spcBef>
              <a:buNone/>
            </a:pPr>
            <a:r>
              <a:rPr lang="en-US" sz="2100" b="0" i="0" dirty="0">
                <a:solidFill>
                  <a:srgbClr val="000000"/>
                </a:solidFill>
              </a:rPr>
              <a:t xml:space="preserve">Produce TWO plausible organizations — do not converge on one yet.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algn="l">
              <a:buNone/>
              <a:defRPr b="0"/>
            </a:pPr>
            <a:r>
              <a:rPr lang="en-US" sz="2800" b="0" i="0" dirty="0">
                <a:solidFill>
                  <a:srgbClr val="000000"/>
                </a:solidFill>
              </a:rPr>
              <a:t xml:space="preserve">Defend the architectural decision.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0</a:t>
            </a:fld>
            <a:endParaRPr lang="en-US"/>
          </a:p>
        </p:txBody>
      </p:sp>
      <p:sp>
        <p:nvSpPr>
          <p:cNvPr id="60" name="FigurePlaceholder60"/>
          <p:cNvSpPr/>
          <p:nvPr/>
        </p:nvSpPr>
        <p:spPr>
          <a:xfrm>
            <a:off x="685800" y="1150000"/>
            <a:ext cx="7772400" cy="1750000"/>
          </a:xfrm>
          <a:prstGeom prst="roundRect">
            <a:avLst/>
          </a:prstGeom>
          <a:solidFill>
            <a:srgbClr val="FBF8F2"/>
          </a:solidFill>
          <a:ln w="19050">
            <a:solidFill>
              <a:srgbClr val="8E6F3E"/>
            </a:solidFill>
            <a:prstDash val="dash"/>
          </a:ln>
        </p:spPr>
        <p:txBody>
          <a:bodyPr wrap="square" lIns="109728" tIns="82296" rIns="109728" bIns="82296" anchor="ctr">
            <a:normAutofit/>
          </a:bodyPr>
          <a:lstStyle/>
          <a:p>
            <a:pPr algn="ctr">
              <a:buNone/>
            </a:pPr>
            <a:r>
              <a:rPr lang="en-US" sz="1500" b="1" i="0" dirty="0">
                <a:solidFill>
                  <a:srgbClr val="8E6F3E"/>
                </a:solidFill>
              </a:rPr>
              <a:t xml:space="preserve">[FIGURE — PASS 2]</a:t>
            </a:r>
          </a:p>
          <a:p>
            <a:pPr algn="ctr">
              <a:spcBef>
                <a:spcPts val="300"/>
              </a:spcBef>
              <a:buNone/>
            </a:pPr>
            <a:r>
              <a:rPr lang="en-US" sz="1500" b="0" i="1" dirty="0">
                <a:solidFill>
                  <a:srgbClr val="555960"/>
                </a:solidFill>
              </a:rPr>
              <a:t xml:space="preserve">decision funnel — CANDIDATES A/B/C → SPECIFICATION (eliminate invalid) → DOMINANCE? → genuine tradeoff → WHAT DON’T WE KNOW? → BUY INFORMATION? → DECIDE</a:t>
            </a:r>
          </a:p>
        </p:txBody>
      </p:sp>
      <p:sp>
        <p:nvSpPr>
          <p:cNvPr id="61" name="Band61"/>
          <p:cNvSpPr/>
          <p:nvPr/>
        </p:nvSpPr>
        <p:spPr>
          <a:xfrm>
            <a:off x="279400" y="3100000"/>
            <a:ext cx="8585200" cy="2200000"/>
          </a:xfrm>
          <a:prstGeom prst="rect">
            <a:avLst/>
          </a:prstGeom>
          <a:solidFill>
            <a:srgbClr val="F5F1E8"/>
          </a:solidFill>
          <a:ln>
            <a:noFill/>
          </a:ln>
        </p:spPr>
        <p:txBody>
          <a:bodyPr wrap="square" lIns="109728" tIns="82296" rIns="109728" bIns="82296" anchor="ctr">
            <a:normAutofit/>
          </a:bodyPr>
          <a:lstStyle/>
          <a:p>
            <a:pPr algn="l">
              <a:buNone/>
            </a:pPr>
            <a:r>
              <a:rPr lang="en-US" sz="1800" b="1" i="0" dirty="0">
                <a:solidFill>
                  <a:srgbClr val="8E6F3E"/>
                </a:solidFill>
              </a:rPr>
              <a:t xml:space="preserve">·  </a:t>
            </a:r>
            <a:r>
              <a:rPr lang="en-US" sz="1800" b="0" i="0" dirty="0">
                <a:solidFill>
                  <a:srgbClr val="000000"/>
                </a:solidFill>
              </a:rPr>
              <a:t xml:space="preserve">Which candidates violate specification?</a:t>
            </a:r>
          </a:p>
          <a:p>
            <a:pPr algn="l">
              <a:spcBef>
                <a:spcPts val="150"/>
              </a:spcBef>
              <a:buNone/>
            </a:pPr>
            <a:r>
              <a:rPr lang="en-US" sz="1800" b="1" i="0" dirty="0">
                <a:solidFill>
                  <a:srgbClr val="8E6F3E"/>
                </a:solidFill>
              </a:rPr>
              <a:t xml:space="preserve">·  </a:t>
            </a:r>
            <a:r>
              <a:rPr lang="en-US" sz="1800" b="0" i="0" dirty="0">
                <a:solidFill>
                  <a:srgbClr val="000000"/>
                </a:solidFill>
              </a:rPr>
              <a:t xml:space="preserve">Is anything Pareto-dominated?</a:t>
            </a:r>
          </a:p>
          <a:p>
            <a:pPr algn="l">
              <a:spcBef>
                <a:spcPts val="150"/>
              </a:spcBef>
              <a:buNone/>
            </a:pPr>
            <a:r>
              <a:rPr lang="en-US" sz="1800" b="1" i="0" dirty="0">
                <a:solidFill>
                  <a:srgbClr val="8E6F3E"/>
                </a:solidFill>
              </a:rPr>
              <a:t xml:space="preserve">·  </a:t>
            </a:r>
            <a:r>
              <a:rPr lang="en-US" sz="1800" b="0" i="0" dirty="0">
                <a:solidFill>
                  <a:srgbClr val="000000"/>
                </a:solidFill>
              </a:rPr>
              <a:t xml:space="preserve">What genuine tradeoff remains?</a:t>
            </a:r>
          </a:p>
          <a:p>
            <a:pPr algn="l">
              <a:spcBef>
                <a:spcPts val="150"/>
              </a:spcBef>
              <a:buNone/>
            </a:pPr>
            <a:r>
              <a:rPr lang="en-US" sz="1800" b="1" i="0" dirty="0">
                <a:solidFill>
                  <a:srgbClr val="8E6F3E"/>
                </a:solidFill>
              </a:rPr>
              <a:t xml:space="preserve">·  </a:t>
            </a:r>
            <a:r>
              <a:rPr lang="en-US" sz="1800" b="0" i="0" dirty="0">
                <a:solidFill>
                  <a:srgbClr val="000000"/>
                </a:solidFill>
              </a:rPr>
              <a:t xml:space="preserve">What architectural model would help distinguish the alternatives?</a:t>
            </a:r>
          </a:p>
          <a:p>
            <a:pPr algn="l">
              <a:spcBef>
                <a:spcPts val="150"/>
              </a:spcBef>
              <a:buNone/>
            </a:pPr>
            <a:r>
              <a:rPr lang="en-US" sz="1800" b="1" i="0" dirty="0">
                <a:solidFill>
                  <a:srgbClr val="8E6F3E"/>
                </a:solidFill>
              </a:rPr>
              <a:t xml:space="preserve">·  </a:t>
            </a:r>
            <a:r>
              <a:rPr lang="en-US" sz="1800" b="0" i="0" dirty="0">
                <a:solidFill>
                  <a:srgbClr val="000000"/>
                </a:solidFill>
              </a:rPr>
              <a:t xml:space="preserve">What information would you buy before committing?</a:t>
            </a:r>
          </a:p>
        </p:txBody>
      </p:sp>
      <p:sp>
        <p:nvSpPr>
          <p:cNvPr id="62" name="T62"/>
          <p:cNvSpPr txBox="1"/>
          <p:nvPr/>
        </p:nvSpPr>
        <p:spPr>
          <a:xfrm>
            <a:off x="685800" y="5600000"/>
            <a:ext cx="7772400" cy="4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</a:pPr>
            <a:r>
              <a:rPr lang="en-US" sz="2200" b="0" i="1" dirty="0">
                <a:solidFill>
                  <a:srgbClr val="000000"/>
                </a:solidFill>
              </a:rPr>
              <a:t xml:space="preserve">There need not be one “correct” architecture.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algn="l">
              <a:buNone/>
              <a:defRPr b="0"/>
            </a:pPr>
            <a:r>
              <a:rPr lang="en-US" sz="2800" b="0" i="0" dirty="0">
                <a:solidFill>
                  <a:srgbClr val="000000"/>
                </a:solidFill>
              </a:rPr>
              <a:t xml:space="preserve">What happens when architectural evidence gets cheap?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0</a:t>
            </a:fld>
            <a:endParaRPr lang="en-US"/>
          </a:p>
        </p:txBody>
      </p:sp>
      <p:sp>
        <p:nvSpPr>
          <p:cNvPr id="60" name="FigurePlaceholder60"/>
          <p:cNvSpPr/>
          <p:nvPr/>
        </p:nvSpPr>
        <p:spPr>
          <a:xfrm>
            <a:off x="279400" y="1117600"/>
            <a:ext cx="8585200" cy="2350000"/>
          </a:xfrm>
          <a:prstGeom prst="roundRect">
            <a:avLst/>
          </a:prstGeom>
          <a:solidFill>
            <a:srgbClr val="FBF8F2"/>
          </a:solidFill>
          <a:ln w="19050">
            <a:solidFill>
              <a:srgbClr val="8E6F3E"/>
            </a:solidFill>
            <a:prstDash val="dash"/>
          </a:ln>
        </p:spPr>
        <p:txBody>
          <a:bodyPr wrap="square" lIns="109728" tIns="82296" rIns="109728" bIns="82296" anchor="ctr">
            <a:normAutofit/>
          </a:bodyPr>
          <a:lstStyle/>
          <a:p>
            <a:pPr algn="ctr">
              <a:buNone/>
            </a:pPr>
            <a:r>
              <a:rPr lang="en-US" sz="1500" b="1" i="0" dirty="0">
                <a:solidFill>
                  <a:srgbClr val="8E6F3E"/>
                </a:solidFill>
              </a:rPr>
              <a:t xml:space="preserve">[FIGURE — PASS 2]</a:t>
            </a:r>
          </a:p>
          <a:p>
            <a:pPr algn="ctr">
              <a:spcBef>
                <a:spcPts val="300"/>
              </a:spcBef>
              <a:buNone/>
            </a:pPr>
            <a:r>
              <a:rPr lang="en-US" sz="1600" b="0" i="1" dirty="0">
                <a:solidFill>
                  <a:srgbClr val="555960"/>
                </a:solidFill>
              </a:rPr>
              <a:t xml:space="preserve">callback to slide 11 — ARCHITECTURAL UNCERTAINTY → BUY INFORMATION → MODEL / PROTOTYPE / EXPERIMENT → $$$ / TIME (historically limits how often); then GenAI → COST OF EVIDENCE ↓ → MORE QUESTIONS BECOME WORTH INVESTIGATING</a:t>
            </a:r>
          </a:p>
        </p:txBody>
      </p:sp>
      <p:sp>
        <p:nvSpPr>
          <p:cNvPr id="61" name="T61"/>
          <p:cNvSpPr txBox="1"/>
          <p:nvPr/>
        </p:nvSpPr>
        <p:spPr>
          <a:xfrm>
            <a:off x="685800" y="3650000"/>
            <a:ext cx="7772400" cy="8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</a:pPr>
            <a:r>
              <a:rPr lang="en-US" sz="2100" b="0" i="1" dirty="0">
                <a:solidFill>
                  <a:srgbClr val="000000"/>
                </a:solidFill>
              </a:rPr>
              <a:t xml:space="preserve">GenAI doesn’t remove architectural tradeoffs. It can make evidence about those tradeoffs cheaper.</a:t>
            </a:r>
          </a:p>
        </p:txBody>
      </p:sp>
      <p:sp>
        <p:nvSpPr>
          <p:cNvPr id="6" name="MAGE Moment badge"/>
          <p:cNvSpPr txBox="1"/>
          <p:nvPr/>
        </p:nvSpPr>
        <p:spPr>
          <a:xfrm>
            <a:off x="2691524" y="4428182"/>
            <a:ext cx="5080000" cy="78740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 algn="l">
              <a:buNone/>
            </a:pPr>
            <a:r>
              <a:rPr lang="en-US" sz="4800" dirty="0"/>
              <a:t>🧙</a:t>
            </a:r>
            <a:r>
              <a:rPr lang="en-US" sz="2400" i="1" dirty="0"/>
              <a:t xml:space="preserve">  MAGE Moment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8649" y="5215582"/>
            <a:ext cx="8341929" cy="1230997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algn="ctr">
              <a:buNone/>
            </a:pPr>
            <a:r>
              <a:rPr lang="en-US" sz="2200" b="1" dirty="0">
                <a:solidFill>
                  <a:srgbClr val="5C4826"/>
                </a:solidFill>
              </a:rPr>
              <a:t>DON’T ASK THE AGENT TO CHOOSE YOUR ARCHITECTURE.</a:t>
            </a:r>
          </a:p>
          <a:p>
            <a:pPr algn="ctr">
              <a:buNone/>
            </a:pPr>
            <a:r>
              <a:rPr lang="en-US" sz="2200" b="1" dirty="0">
                <a:solidFill>
                  <a:srgbClr val="5C4826"/>
                </a:solidFill>
              </a:rPr>
              <a:t>USE IT TO REDUCE HOW MUCH OF YOUR ARCHITECTURE REMAINS A BET.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C6A07E37-5A58-8F72-4386-C963BB7586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algn="l"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Specification → Architecture → Design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E315202-6E93-5123-3161-3510B7FB3A5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31</a:t>
            </a:fld>
            <a:endParaRPr lang="en-US"/>
          </a:p>
        </p:txBody>
      </p:sp>
      <p:sp>
        <p:nvSpPr>
          <p:cNvPr id="60" name="S60"/>
          <p:cNvSpPr/>
          <p:nvPr/>
        </p:nvSpPr>
        <p:spPr>
          <a:xfrm>
            <a:off x="3429000" y="1390876"/>
            <a:ext cx="2286000" cy="5588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109728" tIns="82296" rIns="109728" bIns="82296" anchor="ctr">
            <a:normAutofit/>
          </a:bodyPr>
          <a:lstStyle/>
          <a:p>
            <a:pPr algn="ctr">
              <a:buNone/>
            </a:pPr>
            <a:r>
              <a:rPr lang="en-US" sz="2400" b="1" i="0" dirty="0">
                <a:solidFill>
                  <a:srgbClr val="5C4826"/>
                </a:solidFill>
              </a:rPr>
              <a:t>REQUIREMENTS</a:t>
            </a:r>
          </a:p>
        </p:txBody>
      </p:sp>
      <p:cxnSp>
        <p:nvCxnSpPr>
          <p:cNvPr id="61" name="L61"/>
          <p:cNvCxnSpPr/>
          <p:nvPr/>
        </p:nvCxnSpPr>
        <p:spPr>
          <a:xfrm>
            <a:off x="4572000" y="1949676"/>
            <a:ext cx="0" cy="177800"/>
          </a:xfrm>
          <a:prstGeom prst="line">
            <a:avLst/>
          </a:prstGeom>
          <a:ln w="19050">
            <a:solidFill>
              <a:srgbClr val="8E6F3E"/>
            </a:solidFill>
            <a:tailEnd type="triangle" w="med" len="med"/>
          </a:ln>
        </p:spPr>
      </p:cxnSp>
      <p:sp>
        <p:nvSpPr>
          <p:cNvPr id="62" name="S62"/>
          <p:cNvSpPr/>
          <p:nvPr/>
        </p:nvSpPr>
        <p:spPr>
          <a:xfrm>
            <a:off x="3175000" y="2127476"/>
            <a:ext cx="2794000" cy="6096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109728" tIns="82296" rIns="109728" bIns="82296" anchor="ctr">
            <a:normAutofit/>
          </a:bodyPr>
          <a:lstStyle/>
          <a:p>
            <a:pPr algn="ctr">
              <a:buNone/>
            </a:pPr>
            <a:r>
              <a:rPr lang="en-US" sz="2400" b="1" i="0" dirty="0">
                <a:solidFill>
                  <a:srgbClr val="FFFFFF"/>
                </a:solidFill>
              </a:rPr>
              <a:t>SPECIFICATION</a:t>
            </a:r>
          </a:p>
        </p:txBody>
      </p:sp>
      <p:cxnSp>
        <p:nvCxnSpPr>
          <p:cNvPr id="63" name="L63"/>
          <p:cNvCxnSpPr/>
          <p:nvPr/>
        </p:nvCxnSpPr>
        <p:spPr>
          <a:xfrm>
            <a:off x="4572000" y="2737076"/>
            <a:ext cx="0" cy="177800"/>
          </a:xfrm>
          <a:prstGeom prst="line">
            <a:avLst/>
          </a:prstGeom>
          <a:ln w="19050">
            <a:solidFill>
              <a:srgbClr val="8E6F3E"/>
            </a:solidFill>
            <a:tailEnd type="triangle" w="med" len="med"/>
          </a:ln>
        </p:spPr>
      </p:cxnSp>
      <p:sp>
        <p:nvSpPr>
          <p:cNvPr id="64" name="S64"/>
          <p:cNvSpPr/>
          <p:nvPr/>
        </p:nvSpPr>
        <p:spPr>
          <a:xfrm>
            <a:off x="2159000" y="2914876"/>
            <a:ext cx="4826000" cy="965200"/>
          </a:xfrm>
          <a:prstGeom prst="roundRect">
            <a:avLst/>
          </a:prstGeom>
          <a:solidFill>
            <a:srgbClr val="FBF8F2"/>
          </a:solidFill>
          <a:ln w="19050">
            <a:solidFill>
              <a:srgbClr val="8E6F3E"/>
            </a:solidFill>
            <a:prstDash val="dash"/>
          </a:ln>
        </p:spPr>
        <p:txBody>
          <a:bodyPr wrap="square" lIns="109728" tIns="82296" rIns="109728" bIns="82296" anchor="t">
            <a:normAutofit/>
          </a:bodyPr>
          <a:lstStyle/>
          <a:p>
            <a:endParaRPr/>
          </a:p>
        </p:txBody>
      </p:sp>
      <p:sp>
        <p:nvSpPr>
          <p:cNvPr id="65" name="T65"/>
          <p:cNvSpPr txBox="1"/>
          <p:nvPr/>
        </p:nvSpPr>
        <p:spPr>
          <a:xfrm>
            <a:off x="2311400" y="2965676"/>
            <a:ext cx="452120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 lnSpcReduction="10000"/>
          </a:bodyPr>
          <a:lstStyle/>
          <a:p>
            <a:pPr algn="l">
              <a:buNone/>
            </a:pPr>
            <a:r>
              <a:rPr lang="en-US" sz="2200" b="1" i="0" dirty="0">
                <a:solidFill>
                  <a:srgbClr val="8E6F3E"/>
                </a:solidFill>
              </a:rPr>
              <a:t>ACCEPTABLE REALIZATIONS</a:t>
            </a:r>
          </a:p>
        </p:txBody>
      </p:sp>
      <p:sp>
        <p:nvSpPr>
          <p:cNvPr id="66" name="S66"/>
          <p:cNvSpPr/>
          <p:nvPr/>
        </p:nvSpPr>
        <p:spPr>
          <a:xfrm>
            <a:off x="2438400" y="3321276"/>
            <a:ext cx="1371600" cy="4826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109728" tIns="82296" rIns="109728" bIns="82296" anchor="ctr">
            <a:normAutofit lnSpcReduction="10000"/>
          </a:bodyPr>
          <a:lstStyle/>
          <a:p>
            <a:pPr algn="ctr">
              <a:buNone/>
            </a:pPr>
            <a:r>
              <a:rPr lang="en-US" sz="2200" b="1" i="0" dirty="0">
                <a:solidFill>
                  <a:srgbClr val="5C4826"/>
                </a:solidFill>
              </a:rPr>
              <a:t>A</a:t>
            </a:r>
          </a:p>
        </p:txBody>
      </p:sp>
      <p:sp>
        <p:nvSpPr>
          <p:cNvPr id="67" name="S67"/>
          <p:cNvSpPr/>
          <p:nvPr/>
        </p:nvSpPr>
        <p:spPr>
          <a:xfrm>
            <a:off x="3886200" y="3321276"/>
            <a:ext cx="1371600" cy="4826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109728" tIns="82296" rIns="109728" bIns="82296" anchor="ctr">
            <a:normAutofit lnSpcReduction="10000"/>
          </a:bodyPr>
          <a:lstStyle/>
          <a:p>
            <a:pPr algn="ctr">
              <a:buNone/>
            </a:pPr>
            <a:r>
              <a:rPr lang="en-US" sz="2200" b="1" i="0" dirty="0">
                <a:solidFill>
                  <a:srgbClr val="5C4826"/>
                </a:solidFill>
              </a:rPr>
              <a:t>B</a:t>
            </a:r>
          </a:p>
        </p:txBody>
      </p:sp>
      <p:sp>
        <p:nvSpPr>
          <p:cNvPr id="68" name="S68"/>
          <p:cNvSpPr/>
          <p:nvPr/>
        </p:nvSpPr>
        <p:spPr>
          <a:xfrm>
            <a:off x="5334000" y="3321276"/>
            <a:ext cx="1371600" cy="4826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109728" tIns="82296" rIns="109728" bIns="82296" anchor="ctr">
            <a:normAutofit lnSpcReduction="10000"/>
          </a:bodyPr>
          <a:lstStyle/>
          <a:p>
            <a:pPr algn="ctr">
              <a:buNone/>
            </a:pPr>
            <a:r>
              <a:rPr lang="en-US" sz="2200" b="1" i="0" dirty="0">
                <a:solidFill>
                  <a:srgbClr val="5C4826"/>
                </a:solidFill>
              </a:rPr>
              <a:t>C</a:t>
            </a:r>
          </a:p>
        </p:txBody>
      </p:sp>
      <p:cxnSp>
        <p:nvCxnSpPr>
          <p:cNvPr id="70" name="L70"/>
          <p:cNvCxnSpPr/>
          <p:nvPr/>
        </p:nvCxnSpPr>
        <p:spPr>
          <a:xfrm>
            <a:off x="4572000" y="3905012"/>
            <a:ext cx="0" cy="254000"/>
          </a:xfrm>
          <a:prstGeom prst="line">
            <a:avLst/>
          </a:prstGeom>
          <a:ln w="19050">
            <a:solidFill>
              <a:srgbClr val="8E6F3E"/>
            </a:solidFill>
            <a:tailEnd type="triangle" w="med" len="med"/>
          </a:ln>
        </p:spPr>
      </p:cxnSp>
      <p:sp>
        <p:nvSpPr>
          <p:cNvPr id="71" name="S71"/>
          <p:cNvSpPr/>
          <p:nvPr/>
        </p:nvSpPr>
        <p:spPr>
          <a:xfrm>
            <a:off x="3465576" y="4159012"/>
            <a:ext cx="2212848" cy="558800"/>
          </a:xfrm>
          <a:prstGeom prst="rect">
            <a:avLst/>
          </a:prstGeom>
          <a:solidFill>
            <a:srgbClr val="FFFFFF"/>
          </a:solidFill>
          <a:ln w="19050">
            <a:solidFill>
              <a:srgbClr val="8E6F3E"/>
            </a:solidFill>
          </a:ln>
        </p:spPr>
        <p:txBody>
          <a:bodyPr wrap="square" lIns="109728" tIns="82296" rIns="109728" bIns="82296" anchor="ctr">
            <a:normAutofit/>
          </a:bodyPr>
          <a:lstStyle/>
          <a:p>
            <a:pPr algn="ctr">
              <a:buNone/>
            </a:pPr>
            <a:r>
              <a:rPr lang="en-US" sz="2200" b="1" i="0" dirty="0">
                <a:solidFill>
                  <a:srgbClr val="5C4826"/>
                </a:solidFill>
              </a:rPr>
              <a:t>ARCHITECTURE</a:t>
            </a:r>
          </a:p>
        </p:txBody>
      </p:sp>
      <p:cxnSp>
        <p:nvCxnSpPr>
          <p:cNvPr id="72" name="L72"/>
          <p:cNvCxnSpPr/>
          <p:nvPr/>
        </p:nvCxnSpPr>
        <p:spPr>
          <a:xfrm>
            <a:off x="4572000" y="4717812"/>
            <a:ext cx="0" cy="203200"/>
          </a:xfrm>
          <a:prstGeom prst="line">
            <a:avLst/>
          </a:prstGeom>
          <a:ln w="19050">
            <a:solidFill>
              <a:srgbClr val="8E6F3E"/>
            </a:solidFill>
            <a:tailEnd type="triangle" w="med" len="med"/>
          </a:ln>
        </p:spPr>
      </p:cxnSp>
      <p:sp>
        <p:nvSpPr>
          <p:cNvPr id="73" name="S73"/>
          <p:cNvSpPr/>
          <p:nvPr/>
        </p:nvSpPr>
        <p:spPr>
          <a:xfrm>
            <a:off x="3465576" y="4921012"/>
            <a:ext cx="2212848" cy="558800"/>
          </a:xfrm>
          <a:prstGeom prst="rect">
            <a:avLst/>
          </a:prstGeom>
          <a:solidFill>
            <a:srgbClr val="FFFFFF"/>
          </a:solidFill>
          <a:ln w="19050">
            <a:solidFill>
              <a:srgbClr val="8E6F3E"/>
            </a:solidFill>
          </a:ln>
        </p:spPr>
        <p:txBody>
          <a:bodyPr wrap="square" lIns="109728" tIns="82296" rIns="109728" bIns="82296" anchor="ctr">
            <a:normAutofit/>
          </a:bodyPr>
          <a:lstStyle/>
          <a:p>
            <a:pPr algn="ctr">
              <a:buNone/>
            </a:pPr>
            <a:r>
              <a:rPr lang="en-US" sz="2200" b="1" i="0" dirty="0">
                <a:solidFill>
                  <a:srgbClr val="5C4826"/>
                </a:solidFill>
              </a:rPr>
              <a:t>DESIGN</a:t>
            </a:r>
          </a:p>
        </p:txBody>
      </p:sp>
      <p:cxnSp>
        <p:nvCxnSpPr>
          <p:cNvPr id="74" name="L74"/>
          <p:cNvCxnSpPr/>
          <p:nvPr/>
        </p:nvCxnSpPr>
        <p:spPr>
          <a:xfrm>
            <a:off x="4572000" y="5479812"/>
            <a:ext cx="0" cy="203200"/>
          </a:xfrm>
          <a:prstGeom prst="line">
            <a:avLst/>
          </a:prstGeom>
          <a:ln w="19050">
            <a:solidFill>
              <a:srgbClr val="8E6F3E"/>
            </a:solidFill>
            <a:tailEnd type="triangle" w="med" len="med"/>
          </a:ln>
        </p:spPr>
      </p:cxnSp>
      <p:sp>
        <p:nvSpPr>
          <p:cNvPr id="75" name="S75"/>
          <p:cNvSpPr/>
          <p:nvPr/>
        </p:nvSpPr>
        <p:spPr>
          <a:xfrm>
            <a:off x="3465576" y="5683012"/>
            <a:ext cx="2212848" cy="558800"/>
          </a:xfrm>
          <a:prstGeom prst="rect">
            <a:avLst/>
          </a:prstGeom>
          <a:solidFill>
            <a:srgbClr val="FFFFFF"/>
          </a:solidFill>
          <a:ln w="19050">
            <a:solidFill>
              <a:srgbClr val="8E6F3E"/>
            </a:solidFill>
          </a:ln>
        </p:spPr>
        <p:txBody>
          <a:bodyPr wrap="square" lIns="109728" tIns="82296" rIns="109728" bIns="82296" anchor="ctr">
            <a:normAutofit fontScale="92500"/>
          </a:bodyPr>
          <a:lstStyle/>
          <a:p>
            <a:pPr algn="ctr">
              <a:buNone/>
            </a:pPr>
            <a:r>
              <a:rPr lang="en-US" sz="2200" b="1" i="0" dirty="0">
                <a:solidFill>
                  <a:srgbClr val="5C4826"/>
                </a:solidFill>
              </a:rPr>
              <a:t>IMPLEMENTATION</a:t>
            </a:r>
          </a:p>
        </p:txBody>
      </p:sp>
      <p:sp>
        <p:nvSpPr>
          <p:cNvPr id="2" name="Right Brace 1">
            <a:extLst>
              <a:ext uri="{FF2B5EF4-FFF2-40B4-BE49-F238E27FC236}">
                <a16:creationId xmlns:a16="http://schemas.microsoft.com/office/drawing/2014/main" id="{6FC471C8-BA11-64E0-E312-9EF0CB33BB27}"/>
              </a:ext>
            </a:extLst>
          </p:cNvPr>
          <p:cNvSpPr/>
          <p:nvPr/>
        </p:nvSpPr>
        <p:spPr>
          <a:xfrm>
            <a:off x="5969000" y="4159012"/>
            <a:ext cx="488950" cy="2082800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6ED68F9-9FC5-8DCB-B698-72DAEEC94731}"/>
              </a:ext>
            </a:extLst>
          </p:cNvPr>
          <p:cNvSpPr txBox="1"/>
          <p:nvPr/>
        </p:nvSpPr>
        <p:spPr>
          <a:xfrm>
            <a:off x="6525899" y="3700000"/>
            <a:ext cx="2438101" cy="254181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algn="l">
              <a:buNone/>
            </a:pPr>
            <a:r>
              <a:rPr lang="en-US" sz="1400" b="1" dirty="0">
                <a:solidFill>
                  <a:srgbClr val="8E6F3E"/>
                </a:solidFill>
              </a:rPr>
              <a:t>Specification</a:t>
            </a:r>
            <a:r>
              <a:rPr lang="en-US" sz="1400" dirty="0">
                <a:solidFill>
                  <a:srgbClr val="000000"/>
                </a:solidFill>
              </a:rPr>
              <a:t xml:space="preserve">  constrain what an acceptable system may do.</a:t>
            </a:r>
          </a:p>
          <a:p>
            <a:pPr algn="l">
              <a:spcBef>
                <a:spcPts val="300"/>
              </a:spcBef>
              <a:buNone/>
            </a:pPr>
            <a:r>
              <a:rPr lang="en-US" sz="1400" b="1" dirty="0">
                <a:solidFill>
                  <a:srgbClr val="8E6F3E"/>
                </a:solidFill>
              </a:rPr>
              <a:t>Architecture</a:t>
            </a:r>
            <a:r>
              <a:rPr lang="en-US" sz="1400" dirty="0">
                <a:solidFill>
                  <a:srgbClr val="000000"/>
                </a:solidFill>
              </a:rPr>
              <a:t xml:space="preserve">  choose how the acceptable system is organized and how its parts may interact.</a:t>
            </a:r>
          </a:p>
          <a:p>
            <a:pPr algn="l">
              <a:spcBef>
                <a:spcPts val="300"/>
              </a:spcBef>
              <a:buNone/>
            </a:pPr>
            <a:r>
              <a:rPr lang="en-US" sz="1400" b="1" dirty="0">
                <a:solidFill>
                  <a:srgbClr val="8E6F3E"/>
                </a:solidFill>
              </a:rPr>
              <a:t>Design</a:t>
            </a:r>
            <a:r>
              <a:rPr lang="en-US" sz="1400" dirty="0">
                <a:solidFill>
                  <a:srgbClr val="000000"/>
                </a:solidFill>
              </a:rPr>
              <a:t xml:space="preserve">  choose how each part realizes its responsibility.</a:t>
            </a:r>
          </a:p>
        </p:txBody>
      </p:sp>
      <p:sp>
        <p:nvSpPr>
          <p:cNvPr id="90" name="T90"/>
          <p:cNvSpPr txBox="1"/>
          <p:nvPr/>
        </p:nvSpPr>
        <p:spPr>
          <a:xfrm>
            <a:off x="279400" y="6400800"/>
            <a:ext cx="85852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</a:pPr>
            <a:r>
              <a:rPr lang="en-US" sz="1800" b="0" i="1" dirty="0">
                <a:solidFill>
                  <a:srgbClr val="5C4826"/>
                </a:solidFill>
              </a:rPr>
              <a:t>Next time: given one of these parts, how should we engineer it well?</a:t>
            </a:r>
          </a:p>
        </p:txBody>
      </p:sp>
      <p:sp>
        <p:nvSpPr>
          <p:cNvPr id="91" name="T91"/>
          <p:cNvSpPr txBox="1"/>
          <p:nvPr/>
        </p:nvSpPr>
        <p:spPr>
          <a:xfrm>
            <a:off x="6525899" y="1200000"/>
            <a:ext cx="2438101" cy="9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</a:pPr>
            <a:r>
              <a:rPr lang="en-US" sz="1100" b="0" i="1" dirty="0">
                <a:solidFill>
                  <a:srgbClr val="555960"/>
                </a:solidFill>
              </a:rPr>
              <a:t>[FIGURE — PASS 2: zoom-inward animation of the realization-space motif, top→bottom; end with DESIGN highlighted]</a:t>
            </a:r>
          </a:p>
        </p:txBody>
      </p:sp>
    </p:spTree>
    <p:extLst>
      <p:ext uri="{BB962C8B-B14F-4D97-AF65-F5344CB8AC3E}">
        <p14:creationId xmlns:p14="http://schemas.microsoft.com/office/powerpoint/2010/main" val="25549761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5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B3E2FCF-E673-9928-E320-9D7777FE98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75000"/>
          </a:bodyPr>
          <a:lstStyle/>
          <a:p>
            <a:pPr algn="l"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A specification tells us what must be true—but deliberately leaves organization open.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525202C-4A61-F639-A638-0A90AFE8839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2</a:t>
            </a:fld>
            <a:endParaRPr lang="en-US"/>
          </a:p>
        </p:txBody>
      </p:sp>
      <p:sp>
        <p:nvSpPr>
          <p:cNvPr id="60" name="S60"/>
          <p:cNvSpPr/>
          <p:nvPr/>
        </p:nvSpPr>
        <p:spPr>
          <a:xfrm>
            <a:off x="3429000" y="914400"/>
            <a:ext cx="2286000" cy="5588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109728" tIns="82296" rIns="109728" bIns="82296" anchor="ctr">
            <a:normAutofit/>
          </a:bodyPr>
          <a:lstStyle/>
          <a:p>
            <a:pPr algn="ctr">
              <a:buNone/>
            </a:pPr>
            <a:r>
              <a:rPr lang="en-US" sz="2400" b="1" i="0" dirty="0">
                <a:solidFill>
                  <a:srgbClr val="5C4826"/>
                </a:solidFill>
              </a:rPr>
              <a:t>REQUIREMENTS</a:t>
            </a:r>
          </a:p>
        </p:txBody>
      </p:sp>
      <p:cxnSp>
        <p:nvCxnSpPr>
          <p:cNvPr id="61" name="L61"/>
          <p:cNvCxnSpPr/>
          <p:nvPr/>
        </p:nvCxnSpPr>
        <p:spPr>
          <a:xfrm>
            <a:off x="4572000" y="1473200"/>
            <a:ext cx="0" cy="203200"/>
          </a:xfrm>
          <a:prstGeom prst="line">
            <a:avLst/>
          </a:prstGeom>
          <a:ln w="19050">
            <a:solidFill>
              <a:srgbClr val="8E6F3E"/>
            </a:solidFill>
            <a:tailEnd type="triangle" w="med" len="med"/>
          </a:ln>
        </p:spPr>
      </p:cxnSp>
      <p:sp>
        <p:nvSpPr>
          <p:cNvPr id="62" name="S62"/>
          <p:cNvSpPr/>
          <p:nvPr/>
        </p:nvSpPr>
        <p:spPr>
          <a:xfrm>
            <a:off x="2540000" y="1676400"/>
            <a:ext cx="4064000" cy="11176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109728" tIns="82296" rIns="109728" bIns="82296" anchor="ctr">
            <a:normAutofit fontScale="92500" lnSpcReduction="10000"/>
          </a:bodyPr>
          <a:lstStyle/>
          <a:p>
            <a:pPr algn="ctr">
              <a:buNone/>
            </a:pPr>
            <a:r>
              <a:rPr lang="en-US" sz="2800" b="1" i="0" dirty="0">
                <a:solidFill>
                  <a:srgbClr val="FFFFFF"/>
                </a:solidFill>
              </a:rPr>
              <a:t>SPECIFICATION</a:t>
            </a:r>
          </a:p>
          <a:p>
            <a:pPr algn="ctr">
              <a:spcBef>
                <a:spcPts val="150"/>
              </a:spcBef>
              <a:buNone/>
            </a:pPr>
            <a:r>
              <a:rPr lang="en-US" sz="2200" b="0" i="0" dirty="0">
                <a:solidFill>
                  <a:srgbClr val="FFFFFF"/>
                </a:solidFill>
              </a:rPr>
              <a:t>consequential obligations</a:t>
            </a:r>
            <a:br>
              <a:rPr lang="en-US" sz="2200" b="0" i="0" dirty="0">
                <a:solidFill>
                  <a:srgbClr val="FFFFFF"/>
                </a:solidFill>
              </a:rPr>
            </a:br>
            <a:r>
              <a:rPr lang="en-US" sz="2200" b="0" i="0" dirty="0">
                <a:solidFill>
                  <a:srgbClr val="FFFFFF"/>
                </a:solidFill>
              </a:rPr>
              <a:t>made explicit</a:t>
            </a:r>
          </a:p>
        </p:txBody>
      </p:sp>
      <p:cxnSp>
        <p:nvCxnSpPr>
          <p:cNvPr id="63" name="L63"/>
          <p:cNvCxnSpPr/>
          <p:nvPr/>
        </p:nvCxnSpPr>
        <p:spPr>
          <a:xfrm rot="5400000">
            <a:off x="3187700" y="1892300"/>
            <a:ext cx="482600" cy="2286000"/>
          </a:xfrm>
          <a:prstGeom prst="bentConnector3">
            <a:avLst>
              <a:gd name="adj1" fmla="val 50000"/>
            </a:avLst>
          </a:prstGeom>
          <a:ln w="19050">
            <a:solidFill>
              <a:srgbClr val="8E6F3E"/>
            </a:solidFill>
            <a:tailEnd type="triangle" w="med" len="med"/>
          </a:ln>
        </p:spPr>
      </p:cxnSp>
      <p:cxnSp>
        <p:nvCxnSpPr>
          <p:cNvPr id="64" name="L64"/>
          <p:cNvCxnSpPr/>
          <p:nvPr/>
        </p:nvCxnSpPr>
        <p:spPr>
          <a:xfrm rot="16200000" flipH="1">
            <a:off x="5473700" y="1892300"/>
            <a:ext cx="482600" cy="2286000"/>
          </a:xfrm>
          <a:prstGeom prst="bentConnector3">
            <a:avLst>
              <a:gd name="adj1" fmla="val 50000"/>
            </a:avLst>
          </a:prstGeom>
          <a:ln w="19050">
            <a:solidFill>
              <a:srgbClr val="8E6F3E"/>
            </a:solidFill>
            <a:tailEnd type="triangle" w="med" len="med"/>
          </a:ln>
        </p:spPr>
      </p:cxnSp>
      <p:sp>
        <p:nvSpPr>
          <p:cNvPr id="65" name="S65"/>
          <p:cNvSpPr/>
          <p:nvPr/>
        </p:nvSpPr>
        <p:spPr>
          <a:xfrm>
            <a:off x="698500" y="3276600"/>
            <a:ext cx="3175000" cy="914400"/>
          </a:xfrm>
          <a:prstGeom prst="rect">
            <a:avLst/>
          </a:prstGeom>
          <a:solidFill>
            <a:srgbClr val="FFFFFF"/>
          </a:solidFill>
          <a:ln w="19050">
            <a:solidFill>
              <a:srgbClr val="8E6F3E"/>
            </a:solidFill>
          </a:ln>
        </p:spPr>
        <p:txBody>
          <a:bodyPr wrap="square" lIns="109728" tIns="82296" rIns="109728" bIns="82296" anchor="ctr">
            <a:normAutofit/>
          </a:bodyPr>
          <a:lstStyle/>
          <a:p>
            <a:pPr algn="ctr">
              <a:buNone/>
            </a:pPr>
            <a:r>
              <a:rPr lang="en-US" sz="2400" b="1" i="0" dirty="0">
                <a:solidFill>
                  <a:srgbClr val="5C4826"/>
                </a:solidFill>
              </a:rPr>
              <a:t>OBLIGATIONS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2100" b="0" i="0" dirty="0">
                <a:solidFill>
                  <a:srgbClr val="000000"/>
                </a:solidFill>
              </a:rPr>
              <a:t>what we constrain</a:t>
            </a:r>
          </a:p>
        </p:txBody>
      </p:sp>
      <p:sp>
        <p:nvSpPr>
          <p:cNvPr id="66" name="S66"/>
          <p:cNvSpPr/>
          <p:nvPr/>
        </p:nvSpPr>
        <p:spPr>
          <a:xfrm>
            <a:off x="5270500" y="3276600"/>
            <a:ext cx="3175000" cy="914400"/>
          </a:xfrm>
          <a:prstGeom prst="rect">
            <a:avLst/>
          </a:prstGeom>
          <a:solidFill>
            <a:srgbClr val="FFFFFF"/>
          </a:solidFill>
          <a:ln w="19050">
            <a:solidFill>
              <a:srgbClr val="8E6F3E"/>
            </a:solidFill>
          </a:ln>
        </p:spPr>
        <p:txBody>
          <a:bodyPr wrap="square" lIns="109728" tIns="82296" rIns="109728" bIns="82296" anchor="ctr">
            <a:normAutofit/>
          </a:bodyPr>
          <a:lstStyle/>
          <a:p>
            <a:pPr algn="ctr">
              <a:buNone/>
            </a:pPr>
            <a:r>
              <a:rPr lang="en-US" sz="2400" b="1" i="0" dirty="0">
                <a:solidFill>
                  <a:srgbClr val="5C4826"/>
                </a:solidFill>
              </a:rPr>
              <a:t>DEGREES OF FREEDOM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2100" b="0" i="0" dirty="0">
                <a:solidFill>
                  <a:srgbClr val="000000"/>
                </a:solidFill>
              </a:rPr>
              <a:t>what we leave open</a:t>
            </a:r>
          </a:p>
        </p:txBody>
      </p:sp>
      <p:cxnSp>
        <p:nvCxnSpPr>
          <p:cNvPr id="67" name="L67"/>
          <p:cNvCxnSpPr/>
          <p:nvPr/>
        </p:nvCxnSpPr>
        <p:spPr>
          <a:xfrm rot="16200000" flipH="1">
            <a:off x="2679700" y="3797300"/>
            <a:ext cx="355600" cy="1143000"/>
          </a:xfrm>
          <a:prstGeom prst="bentConnector3">
            <a:avLst>
              <a:gd name="adj1" fmla="val 50000"/>
            </a:avLst>
          </a:prstGeom>
          <a:ln w="19050">
            <a:solidFill>
              <a:srgbClr val="8E6F3E"/>
            </a:solidFill>
            <a:tailEnd type="triangle" w="med" len="med"/>
          </a:ln>
        </p:spPr>
      </p:cxnSp>
      <p:cxnSp>
        <p:nvCxnSpPr>
          <p:cNvPr id="68" name="L68"/>
          <p:cNvCxnSpPr/>
          <p:nvPr/>
        </p:nvCxnSpPr>
        <p:spPr>
          <a:xfrm rot="5400000">
            <a:off x="6108700" y="3797300"/>
            <a:ext cx="355600" cy="1143000"/>
          </a:xfrm>
          <a:prstGeom prst="bentConnector3">
            <a:avLst>
              <a:gd name="adj1" fmla="val 50000"/>
            </a:avLst>
          </a:prstGeom>
          <a:ln w="19050">
            <a:solidFill>
              <a:srgbClr val="8E6F3E"/>
            </a:solidFill>
            <a:tailEnd type="triangle" w="med" len="med"/>
          </a:ln>
        </p:spPr>
      </p:cxnSp>
      <p:sp>
        <p:nvSpPr>
          <p:cNvPr id="69" name="S69"/>
          <p:cNvSpPr/>
          <p:nvPr/>
        </p:nvSpPr>
        <p:spPr>
          <a:xfrm>
            <a:off x="2159000" y="4546600"/>
            <a:ext cx="4826000" cy="1016000"/>
          </a:xfrm>
          <a:prstGeom prst="roundRect">
            <a:avLst/>
          </a:prstGeom>
          <a:solidFill>
            <a:srgbClr val="FBF8F2"/>
          </a:solidFill>
          <a:ln w="19050">
            <a:solidFill>
              <a:srgbClr val="8E6F3E"/>
            </a:solidFill>
            <a:prstDash val="dash"/>
          </a:ln>
        </p:spPr>
        <p:txBody>
          <a:bodyPr wrap="square" lIns="109728" tIns="82296" rIns="109728" bIns="82296" anchor="t">
            <a:normAutofit/>
          </a:bodyPr>
          <a:lstStyle/>
          <a:p>
            <a:endParaRPr/>
          </a:p>
        </p:txBody>
      </p:sp>
      <p:sp>
        <p:nvSpPr>
          <p:cNvPr id="70" name="T70"/>
          <p:cNvSpPr txBox="1"/>
          <p:nvPr/>
        </p:nvSpPr>
        <p:spPr>
          <a:xfrm>
            <a:off x="2311400" y="4597400"/>
            <a:ext cx="452120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</a:pPr>
            <a:r>
              <a:rPr lang="en-US" sz="2100" b="1" i="0" dirty="0">
                <a:solidFill>
                  <a:srgbClr val="8E6F3E"/>
                </a:solidFill>
              </a:rPr>
              <a:t>ACCEPTABLE REALIZATIONS</a:t>
            </a:r>
          </a:p>
        </p:txBody>
      </p:sp>
      <p:sp>
        <p:nvSpPr>
          <p:cNvPr id="71" name="S71"/>
          <p:cNvSpPr/>
          <p:nvPr/>
        </p:nvSpPr>
        <p:spPr>
          <a:xfrm>
            <a:off x="2476500" y="4953000"/>
            <a:ext cx="1270000" cy="5588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109728" tIns="82296" rIns="109728" bIns="82296" anchor="ctr">
            <a:normAutofit lnSpcReduction="10000"/>
          </a:bodyPr>
          <a:lstStyle/>
          <a:p>
            <a:pPr algn="ctr">
              <a:buNone/>
            </a:pPr>
            <a:r>
              <a:rPr lang="en-US" sz="2600" b="1" i="0" dirty="0">
                <a:solidFill>
                  <a:srgbClr val="5C4826"/>
                </a:solidFill>
              </a:rPr>
              <a:t>A   ✓</a:t>
            </a:r>
          </a:p>
        </p:txBody>
      </p:sp>
      <p:sp>
        <p:nvSpPr>
          <p:cNvPr id="72" name="S72"/>
          <p:cNvSpPr/>
          <p:nvPr/>
        </p:nvSpPr>
        <p:spPr>
          <a:xfrm>
            <a:off x="3937000" y="4953000"/>
            <a:ext cx="1270000" cy="5588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109728" tIns="82296" rIns="109728" bIns="82296" anchor="ctr">
            <a:normAutofit lnSpcReduction="10000"/>
          </a:bodyPr>
          <a:lstStyle/>
          <a:p>
            <a:pPr algn="ctr">
              <a:buNone/>
            </a:pPr>
            <a:r>
              <a:rPr lang="en-US" sz="2600" b="1" i="0" dirty="0">
                <a:solidFill>
                  <a:srgbClr val="5C4826"/>
                </a:solidFill>
              </a:rPr>
              <a:t>B   ✓</a:t>
            </a:r>
          </a:p>
        </p:txBody>
      </p:sp>
      <p:sp>
        <p:nvSpPr>
          <p:cNvPr id="73" name="S73"/>
          <p:cNvSpPr/>
          <p:nvPr/>
        </p:nvSpPr>
        <p:spPr>
          <a:xfrm>
            <a:off x="5397500" y="4953000"/>
            <a:ext cx="1270000" cy="5588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109728" tIns="82296" rIns="109728" bIns="82296" anchor="ctr">
            <a:normAutofit lnSpcReduction="10000"/>
          </a:bodyPr>
          <a:lstStyle/>
          <a:p>
            <a:pPr algn="ctr">
              <a:buNone/>
            </a:pPr>
            <a:r>
              <a:rPr lang="en-US" sz="2600" b="1" i="0" dirty="0">
                <a:solidFill>
                  <a:srgbClr val="5C4826"/>
                </a:solidFill>
              </a:rPr>
              <a:t>C   ✓</a:t>
            </a:r>
          </a:p>
        </p:txBody>
      </p:sp>
      <p:sp>
        <p:nvSpPr>
          <p:cNvPr id="80" name="S80"/>
          <p:cNvSpPr/>
          <p:nvPr/>
        </p:nvSpPr>
        <p:spPr>
          <a:xfrm>
            <a:off x="7569200" y="4953000"/>
            <a:ext cx="1143000" cy="558800"/>
          </a:xfrm>
          <a:prstGeom prst="rect">
            <a:avLst/>
          </a:prstGeom>
          <a:solidFill>
            <a:srgbClr val="FFFFFF"/>
          </a:solidFill>
          <a:ln w="19050">
            <a:solidFill>
              <a:srgbClr val="555960"/>
            </a:solidFill>
            <a:prstDash val="dash"/>
          </a:ln>
        </p:spPr>
        <p:txBody>
          <a:bodyPr wrap="square" lIns="109728" tIns="82296" rIns="109728" bIns="82296" anchor="ctr">
            <a:normAutofit lnSpcReduction="10000"/>
          </a:bodyPr>
          <a:lstStyle/>
          <a:p>
            <a:pPr algn="ctr">
              <a:buNone/>
            </a:pPr>
            <a:r>
              <a:rPr lang="en-US" sz="2600" b="1" i="0" dirty="0">
                <a:solidFill>
                  <a:srgbClr val="555960"/>
                </a:solidFill>
              </a:rPr>
              <a:t>D   ✗</a:t>
            </a:r>
          </a:p>
        </p:txBody>
      </p:sp>
      <p:sp>
        <p:nvSpPr>
          <p:cNvPr id="81" name="T81"/>
          <p:cNvSpPr txBox="1"/>
          <p:nvPr/>
        </p:nvSpPr>
        <p:spPr>
          <a:xfrm>
            <a:off x="7188200" y="5511800"/>
            <a:ext cx="17780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</a:pPr>
            <a:r>
              <a:rPr lang="en-US" sz="2000" b="0" i="0" dirty="0">
                <a:solidFill>
                  <a:srgbClr val="555960"/>
                </a:solidFill>
              </a:rPr>
              <a:t>not acceptable</a:t>
            </a:r>
          </a:p>
        </p:txBody>
      </p:sp>
      <p:sp>
        <p:nvSpPr>
          <p:cNvPr id="90" name="T90"/>
          <p:cNvSpPr txBox="1"/>
          <p:nvPr/>
        </p:nvSpPr>
        <p:spPr>
          <a:xfrm>
            <a:off x="279400" y="5892800"/>
            <a:ext cx="85598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</a:pPr>
            <a:r>
              <a:rPr lang="en-US" sz="2400" b="1" i="0" dirty="0">
                <a:solidFill>
                  <a:srgbClr val="5C4826"/>
                </a:solidFill>
              </a:rPr>
              <a:t>We pick one. But how should this realization be organized?</a:t>
            </a:r>
          </a:p>
        </p:txBody>
      </p:sp>
      <p:sp>
        <p:nvSpPr>
          <p:cNvPr id="100" name="SelectionRing"/>
          <p:cNvSpPr/>
          <p:nvPr/>
        </p:nvSpPr>
        <p:spPr>
          <a:xfrm>
            <a:off x="3835400" y="4851400"/>
            <a:ext cx="1473200" cy="762000"/>
          </a:xfrm>
          <a:prstGeom prst="roundRect">
            <a:avLst/>
          </a:prstGeom>
          <a:noFill/>
          <a:ln w="38100">
            <a:solidFill>
              <a:srgbClr val="5C4826"/>
            </a:solidFill>
          </a:ln>
        </p:spPr>
        <p:txBody>
          <a:bodyPr wrap="square" lIns="0" tIns="0" rIns="0" bIns="0" anchor="ctr">
            <a:normAutofit/>
          </a:bodyPr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3745772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00"/>
                                        <p:tgtEl>
                                          <p:spTgt spid="1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00"/>
                                        <p:tgtEl>
                                          <p:spTgt spid="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Purdue1">
  <a:themeElements>
    <a:clrScheme name="PurdueColors">
      <a:dk1>
        <a:srgbClr val="000000"/>
      </a:dk1>
      <a:lt1>
        <a:srgbClr val="000000"/>
      </a:lt1>
      <a:dk2>
        <a:srgbClr val="C4BFC0"/>
      </a:dk2>
      <a:lt2>
        <a:srgbClr val="C9B991"/>
      </a:lt2>
      <a:accent1>
        <a:srgbClr val="8E6F3E"/>
      </a:accent1>
      <a:accent2>
        <a:srgbClr val="555960"/>
      </a:accent2>
      <a:accent3>
        <a:srgbClr val="C9B991"/>
      </a:accent3>
      <a:accent4>
        <a:srgbClr val="FFFFFF"/>
      </a:accent4>
      <a:accent5>
        <a:srgbClr val="000000"/>
      </a:accent5>
      <a:accent6>
        <a:srgbClr val="555960"/>
      </a:accent6>
      <a:hlink>
        <a:srgbClr val="000000"/>
      </a:hlink>
      <a:folHlink>
        <a:srgbClr val="555960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Parcel">
      <a:fillStyleLst>
        <a:solidFill>
          <a:schemeClr val="phClr"/>
        </a:solidFill>
        <a:gradFill rotWithShape="1">
          <a:gsLst>
            <a:gs pos="0">
              <a:schemeClr val="phClr">
                <a:tint val="80000"/>
                <a:satMod val="107000"/>
                <a:lumMod val="103000"/>
              </a:schemeClr>
            </a:gs>
            <a:gs pos="100000">
              <a:schemeClr val="phClr">
                <a:tint val="82000"/>
                <a:satMod val="109000"/>
                <a:lumMod val="103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7000"/>
                <a:satMod val="100000"/>
                <a:lumMod val="102000"/>
              </a:schemeClr>
            </a:gs>
            <a:gs pos="50000">
              <a:schemeClr val="phClr">
                <a:shade val="100000"/>
                <a:satMod val="103000"/>
                <a:lumMod val="100000"/>
              </a:schemeClr>
            </a:gs>
            <a:gs pos="100000">
              <a:schemeClr val="phClr">
                <a:shade val="93000"/>
                <a:satMod val="11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317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5880" dist="1524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prstMaterial="dkEdge">
            <a:bevelT w="0" h="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7000"/>
                <a:shade val="100000"/>
                <a:satMod val="185000"/>
                <a:lumMod val="120000"/>
              </a:schemeClr>
            </a:gs>
            <a:gs pos="100000">
              <a:schemeClr val="phClr">
                <a:tint val="96000"/>
                <a:shade val="95000"/>
                <a:satMod val="215000"/>
                <a:lumMod val="80000"/>
              </a:schemeClr>
            </a:gs>
          </a:gsLst>
          <a:path path="circle">
            <a:fillToRect l="50000" t="55000" r="125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U-CoBrand_Template_Gold_Theme_Std_Screen_2.pptx" id="{33130098-72E9-B14B-8D33-14895F32E203}" vid="{24A02D5D-460C-B047-B557-67731F776B7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"1.0" encoding="UTF-8"?><Relationships xmlns="http://schemas.openxmlformats.org/package/2006/relationships"><Relationship Id="rId2" Type="http://schemas.microsoft.com/office/2011/relationships/webextension" Target="webextension2.xml"/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  <wetp:taskpane dockstate="right" visibility="0" width="350" row="0">
    <wetp:webextensionref xmlns:r="http://schemas.openxmlformats.org/officeDocument/2006/relationships" r:id="rId2"/>
  </wetp:taskpane>
</wetp:taskpanes>
</file>

<file path=ppt/webextensions/webextension1.xml><?xml version="1.0" encoding="utf-8"?>
<we:webextension xmlns:we="http://schemas.microsoft.com/office/webextensions/webextension/2010/11" id="{02577843-0252-164E-9900-50E04AC84376}">
  <we:reference id="wa104381063" version="1.0.0.1" store="en-001" storeType="OMEX"/>
  <we:alternateReferences>
    <we:reference id="wa104381063" version="1.0.0.1" store="wa104381063" storeType="OMEX"/>
  </we:alternateReferences>
  <we:properties/>
  <we:bindings/>
  <we:snapshot xmlns:r="http://schemas.openxmlformats.org/officeDocument/2006/relationships"/>
</we:webextension>
</file>

<file path=ppt/webextensions/webextension2.xml><?xml version="1.0" encoding="utf-8"?>
<we:webextension xmlns:we="http://schemas.microsoft.com/office/webextensions/webextension/2010/11" id="{B2F6451B-05D5-964F-AC61-763C973265E8}">
  <we:reference id="WA200010001" version="1.0.0.1" store="Omex" storeType="OMEX"/>
  <we:alternateReferences>
    <we:reference id="WA200010001" version="1.0.0.1" store="WA200010001" storeType="OMEX"/>
  </we:alternateReferences>
  <we:properties>
    <we:property name="claude.fileId" value="&quot;1299b91e-8e0b-4b63-ab37-4fd482b31792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>PU-CoBrand_Template_Gold_Theme_Std_Screen_2</Template>
  <TotalTime>8515</TotalTime>
  <Words>8606</Words>
  <Application>Microsoft Macintosh PowerPoint</Application>
  <PresentationFormat>On-screen Show (4:3)</PresentationFormat>
  <Paragraphs>726</Paragraphs>
  <Slides>31</Slides>
  <Notes>31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8" baseType="lpstr">
      <vt:lpstr>Times</vt:lpstr>
      <vt:lpstr>Arial</vt:lpstr>
      <vt:lpstr>Calibri</vt:lpstr>
      <vt:lpstr>Consolas</vt:lpstr>
      <vt:lpstr>Times New Roman</vt:lpstr>
      <vt:lpstr>Wingdings</vt:lpstr>
      <vt:lpstr>Purdue1</vt:lpstr>
      <vt:lpstr>ECE 30861/46100: Software Engineering</vt:lpstr>
      <vt:lpstr>From requirements to acceptable realizations</vt:lpstr>
      <vt:lpstr>Specification</vt:lpstr>
      <vt:lpstr>Running example: Sleep Advisor</vt:lpstr>
      <vt:lpstr>We have requirements. Now what?</vt:lpstr>
      <vt:lpstr>Requirements ≠ Specification ≠ Machine instr.</vt:lpstr>
      <vt:lpstr>A specification connects the machine to the requirement</vt:lpstr>
      <vt:lpstr>How would you constrain the machine (implementation)?</vt:lpstr>
      <vt:lpstr>A real software specification</vt:lpstr>
      <vt:lpstr>A real software specification: the A-7E aircraft</vt:lpstr>
      <vt:lpstr>Specifies behavior, not the implementation</vt:lpstr>
      <vt:lpstr>Timing requirements: Responsiveness of functions</vt:lpstr>
      <vt:lpstr>The system must work in useful subsets</vt:lpstr>
      <vt:lpstr>The specification acknowledges what may change</vt:lpstr>
      <vt:lpstr>One system, many views</vt:lpstr>
      <vt:lpstr>A model is a purposeful view</vt:lpstr>
      <vt:lpstr>Representations make different properties expressible</vt:lpstr>
      <vt:lpstr>State models expose allowable behavior</vt:lpstr>
      <vt:lpstr>Sequence and activity models expose ordering</vt:lpstr>
      <vt:lpstr>Schemas expose permitted structure</vt:lpstr>
      <vt:lpstr>Three views of one system</vt:lpstr>
      <vt:lpstr>Specification and degrees of freedom</vt:lpstr>
      <vt:lpstr>Specification bounds a realization space</vt:lpstr>
      <vt:lpstr>Not constrained is not the same as free</vt:lpstr>
      <vt:lpstr>Classify each: Unknown, tacit, or free?</vt:lpstr>
      <vt:lpstr>Tacit requirements and agents (or the intern)</vt:lpstr>
      <vt:lpstr>Learning specifications</vt:lpstr>
      <vt:lpstr>Remember, software is unusually changeable</vt:lpstr>
      <vt:lpstr>Specification through iteration</vt:lpstr>
      <vt:lpstr>Specify what matters</vt:lpstr>
      <vt:lpstr>Requirements, specification, architecture, design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Bowers, Anna K</dc:creator>
  <cp:keywords/>
  <dc:description/>
  <cp:lastModifiedBy>Steve France</cp:lastModifiedBy>
  <cp:revision>333</cp:revision>
  <dcterms:created xsi:type="dcterms:W3CDTF">2020-02-21T23:00:33Z</dcterms:created>
  <dcterms:modified xsi:type="dcterms:W3CDTF">2026-09-10T14:18:17Z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4044bd30-2ed7-4c9d-9d12-46200872a97b_Enabled">
    <vt:lpwstr>true</vt:lpwstr>
  </property>
  <property fmtid="{D5CDD505-2E9C-101B-9397-08002B2CF9AE}" pid="3" name="MSIP_Label_4044bd30-2ed7-4c9d-9d12-46200872a97b_SetDate">
    <vt:lpwstr>2024-09-05T02:27:24Z</vt:lpwstr>
  </property>
  <property fmtid="{D5CDD505-2E9C-101B-9397-08002B2CF9AE}" pid="4" name="MSIP_Label_4044bd30-2ed7-4c9d-9d12-46200872a97b_Method">
    <vt:lpwstr>Standard</vt:lpwstr>
  </property>
  <property fmtid="{D5CDD505-2E9C-101B-9397-08002B2CF9AE}" pid="5" name="MSIP_Label_4044bd30-2ed7-4c9d-9d12-46200872a97b_Name">
    <vt:lpwstr>defa4170-0d19-0005-0004-bc88714345d2</vt:lpwstr>
  </property>
  <property fmtid="{D5CDD505-2E9C-101B-9397-08002B2CF9AE}" pid="6" name="MSIP_Label_4044bd30-2ed7-4c9d-9d12-46200872a97b_SiteId">
    <vt:lpwstr>4130bd39-7c53-419c-b1e5-8758d6d63f21</vt:lpwstr>
  </property>
  <property fmtid="{D5CDD505-2E9C-101B-9397-08002B2CF9AE}" pid="7" name="MSIP_Label_4044bd30-2ed7-4c9d-9d12-46200872a97b_ActionId">
    <vt:lpwstr>e1ff3097-c009-4f67-8781-6e468e7749d4</vt:lpwstr>
  </property>
  <property fmtid="{D5CDD505-2E9C-101B-9397-08002B2CF9AE}" pid="8" name="MSIP_Label_4044bd30-2ed7-4c9d-9d12-46200872a97b_ContentBits">
    <vt:lpwstr>0</vt:lpwstr>
  </property>
</Properties>
</file>