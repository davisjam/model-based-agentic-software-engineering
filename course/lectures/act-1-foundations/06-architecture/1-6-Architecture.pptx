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2.xml" ContentType="application/vnd.openxmlformats-officedocument.presentationml.slide+xml"/>
  <Override PartName="/ppt/notesSlides/notesSlide32.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2.xml" ContentType="application/vnd.openxmlformats-officedocument.presentationml.notesSlide+xml"/>
  <Override PartName="/ppt/notesSlides/notesSlide17.xml" ContentType="application/vnd.openxmlformats-officedocument.presentationml.notesSlide+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15.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517" r:id="rId2"/>
    <p:sldId id="738" r:id="rId3"/>
    <p:sldId id="760" r:id="rId38"/>
    <p:sldId id="751" r:id="rId17"/>
    <p:sldId id="744" r:id="rId6"/>
    <p:sldId id="651" r:id="rId4"/>
    <p:sldId id="746" r:id="rId9"/>
    <p:sldId id="747" r:id="rId12"/>
    <p:sldId id="748" r:id="rId13"/>
    <p:sldId id="749" r:id="rId14"/>
    <p:sldId id="750" r:id="rId15"/>
    <p:sldId id="701" r:id="rId23"/>
    <p:sldId id="752" r:id="rId18"/>
    <p:sldId id="731" r:id="rId11"/>
    <p:sldId id="712" r:id="rId19"/>
    <p:sldId id="713" r:id="rId20"/>
    <p:sldId id="735" r:id="rId21"/>
    <p:sldId id="753" r:id="rId22"/>
    <p:sldId id="720" r:id="rId16"/>
    <p:sldId id="754" r:id="rId24"/>
    <p:sldId id="755" r:id="rId25"/>
    <p:sldId id="638" r:id="rId26"/>
    <p:sldId id="756" r:id="rId27"/>
    <p:sldId id="740" r:id="rId31"/>
    <p:sldId id="759" r:id="rId28"/>
    <p:sldId id="757" r:id="rId29"/>
    <p:sldId id="739" r:id="rId30"/>
    <p:sldId id="74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6" autoAdjust="0"/>
    <p:restoredTop sz="56137"/>
  </p:normalViewPr>
  <p:slideViewPr>
    <p:cSldViewPr snapToGrid="0" snapToObjects="1">
      <p:cViewPr varScale="1">
        <p:scale>
          <a:sx n="107" d="100"/>
          <a:sy n="107" d="100"/>
        </p:scale>
        <p:origin x="3048"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3" Type="http://schemas.openxmlformats.org/officeDocument/2006/relationships/slide" Target="slides/slide2.xml"/><Relationship Id="rId38"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Layers constrain dependency direction; mmap shows the rule of thumb deliberately broken for profit.</a:t>
            </a:r>
          </a:p>
          <a:p>
            <a:endParaRPr dirty="0"/>
          </a:p>
          <a:p>
            <a:r>
              <a:rPr dirty="0"/>
              <a:t>- The pattern: each layer may depend only downward. The prior: substitution and change-isolation get easier; strictness costs indirection.</a:t>
            </a:r>
          </a:p>
          <a:p>
            <a:endParaRPr dirty="0"/>
          </a:p>
          <a:p>
            <a:r>
              <a:rPr dirty="0"/>
              <a:t>- mmap is not a bug or laziness — it is a deliberate crossing that buys something real: file-backed data participates in virtual memory; pages fault in on demand.</a:t>
            </a:r>
          </a:p>
          <a:p>
            <a:endParaRPr dirty="0"/>
          </a:p>
          <a:p>
            <a:r>
              <a:rPr dirty="0"/>
              <a:t>- That is precisely why 'follow the layered pattern' is a rule of thumb, not a law: the mature judgment is knowing what the rule buys and when crossing it buys more.</a:t>
            </a:r>
          </a:p>
          <a:p>
            <a:endParaRPr dirty="0"/>
          </a:p>
          <a:p>
            <a:r>
              <a:rPr dirty="0"/>
              <a:t>=====</a:t>
            </a:r>
          </a:p>
          <a:p>
            <a:r>
              <a:rPr dirty="0"/>
              <a:t>Layers: organize the system so each part depends only on the layer beneath it. The prior is strong — you can replace the infrastructure without rewriting the domain, understand one stratum at a time, contain change below an interface.</a:t>
            </a:r>
          </a:p>
          <a:p>
            <a:endParaRPr dirty="0"/>
          </a:p>
          <a:p>
            <a:r>
              <a:rPr dirty="0"/>
              <a:t>And then real systems do this. mmap. The application is supposed to reach files through the file API, layer by layer. mmap instead wires a file straight into the process's virtual memory: touch a page, the fault handler pulls it from storage.</a:t>
            </a:r>
          </a:p>
          <a:p>
            <a:endParaRPr dirty="0"/>
          </a:p>
          <a:p>
            <a:r>
              <a:rPr dirty="0"/>
              <a:t>That is a layer crossing, done on purpose, by people who understood layering perfectly well. And it buys something the clean route cannot: file-backed data participating in the paging machinery itself — no copy through the API, demand paging for free.</a:t>
            </a:r>
          </a:p>
          <a:p>
            <a:endParaRPr dirty="0"/>
          </a:p>
          <a:p>
            <a:r>
              <a:rPr dirty="0"/>
              <a:t>This is what I mean by rule of thumb, not law. The pattern earns its keep as a default; the exceptions are engineered, priced, and paid for. Follow the layered pattern — until you can name exactly what crossing it buys you.</a:t>
            </a:r>
          </a:p>
          <a:p>
            <a:endParaRPr dirty="0"/>
          </a:p>
          <a:p>
            <a:r>
              <a:rPr dirty="0"/>
              <a:t>Layers came from operating systems. The next pattern grew up in interactive applications.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Second, dominance. Compare D with A: on every property we care about, D is no better, and on at least one it is strictly worse. Choosing D over A could never be right, under any weighting of the properties. So D goes — and notice we never needed a weight or a score to say so.</a:t>
            </a:r>
          </a:p>
          <a:p>
            <a:endParaRPr dirty="0"/>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Patterns matter twice: they supply candidate organizations, and priors about the consequences. Priors are evidence, not guarantees.</a:t>
            </a:r>
          </a:p>
          <a:p>
            <a:endParaRPr dirty="0"/>
          </a:p>
          <a:p>
            <a:r>
              <a:rPr dirty="0"/>
              <a:t>- Two outputs of the diagram: an organization to try, and an expectation — tends to make X easier and Y harder.</a:t>
            </a:r>
          </a:p>
          <a:p>
            <a:endParaRPr dirty="0"/>
          </a:p>
          <a:p>
            <a:r>
              <a:rPr dirty="0"/>
              <a:t>- Resolve the tension with the matrix slide EXPLICITLY — students who were paying attention should be asking. The matrix invented numbers and called them proof. A prior is a legitimate input to judgment; the dishonesty was the arithmetic costume, not the use of experience.</a:t>
            </a:r>
          </a:p>
          <a:p>
            <a:endParaRPr dirty="0"/>
          </a:p>
          <a:p>
            <a:r>
              <a:rPr dirty="0"/>
              <a:t>- The dial: small, familiar, low-consequence — take the conventional organization and proceed; an educated guess, or an AI agent, recognizes it fine. As scale, novelty, interaction, or consequence rises, the canned tradeoff degrades into a hypothesis to investigate.</a:t>
            </a:r>
          </a:p>
          <a:p>
            <a:endParaRPr dirty="0"/>
          </a:p>
          <a:p>
            <a:r>
              <a:rPr dirty="0"/>
              <a:t>=====</a:t>
            </a:r>
          </a:p>
          <a:p>
            <a:r>
              <a:rPr dirty="0"/>
              <a:t>A pattern is compressed experience. Enough engineers hit a recurring problem, some organizations kept working, and the field remembered two things: the organization itself, and what tended to happen to the systems organized that way.</a:t>
            </a:r>
          </a:p>
          <a:p>
            <a:endParaRPr dirty="0"/>
          </a:p>
          <a:p>
            <a:r>
              <a:rPr dirty="0"/>
              <a:t>So patterns feed our decision framework twice. They put candidates on the table you would not have invented from scratch. And they hand each candidate a prior: this shape tends to make X easier and Y harder.</a:t>
            </a:r>
          </a:p>
          <a:p>
            <a:endParaRPr dirty="0"/>
          </a:p>
          <a:p>
            <a:r>
              <a:rPr dirty="0"/>
              <a:t>Now, some of you should be objecting. Twenty minutes ago I mocked a spreadsheet for exactly this — deciding from opinions. Here is the difference. The matrix took judgments, dressed them as arithmetic, and claimed the number proved the choice. A rule of thumb claims nothing of the sort — it is experience, offered as evidence, with its uncertainty showing. Rules of thumb are legitimate inputs to judgment. They are not analytical proof.</a:t>
            </a:r>
          </a:p>
          <a:p>
            <a:endParaRPr dirty="0"/>
          </a:p>
          <a:p>
            <a:r>
              <a:rPr dirty="0"/>
              <a:t>So the discipline: for a small, familiar, low-stakes system, take the conventional organization and get on with it — an educated guess is fine, and frankly an AI agent will recognize the convention too. But as scale, novelty, interaction, or consequence grows, the pattern's promise stops being a conclusion and becomes a hypothesis you must test.</a:t>
            </a:r>
          </a:p>
          <a:p>
            <a:endParaRPr dirty="0"/>
          </a:p>
          <a:p>
            <a:r>
              <a:rPr dirty="0"/>
              <a:t>Let us meet four of these patterns — and for each one, I want you to hear both the prior and the question it does not answer. Start with the oldest: layers.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MVC separates model, view, and interaction logic; the prior and its price in three sentences each.</a:t>
            </a:r>
          </a:p>
          <a:p>
            <a:endParaRPr dirty="0"/>
          </a:p>
          <a:p>
            <a:r>
              <a:rPr dirty="0"/>
              <a:t>- Prior: multiple presentations of one model, and independent evolution of each corner.</a:t>
            </a:r>
          </a:p>
          <a:p>
            <a:endParaRPr dirty="0"/>
          </a:p>
          <a:p>
            <a:r>
              <a:rPr dirty="0"/>
              <a:t>- Price: coordination and indirection — a simple edit now takes a tour.</a:t>
            </a:r>
          </a:p>
          <a:p>
            <a:endParaRPr dirty="0"/>
          </a:p>
          <a:p>
            <a:r>
              <a:rPr dirty="0"/>
              <a:t>- Engineering question the prior does not answer: does THIS system need multiple presentations, and can we afford the indirection where the interaction is hot?</a:t>
            </a:r>
          </a:p>
          <a:p>
            <a:endParaRPr dirty="0"/>
          </a:p>
          <a:p>
            <a:r>
              <a:rPr dirty="0"/>
              <a:t>=====</a:t>
            </a:r>
          </a:p>
          <a:p>
            <a:r>
              <a:rPr dirty="0"/>
              <a:t>Model-view-controller. Keep what the system knows — the model — apart from what the user sees — the view — apart from the logic that turns input into change — the controller.</a:t>
            </a:r>
          </a:p>
          <a:p>
            <a:endParaRPr dirty="0"/>
          </a:p>
          <a:p>
            <a:r>
              <a:rPr dirty="0"/>
              <a:t>The expectation it carries: you can hang several views off one model, and the three corners evolve independently. The cost it carries: indirection — a one-line change of behavior can become a three-part negotiation.</a:t>
            </a:r>
          </a:p>
          <a:p>
            <a:endParaRPr dirty="0"/>
          </a:p>
          <a:p>
            <a:r>
              <a:rPr dirty="0"/>
              <a:t>And the question the pattern cannot answer for you: does this system actually need multiple presentations? Will it, within its lifetime? If not, you are paying the coordination tax for a benefit that never arrives.</a:t>
            </a:r>
          </a:p>
          <a:p>
            <a:endParaRPr dirty="0"/>
          </a:p>
          <a:p>
            <a:r>
              <a:rPr dirty="0"/>
              <a:t>MVC separates computation from presentation. Sometimes the organizing pressure is different — everyone needs the same state.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Repository organizes around shared authoritative state; consistency bought with central coupling.</a:t>
            </a:r>
          </a:p>
          <a:p>
            <a:endParaRPr dirty="0"/>
          </a:p>
          <a:p>
            <a:r>
              <a:rPr dirty="0"/>
              <a:t>- Prior: one authoritative representation simplifies consistency and integration — everyone reads the same truth.</a:t>
            </a:r>
          </a:p>
          <a:p>
            <a:endParaRPr dirty="0"/>
          </a:p>
          <a:p>
            <a:r>
              <a:rPr dirty="0"/>
              <a:t>- Price: everyone depends on the center — schema coupling, potential bottleneck, shared fate.</a:t>
            </a:r>
          </a:p>
          <a:p>
            <a:endParaRPr dirty="0"/>
          </a:p>
          <a:p>
            <a:r>
              <a:rPr dirty="0"/>
              <a:t>- Engineering question: under OUR load and OUR change pattern, is the center a bottleneck — in performance or in evolution?</a:t>
            </a:r>
          </a:p>
          <a:p>
            <a:endParaRPr dirty="0"/>
          </a:p>
          <a:p>
            <a:r>
              <a:rPr dirty="0"/>
              <a:t>=====</a:t>
            </a:r>
          </a:p>
          <a:p>
            <a:r>
              <a:rPr dirty="0"/>
              <a:t>The repository. Put the authoritative state in the middle; the tools — input, analysis, reporting, optimization — all read and write the shared representation.</a:t>
            </a:r>
          </a:p>
          <a:p>
            <a:endParaRPr dirty="0"/>
          </a:p>
          <a:p>
            <a:r>
              <a:rPr dirty="0"/>
              <a:t>What experience says it buys: consistency and integration become simpler. No pairwise translations between tools; one truth.</a:t>
            </a:r>
          </a:p>
          <a:p>
            <a:endParaRPr dirty="0"/>
          </a:p>
          <a:p>
            <a:r>
              <a:rPr dirty="0"/>
              <a:t>What experience says it costs: the center is now everyone's dependency. Change the shared schema and every tool feels it. Load the store and every tool waits. Consistency up; central coupling up — the slide says both because both are the pattern.</a:t>
            </a:r>
          </a:p>
          <a:p>
            <a:endParaRPr dirty="0"/>
          </a:p>
          <a:p>
            <a:r>
              <a:rPr dirty="0"/>
              <a:t>The question the prior leaves open: for our workload and our rate of schema change, is the center a convenience or a chokepoint?</a:t>
            </a:r>
          </a:p>
          <a:p>
            <a:endParaRPr dirty="0"/>
          </a:p>
          <a:p>
            <a:r>
              <a:rPr dirty="0"/>
              <a:t>Both patterns so far accepted the dependencies and arranged them. The next one is more aggressive: it turns a dependency around.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Ports and adapters: deliberately arrange the direction of dependency so infrastructure choices do not become domain dependencies.</a:t>
            </a:r>
          </a:p>
          <a:p>
            <a:endParaRPr dirty="0"/>
          </a:p>
          <a:p>
            <a:r>
              <a:rPr dirty="0"/>
              <a:t>- The shift to flag aloud: we are no longer merely grouping responsibilities — we are choosing which way the arrows point.</a:t>
            </a:r>
          </a:p>
          <a:p>
            <a:endParaRPr dirty="0"/>
          </a:p>
          <a:p>
            <a:r>
              <a:rPr dirty="0"/>
              <a:t>- Before: the domain imports the database; the vendor is now a domain dependency. After: the domain defines the interface; the adapter implements it; the arrow points INTO the domain.</a:t>
            </a:r>
          </a:p>
          <a:p>
            <a:endParaRPr dirty="0"/>
          </a:p>
          <a:p>
            <a:r>
              <a:rPr dirty="0"/>
              <a:t>- Names in the wild: ports-and-adapters, hexagonal, clean architecture. Same move.</a:t>
            </a:r>
          </a:p>
          <a:p>
            <a:endParaRPr dirty="0"/>
          </a:p>
          <a:p>
            <a:r>
              <a:rPr dirty="0"/>
              <a:t>- Engineering question: is the indirection worth it for the changes THIS system actually expects?</a:t>
            </a:r>
          </a:p>
          <a:p>
            <a:endParaRPr dirty="0"/>
          </a:p>
          <a:p>
            <a:r>
              <a:rPr dirty="0"/>
              <a:t>=====</a:t>
            </a:r>
          </a:p>
          <a:p>
            <a:r>
              <a:rPr dirty="0"/>
              <a:t>So far we have grouped responsibilities. This pattern does something sharper: it chooses the direction of a dependency.</a:t>
            </a:r>
          </a:p>
          <a:p>
            <a:endParaRPr dirty="0"/>
          </a:p>
          <a:p>
            <a:r>
              <a:rPr dirty="0"/>
              <a:t>Before: the UI calls the domain, the domain calls the database. Innocent — until you notice the domain logic now depends on a storage vendor. Swap the database and your business rules are in the diff.</a:t>
            </a:r>
          </a:p>
          <a:p>
            <a:endParaRPr dirty="0"/>
          </a:p>
          <a:p>
            <a:r>
              <a:rPr dirty="0"/>
              <a:t>After: the domain declares the interface it needs — a port. The database code implements it — an adapter. Same runtime calls, but the compile-time arrow now points into the domain. Infrastructure orbits the domain instead of anchoring it.</a:t>
            </a:r>
          </a:p>
          <a:p>
            <a:endParaRPr dirty="0"/>
          </a:p>
          <a:p>
            <a:r>
              <a:rPr dirty="0"/>
              <a:t>You will meet this as ports-and-adapters, hexagonal architecture, clean architecture — one move, three names. And the prior does not answer: will the changes this system actually faces ever cross that seam? Indirection is a premium; you pay it against expected change.</a:t>
            </a:r>
          </a:p>
          <a:p>
            <a:endParaRPr dirty="0"/>
          </a:p>
          <a:p>
            <a:r>
              <a:rPr dirty="0"/>
              <a:t>One pattern left — and this one reorganizes who is allowed to know about whom at runtime.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Events decouple producers from consumers; then close the section: as complexity and consequence rise, priors hand off to analysis. STRETCH BREAK after this slide.</a:t>
            </a:r>
          </a:p>
          <a:p>
            <a:endParaRPr dirty="0"/>
          </a:p>
          <a:p>
            <a:r>
              <a:rPr dirty="0"/>
              <a:t>- Contrast on-slide: direct — A knows B, C, D; event-based — A knows the event, not the consumers.</a:t>
            </a:r>
          </a:p>
          <a:p>
            <a:endParaRPr dirty="0"/>
          </a:p>
          <a:p>
            <a:r>
              <a:rPr dirty="0"/>
              <a:t>- Rule of thumb: adding consumers gets easier. Engineering question, read it with weight: does THIS event architecture satisfy our ordering, latency, reliability, and observability obligations?</a:t>
            </a:r>
          </a:p>
          <a:p>
            <a:endParaRPr dirty="0"/>
          </a:p>
          <a:p>
            <a:r>
              <a:rPr dirty="0"/>
              <a:t>- The bottom band is the section's synthesis: pattern knowledge shades into analysis as complexity and consequence increase — from 'reasonable expectation' to 'show me'.</a:t>
            </a:r>
          </a:p>
          <a:p>
            <a:endParaRPr dirty="0"/>
          </a:p>
          <a:p>
            <a:r>
              <a:rPr dirty="0"/>
              <a:t>- Call the STRETCH BREAK, 2 minutes, before Section 4.</a:t>
            </a:r>
          </a:p>
          <a:p>
            <a:endParaRPr dirty="0"/>
          </a:p>
          <a:p>
            <a:r>
              <a:rPr dirty="0"/>
              <a:t>=====</a:t>
            </a:r>
          </a:p>
          <a:p>
            <a:r>
              <a:rPr dirty="0"/>
              <a:t>Events. In the direct organization, A calls B, C, and D — so A knows all three, and adding a fourth consumer means editing A. In the event organization, A announces what happened; whoever cares subscribes. A knows the event, not the audience.</a:t>
            </a:r>
          </a:p>
          <a:p>
            <a:endParaRPr dirty="0"/>
          </a:p>
          <a:p>
            <a:r>
              <a:rPr dirty="0"/>
              <a:t>The rule of thumb: when you expect the audience to grow, events make growth cheap. And now apply the discipline from the top of this section. Fine — but does this event architecture, the one you are about to build, satisfy our ordering obligations? Our latency budget? What happens to a lost event, and how would we even see it? The pattern promises none of that. Those are analysis questions.</a:t>
            </a:r>
          </a:p>
          <a:p>
            <a:endParaRPr dirty="0"/>
          </a:p>
          <a:p>
            <a:r>
              <a:rPr dirty="0"/>
              <a:t>And that is the section in one line — read the band: pattern knowledge on the left, analysis on the right, and what moves you rightward is complexity and consequence. 'Reasonable expectation' gives way to 'show me.'</a:t>
            </a:r>
          </a:p>
          <a:p>
            <a:endParaRPr dirty="0"/>
          </a:p>
          <a:p>
            <a:r>
              <a:rPr dirty="0"/>
              <a:t>Stand up, stretch, two minutes. When we sit back down: what can 'show me' actually deliver before the system exists?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decision method to the accumulated knowledge that supplies candidates.</a:t>
            </a:r>
          </a:p>
          <a:p>
            <a:endParaRPr dirty="0"/>
          </a:p>
          <a:p>
            <a:r>
              <a:rPr dirty="0"/>
              <a:t>- Do not pause for discussion.</a:t>
            </a:r>
          </a:p>
          <a:p>
            <a:endParaRPr dirty="0"/>
          </a:p>
          <a:p>
            <a:r>
              <a:rPr dirty="0"/>
              <a:t>=====</a:t>
            </a:r>
          </a:p>
          <a:p>
            <a:r>
              <a:rPr dirty="0"/>
              <a:t>Section three. Patterns — the field's accumulated engineering experience about how systems can be organized. Not just shapes to imitate: each one arrives carrying expectations about what it buys and what it costs.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Given these dependencies and modeled costs, the critical path establishes the predicted latency floor for this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Pick up yesterday's acceptable-realizations argument and deliver the definition of architecture orally.</a:t>
            </a:r>
          </a:p>
          <a:p>
            <a:endParaRPr dirty="0"/>
          </a:p>
          <a:p>
            <a:r>
              <a:rPr dirty="0"/>
              <a:t>- The figure is yesterday's model extended; students should recognize it instantly. Walk it briskly until the selection ring.</a:t>
            </a:r>
          </a:p>
          <a:p>
            <a:endParaRPr dirty="0"/>
          </a:p>
          <a:p>
            <a:r>
              <a:rPr dirty="0"/>
              <a:t>- DEFINITION (deliver orally, exact phrasing): Architecture describes the consequential organization of the system: its major parts, their responsibilities, their interfaces, and the rules governing their interaction.</a:t>
            </a:r>
          </a:p>
          <a:p>
            <a:endParaRPr dirty="0"/>
          </a:p>
          <a:p>
            <a:r>
              <a:rPr dirty="0"/>
              <a:t>- Lean on 'consequential' — architecture is not every organizational fact, only the ones that matter. It echoes 'consequential obligations' from yesterday on purpose.</a:t>
            </a:r>
          </a:p>
          <a:p>
            <a:endParaRPr dirty="0"/>
          </a:p>
          <a:p>
            <a:r>
              <a:rPr dirty="0"/>
              <a:t>=====</a:t>
            </a:r>
          </a:p>
          <a:p>
            <a:r>
              <a:rPr dirty="0"/>
              <a:t>This is yesterday's picture. Requirements told us what should be true; the specification made the consequential obligations explicit.</a:t>
            </a:r>
          </a:p>
          <a:p>
            <a:endParaRPr dirty="0"/>
          </a:p>
          <a:p>
            <a:r>
              <a:rPr dirty="0"/>
              <a:t>ANIMATE</a:t>
            </a:r>
          </a:p>
          <a:p>
            <a:endParaRPr dirty="0"/>
          </a:p>
          <a:p>
            <a:r>
              <a:rPr dirty="0"/>
              <a:t>And it did two things at once: it constrained what matters, and it deliberately left degrees of freedom open.</a:t>
            </a:r>
          </a:p>
          <a:p>
            <a:endParaRPr dirty="0"/>
          </a:p>
          <a:p>
            <a:r>
              <a:rPr dirty="0"/>
              <a:t>ANIMATE</a:t>
            </a:r>
          </a:p>
          <a:p>
            <a:endParaRPr dirty="0"/>
          </a:p>
          <a:p>
            <a:r>
              <a:rPr dirty="0"/>
              <a:t>So several genuinely different systems — A, B, C — all satisfy every obligation.</a:t>
            </a:r>
          </a:p>
          <a:p>
            <a:endParaRPr dirty="0"/>
          </a:p>
          <a:p>
            <a:r>
              <a:rPr dirty="0"/>
              <a:t>ANIMATE</a:t>
            </a:r>
          </a:p>
          <a:p>
            <a:endParaRPr dirty="0"/>
          </a:p>
          <a:p>
            <a:r>
              <a:rPr dirty="0"/>
              <a:t>And some, like D, do not. The specification drew a boundary, not a point.</a:t>
            </a:r>
          </a:p>
          <a:p>
            <a:endParaRPr dirty="0"/>
          </a:p>
          <a:p>
            <a:r>
              <a:rPr dirty="0"/>
              <a:t>ANIMATE</a:t>
            </a:r>
          </a:p>
          <a:p>
            <a:endParaRPr dirty="0"/>
          </a:p>
          <a:p>
            <a:r>
              <a:rPr dirty="0"/>
              <a:t>Today we pick one of the acceptable systems. And the moment we do, yesterday's question flips: not 'is this system acceptable?' but 'how should this system be organized?'</a:t>
            </a:r>
          </a:p>
          <a:p>
            <a:endParaRPr dirty="0"/>
          </a:p>
          <a:p>
            <a:r>
              <a:rPr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dirty="0"/>
          </a:p>
          <a:p>
            <a:r>
              <a:rPr dirty="0"/>
              <a:t>That definition compresses into four questions, and the four questions are today's map.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4.xml"/><Relationship Id="rId4" Type="http://schemas.openxmlformats.org/officeDocument/2006/relationships/image" Target="../media/image10.svg"/><Relationship Id="rId5"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3" Type="http://schemas.openxmlformats.org/officeDocument/2006/relationships/image" Target="../media/image11.emf"/><Relationship Id="rId1" Type="http://schemas.openxmlformats.org/officeDocument/2006/relationships/slideLayout" Target="../slideLayouts/slideLayout4.xml"/><Relationship Id="rId4" Type="http://schemas.openxmlformats.org/officeDocument/2006/relationships/image" Target="../media/image12.emf"/><Relationship Id="rId5" Type="http://schemas.openxmlformats.org/officeDocument/2006/relationships/notesSlide" Target="../notesSlides/notesSlide27.xml"/></Relationships>
</file>

<file path=ppt/slides/_rels/slide28.xml.rels><?xml version="1.0" encoding="UTF-8"?><Relationships xmlns="http://schemas.openxmlformats.org/package/2006/relationships"><Relationship Id="rId3"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 Id="rId6"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400" b="0" i="0" dirty="0">
                <a:solidFill>
                  <a:srgbClr val="000000"/>
                </a:solidFill>
              </a:rPr>
              <a:t xml:space="preserve">Yesterday we kept these separate. We have to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STATE VIEW</a:t>
            </a:r>
          </a:p>
          <a:p>
            <a:pPr algn="ctr">
              <a:spcBef>
                <a:spcPts val="204"/>
              </a:spcBef>
              <a:buNone/>
            </a:pPr>
            <a:r>
              <a:rPr lang="en-US" sz="2700" b="0" i="0" dirty="0">
                <a:solidFill>
                  <a:srgbClr val="000000"/>
                </a:solidFill>
              </a:rPr>
              <a:t xml:space="preserve">asleep  →  awake</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ACTIVITY</a:t>
            </a:r>
          </a:p>
          <a:p>
            <a:pPr algn="ctr">
              <a:spcBef>
                <a:spcPts val="204"/>
              </a:spcBef>
              <a:buNone/>
            </a:pPr>
            <a:r>
              <a:rPr lang="en-US" sz="2700" b="0" i="0" dirty="0">
                <a:solidFill>
                  <a:srgbClr val="000000"/>
                </a:solidFill>
              </a:rPr>
              <a:t xml:space="preserve">collect  →  classify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SCHEMA</a:t>
            </a:r>
          </a:p>
          <a:p>
            <a:pPr algn="ctr">
              <a:spcBef>
                <a:spcPts val="204"/>
              </a:spcBef>
              <a:buNone/>
            </a:pPr>
            <a:r>
              <a:rPr lang="en-US" sz="2400" b="0" i="0" dirty="0">
                <a:solidFill>
                  <a:srgbClr val="000000"/>
                </a:solidFill>
              </a:rPr>
              <a:t xml:space="preserve">Night Summary</a:t>
            </a:r>
          </a:p>
          <a:p>
            <a:pPr algn="ctr">
              <a:spcBef>
                <a:spcPts val="136"/>
              </a:spcBef>
              <a:buNone/>
            </a:pPr>
            <a:r>
              <a:rPr lang="en-US" sz="2400" b="0" i="0" dirty="0">
                <a:solidFill>
                  <a:srgbClr val="000000"/>
                </a:solidFill>
              </a:rPr>
              <a:t xml:space="preserve">Advice</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TIMING / OTHER</a:t>
            </a:r>
          </a:p>
          <a:p>
            <a:pPr algn="ctr">
              <a:spcBef>
                <a:spcPts val="204"/>
              </a:spcBef>
              <a:buNone/>
            </a:pPr>
            <a:r>
              <a:rPr lang="en-US" sz="2400" b="0" i="0" dirty="0">
                <a:solidFill>
                  <a:srgbClr val="000000"/>
                </a:solidFill>
              </a:rPr>
              <a:t xml:space="preserve">≤ 60 seconds</a:t>
            </a:r>
          </a:p>
          <a:p>
            <a:pPr algn="ctr">
              <a:spcBef>
                <a:spcPts val="136"/>
              </a:spcBef>
              <a:buNone/>
            </a:pPr>
            <a:r>
              <a:rPr lang="en-US" sz="2400" b="0" i="0" dirty="0">
                <a:solidFill>
                  <a:srgbClr val="000000"/>
                </a:solidFill>
              </a:rPr>
              <a:t xml:space="preserve">privacy · 7 nights</a:t>
            </a:r>
          </a:p>
        </p:txBody>
      </p:sp>
      <p:cxnSp>
        <p:nvCxnSpPr>
          <p:cNvPr id="64" name="Arr64"/>
          <p:cNvCxnSpPr/>
          <p:nvPr/>
        </p:nvCxnSpPr>
        <p:spPr>
          <a:xfrm>
            <a:off x="3170256" y="2633100"/>
            <a:ext cx="716300" cy="606100"/>
          </a:xfrm>
          <a:prstGeom prst="line">
            <a:avLst/>
          </a:prstGeom>
          <a:ln w="31490">
            <a:solidFill>
              <a:srgbClr val="8E6F3E"/>
            </a:solidFill>
            <a:tailEnd type="triangle" w="med" len="med"/>
          </a:ln>
        </p:spPr>
      </p:cxnSp>
      <p:cxnSp>
        <p:nvCxnSpPr>
          <p:cNvPr id="65" name="Arr65"/>
          <p:cNvCxnSpPr/>
          <p:nvPr/>
        </p:nvCxnSpPr>
        <p:spPr>
          <a:xfrm flipH="1">
            <a:off x="5257444" y="2633100"/>
            <a:ext cx="716300" cy="606100"/>
          </a:xfrm>
          <a:prstGeom prst="line">
            <a:avLst/>
          </a:prstGeom>
          <a:ln w="31490">
            <a:solidFill>
              <a:srgbClr val="8E6F3E"/>
            </a:solidFill>
            <a:tailEnd type="triangle" w="med" len="med"/>
          </a:ln>
        </p:spPr>
      </p:cxnSp>
      <p:cxnSp>
        <p:nvCxnSpPr>
          <p:cNvPr id="66" name="Arr66"/>
          <p:cNvCxnSpPr/>
          <p:nvPr/>
        </p:nvCxnSpPr>
        <p:spPr>
          <a:xfrm flipV="1">
            <a:off x="3170256" y="4396300"/>
            <a:ext cx="716300" cy="606100"/>
          </a:xfrm>
          <a:prstGeom prst="line">
            <a:avLst/>
          </a:prstGeom>
          <a:ln w="31490">
            <a:solidFill>
              <a:srgbClr val="8E6F3E"/>
            </a:solidFill>
            <a:tailEnd type="triangle" w="med" len="med"/>
          </a:ln>
        </p:spPr>
      </p:cxnSp>
      <p:cxnSp>
        <p:nvCxnSpPr>
          <p:cNvPr id="67" name="Arr67"/>
          <p:cNvCxnSpPr/>
          <p:nvPr/>
        </p:nvCxnSpPr>
        <p:spPr>
          <a:xfrm flipH="1" flipV="1">
            <a:off x="5257444" y="4396300"/>
            <a:ext cx="716300" cy="606100"/>
          </a:xfrm>
          <a:prstGeom prst="line">
            <a:avLst/>
          </a:prstGeom>
          <a:ln w="31490">
            <a:solidFill>
              <a:srgbClr val="8E6F3E"/>
            </a:solidFill>
            <a:tailEnd type="triangle" w="med" len="med"/>
          </a:ln>
        </p:spPr>
      </p:cxnSp>
      <p:sp>
        <p:nvSpPr>
          <p:cNvPr id="68" name="OneMachine"/>
          <p:cNvSpPr/>
          <p:nvPr/>
        </p:nvSpPr>
        <p:spPr>
          <a:xfrm>
            <a:off x="3029200" y="3239200"/>
            <a:ext cx="3085600" cy="1157100"/>
          </a:xfrm>
          <a:prstGeom prst="rect">
            <a:avLst/>
          </a:prstGeom>
          <a:solidFill>
            <a:srgbClr val="8E6F3E"/>
          </a:solidFill>
          <a:ln>
            <a:noFill/>
          </a:ln>
        </p:spPr>
        <p:txBody>
          <a:bodyPr wrap="square" lIns="109728" tIns="82296" rIns="109728" bIns="82296" anchor="ctr">
            <a:normAutofit/>
          </a:bodyPr>
          <a:lstStyle/>
          <a:p>
            <a:pPr algn="ctr">
              <a:buNone/>
            </a:pPr>
            <a:r>
              <a:rPr lang="en-US" sz="3800" b="1" i="0" dirty="0">
                <a:solidFill>
                  <a:srgbClr val="FFFFFF"/>
                </a:solidFill>
              </a:rPr>
              <a:t xml:space="preserve">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68"/>
                                        </p:tgtEl>
                                        <p:attrNameLst>
                                          <p:attrName>style.visibility</p:attrName>
                                        </p:attrNameLst>
                                      </p:cBhvr>
                                      <p:to>
                                        <p:strVal val="visible"/>
                                      </p:to>
                                    </p:set>
                                    <p:animEffect transition="in" filter="fade">
                                      <p:cBhvr>
                                        <p:cTn id="4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Choosing among 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is decision-making</a:t>
            </a:r>
            <a:br>
              <a:rPr lang="en-US" sz="2800"/>
            </a:br>
            <a:r>
              <a:rPr lang="en-US" sz="2800" b="0" i="0" dirty="0">
                <a:solidFill>
                  <a:srgbClr val="555960"/>
                </a:solidFill>
              </a:rPr>
              <a:t xml:space="preserve">under tradeoffs.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230000"/>
            <a:ext cx="8585200" cy="8200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8E6F3E"/>
                </a:solidFill>
              </a:rPr>
              <a:t xml:space="preserve">CHANGE TOGETHER? · FAIL TOGETHER? · SCALE TOGETHER? · CONSISTENT TOGETHER? · SECURE TOGETHER? · OWNED TOGETHER?</a:t>
            </a:r>
          </a:p>
        </p:txBody>
      </p:sp>
      <p:sp>
        <p:nvSpPr>
          <p:cNvPr id="62" name="T62"/>
          <p:cNvSpPr txBox="1"/>
          <p:nvPr/>
        </p:nvSpPr>
        <p:spPr>
          <a:xfrm>
            <a:off x="685800" y="5120000"/>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Where should we draw boundaries so the interactions and changes we expect are easy, while the interactions and changes we do not want are difficult?</a:t>
            </a:r>
          </a:p>
        </p:txBody>
      </p:sp>
      <p:sp>
        <p:nvSpPr>
          <p:cNvPr id="100" name="OrgALbl"/>
          <p:cNvSpPr txBox="1"/>
          <p:nvPr/>
        </p:nvSpPr>
        <p:spPr>
          <a:xfrm>
            <a:off x="142000" y="9086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 xml:space="preserve">ORGANIZATION A</a:t>
            </a:r>
          </a:p>
        </p:txBody>
      </p:sp>
      <p:sp>
        <p:nvSpPr>
          <p:cNvPr id="101" name="OrgA0"/>
          <p:cNvSpPr/>
          <p:nvPr/>
        </p:nvSpPr>
        <p:spPr>
          <a:xfrm>
            <a:off x="1246000" y="14330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collect</a:t>
            </a:r>
          </a:p>
        </p:txBody>
      </p:sp>
      <p:sp>
        <p:nvSpPr>
          <p:cNvPr id="102" name="OrgA1"/>
          <p:cNvSpPr/>
          <p:nvPr/>
        </p:nvSpPr>
        <p:spPr>
          <a:xfrm>
            <a:off x="1246000" y="20126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classify</a:t>
            </a:r>
          </a:p>
        </p:txBody>
      </p:sp>
      <p:sp>
        <p:nvSpPr>
          <p:cNvPr id="103" name="OrgA2"/>
          <p:cNvSpPr/>
          <p:nvPr/>
        </p:nvSpPr>
        <p:spPr>
          <a:xfrm>
            <a:off x="1246000" y="25922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summarize</a:t>
            </a:r>
          </a:p>
        </p:txBody>
      </p:sp>
      <p:sp>
        <p:nvSpPr>
          <p:cNvPr id="104" name="OrgA3"/>
          <p:cNvSpPr/>
          <p:nvPr/>
        </p:nvSpPr>
        <p:spPr>
          <a:xfrm>
            <a:off x="1246000" y="31718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advise</a:t>
            </a:r>
          </a:p>
        </p:txBody>
      </p:sp>
      <p:sp>
        <p:nvSpPr>
          <p:cNvPr id="105" name="OrgAOuter"/>
          <p:cNvSpPr/>
          <p:nvPr/>
        </p:nvSpPr>
        <p:spPr>
          <a:xfrm>
            <a:off x="1246000" y="1433000"/>
            <a:ext cx="2208000" cy="23184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50000"/>
            <a:ext cx="0" cy="2650000"/>
          </a:xfrm>
          <a:prstGeom prst="line">
            <a:avLst/>
          </a:prstGeom>
          <a:ln w="12700">
            <a:solidFill>
              <a:srgbClr val="C9B991"/>
            </a:solidFill>
            <a:prstDash val="dash"/>
          </a:ln>
        </p:spPr>
      </p:cxnSp>
      <p:sp>
        <p:nvSpPr>
          <p:cNvPr id="107" name="OrgBLbl"/>
          <p:cNvSpPr txBox="1"/>
          <p:nvPr/>
        </p:nvSpPr>
        <p:spPr>
          <a:xfrm>
            <a:off x="4592000" y="9155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 xml:space="preserve">ORGANIZATION B</a:t>
            </a:r>
          </a:p>
        </p:txBody>
      </p:sp>
      <p:sp>
        <p:nvSpPr>
          <p:cNvPr id="108" name="OrgB1"/>
          <p:cNvSpPr/>
          <p:nvPr/>
        </p:nvSpPr>
        <p:spPr>
          <a:xfrm>
            <a:off x="4799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collect · store</a:t>
            </a:r>
          </a:p>
        </p:txBody>
      </p:sp>
      <p:sp>
        <p:nvSpPr>
          <p:cNvPr id="109" name="OrgB2"/>
          <p:cNvSpPr/>
          <p:nvPr/>
        </p:nvSpPr>
        <p:spPr>
          <a:xfrm>
            <a:off x="7007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model · advise</a:t>
            </a:r>
          </a:p>
        </p:txBody>
      </p:sp>
      <p:sp>
        <p:nvSpPr>
          <p:cNvPr id="110" name="OrgBShare"/>
          <p:cNvSpPr/>
          <p:nvPr/>
        </p:nvSpPr>
        <p:spPr>
          <a:xfrm>
            <a:off x="5903000" y="3054500"/>
            <a:ext cx="1863000" cy="69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sharing</a:t>
            </a:r>
          </a:p>
        </p:txBody>
      </p:sp>
      <p:cxnSp>
        <p:nvCxnSpPr>
          <p:cNvPr id="111" name="OrgBa1"/>
          <p:cNvCxnSpPr/>
          <p:nvPr/>
        </p:nvCxnSpPr>
        <p:spPr>
          <a:xfrm>
            <a:off x="5730500" y="2129900"/>
            <a:ext cx="793500" cy="924600"/>
          </a:xfrm>
          <a:prstGeom prst="line">
            <a:avLst/>
          </a:prstGeom>
          <a:ln w="26289">
            <a:solidFill>
              <a:srgbClr val="8E6F3E"/>
            </a:solidFill>
            <a:tailEnd type="triangle" w="med" len="med"/>
          </a:ln>
        </p:spPr>
      </p:cxnSp>
      <p:cxnSp>
        <p:nvCxnSpPr>
          <p:cNvPr id="112" name="OrgBa2"/>
          <p:cNvCxnSpPr/>
          <p:nvPr/>
        </p:nvCxnSpPr>
        <p:spPr>
          <a:xfrm flipH="1">
            <a:off x="7145000" y="2129900"/>
            <a:ext cx="793500" cy="924600"/>
          </a:xfrm>
          <a:prstGeom prst="line">
            <a:avLst/>
          </a:prstGeom>
          <a:ln w="26289">
            <a:solidFill>
              <a:srgbClr val="8E6F3E"/>
            </a:solidFill>
            <a:tailEnd type="triangle" w="med" len="med"/>
          </a:ln>
        </p:spPr>
      </p:cxnSp>
      <p:sp>
        <p:nvSpPr>
          <p:cNvPr id="113" name="Cap"/>
          <p:cNvSpPr txBox="1"/>
          <p:nvPr/>
        </p:nvSpPr>
        <p:spPr>
          <a:xfrm>
            <a:off x="685800" y="3790000"/>
            <a:ext cx="7772400" cy="43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 xml:space="preserve">Different boundaries → different coupling.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pic>
        <p:nvPicPr>
          <p:cNvPr id="60" name="Think Pair Share banner" descr="Think, Pair, Share"/>
          <p:cNvPicPr>
            <a:picLocks noChangeAspect="1"/>
          </p:cNvPicPr>
          <p:nvPr/>
        </p:nvPicPr>
        <p:blipFill>
          <a:blip r:embed="rId3"/>
          <a:stretch>
            <a:fillRect/>
          </a:stretch>
        </p:blipFill>
        <p:spPr>
          <a:xfrm>
            <a:off x="482497" y="764355"/>
            <a:ext cx="3871754" cy="1114596"/>
          </a:xfrm>
          <a:prstGeom prst="rect">
            <a:avLst/>
          </a:prstGeom>
        </p:spPr>
      </p:pic>
      <p:sp>
        <p:nvSpPr>
          <p:cNvPr id="101" name="C101"/>
          <p:cNvSpPr/>
          <p:nvPr/>
        </p:nvSpPr>
        <p:spPr>
          <a:xfrm>
            <a:off x="3634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 xml:space="preserve">A</a:t>
            </a:r>
          </a:p>
        </p:txBody>
      </p:sp>
      <p:sp>
        <p:nvSpPr>
          <p:cNvPr id="102" name="C102"/>
          <p:cNvSpPr/>
          <p:nvPr/>
        </p:nvSpPr>
        <p:spPr>
          <a:xfrm>
            <a:off x="6009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 xml:space="preserve">B</a:t>
            </a:r>
          </a:p>
        </p:txBody>
      </p:sp>
      <p:sp>
        <p:nvSpPr>
          <p:cNvPr id="103" name="C103"/>
          <p:cNvSpPr/>
          <p:nvPr/>
        </p:nvSpPr>
        <p:spPr>
          <a:xfrm>
            <a:off x="759500" y="25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Latency</a:t>
            </a:r>
          </a:p>
        </p:txBody>
      </p:sp>
      <p:sp>
        <p:nvSpPr>
          <p:cNvPr id="104" name="C104"/>
          <p:cNvSpPr/>
          <p:nvPr/>
        </p:nvSpPr>
        <p:spPr>
          <a:xfrm>
            <a:off x="3634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~100 ms</a:t>
            </a:r>
          </a:p>
        </p:txBody>
      </p:sp>
      <p:sp>
        <p:nvSpPr>
          <p:cNvPr id="105" name="C105"/>
          <p:cNvSpPr/>
          <p:nvPr/>
        </p:nvSpPr>
        <p:spPr>
          <a:xfrm>
            <a:off x="6009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~180 ms</a:t>
            </a:r>
          </a:p>
        </p:txBody>
      </p:sp>
      <p:sp>
        <p:nvSpPr>
          <p:cNvPr id="106" name="C106"/>
          <p:cNvSpPr/>
          <p:nvPr/>
        </p:nvSpPr>
        <p:spPr>
          <a:xfrm>
            <a:off x="759500" y="31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Cost</a:t>
            </a:r>
          </a:p>
        </p:txBody>
      </p:sp>
      <p:sp>
        <p:nvSpPr>
          <p:cNvPr id="107" name="C107"/>
          <p:cNvSpPr/>
          <p:nvPr/>
        </p:nvSpPr>
        <p:spPr>
          <a:xfrm>
            <a:off x="3634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a:t>
            </a:r>
          </a:p>
        </p:txBody>
      </p:sp>
      <p:sp>
        <p:nvSpPr>
          <p:cNvPr id="108" name="C108"/>
          <p:cNvSpPr/>
          <p:nvPr/>
        </p:nvSpPr>
        <p:spPr>
          <a:xfrm>
            <a:off x="6009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a:t>
            </a:r>
          </a:p>
        </p:txBody>
      </p:sp>
      <p:sp>
        <p:nvSpPr>
          <p:cNvPr id="109" name="C109"/>
          <p:cNvSpPr/>
          <p:nvPr/>
        </p:nvSpPr>
        <p:spPr>
          <a:xfrm>
            <a:off x="759500" y="38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Change</a:t>
            </a:r>
          </a:p>
        </p:txBody>
      </p:sp>
      <p:sp>
        <p:nvSpPr>
          <p:cNvPr id="110" name="C110"/>
          <p:cNvSpPr/>
          <p:nvPr/>
        </p:nvSpPr>
        <p:spPr>
          <a:xfrm>
            <a:off x="3634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more coupled</a:t>
            </a:r>
          </a:p>
        </p:txBody>
      </p:sp>
      <p:sp>
        <p:nvSpPr>
          <p:cNvPr id="111" name="C111"/>
          <p:cNvSpPr/>
          <p:nvPr/>
        </p:nvSpPr>
        <p:spPr>
          <a:xfrm>
            <a:off x="6009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more local</a:t>
            </a:r>
          </a:p>
        </p:txBody>
      </p:sp>
      <p:sp>
        <p:nvSpPr>
          <p:cNvPr id="112" name="C112"/>
          <p:cNvSpPr/>
          <p:nvPr/>
        </p:nvSpPr>
        <p:spPr>
          <a:xfrm>
            <a:off x="759500" y="44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Availability</a:t>
            </a:r>
          </a:p>
        </p:txBody>
      </p:sp>
      <p:sp>
        <p:nvSpPr>
          <p:cNvPr id="113" name="C113"/>
          <p:cNvSpPr/>
          <p:nvPr/>
        </p:nvSpPr>
        <p:spPr>
          <a:xfrm>
            <a:off x="3634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higher</a:t>
            </a:r>
          </a:p>
        </p:txBody>
      </p:sp>
      <p:sp>
        <p:nvSpPr>
          <p:cNvPr id="114" name="C114"/>
          <p:cNvSpPr/>
          <p:nvPr/>
        </p:nvSpPr>
        <p:spPr>
          <a:xfrm>
            <a:off x="6009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 xml:space="preserve">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a:bodyPr>
          <a:lstStyle/>
          <a:p>
            <a:pPr algn="ctr">
              <a:buNone/>
            </a:pPr>
            <a:r>
              <a:rPr lang="en-US" sz="2800" b="1" i="0" dirty="0">
                <a:solidFill>
                  <a:srgbClr val="000000"/>
                </a:solidFill>
              </a:rPr>
              <a:t xml:space="preserve">WHICH ONE?</a:t>
            </a:r>
            <a:r>
              <a:rPr lang="en-US" sz="2800" b="1" i="0" dirty="0">
                <a:solidFill>
                  <a:srgbClr val="8E6F3E"/>
                </a:solidFill>
              </a:rPr>
              <a:t xml:space="preserve">    ·    </a:t>
            </a:r>
            <a:r>
              <a:rPr lang="en-US" sz="2800" b="1" i="0" dirty="0">
                <a:solidFill>
                  <a:srgbClr val="000000"/>
                </a:solidFill>
              </a:rPr>
              <a:t xml:space="preserve">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Layers: constrain which parts may depend on which.</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300000"/>
            <a:ext cx="7772400" cy="9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 xml:space="preserve">mmap deliberately crosses the abstraction: sometimes breaking the rule buys something important.</a:t>
            </a:r>
          </a:p>
        </p:txBody>
      </p:sp>
      <p:sp>
        <p:nvSpPr>
          <p:cNvPr id="100" name="LblPat"/>
          <p:cNvSpPr txBox="1"/>
          <p:nvPr/>
        </p:nvSpPr>
        <p:spPr>
          <a:xfrm>
            <a:off x="912500" y="1028800"/>
            <a:ext cx="2750000" cy="358400"/>
          </a:xfrm>
          <a:prstGeom prst="rect">
            <a:avLst/>
          </a:prstGeom>
          <a:noFill/>
          <a:ln>
            <a:noFill/>
          </a:ln>
        </p:spPr>
        <p:txBody>
          <a:bodyPr wrap="square" lIns="0" tIns="0" rIns="0" bIns="0" anchor="t">
            <a:normAutofit/>
          </a:bodyPr>
          <a:lstStyle/>
          <a:p>
            <a:pPr algn="ctr">
              <a:buNone/>
            </a:pPr>
            <a:r>
              <a:rPr lang="en-US" sz="2400" b="1" i="0" dirty="0">
                <a:solidFill>
                  <a:srgbClr val="8E6F3E"/>
                </a:solidFill>
              </a:rPr>
              <a:t xml:space="preserve">THE PATTERN</a:t>
            </a:r>
          </a:p>
        </p:txBody>
      </p:sp>
      <p:sp>
        <p:nvSpPr>
          <p:cNvPr id="101" name="LblReal"/>
          <p:cNvSpPr txBox="1"/>
          <p:nvPr/>
        </p:nvSpPr>
        <p:spPr>
          <a:xfrm>
            <a:off x="5170000" y="1078800"/>
            <a:ext cx="2200000" cy="358400"/>
          </a:xfrm>
          <a:prstGeom prst="rect">
            <a:avLst/>
          </a:prstGeom>
          <a:noFill/>
          <a:ln>
            <a:noFill/>
          </a:ln>
        </p:spPr>
        <p:txBody>
          <a:bodyPr wrap="square" lIns="0" tIns="0" rIns="0" bIns="0" anchor="t">
            <a:normAutofit/>
          </a:bodyPr>
          <a:lstStyle/>
          <a:p>
            <a:pPr algn="ctr">
              <a:buNone/>
            </a:pPr>
            <a:r>
              <a:rPr lang="en-US" sz="2400" b="1" i="0" dirty="0">
                <a:solidFill>
                  <a:srgbClr val="8E6F3E"/>
                </a:solidFill>
              </a:rPr>
              <a:t xml:space="preserve">IN PRACTICE: mmap</a:t>
            </a:r>
          </a:p>
        </p:txBody>
      </p:sp>
      <p:sp>
        <p:nvSpPr>
          <p:cNvPr id="102" name="L0"/>
          <p:cNvSpPr/>
          <p:nvPr/>
        </p:nvSpPr>
        <p:spPr>
          <a:xfrm>
            <a:off x="912500" y="14640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3" name="L1"/>
          <p:cNvSpPr/>
          <p:nvPr/>
        </p:nvSpPr>
        <p:spPr>
          <a:xfrm>
            <a:off x="912500" y="23856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APPLICATION</a:t>
            </a:r>
          </a:p>
        </p:txBody>
      </p:sp>
      <p:cxnSp>
        <p:nvCxnSpPr>
          <p:cNvPr id="104" name="LA1"/>
          <p:cNvCxnSpPr/>
          <p:nvPr/>
        </p:nvCxnSpPr>
        <p:spPr>
          <a:xfrm>
            <a:off x="2287500" y="2206400"/>
            <a:ext cx="0" cy="179200"/>
          </a:xfrm>
          <a:prstGeom prst="line">
            <a:avLst/>
          </a:prstGeom>
          <a:ln w="23812">
            <a:solidFill>
              <a:srgbClr val="8E6F3E"/>
            </a:solidFill>
            <a:tailEnd type="triangle" w="med" len="med"/>
          </a:ln>
        </p:spPr>
      </p:cxnSp>
      <p:sp>
        <p:nvSpPr>
          <p:cNvPr id="105" name="L2"/>
          <p:cNvSpPr/>
          <p:nvPr/>
        </p:nvSpPr>
        <p:spPr>
          <a:xfrm>
            <a:off x="912500" y="33072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cxnSp>
        <p:nvCxnSpPr>
          <p:cNvPr id="106" name="LA2"/>
          <p:cNvCxnSpPr/>
          <p:nvPr/>
        </p:nvCxnSpPr>
        <p:spPr>
          <a:xfrm>
            <a:off x="2287500" y="3128000"/>
            <a:ext cx="0" cy="179200"/>
          </a:xfrm>
          <a:prstGeom prst="line">
            <a:avLst/>
          </a:prstGeom>
          <a:ln w="23812">
            <a:solidFill>
              <a:srgbClr val="8E6F3E"/>
            </a:solidFill>
            <a:tailEnd type="triangle" w="med" len="med"/>
          </a:ln>
        </p:spPr>
      </p:cxnSp>
      <p:sp>
        <p:nvSpPr>
          <p:cNvPr id="107" name="L3"/>
          <p:cNvSpPr/>
          <p:nvPr/>
        </p:nvSpPr>
        <p:spPr>
          <a:xfrm>
            <a:off x="912500" y="42288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INFRASTRUCTURE</a:t>
            </a:r>
          </a:p>
        </p:txBody>
      </p:sp>
      <p:cxnSp>
        <p:nvCxnSpPr>
          <p:cNvPr id="108" name="LA3"/>
          <p:cNvCxnSpPr/>
          <p:nvPr/>
        </p:nvCxnSpPr>
        <p:spPr>
          <a:xfrm>
            <a:off x="2287500" y="4049600"/>
            <a:ext cx="0" cy="179200"/>
          </a:xfrm>
          <a:prstGeom prst="line">
            <a:avLst/>
          </a:prstGeom>
          <a:ln w="23812">
            <a:solidFill>
              <a:srgbClr val="8E6F3E"/>
            </a:solidFill>
            <a:tailEnd type="triangle" w="med" len="med"/>
          </a:ln>
        </p:spPr>
      </p:cxnSp>
      <p:cxnSp>
        <p:nvCxnSpPr>
          <p:cNvPr id="109" name="Allowed"/>
          <p:cNvCxnSpPr/>
          <p:nvPr/>
        </p:nvCxnSpPr>
        <p:spPr>
          <a:xfrm>
            <a:off x="537500" y="1630400"/>
            <a:ext cx="0" cy="3136000"/>
          </a:xfrm>
          <a:prstGeom prst="line">
            <a:avLst/>
          </a:prstGeom>
          <a:ln w="23812">
            <a:solidFill>
              <a:srgbClr val="C9B991"/>
            </a:solidFill>
            <a:tailEnd type="triangle" w="med" len="med"/>
          </a:ln>
        </p:spPr>
      </p:cxnSp>
      <p:sp>
        <p:nvSpPr>
          <p:cNvPr id="110" name="AllowedLbl"/>
          <p:cNvSpPr txBox="1"/>
          <p:nvPr/>
        </p:nvSpPr>
        <p:spPr>
          <a:xfrm rot="-5400000">
            <a:off x="-550000" y="2840000"/>
            <a:ext cx="1800000" cy="32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allowed dependencies</a:t>
            </a:r>
          </a:p>
        </p:txBody>
      </p:sp>
      <p:sp>
        <p:nvSpPr>
          <p:cNvPr id="111" name="R0"/>
          <p:cNvSpPr/>
          <p:nvPr/>
        </p:nvSpPr>
        <p:spPr>
          <a:xfrm>
            <a:off x="5170000" y="15140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APPLICATION</a:t>
            </a:r>
          </a:p>
        </p:txBody>
      </p:sp>
      <p:sp>
        <p:nvSpPr>
          <p:cNvPr id="112" name="R1"/>
          <p:cNvSpPr/>
          <p:nvPr/>
        </p:nvSpPr>
        <p:spPr>
          <a:xfrm>
            <a:off x="5170000" y="24356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FILE / STORAGE API</a:t>
            </a:r>
          </a:p>
        </p:txBody>
      </p:sp>
      <p:cxnSp>
        <p:nvCxnSpPr>
          <p:cNvPr id="113" name="RA1"/>
          <p:cNvCxnSpPr/>
          <p:nvPr/>
        </p:nvCxnSpPr>
        <p:spPr>
          <a:xfrm>
            <a:off x="6270000" y="2256400"/>
            <a:ext cx="0" cy="179200"/>
          </a:xfrm>
          <a:prstGeom prst="line">
            <a:avLst/>
          </a:prstGeom>
          <a:ln w="19050">
            <a:solidFill>
              <a:srgbClr val="8E6F3E"/>
            </a:solidFill>
            <a:tailEnd type="triangle" w="med" len="med"/>
          </a:ln>
        </p:spPr>
      </p:cxnSp>
      <p:sp>
        <p:nvSpPr>
          <p:cNvPr id="114" name="R2"/>
          <p:cNvSpPr/>
          <p:nvPr/>
        </p:nvSpPr>
        <p:spPr>
          <a:xfrm>
            <a:off x="5170000" y="33572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OPERATING SYSTEM</a:t>
            </a:r>
          </a:p>
        </p:txBody>
      </p:sp>
      <p:cxnSp>
        <p:nvCxnSpPr>
          <p:cNvPr id="115" name="RA2"/>
          <p:cNvCxnSpPr/>
          <p:nvPr/>
        </p:nvCxnSpPr>
        <p:spPr>
          <a:xfrm>
            <a:off x="6270000" y="3178000"/>
            <a:ext cx="0" cy="179200"/>
          </a:xfrm>
          <a:prstGeom prst="line">
            <a:avLst/>
          </a:prstGeom>
          <a:ln w="19050">
            <a:solidFill>
              <a:srgbClr val="8E6F3E"/>
            </a:solidFill>
            <a:tailEnd type="triangle" w="med" len="med"/>
          </a:ln>
        </p:spPr>
      </p:cxnSp>
      <p:sp>
        <p:nvSpPr>
          <p:cNvPr id="116" name="R3"/>
          <p:cNvSpPr/>
          <p:nvPr/>
        </p:nvSpPr>
        <p:spPr>
          <a:xfrm>
            <a:off x="5170000" y="42788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STORAGE</a:t>
            </a:r>
          </a:p>
        </p:txBody>
      </p:sp>
      <p:cxnSp>
        <p:nvCxnSpPr>
          <p:cNvPr id="117" name="RA3"/>
          <p:cNvCxnSpPr/>
          <p:nvPr/>
        </p:nvCxnSpPr>
        <p:spPr>
          <a:xfrm>
            <a:off x="6270000" y="4099600"/>
            <a:ext cx="0" cy="179200"/>
          </a:xfrm>
          <a:prstGeom prst="line">
            <a:avLst/>
          </a:prstGeom>
          <a:ln w="19050">
            <a:solidFill>
              <a:srgbClr val="8E6F3E"/>
            </a:solidFill>
            <a:tailEnd type="triangle" w="med" len="med"/>
          </a:ln>
        </p:spPr>
      </p:cxnSp>
      <p:sp>
        <p:nvSpPr>
          <p:cNvPr id="118" name="VM"/>
          <p:cNvSpPr/>
          <p:nvPr/>
        </p:nvSpPr>
        <p:spPr>
          <a:xfrm>
            <a:off x="7770000" y="2435600"/>
            <a:ext cx="1150000" cy="7424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VIRTUAL</a:t>
            </a:r>
          </a:p>
          <a:p>
            <a:pPr algn="ctr">
              <a:spcBef>
                <a:spcPts val="555"/>
              </a:spcBef>
              <a:buNone/>
            </a:pPr>
            <a:r>
              <a:rPr lang="en-US" sz="2400" b="1" i="0" dirty="0">
                <a:solidFill>
                  <a:srgbClr val="5C4826"/>
                </a:solidFill>
              </a:rPr>
              <a:t xml:space="preserve">MEMORY</a:t>
            </a:r>
          </a:p>
        </p:txBody>
      </p:sp>
      <p:cxnSp>
        <p:nvCxnSpPr>
          <p:cNvPr id="119" name="MmapA"/>
          <p:cNvCxnSpPr/>
          <p:nvPr/>
        </p:nvCxnSpPr>
        <p:spPr>
          <a:xfrm>
            <a:off x="7370000" y="1885200"/>
            <a:ext cx="600000" cy="550400"/>
          </a:xfrm>
          <a:prstGeom prst="line">
            <a:avLst/>
          </a:prstGeom>
          <a:ln w="19050">
            <a:solidFill>
              <a:srgbClr val="8E6F3E"/>
            </a:solidFill>
            <a:prstDash val="dash"/>
            <a:tailEnd type="triangle" w="med" len="med"/>
          </a:ln>
        </p:spPr>
      </p:cxnSp>
      <p:sp>
        <p:nvSpPr>
          <p:cNvPr id="120" name="MmapLbl"/>
          <p:cNvSpPr txBox="1"/>
          <p:nvPr/>
        </p:nvSpPr>
        <p:spPr>
          <a:xfrm>
            <a:off x="7830000" y="1910800"/>
            <a:ext cx="900000" cy="332800"/>
          </a:xfrm>
          <a:prstGeom prst="rect">
            <a:avLst/>
          </a:prstGeom>
          <a:noFill/>
          <a:ln>
            <a:noFill/>
          </a:ln>
        </p:spPr>
        <p:txBody>
          <a:bodyPr wrap="square" lIns="0" tIns="0" rIns="0" bIns="0" anchor="t">
            <a:normAutofit/>
          </a:bodyPr>
          <a:lstStyle/>
          <a:p>
            <a:pPr algn="l">
              <a:buNone/>
            </a:pPr>
            <a:r>
              <a:rPr lang="en-US" sz="2400" b="1" i="1" dirty="0">
                <a:solidFill>
                  <a:srgbClr val="8E6F3E"/>
                </a:solidFill>
              </a:rPr>
              <a:t xml:space="preserve">mmap</a:t>
            </a:r>
          </a:p>
        </p:txBody>
      </p:sp>
      <p:cxnSp>
        <p:nvCxnSpPr>
          <p:cNvPr id="121" name="PfA"/>
          <p:cNvCxnSpPr/>
          <p:nvPr/>
        </p:nvCxnSpPr>
        <p:spPr>
          <a:xfrm flipH="1">
            <a:off x="7370000" y="3178000"/>
            <a:ext cx="975000" cy="1382400"/>
          </a:xfrm>
          <a:prstGeom prst="line">
            <a:avLst/>
          </a:prstGeom>
          <a:ln w="19050">
            <a:solidFill>
              <a:srgbClr val="8E6F3E"/>
            </a:solidFill>
            <a:prstDash val="dash"/>
            <a:tailEnd type="triangle" w="med" len="med"/>
          </a:ln>
        </p:spPr>
      </p:cxnSp>
      <p:sp>
        <p:nvSpPr>
          <p:cNvPr id="122" name="PfLbl"/>
          <p:cNvSpPr txBox="1"/>
          <p:nvPr/>
        </p:nvSpPr>
        <p:spPr>
          <a:xfrm>
            <a:off x="8080000" y="3920400"/>
            <a:ext cx="1050000" cy="6144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page faults</a:t>
            </a:r>
          </a:p>
          <a:p>
            <a:pPr algn="l">
              <a:spcBef>
                <a:spcPts val="555"/>
              </a:spcBef>
              <a:buNone/>
            </a:pPr>
            <a:r>
              <a:rPr lang="en-US" sz="2400" b="0" i="1" dirty="0">
                <a:solidFill>
                  <a:srgbClr val="555960"/>
                </a:solidFill>
              </a:rPr>
              <a:t xml:space="preserve">→ FILE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 xml:space="preserve">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 xml:space="preserve">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 xml:space="preserve">🏆  A WINS  🏆</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a:bodyPr>
          <a:lstStyle/>
          <a:p>
            <a:pPr algn="ctr">
              <a:buNone/>
            </a:pPr>
            <a:r>
              <a:rPr lang="en-US" sz="2300" b="0" i="1" dirty="0">
                <a:solidFill>
                  <a:srgbClr val="000000"/>
                </a:solidFill>
              </a:rPr>
              <a:t xml:space="preserve">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 xml:space="preserve">WHY .30?</a:t>
            </a:r>
          </a:p>
        </p:txBody>
      </p:sp>
      <p:cxnSp>
        <p:nvCxnSpPr>
          <p:cNvPr id="121" name="CalloutArw1"/>
          <p:cNvCxnSpPr/>
          <p:nvPr/>
        </p:nvCxnSpPr>
        <p:spPr>
          <a:xfrm>
            <a:off x="1270000" y="1620000"/>
            <a:ext cx="2100000" cy="380000"/>
          </a:xfrm>
          <a:prstGeom prst="line">
            <a:avLst/>
          </a:prstGeom>
          <a:ln w="15875">
            <a:solidFill>
              <a:srgbClr val="B23B3B"/>
            </a:solidFill>
            <a:tailEnd type="triangle" w="med" len="med"/>
          </a:ln>
        </p:spPr>
      </p:cxnSp>
      <p:sp>
        <p:nvSpPr>
          <p:cNvPr id="122" name="Callout2"/>
          <p:cNvSpPr/>
          <p:nvPr/>
        </p:nvSpPr>
        <p:spPr>
          <a:xfrm>
            <a:off x="7560000" y="1150000"/>
            <a:ext cx="1520000" cy="64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 xml:space="preserve">WHAT IS</a:t>
            </a:r>
          </a:p>
          <a:p>
            <a:pPr algn="ctr">
              <a:spcBef>
                <a:spcPts val="300"/>
              </a:spcBef>
              <a:buNone/>
            </a:pPr>
            <a:r>
              <a:rPr lang="en-US" sz="1600" b="1" i="0" dirty="0">
                <a:solidFill>
                  <a:srgbClr val="B23B3B"/>
                </a:solidFill>
              </a:rPr>
              <a:t xml:space="preserve">A “5”?</a:t>
            </a:r>
          </a:p>
        </p:txBody>
      </p:sp>
      <p:cxnSp>
        <p:nvCxnSpPr>
          <p:cNvPr id="123" name="CalloutArw2"/>
          <p:cNvCxnSpPr/>
          <p:nvPr/>
        </p:nvCxnSpPr>
        <p:spPr>
          <a:xfrm flipH="1">
            <a:off x="6040000" y="1785000"/>
            <a:ext cx="1620000" cy="55000"/>
          </a:xfrm>
          <a:prstGeom prst="line">
            <a:avLst/>
          </a:prstGeom>
          <a:ln w="15875">
            <a:solidFill>
              <a:srgbClr val="B23B3B"/>
            </a:solidFill>
            <a:tailEnd type="triangle" w="med" len="med"/>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450000"/>
            <a:ext cx="1440000" cy="175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500" b="1" i="0" dirty="0">
                <a:solidFill>
                  <a:srgbClr val="B23B3B"/>
                </a:solidFill>
              </a:rPr>
              <a:t xml:space="preserve">WHY CAN COST</a:t>
            </a:r>
          </a:p>
          <a:p>
            <a:pPr algn="ctr">
              <a:spcBef>
                <a:spcPts val="300"/>
              </a:spcBef>
              <a:buNone/>
            </a:pPr>
            <a:r>
              <a:rPr lang="en-US" sz="1500" b="1" i="0" dirty="0">
                <a:solidFill>
                  <a:srgbClr val="B23B3B"/>
                </a:solidFill>
              </a:rPr>
              <a:t xml:space="preserve">COMPENSATE FOR</a:t>
            </a:r>
          </a:p>
          <a:p>
            <a:pPr algn="ctr">
              <a:spcBef>
                <a:spcPts val="300"/>
              </a:spcBef>
              <a:buNone/>
            </a:pPr>
            <a:r>
              <a:rPr lang="en-US" sz="1500" b="1" i="0" dirty="0">
                <a:solidFill>
                  <a:srgbClr val="B23B3B"/>
                </a:solidFill>
              </a:rPr>
              <a:t xml:space="preserve">RELIABILITY?</a:t>
            </a:r>
          </a:p>
        </p:txBody>
      </p:sp>
    </p:spTree>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20"/>
                                        </p:tgtEl>
                                        <p:attrNameLst>
                                          <p:attrName>style.visibility</p:attrName>
                                        </p:attrNameLst>
                                      </p:cBhvr>
                                      <p:to>
                                        <p:strVal val="visible"/>
                                      </p:to>
                                    </p:set>
                                    <p:animEffect transition="in" filter="fade">
                                      <p:cBhvr>
                                        <p:cTn id="6" dur="400"/>
                                        <p:tgtEl>
                                          <p:spTgt spid="120"/>
                                        </p:tgtEl>
                                      </p:cBhvr>
                                    </p:animEffect>
                                  </p:childTnLst>
                                </p:cTn>
                              </p:par>
                              <p:par>
                                <p:cTn id="7"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22"/>
                                        </p:tgtEl>
                                        <p:attrNameLst>
                                          <p:attrName>style.visibility</p:attrName>
                                        </p:attrNameLst>
                                      </p:cBhvr>
                                      <p:to>
                                        <p:strVal val="visible"/>
                                      </p:to>
                                    </p:set>
                                    <p:animEffect transition="in" filter="fade">
                                      <p:cBhvr>
                                        <p:cTn id="16" dur="400"/>
                                        <p:tgtEl>
                                          <p:spTgt spid="122"/>
                                        </p:tgtEl>
                                      </p:cBhvr>
                                    </p:animEffect>
                                  </p:childTnLst>
                                </p:cTn>
                              </p:par>
                              <p:par>
                                <p:cTn id="17" presetID="10" presetClass="entr" presetSubtype="0" fill="hold" nodeType="withEffect">
                                  <p:stCondLst>
                                    <p:cond delay="0"/>
                                  </p:stCondLst>
                                  <p:childTnLst>
                                    <p:set>
                                      <p:cBhvr>
                                        <p:cTn id="19" dur="1" fill="hold">
                                          <p:stCondLst>
                                            <p:cond delay="0"/>
                                          </p:stCondLst>
                                        </p:cTn>
                                        <p:tgtEl>
                                          <p:spTgt spid="123"/>
                                        </p:tgtEl>
                                        <p:attrNameLst>
                                          <p:attrName>style.visibility</p:attrName>
                                        </p:attrNameLst>
                                      </p:cBhvr>
                                      <p:to>
                                        <p:strVal val="visible"/>
                                      </p:to>
                                    </p:set>
                                    <p:animEffect transition="in" filter="fade">
                                      <p:cBhvr>
                                        <p:cTn id="20" dur="4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23" presetID="10" presetClass="entr" presetSubtype="0" fill="hold" nodeType="clickEffect">
                                  <p:stCondLst>
                                    <p:cond delay="0"/>
                                  </p:stCondLst>
                                  <p:childTnLst>
                                    <p:set>
                                      <p:cBhvr>
                                        <p:cTn id="25" dur="1" fill="hold">
                                          <p:stCondLst>
                                            <p:cond delay="0"/>
                                          </p:stCondLst>
                                        </p:cTn>
                                        <p:tgtEl>
                                          <p:spTgt spid="124"/>
                                        </p:tgtEl>
                                        <p:attrNameLst>
                                          <p:attrName>style.visibility</p:attrName>
                                        </p:attrNameLst>
                                      </p:cBhvr>
                                      <p:to>
                                        <p:strVal val="visible"/>
                                      </p:to>
                                    </p:set>
                                    <p:animEffect transition="in" filter="fade">
                                      <p:cBhvr>
                                        <p:cTn id="26" dur="400"/>
                                        <p:tgtEl>
                                          <p:spTgt spid="124"/>
                                        </p:tgtEl>
                                      </p:cBhvr>
                                    </p:animEffect>
                                  </p:childTnLst>
                                </p:cTn>
                              </p:par>
                              <p:par>
                                <p:cTn id="27" presetID="10" presetClass="entr" presetSubtype="0" fill="hold" nodeType="withEffect">
                                  <p:stCondLst>
                                    <p:cond delay="0"/>
                                  </p:stCondLst>
                                  <p:childTnLst>
                                    <p:set>
                                      <p:cBhvr>
                                        <p:cTn id="29" dur="1" fill="hold">
                                          <p:stCondLst>
                                            <p:cond delay="0"/>
                                          </p:stCondLst>
                                        </p:cTn>
                                        <p:tgtEl>
                                          <p:spTgt spid="125"/>
                                        </p:tgtEl>
                                        <p:attrNameLst>
                                          <p:attrName>style.visibility</p:attrName>
                                        </p:attrNameLst>
                                      </p:cBhvr>
                                      <p:to>
                                        <p:strVal val="visible"/>
                                      </p:to>
                                    </p:set>
                                    <p:animEffect transition="in" filter="fade">
                                      <p:cBhvr>
                                        <p:cTn id="3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 xml:space="preserve">Constraints are not objectives.</a:t>
            </a:r>
          </a:p>
          <a:p>
            <a:pPr algn="ctr">
              <a:spcBef>
                <a:spcPts val="230"/>
              </a:spcBef>
              <a:buNone/>
            </a:pPr>
            <a:r>
              <a:rPr lang="en-US" sz="2400" b="0" i="0" dirty="0">
                <a:solidFill>
                  <a:srgbClr val="000000"/>
                </a:solidFill>
              </a:rPr>
              <a:t xml:space="preserve">Specification first removes infeasible candidates; then dominance removes the clearly-worse ones.</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a:bodyPr>
          <a:lstStyle/>
          <a:p>
            <a:pPr algn="l">
              <a:buNone/>
            </a:pPr>
            <a:r>
              <a:rPr lang="en-US" sz="2200" b="1" i="0" dirty="0">
                <a:solidFill>
                  <a:srgbClr val="8E6F3E"/>
                </a:solidFill>
              </a:rPr>
              <a:t xml:space="preserve">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A</a:t>
            </a:r>
          </a:p>
          <a:p>
            <a:pPr algn="ctr">
              <a:spcBef>
                <a:spcPts val="480"/>
              </a:spcBef>
              <a:buNone/>
            </a:pPr>
            <a:r>
              <a:rPr lang="en-US" sz="2600" b="1" i="0" dirty="0">
                <a:solidFill>
                  <a:srgbClr val="1F7A4D"/>
                </a:solidFill>
              </a:rPr>
              <a:t xml:space="preserve">✓</a:t>
            </a:r>
          </a:p>
        </p:txBody>
      </p:sp>
      <p:sp>
        <p:nvSpPr>
          <p:cNvPr id="102" name="S1B"/>
          <p:cNvSpPr/>
          <p:nvPr/>
        </p:nvSpPr>
        <p:spPr>
          <a:xfrm>
            <a:off x="1354000" y="1880000"/>
            <a:ext cx="936000" cy="1020000"/>
          </a:xfrm>
          <a:prstGeom prst="rect">
            <a:avLst/>
          </a:prstGeom>
          <a:solidFill>
            <a:srgbClr val="F5F1E8"/>
          </a:solidFill>
          <a:ln w="22860">
            <a:solidFill>
              <a:srgbClr val="B23B3B"/>
            </a:solidFill>
          </a:ln>
        </p:spPr>
        <p:txBody>
          <a:bodyPr wrap="square" lIns="54864" tIns="27432" rIns="54864" bIns="27432" anchor="ctr">
            <a:normAutofit/>
          </a:bodyPr>
          <a:lstStyle/>
          <a:p>
            <a:pPr algn="ctr">
              <a:buNone/>
            </a:pPr>
            <a:r>
              <a:rPr lang="en-US" sz="2600" b="1" i="0" dirty="0">
                <a:solidFill>
                  <a:srgbClr val="5C4826"/>
                </a:solidFill>
              </a:rPr>
              <a:t xml:space="preserve">B</a:t>
            </a:r>
          </a:p>
          <a:p>
            <a:pPr algn="ctr">
              <a:spcBef>
                <a:spcPts val="480"/>
              </a:spcBef>
              <a:buNone/>
            </a:pPr>
            <a:r>
              <a:rPr lang="en-US" sz="2600" b="1" i="0" dirty="0">
                <a:solidFill>
                  <a:srgbClr val="B23B3B"/>
                </a:solidFill>
              </a:rPr>
              <a:t xml:space="preserve">✗</a:t>
            </a:r>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C</a:t>
            </a:r>
          </a:p>
          <a:p>
            <a:pPr algn="ctr">
              <a:spcBef>
                <a:spcPts val="480"/>
              </a:spcBef>
              <a:buNone/>
            </a:pPr>
            <a:r>
              <a:rPr lang="en-US" sz="2600" b="1" i="0" dirty="0">
                <a:solidFill>
                  <a:srgbClr val="1F7A4D"/>
                </a:solidFill>
              </a:rPr>
              <a:t xml:space="preserve">✓</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D</a:t>
            </a:r>
          </a:p>
          <a:p>
            <a:pPr algn="ctr">
              <a:spcBef>
                <a:spcPts val="480"/>
              </a:spcBef>
              <a:buNone/>
            </a:pPr>
            <a:r>
              <a:rPr lang="en-US" sz="2600" b="1" i="0" dirty="0">
                <a:solidFill>
                  <a:srgbClr val="1F7A4D"/>
                </a:solidFill>
              </a:rPr>
              <a:t xml:space="preserve">✓</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a:bodyPr>
          <a:lstStyle/>
          <a:p>
            <a:pPr algn="ctr">
              <a:buNone/>
            </a:pPr>
            <a:r>
              <a:rPr lang="en-US" sz="2000" b="0" i="1" dirty="0">
                <a:solidFill>
                  <a:srgbClr val="B23B3B"/>
                </a:solidFill>
              </a:rPr>
              <a:t xml:space="preserve">B violates</a:t>
            </a:r>
          </a:p>
          <a:p>
            <a:pPr algn="ctr">
              <a:spcBef>
                <a:spcPts val="480"/>
              </a:spcBef>
              <a:buNone/>
            </a:pPr>
            <a:r>
              <a:rPr lang="en-US" sz="2000" b="0" i="1" dirty="0">
                <a:solidFill>
                  <a:srgbClr val="B23B3B"/>
                </a:solidFill>
              </a:rPr>
              <a:t xml:space="preserve">required latency</a:t>
            </a:r>
          </a:p>
        </p:txBody>
      </p:sp>
      <p:cxnSp>
        <p:nvCxnSpPr>
          <p:cNvPr id="106" name="Div"/>
          <p:cNvCxnSpPr/>
          <p:nvPr/>
        </p:nvCxnSpPr>
        <p:spPr>
          <a:xfrm>
            <a:off x="4600000" y="1350000"/>
            <a:ext cx="0" cy="2950000"/>
          </a:xfrm>
          <a:prstGeom prst="line">
            <a:avLst/>
          </a:prstGeom>
          <a:ln w="12700">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a:bodyPr>
          <a:lstStyle/>
          <a:p>
            <a:pPr algn="l">
              <a:buNone/>
            </a:pPr>
            <a:r>
              <a:rPr lang="en-US" sz="2200" b="1" i="0" dirty="0">
                <a:solidFill>
                  <a:srgbClr val="8E6F3E"/>
                </a:solidFill>
              </a:rPr>
              <a:t xml:space="preserve">STAGE 2 — DOMINANCE</a:t>
            </a:r>
          </a:p>
        </p:txBody>
      </p:sp>
      <p:cxnSp>
        <p:nvCxnSpPr>
          <p:cNvPr id="108" name="AxX"/>
          <p:cNvCxnSpPr/>
          <p:nvPr/>
        </p:nvCxnSpPr>
        <p:spPr>
          <a:xfrm>
            <a:off x="4868750" y="4525000"/>
            <a:ext cx="4062500" cy="0"/>
          </a:xfrm>
          <a:prstGeom prst="line">
            <a:avLst/>
          </a:prstGeom>
          <a:ln w="23812">
            <a:solidFill>
              <a:srgbClr val="8E6F3E"/>
            </a:solidFill>
            <a:tailEnd type="triangle" w="med" len="med"/>
          </a:ln>
        </p:spPr>
      </p:cxnSp>
      <p:cxnSp>
        <p:nvCxnSpPr>
          <p:cNvPr id="109" name="AxY"/>
          <p:cNvCxnSpPr/>
          <p:nvPr/>
        </p:nvCxnSpPr>
        <p:spPr>
          <a:xfrm flipV="1">
            <a:off x="4868750" y="1587500"/>
            <a:ext cx="0" cy="2937500"/>
          </a:xfrm>
          <a:prstGeom prst="line">
            <a:avLst/>
          </a:prstGeom>
          <a:ln w="23812">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 xml:space="preserve">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C</a:t>
            </a: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a:bodyPr>
          <a:lstStyle/>
          <a:p>
            <a:endParaRP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a:bodyPr>
          <a:lstStyle/>
          <a:p>
            <a:pPr algn="l">
              <a:buNone/>
            </a:pPr>
            <a:r>
              <a:rPr lang="en-US" sz="2600" b="1" i="0" dirty="0">
                <a:solidFill>
                  <a:srgbClr val="B23B3B"/>
                </a:solidFill>
              </a:rPr>
              <a:t xml:space="preserve">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 xml:space="preserve">D is dominated by 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 real tradeoff requires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 xml:space="preserve">Mathematics has not chosen for us.</a:t>
            </a:r>
          </a:p>
        </p:txBody>
      </p:sp>
      <p:cxnSp>
        <p:nvCxnSpPr>
          <p:cNvPr id="100" name="AxX"/>
          <p:cNvCxnSpPr/>
          <p:nvPr/>
        </p:nvCxnSpPr>
        <p:spPr>
          <a:xfrm>
            <a:off x="381250" y="5007500"/>
            <a:ext cx="8437500" cy="0"/>
          </a:xfrm>
          <a:prstGeom prst="line">
            <a:avLst/>
          </a:prstGeom>
          <a:ln w="25718">
            <a:solidFill>
              <a:srgbClr val="8E6F3E"/>
            </a:solidFill>
            <a:tailEnd type="triangle" w="med" len="med"/>
          </a:ln>
        </p:spPr>
      </p:cxnSp>
      <p:cxnSp>
        <p:nvCxnSpPr>
          <p:cNvPr id="101" name="AxY"/>
          <p:cNvCxnSpPr/>
          <p:nvPr/>
        </p:nvCxnSpPr>
        <p:spPr>
          <a:xfrm flipV="1">
            <a:off x="381250" y="1092500"/>
            <a:ext cx="0" cy="3915000"/>
          </a:xfrm>
          <a:prstGeom prst="line">
            <a:avLst/>
          </a:prstGeom>
          <a:ln w="25718">
            <a:solidFill>
              <a:srgbClr val="8E6F3E"/>
            </a:solidFill>
            <a:tailEnd type="triangle" w="med" len="med"/>
          </a:ln>
        </p:spPr>
      </p:cxnSp>
      <p:sp>
        <p:nvSpPr>
          <p:cNvPr id="102" name="AxXLbl"/>
          <p:cNvSpPr txBox="1"/>
          <p:nvPr/>
        </p:nvSpPr>
        <p:spPr>
          <a:xfrm>
            <a:off x="7100000" y="5060000"/>
            <a:ext cx="170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 xml:space="preserve">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Property Y → better</a:t>
            </a:r>
          </a:p>
        </p:txBody>
      </p:sp>
      <p:cxnSp>
        <p:nvCxnSpPr>
          <p:cNvPr id="104" name="Fr0"/>
          <p:cNvCxnSpPr/>
          <p:nvPr/>
        </p:nvCxnSpPr>
        <p:spPr>
          <a:xfrm>
            <a:off x="1461250" y="1632500"/>
            <a:ext cx="2160000" cy="675000"/>
          </a:xfrm>
          <a:prstGeom prst="line">
            <a:avLst/>
          </a:prstGeom>
          <a:ln w="25718">
            <a:solidFill>
              <a:srgbClr val="C9B991"/>
            </a:solidFill>
            <a:prstDash val="dash"/>
          </a:ln>
        </p:spPr>
      </p:cxnSp>
      <p:cxnSp>
        <p:nvCxnSpPr>
          <p:cNvPr id="105" name="Fr1"/>
          <p:cNvCxnSpPr/>
          <p:nvPr/>
        </p:nvCxnSpPr>
        <p:spPr>
          <a:xfrm>
            <a:off x="3621250" y="2307500"/>
            <a:ext cx="2160000" cy="945000"/>
          </a:xfrm>
          <a:prstGeom prst="line">
            <a:avLst/>
          </a:prstGeom>
          <a:ln w="25718">
            <a:solidFill>
              <a:srgbClr val="C9B991"/>
            </a:solidFill>
            <a:prstDash val="dash"/>
          </a:ln>
        </p:spPr>
      </p:cxnSp>
      <p:cxnSp>
        <p:nvCxnSpPr>
          <p:cNvPr id="106" name="Fr2"/>
          <p:cNvCxnSpPr/>
          <p:nvPr/>
        </p:nvCxnSpPr>
        <p:spPr>
          <a:xfrm>
            <a:off x="5781250" y="3252500"/>
            <a:ext cx="2025000" cy="1147500"/>
          </a:xfrm>
          <a:prstGeom prst="line">
            <a:avLst/>
          </a:prstGeom>
          <a:ln w="25718">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 xml:space="preserve">no point dominates another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 xml:space="preserve">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UNCERTAIN CHOICE</a:t>
            </a:r>
          </a:p>
        </p:txBody>
      </p:sp>
      <p:cxnSp>
        <p:nvCxnSpPr>
          <p:cNvPr id="101" name="A1"/>
          <p:cNvCxnSpPr/>
          <p:nvPr/>
        </p:nvCxnSpPr>
        <p:spPr>
          <a:xfrm>
            <a:off x="1780000" y="2850000"/>
            <a:ext cx="170000" cy="0"/>
          </a:xfrm>
          <a:prstGeom prst="line">
            <a:avLst/>
          </a:prstGeom>
          <a:ln w="19431">
            <a:solidFill>
              <a:srgbClr val="8E6F3E"/>
            </a:solidFill>
            <a:tailEnd type="triangle" w="med" len="med"/>
          </a:ln>
        </p:spPr>
      </p:cxnSp>
      <p:sp>
        <p:nvSpPr>
          <p:cNvPr id="102" name="Diamond"/>
          <p:cNvSpPr/>
          <p:nvPr/>
        </p:nvSpPr>
        <p:spPr>
          <a:xfrm>
            <a:off x="1950000" y="1700000"/>
            <a:ext cx="2700000" cy="2300000"/>
          </a:xfrm>
          <a:prstGeom prst="diamond">
            <a:avLst/>
          </a:prstGeom>
          <a:solidFill>
            <a:srgbClr val="FFFFFF"/>
          </a:solidFill>
          <a:ln w="19431">
            <a:solidFill>
              <a:srgbClr val="8E6F3E"/>
            </a:solidFill>
          </a:ln>
        </p:spPr>
        <p:txBody>
          <a:bodyPr wrap="square" lIns="180000" tIns="180000" rIns="180000" bIns="180000" anchor="ctr">
            <a:normAutofit/>
          </a:bodyPr>
          <a:lstStyle/>
          <a:p>
            <a:pPr algn="ctr">
              <a:buNone/>
            </a:pPr>
            <a:r>
              <a:rPr lang="en-US" sz="2000" b="1" i="0" dirty="0">
                <a:solidFill>
                  <a:srgbClr val="5C4826"/>
                </a:solidFill>
              </a:rPr>
              <a:t xml:space="preserve">Could knowing</a:t>
            </a:r>
          </a:p>
          <a:p>
            <a:pPr algn="ctr">
              <a:spcBef>
                <a:spcPts val="566"/>
              </a:spcBef>
              <a:buNone/>
            </a:pPr>
            <a:r>
              <a:rPr lang="en-US" sz="2000" b="1" i="0" dirty="0">
                <a:solidFill>
                  <a:srgbClr val="5C4826"/>
                </a:solidFill>
              </a:rPr>
              <a:t xml:space="preserve">more change</a:t>
            </a:r>
          </a:p>
          <a:p>
            <a:pPr algn="ctr">
              <a:spcBef>
                <a:spcPts val="566"/>
              </a:spcBef>
              <a:buNone/>
            </a:pPr>
            <a:r>
              <a:rPr lang="en-US" sz="2000" b="1" i="0" dirty="0">
                <a:solidFill>
                  <a:srgbClr val="5C4826"/>
                </a:solidFill>
              </a:rPr>
              <a:t xml:space="preserve">the decision?</a:t>
            </a:r>
          </a:p>
        </p:txBody>
      </p:sp>
      <p:cxnSp>
        <p:nvCxnSpPr>
          <p:cNvPr id="103" name="ANo"/>
          <p:cNvCxnSpPr/>
          <p:nvPr/>
        </p:nvCxnSpPr>
        <p:spPr>
          <a:xfrm>
            <a:off x="3300000" y="4000000"/>
            <a:ext cx="0" cy="450000"/>
          </a:xfrm>
          <a:prstGeom prst="line">
            <a:avLst/>
          </a:prstGeom>
          <a:ln w="19431">
            <a:solidFill>
              <a:srgbClr val="8E6F3E"/>
            </a:solidFill>
            <a:tailEnd type="triangle" w="med" len="med"/>
          </a:ln>
        </p:spPr>
      </p:cxnSp>
      <p:sp>
        <p:nvSpPr>
          <p:cNvPr id="104" name="NoLbl"/>
          <p:cNvSpPr txBox="1"/>
          <p:nvPr/>
        </p:nvSpPr>
        <p:spPr>
          <a:xfrm>
            <a:off x="3390000" y="406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 xml:space="preserve">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DECIDE</a:t>
            </a:r>
          </a:p>
        </p:txBody>
      </p:sp>
      <p:cxnSp>
        <p:nvCxnSpPr>
          <p:cNvPr id="106" name="AYes"/>
          <p:cNvCxnSpPr/>
          <p:nvPr/>
        </p:nvCxnSpPr>
        <p:spPr>
          <a:xfrm>
            <a:off x="4650000" y="2850000"/>
            <a:ext cx="350000" cy="0"/>
          </a:xfrm>
          <a:prstGeom prst="line">
            <a:avLst/>
          </a:prstGeom>
          <a:ln w="19431">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 xml:space="preserve">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a:bodyPr>
          <a:lstStyle/>
          <a:p>
            <a:pPr algn="ctr">
              <a:buNone/>
            </a:pPr>
            <a:r>
              <a:rPr lang="en-US" sz="2300" b="1" i="0" dirty="0">
                <a:solidFill>
                  <a:srgbClr val="FFFFFF"/>
                </a:solidFill>
              </a:rPr>
              <a:t xml:space="preserve">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MODEL</a:t>
            </a:r>
          </a:p>
        </p:txBody>
      </p:sp>
      <p:cxnSp>
        <p:nvCxnSpPr>
          <p:cNvPr id="110" name="KA0"/>
          <p:cNvCxnSpPr/>
          <p:nvPr/>
        </p:nvCxnSpPr>
        <p:spPr>
          <a:xfrm flipV="1">
            <a:off x="6300000" y="1830000"/>
            <a:ext cx="200000" cy="1020000"/>
          </a:xfrm>
          <a:prstGeom prst="line">
            <a:avLst/>
          </a:prstGeom>
          <a:ln w="19431">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PROTOTYPE</a:t>
            </a:r>
          </a:p>
        </p:txBody>
      </p:sp>
      <p:cxnSp>
        <p:nvCxnSpPr>
          <p:cNvPr id="112" name="KA1"/>
          <p:cNvCxnSpPr/>
          <p:nvPr/>
        </p:nvCxnSpPr>
        <p:spPr>
          <a:xfrm>
            <a:off x="6300000" y="2850000"/>
            <a:ext cx="200000" cy="0"/>
          </a:xfrm>
          <a:prstGeom prst="line">
            <a:avLst/>
          </a:prstGeom>
          <a:ln w="19431">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MEASURE</a:t>
            </a:r>
          </a:p>
        </p:txBody>
      </p:sp>
      <p:cxnSp>
        <p:nvCxnSpPr>
          <p:cNvPr id="114" name="KA2"/>
          <p:cNvCxnSpPr/>
          <p:nvPr/>
        </p:nvCxnSpPr>
        <p:spPr>
          <a:xfrm>
            <a:off x="6300000" y="2850000"/>
            <a:ext cx="200000" cy="1020000"/>
          </a:xfrm>
          <a:prstGeom prst="line">
            <a:avLst/>
          </a:prstGeom>
          <a:ln w="19431">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DECIDE</a:t>
            </a:r>
          </a:p>
          <a:p>
            <a:pPr algn="ctr">
              <a:spcBef>
                <a:spcPts val="534"/>
              </a:spcBef>
              <a:buNone/>
            </a:pPr>
            <a:r>
              <a:rPr lang="en-US" sz="2000" b="1" i="0" dirty="0">
                <a:solidFill>
                  <a:srgbClr val="FFFFFF"/>
                </a:solidFill>
              </a:rPr>
              <a:t xml:space="preserve">BETTER</a:t>
            </a:r>
          </a:p>
        </p:txBody>
      </p:sp>
      <p:cxnSp>
        <p:nvCxnSpPr>
          <p:cNvPr id="116" name="CA0"/>
          <p:cNvCxnSpPr/>
          <p:nvPr/>
        </p:nvCxnSpPr>
        <p:spPr>
          <a:xfrm>
            <a:off x="7900000" y="1830000"/>
            <a:ext cx="150000" cy="1020000"/>
          </a:xfrm>
          <a:prstGeom prst="line">
            <a:avLst/>
          </a:prstGeom>
          <a:ln w="19431">
            <a:solidFill>
              <a:srgbClr val="8E6F3E"/>
            </a:solidFill>
            <a:tailEnd type="triangle" w="med" len="med"/>
          </a:ln>
        </p:spPr>
      </p:cxnSp>
      <p:cxnSp>
        <p:nvCxnSpPr>
          <p:cNvPr id="117" name="CA1"/>
          <p:cNvCxnSpPr/>
          <p:nvPr/>
        </p:nvCxnSpPr>
        <p:spPr>
          <a:xfrm>
            <a:off x="7900000" y="2850000"/>
            <a:ext cx="150000" cy="0"/>
          </a:xfrm>
          <a:prstGeom prst="line">
            <a:avLst/>
          </a:prstGeom>
          <a:ln w="19431">
            <a:solidFill>
              <a:srgbClr val="8E6F3E"/>
            </a:solidFill>
            <a:tailEnd type="triangle" w="med" len="med"/>
          </a:ln>
        </p:spPr>
      </p:cxnSp>
      <p:cxnSp>
        <p:nvCxnSpPr>
          <p:cNvPr id="118" name="CA2"/>
          <p:cNvCxnSpPr/>
          <p:nvPr/>
        </p:nvCxnSpPr>
        <p:spPr>
          <a:xfrm flipV="1">
            <a:off x="7900000" y="2850000"/>
            <a:ext cx="150000" cy="1020000"/>
          </a:xfrm>
          <a:prstGeom prst="line">
            <a:avLst/>
          </a:prstGeom>
          <a:ln w="19431">
            <a:solidFill>
              <a:srgbClr val="8E6F3E"/>
            </a:solidFill>
            <a:tailEnd type="triangl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makes some</a:t>
            </a:r>
            <a:br>
              <a:rPr lang="en-US" sz="2800"/>
            </a:br>
            <a:r>
              <a:rPr lang="en-US" sz="2800" b="0" i="0" dirty="0">
                <a:solidFill>
                  <a:srgbClr val="555960"/>
                </a:solidFill>
              </a:rPr>
              <a:t xml:space="preserve">properties analyzable.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31718">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 xml:space="preserve">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 xml:space="preserve">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16" name="G3arw"/>
          <p:cNvCxnSpPr/>
          <p:nvPr/>
        </p:nvCxnSpPr>
        <p:spPr>
          <a:xfrm>
            <a:off x="1983480" y="5602000"/>
            <a:ext cx="666000" cy="0"/>
          </a:xfrm>
          <a:prstGeom prst="line">
            <a:avLst/>
          </a:prstGeom>
          <a:ln w="28194">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21146">
            <a:solidFill>
              <a:srgbClr val="8E6F3E"/>
            </a:solidFill>
          </a:ln>
        </p:spPr>
      </p:cxnSp>
      <p:cxnSp>
        <p:nvCxnSpPr>
          <p:cNvPr id="119" name="G4h2"/>
          <p:cNvCxnSpPr/>
          <p:nvPr/>
        </p:nvCxnSpPr>
        <p:spPr>
          <a:xfrm>
            <a:off x="5329020" y="5520400"/>
            <a:ext cx="111000" cy="0"/>
          </a:xfrm>
          <a:prstGeom prst="line">
            <a:avLst/>
          </a:prstGeom>
          <a:ln w="21146">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a:bodyPr>
          <a:lstStyle/>
          <a:p>
            <a:pPr algn="ctr">
              <a:buNone/>
            </a:pPr>
            <a:r>
              <a:rPr lang="en-US" sz="2400" b="0" i="1" dirty="0">
                <a:solidFill>
                  <a:srgbClr val="555960"/>
                </a:solidFill>
              </a:rPr>
              <a:t xml:space="preserve">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a:bodyPr>
          <a:lstStyle/>
          <a:p>
            <a:pPr algn="ctr">
              <a:buNone/>
            </a:pPr>
            <a:r>
              <a:rPr lang="en-US" sz="2400" b="1" i="0" dirty="0">
                <a:solidFill>
                  <a:srgbClr val="8E6F3E"/>
                </a:solidFill>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Patterns give us alternatives—and expectations about their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9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 xml:space="preserve">These are rules of thumb, not guarantees.</a:t>
            </a:r>
          </a:p>
        </p:txBody>
      </p:sp>
      <p:sp>
        <p:nvSpPr>
          <p:cNvPr id="100" name="PastExp"/>
          <p:cNvSpPr/>
          <p:nvPr/>
        </p:nvSpPr>
        <p:spPr>
          <a:xfrm>
            <a:off x="571437" y="1980000"/>
            <a:ext cx="21630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PAST ENGINEERING</a:t>
            </a:r>
          </a:p>
          <a:p>
            <a:pPr algn="ctr">
              <a:spcBef>
                <a:spcPts val="555"/>
              </a:spcBef>
              <a:buNone/>
            </a:pPr>
            <a:r>
              <a:rPr lang="en-US" sz="2300" b="1" i="0" dirty="0">
                <a:solidFill>
                  <a:srgbClr val="5C4826"/>
                </a:solidFill>
              </a:rPr>
              <a:t xml:space="preserve">EXPERIENCE</a:t>
            </a:r>
          </a:p>
          <a:p>
            <a:pPr algn="ctr">
              <a:spcBef>
                <a:spcPts val="555"/>
              </a:spcBef>
              <a:buNone/>
            </a:pPr>
            <a:r>
              <a:rPr lang="en-US" sz="2000" b="0" i="1" dirty="0">
                <a:solidFill>
                  <a:srgbClr val="555960"/>
                </a:solidFill>
              </a:rPr>
              <a:t xml:space="preserve">a recurring problem</a:t>
            </a:r>
          </a:p>
        </p:txBody>
      </p:sp>
      <p:cxnSp>
        <p:nvCxnSpPr>
          <p:cNvPr id="101" name="A1"/>
          <p:cNvCxnSpPr/>
          <p:nvPr/>
        </p:nvCxnSpPr>
        <p:spPr>
          <a:xfrm>
            <a:off x="2734437" y="2705000"/>
            <a:ext cx="581126" cy="0"/>
          </a:xfrm>
          <a:prstGeom prst="line">
            <a:avLst/>
          </a:prstGeom>
          <a:ln w="19622">
            <a:solidFill>
              <a:srgbClr val="8E6F3E"/>
            </a:solidFill>
            <a:tailEnd type="triangle" w="med" len="med"/>
          </a:ln>
        </p:spPr>
      </p:cxnSp>
      <p:sp>
        <p:nvSpPr>
          <p:cNvPr id="102" name="Pattern"/>
          <p:cNvSpPr/>
          <p:nvPr/>
        </p:nvSpPr>
        <p:spPr>
          <a:xfrm>
            <a:off x="3315563" y="2197500"/>
            <a:ext cx="1751000" cy="1015000"/>
          </a:xfrm>
          <a:prstGeom prst="rect">
            <a:avLst/>
          </a:prstGeom>
          <a:solidFill>
            <a:srgbClr val="8E6F3E"/>
          </a:solidFill>
          <a:ln>
            <a:noFill/>
          </a:ln>
        </p:spPr>
        <p:txBody>
          <a:bodyPr wrap="square" lIns="54864" tIns="27432" rIns="54864" bIns="27432" anchor="ctr">
            <a:normAutofit/>
          </a:bodyPr>
          <a:lstStyle/>
          <a:p>
            <a:pPr algn="ctr">
              <a:buNone/>
            </a:pPr>
            <a:r>
              <a:rPr lang="en-US" sz="3000" b="1" i="0" dirty="0">
                <a:solidFill>
                  <a:srgbClr val="FFFFFF"/>
                </a:solidFill>
              </a:rPr>
              <a:t xml:space="preserve">PATTERN</a:t>
            </a:r>
          </a:p>
        </p:txBody>
      </p:sp>
      <p:sp>
        <p:nvSpPr>
          <p:cNvPr id="103" name="Org"/>
          <p:cNvSpPr/>
          <p:nvPr/>
        </p:nvSpPr>
        <p:spPr>
          <a:xfrm>
            <a:off x="6045063" y="1110000"/>
            <a:ext cx="25235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ORGANIZATION</a:t>
            </a:r>
          </a:p>
          <a:p>
            <a:pPr algn="ctr">
              <a:spcBef>
                <a:spcPts val="555"/>
              </a:spcBef>
              <a:buNone/>
            </a:pPr>
            <a:r>
              <a:rPr lang="en-US" sz="2000" b="0" i="1" dirty="0">
                <a:solidFill>
                  <a:srgbClr val="555960"/>
                </a:solidFill>
              </a:rPr>
              <a:t xml:space="preserve">“try organizing it this way”</a:t>
            </a:r>
          </a:p>
        </p:txBody>
      </p:sp>
      <p:sp>
        <p:nvSpPr>
          <p:cNvPr id="104" name="ExpProp"/>
          <p:cNvSpPr/>
          <p:nvPr/>
        </p:nvSpPr>
        <p:spPr>
          <a:xfrm>
            <a:off x="6045063" y="3140000"/>
            <a:ext cx="25235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EXPECTED PROPERTIES</a:t>
            </a:r>
          </a:p>
          <a:p>
            <a:pPr algn="ctr">
              <a:spcBef>
                <a:spcPts val="555"/>
              </a:spcBef>
              <a:buNone/>
            </a:pPr>
            <a:r>
              <a:rPr lang="en-US" sz="2000" b="0" i="1" dirty="0">
                <a:solidFill>
                  <a:srgbClr val="555960"/>
                </a:solidFill>
              </a:rPr>
              <a:t xml:space="preserve">“tends to make X easier</a:t>
            </a:r>
          </a:p>
          <a:p>
            <a:pPr algn="ctr">
              <a:spcBef>
                <a:spcPts val="555"/>
              </a:spcBef>
              <a:buNone/>
            </a:pPr>
            <a:r>
              <a:rPr lang="en-US" sz="2000" b="0" i="1" dirty="0">
                <a:solidFill>
                  <a:srgbClr val="555960"/>
                </a:solidFill>
              </a:rPr>
              <a:t xml:space="preserve">and Y harder”</a:t>
            </a:r>
          </a:p>
        </p:txBody>
      </p:sp>
      <p:cxnSp>
        <p:nvCxnSpPr>
          <p:cNvPr id="105" name="A2"/>
          <p:cNvCxnSpPr/>
          <p:nvPr/>
        </p:nvCxnSpPr>
        <p:spPr>
          <a:xfrm flipV="1">
            <a:off x="5066563" y="1835000"/>
            <a:ext cx="978500" cy="652500"/>
          </a:xfrm>
          <a:prstGeom prst="line">
            <a:avLst/>
          </a:prstGeom>
          <a:ln w="19622">
            <a:solidFill>
              <a:srgbClr val="8E6F3E"/>
            </a:solidFill>
            <a:tailEnd type="triangle" w="med" len="med"/>
          </a:ln>
        </p:spPr>
      </p:cxnSp>
      <p:cxnSp>
        <p:nvCxnSpPr>
          <p:cNvPr id="106" name="A3"/>
          <p:cNvCxnSpPr/>
          <p:nvPr/>
        </p:nvCxnSpPr>
        <p:spPr>
          <a:xfrm>
            <a:off x="5066563" y="2922500"/>
            <a:ext cx="978500" cy="942500"/>
          </a:xfrm>
          <a:prstGeom prst="line">
            <a:avLst/>
          </a:prstGeom>
          <a:ln w="19622">
            <a:solidFill>
              <a:srgbClr val="8E6F3E"/>
            </a:solidFill>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MVC: separate model, view, and interaction logic.</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830000"/>
            <a:ext cx="7772400" cy="900000"/>
          </a:xfrm>
          <a:prstGeom prst="rect">
            <a:avLst/>
          </a:prstGeom>
          <a:noFill/>
          <a:ln>
            <a:noFill/>
          </a:ln>
        </p:spPr>
        <p:txBody>
          <a:bodyPr wrap="square" lIns="0" tIns="0" rIns="0" bIns="0" anchor="t">
            <a:normAutofit/>
          </a:bodyPr>
          <a:lstStyle/>
          <a:p>
            <a:pPr algn="ctr">
              <a:buNone/>
            </a:pPr>
            <a:r>
              <a:rPr lang="en-US" sz="2400" b="1" i="0" dirty="0">
                <a:solidFill>
                  <a:srgbClr val="000000"/>
                </a:solidFill>
              </a:rPr>
              <a:t xml:space="preserve">Expected tradeoff: </a:t>
            </a:r>
            <a:r>
              <a:rPr lang="en-US" sz="2400" b="0" i="1" dirty="0">
                <a:solidFill>
                  <a:srgbClr val="000000"/>
                </a:solidFill>
              </a:rPr>
              <a:t xml:space="preserve">multiple presentations and independent evolution — vs. coordination and indirection.</a:t>
            </a:r>
          </a:p>
        </p:txBody>
      </p:sp>
      <p:sp>
        <p:nvSpPr>
          <p:cNvPr id="100" name="User"/>
          <p:cNvSpPr/>
          <p:nvPr/>
        </p:nvSpPr>
        <p:spPr>
          <a:xfrm>
            <a:off x="480000" y="2414000"/>
            <a:ext cx="2240000" cy="992000"/>
          </a:xfrm>
          <a:prstGeom prst="rect">
            <a:avLst/>
          </a:prstGeom>
          <a:solidFill>
            <a:srgbClr val="FFFFFF"/>
          </a:solidFill>
          <a:ln w="15875">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USER</a:t>
            </a:r>
          </a:p>
        </p:txBody>
      </p:sp>
      <p:sp>
        <p:nvSpPr>
          <p:cNvPr id="101" name="Controller"/>
          <p:cNvSpPr/>
          <p:nvPr/>
        </p:nvSpPr>
        <p:spPr>
          <a:xfrm>
            <a:off x="3230000" y="131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CONTROLLER</a:t>
            </a:r>
          </a:p>
        </p:txBody>
      </p:sp>
      <p:sp>
        <p:nvSpPr>
          <p:cNvPr id="102" name="Model"/>
          <p:cNvSpPr/>
          <p:nvPr/>
        </p:nvSpPr>
        <p:spPr>
          <a:xfrm>
            <a:off x="6450000" y="2414000"/>
            <a:ext cx="240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MODEL</a:t>
            </a:r>
          </a:p>
        </p:txBody>
      </p:sp>
      <p:sp>
        <p:nvSpPr>
          <p:cNvPr id="103" name="View"/>
          <p:cNvSpPr/>
          <p:nvPr/>
        </p:nvSpPr>
        <p:spPr>
          <a:xfrm>
            <a:off x="3230000" y="356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VIEW</a:t>
            </a:r>
          </a:p>
        </p:txBody>
      </p:sp>
      <p:cxnSp>
        <p:nvCxnSpPr>
          <p:cNvPr id="104" name="UC"/>
          <p:cNvCxnSpPr/>
          <p:nvPr/>
        </p:nvCxnSpPr>
        <p:spPr>
          <a:xfrm flipV="1">
            <a:off x="2400000" y="1810000"/>
            <a:ext cx="830000" cy="790000"/>
          </a:xfrm>
          <a:prstGeom prst="line">
            <a:avLst/>
          </a:prstGeom>
          <a:ln w="19050">
            <a:solidFill>
              <a:srgbClr val="8E6F3E"/>
            </a:solidFill>
            <a:tailEnd type="triangle" w="med" len="med"/>
          </a:ln>
        </p:spPr>
      </p:cxnSp>
      <p:cxnSp>
        <p:nvCxnSpPr>
          <p:cNvPr id="105" name="CM"/>
          <p:cNvCxnSpPr/>
          <p:nvPr/>
        </p:nvCxnSpPr>
        <p:spPr>
          <a:xfrm>
            <a:off x="6270000" y="1900000"/>
            <a:ext cx="930000" cy="514000"/>
          </a:xfrm>
          <a:prstGeom prst="line">
            <a:avLst/>
          </a:prstGeom>
          <a:ln w="19050">
            <a:solidFill>
              <a:srgbClr val="8E6F3E"/>
            </a:solidFill>
            <a:tailEnd type="triangle" w="med" len="med"/>
          </a:ln>
        </p:spPr>
      </p:cxnSp>
      <p:sp>
        <p:nvSpPr>
          <p:cNvPr id="106" name="CMLbl"/>
          <p:cNvSpPr txBox="1"/>
          <p:nvPr/>
        </p:nvSpPr>
        <p:spPr>
          <a:xfrm>
            <a:off x="6550000" y="1650000"/>
            <a:ext cx="15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changes</a:t>
            </a:r>
          </a:p>
        </p:txBody>
      </p:sp>
      <p:cxnSp>
        <p:nvCxnSpPr>
          <p:cNvPr id="107" name="MV"/>
          <p:cNvCxnSpPr/>
          <p:nvPr/>
        </p:nvCxnSpPr>
        <p:spPr>
          <a:xfrm flipH="1">
            <a:off x="6270000" y="3406000"/>
            <a:ext cx="1030000" cy="494000"/>
          </a:xfrm>
          <a:prstGeom prst="line">
            <a:avLst/>
          </a:prstGeom>
          <a:ln w="19050">
            <a:solidFill>
              <a:srgbClr val="8E6F3E"/>
            </a:solidFill>
            <a:tailEnd type="triangle" w="med" len="med"/>
          </a:ln>
        </p:spPr>
      </p:cxnSp>
      <p:sp>
        <p:nvSpPr>
          <p:cNvPr id="108" name="MVLbl"/>
          <p:cNvSpPr txBox="1"/>
          <p:nvPr/>
        </p:nvSpPr>
        <p:spPr>
          <a:xfrm>
            <a:off x="6650000" y="3960000"/>
            <a:ext cx="19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observed by</a:t>
            </a:r>
          </a:p>
        </p:txBody>
      </p:sp>
      <p:cxnSp>
        <p:nvCxnSpPr>
          <p:cNvPr id="109" name="VU"/>
          <p:cNvCxnSpPr/>
          <p:nvPr/>
        </p:nvCxnSpPr>
        <p:spPr>
          <a:xfrm flipH="1" flipV="1">
            <a:off x="2100000" y="3406000"/>
            <a:ext cx="1130000" cy="494000"/>
          </a:xfrm>
          <a:prstGeom prst="line">
            <a:avLst/>
          </a:prstGeom>
          <a:ln w="19050">
            <a:solidFill>
              <a:srgbClr val="8E6F3E"/>
            </a:solidFill>
            <a:tailEnd type="triangle"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Repository: organize around shared authoritative state.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5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600" b="0" i="0" dirty="0">
                <a:solidFill>
                  <a:srgbClr val="000000"/>
                </a:solidFill>
              </a:rPr>
              <a:t xml:space="preserve">Consistency and integration become easier.</a:t>
            </a:r>
          </a:p>
          <a:p>
            <a:pPr algn="l">
              <a:spcBef>
                <a:spcPts val="200"/>
              </a:spcBef>
              <a:buNone/>
            </a:pPr>
            <a:r>
              <a:rPr lang="en-US" sz="2600" b="0" i="0" dirty="0">
                <a:solidFill>
                  <a:srgbClr val="000000"/>
                </a:solidFill>
              </a:rPr>
              <a:t xml:space="preserve">Everyone now depends on the center.</a:t>
            </a:r>
          </a:p>
        </p:txBody>
      </p:sp>
      <p:sp>
        <p:nvSpPr>
          <p:cNvPr id="100" name="Repo"/>
          <p:cNvSpPr/>
          <p:nvPr/>
        </p:nvSpPr>
        <p:spPr>
          <a:xfrm>
            <a:off x="3160000" y="2175000"/>
            <a:ext cx="2830000" cy="11500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 xml:space="preserve">REPOSITORY</a:t>
            </a:r>
          </a:p>
          <a:p>
            <a:pPr algn="ctr">
              <a:spcBef>
                <a:spcPts val="525"/>
              </a:spcBef>
              <a:buNone/>
            </a:pPr>
            <a:r>
              <a:rPr lang="en-US" sz="1800" b="0" i="1" dirty="0">
                <a:solidFill>
                  <a:srgbClr val="FFFFFF"/>
                </a:solidFill>
              </a:rPr>
              <a:t xml:space="preserve">shared authoritative state</a:t>
            </a:r>
          </a:p>
        </p:txBody>
      </p:sp>
      <p:sp>
        <p:nvSpPr>
          <p:cNvPr id="101" name="Input"/>
          <p:cNvSpPr/>
          <p:nvPr/>
        </p:nvSpPr>
        <p:spPr>
          <a:xfrm>
            <a:off x="707500" y="2315000"/>
            <a:ext cx="1885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INPUT</a:t>
            </a:r>
          </a:p>
        </p:txBody>
      </p:sp>
      <p:cxnSp>
        <p:nvCxnSpPr>
          <p:cNvPr id="102" name="AIn"/>
          <p:cNvCxnSpPr/>
          <p:nvPr/>
        </p:nvCxnSpPr>
        <p:spPr>
          <a:xfrm>
            <a:off x="2592500" y="2750000"/>
            <a:ext cx="567500" cy="0"/>
          </a:xfrm>
          <a:prstGeom prst="line">
            <a:avLst/>
          </a:prstGeom>
          <a:ln w="19050">
            <a:solidFill>
              <a:srgbClr val="8E6F3E"/>
            </a:solidFill>
            <a:tailEnd type="triangle" w="med" len="med"/>
          </a:ln>
        </p:spPr>
      </p:cxnSp>
      <p:sp>
        <p:nvSpPr>
          <p:cNvPr id="103" name="Reporter"/>
          <p:cNvSpPr/>
          <p:nvPr/>
        </p:nvSpPr>
        <p:spPr>
          <a:xfrm>
            <a:off x="6685000" y="2315000"/>
            <a:ext cx="2030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REPORTER</a:t>
            </a:r>
          </a:p>
        </p:txBody>
      </p:sp>
      <p:cxnSp>
        <p:nvCxnSpPr>
          <p:cNvPr id="104" name="AOut"/>
          <p:cNvCxnSpPr/>
          <p:nvPr/>
        </p:nvCxnSpPr>
        <p:spPr>
          <a:xfrm>
            <a:off x="5990000" y="2750000"/>
            <a:ext cx="695000" cy="0"/>
          </a:xfrm>
          <a:prstGeom prst="line">
            <a:avLst/>
          </a:prstGeom>
          <a:ln w="19050">
            <a:solidFill>
              <a:srgbClr val="8E6F3E"/>
            </a:solidFill>
            <a:tailEnd type="triangle" w="med" len="med"/>
          </a:ln>
        </p:spPr>
      </p:cxnSp>
      <p:sp>
        <p:nvSpPr>
          <p:cNvPr id="105" name="Analyzer"/>
          <p:cNvSpPr/>
          <p:nvPr/>
        </p:nvSpPr>
        <p:spPr>
          <a:xfrm>
            <a:off x="3665000" y="116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ANALYZER</a:t>
            </a:r>
          </a:p>
        </p:txBody>
      </p:sp>
      <p:cxnSp>
        <p:nvCxnSpPr>
          <p:cNvPr id="106" name="ADown"/>
          <p:cNvCxnSpPr/>
          <p:nvPr/>
        </p:nvCxnSpPr>
        <p:spPr>
          <a:xfrm>
            <a:off x="4575000" y="1935000"/>
            <a:ext cx="0" cy="240000"/>
          </a:xfrm>
          <a:prstGeom prst="line">
            <a:avLst/>
          </a:prstGeom>
          <a:ln w="19050">
            <a:solidFill>
              <a:srgbClr val="8E6F3E"/>
            </a:solidFill>
            <a:tailEnd type="triangle" w="med" len="med"/>
          </a:ln>
        </p:spPr>
      </p:cxnSp>
      <p:sp>
        <p:nvSpPr>
          <p:cNvPr id="107" name="Optimizer"/>
          <p:cNvSpPr/>
          <p:nvPr/>
        </p:nvSpPr>
        <p:spPr>
          <a:xfrm>
            <a:off x="3665000" y="361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OPTIMIZER</a:t>
            </a:r>
          </a:p>
        </p:txBody>
      </p:sp>
      <p:cxnSp>
        <p:nvCxnSpPr>
          <p:cNvPr id="108" name="AUp"/>
          <p:cNvCxnSpPr/>
          <p:nvPr/>
        </p:nvCxnSpPr>
        <p:spPr>
          <a:xfrm flipV="1">
            <a:off x="4575000" y="3325000"/>
            <a:ext cx="0" cy="290000"/>
          </a:xfrm>
          <a:prstGeom prst="line">
            <a:avLst/>
          </a:prstGeom>
          <a:ln w="19050">
            <a:solidFill>
              <a:srgbClr val="8E6F3E"/>
            </a:solidFill>
            <a:tailEnd type="triangle" w="med" len="med"/>
          </a:ln>
        </p:spPr>
      </p:cxnSp>
      <p:sp>
        <p:nvSpPr>
          <p:cNvPr id="109" name="ConsLbl"/>
          <p:cNvSpPr txBox="1"/>
          <p:nvPr/>
        </p:nvSpPr>
        <p:spPr>
          <a:xfrm>
            <a:off x="850000" y="3900000"/>
            <a:ext cx="2400000" cy="380000"/>
          </a:xfrm>
          <a:prstGeom prst="rect">
            <a:avLst/>
          </a:prstGeom>
          <a:noFill/>
          <a:ln>
            <a:noFill/>
          </a:ln>
        </p:spPr>
        <p:txBody>
          <a:bodyPr wrap="square" lIns="0" tIns="0" rIns="0" bIns="0" anchor="t">
            <a:normAutofit/>
          </a:bodyPr>
          <a:lstStyle/>
          <a:p>
            <a:pPr algn="l">
              <a:buNone/>
            </a:pPr>
            <a:r>
              <a:rPr lang="en-US" sz="2000" b="1" i="1" dirty="0">
                <a:solidFill>
                  <a:srgbClr val="1F7A4D"/>
                </a:solidFill>
              </a:rPr>
              <a:t xml:space="preserve">consistency ↑</a:t>
            </a:r>
          </a:p>
        </p:txBody>
      </p:sp>
      <p:sp>
        <p:nvSpPr>
          <p:cNvPr id="110" name="CoupLbl"/>
          <p:cNvSpPr txBox="1"/>
          <p:nvPr/>
        </p:nvSpPr>
        <p:spPr>
          <a:xfrm>
            <a:off x="6250000" y="3900000"/>
            <a:ext cx="2700000" cy="380000"/>
          </a:xfrm>
          <a:prstGeom prst="rect">
            <a:avLst/>
          </a:prstGeom>
          <a:noFill/>
          <a:ln>
            <a:noFill/>
          </a:ln>
        </p:spPr>
        <p:txBody>
          <a:bodyPr wrap="square" lIns="0" tIns="0" rIns="0" bIns="0" anchor="t">
            <a:normAutofit/>
          </a:bodyPr>
          <a:lstStyle/>
          <a:p>
            <a:pPr algn="r">
              <a:buNone/>
            </a:pPr>
            <a:r>
              <a:rPr lang="en-US" sz="2000" b="1" i="1" dirty="0">
                <a:solidFill>
                  <a:srgbClr val="B23B3B"/>
                </a:solidFill>
              </a:rPr>
              <a:t xml:space="preserve">central coupling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Control dependencies across boundaries.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2" name="T62"/>
          <p:cNvSpPr txBox="1"/>
          <p:nvPr/>
        </p:nvSpPr>
        <p:spPr>
          <a:xfrm>
            <a:off x="685800" y="6050000"/>
            <a:ext cx="7772400" cy="35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 xml:space="preserve">Often called ports-and-adapters / hexagonal / clean architecture.</a:t>
            </a:r>
          </a:p>
        </p:txBody>
      </p:sp>
      <p:sp>
        <p:nvSpPr>
          <p:cNvPr id="100" name="BeforeLbl"/>
          <p:cNvSpPr txBox="1"/>
          <p:nvPr/>
        </p:nvSpPr>
        <p:spPr>
          <a:xfrm>
            <a:off x="300000" y="1022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BEFORE</a:t>
            </a:r>
          </a:p>
        </p:txBody>
      </p:sp>
      <p:sp>
        <p:nvSpPr>
          <p:cNvPr id="101" name="BUI"/>
          <p:cNvSpPr/>
          <p:nvPr/>
        </p:nvSpPr>
        <p:spPr>
          <a:xfrm>
            <a:off x="545017" y="1453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2" name="BDomain"/>
          <p:cNvSpPr/>
          <p:nvPr/>
        </p:nvSpPr>
        <p:spPr>
          <a:xfrm>
            <a:off x="3212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sp>
        <p:nvSpPr>
          <p:cNvPr id="103" name="BDb"/>
          <p:cNvSpPr/>
          <p:nvPr/>
        </p:nvSpPr>
        <p:spPr>
          <a:xfrm>
            <a:off x="6260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DATABASE</a:t>
            </a:r>
          </a:p>
        </p:txBody>
      </p:sp>
      <p:cxnSp>
        <p:nvCxnSpPr>
          <p:cNvPr id="104" name="BA1"/>
          <p:cNvCxnSpPr/>
          <p:nvPr/>
        </p:nvCxnSpPr>
        <p:spPr>
          <a:xfrm>
            <a:off x="2196017" y="1803050"/>
            <a:ext cx="1016000" cy="0"/>
          </a:xfrm>
          <a:prstGeom prst="line">
            <a:avLst/>
          </a:prstGeom>
          <a:ln w="24194">
            <a:solidFill>
              <a:srgbClr val="8E6F3E"/>
            </a:solidFill>
            <a:tailEnd type="triangle" w="med" len="med"/>
          </a:ln>
        </p:spPr>
      </p:cxnSp>
      <p:cxnSp>
        <p:nvCxnSpPr>
          <p:cNvPr id="105" name="BA2"/>
          <p:cNvCxnSpPr/>
          <p:nvPr/>
        </p:nvCxnSpPr>
        <p:spPr>
          <a:xfrm>
            <a:off x="5244017" y="1803050"/>
            <a:ext cx="1016000" cy="0"/>
          </a:xfrm>
          <a:prstGeom prst="line">
            <a:avLst/>
          </a:prstGeom>
          <a:ln w="24194">
            <a:solidFill>
              <a:srgbClr val="B23B3B"/>
            </a:solidFill>
            <a:tailEnd type="triangle" w="med" len="med"/>
          </a:ln>
        </p:spPr>
      </p:cxnSp>
      <p:sp>
        <p:nvSpPr>
          <p:cNvPr id="106" name="BCap"/>
          <p:cNvSpPr txBox="1"/>
          <p:nvPr/>
        </p:nvSpPr>
        <p:spPr>
          <a:xfrm>
            <a:off x="3974017" y="2317400"/>
            <a:ext cx="4572000" cy="355600"/>
          </a:xfrm>
          <a:prstGeom prst="rect">
            <a:avLst/>
          </a:prstGeom>
          <a:noFill/>
          <a:ln>
            <a:noFill/>
          </a:ln>
        </p:spPr>
        <p:txBody>
          <a:bodyPr wrap="square" lIns="0" tIns="0" rIns="0" bIns="0" anchor="t">
            <a:normAutofit/>
          </a:bodyPr>
          <a:lstStyle/>
          <a:p>
            <a:pPr algn="l">
              <a:buNone/>
            </a:pPr>
            <a:r>
              <a:rPr lang="en-US" sz="1900" b="0" i="1" dirty="0">
                <a:solidFill>
                  <a:srgbClr val="B23B3B"/>
                </a:solidFill>
              </a:rPr>
              <a:t xml:space="preserve">infrastructure becomes a domain dependency</a:t>
            </a:r>
          </a:p>
        </p:txBody>
      </p:sp>
      <p:sp>
        <p:nvSpPr>
          <p:cNvPr id="107" name="AfterLbl"/>
          <p:cNvSpPr txBox="1"/>
          <p:nvPr/>
        </p:nvSpPr>
        <p:spPr>
          <a:xfrm>
            <a:off x="300000" y="3777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AFTER</a:t>
            </a:r>
          </a:p>
        </p:txBody>
      </p:sp>
      <p:sp>
        <p:nvSpPr>
          <p:cNvPr id="108" name="AUI"/>
          <p:cNvSpPr/>
          <p:nvPr/>
        </p:nvSpPr>
        <p:spPr>
          <a:xfrm>
            <a:off x="545017" y="4208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9" name="ADomain"/>
          <p:cNvSpPr/>
          <p:nvPr/>
        </p:nvSpPr>
        <p:spPr>
          <a:xfrm>
            <a:off x="3212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sp>
        <p:nvSpPr>
          <p:cNvPr id="110" name="Iface"/>
          <p:cNvSpPr/>
          <p:nvPr/>
        </p:nvSpPr>
        <p:spPr>
          <a:xfrm>
            <a:off x="5244017" y="4119900"/>
            <a:ext cx="127000" cy="876300"/>
          </a:xfrm>
          <a:prstGeom prst="rect">
            <a:avLst/>
          </a:prstGeom>
          <a:solidFill>
            <a:srgbClr val="8E6F3E"/>
          </a:solidFill>
          <a:ln>
            <a:noFill/>
          </a:ln>
        </p:spPr>
        <p:txBody>
          <a:bodyPr wrap="square" lIns="54864" tIns="27432" rIns="54864" bIns="27432" anchor="ctr">
            <a:normAutofit/>
          </a:bodyPr>
          <a:lstStyle/>
          <a:p>
            <a:endParaRPr/>
          </a:p>
        </p:txBody>
      </p:sp>
      <p:sp>
        <p:nvSpPr>
          <p:cNvPr id="111" name="IfaceLbl"/>
          <p:cNvSpPr txBox="1"/>
          <p:nvPr/>
        </p:nvSpPr>
        <p:spPr>
          <a:xfrm>
            <a:off x="4164517" y="3789700"/>
            <a:ext cx="3556000" cy="330200"/>
          </a:xfrm>
          <a:prstGeom prst="rect">
            <a:avLst/>
          </a:prstGeom>
          <a:noFill/>
          <a:ln>
            <a:noFill/>
          </a:ln>
        </p:spPr>
        <p:txBody>
          <a:bodyPr wrap="square" lIns="0" tIns="0" rIns="0" bIns="0" anchor="t">
            <a:normAutofit/>
          </a:bodyPr>
          <a:lstStyle/>
          <a:p>
            <a:pPr algn="l">
              <a:buNone/>
            </a:pPr>
            <a:r>
              <a:rPr lang="en-US" sz="1800" b="1" i="0" dirty="0">
                <a:solidFill>
                  <a:srgbClr val="8E6F3E"/>
                </a:solidFill>
              </a:rPr>
              <a:t xml:space="preserve">DOMAIN-DEFINED INTERFACE</a:t>
            </a:r>
          </a:p>
        </p:txBody>
      </p:sp>
      <p:sp>
        <p:nvSpPr>
          <p:cNvPr id="112" name="AAdapter"/>
          <p:cNvSpPr/>
          <p:nvPr/>
        </p:nvSpPr>
        <p:spPr>
          <a:xfrm>
            <a:off x="6260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DB ADAPTER</a:t>
            </a:r>
          </a:p>
        </p:txBody>
      </p:sp>
      <p:cxnSp>
        <p:nvCxnSpPr>
          <p:cNvPr id="113" name="AA1"/>
          <p:cNvCxnSpPr/>
          <p:nvPr/>
        </p:nvCxnSpPr>
        <p:spPr>
          <a:xfrm>
            <a:off x="2196017" y="4558050"/>
            <a:ext cx="1016000" cy="0"/>
          </a:xfrm>
          <a:prstGeom prst="line">
            <a:avLst/>
          </a:prstGeom>
          <a:ln w="24194">
            <a:solidFill>
              <a:srgbClr val="8E6F3E"/>
            </a:solidFill>
            <a:tailEnd type="triangle" w="med" len="med"/>
          </a:ln>
        </p:spPr>
      </p:cxnSp>
      <p:cxnSp>
        <p:nvCxnSpPr>
          <p:cNvPr id="114" name="AA2"/>
          <p:cNvCxnSpPr/>
          <p:nvPr/>
        </p:nvCxnSpPr>
        <p:spPr>
          <a:xfrm flipH="1">
            <a:off x="5409117" y="4558050"/>
            <a:ext cx="850900" cy="0"/>
          </a:xfrm>
          <a:prstGeom prst="line">
            <a:avLst/>
          </a:prstGeom>
          <a:ln w="32258">
            <a:solidFill>
              <a:srgbClr val="1F7A4D"/>
            </a:solidFill>
            <a:tailEnd type="triangle" w="med" len="med"/>
          </a:ln>
        </p:spPr>
      </p:cxnSp>
      <p:sp>
        <p:nvSpPr>
          <p:cNvPr id="115" name="ACap"/>
          <p:cNvSpPr txBox="1"/>
          <p:nvPr/>
        </p:nvSpPr>
        <p:spPr>
          <a:xfrm>
            <a:off x="3974017" y="5072400"/>
            <a:ext cx="5334000" cy="355600"/>
          </a:xfrm>
          <a:prstGeom prst="rect">
            <a:avLst/>
          </a:prstGeom>
          <a:noFill/>
          <a:ln>
            <a:noFill/>
          </a:ln>
        </p:spPr>
        <p:txBody>
          <a:bodyPr wrap="square" lIns="0" tIns="0" rIns="0" bIns="0" anchor="t">
            <a:normAutofit/>
          </a:bodyPr>
          <a:lstStyle/>
          <a:p>
            <a:pPr algn="l">
              <a:buNone/>
            </a:pPr>
            <a:r>
              <a:rPr lang="en-US" sz="1900" b="0" i="1" dirty="0">
                <a:solidFill>
                  <a:srgbClr val="1F7A4D"/>
                </a:solidFill>
              </a:rPr>
              <a:t xml:space="preserve">the dependency now points into the domain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Events: producers need not know their consumers.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230000"/>
            <a:ext cx="7772400" cy="420000"/>
          </a:xfrm>
          <a:prstGeom prst="rect">
            <a:avLst/>
          </a:prstGeom>
          <a:noFill/>
          <a:ln>
            <a:noFill/>
          </a:ln>
        </p:spPr>
        <p:txBody>
          <a:bodyPr wrap="square" lIns="0" tIns="0" rIns="0" bIns="0" anchor="t">
            <a:normAutofit/>
          </a:bodyPr>
          <a:lstStyle/>
          <a:p>
            <a:pPr algn="ctr">
              <a:buNone/>
            </a:pPr>
            <a:r>
              <a:rPr lang="en-US" sz="2200" b="1" i="0" dirty="0">
                <a:solidFill>
                  <a:srgbClr val="000000"/>
                </a:solidFill>
              </a:rPr>
              <a:t xml:space="preserve">Rule of thumb: </a:t>
            </a:r>
            <a:r>
              <a:rPr lang="en-US" sz="2200" b="0" i="0" dirty="0">
                <a:solidFill>
                  <a:srgbClr val="000000"/>
                </a:solidFill>
              </a:rPr>
              <a:t xml:space="preserve">event-based often makes adding consumers easier.</a:t>
            </a:r>
          </a:p>
        </p:txBody>
      </p:sp>
      <p:sp>
        <p:nvSpPr>
          <p:cNvPr id="62" name="T62"/>
          <p:cNvSpPr txBox="1"/>
          <p:nvPr/>
        </p:nvSpPr>
        <p:spPr>
          <a:xfrm>
            <a:off x="685800" y="4680000"/>
            <a:ext cx="7772400" cy="640000"/>
          </a:xfrm>
          <a:prstGeom prst="rect">
            <a:avLst/>
          </a:prstGeom>
          <a:noFill/>
          <a:ln>
            <a:noFill/>
          </a:ln>
        </p:spPr>
        <p:txBody>
          <a:bodyPr wrap="square" lIns="0" tIns="0" rIns="0" bIns="0" anchor="t">
            <a:normAutofit/>
          </a:bodyPr>
          <a:lstStyle/>
          <a:p>
            <a:pPr algn="ctr">
              <a:buNone/>
            </a:pPr>
            <a:r>
              <a:rPr lang="en-US" sz="2200" b="1" i="0" dirty="0">
                <a:solidFill>
                  <a:srgbClr val="5C4826"/>
                </a:solidFill>
              </a:rPr>
              <a:t xml:space="preserve">Engineering question: </a:t>
            </a:r>
            <a:r>
              <a:rPr lang="en-US" sz="2200" b="0" i="1" dirty="0">
                <a:solidFill>
                  <a:srgbClr val="000000"/>
                </a:solidFill>
              </a:rPr>
              <a:t xml:space="preserve">does THIS event architecture satisfy our ordering, latency, reliability, and observability obligations?</a:t>
            </a:r>
          </a:p>
        </p:txBody>
      </p:sp>
      <p:sp>
        <p:nvSpPr>
          <p:cNvPr id="63" name="Band63"/>
          <p:cNvSpPr/>
          <p:nvPr/>
        </p:nvSpPr>
        <p:spPr>
          <a:xfrm>
            <a:off x="279400" y="533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100" b="1" i="0" dirty="0">
                <a:solidFill>
                  <a:srgbClr val="FFFFFF"/>
                </a:solidFill>
              </a:rPr>
              <a:t xml:space="preserve">PATTERN KNOWLEDGE  —  increasing complexity / consequence  —▶  ANALYSIS</a:t>
            </a:r>
          </a:p>
          <a:p>
            <a:pPr algn="ctr">
              <a:spcBef>
                <a:spcPts val="182"/>
              </a:spcBef>
              <a:buNone/>
            </a:pPr>
            <a:r>
              <a:rPr lang="en-US" sz="1800" b="0" i="1" dirty="0">
                <a:solidFill>
                  <a:srgbClr val="FFFFFF"/>
                </a:solidFill>
              </a:rPr>
              <a:t xml:space="preserve">“reasonable expectation”  →  “show me”</a:t>
            </a:r>
          </a:p>
        </p:txBody>
      </p:sp>
      <p:sp>
        <p:nvSpPr>
          <p:cNvPr id="64" name="T64"/>
          <p:cNvSpPr txBox="1"/>
          <p:nvPr/>
        </p:nvSpPr>
        <p:spPr>
          <a:xfrm>
            <a:off x="685800" y="6400000"/>
            <a:ext cx="7772400" cy="35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 xml:space="preserve">—  STRETCH BREAK  —</a:t>
            </a:r>
          </a:p>
        </p:txBody>
      </p:sp>
      <p:sp>
        <p:nvSpPr>
          <p:cNvPr id="100" name="DirLbl"/>
          <p:cNvSpPr txBox="1"/>
          <p:nvPr/>
        </p:nvSpPr>
        <p:spPr>
          <a:xfrm>
            <a:off x="571437" y="1050000"/>
            <a:ext cx="2060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 xml:space="preserve">DIRECT</a:t>
            </a:r>
          </a:p>
        </p:txBody>
      </p:sp>
      <p:sp>
        <p:nvSpPr>
          <p:cNvPr id="101" name="DA"/>
          <p:cNvSpPr/>
          <p:nvPr/>
        </p:nvSpPr>
        <p:spPr>
          <a:xfrm>
            <a:off x="6890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 xml:space="preserve">A</a:t>
            </a:r>
          </a:p>
        </p:txBody>
      </p:sp>
      <p:sp>
        <p:nvSpPr>
          <p:cNvPr id="102" name="DB"/>
          <p:cNvSpPr/>
          <p:nvPr/>
        </p:nvSpPr>
        <p:spPr>
          <a:xfrm>
            <a:off x="2697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03" name="DA0"/>
          <p:cNvCxnSpPr/>
          <p:nvPr/>
        </p:nvCxnSpPr>
        <p:spPr>
          <a:xfrm flipV="1">
            <a:off x="1410063" y="1802400"/>
            <a:ext cx="1287500" cy="765600"/>
          </a:xfrm>
          <a:prstGeom prst="line">
            <a:avLst/>
          </a:prstGeom>
          <a:ln w="19622">
            <a:solidFill>
              <a:srgbClr val="8E6F3E"/>
            </a:solidFill>
            <a:tailEnd type="triangle" w="med" len="med"/>
          </a:ln>
        </p:spPr>
      </p:cxnSp>
      <p:sp>
        <p:nvSpPr>
          <p:cNvPr id="104" name="DC"/>
          <p:cNvSpPr/>
          <p:nvPr/>
        </p:nvSpPr>
        <p:spPr>
          <a:xfrm>
            <a:off x="2697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cxnSp>
        <p:nvCxnSpPr>
          <p:cNvPr id="105" name="DA1"/>
          <p:cNvCxnSpPr/>
          <p:nvPr/>
        </p:nvCxnSpPr>
        <p:spPr>
          <a:xfrm>
            <a:off x="1410063" y="2568000"/>
            <a:ext cx="1287500" cy="0"/>
          </a:xfrm>
          <a:prstGeom prst="line">
            <a:avLst/>
          </a:prstGeom>
          <a:ln w="19622">
            <a:solidFill>
              <a:srgbClr val="8E6F3E"/>
            </a:solidFill>
            <a:tailEnd type="triangle" w="med" len="med"/>
          </a:ln>
        </p:spPr>
      </p:cxnSp>
      <p:sp>
        <p:nvSpPr>
          <p:cNvPr id="106" name="DD"/>
          <p:cNvSpPr/>
          <p:nvPr/>
        </p:nvSpPr>
        <p:spPr>
          <a:xfrm>
            <a:off x="2697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cxnSp>
        <p:nvCxnSpPr>
          <p:cNvPr id="107" name="DA2"/>
          <p:cNvCxnSpPr/>
          <p:nvPr/>
        </p:nvCxnSpPr>
        <p:spPr>
          <a:xfrm>
            <a:off x="1410063" y="2568000"/>
            <a:ext cx="1287500" cy="765600"/>
          </a:xfrm>
          <a:prstGeom prst="line">
            <a:avLst/>
          </a:prstGeom>
          <a:ln w="19622">
            <a:solidFill>
              <a:srgbClr val="8E6F3E"/>
            </a:solidFill>
            <a:tailEnd type="triangle" w="med" len="med"/>
          </a:ln>
        </p:spPr>
      </p:cxnSp>
      <p:sp>
        <p:nvSpPr>
          <p:cNvPr id="108" name="DCap"/>
          <p:cNvSpPr txBox="1"/>
          <p:nvPr/>
        </p:nvSpPr>
        <p:spPr>
          <a:xfrm>
            <a:off x="689063" y="3782400"/>
            <a:ext cx="2987000" cy="3432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A knows B, C, D</a:t>
            </a:r>
          </a:p>
        </p:txBody>
      </p:sp>
      <p:cxnSp>
        <p:nvCxnSpPr>
          <p:cNvPr id="109" name="Div"/>
          <p:cNvCxnSpPr/>
          <p:nvPr/>
        </p:nvCxnSpPr>
        <p:spPr>
          <a:xfrm>
            <a:off x="4366163" y="1248000"/>
            <a:ext cx="0" cy="2574000"/>
          </a:xfrm>
          <a:prstGeom prst="line">
            <a:avLst/>
          </a:prstGeom>
          <a:ln w="13081">
            <a:solidFill>
              <a:srgbClr val="C9B991"/>
            </a:solidFill>
            <a:prstDash val="dash"/>
          </a:ln>
        </p:spPr>
      </p:cxnSp>
      <p:sp>
        <p:nvSpPr>
          <p:cNvPr id="110" name="EvLbl"/>
          <p:cNvSpPr txBox="1"/>
          <p:nvPr/>
        </p:nvSpPr>
        <p:spPr>
          <a:xfrm>
            <a:off x="4757563" y="1050000"/>
            <a:ext cx="2678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 xml:space="preserve">EVENT-BASED</a:t>
            </a:r>
          </a:p>
        </p:txBody>
      </p:sp>
      <p:sp>
        <p:nvSpPr>
          <p:cNvPr id="111" name="EA"/>
          <p:cNvSpPr/>
          <p:nvPr/>
        </p:nvSpPr>
        <p:spPr>
          <a:xfrm>
            <a:off x="47575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 xml:space="preserve">A</a:t>
            </a:r>
          </a:p>
        </p:txBody>
      </p:sp>
      <p:sp>
        <p:nvSpPr>
          <p:cNvPr id="112" name="EBus"/>
          <p:cNvSpPr/>
          <p:nvPr/>
        </p:nvSpPr>
        <p:spPr>
          <a:xfrm>
            <a:off x="6045063" y="1446000"/>
            <a:ext cx="391400" cy="2178000"/>
          </a:xfrm>
          <a:prstGeom prst="rect">
            <a:avLst/>
          </a:prstGeom>
          <a:solidFill>
            <a:srgbClr val="8E6F3E"/>
          </a:solidFill>
          <a:ln>
            <a:noFill/>
          </a:ln>
        </p:spPr>
        <p:txBody>
          <a:bodyPr wrap="square" lIns="54864" tIns="27432" rIns="54864" bIns="27432" anchor="ctr">
            <a:normAutofit/>
          </a:bodyPr>
          <a:lstStyle/>
          <a:p>
            <a:endParaRPr/>
          </a:p>
        </p:txBody>
      </p:sp>
      <p:sp>
        <p:nvSpPr>
          <p:cNvPr id="113" name="EBusLbl"/>
          <p:cNvSpPr txBox="1"/>
          <p:nvPr/>
        </p:nvSpPr>
        <p:spPr>
          <a:xfrm rot="-5400000">
            <a:off x="5313763" y="2363400"/>
            <a:ext cx="1854000" cy="343200"/>
          </a:xfrm>
          <a:prstGeom prst="rect">
            <a:avLst/>
          </a:prstGeom>
          <a:noFill/>
          <a:ln>
            <a:noFill/>
          </a:ln>
        </p:spPr>
        <p:txBody>
          <a:bodyPr wrap="square" lIns="0" tIns="0" rIns="0" bIns="0" anchor="t">
            <a:normAutofit/>
          </a:bodyPr>
          <a:lstStyle/>
          <a:p>
            <a:pPr algn="ctr">
              <a:buNone/>
            </a:pPr>
            <a:r>
              <a:rPr lang="en-US" sz="2400" b="1" i="0" dirty="0">
                <a:solidFill>
                  <a:srgbClr val="FFFFFF"/>
                </a:solidFill>
              </a:rPr>
              <a:t xml:space="preserve">EVENT BUS</a:t>
            </a:r>
          </a:p>
        </p:txBody>
      </p:sp>
      <p:cxnSp>
        <p:nvCxnSpPr>
          <p:cNvPr id="114" name="EAB"/>
          <p:cNvCxnSpPr/>
          <p:nvPr/>
        </p:nvCxnSpPr>
        <p:spPr>
          <a:xfrm>
            <a:off x="5478563" y="2568000"/>
            <a:ext cx="566500" cy="0"/>
          </a:xfrm>
          <a:prstGeom prst="line">
            <a:avLst/>
          </a:prstGeom>
          <a:ln w="19622">
            <a:solidFill>
              <a:srgbClr val="8E6F3E"/>
            </a:solidFill>
            <a:tailEnd type="triangle" w="med" len="med"/>
          </a:ln>
        </p:spPr>
      </p:cxnSp>
      <p:sp>
        <p:nvSpPr>
          <p:cNvPr id="115" name="EB"/>
          <p:cNvSpPr/>
          <p:nvPr/>
        </p:nvSpPr>
        <p:spPr>
          <a:xfrm>
            <a:off x="7332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16" name="EA0"/>
          <p:cNvCxnSpPr/>
          <p:nvPr/>
        </p:nvCxnSpPr>
        <p:spPr>
          <a:xfrm flipV="1">
            <a:off x="6436463" y="1802400"/>
            <a:ext cx="896100" cy="765600"/>
          </a:xfrm>
          <a:prstGeom prst="line">
            <a:avLst/>
          </a:prstGeom>
          <a:ln w="19622">
            <a:solidFill>
              <a:srgbClr val="8E6F3E"/>
            </a:solidFill>
            <a:tailEnd type="triangle" w="med" len="med"/>
          </a:ln>
        </p:spPr>
      </p:cxnSp>
      <p:sp>
        <p:nvSpPr>
          <p:cNvPr id="117" name="EC"/>
          <p:cNvSpPr/>
          <p:nvPr/>
        </p:nvSpPr>
        <p:spPr>
          <a:xfrm>
            <a:off x="7332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cxnSp>
        <p:nvCxnSpPr>
          <p:cNvPr id="118" name="EA1"/>
          <p:cNvCxnSpPr/>
          <p:nvPr/>
        </p:nvCxnSpPr>
        <p:spPr>
          <a:xfrm>
            <a:off x="6436463" y="2568000"/>
            <a:ext cx="896100" cy="0"/>
          </a:xfrm>
          <a:prstGeom prst="line">
            <a:avLst/>
          </a:prstGeom>
          <a:ln w="19622">
            <a:solidFill>
              <a:srgbClr val="8E6F3E"/>
            </a:solidFill>
            <a:tailEnd type="triangle" w="med" len="med"/>
          </a:ln>
        </p:spPr>
      </p:cxnSp>
      <p:sp>
        <p:nvSpPr>
          <p:cNvPr id="119" name="ED"/>
          <p:cNvSpPr/>
          <p:nvPr/>
        </p:nvSpPr>
        <p:spPr>
          <a:xfrm>
            <a:off x="7332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cxnSp>
        <p:nvCxnSpPr>
          <p:cNvPr id="120" name="EA2"/>
          <p:cNvCxnSpPr/>
          <p:nvPr/>
        </p:nvCxnSpPr>
        <p:spPr>
          <a:xfrm>
            <a:off x="6436463" y="2568000"/>
            <a:ext cx="896100" cy="765600"/>
          </a:xfrm>
          <a:prstGeom prst="line">
            <a:avLst/>
          </a:prstGeom>
          <a:ln w="19622">
            <a:solidFill>
              <a:srgbClr val="8E6F3E"/>
            </a:solidFill>
            <a:tailEnd type="triangle" w="med" len="med"/>
          </a:ln>
        </p:spPr>
      </p:cxnSp>
      <p:sp>
        <p:nvSpPr>
          <p:cNvPr id="121" name="ECap"/>
          <p:cNvSpPr txBox="1"/>
          <p:nvPr/>
        </p:nvSpPr>
        <p:spPr>
          <a:xfrm>
            <a:off x="4757563" y="3782400"/>
            <a:ext cx="3811000" cy="3432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A knows the event, not the consumers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 xml:space="preserve">Patterns capture recurring architectural choices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3</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What organizations recur, and what do they tend to buy—and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 xml:space="preserve">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weighted flow</a:t>
            </a:r>
          </a:p>
        </p:txBody>
      </p:sp>
      <p:cxnSp>
        <p:nvCxnSpPr>
          <p:cNvPr id="104" name="PDiv1"/>
          <p:cNvCxnSpPr/>
          <p:nvPr/>
        </p:nvCxnSpPr>
        <p:spPr>
          <a:xfrm>
            <a:off x="3072000" y="1200000"/>
            <a:ext cx="0" cy="3300000"/>
          </a:xfrm>
          <a:prstGeom prst="line">
            <a:avLst/>
          </a:prstGeom>
          <a:ln w="12700">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deployment view</a:t>
            </a:r>
          </a:p>
        </p:txBody>
      </p:sp>
      <p:cxnSp>
        <p:nvCxnSpPr>
          <p:cNvPr id="107" name="PDiv2"/>
          <p:cNvCxnSpPr/>
          <p:nvPr/>
        </p:nvCxnSpPr>
        <p:spPr>
          <a:xfrm>
            <a:off x="6072000" y="1200000"/>
            <a:ext cx="0" cy="3300000"/>
          </a:xfrm>
          <a:prstGeom prst="line">
            <a:avLst/>
          </a:prstGeom>
          <a:ln w="12700">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D</a:t>
            </a:r>
          </a:p>
        </p:txBody>
      </p:sp>
      <p:cxnSp>
        <p:nvCxnSpPr>
          <p:cNvPr id="112" name="P1ab"/>
          <p:cNvCxnSpPr/>
          <p:nvPr/>
        </p:nvCxnSpPr>
        <p:spPr>
          <a:xfrm>
            <a:off x="1123600" y="2670200"/>
            <a:ext cx="0" cy="377600"/>
          </a:xfrm>
          <a:prstGeom prst="line">
            <a:avLst/>
          </a:prstGeom>
          <a:ln w="22479">
            <a:solidFill>
              <a:srgbClr val="8E6F3E"/>
            </a:solidFill>
            <a:tailEnd type="triangle" w="med" len="med"/>
          </a:ln>
        </p:spPr>
      </p:cxnSp>
      <p:cxnSp>
        <p:nvCxnSpPr>
          <p:cNvPr id="113" name="P1bc"/>
          <p:cNvCxnSpPr/>
          <p:nvPr/>
        </p:nvCxnSpPr>
        <p:spPr>
          <a:xfrm>
            <a:off x="1123600" y="3555200"/>
            <a:ext cx="0" cy="377600"/>
          </a:xfrm>
          <a:prstGeom prst="line">
            <a:avLst/>
          </a:prstGeom>
          <a:ln w="22479">
            <a:solidFill>
              <a:srgbClr val="8E6F3E"/>
            </a:solidFill>
            <a:tailEnd type="triangle" w="med" len="med"/>
          </a:ln>
        </p:spPr>
      </p:cxnSp>
      <p:cxnSp>
        <p:nvCxnSpPr>
          <p:cNvPr id="114" name="P1bd"/>
          <p:cNvCxnSpPr/>
          <p:nvPr/>
        </p:nvCxnSpPr>
        <p:spPr>
          <a:xfrm>
            <a:off x="1501200" y="3301500"/>
            <a:ext cx="542800" cy="0"/>
          </a:xfrm>
          <a:prstGeom prst="line">
            <a:avLst/>
          </a:prstGeom>
          <a:ln w="22479">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cxnSp>
        <p:nvCxnSpPr>
          <p:cNvPr id="118" name="P2ab"/>
          <p:cNvCxnSpPr/>
          <p:nvPr/>
        </p:nvCxnSpPr>
        <p:spPr>
          <a:xfrm>
            <a:off x="4572000" y="2611200"/>
            <a:ext cx="0" cy="436600"/>
          </a:xfrm>
          <a:prstGeom prst="line">
            <a:avLst/>
          </a:prstGeom>
          <a:ln w="22479">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20 ms</a:t>
            </a:r>
          </a:p>
        </p:txBody>
      </p:sp>
      <p:cxnSp>
        <p:nvCxnSpPr>
          <p:cNvPr id="120" name="P2bc"/>
          <p:cNvCxnSpPr/>
          <p:nvPr/>
        </p:nvCxnSpPr>
        <p:spPr>
          <a:xfrm>
            <a:off x="4572000" y="3555200"/>
            <a:ext cx="0" cy="436600"/>
          </a:xfrm>
          <a:prstGeom prst="line">
            <a:avLst/>
          </a:prstGeom>
          <a:ln w="44958">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 xml:space="preserve">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 xml:space="preserve">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 xml:space="preserve">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The more faithfully the model captures the property we care about, the less we have to bet.</a:t>
            </a:r>
          </a:p>
        </p:txBody>
      </p:sp>
      <p:cxnSp>
        <p:nvCxnSpPr>
          <p:cNvPr id="100" name="Axis"/>
          <p:cNvCxnSpPr/>
          <p:nvPr/>
        </p:nvCxnSpPr>
        <p:spPr>
          <a:xfrm>
            <a:off x="745000" y="3109500"/>
            <a:ext cx="7694880" cy="0"/>
          </a:xfrm>
          <a:prstGeom prst="line">
            <a:avLst/>
          </a:prstGeom>
          <a:ln w="29146">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 xml:space="preserve">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 xml:space="preserve">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REASONED</a:t>
            </a:r>
          </a:p>
          <a:p>
            <a:pPr algn="ctr">
              <a:spcBef>
                <a:spcPts val="262"/>
              </a:spcBef>
              <a:buNone/>
            </a:pPr>
            <a:r>
              <a:rPr lang="en-US" sz="2100" b="1" i="0" dirty="0">
                <a:solidFill>
                  <a:srgbClr val="8E6F3E"/>
                </a:solidFill>
              </a:rPr>
              <a:t xml:space="preserve">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STRUCTURAL</a:t>
            </a:r>
          </a:p>
          <a:p>
            <a:pPr algn="ctr">
              <a:spcBef>
                <a:spcPts val="262"/>
              </a:spcBef>
              <a:buNone/>
            </a:pPr>
            <a:r>
              <a:rPr lang="en-US" sz="2100" b="1" i="0" dirty="0">
                <a:solidFill>
                  <a:srgbClr val="8E6F3E"/>
                </a:solidFill>
              </a:rPr>
              <a:t xml:space="preserve">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QUANTITATIVE</a:t>
            </a:r>
          </a:p>
          <a:p>
            <a:pPr algn="ctr">
              <a:spcBef>
                <a:spcPts val="262"/>
              </a:spcBef>
              <a:buNone/>
            </a:pPr>
            <a:r>
              <a:rPr lang="en-US" sz="2100" b="1" i="0" dirty="0">
                <a:solidFill>
                  <a:srgbClr val="8E6F3E"/>
                </a:solidFill>
              </a:rPr>
              <a:t xml:space="preserve">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OBSERVED</a:t>
            </a:r>
          </a:p>
          <a:p>
            <a:pPr algn="ctr">
              <a:spcBef>
                <a:spcPts val="262"/>
              </a:spcBef>
              <a:buNone/>
            </a:pPr>
            <a:r>
              <a:rPr lang="en-US" sz="2100" b="1" i="0" dirty="0">
                <a:solidFill>
                  <a:srgbClr val="8E6F3E"/>
                </a:solidFill>
              </a:rPr>
              <a:t xml:space="preserve">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“11.8 s measured”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What claim can the dependency model actually establish?</a:t>
            </a:r>
          </a:p>
        </p:txBody>
      </p:sp>
      <p:sp>
        <p:nvSpPr>
          <p:cNvPr id="100" name="BeforeLbl"/>
          <p:cNvSpPr txBox="1"/>
          <p:nvPr/>
        </p:nvSpPr>
        <p:spPr>
          <a:xfrm>
            <a:off x="324764"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BEFORE</a:t>
            </a:r>
          </a:p>
        </p:txBody>
      </p:sp>
      <p:sp>
        <p:nvSpPr>
          <p:cNvPr id="101" name="BModel"/>
          <p:cNvSpPr/>
          <p:nvPr/>
        </p:nvSpPr>
        <p:spPr>
          <a:xfrm>
            <a:off x="457236" y="2697600"/>
            <a:ext cx="1798000" cy="812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ILLNESS</a:t>
            </a:r>
          </a:p>
          <a:p>
            <a:pPr algn="ctr">
              <a:spcBef>
                <a:spcPts val="300"/>
              </a:spcBef>
              <a:buNone/>
            </a:pPr>
            <a:r>
              <a:rPr lang="en-US" sz="2300" b="1" i="0" dirty="0">
                <a:solidFill>
                  <a:srgbClr val="5C4826"/>
                </a:solidFill>
              </a:rPr>
              <a:t xml:space="preserve">MODEL</a:t>
            </a:r>
          </a:p>
        </p:txBody>
      </p:sp>
      <p:sp>
        <p:nvSpPr>
          <p:cNvPr id="102" name="BDelta"/>
          <p:cNvSpPr/>
          <p:nvPr/>
        </p:nvSpPr>
        <p:spPr>
          <a:xfrm>
            <a:off x="2034836" y="2535200"/>
            <a:ext cx="348000" cy="348000"/>
          </a:xfrm>
          <a:prstGeom prst="ellipse">
            <a:avLst/>
          </a:prstGeom>
          <a:solidFill>
            <a:srgbClr val="B23B3B"/>
          </a:solidFill>
          <a:ln>
            <a:noFill/>
          </a:ln>
        </p:spPr>
        <p:txBody>
          <a:bodyPr wrap="square" lIns="0" tIns="0" rIns="0" bIns="0" anchor="ctr">
            <a:normAutofit/>
          </a:bodyPr>
          <a:lstStyle/>
          <a:p>
            <a:pPr algn="ctr">
              <a:buNone/>
            </a:pPr>
            <a:r>
              <a:rPr lang="en-US" sz="1800" b="1" i="0" dirty="0">
                <a:solidFill>
                  <a:srgbClr val="FFFFFF"/>
                </a:solidFill>
              </a:rPr>
              <a:t xml:space="preserve">Δ</a:t>
            </a:r>
          </a:p>
        </p:txBody>
      </p:sp>
      <p:sp>
        <p:nvSpPr>
          <p:cNvPr id="103" name="BUI"/>
          <p:cNvSpPr/>
          <p:nvPr/>
        </p:nvSpPr>
        <p:spPr>
          <a:xfrm>
            <a:off x="3183236" y="1711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UI</a:t>
            </a:r>
          </a:p>
        </p:txBody>
      </p:sp>
      <p:cxnSp>
        <p:nvCxnSpPr>
          <p:cNvPr id="104" name="BA0"/>
          <p:cNvCxnSpPr/>
          <p:nvPr/>
        </p:nvCxnSpPr>
        <p:spPr>
          <a:xfrm flipV="1">
            <a:off x="2255236" y="2013200"/>
            <a:ext cx="928000" cy="1090400"/>
          </a:xfrm>
          <a:prstGeom prst="line">
            <a:avLst/>
          </a:prstGeom>
          <a:ln w="22098">
            <a:solidFill>
              <a:srgbClr val="B23B3B"/>
            </a:solidFill>
            <a:prstDash val="dash"/>
            <a:tailEnd type="triangle" w="med" len="med"/>
          </a:ln>
        </p:spPr>
      </p:cxnSp>
      <p:sp>
        <p:nvSpPr>
          <p:cNvPr id="105" name="BADVICE"/>
          <p:cNvSpPr/>
          <p:nvPr/>
        </p:nvSpPr>
        <p:spPr>
          <a:xfrm>
            <a:off x="3183236" y="2813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ADVICE</a:t>
            </a:r>
          </a:p>
        </p:txBody>
      </p:sp>
      <p:cxnSp>
        <p:nvCxnSpPr>
          <p:cNvPr id="106" name="BA1"/>
          <p:cNvCxnSpPr/>
          <p:nvPr/>
        </p:nvCxnSpPr>
        <p:spPr>
          <a:xfrm>
            <a:off x="2255236" y="3103600"/>
            <a:ext cx="928000" cy="11600"/>
          </a:xfrm>
          <a:prstGeom prst="line">
            <a:avLst/>
          </a:prstGeom>
          <a:ln w="22098">
            <a:solidFill>
              <a:srgbClr val="B23B3B"/>
            </a:solidFill>
            <a:prstDash val="dash"/>
            <a:tailEnd type="triangle" w="med" len="med"/>
          </a:ln>
        </p:spPr>
      </p:cxnSp>
      <p:sp>
        <p:nvSpPr>
          <p:cNvPr id="107" name="BSTORAGE"/>
          <p:cNvSpPr/>
          <p:nvPr/>
        </p:nvSpPr>
        <p:spPr>
          <a:xfrm>
            <a:off x="3183236" y="391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STORAGE</a:t>
            </a:r>
          </a:p>
        </p:txBody>
      </p:sp>
      <p:cxnSp>
        <p:nvCxnSpPr>
          <p:cNvPr id="108" name="BA2"/>
          <p:cNvCxnSpPr/>
          <p:nvPr/>
        </p:nvCxnSpPr>
        <p:spPr>
          <a:xfrm>
            <a:off x="2255236" y="3103600"/>
            <a:ext cx="928000" cy="1113600"/>
          </a:xfrm>
          <a:prstGeom prst="line">
            <a:avLst/>
          </a:prstGeom>
          <a:ln w="22098">
            <a:solidFill>
              <a:srgbClr val="B23B3B"/>
            </a:solidFill>
            <a:prstDash val="dash"/>
            <a:tailEnd type="triangle" w="med" len="med"/>
          </a:ln>
        </p:spPr>
      </p:cxnSp>
      <p:sp>
        <p:nvSpPr>
          <p:cNvPr id="109" name="BCap"/>
          <p:cNvSpPr txBox="1"/>
          <p:nvPr/>
        </p:nvSpPr>
        <p:spPr>
          <a:xfrm>
            <a:off x="399236" y="4669600"/>
            <a:ext cx="4176000" cy="324800"/>
          </a:xfrm>
          <a:prstGeom prst="rect">
            <a:avLst/>
          </a:prstGeom>
          <a:noFill/>
          <a:ln>
            <a:noFill/>
          </a:ln>
        </p:spPr>
        <p:txBody>
          <a:bodyPr wrap="square" lIns="0" tIns="0" rIns="0" bIns="0" anchor="t">
            <a:normAutofit/>
          </a:bodyPr>
          <a:lstStyle/>
          <a:p>
            <a:pPr algn="l">
              <a:buNone/>
            </a:pPr>
            <a:r>
              <a:rPr lang="en-US" sz="1900" b="0" i="1" dirty="0">
                <a:solidFill>
                  <a:srgbClr val="B23B3B"/>
                </a:solidFill>
              </a:rPr>
              <a:t xml:space="preserve">one expected change touches everything</a:t>
            </a:r>
          </a:p>
        </p:txBody>
      </p:sp>
      <p:cxnSp>
        <p:nvCxnSpPr>
          <p:cNvPr id="110" name="Div"/>
          <p:cNvCxnSpPr/>
          <p:nvPr/>
        </p:nvCxnSpPr>
        <p:spPr>
          <a:xfrm>
            <a:off x="4600000" y="1550000"/>
            <a:ext cx="0" cy="2950000"/>
          </a:xfrm>
          <a:prstGeom prst="line">
            <a:avLst/>
          </a:prstGeom>
          <a:ln w="12700">
            <a:solidFill>
              <a:srgbClr val="C9B991"/>
            </a:solidFill>
            <a:prstDash val="dash"/>
          </a:ln>
        </p:spPr>
      </p:cxnSp>
      <p:sp>
        <p:nvSpPr>
          <p:cNvPr id="111" name="AfterLbl"/>
          <p:cNvSpPr txBox="1"/>
          <p:nvPr/>
        </p:nvSpPr>
        <p:spPr>
          <a:xfrm>
            <a:off x="4779000"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AFTER</a:t>
            </a:r>
          </a:p>
        </p:txBody>
      </p:sp>
      <p:sp>
        <p:nvSpPr>
          <p:cNvPr id="112" name="AUI"/>
          <p:cNvSpPr/>
          <p:nvPr/>
        </p:nvSpPr>
        <p:spPr>
          <a:xfrm>
            <a:off x="4667000" y="188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UI</a:t>
            </a:r>
          </a:p>
        </p:txBody>
      </p:sp>
      <p:sp>
        <p:nvSpPr>
          <p:cNvPr id="113" name="AAdvice"/>
          <p:cNvSpPr/>
          <p:nvPr/>
        </p:nvSpPr>
        <p:spPr>
          <a:xfrm>
            <a:off x="4667000" y="304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ADVICE</a:t>
            </a:r>
          </a:p>
        </p:txBody>
      </p:sp>
      <p:sp>
        <p:nvSpPr>
          <p:cNvPr id="114" name="AIface"/>
          <p:cNvSpPr/>
          <p:nvPr/>
        </p:nvSpPr>
        <p:spPr>
          <a:xfrm>
            <a:off x="6639000" y="1769600"/>
            <a:ext cx="116000" cy="203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63000" y="1398400"/>
            <a:ext cx="3828000" cy="301600"/>
          </a:xfrm>
          <a:prstGeom prst="rect">
            <a:avLst/>
          </a:prstGeom>
          <a:noFill/>
          <a:ln>
            <a:noFill/>
          </a:ln>
        </p:spPr>
        <p:txBody>
          <a:bodyPr wrap="square" lIns="0" tIns="0" rIns="0" bIns="0" anchor="t">
            <a:normAutofit/>
          </a:bodyPr>
          <a:lstStyle/>
          <a:p>
            <a:pPr algn="ctr">
              <a:buNone/>
            </a:pPr>
            <a:r>
              <a:rPr lang="en-US" sz="1800" b="1" i="0" dirty="0">
                <a:solidFill>
                  <a:srgbClr val="8E6F3E"/>
                </a:solidFill>
              </a:rPr>
              <a:t xml:space="preserve">MODEL SERVICE INTERFACE</a:t>
            </a:r>
          </a:p>
        </p:txBody>
      </p:sp>
      <p:sp>
        <p:nvSpPr>
          <p:cNvPr id="116" name="AModel"/>
          <p:cNvSpPr/>
          <p:nvPr/>
        </p:nvSpPr>
        <p:spPr>
          <a:xfrm>
            <a:off x="6929000" y="2407600"/>
            <a:ext cx="1856000" cy="87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ILLNESS</a:t>
            </a:r>
          </a:p>
          <a:p>
            <a:pPr algn="ctr">
              <a:spcBef>
                <a:spcPts val="300"/>
              </a:spcBef>
              <a:buNone/>
            </a:pPr>
            <a:r>
              <a:rPr lang="en-US" sz="2300" b="1" i="0" dirty="0">
                <a:solidFill>
                  <a:srgbClr val="5C4826"/>
                </a:solidFill>
              </a:rPr>
              <a:t xml:space="preserve">MODEL</a:t>
            </a:r>
          </a:p>
        </p:txBody>
      </p:sp>
      <p:sp>
        <p:nvSpPr>
          <p:cNvPr id="117" name="ADelta"/>
          <p:cNvSpPr/>
          <p:nvPr/>
        </p:nvSpPr>
        <p:spPr>
          <a:xfrm>
            <a:off x="8495000" y="2245200"/>
            <a:ext cx="348000" cy="348000"/>
          </a:xfrm>
          <a:prstGeom prst="ellipse">
            <a:avLst/>
          </a:prstGeom>
          <a:solidFill>
            <a:srgbClr val="B23B3B"/>
          </a:solidFill>
          <a:ln>
            <a:noFill/>
          </a:ln>
        </p:spPr>
        <p:txBody>
          <a:bodyPr wrap="square" lIns="0" tIns="0" rIns="0" bIns="0" anchor="ctr">
            <a:normAutofit/>
          </a:bodyPr>
          <a:lstStyle/>
          <a:p>
            <a:pPr algn="ctr">
              <a:buNone/>
            </a:pPr>
            <a:r>
              <a:rPr lang="en-US" sz="1800" b="1" i="0" dirty="0">
                <a:solidFill>
                  <a:srgbClr val="FFFFFF"/>
                </a:solidFill>
              </a:rPr>
              <a:t xml:space="preserve">Δ</a:t>
            </a:r>
          </a:p>
        </p:txBody>
      </p:sp>
      <p:cxnSp>
        <p:nvCxnSpPr>
          <p:cNvPr id="118" name="AA1"/>
          <p:cNvCxnSpPr/>
          <p:nvPr/>
        </p:nvCxnSpPr>
        <p:spPr>
          <a:xfrm>
            <a:off x="6001000" y="2187200"/>
            <a:ext cx="638000" cy="336400"/>
          </a:xfrm>
          <a:prstGeom prst="line">
            <a:avLst/>
          </a:prstGeom>
          <a:ln w="22098">
            <a:solidFill>
              <a:srgbClr val="8E6F3E"/>
            </a:solidFill>
            <a:tailEnd type="triangle" w="med" len="med"/>
          </a:ln>
        </p:spPr>
      </p:cxnSp>
      <p:cxnSp>
        <p:nvCxnSpPr>
          <p:cNvPr id="119" name="AA2"/>
          <p:cNvCxnSpPr/>
          <p:nvPr/>
        </p:nvCxnSpPr>
        <p:spPr>
          <a:xfrm flipV="1">
            <a:off x="6001000" y="3161600"/>
            <a:ext cx="638000" cy="185600"/>
          </a:xfrm>
          <a:prstGeom prst="line">
            <a:avLst/>
          </a:prstGeom>
          <a:ln w="22098">
            <a:solidFill>
              <a:srgbClr val="8E6F3E"/>
            </a:solidFill>
            <a:tailEnd type="triangle" w="med" len="med"/>
          </a:ln>
        </p:spPr>
      </p:cxnSp>
      <p:sp>
        <p:nvSpPr>
          <p:cNvPr id="120" name="ACap"/>
          <p:cNvSpPr txBox="1"/>
          <p:nvPr/>
        </p:nvSpPr>
        <p:spPr>
          <a:xfrm>
            <a:off x="4667000" y="4669600"/>
            <a:ext cx="4408000" cy="324800"/>
          </a:xfrm>
          <a:prstGeom prst="rect">
            <a:avLst/>
          </a:prstGeom>
          <a:noFill/>
          <a:ln>
            <a:noFill/>
          </a:ln>
        </p:spPr>
        <p:txBody>
          <a:bodyPr wrap="square" lIns="0" tIns="0" rIns="0" bIns="0" anchor="t">
            <a:normAutofit/>
          </a:bodyPr>
          <a:lstStyle/>
          <a:p>
            <a:pPr algn="l">
              <a:buNone/>
            </a:pPr>
            <a:r>
              <a:rPr lang="en-US" sz="1900" b="0" i="1" dirty="0">
                <a:solidFill>
                  <a:srgbClr val="1F7A4D"/>
                </a:solidFill>
              </a:rPr>
              <a:t xml:space="preserve">the change stays behind the seam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 xml:space="preserve">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F</a:t>
            </a:r>
          </a:p>
        </p:txBody>
      </p:sp>
      <p:cxnSp>
        <p:nvCxnSpPr>
          <p:cNvPr id="106" name="EAB"/>
          <p:cNvCxnSpPr/>
          <p:nvPr/>
        </p:nvCxnSpPr>
        <p:spPr>
          <a:xfrm flipV="1">
            <a:off x="1125000" y="1812500"/>
            <a:ext cx="1437500" cy="437500"/>
          </a:xfrm>
          <a:prstGeom prst="line">
            <a:avLst/>
          </a:prstGeom>
          <a:ln w="47625">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 xml:space="preserve">80 ms</a:t>
            </a:r>
          </a:p>
        </p:txBody>
      </p:sp>
      <p:cxnSp>
        <p:nvCxnSpPr>
          <p:cNvPr id="108" name="EBF"/>
          <p:cNvCxnSpPr/>
          <p:nvPr/>
        </p:nvCxnSpPr>
        <p:spPr>
          <a:xfrm>
            <a:off x="3750000" y="1656250"/>
            <a:ext cx="3687500" cy="406250"/>
          </a:xfrm>
          <a:prstGeom prst="line">
            <a:avLst/>
          </a:prstGeom>
          <a:ln w="47625">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 xml:space="preserve">40 ms</a:t>
            </a:r>
          </a:p>
        </p:txBody>
      </p:sp>
      <p:cxnSp>
        <p:nvCxnSpPr>
          <p:cNvPr id="110" name="EAC"/>
          <p:cNvCxnSpPr/>
          <p:nvPr/>
        </p:nvCxnSpPr>
        <p:spPr>
          <a:xfrm>
            <a:off x="906250" y="2625000"/>
            <a:ext cx="1968750" cy="687500"/>
          </a:xfrm>
          <a:prstGeom prst="line">
            <a:avLst/>
          </a:prstGeom>
          <a:ln w="23812">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10 ms</a:t>
            </a:r>
          </a:p>
        </p:txBody>
      </p:sp>
      <p:cxnSp>
        <p:nvCxnSpPr>
          <p:cNvPr id="112" name="ECE"/>
          <p:cNvCxnSpPr/>
          <p:nvPr/>
        </p:nvCxnSpPr>
        <p:spPr>
          <a:xfrm>
            <a:off x="3687500" y="3406250"/>
            <a:ext cx="1500000" cy="0"/>
          </a:xfrm>
          <a:prstGeom prst="line">
            <a:avLst/>
          </a:prstGeom>
          <a:ln w="23812">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15 ms</a:t>
            </a:r>
          </a:p>
        </p:txBody>
      </p:sp>
      <p:cxnSp>
        <p:nvCxnSpPr>
          <p:cNvPr id="114" name="EDF"/>
          <p:cNvCxnSpPr/>
          <p:nvPr/>
        </p:nvCxnSpPr>
        <p:spPr>
          <a:xfrm>
            <a:off x="5875000" y="1343750"/>
            <a:ext cx="1750000" cy="531250"/>
          </a:xfrm>
          <a:prstGeom prst="line">
            <a:avLst/>
          </a:prstGeom>
          <a:ln w="23812">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critical path</a:t>
            </a:r>
          </a:p>
          <a:p>
            <a:pPr algn="l">
              <a:spcBef>
                <a:spcPts val="273"/>
              </a:spcBef>
              <a:buNone/>
            </a:pPr>
            <a:r>
              <a:rPr lang="en-US" sz="2000" b="1" i="0" dirty="0">
                <a:solidFill>
                  <a:srgbClr val="8E6F3E"/>
                </a:solidFill>
              </a:rPr>
              <a:t xml:space="preserve">A → B → F  ·  120 ms</a:t>
            </a:r>
          </a:p>
        </p:txBody>
      </p:sp>
      <p:cxnSp>
        <p:nvCxnSpPr>
          <p:cNvPr id="117" name="CandArw"/>
          <p:cNvCxnSpPr/>
          <p:nvPr/>
        </p:nvCxnSpPr>
        <p:spPr>
          <a:xfrm flipH="1">
            <a:off x="2500000" y="2000000"/>
            <a:ext cx="312500" cy="2000000"/>
          </a:xfrm>
          <a:prstGeom prst="line">
            <a:avLst/>
          </a:prstGeom>
          <a:ln w="23812">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 xml:space="preserve">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 xml:space="preserve">edge label = modeled latency (ms)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 xml:space="preserve">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Enough vocabulary. Make the decision.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400" b="1" i="0" dirty="0">
                <a:solidFill>
                  <a:srgbClr val="000000"/>
                </a:solidFill>
              </a:rPr>
              <a:t xml:space="preserve">Sketch the major parts, the boundaries, and the interactions.</a:t>
            </a:r>
          </a:p>
          <a:p>
            <a:pPr algn="l">
              <a:spcBef>
                <a:spcPts val="200"/>
              </a:spcBef>
              <a:buNone/>
            </a:pPr>
            <a:r>
              <a:rPr lang="en-US" sz="2400" b="0" i="0" dirty="0">
                <a:solidFill>
                  <a:srgbClr val="000000"/>
                </a:solidFill>
              </a:rPr>
              <a:t xml:space="preserve">Produce TWO plausible organizations —</a:t>
            </a:r>
            <a:br>
              <a:rPr lang="en-US" sz="2400" b="0" i="0" dirty="0">
                <a:solidFill>
                  <a:srgbClr val="000000"/>
                </a:solidFill>
              </a:rPr>
            </a:br>
            <a:r>
              <a:rPr lang="en-US" sz="2400" b="0" i="0" dirty="0">
                <a:solidFill>
                  <a:srgbClr val="000000"/>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 xml:space="preserve">SYSTEM ?</a:t>
            </a:r>
          </a:p>
          <a:p>
            <a:pPr algn="ctr">
              <a:spcBef>
                <a:spcPts val="525"/>
              </a:spcBef>
              <a:buNone/>
            </a:pPr>
            <a:r>
              <a:rPr lang="en-US" sz="1800" b="0" i="1" dirty="0">
                <a:solidFill>
                  <a:srgbClr val="8E6F3E"/>
                </a:solidFill>
              </a:rPr>
              <a:t xml:space="preserve">YOUR ARCHITECTURE</a:t>
            </a:r>
          </a:p>
          <a:p>
            <a:pPr algn="ctr">
              <a:spcBef>
                <a:spcPts val="525"/>
              </a:spcBef>
              <a:buNone/>
            </a:pPr>
            <a:r>
              <a:rPr lang="en-US" sz="1800" b="0" i="1" dirty="0">
                <a:solidFill>
                  <a:srgbClr val="8E6F3E"/>
                </a:solidFill>
              </a:rPr>
              <a:t xml:space="preserve">GOES HERE</a:t>
            </a:r>
          </a:p>
        </p:txBody>
      </p:sp>
      <p:sp>
        <p:nvSpPr>
          <p:cNvPr id="101" name="Obl0"/>
          <p:cNvSpPr/>
          <p:nvPr/>
        </p:nvSpPr>
        <p:spPr>
          <a:xfrm>
            <a:off x="3455000" y="1150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 2 s latency</a:t>
            </a:r>
          </a:p>
        </p:txBody>
      </p:sp>
      <p:cxnSp>
        <p:nvCxnSpPr>
          <p:cNvPr id="102" name="OblA0"/>
          <p:cNvCxnSpPr/>
          <p:nvPr/>
        </p:nvCxnSpPr>
        <p:spPr>
          <a:xfrm>
            <a:off x="4575000" y="1800000"/>
            <a:ext cx="0" cy="350000"/>
          </a:xfrm>
          <a:prstGeom prst="line">
            <a:avLst/>
          </a:prstGeom>
          <a:ln w="19050">
            <a:solidFill>
              <a:srgbClr val="C9B991"/>
            </a:solidFill>
            <a:tailEnd type="triangle" w="med" len="med"/>
          </a:ln>
        </p:spPr>
      </p:cxnSp>
      <p:sp>
        <p:nvSpPr>
          <p:cNvPr id="103" name="Obl1"/>
          <p:cNvSpPr/>
          <p:nvPr/>
        </p:nvSpPr>
        <p:spPr>
          <a:xfrm>
            <a:off x="68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privacy</a:t>
            </a:r>
          </a:p>
        </p:txBody>
      </p:sp>
      <p:cxnSp>
        <p:nvCxnSpPr>
          <p:cNvPr id="104" name="OblA1"/>
          <p:cNvCxnSpPr/>
          <p:nvPr/>
        </p:nvCxnSpPr>
        <p:spPr>
          <a:xfrm>
            <a:off x="2920000" y="2200000"/>
            <a:ext cx="205000" cy="450000"/>
          </a:xfrm>
          <a:prstGeom prst="line">
            <a:avLst/>
          </a:prstGeom>
          <a:ln w="19050">
            <a:solidFill>
              <a:srgbClr val="C9B991"/>
            </a:solidFill>
            <a:tailEnd type="triangle" w="med" len="med"/>
          </a:ln>
        </p:spPr>
      </p:cxnSp>
      <p:sp>
        <p:nvSpPr>
          <p:cNvPr id="105" name="Obl2"/>
          <p:cNvSpPr/>
          <p:nvPr/>
        </p:nvSpPr>
        <p:spPr>
          <a:xfrm>
            <a:off x="623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expected change</a:t>
            </a:r>
          </a:p>
        </p:txBody>
      </p:sp>
      <p:cxnSp>
        <p:nvCxnSpPr>
          <p:cNvPr id="106" name="OblA2"/>
          <p:cNvCxnSpPr/>
          <p:nvPr/>
        </p:nvCxnSpPr>
        <p:spPr>
          <a:xfrm flipH="1">
            <a:off x="6025000" y="2200000"/>
            <a:ext cx="205000" cy="450000"/>
          </a:xfrm>
          <a:prstGeom prst="line">
            <a:avLst/>
          </a:prstGeom>
          <a:ln w="19050">
            <a:solidFill>
              <a:srgbClr val="C9B991"/>
            </a:solidFill>
            <a:tailEnd type="triangle" w="med" len="med"/>
          </a:ln>
        </p:spPr>
      </p:cxnSp>
      <p:sp>
        <p:nvSpPr>
          <p:cNvPr id="107" name="Obl3"/>
          <p:cNvSpPr/>
          <p:nvPr/>
        </p:nvSpPr>
        <p:spPr>
          <a:xfrm>
            <a:off x="10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availability</a:t>
            </a:r>
          </a:p>
        </p:txBody>
      </p:sp>
      <p:cxnSp>
        <p:nvCxnSpPr>
          <p:cNvPr id="108" name="OblA3"/>
          <p:cNvCxnSpPr/>
          <p:nvPr/>
        </p:nvCxnSpPr>
        <p:spPr>
          <a:xfrm flipV="1">
            <a:off x="3350000" y="3550000"/>
            <a:ext cx="450000" cy="250000"/>
          </a:xfrm>
          <a:prstGeom prst="line">
            <a:avLst/>
          </a:prstGeom>
          <a:ln w="19050">
            <a:solidFill>
              <a:srgbClr val="C9B991"/>
            </a:solidFill>
            <a:tailEnd type="triangle" w="med" len="med"/>
          </a:ln>
        </p:spPr>
      </p:cxnSp>
      <p:sp>
        <p:nvSpPr>
          <p:cNvPr id="109" name="Obl4"/>
          <p:cNvSpPr/>
          <p:nvPr/>
        </p:nvSpPr>
        <p:spPr>
          <a:xfrm>
            <a:off x="58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consistency</a:t>
            </a:r>
          </a:p>
        </p:txBody>
      </p:sp>
      <p:cxnSp>
        <p:nvCxnSpPr>
          <p:cNvPr id="110" name="OblA4"/>
          <p:cNvCxnSpPr/>
          <p:nvPr/>
        </p:nvCxnSpPr>
        <p:spPr>
          <a:xfrm flipH="1" flipV="1">
            <a:off x="5350000" y="3550000"/>
            <a:ext cx="530000" cy="250000"/>
          </a:xfrm>
          <a:prstGeom prst="line">
            <a:avLst/>
          </a:prstGeom>
          <a:ln w="19050">
            <a:solidFill>
              <a:srgbClr val="C9B991"/>
            </a:solidFill>
            <a:tailEnd type="triangl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8E6F3E"/>
                </a:solidFill>
              </a:rPr>
              <a:t xml:space="preserve">·  </a:t>
            </a:r>
            <a:r>
              <a:rPr lang="en-US" sz="2200" b="0" i="0" dirty="0">
                <a:solidFill>
                  <a:srgbClr val="000000"/>
                </a:solidFill>
              </a:rPr>
              <a:t xml:space="preserve">Which candidates violate specification?</a:t>
            </a:r>
          </a:p>
          <a:p>
            <a:pPr algn="l">
              <a:spcBef>
                <a:spcPts val="150"/>
              </a:spcBef>
              <a:buNone/>
            </a:pPr>
            <a:r>
              <a:rPr lang="en-US" sz="2200" b="1" i="0" dirty="0">
                <a:solidFill>
                  <a:srgbClr val="8E6F3E"/>
                </a:solidFill>
              </a:rPr>
              <a:t xml:space="preserve">·  </a:t>
            </a:r>
            <a:r>
              <a:rPr lang="en-US" sz="2200" b="0" i="0" dirty="0">
                <a:solidFill>
                  <a:srgbClr val="000000"/>
                </a:solidFill>
              </a:rPr>
              <a:t xml:space="preserve">Is anything Pareto-dominated?</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architectural model would help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 xml:space="preserve">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cxnSp>
        <p:nvCxnSpPr>
          <p:cNvPr id="103" name="FunA0"/>
          <p:cNvCxnSpPr/>
          <p:nvPr/>
        </p:nvCxnSpPr>
        <p:spPr>
          <a:xfrm>
            <a:off x="4437000" y="1558000"/>
            <a:ext cx="0" cy="132000"/>
          </a:xfrm>
          <a:prstGeom prst="line">
            <a:avLst/>
          </a:prstGeom>
          <a:ln w="22860">
            <a:solidFill>
              <a:srgbClr val="8E6F3E"/>
            </a:solidFill>
            <a:tailEnd type="triangle" w="med" len="med"/>
          </a:ln>
        </p:spPr>
      </p:cxnSp>
      <p:cxnSp>
        <p:nvCxnSpPr>
          <p:cNvPr id="300" name="FunAa"/>
          <p:cNvCxnSpPr/>
          <p:nvPr/>
        </p:nvCxnSpPr>
        <p:spPr>
          <a:xfrm>
            <a:off x="3327000" y="1558000"/>
            <a:ext cx="0" cy="132000"/>
          </a:xfrm>
          <a:prstGeom prst="line">
            <a:avLst/>
          </a:prstGeom>
          <a:ln w="22860">
            <a:solidFill>
              <a:srgbClr val="8E6F3E"/>
            </a:solidFill>
            <a:tailEnd type="triangle" w="med" len="med"/>
          </a:ln>
        </p:spPr>
      </p:cxnSp>
      <p:cxnSp>
        <p:nvCxnSpPr>
          <p:cNvPr id="301" name="FunAc"/>
          <p:cNvCxnSpPr/>
          <p:nvPr/>
        </p:nvCxnSpPr>
        <p:spPr>
          <a:xfrm>
            <a:off x="5547000" y="1558000"/>
            <a:ext cx="0" cy="132000"/>
          </a:xfrm>
          <a:prstGeom prst="line">
            <a:avLst/>
          </a:prstGeom>
          <a:ln w="22860">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SPECIFICATION — eliminate the invalid</a:t>
            </a:r>
          </a:p>
        </p:txBody>
      </p:sp>
      <p:cxnSp>
        <p:nvCxnSpPr>
          <p:cNvPr id="105" name="FunA1"/>
          <p:cNvCxnSpPr/>
          <p:nvPr/>
        </p:nvCxnSpPr>
        <p:spPr>
          <a:xfrm>
            <a:off x="4572000" y="2086000"/>
            <a:ext cx="0" cy="132000"/>
          </a:xfrm>
          <a:prstGeom prst="line">
            <a:avLst/>
          </a:prstGeom>
          <a:ln w="22860">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DOMINANCE — eliminate the clearly worse</a:t>
            </a:r>
          </a:p>
        </p:txBody>
      </p:sp>
      <p:cxnSp>
        <p:nvCxnSpPr>
          <p:cNvPr id="107" name="FunA2"/>
          <p:cNvCxnSpPr/>
          <p:nvPr/>
        </p:nvCxnSpPr>
        <p:spPr>
          <a:xfrm>
            <a:off x="4572000" y="2614000"/>
            <a:ext cx="0" cy="132000"/>
          </a:xfrm>
          <a:prstGeom prst="line">
            <a:avLst/>
          </a:prstGeom>
          <a:ln w="22860">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WHAT DON’T WE KNOW?</a:t>
            </a:r>
          </a:p>
        </p:txBody>
      </p:sp>
      <p:cxnSp>
        <p:nvCxnSpPr>
          <p:cNvPr id="109" name="FunA3"/>
          <p:cNvCxnSpPr/>
          <p:nvPr/>
        </p:nvCxnSpPr>
        <p:spPr>
          <a:xfrm>
            <a:off x="4572000" y="3142000"/>
            <a:ext cx="0" cy="132000"/>
          </a:xfrm>
          <a:prstGeom prst="line">
            <a:avLst/>
          </a:prstGeom>
          <a:ln w="22860">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BUY INFORMATION?</a:t>
            </a:r>
          </a:p>
        </p:txBody>
      </p:sp>
      <p:cxnSp>
        <p:nvCxnSpPr>
          <p:cNvPr id="111" name="FunA4"/>
          <p:cNvCxnSpPr/>
          <p:nvPr/>
        </p:nvCxnSpPr>
        <p:spPr>
          <a:xfrm>
            <a:off x="4572000" y="3670000"/>
            <a:ext cx="0" cy="132000"/>
          </a:xfrm>
          <a:prstGeom prst="line">
            <a:avLst/>
          </a:prstGeom>
          <a:ln w="22860">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 xml:space="preserve">a genuine tradeoff</a:t>
            </a:r>
          </a:p>
          <a:p>
            <a:pPr algn="l">
              <a:spcBef>
                <a:spcPts val="300"/>
              </a:spcBef>
              <a:buNone/>
            </a:pPr>
            <a:r>
              <a:rPr lang="en-US" sz="1800" b="0" i="1" dirty="0">
                <a:solidFill>
                  <a:srgbClr val="555960"/>
                </a:solidFill>
              </a:rPr>
              <a:t xml:space="preserve">remains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a:bodyPr>
          <a:lstStyle/>
          <a:p>
            <a:pPr algn="ctr">
              <a:buNone/>
            </a:pPr>
            <a:r>
              <a:rPr lang="en-US" sz="2300" b="0" i="1" dirty="0">
                <a:solidFill>
                  <a:srgbClr val="000000"/>
                </a:solidFill>
              </a:rPr>
              <a:t xml:space="preserve">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72000"/>
            <a:ext cx="1728000" cy="735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100" b="1" i="0" dirty="0">
                <a:solidFill>
                  <a:srgbClr val="5C4826"/>
                </a:solidFill>
              </a:rPr>
              <a:t xml:space="preserve">ARCHITECTURAL</a:t>
            </a:r>
          </a:p>
          <a:p>
            <a:pPr algn="ctr">
              <a:spcBef>
                <a:spcPts val="300"/>
              </a:spcBef>
              <a:buNone/>
            </a:pPr>
            <a:r>
              <a:rPr lang="en-US" sz="2100" b="1" i="0" dirty="0">
                <a:solidFill>
                  <a:srgbClr val="5C4826"/>
                </a:solidFill>
              </a:rPr>
              <a:t xml:space="preserve">UNCERTAINTY</a:t>
            </a:r>
          </a:p>
        </p:txBody>
      </p:sp>
      <p:cxnSp>
        <p:nvCxnSpPr>
          <p:cNvPr id="101" name="A1"/>
          <p:cNvCxnSpPr/>
          <p:nvPr/>
        </p:nvCxnSpPr>
        <p:spPr>
          <a:xfrm>
            <a:off x="2036000" y="1939500"/>
            <a:ext cx="345600" cy="0"/>
          </a:xfrm>
          <a:prstGeom prst="line">
            <a:avLst/>
          </a:prstGeom>
          <a:ln w="20002">
            <a:solidFill>
              <a:srgbClr val="8E6F3E"/>
            </a:solidFill>
            <a:tailEnd type="triangle" w="med" len="med"/>
          </a:ln>
        </p:spPr>
      </p:cxnSp>
      <p:sp>
        <p:nvSpPr>
          <p:cNvPr id="102" name="BuyInfo"/>
          <p:cNvSpPr/>
          <p:nvPr/>
        </p:nvSpPr>
        <p:spPr>
          <a:xfrm>
            <a:off x="2381600" y="1624500"/>
            <a:ext cx="1620000" cy="630000"/>
          </a:xfrm>
          <a:prstGeom prst="rect">
            <a:avLst/>
          </a:prstGeom>
          <a:solidFill>
            <a:srgbClr val="8E6F3E"/>
          </a:solidFill>
          <a:ln>
            <a:noFill/>
          </a:ln>
        </p:spPr>
        <p:txBody>
          <a:bodyPr wrap="square" lIns="54864" tIns="27432" rIns="54864" bIns="27432" anchor="ctr">
            <a:normAutofit/>
          </a:bodyPr>
          <a:lstStyle/>
          <a:p>
            <a:pPr algn="ctr">
              <a:buNone/>
            </a:pPr>
            <a:r>
              <a:rPr lang="en-US" sz="2100" b="1" i="0" dirty="0">
                <a:solidFill>
                  <a:srgbClr val="FFFFFF"/>
                </a:solidFill>
              </a:rPr>
              <a:t xml:space="preserve">BUY</a:t>
            </a:r>
          </a:p>
          <a:p>
            <a:pPr algn="ctr">
              <a:spcBef>
                <a:spcPts val="300"/>
              </a:spcBef>
              <a:buNone/>
            </a:pPr>
            <a:r>
              <a:rPr lang="en-US" sz="2100" b="1" i="0" dirty="0">
                <a:solidFill>
                  <a:srgbClr val="FFFFFF"/>
                </a:solidFill>
              </a:rPr>
              <a:t xml:space="preserve">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MODEL</a:t>
            </a:r>
          </a:p>
        </p:txBody>
      </p:sp>
      <p:cxnSp>
        <p:nvCxnSpPr>
          <p:cNvPr id="104" name="KA0"/>
          <p:cNvCxnSpPr/>
          <p:nvPr/>
        </p:nvCxnSpPr>
        <p:spPr>
          <a:xfrm flipV="1">
            <a:off x="4001600" y="1341000"/>
            <a:ext cx="626400" cy="598500"/>
          </a:xfrm>
          <a:prstGeom prst="line">
            <a:avLst/>
          </a:prstGeom>
          <a:ln w="20002">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PROTOTYPE</a:t>
            </a:r>
          </a:p>
        </p:txBody>
      </p:sp>
      <p:cxnSp>
        <p:nvCxnSpPr>
          <p:cNvPr id="106" name="KA1"/>
          <p:cNvCxnSpPr/>
          <p:nvPr/>
        </p:nvCxnSpPr>
        <p:spPr>
          <a:xfrm>
            <a:off x="4001600" y="1939500"/>
            <a:ext cx="626400" cy="10500"/>
          </a:xfrm>
          <a:prstGeom prst="line">
            <a:avLst/>
          </a:prstGeom>
          <a:ln w="20002">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EXPERIMENT</a:t>
            </a:r>
          </a:p>
        </p:txBody>
      </p:sp>
      <p:cxnSp>
        <p:nvCxnSpPr>
          <p:cNvPr id="108" name="KA2"/>
          <p:cNvCxnSpPr/>
          <p:nvPr/>
        </p:nvCxnSpPr>
        <p:spPr>
          <a:xfrm>
            <a:off x="4001600" y="1939500"/>
            <a:ext cx="626400" cy="619500"/>
          </a:xfrm>
          <a:prstGeom prst="line">
            <a:avLst/>
          </a:prstGeom>
          <a:ln w="20002">
            <a:solidFill>
              <a:srgbClr val="8E6F3E"/>
            </a:solidFill>
            <a:tailEnd type="triangle" w="med" len="med"/>
          </a:ln>
        </p:spPr>
      </p:cxnSp>
      <p:sp>
        <p:nvSpPr>
          <p:cNvPr id="109" name="CostBox"/>
          <p:cNvSpPr/>
          <p:nvPr/>
        </p:nvSpPr>
        <p:spPr>
          <a:xfrm>
            <a:off x="6842000" y="16560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xml:space="preserve">$$$ · TIME</a:t>
            </a:r>
          </a:p>
        </p:txBody>
      </p:sp>
      <p:cxnSp>
        <p:nvCxnSpPr>
          <p:cNvPr id="110" name="CA0"/>
          <p:cNvCxnSpPr/>
          <p:nvPr/>
        </p:nvCxnSpPr>
        <p:spPr>
          <a:xfrm>
            <a:off x="6086000" y="1341000"/>
            <a:ext cx="756000" cy="640500"/>
          </a:xfrm>
          <a:prstGeom prst="line">
            <a:avLst/>
          </a:prstGeom>
          <a:ln w="20002">
            <a:solidFill>
              <a:srgbClr val="8E6F3E"/>
            </a:solidFill>
            <a:tailEnd type="triangle" w="med" len="med"/>
          </a:ln>
        </p:spPr>
      </p:cxnSp>
      <p:cxnSp>
        <p:nvCxnSpPr>
          <p:cNvPr id="111" name="CA1"/>
          <p:cNvCxnSpPr/>
          <p:nvPr/>
        </p:nvCxnSpPr>
        <p:spPr>
          <a:xfrm>
            <a:off x="6086000" y="1950000"/>
            <a:ext cx="756000" cy="31500"/>
          </a:xfrm>
          <a:prstGeom prst="line">
            <a:avLst/>
          </a:prstGeom>
          <a:ln w="20002">
            <a:solidFill>
              <a:srgbClr val="8E6F3E"/>
            </a:solidFill>
            <a:tailEnd type="triangle" w="med" len="med"/>
          </a:ln>
        </p:spPr>
      </p:cxnSp>
      <p:cxnSp>
        <p:nvCxnSpPr>
          <p:cNvPr id="112" name="CA2"/>
          <p:cNvCxnSpPr/>
          <p:nvPr/>
        </p:nvCxnSpPr>
        <p:spPr>
          <a:xfrm flipV="1">
            <a:off x="6086000" y="1981500"/>
            <a:ext cx="756000" cy="577500"/>
          </a:xfrm>
          <a:prstGeom prst="line">
            <a:avLst/>
          </a:prstGeom>
          <a:ln w="20002">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GenAI</a:t>
            </a:r>
          </a:p>
        </p:txBody>
      </p:sp>
      <p:cxnSp>
        <p:nvCxnSpPr>
          <p:cNvPr id="151" name="G1"/>
          <p:cNvCxnSpPr/>
          <p:nvPr/>
        </p:nvCxnSpPr>
        <p:spPr>
          <a:xfrm>
            <a:off x="1850000" y="3375000"/>
            <a:ext cx="380000" cy="0"/>
          </a:xfrm>
          <a:prstGeom prst="line">
            <a:avLst/>
          </a:prstGeom>
          <a:ln w="19050">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COST OF EVIDENCE ↓</a:t>
            </a:r>
          </a:p>
        </p:txBody>
      </p:sp>
      <p:cxnSp>
        <p:nvCxnSpPr>
          <p:cNvPr id="153" name="G2"/>
          <p:cNvCxnSpPr/>
          <p:nvPr/>
        </p:nvCxnSpPr>
        <p:spPr>
          <a:xfrm>
            <a:off x="4680000" y="3375000"/>
            <a:ext cx="380000" cy="0"/>
          </a:xfrm>
          <a:prstGeom prst="line">
            <a:avLst/>
          </a:prstGeom>
          <a:ln w="19050">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221" fill="hold">
                      <p:stCondLst>
                        <p:cond delay="indefinite"/>
                      </p:stCondLst>
                      <p:childTnLst>
                        <p:par>
                          <p:cTn id="222" fill="hold">
                            <p:stCondLst>
                              <p:cond delay="0"/>
                            </p:stCondLst>
                            <p:childTnLst>
                              <p:par>
                                <p:cTn id="201" presetID="10" presetClass="entr" presetSubtype="0" fill="hold" nodeType="clickEffect">
                                  <p:stCondLst>
                                    <p:cond delay="0"/>
                                  </p:stCondLst>
                                  <p:childTnLst>
                                    <p:set>
                                      <p:cBhvr>
                                        <p:cTn id="203" dur="1" fill="hold">
                                          <p:stCondLst>
                                            <p:cond delay="0"/>
                                          </p:stCondLst>
                                        </p:cTn>
                                        <p:tgtEl>
                                          <p:spTgt spid="150"/>
                                        </p:tgtEl>
                                        <p:attrNameLst>
                                          <p:attrName>style.visibility</p:attrName>
                                        </p:attrNameLst>
                                      </p:cBhvr>
                                      <p:to>
                                        <p:strVal val="visible"/>
                                      </p:to>
                                    </p:set>
                                    <p:animEffect transition="in" filter="fade">
                                      <p:cBhvr>
                                        <p:cTn id="204" dur="400"/>
                                        <p:tgtEl>
                                          <p:spTgt spid="150"/>
                                        </p:tgtEl>
                                      </p:cBhvr>
                                    </p:animEffect>
                                  </p:childTnLst>
                                </p:cTn>
                              </p:par>
                              <p:par>
                                <p:cTn id="205" presetID="10" presetClass="entr" presetSubtype="0" fill="hold" nodeType="withEffect">
                                  <p:stCondLst>
                                    <p:cond delay="0"/>
                                  </p:stCondLst>
                                  <p:childTnLst>
                                    <p:set>
                                      <p:cBhvr>
                                        <p:cTn id="207" dur="1" fill="hold">
                                          <p:stCondLst>
                                            <p:cond delay="0"/>
                                          </p:stCondLst>
                                        </p:cTn>
                                        <p:tgtEl>
                                          <p:spTgt spid="151"/>
                                        </p:tgtEl>
                                        <p:attrNameLst>
                                          <p:attrName>style.visibility</p:attrName>
                                        </p:attrNameLst>
                                      </p:cBhvr>
                                      <p:to>
                                        <p:strVal val="visible"/>
                                      </p:to>
                                    </p:set>
                                    <p:animEffect transition="in" filter="fade">
                                      <p:cBhvr>
                                        <p:cTn id="208" dur="400"/>
                                        <p:tgtEl>
                                          <p:spTgt spid="151"/>
                                        </p:tgtEl>
                                      </p:cBhvr>
                                    </p:animEffect>
                                  </p:childTnLst>
                                </p:cTn>
                              </p:par>
                              <p:par>
                                <p:cTn id="209" presetID="10" presetClass="entr" presetSubtype="0" fill="hold" nodeType="withEffect">
                                  <p:stCondLst>
                                    <p:cond delay="0"/>
                                  </p:stCondLst>
                                  <p:childTnLst>
                                    <p:set>
                                      <p:cBhvr>
                                        <p:cTn id="211" dur="1" fill="hold">
                                          <p:stCondLst>
                                            <p:cond delay="0"/>
                                          </p:stCondLst>
                                        </p:cTn>
                                        <p:tgtEl>
                                          <p:spTgt spid="152"/>
                                        </p:tgtEl>
                                        <p:attrNameLst>
                                          <p:attrName>style.visibility</p:attrName>
                                        </p:attrNameLst>
                                      </p:cBhvr>
                                      <p:to>
                                        <p:strVal val="visible"/>
                                      </p:to>
                                    </p:set>
                                    <p:animEffect transition="in" filter="fade">
                                      <p:cBhvr>
                                        <p:cTn id="212" dur="400"/>
                                        <p:tgtEl>
                                          <p:spTgt spid="152"/>
                                        </p:tgtEl>
                                      </p:cBhvr>
                                    </p:animEffect>
                                  </p:childTnLst>
                                </p:cTn>
                              </p:par>
                              <p:par>
                                <p:cTn id="213" presetID="10" presetClass="entr" presetSubtype="0" fill="hold" nodeType="withEffect">
                                  <p:stCondLst>
                                    <p:cond delay="0"/>
                                  </p:stCondLst>
                                  <p:childTnLst>
                                    <p:set>
                                      <p:cBhvr>
                                        <p:cTn id="215" dur="1" fill="hold">
                                          <p:stCondLst>
                                            <p:cond delay="0"/>
                                          </p:stCondLst>
                                        </p:cTn>
                                        <p:tgtEl>
                                          <p:spTgt spid="153"/>
                                        </p:tgtEl>
                                        <p:attrNameLst>
                                          <p:attrName>style.visibility</p:attrName>
                                        </p:attrNameLst>
                                      </p:cBhvr>
                                      <p:to>
                                        <p:strVal val="visible"/>
                                      </p:to>
                                    </p:set>
                                    <p:animEffect transition="in" filter="fade">
                                      <p:cBhvr>
                                        <p:cTn id="216" dur="400"/>
                                        <p:tgtEl>
                                          <p:spTgt spid="153"/>
                                        </p:tgtEl>
                                      </p:cBhvr>
                                    </p:animEffect>
                                  </p:childTnLst>
                                </p:cTn>
                              </p:par>
                              <p:par>
                                <p:cTn id="217" presetID="10" presetClass="entr" presetSubtype="0" fill="hold" nodeType="withEffect">
                                  <p:stCondLst>
                                    <p:cond delay="0"/>
                                  </p:stCondLst>
                                  <p:childTnLst>
                                    <p:set>
                                      <p:cBhvr>
                                        <p:cTn id="219" dur="1" fill="hold">
                                          <p:stCondLst>
                                            <p:cond delay="0"/>
                                          </p:stCondLst>
                                        </p:cTn>
                                        <p:tgtEl>
                                          <p:spTgt spid="154"/>
                                        </p:tgtEl>
                                        <p:attrNameLst>
                                          <p:attrName>style.visibility</p:attrName>
                                        </p:attrNameLst>
                                      </p:cBhvr>
                                      <p:to>
                                        <p:strVal val="visible"/>
                                      </p:to>
                                    </p:set>
                                    <p:animEffect transition="in" filter="fade">
                                      <p:cBhvr>
                                        <p:cTn id="220" dur="400"/>
                                        <p:tgtEl>
                                          <p:spTgt spid="154"/>
                                        </p:tgtEl>
                                      </p:cBhvr>
                                    </p:animEffect>
                                  </p:childTnLst>
                                </p:cTn>
                              </p:par>
                            </p:childTnLst>
                          </p:cTn>
                        </p:par>
                      </p:childTnLst>
                    </p:cTn>
                  </p:par>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REQUIREMENTS</a:t>
            </a:r>
          </a:p>
        </p:txBody>
      </p:sp>
      <p:cxnSp>
        <p:nvCxnSpPr>
          <p:cNvPr id="101" name="Arr1"/>
          <p:cNvCxnSpPr/>
          <p:nvPr/>
        </p:nvCxnSpPr>
        <p:spPr>
          <a:xfrm>
            <a:off x="2950000" y="1860000"/>
            <a:ext cx="0" cy="180000"/>
          </a:xfrm>
          <a:prstGeom prst="line">
            <a:avLst/>
          </a:prstGeom>
          <a:ln w="19050">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SPECIFICATION</a:t>
            </a:r>
          </a:p>
        </p:txBody>
      </p:sp>
      <p:cxnSp>
        <p:nvCxnSpPr>
          <p:cNvPr id="103" name="Arr2"/>
          <p:cNvCxnSpPr/>
          <p:nvPr/>
        </p:nvCxnSpPr>
        <p:spPr>
          <a:xfrm>
            <a:off x="2950000" y="2600000"/>
            <a:ext cx="0" cy="180000"/>
          </a:xfrm>
          <a:prstGeom prst="line">
            <a:avLst/>
          </a:prstGeom>
          <a:ln w="19050">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 xml:space="preserve">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C</a:t>
            </a:r>
          </a:p>
        </p:txBody>
      </p:sp>
      <p:cxnSp>
        <p:nvCxnSpPr>
          <p:cNvPr id="108" name="Arr3"/>
          <p:cNvCxnSpPr/>
          <p:nvPr/>
        </p:nvCxnSpPr>
        <p:spPr>
          <a:xfrm>
            <a:off x="2950000" y="3730000"/>
            <a:ext cx="0" cy="180000"/>
          </a:xfrm>
          <a:prstGeom prst="line">
            <a:avLst/>
          </a:prstGeom>
          <a:ln w="19050">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 xml:space="preserve">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ARCHITECTURE</a:t>
            </a:r>
          </a:p>
        </p:txBody>
      </p:sp>
      <p:cxnSp>
        <p:nvCxnSpPr>
          <p:cNvPr id="111" name="Arr4"/>
          <p:cNvCxnSpPr/>
          <p:nvPr/>
        </p:nvCxnSpPr>
        <p:spPr>
          <a:xfrm>
            <a:off x="2950000" y="4470000"/>
            <a:ext cx="0" cy="180000"/>
          </a:xfrm>
          <a:prstGeom prst="line">
            <a:avLst/>
          </a:prstGeom>
          <a:ln w="19050">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 xml:space="preserve">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D</a:t>
            </a:r>
          </a:p>
        </p:txBody>
      </p:sp>
      <p:cxnSp>
        <p:nvCxnSpPr>
          <p:cNvPr id="117" name="Arr5"/>
          <p:cNvCxnSpPr/>
          <p:nvPr/>
        </p:nvCxnSpPr>
        <p:spPr>
          <a:xfrm>
            <a:off x="2950000" y="5600000"/>
            <a:ext cx="0" cy="180000"/>
          </a:xfrm>
          <a:prstGeom prst="line">
            <a:avLst/>
          </a:prstGeom>
          <a:ln w="19050">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400"/>
                                        <p:tgtEl>
                                          <p:spTgt spid="101"/>
                                        </p:tgtEl>
                                      </p:cBhvr>
                                    </p:animEffect>
                                  </p:childTnLst>
                                </p:cTn>
                              </p:par>
                              <p:par>
                                <p:cTn id="7"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33" fill="hold">
                      <p:stCondLst>
                        <p:cond delay="indefinite"/>
                      </p:stCondLst>
                      <p:childTnLst>
                        <p:par>
                          <p:cTn id="34"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400"/>
                                        <p:tgtEl>
                                          <p:spTgt spid="104"/>
                                        </p:tgtEl>
                                      </p:cBhvr>
                                    </p:animEffect>
                                  </p:childTnLst>
                                </p:cTn>
                              </p:par>
                              <p:par>
                                <p:cTn id="21"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47" fill="hold">
                      <p:stCondLst>
                        <p:cond delay="indefinite"/>
                      </p:stCondLst>
                      <p:childTnLst>
                        <p:par>
                          <p:cTn id="48" fill="hold">
                            <p:stCondLst>
                              <p:cond delay="0"/>
                            </p:stCondLst>
                            <p:childTnLst>
                              <p:par>
                                <p:cTn id="35" presetID="10" presetClass="entr" presetSubtype="0" fill="hold" nodeType="clickEffect">
                                  <p:stCondLst>
                                    <p:cond delay="0"/>
                                  </p:stCondLst>
                                  <p:childTnLst>
                                    <p:set>
                                      <p:cBhvr>
                                        <p:cTn id="37" dur="1" fill="hold">
                                          <p:stCondLst>
                                            <p:cond delay="0"/>
                                          </p:stCondLst>
                                        </p:cTn>
                                        <p:tgtEl>
                                          <p:spTgt spid="108"/>
                                        </p:tgtEl>
                                        <p:attrNameLst>
                                          <p:attrName>style.visibility</p:attrName>
                                        </p:attrNameLst>
                                      </p:cBhvr>
                                      <p:to>
                                        <p:strVal val="visible"/>
                                      </p:to>
                                    </p:set>
                                    <p:animEffect transition="in" filter="fade">
                                      <p:cBhvr>
                                        <p:cTn id="38" dur="400"/>
                                        <p:tgtEl>
                                          <p:spTgt spid="108"/>
                                        </p:tgtEl>
                                      </p:cBhvr>
                                    </p:animEffect>
                                  </p:childTnLst>
                                </p:cTn>
                              </p:par>
                              <p:par>
                                <p:cTn id="39" presetID="10" presetClass="entr" presetSubtype="0" fill="hold" nodeType="withEffect">
                                  <p:stCondLst>
                                    <p:cond delay="0"/>
                                  </p:stCondLst>
                                  <p:childTnLst>
                                    <p:set>
                                      <p:cBhvr>
                                        <p:cTn id="41" dur="1" fill="hold">
                                          <p:stCondLst>
                                            <p:cond delay="0"/>
                                          </p:stCondLst>
                                        </p:cTn>
                                        <p:tgtEl>
                                          <p:spTgt spid="109"/>
                                        </p:tgtEl>
                                        <p:attrNameLst>
                                          <p:attrName>style.visibility</p:attrName>
                                        </p:attrNameLst>
                                      </p:cBhvr>
                                      <p:to>
                                        <p:strVal val="visible"/>
                                      </p:to>
                                    </p:set>
                                    <p:animEffect transition="in" filter="fade">
                                      <p:cBhvr>
                                        <p:cTn id="42" dur="400"/>
                                        <p:tgtEl>
                                          <p:spTgt spid="109"/>
                                        </p:tgtEl>
                                      </p:cBhvr>
                                    </p:animEffect>
                                  </p:childTnLst>
                                </p:cTn>
                              </p:par>
                              <p:par>
                                <p:cTn id="43"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73" fill="hold">
                      <p:stCondLst>
                        <p:cond delay="indefinite"/>
                      </p:stCondLst>
                      <p:childTnLst>
                        <p:par>
                          <p:cTn id="74" fill="hold">
                            <p:stCondLst>
                              <p:cond delay="0"/>
                            </p:stCondLst>
                            <p:childTnLst>
                              <p:par>
                                <p:cTn id="49" presetID="10" presetClass="entr" presetSubtype="0" fill="hold" nodeType="click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5" dur="1" fill="hold">
                                          <p:stCondLst>
                                            <p:cond delay="0"/>
                                          </p:stCondLst>
                                        </p:cTn>
                                        <p:tgtEl>
                                          <p:spTgt spid="112"/>
                                        </p:tgtEl>
                                        <p:attrNameLst>
                                          <p:attrName>style.visibility</p:attrName>
                                        </p:attrNameLst>
                                      </p:cBhvr>
                                      <p:to>
                                        <p:strVal val="visible"/>
                                      </p:to>
                                    </p:set>
                                    <p:animEffect transition="in" filter="fade">
                                      <p:cBhvr>
                                        <p:cTn id="56" dur="400"/>
                                        <p:tgtEl>
                                          <p:spTgt spid="112"/>
                                        </p:tgtEl>
                                      </p:cBhvr>
                                    </p:animEffect>
                                  </p:childTnLst>
                                </p:cTn>
                              </p:par>
                              <p:par>
                                <p:cTn id="57" presetID="10" presetClass="entr" presetSubtype="0" fill="hold" nodeType="withEffect">
                                  <p:stCondLst>
                                    <p:cond delay="0"/>
                                  </p:stCondLst>
                                  <p:childTnLst>
                                    <p:set>
                                      <p:cBhvr>
                                        <p:cTn id="59" dur="1" fill="hold">
                                          <p:stCondLst>
                                            <p:cond delay="0"/>
                                          </p:stCondLst>
                                        </p:cTn>
                                        <p:tgtEl>
                                          <p:spTgt spid="113"/>
                                        </p:tgtEl>
                                        <p:attrNameLst>
                                          <p:attrName>style.visibility</p:attrName>
                                        </p:attrNameLst>
                                      </p:cBhvr>
                                      <p:to>
                                        <p:strVal val="visible"/>
                                      </p:to>
                                    </p:set>
                                    <p:animEffect transition="in" filter="fade">
                                      <p:cBhvr>
                                        <p:cTn id="60" dur="400"/>
                                        <p:tgtEl>
                                          <p:spTgt spid="113"/>
                                        </p:tgtEl>
                                      </p:cBhvr>
                                    </p:animEffect>
                                  </p:childTnLst>
                                </p:cTn>
                              </p:par>
                              <p:par>
                                <p:cTn id="61" presetID="10" presetClass="entr" presetSubtype="0" fill="hold" nodeType="withEffect">
                                  <p:stCondLst>
                                    <p:cond delay="0"/>
                                  </p:stCondLst>
                                  <p:childTnLst>
                                    <p:set>
                                      <p:cBhvr>
                                        <p:cTn id="63" dur="1" fill="hold">
                                          <p:stCondLst>
                                            <p:cond delay="0"/>
                                          </p:stCondLst>
                                        </p:cTn>
                                        <p:tgtEl>
                                          <p:spTgt spid="114"/>
                                        </p:tgtEl>
                                        <p:attrNameLst>
                                          <p:attrName>style.visibility</p:attrName>
                                        </p:attrNameLst>
                                      </p:cBhvr>
                                      <p:to>
                                        <p:strVal val="visible"/>
                                      </p:to>
                                    </p:set>
                                    <p:animEffect transition="in" filter="fade">
                                      <p:cBhvr>
                                        <p:cTn id="64" dur="400"/>
                                        <p:tgtEl>
                                          <p:spTgt spid="114"/>
                                        </p:tgtEl>
                                      </p:cBhvr>
                                    </p:animEffect>
                                  </p:childTnLst>
                                </p:cTn>
                              </p:par>
                              <p:par>
                                <p:cTn id="65" presetID="10" presetClass="entr" presetSubtype="0" fill="hold" nodeType="withEffect">
                                  <p:stCondLst>
                                    <p:cond delay="0"/>
                                  </p:stCondLst>
                                  <p:childTnLst>
                                    <p:set>
                                      <p:cBhvr>
                                        <p:cTn id="67" dur="1" fill="hold">
                                          <p:stCondLst>
                                            <p:cond delay="0"/>
                                          </p:stCondLst>
                                        </p:cTn>
                                        <p:tgtEl>
                                          <p:spTgt spid="115"/>
                                        </p:tgtEl>
                                        <p:attrNameLst>
                                          <p:attrName>style.visibility</p:attrName>
                                        </p:attrNameLst>
                                      </p:cBhvr>
                                      <p:to>
                                        <p:strVal val="visible"/>
                                      </p:to>
                                    </p:set>
                                    <p:animEffect transition="in" filter="fade">
                                      <p:cBhvr>
                                        <p:cTn id="68" dur="400"/>
                                        <p:tgtEl>
                                          <p:spTgt spid="115"/>
                                        </p:tgtEl>
                                      </p:cBhvr>
                                    </p:animEffect>
                                  </p:childTnLst>
                                </p:cTn>
                              </p:par>
                              <p:par>
                                <p:cTn id="69" presetID="10" presetClass="entr" presetSubtype="0" fill="hold" nodeType="withEffect">
                                  <p:stCondLst>
                                    <p:cond delay="0"/>
                                  </p:stCondLst>
                                  <p:childTnLst>
                                    <p:set>
                                      <p:cBhvr>
                                        <p:cTn id="71" dur="1" fill="hold">
                                          <p:stCondLst>
                                            <p:cond delay="0"/>
                                          </p:stCondLst>
                                        </p:cTn>
                                        <p:tgtEl>
                                          <p:spTgt spid="116"/>
                                        </p:tgtEl>
                                        <p:attrNameLst>
                                          <p:attrName>style.visibility</p:attrName>
                                        </p:attrNameLst>
                                      </p:cBhvr>
                                      <p:to>
                                        <p:strVal val="visible"/>
                                      </p:to>
                                    </p:set>
                                    <p:animEffect transition="in" filter="fade">
                                      <p:cBhvr>
                                        <p:cTn id="72" dur="400"/>
                                        <p:tgtEl>
                                          <p:spTgt spid="116"/>
                                        </p:tgtEl>
                                      </p:cBhvr>
                                    </p:animEffect>
                                  </p:childTnLst>
                                </p:cTn>
                              </p:par>
                            </p:childTnLst>
                          </p:cTn>
                        </p:par>
                      </p:childTnLst>
                    </p:cTn>
                  </p:par>
                  <p:par>
                    <p:cTn id="83" fill="hold">
                      <p:stCondLst>
                        <p:cond delay="indefinite"/>
                      </p:stCondLst>
                      <p:childTnLst>
                        <p:par>
                          <p:cTn id="84" fill="hold">
                            <p:stCondLst>
                              <p:cond delay="0"/>
                            </p:stCondLst>
                            <p:childTnLst>
                              <p:par>
                                <p:cTn id="75" presetID="10" presetClass="entr" presetSubtype="0" fill="hold" nodeType="click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childTnLst>
                          </p:cTn>
                        </p:par>
                      </p:childTnLst>
                    </p:cTn>
                  </p:par>
                  <p:par>
                    <p:cTn id="93" fill="hold">
                      <p:stCondLst>
                        <p:cond delay="indefinite"/>
                      </p:stCondLst>
                      <p:childTnLst>
                        <p:par>
                          <p:cTn id="94" fill="hold">
                            <p:stCondLst>
                              <p:cond delay="0"/>
                            </p:stCondLst>
                            <p:childTnLst>
                              <p:par>
                                <p:cTn id="85" presetID="10" presetClass="entr" presetSubtype="0" fill="hold" nodeType="clickEffect">
                                  <p:stCondLst>
                                    <p:cond delay="0"/>
                                  </p:stCondLst>
                                  <p:childTnLst>
                                    <p:set>
                                      <p:cBhvr>
                                        <p:cTn id="87" dur="1" fill="hold">
                                          <p:stCondLst>
                                            <p:cond delay="0"/>
                                          </p:stCondLst>
                                        </p:cTn>
                                        <p:tgtEl>
                                          <p:spTgt spid="2"/>
                                        </p:tgtEl>
                                        <p:attrNameLst>
                                          <p:attrName>style.visibility</p:attrName>
                                        </p:attrNameLst>
                                      </p:cBhvr>
                                      <p:to>
                                        <p:strVal val="visible"/>
                                      </p:to>
                                    </p:set>
                                    <p:animEffect transition="in" filter="fade">
                                      <p:cBhvr>
                                        <p:cTn id="88" dur="400"/>
                                        <p:tgtEl>
                                          <p:spTgt spid="2"/>
                                        </p:tgtEl>
                                      </p:cBhvr>
                                    </p:animEffect>
                                  </p:childTnLst>
                                </p:cTn>
                              </p:par>
                              <p:par>
                                <p:cTn id="89" presetID="10" presetClass="entr" presetSubtype="0" fill="hold" nodeType="withEffect">
                                  <p:stCondLst>
                                    <p:cond delay="0"/>
                                  </p:stCondLst>
                                  <p:childTnLst>
                                    <p:set>
                                      <p:cBhvr>
                                        <p:cTn id="91" dur="1" fill="hold">
                                          <p:stCondLst>
                                            <p:cond delay="0"/>
                                          </p:stCondLst>
                                        </p:cTn>
                                        <p:tgtEl>
                                          <p:spTgt spid="5"/>
                                        </p:tgtEl>
                                        <p:attrNameLst>
                                          <p:attrName>style.visibility</p:attrName>
                                        </p:attrNameLst>
                                      </p:cBhvr>
                                      <p:to>
                                        <p:strVal val="visible"/>
                                      </p:to>
                                    </p:set>
                                    <p:animEffect transition="in" filter="fade">
                                      <p:cBhvr>
                                        <p:cTn id="92" dur="400"/>
                                        <p:tgtEl>
                                          <p:spTgt spid="5"/>
                                        </p:tgtEl>
                                      </p:cBhvr>
                                    </p:animEffect>
                                  </p:childTnLst>
                                </p:cTn>
                              </p:par>
                              <p:par>
                                <p:cTn id="104" presetID="10" presetClass="entr" presetSubtype="0" fill="hold" nodeType="withEffect">
                                  <p:stCondLst>
                                    <p:cond delay="0"/>
                                  </p:stCondLst>
                                  <p:childTnLst>
                                    <p:set>
                                      <p:cBhvr>
                                        <p:cTn id="105" dur="1" fill="hold">
                                          <p:stCondLst>
                                            <p:cond delay="0"/>
                                          </p:stCondLst>
                                        </p:cTn>
                                        <p:tgtEl>
                                          <p:spTgt spid="300"/>
                                        </p:tgtEl>
                                        <p:attrNameLst>
                                          <p:attrName>style.visibility</p:attrName>
                                        </p:attrNameLst>
                                      </p:cBhvr>
                                      <p:to>
                                        <p:strVal val="visible"/>
                                      </p:to>
                                    </p:set>
                                    <p:animEffect transition="in" filter="fade">
                                      <p:cBhvr>
                                        <p:cTn id="106" dur="400"/>
                                        <p:tgtEl>
                                          <p:spTgt spid="300"/>
                                        </p:tgtEl>
                                      </p:cBhvr>
                                    </p:animEffect>
                                  </p:childTnLst>
                                </p:cTn>
                              </p:par>
                              <p:par>
                                <p:cTn id="114" presetID="10" presetClass="entr" presetSubtype="0" fill="hold" nodeType="withEffect">
                                  <p:stCondLst>
                                    <p:cond delay="0"/>
                                  </p:stCondLst>
                                  <p:childTnLst>
                                    <p:set>
                                      <p:cBhvr>
                                        <p:cTn id="115" dur="1" fill="hold">
                                          <p:stCondLst>
                                            <p:cond delay="0"/>
                                          </p:stCondLst>
                                        </p:cTn>
                                        <p:tgtEl>
                                          <p:spTgt spid="301"/>
                                        </p:tgtEl>
                                        <p:attrNameLst>
                                          <p:attrName>style.visibility</p:attrName>
                                        </p:attrNameLst>
                                      </p:cBhvr>
                                      <p:to>
                                        <p:strVal val="visible"/>
                                      </p:to>
                                    </p:set>
                                    <p:animEffect transition="in" filter="fade">
                                      <p:cBhvr>
                                        <p:cTn id="11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75000"/>
          </a:bodyPr>
          <a:lstStyle/>
          <a:p>
            <a:pPr algn="l">
              <a:buNone/>
              <a:defRPr b="0"/>
            </a:pPr>
            <a:r>
              <a:rPr lang="en-US" sz="2400" b="0" i="0" dirty="0">
                <a:solidFill>
                  <a:srgbClr val="000000"/>
                </a:solidFill>
              </a:rPr>
              <a:t>A specification tells us what must be true—but deliberately leaves organization open.</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306572" y="899980"/>
            <a:ext cx="2423160" cy="592328"/>
          </a:xfrm>
          <a:prstGeom prst="rect">
            <a:avLst/>
          </a:prstGeom>
          <a:solidFill>
            <a:srgbClr val="F5F1E8"/>
          </a:solidFill>
          <a:ln w="13462">
            <a:solidFill>
              <a:srgbClr val="C9B991"/>
            </a:solidFill>
          </a:ln>
        </p:spPr>
        <p:txBody>
          <a:bodyPr wrap="square" lIns="109728" tIns="82296" rIns="109728" bIns="82296" anchor="ctr">
            <a:normAutofit/>
          </a:bodyPr>
          <a:lstStyle/>
          <a:p>
            <a:pPr algn="ctr">
              <a:buNone/>
            </a:pPr>
            <a:r>
              <a:rPr lang="en-US" sz="3100" b="1" i="0" dirty="0">
                <a:solidFill>
                  <a:srgbClr val="5C4826"/>
                </a:solidFill>
              </a:rPr>
              <a:t>REQUIREMENTS</a:t>
            </a:r>
          </a:p>
        </p:txBody>
      </p:sp>
      <p:cxnSp>
        <p:nvCxnSpPr>
          <p:cNvPr id="61" name="L61"/>
          <p:cNvCxnSpPr/>
          <p:nvPr/>
        </p:nvCxnSpPr>
        <p:spPr>
          <a:xfrm>
            <a:off x="4518152" y="1492308"/>
            <a:ext cx="0" cy="215392"/>
          </a:xfrm>
          <a:prstGeom prst="line">
            <a:avLst/>
          </a:prstGeom>
          <a:ln w="20193">
            <a:solidFill>
              <a:srgbClr val="8E6F3E"/>
            </a:solidFill>
            <a:tailEnd type="triangle" w="med" len="med"/>
          </a:ln>
        </p:spPr>
      </p:cxnSp>
      <p:sp>
        <p:nvSpPr>
          <p:cNvPr id="62" name="S62"/>
          <p:cNvSpPr/>
          <p:nvPr/>
        </p:nvSpPr>
        <p:spPr>
          <a:xfrm>
            <a:off x="2364232" y="1707700"/>
            <a:ext cx="4307840" cy="1184656"/>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3600" b="1" i="0" dirty="0">
                <a:solidFill>
                  <a:srgbClr val="FFFFFF"/>
                </a:solidFill>
              </a:rPr>
              <a:t>SPECIFICATION</a:t>
            </a:r>
          </a:p>
          <a:p>
            <a:pPr algn="ctr">
              <a:spcBef>
                <a:spcPts val="192"/>
              </a:spcBef>
              <a:buNone/>
            </a:pPr>
            <a:r>
              <a:rPr lang="en-US" sz="2800" b="0" i="0" dirty="0">
                <a:solidFill>
                  <a:srgbClr val="FFFFFF"/>
                </a:solidFill>
              </a:rPr>
              <a:t>consequential obligations</a:t>
            </a:r>
            <a:br>
              <a:rPr lang="en-US" sz="2800" b="0" i="0" dirty="0">
                <a:solidFill>
                  <a:srgbClr val="FFFFFF"/>
                </a:solidFill>
              </a:rPr>
            </a:br>
            <a:r>
              <a:rPr lang="en-US" sz="2800" b="0" i="0" dirty="0">
                <a:solidFill>
                  <a:srgbClr val="FFFFFF"/>
                </a:solidFill>
              </a:rPr>
              <a:t>made explicit</a:t>
            </a:r>
          </a:p>
        </p:txBody>
      </p:sp>
      <p:cxnSp>
        <p:nvCxnSpPr>
          <p:cNvPr id="63" name="L63"/>
          <p:cNvCxnSpPr/>
          <p:nvPr/>
        </p:nvCxnSpPr>
        <p:spPr>
          <a:xfrm>
            <a:off x="3064256" y="2892356"/>
            <a:ext cx="0" cy="508325"/>
          </a:xfrm>
          <a:prstGeom prst="line">
            <a:avLst/>
          </a:prstGeom>
          <a:ln w="20193">
            <a:solidFill>
              <a:srgbClr val="8E6F3E"/>
            </a:solidFill>
            <a:tailEnd type="triangle" w="med" len="med"/>
          </a:ln>
        </p:spPr>
      </p:cxnSp>
      <p:cxnSp>
        <p:nvCxnSpPr>
          <p:cNvPr id="64" name="L64"/>
          <p:cNvCxnSpPr/>
          <p:nvPr/>
        </p:nvCxnSpPr>
        <p:spPr>
          <a:xfrm>
            <a:off x="5972048" y="2892356"/>
            <a:ext cx="0" cy="508325"/>
          </a:xfrm>
          <a:prstGeom prst="line">
            <a:avLst/>
          </a:prstGeom>
          <a:ln w="20193">
            <a:solidFill>
              <a:srgbClr val="8E6F3E"/>
            </a:solidFill>
            <a:tailEnd type="triangle" w="med" len="med"/>
          </a:ln>
        </p:spPr>
      </p:cxnSp>
      <p:sp>
        <p:nvSpPr>
          <p:cNvPr id="65" name="S65"/>
          <p:cNvSpPr/>
          <p:nvPr/>
        </p:nvSpPr>
        <p:spPr>
          <a:xfrm>
            <a:off x="412242" y="3403912"/>
            <a:ext cx="3365500" cy="969264"/>
          </a:xfrm>
          <a:prstGeom prst="rect">
            <a:avLst/>
          </a:prstGeom>
          <a:solidFill>
            <a:srgbClr val="FFFFFF"/>
          </a:solidFill>
          <a:ln w="20193">
            <a:solidFill>
              <a:srgbClr val="8E6F3E"/>
            </a:solidFill>
          </a:ln>
        </p:spPr>
        <p:txBody>
          <a:bodyPr wrap="square" lIns="109728" tIns="82296" rIns="109728" bIns="82296" anchor="ctr">
            <a:normAutofit/>
          </a:bodyPr>
          <a:lstStyle/>
          <a:p>
            <a:pPr algn="ctr">
              <a:buNone/>
            </a:pPr>
            <a:r>
              <a:rPr lang="en-US" sz="3100" b="1" i="0" dirty="0">
                <a:solidFill>
                  <a:srgbClr val="5C4826"/>
                </a:solidFill>
              </a:rPr>
              <a:t>OBLIGATIONS</a:t>
            </a:r>
          </a:p>
          <a:p>
            <a:pPr algn="ctr">
              <a:spcBef>
                <a:spcPts val="154"/>
              </a:spcBef>
              <a:buNone/>
            </a:pPr>
            <a:r>
              <a:rPr lang="en-US" sz="2700" b="0" i="0" dirty="0">
                <a:solidFill>
                  <a:srgbClr val="000000"/>
                </a:solidFill>
              </a:rPr>
              <a:t>what we constrain</a:t>
            </a:r>
          </a:p>
        </p:txBody>
      </p:sp>
      <p:sp>
        <p:nvSpPr>
          <p:cNvPr id="66" name="S66"/>
          <p:cNvSpPr/>
          <p:nvPr/>
        </p:nvSpPr>
        <p:spPr>
          <a:xfrm>
            <a:off x="5258562" y="3403912"/>
            <a:ext cx="3365500" cy="969264"/>
          </a:xfrm>
          <a:prstGeom prst="rect">
            <a:avLst/>
          </a:prstGeom>
          <a:solidFill>
            <a:srgbClr val="FFFFFF"/>
          </a:solidFill>
          <a:ln w="20193">
            <a:solidFill>
              <a:srgbClr val="8E6F3E"/>
            </a:solidFill>
          </a:ln>
        </p:spPr>
        <p:txBody>
          <a:bodyPr wrap="square" lIns="109728" tIns="82296" rIns="109728" bIns="82296" anchor="ctr">
            <a:normAutofit/>
          </a:bodyPr>
          <a:lstStyle/>
          <a:p>
            <a:pPr algn="ctr">
              <a:buNone/>
            </a:pPr>
            <a:r>
              <a:rPr lang="en-US" sz="3100" b="1" i="0" dirty="0">
                <a:solidFill>
                  <a:srgbClr val="5C4826"/>
                </a:solidFill>
              </a:rPr>
              <a:t>DEGREES OF FREEDOM</a:t>
            </a:r>
          </a:p>
          <a:p>
            <a:pPr algn="ctr">
              <a:spcBef>
                <a:spcPts val="154"/>
              </a:spcBef>
              <a:buNone/>
            </a:pPr>
            <a:r>
              <a:rPr lang="en-US" sz="2700" b="0" i="0" dirty="0">
                <a:solidFill>
                  <a:srgbClr val="000000"/>
                </a:solidFill>
              </a:rPr>
              <a:t>what we leave open</a:t>
            </a:r>
          </a:p>
        </p:txBody>
      </p:sp>
      <p:cxnSp>
        <p:nvCxnSpPr>
          <p:cNvPr id="67" name="L67"/>
          <p:cNvCxnSpPr/>
          <p:nvPr/>
        </p:nvCxnSpPr>
        <p:spPr>
          <a:xfrm>
            <a:off x="2870403" y="4373176"/>
            <a:ext cx="0" cy="258470"/>
          </a:xfrm>
          <a:prstGeom prst="line">
            <a:avLst/>
          </a:prstGeom>
          <a:ln w="20193">
            <a:solidFill>
              <a:srgbClr val="8E6F3E"/>
            </a:solidFill>
            <a:tailEnd type="triangle" w="med" len="med"/>
          </a:ln>
        </p:spPr>
      </p:cxnSp>
      <p:cxnSp>
        <p:nvCxnSpPr>
          <p:cNvPr id="68" name="L68"/>
          <p:cNvCxnSpPr/>
          <p:nvPr/>
        </p:nvCxnSpPr>
        <p:spPr>
          <a:xfrm>
            <a:off x="6165901" y="4373176"/>
            <a:ext cx="0" cy="258470"/>
          </a:xfrm>
          <a:prstGeom prst="line">
            <a:avLst/>
          </a:prstGeom>
          <a:ln w="20193">
            <a:solidFill>
              <a:srgbClr val="8E6F3E"/>
            </a:solidFill>
            <a:tailEnd type="triangle" w="med" len="med"/>
          </a:ln>
        </p:spPr>
      </p:cxnSp>
      <p:sp>
        <p:nvSpPr>
          <p:cNvPr id="69" name="S69"/>
          <p:cNvSpPr/>
          <p:nvPr/>
        </p:nvSpPr>
        <p:spPr>
          <a:xfrm>
            <a:off x="1960372" y="4631646"/>
            <a:ext cx="5115560" cy="1269736"/>
          </a:xfrm>
          <a:prstGeom prst="roundRect">
            <a:avLst/>
          </a:prstGeom>
          <a:solidFill>
            <a:srgbClr val="FBF8F2"/>
          </a:solidFill>
          <a:ln w="20193">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121916" y="4684956"/>
            <a:ext cx="4792472" cy="350012"/>
          </a:xfrm>
          <a:prstGeom prst="rect">
            <a:avLst/>
          </a:prstGeom>
          <a:noFill/>
          <a:ln>
            <a:noFill/>
          </a:ln>
        </p:spPr>
        <p:txBody>
          <a:bodyPr wrap="square" lIns="0" tIns="0" rIns="0" bIns="0" anchor="t">
            <a:normAutofit/>
          </a:bodyPr>
          <a:lstStyle/>
          <a:p>
            <a:pPr algn="l">
              <a:buNone/>
            </a:pPr>
            <a:r>
              <a:rPr lang="en-US" sz="2700" b="1" i="0" dirty="0">
                <a:solidFill>
                  <a:srgbClr val="8E6F3E"/>
                </a:solidFill>
              </a:rPr>
              <a:t>ACCEPTABLE REALIZATIONS</a:t>
            </a:r>
          </a:p>
        </p:txBody>
      </p:sp>
      <p:sp>
        <p:nvSpPr>
          <p:cNvPr id="71" name="S71"/>
          <p:cNvSpPr/>
          <p:nvPr/>
        </p:nvSpPr>
        <p:spPr>
          <a:xfrm>
            <a:off x="229692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A   ✓</a:t>
            </a:r>
          </a:p>
        </p:txBody>
      </p:sp>
      <p:sp>
        <p:nvSpPr>
          <p:cNvPr id="72" name="S72"/>
          <p:cNvSpPr/>
          <p:nvPr/>
        </p:nvSpPr>
        <p:spPr>
          <a:xfrm>
            <a:off x="384505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B   ✓</a:t>
            </a:r>
          </a:p>
        </p:txBody>
      </p:sp>
      <p:sp>
        <p:nvSpPr>
          <p:cNvPr id="73" name="S73"/>
          <p:cNvSpPr/>
          <p:nvPr/>
        </p:nvSpPr>
        <p:spPr>
          <a:xfrm>
            <a:off x="539318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C   ✓</a:t>
            </a:r>
          </a:p>
        </p:txBody>
      </p:sp>
      <p:sp>
        <p:nvSpPr>
          <p:cNvPr id="80" name="S80"/>
          <p:cNvSpPr/>
          <p:nvPr/>
        </p:nvSpPr>
        <p:spPr>
          <a:xfrm>
            <a:off x="7695184" y="5180896"/>
            <a:ext cx="1211580" cy="592328"/>
          </a:xfrm>
          <a:prstGeom prst="rect">
            <a:avLst/>
          </a:prstGeom>
          <a:solidFill>
            <a:srgbClr val="FFFFFF"/>
          </a:solidFill>
          <a:ln w="20193">
            <a:solidFill>
              <a:srgbClr val="555960"/>
            </a:solidFill>
            <a:prstDash val="dash"/>
          </a:ln>
        </p:spPr>
        <p:txBody>
          <a:bodyPr wrap="square" lIns="109728" tIns="82296" rIns="109728" bIns="82296" anchor="ctr">
            <a:normAutofit lnSpcReduction="10000"/>
          </a:bodyPr>
          <a:lstStyle/>
          <a:p>
            <a:pPr algn="ctr">
              <a:buNone/>
            </a:pPr>
            <a:r>
              <a:rPr lang="en-US" sz="3300" b="1" i="0" dirty="0">
                <a:solidFill>
                  <a:srgbClr val="555960"/>
                </a:solidFill>
              </a:rPr>
              <a:t>D   ✗</a:t>
            </a:r>
          </a:p>
        </p:txBody>
      </p:sp>
      <p:sp>
        <p:nvSpPr>
          <p:cNvPr id="81" name="T81"/>
          <p:cNvSpPr txBox="1"/>
          <p:nvPr/>
        </p:nvSpPr>
        <p:spPr>
          <a:xfrm>
            <a:off x="7230000" y="5790000"/>
            <a:ext cx="1700000" cy="280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not acceptable</a:t>
            </a:r>
          </a:p>
        </p:txBody>
      </p:sp>
      <p:sp>
        <p:nvSpPr>
          <p:cNvPr id="90" name="T90"/>
          <p:cNvSpPr txBox="1"/>
          <p:nvPr/>
        </p:nvSpPr>
        <p:spPr>
          <a:xfrm>
            <a:off x="-32004" y="6080000"/>
            <a:ext cx="9073388" cy="460000"/>
          </a:xfrm>
          <a:prstGeom prst="rect">
            <a:avLst/>
          </a:prstGeom>
          <a:noFill/>
          <a:ln>
            <a:noFill/>
          </a:ln>
        </p:spPr>
        <p:txBody>
          <a:bodyPr wrap="square" lIns="0" tIns="0" rIns="0" bIns="0" anchor="t">
            <a:normAutofit/>
          </a:bodyPr>
          <a:lstStyle/>
          <a:p>
            <a:pPr algn="ctr">
              <a:buNone/>
            </a:pPr>
            <a:r>
              <a:rPr lang="en-US" sz="2800" b="1" i="0" dirty="0">
                <a:solidFill>
                  <a:srgbClr val="5C4826"/>
                </a:solidFill>
              </a:rPr>
              <a:t>We pick one. But how should this realization be organized?</a:t>
            </a:r>
          </a:p>
        </p:txBody>
      </p:sp>
      <p:sp>
        <p:nvSpPr>
          <p:cNvPr id="100" name="SelectionRing"/>
          <p:cNvSpPr/>
          <p:nvPr/>
        </p:nvSpPr>
        <p:spPr>
          <a:xfrm>
            <a:off x="3737356" y="5073200"/>
            <a:ext cx="1561592" cy="807720"/>
          </a:xfrm>
          <a:prstGeom prst="roundRect">
            <a:avLst/>
          </a:prstGeom>
          <a:noFill/>
          <a:ln w="40386">
            <a:solidFill>
              <a:srgbClr val="5C4826"/>
            </a:solidFill>
          </a:ln>
        </p:spPr>
        <p:txBody>
          <a:bodyPr wrap="square" lIns="0" tIns="0" rIns="0" bIns="0" anchor="ctr">
            <a:normAutofit/>
          </a:bodyPr>
          <a:lstStyle/>
          <a:p>
            <a:endParaRP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0"/>
                                        </p:tgtEl>
                                        <p:attrNameLst>
                                          <p:attrName>style.visibility</p:attrName>
                                        </p:attrNameLst>
                                      </p:cBhvr>
                                      <p:to>
                                        <p:strVal val="visible"/>
                                      </p:to>
                                    </p:set>
                                    <p:animEffect transition="in" filter="fade">
                                      <p:cBhvr>
                                        <p:cTn id="52" dur="400"/>
                                        <p:tgtEl>
                                          <p:spTgt spid="100"/>
                                        </p:tgtEl>
                                      </p:cBhvr>
                                    </p:animEffect>
                                  </p:childTnLst>
                                </p:cTn>
                              </p:par>
                              <p:par>
                                <p:cTn id="53" presetID="10" presetClass="entr" presetSubtype="0" fill="hold" nodeType="withEffect">
                                  <p:stCondLst>
                                    <p:cond delay="0"/>
                                  </p:stCondLst>
                                  <p:childTnLst>
                                    <p:set>
                                      <p:cBhvr>
                                        <p:cTn id="54" dur="1" fill="hold">
                                          <p:stCondLst>
                                            <p:cond delay="0"/>
                                          </p:stCondLst>
                                        </p:cTn>
                                        <p:tgtEl>
                                          <p:spTgt spid="90"/>
                                        </p:tgtEl>
                                        <p:attrNameLst>
                                          <p:attrName>style.visibility</p:attrName>
                                        </p:attrNameLst>
                                      </p:cBhvr>
                                      <p:to>
                                        <p:strVal val="visible"/>
                                      </p:to>
                                    </p:set>
                                    <p:animEffect transition="in" filter="fade">
                                      <p:cBhvr>
                                        <p:cTn id="55"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8515</TotalTime>
  <Words>8606</Words>
  <Application>Microsoft Macintosh PowerPoint</Application>
  <PresentationFormat>On-screen Show (4:3)</PresentationFormat>
  <Paragraphs>726</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Times</vt:lpstr>
      <vt:lpstr>Arial</vt:lpstr>
      <vt:lpstr>Calibri</vt:lpstr>
      <vt:lpstr>Consolas</vt:lpstr>
      <vt:lpstr>Times New Roman</vt:lpstr>
      <vt:lpstr>Wingdings</vt:lpstr>
      <vt:lpstr>Purdue1</vt:lpstr>
      <vt:lpstr>ECE 30861/46100: Software Engineering</vt:lpstr>
      <vt:lpstr>From requirements to acceptable realizations</vt:lpstr>
      <vt:lpstr>Specification</vt:lpstr>
      <vt:lpstr>Running example: Sleep Advisor</vt:lpstr>
      <vt:lpstr>We have requirements. Now what?</vt:lpstr>
      <vt:lpstr>Requirements ≠ Specification ≠ Machine instr.</vt:lpstr>
      <vt:lpstr>A specification connects the machine to the requirement</vt:lpstr>
      <vt:lpstr>How would you constrain the machine (implementation)?</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333</cp:revision>
  <dcterms:created xsi:type="dcterms:W3CDTF">2020-02-21T23:00:33Z</dcterms:created>
  <dcterms:modified xsi:type="dcterms:W3CDTF">2026-09-10T14:18:17Z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