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29.xml" ContentType="application/vnd.openxmlformats-officedocument.presentationml.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0"/>
  </p:notesMasterIdLst>
  <p:sldIdLst>
    <p:sldId id="517" r:id="rId2"/>
    <p:sldId id="738" r:id="rId3"/>
    <p:sldId id="762" r:id="rId35"/>
    <p:sldId id="761" r:id="rId4"/>
    <p:sldId id="751" r:id="rId5"/>
    <p:sldId id="744" r:id="rId6"/>
    <p:sldId id="651" r:id="rId7"/>
    <p:sldId id="746" r:id="rId8"/>
    <p:sldId id="747" r:id="rId9"/>
    <p:sldId id="748" r:id="rId10"/>
    <p:sldId id="749" r:id="rId11"/>
    <p:sldId id="750" r:id="rId12"/>
    <p:sldId id="701" r:id="rId13"/>
    <p:sldId id="752" r:id="rId14"/>
    <p:sldId id="731" r:id="rId15"/>
    <p:sldId id="712" r:id="rId16"/>
    <p:sldId id="713" r:id="rId17"/>
    <p:sldId id="735" r:id="rId18"/>
    <p:sldId id="753" r:id="rId19"/>
    <p:sldId id="720" r:id="rId20"/>
    <p:sldId id="754" r:id="rId21"/>
    <p:sldId id="755" r:id="rId22"/>
    <p:sldId id="638" r:id="rId23"/>
    <p:sldId id="756" r:id="rId24"/>
    <p:sldId id="740" r:id="rId25"/>
    <p:sldId id="759" r:id="rId26"/>
    <p:sldId id="757" r:id="rId27"/>
    <p:sldId id="739" r:id="rId28"/>
    <p:sldId id="741"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1" autoAdjust="0"/>
    <p:restoredTop sz="56164"/>
  </p:normalViewPr>
  <p:slideViewPr>
    <p:cSldViewPr snapToGrid="0" snapToObjects="1">
      <p:cViewPr varScale="1">
        <p:scale>
          <a:sx n="64" d="100"/>
          <a:sy n="64" d="100"/>
        </p:scale>
        <p:origin x="1944"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 Id="rId35" Type="http://schemas.openxmlformats.org/officeDocument/2006/relationships/slide" Target="slides/slide29.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Yesterday: Specification — which realizations we are willing to accept. Today: pick one and organize it.</a:t>
            </a:r>
          </a:p>
          <a:p>
            <a:endParaRPr dirty="0"/>
          </a:p>
          <a:p>
            <a:r>
              <a:rPr dirty="0"/>
              <a:t>- Do not define architecture here. The definition lands after the opening problem has made the need for architecture concrete.</a:t>
            </a:r>
          </a:p>
          <a:p>
            <a:endParaRPr dirty="0"/>
          </a:p>
          <a:p>
            <a:r>
              <a:rPr dirty="0"/>
              <a:t>=====</a:t>
            </a:r>
          </a:p>
          <a:p>
            <a:r>
              <a:rPr dirty="0"/>
              <a:t>Last time we asked what must be true of an acceptable system, and we ended with a space of acceptable realizations. Today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yesterday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ONE MACHINE click is the point; an optional final click draws the connectors. Let ONE MACHINE sit for a beat before speaking over it.</a:t>
            </a:r>
          </a:p>
          <a:p>
            <a:endParaRPr dirty="0"/>
          </a:p>
          <a:p>
            <a:r>
              <a:rPr dirty="0"/>
              <a:t>=====</a:t>
            </a:r>
          </a:p>
          <a:p>
            <a:r>
              <a:rPr dirty="0"/>
              <a:t>Yesterday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modeling trick. Each representation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Pick up yesterday's acceptable-realizations argument and deliver the definition of architecture orally.</a:t>
            </a:r>
          </a:p>
          <a:p>
            <a:endParaRPr lang="en-US" dirty="0"/>
          </a:p>
          <a:p>
            <a:r>
              <a:rPr lang="en-US" dirty="0"/>
              <a:t>- The figure is yesterday's model extended; students should recognize it instantly. Walk it briskly until the selection ring.</a:t>
            </a:r>
          </a:p>
          <a:p>
            <a:endParaRPr lang="en-US" dirty="0"/>
          </a:p>
          <a:p>
            <a:r>
              <a:rPr lang="en-US" dirty="0"/>
              <a:t>- DEFINITION (deliver orally, exact phrasing): Architecture describes the consequential organization of the system: its major parts, their responsibilities, their interfaces, and the rules governing their interaction.</a:t>
            </a:r>
          </a:p>
          <a:p>
            <a:endParaRPr lang="en-US" dirty="0"/>
          </a:p>
          <a:p>
            <a:r>
              <a:rPr lang="en-US" dirty="0"/>
              <a:t>- Lean on 'consequential' — architecture is not every organizational fact, only the ones that matter. It echoes 'consequential obligations' from yesterday on purpose.</a:t>
            </a:r>
          </a:p>
          <a:p>
            <a:endParaRPr lang="en-US" dirty="0"/>
          </a:p>
          <a:p>
            <a:r>
              <a:rPr lang="en-US" dirty="0"/>
              <a:t>=====</a:t>
            </a:r>
          </a:p>
          <a:p>
            <a:r>
              <a:rPr lang="en-US" dirty="0"/>
              <a:t>This is yesterday's picture. Requirements told us what should be true; the specification made the consequential obligations explicit.</a:t>
            </a:r>
          </a:p>
          <a:p>
            <a:endParaRPr lang="en-US" dirty="0"/>
          </a:p>
          <a:p>
            <a:r>
              <a:rPr lang="en-US" dirty="0"/>
              <a:t>ANIMATE</a:t>
            </a:r>
          </a:p>
          <a:p>
            <a:endParaRPr lang="en-US" dirty="0"/>
          </a:p>
          <a:p>
            <a:r>
              <a:rPr lang="en-US" dirty="0"/>
              <a:t>And it did two things at once: it constrained what matters, and it deliberately left degrees of freedom open.</a:t>
            </a:r>
          </a:p>
          <a:p>
            <a:endParaRPr lang="en-US" dirty="0"/>
          </a:p>
          <a:p>
            <a:r>
              <a:rPr lang="en-US" dirty="0"/>
              <a:t>ANIMATE</a:t>
            </a:r>
          </a:p>
          <a:p>
            <a:endParaRPr lang="en-US" dirty="0"/>
          </a:p>
          <a:p>
            <a:r>
              <a:rPr lang="en-US" dirty="0"/>
              <a:t>So several genuinely different systems — A, B, C — all satisfy every obligation.</a:t>
            </a:r>
          </a:p>
          <a:p>
            <a:endParaRPr lang="en-US" dirty="0"/>
          </a:p>
          <a:p>
            <a:r>
              <a:rPr lang="en-US" dirty="0"/>
              <a:t>ANIMATE</a:t>
            </a:r>
          </a:p>
          <a:p>
            <a:endParaRPr lang="en-US" dirty="0"/>
          </a:p>
          <a:p>
            <a:r>
              <a:rPr lang="en-US" dirty="0"/>
              <a:t>And some, like D, do not. The specification drew a boundary, not a point.</a:t>
            </a:r>
          </a:p>
          <a:p>
            <a:endParaRPr lang="en-US" dirty="0"/>
          </a:p>
          <a:p>
            <a:r>
              <a:rPr lang="en-US" dirty="0"/>
              <a:t>ANIMATE</a:t>
            </a:r>
          </a:p>
          <a:p>
            <a:endParaRPr lang="en-US" dirty="0"/>
          </a:p>
          <a:p>
            <a:r>
              <a:rPr lang="en-US" dirty="0"/>
              <a:t>Today we consider one acceptable realization and ask how it should be organized. And the moment we do, yesterday's question flips: not 'is this system acceptable?' but 'how should this system be organized?'</a:t>
            </a:r>
          </a:p>
          <a:p>
            <a:endParaRPr lang="en-US" dirty="0"/>
          </a:p>
          <a:p>
            <a:r>
              <a:rPr lang="en-US" dirty="0"/>
              <a:t>Here is the definition, and it is the only one you need today.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lang="en-US" dirty="0"/>
          </a:p>
          <a:p>
            <a:r>
              <a:rPr lang="en-US" dirty="0"/>
              <a:t>That definition compresses into four questions, and the four questions are today's map.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today answers one or more.</a:t>
            </a:r>
          </a:p>
          <a:p>
            <a:endParaRPr dirty="0"/>
          </a:p>
          <a:p>
            <a:r>
              <a:rPr dirty="0"/>
              <a:t>- The fourth question — properties — is the one students underrate. Flag it: architecture can support, constrain, or frustrate latency, security, changeability, and behavior under failure.</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questions sound structural. The fourth explains why the structure matters. We do not draw boxes for their own sake: organization can support, constrain, or frustrate properties such as latency, security, changeability, and behavior under failure.</a:t>
            </a:r>
          </a:p>
          <a:p>
            <a:endParaRPr dirty="0"/>
          </a:p>
          <a:p>
            <a:r>
              <a:rPr dirty="0"/>
              <a:t>Of these, the boundary question is where the consequences concentrate. Let us look at it properly.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yesterday's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yesterday.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The specification will not choose between them. Somebody has to — and that is a decision. Section 2 is about making it honestly.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Weighted scores and verdict first, then three callout clicks, then the footer. Let students read the verdict line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ANIMATE</a:t>
            </a:r>
          </a:p>
          <a:p>
            <a:r>
              <a:rPr dirty="0"/>
              <a:t>First, the specification. Constraints are not objectives — they are not properties we would like more of, they are lines we may not cross. B violates the required latency. B is not a worse choice; B is not a choice. Notice yesterday's work just did something for us: elimination is only rigorous because the obligations were explicit.</a:t>
            </a:r>
          </a:p>
          <a:p>
            <a:endParaRPr dirty="0"/>
          </a:p>
          <a:p>
            <a:r>
              <a:rPr dirty="0"/>
              <a:t>ANIMATE</a:t>
            </a:r>
          </a:p>
          <a:p>
            <a:r>
              <a:rPr dirty="0"/>
              <a:t>Second, dominance. Compare D with A: on every property we care about, D is no better, and on at least one it is strictly worse. Choosing D over A could never be right, under any weighting of the properties.</a:t>
            </a:r>
          </a:p>
          <a:p>
            <a:r>
              <a:rPr dirty="0"/>
              <a:t>ANIMATE</a:t>
            </a:r>
          </a:p>
          <a:p>
            <a:r>
              <a:rPr dirty="0"/>
              <a:t>So D goes — and notice we never needed a weight or a score to say so.</a:t>
            </a:r>
          </a:p>
          <a:p>
            <a:endParaRPr dirty="0"/>
          </a:p>
          <a:p>
            <a:r>
              <a:rPr dirty="0"/>
              <a:t>ANIMATE</a:t>
            </a:r>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Turn from the decision method to where candidate organizations come from.</a:t>
            </a:r>
          </a:p>
          <a:p>
            <a:endParaRPr dirty="0"/>
          </a:p>
          <a:p>
            <a:r>
              <a:rPr dirty="0"/>
              <a:t>- Do not pause for discussion.</a:t>
            </a:r>
          </a:p>
          <a:p>
            <a:endParaRPr dirty="0"/>
          </a:p>
          <a:p>
            <a:r>
              <a:rPr dirty="0"/>
              <a:t>=====</a:t>
            </a:r>
          </a:p>
          <a:p>
            <a:r>
              <a:rPr dirty="0"/>
              <a:t>Section three. We now know how to choose among alternatives. Where do the alternatives come from? From the field's accumulated experience — patterns. Each one arrives carrying expectations about what it buys and what it costs.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Reframe patterns: not shapes to memorize, but recurring choices with priors attached.</a:t>
            </a:r>
          </a:p>
          <a:p>
            <a:endParaRPr dirty="0"/>
          </a:p>
          <a:p>
            <a:r>
              <a:rPr dirty="0"/>
              <a:t>- Four clicks: problem, the two patterns, their expected consequences, the footer.</a:t>
            </a:r>
          </a:p>
          <a:p>
            <a:r>
              <a:rPr dirty="0"/>
              <a:t>- Land the sentence: for the next four slides the format is always the same — one recurring problem, two conventional answers, the tradeoff between them.</a:t>
            </a:r>
          </a:p>
          <a:p>
            <a:endParaRPr dirty="0"/>
          </a:p>
          <a:p>
            <a:r>
              <a:rPr dirty="0"/>
              <a:t>=====</a:t>
            </a:r>
          </a:p>
          <a:p>
            <a:r>
              <a:rPr dirty="0"/>
              <a:t>Engineers have been organizing systems for seventy years. The same problems keep recurring.</a:t>
            </a:r>
          </a:p>
          <a:p>
            <a:r>
              <a:rPr dirty="0"/>
              <a:t>ANIMATE</a:t>
            </a:r>
          </a:p>
          <a:p>
            <a:r>
              <a:rPr dirty="0"/>
              <a:t>When a problem recurs often enough, the field converges — not on one answer, but usually on a few.</a:t>
            </a:r>
          </a:p>
          <a:p>
            <a:r>
              <a:rPr dirty="0"/>
              <a:t>ANIMATE</a:t>
            </a:r>
          </a:p>
          <a:p>
            <a:r>
              <a:rPr dirty="0"/>
              <a:t>That is what a pattern is: a recurring problem paired with a recurring organization. And for the same problem there is almost always more than one.</a:t>
            </a:r>
          </a:p>
          <a:p>
            <a:r>
              <a:rPr dirty="0"/>
              <a:t>ANIMATE</a:t>
            </a:r>
          </a:p>
          <a:p>
            <a:r>
              <a:rPr dirty="0"/>
              <a:t>Each pattern arrives carrying expectations — what it tends to buy you, what it tends to cost you. Expectations, priors. Not guarantees.</a:t>
            </a:r>
          </a:p>
          <a:p>
            <a:r>
              <a:rPr dirty="0"/>
              <a:t>ANIMATE</a:t>
            </a:r>
          </a:p>
          <a:p>
            <a:r>
              <a:rPr dirty="0"/>
              <a:t>So patterns do not end the decision-making of Section two; they feed it. They hand us the candidate organizations and a first estimate of the consequences.</a:t>
            </a:r>
          </a:p>
          <a:p>
            <a:r>
              <a:rPr dirty="0"/>
              <a:t>For the next four slides, the format is always the same: one recurring architectural problem, two conventional answers, and the tradeoff between them.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concrete architectural choice: preserve the abstraction boundaries, or deliberately cross one.</a:t>
            </a:r>
          </a:p>
          <a:p>
            <a:endParaRPr dirty="0"/>
          </a:p>
          <a:p>
            <a:r>
              <a:rPr dirty="0"/>
              <a:t>- Five clicks: strict stack, second stack, the mmap crossing, consequences, tradeoff.</a:t>
            </a:r>
          </a:p>
          <a:p>
            <a:r>
              <a:rPr dirty="0"/>
              <a:t>- The crossing should feel mildly transgressive — we just broke the rule, on purpose.</a:t>
            </a:r>
          </a:p>
          <a:p>
            <a:r>
              <a:rPr dirty="0"/>
              <a:t>- Do not claim mmap is simply faster; it buys behavior the clean route cannot express.</a:t>
            </a:r>
          </a:p>
          <a:p>
            <a:endParaRPr dirty="0"/>
          </a:p>
          <a:p>
            <a:r>
              <a:rPr dirty="0"/>
              <a:t>=====</a:t>
            </a:r>
          </a:p>
          <a:p>
            <a:r>
              <a:rPr dirty="0"/>
              <a:t>The familiar rule first. Dependencies flow through the layers: the application reaches files through the file API, the API through the operating system, the OS through storage. Each layer replaceable, each stratum understandable on its own.</a:t>
            </a:r>
          </a:p>
          <a:p>
            <a:r>
              <a:rPr dirty="0"/>
              <a:t>ANIMATE</a:t>
            </a:r>
          </a:p>
          <a:p>
            <a:r>
              <a:rPr dirty="0"/>
              <a:t>Now the same stack again. Same four layers, same allowed dependencies. Nothing has changed yet.</a:t>
            </a:r>
          </a:p>
          <a:p>
            <a:r>
              <a:rPr dirty="0"/>
              <a:t>ANIMATE</a:t>
            </a:r>
          </a:p>
          <a:p>
            <a:r>
              <a:rPr dirty="0"/>
              <a:t>And now we break the rule. mmap wires a file straight into the process’s virtual memory. Touch a page — the fault handler pulls it from storage. The application is talking to the paging machinery, not the file API. This is a deliberate crossing, made by people who understood layering perfectly well.</a:t>
            </a:r>
          </a:p>
          <a:p>
            <a:r>
              <a:rPr dirty="0"/>
              <a:t>It buys something the clean abstraction cannot express: file-backed data participating in virtual memory itself — demand paging, no copy through the API.</a:t>
            </a:r>
          </a:p>
          <a:p>
            <a:r>
              <a:rPr dirty="0"/>
              <a:t>ANIMATE</a:t>
            </a:r>
          </a:p>
          <a:p>
            <a:r>
              <a:rPr dirty="0"/>
              <a:t>So name the consequences honestly. Strict layering tends to buy isolation, replaceability, local reasoning; it costs indirection, and it can block exactly this kind of mechanism. The crossing buys capability — and costs you coupling across the layers, forever.</a:t>
            </a:r>
          </a:p>
          <a:p>
            <a:r>
              <a:rPr dirty="0"/>
              <a:t>ANIMATE</a:t>
            </a:r>
          </a:p>
          <a:p>
            <a:r>
              <a:rPr dirty="0"/>
              <a:t>The tradeoff: isolation and changeability against cross-layer capability. Neither side is wrong. The pattern gives you the prior; the crossing is engineered, priced, and paid for.</a:t>
            </a:r>
          </a:p>
          <a:p>
            <a:r>
              <a:rPr dirty="0"/>
              <a:t>Layers answer where dependencies may cross abstraction boundaries. But systems are also organized around the movement and ownership of state. That gives us another recurring choice.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Same computations, two organizations of state: flow it through the stages, or meet at a shared authoritative store.</a:t>
            </a:r>
          </a:p>
          <a:p>
            <a:endParaRPr dirty="0"/>
          </a:p>
          <a:p>
            <a:r>
              <a:rPr dirty="0"/>
              <a:t>- Five clicks: pipeline, the repository core, the components attaching, consequences, tradeoff.</a:t>
            </a:r>
          </a:p>
          <a:p>
            <a:r>
              <a:rPr dirty="0"/>
              <a:t>- Same four components on both sides — the parts did not change, the organization did.</a:t>
            </a:r>
          </a:p>
          <a:p>
            <a:endParaRPr dirty="0"/>
          </a:p>
          <a:p>
            <a:r>
              <a:rPr dirty="0"/>
              <a:t>=====</a:t>
            </a:r>
          </a:p>
          <a:p>
            <a:r>
              <a:rPr dirty="0"/>
              <a:t>Several computations operate on related state. Should the state move, or should it sit still?</a:t>
            </a:r>
          </a:p>
          <a:p>
            <a:r>
              <a:rPr dirty="0"/>
              <a:t>One natural organization: let it move. Input flows into an analyzer, results flow into an optimizer, a report falls out the end. Every stage knows only its neighbor. Incremental processing comes almost for free.</a:t>
            </a:r>
          </a:p>
          <a:p>
            <a:r>
              <a:rPr dirty="0"/>
              <a:t>ANIMATE</a:t>
            </a:r>
          </a:p>
          <a:p>
            <a:r>
              <a:rPr dirty="0"/>
              <a:t>The alternative: keep one authoritative copy of the state in the middle, and move the computation around it instead. Same four components — input, analyzer, optimizer, report — but now everyone meets at the repository. Compilers with a shared symbol table work this way; so does every system built around a central database.</a:t>
            </a:r>
          </a:p>
          <a:p>
            <a:r>
              <a:rPr dirty="0"/>
              <a:t>ANIMATE</a:t>
            </a:r>
          </a:p>
          <a:p>
            <a:r>
              <a:rPr dirty="0"/>
              <a:t>The pipeline tends to buy explicit flow and local dependencies; it gets painful exactly when stages need to share and reconcile state. The repository tends to buy integration and consistency — one truth — and it costs you central schema coupling and shared fate: everyone now depends on the center.</a:t>
            </a:r>
          </a:p>
          <a:p>
            <a:r>
              <a:rPr dirty="0"/>
              <a:t>ANIMATE</a:t>
            </a:r>
          </a:p>
          <a:p>
            <a:r>
              <a:rPr dirty="0"/>
              <a:t>The tradeoff: local flow and independence against shared consistency and integration. Notice you can finally see what the alternative to a repository actually is.</a:t>
            </a:r>
          </a:p>
          <a:p>
            <a:r>
              <a:rPr dirty="0"/>
              <a:t>That was a choice about where state lives. Components also have to invoke one another. The next recurring choice: is that communication direct and synchronous, or mediated through events?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Call a known peer and wait, or publish an event and let unknown consumers react.</a:t>
            </a:r>
          </a:p>
          <a:p>
            <a:endParaRPr dirty="0"/>
          </a:p>
          <a:p>
            <a:r>
              <a:rPr dirty="0"/>
              <a:t>- Staged clicks: request, then response, then downstream C; producer, bus, consumers; D arrives last, then consequences and tradeoff.</a:t>
            </a:r>
          </a:p>
          <a:p>
            <a:r>
              <a:rPr dirty="0"/>
              <a:t>- Keep Kafka and gRPC subordinate: implementations, not the architecture.</a:t>
            </a:r>
          </a:p>
          <a:p>
            <a:r>
              <a:rPr dirty="0"/>
              <a:t>- Callback, verbatim: architecture allocates coupling; it does not eliminate it.</a:t>
            </a:r>
          </a:p>
          <a:p>
            <a:endParaRPr dirty="0"/>
          </a:p>
          <a:p>
            <a:r>
              <a:rPr dirty="0"/>
              <a:t>=====</a:t>
            </a:r>
          </a:p>
          <a:p>
            <a:r>
              <a:rPr dirty="0"/>
              <a:t>Components have to invoke one another. The direct organization: remote procedure call. Service A knows it needs Service B, calls it, waits, gets an answer. Immediate coordination — the caller holds a result before its next line of code runs. REST, gRPC: implementations of this shape.</a:t>
            </a:r>
          </a:p>
          <a:p>
            <a:r>
              <a:rPr dirty="0"/>
              <a:t>ANIMATE</a:t>
            </a:r>
          </a:p>
          <a:p>
            <a:r>
              <a:rPr dirty="0"/>
              <a:t>But B calls C the same way. Now A’s latency includes B’s, which includes C’s — and so does A’s failure. RPC means the calling component knows who it needs, now; dependency, latency, and failure all travel along the call path.</a:t>
            </a:r>
          </a:p>
          <a:p>
            <a:r>
              <a:rPr dirty="0"/>
              <a:t>ANIMATE</a:t>
            </a:r>
          </a:p>
          <a:p>
            <a:r>
              <a:rPr dirty="0"/>
              <a:t>The alternative: the producer does not call anyone. It states what happened — publishes an event to a bus or a log — without knowing who reacts.</a:t>
            </a:r>
          </a:p>
          <a:p>
            <a:r>
              <a:rPr dirty="0"/>
              <a:t>ANIMATE</a:t>
            </a:r>
          </a:p>
          <a:p>
            <a:r>
              <a:rPr dirty="0"/>
              <a:t>Consumers subscribe. B, C, D each react independently. Watch what the producer did when D arrived: nothing. That is the decoupling. A Kafka-style log even retains the events, so a consumer added next month can replay history — but this is not a Kafka lecture; the concept is the event boundary.</a:t>
            </a:r>
          </a:p>
          <a:p>
            <a:r>
              <a:rPr dirty="0"/>
              <a:t>ANIMATE</a:t>
            </a:r>
          </a:p>
          <a:p>
            <a:r>
              <a:rPr dirty="0"/>
              <a:t>Be honest about the price. Events did not remove the coupling — they moved it: into event schemas, delivery semantics, ordering assumptions, retries, observability. Architecture allocates coupling; it does not eliminate it.</a:t>
            </a:r>
          </a:p>
          <a:p>
            <a:r>
              <a:rPr dirty="0"/>
              <a:t>ANIMATE</a:t>
            </a:r>
          </a:p>
          <a:p>
            <a:r>
              <a:rPr dirty="0"/>
              <a:t>The tradeoff: immediate coordination against producer/consumer decoupling. Not “simple versus decoupled” — synchronous distributed systems are not simple.</a:t>
            </a:r>
          </a:p>
          <a:p>
            <a:r>
              <a:rPr dirty="0"/>
              <a:t>So far we have talked about what communicates with what at runtime. There is a subtler question: which direction should the code itself depend? That is the last choice.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abstract choice of the four: does domain code depend on infrastructure, or does infrastructure conform to a domain-defined interface?</a:t>
            </a:r>
          </a:p>
          <a:p>
            <a:endParaRPr dirty="0"/>
          </a:p>
          <a:p>
            <a:r>
              <a:rPr dirty="0"/>
              <a:t>- Staged clicks: each domain, the direct dependency, then the port (the domain defines it), the adapter, the infrastructure, the source-dependency arrow, consequences, tradeoff.</a:t>
            </a:r>
          </a:p>
          <a:p>
            <a:r>
              <a:rPr dirty="0"/>
              <a:t>- The arrows are the whole slide — dependency direction must read unambiguously.</a:t>
            </a:r>
          </a:p>
          <a:p>
            <a:r>
              <a:rPr dirty="0"/>
              <a:t>- Ports and adapters is not automatically good architecture; say so explicitly.</a:t>
            </a:r>
          </a:p>
          <a:p>
            <a:endParaRPr dirty="0"/>
          </a:p>
          <a:p>
            <a:r>
              <a:rPr dirty="0"/>
              <a:t>=====</a:t>
            </a:r>
          </a:p>
          <a:p>
            <a:r>
              <a:rPr dirty="0"/>
              <a:t>The obvious organization: domain logic imports the database SDK and calls it. Fewer moving parts, no ceremony. But look at the arrow — your business logic now depends on a vendor’s API. When the vendor changes, or you outgrow the database, the change lands inside your domain code.</a:t>
            </a:r>
          </a:p>
          <a:p>
            <a:r>
              <a:rPr dirty="0"/>
              <a:t>ANIMATE</a:t>
            </a:r>
          </a:p>
          <a:p>
            <a:r>
              <a:rPr dirty="0"/>
              <a:t>The alternative starts with a conceptual move: the domain says what it needs. It defines a port — an interface, stated in the domain’s own vocabulary. Nothing below exists yet.</a:t>
            </a:r>
          </a:p>
          <a:p>
            <a:r>
              <a:rPr dirty="0"/>
              <a:t>ANIMATE</a:t>
            </a:r>
          </a:p>
          <a:p>
            <a:r>
              <a:rPr dirty="0"/>
              <a:t>Then infrastructure conforms to that need. An adapter implements the port and talks to the actual database. Follow the dashed arrow: it points up, toward the domain. The compile-time dependency has been reversed — infrastructure depends on the domain’s interface, never the other way. You will hear this called ports-and-adapters, hexagonal, clean architecture.</a:t>
            </a:r>
          </a:p>
          <a:p>
            <a:r>
              <a:rPr dirty="0"/>
              <a:t>ANIMATE</a:t>
            </a:r>
          </a:p>
          <a:p>
            <a:r>
              <a:rPr dirty="0"/>
              <a:t>The price is real: extra interfaces, extra adapters, extra indirection — paid on every feature, forever. And ports and adapters is not automatically good architecture. If the infrastructure is stable, cheap to replace globally, or genuinely constitutive of the application, the seam buys little.</a:t>
            </a:r>
          </a:p>
          <a:p>
            <a:r>
              <a:rPr dirty="0"/>
              <a:t>ANIMATE</a:t>
            </a:r>
          </a:p>
          <a:p>
            <a:r>
              <a:rPr dirty="0"/>
              <a:t>So the tradeoff: directness and simplicity against isolation from infrastructure change. The question is never “should good systems use ports and adapters?” It is: “is infrastructure change consequential enough, here, to justify buying this boundary?”</a:t>
            </a:r>
          </a:p>
          <a:p>
            <a:r>
              <a:rPr dirty="0"/>
              <a:t>And notice what that question demands: an estimate of how likely the change is, and how much it would cost. How would we know? Hold that thought.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Consolidate the method: four recurring problems, two recurring answers each, a price every time.</a:t>
            </a:r>
          </a:p>
          <a:p>
            <a:endParaRPr dirty="0"/>
          </a:p>
          <a:p>
            <a:r>
              <a:rPr dirty="0"/>
              <a:t>- Four clicks: rows two through four, then the footer. Ten to fifteen seconds per row; no re-teaching.</a:t>
            </a:r>
          </a:p>
          <a:p>
            <a:r>
              <a:rPr dirty="0"/>
              <a:t>- The footer sentence is the bridge into Section four.</a:t>
            </a:r>
          </a:p>
          <a:p>
            <a:endParaRPr dirty="0"/>
          </a:p>
          <a:p>
            <a:r>
              <a:rPr dirty="0"/>
              <a:t>=====</a:t>
            </a:r>
          </a:p>
          <a:p>
            <a:r>
              <a:rPr dirty="0"/>
              <a:t>Look at what we just did, four times in a row. A recurring problem. Two recurring answers. A price either way.</a:t>
            </a:r>
          </a:p>
          <a:p>
            <a:r>
              <a:rPr dirty="0"/>
              <a:t>Abstraction boundaries: follow the layers, or cross one deliberately — isolation against capability.</a:t>
            </a:r>
          </a:p>
          <a:p>
            <a:r>
              <a:rPr dirty="0"/>
              <a:t>ANIMATE</a:t>
            </a:r>
          </a:p>
          <a:p>
            <a:r>
              <a:rPr dirty="0"/>
              <a:t>State: flow it through stages, or meet at a shared store — local flow against shared consistency.</a:t>
            </a:r>
          </a:p>
          <a:p>
            <a:r>
              <a:rPr dirty="0"/>
              <a:t>ANIMATE</a:t>
            </a:r>
          </a:p>
          <a:p>
            <a:r>
              <a:rPr dirty="0"/>
              <a:t>Communication: call known peers, or publish to unknown consumers — coordination against decoupling.</a:t>
            </a:r>
          </a:p>
          <a:p>
            <a:r>
              <a:rPr dirty="0"/>
              <a:t>ANIMATE</a:t>
            </a:r>
          </a:p>
          <a:p>
            <a:r>
              <a:rPr dirty="0"/>
              <a:t>Infrastructure: depend on it directly, or make it conform to your interface — directness against infrastructure isolation.</a:t>
            </a:r>
          </a:p>
          <a:p>
            <a:r>
              <a:rPr dirty="0"/>
              <a:t>ANIMATE</a:t>
            </a:r>
          </a:p>
          <a:p>
            <a:r>
              <a:rPr dirty="0"/>
              <a:t>A pattern tells us what tends to happen. It does not tell us which consequence matters more, here, in your system.</a:t>
            </a:r>
          </a:p>
          <a:p>
            <a:r>
              <a:rPr dirty="0"/>
              <a:t>Patterns have given us plausible organizations and expectations about their consequences. But those expectations are still priors. If the choice matters enough, we want stronger evidence. How much can we know before we build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Yesterday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expectation based on prior engineering experience. Useful evidence, but substantial betting remains.</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yesterday's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dependency model shows the anticipated change staying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yesterday: the specification told the implementor where the world was expected to move. Expected change is specification output — and architecture is where we act on it.</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dependency model shows the anticipated change staying behind the seam.</a:t>
            </a:r>
          </a:p>
          <a:p>
            <a:endParaRPr dirty="0"/>
          </a:p>
          <a:p>
            <a:r>
              <a:rPr dirty="0"/>
              <a:t>Be precise about the claim. The model establishes a structural fact about the dependency graph: no dependency crosses the boundary into the model's internals. That supports a strong argument for locality, provided the model remains faithful to the implementation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a quantitative prediction from an architectural model: the weighted dependency graph identifies the modeled critical path, and decomposition is a candidate change you can test on the model.</a:t>
            </a:r>
          </a:p>
          <a:p>
            <a:endParaRPr dirty="0"/>
          </a:p>
          <a:p>
            <a:r>
              <a:rPr dirty="0"/>
              <a:t>- Provenance, say it: this graph is from DocAble, the document-accessibility system our case studies draw from. The full episode is the Interlude 'One Problem, Many Models' in the book — assigned reading; say so.</a:t>
            </a:r>
          </a:p>
          <a:p>
            <a:endParaRPr dirty="0"/>
          </a:p>
          <a:p>
            <a:r>
              <a:rPr dirty="0"/>
              <a:t>- Walk the arithmetic on-slide: the modeled critical path is A → B → F, 120 ms. Paths that cannot exceed that value do not determine this model's critical-path latency.</a:t>
            </a:r>
          </a:p>
          <a:p>
            <a:endParaRPr dirty="0"/>
          </a:p>
          <a:p>
            <a:r>
              <a:rPr dirty="0"/>
              <a:t>- The payoff move: decompose B into B1, B2, B3 — a candidate change evaluated against the model, before any implementation exists.</a:t>
            </a:r>
          </a:p>
          <a:p>
            <a:endParaRPr dirty="0"/>
          </a:p>
          <a:p>
            <a:r>
              <a:rPr dirty="0"/>
              <a:t>=====</a:t>
            </a:r>
          </a:p>
          <a:p>
            <a:r>
              <a:rPr dirty="0"/>
              <a:t>This one is real. The graph is from DocAble, a document-accessibility system we will keep returning to this semester — the full story of this analysis is in the Interlude called 'One Problem, Many Models,' which is in your assigned reading.</a:t>
            </a:r>
          </a:p>
          <a:p>
            <a:endParaRPr dirty="0"/>
          </a:p>
          <a:p>
            <a:r>
              <a:rPr dirty="0"/>
              <a:t>Same drawing discipline as before, but now the edges carry costs. Ask the latency question: how fast can a request possibly be? Follow the paths: the critical path runs A to B to F — one hundred twenty milliseconds. Given the dependencies and latency assumptions represented here, the model predicts a critical-path latency of 120 milliseconds. The organization has made that path unavoidable unless we change the organization.</a:t>
            </a:r>
          </a:p>
          <a:p>
            <a:endParaRPr dirty="0"/>
          </a:p>
          <a:p>
            <a:r>
              <a:rPr dirty="0"/>
              <a:t>And here is what makes the model worth having: it evaluates changes we have not made. Suppose we split B into three parallel parts — B1, B2, B3. Rerun the path arithmetic on the modified graph, and you have a predicted new floor, before anyone implements the split. That is rung three of the spectrum we just built: a quantitative prediction from an architectural model, about a system that does not exist yet.</a:t>
            </a:r>
          </a:p>
          <a:p>
            <a:endParaRPr dirty="0"/>
          </a:p>
          <a:p>
            <a:r>
              <a:rPr dirty="0"/>
              <a:t>The DocAble team did exactly this before committing to the decomposition. Notice what that is: buying information — Section 2's move — and the purchase was cheap because the model already existed.</a:t>
            </a:r>
          </a:p>
          <a:p>
            <a:endParaRPr dirty="0"/>
          </a:p>
          <a:p>
            <a:r>
              <a:rPr dirty="0"/>
              <a:t>Which raises an uncomfortable historical fact: it usually has not been cheap. What happens when it becomes cheap?</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tradeoff has not disappeared. Better evidence can reduce uncertainty about the consequences, but it cannot tell us which consequences matter unless those preferences and obligations have been established. And responsibility for accepting the resulting architecture does not disappear because an agent helped analyze it. The betting is what we can now buy down.</a:t>
            </a:r>
          </a:p>
          <a:p>
            <a:endParaRPr dirty="0"/>
          </a:p>
          <a:p>
            <a:r>
              <a:rPr dirty="0"/>
              <a:t>That is the full toolkit. Time to use all of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Teams of 3-4. Read the five obligations aloud once: two-second advice latency, no raw-data disclosure to sharing recipients, an independently changing illness model, sharing failure must not block local advice, a consistent seven-night weekly summary.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boundary test?);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Teams of three or four. Sketch the major parts, the boundaries between them, and how the parts may interact.</a:t>
            </a:r>
          </a:p>
          <a:p>
            <a:endParaRPr dirty="0"/>
          </a:p>
          <a:p>
            <a:r>
              <a:rPr dirty="0"/>
              <a:t>And produce two plausible organizations — two, genuinely different, both defensible. Do not converge on your favorite; do not vote yet. Your job is not to draw the obvious architecture. Your job is to produce two genuinely plausible organizations that satisfy all five obligations. If your second architecture is obviously stupid, it does not count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today: where does this sit in the arc of the course?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the opening section,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Today's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Name the first section: we need a working definition before we can choose.</a:t>
            </a:r>
          </a:p>
          <a:p>
            <a:endParaRPr dirty="0"/>
          </a:p>
          <a:p>
            <a:r>
              <a:rPr dirty="0"/>
              <a:t>- Do not pause for discussion.</a:t>
            </a:r>
          </a:p>
          <a:p>
            <a:endParaRPr dirty="0"/>
          </a:p>
          <a:p>
            <a:r>
              <a:rPr dirty="0"/>
              <a:t>=====</a:t>
            </a:r>
          </a:p>
          <a:p>
            <a:r>
              <a:rPr dirty="0"/>
              <a:t>Section one. The premise said the specification leaves many machines possible and we must build one. So: what is architecture? How should one acceptable system be organized — what are its parts, where are the boundaries, how do the parts interact? That vocabulary is this section’s job.</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6525"/>
            <a:ext cx="9701739" cy="638175"/>
          </a:xfrm>
        </p:spPr>
        <p:txBody>
          <a:bodyPr>
            <a:normAutofit fontScale="90000"/>
          </a:bodyPr>
          <a:lstStyle/>
          <a:p>
            <a:pPr algn="l">
              <a:buNone/>
              <a:defRPr b="0"/>
            </a:pPr>
            <a:r>
              <a:rPr lang="en-US" sz="1800" b="0" i="0" dirty="0">
                <a:solidFill>
                  <a:srgbClr val="000000"/>
                </a:solidFill>
              </a:rPr>
              <a:t xml:space="preserve">In specification we separate obligations. </a:t>
            </a:r>
            <a:r>
              <a:rPr lang="en-US" sz="1800" b="0" i="0" dirty="0">
                <a:solidFill>
                  <a:srgbClr val="000000"/>
                </a:solidFill>
              </a:rPr>
              <a:t>In architecture we must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STATE VIEW</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ACTIVITY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SCHEMA</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TIMING / OTHER</a:t>
            </a:r>
          </a:p>
        </p:txBody>
      </p:sp>
      <p:cxnSp>
        <p:nvCxnSpPr>
          <p:cNvPr id="64" name="Arr64"/>
          <p:cNvCxnSpPr/>
          <p:nvPr/>
        </p:nvCxnSpPr>
        <p:spPr>
          <a:xfrm>
            <a:off x="2916700" y="2522900"/>
            <a:ext cx="500000" cy="544850"/>
          </a:xfrm>
          <a:prstGeom prst="line">
            <a:avLst/>
          </a:prstGeom>
          <a:ln w="28575">
            <a:solidFill>
              <a:srgbClr val="8E6F3E"/>
            </a:solidFill>
            <a:tailEnd type="triangle" w="med" len="med"/>
          </a:ln>
        </p:spPr>
      </p:cxnSp>
      <p:cxnSp>
        <p:nvCxnSpPr>
          <p:cNvPr id="65" name="Arr65"/>
          <p:cNvCxnSpPr/>
          <p:nvPr/>
        </p:nvCxnSpPr>
        <p:spPr>
          <a:xfrm flipH="1">
            <a:off x="5727300" y="2522900"/>
            <a:ext cx="500000" cy="544850"/>
          </a:xfrm>
          <a:prstGeom prst="line">
            <a:avLst/>
          </a:prstGeom>
          <a:ln w="28575">
            <a:solidFill>
              <a:srgbClr val="8E6F3E"/>
            </a:solidFill>
            <a:tailEnd type="triangle" w="med" len="med"/>
          </a:ln>
        </p:spPr>
      </p:cxnSp>
      <p:cxnSp>
        <p:nvCxnSpPr>
          <p:cNvPr id="66" name="Arr66"/>
          <p:cNvCxnSpPr/>
          <p:nvPr/>
        </p:nvCxnSpPr>
        <p:spPr>
          <a:xfrm flipV="1">
            <a:off x="2916700" y="4567750"/>
            <a:ext cx="500000" cy="269350"/>
          </a:xfrm>
          <a:prstGeom prst="line">
            <a:avLst/>
          </a:prstGeom>
          <a:ln w="28575">
            <a:solidFill>
              <a:srgbClr val="8E6F3E"/>
            </a:solidFill>
            <a:tailEnd type="triangle" w="med" len="med"/>
          </a:ln>
        </p:spPr>
      </p:cxnSp>
      <p:cxnSp>
        <p:nvCxnSpPr>
          <p:cNvPr id="67" name="Arr67"/>
          <p:cNvCxnSpPr/>
          <p:nvPr/>
        </p:nvCxnSpPr>
        <p:spPr>
          <a:xfrm flipH="1" flipV="1">
            <a:off x="5727300" y="4567750"/>
            <a:ext cx="500000" cy="269350"/>
          </a:xfrm>
          <a:prstGeom prst="line">
            <a:avLst/>
          </a:prstGeom>
          <a:ln w="28575">
            <a:solidFill>
              <a:srgbClr val="8E6F3E"/>
            </a:solidFill>
            <a:tailEnd type="triangle" w="med" len="med"/>
          </a:ln>
        </p:spPr>
      </p:cxnSp>
      <p:sp>
        <p:nvSpPr>
          <p:cNvPr id="68" name="OneMachine"/>
          <p:cNvSpPr/>
          <p:nvPr/>
        </p:nvSpPr>
        <p:spPr>
          <a:xfrm>
            <a:off x="2622000" y="3067750"/>
            <a:ext cx="3900000" cy="1500000"/>
          </a:xfrm>
          <a:prstGeom prst="rect">
            <a:avLst/>
          </a:prstGeom>
          <a:solidFill>
            <a:srgbClr val="8E6F3E"/>
          </a:solidFill>
          <a:ln>
            <a:noFill/>
          </a:ln>
        </p:spPr>
        <p:txBody>
          <a:bodyPr wrap="square" lIns="109728" tIns="82296" rIns="109728" bIns="82296" anchor="ctr">
            <a:normAutofit fontScale="92500"/>
          </a:bodyPr>
          <a:lstStyle/>
          <a:p>
            <a:pPr algn="ctr">
              <a:buNone/>
            </a:pPr>
            <a:r>
              <a:rPr lang="en-US" sz="4600" b="1" i="0" dirty="0">
                <a:solidFill>
                  <a:srgbClr val="FFFFFF"/>
                </a:solidFill>
              </a:rPr>
              <a:t>ONE MACHINE</a:t>
            </a:r>
          </a:p>
        </p:txBody>
      </p:sp>
      <p:sp>
        <p:nvSpPr>
          <p:cNvPr id="70" name="StateN1"/>
          <p:cNvSpPr/>
          <p:nvPr/>
        </p:nvSpPr>
        <p:spPr>
          <a:xfrm>
            <a:off x="45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asleep</a:t>
            </a:r>
          </a:p>
        </p:txBody>
      </p:sp>
      <p:sp>
        <p:nvSpPr>
          <p:cNvPr id="71" name="StateN2"/>
          <p:cNvSpPr/>
          <p:nvPr/>
        </p:nvSpPr>
        <p:spPr>
          <a:xfrm>
            <a:off x="198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awake</a:t>
            </a:r>
          </a:p>
        </p:txBody>
      </p:sp>
      <p:cxnSp>
        <p:nvCxnSpPr>
          <p:cNvPr id="72" name="StateArr"/>
          <p:cNvCxnSpPr/>
          <p:nvPr/>
        </p:nvCxnSpPr>
        <p:spPr>
          <a:xfrm>
            <a:off x="1360000" y="1905000"/>
            <a:ext cx="610000" cy="0"/>
          </a:xfrm>
          <a:prstGeom prst="line">
            <a:avLst/>
          </a:prstGeom>
          <a:ln w="28575">
            <a:solidFill>
              <a:srgbClr val="8E6F3E"/>
            </a:solidFill>
            <a:tailEnd type="triangle" w="med" len="med"/>
          </a:ln>
        </p:spPr>
      </p:cxnSp>
      <p:sp>
        <p:nvSpPr>
          <p:cNvPr id="73" name="ActChev1"/>
          <p:cNvSpPr/>
          <p:nvPr/>
        </p:nvSpPr>
        <p:spPr>
          <a:xfrm>
            <a:off x="629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collect</a:t>
            </a:r>
          </a:p>
        </p:txBody>
      </p:sp>
      <p:sp>
        <p:nvSpPr>
          <p:cNvPr id="74" name="ActChev2"/>
          <p:cNvSpPr/>
          <p:nvPr/>
        </p:nvSpPr>
        <p:spPr>
          <a:xfrm>
            <a:off x="752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classify</a:t>
            </a:r>
          </a:p>
        </p:txBody>
      </p:sp>
      <p:sp>
        <p:nvSpPr>
          <p:cNvPr id="75" name="SchHdr"/>
          <p:cNvSpPr/>
          <p:nvPr/>
        </p:nvSpPr>
        <p:spPr>
          <a:xfrm>
            <a:off x="917000" y="5270000"/>
            <a:ext cx="1500000" cy="330000"/>
          </a:xfrm>
          <a:prstGeom prst="rect">
            <a:avLst/>
          </a:prstGeom>
          <a:solidFill>
            <a:srgbClr val="8E6F3E"/>
          </a:solidFill>
          <a:ln w="15875">
            <a:solidFill>
              <a:srgbClr val="8E6F3E"/>
            </a:solidFill>
          </a:ln>
        </p:spPr>
        <p:txBody>
          <a:bodyPr wrap="square" lIns="54864" tIns="27432" rIns="54864" bIns="27432" anchor="ctr">
            <a:normAutofit/>
          </a:bodyPr>
          <a:lstStyle/>
          <a:p>
            <a:pPr algn="ctr">
              <a:buNone/>
            </a:pPr>
            <a:r>
              <a:rPr lang="en-US" sz="1200" b="1" i="0" dirty="0">
                <a:solidFill>
                  <a:srgbClr val="FFFFFF"/>
                </a:solidFill>
              </a:rPr>
              <a:t>NIGHT SUMMARY</a:t>
            </a:r>
          </a:p>
        </p:txBody>
      </p:sp>
      <p:sp>
        <p:nvSpPr>
          <p:cNvPr id="76" name="SchR1"/>
          <p:cNvSpPr/>
          <p:nvPr/>
        </p:nvSpPr>
        <p:spPr>
          <a:xfrm>
            <a:off x="917000" y="560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date · score</a:t>
            </a:r>
          </a:p>
        </p:txBody>
      </p:sp>
      <p:sp>
        <p:nvSpPr>
          <p:cNvPr id="77" name="SchR2"/>
          <p:cNvSpPr/>
          <p:nvPr/>
        </p:nvSpPr>
        <p:spPr>
          <a:xfrm>
            <a:off x="917000" y="593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advice</a:t>
            </a:r>
          </a:p>
        </p:txBody>
      </p:sp>
      <p:cxnSp>
        <p:nvCxnSpPr>
          <p:cNvPr id="78" name="TimeLine"/>
          <p:cNvCxnSpPr/>
          <p:nvPr/>
        </p:nvCxnSpPr>
        <p:spPr>
          <a:xfrm>
            <a:off x="6329592" y="5760000"/>
            <a:ext cx="2295000" cy="0"/>
          </a:xfrm>
          <a:prstGeom prst="line">
            <a:avLst/>
          </a:prstGeom>
          <a:ln w="28575">
            <a:solidFill>
              <a:srgbClr val="8E6F3E"/>
            </a:solidFill>
            <a:tailEnd type="triangle" w="med" len="med"/>
          </a:ln>
        </p:spPr>
      </p:cxnSp>
      <p:cxnSp>
        <p:nvCxnSpPr>
          <p:cNvPr id="79" name="TimeTick"/>
          <p:cNvCxnSpPr/>
          <p:nvPr/>
        </p:nvCxnSpPr>
        <p:spPr>
          <a:xfrm>
            <a:off x="6329592" y="5670000"/>
            <a:ext cx="0" cy="180000"/>
          </a:xfrm>
          <a:prstGeom prst="line">
            <a:avLst/>
          </a:prstGeom>
          <a:ln w="28575">
            <a:solidFill>
              <a:srgbClr val="8E6F3E"/>
            </a:solidFill>
          </a:ln>
        </p:spPr>
      </p:cxnSp>
      <p:sp>
        <p:nvSpPr>
          <p:cNvPr id="80" name="TimeLblTop"/>
          <p:cNvSpPr/>
          <p:nvPr/>
        </p:nvSpPr>
        <p:spPr>
          <a:xfrm>
            <a:off x="6329592" y="5350000"/>
            <a:ext cx="2295000" cy="320000"/>
          </a:xfrm>
          <a:prstGeom prst="rect">
            <a:avLst/>
          </a:prstGeom>
          <a:noFill/>
          <a:ln>
            <a:noFill/>
          </a:ln>
        </p:spPr>
        <p:txBody>
          <a:bodyPr wrap="square" lIns="54864" tIns="27432" rIns="54864" bIns="27432" anchor="ctr">
            <a:normAutofit/>
          </a:bodyPr>
          <a:lstStyle/>
          <a:p>
            <a:pPr algn="ctr">
              <a:buNone/>
            </a:pPr>
            <a:r>
              <a:rPr lang="en-US" sz="1400" b="0" i="0" dirty="0">
                <a:solidFill>
                  <a:srgbClr val="000000"/>
                </a:solidFill>
              </a:rPr>
              <a:t>≤ 60 seconds</a:t>
            </a:r>
          </a:p>
        </p:txBody>
      </p:sp>
      <p:sp>
        <p:nvSpPr>
          <p:cNvPr id="81" name="TimeLblBot"/>
          <p:cNvSpPr/>
          <p:nvPr/>
        </p:nvSpPr>
        <p:spPr>
          <a:xfrm>
            <a:off x="6329592" y="5890000"/>
            <a:ext cx="2295000" cy="300000"/>
          </a:xfrm>
          <a:prstGeom prst="rect">
            <a:avLst/>
          </a:prstGeom>
          <a:noFill/>
          <a:ln>
            <a:noFill/>
          </a:ln>
        </p:spPr>
        <p:txBody>
          <a:bodyPr wrap="square" lIns="54864" tIns="27432" rIns="54864" bIns="27432" anchor="ctr">
            <a:normAutofit/>
          </a:bodyPr>
          <a:lstStyle/>
          <a:p>
            <a:pPr algn="ctr">
              <a:buNone/>
            </a:pPr>
            <a:r>
              <a:rPr lang="en-US" sz="1200" b="0" i="0" dirty="0">
                <a:solidFill>
                  <a:srgbClr val="000000"/>
                </a:solidFill>
              </a:rPr>
              <a:t>privacy · 7 nights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70"/>
                                        </p:tgtEl>
                                        <p:attrNameLst>
                                          <p:attrName>style.visibility</p:attrName>
                                        </p:attrNameLst>
                                      </p:cBhvr>
                                      <p:to>
                                        <p:strVal val="visible"/>
                                      </p:to>
                                    </p:set>
                                    <p:animEffect transition="in" filter="fade">
                                      <p:cBhvr>
                                        <p:cTn id="10" dur="400"/>
                                        <p:tgtEl>
                                          <p:spTgt spid="70"/>
                                        </p:tgtEl>
                                      </p:cBhvr>
                                    </p:animEffect>
                                  </p:childTnLst>
                                </p:cTn>
                              </p:par>
                              <p:par>
                                <p:cTn id="11" presetID="10" presetClass="entr" presetSubtype="0" fill="hold" nodeType="withEffect">
                                  <p:stCondLst>
                                    <p:cond delay="0"/>
                                  </p:stCondLst>
                                  <p:childTnLst>
                                    <p:set>
                                      <p:cBhvr>
                                        <p:cTn id="12" dur="1" fill="hold">
                                          <p:stCondLst>
                                            <p:cond delay="0"/>
                                          </p:stCondLst>
                                        </p:cTn>
                                        <p:tgtEl>
                                          <p:spTgt spid="71"/>
                                        </p:tgtEl>
                                        <p:attrNameLst>
                                          <p:attrName>style.visibility</p:attrName>
                                        </p:attrNameLst>
                                      </p:cBhvr>
                                      <p:to>
                                        <p:strVal val="visible"/>
                                      </p:to>
                                    </p:set>
                                    <p:animEffect transition="in" filter="fade">
                                      <p:cBhvr>
                                        <p:cTn id="13" dur="400"/>
                                        <p:tgtEl>
                                          <p:spTgt spid="71"/>
                                        </p:tgtEl>
                                      </p:cBhvr>
                                    </p:animEffect>
                                  </p:childTnLst>
                                </p:cTn>
                              </p:par>
                              <p:par>
                                <p:cTn id="14" presetID="10" presetClass="entr" presetSubtype="0" fill="hold" nodeType="withEffect">
                                  <p:stCondLst>
                                    <p:cond delay="0"/>
                                  </p:stCondLst>
                                  <p:childTnLst>
                                    <p:set>
                                      <p:cBhvr>
                                        <p:cTn id="15" dur="1" fill="hold">
                                          <p:stCondLst>
                                            <p:cond delay="0"/>
                                          </p:stCondLst>
                                        </p:cTn>
                                        <p:tgtEl>
                                          <p:spTgt spid="72"/>
                                        </p:tgtEl>
                                        <p:attrNameLst>
                                          <p:attrName>style.visibility</p:attrName>
                                        </p:attrNameLst>
                                      </p:cBhvr>
                                      <p:to>
                                        <p:strVal val="visible"/>
                                      </p:to>
                                    </p:set>
                                    <p:animEffect transition="in" filter="fade">
                                      <p:cBhvr>
                                        <p:cTn id="16" dur="400"/>
                                        <p:tgtEl>
                                          <p:spTgt spid="7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400"/>
                                        <p:tgtEl>
                                          <p:spTgt spid="61"/>
                                        </p:tgtEl>
                                      </p:cBhvr>
                                    </p:animEffect>
                                  </p:childTnLst>
                                </p:cTn>
                              </p:par>
                              <p:par>
                                <p:cTn id="22" presetID="10" presetClass="entr" presetSubtype="0" fill="hold" nodeType="withEffect">
                                  <p:stCondLst>
                                    <p:cond delay="0"/>
                                  </p:stCondLst>
                                  <p:childTnLst>
                                    <p:set>
                                      <p:cBhvr>
                                        <p:cTn id="23" dur="1" fill="hold">
                                          <p:stCondLst>
                                            <p:cond delay="0"/>
                                          </p:stCondLst>
                                        </p:cTn>
                                        <p:tgtEl>
                                          <p:spTgt spid="73"/>
                                        </p:tgtEl>
                                        <p:attrNameLst>
                                          <p:attrName>style.visibility</p:attrName>
                                        </p:attrNameLst>
                                      </p:cBhvr>
                                      <p:to>
                                        <p:strVal val="visible"/>
                                      </p:to>
                                    </p:set>
                                    <p:animEffect transition="in" filter="fade">
                                      <p:cBhvr>
                                        <p:cTn id="24" dur="400"/>
                                        <p:tgtEl>
                                          <p:spTgt spid="73"/>
                                        </p:tgtEl>
                                      </p:cBhvr>
                                    </p:animEffect>
                                  </p:childTnLst>
                                </p:cTn>
                              </p:par>
                              <p:par>
                                <p:cTn id="25" presetID="10" presetClass="entr" presetSubtype="0" fill="hold" nodeType="with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fade">
                                      <p:cBhvr>
                                        <p:cTn id="27" dur="400"/>
                                        <p:tgtEl>
                                          <p:spTgt spid="7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fade">
                                      <p:cBhvr>
                                        <p:cTn id="32" dur="400"/>
                                        <p:tgtEl>
                                          <p:spTgt spid="62"/>
                                        </p:tgtEl>
                                      </p:cBhvr>
                                    </p:animEffect>
                                  </p:childTnLst>
                                </p:cTn>
                              </p:par>
                              <p:par>
                                <p:cTn id="33" presetID="10" presetClass="entr" presetSubtype="0" fill="hold" nodeType="withEffect">
                                  <p:stCondLst>
                                    <p:cond delay="0"/>
                                  </p:stCondLst>
                                  <p:childTnLst>
                                    <p:set>
                                      <p:cBhvr>
                                        <p:cTn id="34" dur="1" fill="hold">
                                          <p:stCondLst>
                                            <p:cond delay="0"/>
                                          </p:stCondLst>
                                        </p:cTn>
                                        <p:tgtEl>
                                          <p:spTgt spid="75"/>
                                        </p:tgtEl>
                                        <p:attrNameLst>
                                          <p:attrName>style.visibility</p:attrName>
                                        </p:attrNameLst>
                                      </p:cBhvr>
                                      <p:to>
                                        <p:strVal val="visible"/>
                                      </p:to>
                                    </p:set>
                                    <p:animEffect transition="in" filter="fade">
                                      <p:cBhvr>
                                        <p:cTn id="35" dur="400"/>
                                        <p:tgtEl>
                                          <p:spTgt spid="75"/>
                                        </p:tgtEl>
                                      </p:cBhvr>
                                    </p:animEffect>
                                  </p:childTnLst>
                                </p:cTn>
                              </p:par>
                              <p:par>
                                <p:cTn id="36" presetID="10" presetClass="entr" presetSubtype="0" fill="hold" nodeType="with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400"/>
                                        <p:tgtEl>
                                          <p:spTgt spid="76"/>
                                        </p:tgtEl>
                                      </p:cBhvr>
                                    </p:animEffect>
                                  </p:childTnLst>
                                </p:cTn>
                              </p:par>
                              <p:par>
                                <p:cTn id="39" presetID="10" presetClass="entr" presetSubtype="0" fill="hold" nodeType="withEffect">
                                  <p:stCondLst>
                                    <p:cond delay="0"/>
                                  </p:stCondLst>
                                  <p:childTnLst>
                                    <p:set>
                                      <p:cBhvr>
                                        <p:cTn id="40" dur="1" fill="hold">
                                          <p:stCondLst>
                                            <p:cond delay="0"/>
                                          </p:stCondLst>
                                        </p:cTn>
                                        <p:tgtEl>
                                          <p:spTgt spid="77"/>
                                        </p:tgtEl>
                                        <p:attrNameLst>
                                          <p:attrName>style.visibility</p:attrName>
                                        </p:attrNameLst>
                                      </p:cBhvr>
                                      <p:to>
                                        <p:strVal val="visible"/>
                                      </p:to>
                                    </p:set>
                                    <p:animEffect transition="in" filter="fade">
                                      <p:cBhvr>
                                        <p:cTn id="41" dur="400"/>
                                        <p:tgtEl>
                                          <p:spTgt spid="7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0"/>
                                  </p:stCondLst>
                                  <p:childTnLst>
                                    <p:set>
                                      <p:cBhvr>
                                        <p:cTn id="48" dur="1" fill="hold">
                                          <p:stCondLst>
                                            <p:cond delay="0"/>
                                          </p:stCondLst>
                                        </p:cTn>
                                        <p:tgtEl>
                                          <p:spTgt spid="78"/>
                                        </p:tgtEl>
                                        <p:attrNameLst>
                                          <p:attrName>style.visibility</p:attrName>
                                        </p:attrNameLst>
                                      </p:cBhvr>
                                      <p:to>
                                        <p:strVal val="visible"/>
                                      </p:to>
                                    </p:set>
                                    <p:animEffect transition="in" filter="fade">
                                      <p:cBhvr>
                                        <p:cTn id="49" dur="400"/>
                                        <p:tgtEl>
                                          <p:spTgt spid="78"/>
                                        </p:tgtEl>
                                      </p:cBhvr>
                                    </p:animEffect>
                                  </p:childTnLst>
                                </p:cTn>
                              </p:par>
                              <p:par>
                                <p:cTn id="50" presetID="10" presetClass="entr" presetSubtype="0" fill="hold" nodeType="withEffect">
                                  <p:stCondLst>
                                    <p:cond delay="0"/>
                                  </p:stCondLst>
                                  <p:childTnLst>
                                    <p:set>
                                      <p:cBhvr>
                                        <p:cTn id="51" dur="1" fill="hold">
                                          <p:stCondLst>
                                            <p:cond delay="0"/>
                                          </p:stCondLst>
                                        </p:cTn>
                                        <p:tgtEl>
                                          <p:spTgt spid="79"/>
                                        </p:tgtEl>
                                        <p:attrNameLst>
                                          <p:attrName>style.visibility</p:attrName>
                                        </p:attrNameLst>
                                      </p:cBhvr>
                                      <p:to>
                                        <p:strVal val="visible"/>
                                      </p:to>
                                    </p:set>
                                    <p:animEffect transition="in" filter="fade">
                                      <p:cBhvr>
                                        <p:cTn id="52" dur="400"/>
                                        <p:tgtEl>
                                          <p:spTgt spid="79"/>
                                        </p:tgtEl>
                                      </p:cBhvr>
                                    </p:animEffect>
                                  </p:childTnLst>
                                </p:cTn>
                              </p:par>
                              <p:par>
                                <p:cTn id="53" presetID="10" presetClass="entr" presetSubtype="0" fill="hold" nodeType="withEffect">
                                  <p:stCondLst>
                                    <p:cond delay="0"/>
                                  </p:stCondLst>
                                  <p:childTnLst>
                                    <p:set>
                                      <p:cBhvr>
                                        <p:cTn id="54" dur="1" fill="hold">
                                          <p:stCondLst>
                                            <p:cond delay="0"/>
                                          </p:stCondLst>
                                        </p:cTn>
                                        <p:tgtEl>
                                          <p:spTgt spid="80"/>
                                        </p:tgtEl>
                                        <p:attrNameLst>
                                          <p:attrName>style.visibility</p:attrName>
                                        </p:attrNameLst>
                                      </p:cBhvr>
                                      <p:to>
                                        <p:strVal val="visible"/>
                                      </p:to>
                                    </p:set>
                                    <p:animEffect transition="in" filter="fade">
                                      <p:cBhvr>
                                        <p:cTn id="55" dur="400"/>
                                        <p:tgtEl>
                                          <p:spTgt spid="80"/>
                                        </p:tgtEl>
                                      </p:cBhvr>
                                    </p:animEffect>
                                  </p:childTnLst>
                                </p:cTn>
                              </p:par>
                              <p:par>
                                <p:cTn id="56" presetID="10" presetClass="entr" presetSubtype="0" fill="hold" nodeType="withEffect">
                                  <p:stCondLst>
                                    <p:cond delay="0"/>
                                  </p:stCondLst>
                                  <p:childTnLst>
                                    <p:set>
                                      <p:cBhvr>
                                        <p:cTn id="57" dur="1" fill="hold">
                                          <p:stCondLst>
                                            <p:cond delay="0"/>
                                          </p:stCondLst>
                                        </p:cTn>
                                        <p:tgtEl>
                                          <p:spTgt spid="81"/>
                                        </p:tgtEl>
                                        <p:attrNameLst>
                                          <p:attrName>style.visibility</p:attrName>
                                        </p:attrNameLst>
                                      </p:cBhvr>
                                      <p:to>
                                        <p:strVal val="visible"/>
                                      </p:to>
                                    </p:set>
                                    <p:animEffect transition="in" filter="fade">
                                      <p:cBhvr>
                                        <p:cTn id="58" dur="400"/>
                                        <p:tgtEl>
                                          <p:spTgt spid="8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68"/>
                                        </p:tgtEl>
                                        <p:attrNameLst>
                                          <p:attrName>style.visibility</p:attrName>
                                        </p:attrNameLst>
                                      </p:cBhvr>
                                      <p:to>
                                        <p:strVal val="visible"/>
                                      </p:to>
                                    </p:set>
                                    <p:animEffect transition="in" filter="fade">
                                      <p:cBhvr>
                                        <p:cTn id="63" dur="400"/>
                                        <p:tgtEl>
                                          <p:spTgt spid="6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64"/>
                                        </p:tgtEl>
                                        <p:attrNameLst>
                                          <p:attrName>style.visibility</p:attrName>
                                        </p:attrNameLst>
                                      </p:cBhvr>
                                      <p:to>
                                        <p:strVal val="visible"/>
                                      </p:to>
                                    </p:set>
                                    <p:animEffect transition="in" filter="fade">
                                      <p:cBhvr>
                                        <p:cTn id="68" dur="400"/>
                                        <p:tgtEl>
                                          <p:spTgt spid="64"/>
                                        </p:tgtEl>
                                      </p:cBhvr>
                                    </p:animEffect>
                                  </p:childTnLst>
                                </p:cTn>
                              </p:par>
                              <p:par>
                                <p:cTn id="69" presetID="10" presetClass="entr" presetSubtype="0" fill="hold" nodeType="withEffect">
                                  <p:stCondLst>
                                    <p:cond delay="0"/>
                                  </p:stCondLst>
                                  <p:childTnLst>
                                    <p:set>
                                      <p:cBhvr>
                                        <p:cTn id="70" dur="1" fill="hold">
                                          <p:stCondLst>
                                            <p:cond delay="0"/>
                                          </p:stCondLst>
                                        </p:cTn>
                                        <p:tgtEl>
                                          <p:spTgt spid="65"/>
                                        </p:tgtEl>
                                        <p:attrNameLst>
                                          <p:attrName>style.visibility</p:attrName>
                                        </p:attrNameLst>
                                      </p:cBhvr>
                                      <p:to>
                                        <p:strVal val="visible"/>
                                      </p:to>
                                    </p:set>
                                    <p:animEffect transition="in" filter="fade">
                                      <p:cBhvr>
                                        <p:cTn id="71" dur="400"/>
                                        <p:tgtEl>
                                          <p:spTgt spid="65"/>
                                        </p:tgtEl>
                                      </p:cBhvr>
                                    </p:animEffect>
                                  </p:childTnLst>
                                </p:cTn>
                              </p:par>
                              <p:par>
                                <p:cTn id="72" presetID="10" presetClass="entr" presetSubtype="0" fill="hold" nodeType="withEffect">
                                  <p:stCondLst>
                                    <p:cond delay="0"/>
                                  </p:stCondLst>
                                  <p:childTnLst>
                                    <p:set>
                                      <p:cBhvr>
                                        <p:cTn id="73" dur="1" fill="hold">
                                          <p:stCondLst>
                                            <p:cond delay="0"/>
                                          </p:stCondLst>
                                        </p:cTn>
                                        <p:tgtEl>
                                          <p:spTgt spid="66"/>
                                        </p:tgtEl>
                                        <p:attrNameLst>
                                          <p:attrName>style.visibility</p:attrName>
                                        </p:attrNameLst>
                                      </p:cBhvr>
                                      <p:to>
                                        <p:strVal val="visible"/>
                                      </p:to>
                                    </p:set>
                                    <p:animEffect transition="in" filter="fade">
                                      <p:cBhvr>
                                        <p:cTn id="74" dur="400"/>
                                        <p:tgtEl>
                                          <p:spTgt spid="66"/>
                                        </p:tgtEl>
                                      </p:cBhvr>
                                    </p:animEffect>
                                  </p:childTnLst>
                                </p:cTn>
                              </p:par>
                              <p:par>
                                <p:cTn id="75" presetID="10" presetClass="entr" presetSubtype="0" fill="hold" nodeType="withEffect">
                                  <p:stCondLst>
                                    <p:cond delay="0"/>
                                  </p:stCondLst>
                                  <p:childTnLst>
                                    <p:set>
                                      <p:cBhvr>
                                        <p:cTn id="76" dur="1" fill="hold">
                                          <p:stCondLst>
                                            <p:cond delay="0"/>
                                          </p:stCondLst>
                                        </p:cTn>
                                        <p:tgtEl>
                                          <p:spTgt spid="67"/>
                                        </p:tgtEl>
                                        <p:attrNameLst>
                                          <p:attrName>style.visibility</p:attrName>
                                        </p:attrNameLst>
                                      </p:cBhvr>
                                      <p:to>
                                        <p:strVal val="visible"/>
                                      </p:to>
                                    </p:set>
                                    <p:animEffect transition="in" filter="fade">
                                      <p:cBhvr>
                                        <p:cTn id="77"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a:xfrm>
            <a:off x="277147" y="118428"/>
            <a:ext cx="9224661" cy="638175"/>
          </a:xfrm>
        </p:spPr>
        <p:txBody>
          <a:bodyPr>
            <a:normAutofit fontScale="90000"/>
          </a:bodyPr>
          <a:lstStyle/>
          <a:p>
            <a:pPr>
              <a:defRPr b="0"/>
            </a:pPr>
            <a:r>
              <a:rPr lang="en-US" sz="2400" dirty="0">
                <a:solidFill>
                  <a:srgbClr val="000000"/>
                </a:solidFill>
              </a:rPr>
              <a:t>A specification describes the BEHAVIOR but not the MACHINE</a:t>
            </a:r>
            <a:endParaRPr lang="en-US" sz="2400" b="0" i="0" dirty="0">
              <a:solidFill>
                <a:srgbClr val="000000"/>
              </a:solidFill>
            </a:endParaRP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42862">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42862">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42862">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724700" y="3752300"/>
            <a:ext cx="265600" cy="1143000"/>
          </a:xfrm>
          <a:prstGeom prst="bentConnector3">
            <a:avLst>
              <a:gd name="adj1" fmla="val 50000"/>
            </a:avLst>
          </a:prstGeom>
          <a:ln w="42862">
            <a:solidFill>
              <a:srgbClr val="8E6F3E"/>
            </a:solidFill>
            <a:tailEnd type="triangle" w="med" len="med"/>
          </a:ln>
        </p:spPr>
      </p:cxnSp>
      <p:cxnSp>
        <p:nvCxnSpPr>
          <p:cNvPr id="68" name="L68"/>
          <p:cNvCxnSpPr/>
          <p:nvPr/>
        </p:nvCxnSpPr>
        <p:spPr>
          <a:xfrm rot="5400000">
            <a:off x="6153700" y="3752300"/>
            <a:ext cx="265600" cy="1143000"/>
          </a:xfrm>
          <a:prstGeom prst="bentConnector3">
            <a:avLst>
              <a:gd name="adj1" fmla="val 50000"/>
            </a:avLst>
          </a:prstGeom>
          <a:ln w="42862">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2" name="SelectionRing">
            <a:extLst>
              <a:ext uri="{FF2B5EF4-FFF2-40B4-BE49-F238E27FC236}">
                <a16:creationId xmlns:a16="http://schemas.microsoft.com/office/drawing/2014/main" id="{A6392999-4F08-8D52-33E8-2A0E0FD56428}"/>
              </a:ext>
            </a:extLst>
          </p:cNvPr>
          <p:cNvSpPr/>
          <p:nvPr/>
        </p:nvSpPr>
        <p:spPr>
          <a:xfrm>
            <a:off x="3778504" y="4865315"/>
            <a:ext cx="1561592" cy="807720"/>
          </a:xfrm>
          <a:prstGeom prst="roundRect">
            <a:avLst/>
          </a:prstGeom>
          <a:noFill/>
          <a:ln w="76200">
            <a:solidFill>
              <a:srgbClr val="5C4826"/>
            </a:solidFill>
          </a:ln>
        </p:spPr>
        <p:txBody>
          <a:bodyPr wrap="square" lIns="0" tIns="0" rIns="0" bIns="0" anchor="ctr">
            <a:normAutofit/>
          </a:bodyPr>
          <a:lstStyle/>
          <a:p>
            <a:endParaRPr/>
          </a:p>
        </p:txBody>
      </p:sp>
      <p:cxnSp>
        <p:nvCxnSpPr>
          <p:cNvPr id="6" name="Straight Arrow Connector 5">
            <a:extLst>
              <a:ext uri="{FF2B5EF4-FFF2-40B4-BE49-F238E27FC236}">
                <a16:creationId xmlns:a16="http://schemas.microsoft.com/office/drawing/2014/main" id="{4FCE8C69-643F-3255-DFDC-D72A854CC1A4}"/>
              </a:ext>
            </a:extLst>
          </p:cNvPr>
          <p:cNvCxnSpPr>
            <a:cxnSpLocks/>
            <a:endCxn id="2" idx="2"/>
          </p:cNvCxnSpPr>
          <p:nvPr/>
        </p:nvCxnSpPr>
        <p:spPr>
          <a:xfrm flipV="1">
            <a:off x="4559300" y="5673000"/>
            <a:ext cx="0" cy="360000"/>
          </a:xfrm>
          <a:prstGeom prst="straightConnector1">
            <a:avLst/>
          </a:prstGeom>
          <a:ln w="106680">
            <a:tailEnd type="triangle"/>
          </a:ln>
        </p:spPr>
        <p:style>
          <a:lnRef idx="1">
            <a:schemeClr val="accent1"/>
          </a:lnRef>
          <a:fillRef idx="0">
            <a:schemeClr val="accent1"/>
          </a:fillRef>
          <a:effectRef idx="0">
            <a:schemeClr val="accent1"/>
          </a:effectRef>
          <a:fontRef idx="minor">
            <a:schemeClr val="tx1"/>
          </a:fontRef>
        </p:style>
      </p:cxnSp>
      <p:sp>
        <p:nvSpPr>
          <p:cNvPr id="8" name="T62">
            <a:extLst>
              <a:ext uri="{FF2B5EF4-FFF2-40B4-BE49-F238E27FC236}">
                <a16:creationId xmlns:a16="http://schemas.microsoft.com/office/drawing/2014/main" id="{3CD728C3-0D5C-E0E8-89C5-09DD0FC60D15}"/>
              </a:ext>
            </a:extLst>
          </p:cNvPr>
          <p:cNvSpPr txBox="1"/>
          <p:nvPr/>
        </p:nvSpPr>
        <p:spPr>
          <a:xfrm>
            <a:off x="685800" y="6060000"/>
            <a:ext cx="7772400" cy="36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Architecture: organizing one acceptable realization</a:t>
            </a:r>
          </a:p>
        </p:txBody>
      </p:sp>
      <p:sp>
        <p:nvSpPr>
          <p:cNvPr id="9" name="ArchDefStrip"/>
          <p:cNvSpPr/>
          <p:nvPr/>
        </p:nvSpPr>
        <p:spPr>
          <a:xfrm>
            <a:off x="2000000" y="6440000"/>
            <a:ext cx="5144000" cy="300000"/>
          </a:xfrm>
          <a:prstGeom prst="rect">
            <a:avLst/>
          </a:prstGeom>
          <a:solidFill>
            <a:srgbClr val="F5F0E6"/>
          </a:solidFill>
          <a:ln>
            <a:noFill/>
          </a:ln>
        </p:spPr>
        <p:txBody>
          <a:bodyPr wrap="square" lIns="54864" tIns="27432" rIns="54864" bIns="27432" anchor="ctr">
            <a:normAutofit/>
          </a:bodyPr>
          <a:lstStyle/>
          <a:p>
            <a:pPr algn="ctr">
              <a:buNone/>
            </a:pPr>
            <a:r>
              <a:rPr lang="en-US" sz="1300" b="0" i="0" dirty="0">
                <a:solidFill>
                  <a:srgbClr val="8E6F3E"/>
                </a:solidFill>
              </a:rPr>
              <a:t>major parts · responsibilities · interfaces · interaction rules</a:t>
            </a:r>
          </a:p>
        </p:txBody>
      </p:sp>
    </p:spTree>
    <p:extLst>
      <p:ext uri="{BB962C8B-B14F-4D97-AF65-F5344CB8AC3E}">
        <p14:creationId xmlns:p14="http://schemas.microsoft.com/office/powerpoint/2010/main" val="3844437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par>
                                <p:cTn id="8" presetID="10" presetClass="entr" presetSubtype="0" fill="hold" nodeType="withEffect">
                                  <p:stCondLst>
                                    <p:cond delay="0"/>
                                  </p:stCondLst>
                                  <p:childTnLst>
                                    <p:set>
                                      <p:cBhvr>
                                        <p:cTn id="9" dur="1" fill="hold">
                                          <p:stCondLst>
                                            <p:cond delay="0"/>
                                          </p:stCondLst>
                                        </p:cTn>
                                        <p:tgtEl>
                                          <p:spTgt spid="62"/>
                                        </p:tgtEl>
                                        <p:attrNameLst>
                                          <p:attrName>style.visibility</p:attrName>
                                        </p:attrNameLst>
                                      </p:cBhvr>
                                      <p:to>
                                        <p:strVal val="visible"/>
                                      </p:to>
                                    </p:set>
                                    <p:animEffect transition="in" filter="fade">
                                      <p:cBhvr>
                                        <p:cTn id="10" dur="400"/>
                                        <p:tgtEl>
                                          <p:spTgt spid="6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fade">
                                      <p:cBhvr>
                                        <p:cTn id="15" dur="400"/>
                                        <p:tgtEl>
                                          <p:spTgt spid="63"/>
                                        </p:tgtEl>
                                      </p:cBhvr>
                                    </p:animEffect>
                                  </p:childTnLst>
                                </p:cTn>
                              </p:par>
                              <p:par>
                                <p:cTn id="16" presetID="10" presetClass="entr" presetSubtype="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fade">
                                      <p:cBhvr>
                                        <p:cTn id="18" dur="400"/>
                                        <p:tgtEl>
                                          <p:spTgt spid="64"/>
                                        </p:tgtEl>
                                      </p:cBhvr>
                                    </p:animEffect>
                                  </p:childTnLst>
                                </p:cTn>
                              </p:par>
                              <p:par>
                                <p:cTn id="19" presetID="10" presetClass="entr" presetSubtype="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fade">
                                      <p:cBhvr>
                                        <p:cTn id="21" dur="400"/>
                                        <p:tgtEl>
                                          <p:spTgt spid="65"/>
                                        </p:tgtEl>
                                      </p:cBhvr>
                                    </p:animEffect>
                                  </p:childTnLst>
                                </p:cTn>
                              </p:par>
                              <p:par>
                                <p:cTn id="22" presetID="10" presetClass="entr" presetSubtype="0" fill="hold"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fade">
                                      <p:cBhvr>
                                        <p:cTn id="24" dur="400"/>
                                        <p:tgtEl>
                                          <p:spTgt spid="6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7"/>
                                        </p:tgtEl>
                                        <p:attrNameLst>
                                          <p:attrName>style.visibility</p:attrName>
                                        </p:attrNameLst>
                                      </p:cBhvr>
                                      <p:to>
                                        <p:strVal val="visible"/>
                                      </p:to>
                                    </p:set>
                                    <p:animEffect transition="in" filter="fade">
                                      <p:cBhvr>
                                        <p:cTn id="29" dur="400"/>
                                        <p:tgtEl>
                                          <p:spTgt spid="67"/>
                                        </p:tgtEl>
                                      </p:cBhvr>
                                    </p:animEffect>
                                  </p:childTnLst>
                                </p:cTn>
                              </p:par>
                              <p:par>
                                <p:cTn id="30" presetID="10" presetClass="entr" presetSubtype="0" fill="hold" nodeType="withEffect">
                                  <p:stCondLst>
                                    <p:cond delay="0"/>
                                  </p:stCondLst>
                                  <p:childTnLst>
                                    <p:set>
                                      <p:cBhvr>
                                        <p:cTn id="31" dur="1" fill="hold">
                                          <p:stCondLst>
                                            <p:cond delay="0"/>
                                          </p:stCondLst>
                                        </p:cTn>
                                        <p:tgtEl>
                                          <p:spTgt spid="68"/>
                                        </p:tgtEl>
                                        <p:attrNameLst>
                                          <p:attrName>style.visibility</p:attrName>
                                        </p:attrNameLst>
                                      </p:cBhvr>
                                      <p:to>
                                        <p:strVal val="visible"/>
                                      </p:to>
                                    </p:set>
                                    <p:animEffect transition="in" filter="fade">
                                      <p:cBhvr>
                                        <p:cTn id="32" dur="400"/>
                                        <p:tgtEl>
                                          <p:spTgt spid="68"/>
                                        </p:tgtEl>
                                      </p:cBhvr>
                                    </p:animEffect>
                                  </p:childTnLst>
                                </p:cTn>
                              </p:par>
                              <p:par>
                                <p:cTn id="33" presetID="10" presetClass="entr" presetSubtype="0" fill="hold" nodeType="withEffect">
                                  <p:stCondLst>
                                    <p:cond delay="0"/>
                                  </p:stCondLst>
                                  <p:childTnLst>
                                    <p:set>
                                      <p:cBhvr>
                                        <p:cTn id="34" dur="1" fill="hold">
                                          <p:stCondLst>
                                            <p:cond delay="0"/>
                                          </p:stCondLst>
                                        </p:cTn>
                                        <p:tgtEl>
                                          <p:spTgt spid="69"/>
                                        </p:tgtEl>
                                        <p:attrNameLst>
                                          <p:attrName>style.visibility</p:attrName>
                                        </p:attrNameLst>
                                      </p:cBhvr>
                                      <p:to>
                                        <p:strVal val="visible"/>
                                      </p:to>
                                    </p:set>
                                    <p:animEffect transition="in" filter="fade">
                                      <p:cBhvr>
                                        <p:cTn id="35" dur="400"/>
                                        <p:tgtEl>
                                          <p:spTgt spid="69"/>
                                        </p:tgtEl>
                                      </p:cBhvr>
                                    </p:animEffect>
                                  </p:childTnLst>
                                </p:cTn>
                              </p:par>
                              <p:par>
                                <p:cTn id="36" presetID="10" presetClass="entr" presetSubtype="0" fill="hold" nodeType="withEffect">
                                  <p:stCondLst>
                                    <p:cond delay="0"/>
                                  </p:stCondLst>
                                  <p:childTnLst>
                                    <p:set>
                                      <p:cBhvr>
                                        <p:cTn id="37" dur="1" fill="hold">
                                          <p:stCondLst>
                                            <p:cond delay="0"/>
                                          </p:stCondLst>
                                        </p:cTn>
                                        <p:tgtEl>
                                          <p:spTgt spid="70"/>
                                        </p:tgtEl>
                                        <p:attrNameLst>
                                          <p:attrName>style.visibility</p:attrName>
                                        </p:attrNameLst>
                                      </p:cBhvr>
                                      <p:to>
                                        <p:strVal val="visible"/>
                                      </p:to>
                                    </p:set>
                                    <p:animEffect transition="in" filter="fade">
                                      <p:cBhvr>
                                        <p:cTn id="38" dur="400"/>
                                        <p:tgtEl>
                                          <p:spTgt spid="70"/>
                                        </p:tgtEl>
                                      </p:cBhvr>
                                    </p:animEffect>
                                  </p:childTnLst>
                                </p:cTn>
                              </p:par>
                              <p:par>
                                <p:cTn id="39" presetID="10" presetClass="entr" presetSubtype="0" fill="hold" nodeType="withEffect">
                                  <p:stCondLst>
                                    <p:cond delay="0"/>
                                  </p:stCondLst>
                                  <p:childTnLst>
                                    <p:set>
                                      <p:cBhvr>
                                        <p:cTn id="40" dur="1" fill="hold">
                                          <p:stCondLst>
                                            <p:cond delay="0"/>
                                          </p:stCondLst>
                                        </p:cTn>
                                        <p:tgtEl>
                                          <p:spTgt spid="71"/>
                                        </p:tgtEl>
                                        <p:attrNameLst>
                                          <p:attrName>style.visibility</p:attrName>
                                        </p:attrNameLst>
                                      </p:cBhvr>
                                      <p:to>
                                        <p:strVal val="visible"/>
                                      </p:to>
                                    </p:set>
                                    <p:animEffect transition="in" filter="fade">
                                      <p:cBhvr>
                                        <p:cTn id="41" dur="400"/>
                                        <p:tgtEl>
                                          <p:spTgt spid="71"/>
                                        </p:tgtEl>
                                      </p:cBhvr>
                                    </p:animEffect>
                                  </p:childTnLst>
                                </p:cTn>
                              </p:par>
                              <p:par>
                                <p:cTn id="42" presetID="10" presetClass="entr" presetSubtype="0" fill="hold" nodeType="withEffect">
                                  <p:stCondLst>
                                    <p:cond delay="0"/>
                                  </p:stCondLst>
                                  <p:childTnLst>
                                    <p:set>
                                      <p:cBhvr>
                                        <p:cTn id="43" dur="1" fill="hold">
                                          <p:stCondLst>
                                            <p:cond delay="0"/>
                                          </p:stCondLst>
                                        </p:cTn>
                                        <p:tgtEl>
                                          <p:spTgt spid="72"/>
                                        </p:tgtEl>
                                        <p:attrNameLst>
                                          <p:attrName>style.visibility</p:attrName>
                                        </p:attrNameLst>
                                      </p:cBhvr>
                                      <p:to>
                                        <p:strVal val="visible"/>
                                      </p:to>
                                    </p:set>
                                    <p:animEffect transition="in" filter="fade">
                                      <p:cBhvr>
                                        <p:cTn id="44" dur="400"/>
                                        <p:tgtEl>
                                          <p:spTgt spid="72"/>
                                        </p:tgtEl>
                                      </p:cBhvr>
                                    </p:animEffect>
                                  </p:childTnLst>
                                </p:cTn>
                              </p:par>
                              <p:par>
                                <p:cTn id="45" presetID="10" presetClass="entr" presetSubtype="0" fill="hold" nodeType="withEffect">
                                  <p:stCondLst>
                                    <p:cond delay="0"/>
                                  </p:stCondLst>
                                  <p:childTnLst>
                                    <p:set>
                                      <p:cBhvr>
                                        <p:cTn id="46" dur="1" fill="hold">
                                          <p:stCondLst>
                                            <p:cond delay="0"/>
                                          </p:stCondLst>
                                        </p:cTn>
                                        <p:tgtEl>
                                          <p:spTgt spid="73"/>
                                        </p:tgtEl>
                                        <p:attrNameLst>
                                          <p:attrName>style.visibility</p:attrName>
                                        </p:attrNameLst>
                                      </p:cBhvr>
                                      <p:to>
                                        <p:strVal val="visible"/>
                                      </p:to>
                                    </p:set>
                                    <p:animEffect transition="in" filter="fade">
                                      <p:cBhvr>
                                        <p:cTn id="47" dur="400"/>
                                        <p:tgtEl>
                                          <p:spTgt spid="7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
                                        </p:tgtEl>
                                        <p:attrNameLst>
                                          <p:attrName>style.visibility</p:attrName>
                                        </p:attrNameLst>
                                      </p:cBhvr>
                                      <p:to>
                                        <p:strVal val="visible"/>
                                      </p:to>
                                    </p:set>
                                    <p:animEffect transition="in" filter="fade">
                                      <p:cBhvr>
                                        <p:cTn id="52" dur="400"/>
                                        <p:tgtEl>
                                          <p:spTgt spid="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fade">
                                      <p:cBhvr>
                                        <p:cTn id="57" dur="400"/>
                                        <p:tgtEl>
                                          <p:spTgt spid="6"/>
                                        </p:tgtEl>
                                      </p:cBhvr>
                                    </p:animEffect>
                                  </p:childTnLst>
                                </p:cTn>
                              </p:par>
                              <p:par>
                                <p:cTn id="58" presetID="10" presetClass="entr" presetSubtype="0" fill="hold" nodeType="withEffect">
                                  <p:stCondLst>
                                    <p:cond delay="0"/>
                                  </p:stCondLst>
                                  <p:childTnLst>
                                    <p:set>
                                      <p:cBhvr>
                                        <p:cTn id="59" dur="1" fill="hold">
                                          <p:stCondLst>
                                            <p:cond delay="0"/>
                                          </p:stCondLst>
                                        </p:cTn>
                                        <p:tgtEl>
                                          <p:spTgt spid="8"/>
                                        </p:tgtEl>
                                        <p:attrNameLst>
                                          <p:attrName>style.visibility</p:attrName>
                                        </p:attrNameLst>
                                      </p:cBhvr>
                                      <p:to>
                                        <p:strVal val="visible"/>
                                      </p:to>
                                    </p:set>
                                    <p:animEffect transition="in" filter="fade">
                                      <p:cBhvr>
                                        <p:cTn id="60" dur="400"/>
                                        <p:tgtEl>
                                          <p:spTgt spid="8"/>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9"/>
                                        </p:tgtEl>
                                        <p:attrNameLst>
                                          <p:attrName>style.visibility</p:attrName>
                                        </p:attrNameLst>
                                      </p:cBhvr>
                                      <p:to>
                                        <p:strVal val="visible"/>
                                      </p:to>
                                    </p:set>
                                    <p:animEffect transition="in" filter="fade">
                                      <p:cBhvr>
                                        <p:cTn id="6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4</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60264">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16" name="G3arw"/>
          <p:cNvCxnSpPr/>
          <p:nvPr/>
        </p:nvCxnSpPr>
        <p:spPr>
          <a:xfrm>
            <a:off x="1983480" y="5602000"/>
            <a:ext cx="666000" cy="0"/>
          </a:xfrm>
          <a:prstGeom prst="line">
            <a:avLst/>
          </a:prstGeom>
          <a:ln w="53569">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47578">
            <a:solidFill>
              <a:srgbClr val="8E6F3E"/>
            </a:solidFill>
          </a:ln>
        </p:spPr>
      </p:cxnSp>
      <p:cxnSp>
        <p:nvCxnSpPr>
          <p:cNvPr id="119" name="G4h2"/>
          <p:cNvCxnSpPr/>
          <p:nvPr/>
        </p:nvCxnSpPr>
        <p:spPr>
          <a:xfrm>
            <a:off x="5329020" y="5520400"/>
            <a:ext cx="111000" cy="0"/>
          </a:xfrm>
          <a:prstGeom prst="line">
            <a:avLst/>
          </a:prstGeom>
          <a:ln w="47578">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fontScale="62500" lnSpcReduction="20000"/>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fontScale="92500" lnSpcReduction="20000"/>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fontScale="92500" lnSpcReduction="10000"/>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fontScale="47500" lnSpcReduction="20000"/>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fontScale="85000" lnSpcReduction="10000"/>
          </a:bodyPr>
          <a:lstStyle/>
          <a:p>
            <a:pPr algn="ctr">
              <a:buNone/>
            </a:pPr>
            <a:r>
              <a:rPr lang="en-US" sz="2400" b="0" i="1" dirty="0">
                <a:solidFill>
                  <a:srgbClr val="555960"/>
                </a:solidFill>
              </a:rPr>
              <a:t>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fontScale="92500" lnSpcReduction="20000"/>
          </a:bodyPr>
          <a:lstStyle/>
          <a:p>
            <a:pPr algn="ctr">
              <a:buNone/>
            </a:pPr>
            <a:r>
              <a:rPr lang="en-US" sz="2400" b="1" i="0" dirty="0">
                <a:solidFill>
                  <a:srgbClr val="8E6F3E"/>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103"/>
                                        </p:tgtEl>
                                        <p:attrNameLst>
                                          <p:attrName>style.visibility</p:attrName>
                                        </p:attrNameLst>
                                      </p:cBhvr>
                                      <p:to>
                                        <p:strVal val="visible"/>
                                      </p:to>
                                    </p:set>
                                    <p:animEffect transition="in" filter="fade">
                                      <p:cBhvr>
                                        <p:cTn id="24" dur="400"/>
                                        <p:tgtEl>
                                          <p:spTgt spid="103"/>
                                        </p:tgtEl>
                                      </p:cBhvr>
                                    </p:animEffect>
                                  </p:childTnLst>
                                </p:cTn>
                              </p:par>
                              <p:par>
                                <p:cTn id="25" presetID="10" presetClass="entr" presetSubtype="0" fill="hold" nodeType="withEffect">
                                  <p:stCondLst>
                                    <p:cond delay="0"/>
                                  </p:stCondLst>
                                  <p:childTnLst>
                                    <p:set>
                                      <p:cBhvr>
                                        <p:cTn id="26" dur="1" fill="hold">
                                          <p:stCondLst>
                                            <p:cond delay="0"/>
                                          </p:stCondLst>
                                        </p:cTn>
                                        <p:tgtEl>
                                          <p:spTgt spid="110"/>
                                        </p:tgtEl>
                                        <p:attrNameLst>
                                          <p:attrName>style.visibility</p:attrName>
                                        </p:attrNameLst>
                                      </p:cBhvr>
                                      <p:to>
                                        <p:strVal val="visible"/>
                                      </p:to>
                                    </p:set>
                                    <p:animEffect transition="in" filter="fade">
                                      <p:cBhvr>
                                        <p:cTn id="27" dur="400"/>
                                        <p:tgtEl>
                                          <p:spTgt spid="110"/>
                                        </p:tgtEl>
                                      </p:cBhvr>
                                    </p:animEffect>
                                  </p:childTnLst>
                                </p:cTn>
                              </p:par>
                              <p:par>
                                <p:cTn id="28" presetID="10" presetClass="entr" presetSubtype="0" fill="hold" nodeType="withEffect">
                                  <p:stCondLst>
                                    <p:cond delay="0"/>
                                  </p:stCondLst>
                                  <p:childTnLst>
                                    <p:set>
                                      <p:cBhvr>
                                        <p:cTn id="29" dur="1" fill="hold">
                                          <p:stCondLst>
                                            <p:cond delay="0"/>
                                          </p:stCondLst>
                                        </p:cTn>
                                        <p:tgtEl>
                                          <p:spTgt spid="111"/>
                                        </p:tgtEl>
                                        <p:attrNameLst>
                                          <p:attrName>style.visibility</p:attrName>
                                        </p:attrNameLst>
                                      </p:cBhvr>
                                      <p:to>
                                        <p:strVal val="visible"/>
                                      </p:to>
                                    </p:set>
                                    <p:animEffect transition="in" filter="fade">
                                      <p:cBhvr>
                                        <p:cTn id="30" dur="400"/>
                                        <p:tgtEl>
                                          <p:spTgt spid="111"/>
                                        </p:tgtEl>
                                      </p:cBhvr>
                                    </p:animEffect>
                                  </p:childTnLst>
                                </p:cTn>
                              </p:par>
                              <p:par>
                                <p:cTn id="31" presetID="10" presetClass="entr" presetSubtype="0" fill="hold" nodeType="withEffect">
                                  <p:stCondLst>
                                    <p:cond delay="0"/>
                                  </p:stCondLst>
                                  <p:childTnLst>
                                    <p:set>
                                      <p:cBhvr>
                                        <p:cTn id="32" dur="1" fill="hold">
                                          <p:stCondLst>
                                            <p:cond delay="0"/>
                                          </p:stCondLst>
                                        </p:cTn>
                                        <p:tgtEl>
                                          <p:spTgt spid="112"/>
                                        </p:tgtEl>
                                        <p:attrNameLst>
                                          <p:attrName>style.visibility</p:attrName>
                                        </p:attrNameLst>
                                      </p:cBhvr>
                                      <p:to>
                                        <p:strVal val="visible"/>
                                      </p:to>
                                    </p:set>
                                    <p:animEffect transition="in" filter="fade">
                                      <p:cBhvr>
                                        <p:cTn id="33" dur="400"/>
                                        <p:tgtEl>
                                          <p:spTgt spid="112"/>
                                        </p:tgtEl>
                                      </p:cBhvr>
                                    </p:animEffect>
                                  </p:childTnLst>
                                </p:cTn>
                              </p:par>
                              <p:par>
                                <p:cTn id="34" presetID="10" presetClass="entr" presetSubtype="0" fill="hold" nodeType="withEffect">
                                  <p:stCondLst>
                                    <p:cond delay="0"/>
                                  </p:stCondLst>
                                  <p:childTnLst>
                                    <p:set>
                                      <p:cBhvr>
                                        <p:cTn id="35" dur="1" fill="hold">
                                          <p:stCondLst>
                                            <p:cond delay="0"/>
                                          </p:stCondLst>
                                        </p:cTn>
                                        <p:tgtEl>
                                          <p:spTgt spid="113"/>
                                        </p:tgtEl>
                                        <p:attrNameLst>
                                          <p:attrName>style.visibility</p:attrName>
                                        </p:attrNameLst>
                                      </p:cBhvr>
                                      <p:to>
                                        <p:strVal val="visible"/>
                                      </p:to>
                                    </p:set>
                                    <p:animEffect transition="in" filter="fade">
                                      <p:cBhvr>
                                        <p:cTn id="36" dur="400"/>
                                        <p:tgtEl>
                                          <p:spTgt spid="1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04"/>
                                        </p:tgtEl>
                                        <p:attrNameLst>
                                          <p:attrName>style.visibility</p:attrName>
                                        </p:attrNameLst>
                                      </p:cBhvr>
                                      <p:to>
                                        <p:strVal val="visible"/>
                                      </p:to>
                                    </p:set>
                                    <p:animEffect transition="in" filter="fade">
                                      <p:cBhvr>
                                        <p:cTn id="41" dur="400"/>
                                        <p:tgtEl>
                                          <p:spTgt spid="104"/>
                                        </p:tgtEl>
                                      </p:cBhvr>
                                    </p:animEffect>
                                  </p:childTnLst>
                                </p:cTn>
                              </p:par>
                              <p:par>
                                <p:cTn id="42" presetID="10" presetClass="entr" presetSubtype="0" fill="hold" nodeType="withEffect">
                                  <p:stCondLst>
                                    <p:cond delay="0"/>
                                  </p:stCondLst>
                                  <p:childTnLst>
                                    <p:set>
                                      <p:cBhvr>
                                        <p:cTn id="43" dur="1" fill="hold">
                                          <p:stCondLst>
                                            <p:cond delay="0"/>
                                          </p:stCondLst>
                                        </p:cTn>
                                        <p:tgtEl>
                                          <p:spTgt spid="105"/>
                                        </p:tgtEl>
                                        <p:attrNameLst>
                                          <p:attrName>style.visibility</p:attrName>
                                        </p:attrNameLst>
                                      </p:cBhvr>
                                      <p:to>
                                        <p:strVal val="visible"/>
                                      </p:to>
                                    </p:set>
                                    <p:animEffect transition="in" filter="fade">
                                      <p:cBhvr>
                                        <p:cTn id="44" dur="400"/>
                                        <p:tgtEl>
                                          <p:spTgt spid="105"/>
                                        </p:tgtEl>
                                      </p:cBhvr>
                                    </p:animEffect>
                                  </p:childTnLst>
                                </p:cTn>
                              </p:par>
                              <p:par>
                                <p:cTn id="45" presetID="10" presetClass="entr" presetSubtype="0" fill="hold" nodeType="withEffect">
                                  <p:stCondLst>
                                    <p:cond delay="0"/>
                                  </p:stCondLst>
                                  <p:childTnLst>
                                    <p:set>
                                      <p:cBhvr>
                                        <p:cTn id="46" dur="1" fill="hold">
                                          <p:stCondLst>
                                            <p:cond delay="0"/>
                                          </p:stCondLst>
                                        </p:cTn>
                                        <p:tgtEl>
                                          <p:spTgt spid="114"/>
                                        </p:tgtEl>
                                        <p:attrNameLst>
                                          <p:attrName>style.visibility</p:attrName>
                                        </p:attrNameLst>
                                      </p:cBhvr>
                                      <p:to>
                                        <p:strVal val="visible"/>
                                      </p:to>
                                    </p:set>
                                    <p:animEffect transition="in" filter="fade">
                                      <p:cBhvr>
                                        <p:cTn id="47" dur="400"/>
                                        <p:tgtEl>
                                          <p:spTgt spid="114"/>
                                        </p:tgtEl>
                                      </p:cBhvr>
                                    </p:animEffect>
                                  </p:childTnLst>
                                </p:cTn>
                              </p:par>
                              <p:par>
                                <p:cTn id="48" presetID="10" presetClass="entr" presetSubtype="0" fill="hold" nodeType="withEffect">
                                  <p:stCondLst>
                                    <p:cond delay="0"/>
                                  </p:stCondLst>
                                  <p:childTnLst>
                                    <p:set>
                                      <p:cBhvr>
                                        <p:cTn id="49" dur="1" fill="hold">
                                          <p:stCondLst>
                                            <p:cond delay="0"/>
                                          </p:stCondLst>
                                        </p:cTn>
                                        <p:tgtEl>
                                          <p:spTgt spid="115"/>
                                        </p:tgtEl>
                                        <p:attrNameLst>
                                          <p:attrName>style.visibility</p:attrName>
                                        </p:attrNameLst>
                                      </p:cBhvr>
                                      <p:to>
                                        <p:strVal val="visible"/>
                                      </p:to>
                                    </p:set>
                                    <p:animEffect transition="in" filter="fade">
                                      <p:cBhvr>
                                        <p:cTn id="50" dur="400"/>
                                        <p:tgtEl>
                                          <p:spTgt spid="115"/>
                                        </p:tgtEl>
                                      </p:cBhvr>
                                    </p:animEffect>
                                  </p:childTnLst>
                                </p:cTn>
                              </p:par>
                              <p:par>
                                <p:cTn id="51" presetID="10" presetClass="entr" presetSubtype="0" fill="hold" nodeType="withEffect">
                                  <p:stCondLst>
                                    <p:cond delay="0"/>
                                  </p:stCondLst>
                                  <p:childTnLst>
                                    <p:set>
                                      <p:cBhvr>
                                        <p:cTn id="52" dur="1" fill="hold">
                                          <p:stCondLst>
                                            <p:cond delay="0"/>
                                          </p:stCondLst>
                                        </p:cTn>
                                        <p:tgtEl>
                                          <p:spTgt spid="116"/>
                                        </p:tgtEl>
                                        <p:attrNameLst>
                                          <p:attrName>style.visibility</p:attrName>
                                        </p:attrNameLst>
                                      </p:cBhvr>
                                      <p:to>
                                        <p:strVal val="visible"/>
                                      </p:to>
                                    </p:set>
                                    <p:animEffect transition="in" filter="fade">
                                      <p:cBhvr>
                                        <p:cTn id="53" dur="400"/>
                                        <p:tgtEl>
                                          <p:spTgt spid="11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06"/>
                                        </p:tgtEl>
                                        <p:attrNameLst>
                                          <p:attrName>style.visibility</p:attrName>
                                        </p:attrNameLst>
                                      </p:cBhvr>
                                      <p:to>
                                        <p:strVal val="visible"/>
                                      </p:to>
                                    </p:set>
                                    <p:animEffect transition="in" filter="fade">
                                      <p:cBhvr>
                                        <p:cTn id="58" dur="400"/>
                                        <p:tgtEl>
                                          <p:spTgt spid="106"/>
                                        </p:tgtEl>
                                      </p:cBhvr>
                                    </p:animEffect>
                                  </p:childTnLst>
                                </p:cTn>
                              </p:par>
                              <p:par>
                                <p:cTn id="59" presetID="10" presetClass="entr" presetSubtype="0" fill="hold" nodeType="withEffect">
                                  <p:stCondLst>
                                    <p:cond delay="0"/>
                                  </p:stCondLst>
                                  <p:childTnLst>
                                    <p:set>
                                      <p:cBhvr>
                                        <p:cTn id="60" dur="1" fill="hold">
                                          <p:stCondLst>
                                            <p:cond delay="0"/>
                                          </p:stCondLst>
                                        </p:cTn>
                                        <p:tgtEl>
                                          <p:spTgt spid="107"/>
                                        </p:tgtEl>
                                        <p:attrNameLst>
                                          <p:attrName>style.visibility</p:attrName>
                                        </p:attrNameLst>
                                      </p:cBhvr>
                                      <p:to>
                                        <p:strVal val="visible"/>
                                      </p:to>
                                    </p:set>
                                    <p:animEffect transition="in" filter="fade">
                                      <p:cBhvr>
                                        <p:cTn id="61" dur="400"/>
                                        <p:tgtEl>
                                          <p:spTgt spid="107"/>
                                        </p:tgtEl>
                                      </p:cBhvr>
                                    </p:animEffect>
                                  </p:childTnLst>
                                </p:cTn>
                              </p:par>
                              <p:par>
                                <p:cTn id="62" presetID="10" presetClass="entr" presetSubtype="0" fill="hold" nodeType="withEffect">
                                  <p:stCondLst>
                                    <p:cond delay="0"/>
                                  </p:stCondLst>
                                  <p:childTnLst>
                                    <p:set>
                                      <p:cBhvr>
                                        <p:cTn id="63" dur="1" fill="hold">
                                          <p:stCondLst>
                                            <p:cond delay="0"/>
                                          </p:stCondLst>
                                        </p:cTn>
                                        <p:tgtEl>
                                          <p:spTgt spid="117"/>
                                        </p:tgtEl>
                                        <p:attrNameLst>
                                          <p:attrName>style.visibility</p:attrName>
                                        </p:attrNameLst>
                                      </p:cBhvr>
                                      <p:to>
                                        <p:strVal val="visible"/>
                                      </p:to>
                                    </p:set>
                                    <p:animEffect transition="in" filter="fade">
                                      <p:cBhvr>
                                        <p:cTn id="64" dur="400"/>
                                        <p:tgtEl>
                                          <p:spTgt spid="117"/>
                                        </p:tgtEl>
                                      </p:cBhvr>
                                    </p:animEffect>
                                  </p:childTnLst>
                                </p:cTn>
                              </p:par>
                              <p:par>
                                <p:cTn id="65" presetID="10" presetClass="entr" presetSubtype="0" fill="hold" nodeType="withEffect">
                                  <p:stCondLst>
                                    <p:cond delay="0"/>
                                  </p:stCondLst>
                                  <p:childTnLst>
                                    <p:set>
                                      <p:cBhvr>
                                        <p:cTn id="66" dur="1" fill="hold">
                                          <p:stCondLst>
                                            <p:cond delay="0"/>
                                          </p:stCondLst>
                                        </p:cTn>
                                        <p:tgtEl>
                                          <p:spTgt spid="118"/>
                                        </p:tgtEl>
                                        <p:attrNameLst>
                                          <p:attrName>style.visibility</p:attrName>
                                        </p:attrNameLst>
                                      </p:cBhvr>
                                      <p:to>
                                        <p:strVal val="visible"/>
                                      </p:to>
                                    </p:set>
                                    <p:animEffect transition="in" filter="fade">
                                      <p:cBhvr>
                                        <p:cTn id="67" dur="400"/>
                                        <p:tgtEl>
                                          <p:spTgt spid="118"/>
                                        </p:tgtEl>
                                      </p:cBhvr>
                                    </p:animEffect>
                                  </p:childTnLst>
                                </p:cTn>
                              </p:par>
                              <p:par>
                                <p:cTn id="68" presetID="10" presetClass="entr" presetSubtype="0" fill="hold" nodeType="withEffect">
                                  <p:stCondLst>
                                    <p:cond delay="0"/>
                                  </p:stCondLst>
                                  <p:childTnLst>
                                    <p:set>
                                      <p:cBhvr>
                                        <p:cTn id="69" dur="1" fill="hold">
                                          <p:stCondLst>
                                            <p:cond delay="0"/>
                                          </p:stCondLst>
                                        </p:cTn>
                                        <p:tgtEl>
                                          <p:spTgt spid="119"/>
                                        </p:tgtEl>
                                        <p:attrNameLst>
                                          <p:attrName>style.visibility</p:attrName>
                                        </p:attrNameLst>
                                      </p:cBhvr>
                                      <p:to>
                                        <p:strVal val="visible"/>
                                      </p:to>
                                    </p:set>
                                    <p:animEffect transition="in" filter="fade">
                                      <p:cBhvr>
                                        <p:cTn id="70" dur="400"/>
                                        <p:tgtEl>
                                          <p:spTgt spid="119"/>
                                        </p:tgtEl>
                                      </p:cBhvr>
                                    </p:animEffect>
                                  </p:childTnLst>
                                </p:cTn>
                              </p:par>
                              <p:par>
                                <p:cTn id="71" presetID="10"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animEffect transition="in" filter="fade">
                                      <p:cBhvr>
                                        <p:cTn id="73" dur="400"/>
                                        <p:tgtEl>
                                          <p:spTgt spid="120"/>
                                        </p:tgtEl>
                                      </p:cBhvr>
                                    </p:animEffect>
                                  </p:childTnLst>
                                </p:cTn>
                              </p:par>
                              <p:par>
                                <p:cTn id="74" presetID="10" presetClass="entr" presetSubtype="0" fill="hold" nodeType="withEffect">
                                  <p:stCondLst>
                                    <p:cond delay="0"/>
                                  </p:stCondLst>
                                  <p:childTnLst>
                                    <p:set>
                                      <p:cBhvr>
                                        <p:cTn id="75" dur="1" fill="hold">
                                          <p:stCondLst>
                                            <p:cond delay="0"/>
                                          </p:stCondLst>
                                        </p:cTn>
                                        <p:tgtEl>
                                          <p:spTgt spid="121"/>
                                        </p:tgtEl>
                                        <p:attrNameLst>
                                          <p:attrName>style.visibility</p:attrName>
                                        </p:attrNameLst>
                                      </p:cBhvr>
                                      <p:to>
                                        <p:strVal val="visible"/>
                                      </p:to>
                                    </p:set>
                                    <p:animEffect transition="in" filter="fade">
                                      <p:cBhvr>
                                        <p:cTn id="76" dur="400"/>
                                        <p:tgtEl>
                                          <p:spTgt spid="121"/>
                                        </p:tgtEl>
                                      </p:cBhvr>
                                    </p:animEffect>
                                  </p:childTnLst>
                                </p:cTn>
                              </p:par>
                              <p:par>
                                <p:cTn id="77" presetID="10" presetClass="entr" presetSubtype="0" fill="hold" nodeType="withEffect">
                                  <p:stCondLst>
                                    <p:cond delay="0"/>
                                  </p:stCondLst>
                                  <p:childTnLst>
                                    <p:set>
                                      <p:cBhvr>
                                        <p:cTn id="78" dur="1" fill="hold">
                                          <p:stCondLst>
                                            <p:cond delay="0"/>
                                          </p:stCondLst>
                                        </p:cTn>
                                        <p:tgtEl>
                                          <p:spTgt spid="122"/>
                                        </p:tgtEl>
                                        <p:attrNameLst>
                                          <p:attrName>style.visibility</p:attrName>
                                        </p:attrNameLst>
                                      </p:cBhvr>
                                      <p:to>
                                        <p:strVal val="visible"/>
                                      </p:to>
                                    </p:set>
                                    <p:animEffect transition="in" filter="fade">
                                      <p:cBhvr>
                                        <p:cTn id="79" dur="400"/>
                                        <p:tgtEl>
                                          <p:spTgt spid="122"/>
                                        </p:tgtEl>
                                      </p:cBhvr>
                                    </p:animEffect>
                                  </p:childTnLst>
                                </p:cTn>
                              </p:par>
                              <p:par>
                                <p:cTn id="80" presetID="10" presetClass="entr" presetSubtype="0" fill="hold" nodeType="withEffect">
                                  <p:stCondLst>
                                    <p:cond delay="0"/>
                                  </p:stCondLst>
                                  <p:childTnLst>
                                    <p:set>
                                      <p:cBhvr>
                                        <p:cTn id="81" dur="1" fill="hold">
                                          <p:stCondLst>
                                            <p:cond delay="0"/>
                                          </p:stCondLst>
                                        </p:cTn>
                                        <p:tgtEl>
                                          <p:spTgt spid="123"/>
                                        </p:tgtEl>
                                        <p:attrNameLst>
                                          <p:attrName>style.visibility</p:attrName>
                                        </p:attrNameLst>
                                      </p:cBhvr>
                                      <p:to>
                                        <p:strVal val="visible"/>
                                      </p:to>
                                    </p:set>
                                    <p:animEffect transition="in" filter="fade">
                                      <p:cBhvr>
                                        <p:cTn id="82" dur="400"/>
                                        <p:tgtEl>
                                          <p:spTgt spid="123"/>
                                        </p:tgtEl>
                                      </p:cBhvr>
                                    </p:animEffect>
                                  </p:childTnLst>
                                </p:cTn>
                              </p:par>
                              <p:par>
                                <p:cTn id="83" presetID="10" presetClass="entr" presetSubtype="0" fill="hold" nodeType="withEffect">
                                  <p:stCondLst>
                                    <p:cond delay="0"/>
                                  </p:stCondLst>
                                  <p:childTnLst>
                                    <p:set>
                                      <p:cBhvr>
                                        <p:cTn id="84" dur="1" fill="hold">
                                          <p:stCondLst>
                                            <p:cond delay="0"/>
                                          </p:stCondLst>
                                        </p:cTn>
                                        <p:tgtEl>
                                          <p:spTgt spid="140"/>
                                        </p:tgtEl>
                                        <p:attrNameLst>
                                          <p:attrName>style.visibility</p:attrName>
                                        </p:attrNameLst>
                                      </p:cBhvr>
                                      <p:to>
                                        <p:strVal val="visible"/>
                                      </p:to>
                                    </p:set>
                                    <p:animEffect transition="in" filter="fade">
                                      <p:cBhvr>
                                        <p:cTn id="85" dur="400"/>
                                        <p:tgtEl>
                                          <p:spTgt spid="140"/>
                                        </p:tgtEl>
                                      </p:cBhvr>
                                    </p:animEffect>
                                  </p:childTnLst>
                                </p:cTn>
                              </p:par>
                              <p:par>
                                <p:cTn id="86" presetID="10" presetClass="entr" presetSubtype="0" fill="hold" nodeType="withEffect">
                                  <p:stCondLst>
                                    <p:cond delay="0"/>
                                  </p:stCondLst>
                                  <p:childTnLst>
                                    <p:set>
                                      <p:cBhvr>
                                        <p:cTn id="87" dur="1" fill="hold">
                                          <p:stCondLst>
                                            <p:cond delay="0"/>
                                          </p:stCondLst>
                                        </p:cTn>
                                        <p:tgtEl>
                                          <p:spTgt spid="124"/>
                                        </p:tgtEl>
                                        <p:attrNameLst>
                                          <p:attrName>style.visibility</p:attrName>
                                        </p:attrNameLst>
                                      </p:cBhvr>
                                      <p:to>
                                        <p:strVal val="visible"/>
                                      </p:to>
                                    </p:set>
                                    <p:animEffect transition="in" filter="fade">
                                      <p:cBhvr>
                                        <p:cTn id="88" dur="4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5</a:t>
            </a:fld>
            <a:endParaRPr lang="en-US"/>
          </a:p>
        </p:txBody>
      </p:sp>
      <p:sp>
        <p:nvSpPr>
          <p:cNvPr id="61" name="Band61"/>
          <p:cNvSpPr/>
          <p:nvPr/>
        </p:nvSpPr>
        <p:spPr>
          <a:xfrm>
            <a:off x="279400" y="4560000"/>
            <a:ext cx="8585200" cy="560000"/>
          </a:xfrm>
          <a:prstGeom prst="rect">
            <a:avLst/>
          </a:prstGeom>
          <a:solidFill>
            <a:srgbClr val="F5F1E8"/>
          </a:solidFill>
          <a:ln>
            <a:noFill/>
          </a:ln>
        </p:spPr>
        <p:txBody>
          <a:bodyPr wrap="square" lIns="109728" tIns="82296" rIns="109728" bIns="82296" anchor="ctr">
            <a:normAutofit lnSpcReduction="10000"/>
          </a:bodyPr>
          <a:lstStyle/>
          <a:p>
            <a:pPr algn="ctr">
              <a:buNone/>
            </a:pPr>
            <a:r>
              <a:rPr lang="en-US" sz="1300" b="1" i="0" dirty="0">
                <a:solidFill>
                  <a:srgbClr val="8E6F3E"/>
                </a:solidFill>
              </a:rPr>
              <a:t>CHANGE TOGETHER? · FAIL TOGETHER? · SCALE TOGETHER? · CONSISTENT TOGETHER? · SECURE TOGETHER? · OWNED TOGETHER?</a:t>
            </a:r>
          </a:p>
        </p:txBody>
      </p:sp>
      <p:sp>
        <p:nvSpPr>
          <p:cNvPr id="62" name="T62"/>
          <p:cNvSpPr txBox="1"/>
          <p:nvPr/>
        </p:nvSpPr>
        <p:spPr>
          <a:xfrm>
            <a:off x="685800" y="5170000"/>
            <a:ext cx="7772400" cy="36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fontScale="85000" lnSpcReduction="10000"/>
          </a:bodyPr>
          <a:lstStyle/>
          <a:p>
            <a:pPr algn="ctr">
              <a:buNone/>
            </a:pPr>
            <a:r>
              <a:rPr lang="en-US" sz="2400" b="1" i="0" dirty="0">
                <a:solidFill>
                  <a:srgbClr val="FFFFFF"/>
                </a:solidFill>
              </a:rPr>
              <a:t>Where should we draw boundaries so the interactions and changes we expect are easy, while the interactions and changes we do not want are difficult?</a:t>
            </a:r>
          </a:p>
        </p:txBody>
      </p:sp>
      <p:sp>
        <p:nvSpPr>
          <p:cNvPr id="100" name="OrgALbl"/>
          <p:cNvSpPr txBox="1"/>
          <p:nvPr/>
        </p:nvSpPr>
        <p:spPr>
          <a:xfrm>
            <a:off x="14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A</a:t>
            </a:r>
          </a:p>
        </p:txBody>
      </p:sp>
      <p:sp>
        <p:nvSpPr>
          <p:cNvPr id="101" name="OrgA0"/>
          <p:cNvSpPr/>
          <p:nvPr/>
        </p:nvSpPr>
        <p:spPr>
          <a:xfrm>
            <a:off x="1046000" y="12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a:t>
            </a:r>
          </a:p>
        </p:txBody>
      </p:sp>
      <p:sp>
        <p:nvSpPr>
          <p:cNvPr id="102" name="OrgA1"/>
          <p:cNvSpPr/>
          <p:nvPr/>
        </p:nvSpPr>
        <p:spPr>
          <a:xfrm>
            <a:off x="1046000" y="19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classify</a:t>
            </a:r>
          </a:p>
        </p:txBody>
      </p:sp>
      <p:sp>
        <p:nvSpPr>
          <p:cNvPr id="103" name="OrgA2"/>
          <p:cNvSpPr/>
          <p:nvPr/>
        </p:nvSpPr>
        <p:spPr>
          <a:xfrm>
            <a:off x="1046000" y="26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summarize</a:t>
            </a:r>
          </a:p>
        </p:txBody>
      </p:sp>
      <p:sp>
        <p:nvSpPr>
          <p:cNvPr id="104" name="OrgA3"/>
          <p:cNvSpPr/>
          <p:nvPr/>
        </p:nvSpPr>
        <p:spPr>
          <a:xfrm>
            <a:off x="1046000" y="33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advise</a:t>
            </a:r>
          </a:p>
        </p:txBody>
      </p:sp>
      <p:sp>
        <p:nvSpPr>
          <p:cNvPr id="105" name="OrgAOuter"/>
          <p:cNvSpPr/>
          <p:nvPr/>
        </p:nvSpPr>
        <p:spPr>
          <a:xfrm>
            <a:off x="1046000" y="1250000"/>
            <a:ext cx="2600000" cy="28000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00000"/>
            <a:ext cx="0" cy="3050000"/>
          </a:xfrm>
          <a:prstGeom prst="line">
            <a:avLst/>
          </a:prstGeom>
          <a:ln w="28575">
            <a:solidFill>
              <a:srgbClr val="C9B991"/>
            </a:solidFill>
            <a:prstDash val="dash"/>
          </a:ln>
        </p:spPr>
      </p:cxnSp>
      <p:sp>
        <p:nvSpPr>
          <p:cNvPr id="107" name="OrgBLbl"/>
          <p:cNvSpPr txBox="1"/>
          <p:nvPr/>
        </p:nvSpPr>
        <p:spPr>
          <a:xfrm>
            <a:off x="459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B</a:t>
            </a:r>
          </a:p>
        </p:txBody>
      </p:sp>
      <p:sp>
        <p:nvSpPr>
          <p:cNvPr id="108" name="OrgB1"/>
          <p:cNvSpPr/>
          <p:nvPr/>
        </p:nvSpPr>
        <p:spPr>
          <a:xfrm>
            <a:off x="472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 · store</a:t>
            </a:r>
          </a:p>
        </p:txBody>
      </p:sp>
      <p:sp>
        <p:nvSpPr>
          <p:cNvPr id="109" name="OrgB2"/>
          <p:cNvSpPr/>
          <p:nvPr/>
        </p:nvSpPr>
        <p:spPr>
          <a:xfrm>
            <a:off x="6970000" y="1300000"/>
            <a:ext cx="2050000" cy="800000"/>
          </a:xfrm>
          <a:prstGeom prst="rect">
            <a:avLst/>
          </a:prstGeom>
          <a:solidFill>
            <a:srgbClr val="F5F1E8"/>
          </a:solidFill>
          <a:ln w="17526">
            <a:solidFill>
              <a:srgbClr val="C9B991"/>
            </a:solidFill>
          </a:ln>
        </p:spPr>
        <p:txBody>
          <a:bodyPr wrap="square" lIns="54864" tIns="27432" rIns="54864" bIns="27432" anchor="ctr">
            <a:normAutofit fontScale="92500"/>
          </a:bodyPr>
          <a:lstStyle/>
          <a:p>
            <a:pPr algn="ctr">
              <a:buNone/>
            </a:pPr>
            <a:r>
              <a:rPr lang="en-US" sz="2400" b="0" i="0" dirty="0">
                <a:solidFill>
                  <a:srgbClr val="5C4826"/>
                </a:solidFill>
              </a:rPr>
              <a:t>model · advise</a:t>
            </a:r>
          </a:p>
        </p:txBody>
      </p:sp>
      <p:sp>
        <p:nvSpPr>
          <p:cNvPr id="110" name="OrgBShare"/>
          <p:cNvSpPr/>
          <p:nvPr/>
        </p:nvSpPr>
        <p:spPr>
          <a:xfrm>
            <a:off x="5845000" y="2950000"/>
            <a:ext cx="2050000" cy="80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sharing</a:t>
            </a:r>
          </a:p>
        </p:txBody>
      </p:sp>
      <p:cxnSp>
        <p:nvCxnSpPr>
          <p:cNvPr id="111" name="OrgBd111"/>
          <p:cNvCxnSpPr/>
          <p:nvPr/>
        </p:nvCxnSpPr>
        <p:spPr>
          <a:xfrm>
            <a:off x="5745000" y="2100000"/>
            <a:ext cx="0" cy="620000"/>
          </a:xfrm>
          <a:prstGeom prst="line">
            <a:avLst/>
          </a:prstGeom>
          <a:ln w="44450">
            <a:solidFill>
              <a:srgbClr val="8E6F3E"/>
            </a:solidFill>
          </a:ln>
        </p:spPr>
      </p:cxnSp>
      <p:cxnSp>
        <p:nvCxnSpPr>
          <p:cNvPr id="112" name="OrgBd112"/>
          <p:cNvCxnSpPr/>
          <p:nvPr/>
        </p:nvCxnSpPr>
        <p:spPr>
          <a:xfrm>
            <a:off x="7995000" y="2100000"/>
            <a:ext cx="0" cy="620000"/>
          </a:xfrm>
          <a:prstGeom prst="line">
            <a:avLst/>
          </a:prstGeom>
          <a:ln w="44450">
            <a:solidFill>
              <a:srgbClr val="8E6F3E"/>
            </a:solidFill>
          </a:ln>
        </p:spPr>
      </p:cxnSp>
      <p:sp>
        <p:nvSpPr>
          <p:cNvPr id="113" name="Cap"/>
          <p:cNvSpPr txBox="1"/>
          <p:nvPr/>
        </p:nvSpPr>
        <p:spPr>
          <a:xfrm>
            <a:off x="685800" y="409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Different boundaries → different coupling</a:t>
            </a:r>
          </a:p>
        </p:txBody>
      </p:sp>
      <p:cxnSp>
        <p:nvCxnSpPr>
          <p:cNvPr id="114" name="OrgBh1"/>
          <p:cNvCxnSpPr/>
          <p:nvPr/>
        </p:nvCxnSpPr>
        <p:spPr>
          <a:xfrm>
            <a:off x="5745000" y="2700000"/>
            <a:ext cx="725000" cy="0"/>
          </a:xfrm>
          <a:prstGeom prst="line">
            <a:avLst/>
          </a:prstGeom>
          <a:ln w="44450">
            <a:solidFill>
              <a:srgbClr val="8E6F3E"/>
            </a:solidFill>
          </a:ln>
        </p:spPr>
      </p:cxnSp>
      <p:cxnSp>
        <p:nvCxnSpPr>
          <p:cNvPr id="115" name="OrgBv1"/>
          <p:cNvCxnSpPr/>
          <p:nvPr/>
        </p:nvCxnSpPr>
        <p:spPr>
          <a:xfrm>
            <a:off x="6470000" y="2700000"/>
            <a:ext cx="0" cy="250000"/>
          </a:xfrm>
          <a:prstGeom prst="line">
            <a:avLst/>
          </a:prstGeom>
          <a:ln w="44450">
            <a:solidFill>
              <a:srgbClr val="8E6F3E"/>
            </a:solidFill>
            <a:tailEnd type="triangle" w="med" len="med"/>
          </a:ln>
        </p:spPr>
      </p:cxnSp>
      <p:cxnSp>
        <p:nvCxnSpPr>
          <p:cNvPr id="116" name="OrgBh2"/>
          <p:cNvCxnSpPr/>
          <p:nvPr/>
        </p:nvCxnSpPr>
        <p:spPr>
          <a:xfrm>
            <a:off x="7270000" y="2700000"/>
            <a:ext cx="725000" cy="0"/>
          </a:xfrm>
          <a:prstGeom prst="line">
            <a:avLst/>
          </a:prstGeom>
          <a:ln w="44450">
            <a:solidFill>
              <a:srgbClr val="8E6F3E"/>
            </a:solidFill>
          </a:ln>
        </p:spPr>
      </p:cxnSp>
      <p:cxnSp>
        <p:nvCxnSpPr>
          <p:cNvPr id="117" name="OrgBv2"/>
          <p:cNvCxnSpPr/>
          <p:nvPr/>
        </p:nvCxnSpPr>
        <p:spPr>
          <a:xfrm>
            <a:off x="7270000" y="2700000"/>
            <a:ext cx="0" cy="250000"/>
          </a:xfrm>
          <a:prstGeom prst="line">
            <a:avLst/>
          </a:prstGeom>
          <a:ln w="4445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
                                        </p:tgtEl>
                                        <p:attrNameLst>
                                          <p:attrName>style.visibility</p:attrName>
                                        </p:attrNameLst>
                                      </p:cBhvr>
                                      <p:to>
                                        <p:strVal val="visible"/>
                                      </p:to>
                                    </p:set>
                                    <p:animEffect transition="in" filter="fade">
                                      <p:cBhvr>
                                        <p:cTn id="12" dur="400"/>
                                        <p:tgtEl>
                                          <p:spTgt spid="100"/>
                                        </p:tgtEl>
                                      </p:cBhvr>
                                    </p:animEffect>
                                  </p:childTnLst>
                                </p:cTn>
                              </p:par>
                              <p:par>
                                <p:cTn id="13" presetID="10" presetClass="entr" presetSubtype="0" fill="hold"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4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4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400"/>
                                        <p:tgtEl>
                                          <p:spTgt spid="104"/>
                                        </p:tgtEl>
                                      </p:cBhvr>
                                    </p:animEffect>
                                  </p:childTnLst>
                                </p:cTn>
                              </p:par>
                              <p:par>
                                <p:cTn id="25" presetID="10" presetClass="entr" presetSubtype="0" fill="hold" nodeType="withEffect">
                                  <p:stCondLst>
                                    <p:cond delay="0"/>
                                  </p:stCondLst>
                                  <p:childTnLst>
                                    <p:set>
                                      <p:cBhvr>
                                        <p:cTn id="26" dur="1" fill="hold">
                                          <p:stCondLst>
                                            <p:cond delay="0"/>
                                          </p:stCondLst>
                                        </p:cTn>
                                        <p:tgtEl>
                                          <p:spTgt spid="105"/>
                                        </p:tgtEl>
                                        <p:attrNameLst>
                                          <p:attrName>style.visibility</p:attrName>
                                        </p:attrNameLst>
                                      </p:cBhvr>
                                      <p:to>
                                        <p:strVal val="visible"/>
                                      </p:to>
                                    </p:set>
                                    <p:animEffect transition="in" filter="fade">
                                      <p:cBhvr>
                                        <p:cTn id="27" dur="400"/>
                                        <p:tgtEl>
                                          <p:spTgt spid="10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par>
                                <p:cTn id="39" presetID="10" presetClass="entr" presetSubtype="0" fill="hold" nodeType="withEffect">
                                  <p:stCondLst>
                                    <p:cond delay="0"/>
                                  </p:stCondLst>
                                  <p:childTnLst>
                                    <p:set>
                                      <p:cBhvr>
                                        <p:cTn id="40" dur="1" fill="hold">
                                          <p:stCondLst>
                                            <p:cond delay="0"/>
                                          </p:stCondLst>
                                        </p:cTn>
                                        <p:tgtEl>
                                          <p:spTgt spid="110"/>
                                        </p:tgtEl>
                                        <p:attrNameLst>
                                          <p:attrName>style.visibility</p:attrName>
                                        </p:attrNameLst>
                                      </p:cBhvr>
                                      <p:to>
                                        <p:strVal val="visible"/>
                                      </p:to>
                                    </p:set>
                                    <p:animEffect transition="in" filter="fade">
                                      <p:cBhvr>
                                        <p:cTn id="41" dur="400"/>
                                        <p:tgtEl>
                                          <p:spTgt spid="110"/>
                                        </p:tgtEl>
                                      </p:cBhvr>
                                    </p:animEffect>
                                  </p:childTnLst>
                                </p:cTn>
                              </p:par>
                              <p:par>
                                <p:cTn id="42" presetID="10" presetClass="entr" presetSubtype="0" fill="hold" nodeType="with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4"/>
                                        </p:tgtEl>
                                        <p:attrNameLst>
                                          <p:attrName>style.visibility</p:attrName>
                                        </p:attrNameLst>
                                      </p:cBhvr>
                                      <p:to>
                                        <p:strVal val="visible"/>
                                      </p:to>
                                    </p:set>
                                    <p:animEffect transition="in" filter="fade">
                                      <p:cBhvr>
                                        <p:cTn id="50" dur="400"/>
                                        <p:tgtEl>
                                          <p:spTgt spid="114"/>
                                        </p:tgtEl>
                                      </p:cBhvr>
                                    </p:animEffect>
                                  </p:childTnLst>
                                </p:cTn>
                              </p:par>
                              <p:par>
                                <p:cTn id="51" presetID="10" presetClass="entr" presetSubtype="0" fill="hold" nodeType="withEffect">
                                  <p:stCondLst>
                                    <p:cond delay="0"/>
                                  </p:stCondLst>
                                  <p:childTnLst>
                                    <p:set>
                                      <p:cBhvr>
                                        <p:cTn id="52" dur="1" fill="hold">
                                          <p:stCondLst>
                                            <p:cond delay="0"/>
                                          </p:stCondLst>
                                        </p:cTn>
                                        <p:tgtEl>
                                          <p:spTgt spid="115"/>
                                        </p:tgtEl>
                                        <p:attrNameLst>
                                          <p:attrName>style.visibility</p:attrName>
                                        </p:attrNameLst>
                                      </p:cBhvr>
                                      <p:to>
                                        <p:strVal val="visible"/>
                                      </p:to>
                                    </p:set>
                                    <p:animEffect transition="in" filter="fade">
                                      <p:cBhvr>
                                        <p:cTn id="53" dur="400"/>
                                        <p:tgtEl>
                                          <p:spTgt spid="115"/>
                                        </p:tgtEl>
                                      </p:cBhvr>
                                    </p:animEffect>
                                  </p:childTnLst>
                                </p:cTn>
                              </p:par>
                              <p:par>
                                <p:cTn id="54" presetID="10" presetClass="entr" presetSubtype="0" fill="hold" nodeType="withEffect">
                                  <p:stCondLst>
                                    <p:cond delay="0"/>
                                  </p:stCondLst>
                                  <p:childTnLst>
                                    <p:set>
                                      <p:cBhvr>
                                        <p:cTn id="55" dur="1" fill="hold">
                                          <p:stCondLst>
                                            <p:cond delay="0"/>
                                          </p:stCondLst>
                                        </p:cTn>
                                        <p:tgtEl>
                                          <p:spTgt spid="116"/>
                                        </p:tgtEl>
                                        <p:attrNameLst>
                                          <p:attrName>style.visibility</p:attrName>
                                        </p:attrNameLst>
                                      </p:cBhvr>
                                      <p:to>
                                        <p:strVal val="visible"/>
                                      </p:to>
                                    </p:set>
                                    <p:animEffect transition="in" filter="fade">
                                      <p:cBhvr>
                                        <p:cTn id="56" dur="400"/>
                                        <p:tgtEl>
                                          <p:spTgt spid="116"/>
                                        </p:tgtEl>
                                      </p:cBhvr>
                                    </p:animEffect>
                                  </p:childTnLst>
                                </p:cTn>
                              </p:par>
                              <p:par>
                                <p:cTn id="57" presetID="10" presetClass="entr" presetSubtype="0" fill="hold" nodeType="withEffect">
                                  <p:stCondLst>
                                    <p:cond delay="0"/>
                                  </p:stCondLst>
                                  <p:childTnLst>
                                    <p:set>
                                      <p:cBhvr>
                                        <p:cTn id="58" dur="1" fill="hold">
                                          <p:stCondLst>
                                            <p:cond delay="0"/>
                                          </p:stCondLst>
                                        </p:cTn>
                                        <p:tgtEl>
                                          <p:spTgt spid="117"/>
                                        </p:tgtEl>
                                        <p:attrNameLst>
                                          <p:attrName>style.visibility</p:attrName>
                                        </p:attrNameLst>
                                      </p:cBhvr>
                                      <p:to>
                                        <p:strVal val="visible"/>
                                      </p:to>
                                    </p:set>
                                    <p:animEffect transition="in" filter="fade">
                                      <p:cBhvr>
                                        <p:cTn id="59" dur="400"/>
                                        <p:tgtEl>
                                          <p:spTgt spid="11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13"/>
                                        </p:tgtEl>
                                        <p:attrNameLst>
                                          <p:attrName>style.visibility</p:attrName>
                                        </p:attrNameLst>
                                      </p:cBhvr>
                                      <p:to>
                                        <p:strVal val="visible"/>
                                      </p:to>
                                    </p:set>
                                    <p:animEffect transition="in" filter="fade">
                                      <p:cBhvr>
                                        <p:cTn id="64" dur="400"/>
                                        <p:tgtEl>
                                          <p:spTgt spid="113"/>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62"/>
                                        </p:tgtEl>
                                        <p:attrNameLst>
                                          <p:attrName>style.visibility</p:attrName>
                                        </p:attrNameLst>
                                      </p:cBhvr>
                                      <p:to>
                                        <p:strVal val="visible"/>
                                      </p:to>
                                    </p:set>
                                    <p:animEffect transition="in" filter="fade">
                                      <p:cBhvr>
                                        <p:cTn id="69" dur="400"/>
                                        <p:tgtEl>
                                          <p:spTgt spid="62"/>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3"/>
                                        </p:tgtEl>
                                        <p:attrNameLst>
                                          <p:attrName>style.visibility</p:attrName>
                                        </p:attrNameLst>
                                      </p:cBhvr>
                                      <p:to>
                                        <p:strVal val="visible"/>
                                      </p:to>
                                    </p:set>
                                    <p:animEffect transition="in" filter="fade">
                                      <p:cBhvr>
                                        <p:cTn id="74"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82500"/>
          </a:bodyPr>
          <a:lstStyle/>
          <a:p>
            <a:pPr algn="ctr">
              <a:buNone/>
              <a:defRPr b="0"/>
            </a:pPr>
            <a:r>
              <a:rPr lang="en-US" sz="3600" b="0" i="0" dirty="0">
                <a:solidFill>
                  <a:srgbClr val="000000"/>
                </a:solidFill>
              </a:rPr>
              <a:t>How do we choose among</a:t>
            </a:r>
            <a:br>
              <a:rPr lang="en-US" sz="3600" b="0" i="0" dirty="0"/>
            </a:br>
            <a:r>
              <a:rPr lang="en-US" sz="3600" b="0" i="0" dirty="0">
                <a:solidFill>
                  <a:srgbClr val="000000"/>
                </a:solidFill>
              </a:rPr>
              <a:t>acceptable organizations?</a:t>
            </a:r>
          </a:p>
        </p:txBody>
      </p:sp>
      <p:sp>
        <p:nvSpPr>
          <p:cNvPr id="3" name="Slide Number Placeholder 2"/>
          <p:cNvSpPr>
            <a:spLocks noGrp="1"/>
          </p:cNvSpPr>
          <p:nvPr>
            <p:ph type="sldNum" sz="quarter" idx="4"/>
          </p:nvPr>
        </p:nvSpPr>
        <p:spPr/>
        <p:txBody>
          <a:bodyPr/>
          <a:lstStyle/>
          <a:p>
            <a:fld id="{B7EB45DA-9A0D-DC49-8E02-F30A5DDC21C3}" type="slidenum">
              <a:rPr lang="en-US" smtClean="0"/>
              <a:t>6</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is decision-making</a:t>
            </a:r>
            <a:br>
              <a:rPr lang="en-US" sz="2800"/>
            </a:br>
            <a:r>
              <a:rPr lang="en-US" sz="2800" b="0" i="0" dirty="0">
                <a:solidFill>
                  <a:srgbClr val="555960"/>
                </a:solidFill>
              </a:rPr>
              <a:t>under tradeoffs.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7</a:t>
            </a:fld>
            <a:endParaRPr lang="en-US"/>
          </a:p>
        </p:txBody>
      </p:sp>
      <p:sp>
        <p:nvSpPr>
          <p:cNvPr id="101" name="C101"/>
          <p:cNvSpPr/>
          <p:nvPr/>
        </p:nvSpPr>
        <p:spPr>
          <a:xfrm>
            <a:off x="3634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A</a:t>
            </a:r>
          </a:p>
        </p:txBody>
      </p:sp>
      <p:sp>
        <p:nvSpPr>
          <p:cNvPr id="102" name="C102"/>
          <p:cNvSpPr/>
          <p:nvPr/>
        </p:nvSpPr>
        <p:spPr>
          <a:xfrm>
            <a:off x="6009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B</a:t>
            </a:r>
          </a:p>
        </p:txBody>
      </p:sp>
      <p:sp>
        <p:nvSpPr>
          <p:cNvPr id="103" name="C103"/>
          <p:cNvSpPr/>
          <p:nvPr/>
        </p:nvSpPr>
        <p:spPr>
          <a:xfrm>
            <a:off x="759500" y="20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Latency</a:t>
            </a:r>
          </a:p>
        </p:txBody>
      </p:sp>
      <p:sp>
        <p:nvSpPr>
          <p:cNvPr id="104" name="C104"/>
          <p:cNvSpPr/>
          <p:nvPr/>
        </p:nvSpPr>
        <p:spPr>
          <a:xfrm>
            <a:off x="3634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~100 ms</a:t>
            </a:r>
          </a:p>
        </p:txBody>
      </p:sp>
      <p:sp>
        <p:nvSpPr>
          <p:cNvPr id="105" name="C105"/>
          <p:cNvSpPr/>
          <p:nvPr/>
        </p:nvSpPr>
        <p:spPr>
          <a:xfrm>
            <a:off x="6009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~180 ms</a:t>
            </a:r>
          </a:p>
        </p:txBody>
      </p:sp>
      <p:sp>
        <p:nvSpPr>
          <p:cNvPr id="106" name="C106"/>
          <p:cNvSpPr/>
          <p:nvPr/>
        </p:nvSpPr>
        <p:spPr>
          <a:xfrm>
            <a:off x="759500" y="26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107" name="C107"/>
          <p:cNvSpPr/>
          <p:nvPr/>
        </p:nvSpPr>
        <p:spPr>
          <a:xfrm>
            <a:off x="3634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8" name="C108"/>
          <p:cNvSpPr/>
          <p:nvPr/>
        </p:nvSpPr>
        <p:spPr>
          <a:xfrm>
            <a:off x="6009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9" name="C109"/>
          <p:cNvSpPr/>
          <p:nvPr/>
        </p:nvSpPr>
        <p:spPr>
          <a:xfrm>
            <a:off x="759500" y="33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t>
            </a:r>
          </a:p>
        </p:txBody>
      </p:sp>
      <p:sp>
        <p:nvSpPr>
          <p:cNvPr id="110" name="C110"/>
          <p:cNvSpPr/>
          <p:nvPr/>
        </p:nvSpPr>
        <p:spPr>
          <a:xfrm>
            <a:off x="3634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coupled</a:t>
            </a:r>
          </a:p>
        </p:txBody>
      </p:sp>
      <p:sp>
        <p:nvSpPr>
          <p:cNvPr id="111" name="C111"/>
          <p:cNvSpPr/>
          <p:nvPr/>
        </p:nvSpPr>
        <p:spPr>
          <a:xfrm>
            <a:off x="6009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local</a:t>
            </a:r>
          </a:p>
        </p:txBody>
      </p:sp>
      <p:sp>
        <p:nvSpPr>
          <p:cNvPr id="112" name="C112"/>
          <p:cNvSpPr/>
          <p:nvPr/>
        </p:nvSpPr>
        <p:spPr>
          <a:xfrm>
            <a:off x="759500" y="39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Availability</a:t>
            </a:r>
          </a:p>
        </p:txBody>
      </p:sp>
      <p:sp>
        <p:nvSpPr>
          <p:cNvPr id="113" name="C113"/>
          <p:cNvSpPr/>
          <p:nvPr/>
        </p:nvSpPr>
        <p:spPr>
          <a:xfrm>
            <a:off x="3634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higher</a:t>
            </a:r>
          </a:p>
        </p:txBody>
      </p:sp>
      <p:sp>
        <p:nvSpPr>
          <p:cNvPr id="114" name="C114"/>
          <p:cNvSpPr/>
          <p:nvPr/>
        </p:nvSpPr>
        <p:spPr>
          <a:xfrm>
            <a:off x="6009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lnSpcReduction="10000"/>
          </a:bodyPr>
          <a:lstStyle/>
          <a:p>
            <a:pPr algn="ctr">
              <a:buNone/>
            </a:pPr>
            <a:r>
              <a:rPr lang="en-US" sz="2800" b="1" i="0" dirty="0">
                <a:solidFill>
                  <a:srgbClr val="000000"/>
                </a:solidFill>
              </a:rPr>
              <a:t>WHICH ONE?</a:t>
            </a:r>
            <a:r>
              <a:rPr lang="en-US" sz="2800" b="1" i="0" dirty="0">
                <a:solidFill>
                  <a:srgbClr val="8E6F3E"/>
                </a:solidFill>
              </a:rPr>
              <a:t xml:space="preserve">    ·    </a:t>
            </a:r>
            <a:r>
              <a:rPr lang="en-US" sz="2800" b="1" i="0" dirty="0">
                <a:solidFill>
                  <a:srgbClr val="000000"/>
                </a:solidFill>
              </a:rPr>
              <a:t>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400"/>
                                        <p:tgtEl>
                                          <p:spTgt spid="104"/>
                                        </p:tgtEl>
                                      </p:cBhvr>
                                    </p:animEffect>
                                  </p:childTnLst>
                                </p:cTn>
                              </p:par>
                              <p:par>
                                <p:cTn id="17" presetID="10" presetClass="entr" presetSubtype="0" fill="hold" nodeType="withEffect">
                                  <p:stCondLst>
                                    <p:cond delay="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400"/>
                                        <p:tgtEl>
                                          <p:spTgt spid="105"/>
                                        </p:tgtEl>
                                      </p:cBhvr>
                                    </p:animEffect>
                                  </p:childTnLst>
                                </p:cTn>
                              </p:par>
                              <p:par>
                                <p:cTn id="20" presetID="10" presetClass="entr" presetSubtype="0" fill="hold" nodeType="withEffect">
                                  <p:stCondLst>
                                    <p:cond delay="0"/>
                                  </p:stCondLst>
                                  <p:childTnLst>
                                    <p:set>
                                      <p:cBhvr>
                                        <p:cTn id="21" dur="1" fill="hold">
                                          <p:stCondLst>
                                            <p:cond delay="0"/>
                                          </p:stCondLst>
                                        </p:cTn>
                                        <p:tgtEl>
                                          <p:spTgt spid="106"/>
                                        </p:tgtEl>
                                        <p:attrNameLst>
                                          <p:attrName>style.visibility</p:attrName>
                                        </p:attrNameLst>
                                      </p:cBhvr>
                                      <p:to>
                                        <p:strVal val="visible"/>
                                      </p:to>
                                    </p:set>
                                    <p:animEffect transition="in" filter="fade">
                                      <p:cBhvr>
                                        <p:cTn id="22" dur="400"/>
                                        <p:tgtEl>
                                          <p:spTgt spid="106"/>
                                        </p:tgtEl>
                                      </p:cBhvr>
                                    </p:animEffect>
                                  </p:childTnLst>
                                </p:cTn>
                              </p:par>
                              <p:par>
                                <p:cTn id="23" presetID="10" presetClass="entr" presetSubtype="0" fill="hold" nodeType="withEffect">
                                  <p:stCondLst>
                                    <p:cond delay="0"/>
                                  </p:stCondLst>
                                  <p:childTnLst>
                                    <p:set>
                                      <p:cBhvr>
                                        <p:cTn id="24" dur="1" fill="hold">
                                          <p:stCondLst>
                                            <p:cond delay="0"/>
                                          </p:stCondLst>
                                        </p:cTn>
                                        <p:tgtEl>
                                          <p:spTgt spid="107"/>
                                        </p:tgtEl>
                                        <p:attrNameLst>
                                          <p:attrName>style.visibility</p:attrName>
                                        </p:attrNameLst>
                                      </p:cBhvr>
                                      <p:to>
                                        <p:strVal val="visible"/>
                                      </p:to>
                                    </p:set>
                                    <p:animEffect transition="in" filter="fade">
                                      <p:cBhvr>
                                        <p:cTn id="25" dur="400"/>
                                        <p:tgtEl>
                                          <p:spTgt spid="107"/>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9"/>
                                        </p:tgtEl>
                                        <p:attrNameLst>
                                          <p:attrName>style.visibility</p:attrName>
                                        </p:attrNameLst>
                                      </p:cBhvr>
                                      <p:to>
                                        <p:strVal val="visible"/>
                                      </p:to>
                                    </p:set>
                                    <p:animEffect transition="in" filter="fade">
                                      <p:cBhvr>
                                        <p:cTn id="31" dur="400"/>
                                        <p:tgtEl>
                                          <p:spTgt spid="109"/>
                                        </p:tgtEl>
                                      </p:cBhvr>
                                    </p:animEffect>
                                  </p:childTnLst>
                                </p:cTn>
                              </p:par>
                              <p:par>
                                <p:cTn id="32" presetID="10" presetClass="entr" presetSubtype="0" fill="hold" nodeType="withEffect">
                                  <p:stCondLst>
                                    <p:cond delay="0"/>
                                  </p:stCondLst>
                                  <p:childTnLst>
                                    <p:set>
                                      <p:cBhvr>
                                        <p:cTn id="33" dur="1" fill="hold">
                                          <p:stCondLst>
                                            <p:cond delay="0"/>
                                          </p:stCondLst>
                                        </p:cTn>
                                        <p:tgtEl>
                                          <p:spTgt spid="110"/>
                                        </p:tgtEl>
                                        <p:attrNameLst>
                                          <p:attrName>style.visibility</p:attrName>
                                        </p:attrNameLst>
                                      </p:cBhvr>
                                      <p:to>
                                        <p:strVal val="visible"/>
                                      </p:to>
                                    </p:set>
                                    <p:animEffect transition="in" filter="fade">
                                      <p:cBhvr>
                                        <p:cTn id="34" dur="400"/>
                                        <p:tgtEl>
                                          <p:spTgt spid="110"/>
                                        </p:tgtEl>
                                      </p:cBhvr>
                                    </p:animEffect>
                                  </p:childTnLst>
                                </p:cTn>
                              </p:par>
                              <p:par>
                                <p:cTn id="35" presetID="10" presetClass="entr" presetSubtype="0" fill="hold" nodeType="withEffect">
                                  <p:stCondLst>
                                    <p:cond delay="0"/>
                                  </p:stCondLst>
                                  <p:childTnLst>
                                    <p:set>
                                      <p:cBhvr>
                                        <p:cTn id="36" dur="1" fill="hold">
                                          <p:stCondLst>
                                            <p:cond delay="0"/>
                                          </p:stCondLst>
                                        </p:cTn>
                                        <p:tgtEl>
                                          <p:spTgt spid="111"/>
                                        </p:tgtEl>
                                        <p:attrNameLst>
                                          <p:attrName>style.visibility</p:attrName>
                                        </p:attrNameLst>
                                      </p:cBhvr>
                                      <p:to>
                                        <p:strVal val="visible"/>
                                      </p:to>
                                    </p:set>
                                    <p:animEffect transition="in" filter="fade">
                                      <p:cBhvr>
                                        <p:cTn id="37" dur="400"/>
                                        <p:tgtEl>
                                          <p:spTgt spid="111"/>
                                        </p:tgtEl>
                                      </p:cBhvr>
                                    </p:animEffect>
                                  </p:childTnLst>
                                </p:cTn>
                              </p:par>
                              <p:par>
                                <p:cTn id="38" presetID="10" presetClass="entr" presetSubtype="0" fill="hold" nodeType="with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82"/>
                                        </p:tgtEl>
                                        <p:attrNameLst>
                                          <p:attrName>style.visibility</p:attrName>
                                        </p:attrNameLst>
                                      </p:cBhvr>
                                      <p:to>
                                        <p:strVal val="visible"/>
                                      </p:to>
                                    </p:set>
                                    <p:animEffect transition="in" filter="fade">
                                      <p:cBhvr>
                                        <p:cTn id="51" dur="400"/>
                                        <p:tgtEl>
                                          <p:spTgt spid="8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0"/>
                                        </p:tgtEl>
                                        <p:attrNameLst>
                                          <p:attrName>style.visibility</p:attrName>
                                        </p:attrNameLst>
                                      </p:cBhvr>
                                      <p:to>
                                        <p:strVal val="visible"/>
                                      </p:to>
                                    </p:set>
                                    <p:animEffect transition="in" filter="fade">
                                      <p:cBhvr>
                                        <p:cTn id="56" dur="400"/>
                                        <p:tgtEl>
                                          <p:spTgt spid="80"/>
                                        </p:tgtEl>
                                      </p:cBhvr>
                                    </p:animEffect>
                                  </p:childTnLst>
                                </p:cTn>
                              </p:par>
                              <p:par>
                                <p:cTn id="57" presetID="10" presetClass="entr" presetSubtype="0" fill="hold" nodeType="withEffect">
                                  <p:stCondLst>
                                    <p:cond delay="0"/>
                                  </p:stCondLst>
                                  <p:childTnLst>
                                    <p:set>
                                      <p:cBhvr>
                                        <p:cTn id="58" dur="1" fill="hold">
                                          <p:stCondLst>
                                            <p:cond delay="0"/>
                                          </p:stCondLst>
                                        </p:cTn>
                                        <p:tgtEl>
                                          <p:spTgt spid="81"/>
                                        </p:tgtEl>
                                        <p:attrNameLst>
                                          <p:attrName>style.visibility</p:attrName>
                                        </p:attrNameLst>
                                      </p:cBhvr>
                                      <p:to>
                                        <p:strVal val="visible"/>
                                      </p:to>
                                    </p:set>
                                    <p:animEffect transition="in" filter="fade">
                                      <p:cBhvr>
                                        <p:cTn id="59"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The decision matrix says architecture A wins, 3.95 to 3.70</a:t>
            </a:r>
          </a:p>
        </p:txBody>
      </p:sp>
      <p:sp>
        <p:nvSpPr>
          <p:cNvPr id="3" name="Slide Number Placeholder 2"/>
          <p:cNvSpPr>
            <a:spLocks noGrp="1"/>
          </p:cNvSpPr>
          <p:nvPr>
            <p:ph type="sldNum" sz="quarter" idx="4"/>
          </p:nvPr>
        </p:nvSpPr>
        <p:spPr/>
        <p:txBody>
          <a:bodyPr/>
          <a:lstStyle/>
          <a:p>
            <a:fld id="{B7EB45DA-9A0D-DC49-8E02-F30A5DDC21C3}" type="slidenum">
              <a:rPr lang="en-US" smtClean="0"/>
              <a:t>8</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A WINS</a:t>
            </a:r>
          </a:p>
        </p:txBody>
      </p:sp>
      <p:sp>
        <p:nvSpPr>
          <p:cNvPr id="92" name="T92"/>
          <p:cNvSpPr txBox="1"/>
          <p:nvPr/>
        </p:nvSpPr>
        <p:spPr>
          <a:xfrm>
            <a:off x="685800" y="5750000"/>
            <a:ext cx="7772400" cy="500000"/>
          </a:xfrm>
          <a:prstGeom prst="rect">
            <a:avLst/>
          </a:prstGeom>
          <a:noFill/>
          <a:ln>
            <a:noFill/>
          </a:ln>
        </p:spPr>
        <p:txBody>
          <a:bodyPr wrap="square" lIns="0" tIns="0" rIns="0" bIns="0" anchor="t">
            <a:normAutofit fontScale="85000" lnSpcReduction="20000"/>
          </a:bodyPr>
          <a:lstStyle/>
          <a:p>
            <a:pPr algn="ctr">
              <a:buNone/>
            </a:pPr>
            <a:r>
              <a:rPr lang="en-US" sz="2300" b="0" i="1" dirty="0">
                <a:solidFill>
                  <a:srgbClr val="000000"/>
                </a:solidFill>
              </a:rPr>
              <a:t>This is not measurement merely</a:t>
            </a:r>
            <a:br>
              <a:rPr lang="en-US" sz="2300" b="0" i="1" dirty="0">
                <a:solidFill>
                  <a:srgbClr val="000000"/>
                </a:solidFill>
              </a:rPr>
            </a:br>
            <a:r>
              <a:rPr lang="en-US" sz="2300" b="0" i="1" dirty="0">
                <a:solidFill>
                  <a:srgbClr val="000000"/>
                </a:solidFill>
              </a:rPr>
              <a:t>because a spreadsheet produced a number.</a:t>
            </a:r>
          </a:p>
        </p:txBody>
      </p:sp>
      <p:sp>
        <p:nvSpPr>
          <p:cNvPr id="120" name="Callout1"/>
          <p:cNvSpPr/>
          <p:nvPr/>
        </p:nvSpPr>
        <p:spPr>
          <a:xfrm>
            <a:off x="100000" y="1350000"/>
            <a:ext cx="1150000" cy="52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200" b="1" i="0" dirty="0">
                <a:solidFill>
                  <a:srgbClr val="B23B3B"/>
                </a:solidFill>
              </a:rPr>
              <a:t>WHY .30?</a:t>
            </a:r>
          </a:p>
        </p:txBody>
      </p:sp>
      <p:cxnSp>
        <p:nvCxnSpPr>
          <p:cNvPr id="121" name="CalloutArw1"/>
          <p:cNvCxnSpPr/>
          <p:nvPr/>
        </p:nvCxnSpPr>
        <p:spPr>
          <a:xfrm>
            <a:off x="1270000" y="1620000"/>
            <a:ext cx="2100000" cy="380000"/>
          </a:xfrm>
          <a:prstGeom prst="line">
            <a:avLst/>
          </a:prstGeom>
          <a:ln w="12700">
            <a:solidFill>
              <a:srgbClr val="B23B3B"/>
            </a:solidFill>
            <a:tailEnd type="triangle" w="sm" len="sm"/>
          </a:ln>
        </p:spPr>
      </p:cxnSp>
      <p:sp>
        <p:nvSpPr>
          <p:cNvPr id="122" name="Callout2"/>
          <p:cNvSpPr/>
          <p:nvPr/>
        </p:nvSpPr>
        <p:spPr>
          <a:xfrm>
            <a:off x="7560000" y="1150000"/>
            <a:ext cx="1520000" cy="640000"/>
          </a:xfrm>
          <a:prstGeom prst="roundRect">
            <a:avLst/>
          </a:prstGeom>
          <a:solidFill>
            <a:srgbClr val="F5F0E6"/>
          </a:solidFill>
          <a:ln w="12700">
            <a:solidFill>
              <a:srgbClr val="B23B3B"/>
            </a:solidFill>
          </a:ln>
        </p:spPr>
        <p:txBody>
          <a:bodyPr wrap="square" lIns="54864" tIns="27432" rIns="54864" bIns="27432" anchor="ctr">
            <a:normAutofit lnSpcReduction="10000"/>
          </a:bodyPr>
          <a:lstStyle/>
          <a:p>
            <a:pPr algn="ctr">
              <a:buNone/>
            </a:pPr>
            <a:r>
              <a:rPr lang="en-US" sz="1200" b="1" i="0" dirty="0">
                <a:solidFill>
                  <a:srgbClr val="B23B3B"/>
                </a:solidFill>
              </a:rPr>
              <a:t>WHAT IS</a:t>
            </a:r>
          </a:p>
          <a:p>
            <a:pPr algn="ctr">
              <a:spcBef>
                <a:spcPts val="300"/>
              </a:spcBef>
              <a:buNone/>
            </a:pPr>
            <a:r>
              <a:rPr lang="en-US" sz="1200" b="1" i="0" dirty="0">
                <a:solidFill>
                  <a:srgbClr val="B23B3B"/>
                </a:solidFill>
              </a:rPr>
              <a:t>A “5”?</a:t>
            </a:r>
          </a:p>
        </p:txBody>
      </p:sp>
      <p:cxnSp>
        <p:nvCxnSpPr>
          <p:cNvPr id="123" name="CalloutArw2"/>
          <p:cNvCxnSpPr/>
          <p:nvPr/>
        </p:nvCxnSpPr>
        <p:spPr>
          <a:xfrm flipH="1">
            <a:off x="6040000" y="1785000"/>
            <a:ext cx="1620000" cy="55000"/>
          </a:xfrm>
          <a:prstGeom prst="line">
            <a:avLst/>
          </a:prstGeom>
          <a:ln w="12700">
            <a:solidFill>
              <a:srgbClr val="B23B3B"/>
            </a:solidFill>
            <a:tailEnd type="triangle" w="sm" len="sm"/>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700000"/>
            <a:ext cx="1420000" cy="1250000"/>
          </a:xfrm>
          <a:prstGeom prst="roundRect">
            <a:avLst/>
          </a:prstGeom>
          <a:solidFill>
            <a:srgbClr val="F5F0E6"/>
          </a:solidFill>
          <a:ln w="12700">
            <a:solidFill>
              <a:srgbClr val="B23B3B"/>
            </a:solidFill>
          </a:ln>
        </p:spPr>
        <p:txBody>
          <a:bodyPr wrap="square" lIns="45720" tIns="27432" rIns="45720" bIns="27432" anchor="ctr">
            <a:normAutofit/>
          </a:bodyPr>
          <a:lstStyle/>
          <a:p>
            <a:pPr algn="ctr">
              <a:buNone/>
            </a:pPr>
            <a:r>
              <a:rPr lang="en-US" sz="1200" b="1" i="0" dirty="0">
                <a:solidFill>
                  <a:srgbClr val="B23B3B"/>
                </a:solidFill>
              </a:rPr>
              <a:t>WHY MAY COST</a:t>
            </a:r>
          </a:p>
          <a:p>
            <a:pPr algn="ctr">
              <a:spcBef>
                <a:spcPts val="300"/>
              </a:spcBef>
              <a:buNone/>
            </a:pPr>
            <a:r>
              <a:rPr lang="en-US" sz="1200" b="1" i="0" dirty="0">
                <a:solidFill>
                  <a:srgbClr val="B23B3B"/>
                </a:solidFill>
              </a:rPr>
              <a:t>COMPENSATE FOR</a:t>
            </a:r>
          </a:p>
          <a:p>
            <a:pPr algn="ctr">
              <a:spcBef>
                <a:spcPts val="300"/>
              </a:spcBef>
              <a:buNone/>
            </a:pPr>
            <a:r>
              <a:rPr lang="en-US" sz="1200" b="1" i="0" dirty="0">
                <a:solidFill>
                  <a:srgbClr val="B23B3B"/>
                </a:solidFill>
              </a:rPr>
              <a:t>RELIABILITY?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2"/>
                                        </p:tgtEl>
                                        <p:attrNameLst>
                                          <p:attrName>style.visibility</p:attrName>
                                        </p:attrNameLst>
                                      </p:cBhvr>
                                      <p:to>
                                        <p:strVal val="visible"/>
                                      </p:to>
                                    </p:set>
                                    <p:animEffect transition="in" filter="fade">
                                      <p:cBhvr>
                                        <p:cTn id="10" dur="400"/>
                                        <p:tgtEl>
                                          <p:spTgt spid="82"/>
                                        </p:tgtEl>
                                      </p:cBhvr>
                                    </p:animEffect>
                                  </p:childTnLst>
                                </p:cTn>
                              </p:par>
                              <p:par>
                                <p:cTn id="11" presetID="10" presetClass="entr" presetSubtype="0" fill="hold" nodeType="withEffect">
                                  <p:stCondLst>
                                    <p:cond delay="0"/>
                                  </p:stCondLst>
                                  <p:childTnLst>
                                    <p:set>
                                      <p:cBhvr>
                                        <p:cTn id="12" dur="1" fill="hold">
                                          <p:stCondLst>
                                            <p:cond delay="0"/>
                                          </p:stCondLst>
                                        </p:cTn>
                                        <p:tgtEl>
                                          <p:spTgt spid="83"/>
                                        </p:tgtEl>
                                        <p:attrNameLst>
                                          <p:attrName>style.visibility</p:attrName>
                                        </p:attrNameLst>
                                      </p:cBhvr>
                                      <p:to>
                                        <p:strVal val="visible"/>
                                      </p:to>
                                    </p:set>
                                    <p:animEffect transition="in" filter="fade">
                                      <p:cBhvr>
                                        <p:cTn id="13" dur="400"/>
                                        <p:tgtEl>
                                          <p:spTgt spid="83"/>
                                        </p:tgtEl>
                                      </p:cBhvr>
                                    </p:animEffect>
                                  </p:childTnLst>
                                </p:cTn>
                              </p:par>
                              <p:par>
                                <p:cTn id="14" presetID="10" presetClass="entr" presetSubtype="0" fill="hold" nodeType="withEffect">
                                  <p:stCondLst>
                                    <p:cond delay="0"/>
                                  </p:stCondLst>
                                  <p:childTnLst>
                                    <p:set>
                                      <p:cBhvr>
                                        <p:cTn id="15" dur="1" fill="hold">
                                          <p:stCondLst>
                                            <p:cond delay="0"/>
                                          </p:stCondLst>
                                        </p:cTn>
                                        <p:tgtEl>
                                          <p:spTgt spid="90"/>
                                        </p:tgtEl>
                                        <p:attrNameLst>
                                          <p:attrName>style.visibility</p:attrName>
                                        </p:attrNameLst>
                                      </p:cBhvr>
                                      <p:to>
                                        <p:strVal val="visible"/>
                                      </p:to>
                                    </p:set>
                                    <p:animEffect transition="in" filter="fade">
                                      <p:cBhvr>
                                        <p:cTn id="16" dur="400"/>
                                        <p:tgtEl>
                                          <p:spTgt spid="9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4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400"/>
                                        <p:tgtEl>
                                          <p:spTgt spid="12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4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23"/>
                                        </p:tgtEl>
                                        <p:attrNameLst>
                                          <p:attrName>style.visibility</p:attrName>
                                        </p:attrNameLst>
                                      </p:cBhvr>
                                      <p:to>
                                        <p:strVal val="visible"/>
                                      </p:to>
                                    </p:set>
                                    <p:animEffect transition="in" filter="fade">
                                      <p:cBhvr>
                                        <p:cTn id="32" dur="400"/>
                                        <p:tgtEl>
                                          <p:spTgt spid="1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4"/>
                                        </p:tgtEl>
                                        <p:attrNameLst>
                                          <p:attrName>style.visibility</p:attrName>
                                        </p:attrNameLst>
                                      </p:cBhvr>
                                      <p:to>
                                        <p:strVal val="visible"/>
                                      </p:to>
                                    </p:set>
                                    <p:animEffect transition="in" filter="fade">
                                      <p:cBhvr>
                                        <p:cTn id="37" dur="400"/>
                                        <p:tgtEl>
                                          <p:spTgt spid="124"/>
                                        </p:tgtEl>
                                      </p:cBhvr>
                                    </p:animEffect>
                                  </p:childTnLst>
                                </p:cTn>
                              </p:par>
                              <p:par>
                                <p:cTn id="38" presetID="10" presetClass="entr" presetSubtype="0" fill="hold" nodeType="withEffect">
                                  <p:stCondLst>
                                    <p:cond delay="0"/>
                                  </p:stCondLst>
                                  <p:childTnLst>
                                    <p:set>
                                      <p:cBhvr>
                                        <p:cTn id="39" dur="1" fill="hold">
                                          <p:stCondLst>
                                            <p:cond delay="0"/>
                                          </p:stCondLst>
                                        </p:cTn>
                                        <p:tgtEl>
                                          <p:spTgt spid="125"/>
                                        </p:tgtEl>
                                        <p:attrNameLst>
                                          <p:attrName>style.visibility</p:attrName>
                                        </p:attrNameLst>
                                      </p:cBhvr>
                                      <p:to>
                                        <p:strVal val="visible"/>
                                      </p:to>
                                    </p:set>
                                    <p:animEffect transition="in" filter="fade">
                                      <p:cBhvr>
                                        <p:cTn id="40" dur="400"/>
                                        <p:tgtEl>
                                          <p:spTgt spid="12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92"/>
                                        </p:tgtEl>
                                        <p:attrNameLst>
                                          <p:attrName>style.visibility</p:attrName>
                                        </p:attrNameLst>
                                      </p:cBhvr>
                                      <p:to>
                                        <p:strVal val="visible"/>
                                      </p:to>
                                    </p:set>
                                    <p:animEffect transition="in" filter="fade">
                                      <p:cBhvr>
                                        <p:cTn id="45"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9</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fontScale="92500" lnSpcReduction="20000"/>
          </a:bodyPr>
          <a:lstStyle/>
          <a:p>
            <a:pPr algn="ctr">
              <a:buNone/>
            </a:pPr>
            <a:r>
              <a:rPr lang="en-US" sz="2500" b="1" i="0" dirty="0">
                <a:solidFill>
                  <a:srgbClr val="000000"/>
                </a:solidFill>
              </a:rPr>
              <a:t>Constraints are not objectives.</a:t>
            </a:r>
          </a:p>
          <a:p>
            <a:pPr algn="ctr">
              <a:spcBef>
                <a:spcPts val="230"/>
              </a:spcBef>
              <a:buNone/>
            </a:pPr>
            <a:r>
              <a:rPr lang="en-US" sz="2400" b="0" i="1" dirty="0">
                <a:solidFill>
                  <a:srgbClr val="000000"/>
                </a:solidFill>
              </a:rPr>
              <a:t>Neither operation required us to decide what we prefer.</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A</a:t>
            </a:r>
          </a:p>
          <a:p>
            <a:pPr algn="ctr">
              <a:spcBef>
                <a:spcPts val="480"/>
              </a:spcBef>
              <a:buNone/>
            </a:pPr>
            <a:r>
              <a:rPr lang="en-US" sz="2600" b="1" i="0" dirty="0">
                <a:solidFill>
                  <a:srgbClr val="1F7A4D"/>
                </a:solidFill>
              </a:rPr>
              <a:t>✓</a:t>
            </a:r>
          </a:p>
        </p:txBody>
      </p:sp>
      <p:sp>
        <p:nvSpPr>
          <p:cNvPr id="102" name="S1B"/>
          <p:cNvSpPr/>
          <p:nvPr/>
        </p:nvSpPr>
        <p:spPr>
          <a:xfrm>
            <a:off x="1354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B</a:t>
            </a:r>
          </a:p>
          <a:p>
            <a:pPr algn="ctr">
              <a:buNone/>
            </a:pPr>
            <a:endParaRPr lang="en-US" sz="2800"/>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C</a:t>
            </a:r>
          </a:p>
          <a:p>
            <a:pPr algn="ctr">
              <a:spcBef>
                <a:spcPts val="480"/>
              </a:spcBef>
              <a:buNone/>
            </a:pPr>
            <a:r>
              <a:rPr lang="en-US" sz="2600" b="1" i="0" dirty="0">
                <a:solidFill>
                  <a:srgbClr val="1F7A4D"/>
                </a:solidFill>
              </a:rPr>
              <a:t>✓</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D</a:t>
            </a:r>
          </a:p>
          <a:p>
            <a:pPr algn="ctr">
              <a:spcBef>
                <a:spcPts val="480"/>
              </a:spcBef>
              <a:buNone/>
            </a:pPr>
            <a:r>
              <a:rPr lang="en-US" sz="2600" b="1" i="0" dirty="0">
                <a:solidFill>
                  <a:srgbClr val="1F7A4D"/>
                </a:solidFill>
              </a:rPr>
              <a:t>✓</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B23B3B"/>
                </a:solidFill>
              </a:rPr>
              <a:t>B violates</a:t>
            </a:r>
          </a:p>
          <a:p>
            <a:pPr algn="ctr">
              <a:spcBef>
                <a:spcPts val="480"/>
              </a:spcBef>
              <a:buNone/>
            </a:pPr>
            <a:r>
              <a:rPr lang="en-US" sz="2000" b="0" i="1" dirty="0">
                <a:solidFill>
                  <a:srgbClr val="B23B3B"/>
                </a:solidFill>
              </a:rPr>
              <a:t>required latency</a:t>
            </a:r>
          </a:p>
        </p:txBody>
      </p:sp>
      <p:cxnSp>
        <p:nvCxnSpPr>
          <p:cNvPr id="106" name="Div"/>
          <p:cNvCxnSpPr/>
          <p:nvPr/>
        </p:nvCxnSpPr>
        <p:spPr>
          <a:xfrm>
            <a:off x="4600000" y="1350000"/>
            <a:ext cx="0" cy="2950000"/>
          </a:xfrm>
          <a:prstGeom prst="line">
            <a:avLst/>
          </a:prstGeom>
          <a:ln w="28575">
            <a:solidFill>
              <a:srgbClr val="C9B991"/>
            </a:solidFill>
            <a:prstDash val="dash"/>
          </a:ln>
        </p:spPr>
      </p:cxnSp>
      <p:sp>
        <p:nvSpPr>
          <p:cNvPr id="107" name="S2Lbl"/>
          <p:cNvSpPr txBox="1"/>
          <p:nvPr/>
        </p:nvSpPr>
        <p:spPr>
          <a:xfrm>
            <a:off x="49500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2 — DOMINANCE</a:t>
            </a:r>
          </a:p>
        </p:txBody>
      </p:sp>
      <p:cxnSp>
        <p:nvCxnSpPr>
          <p:cNvPr id="108" name="AxX"/>
          <p:cNvCxnSpPr/>
          <p:nvPr/>
        </p:nvCxnSpPr>
        <p:spPr>
          <a:xfrm>
            <a:off x="4868750" y="4525000"/>
            <a:ext cx="4062500" cy="0"/>
          </a:xfrm>
          <a:prstGeom prst="line">
            <a:avLst/>
          </a:prstGeom>
          <a:ln w="53577">
            <a:solidFill>
              <a:srgbClr val="8E6F3E"/>
            </a:solidFill>
            <a:tailEnd type="triangle" w="med" len="med"/>
          </a:ln>
        </p:spPr>
      </p:cxnSp>
      <p:cxnSp>
        <p:nvCxnSpPr>
          <p:cNvPr id="109" name="AxY"/>
          <p:cNvCxnSpPr/>
          <p:nvPr/>
        </p:nvCxnSpPr>
        <p:spPr>
          <a:xfrm flipV="1">
            <a:off x="4868750" y="1587500"/>
            <a:ext cx="0" cy="2937500"/>
          </a:xfrm>
          <a:prstGeom prst="line">
            <a:avLst/>
          </a:prstGeom>
          <a:ln w="53577">
            <a:solidFill>
              <a:srgbClr val="8E6F3E"/>
            </a:solidFill>
            <a:tailEnd type="triangle" w="med" len="med"/>
          </a:ln>
        </p:spPr>
      </p:cxnSp>
      <p:sp>
        <p:nvSpPr>
          <p:cNvPr id="110" name="AxXLbl"/>
          <p:cNvSpPr txBox="1"/>
          <p:nvPr/>
        </p:nvSpPr>
        <p:spPr>
          <a:xfrm>
            <a:off x="7700000" y="4620000"/>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better →</a:t>
            </a:r>
          </a:p>
        </p:txBody>
      </p:sp>
      <p:sp>
        <p:nvSpPr>
          <p:cNvPr id="111" name="AxYLbl"/>
          <p:cNvSpPr txBox="1"/>
          <p:nvPr/>
        </p:nvSpPr>
        <p:spPr>
          <a:xfrm rot="-5400000">
            <a:off x="4020000" y="2875000"/>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better →</a:t>
            </a:r>
          </a:p>
        </p:txBody>
      </p:sp>
      <p:sp>
        <p:nvSpPr>
          <p:cNvPr id="112" name="DomRegion"/>
          <p:cNvSpPr/>
          <p:nvPr/>
        </p:nvSpPr>
        <p:spPr>
          <a:xfrm>
            <a:off x="4868750" y="246250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625000" y="2343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4" name="PtLblA"/>
          <p:cNvSpPr txBox="1"/>
          <p:nvPr/>
        </p:nvSpPr>
        <p:spPr>
          <a:xfrm>
            <a:off x="7881250" y="2100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A</a:t>
            </a:r>
          </a:p>
        </p:txBody>
      </p:sp>
      <p:sp>
        <p:nvSpPr>
          <p:cNvPr id="115" name="PtC"/>
          <p:cNvSpPr/>
          <p:nvPr/>
        </p:nvSpPr>
        <p:spPr>
          <a:xfrm>
            <a:off x="5625000" y="1718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6" name="PtLblC"/>
          <p:cNvSpPr txBox="1"/>
          <p:nvPr/>
        </p:nvSpPr>
        <p:spPr>
          <a:xfrm>
            <a:off x="5881250" y="1475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C</a:t>
            </a:r>
          </a:p>
        </p:txBody>
      </p:sp>
      <p:sp>
        <p:nvSpPr>
          <p:cNvPr id="120" name="PtDBase"/>
          <p:cNvSpPr/>
          <p:nvPr/>
        </p:nvSpPr>
        <p:spPr>
          <a:xfrm>
            <a:off x="6625000" y="34062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7" name="PtD"/>
          <p:cNvSpPr/>
          <p:nvPr/>
        </p:nvSpPr>
        <p:spPr>
          <a:xfrm>
            <a:off x="6625000" y="3406250"/>
            <a:ext cx="237500" cy="237500"/>
          </a:xfrm>
          <a:prstGeom prst="ellipse">
            <a:avLst/>
          </a:prstGeom>
          <a:solidFill>
            <a:srgbClr val="B23B3B"/>
          </a:solidFill>
          <a:ln>
            <a:noFill/>
          </a:ln>
        </p:spPr>
        <p:txBody>
          <a:bodyPr wrap="square" lIns="54864" tIns="27432" rIns="54864" bIns="27432" anchor="ctr">
            <a:normAutofit fontScale="47500" lnSpcReduction="20000"/>
          </a:bodyPr>
          <a:lstStyle/>
          <a:p>
            <a:endParaRPr/>
          </a:p>
        </p:txBody>
      </p:sp>
      <p:sp>
        <p:nvSpPr>
          <p:cNvPr id="121" name="PtLblDBase"/>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D</a:t>
            </a:r>
          </a:p>
        </p:txBody>
      </p:sp>
      <p:sp>
        <p:nvSpPr>
          <p:cNvPr id="118" name="PtLblD"/>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B23B3B"/>
                </a:solidFill>
              </a:rPr>
              <a:t>D</a:t>
            </a:r>
          </a:p>
        </p:txBody>
      </p:sp>
      <p:sp>
        <p:nvSpPr>
          <p:cNvPr id="119" name="DomLbl"/>
          <p:cNvSpPr txBox="1"/>
          <p:nvPr/>
        </p:nvSpPr>
        <p:spPr>
          <a:xfrm>
            <a:off x="5050000" y="390000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D is dominated by A</a:t>
            </a:r>
          </a:p>
        </p:txBody>
      </p:sp>
      <p:sp>
        <p:nvSpPr>
          <p:cNvPr id="130" name="S1BRejectRing"/>
          <p:cNvSpPr/>
          <p:nvPr/>
        </p:nvSpPr>
        <p:spPr>
          <a:xfrm>
            <a:off x="1354000" y="1880000"/>
            <a:ext cx="936000" cy="1020000"/>
          </a:xfrm>
          <a:prstGeom prst="rect">
            <a:avLst/>
          </a:prstGeom>
          <a:noFill/>
          <a:ln w="22860">
            <a:solidFill>
              <a:srgbClr val="B23B3B"/>
            </a:solidFill>
          </a:ln>
        </p:spPr>
        <p:txBody>
          <a:bodyPr wrap="square" lIns="54864" tIns="27432" rIns="54864" bIns="27432" anchor="ctr">
            <a:normAutofit/>
          </a:bodyPr>
          <a:lstStyle/>
        </p:txBody>
      </p:sp>
      <p:sp>
        <p:nvSpPr>
          <p:cNvPr id="131" name="S1BRejectX"/>
          <p:cNvSpPr txBox="1"/>
          <p:nvPr/>
        </p:nvSpPr>
        <p:spPr>
          <a:xfrm>
            <a:off x="1354000" y="2280000"/>
            <a:ext cx="936000" cy="560000"/>
          </a:xfrm>
          <a:prstGeom prst="rect">
            <a:avLst/>
          </a:prstGeom>
          <a:noFill/>
          <a:ln>
            <a:noFill/>
          </a:ln>
        </p:spPr>
        <p:txBody>
          <a:bodyPr wrap="square" lIns="0" tIns="0" rIns="0" bIns="0" anchor="ctr">
            <a:normAutofit/>
          </a:bodyPr>
          <a:lstStyle/>
          <a:p>
            <a:pPr algn="ctr">
              <a:spcBef>
                <a:spcPts val="480"/>
              </a:spcBef>
              <a:buNone/>
            </a:pPr>
            <a:r>
              <a:rPr lang="en-US" sz="2600" b="1" i="0" dirty="0">
                <a:solidFill>
                  <a:srgbClr val="B23B3B"/>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400"/>
                                        <p:tgtEl>
                                          <p:spTgt spid="130"/>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400"/>
                                        <p:tgtEl>
                                          <p:spTgt spid="1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6"/>
                                        </p:tgtEl>
                                        <p:attrNameLst>
                                          <p:attrName>style.visibility</p:attrName>
                                        </p:attrNameLst>
                                      </p:cBhvr>
                                      <p:to>
                                        <p:strVal val="visible"/>
                                      </p:to>
                                    </p:set>
                                    <p:animEffect transition="in" filter="fade">
                                      <p:cBhvr>
                                        <p:cTn id="37" dur="400"/>
                                        <p:tgtEl>
                                          <p:spTgt spid="106"/>
                                        </p:tgtEl>
                                      </p:cBhvr>
                                    </p:animEffect>
                                  </p:childTnLst>
                                </p:cTn>
                              </p:par>
                              <p:par>
                                <p:cTn id="38" presetID="10" presetClass="entr" presetSubtype="0" fill="hold" nodeType="withEffect">
                                  <p:stCondLst>
                                    <p:cond delay="0"/>
                                  </p:stCondLst>
                                  <p:childTnLst>
                                    <p:set>
                                      <p:cBhvr>
                                        <p:cTn id="39" dur="1" fill="hold">
                                          <p:stCondLst>
                                            <p:cond delay="0"/>
                                          </p:stCondLst>
                                        </p:cTn>
                                        <p:tgtEl>
                                          <p:spTgt spid="107"/>
                                        </p:tgtEl>
                                        <p:attrNameLst>
                                          <p:attrName>style.visibility</p:attrName>
                                        </p:attrNameLst>
                                      </p:cBhvr>
                                      <p:to>
                                        <p:strVal val="visible"/>
                                      </p:to>
                                    </p:set>
                                    <p:animEffect transition="in" filter="fade">
                                      <p:cBhvr>
                                        <p:cTn id="40" dur="400"/>
                                        <p:tgtEl>
                                          <p:spTgt spid="107"/>
                                        </p:tgtEl>
                                      </p:cBhvr>
                                    </p:animEffect>
                                  </p:childTnLst>
                                </p:cTn>
                              </p:par>
                              <p:par>
                                <p:cTn id="41" presetID="10" presetClass="entr" presetSubtype="0" fill="hold" nodeType="withEffect">
                                  <p:stCondLst>
                                    <p:cond delay="0"/>
                                  </p:stCondLst>
                                  <p:childTnLst>
                                    <p:set>
                                      <p:cBhvr>
                                        <p:cTn id="42" dur="1" fill="hold">
                                          <p:stCondLst>
                                            <p:cond delay="0"/>
                                          </p:stCondLst>
                                        </p:cTn>
                                        <p:tgtEl>
                                          <p:spTgt spid="108"/>
                                        </p:tgtEl>
                                        <p:attrNameLst>
                                          <p:attrName>style.visibility</p:attrName>
                                        </p:attrNameLst>
                                      </p:cBhvr>
                                      <p:to>
                                        <p:strVal val="visible"/>
                                      </p:to>
                                    </p:set>
                                    <p:animEffect transition="in" filter="fade">
                                      <p:cBhvr>
                                        <p:cTn id="43" dur="400"/>
                                        <p:tgtEl>
                                          <p:spTgt spid="108"/>
                                        </p:tgtEl>
                                      </p:cBhvr>
                                    </p:animEffect>
                                  </p:childTnLst>
                                </p:cTn>
                              </p:par>
                              <p:par>
                                <p:cTn id="44" presetID="10" presetClass="entr" presetSubtype="0" fill="hold" nodeType="withEffect">
                                  <p:stCondLst>
                                    <p:cond delay="0"/>
                                  </p:stCondLst>
                                  <p:childTnLst>
                                    <p:set>
                                      <p:cBhvr>
                                        <p:cTn id="45" dur="1" fill="hold">
                                          <p:stCondLst>
                                            <p:cond delay="0"/>
                                          </p:stCondLst>
                                        </p:cTn>
                                        <p:tgtEl>
                                          <p:spTgt spid="109"/>
                                        </p:tgtEl>
                                        <p:attrNameLst>
                                          <p:attrName>style.visibility</p:attrName>
                                        </p:attrNameLst>
                                      </p:cBhvr>
                                      <p:to>
                                        <p:strVal val="visible"/>
                                      </p:to>
                                    </p:set>
                                    <p:animEffect transition="in" filter="fade">
                                      <p:cBhvr>
                                        <p:cTn id="46" dur="400"/>
                                        <p:tgtEl>
                                          <p:spTgt spid="109"/>
                                        </p:tgtEl>
                                      </p:cBhvr>
                                    </p:animEffect>
                                  </p:childTnLst>
                                </p:cTn>
                              </p:par>
                              <p:par>
                                <p:cTn id="47" presetID="10" presetClass="entr" presetSubtype="0" fill="hold" nodeType="withEffect">
                                  <p:stCondLst>
                                    <p:cond delay="0"/>
                                  </p:stCondLst>
                                  <p:childTnLst>
                                    <p:set>
                                      <p:cBhvr>
                                        <p:cTn id="48" dur="1" fill="hold">
                                          <p:stCondLst>
                                            <p:cond delay="0"/>
                                          </p:stCondLst>
                                        </p:cTn>
                                        <p:tgtEl>
                                          <p:spTgt spid="110"/>
                                        </p:tgtEl>
                                        <p:attrNameLst>
                                          <p:attrName>style.visibility</p:attrName>
                                        </p:attrNameLst>
                                      </p:cBhvr>
                                      <p:to>
                                        <p:strVal val="visible"/>
                                      </p:to>
                                    </p:set>
                                    <p:animEffect transition="in" filter="fade">
                                      <p:cBhvr>
                                        <p:cTn id="49" dur="400"/>
                                        <p:tgtEl>
                                          <p:spTgt spid="110"/>
                                        </p:tgtEl>
                                      </p:cBhvr>
                                    </p:animEffect>
                                  </p:childTnLst>
                                </p:cTn>
                              </p:par>
                              <p:par>
                                <p:cTn id="50" presetID="10" presetClass="entr" presetSubtype="0" fill="hold" nodeType="withEffect">
                                  <p:stCondLst>
                                    <p:cond delay="0"/>
                                  </p:stCondLst>
                                  <p:childTnLst>
                                    <p:set>
                                      <p:cBhvr>
                                        <p:cTn id="51" dur="1" fill="hold">
                                          <p:stCondLst>
                                            <p:cond delay="0"/>
                                          </p:stCondLst>
                                        </p:cTn>
                                        <p:tgtEl>
                                          <p:spTgt spid="111"/>
                                        </p:tgtEl>
                                        <p:attrNameLst>
                                          <p:attrName>style.visibility</p:attrName>
                                        </p:attrNameLst>
                                      </p:cBhvr>
                                      <p:to>
                                        <p:strVal val="visible"/>
                                      </p:to>
                                    </p:set>
                                    <p:animEffect transition="in" filter="fade">
                                      <p:cBhvr>
                                        <p:cTn id="52" dur="400"/>
                                        <p:tgtEl>
                                          <p:spTgt spid="111"/>
                                        </p:tgtEl>
                                      </p:cBhvr>
                                    </p:animEffect>
                                  </p:childTnLst>
                                </p:cTn>
                              </p:par>
                              <p:par>
                                <p:cTn id="53" presetID="10" presetClass="entr" presetSubtype="0" fill="hold" nodeType="withEffect">
                                  <p:stCondLst>
                                    <p:cond delay="0"/>
                                  </p:stCondLst>
                                  <p:childTnLst>
                                    <p:set>
                                      <p:cBhvr>
                                        <p:cTn id="54" dur="1" fill="hold">
                                          <p:stCondLst>
                                            <p:cond delay="0"/>
                                          </p:stCondLst>
                                        </p:cTn>
                                        <p:tgtEl>
                                          <p:spTgt spid="113"/>
                                        </p:tgtEl>
                                        <p:attrNameLst>
                                          <p:attrName>style.visibility</p:attrName>
                                        </p:attrNameLst>
                                      </p:cBhvr>
                                      <p:to>
                                        <p:strVal val="visible"/>
                                      </p:to>
                                    </p:set>
                                    <p:animEffect transition="in" filter="fade">
                                      <p:cBhvr>
                                        <p:cTn id="55" dur="400"/>
                                        <p:tgtEl>
                                          <p:spTgt spid="113"/>
                                        </p:tgtEl>
                                      </p:cBhvr>
                                    </p:animEffect>
                                  </p:childTnLst>
                                </p:cTn>
                              </p:par>
                              <p:par>
                                <p:cTn id="56" presetID="10" presetClass="entr" presetSubtype="0" fill="hold" nodeType="withEffect">
                                  <p:stCondLst>
                                    <p:cond delay="0"/>
                                  </p:stCondLst>
                                  <p:childTnLst>
                                    <p:set>
                                      <p:cBhvr>
                                        <p:cTn id="57" dur="1" fill="hold">
                                          <p:stCondLst>
                                            <p:cond delay="0"/>
                                          </p:stCondLst>
                                        </p:cTn>
                                        <p:tgtEl>
                                          <p:spTgt spid="114"/>
                                        </p:tgtEl>
                                        <p:attrNameLst>
                                          <p:attrName>style.visibility</p:attrName>
                                        </p:attrNameLst>
                                      </p:cBhvr>
                                      <p:to>
                                        <p:strVal val="visible"/>
                                      </p:to>
                                    </p:set>
                                    <p:animEffect transition="in" filter="fade">
                                      <p:cBhvr>
                                        <p:cTn id="58" dur="400"/>
                                        <p:tgtEl>
                                          <p:spTgt spid="114"/>
                                        </p:tgtEl>
                                      </p:cBhvr>
                                    </p:animEffect>
                                  </p:childTnLst>
                                </p:cTn>
                              </p:par>
                              <p:par>
                                <p:cTn id="59" presetID="10" presetClass="entr" presetSubtype="0" fill="hold" nodeType="withEffect">
                                  <p:stCondLst>
                                    <p:cond delay="0"/>
                                  </p:stCondLst>
                                  <p:childTnLst>
                                    <p:set>
                                      <p:cBhvr>
                                        <p:cTn id="60" dur="1" fill="hold">
                                          <p:stCondLst>
                                            <p:cond delay="0"/>
                                          </p:stCondLst>
                                        </p:cTn>
                                        <p:tgtEl>
                                          <p:spTgt spid="115"/>
                                        </p:tgtEl>
                                        <p:attrNameLst>
                                          <p:attrName>style.visibility</p:attrName>
                                        </p:attrNameLst>
                                      </p:cBhvr>
                                      <p:to>
                                        <p:strVal val="visible"/>
                                      </p:to>
                                    </p:set>
                                    <p:animEffect transition="in" filter="fade">
                                      <p:cBhvr>
                                        <p:cTn id="61" dur="400"/>
                                        <p:tgtEl>
                                          <p:spTgt spid="115"/>
                                        </p:tgtEl>
                                      </p:cBhvr>
                                    </p:animEffect>
                                  </p:childTnLst>
                                </p:cTn>
                              </p:par>
                              <p:par>
                                <p:cTn id="62" presetID="10" presetClass="entr" presetSubtype="0" fill="hold" nodeType="withEffect">
                                  <p:stCondLst>
                                    <p:cond delay="0"/>
                                  </p:stCondLst>
                                  <p:childTnLst>
                                    <p:set>
                                      <p:cBhvr>
                                        <p:cTn id="63" dur="1" fill="hold">
                                          <p:stCondLst>
                                            <p:cond delay="0"/>
                                          </p:stCondLst>
                                        </p:cTn>
                                        <p:tgtEl>
                                          <p:spTgt spid="116"/>
                                        </p:tgtEl>
                                        <p:attrNameLst>
                                          <p:attrName>style.visibility</p:attrName>
                                        </p:attrNameLst>
                                      </p:cBhvr>
                                      <p:to>
                                        <p:strVal val="visible"/>
                                      </p:to>
                                    </p:set>
                                    <p:animEffect transition="in" filter="fade">
                                      <p:cBhvr>
                                        <p:cTn id="64" dur="400"/>
                                        <p:tgtEl>
                                          <p:spTgt spid="116"/>
                                        </p:tgtEl>
                                      </p:cBhvr>
                                    </p:animEffect>
                                  </p:childTnLst>
                                </p:cTn>
                              </p:par>
                              <p:par>
                                <p:cTn id="65" presetID="10" presetClass="entr" presetSubtype="0" fill="hold" nodeType="withEffect">
                                  <p:stCondLst>
                                    <p:cond delay="0"/>
                                  </p:stCondLst>
                                  <p:childTnLst>
                                    <p:set>
                                      <p:cBhvr>
                                        <p:cTn id="66" dur="1" fill="hold">
                                          <p:stCondLst>
                                            <p:cond delay="0"/>
                                          </p:stCondLst>
                                        </p:cTn>
                                        <p:tgtEl>
                                          <p:spTgt spid="120"/>
                                        </p:tgtEl>
                                        <p:attrNameLst>
                                          <p:attrName>style.visibility</p:attrName>
                                        </p:attrNameLst>
                                      </p:cBhvr>
                                      <p:to>
                                        <p:strVal val="visible"/>
                                      </p:to>
                                    </p:set>
                                    <p:animEffect transition="in" filter="fade">
                                      <p:cBhvr>
                                        <p:cTn id="67" dur="400"/>
                                        <p:tgtEl>
                                          <p:spTgt spid="120"/>
                                        </p:tgtEl>
                                      </p:cBhvr>
                                    </p:animEffect>
                                  </p:childTnLst>
                                </p:cTn>
                              </p:par>
                              <p:par>
                                <p:cTn id="68" presetID="10" presetClass="entr" presetSubtype="0" fill="hold" nodeType="withEffect">
                                  <p:stCondLst>
                                    <p:cond delay="0"/>
                                  </p:stCondLst>
                                  <p:childTnLst>
                                    <p:set>
                                      <p:cBhvr>
                                        <p:cTn id="69" dur="1" fill="hold">
                                          <p:stCondLst>
                                            <p:cond delay="0"/>
                                          </p:stCondLst>
                                        </p:cTn>
                                        <p:tgtEl>
                                          <p:spTgt spid="121"/>
                                        </p:tgtEl>
                                        <p:attrNameLst>
                                          <p:attrName>style.visibility</p:attrName>
                                        </p:attrNameLst>
                                      </p:cBhvr>
                                      <p:to>
                                        <p:strVal val="visible"/>
                                      </p:to>
                                    </p:set>
                                    <p:animEffect transition="in" filter="fade">
                                      <p:cBhvr>
                                        <p:cTn id="70" dur="400"/>
                                        <p:tgtEl>
                                          <p:spTgt spid="12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12"/>
                                        </p:tgtEl>
                                        <p:attrNameLst>
                                          <p:attrName>style.visibility</p:attrName>
                                        </p:attrNameLst>
                                      </p:cBhvr>
                                      <p:to>
                                        <p:strVal val="visible"/>
                                      </p:to>
                                    </p:set>
                                    <p:animEffect transition="in" filter="fade">
                                      <p:cBhvr>
                                        <p:cTn id="75" dur="400"/>
                                        <p:tgtEl>
                                          <p:spTgt spid="112"/>
                                        </p:tgtEl>
                                      </p:cBhvr>
                                    </p:animEffect>
                                  </p:childTnLst>
                                </p:cTn>
                              </p:par>
                              <p:par>
                                <p:cTn id="76" presetID="10" presetClass="entr" presetSubtype="0" fill="hold" nodeType="withEffect">
                                  <p:stCondLst>
                                    <p:cond delay="0"/>
                                  </p:stCondLst>
                                  <p:childTnLst>
                                    <p:set>
                                      <p:cBhvr>
                                        <p:cTn id="77" dur="1" fill="hold">
                                          <p:stCondLst>
                                            <p:cond delay="0"/>
                                          </p:stCondLst>
                                        </p:cTn>
                                        <p:tgtEl>
                                          <p:spTgt spid="117"/>
                                        </p:tgtEl>
                                        <p:attrNameLst>
                                          <p:attrName>style.visibility</p:attrName>
                                        </p:attrNameLst>
                                      </p:cBhvr>
                                      <p:to>
                                        <p:strVal val="visible"/>
                                      </p:to>
                                    </p:set>
                                    <p:animEffect transition="in" filter="fade">
                                      <p:cBhvr>
                                        <p:cTn id="78" dur="400"/>
                                        <p:tgtEl>
                                          <p:spTgt spid="117"/>
                                        </p:tgtEl>
                                      </p:cBhvr>
                                    </p:animEffect>
                                  </p:childTnLst>
                                </p:cTn>
                              </p:par>
                              <p:par>
                                <p:cTn id="79" presetID="10" presetClass="entr" presetSubtype="0" fill="hold" nodeType="withEffect">
                                  <p:stCondLst>
                                    <p:cond delay="0"/>
                                  </p:stCondLst>
                                  <p:childTnLst>
                                    <p:set>
                                      <p:cBhvr>
                                        <p:cTn id="80" dur="1" fill="hold">
                                          <p:stCondLst>
                                            <p:cond delay="0"/>
                                          </p:stCondLst>
                                        </p:cTn>
                                        <p:tgtEl>
                                          <p:spTgt spid="118"/>
                                        </p:tgtEl>
                                        <p:attrNameLst>
                                          <p:attrName>style.visibility</p:attrName>
                                        </p:attrNameLst>
                                      </p:cBhvr>
                                      <p:to>
                                        <p:strVal val="visible"/>
                                      </p:to>
                                    </p:set>
                                    <p:animEffect transition="in" filter="fade">
                                      <p:cBhvr>
                                        <p:cTn id="81" dur="400"/>
                                        <p:tgtEl>
                                          <p:spTgt spid="118"/>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19"/>
                                        </p:tgtEl>
                                        <p:attrNameLst>
                                          <p:attrName>style.visibility</p:attrName>
                                        </p:attrNameLst>
                                      </p:cBhvr>
                                      <p:to>
                                        <p:strVal val="visible"/>
                                      </p:to>
                                    </p:set>
                                    <p:animEffect transition="in" filter="fade">
                                      <p:cBhvr>
                                        <p:cTn id="86" dur="400"/>
                                        <p:tgtEl>
                                          <p:spTgt spid="119"/>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Pareto tradeoffs require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10</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Mathematics has not chosen for us.</a:t>
            </a:r>
          </a:p>
        </p:txBody>
      </p:sp>
      <p:cxnSp>
        <p:nvCxnSpPr>
          <p:cNvPr id="100" name="AxX"/>
          <p:cNvCxnSpPr/>
          <p:nvPr/>
        </p:nvCxnSpPr>
        <p:spPr>
          <a:xfrm>
            <a:off x="381250" y="5007500"/>
            <a:ext cx="8437500" cy="0"/>
          </a:xfrm>
          <a:prstGeom prst="line">
            <a:avLst/>
          </a:prstGeom>
          <a:ln w="57866">
            <a:solidFill>
              <a:srgbClr val="8E6F3E"/>
            </a:solidFill>
            <a:tailEnd type="triangle" w="med" len="med"/>
          </a:ln>
        </p:spPr>
      </p:cxnSp>
      <p:cxnSp>
        <p:nvCxnSpPr>
          <p:cNvPr id="101" name="AxY"/>
          <p:cNvCxnSpPr/>
          <p:nvPr/>
        </p:nvCxnSpPr>
        <p:spPr>
          <a:xfrm flipV="1">
            <a:off x="381250" y="1092500"/>
            <a:ext cx="0" cy="3915000"/>
          </a:xfrm>
          <a:prstGeom prst="line">
            <a:avLst/>
          </a:prstGeom>
          <a:ln w="57866">
            <a:solidFill>
              <a:srgbClr val="8E6F3E"/>
            </a:solidFill>
            <a:tailEnd type="triangle" w="med" len="med"/>
          </a:ln>
        </p:spPr>
      </p:cxnSp>
      <p:sp>
        <p:nvSpPr>
          <p:cNvPr id="102" name="AxXLbl"/>
          <p:cNvSpPr txBox="1"/>
          <p:nvPr/>
        </p:nvSpPr>
        <p:spPr>
          <a:xfrm>
            <a:off x="6750000" y="5073400"/>
            <a:ext cx="2050000" cy="320000"/>
          </a:xfrm>
          <a:prstGeom prst="rect">
            <a:avLst/>
          </a:prstGeom>
          <a:noFill/>
          <a:ln>
            <a:noFill/>
          </a:ln>
        </p:spPr>
        <p:txBody>
          <a:bodyPr wrap="square" lIns="0" tIns="0" rIns="0" bIns="0" anchor="t">
            <a:normAutofit/>
          </a:bodyPr>
          <a:lstStyle/>
          <a:p>
            <a:pPr algn="r">
              <a:buNone/>
            </a:pPr>
            <a:r>
              <a:rPr lang="en-US" sz="2000" b="0" i="1" dirty="0">
                <a:solidFill>
                  <a:srgbClr val="555960"/>
                </a:solidFill>
              </a:rPr>
              <a:t>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Property Y → better</a:t>
            </a:r>
          </a:p>
        </p:txBody>
      </p:sp>
      <p:cxnSp>
        <p:nvCxnSpPr>
          <p:cNvPr id="104" name="Fr0"/>
          <p:cNvCxnSpPr/>
          <p:nvPr/>
        </p:nvCxnSpPr>
        <p:spPr>
          <a:xfrm>
            <a:off x="1461250" y="1632500"/>
            <a:ext cx="2160000" cy="675000"/>
          </a:xfrm>
          <a:prstGeom prst="line">
            <a:avLst/>
          </a:prstGeom>
          <a:ln w="57866">
            <a:solidFill>
              <a:srgbClr val="C9B991"/>
            </a:solidFill>
            <a:prstDash val="dash"/>
          </a:ln>
        </p:spPr>
      </p:cxnSp>
      <p:cxnSp>
        <p:nvCxnSpPr>
          <p:cNvPr id="105" name="Fr1"/>
          <p:cNvCxnSpPr/>
          <p:nvPr/>
        </p:nvCxnSpPr>
        <p:spPr>
          <a:xfrm>
            <a:off x="3621250" y="2307500"/>
            <a:ext cx="2160000" cy="945000"/>
          </a:xfrm>
          <a:prstGeom prst="line">
            <a:avLst/>
          </a:prstGeom>
          <a:ln w="57866">
            <a:solidFill>
              <a:srgbClr val="C9B991"/>
            </a:solidFill>
            <a:prstDash val="dash"/>
          </a:ln>
        </p:spPr>
      </p:cxnSp>
      <p:cxnSp>
        <p:nvCxnSpPr>
          <p:cNvPr id="106" name="Fr2"/>
          <p:cNvCxnSpPr/>
          <p:nvPr/>
        </p:nvCxnSpPr>
        <p:spPr>
          <a:xfrm>
            <a:off x="5781250" y="3252500"/>
            <a:ext cx="2025000" cy="1147500"/>
          </a:xfrm>
          <a:prstGeom prst="line">
            <a:avLst/>
          </a:prstGeom>
          <a:ln w="57866">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no point dominates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61"/>
                                        </p:tgtEl>
                                        <p:attrNameLst>
                                          <p:attrName>style.visibility</p:attrName>
                                        </p:attrNameLst>
                                      </p:cBhvr>
                                      <p:to>
                                        <p:strVal val="visible"/>
                                      </p:to>
                                    </p:set>
                                    <p:animEffect transition="in" filter="fade">
                                      <p:cBhvr>
                                        <p:cTn id="6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1825"/>
            <a:ext cx="9502956" cy="638175"/>
          </a:xfrm>
        </p:spPr>
        <p:txBody>
          <a:bodyPr>
            <a:noAutofit/>
          </a:bodyPr>
          <a:lstStyle/>
          <a:p>
            <a:pPr algn="l">
              <a:buNone/>
              <a:defRPr b="0"/>
            </a:pPr>
            <a:r>
              <a:rPr lang="en-US" sz="2400" b="0" i="0" dirty="0">
                <a:solidFill>
                  <a:srgbClr val="000000"/>
                </a:solidFill>
              </a:rPr>
              <a:t>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11</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Is the information worth more than it costs to obtain?</a:t>
            </a:r>
          </a:p>
        </p:txBody>
      </p:sp>
      <p:sp>
        <p:nvSpPr>
          <p:cNvPr id="100" name="Uncertain"/>
          <p:cNvSpPr/>
          <p:nvPr/>
        </p:nvSpPr>
        <p:spPr>
          <a:xfrm>
            <a:off x="240000" y="2500000"/>
            <a:ext cx="1540000" cy="700000"/>
          </a:xfrm>
          <a:prstGeom prst="rect">
            <a:avLst/>
          </a:prstGeom>
          <a:solidFill>
            <a:srgbClr val="F5F1E8"/>
          </a:solidFill>
          <a:ln w="12954">
            <a:solidFill>
              <a:srgbClr val="C9B991"/>
            </a:solidFill>
          </a:ln>
        </p:spPr>
        <p:txBody>
          <a:bodyPr wrap="square" lIns="54864" tIns="27432" rIns="54864" bIns="27432" anchor="ctr">
            <a:normAutofit lnSpcReduction="10000"/>
          </a:bodyPr>
          <a:lstStyle/>
          <a:p>
            <a:pPr algn="ctr">
              <a:buNone/>
            </a:pPr>
            <a:r>
              <a:rPr lang="en-US" sz="2300" b="1" i="0" dirty="0">
                <a:solidFill>
                  <a:srgbClr val="5C4826"/>
                </a:solidFill>
              </a:rPr>
              <a:t>UNCERTAIN CHOICE</a:t>
            </a:r>
          </a:p>
        </p:txBody>
      </p:sp>
      <p:cxnSp>
        <p:nvCxnSpPr>
          <p:cNvPr id="101" name="A1"/>
          <p:cNvCxnSpPr/>
          <p:nvPr/>
        </p:nvCxnSpPr>
        <p:spPr>
          <a:xfrm>
            <a:off x="1780000" y="2850000"/>
            <a:ext cx="170000" cy="0"/>
          </a:xfrm>
          <a:prstGeom prst="line">
            <a:avLst/>
          </a:prstGeom>
          <a:ln w="43720">
            <a:solidFill>
              <a:srgbClr val="8E6F3E"/>
            </a:solidFill>
            <a:tailEnd type="triangle" w="med" len="med"/>
          </a:ln>
        </p:spPr>
      </p:cxnSp>
      <p:sp>
        <p:nvSpPr>
          <p:cNvPr id="102" name="Diamond"/>
          <p:cNvSpPr/>
          <p:nvPr/>
        </p:nvSpPr>
        <p:spPr>
          <a:xfrm>
            <a:off x="1950000" y="1500000"/>
            <a:ext cx="2700000" cy="2700000"/>
          </a:xfrm>
          <a:prstGeom prst="diamond">
            <a:avLst/>
          </a:prstGeom>
          <a:solidFill>
            <a:srgbClr val="FFFFFF"/>
          </a:solidFill>
          <a:ln w="19431">
            <a:solidFill>
              <a:srgbClr val="8E6F3E"/>
            </a:solidFill>
          </a:ln>
        </p:spPr>
        <p:txBody>
          <a:bodyPr wrap="none" lIns="0" tIns="0" rIns="0" bIns="0" anchor="ctr">
            <a:noAutofit/>
          </a:bodyPr>
          <a:lstStyle/>
          <a:p>
            <a:pPr algn="ctr">
              <a:buNone/>
            </a:pPr>
            <a:r>
              <a:rPr lang="en-US" sz="2000" b="1" dirty="0">
                <a:solidFill>
                  <a:srgbClr val="5C4826"/>
                </a:solidFill>
              </a:rPr>
              <a:t>Could knowing</a:t>
            </a:r>
          </a:p>
          <a:p>
            <a:pPr algn="ctr">
              <a:spcBef>
                <a:spcPts val="300"/>
              </a:spcBef>
              <a:buNone/>
            </a:pPr>
            <a:r>
              <a:rPr lang="en-US" sz="2000" b="1" dirty="0">
                <a:solidFill>
                  <a:srgbClr val="5C4826"/>
                </a:solidFill>
              </a:rPr>
              <a:t>more change</a:t>
            </a:r>
          </a:p>
          <a:p>
            <a:pPr algn="ctr">
              <a:spcBef>
                <a:spcPts val="300"/>
              </a:spcBef>
              <a:buNone/>
            </a:pPr>
            <a:r>
              <a:rPr lang="en-US" sz="2000" b="1" dirty="0">
                <a:solidFill>
                  <a:srgbClr val="5C4826"/>
                </a:solidFill>
              </a:rPr>
              <a:t>the decision?</a:t>
            </a:r>
          </a:p>
        </p:txBody>
      </p:sp>
      <p:cxnSp>
        <p:nvCxnSpPr>
          <p:cNvPr id="103" name="ANo"/>
          <p:cNvCxnSpPr/>
          <p:nvPr/>
        </p:nvCxnSpPr>
        <p:spPr>
          <a:xfrm>
            <a:off x="3300000" y="4200000"/>
            <a:ext cx="0" cy="250000"/>
          </a:xfrm>
          <a:prstGeom prst="line">
            <a:avLst/>
          </a:prstGeom>
          <a:ln w="43720">
            <a:solidFill>
              <a:srgbClr val="8E6F3E"/>
            </a:solidFill>
            <a:tailEnd type="triangle" w="med" len="med"/>
          </a:ln>
        </p:spPr>
      </p:cxnSp>
      <p:sp>
        <p:nvSpPr>
          <p:cNvPr id="104" name="NoLbl"/>
          <p:cNvSpPr txBox="1"/>
          <p:nvPr/>
        </p:nvSpPr>
        <p:spPr>
          <a:xfrm>
            <a:off x="3390000" y="418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NO</a:t>
            </a:r>
          </a:p>
        </p:txBody>
      </p:sp>
      <p:sp>
        <p:nvSpPr>
          <p:cNvPr id="105" name="Decide"/>
          <p:cNvSpPr/>
          <p:nvPr/>
        </p:nvSpPr>
        <p:spPr>
          <a:xfrm>
            <a:off x="2700000"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DECIDE</a:t>
            </a:r>
          </a:p>
        </p:txBody>
      </p:sp>
      <p:cxnSp>
        <p:nvCxnSpPr>
          <p:cNvPr id="106" name="AYes"/>
          <p:cNvCxnSpPr/>
          <p:nvPr/>
        </p:nvCxnSpPr>
        <p:spPr>
          <a:xfrm>
            <a:off x="4650000" y="2850000"/>
            <a:ext cx="350000" cy="0"/>
          </a:xfrm>
          <a:prstGeom prst="line">
            <a:avLst/>
          </a:prstGeom>
          <a:ln w="43720">
            <a:solidFill>
              <a:srgbClr val="8E6F3E"/>
            </a:solidFill>
            <a:tailEnd type="triangle" w="med" len="med"/>
          </a:ln>
        </p:spPr>
      </p:cxnSp>
      <p:sp>
        <p:nvSpPr>
          <p:cNvPr id="107" name="YesLbl"/>
          <p:cNvSpPr txBox="1"/>
          <p:nvPr/>
        </p:nvSpPr>
        <p:spPr>
          <a:xfrm>
            <a:off x="4525000" y="247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lnSpcReduction="10000"/>
          </a:bodyPr>
          <a:lstStyle/>
          <a:p>
            <a:pPr algn="ctr">
              <a:buNone/>
            </a:pPr>
            <a:r>
              <a:rPr lang="en-US" sz="2300" b="1" i="0" dirty="0">
                <a:solidFill>
                  <a:srgbClr val="FFFFFF"/>
                </a:solidFill>
              </a:rPr>
              <a:t>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10" name="KA0"/>
          <p:cNvCxnSpPr/>
          <p:nvPr/>
        </p:nvCxnSpPr>
        <p:spPr>
          <a:xfrm flipV="1">
            <a:off x="6300000" y="1830000"/>
            <a:ext cx="200000" cy="1020000"/>
          </a:xfrm>
          <a:prstGeom prst="line">
            <a:avLst/>
          </a:prstGeom>
          <a:ln w="43720">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12" name="KA1"/>
          <p:cNvCxnSpPr/>
          <p:nvPr/>
        </p:nvCxnSpPr>
        <p:spPr>
          <a:xfrm>
            <a:off x="6300000" y="2850000"/>
            <a:ext cx="200000" cy="0"/>
          </a:xfrm>
          <a:prstGeom prst="line">
            <a:avLst/>
          </a:prstGeom>
          <a:ln w="43720">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MEASURE</a:t>
            </a:r>
          </a:p>
        </p:txBody>
      </p:sp>
      <p:cxnSp>
        <p:nvCxnSpPr>
          <p:cNvPr id="114" name="KA2"/>
          <p:cNvCxnSpPr/>
          <p:nvPr/>
        </p:nvCxnSpPr>
        <p:spPr>
          <a:xfrm>
            <a:off x="6300000" y="2850000"/>
            <a:ext cx="200000" cy="1020000"/>
          </a:xfrm>
          <a:prstGeom prst="line">
            <a:avLst/>
          </a:prstGeom>
          <a:ln w="43720">
            <a:solidFill>
              <a:srgbClr val="8E6F3E"/>
            </a:solidFill>
            <a:tailEnd type="triangle" w="med" len="med"/>
          </a:ln>
        </p:spPr>
      </p:cxnSp>
      <p:sp>
        <p:nvSpPr>
          <p:cNvPr id="115" name="DecideBetter"/>
          <p:cNvSpPr/>
          <p:nvPr/>
        </p:nvSpPr>
        <p:spPr>
          <a:xfrm>
            <a:off x="8050000" y="2500000"/>
            <a:ext cx="870000" cy="700000"/>
          </a:xfrm>
          <a:prstGeom prst="rect">
            <a:avLst/>
          </a:prstGeom>
          <a:solidFill>
            <a:srgbClr val="8E6F3E"/>
          </a:solidFill>
          <a:ln>
            <a:noFill/>
          </a:ln>
        </p:spPr>
        <p:txBody>
          <a:bodyPr wrap="square" lIns="54864" tIns="27432" rIns="54864" bIns="27432" anchor="ctr">
            <a:normAutofit fontScale="92500"/>
          </a:bodyPr>
          <a:lstStyle/>
          <a:p>
            <a:pPr algn="ctr">
              <a:buNone/>
            </a:pPr>
            <a:r>
              <a:rPr lang="en-US" sz="2000" b="1" i="0" dirty="0">
                <a:solidFill>
                  <a:srgbClr val="FFFFFF"/>
                </a:solidFill>
              </a:rPr>
              <a:t>DECIDE</a:t>
            </a:r>
          </a:p>
          <a:p>
            <a:pPr algn="ctr">
              <a:spcBef>
                <a:spcPts val="534"/>
              </a:spcBef>
              <a:buNone/>
            </a:pPr>
            <a:r>
              <a:rPr lang="en-US" sz="2000" b="1" i="0" dirty="0">
                <a:solidFill>
                  <a:srgbClr val="FFFFFF"/>
                </a:solidFill>
              </a:rPr>
              <a:t>BETTER</a:t>
            </a:r>
          </a:p>
        </p:txBody>
      </p:sp>
      <p:cxnSp>
        <p:nvCxnSpPr>
          <p:cNvPr id="116" name="CA0"/>
          <p:cNvCxnSpPr/>
          <p:nvPr/>
        </p:nvCxnSpPr>
        <p:spPr>
          <a:xfrm>
            <a:off x="7900000" y="1830000"/>
            <a:ext cx="150000" cy="1020000"/>
          </a:xfrm>
          <a:prstGeom prst="line">
            <a:avLst/>
          </a:prstGeom>
          <a:ln w="43720">
            <a:solidFill>
              <a:srgbClr val="8E6F3E"/>
            </a:solidFill>
            <a:tailEnd type="triangle" w="med" len="med"/>
          </a:ln>
        </p:spPr>
      </p:cxnSp>
      <p:cxnSp>
        <p:nvCxnSpPr>
          <p:cNvPr id="117" name="CA1"/>
          <p:cNvCxnSpPr/>
          <p:nvPr/>
        </p:nvCxnSpPr>
        <p:spPr>
          <a:xfrm>
            <a:off x="7900000" y="2850000"/>
            <a:ext cx="150000" cy="0"/>
          </a:xfrm>
          <a:prstGeom prst="line">
            <a:avLst/>
          </a:prstGeom>
          <a:ln w="43720">
            <a:solidFill>
              <a:srgbClr val="8E6F3E"/>
            </a:solidFill>
            <a:tailEnd type="triangle" w="med" len="med"/>
          </a:ln>
        </p:spPr>
      </p:cxnSp>
      <p:cxnSp>
        <p:nvCxnSpPr>
          <p:cNvPr id="118" name="CA2"/>
          <p:cNvCxnSpPr/>
          <p:nvPr/>
        </p:nvCxnSpPr>
        <p:spPr>
          <a:xfrm flipV="1">
            <a:off x="7900000" y="2850000"/>
            <a:ext cx="150000" cy="1020000"/>
          </a:xfrm>
          <a:prstGeom prst="line">
            <a:avLst/>
          </a:prstGeom>
          <a:ln w="4372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14"/>
                                        </p:tgtEl>
                                        <p:attrNameLst>
                                          <p:attrName>style.visibility</p:attrName>
                                        </p:attrNameLst>
                                      </p:cBhvr>
                                      <p:to>
                                        <p:strVal val="visible"/>
                                      </p:to>
                                    </p:set>
                                    <p:animEffect transition="in" filter="fade">
                                      <p:cBhvr>
                                        <p:cTn id="55" dur="400"/>
                                        <p:tgtEl>
                                          <p:spTgt spid="114"/>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par>
                                <p:cTn id="64" presetID="10" presetClass="entr" presetSubtype="0" fill="hold" nodeType="withEffect">
                                  <p:stCondLst>
                                    <p:cond delay="0"/>
                                  </p:stCondLst>
                                  <p:childTnLst>
                                    <p:set>
                                      <p:cBhvr>
                                        <p:cTn id="65" dur="1" fill="hold">
                                          <p:stCondLst>
                                            <p:cond delay="0"/>
                                          </p:stCondLst>
                                        </p:cTn>
                                        <p:tgtEl>
                                          <p:spTgt spid="117"/>
                                        </p:tgtEl>
                                        <p:attrNameLst>
                                          <p:attrName>style.visibility</p:attrName>
                                        </p:attrNameLst>
                                      </p:cBhvr>
                                      <p:to>
                                        <p:strVal val="visible"/>
                                      </p:to>
                                    </p:set>
                                    <p:animEffect transition="in" filter="fade">
                                      <p:cBhvr>
                                        <p:cTn id="66" dur="400"/>
                                        <p:tgtEl>
                                          <p:spTgt spid="117"/>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Where do the alternatives come from?</a:t>
            </a:r>
          </a:p>
        </p:txBody>
      </p:sp>
      <p:sp>
        <p:nvSpPr>
          <p:cNvPr id="3" name="Slide Number Placeholder 2"/>
          <p:cNvSpPr>
            <a:spLocks noGrp="1"/>
          </p:cNvSpPr>
          <p:nvPr>
            <p:ph type="sldNum" sz="quarter" idx="4"/>
          </p:nvPr>
        </p:nvSpPr>
        <p:spPr/>
        <p:txBody>
          <a:bodyPr/>
          <a:lstStyle/>
          <a:p>
            <a:fld id="{B7EB45DA-9A0D-DC49-8E02-F30A5DDC21C3}" type="slidenum">
              <a:rPr lang="en-US" smtClean="0"/>
              <a:t>12</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383280"/>
            <a:ext cx="2286000" cy="50800"/>
          </a:xfrm>
          <a:prstGeom prst="rect">
            <a:avLst/>
          </a:prstGeom>
          <a:solidFill>
            <a:srgbClr val="8E6F3E"/>
          </a:solidFill>
          <a:ln>
            <a:noFill/>
          </a:ln>
        </p:spPr>
        <p:txBody>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Patterns capture recurring architectural choices—and expectations about their consequences.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Patterns capture recurring choices and expected consequences</a:t>
            </a:r>
          </a:p>
        </p:txBody>
      </p:sp>
      <p:sp>
        <p:nvSpPr>
          <p:cNvPr id="3" name="Slide Number Placeholder 2"/>
          <p:cNvSpPr>
            <a:spLocks noGrp="1"/>
          </p:cNvSpPr>
          <p:nvPr>
            <p:ph type="sldNum" sz="quarter" idx="4"/>
          </p:nvPr>
        </p:nvSpPr>
        <p:spPr/>
        <p:txBody>
          <a:bodyPr/>
          <a:lstStyle/>
          <a:p>
            <a:fld id="{B7EB45DA-9A0D-DC49-8E02-F30A5DDC21C3}" type="slidenum">
              <a:rPr lang="en-US" smtClean="0"/>
              <a:t>13</a:t>
            </a:fld>
            <a:endParaRPr lang="en-US"/>
          </a:p>
        </p:txBody>
      </p:sp>
      <p:sp>
        <p:nvSpPr>
          <p:cNvPr id="100" name="Exp"/>
          <p:cNvSpPr/>
          <p:nvPr/>
        </p:nvSpPr>
        <p:spPr>
          <a:xfrm>
            <a:off x="2672000" y="1200000"/>
            <a:ext cx="38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PAST ENGINEERING EXPERIENCE</a:t>
            </a:r>
          </a:p>
        </p:txBody>
      </p:sp>
      <p:cxnSp>
        <p:nvCxnSpPr>
          <p:cNvPr id="101" name="ExpArr"/>
          <p:cNvCxnSpPr>
            <a:stCxn id="100" idx="2"/>
            <a:endCxn id="102" idx="0"/>
          </p:cNvCxnSpPr>
          <p:nvPr/>
        </p:nvCxnSpPr>
        <p:spPr>
          <a:xfrm>
            <a:off x="4572000" y="1760000"/>
            <a:ext cx="0" cy="400000"/>
          </a:xfrm>
          <a:prstGeom prst="line">
            <a:avLst/>
          </a:prstGeom>
          <a:ln w="53577">
            <a:solidFill>
              <a:srgbClr val="8E6F3E"/>
            </a:solidFill>
            <a:tailEnd type="triangle" w="med" len="med"/>
          </a:ln>
        </p:spPr>
      </p:cxnSp>
      <p:sp>
        <p:nvSpPr>
          <p:cNvPr id="102" name="Prob"/>
          <p:cNvSpPr/>
          <p:nvPr/>
        </p:nvSpPr>
        <p:spPr>
          <a:xfrm>
            <a:off x="3122000" y="2160000"/>
            <a:ext cx="29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A RECURRING PROBLEM</a:t>
            </a:r>
          </a:p>
        </p:txBody>
      </p:sp>
      <p:cxnSp>
        <p:nvCxnSpPr>
          <p:cNvPr id="103" name="BrA"/>
          <p:cNvCxnSpPr>
            <a:stCxn id="102" idx="1"/>
            <a:endCxn id="105" idx="0"/>
          </p:cNvCxnSpPr>
          <p:nvPr/>
        </p:nvCxnSpPr>
        <p:spPr>
          <a:xfrm flipH="1">
            <a:off x="2650000" y="2440000"/>
            <a:ext cx="472000" cy="860000"/>
          </a:xfrm>
          <a:prstGeom prst="bentConnector2">
            <a:avLst/>
          </a:prstGeom>
          <a:ln w="53577">
            <a:solidFill>
              <a:srgbClr val="8E6F3E"/>
            </a:solidFill>
            <a:tailEnd type="triangle" w="med" len="med"/>
          </a:ln>
        </p:spPr>
      </p:cxnSp>
      <p:cxnSp>
        <p:nvCxnSpPr>
          <p:cNvPr id="104" name="BrB"/>
          <p:cNvCxnSpPr>
            <a:stCxn id="102" idx="3"/>
            <a:endCxn id="106" idx="0"/>
          </p:cNvCxnSpPr>
          <p:nvPr/>
        </p:nvCxnSpPr>
        <p:spPr>
          <a:xfrm>
            <a:off x="6022000" y="2440000"/>
            <a:ext cx="472000" cy="860000"/>
          </a:xfrm>
          <a:prstGeom prst="bentConnector2">
            <a:avLst/>
          </a:prstGeom>
          <a:ln w="53577">
            <a:solidFill>
              <a:srgbClr val="8E6F3E"/>
            </a:solidFill>
            <a:tailEnd type="triangle" w="med" len="med"/>
          </a:ln>
        </p:spPr>
      </p:cxnSp>
      <p:sp>
        <p:nvSpPr>
          <p:cNvPr id="105" name="PatA"/>
          <p:cNvSpPr/>
          <p:nvPr/>
        </p:nvSpPr>
        <p:spPr>
          <a:xfrm>
            <a:off x="1900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A</a:t>
            </a:r>
          </a:p>
        </p:txBody>
      </p:sp>
      <p:sp>
        <p:nvSpPr>
          <p:cNvPr id="106" name="PatB"/>
          <p:cNvSpPr/>
          <p:nvPr/>
        </p:nvSpPr>
        <p:spPr>
          <a:xfrm>
            <a:off x="5744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B</a:t>
            </a:r>
          </a:p>
        </p:txBody>
      </p:sp>
      <p:sp>
        <p:nvSpPr>
          <p:cNvPr id="107" name="Exp107"/>
          <p:cNvSpPr txBox="1"/>
          <p:nvPr/>
        </p:nvSpPr>
        <p:spPr>
          <a:xfrm>
            <a:off x="1550000" y="4020000"/>
            <a:ext cx="2200000" cy="660000"/>
          </a:xfrm>
          <a:prstGeom prst="rect">
            <a:avLst/>
          </a:prstGeom>
          <a:noFill/>
          <a:ln>
            <a:noFill/>
          </a:ln>
        </p:spPr>
        <p:txBody>
          <a:bodyPr wrap="square" lIns="0" tIns="0" rIns="0" bIns="0" anchor="t">
            <a:normAutofit/>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8" name="Exp108"/>
          <p:cNvSpPr txBox="1"/>
          <p:nvPr/>
        </p:nvSpPr>
        <p:spPr>
          <a:xfrm>
            <a:off x="5394000" y="4020000"/>
            <a:ext cx="2200000" cy="660000"/>
          </a:xfrm>
          <a:prstGeom prst="rect">
            <a:avLst/>
          </a:prstGeom>
          <a:noFill/>
          <a:ln>
            <a:noFill/>
          </a:ln>
        </p:spPr>
        <p:txBody>
          <a:bodyPr wrap="square" lIns="0" tIns="0" rIns="0" bIns="0" anchor="t">
            <a:normAutofit/>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9" name="Footer"/>
          <p:cNvSpPr txBox="1"/>
          <p:nvPr/>
        </p:nvSpPr>
        <p:spPr>
          <a:xfrm>
            <a:off x="685800" y="5150000"/>
            <a:ext cx="7772400" cy="7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Patterns give us alternatives and priors about their consequences, not guarantees.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7"/>
                                        </p:tgtEl>
                                        <p:attrNameLst>
                                          <p:attrName>style.visibility</p:attrName>
                                        </p:attrNameLst>
                                      </p:cBhvr>
                                      <p:to>
                                        <p:strVal val="visible"/>
                                      </p:to>
                                    </p:set>
                                    <p:animEffect transition="in" filter="fade">
                                      <p:cBhvr>
                                        <p:cTn id="29" dur="400"/>
                                        <p:tgtEl>
                                          <p:spTgt spid="107"/>
                                        </p:tgtEl>
                                      </p:cBhvr>
                                    </p:animEffect>
                                  </p:childTnLst>
                                </p:cTn>
                              </p:par>
                              <p:par>
                                <p:cTn id="30" presetID="10" presetClass="entr" presetSubtype="0" fill="hold" nodeType="with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9"/>
                                        </p:tgtEl>
                                        <p:attrNameLst>
                                          <p:attrName>style.visibility</p:attrName>
                                        </p:attrNameLst>
                                      </p:cBhvr>
                                      <p:to>
                                        <p:strVal val="visible"/>
                                      </p:to>
                                    </p:set>
                                    <p:animEffect transition="in" filter="fade">
                                      <p:cBhvr>
                                        <p:cTn id="37" dur="4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strictly should dependencies follow the layers?</a:t>
            </a:r>
          </a:p>
        </p:txBody>
      </p:sp>
      <p:sp>
        <p:nvSpPr>
          <p:cNvPr id="3" name="Slide Number Placeholder 2"/>
          <p:cNvSpPr>
            <a:spLocks noGrp="1"/>
          </p:cNvSpPr>
          <p:nvPr>
            <p:ph type="sldNum" sz="quarter" idx="4"/>
          </p:nvPr>
        </p:nvSpPr>
        <p:spPr/>
        <p:txBody>
          <a:bodyPr/>
          <a:lstStyle/>
          <a:p>
            <a:fld id="{B7EB45DA-9A0D-DC49-8E02-F30A5DDC21C3}" type="slidenum">
              <a:rPr lang="en-US" smtClean="0"/>
              <a:t>14</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Layering vs. deliberate layer crossing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STRICT LAYERING</a:t>
            </a:r>
          </a:p>
        </p:txBody>
      </p:sp>
      <p:sp>
        <p:nvSpPr>
          <p:cNvPr id="100" name="L100"/>
          <p:cNvSpPr/>
          <p:nvPr/>
        </p:nvSpPr>
        <p:spPr>
          <a:xfrm>
            <a:off x="1353900" y="15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01" name="L101"/>
          <p:cNvSpPr/>
          <p:nvPr/>
        </p:nvSpPr>
        <p:spPr>
          <a:xfrm>
            <a:off x="1353900" y="22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02" name="L102"/>
          <p:cNvSpPr/>
          <p:nvPr/>
        </p:nvSpPr>
        <p:spPr>
          <a:xfrm>
            <a:off x="1353900" y="30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03" name="L103"/>
          <p:cNvSpPr/>
          <p:nvPr/>
        </p:nvSpPr>
        <p:spPr>
          <a:xfrm>
            <a:off x="1353900" y="37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04" name="LA0"/>
          <p:cNvCxnSpPr>
            <a:stCxn id="100" idx="2"/>
            <a:endCxn id="101" idx="0"/>
          </p:cNvCxnSpPr>
          <p:nvPr/>
        </p:nvCxnSpPr>
        <p:spPr>
          <a:xfrm>
            <a:off x="2553900" y="2100000"/>
            <a:ext cx="0" cy="190000"/>
          </a:xfrm>
          <a:prstGeom prst="line">
            <a:avLst/>
          </a:prstGeom>
          <a:ln w="53577">
            <a:solidFill>
              <a:srgbClr val="8E6F3E"/>
            </a:solidFill>
            <a:tailEnd type="triangle" w="med" len="med"/>
          </a:ln>
        </p:spPr>
      </p:cxnSp>
      <p:cxnSp>
        <p:nvCxnSpPr>
          <p:cNvPr id="105" name="LA1"/>
          <p:cNvCxnSpPr>
            <a:stCxn id="101" idx="2"/>
            <a:endCxn id="102" idx="0"/>
          </p:cNvCxnSpPr>
          <p:nvPr/>
        </p:nvCxnSpPr>
        <p:spPr>
          <a:xfrm>
            <a:off x="2553900" y="2850000"/>
            <a:ext cx="0" cy="190000"/>
          </a:xfrm>
          <a:prstGeom prst="line">
            <a:avLst/>
          </a:prstGeom>
          <a:ln w="53577">
            <a:solidFill>
              <a:srgbClr val="8E6F3E"/>
            </a:solidFill>
            <a:tailEnd type="triangle" w="med" len="med"/>
          </a:ln>
        </p:spPr>
      </p:cxnSp>
      <p:cxnSp>
        <p:nvCxnSpPr>
          <p:cNvPr id="106" name="LA2"/>
          <p:cNvCxnSpPr>
            <a:stCxn id="102" idx="2"/>
            <a:endCxn id="103" idx="0"/>
          </p:cNvCxnSpPr>
          <p:nvPr/>
        </p:nvCxnSpPr>
        <p:spPr>
          <a:xfrm>
            <a:off x="2553900" y="3600000"/>
            <a:ext cx="0" cy="19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dependencies flow through the layers</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DELIBERATE CROSSING</a:t>
            </a:r>
          </a:p>
        </p:txBody>
      </p:sp>
      <p:sp>
        <p:nvSpPr>
          <p:cNvPr id="110" name="R110"/>
          <p:cNvSpPr/>
          <p:nvPr/>
        </p:nvSpPr>
        <p:spPr>
          <a:xfrm>
            <a:off x="4722000" y="15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11" name="R111"/>
          <p:cNvSpPr/>
          <p:nvPr/>
        </p:nvSpPr>
        <p:spPr>
          <a:xfrm>
            <a:off x="4722000" y="22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12" name="R112"/>
          <p:cNvSpPr/>
          <p:nvPr/>
        </p:nvSpPr>
        <p:spPr>
          <a:xfrm>
            <a:off x="4722000" y="30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13" name="R113"/>
          <p:cNvSpPr/>
          <p:nvPr/>
        </p:nvSpPr>
        <p:spPr>
          <a:xfrm>
            <a:off x="4722000" y="37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14" name="RA0"/>
          <p:cNvCxnSpPr>
            <a:stCxn id="110" idx="2"/>
            <a:endCxn id="111" idx="0"/>
          </p:cNvCxnSpPr>
          <p:nvPr/>
        </p:nvCxnSpPr>
        <p:spPr>
          <a:xfrm>
            <a:off x="5797000" y="2100000"/>
            <a:ext cx="0" cy="190000"/>
          </a:xfrm>
          <a:prstGeom prst="line">
            <a:avLst/>
          </a:prstGeom>
          <a:ln w="53577">
            <a:solidFill>
              <a:srgbClr val="8E6F3E"/>
            </a:solidFill>
            <a:tailEnd type="triangle" w="med" len="med"/>
          </a:ln>
        </p:spPr>
      </p:cxnSp>
      <p:cxnSp>
        <p:nvCxnSpPr>
          <p:cNvPr id="115" name="RA1"/>
          <p:cNvCxnSpPr>
            <a:stCxn id="111" idx="2"/>
            <a:endCxn id="112" idx="0"/>
          </p:cNvCxnSpPr>
          <p:nvPr/>
        </p:nvCxnSpPr>
        <p:spPr>
          <a:xfrm>
            <a:off x="5797000" y="2850000"/>
            <a:ext cx="0" cy="190000"/>
          </a:xfrm>
          <a:prstGeom prst="line">
            <a:avLst/>
          </a:prstGeom>
          <a:ln w="53577">
            <a:solidFill>
              <a:srgbClr val="8E6F3E"/>
            </a:solidFill>
            <a:tailEnd type="triangle" w="med" len="med"/>
          </a:ln>
        </p:spPr>
      </p:cxnSp>
      <p:cxnSp>
        <p:nvCxnSpPr>
          <p:cNvPr id="116" name="RA2"/>
          <p:cNvCxnSpPr>
            <a:stCxn id="112" idx="2"/>
            <a:endCxn id="113" idx="0"/>
          </p:cNvCxnSpPr>
          <p:nvPr/>
        </p:nvCxnSpPr>
        <p:spPr>
          <a:xfrm>
            <a:off x="5797000" y="3600000"/>
            <a:ext cx="0" cy="190000"/>
          </a:xfrm>
          <a:prstGeom prst="line">
            <a:avLst/>
          </a:prstGeom>
          <a:ln w="53577">
            <a:solidFill>
              <a:srgbClr val="8E6F3E"/>
            </a:solidFill>
            <a:tailEnd type="triangle" w="med" len="med"/>
          </a:ln>
        </p:spPr>
      </p:cxnSp>
      <p:sp>
        <p:nvSpPr>
          <p:cNvPr id="120" name="VM"/>
          <p:cNvSpPr/>
          <p:nvPr/>
        </p:nvSpPr>
        <p:spPr>
          <a:xfrm>
            <a:off x="7072000" y="2650000"/>
            <a:ext cx="1386200" cy="70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VIRTUAL</a:t>
            </a:r>
          </a:p>
          <a:p>
            <a:pPr algn="ctr">
              <a:spcBef>
                <a:spcPts val="400"/>
              </a:spcBef>
              <a:buNone/>
            </a:pPr>
            <a:r>
              <a:rPr lang="en-US" sz="2000" b="1" i="0" dirty="0">
                <a:solidFill>
                  <a:srgbClr val="5C4826"/>
                </a:solidFill>
              </a:rPr>
              <a:t>MEMORY</a:t>
            </a:r>
          </a:p>
        </p:txBody>
      </p:sp>
      <p:cxnSp>
        <p:nvCxnSpPr>
          <p:cNvPr id="121" name="Mmap"/>
          <p:cNvCxnSpPr>
            <a:stCxn id="110" idx="3"/>
            <a:endCxn id="120" idx="0"/>
          </p:cNvCxnSpPr>
          <p:nvPr/>
        </p:nvCxnSpPr>
        <p:spPr>
          <a:xfrm>
            <a:off x="6872000" y="1820000"/>
            <a:ext cx="893100" cy="830000"/>
          </a:xfrm>
          <a:prstGeom prst="bentConnector2">
            <a:avLst/>
          </a:prstGeom>
          <a:ln w="53577">
            <a:solidFill>
              <a:srgbClr val="8E6F3E"/>
            </a:solidFill>
            <a:prstDash val="dash"/>
            <a:tailEnd type="triangle" w="med" len="med"/>
          </a:ln>
        </p:spPr>
      </p:cxnSp>
      <p:sp>
        <p:nvSpPr>
          <p:cNvPr id="122" name="MmapLbl"/>
          <p:cNvSpPr txBox="1"/>
          <p:nvPr/>
        </p:nvSpPr>
        <p:spPr>
          <a:xfrm>
            <a:off x="6950000" y="1500000"/>
            <a:ext cx="1000000" cy="300000"/>
          </a:xfrm>
          <a:prstGeom prst="rect">
            <a:avLst/>
          </a:prstGeom>
          <a:noFill/>
          <a:ln>
            <a:noFill/>
          </a:ln>
        </p:spPr>
        <p:txBody>
          <a:bodyPr wrap="square" lIns="0" tIns="0" rIns="0" bIns="0" anchor="t">
            <a:normAutofit/>
          </a:bodyPr>
          <a:lstStyle/>
          <a:p>
            <a:pPr algn="ctr">
              <a:buNone/>
            </a:pPr>
            <a:r>
              <a:rPr lang="en-US" sz="2000" b="1" i="1" dirty="0">
                <a:solidFill>
                  <a:srgbClr val="8E6F3E"/>
                </a:solidFill>
              </a:rPr>
              <a:t>mmap</a:t>
            </a:r>
          </a:p>
        </p:txBody>
      </p:sp>
      <p:cxnSp>
        <p:nvCxnSpPr>
          <p:cNvPr id="123" name="Pf"/>
          <p:cNvCxnSpPr>
            <a:stCxn id="113" idx="3"/>
            <a:endCxn id="120" idx="2"/>
          </p:cNvCxnSpPr>
          <p:nvPr/>
        </p:nvCxnSpPr>
        <p:spPr>
          <a:xfrm flipV="1">
            <a:off x="6872000" y="3350000"/>
            <a:ext cx="893100" cy="720000"/>
          </a:xfrm>
          <a:prstGeom prst="bentConnector2">
            <a:avLst/>
          </a:prstGeom>
          <a:ln w="53577">
            <a:solidFill>
              <a:srgbClr val="8E6F3E"/>
            </a:solidFill>
            <a:prstDash val="dash"/>
            <a:headEnd type="triangle" w="med" len="med"/>
          </a:ln>
        </p:spPr>
      </p:cxnSp>
      <p:sp>
        <p:nvSpPr>
          <p:cNvPr id="124" name="PfLbl"/>
          <p:cNvSpPr txBox="1"/>
          <p:nvPr/>
        </p:nvSpPr>
        <p:spPr>
          <a:xfrm>
            <a:off x="6950000" y="4180000"/>
            <a:ext cx="15000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page faults</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mmap wires files into virtual memory</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isolation, replaceability, local reasoning</a:t>
            </a:r>
          </a:p>
          <a:p>
            <a:pPr algn="l">
              <a:spcBef>
                <a:spcPts val="600"/>
              </a:spcBef>
              <a:buNone/>
            </a:pPr>
            <a:r>
              <a:rPr lang="en-US" sz="2000" b="1" i="0" dirty="0">
                <a:solidFill>
                  <a:srgbClr val="555960"/>
                </a:solidFill>
              </a:rPr>
              <a:t>costs — </a:t>
            </a:r>
            <a:r>
              <a:rPr lang="en-US" sz="2000" b="0" i="0" dirty="0">
                <a:solidFill>
                  <a:srgbClr val="000000"/>
                </a:solidFill>
              </a:rPr>
              <a:t>indirection; may block cross-layer mechanisms</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capability the clean abstraction cannot offer</a:t>
            </a:r>
          </a:p>
          <a:p>
            <a:pPr algn="l">
              <a:spcBef>
                <a:spcPts val="600"/>
              </a:spcBef>
              <a:buNone/>
            </a:pPr>
            <a:r>
              <a:rPr lang="en-US" sz="2000" b="1" i="0" dirty="0">
                <a:solidFill>
                  <a:srgbClr val="555960"/>
                </a:solidFill>
              </a:rPr>
              <a:t>costs — </a:t>
            </a:r>
            <a:r>
              <a:rPr lang="en-US" sz="2000" b="0" i="0" dirty="0">
                <a:solidFill>
                  <a:srgbClr val="000000"/>
                </a:solidFill>
              </a:rPr>
              <a:t>stronger coupling across layers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isolation and changeability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cross-layer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116"/>
                                        </p:tgtEl>
                                        <p:attrNameLst>
                                          <p:attrName>style.visibility</p:attrName>
                                        </p:attrNameLst>
                                      </p:cBhvr>
                                      <p:to>
                                        <p:strVal val="visible"/>
                                      </p:to>
                                    </p:set>
                                    <p:animEffect transition="in" filter="fade">
                                      <p:cBhvr>
                                        <p:cTn id="57" dur="400"/>
                                        <p:tgtEl>
                                          <p:spTgt spid="11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
                                        </p:tgtEl>
                                        <p:attrNameLst>
                                          <p:attrName>style.visibility</p:attrName>
                                        </p:attrNameLst>
                                      </p:cBhvr>
                                      <p:to>
                                        <p:strVal val="visible"/>
                                      </p:to>
                                    </p:set>
                                    <p:animEffect transition="in" filter="fade">
                                      <p:cBhvr>
                                        <p:cTn id="62" dur="400"/>
                                        <p:tgtEl>
                                          <p:spTgt spid="120"/>
                                        </p:tgtEl>
                                      </p:cBhvr>
                                    </p:animEffect>
                                  </p:childTnLst>
                                </p:cTn>
                              </p:par>
                              <p:par>
                                <p:cTn id="63" presetID="10" presetClass="entr" presetSubtype="0" fill="hold" nodeType="withEffect">
                                  <p:stCondLst>
                                    <p:cond delay="0"/>
                                  </p:stCondLst>
                                  <p:childTnLst>
                                    <p:set>
                                      <p:cBhvr>
                                        <p:cTn id="64" dur="1" fill="hold">
                                          <p:stCondLst>
                                            <p:cond delay="0"/>
                                          </p:stCondLst>
                                        </p:cTn>
                                        <p:tgtEl>
                                          <p:spTgt spid="121"/>
                                        </p:tgtEl>
                                        <p:attrNameLst>
                                          <p:attrName>style.visibility</p:attrName>
                                        </p:attrNameLst>
                                      </p:cBhvr>
                                      <p:to>
                                        <p:strVal val="visible"/>
                                      </p:to>
                                    </p:set>
                                    <p:animEffect transition="in" filter="fade">
                                      <p:cBhvr>
                                        <p:cTn id="65" dur="400"/>
                                        <p:tgtEl>
                                          <p:spTgt spid="121"/>
                                        </p:tgtEl>
                                      </p:cBhvr>
                                    </p:animEffect>
                                  </p:childTnLst>
                                </p:cTn>
                              </p:par>
                              <p:par>
                                <p:cTn id="66" presetID="10" presetClass="entr" presetSubtype="0" fill="hold" nodeType="withEffect">
                                  <p:stCondLst>
                                    <p:cond delay="0"/>
                                  </p:stCondLst>
                                  <p:childTnLst>
                                    <p:set>
                                      <p:cBhvr>
                                        <p:cTn id="67" dur="1" fill="hold">
                                          <p:stCondLst>
                                            <p:cond delay="0"/>
                                          </p:stCondLst>
                                        </p:cTn>
                                        <p:tgtEl>
                                          <p:spTgt spid="122"/>
                                        </p:tgtEl>
                                        <p:attrNameLst>
                                          <p:attrName>style.visibility</p:attrName>
                                        </p:attrNameLst>
                                      </p:cBhvr>
                                      <p:to>
                                        <p:strVal val="visible"/>
                                      </p:to>
                                    </p:set>
                                    <p:animEffect transition="in" filter="fade">
                                      <p:cBhvr>
                                        <p:cTn id="68" dur="400"/>
                                        <p:tgtEl>
                                          <p:spTgt spid="122"/>
                                        </p:tgtEl>
                                      </p:cBhvr>
                                    </p:animEffect>
                                  </p:childTnLst>
                                </p:cTn>
                              </p:par>
                              <p:par>
                                <p:cTn id="69" presetID="10" presetClass="entr" presetSubtype="0" fill="hold" nodeType="withEffect">
                                  <p:stCondLst>
                                    <p:cond delay="0"/>
                                  </p:stCondLst>
                                  <p:childTnLst>
                                    <p:set>
                                      <p:cBhvr>
                                        <p:cTn id="70" dur="1" fill="hold">
                                          <p:stCondLst>
                                            <p:cond delay="0"/>
                                          </p:stCondLst>
                                        </p:cTn>
                                        <p:tgtEl>
                                          <p:spTgt spid="123"/>
                                        </p:tgtEl>
                                        <p:attrNameLst>
                                          <p:attrName>style.visibility</p:attrName>
                                        </p:attrNameLst>
                                      </p:cBhvr>
                                      <p:to>
                                        <p:strVal val="visible"/>
                                      </p:to>
                                    </p:set>
                                    <p:animEffect transition="in" filter="fade">
                                      <p:cBhvr>
                                        <p:cTn id="71" dur="400"/>
                                        <p:tgtEl>
                                          <p:spTgt spid="123"/>
                                        </p:tgtEl>
                                      </p:cBhvr>
                                    </p:animEffect>
                                  </p:childTnLst>
                                </p:cTn>
                              </p:par>
                              <p:par>
                                <p:cTn id="72" presetID="10" presetClass="entr" presetSubtype="0" fill="hold" nodeType="withEffect">
                                  <p:stCondLst>
                                    <p:cond delay="0"/>
                                  </p:stCondLst>
                                  <p:childTnLst>
                                    <p:set>
                                      <p:cBhvr>
                                        <p:cTn id="73" dur="1" fill="hold">
                                          <p:stCondLst>
                                            <p:cond delay="0"/>
                                          </p:stCondLst>
                                        </p:cTn>
                                        <p:tgtEl>
                                          <p:spTgt spid="124"/>
                                        </p:tgtEl>
                                        <p:attrNameLst>
                                          <p:attrName>style.visibility</p:attrName>
                                        </p:attrNameLst>
                                      </p:cBhvr>
                                      <p:to>
                                        <p:strVal val="visible"/>
                                      </p:to>
                                    </p:set>
                                    <p:animEffect transition="in" filter="fade">
                                      <p:cBhvr>
                                        <p:cTn id="74" dur="400"/>
                                        <p:tgtEl>
                                          <p:spTgt spid="124"/>
                                        </p:tgtEl>
                                      </p:cBhvr>
                                    </p:animEffect>
                                  </p:childTnLst>
                                </p:cTn>
                              </p:par>
                              <p:par>
                                <p:cTn id="75" presetID="10" presetClass="entr" presetSubtype="0" fill="hold" nodeType="withEffect">
                                  <p:stCondLst>
                                    <p:cond delay="0"/>
                                  </p:stCondLst>
                                  <p:childTnLst>
                                    <p:set>
                                      <p:cBhvr>
                                        <p:cTn id="76" dur="1" fill="hold">
                                          <p:stCondLst>
                                            <p:cond delay="0"/>
                                          </p:stCondLst>
                                        </p:cTn>
                                        <p:tgtEl>
                                          <p:spTgt spid="94"/>
                                        </p:tgtEl>
                                        <p:attrNameLst>
                                          <p:attrName>style.visibility</p:attrName>
                                        </p:attrNameLst>
                                      </p:cBhvr>
                                      <p:to>
                                        <p:strVal val="visible"/>
                                      </p:to>
                                    </p:set>
                                    <p:animEffect transition="in" filter="fade">
                                      <p:cBhvr>
                                        <p:cTn id="77" dur="400"/>
                                        <p:tgtEl>
                                          <p:spTgt spid="94"/>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95"/>
                                        </p:tgtEl>
                                        <p:attrNameLst>
                                          <p:attrName>style.visibility</p:attrName>
                                        </p:attrNameLst>
                                      </p:cBhvr>
                                      <p:to>
                                        <p:strVal val="visible"/>
                                      </p:to>
                                    </p:set>
                                    <p:animEffect transition="in" filter="fade">
                                      <p:cBhvr>
                                        <p:cTn id="82" dur="400"/>
                                        <p:tgtEl>
                                          <p:spTgt spid="95"/>
                                        </p:tgtEl>
                                      </p:cBhvr>
                                    </p:animEffect>
                                  </p:childTnLst>
                                </p:cTn>
                              </p:par>
                              <p:par>
                                <p:cTn id="83" presetID="10" presetClass="entr" presetSubtype="0" fill="hold" nodeType="withEffect">
                                  <p:stCondLst>
                                    <p:cond delay="0"/>
                                  </p:stCondLst>
                                  <p:childTnLst>
                                    <p:set>
                                      <p:cBhvr>
                                        <p:cTn id="84" dur="1" fill="hold">
                                          <p:stCondLst>
                                            <p:cond delay="0"/>
                                          </p:stCondLst>
                                        </p:cTn>
                                        <p:tgtEl>
                                          <p:spTgt spid="96"/>
                                        </p:tgtEl>
                                        <p:attrNameLst>
                                          <p:attrName>style.visibility</p:attrName>
                                        </p:attrNameLst>
                                      </p:cBhvr>
                                      <p:to>
                                        <p:strVal val="visible"/>
                                      </p:to>
                                    </p:set>
                                    <p:animEffect transition="in" filter="fade">
                                      <p:cBhvr>
                                        <p:cTn id="85" dur="400"/>
                                        <p:tgtEl>
                                          <p:spTgt spid="96"/>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nodeType="clickEffect">
                                  <p:stCondLst>
                                    <p:cond delay="0"/>
                                  </p:stCondLst>
                                  <p:childTnLst>
                                    <p:set>
                                      <p:cBhvr>
                                        <p:cTn id="89" dur="1" fill="hold">
                                          <p:stCondLst>
                                            <p:cond delay="0"/>
                                          </p:stCondLst>
                                        </p:cTn>
                                        <p:tgtEl>
                                          <p:spTgt spid="97"/>
                                        </p:tgtEl>
                                        <p:attrNameLst>
                                          <p:attrName>style.visibility</p:attrName>
                                        </p:attrNameLst>
                                      </p:cBhvr>
                                      <p:to>
                                        <p:strVal val="visible"/>
                                      </p:to>
                                    </p:set>
                                    <p:animEffect transition="in" filter="fade">
                                      <p:cBhvr>
                                        <p:cTn id="90" dur="400"/>
                                        <p:tgtEl>
                                          <p:spTgt spid="97"/>
                                        </p:tgtEl>
                                      </p:cBhvr>
                                    </p:animEffect>
                                  </p:childTnLst>
                                </p:cTn>
                              </p:par>
                              <p:par>
                                <p:cTn id="91" presetID="10" presetClass="entr" presetSubtype="0" fill="hold" nodeType="withEffect">
                                  <p:stCondLst>
                                    <p:cond delay="0"/>
                                  </p:stCondLst>
                                  <p:childTnLst>
                                    <p:set>
                                      <p:cBhvr>
                                        <p:cTn id="92" dur="1" fill="hold">
                                          <p:stCondLst>
                                            <p:cond delay="0"/>
                                          </p:stCondLst>
                                        </p:cTn>
                                        <p:tgtEl>
                                          <p:spTgt spid="98"/>
                                        </p:tgtEl>
                                        <p:attrNameLst>
                                          <p:attrName>style.visibility</p:attrName>
                                        </p:attrNameLst>
                                      </p:cBhvr>
                                      <p:to>
                                        <p:strVal val="visible"/>
                                      </p:to>
                                    </p:set>
                                    <p:animEffect transition="in" filter="fade">
                                      <p:cBhvr>
                                        <p:cTn id="93" dur="400"/>
                                        <p:tgtEl>
                                          <p:spTgt spid="98"/>
                                        </p:tgtEl>
                                      </p:cBhvr>
                                    </p:animEffect>
                                  </p:childTnLst>
                                </p:cTn>
                              </p:par>
                              <p:par>
                                <p:cTn id="94" presetID="10" presetClass="entr" presetSubtype="0" fill="hold" nodeType="withEffect">
                                  <p:stCondLst>
                                    <p:cond delay="0"/>
                                  </p:stCondLst>
                                  <p:childTnLst>
                                    <p:set>
                                      <p:cBhvr>
                                        <p:cTn id="95" dur="1" fill="hold">
                                          <p:stCondLst>
                                            <p:cond delay="0"/>
                                          </p:stCondLst>
                                        </p:cTn>
                                        <p:tgtEl>
                                          <p:spTgt spid="99"/>
                                        </p:tgtEl>
                                        <p:attrNameLst>
                                          <p:attrName>style.visibility</p:attrName>
                                        </p:attrNameLst>
                                      </p:cBhvr>
                                      <p:to>
                                        <p:strVal val="visible"/>
                                      </p:to>
                                    </p:set>
                                    <p:animEffect transition="in" filter="fade">
                                      <p:cBhvr>
                                        <p:cTn id="96" dur="400"/>
                                        <p:tgtEl>
                                          <p:spTgt spid="99"/>
                                        </p:tgtEl>
                                      </p:cBhvr>
                                    </p:animEffect>
                                  </p:childTnLst>
                                </p:cTn>
                              </p:par>
                              <p:par>
                                <p:cTn id="97" presetID="10" presetClass="entr" presetSubtype="0" fill="hold" nodeType="withEffect">
                                  <p:stCondLst>
                                    <p:cond delay="0"/>
                                  </p:stCondLst>
                                  <p:childTnLst>
                                    <p:set>
                                      <p:cBhvr>
                                        <p:cTn id="98" dur="1" fill="hold">
                                          <p:stCondLst>
                                            <p:cond delay="0"/>
                                          </p:stCondLst>
                                        </p:cTn>
                                        <p:tgtEl>
                                          <p:spTgt spid="125"/>
                                        </p:tgtEl>
                                        <p:attrNameLst>
                                          <p:attrName>style.visibility</p:attrName>
                                        </p:attrNameLst>
                                      </p:cBhvr>
                                      <p:to>
                                        <p:strVal val="visible"/>
                                      </p:to>
                                    </p:set>
                                    <p:animEffect transition="in" filter="fade">
                                      <p:cBhvr>
                                        <p:cTn id="99"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should processing and shared state be organized?</a:t>
            </a:r>
          </a:p>
        </p:txBody>
      </p:sp>
      <p:sp>
        <p:nvSpPr>
          <p:cNvPr id="3" name="Slide Number Placeholder 2"/>
          <p:cNvSpPr>
            <a:spLocks noGrp="1"/>
          </p:cNvSpPr>
          <p:nvPr>
            <p:ph type="sldNum" sz="quarter" idx="4"/>
          </p:nvPr>
        </p:nvSpPr>
        <p:spPr/>
        <p:txBody>
          <a:bodyPr/>
          <a:lstStyle/>
          <a:p>
            <a:fld id="{B7EB45DA-9A0D-DC49-8E02-F30A5DDC21C3}" type="slidenum">
              <a:rPr lang="en-US" smtClean="0"/>
              <a:t>15</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Pipeline vs. repository: same computations, different organization of state</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PIPELINE</a:t>
            </a:r>
          </a:p>
        </p:txBody>
      </p:sp>
      <p:sp>
        <p:nvSpPr>
          <p:cNvPr id="100" name="P100"/>
          <p:cNvSpPr/>
          <p:nvPr/>
        </p:nvSpPr>
        <p:spPr>
          <a:xfrm>
            <a:off x="1288000" y="14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INPUT</a:t>
            </a:r>
          </a:p>
        </p:txBody>
      </p:sp>
      <p:sp>
        <p:nvSpPr>
          <p:cNvPr id="101" name="P101"/>
          <p:cNvSpPr/>
          <p:nvPr/>
        </p:nvSpPr>
        <p:spPr>
          <a:xfrm>
            <a:off x="1288000" y="22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02" name="P102"/>
          <p:cNvSpPr/>
          <p:nvPr/>
        </p:nvSpPr>
        <p:spPr>
          <a:xfrm>
            <a:off x="1288000" y="30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03" name="P103"/>
          <p:cNvSpPr/>
          <p:nvPr/>
        </p:nvSpPr>
        <p:spPr>
          <a:xfrm>
            <a:off x="1288000" y="38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REPORT</a:t>
            </a:r>
          </a:p>
        </p:txBody>
      </p:sp>
      <p:cxnSp>
        <p:nvCxnSpPr>
          <p:cNvPr id="104" name="PA0"/>
          <p:cNvCxnSpPr>
            <a:stCxn id="100" idx="2"/>
            <a:endCxn id="101" idx="0"/>
          </p:cNvCxnSpPr>
          <p:nvPr/>
        </p:nvCxnSpPr>
        <p:spPr>
          <a:xfrm>
            <a:off x="2553000" y="2070000"/>
            <a:ext cx="0" cy="200000"/>
          </a:xfrm>
          <a:prstGeom prst="line">
            <a:avLst/>
          </a:prstGeom>
          <a:ln w="53577">
            <a:solidFill>
              <a:srgbClr val="8E6F3E"/>
            </a:solidFill>
            <a:tailEnd type="triangle" w="med" len="med"/>
          </a:ln>
        </p:spPr>
      </p:cxnSp>
      <p:cxnSp>
        <p:nvCxnSpPr>
          <p:cNvPr id="105" name="PA1"/>
          <p:cNvCxnSpPr>
            <a:stCxn id="101" idx="2"/>
            <a:endCxn id="102" idx="0"/>
          </p:cNvCxnSpPr>
          <p:nvPr/>
        </p:nvCxnSpPr>
        <p:spPr>
          <a:xfrm>
            <a:off x="2553000" y="2870000"/>
            <a:ext cx="0" cy="200000"/>
          </a:xfrm>
          <a:prstGeom prst="line">
            <a:avLst/>
          </a:prstGeom>
          <a:ln w="53577">
            <a:solidFill>
              <a:srgbClr val="8E6F3E"/>
            </a:solidFill>
            <a:tailEnd type="triangle" w="med" len="med"/>
          </a:ln>
        </p:spPr>
      </p:cxnSp>
      <p:cxnSp>
        <p:nvCxnSpPr>
          <p:cNvPr id="106" name="PA2"/>
          <p:cNvCxnSpPr>
            <a:stCxn id="102" idx="2"/>
            <a:endCxn id="103" idx="0"/>
          </p:cNvCxnSpPr>
          <p:nvPr/>
        </p:nvCxnSpPr>
        <p:spPr>
          <a:xfrm>
            <a:off x="2553000" y="3670000"/>
            <a:ext cx="0" cy="200000"/>
          </a:xfrm>
          <a:prstGeom prst="line">
            <a:avLst/>
          </a:prstGeom>
          <a:ln w="53577">
            <a:solidFill>
              <a:srgbClr val="8E6F3E"/>
            </a:solidFill>
            <a:tailEnd type="triangle" w="med" len="med"/>
          </a:ln>
        </p:spPr>
      </p:cxnSp>
      <p:sp>
        <p:nvSpPr>
          <p:cNvPr id="92" name="CapL"/>
          <p:cNvSpPr txBox="1"/>
          <p:nvPr/>
        </p:nvSpPr>
        <p:spPr>
          <a:xfrm>
            <a:off x="685800" y="456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state and results flow forward</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REPOSITORY</a:t>
            </a:r>
          </a:p>
        </p:txBody>
      </p:sp>
      <p:sp>
        <p:nvSpPr>
          <p:cNvPr id="110" name="Repo"/>
          <p:cNvSpPr/>
          <p:nvPr/>
        </p:nvSpPr>
        <p:spPr>
          <a:xfrm>
            <a:off x="5850000" y="2600000"/>
            <a:ext cx="1500000" cy="74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REPOSITORY</a:t>
            </a:r>
          </a:p>
        </p:txBody>
      </p:sp>
      <p:sp>
        <p:nvSpPr>
          <p:cNvPr id="111" name="RAna"/>
          <p:cNvSpPr/>
          <p:nvPr/>
        </p:nvSpPr>
        <p:spPr>
          <a:xfrm>
            <a:off x="5875000" y="148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12" name="ROpt"/>
          <p:cNvSpPr/>
          <p:nvPr/>
        </p:nvSpPr>
        <p:spPr>
          <a:xfrm>
            <a:off x="5875000" y="380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13" name="RInp"/>
          <p:cNvSpPr/>
          <p:nvPr/>
        </p:nvSpPr>
        <p:spPr>
          <a:xfrm>
            <a:off x="464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INPUT</a:t>
            </a:r>
          </a:p>
        </p:txBody>
      </p:sp>
      <p:sp>
        <p:nvSpPr>
          <p:cNvPr id="114" name="RRep"/>
          <p:cNvSpPr/>
          <p:nvPr/>
        </p:nvSpPr>
        <p:spPr>
          <a:xfrm>
            <a:off x="775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REPORT</a:t>
            </a:r>
          </a:p>
        </p:txBody>
      </p:sp>
      <p:cxnSp>
        <p:nvCxnSpPr>
          <p:cNvPr id="115" name="RcA"/>
          <p:cNvCxnSpPr>
            <a:stCxn id="111" idx="2"/>
            <a:endCxn id="110" idx="0"/>
          </p:cNvCxnSpPr>
          <p:nvPr/>
        </p:nvCxnSpPr>
        <p:spPr>
          <a:xfrm>
            <a:off x="6600000" y="2100000"/>
            <a:ext cx="0" cy="500000"/>
          </a:xfrm>
          <a:prstGeom prst="line">
            <a:avLst/>
          </a:prstGeom>
          <a:ln w="53577">
            <a:solidFill>
              <a:srgbClr val="8E6F3E"/>
            </a:solidFill>
            <a:headEnd type="triangle" w="med" len="med"/>
            <a:tailEnd type="triangle" w="med" len="med"/>
          </a:ln>
        </p:spPr>
      </p:cxnSp>
      <p:cxnSp>
        <p:nvCxnSpPr>
          <p:cNvPr id="116" name="RcO"/>
          <p:cNvCxnSpPr>
            <a:stCxn id="110" idx="2"/>
            <a:endCxn id="112" idx="0"/>
          </p:cNvCxnSpPr>
          <p:nvPr/>
        </p:nvCxnSpPr>
        <p:spPr>
          <a:xfrm>
            <a:off x="6600000" y="3340000"/>
            <a:ext cx="0" cy="460000"/>
          </a:xfrm>
          <a:prstGeom prst="line">
            <a:avLst/>
          </a:prstGeom>
          <a:ln w="53577">
            <a:solidFill>
              <a:srgbClr val="8E6F3E"/>
            </a:solidFill>
            <a:headEnd type="triangle" w="med" len="med"/>
            <a:tailEnd type="triangle" w="med" len="med"/>
          </a:ln>
        </p:spPr>
      </p:cxnSp>
      <p:cxnSp>
        <p:nvCxnSpPr>
          <p:cNvPr id="117" name="RcI"/>
          <p:cNvCxnSpPr>
            <a:stCxn id="113" idx="3"/>
            <a:endCxn id="110" idx="1"/>
          </p:cNvCxnSpPr>
          <p:nvPr/>
        </p:nvCxnSpPr>
        <p:spPr>
          <a:xfrm>
            <a:off x="5500000" y="2970000"/>
            <a:ext cx="350000" cy="0"/>
          </a:xfrm>
          <a:prstGeom prst="line">
            <a:avLst/>
          </a:prstGeom>
          <a:ln w="53577">
            <a:solidFill>
              <a:srgbClr val="8E6F3E"/>
            </a:solidFill>
            <a:tailEnd type="triangle" w="med" len="med"/>
          </a:ln>
        </p:spPr>
      </p:cxnSp>
      <p:cxnSp>
        <p:nvCxnSpPr>
          <p:cNvPr id="118" name="RcR"/>
          <p:cNvCxnSpPr>
            <a:stCxn id="110" idx="3"/>
            <a:endCxn id="114" idx="1"/>
          </p:cNvCxnSpPr>
          <p:nvPr/>
        </p:nvCxnSpPr>
        <p:spPr>
          <a:xfrm>
            <a:off x="7350000" y="2970000"/>
            <a:ext cx="400000" cy="0"/>
          </a:xfrm>
          <a:prstGeom prst="line">
            <a:avLst/>
          </a:prstGeom>
          <a:ln w="53577">
            <a:solidFill>
              <a:srgbClr val="8E6F3E"/>
            </a:solidFill>
            <a:headEnd type="triangle" w="med" len="med"/>
            <a:tailEnd type="triangle" w="med" len="med"/>
          </a:ln>
        </p:spPr>
      </p:cxnSp>
      <p:sp>
        <p:nvSpPr>
          <p:cNvPr id="94" name="CapR"/>
          <p:cNvSpPr txBox="1"/>
          <p:nvPr/>
        </p:nvSpPr>
        <p:spPr>
          <a:xfrm>
            <a:off x="4722000" y="456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computations meet at one authoritative state</a:t>
            </a:r>
          </a:p>
        </p:txBody>
      </p:sp>
      <p:sp>
        <p:nvSpPr>
          <p:cNvPr id="95" name="BuysL"/>
          <p:cNvSpPr txBox="1"/>
          <p:nvPr/>
        </p:nvSpPr>
        <p:spPr>
          <a:xfrm>
            <a:off x="685800" y="4900000"/>
            <a:ext cx="3736200" cy="110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explicit flow, local stage dependencies, incremental processing</a:t>
            </a:r>
          </a:p>
          <a:p>
            <a:pPr algn="l">
              <a:spcBef>
                <a:spcPts val="600"/>
              </a:spcBef>
              <a:buNone/>
            </a:pPr>
            <a:r>
              <a:rPr lang="en-US" sz="2000" b="1" i="0" dirty="0">
                <a:solidFill>
                  <a:srgbClr val="555960"/>
                </a:solidFill>
              </a:rPr>
              <a:t>costs — </a:t>
            </a:r>
            <a:r>
              <a:rPr lang="en-US" sz="2000" b="0" i="0" dirty="0">
                <a:solidFill>
                  <a:srgbClr val="000000"/>
                </a:solidFill>
              </a:rPr>
              <a:t>shared state across stages is harder</a:t>
            </a:r>
          </a:p>
        </p:txBody>
      </p:sp>
      <p:sp>
        <p:nvSpPr>
          <p:cNvPr id="96" name="BuysR"/>
          <p:cNvSpPr txBox="1"/>
          <p:nvPr/>
        </p:nvSpPr>
        <p:spPr>
          <a:xfrm>
            <a:off x="4722000" y="4900000"/>
            <a:ext cx="3736200" cy="110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authoritative shared state, integration</a:t>
            </a:r>
          </a:p>
          <a:p>
            <a:pPr algn="l">
              <a:spcBef>
                <a:spcPts val="600"/>
              </a:spcBef>
              <a:buNone/>
            </a:pPr>
            <a:r>
              <a:rPr lang="en-US" sz="2000" b="1" i="0" dirty="0">
                <a:solidFill>
                  <a:srgbClr val="555960"/>
                </a:solidFill>
              </a:rPr>
              <a:t>costs — </a:t>
            </a:r>
            <a:r>
              <a:rPr lang="en-US" sz="2000" b="0" i="0" dirty="0">
                <a:solidFill>
                  <a:srgbClr val="000000"/>
                </a:solidFill>
              </a:rPr>
              <a:t>central schema coupling, shared fate</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local flow and independence</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shared consistency and integration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400"/>
                                        <p:tgtEl>
                                          <p:spTgt spid="113"/>
                                        </p:tgtEl>
                                      </p:cBhvr>
                                    </p:animEffect>
                                  </p:childTnLst>
                                </p:cTn>
                              </p:par>
                              <p:par>
                                <p:cTn id="51" presetID="10" presetClass="entr" presetSubtype="0" fill="hold" nodeType="withEffect">
                                  <p:stCondLst>
                                    <p:cond delay="0"/>
                                  </p:stCondLst>
                                  <p:childTnLst>
                                    <p:set>
                                      <p:cBhvr>
                                        <p:cTn id="52" dur="1" fill="hold">
                                          <p:stCondLst>
                                            <p:cond delay="0"/>
                                          </p:stCondLst>
                                        </p:cTn>
                                        <p:tgtEl>
                                          <p:spTgt spid="114"/>
                                        </p:tgtEl>
                                        <p:attrNameLst>
                                          <p:attrName>style.visibility</p:attrName>
                                        </p:attrNameLst>
                                      </p:cBhvr>
                                      <p:to>
                                        <p:strVal val="visible"/>
                                      </p:to>
                                    </p:set>
                                    <p:animEffect transition="in" filter="fade">
                                      <p:cBhvr>
                                        <p:cTn id="53" dur="400"/>
                                        <p:tgtEl>
                                          <p:spTgt spid="114"/>
                                        </p:tgtEl>
                                      </p:cBhvr>
                                    </p:animEffect>
                                  </p:childTnLst>
                                </p:cTn>
                              </p:par>
                              <p:par>
                                <p:cTn id="54" presetID="10" presetClass="entr" presetSubtype="0" fill="hold" nodeType="with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par>
                                <p:cTn id="57" presetID="10" presetClass="entr" presetSubtype="0" fill="hold" nodeType="withEffect">
                                  <p:stCondLst>
                                    <p:cond delay="0"/>
                                  </p:stCondLst>
                                  <p:childTnLst>
                                    <p:set>
                                      <p:cBhvr>
                                        <p:cTn id="58" dur="1" fill="hold">
                                          <p:stCondLst>
                                            <p:cond delay="0"/>
                                          </p:stCondLst>
                                        </p:cTn>
                                        <p:tgtEl>
                                          <p:spTgt spid="116"/>
                                        </p:tgtEl>
                                        <p:attrNameLst>
                                          <p:attrName>style.visibility</p:attrName>
                                        </p:attrNameLst>
                                      </p:cBhvr>
                                      <p:to>
                                        <p:strVal val="visible"/>
                                      </p:to>
                                    </p:set>
                                    <p:animEffect transition="in" filter="fade">
                                      <p:cBhvr>
                                        <p:cTn id="59" dur="400"/>
                                        <p:tgtEl>
                                          <p:spTgt spid="116"/>
                                        </p:tgtEl>
                                      </p:cBhvr>
                                    </p:animEffect>
                                  </p:childTnLst>
                                </p:cTn>
                              </p:par>
                              <p:par>
                                <p:cTn id="60" presetID="10" presetClass="entr" presetSubtype="0" fill="hold" nodeType="withEffect">
                                  <p:stCondLst>
                                    <p:cond delay="0"/>
                                  </p:stCondLst>
                                  <p:childTnLst>
                                    <p:set>
                                      <p:cBhvr>
                                        <p:cTn id="61" dur="1" fill="hold">
                                          <p:stCondLst>
                                            <p:cond delay="0"/>
                                          </p:stCondLst>
                                        </p:cTn>
                                        <p:tgtEl>
                                          <p:spTgt spid="117"/>
                                        </p:tgtEl>
                                        <p:attrNameLst>
                                          <p:attrName>style.visibility</p:attrName>
                                        </p:attrNameLst>
                                      </p:cBhvr>
                                      <p:to>
                                        <p:strVal val="visible"/>
                                      </p:to>
                                    </p:set>
                                    <p:animEffect transition="in" filter="fade">
                                      <p:cBhvr>
                                        <p:cTn id="62" dur="400"/>
                                        <p:tgtEl>
                                          <p:spTgt spid="117"/>
                                        </p:tgtEl>
                                      </p:cBhvr>
                                    </p:animEffect>
                                  </p:childTnLst>
                                </p:cTn>
                              </p:par>
                              <p:par>
                                <p:cTn id="63" presetID="10" presetClass="entr" presetSubtype="0" fill="hold" nodeType="withEffect">
                                  <p:stCondLst>
                                    <p:cond delay="0"/>
                                  </p:stCondLst>
                                  <p:childTnLst>
                                    <p:set>
                                      <p:cBhvr>
                                        <p:cTn id="64" dur="1" fill="hold">
                                          <p:stCondLst>
                                            <p:cond delay="0"/>
                                          </p:stCondLst>
                                        </p:cTn>
                                        <p:tgtEl>
                                          <p:spTgt spid="118"/>
                                        </p:tgtEl>
                                        <p:attrNameLst>
                                          <p:attrName>style.visibility</p:attrName>
                                        </p:attrNameLst>
                                      </p:cBhvr>
                                      <p:to>
                                        <p:strVal val="visible"/>
                                      </p:to>
                                    </p:set>
                                    <p:animEffect transition="in" filter="fade">
                                      <p:cBhvr>
                                        <p:cTn id="65" dur="400"/>
                                        <p:tgtEl>
                                          <p:spTgt spid="118"/>
                                        </p:tgtEl>
                                      </p:cBhvr>
                                    </p:animEffect>
                                  </p:childTnLst>
                                </p:cTn>
                              </p:par>
                              <p:par>
                                <p:cTn id="66" presetID="10" presetClass="entr" presetSubtype="0" fill="hold" nodeType="withEffect">
                                  <p:stCondLst>
                                    <p:cond delay="0"/>
                                  </p:stCondLst>
                                  <p:childTnLst>
                                    <p:set>
                                      <p:cBhvr>
                                        <p:cTn id="67" dur="1" fill="hold">
                                          <p:stCondLst>
                                            <p:cond delay="0"/>
                                          </p:stCondLst>
                                        </p:cTn>
                                        <p:tgtEl>
                                          <p:spTgt spid="94"/>
                                        </p:tgtEl>
                                        <p:attrNameLst>
                                          <p:attrName>style.visibility</p:attrName>
                                        </p:attrNameLst>
                                      </p:cBhvr>
                                      <p:to>
                                        <p:strVal val="visible"/>
                                      </p:to>
                                    </p:set>
                                    <p:animEffect transition="in" filter="fade">
                                      <p:cBhvr>
                                        <p:cTn id="68" dur="400"/>
                                        <p:tgtEl>
                                          <p:spTgt spid="94"/>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5"/>
                                        </p:tgtEl>
                                        <p:attrNameLst>
                                          <p:attrName>style.visibility</p:attrName>
                                        </p:attrNameLst>
                                      </p:cBhvr>
                                      <p:to>
                                        <p:strVal val="visible"/>
                                      </p:to>
                                    </p:set>
                                    <p:animEffect transition="in" filter="fade">
                                      <p:cBhvr>
                                        <p:cTn id="73" dur="400"/>
                                        <p:tgtEl>
                                          <p:spTgt spid="95"/>
                                        </p:tgtEl>
                                      </p:cBhvr>
                                    </p:animEffect>
                                  </p:childTnLst>
                                </p:cTn>
                              </p:par>
                              <p:par>
                                <p:cTn id="74" presetID="10" presetClass="entr" presetSubtype="0" fill="hold" nodeType="withEffect">
                                  <p:stCondLst>
                                    <p:cond delay="0"/>
                                  </p:stCondLst>
                                  <p:childTnLst>
                                    <p:set>
                                      <p:cBhvr>
                                        <p:cTn id="75" dur="1" fill="hold">
                                          <p:stCondLst>
                                            <p:cond delay="0"/>
                                          </p:stCondLst>
                                        </p:cTn>
                                        <p:tgtEl>
                                          <p:spTgt spid="96"/>
                                        </p:tgtEl>
                                        <p:attrNameLst>
                                          <p:attrName>style.visibility</p:attrName>
                                        </p:attrNameLst>
                                      </p:cBhvr>
                                      <p:to>
                                        <p:strVal val="visible"/>
                                      </p:to>
                                    </p:set>
                                    <p:animEffect transition="in" filter="fade">
                                      <p:cBhvr>
                                        <p:cTn id="76" dur="400"/>
                                        <p:tgtEl>
                                          <p:spTgt spid="9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97"/>
                                        </p:tgtEl>
                                        <p:attrNameLst>
                                          <p:attrName>style.visibility</p:attrName>
                                        </p:attrNameLst>
                                      </p:cBhvr>
                                      <p:to>
                                        <p:strVal val="visible"/>
                                      </p:to>
                                    </p:set>
                                    <p:animEffect transition="in" filter="fade">
                                      <p:cBhvr>
                                        <p:cTn id="81" dur="400"/>
                                        <p:tgtEl>
                                          <p:spTgt spid="97"/>
                                        </p:tgtEl>
                                      </p:cBhvr>
                                    </p:animEffect>
                                  </p:childTnLst>
                                </p:cTn>
                              </p:par>
                              <p:par>
                                <p:cTn id="82" presetID="10" presetClass="entr" presetSubtype="0" fill="hold" nodeType="withEffect">
                                  <p:stCondLst>
                                    <p:cond delay="0"/>
                                  </p:stCondLst>
                                  <p:childTnLst>
                                    <p:set>
                                      <p:cBhvr>
                                        <p:cTn id="83" dur="1" fill="hold">
                                          <p:stCondLst>
                                            <p:cond delay="0"/>
                                          </p:stCondLst>
                                        </p:cTn>
                                        <p:tgtEl>
                                          <p:spTgt spid="98"/>
                                        </p:tgtEl>
                                        <p:attrNameLst>
                                          <p:attrName>style.visibility</p:attrName>
                                        </p:attrNameLst>
                                      </p:cBhvr>
                                      <p:to>
                                        <p:strVal val="visible"/>
                                      </p:to>
                                    </p:set>
                                    <p:animEffect transition="in" filter="fade">
                                      <p:cBhvr>
                                        <p:cTn id="84" dur="400"/>
                                        <p:tgtEl>
                                          <p:spTgt spid="98"/>
                                        </p:tgtEl>
                                      </p:cBhvr>
                                    </p:animEffect>
                                  </p:childTnLst>
                                </p:cTn>
                              </p:par>
                              <p:par>
                                <p:cTn id="85" presetID="10" presetClass="entr" presetSubtype="0" fill="hold" nodeType="withEffect">
                                  <p:stCondLst>
                                    <p:cond delay="0"/>
                                  </p:stCondLst>
                                  <p:childTnLst>
                                    <p:set>
                                      <p:cBhvr>
                                        <p:cTn id="86" dur="1" fill="hold">
                                          <p:stCondLst>
                                            <p:cond delay="0"/>
                                          </p:stCondLst>
                                        </p:cTn>
                                        <p:tgtEl>
                                          <p:spTgt spid="99"/>
                                        </p:tgtEl>
                                        <p:attrNameLst>
                                          <p:attrName>style.visibility</p:attrName>
                                        </p:attrNameLst>
                                      </p:cBhvr>
                                      <p:to>
                                        <p:strVal val="visible"/>
                                      </p:to>
                                    </p:set>
                                    <p:animEffect transition="in" filter="fade">
                                      <p:cBhvr>
                                        <p:cTn id="87" dur="400"/>
                                        <p:tgtEl>
                                          <p:spTgt spid="99"/>
                                        </p:tgtEl>
                                      </p:cBhvr>
                                    </p:animEffect>
                                  </p:childTnLst>
                                </p:cTn>
                              </p:par>
                              <p:par>
                                <p:cTn id="88" presetID="10" presetClass="entr" presetSubtype="0" fill="hold" nodeType="withEffect">
                                  <p:stCondLst>
                                    <p:cond delay="0"/>
                                  </p:stCondLst>
                                  <p:childTnLst>
                                    <p:set>
                                      <p:cBhvr>
                                        <p:cTn id="89" dur="1" fill="hold">
                                          <p:stCondLst>
                                            <p:cond delay="0"/>
                                          </p:stCondLst>
                                        </p:cTn>
                                        <p:tgtEl>
                                          <p:spTgt spid="120"/>
                                        </p:tgtEl>
                                        <p:attrNameLst>
                                          <p:attrName>style.visibility</p:attrName>
                                        </p:attrNameLst>
                                      </p:cBhvr>
                                      <p:to>
                                        <p:strVal val="visible"/>
                                      </p:to>
                                    </p:set>
                                    <p:animEffect transition="in" filter="fade">
                                      <p:cBhvr>
                                        <p:cTn id="90"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should components communicate?</a:t>
            </a:r>
          </a:p>
        </p:txBody>
      </p:sp>
      <p:sp>
        <p:nvSpPr>
          <p:cNvPr id="3" name="Slide Number Placeholder 2"/>
          <p:cNvSpPr>
            <a:spLocks noGrp="1"/>
          </p:cNvSpPr>
          <p:nvPr>
            <p:ph type="sldNum" sz="quarter" idx="4"/>
          </p:nvPr>
        </p:nvSpPr>
        <p:spPr/>
        <p:txBody>
          <a:bodyPr/>
          <a:lstStyle/>
          <a:p>
            <a:fld id="{B7EB45DA-9A0D-DC49-8E02-F30A5DDC21C3}" type="slidenum">
              <a:rPr lang="en-US" smtClean="0"/>
              <a:t>16</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RPC vs. event-driven messaging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SYNCHRONOUS RPC</a:t>
            </a:r>
          </a:p>
        </p:txBody>
      </p:sp>
      <p:sp>
        <p:nvSpPr>
          <p:cNvPr id="100" name="SvcA"/>
          <p:cNvSpPr/>
          <p:nvPr/>
        </p:nvSpPr>
        <p:spPr>
          <a:xfrm>
            <a:off x="78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A</a:t>
            </a:r>
          </a:p>
        </p:txBody>
      </p:sp>
      <p:sp>
        <p:nvSpPr>
          <p:cNvPr id="101" name="SvcB"/>
          <p:cNvSpPr/>
          <p:nvPr/>
        </p:nvSpPr>
        <p:spPr>
          <a:xfrm>
            <a:off x="303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B</a:t>
            </a:r>
          </a:p>
        </p:txBody>
      </p:sp>
      <p:cxnSp>
        <p:nvCxnSpPr>
          <p:cNvPr id="102" name="ReqArr"/>
          <p:cNvCxnSpPr/>
          <p:nvPr/>
        </p:nvCxnSpPr>
        <p:spPr>
          <a:xfrm>
            <a:off x="2135800" y="2040000"/>
            <a:ext cx="900000" cy="0"/>
          </a:xfrm>
          <a:prstGeom prst="line">
            <a:avLst/>
          </a:prstGeom>
          <a:ln w="53577">
            <a:solidFill>
              <a:srgbClr val="8E6F3E"/>
            </a:solidFill>
            <a:tailEnd type="triangle" w="med" len="med"/>
          </a:ln>
        </p:spPr>
      </p:cxnSp>
      <p:sp>
        <p:nvSpPr>
          <p:cNvPr id="103" name="ReqLbl"/>
          <p:cNvSpPr txBox="1"/>
          <p:nvPr/>
        </p:nvSpPr>
        <p:spPr>
          <a:xfrm>
            <a:off x="2135800" y="1770000"/>
            <a:ext cx="900000" cy="26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request</a:t>
            </a:r>
          </a:p>
        </p:txBody>
      </p:sp>
      <p:sp>
        <p:nvSpPr>
          <p:cNvPr id="104" name="RespLbl"/>
          <p:cNvSpPr txBox="1"/>
          <p:nvPr/>
        </p:nvSpPr>
        <p:spPr>
          <a:xfrm>
            <a:off x="2135800" y="2320000"/>
            <a:ext cx="900000" cy="26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response</a:t>
            </a:r>
          </a:p>
        </p:txBody>
      </p:sp>
      <p:sp>
        <p:nvSpPr>
          <p:cNvPr id="105" name="SvcC"/>
          <p:cNvSpPr/>
          <p:nvPr/>
        </p:nvSpPr>
        <p:spPr>
          <a:xfrm>
            <a:off x="3035800" y="330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C</a:t>
            </a:r>
          </a:p>
        </p:txBody>
      </p:sp>
      <p:cxnSp>
        <p:nvCxnSpPr>
          <p:cNvPr id="106" name="BtoC"/>
          <p:cNvCxnSpPr>
            <a:stCxn id="101" idx="2"/>
            <a:endCxn id="105" idx="0"/>
          </p:cNvCxnSpPr>
          <p:nvPr/>
        </p:nvCxnSpPr>
        <p:spPr>
          <a:xfrm>
            <a:off x="3710800" y="2390000"/>
            <a:ext cx="0" cy="91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e.g., REST · gRPC</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EVENT-DRIVEN</a:t>
            </a:r>
          </a:p>
        </p:txBody>
      </p:sp>
      <p:sp>
        <p:nvSpPr>
          <p:cNvPr id="110" name="Prod"/>
          <p:cNvSpPr/>
          <p:nvPr/>
        </p:nvSpPr>
        <p:spPr>
          <a:xfrm>
            <a:off x="5790100" y="1540000"/>
            <a:ext cx="16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PRODUCER</a:t>
            </a:r>
          </a:p>
        </p:txBody>
      </p:sp>
      <p:sp>
        <p:nvSpPr>
          <p:cNvPr id="111" name="Bus"/>
          <p:cNvSpPr/>
          <p:nvPr/>
        </p:nvSpPr>
        <p:spPr>
          <a:xfrm>
            <a:off x="5190100" y="2450000"/>
            <a:ext cx="2800000" cy="56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EVENT BUS</a:t>
            </a:r>
          </a:p>
        </p:txBody>
      </p:sp>
      <p:cxnSp>
        <p:nvCxnSpPr>
          <p:cNvPr id="112" name="Pub"/>
          <p:cNvCxnSpPr>
            <a:stCxn id="110" idx="2"/>
            <a:endCxn id="111" idx="0"/>
          </p:cNvCxnSpPr>
          <p:nvPr/>
        </p:nvCxnSpPr>
        <p:spPr>
          <a:xfrm>
            <a:off x="6590100" y="2100000"/>
            <a:ext cx="0" cy="350000"/>
          </a:xfrm>
          <a:prstGeom prst="line">
            <a:avLst/>
          </a:prstGeom>
          <a:ln w="53577">
            <a:solidFill>
              <a:srgbClr val="8E6F3E"/>
            </a:solidFill>
            <a:tailEnd type="triangle" w="med" len="med"/>
          </a:ln>
        </p:spPr>
      </p:cxnSp>
      <p:sp>
        <p:nvSpPr>
          <p:cNvPr id="113" name="PubLbl"/>
          <p:cNvSpPr txBox="1"/>
          <p:nvPr/>
        </p:nvSpPr>
        <p:spPr>
          <a:xfrm>
            <a:off x="6720100" y="2130000"/>
            <a:ext cx="100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publish</a:t>
            </a:r>
          </a:p>
        </p:txBody>
      </p:sp>
      <p:cxnSp>
        <p:nvCxnSpPr>
          <p:cNvPr id="114" name="Trunk"/>
          <p:cNvCxnSpPr>
            <a:stCxn id="111" idx="2"/>
          </p:cNvCxnSpPr>
          <p:nvPr/>
        </p:nvCxnSpPr>
        <p:spPr>
          <a:xfrm>
            <a:off x="6590100" y="3010000"/>
            <a:ext cx="0" cy="220000"/>
          </a:xfrm>
          <a:prstGeom prst="line">
            <a:avLst/>
          </a:prstGeom>
          <a:ln w="53577">
            <a:solidFill>
              <a:srgbClr val="8E6F3E"/>
            </a:solidFill>
          </a:ln>
        </p:spPr>
      </p:cxnSp>
      <p:cxnSp>
        <p:nvCxnSpPr>
          <p:cNvPr id="115" name="Dist"/>
          <p:cNvCxnSpPr/>
          <p:nvPr/>
        </p:nvCxnSpPr>
        <p:spPr>
          <a:xfrm>
            <a:off x="5640100" y="3230000"/>
            <a:ext cx="1900000" cy="0"/>
          </a:xfrm>
          <a:prstGeom prst="line">
            <a:avLst/>
          </a:prstGeom>
          <a:ln w="53577">
            <a:solidFill>
              <a:srgbClr val="8E6F3E"/>
            </a:solidFill>
          </a:ln>
        </p:spPr>
      </p:cxnSp>
      <p:cxnSp>
        <p:nvCxnSpPr>
          <p:cNvPr id="116" name="Drop0"/>
          <p:cNvCxnSpPr>
            <a:endCxn id="119" idx="0"/>
          </p:cNvCxnSpPr>
          <p:nvPr/>
        </p:nvCxnSpPr>
        <p:spPr>
          <a:xfrm>
            <a:off x="5640100" y="3230000"/>
            <a:ext cx="0" cy="280000"/>
          </a:xfrm>
          <a:prstGeom prst="line">
            <a:avLst/>
          </a:prstGeom>
          <a:ln w="53577">
            <a:solidFill>
              <a:srgbClr val="8E6F3E"/>
            </a:solidFill>
            <a:tailEnd type="triangle" w="med" len="med"/>
          </a:ln>
        </p:spPr>
      </p:cxnSp>
      <p:cxnSp>
        <p:nvCxnSpPr>
          <p:cNvPr id="117" name="Drop1"/>
          <p:cNvCxnSpPr>
            <a:endCxn id="120" idx="0"/>
          </p:cNvCxnSpPr>
          <p:nvPr/>
        </p:nvCxnSpPr>
        <p:spPr>
          <a:xfrm>
            <a:off x="6590100" y="3230000"/>
            <a:ext cx="0" cy="280000"/>
          </a:xfrm>
          <a:prstGeom prst="line">
            <a:avLst/>
          </a:prstGeom>
          <a:ln w="53577">
            <a:solidFill>
              <a:srgbClr val="8E6F3E"/>
            </a:solidFill>
            <a:tailEnd type="triangle" w="med" len="med"/>
          </a:ln>
        </p:spPr>
      </p:cxnSp>
      <p:cxnSp>
        <p:nvCxnSpPr>
          <p:cNvPr id="118" name="Drop2"/>
          <p:cNvCxnSpPr>
            <a:endCxn id="121" idx="0"/>
          </p:cNvCxnSpPr>
          <p:nvPr/>
        </p:nvCxnSpPr>
        <p:spPr>
          <a:xfrm>
            <a:off x="7540100" y="3230000"/>
            <a:ext cx="0" cy="280000"/>
          </a:xfrm>
          <a:prstGeom prst="line">
            <a:avLst/>
          </a:prstGeom>
          <a:ln w="53577">
            <a:solidFill>
              <a:srgbClr val="8E6F3E"/>
            </a:solidFill>
            <a:tailEnd type="triangle" w="med" len="med"/>
          </a:ln>
        </p:spPr>
      </p:cxnSp>
      <p:sp>
        <p:nvSpPr>
          <p:cNvPr id="119" name="ConsB"/>
          <p:cNvSpPr/>
          <p:nvPr/>
        </p:nvSpPr>
        <p:spPr>
          <a:xfrm>
            <a:off x="52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B</a:t>
            </a:r>
          </a:p>
        </p:txBody>
      </p:sp>
      <p:sp>
        <p:nvSpPr>
          <p:cNvPr id="120" name="ConsC"/>
          <p:cNvSpPr/>
          <p:nvPr/>
        </p:nvSpPr>
        <p:spPr>
          <a:xfrm>
            <a:off x="619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C</a:t>
            </a:r>
          </a:p>
        </p:txBody>
      </p:sp>
      <p:sp>
        <p:nvSpPr>
          <p:cNvPr id="121" name="ConsD"/>
          <p:cNvSpPr/>
          <p:nvPr/>
        </p:nvSpPr>
        <p:spPr>
          <a:xfrm>
            <a:off x="71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D</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e.g., Kafka</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immediate coordination, clear request/response semantics</a:t>
            </a:r>
          </a:p>
          <a:p>
            <a:pPr algn="l">
              <a:spcBef>
                <a:spcPts val="600"/>
              </a:spcBef>
              <a:buNone/>
            </a:pPr>
            <a:r>
              <a:rPr lang="en-US" sz="2000" b="1" i="0" dirty="0">
                <a:solidFill>
                  <a:srgbClr val="555960"/>
                </a:solidFill>
              </a:rPr>
              <a:t>costs — </a:t>
            </a:r>
            <a:r>
              <a:rPr lang="en-US" sz="2000" b="0" i="0" dirty="0">
                <a:solidFill>
                  <a:srgbClr val="000000"/>
                </a:solidFill>
              </a:rPr>
              <a:t>caller knows callee; latency and failure propagate</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producer/consumer decoupling; adding consumers is easy</a:t>
            </a:r>
          </a:p>
          <a:p>
            <a:pPr algn="l">
              <a:spcBef>
                <a:spcPts val="600"/>
              </a:spcBef>
              <a:buNone/>
            </a:pPr>
            <a:r>
              <a:rPr lang="en-US" sz="2000" b="1" i="0" dirty="0">
                <a:solidFill>
                  <a:srgbClr val="555960"/>
                </a:solidFill>
              </a:rPr>
              <a:t>costs — </a:t>
            </a:r>
            <a:r>
              <a:rPr lang="en-US" sz="2000" b="0" i="0" dirty="0">
                <a:solidFill>
                  <a:srgbClr val="000000"/>
                </a:solidFill>
              </a:rPr>
              <a:t>ordering, delivery, retries become system concerns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immediate coordination</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producer/consumer decoupling</a:t>
            </a:r>
          </a:p>
        </p:txBody>
      </p:sp>
      <p:cxnSp>
        <p:nvCxnSpPr>
          <p:cNvPr id="126" name="RespArr"/>
          <p:cNvCxnSpPr/>
          <p:nvPr/>
        </p:nvCxnSpPr>
        <p:spPr>
          <a:xfrm flipH="1">
            <a:off x="2135800" y="2260000"/>
            <a:ext cx="900000" cy="0"/>
          </a:xfrm>
          <a:prstGeom prst="line">
            <a:avLst/>
          </a:prstGeom>
          <a:ln w="53577">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4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6"/>
                                        </p:tgtEl>
                                        <p:attrNameLst>
                                          <p:attrName>style.visibility</p:attrName>
                                        </p:attrNameLst>
                                      </p:cBhvr>
                                      <p:to>
                                        <p:strVal val="visible"/>
                                      </p:to>
                                    </p:set>
                                    <p:animEffect transition="in" filter="fade">
                                      <p:cBhvr>
                                        <p:cTn id="24" dur="400"/>
                                        <p:tgtEl>
                                          <p:spTgt spid="126"/>
                                        </p:tgtEl>
                                      </p:cBhvr>
                                    </p:animEffect>
                                  </p:childTnLst>
                                </p:cTn>
                              </p:par>
                              <p:par>
                                <p:cTn id="25" presetID="10" presetClass="entr" presetSubtype="0" fill="hold" nodeType="with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400"/>
                                        <p:tgtEl>
                                          <p:spTgt spid="106"/>
                                        </p:tgtEl>
                                      </p:cBhvr>
                                    </p:animEffect>
                                  </p:childTnLst>
                                </p:cTn>
                              </p:par>
                              <p:par>
                                <p:cTn id="36" presetID="10" presetClass="entr" presetSubtype="0" fill="hold" nodeType="withEffect">
                                  <p:stCondLst>
                                    <p:cond delay="0"/>
                                  </p:stCondLst>
                                  <p:childTnLst>
                                    <p:set>
                                      <p:cBhvr>
                                        <p:cTn id="37" dur="1" fill="hold">
                                          <p:stCondLst>
                                            <p:cond delay="0"/>
                                          </p:stCondLst>
                                        </p:cTn>
                                        <p:tgtEl>
                                          <p:spTgt spid="92"/>
                                        </p:tgtEl>
                                        <p:attrNameLst>
                                          <p:attrName>style.visibility</p:attrName>
                                        </p:attrNameLst>
                                      </p:cBhvr>
                                      <p:to>
                                        <p:strVal val="visible"/>
                                      </p:to>
                                    </p:set>
                                    <p:animEffect transition="in" filter="fade">
                                      <p:cBhvr>
                                        <p:cTn id="38" dur="400"/>
                                        <p:tgtEl>
                                          <p:spTgt spid="9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93"/>
                                        </p:tgtEl>
                                        <p:attrNameLst>
                                          <p:attrName>style.visibility</p:attrName>
                                        </p:attrNameLst>
                                      </p:cBhvr>
                                      <p:to>
                                        <p:strVal val="visible"/>
                                      </p:to>
                                    </p:set>
                                    <p:animEffect transition="in" filter="fade">
                                      <p:cBhvr>
                                        <p:cTn id="43" dur="400"/>
                                        <p:tgtEl>
                                          <p:spTgt spid="93"/>
                                        </p:tgtEl>
                                      </p:cBhvr>
                                    </p:animEffect>
                                  </p:childTnLst>
                                </p:cTn>
                              </p:par>
                              <p:par>
                                <p:cTn id="44" presetID="10" presetClass="entr" presetSubtype="0" fill="hold" nodeType="with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400"/>
                                        <p:tgtEl>
                                          <p:spTgt spid="11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1"/>
                                        </p:tgtEl>
                                        <p:attrNameLst>
                                          <p:attrName>style.visibility</p:attrName>
                                        </p:attrNameLst>
                                      </p:cBhvr>
                                      <p:to>
                                        <p:strVal val="visible"/>
                                      </p:to>
                                    </p:set>
                                    <p:animEffect transition="in" filter="fade">
                                      <p:cBhvr>
                                        <p:cTn id="51" dur="400"/>
                                        <p:tgtEl>
                                          <p:spTgt spid="111"/>
                                        </p:tgtEl>
                                      </p:cBhvr>
                                    </p:animEffect>
                                  </p:childTnLst>
                                </p:cTn>
                              </p:par>
                              <p:par>
                                <p:cTn id="52" presetID="10" presetClass="entr" presetSubtype="0" fill="hold"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400"/>
                                        <p:tgtEl>
                                          <p:spTgt spid="112"/>
                                        </p:tgtEl>
                                      </p:cBhvr>
                                    </p:animEffect>
                                  </p:childTnLst>
                                </p:cTn>
                              </p:par>
                              <p:par>
                                <p:cTn id="55" presetID="10" presetClass="entr" presetSubtype="0" fill="hold" nodeType="withEffect">
                                  <p:stCondLst>
                                    <p:cond delay="0"/>
                                  </p:stCondLst>
                                  <p:childTnLst>
                                    <p:set>
                                      <p:cBhvr>
                                        <p:cTn id="56" dur="1" fill="hold">
                                          <p:stCondLst>
                                            <p:cond delay="0"/>
                                          </p:stCondLst>
                                        </p:cTn>
                                        <p:tgtEl>
                                          <p:spTgt spid="113"/>
                                        </p:tgtEl>
                                        <p:attrNameLst>
                                          <p:attrName>style.visibility</p:attrName>
                                        </p:attrNameLst>
                                      </p:cBhvr>
                                      <p:to>
                                        <p:strVal val="visible"/>
                                      </p:to>
                                    </p:set>
                                    <p:animEffect transition="in" filter="fade">
                                      <p:cBhvr>
                                        <p:cTn id="57" dur="400"/>
                                        <p:tgtEl>
                                          <p:spTgt spid="11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4"/>
                                        </p:tgtEl>
                                        <p:attrNameLst>
                                          <p:attrName>style.visibility</p:attrName>
                                        </p:attrNameLst>
                                      </p:cBhvr>
                                      <p:to>
                                        <p:strVal val="visible"/>
                                      </p:to>
                                    </p:set>
                                    <p:animEffect transition="in" filter="fade">
                                      <p:cBhvr>
                                        <p:cTn id="62" dur="400"/>
                                        <p:tgtEl>
                                          <p:spTgt spid="114"/>
                                        </p:tgtEl>
                                      </p:cBhvr>
                                    </p:animEffect>
                                  </p:childTnLst>
                                </p:cTn>
                              </p:par>
                              <p:par>
                                <p:cTn id="63" presetID="10" presetClass="entr" presetSubtype="0" fill="hold" nodeType="withEffect">
                                  <p:stCondLst>
                                    <p:cond delay="0"/>
                                  </p:stCondLst>
                                  <p:childTnLst>
                                    <p:set>
                                      <p:cBhvr>
                                        <p:cTn id="64" dur="1" fill="hold">
                                          <p:stCondLst>
                                            <p:cond delay="0"/>
                                          </p:stCondLst>
                                        </p:cTn>
                                        <p:tgtEl>
                                          <p:spTgt spid="115"/>
                                        </p:tgtEl>
                                        <p:attrNameLst>
                                          <p:attrName>style.visibility</p:attrName>
                                        </p:attrNameLst>
                                      </p:cBhvr>
                                      <p:to>
                                        <p:strVal val="visible"/>
                                      </p:to>
                                    </p:set>
                                    <p:animEffect transition="in" filter="fade">
                                      <p:cBhvr>
                                        <p:cTn id="65" dur="400"/>
                                        <p:tgtEl>
                                          <p:spTgt spid="115"/>
                                        </p:tgtEl>
                                      </p:cBhvr>
                                    </p:animEffect>
                                  </p:childTnLst>
                                </p:cTn>
                              </p:par>
                              <p:par>
                                <p:cTn id="66" presetID="10" presetClass="entr" presetSubtype="0" fill="hold" nodeType="withEffect">
                                  <p:stCondLst>
                                    <p:cond delay="0"/>
                                  </p:stCondLst>
                                  <p:childTnLst>
                                    <p:set>
                                      <p:cBhvr>
                                        <p:cTn id="67" dur="1" fill="hold">
                                          <p:stCondLst>
                                            <p:cond delay="0"/>
                                          </p:stCondLst>
                                        </p:cTn>
                                        <p:tgtEl>
                                          <p:spTgt spid="116"/>
                                        </p:tgtEl>
                                        <p:attrNameLst>
                                          <p:attrName>style.visibility</p:attrName>
                                        </p:attrNameLst>
                                      </p:cBhvr>
                                      <p:to>
                                        <p:strVal val="visible"/>
                                      </p:to>
                                    </p:set>
                                    <p:animEffect transition="in" filter="fade">
                                      <p:cBhvr>
                                        <p:cTn id="68" dur="400"/>
                                        <p:tgtEl>
                                          <p:spTgt spid="116"/>
                                        </p:tgtEl>
                                      </p:cBhvr>
                                    </p:animEffect>
                                  </p:childTnLst>
                                </p:cTn>
                              </p:par>
                              <p:par>
                                <p:cTn id="69" presetID="10" presetClass="entr" presetSubtype="0" fill="hold" nodeType="withEffect">
                                  <p:stCondLst>
                                    <p:cond delay="0"/>
                                  </p:stCondLst>
                                  <p:childTnLst>
                                    <p:set>
                                      <p:cBhvr>
                                        <p:cTn id="70" dur="1" fill="hold">
                                          <p:stCondLst>
                                            <p:cond delay="0"/>
                                          </p:stCondLst>
                                        </p:cTn>
                                        <p:tgtEl>
                                          <p:spTgt spid="117"/>
                                        </p:tgtEl>
                                        <p:attrNameLst>
                                          <p:attrName>style.visibility</p:attrName>
                                        </p:attrNameLst>
                                      </p:cBhvr>
                                      <p:to>
                                        <p:strVal val="visible"/>
                                      </p:to>
                                    </p:set>
                                    <p:animEffect transition="in" filter="fade">
                                      <p:cBhvr>
                                        <p:cTn id="71" dur="400"/>
                                        <p:tgtEl>
                                          <p:spTgt spid="117"/>
                                        </p:tgtEl>
                                      </p:cBhvr>
                                    </p:animEffect>
                                  </p:childTnLst>
                                </p:cTn>
                              </p:par>
                              <p:par>
                                <p:cTn id="72" presetID="10" presetClass="entr" presetSubtype="0" fill="hold" nodeType="withEffect">
                                  <p:stCondLst>
                                    <p:cond delay="0"/>
                                  </p:stCondLst>
                                  <p:childTnLst>
                                    <p:set>
                                      <p:cBhvr>
                                        <p:cTn id="73" dur="1" fill="hold">
                                          <p:stCondLst>
                                            <p:cond delay="0"/>
                                          </p:stCondLst>
                                        </p:cTn>
                                        <p:tgtEl>
                                          <p:spTgt spid="119"/>
                                        </p:tgtEl>
                                        <p:attrNameLst>
                                          <p:attrName>style.visibility</p:attrName>
                                        </p:attrNameLst>
                                      </p:cBhvr>
                                      <p:to>
                                        <p:strVal val="visible"/>
                                      </p:to>
                                    </p:set>
                                    <p:animEffect transition="in" filter="fade">
                                      <p:cBhvr>
                                        <p:cTn id="74" dur="400"/>
                                        <p:tgtEl>
                                          <p:spTgt spid="119"/>
                                        </p:tgtEl>
                                      </p:cBhvr>
                                    </p:animEffect>
                                  </p:childTnLst>
                                </p:cTn>
                              </p:par>
                              <p:par>
                                <p:cTn id="75" presetID="10" presetClass="entr" presetSubtype="0" fill="hold" nodeType="withEffect">
                                  <p:stCondLst>
                                    <p:cond delay="0"/>
                                  </p:stCondLst>
                                  <p:childTnLst>
                                    <p:set>
                                      <p:cBhvr>
                                        <p:cTn id="76" dur="1" fill="hold">
                                          <p:stCondLst>
                                            <p:cond delay="0"/>
                                          </p:stCondLst>
                                        </p:cTn>
                                        <p:tgtEl>
                                          <p:spTgt spid="120"/>
                                        </p:tgtEl>
                                        <p:attrNameLst>
                                          <p:attrName>style.visibility</p:attrName>
                                        </p:attrNameLst>
                                      </p:cBhvr>
                                      <p:to>
                                        <p:strVal val="visible"/>
                                      </p:to>
                                    </p:set>
                                    <p:animEffect transition="in" filter="fade">
                                      <p:cBhvr>
                                        <p:cTn id="77" dur="400"/>
                                        <p:tgtEl>
                                          <p:spTgt spid="120"/>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118"/>
                                        </p:tgtEl>
                                        <p:attrNameLst>
                                          <p:attrName>style.visibility</p:attrName>
                                        </p:attrNameLst>
                                      </p:cBhvr>
                                      <p:to>
                                        <p:strVal val="visible"/>
                                      </p:to>
                                    </p:set>
                                    <p:animEffect transition="in" filter="fade">
                                      <p:cBhvr>
                                        <p:cTn id="82" dur="400"/>
                                        <p:tgtEl>
                                          <p:spTgt spid="118"/>
                                        </p:tgtEl>
                                      </p:cBhvr>
                                    </p:animEffect>
                                  </p:childTnLst>
                                </p:cTn>
                              </p:par>
                              <p:par>
                                <p:cTn id="83" presetID="10" presetClass="entr" presetSubtype="0" fill="hold" nodeType="withEffect">
                                  <p:stCondLst>
                                    <p:cond delay="0"/>
                                  </p:stCondLst>
                                  <p:childTnLst>
                                    <p:set>
                                      <p:cBhvr>
                                        <p:cTn id="84" dur="1" fill="hold">
                                          <p:stCondLst>
                                            <p:cond delay="0"/>
                                          </p:stCondLst>
                                        </p:cTn>
                                        <p:tgtEl>
                                          <p:spTgt spid="121"/>
                                        </p:tgtEl>
                                        <p:attrNameLst>
                                          <p:attrName>style.visibility</p:attrName>
                                        </p:attrNameLst>
                                      </p:cBhvr>
                                      <p:to>
                                        <p:strVal val="visible"/>
                                      </p:to>
                                    </p:set>
                                    <p:animEffect transition="in" filter="fade">
                                      <p:cBhvr>
                                        <p:cTn id="85" dur="400"/>
                                        <p:tgtEl>
                                          <p:spTgt spid="121"/>
                                        </p:tgtEl>
                                      </p:cBhvr>
                                    </p:animEffect>
                                  </p:childTnLst>
                                </p:cTn>
                              </p:par>
                              <p:par>
                                <p:cTn id="86" presetID="10" presetClass="entr" presetSubtype="0" fill="hold" nodeType="withEffect">
                                  <p:stCondLst>
                                    <p:cond delay="0"/>
                                  </p:stCondLst>
                                  <p:childTnLst>
                                    <p:set>
                                      <p:cBhvr>
                                        <p:cTn id="87" dur="1" fill="hold">
                                          <p:stCondLst>
                                            <p:cond delay="0"/>
                                          </p:stCondLst>
                                        </p:cTn>
                                        <p:tgtEl>
                                          <p:spTgt spid="94"/>
                                        </p:tgtEl>
                                        <p:attrNameLst>
                                          <p:attrName>style.visibility</p:attrName>
                                        </p:attrNameLst>
                                      </p:cBhvr>
                                      <p:to>
                                        <p:strVal val="visible"/>
                                      </p:to>
                                    </p:set>
                                    <p:animEffect transition="in" filter="fade">
                                      <p:cBhvr>
                                        <p:cTn id="88" dur="400"/>
                                        <p:tgtEl>
                                          <p:spTgt spid="9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95"/>
                                        </p:tgtEl>
                                        <p:attrNameLst>
                                          <p:attrName>style.visibility</p:attrName>
                                        </p:attrNameLst>
                                      </p:cBhvr>
                                      <p:to>
                                        <p:strVal val="visible"/>
                                      </p:to>
                                    </p:set>
                                    <p:animEffect transition="in" filter="fade">
                                      <p:cBhvr>
                                        <p:cTn id="93" dur="400"/>
                                        <p:tgtEl>
                                          <p:spTgt spid="95"/>
                                        </p:tgtEl>
                                      </p:cBhvr>
                                    </p:animEffect>
                                  </p:childTnLst>
                                </p:cTn>
                              </p:par>
                              <p:par>
                                <p:cTn id="94" presetID="10" presetClass="entr" presetSubtype="0" fill="hold" nodeType="withEffect">
                                  <p:stCondLst>
                                    <p:cond delay="0"/>
                                  </p:stCondLst>
                                  <p:childTnLst>
                                    <p:set>
                                      <p:cBhvr>
                                        <p:cTn id="95" dur="1" fill="hold">
                                          <p:stCondLst>
                                            <p:cond delay="0"/>
                                          </p:stCondLst>
                                        </p:cTn>
                                        <p:tgtEl>
                                          <p:spTgt spid="96"/>
                                        </p:tgtEl>
                                        <p:attrNameLst>
                                          <p:attrName>style.visibility</p:attrName>
                                        </p:attrNameLst>
                                      </p:cBhvr>
                                      <p:to>
                                        <p:strVal val="visible"/>
                                      </p:to>
                                    </p:set>
                                    <p:animEffect transition="in" filter="fade">
                                      <p:cBhvr>
                                        <p:cTn id="96" dur="400"/>
                                        <p:tgtEl>
                                          <p:spTgt spid="96"/>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97"/>
                                        </p:tgtEl>
                                        <p:attrNameLst>
                                          <p:attrName>style.visibility</p:attrName>
                                        </p:attrNameLst>
                                      </p:cBhvr>
                                      <p:to>
                                        <p:strVal val="visible"/>
                                      </p:to>
                                    </p:set>
                                    <p:animEffect transition="in" filter="fade">
                                      <p:cBhvr>
                                        <p:cTn id="101" dur="400"/>
                                        <p:tgtEl>
                                          <p:spTgt spid="97"/>
                                        </p:tgtEl>
                                      </p:cBhvr>
                                    </p:animEffect>
                                  </p:childTnLst>
                                </p:cTn>
                              </p:par>
                              <p:par>
                                <p:cTn id="102" presetID="10" presetClass="entr" presetSubtype="0" fill="hold" nodeType="withEffect">
                                  <p:stCondLst>
                                    <p:cond delay="0"/>
                                  </p:stCondLst>
                                  <p:childTnLst>
                                    <p:set>
                                      <p:cBhvr>
                                        <p:cTn id="103" dur="1" fill="hold">
                                          <p:stCondLst>
                                            <p:cond delay="0"/>
                                          </p:stCondLst>
                                        </p:cTn>
                                        <p:tgtEl>
                                          <p:spTgt spid="98"/>
                                        </p:tgtEl>
                                        <p:attrNameLst>
                                          <p:attrName>style.visibility</p:attrName>
                                        </p:attrNameLst>
                                      </p:cBhvr>
                                      <p:to>
                                        <p:strVal val="visible"/>
                                      </p:to>
                                    </p:set>
                                    <p:animEffect transition="in" filter="fade">
                                      <p:cBhvr>
                                        <p:cTn id="104" dur="400"/>
                                        <p:tgtEl>
                                          <p:spTgt spid="98"/>
                                        </p:tgtEl>
                                      </p:cBhvr>
                                    </p:animEffect>
                                  </p:childTnLst>
                                </p:cTn>
                              </p:par>
                              <p:par>
                                <p:cTn id="105" presetID="10" presetClass="entr" presetSubtype="0" fill="hold" nodeType="withEffect">
                                  <p:stCondLst>
                                    <p:cond delay="0"/>
                                  </p:stCondLst>
                                  <p:childTnLst>
                                    <p:set>
                                      <p:cBhvr>
                                        <p:cTn id="106" dur="1" fill="hold">
                                          <p:stCondLst>
                                            <p:cond delay="0"/>
                                          </p:stCondLst>
                                        </p:cTn>
                                        <p:tgtEl>
                                          <p:spTgt spid="99"/>
                                        </p:tgtEl>
                                        <p:attrNameLst>
                                          <p:attrName>style.visibility</p:attrName>
                                        </p:attrNameLst>
                                      </p:cBhvr>
                                      <p:to>
                                        <p:strVal val="visible"/>
                                      </p:to>
                                    </p:set>
                                    <p:animEffect transition="in" filter="fade">
                                      <p:cBhvr>
                                        <p:cTn id="107" dur="400"/>
                                        <p:tgtEl>
                                          <p:spTgt spid="99"/>
                                        </p:tgtEl>
                                      </p:cBhvr>
                                    </p:animEffect>
                                  </p:childTnLst>
                                </p:cTn>
                              </p:par>
                              <p:par>
                                <p:cTn id="108" presetID="10" presetClass="entr" presetSubtype="0" fill="hold" nodeType="withEffect">
                                  <p:stCondLst>
                                    <p:cond delay="0"/>
                                  </p:stCondLst>
                                  <p:childTnLst>
                                    <p:set>
                                      <p:cBhvr>
                                        <p:cTn id="109" dur="1" fill="hold">
                                          <p:stCondLst>
                                            <p:cond delay="0"/>
                                          </p:stCondLst>
                                        </p:cTn>
                                        <p:tgtEl>
                                          <p:spTgt spid="125"/>
                                        </p:tgtEl>
                                        <p:attrNameLst>
                                          <p:attrName>style.visibility</p:attrName>
                                        </p:attrNameLst>
                                      </p:cBhvr>
                                      <p:to>
                                        <p:strVal val="visible"/>
                                      </p:to>
                                    </p:set>
                                    <p:animEffect transition="in" filter="fade">
                                      <p:cBhvr>
                                        <p:cTn id="11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Which way should infrastructure dependencies point?</a:t>
            </a:r>
          </a:p>
        </p:txBody>
      </p:sp>
      <p:sp>
        <p:nvSpPr>
          <p:cNvPr id="3" name="Slide Number Placeholder 2"/>
          <p:cNvSpPr>
            <a:spLocks noGrp="1"/>
          </p:cNvSpPr>
          <p:nvPr>
            <p:ph type="sldNum" sz="quarter" idx="4"/>
          </p:nvPr>
        </p:nvSpPr>
        <p:spPr/>
        <p:txBody>
          <a:bodyPr/>
          <a:lstStyle/>
          <a:p>
            <a:fld id="{B7EB45DA-9A0D-DC49-8E02-F30A5DDC21C3}" type="slidenum">
              <a:rPr lang="en-US" smtClean="0"/>
              <a:t>17</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Direct dependency vs. ports &amp; adapters</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DIRECT DEPENDENCY</a:t>
            </a:r>
          </a:p>
        </p:txBody>
      </p:sp>
      <p:sp>
        <p:nvSpPr>
          <p:cNvPr id="100" name="DomL"/>
          <p:cNvSpPr/>
          <p:nvPr/>
        </p:nvSpPr>
        <p:spPr>
          <a:xfrm>
            <a:off x="1553900" y="1620000"/>
            <a:ext cx="200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cxnSp>
        <p:nvCxnSpPr>
          <p:cNvPr id="101" name="CallArr"/>
          <p:cNvCxnSpPr>
            <a:stCxn id="100" idx="2"/>
            <a:endCxn id="102" idx="0"/>
          </p:cNvCxnSpPr>
          <p:nvPr/>
        </p:nvCxnSpPr>
        <p:spPr>
          <a:xfrm>
            <a:off x="2553900" y="2260000"/>
            <a:ext cx="0" cy="700000"/>
          </a:xfrm>
          <a:prstGeom prst="line">
            <a:avLst/>
          </a:prstGeom>
          <a:ln w="76200">
            <a:solidFill>
              <a:srgbClr val="8E6F3E"/>
            </a:solidFill>
            <a:tailEnd type="triangle" w="med" len="med"/>
          </a:ln>
        </p:spPr>
      </p:cxnSp>
      <p:sp>
        <p:nvSpPr>
          <p:cNvPr id="103" name="CallLbl"/>
          <p:cNvSpPr txBox="1"/>
          <p:nvPr/>
        </p:nvSpPr>
        <p:spPr>
          <a:xfrm>
            <a:off x="2683900" y="2470000"/>
            <a:ext cx="175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imports / calls</a:t>
            </a:r>
          </a:p>
        </p:txBody>
      </p:sp>
      <p:sp>
        <p:nvSpPr>
          <p:cNvPr id="102" name="SdkL"/>
          <p:cNvSpPr/>
          <p:nvPr/>
        </p:nvSpPr>
        <p:spPr>
          <a:xfrm>
            <a:off x="1353900" y="2960000"/>
            <a:ext cx="2400000" cy="8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SDK</a:t>
            </a:r>
          </a:p>
          <a:p>
            <a:pPr algn="ctr">
              <a:spcBef>
                <a:spcPts val="400"/>
              </a:spcBef>
              <a:buNone/>
            </a:pPr>
            <a:r>
              <a:rPr lang="en-US" sz="2000" b="1" i="0" dirty="0">
                <a:solidFill>
                  <a:srgbClr val="5C4826"/>
                </a:solidFill>
              </a:rPr>
              <a:t>/ VENDOR API</a:t>
            </a:r>
          </a:p>
        </p:txBody>
      </p: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domain depends on infrastructure</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PORTS &amp; ADAPTERS</a:t>
            </a:r>
          </a:p>
        </p:txBody>
      </p:sp>
      <p:sp>
        <p:nvSpPr>
          <p:cNvPr id="110" name="DomR"/>
          <p:cNvSpPr/>
          <p:nvPr/>
        </p:nvSpPr>
        <p:spPr>
          <a:xfrm>
            <a:off x="5590100" y="1500000"/>
            <a:ext cx="2000000" cy="5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sp>
        <p:nvSpPr>
          <p:cNvPr id="111" name="Port"/>
          <p:cNvSpPr/>
          <p:nvPr/>
        </p:nvSpPr>
        <p:spPr>
          <a:xfrm>
            <a:off x="6140100" y="2240000"/>
            <a:ext cx="900000" cy="320000"/>
          </a:xfrm>
          <a:prstGeom prst="rect">
            <a:avLst/>
          </a:prstGeom>
          <a:solidFill>
            <a:srgbClr val="FFFFFF"/>
          </a:solidFill>
          <a:ln w="15875">
            <a:solidFill>
              <a:srgbClr val="8E6F3E"/>
            </a:solidFill>
          </a:ln>
        </p:spPr>
        <p:txBody>
          <a:bodyPr wrap="square" lIns="18288" tIns="27432" rIns="18288" bIns="27432" anchor="ctr">
            <a:normAutofit/>
          </a:bodyPr>
          <a:lstStyle/>
          <a:p>
            <a:pPr algn="ctr">
              <a:buNone/>
            </a:pPr>
            <a:r>
              <a:rPr lang="en-US" sz="2000" b="1" i="0" dirty="0">
                <a:solidFill>
                  <a:srgbClr val="5C4826"/>
                </a:solidFill>
              </a:rPr>
              <a:t>PORT</a:t>
            </a:r>
          </a:p>
        </p:txBody>
      </p:sp>
      <p:sp>
        <p:nvSpPr>
          <p:cNvPr id="112" name="Adap"/>
          <p:cNvSpPr/>
          <p:nvPr/>
        </p:nvSpPr>
        <p:spPr>
          <a:xfrm>
            <a:off x="5690100" y="3060000"/>
            <a:ext cx="1800000" cy="48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DB ADAPTER</a:t>
            </a:r>
          </a:p>
        </p:txBody>
      </p:sp>
      <p:cxnSp>
        <p:nvCxnSpPr>
          <p:cNvPr id="113" name="Impl"/>
          <p:cNvCxnSpPr>
            <a:stCxn id="112" idx="0"/>
            <a:endCxn id="111" idx="2"/>
          </p:cNvCxnSpPr>
          <p:nvPr/>
        </p:nvCxnSpPr>
        <p:spPr>
          <a:xfrm flipV="1">
            <a:off x="6590100" y="2560000"/>
            <a:ext cx="0" cy="500000"/>
          </a:xfrm>
          <a:prstGeom prst="line">
            <a:avLst/>
          </a:prstGeom>
          <a:ln w="76200">
            <a:solidFill>
              <a:srgbClr val="8E6F3E"/>
            </a:solidFill>
            <a:prstDash val="dash"/>
            <a:tailEnd type="triangle" w="med" len="med"/>
          </a:ln>
        </p:spPr>
      </p:cxnSp>
      <p:sp>
        <p:nvSpPr>
          <p:cNvPr id="114" name="ImplLbl"/>
          <p:cNvSpPr txBox="1"/>
          <p:nvPr/>
        </p:nvSpPr>
        <p:spPr>
          <a:xfrm>
            <a:off x="6720100" y="2680000"/>
            <a:ext cx="150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implements</a:t>
            </a:r>
          </a:p>
        </p:txBody>
      </p:sp>
      <p:sp>
        <p:nvSpPr>
          <p:cNvPr id="115" name="Db"/>
          <p:cNvSpPr/>
          <p:nvPr/>
        </p:nvSpPr>
        <p:spPr>
          <a:xfrm>
            <a:off x="5690100" y="3920000"/>
            <a:ext cx="1800000" cy="4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 SDK</a:t>
            </a:r>
          </a:p>
        </p:txBody>
      </p:sp>
      <p:cxnSp>
        <p:nvCxnSpPr>
          <p:cNvPr id="116" name="AdDb"/>
          <p:cNvCxnSpPr>
            <a:stCxn id="112" idx="2"/>
            <a:endCxn id="115" idx="0"/>
          </p:cNvCxnSpPr>
          <p:nvPr/>
        </p:nvCxnSpPr>
        <p:spPr>
          <a:xfrm>
            <a:off x="6590100" y="3540000"/>
            <a:ext cx="0" cy="380000"/>
          </a:xfrm>
          <a:prstGeom prst="line">
            <a:avLst/>
          </a:prstGeom>
          <a:ln w="76200">
            <a:solidFill>
              <a:srgbClr val="8E6F3E"/>
            </a:solidFill>
            <a:tailEnd type="triangle" w="med" len="med"/>
          </a:ln>
        </p:spPr>
      </p:cxn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points toward the domain</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fewer abstractions, less indirection</a:t>
            </a:r>
          </a:p>
          <a:p>
            <a:pPr algn="l">
              <a:spcBef>
                <a:spcPts val="600"/>
              </a:spcBef>
              <a:buNone/>
            </a:pPr>
            <a:r>
              <a:rPr lang="en-US" sz="2000" b="1" i="0" dirty="0">
                <a:solidFill>
                  <a:srgbClr val="555960"/>
                </a:solidFill>
              </a:rPr>
              <a:t>costs — </a:t>
            </a:r>
            <a:r>
              <a:rPr lang="en-US" sz="2000" b="0" i="0" dirty="0">
                <a:solidFill>
                  <a:srgbClr val="000000"/>
                </a:solidFill>
              </a:rPr>
              <a:t>infrastructure becomes a domain dependency</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infrastructure substitution; isolation from vendor APIs</a:t>
            </a:r>
          </a:p>
          <a:p>
            <a:pPr algn="l">
              <a:spcBef>
                <a:spcPts val="600"/>
              </a:spcBef>
              <a:buNone/>
            </a:pPr>
            <a:r>
              <a:rPr lang="en-US" sz="2000" b="1" i="0" dirty="0">
                <a:solidFill>
                  <a:srgbClr val="555960"/>
                </a:solidFill>
              </a:rPr>
              <a:t>costs — </a:t>
            </a:r>
            <a:r>
              <a:rPr lang="en-US" sz="2000" b="0" i="0" dirty="0">
                <a:solidFill>
                  <a:srgbClr val="000000"/>
                </a:solidFill>
              </a:rPr>
              <a:t>additional interfaces, adapters, indirection</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directness and simplicity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isolation from infrastructure change</a:t>
            </a:r>
          </a:p>
        </p:txBody>
      </p:sp>
      <p:cxnSp>
        <p:nvCxnSpPr>
          <p:cNvPr id="130" name="Defines"/>
          <p:cNvCxnSpPr/>
          <p:nvPr/>
        </p:nvCxnSpPr>
        <p:spPr>
          <a:xfrm>
            <a:off x="6590100" y="2040000"/>
            <a:ext cx="0" cy="200000"/>
          </a:xfrm>
          <a:prstGeom prst="line">
            <a:avLst/>
          </a:prstGeom>
          <a:ln w="28575">
            <a:solidFill>
              <a:srgbClr val="8E6F3E"/>
            </a:solidFill>
            <a:tailEnd type="triangle" w="med" len="med"/>
          </a:ln>
        </p:spPr>
      </p:cxnSp>
      <p:sp>
        <p:nvSpPr>
          <p:cNvPr id="131" name="DefinesLbl"/>
          <p:cNvSpPr/>
          <p:nvPr/>
        </p:nvSpPr>
        <p:spPr>
          <a:xfrm>
            <a:off x="5290100" y="2020000"/>
            <a:ext cx="1200000" cy="260000"/>
          </a:xfrm>
          <a:prstGeom prst="rect">
            <a:avLst/>
          </a:prstGeom>
          <a:noFill/>
          <a:ln>
            <a:noFill/>
          </a:ln>
        </p:spPr>
        <p:txBody>
          <a:bodyPr wrap="square" lIns="54864" tIns="27432" rIns="54864" bIns="27432" anchor="ctr">
            <a:normAutofit/>
          </a:bodyPr>
          <a:lstStyle/>
          <a:p>
            <a:pPr algn="r">
              <a:buNone/>
            </a:pPr>
            <a:r>
              <a:rPr lang="en-US" sz="1300" b="0" i="1" dirty="0">
                <a:solidFill>
                  <a:srgbClr val="555960"/>
                </a:solidFill>
              </a:rPr>
              <a:t>defines</a:t>
            </a:r>
          </a:p>
        </p:txBody>
      </p:sp>
      <p:sp>
        <p:nvSpPr>
          <p:cNvPr id="132" name="SrcDepLbl"/>
          <p:cNvSpPr/>
          <p:nvPr/>
        </p:nvSpPr>
        <p:spPr>
          <a:xfrm>
            <a:off x="7590000" y="3120000"/>
            <a:ext cx="1550000" cy="320000"/>
          </a:xfrm>
          <a:prstGeom prst="rect">
            <a:avLst/>
          </a:prstGeom>
          <a:noFill/>
          <a:ln>
            <a:noFill/>
          </a:ln>
        </p:spPr>
        <p:txBody>
          <a:bodyPr wrap="square" lIns="54864" tIns="27432" rIns="54864" bIns="27432" anchor="ctr">
            <a:normAutofit/>
          </a:bodyPr>
          <a:lstStyle/>
          <a:p>
            <a:pPr algn="l">
              <a:buNone/>
            </a:pPr>
            <a:r>
              <a:rPr lang="en-US" sz="1400" b="1" i="0" dirty="0">
                <a:solidFill>
                  <a:srgbClr val="8E6F3E"/>
                </a:solidFill>
              </a:rPr>
              <a:t>↑ source dependency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400"/>
                                        <p:tgtEl>
                                          <p:spTgt spid="9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93"/>
                                        </p:tgtEl>
                                        <p:attrNameLst>
                                          <p:attrName>style.visibility</p:attrName>
                                        </p:attrNameLst>
                                      </p:cBhvr>
                                      <p:to>
                                        <p:strVal val="visible"/>
                                      </p:to>
                                    </p:set>
                                    <p:animEffect transition="in" filter="fade">
                                      <p:cBhvr>
                                        <p:cTn id="29" dur="400"/>
                                        <p:tgtEl>
                                          <p:spTgt spid="93"/>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0"/>
                                        </p:tgtEl>
                                        <p:attrNameLst>
                                          <p:attrName>style.visibility</p:attrName>
                                        </p:attrNameLst>
                                      </p:cBhvr>
                                      <p:to>
                                        <p:strVal val="visible"/>
                                      </p:to>
                                    </p:set>
                                    <p:animEffect transition="in" filter="fade">
                                      <p:cBhvr>
                                        <p:cTn id="37" dur="400"/>
                                        <p:tgtEl>
                                          <p:spTgt spid="130"/>
                                        </p:tgtEl>
                                      </p:cBhvr>
                                    </p:animEffect>
                                  </p:childTnLst>
                                </p:cTn>
                              </p:par>
                              <p:par>
                                <p:cTn id="38" presetID="10" presetClass="entr" presetSubtype="0" fill="hold" nodeType="withEffect">
                                  <p:stCondLst>
                                    <p:cond delay="0"/>
                                  </p:stCondLst>
                                  <p:childTnLst>
                                    <p:set>
                                      <p:cBhvr>
                                        <p:cTn id="39" dur="1" fill="hold">
                                          <p:stCondLst>
                                            <p:cond delay="0"/>
                                          </p:stCondLst>
                                        </p:cTn>
                                        <p:tgtEl>
                                          <p:spTgt spid="131"/>
                                        </p:tgtEl>
                                        <p:attrNameLst>
                                          <p:attrName>style.visibility</p:attrName>
                                        </p:attrNameLst>
                                      </p:cBhvr>
                                      <p:to>
                                        <p:strVal val="visible"/>
                                      </p:to>
                                    </p:set>
                                    <p:animEffect transition="in" filter="fade">
                                      <p:cBhvr>
                                        <p:cTn id="40" dur="400"/>
                                        <p:tgtEl>
                                          <p:spTgt spid="131"/>
                                        </p:tgtEl>
                                      </p:cBhvr>
                                    </p:animEffect>
                                  </p:childTnLst>
                                </p:cTn>
                              </p:par>
                              <p:par>
                                <p:cTn id="41" presetID="10" presetClass="entr" presetSubtype="0" fill="hold" nodeType="withEffect">
                                  <p:stCondLst>
                                    <p:cond delay="0"/>
                                  </p:stCondLst>
                                  <p:childTnLst>
                                    <p:set>
                                      <p:cBhvr>
                                        <p:cTn id="42" dur="1" fill="hold">
                                          <p:stCondLst>
                                            <p:cond delay="0"/>
                                          </p:stCondLst>
                                        </p:cTn>
                                        <p:tgtEl>
                                          <p:spTgt spid="111"/>
                                        </p:tgtEl>
                                        <p:attrNameLst>
                                          <p:attrName>style.visibility</p:attrName>
                                        </p:attrNameLst>
                                      </p:cBhvr>
                                      <p:to>
                                        <p:strVal val="visible"/>
                                      </p:to>
                                    </p:set>
                                    <p:animEffect transition="in" filter="fade">
                                      <p:cBhvr>
                                        <p:cTn id="43" dur="400"/>
                                        <p:tgtEl>
                                          <p:spTgt spid="1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2"/>
                                        </p:tgtEl>
                                        <p:attrNameLst>
                                          <p:attrName>style.visibility</p:attrName>
                                        </p:attrNameLst>
                                      </p:cBhvr>
                                      <p:to>
                                        <p:strVal val="visible"/>
                                      </p:to>
                                    </p:set>
                                    <p:animEffect transition="in" filter="fade">
                                      <p:cBhvr>
                                        <p:cTn id="48" dur="400"/>
                                        <p:tgtEl>
                                          <p:spTgt spid="112"/>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400"/>
                                        <p:tgtEl>
                                          <p:spTgt spid="11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15"/>
                                        </p:tgtEl>
                                        <p:attrNameLst>
                                          <p:attrName>style.visibility</p:attrName>
                                        </p:attrNameLst>
                                      </p:cBhvr>
                                      <p:to>
                                        <p:strVal val="visible"/>
                                      </p:to>
                                    </p:set>
                                    <p:animEffect transition="in" filter="fade">
                                      <p:cBhvr>
                                        <p:cTn id="59" dur="400"/>
                                        <p:tgtEl>
                                          <p:spTgt spid="115"/>
                                        </p:tgtEl>
                                      </p:cBhvr>
                                    </p:animEffect>
                                  </p:childTnLst>
                                </p:cTn>
                              </p:par>
                              <p:par>
                                <p:cTn id="60" presetID="10" presetClass="entr" presetSubtype="0" fill="hold" nodeType="withEffect">
                                  <p:stCondLst>
                                    <p:cond delay="0"/>
                                  </p:stCondLst>
                                  <p:childTnLst>
                                    <p:set>
                                      <p:cBhvr>
                                        <p:cTn id="61" dur="1" fill="hold">
                                          <p:stCondLst>
                                            <p:cond delay="0"/>
                                          </p:stCondLst>
                                        </p:cTn>
                                        <p:tgtEl>
                                          <p:spTgt spid="116"/>
                                        </p:tgtEl>
                                        <p:attrNameLst>
                                          <p:attrName>style.visibility</p:attrName>
                                        </p:attrNameLst>
                                      </p:cBhvr>
                                      <p:to>
                                        <p:strVal val="visible"/>
                                      </p:to>
                                    </p:set>
                                    <p:animEffect transition="in" filter="fade">
                                      <p:cBhvr>
                                        <p:cTn id="62" dur="400"/>
                                        <p:tgtEl>
                                          <p:spTgt spid="116"/>
                                        </p:tgtEl>
                                      </p:cBhvr>
                                    </p:animEffect>
                                  </p:childTnLst>
                                </p:cTn>
                              </p:par>
                              <p:par>
                                <p:cTn id="63" presetID="10" presetClass="entr" presetSubtype="0" fill="hold" nodeType="withEffect">
                                  <p:stCondLst>
                                    <p:cond delay="0"/>
                                  </p:stCondLst>
                                  <p:childTnLst>
                                    <p:set>
                                      <p:cBhvr>
                                        <p:cTn id="64" dur="1" fill="hold">
                                          <p:stCondLst>
                                            <p:cond delay="0"/>
                                          </p:stCondLst>
                                        </p:cTn>
                                        <p:tgtEl>
                                          <p:spTgt spid="94"/>
                                        </p:tgtEl>
                                        <p:attrNameLst>
                                          <p:attrName>style.visibility</p:attrName>
                                        </p:attrNameLst>
                                      </p:cBhvr>
                                      <p:to>
                                        <p:strVal val="visible"/>
                                      </p:to>
                                    </p:set>
                                    <p:animEffect transition="in" filter="fade">
                                      <p:cBhvr>
                                        <p:cTn id="65" dur="400"/>
                                        <p:tgtEl>
                                          <p:spTgt spid="94"/>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2"/>
                                        </p:tgtEl>
                                        <p:attrNameLst>
                                          <p:attrName>style.visibility</p:attrName>
                                        </p:attrNameLst>
                                      </p:cBhvr>
                                      <p:to>
                                        <p:strVal val="visible"/>
                                      </p:to>
                                    </p:set>
                                    <p:animEffect transition="in" filter="fade">
                                      <p:cBhvr>
                                        <p:cTn id="70" dur="400"/>
                                        <p:tgtEl>
                                          <p:spTgt spid="13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95"/>
                                        </p:tgtEl>
                                        <p:attrNameLst>
                                          <p:attrName>style.visibility</p:attrName>
                                        </p:attrNameLst>
                                      </p:cBhvr>
                                      <p:to>
                                        <p:strVal val="visible"/>
                                      </p:to>
                                    </p:set>
                                    <p:animEffect transition="in" filter="fade">
                                      <p:cBhvr>
                                        <p:cTn id="75" dur="400"/>
                                        <p:tgtEl>
                                          <p:spTgt spid="95"/>
                                        </p:tgtEl>
                                      </p:cBhvr>
                                    </p:animEffect>
                                  </p:childTnLst>
                                </p:cTn>
                              </p:par>
                              <p:par>
                                <p:cTn id="76" presetID="10" presetClass="entr" presetSubtype="0" fill="hold" nodeType="withEffect">
                                  <p:stCondLst>
                                    <p:cond delay="0"/>
                                  </p:stCondLst>
                                  <p:childTnLst>
                                    <p:set>
                                      <p:cBhvr>
                                        <p:cTn id="77" dur="1" fill="hold">
                                          <p:stCondLst>
                                            <p:cond delay="0"/>
                                          </p:stCondLst>
                                        </p:cTn>
                                        <p:tgtEl>
                                          <p:spTgt spid="96"/>
                                        </p:tgtEl>
                                        <p:attrNameLst>
                                          <p:attrName>style.visibility</p:attrName>
                                        </p:attrNameLst>
                                      </p:cBhvr>
                                      <p:to>
                                        <p:strVal val="visible"/>
                                      </p:to>
                                    </p:set>
                                    <p:animEffect transition="in" filter="fade">
                                      <p:cBhvr>
                                        <p:cTn id="78" dur="400"/>
                                        <p:tgtEl>
                                          <p:spTgt spid="96"/>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97"/>
                                        </p:tgtEl>
                                        <p:attrNameLst>
                                          <p:attrName>style.visibility</p:attrName>
                                        </p:attrNameLst>
                                      </p:cBhvr>
                                      <p:to>
                                        <p:strVal val="visible"/>
                                      </p:to>
                                    </p:set>
                                    <p:animEffect transition="in" filter="fade">
                                      <p:cBhvr>
                                        <p:cTn id="83" dur="400"/>
                                        <p:tgtEl>
                                          <p:spTgt spid="97"/>
                                        </p:tgtEl>
                                      </p:cBhvr>
                                    </p:animEffect>
                                  </p:childTnLst>
                                </p:cTn>
                              </p:par>
                              <p:par>
                                <p:cTn id="84" presetID="10" presetClass="entr" presetSubtype="0" fill="hold" nodeType="withEffect">
                                  <p:stCondLst>
                                    <p:cond delay="0"/>
                                  </p:stCondLst>
                                  <p:childTnLst>
                                    <p:set>
                                      <p:cBhvr>
                                        <p:cTn id="85" dur="1" fill="hold">
                                          <p:stCondLst>
                                            <p:cond delay="0"/>
                                          </p:stCondLst>
                                        </p:cTn>
                                        <p:tgtEl>
                                          <p:spTgt spid="98"/>
                                        </p:tgtEl>
                                        <p:attrNameLst>
                                          <p:attrName>style.visibility</p:attrName>
                                        </p:attrNameLst>
                                      </p:cBhvr>
                                      <p:to>
                                        <p:strVal val="visible"/>
                                      </p:to>
                                    </p:set>
                                    <p:animEffect transition="in" filter="fade">
                                      <p:cBhvr>
                                        <p:cTn id="86" dur="400"/>
                                        <p:tgtEl>
                                          <p:spTgt spid="98"/>
                                        </p:tgtEl>
                                      </p:cBhvr>
                                    </p:animEffect>
                                  </p:childTnLst>
                                </p:cTn>
                              </p:par>
                              <p:par>
                                <p:cTn id="87" presetID="10" presetClass="entr" presetSubtype="0" fill="hold" nodeType="withEffect">
                                  <p:stCondLst>
                                    <p:cond delay="0"/>
                                  </p:stCondLst>
                                  <p:childTnLst>
                                    <p:set>
                                      <p:cBhvr>
                                        <p:cTn id="88" dur="1" fill="hold">
                                          <p:stCondLst>
                                            <p:cond delay="0"/>
                                          </p:stCondLst>
                                        </p:cTn>
                                        <p:tgtEl>
                                          <p:spTgt spid="99"/>
                                        </p:tgtEl>
                                        <p:attrNameLst>
                                          <p:attrName>style.visibility</p:attrName>
                                        </p:attrNameLst>
                                      </p:cBhvr>
                                      <p:to>
                                        <p:strVal val="visible"/>
                                      </p:to>
                                    </p:set>
                                    <p:animEffect transition="in" filter="fade">
                                      <p:cBhvr>
                                        <p:cTn id="89" dur="400"/>
                                        <p:tgtEl>
                                          <p:spTgt spid="99"/>
                                        </p:tgtEl>
                                      </p:cBhvr>
                                    </p:animEffect>
                                  </p:childTnLst>
                                </p:cTn>
                              </p:par>
                              <p:par>
                                <p:cTn id="90" presetID="10" presetClass="entr" presetSubtype="0" fill="hold" nodeType="withEffect">
                                  <p:stCondLst>
                                    <p:cond delay="0"/>
                                  </p:stCondLst>
                                  <p:childTnLst>
                                    <p:set>
                                      <p:cBhvr>
                                        <p:cTn id="91" dur="1" fill="hold">
                                          <p:stCondLst>
                                            <p:cond delay="0"/>
                                          </p:stCondLst>
                                        </p:cTn>
                                        <p:tgtEl>
                                          <p:spTgt spid="120"/>
                                        </p:tgtEl>
                                        <p:attrNameLst>
                                          <p:attrName>style.visibility</p:attrName>
                                        </p:attrNameLst>
                                      </p:cBhvr>
                                      <p:to>
                                        <p:strVal val="visible"/>
                                      </p:to>
                                    </p:set>
                                    <p:animEffect transition="in" filter="fade">
                                      <p:cBhvr>
                                        <p:cTn id="92"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Patterns give us alternatives, not answers</a:t>
            </a:r>
          </a:p>
        </p:txBody>
      </p:sp>
      <p:sp>
        <p:nvSpPr>
          <p:cNvPr id="3" name="Slide Number Placeholder 2"/>
          <p:cNvSpPr>
            <a:spLocks noGrp="1"/>
          </p:cNvSpPr>
          <p:nvPr>
            <p:ph type="sldNum" sz="quarter" idx="4"/>
          </p:nvPr>
        </p:nvSpPr>
        <p:spPr/>
        <p:txBody>
          <a:bodyPr/>
          <a:lstStyle/>
          <a:p>
            <a:fld id="{B7EB45DA-9A0D-DC49-8E02-F30A5DDC21C3}" type="slidenum">
              <a:rPr lang="en-US" smtClean="0"/>
              <a:t>18</a:t>
            </a:fld>
            <a:endParaRPr lang="en-US"/>
          </a:p>
        </p:txBody>
      </p:sp>
      <p:sp>
        <p:nvSpPr>
          <p:cNvPr id="100" name="H100"/>
          <p:cNvSpPr txBox="1"/>
          <p:nvPr/>
        </p:nvSpPr>
        <p:spPr>
          <a:xfrm>
            <a:off x="685800" y="1250000"/>
            <a:ext cx="228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RECURRING PROBLEM</a:t>
            </a:r>
          </a:p>
        </p:txBody>
      </p:sp>
      <p:sp>
        <p:nvSpPr>
          <p:cNvPr id="101" name="H101"/>
          <p:cNvSpPr txBox="1"/>
          <p:nvPr/>
        </p:nvSpPr>
        <p:spPr>
          <a:xfrm>
            <a:off x="3085800" y="1250000"/>
            <a:ext cx="153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OPTION A</a:t>
            </a:r>
          </a:p>
        </p:txBody>
      </p:sp>
      <p:sp>
        <p:nvSpPr>
          <p:cNvPr id="102" name="H102"/>
          <p:cNvSpPr txBox="1"/>
          <p:nvPr/>
        </p:nvSpPr>
        <p:spPr>
          <a:xfrm>
            <a:off x="4735800" y="1250000"/>
            <a:ext cx="153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OPTION B</a:t>
            </a:r>
          </a:p>
        </p:txBody>
      </p:sp>
      <p:sp>
        <p:nvSpPr>
          <p:cNvPr id="103" name="H103"/>
          <p:cNvSpPr txBox="1"/>
          <p:nvPr/>
        </p:nvSpPr>
        <p:spPr>
          <a:xfrm>
            <a:off x="6385800" y="1250000"/>
            <a:ext cx="19524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WHAT IS TRADED</a:t>
            </a:r>
          </a:p>
        </p:txBody>
      </p:sp>
      <p:cxnSp>
        <p:nvCxnSpPr>
          <p:cNvPr id="104" name="HdrRule"/>
          <p:cNvCxnSpPr/>
          <p:nvPr/>
        </p:nvCxnSpPr>
        <p:spPr>
          <a:xfrm>
            <a:off x="685800" y="1710000"/>
            <a:ext cx="7772400" cy="0"/>
          </a:xfrm>
          <a:prstGeom prst="line">
            <a:avLst/>
          </a:prstGeom>
          <a:ln w="25400">
            <a:solidFill>
              <a:srgbClr val="8E6F3E"/>
            </a:solidFill>
          </a:ln>
        </p:spPr>
      </p:cxnSp>
      <p:sp>
        <p:nvSpPr>
          <p:cNvPr id="110" name="R0C0"/>
          <p:cNvSpPr txBox="1"/>
          <p:nvPr/>
        </p:nvSpPr>
        <p:spPr>
          <a:xfrm>
            <a:off x="685800" y="177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Abstraction boundaries</a:t>
            </a:r>
          </a:p>
        </p:txBody>
      </p:sp>
      <p:sp>
        <p:nvSpPr>
          <p:cNvPr id="111" name="R0C1"/>
          <p:cNvSpPr txBox="1"/>
          <p:nvPr/>
        </p:nvSpPr>
        <p:spPr>
          <a:xfrm>
            <a:off x="3085800" y="177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Strict layering</a:t>
            </a:r>
          </a:p>
        </p:txBody>
      </p:sp>
      <p:sp>
        <p:nvSpPr>
          <p:cNvPr id="112" name="R0C2"/>
          <p:cNvSpPr txBox="1"/>
          <p:nvPr/>
        </p:nvSpPr>
        <p:spPr>
          <a:xfrm>
            <a:off x="4735800" y="177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Deliberate crossing</a:t>
            </a:r>
          </a:p>
        </p:txBody>
      </p:sp>
      <p:sp>
        <p:nvSpPr>
          <p:cNvPr id="113" name="R0C3"/>
          <p:cNvSpPr txBox="1"/>
          <p:nvPr/>
        </p:nvSpPr>
        <p:spPr>
          <a:xfrm>
            <a:off x="6385800" y="177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isolation ↔ capability</a:t>
            </a:r>
          </a:p>
        </p:txBody>
      </p:sp>
      <p:cxnSp>
        <p:nvCxnSpPr>
          <p:cNvPr id="114" name="Rule0"/>
          <p:cNvCxnSpPr/>
          <p:nvPr/>
        </p:nvCxnSpPr>
        <p:spPr>
          <a:xfrm>
            <a:off x="685800" y="2560000"/>
            <a:ext cx="7772400" cy="0"/>
          </a:xfrm>
          <a:prstGeom prst="line">
            <a:avLst/>
          </a:prstGeom>
          <a:ln w="12700">
            <a:solidFill>
              <a:srgbClr val="C9B991"/>
            </a:solidFill>
          </a:ln>
        </p:spPr>
      </p:cxnSp>
      <p:sp>
        <p:nvSpPr>
          <p:cNvPr id="115" name="R1C0"/>
          <p:cNvSpPr txBox="1"/>
          <p:nvPr/>
        </p:nvSpPr>
        <p:spPr>
          <a:xfrm>
            <a:off x="685800" y="259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State organization</a:t>
            </a:r>
          </a:p>
        </p:txBody>
      </p:sp>
      <p:sp>
        <p:nvSpPr>
          <p:cNvPr id="116" name="R1C1"/>
          <p:cNvSpPr txBox="1"/>
          <p:nvPr/>
        </p:nvSpPr>
        <p:spPr>
          <a:xfrm>
            <a:off x="3085800" y="259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Pipeline</a:t>
            </a:r>
          </a:p>
        </p:txBody>
      </p:sp>
      <p:sp>
        <p:nvSpPr>
          <p:cNvPr id="117" name="R1C2"/>
          <p:cNvSpPr txBox="1"/>
          <p:nvPr/>
        </p:nvSpPr>
        <p:spPr>
          <a:xfrm>
            <a:off x="4735800" y="259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Repository</a:t>
            </a:r>
          </a:p>
        </p:txBody>
      </p:sp>
      <p:sp>
        <p:nvSpPr>
          <p:cNvPr id="118" name="R1C3"/>
          <p:cNvSpPr txBox="1"/>
          <p:nvPr/>
        </p:nvSpPr>
        <p:spPr>
          <a:xfrm>
            <a:off x="6385800" y="259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local flow ↔ shared consistency</a:t>
            </a:r>
          </a:p>
        </p:txBody>
      </p:sp>
      <p:cxnSp>
        <p:nvCxnSpPr>
          <p:cNvPr id="119" name="Rule1"/>
          <p:cNvCxnSpPr/>
          <p:nvPr/>
        </p:nvCxnSpPr>
        <p:spPr>
          <a:xfrm>
            <a:off x="685800" y="3380000"/>
            <a:ext cx="7772400" cy="0"/>
          </a:xfrm>
          <a:prstGeom prst="line">
            <a:avLst/>
          </a:prstGeom>
          <a:ln w="12700">
            <a:solidFill>
              <a:srgbClr val="C9B991"/>
            </a:solidFill>
          </a:ln>
        </p:spPr>
      </p:cxnSp>
      <p:sp>
        <p:nvSpPr>
          <p:cNvPr id="120" name="R2C0"/>
          <p:cNvSpPr txBox="1"/>
          <p:nvPr/>
        </p:nvSpPr>
        <p:spPr>
          <a:xfrm>
            <a:off x="685800" y="341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Communication</a:t>
            </a:r>
          </a:p>
        </p:txBody>
      </p:sp>
      <p:sp>
        <p:nvSpPr>
          <p:cNvPr id="121" name="R2C1"/>
          <p:cNvSpPr txBox="1"/>
          <p:nvPr/>
        </p:nvSpPr>
        <p:spPr>
          <a:xfrm>
            <a:off x="3085800" y="341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RPC</a:t>
            </a:r>
          </a:p>
        </p:txBody>
      </p:sp>
      <p:sp>
        <p:nvSpPr>
          <p:cNvPr id="122" name="R2C2"/>
          <p:cNvSpPr txBox="1"/>
          <p:nvPr/>
        </p:nvSpPr>
        <p:spPr>
          <a:xfrm>
            <a:off x="4735800" y="341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Event messaging</a:t>
            </a:r>
          </a:p>
        </p:txBody>
      </p:sp>
      <p:sp>
        <p:nvSpPr>
          <p:cNvPr id="123" name="R2C3"/>
          <p:cNvSpPr txBox="1"/>
          <p:nvPr/>
        </p:nvSpPr>
        <p:spPr>
          <a:xfrm>
            <a:off x="6385800" y="341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coordination ↔ decoupling</a:t>
            </a:r>
          </a:p>
        </p:txBody>
      </p:sp>
      <p:cxnSp>
        <p:nvCxnSpPr>
          <p:cNvPr id="124" name="Rule2"/>
          <p:cNvCxnSpPr/>
          <p:nvPr/>
        </p:nvCxnSpPr>
        <p:spPr>
          <a:xfrm>
            <a:off x="685800" y="4200000"/>
            <a:ext cx="7772400" cy="0"/>
          </a:xfrm>
          <a:prstGeom prst="line">
            <a:avLst/>
          </a:prstGeom>
          <a:ln w="12700">
            <a:solidFill>
              <a:srgbClr val="C9B991"/>
            </a:solidFill>
          </a:ln>
        </p:spPr>
      </p:cxnSp>
      <p:sp>
        <p:nvSpPr>
          <p:cNvPr id="125" name="R3C0"/>
          <p:cNvSpPr txBox="1"/>
          <p:nvPr/>
        </p:nvSpPr>
        <p:spPr>
          <a:xfrm>
            <a:off x="685800" y="423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Infrastructure dependencies</a:t>
            </a:r>
          </a:p>
        </p:txBody>
      </p:sp>
      <p:sp>
        <p:nvSpPr>
          <p:cNvPr id="126" name="R3C1"/>
          <p:cNvSpPr txBox="1"/>
          <p:nvPr/>
        </p:nvSpPr>
        <p:spPr>
          <a:xfrm>
            <a:off x="3085800" y="423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Direct dependency</a:t>
            </a:r>
          </a:p>
        </p:txBody>
      </p:sp>
      <p:sp>
        <p:nvSpPr>
          <p:cNvPr id="127" name="R3C2"/>
          <p:cNvSpPr txBox="1"/>
          <p:nvPr/>
        </p:nvSpPr>
        <p:spPr>
          <a:xfrm>
            <a:off x="4735800" y="423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Ports &amp; adapters</a:t>
            </a:r>
          </a:p>
        </p:txBody>
      </p:sp>
      <p:sp>
        <p:nvSpPr>
          <p:cNvPr id="128" name="R3C3"/>
          <p:cNvSpPr txBox="1"/>
          <p:nvPr/>
        </p:nvSpPr>
        <p:spPr>
          <a:xfrm>
            <a:off x="6385800" y="423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directness ↔ infrastructure isolation</a:t>
            </a:r>
          </a:p>
        </p:txBody>
      </p:sp>
      <p:sp>
        <p:nvSpPr>
          <p:cNvPr id="140" name="Footer"/>
          <p:cNvSpPr txBox="1"/>
          <p:nvPr/>
        </p:nvSpPr>
        <p:spPr>
          <a:xfrm>
            <a:off x="685800" y="5650000"/>
            <a:ext cx="7772400" cy="8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A pattern tells us what tends to happen. It does not tell us which consequence matters more here.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4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4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400"/>
                                        <p:tgtEl>
                                          <p:spTgt spid="112"/>
                                        </p:tgtEl>
                                      </p:cBhvr>
                                    </p:animEffect>
                                  </p:childTnLst>
                                </p:cTn>
                              </p:par>
                              <p:par>
                                <p:cTn id="14" presetID="10" presetClass="entr" presetSubtype="0" fill="hold"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400"/>
                                        <p:tgtEl>
                                          <p:spTgt spid="113"/>
                                        </p:tgtEl>
                                      </p:cBhvr>
                                    </p:animEffect>
                                  </p:childTnLst>
                                </p:cTn>
                              </p:par>
                              <p:par>
                                <p:cTn id="17" presetID="10"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fade">
                                      <p:cBhvr>
                                        <p:cTn id="19" dur="400"/>
                                        <p:tgtEl>
                                          <p:spTgt spid="11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400"/>
                                        <p:tgtEl>
                                          <p:spTgt spid="115"/>
                                        </p:tgtEl>
                                      </p:cBhvr>
                                    </p:animEffect>
                                  </p:childTnLst>
                                </p:cTn>
                              </p:par>
                              <p:par>
                                <p:cTn id="25" presetID="10" presetClass="entr" presetSubtype="0" fill="hold" nodeType="withEffect">
                                  <p:stCondLst>
                                    <p:cond delay="0"/>
                                  </p:stCondLst>
                                  <p:childTnLst>
                                    <p:set>
                                      <p:cBhvr>
                                        <p:cTn id="26" dur="1" fill="hold">
                                          <p:stCondLst>
                                            <p:cond delay="0"/>
                                          </p:stCondLst>
                                        </p:cTn>
                                        <p:tgtEl>
                                          <p:spTgt spid="116"/>
                                        </p:tgtEl>
                                        <p:attrNameLst>
                                          <p:attrName>style.visibility</p:attrName>
                                        </p:attrNameLst>
                                      </p:cBhvr>
                                      <p:to>
                                        <p:strVal val="visible"/>
                                      </p:to>
                                    </p:set>
                                    <p:animEffect transition="in" filter="fade">
                                      <p:cBhvr>
                                        <p:cTn id="27" dur="400"/>
                                        <p:tgtEl>
                                          <p:spTgt spid="116"/>
                                        </p:tgtEl>
                                      </p:cBhvr>
                                    </p:animEffect>
                                  </p:childTnLst>
                                </p:cTn>
                              </p:par>
                              <p:par>
                                <p:cTn id="28" presetID="10" presetClass="entr" presetSubtype="0" fill="hold" nodeType="withEffect">
                                  <p:stCondLst>
                                    <p:cond delay="0"/>
                                  </p:stCondLst>
                                  <p:childTnLst>
                                    <p:set>
                                      <p:cBhvr>
                                        <p:cTn id="29" dur="1" fill="hold">
                                          <p:stCondLst>
                                            <p:cond delay="0"/>
                                          </p:stCondLst>
                                        </p:cTn>
                                        <p:tgtEl>
                                          <p:spTgt spid="117"/>
                                        </p:tgtEl>
                                        <p:attrNameLst>
                                          <p:attrName>style.visibility</p:attrName>
                                        </p:attrNameLst>
                                      </p:cBhvr>
                                      <p:to>
                                        <p:strVal val="visible"/>
                                      </p:to>
                                    </p:set>
                                    <p:animEffect transition="in" filter="fade">
                                      <p:cBhvr>
                                        <p:cTn id="30" dur="400"/>
                                        <p:tgtEl>
                                          <p:spTgt spid="117"/>
                                        </p:tgtEl>
                                      </p:cBhvr>
                                    </p:animEffect>
                                  </p:childTnLst>
                                </p:cTn>
                              </p:par>
                              <p:par>
                                <p:cTn id="31" presetID="10" presetClass="entr" presetSubtype="0" fill="hold" nodeType="withEffect">
                                  <p:stCondLst>
                                    <p:cond delay="0"/>
                                  </p:stCondLst>
                                  <p:childTnLst>
                                    <p:set>
                                      <p:cBhvr>
                                        <p:cTn id="32" dur="1" fill="hold">
                                          <p:stCondLst>
                                            <p:cond delay="0"/>
                                          </p:stCondLst>
                                        </p:cTn>
                                        <p:tgtEl>
                                          <p:spTgt spid="118"/>
                                        </p:tgtEl>
                                        <p:attrNameLst>
                                          <p:attrName>style.visibility</p:attrName>
                                        </p:attrNameLst>
                                      </p:cBhvr>
                                      <p:to>
                                        <p:strVal val="visible"/>
                                      </p:to>
                                    </p:set>
                                    <p:animEffect transition="in" filter="fade">
                                      <p:cBhvr>
                                        <p:cTn id="33" dur="400"/>
                                        <p:tgtEl>
                                          <p:spTgt spid="118"/>
                                        </p:tgtEl>
                                      </p:cBhvr>
                                    </p:animEffect>
                                  </p:childTnLst>
                                </p:cTn>
                              </p:par>
                              <p:par>
                                <p:cTn id="34" presetID="10" presetClass="entr" presetSubtype="0" fill="hold" nodeType="withEffect">
                                  <p:stCondLst>
                                    <p:cond delay="0"/>
                                  </p:stCondLst>
                                  <p:childTnLst>
                                    <p:set>
                                      <p:cBhvr>
                                        <p:cTn id="35" dur="1" fill="hold">
                                          <p:stCondLst>
                                            <p:cond delay="0"/>
                                          </p:stCondLst>
                                        </p:cTn>
                                        <p:tgtEl>
                                          <p:spTgt spid="119"/>
                                        </p:tgtEl>
                                        <p:attrNameLst>
                                          <p:attrName>style.visibility</p:attrName>
                                        </p:attrNameLst>
                                      </p:cBhvr>
                                      <p:to>
                                        <p:strVal val="visible"/>
                                      </p:to>
                                    </p:set>
                                    <p:animEffect transition="in" filter="fade">
                                      <p:cBhvr>
                                        <p:cTn id="36" dur="400"/>
                                        <p:tgtEl>
                                          <p:spTgt spid="119"/>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20"/>
                                        </p:tgtEl>
                                        <p:attrNameLst>
                                          <p:attrName>style.visibility</p:attrName>
                                        </p:attrNameLst>
                                      </p:cBhvr>
                                      <p:to>
                                        <p:strVal val="visible"/>
                                      </p:to>
                                    </p:set>
                                    <p:animEffect transition="in" filter="fade">
                                      <p:cBhvr>
                                        <p:cTn id="41" dur="400"/>
                                        <p:tgtEl>
                                          <p:spTgt spid="120"/>
                                        </p:tgtEl>
                                      </p:cBhvr>
                                    </p:animEffect>
                                  </p:childTnLst>
                                </p:cTn>
                              </p:par>
                              <p:par>
                                <p:cTn id="42" presetID="10" presetClass="entr" presetSubtype="0" fill="hold" nodeType="withEffect">
                                  <p:stCondLst>
                                    <p:cond delay="0"/>
                                  </p:stCondLst>
                                  <p:childTnLst>
                                    <p:set>
                                      <p:cBhvr>
                                        <p:cTn id="43" dur="1" fill="hold">
                                          <p:stCondLst>
                                            <p:cond delay="0"/>
                                          </p:stCondLst>
                                        </p:cTn>
                                        <p:tgtEl>
                                          <p:spTgt spid="121"/>
                                        </p:tgtEl>
                                        <p:attrNameLst>
                                          <p:attrName>style.visibility</p:attrName>
                                        </p:attrNameLst>
                                      </p:cBhvr>
                                      <p:to>
                                        <p:strVal val="visible"/>
                                      </p:to>
                                    </p:set>
                                    <p:animEffect transition="in" filter="fade">
                                      <p:cBhvr>
                                        <p:cTn id="44" dur="400"/>
                                        <p:tgtEl>
                                          <p:spTgt spid="121"/>
                                        </p:tgtEl>
                                      </p:cBhvr>
                                    </p:animEffect>
                                  </p:childTnLst>
                                </p:cTn>
                              </p:par>
                              <p:par>
                                <p:cTn id="45" presetID="10" presetClass="entr" presetSubtype="0" fill="hold" nodeType="withEffect">
                                  <p:stCondLst>
                                    <p:cond delay="0"/>
                                  </p:stCondLst>
                                  <p:childTnLst>
                                    <p:set>
                                      <p:cBhvr>
                                        <p:cTn id="46" dur="1" fill="hold">
                                          <p:stCondLst>
                                            <p:cond delay="0"/>
                                          </p:stCondLst>
                                        </p:cTn>
                                        <p:tgtEl>
                                          <p:spTgt spid="122"/>
                                        </p:tgtEl>
                                        <p:attrNameLst>
                                          <p:attrName>style.visibility</p:attrName>
                                        </p:attrNameLst>
                                      </p:cBhvr>
                                      <p:to>
                                        <p:strVal val="visible"/>
                                      </p:to>
                                    </p:set>
                                    <p:animEffect transition="in" filter="fade">
                                      <p:cBhvr>
                                        <p:cTn id="47" dur="400"/>
                                        <p:tgtEl>
                                          <p:spTgt spid="122"/>
                                        </p:tgtEl>
                                      </p:cBhvr>
                                    </p:animEffect>
                                  </p:childTnLst>
                                </p:cTn>
                              </p:par>
                              <p:par>
                                <p:cTn id="48" presetID="10" presetClass="entr" presetSubtype="0" fill="hold" nodeType="withEffect">
                                  <p:stCondLst>
                                    <p:cond delay="0"/>
                                  </p:stCondLst>
                                  <p:childTnLst>
                                    <p:set>
                                      <p:cBhvr>
                                        <p:cTn id="49" dur="1" fill="hold">
                                          <p:stCondLst>
                                            <p:cond delay="0"/>
                                          </p:stCondLst>
                                        </p:cTn>
                                        <p:tgtEl>
                                          <p:spTgt spid="123"/>
                                        </p:tgtEl>
                                        <p:attrNameLst>
                                          <p:attrName>style.visibility</p:attrName>
                                        </p:attrNameLst>
                                      </p:cBhvr>
                                      <p:to>
                                        <p:strVal val="visible"/>
                                      </p:to>
                                    </p:set>
                                    <p:animEffect transition="in" filter="fade">
                                      <p:cBhvr>
                                        <p:cTn id="50" dur="400"/>
                                        <p:tgtEl>
                                          <p:spTgt spid="123"/>
                                        </p:tgtEl>
                                      </p:cBhvr>
                                    </p:animEffect>
                                  </p:childTnLst>
                                </p:cTn>
                              </p:par>
                              <p:par>
                                <p:cTn id="51" presetID="10" presetClass="entr" presetSubtype="0" fill="hold" nodeType="withEffect">
                                  <p:stCondLst>
                                    <p:cond delay="0"/>
                                  </p:stCondLst>
                                  <p:childTnLst>
                                    <p:set>
                                      <p:cBhvr>
                                        <p:cTn id="52" dur="1" fill="hold">
                                          <p:stCondLst>
                                            <p:cond delay="0"/>
                                          </p:stCondLst>
                                        </p:cTn>
                                        <p:tgtEl>
                                          <p:spTgt spid="124"/>
                                        </p:tgtEl>
                                        <p:attrNameLst>
                                          <p:attrName>style.visibility</p:attrName>
                                        </p:attrNameLst>
                                      </p:cBhvr>
                                      <p:to>
                                        <p:strVal val="visible"/>
                                      </p:to>
                                    </p:set>
                                    <p:animEffect transition="in" filter="fade">
                                      <p:cBhvr>
                                        <p:cTn id="53" dur="400"/>
                                        <p:tgtEl>
                                          <p:spTgt spid="124"/>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25"/>
                                        </p:tgtEl>
                                        <p:attrNameLst>
                                          <p:attrName>style.visibility</p:attrName>
                                        </p:attrNameLst>
                                      </p:cBhvr>
                                      <p:to>
                                        <p:strVal val="visible"/>
                                      </p:to>
                                    </p:set>
                                    <p:animEffect transition="in" filter="fade">
                                      <p:cBhvr>
                                        <p:cTn id="58" dur="400"/>
                                        <p:tgtEl>
                                          <p:spTgt spid="125"/>
                                        </p:tgtEl>
                                      </p:cBhvr>
                                    </p:animEffect>
                                  </p:childTnLst>
                                </p:cTn>
                              </p:par>
                              <p:par>
                                <p:cTn id="59" presetID="10" presetClass="entr" presetSubtype="0" fill="hold" nodeType="withEffect">
                                  <p:stCondLst>
                                    <p:cond delay="0"/>
                                  </p:stCondLst>
                                  <p:childTnLst>
                                    <p:set>
                                      <p:cBhvr>
                                        <p:cTn id="60" dur="1" fill="hold">
                                          <p:stCondLst>
                                            <p:cond delay="0"/>
                                          </p:stCondLst>
                                        </p:cTn>
                                        <p:tgtEl>
                                          <p:spTgt spid="126"/>
                                        </p:tgtEl>
                                        <p:attrNameLst>
                                          <p:attrName>style.visibility</p:attrName>
                                        </p:attrNameLst>
                                      </p:cBhvr>
                                      <p:to>
                                        <p:strVal val="visible"/>
                                      </p:to>
                                    </p:set>
                                    <p:animEffect transition="in" filter="fade">
                                      <p:cBhvr>
                                        <p:cTn id="61" dur="400"/>
                                        <p:tgtEl>
                                          <p:spTgt spid="126"/>
                                        </p:tgtEl>
                                      </p:cBhvr>
                                    </p:animEffect>
                                  </p:childTnLst>
                                </p:cTn>
                              </p:par>
                              <p:par>
                                <p:cTn id="62" presetID="10" presetClass="entr" presetSubtype="0" fill="hold" nodeType="withEffect">
                                  <p:stCondLst>
                                    <p:cond delay="0"/>
                                  </p:stCondLst>
                                  <p:childTnLst>
                                    <p:set>
                                      <p:cBhvr>
                                        <p:cTn id="63" dur="1" fill="hold">
                                          <p:stCondLst>
                                            <p:cond delay="0"/>
                                          </p:stCondLst>
                                        </p:cTn>
                                        <p:tgtEl>
                                          <p:spTgt spid="127"/>
                                        </p:tgtEl>
                                        <p:attrNameLst>
                                          <p:attrName>style.visibility</p:attrName>
                                        </p:attrNameLst>
                                      </p:cBhvr>
                                      <p:to>
                                        <p:strVal val="visible"/>
                                      </p:to>
                                    </p:set>
                                    <p:animEffect transition="in" filter="fade">
                                      <p:cBhvr>
                                        <p:cTn id="64" dur="400"/>
                                        <p:tgtEl>
                                          <p:spTgt spid="127"/>
                                        </p:tgtEl>
                                      </p:cBhvr>
                                    </p:animEffect>
                                  </p:childTnLst>
                                </p:cTn>
                              </p:par>
                              <p:par>
                                <p:cTn id="65" presetID="10" presetClass="entr" presetSubtype="0" fill="hold" nodeType="withEffect">
                                  <p:stCondLst>
                                    <p:cond delay="0"/>
                                  </p:stCondLst>
                                  <p:childTnLst>
                                    <p:set>
                                      <p:cBhvr>
                                        <p:cTn id="66" dur="1" fill="hold">
                                          <p:stCondLst>
                                            <p:cond delay="0"/>
                                          </p:stCondLst>
                                        </p:cTn>
                                        <p:tgtEl>
                                          <p:spTgt spid="128"/>
                                        </p:tgtEl>
                                        <p:attrNameLst>
                                          <p:attrName>style.visibility</p:attrName>
                                        </p:attrNameLst>
                                      </p:cBhvr>
                                      <p:to>
                                        <p:strVal val="visible"/>
                                      </p:to>
                                    </p:set>
                                    <p:animEffect transition="in" filter="fade">
                                      <p:cBhvr>
                                        <p:cTn id="67" dur="400"/>
                                        <p:tgtEl>
                                          <p:spTgt spid="128"/>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40"/>
                                        </p:tgtEl>
                                        <p:attrNameLst>
                                          <p:attrName>style.visibility</p:attrName>
                                        </p:attrNameLst>
                                      </p:cBhvr>
                                      <p:to>
                                        <p:strVal val="visible"/>
                                      </p:to>
                                    </p:set>
                                    <p:animEffect transition="in" filter="fade">
                                      <p:cBhvr>
                                        <p:cTn id="72" dur="4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much can we know before we build it?</a:t>
            </a:r>
          </a:p>
        </p:txBody>
      </p:sp>
      <p:sp>
        <p:nvSpPr>
          <p:cNvPr id="3" name="Slide Number Placeholder 2"/>
          <p:cNvSpPr>
            <a:spLocks noGrp="1"/>
          </p:cNvSpPr>
          <p:nvPr>
            <p:ph type="sldNum" sz="quarter" idx="4"/>
          </p:nvPr>
        </p:nvSpPr>
        <p:spPr/>
        <p:txBody>
          <a:bodyPr/>
          <a:lstStyle/>
          <a:p>
            <a:fld id="{B7EB45DA-9A0D-DC49-8E02-F30A5DDC21C3}" type="slidenum">
              <a:rPr lang="en-US" smtClean="0"/>
              <a:t>19</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makes some</a:t>
            </a:r>
            <a:br>
              <a:rPr lang="en-US" sz="2800"/>
            </a:br>
            <a:r>
              <a:rPr lang="en-US" sz="2800" b="0" i="0" dirty="0">
                <a:solidFill>
                  <a:srgbClr val="555960"/>
                </a:solidFill>
              </a:rPr>
              <a:t>properties analyzable.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An architecture diagram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20</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view</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weighted flow</a:t>
            </a:r>
          </a:p>
        </p:txBody>
      </p:sp>
      <p:cxnSp>
        <p:nvCxnSpPr>
          <p:cNvPr id="104" name="PDiv1"/>
          <p:cNvCxnSpPr/>
          <p:nvPr/>
        </p:nvCxnSpPr>
        <p:spPr>
          <a:xfrm>
            <a:off x="3072000" y="1200000"/>
            <a:ext cx="0" cy="3300000"/>
          </a:xfrm>
          <a:prstGeom prst="line">
            <a:avLst/>
          </a:prstGeom>
          <a:ln w="28575">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deployment view</a:t>
            </a:r>
          </a:p>
        </p:txBody>
      </p:sp>
      <p:cxnSp>
        <p:nvCxnSpPr>
          <p:cNvPr id="107" name="PDiv2"/>
          <p:cNvCxnSpPr/>
          <p:nvPr/>
        </p:nvCxnSpPr>
        <p:spPr>
          <a:xfrm>
            <a:off x="6072000" y="1200000"/>
            <a:ext cx="0" cy="3300000"/>
          </a:xfrm>
          <a:prstGeom prst="line">
            <a:avLst/>
          </a:prstGeom>
          <a:ln w="28575">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cxnSp>
        <p:nvCxnSpPr>
          <p:cNvPr id="112" name="P1ab"/>
          <p:cNvCxnSpPr/>
          <p:nvPr/>
        </p:nvCxnSpPr>
        <p:spPr>
          <a:xfrm>
            <a:off x="1123600" y="2670200"/>
            <a:ext cx="0" cy="377600"/>
          </a:xfrm>
          <a:prstGeom prst="line">
            <a:avLst/>
          </a:prstGeom>
          <a:ln w="50578">
            <a:solidFill>
              <a:srgbClr val="8E6F3E"/>
            </a:solidFill>
            <a:tailEnd type="triangle" w="med" len="med"/>
          </a:ln>
        </p:spPr>
      </p:cxnSp>
      <p:cxnSp>
        <p:nvCxnSpPr>
          <p:cNvPr id="113" name="P1bc"/>
          <p:cNvCxnSpPr/>
          <p:nvPr/>
        </p:nvCxnSpPr>
        <p:spPr>
          <a:xfrm>
            <a:off x="1123600" y="3555200"/>
            <a:ext cx="0" cy="377600"/>
          </a:xfrm>
          <a:prstGeom prst="line">
            <a:avLst/>
          </a:prstGeom>
          <a:ln w="50578">
            <a:solidFill>
              <a:srgbClr val="8E6F3E"/>
            </a:solidFill>
            <a:tailEnd type="triangle" w="med" len="med"/>
          </a:ln>
        </p:spPr>
      </p:cxnSp>
      <p:cxnSp>
        <p:nvCxnSpPr>
          <p:cNvPr id="114" name="P1bd"/>
          <p:cNvCxnSpPr/>
          <p:nvPr/>
        </p:nvCxnSpPr>
        <p:spPr>
          <a:xfrm>
            <a:off x="1501200" y="3301500"/>
            <a:ext cx="542800" cy="0"/>
          </a:xfrm>
          <a:prstGeom prst="line">
            <a:avLst/>
          </a:prstGeom>
          <a:ln w="50578">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18" name="P2ab"/>
          <p:cNvCxnSpPr/>
          <p:nvPr/>
        </p:nvCxnSpPr>
        <p:spPr>
          <a:xfrm>
            <a:off x="4572000" y="2611200"/>
            <a:ext cx="0" cy="436600"/>
          </a:xfrm>
          <a:prstGeom prst="line">
            <a:avLst/>
          </a:prstGeom>
          <a:ln w="50578">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20 ms</a:t>
            </a:r>
          </a:p>
        </p:txBody>
      </p:sp>
      <p:cxnSp>
        <p:nvCxnSpPr>
          <p:cNvPr id="120" name="P2bc"/>
          <p:cNvCxnSpPr/>
          <p:nvPr/>
        </p:nvCxnSpPr>
        <p:spPr>
          <a:xfrm>
            <a:off x="4572000" y="3555200"/>
            <a:ext cx="0" cy="436600"/>
          </a:xfrm>
          <a:prstGeom prst="line">
            <a:avLst/>
          </a:prstGeom>
          <a:ln w="76429">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par>
                                <p:cTn id="17" presetID="10"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animEffect transition="in" filter="fade">
                                      <p:cBhvr>
                                        <p:cTn id="19" dur="400"/>
                                        <p:tgtEl>
                                          <p:spTgt spid="110"/>
                                        </p:tgtEl>
                                      </p:cBhvr>
                                    </p:animEffect>
                                  </p:childTnLst>
                                </p:cTn>
                              </p:par>
                              <p:par>
                                <p:cTn id="20" presetID="10" presetClass="entr" presetSubtype="0" fill="hold" nodeType="withEffect">
                                  <p:stCondLst>
                                    <p:cond delay="0"/>
                                  </p:stCondLst>
                                  <p:childTnLst>
                                    <p:set>
                                      <p:cBhvr>
                                        <p:cTn id="21" dur="1" fill="hold">
                                          <p:stCondLst>
                                            <p:cond delay="0"/>
                                          </p:stCondLst>
                                        </p:cTn>
                                        <p:tgtEl>
                                          <p:spTgt spid="111"/>
                                        </p:tgtEl>
                                        <p:attrNameLst>
                                          <p:attrName>style.visibility</p:attrName>
                                        </p:attrNameLst>
                                      </p:cBhvr>
                                      <p:to>
                                        <p:strVal val="visible"/>
                                      </p:to>
                                    </p:set>
                                    <p:animEffect transition="in" filter="fade">
                                      <p:cBhvr>
                                        <p:cTn id="22" dur="400"/>
                                        <p:tgtEl>
                                          <p:spTgt spid="111"/>
                                        </p:tgtEl>
                                      </p:cBhvr>
                                    </p:animEffect>
                                  </p:childTnLst>
                                </p:cTn>
                              </p:par>
                              <p:par>
                                <p:cTn id="23" presetID="10" presetClass="entr" presetSubtype="0" fill="hold" nodeType="withEffect">
                                  <p:stCondLst>
                                    <p:cond delay="0"/>
                                  </p:stCondLst>
                                  <p:childTnLst>
                                    <p:set>
                                      <p:cBhvr>
                                        <p:cTn id="24" dur="1" fill="hold">
                                          <p:stCondLst>
                                            <p:cond delay="0"/>
                                          </p:stCondLst>
                                        </p:cTn>
                                        <p:tgtEl>
                                          <p:spTgt spid="112"/>
                                        </p:tgtEl>
                                        <p:attrNameLst>
                                          <p:attrName>style.visibility</p:attrName>
                                        </p:attrNameLst>
                                      </p:cBhvr>
                                      <p:to>
                                        <p:strVal val="visible"/>
                                      </p:to>
                                    </p:set>
                                    <p:animEffect transition="in" filter="fade">
                                      <p:cBhvr>
                                        <p:cTn id="25" dur="400"/>
                                        <p:tgtEl>
                                          <p:spTgt spid="112"/>
                                        </p:tgtEl>
                                      </p:cBhvr>
                                    </p:animEffect>
                                  </p:childTnLst>
                                </p:cTn>
                              </p:par>
                              <p:par>
                                <p:cTn id="26" presetID="10" presetClass="entr" presetSubtype="0" fill="hold" nodeType="withEffect">
                                  <p:stCondLst>
                                    <p:cond delay="0"/>
                                  </p:stCondLst>
                                  <p:childTnLst>
                                    <p:set>
                                      <p:cBhvr>
                                        <p:cTn id="27" dur="1" fill="hold">
                                          <p:stCondLst>
                                            <p:cond delay="0"/>
                                          </p:stCondLst>
                                        </p:cTn>
                                        <p:tgtEl>
                                          <p:spTgt spid="113"/>
                                        </p:tgtEl>
                                        <p:attrNameLst>
                                          <p:attrName>style.visibility</p:attrName>
                                        </p:attrNameLst>
                                      </p:cBhvr>
                                      <p:to>
                                        <p:strVal val="visible"/>
                                      </p:to>
                                    </p:set>
                                    <p:animEffect transition="in" filter="fade">
                                      <p:cBhvr>
                                        <p:cTn id="28" dur="400"/>
                                        <p:tgtEl>
                                          <p:spTgt spid="113"/>
                                        </p:tgtEl>
                                      </p:cBhvr>
                                    </p:animEffect>
                                  </p:childTnLst>
                                </p:cTn>
                              </p:par>
                              <p:par>
                                <p:cTn id="29" presetID="10" presetClass="entr" presetSubtype="0" fill="hold" nodeType="withEffect">
                                  <p:stCondLst>
                                    <p:cond delay="0"/>
                                  </p:stCondLst>
                                  <p:childTnLst>
                                    <p:set>
                                      <p:cBhvr>
                                        <p:cTn id="30" dur="1" fill="hold">
                                          <p:stCondLst>
                                            <p:cond delay="0"/>
                                          </p:stCondLst>
                                        </p:cTn>
                                        <p:tgtEl>
                                          <p:spTgt spid="114"/>
                                        </p:tgtEl>
                                        <p:attrNameLst>
                                          <p:attrName>style.visibility</p:attrName>
                                        </p:attrNameLst>
                                      </p:cBhvr>
                                      <p:to>
                                        <p:strVal val="visible"/>
                                      </p:to>
                                    </p:set>
                                    <p:animEffect transition="in" filter="fade">
                                      <p:cBhvr>
                                        <p:cTn id="31" dur="400"/>
                                        <p:tgtEl>
                                          <p:spTgt spid="11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4"/>
                                        </p:tgtEl>
                                        <p:attrNameLst>
                                          <p:attrName>style.visibility</p:attrName>
                                        </p:attrNameLst>
                                      </p:cBhvr>
                                      <p:to>
                                        <p:strVal val="visible"/>
                                      </p:to>
                                    </p:set>
                                    <p:animEffect transition="in" filter="fade">
                                      <p:cBhvr>
                                        <p:cTn id="36" dur="400"/>
                                        <p:tgtEl>
                                          <p:spTgt spid="104"/>
                                        </p:tgtEl>
                                      </p:cBhvr>
                                    </p:animEffect>
                                  </p:childTnLst>
                                </p:cTn>
                              </p:par>
                              <p:par>
                                <p:cTn id="37" presetID="10" presetClass="entr" presetSubtype="0" fill="hold" nodeType="withEffect">
                                  <p:stCondLst>
                                    <p:cond delay="0"/>
                                  </p:stCondLst>
                                  <p:childTnLst>
                                    <p:set>
                                      <p:cBhvr>
                                        <p:cTn id="38" dur="1" fill="hold">
                                          <p:stCondLst>
                                            <p:cond delay="0"/>
                                          </p:stCondLst>
                                        </p:cTn>
                                        <p:tgtEl>
                                          <p:spTgt spid="102"/>
                                        </p:tgtEl>
                                        <p:attrNameLst>
                                          <p:attrName>style.visibility</p:attrName>
                                        </p:attrNameLst>
                                      </p:cBhvr>
                                      <p:to>
                                        <p:strVal val="visible"/>
                                      </p:to>
                                    </p:set>
                                    <p:animEffect transition="in" filter="fade">
                                      <p:cBhvr>
                                        <p:cTn id="39" dur="400"/>
                                        <p:tgtEl>
                                          <p:spTgt spid="102"/>
                                        </p:tgtEl>
                                      </p:cBhvr>
                                    </p:animEffect>
                                  </p:childTnLst>
                                </p:cTn>
                              </p:par>
                              <p:par>
                                <p:cTn id="40" presetID="10" presetClass="entr" presetSubtype="0" fill="hold" nodeType="withEffect">
                                  <p:stCondLst>
                                    <p:cond delay="0"/>
                                  </p:stCondLst>
                                  <p:childTnLst>
                                    <p:set>
                                      <p:cBhvr>
                                        <p:cTn id="41" dur="1" fill="hold">
                                          <p:stCondLst>
                                            <p:cond delay="0"/>
                                          </p:stCondLst>
                                        </p:cTn>
                                        <p:tgtEl>
                                          <p:spTgt spid="103"/>
                                        </p:tgtEl>
                                        <p:attrNameLst>
                                          <p:attrName>style.visibility</p:attrName>
                                        </p:attrNameLst>
                                      </p:cBhvr>
                                      <p:to>
                                        <p:strVal val="visible"/>
                                      </p:to>
                                    </p:set>
                                    <p:animEffect transition="in" filter="fade">
                                      <p:cBhvr>
                                        <p:cTn id="42" dur="400"/>
                                        <p:tgtEl>
                                          <p:spTgt spid="103"/>
                                        </p:tgtEl>
                                      </p:cBhvr>
                                    </p:animEffect>
                                  </p:childTnLst>
                                </p:cTn>
                              </p:par>
                              <p:par>
                                <p:cTn id="43" presetID="10" presetClass="entr" presetSubtype="0" fill="hold" nodeType="withEffect">
                                  <p:stCondLst>
                                    <p:cond delay="0"/>
                                  </p:stCondLst>
                                  <p:childTnLst>
                                    <p:set>
                                      <p:cBhvr>
                                        <p:cTn id="44" dur="1" fill="hold">
                                          <p:stCondLst>
                                            <p:cond delay="0"/>
                                          </p:stCondLst>
                                        </p:cTn>
                                        <p:tgtEl>
                                          <p:spTgt spid="115"/>
                                        </p:tgtEl>
                                        <p:attrNameLst>
                                          <p:attrName>style.visibility</p:attrName>
                                        </p:attrNameLst>
                                      </p:cBhvr>
                                      <p:to>
                                        <p:strVal val="visible"/>
                                      </p:to>
                                    </p:set>
                                    <p:animEffect transition="in" filter="fade">
                                      <p:cBhvr>
                                        <p:cTn id="45" dur="400"/>
                                        <p:tgtEl>
                                          <p:spTgt spid="115"/>
                                        </p:tgtEl>
                                      </p:cBhvr>
                                    </p:animEffect>
                                  </p:childTnLst>
                                </p:cTn>
                              </p:par>
                              <p:par>
                                <p:cTn id="46" presetID="10" presetClass="entr" presetSubtype="0" fill="hold" nodeType="withEffect">
                                  <p:stCondLst>
                                    <p:cond delay="0"/>
                                  </p:stCondLst>
                                  <p:childTnLst>
                                    <p:set>
                                      <p:cBhvr>
                                        <p:cTn id="47" dur="1" fill="hold">
                                          <p:stCondLst>
                                            <p:cond delay="0"/>
                                          </p:stCondLst>
                                        </p:cTn>
                                        <p:tgtEl>
                                          <p:spTgt spid="116"/>
                                        </p:tgtEl>
                                        <p:attrNameLst>
                                          <p:attrName>style.visibility</p:attrName>
                                        </p:attrNameLst>
                                      </p:cBhvr>
                                      <p:to>
                                        <p:strVal val="visible"/>
                                      </p:to>
                                    </p:set>
                                    <p:animEffect transition="in" filter="fade">
                                      <p:cBhvr>
                                        <p:cTn id="48" dur="400"/>
                                        <p:tgtEl>
                                          <p:spTgt spid="116"/>
                                        </p:tgtEl>
                                      </p:cBhvr>
                                    </p:animEffect>
                                  </p:childTnLst>
                                </p:cTn>
                              </p:par>
                              <p:par>
                                <p:cTn id="49" presetID="10" presetClass="entr" presetSubtype="0" fill="hold"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400"/>
                                        <p:tgtEl>
                                          <p:spTgt spid="117"/>
                                        </p:tgtEl>
                                      </p:cBhvr>
                                    </p:animEffect>
                                  </p:childTnLst>
                                </p:cTn>
                              </p:par>
                              <p:par>
                                <p:cTn id="52" presetID="10" presetClass="entr" presetSubtype="0" fill="hold" nodeType="withEffect">
                                  <p:stCondLst>
                                    <p:cond delay="0"/>
                                  </p:stCondLst>
                                  <p:childTnLst>
                                    <p:set>
                                      <p:cBhvr>
                                        <p:cTn id="53" dur="1" fill="hold">
                                          <p:stCondLst>
                                            <p:cond delay="0"/>
                                          </p:stCondLst>
                                        </p:cTn>
                                        <p:tgtEl>
                                          <p:spTgt spid="118"/>
                                        </p:tgtEl>
                                        <p:attrNameLst>
                                          <p:attrName>style.visibility</p:attrName>
                                        </p:attrNameLst>
                                      </p:cBhvr>
                                      <p:to>
                                        <p:strVal val="visible"/>
                                      </p:to>
                                    </p:set>
                                    <p:animEffect transition="in" filter="fade">
                                      <p:cBhvr>
                                        <p:cTn id="54" dur="400"/>
                                        <p:tgtEl>
                                          <p:spTgt spid="118"/>
                                        </p:tgtEl>
                                      </p:cBhvr>
                                    </p:animEffect>
                                  </p:childTnLst>
                                </p:cTn>
                              </p:par>
                              <p:par>
                                <p:cTn id="55" presetID="10" presetClass="entr" presetSubtype="0" fill="hold" nodeType="withEffect">
                                  <p:stCondLst>
                                    <p:cond delay="0"/>
                                  </p:stCondLst>
                                  <p:childTnLst>
                                    <p:set>
                                      <p:cBhvr>
                                        <p:cTn id="56" dur="1" fill="hold">
                                          <p:stCondLst>
                                            <p:cond delay="0"/>
                                          </p:stCondLst>
                                        </p:cTn>
                                        <p:tgtEl>
                                          <p:spTgt spid="119"/>
                                        </p:tgtEl>
                                        <p:attrNameLst>
                                          <p:attrName>style.visibility</p:attrName>
                                        </p:attrNameLst>
                                      </p:cBhvr>
                                      <p:to>
                                        <p:strVal val="visible"/>
                                      </p:to>
                                    </p:set>
                                    <p:animEffect transition="in" filter="fade">
                                      <p:cBhvr>
                                        <p:cTn id="57" dur="400"/>
                                        <p:tgtEl>
                                          <p:spTgt spid="119"/>
                                        </p:tgtEl>
                                      </p:cBhvr>
                                    </p:animEffect>
                                  </p:childTnLst>
                                </p:cTn>
                              </p:par>
                              <p:par>
                                <p:cTn id="58" presetID="10" presetClass="entr" presetSubtype="0" fill="hold" nodeType="withEffect">
                                  <p:stCondLst>
                                    <p:cond delay="0"/>
                                  </p:stCondLst>
                                  <p:childTnLst>
                                    <p:set>
                                      <p:cBhvr>
                                        <p:cTn id="59" dur="1" fill="hold">
                                          <p:stCondLst>
                                            <p:cond delay="0"/>
                                          </p:stCondLst>
                                        </p:cTn>
                                        <p:tgtEl>
                                          <p:spTgt spid="120"/>
                                        </p:tgtEl>
                                        <p:attrNameLst>
                                          <p:attrName>style.visibility</p:attrName>
                                        </p:attrNameLst>
                                      </p:cBhvr>
                                      <p:to>
                                        <p:strVal val="visible"/>
                                      </p:to>
                                    </p:set>
                                    <p:animEffect transition="in" filter="fade">
                                      <p:cBhvr>
                                        <p:cTn id="60" dur="400"/>
                                        <p:tgtEl>
                                          <p:spTgt spid="120"/>
                                        </p:tgtEl>
                                      </p:cBhvr>
                                    </p:animEffect>
                                  </p:childTnLst>
                                </p:cTn>
                              </p:par>
                              <p:par>
                                <p:cTn id="61" presetID="10" presetClass="entr" presetSubtype="0" fill="hold" nodeType="withEffect">
                                  <p:stCondLst>
                                    <p:cond delay="0"/>
                                  </p:stCondLst>
                                  <p:childTnLst>
                                    <p:set>
                                      <p:cBhvr>
                                        <p:cTn id="62" dur="1" fill="hold">
                                          <p:stCondLst>
                                            <p:cond delay="0"/>
                                          </p:stCondLst>
                                        </p:cTn>
                                        <p:tgtEl>
                                          <p:spTgt spid="121"/>
                                        </p:tgtEl>
                                        <p:attrNameLst>
                                          <p:attrName>style.visibility</p:attrName>
                                        </p:attrNameLst>
                                      </p:cBhvr>
                                      <p:to>
                                        <p:strVal val="visible"/>
                                      </p:to>
                                    </p:set>
                                    <p:animEffect transition="in" filter="fade">
                                      <p:cBhvr>
                                        <p:cTn id="63" dur="400"/>
                                        <p:tgtEl>
                                          <p:spTgt spid="121"/>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07"/>
                                        </p:tgtEl>
                                        <p:attrNameLst>
                                          <p:attrName>style.visibility</p:attrName>
                                        </p:attrNameLst>
                                      </p:cBhvr>
                                      <p:to>
                                        <p:strVal val="visible"/>
                                      </p:to>
                                    </p:set>
                                    <p:animEffect transition="in" filter="fade">
                                      <p:cBhvr>
                                        <p:cTn id="68" dur="400"/>
                                        <p:tgtEl>
                                          <p:spTgt spid="107"/>
                                        </p:tgtEl>
                                      </p:cBhvr>
                                    </p:animEffect>
                                  </p:childTnLst>
                                </p:cTn>
                              </p:par>
                              <p:par>
                                <p:cTn id="69" presetID="10" presetClass="entr" presetSubtype="0" fill="hold" nodeType="withEffect">
                                  <p:stCondLst>
                                    <p:cond delay="0"/>
                                  </p:stCondLst>
                                  <p:childTnLst>
                                    <p:set>
                                      <p:cBhvr>
                                        <p:cTn id="70" dur="1" fill="hold">
                                          <p:stCondLst>
                                            <p:cond delay="0"/>
                                          </p:stCondLst>
                                        </p:cTn>
                                        <p:tgtEl>
                                          <p:spTgt spid="105"/>
                                        </p:tgtEl>
                                        <p:attrNameLst>
                                          <p:attrName>style.visibility</p:attrName>
                                        </p:attrNameLst>
                                      </p:cBhvr>
                                      <p:to>
                                        <p:strVal val="visible"/>
                                      </p:to>
                                    </p:set>
                                    <p:animEffect transition="in" filter="fade">
                                      <p:cBhvr>
                                        <p:cTn id="71" dur="400"/>
                                        <p:tgtEl>
                                          <p:spTgt spid="105"/>
                                        </p:tgtEl>
                                      </p:cBhvr>
                                    </p:animEffect>
                                  </p:childTnLst>
                                </p:cTn>
                              </p:par>
                              <p:par>
                                <p:cTn id="72" presetID="10" presetClass="entr" presetSubtype="0" fill="hold" nodeType="withEffect">
                                  <p:stCondLst>
                                    <p:cond delay="0"/>
                                  </p:stCondLst>
                                  <p:childTnLst>
                                    <p:set>
                                      <p:cBhvr>
                                        <p:cTn id="73" dur="1" fill="hold">
                                          <p:stCondLst>
                                            <p:cond delay="0"/>
                                          </p:stCondLst>
                                        </p:cTn>
                                        <p:tgtEl>
                                          <p:spTgt spid="106"/>
                                        </p:tgtEl>
                                        <p:attrNameLst>
                                          <p:attrName>style.visibility</p:attrName>
                                        </p:attrNameLst>
                                      </p:cBhvr>
                                      <p:to>
                                        <p:strVal val="visible"/>
                                      </p:to>
                                    </p:set>
                                    <p:animEffect transition="in" filter="fade">
                                      <p:cBhvr>
                                        <p:cTn id="74" dur="400"/>
                                        <p:tgtEl>
                                          <p:spTgt spid="106"/>
                                        </p:tgtEl>
                                      </p:cBhvr>
                                    </p:animEffect>
                                  </p:childTnLst>
                                </p:cTn>
                              </p:par>
                              <p:par>
                                <p:cTn id="75" presetID="10" presetClass="entr" presetSubtype="0" fill="hold" nodeType="withEffect">
                                  <p:stCondLst>
                                    <p:cond delay="0"/>
                                  </p:stCondLst>
                                  <p:childTnLst>
                                    <p:set>
                                      <p:cBhvr>
                                        <p:cTn id="76" dur="1" fill="hold">
                                          <p:stCondLst>
                                            <p:cond delay="0"/>
                                          </p:stCondLst>
                                        </p:cTn>
                                        <p:tgtEl>
                                          <p:spTgt spid="122"/>
                                        </p:tgtEl>
                                        <p:attrNameLst>
                                          <p:attrName>style.visibility</p:attrName>
                                        </p:attrNameLst>
                                      </p:cBhvr>
                                      <p:to>
                                        <p:strVal val="visible"/>
                                      </p:to>
                                    </p:set>
                                    <p:animEffect transition="in" filter="fade">
                                      <p:cBhvr>
                                        <p:cTn id="77" dur="400"/>
                                        <p:tgtEl>
                                          <p:spTgt spid="122"/>
                                        </p:tgtEl>
                                      </p:cBhvr>
                                    </p:animEffect>
                                  </p:childTnLst>
                                </p:cTn>
                              </p:par>
                              <p:par>
                                <p:cTn id="78" presetID="10" presetClass="entr" presetSubtype="0" fill="hold" nodeType="withEffect">
                                  <p:stCondLst>
                                    <p:cond delay="0"/>
                                  </p:stCondLst>
                                  <p:childTnLst>
                                    <p:set>
                                      <p:cBhvr>
                                        <p:cTn id="79" dur="1" fill="hold">
                                          <p:stCondLst>
                                            <p:cond delay="0"/>
                                          </p:stCondLst>
                                        </p:cTn>
                                        <p:tgtEl>
                                          <p:spTgt spid="123"/>
                                        </p:tgtEl>
                                        <p:attrNameLst>
                                          <p:attrName>style.visibility</p:attrName>
                                        </p:attrNameLst>
                                      </p:cBhvr>
                                      <p:to>
                                        <p:strVal val="visible"/>
                                      </p:to>
                                    </p:set>
                                    <p:animEffect transition="in" filter="fade">
                                      <p:cBhvr>
                                        <p:cTn id="80" dur="400"/>
                                        <p:tgtEl>
                                          <p:spTgt spid="123"/>
                                        </p:tgtEl>
                                      </p:cBhvr>
                                    </p:animEffect>
                                  </p:childTnLst>
                                </p:cTn>
                              </p:par>
                              <p:par>
                                <p:cTn id="81" presetID="10" presetClass="entr" presetSubtype="0" fill="hold" nodeType="withEffect">
                                  <p:stCondLst>
                                    <p:cond delay="0"/>
                                  </p:stCondLst>
                                  <p:childTnLst>
                                    <p:set>
                                      <p:cBhvr>
                                        <p:cTn id="82" dur="1" fill="hold">
                                          <p:stCondLst>
                                            <p:cond delay="0"/>
                                          </p:stCondLst>
                                        </p:cTn>
                                        <p:tgtEl>
                                          <p:spTgt spid="124"/>
                                        </p:tgtEl>
                                        <p:attrNameLst>
                                          <p:attrName>style.visibility</p:attrName>
                                        </p:attrNameLst>
                                      </p:cBhvr>
                                      <p:to>
                                        <p:strVal val="visible"/>
                                      </p:to>
                                    </p:set>
                                    <p:animEffect transition="in" filter="fade">
                                      <p:cBhvr>
                                        <p:cTn id="83" dur="400"/>
                                        <p:tgtEl>
                                          <p:spTgt spid="124"/>
                                        </p:tgtEl>
                                      </p:cBhvr>
                                    </p:animEffect>
                                  </p:childTnLst>
                                </p:cTn>
                              </p:par>
                              <p:par>
                                <p:cTn id="84" presetID="10" presetClass="entr" presetSubtype="0" fill="hold" nodeType="withEffect">
                                  <p:stCondLst>
                                    <p:cond delay="0"/>
                                  </p:stCondLst>
                                  <p:childTnLst>
                                    <p:set>
                                      <p:cBhvr>
                                        <p:cTn id="85" dur="1" fill="hold">
                                          <p:stCondLst>
                                            <p:cond delay="0"/>
                                          </p:stCondLst>
                                        </p:cTn>
                                        <p:tgtEl>
                                          <p:spTgt spid="125"/>
                                        </p:tgtEl>
                                        <p:attrNameLst>
                                          <p:attrName>style.visibility</p:attrName>
                                        </p:attrNameLst>
                                      </p:cBhvr>
                                      <p:to>
                                        <p:strVal val="visible"/>
                                      </p:to>
                                    </p:set>
                                    <p:animEffect transition="in" filter="fade">
                                      <p:cBhvr>
                                        <p:cTn id="86" dur="400"/>
                                        <p:tgtEl>
                                          <p:spTgt spid="125"/>
                                        </p:tgtEl>
                                      </p:cBhvr>
                                    </p:animEffect>
                                  </p:childTnLst>
                                </p:cTn>
                              </p:par>
                              <p:par>
                                <p:cTn id="87" presetID="10" presetClass="entr" presetSubtype="0" fill="hold" nodeType="withEffect">
                                  <p:stCondLst>
                                    <p:cond delay="0"/>
                                  </p:stCondLst>
                                  <p:childTnLst>
                                    <p:set>
                                      <p:cBhvr>
                                        <p:cTn id="88" dur="1" fill="hold">
                                          <p:stCondLst>
                                            <p:cond delay="0"/>
                                          </p:stCondLst>
                                        </p:cTn>
                                        <p:tgtEl>
                                          <p:spTgt spid="126"/>
                                        </p:tgtEl>
                                        <p:attrNameLst>
                                          <p:attrName>style.visibility</p:attrName>
                                        </p:attrNameLst>
                                      </p:cBhvr>
                                      <p:to>
                                        <p:strVal val="visible"/>
                                      </p:to>
                                    </p:set>
                                    <p:animEffect transition="in" filter="fade">
                                      <p:cBhvr>
                                        <p:cTn id="89" dur="400"/>
                                        <p:tgtEl>
                                          <p:spTgt spid="126"/>
                                        </p:tgtEl>
                                      </p:cBhvr>
                                    </p:animEffect>
                                  </p:childTnLst>
                                </p:cTn>
                              </p:par>
                              <p:par>
                                <p:cTn id="90" presetID="10" presetClass="entr" presetSubtype="0" fill="hold" nodeType="withEffect">
                                  <p:stCondLst>
                                    <p:cond delay="0"/>
                                  </p:stCondLst>
                                  <p:childTnLst>
                                    <p:set>
                                      <p:cBhvr>
                                        <p:cTn id="91" dur="1" fill="hold">
                                          <p:stCondLst>
                                            <p:cond delay="0"/>
                                          </p:stCondLst>
                                        </p:cTn>
                                        <p:tgtEl>
                                          <p:spTgt spid="127"/>
                                        </p:tgtEl>
                                        <p:attrNameLst>
                                          <p:attrName>style.visibility</p:attrName>
                                        </p:attrNameLst>
                                      </p:cBhvr>
                                      <p:to>
                                        <p:strVal val="visible"/>
                                      </p:to>
                                    </p:set>
                                    <p:animEffect transition="in" filter="fade">
                                      <p:cBhvr>
                                        <p:cTn id="92" dur="400"/>
                                        <p:tgtEl>
                                          <p:spTgt spid="127"/>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61"/>
                                        </p:tgtEl>
                                        <p:attrNameLst>
                                          <p:attrName>style.visibility</p:attrName>
                                        </p:attrNameLst>
                                      </p:cBhvr>
                                      <p:to>
                                        <p:strVal val="visible"/>
                                      </p:to>
                                    </p:set>
                                    <p:animEffect transition="in" filter="fade">
                                      <p:cBhvr>
                                        <p:cTn id="9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Some claims require less betting than others</a:t>
            </a:r>
          </a:p>
        </p:txBody>
      </p:sp>
      <p:sp>
        <p:nvSpPr>
          <p:cNvPr id="3" name="Slide Number Placeholder 2"/>
          <p:cNvSpPr>
            <a:spLocks noGrp="1"/>
          </p:cNvSpPr>
          <p:nvPr>
            <p:ph type="sldNum" sz="quarter" idx="4"/>
          </p:nvPr>
        </p:nvSpPr>
        <p:spPr/>
        <p:txBody>
          <a:bodyPr/>
          <a:lstStyle/>
          <a:p>
            <a:fld id="{B7EB45DA-9A0D-DC49-8E02-F30A5DDC21C3}" type="slidenum">
              <a:rPr lang="en-US" smtClean="0"/>
              <a:t>21</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The more faithfully the model captures the property we care about, the less we have to bet.</a:t>
            </a:r>
          </a:p>
        </p:txBody>
      </p:sp>
      <p:cxnSp>
        <p:nvCxnSpPr>
          <p:cNvPr id="100" name="Axis"/>
          <p:cNvCxnSpPr/>
          <p:nvPr/>
        </p:nvCxnSpPr>
        <p:spPr>
          <a:xfrm>
            <a:off x="745000" y="3109500"/>
            <a:ext cx="7694880" cy="0"/>
          </a:xfrm>
          <a:prstGeom prst="line">
            <a:avLst/>
          </a:prstGeom>
          <a:ln w="55377">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5C4826"/>
                </a:solidFill>
              </a:rPr>
              <a:t>MORE BETTING</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fontScale="92500" lnSpcReduction="20000"/>
          </a:bodyPr>
          <a:lstStyle/>
          <a:p>
            <a:pPr algn="r">
              <a:buNone/>
            </a:pPr>
            <a:r>
              <a:rPr lang="en-US" sz="2000" b="1" i="0" dirty="0">
                <a:solidFill>
                  <a:srgbClr val="5C4826"/>
                </a:solidFill>
              </a:rPr>
              <a:t>LESS BETTING</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REASONED</a:t>
            </a:r>
          </a:p>
          <a:p>
            <a:pPr algn="ctr">
              <a:spcBef>
                <a:spcPts val="262"/>
              </a:spcBef>
              <a:buNone/>
            </a:pPr>
            <a:r>
              <a:rPr lang="en-US" sz="2100" b="1" i="0" dirty="0">
                <a:solidFill>
                  <a:srgbClr val="8E6F3E"/>
                </a:solidFill>
              </a:rPr>
              <a:t>EXPECTATION</a:t>
            </a: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STRUCTURAL</a:t>
            </a:r>
          </a:p>
          <a:p>
            <a:pPr algn="ctr">
              <a:spcBef>
                <a:spcPts val="262"/>
              </a:spcBef>
              <a:buNone/>
            </a:pPr>
            <a:r>
              <a:rPr lang="en-US" sz="2100" b="1" i="0" dirty="0">
                <a:solidFill>
                  <a:srgbClr val="8E6F3E"/>
                </a:solidFill>
              </a:rPr>
              <a:t>ARGUMENT</a:t>
            </a: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QUANTITATIVE</a:t>
            </a:r>
          </a:p>
          <a:p>
            <a:pPr algn="ctr">
              <a:spcBef>
                <a:spcPts val="262"/>
              </a:spcBef>
              <a:buNone/>
            </a:pPr>
            <a:r>
              <a:rPr lang="en-US" sz="2100" b="1" i="0" dirty="0">
                <a:solidFill>
                  <a:srgbClr val="8E6F3E"/>
                </a:solidFill>
              </a:rPr>
              <a:t>PREDICTION</a:t>
            </a: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OBSERVED</a:t>
            </a:r>
          </a:p>
          <a:p>
            <a:pPr algn="ctr">
              <a:spcBef>
                <a:spcPts val="262"/>
              </a:spcBef>
              <a:buNone/>
            </a:pPr>
            <a:r>
              <a:rPr lang="en-US" sz="2100" b="1" i="0" dirty="0">
                <a:solidFill>
                  <a:srgbClr val="8E6F3E"/>
                </a:solidFill>
              </a:rPr>
              <a:t>EVIDENCE</a:t>
            </a: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“11.8 s measured”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4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4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400"/>
                                        <p:tgtEl>
                                          <p:spTgt spid="10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400"/>
                                        <p:tgtEl>
                                          <p:spTgt spid="106"/>
                                        </p:tgtEl>
                                      </p:cBhvr>
                                    </p:animEffect>
                                  </p:childTnLst>
                                </p:cTn>
                              </p:par>
                              <p:par>
                                <p:cTn id="19" presetID="10" presetClass="entr" presetSubtype="0" fill="hold" nodeType="withEffect">
                                  <p:stCondLst>
                                    <p:cond delay="0"/>
                                  </p:stCondLst>
                                  <p:childTnLst>
                                    <p:set>
                                      <p:cBhvr>
                                        <p:cTn id="20" dur="1" fill="hold">
                                          <p:stCondLst>
                                            <p:cond delay="0"/>
                                          </p:stCondLst>
                                        </p:cTn>
                                        <p:tgtEl>
                                          <p:spTgt spid="107"/>
                                        </p:tgtEl>
                                        <p:attrNameLst>
                                          <p:attrName>style.visibility</p:attrName>
                                        </p:attrNameLst>
                                      </p:cBhvr>
                                      <p:to>
                                        <p:strVal val="visible"/>
                                      </p:to>
                                    </p:set>
                                    <p:animEffect transition="in" filter="fade">
                                      <p:cBhvr>
                                        <p:cTn id="21" dur="400"/>
                                        <p:tgtEl>
                                          <p:spTgt spid="107"/>
                                        </p:tgtEl>
                                      </p:cBhvr>
                                    </p:animEffect>
                                  </p:childTnLst>
                                </p:cTn>
                              </p:par>
                              <p:par>
                                <p:cTn id="22" presetID="10" presetClass="entr" presetSubtype="0" fill="hold" nodeType="withEffect">
                                  <p:stCondLst>
                                    <p:cond delay="0"/>
                                  </p:stCondLst>
                                  <p:childTnLst>
                                    <p:set>
                                      <p:cBhvr>
                                        <p:cTn id="23" dur="1" fill="hold">
                                          <p:stCondLst>
                                            <p:cond delay="0"/>
                                          </p:stCondLst>
                                        </p:cTn>
                                        <p:tgtEl>
                                          <p:spTgt spid="108"/>
                                        </p:tgtEl>
                                        <p:attrNameLst>
                                          <p:attrName>style.visibility</p:attrName>
                                        </p:attrNameLst>
                                      </p:cBhvr>
                                      <p:to>
                                        <p:strVal val="visible"/>
                                      </p:to>
                                    </p:set>
                                    <p:animEffect transition="in" filter="fade">
                                      <p:cBhvr>
                                        <p:cTn id="24" dur="400"/>
                                        <p:tgtEl>
                                          <p:spTgt spid="10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9"/>
                                        </p:tgtEl>
                                        <p:attrNameLst>
                                          <p:attrName>style.visibility</p:attrName>
                                        </p:attrNameLst>
                                      </p:cBhvr>
                                      <p:to>
                                        <p:strVal val="visible"/>
                                      </p:to>
                                    </p:set>
                                    <p:animEffect transition="in" filter="fade">
                                      <p:cBhvr>
                                        <p:cTn id="29" dur="400"/>
                                        <p:tgtEl>
                                          <p:spTgt spid="109"/>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par>
                                <p:cTn id="33" presetID="10" presetClass="entr" presetSubtype="0" fill="hold" nodeType="withEffect">
                                  <p:stCondLst>
                                    <p:cond delay="0"/>
                                  </p:stCondLst>
                                  <p:childTnLst>
                                    <p:set>
                                      <p:cBhvr>
                                        <p:cTn id="34" dur="1" fill="hold">
                                          <p:stCondLst>
                                            <p:cond delay="0"/>
                                          </p:stCondLst>
                                        </p:cTn>
                                        <p:tgtEl>
                                          <p:spTgt spid="111"/>
                                        </p:tgtEl>
                                        <p:attrNameLst>
                                          <p:attrName>style.visibility</p:attrName>
                                        </p:attrNameLst>
                                      </p:cBhvr>
                                      <p:to>
                                        <p:strVal val="visible"/>
                                      </p:to>
                                    </p:set>
                                    <p:animEffect transition="in" filter="fade">
                                      <p:cBhvr>
                                        <p:cTn id="35" dur="400"/>
                                        <p:tgtEl>
                                          <p:spTgt spid="1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1"/>
                                        </p:tgtEl>
                                        <p:attrNameLst>
                                          <p:attrName>style.visibility</p:attrName>
                                        </p:attrNameLst>
                                      </p:cBhvr>
                                      <p:to>
                                        <p:strVal val="visible"/>
                                      </p:to>
                                    </p:set>
                                    <p:animEffect transition="in" filter="fade">
                                      <p:cBhvr>
                                        <p:cTn id="5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22</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What claim can the dependency model actually establish?</a:t>
            </a:r>
          </a:p>
        </p:txBody>
      </p:sp>
      <p:sp>
        <p:nvSpPr>
          <p:cNvPr id="100" name="BeforeLbl"/>
          <p:cNvSpPr txBox="1"/>
          <p:nvPr/>
        </p:nvSpPr>
        <p:spPr>
          <a:xfrm>
            <a:off x="324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BEFORE</a:t>
            </a:r>
          </a:p>
        </p:txBody>
      </p:sp>
      <p:sp>
        <p:nvSpPr>
          <p:cNvPr id="101" name="BModel"/>
          <p:cNvSpPr/>
          <p:nvPr/>
        </p:nvSpPr>
        <p:spPr>
          <a:xfrm>
            <a:off x="350000" y="2550000"/>
            <a:ext cx="2000000" cy="95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02" name="BDelta"/>
          <p:cNvSpPr/>
          <p:nvPr/>
        </p:nvSpPr>
        <p:spPr>
          <a:xfrm>
            <a:off x="2180000" y="2380000"/>
            <a:ext cx="380000" cy="380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sp>
        <p:nvSpPr>
          <p:cNvPr id="103" name="BUI"/>
          <p:cNvSpPr/>
          <p:nvPr/>
        </p:nvSpPr>
        <p:spPr>
          <a:xfrm>
            <a:off x="3100000" y="155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cxnSp>
        <p:nvCxnSpPr>
          <p:cNvPr id="104" name="BA104"/>
          <p:cNvCxnSpPr/>
          <p:nvPr/>
        </p:nvCxnSpPr>
        <p:spPr>
          <a:xfrm flipV="1">
            <a:off x="2350000" y="1890000"/>
            <a:ext cx="750000" cy="890000"/>
          </a:xfrm>
          <a:prstGeom prst="line">
            <a:avLst/>
          </a:prstGeom>
          <a:ln w="28575">
            <a:solidFill>
              <a:srgbClr val="B23B3B"/>
            </a:solidFill>
            <a:prstDash val="dash"/>
            <a:headEnd type="triangle" w="med" len="med"/>
          </a:ln>
        </p:spPr>
      </p:cxnSp>
      <p:sp>
        <p:nvSpPr>
          <p:cNvPr id="105" name="BADVICE"/>
          <p:cNvSpPr/>
          <p:nvPr/>
        </p:nvSpPr>
        <p:spPr>
          <a:xfrm>
            <a:off x="3100000" y="268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cxnSp>
        <p:nvCxnSpPr>
          <p:cNvPr id="106" name="BA106"/>
          <p:cNvCxnSpPr/>
          <p:nvPr/>
        </p:nvCxnSpPr>
        <p:spPr>
          <a:xfrm>
            <a:off x="2350000" y="3020000"/>
            <a:ext cx="750000" cy="0"/>
          </a:xfrm>
          <a:prstGeom prst="line">
            <a:avLst/>
          </a:prstGeom>
          <a:ln w="28575">
            <a:solidFill>
              <a:srgbClr val="B23B3B"/>
            </a:solidFill>
            <a:prstDash val="dash"/>
            <a:headEnd type="triangle" w="med" len="med"/>
          </a:ln>
        </p:spPr>
      </p:cxnSp>
      <p:sp>
        <p:nvSpPr>
          <p:cNvPr id="107" name="BSTORAGE"/>
          <p:cNvSpPr/>
          <p:nvPr/>
        </p:nvSpPr>
        <p:spPr>
          <a:xfrm>
            <a:off x="3100000" y="381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08" name="BA108"/>
          <p:cNvCxnSpPr/>
          <p:nvPr/>
        </p:nvCxnSpPr>
        <p:spPr>
          <a:xfrm>
            <a:off x="2350000" y="3260000"/>
            <a:ext cx="750000" cy="890000"/>
          </a:xfrm>
          <a:prstGeom prst="line">
            <a:avLst/>
          </a:prstGeom>
          <a:ln w="28575">
            <a:solidFill>
              <a:srgbClr val="B23B3B"/>
            </a:solidFill>
            <a:prstDash val="dash"/>
            <a:headEnd type="triangle" w="med" len="med"/>
          </a:ln>
        </p:spPr>
      </p:cxnSp>
      <p:sp>
        <p:nvSpPr>
          <p:cNvPr id="109" name="BCap"/>
          <p:cNvSpPr txBox="1"/>
          <p:nvPr/>
        </p:nvSpPr>
        <p:spPr>
          <a:xfrm>
            <a:off x="350000" y="4700000"/>
            <a:ext cx="4170000" cy="324000"/>
          </a:xfrm>
          <a:prstGeom prst="rect">
            <a:avLst/>
          </a:prstGeom>
          <a:noFill/>
          <a:ln>
            <a:noFill/>
          </a:ln>
        </p:spPr>
        <p:txBody>
          <a:bodyPr wrap="square" lIns="0" tIns="0" rIns="0" bIns="0" anchor="t">
            <a:normAutofit/>
          </a:bodyPr>
          <a:lstStyle/>
          <a:p>
            <a:pPr algn="l">
              <a:buNone/>
            </a:pPr>
            <a:r>
              <a:rPr lang="en-US" sz="1900" b="0" i="1" dirty="0">
                <a:solidFill>
                  <a:srgbClr val="B23B3B"/>
                </a:solidFill>
              </a:rPr>
              <a:t>one expected change touches everything</a:t>
            </a:r>
          </a:p>
        </p:txBody>
      </p:sp>
      <p:cxnSp>
        <p:nvCxnSpPr>
          <p:cNvPr id="110" name="Div"/>
          <p:cNvCxnSpPr/>
          <p:nvPr/>
        </p:nvCxnSpPr>
        <p:spPr>
          <a:xfrm>
            <a:off x="4600000" y="1550000"/>
            <a:ext cx="0" cy="2950000"/>
          </a:xfrm>
          <a:prstGeom prst="line">
            <a:avLst/>
          </a:prstGeom>
          <a:ln w="28575">
            <a:solidFill>
              <a:srgbClr val="C9B991"/>
            </a:solidFill>
            <a:prstDash val="dash"/>
          </a:ln>
        </p:spPr>
      </p:cxnSp>
      <p:sp>
        <p:nvSpPr>
          <p:cNvPr id="111" name="AfterLbl"/>
          <p:cNvSpPr txBox="1"/>
          <p:nvPr/>
        </p:nvSpPr>
        <p:spPr>
          <a:xfrm>
            <a:off x="4779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AFTER</a:t>
            </a:r>
          </a:p>
        </p:txBody>
      </p:sp>
      <p:sp>
        <p:nvSpPr>
          <p:cNvPr id="112" name="AUI"/>
          <p:cNvSpPr/>
          <p:nvPr/>
        </p:nvSpPr>
        <p:spPr>
          <a:xfrm>
            <a:off x="4720000" y="16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sp>
        <p:nvSpPr>
          <p:cNvPr id="113" name="AAdvice"/>
          <p:cNvSpPr/>
          <p:nvPr/>
        </p:nvSpPr>
        <p:spPr>
          <a:xfrm>
            <a:off x="4720000" y="250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sp>
        <p:nvSpPr>
          <p:cNvPr id="114" name="AIface"/>
          <p:cNvSpPr/>
          <p:nvPr/>
        </p:nvSpPr>
        <p:spPr>
          <a:xfrm>
            <a:off x="6350000" y="1500000"/>
            <a:ext cx="160000" cy="260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30000" y="1180000"/>
            <a:ext cx="3300000" cy="300000"/>
          </a:xfrm>
          <a:prstGeom prst="rect">
            <a:avLst/>
          </a:prstGeom>
          <a:noFill/>
          <a:ln>
            <a:noFill/>
          </a:ln>
        </p:spPr>
        <p:txBody>
          <a:bodyPr wrap="square" lIns="0" tIns="0" rIns="0" bIns="0" anchor="t">
            <a:normAutofit/>
          </a:bodyPr>
          <a:lstStyle/>
          <a:p>
            <a:pPr algn="ctr">
              <a:buNone/>
            </a:pPr>
            <a:r>
              <a:rPr lang="en-US" sz="1800" b="1" i="0" dirty="0">
                <a:solidFill>
                  <a:srgbClr val="8E6F3E"/>
                </a:solidFill>
              </a:rPr>
              <a:t>MODEL SERVICE INTERFACE</a:t>
            </a:r>
          </a:p>
        </p:txBody>
      </p:sp>
      <p:sp>
        <p:nvSpPr>
          <p:cNvPr id="116" name="AModel"/>
          <p:cNvSpPr/>
          <p:nvPr/>
        </p:nvSpPr>
        <p:spPr>
          <a:xfrm>
            <a:off x="6850000" y="2350000"/>
            <a:ext cx="1900000" cy="90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17" name="ADelta"/>
          <p:cNvSpPr/>
          <p:nvPr/>
        </p:nvSpPr>
        <p:spPr>
          <a:xfrm>
            <a:off x="8460000" y="21900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cxnSp>
        <p:nvCxnSpPr>
          <p:cNvPr id="118" name="AA118"/>
          <p:cNvCxnSpPr/>
          <p:nvPr/>
        </p:nvCxnSpPr>
        <p:spPr>
          <a:xfrm>
            <a:off x="5970000" y="1940000"/>
            <a:ext cx="380000" cy="0"/>
          </a:xfrm>
          <a:prstGeom prst="line">
            <a:avLst/>
          </a:prstGeom>
          <a:ln w="41275">
            <a:solidFill>
              <a:srgbClr val="8E6F3E"/>
            </a:solidFill>
            <a:tailEnd type="triangle" w="med" len="med"/>
          </a:ln>
        </p:spPr>
      </p:cxnSp>
      <p:cxnSp>
        <p:nvCxnSpPr>
          <p:cNvPr id="119" name="AA119"/>
          <p:cNvCxnSpPr/>
          <p:nvPr/>
        </p:nvCxnSpPr>
        <p:spPr>
          <a:xfrm>
            <a:off x="5970000" y="2790000"/>
            <a:ext cx="380000" cy="0"/>
          </a:xfrm>
          <a:prstGeom prst="line">
            <a:avLst/>
          </a:prstGeom>
          <a:ln w="41275">
            <a:solidFill>
              <a:srgbClr val="8E6F3E"/>
            </a:solidFill>
            <a:tailEnd type="triangle" w="med" len="med"/>
          </a:ln>
        </p:spPr>
      </p:cxnSp>
      <p:sp>
        <p:nvSpPr>
          <p:cNvPr id="120" name="ACap"/>
          <p:cNvSpPr txBox="1"/>
          <p:nvPr/>
        </p:nvSpPr>
        <p:spPr>
          <a:xfrm>
            <a:off x="4720000" y="4700000"/>
            <a:ext cx="4100000" cy="324000"/>
          </a:xfrm>
          <a:prstGeom prst="rect">
            <a:avLst/>
          </a:prstGeom>
          <a:noFill/>
          <a:ln>
            <a:noFill/>
          </a:ln>
        </p:spPr>
        <p:txBody>
          <a:bodyPr wrap="square" lIns="0" tIns="0" rIns="0" bIns="0" anchor="t">
            <a:normAutofit/>
          </a:bodyPr>
          <a:lstStyle/>
          <a:p>
            <a:pPr algn="l">
              <a:buNone/>
            </a:pPr>
            <a:r>
              <a:rPr lang="en-US" sz="1900" b="0" i="1" dirty="0">
                <a:solidFill>
                  <a:srgbClr val="1F7A4D"/>
                </a:solidFill>
              </a:rPr>
              <a:t>anticipated change stays behind the seam</a:t>
            </a:r>
          </a:p>
        </p:txBody>
      </p:sp>
      <p:sp>
        <p:nvSpPr>
          <p:cNvPr id="130" name="AStorage"/>
          <p:cNvSpPr/>
          <p:nvPr/>
        </p:nvSpPr>
        <p:spPr>
          <a:xfrm>
            <a:off x="4720000" y="33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31" name="AA131"/>
          <p:cNvCxnSpPr/>
          <p:nvPr/>
        </p:nvCxnSpPr>
        <p:spPr>
          <a:xfrm>
            <a:off x="5970000" y="3640000"/>
            <a:ext cx="380000" cy="0"/>
          </a:xfrm>
          <a:prstGeom prst="line">
            <a:avLst/>
          </a:prstGeom>
          <a:ln w="41275">
            <a:solidFill>
              <a:srgbClr val="8E6F3E"/>
            </a:solidFill>
            <a:tailEnd type="triangle" w="med" len="med"/>
          </a:ln>
        </p:spPr>
      </p:cxnSp>
      <p:cxnSp>
        <p:nvCxnSpPr>
          <p:cNvPr id="132" name="SeamToModel"/>
          <p:cNvCxnSpPr/>
          <p:nvPr/>
        </p:nvCxnSpPr>
        <p:spPr>
          <a:xfrm>
            <a:off x="6510000" y="2800000"/>
            <a:ext cx="340000" cy="0"/>
          </a:xfrm>
          <a:prstGeom prst="line">
            <a:avLst/>
          </a:prstGeom>
          <a:ln w="41275">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5"/>
                                        </p:tgtEl>
                                        <p:attrNameLst>
                                          <p:attrName>style.visibility</p:attrName>
                                        </p:attrNameLst>
                                      </p:cBhvr>
                                      <p:to>
                                        <p:strVal val="visible"/>
                                      </p:to>
                                    </p:set>
                                    <p:animEffect transition="in" filter="fade">
                                      <p:cBhvr>
                                        <p:cTn id="16" dur="400"/>
                                        <p:tgtEl>
                                          <p:spTgt spid="105"/>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400"/>
                                        <p:tgtEl>
                                          <p:spTgt spid="10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2"/>
                                        </p:tgtEl>
                                        <p:attrNameLst>
                                          <p:attrName>style.visibility</p:attrName>
                                        </p:attrNameLst>
                                      </p:cBhvr>
                                      <p:to>
                                        <p:strVal val="visible"/>
                                      </p:to>
                                    </p:set>
                                    <p:animEffect transition="in" filter="fade">
                                      <p:cBhvr>
                                        <p:cTn id="24" dur="400"/>
                                        <p:tgtEl>
                                          <p:spTgt spid="10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4"/>
                                        </p:tgtEl>
                                        <p:attrNameLst>
                                          <p:attrName>style.visibility</p:attrName>
                                        </p:attrNameLst>
                                      </p:cBhvr>
                                      <p:to>
                                        <p:strVal val="visible"/>
                                      </p:to>
                                    </p:set>
                                    <p:animEffect transition="in" filter="fade">
                                      <p:cBhvr>
                                        <p:cTn id="29" dur="400"/>
                                        <p:tgtEl>
                                          <p:spTgt spid="104"/>
                                        </p:tgtEl>
                                      </p:cBhvr>
                                    </p:animEffect>
                                  </p:childTnLst>
                                </p:cTn>
                              </p:par>
                              <p:par>
                                <p:cTn id="30" presetID="10" presetClass="entr" presetSubtype="0" fill="hold" nodeType="withEffect">
                                  <p:stCondLst>
                                    <p:cond delay="0"/>
                                  </p:stCondLst>
                                  <p:childTnLst>
                                    <p:set>
                                      <p:cBhvr>
                                        <p:cTn id="31" dur="1" fill="hold">
                                          <p:stCondLst>
                                            <p:cond delay="0"/>
                                          </p:stCondLst>
                                        </p:cTn>
                                        <p:tgtEl>
                                          <p:spTgt spid="106"/>
                                        </p:tgtEl>
                                        <p:attrNameLst>
                                          <p:attrName>style.visibility</p:attrName>
                                        </p:attrNameLst>
                                      </p:cBhvr>
                                      <p:to>
                                        <p:strVal val="visible"/>
                                      </p:to>
                                    </p:set>
                                    <p:animEffect transition="in" filter="fade">
                                      <p:cBhvr>
                                        <p:cTn id="32" dur="400"/>
                                        <p:tgtEl>
                                          <p:spTgt spid="106"/>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Effect transition="in" filter="fade">
                                      <p:cBhvr>
                                        <p:cTn id="55" dur="400"/>
                                        <p:tgtEl>
                                          <p:spTgt spid="130"/>
                                        </p:tgtEl>
                                      </p:cBhvr>
                                    </p:animEffect>
                                  </p:childTnLst>
                                </p:cTn>
                              </p:par>
                              <p:par>
                                <p:cTn id="56" presetID="10" presetClass="entr" presetSubtype="0" fill="hold" nodeType="withEffect">
                                  <p:stCondLst>
                                    <p:cond delay="0"/>
                                  </p:stCondLst>
                                  <p:childTnLst>
                                    <p:set>
                                      <p:cBhvr>
                                        <p:cTn id="57" dur="1" fill="hold">
                                          <p:stCondLst>
                                            <p:cond delay="0"/>
                                          </p:stCondLst>
                                        </p:cTn>
                                        <p:tgtEl>
                                          <p:spTgt spid="116"/>
                                        </p:tgtEl>
                                        <p:attrNameLst>
                                          <p:attrName>style.visibility</p:attrName>
                                        </p:attrNameLst>
                                      </p:cBhvr>
                                      <p:to>
                                        <p:strVal val="visible"/>
                                      </p:to>
                                    </p:set>
                                    <p:animEffect transition="in" filter="fade">
                                      <p:cBhvr>
                                        <p:cTn id="58" dur="400"/>
                                        <p:tgtEl>
                                          <p:spTgt spid="11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4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15"/>
                                        </p:tgtEl>
                                        <p:attrNameLst>
                                          <p:attrName>style.visibility</p:attrName>
                                        </p:attrNameLst>
                                      </p:cBhvr>
                                      <p:to>
                                        <p:strVal val="visible"/>
                                      </p:to>
                                    </p:set>
                                    <p:animEffect transition="in" filter="fade">
                                      <p:cBhvr>
                                        <p:cTn id="66" dur="400"/>
                                        <p:tgtEl>
                                          <p:spTgt spid="115"/>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par>
                                <p:cTn id="70" presetID="10" presetClass="entr" presetSubtype="0" fill="hold" nodeType="withEffect">
                                  <p:stCondLst>
                                    <p:cond delay="0"/>
                                  </p:stCondLst>
                                  <p:childTnLst>
                                    <p:set>
                                      <p:cBhvr>
                                        <p:cTn id="71" dur="1" fill="hold">
                                          <p:stCondLst>
                                            <p:cond delay="0"/>
                                          </p:stCondLst>
                                        </p:cTn>
                                        <p:tgtEl>
                                          <p:spTgt spid="119"/>
                                        </p:tgtEl>
                                        <p:attrNameLst>
                                          <p:attrName>style.visibility</p:attrName>
                                        </p:attrNameLst>
                                      </p:cBhvr>
                                      <p:to>
                                        <p:strVal val="visible"/>
                                      </p:to>
                                    </p:set>
                                    <p:animEffect transition="in" filter="fade">
                                      <p:cBhvr>
                                        <p:cTn id="72" dur="400"/>
                                        <p:tgtEl>
                                          <p:spTgt spid="119"/>
                                        </p:tgtEl>
                                      </p:cBhvr>
                                    </p:animEffect>
                                  </p:childTnLst>
                                </p:cTn>
                              </p:par>
                              <p:par>
                                <p:cTn id="73" presetID="10" presetClass="entr" presetSubtype="0" fill="hold" nodeType="withEffect">
                                  <p:stCondLst>
                                    <p:cond delay="0"/>
                                  </p:stCondLst>
                                  <p:childTnLst>
                                    <p:set>
                                      <p:cBhvr>
                                        <p:cTn id="74" dur="1" fill="hold">
                                          <p:stCondLst>
                                            <p:cond delay="0"/>
                                          </p:stCondLst>
                                        </p:cTn>
                                        <p:tgtEl>
                                          <p:spTgt spid="131"/>
                                        </p:tgtEl>
                                        <p:attrNameLst>
                                          <p:attrName>style.visibility</p:attrName>
                                        </p:attrNameLst>
                                      </p:cBhvr>
                                      <p:to>
                                        <p:strVal val="visible"/>
                                      </p:to>
                                    </p:set>
                                    <p:animEffect transition="in" filter="fade">
                                      <p:cBhvr>
                                        <p:cTn id="75" dur="400"/>
                                        <p:tgtEl>
                                          <p:spTgt spid="131"/>
                                        </p:tgtEl>
                                      </p:cBhvr>
                                    </p:animEffect>
                                  </p:childTnLst>
                                </p:cTn>
                              </p:par>
                              <p:par>
                                <p:cTn id="76" presetID="10" presetClass="entr" presetSubtype="0" fill="hold" nodeType="withEffect">
                                  <p:stCondLst>
                                    <p:cond delay="0"/>
                                  </p:stCondLst>
                                  <p:childTnLst>
                                    <p:set>
                                      <p:cBhvr>
                                        <p:cTn id="77" dur="1" fill="hold">
                                          <p:stCondLst>
                                            <p:cond delay="0"/>
                                          </p:stCondLst>
                                        </p:cTn>
                                        <p:tgtEl>
                                          <p:spTgt spid="132"/>
                                        </p:tgtEl>
                                        <p:attrNameLst>
                                          <p:attrName>style.visibility</p:attrName>
                                        </p:attrNameLst>
                                      </p:cBhvr>
                                      <p:to>
                                        <p:strVal val="visible"/>
                                      </p:to>
                                    </p:set>
                                    <p:animEffect transition="in" filter="fade">
                                      <p:cBhvr>
                                        <p:cTn id="78" dur="400"/>
                                        <p:tgtEl>
                                          <p:spTgt spid="132"/>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17"/>
                                        </p:tgtEl>
                                        <p:attrNameLst>
                                          <p:attrName>style.visibility</p:attrName>
                                        </p:attrNameLst>
                                      </p:cBhvr>
                                      <p:to>
                                        <p:strVal val="visible"/>
                                      </p:to>
                                    </p:set>
                                    <p:animEffect transition="in" filter="fade">
                                      <p:cBhvr>
                                        <p:cTn id="83" dur="400"/>
                                        <p:tgtEl>
                                          <p:spTgt spid="117"/>
                                        </p:tgtEl>
                                      </p:cBhvr>
                                    </p:animEffect>
                                  </p:childTnLst>
                                </p:cTn>
                              </p:par>
                              <p:par>
                                <p:cTn id="84" presetID="10" presetClass="entr" presetSubtype="0" fill="hold" nodeType="withEffect">
                                  <p:stCondLst>
                                    <p:cond delay="0"/>
                                  </p:stCondLst>
                                  <p:childTnLst>
                                    <p:set>
                                      <p:cBhvr>
                                        <p:cTn id="85" dur="1" fill="hold">
                                          <p:stCondLst>
                                            <p:cond delay="0"/>
                                          </p:stCondLst>
                                        </p:cTn>
                                        <p:tgtEl>
                                          <p:spTgt spid="120"/>
                                        </p:tgtEl>
                                        <p:attrNameLst>
                                          <p:attrName>style.visibility</p:attrName>
                                        </p:attrNameLst>
                                      </p:cBhvr>
                                      <p:to>
                                        <p:strVal val="visible"/>
                                      </p:to>
                                    </p:set>
                                    <p:animEffect transition="in" filter="fade">
                                      <p:cBhvr>
                                        <p:cTn id="86" dur="400"/>
                                        <p:tgtEl>
                                          <p:spTgt spid="120"/>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23</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F</a:t>
            </a:r>
          </a:p>
        </p:txBody>
      </p:sp>
      <p:cxnSp>
        <p:nvCxnSpPr>
          <p:cNvPr id="106" name="EAB"/>
          <p:cNvCxnSpPr/>
          <p:nvPr/>
        </p:nvCxnSpPr>
        <p:spPr>
          <a:xfrm flipV="1">
            <a:off x="1125000" y="1812500"/>
            <a:ext cx="1437500" cy="437500"/>
          </a:xfrm>
          <a:prstGeom prst="line">
            <a:avLst/>
          </a:prstGeom>
          <a:ln w="80962">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80 ms</a:t>
            </a:r>
          </a:p>
        </p:txBody>
      </p:sp>
      <p:cxnSp>
        <p:nvCxnSpPr>
          <p:cNvPr id="108" name="EBF"/>
          <p:cNvCxnSpPr/>
          <p:nvPr/>
        </p:nvCxnSpPr>
        <p:spPr>
          <a:xfrm>
            <a:off x="3750000" y="1656250"/>
            <a:ext cx="3687500" cy="406250"/>
          </a:xfrm>
          <a:prstGeom prst="line">
            <a:avLst/>
          </a:prstGeom>
          <a:ln w="80962">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40 ms</a:t>
            </a:r>
          </a:p>
        </p:txBody>
      </p:sp>
      <p:cxnSp>
        <p:nvCxnSpPr>
          <p:cNvPr id="110" name="EAC"/>
          <p:cNvCxnSpPr/>
          <p:nvPr/>
        </p:nvCxnSpPr>
        <p:spPr>
          <a:xfrm>
            <a:off x="906250" y="2625000"/>
            <a:ext cx="1968750" cy="687500"/>
          </a:xfrm>
          <a:prstGeom prst="line">
            <a:avLst/>
          </a:prstGeom>
          <a:ln w="53577">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10 ms</a:t>
            </a:r>
          </a:p>
        </p:txBody>
      </p:sp>
      <p:cxnSp>
        <p:nvCxnSpPr>
          <p:cNvPr id="112" name="ECE"/>
          <p:cNvCxnSpPr/>
          <p:nvPr/>
        </p:nvCxnSpPr>
        <p:spPr>
          <a:xfrm>
            <a:off x="3687500" y="3406250"/>
            <a:ext cx="1500000" cy="0"/>
          </a:xfrm>
          <a:prstGeom prst="line">
            <a:avLst/>
          </a:prstGeom>
          <a:ln w="53577">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15 ms</a:t>
            </a:r>
          </a:p>
        </p:txBody>
      </p:sp>
      <p:cxnSp>
        <p:nvCxnSpPr>
          <p:cNvPr id="114" name="EDF"/>
          <p:cNvCxnSpPr/>
          <p:nvPr/>
        </p:nvCxnSpPr>
        <p:spPr>
          <a:xfrm>
            <a:off x="5875000" y="1343750"/>
            <a:ext cx="1750000" cy="531250"/>
          </a:xfrm>
          <a:prstGeom prst="line">
            <a:avLst/>
          </a:prstGeom>
          <a:ln w="53577">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fontScale="92500"/>
          </a:bodyPr>
          <a:lstStyle/>
          <a:p>
            <a:pPr algn="l">
              <a:buNone/>
            </a:pPr>
            <a:r>
              <a:rPr lang="en-US" sz="2000" b="1" i="0" dirty="0">
                <a:solidFill>
                  <a:srgbClr val="8E6F3E"/>
                </a:solidFill>
              </a:rPr>
              <a:t>modeled critical path</a:t>
            </a:r>
          </a:p>
          <a:p>
            <a:pPr algn="l">
              <a:spcBef>
                <a:spcPts val="273"/>
              </a:spcBef>
              <a:buNone/>
            </a:pPr>
            <a:r>
              <a:rPr lang="en-US" sz="2000" b="1" i="0" dirty="0">
                <a:solidFill>
                  <a:srgbClr val="8E6F3E"/>
                </a:solidFill>
              </a:rPr>
              <a:t>A → B → F  ·  120 ms</a:t>
            </a:r>
          </a:p>
        </p:txBody>
      </p:sp>
      <p:cxnSp>
        <p:nvCxnSpPr>
          <p:cNvPr id="117" name="CandArw"/>
          <p:cNvCxnSpPr/>
          <p:nvPr/>
        </p:nvCxnSpPr>
        <p:spPr>
          <a:xfrm flipH="1">
            <a:off x="2500000" y="2000000"/>
            <a:ext cx="312500" cy="2000000"/>
          </a:xfrm>
          <a:prstGeom prst="line">
            <a:avLst/>
          </a:prstGeom>
          <a:ln w="53577">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candidate: decompose B</a:t>
            </a:r>
          </a:p>
        </p:txBody>
      </p:sp>
      <p:sp>
        <p:nvSpPr>
          <p:cNvPr id="400" name="EdgeLegend"/>
          <p:cNvSpPr txBox="1"/>
          <p:nvPr/>
        </p:nvSpPr>
        <p:spPr>
          <a:xfrm>
            <a:off x="5437500" y="4880000"/>
            <a:ext cx="3400000" cy="320000"/>
          </a:xfrm>
          <a:prstGeom prst="rect">
            <a:avLst/>
          </a:prstGeom>
          <a:noFill/>
          <a:ln>
            <a:noFill/>
          </a:ln>
        </p:spPr>
        <p:txBody>
          <a:bodyPr wrap="square" lIns="0" tIns="0" rIns="0" bIns="0" anchor="t">
            <a:normAutofit/>
          </a:bodyPr>
          <a:lstStyle/>
          <a:p>
            <a:pPr algn="l">
              <a:buNone/>
            </a:pPr>
            <a:r>
              <a:rPr lang="en-US" sz="1600" b="0" i="1" dirty="0">
                <a:solidFill>
                  <a:srgbClr val="8E6F3E"/>
                </a:solidFill>
              </a:rPr>
              <a:t>edge label = modeled latency (ms)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par>
                                <p:cTn id="20" presetID="10" presetClass="entr" presetSubtype="0" fill="hold" nodeType="withEffect">
                                  <p:stCondLst>
                                    <p:cond delay="0"/>
                                  </p:stCondLst>
                                  <p:childTnLst>
                                    <p:set>
                                      <p:cBhvr>
                                        <p:cTn id="21" dur="1" fill="hold">
                                          <p:stCondLst>
                                            <p:cond delay="0"/>
                                          </p:stCondLst>
                                        </p:cTn>
                                        <p:tgtEl>
                                          <p:spTgt spid="105"/>
                                        </p:tgtEl>
                                        <p:attrNameLst>
                                          <p:attrName>style.visibility</p:attrName>
                                        </p:attrNameLst>
                                      </p:cBhvr>
                                      <p:to>
                                        <p:strVal val="visible"/>
                                      </p:to>
                                    </p:set>
                                    <p:animEffect transition="in" filter="fade">
                                      <p:cBhvr>
                                        <p:cTn id="22" dur="400"/>
                                        <p:tgtEl>
                                          <p:spTgt spid="105"/>
                                        </p:tgtEl>
                                      </p:cBhvr>
                                    </p:animEffect>
                                  </p:childTnLst>
                                </p:cTn>
                              </p:par>
                              <p:par>
                                <p:cTn id="23" presetID="10" presetClass="entr" presetSubtype="0" fill="hold"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400"/>
                                        <p:tgtEl>
                                          <p:spTgt spid="106"/>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10"/>
                                        </p:tgtEl>
                                        <p:attrNameLst>
                                          <p:attrName>style.visibility</p:attrName>
                                        </p:attrNameLst>
                                      </p:cBhvr>
                                      <p:to>
                                        <p:strVal val="visible"/>
                                      </p:to>
                                    </p:set>
                                    <p:animEffect transition="in" filter="fade">
                                      <p:cBhvr>
                                        <p:cTn id="31" dur="400"/>
                                        <p:tgtEl>
                                          <p:spTgt spid="110"/>
                                        </p:tgtEl>
                                      </p:cBhvr>
                                    </p:animEffect>
                                  </p:childTnLst>
                                </p:cTn>
                              </p:par>
                              <p:par>
                                <p:cTn id="32" presetID="10" presetClass="entr" presetSubtype="0" fill="hold" nodeType="withEffect">
                                  <p:stCondLst>
                                    <p:cond delay="0"/>
                                  </p:stCondLst>
                                  <p:childTnLst>
                                    <p:set>
                                      <p:cBhvr>
                                        <p:cTn id="33" dur="1" fill="hold">
                                          <p:stCondLst>
                                            <p:cond delay="0"/>
                                          </p:stCondLst>
                                        </p:cTn>
                                        <p:tgtEl>
                                          <p:spTgt spid="112"/>
                                        </p:tgtEl>
                                        <p:attrNameLst>
                                          <p:attrName>style.visibility</p:attrName>
                                        </p:attrNameLst>
                                      </p:cBhvr>
                                      <p:to>
                                        <p:strVal val="visible"/>
                                      </p:to>
                                    </p:set>
                                    <p:animEffect transition="in" filter="fade">
                                      <p:cBhvr>
                                        <p:cTn id="34" dur="400"/>
                                        <p:tgtEl>
                                          <p:spTgt spid="112"/>
                                        </p:tgtEl>
                                      </p:cBhvr>
                                    </p:animEffect>
                                  </p:childTnLst>
                                </p:cTn>
                              </p:par>
                              <p:par>
                                <p:cTn id="35" presetID="10" presetClass="entr" presetSubtype="0" fill="hold" nodeType="withEffect">
                                  <p:stCondLst>
                                    <p:cond delay="0"/>
                                  </p:stCondLst>
                                  <p:childTnLst>
                                    <p:set>
                                      <p:cBhvr>
                                        <p:cTn id="36" dur="1" fill="hold">
                                          <p:stCondLst>
                                            <p:cond delay="0"/>
                                          </p:stCondLst>
                                        </p:cTn>
                                        <p:tgtEl>
                                          <p:spTgt spid="114"/>
                                        </p:tgtEl>
                                        <p:attrNameLst>
                                          <p:attrName>style.visibility</p:attrName>
                                        </p:attrNameLst>
                                      </p:cBhvr>
                                      <p:to>
                                        <p:strVal val="visible"/>
                                      </p:to>
                                    </p:set>
                                    <p:animEffect transition="in" filter="fade">
                                      <p:cBhvr>
                                        <p:cTn id="37" dur="400"/>
                                        <p:tgtEl>
                                          <p:spTgt spid="11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07"/>
                                        </p:tgtEl>
                                        <p:attrNameLst>
                                          <p:attrName>style.visibility</p:attrName>
                                        </p:attrNameLst>
                                      </p:cBhvr>
                                      <p:to>
                                        <p:strVal val="visible"/>
                                      </p:to>
                                    </p:set>
                                    <p:animEffect transition="in" filter="fade">
                                      <p:cBhvr>
                                        <p:cTn id="42" dur="400"/>
                                        <p:tgtEl>
                                          <p:spTgt spid="107"/>
                                        </p:tgtEl>
                                      </p:cBhvr>
                                    </p:animEffect>
                                  </p:childTnLst>
                                </p:cTn>
                              </p:par>
                              <p:par>
                                <p:cTn id="43" presetID="10"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animEffect transition="in" filter="fade">
                                      <p:cBhvr>
                                        <p:cTn id="45" dur="400"/>
                                        <p:tgtEl>
                                          <p:spTgt spid="109"/>
                                        </p:tgtEl>
                                      </p:cBhvr>
                                    </p:animEffect>
                                  </p:childTnLst>
                                </p:cTn>
                              </p:par>
                              <p:par>
                                <p:cTn id="46" presetID="10" presetClass="entr" presetSubtype="0" fill="hold" nodeType="with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400"/>
                                        </p:tgtEl>
                                        <p:attrNameLst>
                                          <p:attrName>style.visibility</p:attrName>
                                        </p:attrNameLst>
                                      </p:cBhvr>
                                      <p:to>
                                        <p:strVal val="visible"/>
                                      </p:to>
                                    </p:set>
                                    <p:animEffect transition="in" filter="fade">
                                      <p:cBhvr>
                                        <p:cTn id="57" dur="400"/>
                                        <p:tgtEl>
                                          <p:spTgt spid="40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6">
                                            <p:txEl>
                                              <p:pRg st="0" end="0"/>
                                            </p:txEl>
                                          </p:spTgt>
                                        </p:tgtEl>
                                        <p:attrNameLst>
                                          <p:attrName>style.visibility</p:attrName>
                                        </p:attrNameLst>
                                      </p:cBhvr>
                                      <p:to>
                                        <p:strVal val="visible"/>
                                      </p:to>
                                    </p:set>
                                    <p:animEffect transition="in" filter="fade">
                                      <p:cBhvr>
                                        <p:cTn id="62" dur="400"/>
                                        <p:tgtEl>
                                          <p:spTgt spid="116">
                                            <p:txEl>
                                              <p:pRg st="0" end="0"/>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6">
                                            <p:txEl>
                                              <p:pRg st="1" end="1"/>
                                            </p:txEl>
                                          </p:spTgt>
                                        </p:tgtEl>
                                        <p:attrNameLst>
                                          <p:attrName>style.visibility</p:attrName>
                                        </p:attrNameLst>
                                      </p:cBhvr>
                                      <p:to>
                                        <p:strVal val="visible"/>
                                      </p:to>
                                    </p:set>
                                    <p:animEffect transition="in" filter="fade">
                                      <p:cBhvr>
                                        <p:cTn id="67" dur="400"/>
                                        <p:tgtEl>
                                          <p:spTgt spid="116">
                                            <p:txEl>
                                              <p:pRg st="1" end="1"/>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17"/>
                                        </p:tgtEl>
                                        <p:attrNameLst>
                                          <p:attrName>style.visibility</p:attrName>
                                        </p:attrNameLst>
                                      </p:cBhvr>
                                      <p:to>
                                        <p:strVal val="visible"/>
                                      </p:to>
                                    </p:set>
                                    <p:animEffect transition="in" filter="fade">
                                      <p:cBhvr>
                                        <p:cTn id="72" dur="400"/>
                                        <p:tgtEl>
                                          <p:spTgt spid="117"/>
                                        </p:tgtEl>
                                      </p:cBhvr>
                                    </p:animEffect>
                                  </p:childTnLst>
                                </p:cTn>
                              </p:par>
                              <p:par>
                                <p:cTn id="73" presetID="10" presetClass="entr" presetSubtype="0" fill="hold" nodeType="withEffect">
                                  <p:stCondLst>
                                    <p:cond delay="0"/>
                                  </p:stCondLst>
                                  <p:childTnLst>
                                    <p:set>
                                      <p:cBhvr>
                                        <p:cTn id="74" dur="1" fill="hold">
                                          <p:stCondLst>
                                            <p:cond delay="0"/>
                                          </p:stCondLst>
                                        </p:cTn>
                                        <p:tgtEl>
                                          <p:spTgt spid="118"/>
                                        </p:tgtEl>
                                        <p:attrNameLst>
                                          <p:attrName>style.visibility</p:attrName>
                                        </p:attrNameLst>
                                      </p:cBhvr>
                                      <p:to>
                                        <p:strVal val="visible"/>
                                      </p:to>
                                    </p:set>
                                    <p:animEffect transition="in" filter="fade">
                                      <p:cBhvr>
                                        <p:cTn id="75" dur="400"/>
                                        <p:tgtEl>
                                          <p:spTgt spid="118"/>
                                        </p:tgtEl>
                                      </p:cBhvr>
                                    </p:animEffect>
                                  </p:childTnLst>
                                </p:cTn>
                              </p:par>
                              <p:par>
                                <p:cTn id="76" presetID="10" presetClass="entr" presetSubtype="0" fill="hold" nodeType="withEffect">
                                  <p:stCondLst>
                                    <p:cond delay="0"/>
                                  </p:stCondLst>
                                  <p:childTnLst>
                                    <p:set>
                                      <p:cBhvr>
                                        <p:cTn id="77" dur="1" fill="hold">
                                          <p:stCondLst>
                                            <p:cond delay="0"/>
                                          </p:stCondLst>
                                        </p:cTn>
                                        <p:tgtEl>
                                          <p:spTgt spid="119"/>
                                        </p:tgtEl>
                                        <p:attrNameLst>
                                          <p:attrName>style.visibility</p:attrName>
                                        </p:attrNameLst>
                                      </p:cBhvr>
                                      <p:to>
                                        <p:strVal val="visible"/>
                                      </p:to>
                                    </p:set>
                                    <p:animEffect transition="in" filter="fade">
                                      <p:cBhvr>
                                        <p:cTn id="78" dur="400"/>
                                        <p:tgtEl>
                                          <p:spTgt spid="119"/>
                                        </p:tgtEl>
                                      </p:cBhvr>
                                    </p:animEffect>
                                  </p:childTnLst>
                                </p:cTn>
                              </p:par>
                              <p:par>
                                <p:cTn id="79" presetID="10" presetClass="entr" presetSubtype="0" fill="hold" nodeType="withEffect">
                                  <p:stCondLst>
                                    <p:cond delay="0"/>
                                  </p:stCondLst>
                                  <p:childTnLst>
                                    <p:set>
                                      <p:cBhvr>
                                        <p:cTn id="80" dur="1" fill="hold">
                                          <p:stCondLst>
                                            <p:cond delay="0"/>
                                          </p:stCondLst>
                                        </p:cTn>
                                        <p:tgtEl>
                                          <p:spTgt spid="120"/>
                                        </p:tgtEl>
                                        <p:attrNameLst>
                                          <p:attrName>style.visibility</p:attrName>
                                        </p:attrNameLst>
                                      </p:cBhvr>
                                      <p:to>
                                        <p:strVal val="visible"/>
                                      </p:to>
                                    </p:set>
                                    <p:animEffect transition="in" filter="fade">
                                      <p:cBhvr>
                                        <p:cTn id="81" dur="400"/>
                                        <p:tgtEl>
                                          <p:spTgt spid="120"/>
                                        </p:tgtEl>
                                      </p:cBhvr>
                                    </p:animEffect>
                                  </p:childTnLst>
                                </p:cTn>
                              </p:par>
                              <p:par>
                                <p:cTn id="82" presetID="10" presetClass="entr" presetSubtype="0" fill="hold" nodeType="withEffect">
                                  <p:stCondLst>
                                    <p:cond delay="0"/>
                                  </p:stCondLst>
                                  <p:childTnLst>
                                    <p:set>
                                      <p:cBhvr>
                                        <p:cTn id="83" dur="1" fill="hold">
                                          <p:stCondLst>
                                            <p:cond delay="0"/>
                                          </p:stCondLst>
                                        </p:cTn>
                                        <p:tgtEl>
                                          <p:spTgt spid="121"/>
                                        </p:tgtEl>
                                        <p:attrNameLst>
                                          <p:attrName>style.visibility</p:attrName>
                                        </p:attrNameLst>
                                      </p:cBhvr>
                                      <p:to>
                                        <p:strVal val="visible"/>
                                      </p:to>
                                    </p:set>
                                    <p:animEffect transition="in" filter="fade">
                                      <p:cBhvr>
                                        <p:cTn id="84" dur="400"/>
                                        <p:tgtEl>
                                          <p:spTgt spid="121"/>
                                        </p:tgtEl>
                                      </p:cBhvr>
                                    </p:animEffect>
                                  </p:childTnLst>
                                </p:cTn>
                              </p:par>
                              <p:par>
                                <p:cTn id="85" presetID="10" presetClass="entr" presetSubtype="0" fill="hold" nodeType="withEffect">
                                  <p:stCondLst>
                                    <p:cond delay="0"/>
                                  </p:stCondLst>
                                  <p:childTnLst>
                                    <p:set>
                                      <p:cBhvr>
                                        <p:cTn id="86" dur="1" fill="hold">
                                          <p:stCondLst>
                                            <p:cond delay="0"/>
                                          </p:stCondLst>
                                        </p:cTn>
                                        <p:tgtEl>
                                          <p:spTgt spid="122"/>
                                        </p:tgtEl>
                                        <p:attrNameLst>
                                          <p:attrName>style.visibility</p:attrName>
                                        </p:attrNameLst>
                                      </p:cBhvr>
                                      <p:to>
                                        <p:strVal val="visible"/>
                                      </p:to>
                                    </p:set>
                                    <p:animEffect transition="in" filter="fade">
                                      <p:cBhvr>
                                        <p:cTn id="87" dur="4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happens when architectural evidence gets cheap?</a:t>
            </a:r>
          </a:p>
        </p:txBody>
      </p:sp>
      <p:sp>
        <p:nvSpPr>
          <p:cNvPr id="3" name="Slide Number Placeholder 2"/>
          <p:cNvSpPr>
            <a:spLocks noGrp="1"/>
          </p:cNvSpPr>
          <p:nvPr>
            <p:ph type="sldNum" sz="quarter" idx="4"/>
          </p:nvPr>
        </p:nvSpPr>
        <p:spPr/>
        <p:txBody>
          <a:bodyPr/>
          <a:lstStyle/>
          <a:p>
            <a:fld id="{B7EB45DA-9A0D-DC49-8E02-F30A5DDC21C3}" type="slidenum">
              <a:rPr lang="en-US" smtClean="0"/>
              <a:t>24</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lnSpcReduction="10000"/>
          </a:bodyPr>
          <a:lstStyle/>
          <a:p>
            <a:pPr algn="ctr">
              <a:buNone/>
            </a:pPr>
            <a:r>
              <a:rPr lang="en-US" sz="2300" b="0" i="1" dirty="0">
                <a:solidFill>
                  <a:srgbClr val="000000"/>
                </a:solidFill>
              </a:rPr>
              <a:t>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xml:space="preserve">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82500"/>
            <a:ext cx="1728000" cy="735000"/>
          </a:xfrm>
          <a:prstGeom prst="rect">
            <a:avLst/>
          </a:prstGeom>
          <a:solidFill>
            <a:srgbClr val="F5F1E8"/>
          </a:solidFill>
          <a:ln w="13335">
            <a:solidFill>
              <a:srgbClr val="C9B991"/>
            </a:solidFill>
          </a:ln>
        </p:spPr>
        <p:txBody>
          <a:bodyPr wrap="square" lIns="54864" tIns="27432" rIns="54864" bIns="27432" anchor="ctr">
            <a:normAutofit fontScale="85000" lnSpcReduction="10000"/>
          </a:bodyPr>
          <a:lstStyle/>
          <a:p>
            <a:pPr algn="ctr">
              <a:buNone/>
            </a:pPr>
            <a:r>
              <a:rPr lang="en-US" sz="2100" b="1" i="0" dirty="0">
                <a:solidFill>
                  <a:srgbClr val="5C4826"/>
                </a:solidFill>
              </a:rPr>
              <a:t>ARCHITECTURAL</a:t>
            </a:r>
          </a:p>
          <a:p>
            <a:pPr algn="ctr">
              <a:spcBef>
                <a:spcPts val="300"/>
              </a:spcBef>
              <a:buNone/>
            </a:pPr>
            <a:r>
              <a:rPr lang="en-US" sz="2100" b="1" i="0" dirty="0">
                <a:solidFill>
                  <a:srgbClr val="5C4826"/>
                </a:solidFill>
              </a:rPr>
              <a:t>UNCERTAINTY</a:t>
            </a:r>
          </a:p>
        </p:txBody>
      </p:sp>
      <p:cxnSp>
        <p:nvCxnSpPr>
          <p:cNvPr id="101" name="A1"/>
          <p:cNvCxnSpPr/>
          <p:nvPr/>
        </p:nvCxnSpPr>
        <p:spPr>
          <a:xfrm>
            <a:off x="2036000" y="1950000"/>
            <a:ext cx="345600" cy="0"/>
          </a:xfrm>
          <a:prstGeom prst="line">
            <a:avLst/>
          </a:prstGeom>
          <a:ln w="45004">
            <a:solidFill>
              <a:srgbClr val="8E6F3E"/>
            </a:solidFill>
            <a:tailEnd type="triangle" w="med" len="med"/>
          </a:ln>
        </p:spPr>
      </p:cxnSp>
      <p:sp>
        <p:nvSpPr>
          <p:cNvPr id="102" name="BuyInfo"/>
          <p:cNvSpPr/>
          <p:nvPr/>
        </p:nvSpPr>
        <p:spPr>
          <a:xfrm>
            <a:off x="2381600" y="1635000"/>
            <a:ext cx="1620000" cy="630000"/>
          </a:xfrm>
          <a:prstGeom prst="rect">
            <a:avLst/>
          </a:prstGeom>
          <a:solidFill>
            <a:srgbClr val="8E6F3E"/>
          </a:solidFill>
          <a:ln>
            <a:noFill/>
          </a:ln>
        </p:spPr>
        <p:txBody>
          <a:bodyPr wrap="square" lIns="54864" tIns="27432" rIns="54864" bIns="27432" anchor="ctr">
            <a:normAutofit fontScale="92500" lnSpcReduction="10000"/>
          </a:bodyPr>
          <a:lstStyle/>
          <a:p>
            <a:pPr algn="ctr">
              <a:buNone/>
            </a:pPr>
            <a:r>
              <a:rPr lang="en-US" sz="2100" b="1" i="0" dirty="0">
                <a:solidFill>
                  <a:srgbClr val="FFFFFF"/>
                </a:solidFill>
              </a:rPr>
              <a:t>BUY</a:t>
            </a:r>
          </a:p>
          <a:p>
            <a:pPr algn="ctr">
              <a:spcBef>
                <a:spcPts val="300"/>
              </a:spcBef>
              <a:buNone/>
            </a:pPr>
            <a:r>
              <a:rPr lang="en-US" sz="2100" b="1" i="0" dirty="0">
                <a:solidFill>
                  <a:srgbClr val="FFFFFF"/>
                </a:solidFill>
              </a:rPr>
              <a:t>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04" name="KA0"/>
          <p:cNvCxnSpPr/>
          <p:nvPr/>
        </p:nvCxnSpPr>
        <p:spPr>
          <a:xfrm flipV="1">
            <a:off x="4001600" y="1341000"/>
            <a:ext cx="626400" cy="609000"/>
          </a:xfrm>
          <a:prstGeom prst="line">
            <a:avLst/>
          </a:prstGeom>
          <a:ln w="45004">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06" name="KA1"/>
          <p:cNvCxnSpPr/>
          <p:nvPr/>
        </p:nvCxnSpPr>
        <p:spPr>
          <a:xfrm>
            <a:off x="4001600" y="1950000"/>
            <a:ext cx="626400" cy="0"/>
          </a:xfrm>
          <a:prstGeom prst="line">
            <a:avLst/>
          </a:prstGeom>
          <a:ln w="45004">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fontScale="92500"/>
          </a:bodyPr>
          <a:lstStyle/>
          <a:p>
            <a:pPr algn="ctr">
              <a:buNone/>
            </a:pPr>
            <a:r>
              <a:rPr lang="en-US" sz="2000" b="1" i="0" dirty="0">
                <a:solidFill>
                  <a:srgbClr val="5C4826"/>
                </a:solidFill>
              </a:rPr>
              <a:t>EXPERIMENT</a:t>
            </a:r>
          </a:p>
        </p:txBody>
      </p:sp>
      <p:cxnSp>
        <p:nvCxnSpPr>
          <p:cNvPr id="108" name="KA2"/>
          <p:cNvCxnSpPr/>
          <p:nvPr/>
        </p:nvCxnSpPr>
        <p:spPr>
          <a:xfrm>
            <a:off x="4001600" y="1950000"/>
            <a:ext cx="626400" cy="609000"/>
          </a:xfrm>
          <a:prstGeom prst="line">
            <a:avLst/>
          </a:prstGeom>
          <a:ln w="45004">
            <a:solidFill>
              <a:srgbClr val="8E6F3E"/>
            </a:solidFill>
            <a:tailEnd type="triangle" w="med" len="med"/>
          </a:ln>
        </p:spPr>
      </p:cxnSp>
      <p:sp>
        <p:nvSpPr>
          <p:cNvPr id="109" name="CostBox"/>
          <p:cNvSpPr/>
          <p:nvPr/>
        </p:nvSpPr>
        <p:spPr>
          <a:xfrm>
            <a:off x="6842000" y="16245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 TIME</a:t>
            </a:r>
          </a:p>
        </p:txBody>
      </p:sp>
      <p:cxnSp>
        <p:nvCxnSpPr>
          <p:cNvPr id="110" name="CA0"/>
          <p:cNvCxnSpPr/>
          <p:nvPr/>
        </p:nvCxnSpPr>
        <p:spPr>
          <a:xfrm>
            <a:off x="6086000" y="1341000"/>
            <a:ext cx="756000" cy="609000"/>
          </a:xfrm>
          <a:prstGeom prst="line">
            <a:avLst/>
          </a:prstGeom>
          <a:ln w="45004">
            <a:solidFill>
              <a:srgbClr val="8E6F3E"/>
            </a:solidFill>
            <a:tailEnd type="triangle" w="med" len="med"/>
          </a:ln>
        </p:spPr>
      </p:cxnSp>
      <p:cxnSp>
        <p:nvCxnSpPr>
          <p:cNvPr id="111" name="CA1"/>
          <p:cNvCxnSpPr/>
          <p:nvPr/>
        </p:nvCxnSpPr>
        <p:spPr>
          <a:xfrm>
            <a:off x="6086000" y="1950000"/>
            <a:ext cx="756000" cy="0"/>
          </a:xfrm>
          <a:prstGeom prst="line">
            <a:avLst/>
          </a:prstGeom>
          <a:ln w="45004">
            <a:solidFill>
              <a:srgbClr val="8E6F3E"/>
            </a:solidFill>
            <a:tailEnd type="triangle" w="med" len="med"/>
          </a:ln>
        </p:spPr>
      </p:cxnSp>
      <p:cxnSp>
        <p:nvCxnSpPr>
          <p:cNvPr id="112" name="CA2"/>
          <p:cNvCxnSpPr/>
          <p:nvPr/>
        </p:nvCxnSpPr>
        <p:spPr>
          <a:xfrm flipV="1">
            <a:off x="6086000" y="1950000"/>
            <a:ext cx="756000" cy="609000"/>
          </a:xfrm>
          <a:prstGeom prst="line">
            <a:avLst/>
          </a:prstGeom>
          <a:ln w="45004">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GenAI</a:t>
            </a:r>
          </a:p>
        </p:txBody>
      </p:sp>
      <p:cxnSp>
        <p:nvCxnSpPr>
          <p:cNvPr id="151" name="G1"/>
          <p:cNvCxnSpPr/>
          <p:nvPr/>
        </p:nvCxnSpPr>
        <p:spPr>
          <a:xfrm>
            <a:off x="1850000" y="3375000"/>
            <a:ext cx="380000" cy="0"/>
          </a:xfrm>
          <a:prstGeom prst="line">
            <a:avLst/>
          </a:prstGeom>
          <a:ln w="42862">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lnSpcReduction="10000"/>
          </a:bodyPr>
          <a:lstStyle/>
          <a:p>
            <a:pPr algn="ctr">
              <a:buNone/>
            </a:pPr>
            <a:r>
              <a:rPr lang="en-US" sz="2400" b="1" i="0" dirty="0">
                <a:solidFill>
                  <a:srgbClr val="5C4826"/>
                </a:solidFill>
              </a:rPr>
              <a:t>COST OF EVIDENCE ↓</a:t>
            </a:r>
          </a:p>
        </p:txBody>
      </p:sp>
      <p:cxnSp>
        <p:nvCxnSpPr>
          <p:cNvPr id="153" name="G2"/>
          <p:cNvCxnSpPr/>
          <p:nvPr/>
        </p:nvCxnSpPr>
        <p:spPr>
          <a:xfrm>
            <a:off x="4680000" y="3375000"/>
            <a:ext cx="380000" cy="0"/>
          </a:xfrm>
          <a:prstGeom prst="line">
            <a:avLst/>
          </a:prstGeom>
          <a:ln w="42862">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400"/>
                                        <p:tgtEl>
                                          <p:spTgt spid="150"/>
                                        </p:tgtEl>
                                      </p:cBhvr>
                                    </p:animEffect>
                                  </p:childTnLst>
                                </p:cTn>
                              </p:par>
                              <p:par>
                                <p:cTn id="51" presetID="10" presetClass="entr" presetSubtype="0" fill="hold" nodeType="withEffect">
                                  <p:stCondLst>
                                    <p:cond delay="0"/>
                                  </p:stCondLst>
                                  <p:childTnLst>
                                    <p:set>
                                      <p:cBhvr>
                                        <p:cTn id="52" dur="1" fill="hold">
                                          <p:stCondLst>
                                            <p:cond delay="0"/>
                                          </p:stCondLst>
                                        </p:cTn>
                                        <p:tgtEl>
                                          <p:spTgt spid="151"/>
                                        </p:tgtEl>
                                        <p:attrNameLst>
                                          <p:attrName>style.visibility</p:attrName>
                                        </p:attrNameLst>
                                      </p:cBhvr>
                                      <p:to>
                                        <p:strVal val="visible"/>
                                      </p:to>
                                    </p:set>
                                    <p:animEffect transition="in" filter="fade">
                                      <p:cBhvr>
                                        <p:cTn id="53" dur="400"/>
                                        <p:tgtEl>
                                          <p:spTgt spid="15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52"/>
                                        </p:tgtEl>
                                        <p:attrNameLst>
                                          <p:attrName>style.visibility</p:attrName>
                                        </p:attrNameLst>
                                      </p:cBhvr>
                                      <p:to>
                                        <p:strVal val="visible"/>
                                      </p:to>
                                    </p:set>
                                    <p:animEffect transition="in" filter="fade">
                                      <p:cBhvr>
                                        <p:cTn id="58" dur="400"/>
                                        <p:tgtEl>
                                          <p:spTgt spid="152"/>
                                        </p:tgtEl>
                                      </p:cBhvr>
                                    </p:animEffect>
                                  </p:childTnLst>
                                </p:cTn>
                              </p:par>
                              <p:par>
                                <p:cTn id="59" presetID="10" presetClass="entr" presetSubtype="0" fill="hold" nodeType="withEffect">
                                  <p:stCondLst>
                                    <p:cond delay="0"/>
                                  </p:stCondLst>
                                  <p:childTnLst>
                                    <p:set>
                                      <p:cBhvr>
                                        <p:cTn id="60" dur="1" fill="hold">
                                          <p:stCondLst>
                                            <p:cond delay="0"/>
                                          </p:stCondLst>
                                        </p:cTn>
                                        <p:tgtEl>
                                          <p:spTgt spid="153"/>
                                        </p:tgtEl>
                                        <p:attrNameLst>
                                          <p:attrName>style.visibility</p:attrName>
                                        </p:attrNameLst>
                                      </p:cBhvr>
                                      <p:to>
                                        <p:strVal val="visible"/>
                                      </p:to>
                                    </p:set>
                                    <p:animEffect transition="in" filter="fade">
                                      <p:cBhvr>
                                        <p:cTn id="61" dur="400"/>
                                        <p:tgtEl>
                                          <p:spTgt spid="15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54"/>
                                        </p:tgtEl>
                                        <p:attrNameLst>
                                          <p:attrName>style.visibility</p:attrName>
                                        </p:attrNameLst>
                                      </p:cBhvr>
                                      <p:to>
                                        <p:strVal val="visible"/>
                                      </p:to>
                                    </p:set>
                                    <p:animEffect transition="in" filter="fade">
                                      <p:cBhvr>
                                        <p:cTn id="66" dur="400"/>
                                        <p:tgtEl>
                                          <p:spTgt spid="154"/>
                                        </p:tgtEl>
                                      </p:cBhvr>
                                    </p:animEffect>
                                  </p:childTnLst>
                                </p:cTn>
                              </p:par>
                              <p:par>
                                <p:cTn id="67" presetID="10" presetClass="entr" presetSubtype="0" fill="hold" nodeType="withEffect">
                                  <p:stCondLst>
                                    <p:cond delay="0"/>
                                  </p:stCondLst>
                                  <p:childTnLst>
                                    <p:set>
                                      <p:cBhvr>
                                        <p:cTn id="68" dur="1" fill="hold">
                                          <p:stCondLst>
                                            <p:cond delay="0"/>
                                          </p:stCondLst>
                                        </p:cTn>
                                        <p:tgtEl>
                                          <p:spTgt spid="61"/>
                                        </p:tgtEl>
                                        <p:attrNameLst>
                                          <p:attrName>style.visibility</p:attrName>
                                        </p:attrNameLst>
                                      </p:cBhvr>
                                      <p:to>
                                        <p:strVal val="visible"/>
                                      </p:to>
                                    </p:set>
                                    <p:animEffect transition="in" filter="fade">
                                      <p:cBhvr>
                                        <p:cTn id="69" dur="400"/>
                                        <p:tgtEl>
                                          <p:spTgt spid="6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400"/>
                                        <p:tgtEl>
                                          <p:spTgt spid="6"/>
                                        </p:tgtEl>
                                      </p:cBhvr>
                                    </p:animEffect>
                                  </p:childTnLst>
                                </p:cTn>
                              </p:par>
                              <p:par>
                                <p:cTn id="75" presetID="10" presetClass="entr" presetSubtype="0" fill="hold" nodeType="with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fade">
                                      <p:cBhvr>
                                        <p:cTn id="7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Enough vocabulary. Make the decision.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26</a:t>
            </a:fld>
            <a:endParaRPr lang="en-US"/>
          </a:p>
        </p:txBody>
      </p:sp>
      <p:sp>
        <p:nvSpPr>
          <p:cNvPr id="61" name="Band61"/>
          <p:cNvSpPr/>
          <p:nvPr/>
        </p:nvSpPr>
        <p:spPr>
          <a:xfrm>
            <a:off x="279400" y="4700000"/>
            <a:ext cx="8585200" cy="1250000"/>
          </a:xfrm>
          <a:prstGeom prst="rect">
            <a:avLst/>
          </a:prstGeom>
          <a:solidFill>
            <a:srgbClr val="F5F1E8"/>
          </a:solidFill>
          <a:ln>
            <a:noFill/>
          </a:ln>
        </p:spPr>
        <p:txBody>
          <a:bodyPr wrap="square" lIns="109728" tIns="82296" rIns="109728" bIns="82296" anchor="ctr">
            <a:normAutofit/>
          </a:bodyPr>
          <a:lstStyle/>
          <a:p>
            <a:pPr algn="l">
              <a:buNone/>
            </a:pPr>
            <a:r>
              <a:rPr lang="en-US" sz="1800" b="1" i="0" dirty="0">
                <a:solidFill>
                  <a:srgbClr val="3F3121"/>
                </a:solidFill>
              </a:rPr>
              <a:t>Sketch the major parts, boundaries, and interactions</a:t>
            </a:r>
          </a:p>
          <a:p>
            <a:pPr algn="l">
              <a:spcBef>
                <a:spcPts val="400"/>
              </a:spcBef>
              <a:buNone/>
            </a:pPr>
            <a:r>
              <a:rPr lang="en-US" sz="1800" b="0" i="0" dirty="0">
                <a:solidFill>
                  <a:srgbClr val="3F3121"/>
                </a:solidFill>
              </a:rPr>
              <a:t>Produce TWO plausible organizations</a:t>
            </a:r>
          </a:p>
          <a:p>
            <a:pPr algn="l">
              <a:spcBef>
                <a:spcPts val="400"/>
              </a:spcBef>
              <a:buNone/>
            </a:pPr>
            <a:r>
              <a:rPr lang="en-US" sz="1800" b="0" i="1" dirty="0">
                <a:solidFill>
                  <a:srgbClr val="3F3121"/>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SYSTEM ?</a:t>
            </a:r>
          </a:p>
          <a:p>
            <a:pPr algn="ctr">
              <a:spcBef>
                <a:spcPts val="525"/>
              </a:spcBef>
              <a:buNone/>
            </a:pPr>
            <a:r>
              <a:rPr lang="en-US" sz="1800" b="0" i="1" dirty="0">
                <a:solidFill>
                  <a:srgbClr val="8E6F3E"/>
                </a:solidFill>
              </a:rPr>
              <a:t>YOUR ARCHITECTURE</a:t>
            </a:r>
          </a:p>
          <a:p>
            <a:pPr algn="ctr">
              <a:spcBef>
                <a:spcPts val="525"/>
              </a:spcBef>
              <a:buNone/>
            </a:pPr>
            <a:r>
              <a:rPr lang="en-US" sz="1800" b="0" i="1" dirty="0">
                <a:solidFill>
                  <a:srgbClr val="8E6F3E"/>
                </a:solidFill>
              </a:rPr>
              <a:t>GOES HERE</a:t>
            </a:r>
          </a:p>
        </p:txBody>
      </p:sp>
      <p:sp>
        <p:nvSpPr>
          <p:cNvPr id="101" name="Obl0"/>
          <p:cNvSpPr/>
          <p:nvPr/>
        </p:nvSpPr>
        <p:spPr>
          <a:xfrm>
            <a:off x="3322000" y="1000000"/>
            <a:ext cx="2500000" cy="8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Advice must be returned within 2 seconds</a:t>
            </a:r>
          </a:p>
        </p:txBody>
      </p:sp>
      <p:cxnSp>
        <p:nvCxnSpPr>
          <p:cNvPr id="102" name="OblA0"/>
          <p:cNvCxnSpPr/>
          <p:nvPr/>
        </p:nvCxnSpPr>
        <p:spPr>
          <a:xfrm>
            <a:off x="4575000" y="1800000"/>
            <a:ext cx="0" cy="350000"/>
          </a:xfrm>
          <a:prstGeom prst="line">
            <a:avLst/>
          </a:prstGeom>
          <a:ln w="42862">
            <a:solidFill>
              <a:srgbClr val="C9B991"/>
            </a:solidFill>
            <a:tailEnd type="triangle" w="med" len="med"/>
          </a:ln>
        </p:spPr>
      </p:cxnSp>
      <p:sp>
        <p:nvSpPr>
          <p:cNvPr id="103" name="Obl1"/>
          <p:cNvSpPr/>
          <p:nvPr/>
        </p:nvSpPr>
        <p:spPr>
          <a:xfrm>
            <a:off x="350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Raw sleep data must not be disclosed to sharing recipients</a:t>
            </a:r>
          </a:p>
        </p:txBody>
      </p:sp>
      <p:cxnSp>
        <p:nvCxnSpPr>
          <p:cNvPr id="104" name="OblA1"/>
          <p:cNvCxnSpPr/>
          <p:nvPr/>
        </p:nvCxnSpPr>
        <p:spPr>
          <a:xfrm>
            <a:off x="2870000" y="2050000"/>
            <a:ext cx="255000" cy="250000"/>
          </a:xfrm>
          <a:prstGeom prst="line">
            <a:avLst/>
          </a:prstGeom>
          <a:ln w="42862">
            <a:solidFill>
              <a:srgbClr val="C9B991"/>
            </a:solidFill>
            <a:tailEnd type="triangle" w="med" len="med"/>
          </a:ln>
        </p:spPr>
      </p:cxnSp>
      <p:sp>
        <p:nvSpPr>
          <p:cNvPr id="105" name="Obl2"/>
          <p:cNvSpPr/>
          <p:nvPr/>
        </p:nvSpPr>
        <p:spPr>
          <a:xfrm>
            <a:off x="6294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The illness model is expected to change independently</a:t>
            </a:r>
          </a:p>
        </p:txBody>
      </p:sp>
      <p:cxnSp>
        <p:nvCxnSpPr>
          <p:cNvPr id="106" name="OblA2"/>
          <p:cNvCxnSpPr/>
          <p:nvPr/>
        </p:nvCxnSpPr>
        <p:spPr>
          <a:xfrm flipH="1">
            <a:off x="6039000" y="2050000"/>
            <a:ext cx="255000" cy="250000"/>
          </a:xfrm>
          <a:prstGeom prst="line">
            <a:avLst/>
          </a:prstGeom>
          <a:ln w="42862">
            <a:solidFill>
              <a:srgbClr val="C9B991"/>
            </a:solidFill>
            <a:tailEnd type="triangle" w="med" len="med"/>
          </a:ln>
        </p:spPr>
      </p:cxnSp>
      <p:sp>
        <p:nvSpPr>
          <p:cNvPr id="107" name="Obl3"/>
          <p:cNvSpPr/>
          <p:nvPr/>
        </p:nvSpPr>
        <p:spPr>
          <a:xfrm>
            <a:off x="700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Failure of sharing must not prevent local advice</a:t>
            </a:r>
          </a:p>
        </p:txBody>
      </p:sp>
      <p:cxnSp>
        <p:nvCxnSpPr>
          <p:cNvPr id="108" name="OblA3"/>
          <p:cNvCxnSpPr/>
          <p:nvPr/>
        </p:nvCxnSpPr>
        <p:spPr>
          <a:xfrm flipV="1">
            <a:off x="3200000" y="3550000"/>
            <a:ext cx="200000" cy="150000"/>
          </a:xfrm>
          <a:prstGeom prst="line">
            <a:avLst/>
          </a:prstGeom>
          <a:ln w="42862">
            <a:solidFill>
              <a:srgbClr val="C9B991"/>
            </a:solidFill>
            <a:tailEnd type="triangle" w="med" len="med"/>
          </a:ln>
        </p:spPr>
      </p:cxnSp>
      <p:sp>
        <p:nvSpPr>
          <p:cNvPr id="109" name="Obl4"/>
          <p:cNvSpPr/>
          <p:nvPr/>
        </p:nvSpPr>
        <p:spPr>
          <a:xfrm>
            <a:off x="5944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 weekly summary must reflect a consistent 7-night window</a:t>
            </a:r>
          </a:p>
        </p:txBody>
      </p:sp>
      <p:cxnSp>
        <p:nvCxnSpPr>
          <p:cNvPr id="110" name="OblA4"/>
          <p:cNvCxnSpPr/>
          <p:nvPr/>
        </p:nvCxnSpPr>
        <p:spPr>
          <a:xfrm flipH="1" flipV="1">
            <a:off x="5744000" y="3550000"/>
            <a:ext cx="200000" cy="150000"/>
          </a:xfrm>
          <a:prstGeom prst="line">
            <a:avLst/>
          </a:prstGeom>
          <a:ln w="42862">
            <a:solidFill>
              <a:srgbClr val="C9B991"/>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400"/>
                                        <p:tgtEl>
                                          <p:spTgt spid="104"/>
                                        </p:tgtEl>
                                      </p:cBhvr>
                                    </p:animEffect>
                                  </p:childTnLst>
                                </p:cTn>
                              </p:par>
                              <p:par>
                                <p:cTn id="17" presetID="10" presetClass="entr" presetSubtype="0" fill="hold" nodeType="withEffect">
                                  <p:stCondLst>
                                    <p:cond delay="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400"/>
                                        <p:tgtEl>
                                          <p:spTgt spid="105"/>
                                        </p:tgtEl>
                                      </p:cBhvr>
                                    </p:animEffect>
                                  </p:childTnLst>
                                </p:cTn>
                              </p:par>
                              <p:par>
                                <p:cTn id="20" presetID="10" presetClass="entr" presetSubtype="0" fill="hold" nodeType="withEffect">
                                  <p:stCondLst>
                                    <p:cond delay="0"/>
                                  </p:stCondLst>
                                  <p:childTnLst>
                                    <p:set>
                                      <p:cBhvr>
                                        <p:cTn id="21" dur="1" fill="hold">
                                          <p:stCondLst>
                                            <p:cond delay="0"/>
                                          </p:stCondLst>
                                        </p:cTn>
                                        <p:tgtEl>
                                          <p:spTgt spid="106"/>
                                        </p:tgtEl>
                                        <p:attrNameLst>
                                          <p:attrName>style.visibility</p:attrName>
                                        </p:attrNameLst>
                                      </p:cBhvr>
                                      <p:to>
                                        <p:strVal val="visible"/>
                                      </p:to>
                                    </p:set>
                                    <p:animEffect transition="in" filter="fade">
                                      <p:cBhvr>
                                        <p:cTn id="22" dur="400"/>
                                        <p:tgtEl>
                                          <p:spTgt spid="106"/>
                                        </p:tgtEl>
                                      </p:cBhvr>
                                    </p:animEffect>
                                  </p:childTnLst>
                                </p:cTn>
                              </p:par>
                              <p:par>
                                <p:cTn id="23" presetID="10" presetClass="entr" presetSubtype="0" fill="hold" nodeType="withEffect">
                                  <p:stCondLst>
                                    <p:cond delay="0"/>
                                  </p:stCondLst>
                                  <p:childTnLst>
                                    <p:set>
                                      <p:cBhvr>
                                        <p:cTn id="24" dur="1" fill="hold">
                                          <p:stCondLst>
                                            <p:cond delay="0"/>
                                          </p:stCondLst>
                                        </p:cTn>
                                        <p:tgtEl>
                                          <p:spTgt spid="107"/>
                                        </p:tgtEl>
                                        <p:attrNameLst>
                                          <p:attrName>style.visibility</p:attrName>
                                        </p:attrNameLst>
                                      </p:cBhvr>
                                      <p:to>
                                        <p:strVal val="visible"/>
                                      </p:to>
                                    </p:set>
                                    <p:animEffect transition="in" filter="fade">
                                      <p:cBhvr>
                                        <p:cTn id="25" dur="400"/>
                                        <p:tgtEl>
                                          <p:spTgt spid="107"/>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9"/>
                                        </p:tgtEl>
                                        <p:attrNameLst>
                                          <p:attrName>style.visibility</p:attrName>
                                        </p:attrNameLst>
                                      </p:cBhvr>
                                      <p:to>
                                        <p:strVal val="visible"/>
                                      </p:to>
                                    </p:set>
                                    <p:animEffect transition="in" filter="fade">
                                      <p:cBhvr>
                                        <p:cTn id="31" dur="400"/>
                                        <p:tgtEl>
                                          <p:spTgt spid="109"/>
                                        </p:tgtEl>
                                      </p:cBhvr>
                                    </p:animEffect>
                                  </p:childTnLst>
                                </p:cTn>
                              </p:par>
                              <p:par>
                                <p:cTn id="32" presetID="10" presetClass="entr" presetSubtype="0" fill="hold" nodeType="withEffect">
                                  <p:stCondLst>
                                    <p:cond delay="0"/>
                                  </p:stCondLst>
                                  <p:childTnLst>
                                    <p:set>
                                      <p:cBhvr>
                                        <p:cTn id="33" dur="1" fill="hold">
                                          <p:stCondLst>
                                            <p:cond delay="0"/>
                                          </p:stCondLst>
                                        </p:cTn>
                                        <p:tgtEl>
                                          <p:spTgt spid="110"/>
                                        </p:tgtEl>
                                        <p:attrNameLst>
                                          <p:attrName>style.visibility</p:attrName>
                                        </p:attrNameLst>
                                      </p:cBhvr>
                                      <p:to>
                                        <p:strVal val="visible"/>
                                      </p:to>
                                    </p:set>
                                    <p:animEffect transition="in" filter="fade">
                                      <p:cBhvr>
                                        <p:cTn id="34" dur="400"/>
                                        <p:tgtEl>
                                          <p:spTgt spid="1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61">
                                            <p:txEl>
                                              <p:pRg st="0" end="0"/>
                                            </p:txEl>
                                          </p:spTgt>
                                        </p:tgtEl>
                                        <p:attrNameLst>
                                          <p:attrName>style.visibility</p:attrName>
                                        </p:attrNameLst>
                                      </p:cBhvr>
                                      <p:to>
                                        <p:strVal val="visible"/>
                                      </p:to>
                                    </p:set>
                                    <p:animEffect transition="in" filter="fade">
                                      <p:cBhvr>
                                        <p:cTn id="39" dur="400"/>
                                        <p:tgtEl>
                                          <p:spTgt spid="61">
                                            <p:txEl>
                                              <p:pRg st="0" end="0"/>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61">
                                            <p:txEl>
                                              <p:pRg st="1" end="1"/>
                                            </p:txEl>
                                          </p:spTgt>
                                        </p:tgtEl>
                                        <p:attrNameLst>
                                          <p:attrName>style.visibility</p:attrName>
                                        </p:attrNameLst>
                                      </p:cBhvr>
                                      <p:to>
                                        <p:strVal val="visible"/>
                                      </p:to>
                                    </p:set>
                                    <p:animEffect transition="in" filter="fade">
                                      <p:cBhvr>
                                        <p:cTn id="44" dur="400"/>
                                        <p:tgtEl>
                                          <p:spTgt spid="61">
                                            <p:txEl>
                                              <p:pRg st="1" end="1"/>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61">
                                            <p:txEl>
                                              <p:pRg st="2" end="2"/>
                                            </p:txEl>
                                          </p:spTgt>
                                        </p:tgtEl>
                                        <p:attrNameLst>
                                          <p:attrName>style.visibility</p:attrName>
                                        </p:attrNameLst>
                                      </p:cBhvr>
                                      <p:to>
                                        <p:strVal val="visible"/>
                                      </p:to>
                                    </p:set>
                                    <p:animEffect transition="in" filter="fade">
                                      <p:cBhvr>
                                        <p:cTn id="49" dur="400"/>
                                        <p:tgtEl>
                                          <p:spTgt spid="6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27</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fontScale="92500" lnSpcReduction="10000"/>
          </a:bodyPr>
          <a:lstStyle/>
          <a:p>
            <a:pPr algn="l">
              <a:buNone/>
            </a:pPr>
            <a:r>
              <a:rPr lang="en-US" sz="2200" b="1" i="0" dirty="0">
                <a:solidFill>
                  <a:srgbClr val="8E6F3E"/>
                </a:solidFill>
              </a:rPr>
              <a:t xml:space="preserve">·  </a:t>
            </a:r>
            <a:r>
              <a:rPr lang="en-US" sz="2200" b="0" i="0" dirty="0">
                <a:solidFill>
                  <a:srgbClr val="000000"/>
                </a:solidFill>
              </a:rPr>
              <a:t>Which candidates violate the specification?</a:t>
            </a:r>
          </a:p>
          <a:p>
            <a:pPr algn="l">
              <a:spcBef>
                <a:spcPts val="150"/>
              </a:spcBef>
              <a:buNone/>
            </a:pPr>
            <a:r>
              <a:rPr lang="en-US" sz="2200" b="1" i="0" dirty="0">
                <a:solidFill>
                  <a:srgbClr val="8E6F3E"/>
                </a:solidFill>
              </a:rPr>
              <a:t xml:space="preserve">·  </a:t>
            </a:r>
            <a:r>
              <a:rPr lang="en-US" sz="2200" b="0" i="0" dirty="0">
                <a:solidFill>
                  <a:srgbClr val="000000"/>
                </a:solidFill>
              </a:rPr>
              <a:t>Is any candidate Pareto-dominated?</a:t>
            </a:r>
          </a:p>
          <a:p>
            <a:pPr algn="l">
              <a:spcBef>
                <a:spcPts val="150"/>
              </a:spcBef>
              <a:buNone/>
            </a:pPr>
            <a:r>
              <a:rPr lang="en-US" sz="2200" b="1" i="0" dirty="0">
                <a:solidFill>
                  <a:srgbClr val="8E6F3E"/>
                </a:solidFill>
              </a:rPr>
              <a:t xml:space="preserve">·  </a:t>
            </a:r>
            <a:r>
              <a:rPr lang="en-US" sz="2200" b="0" i="0" dirty="0">
                <a:solidFill>
                  <a:srgbClr val="000000"/>
                </a:solidFill>
              </a:rPr>
              <a:t>What genuine tradeoff remains?</a:t>
            </a:r>
          </a:p>
          <a:p>
            <a:pPr algn="l">
              <a:spcBef>
                <a:spcPts val="150"/>
              </a:spcBef>
              <a:buNone/>
            </a:pPr>
            <a:r>
              <a:rPr lang="en-US" sz="2200" b="1" i="0" dirty="0">
                <a:solidFill>
                  <a:srgbClr val="8E6F3E"/>
                </a:solidFill>
              </a:rPr>
              <a:t xml:space="preserve">·  </a:t>
            </a:r>
            <a:r>
              <a:rPr lang="en-US" sz="2200" b="0" i="0" dirty="0">
                <a:solidFill>
                  <a:srgbClr val="000000"/>
                </a:solidFill>
              </a:rPr>
              <a:t>Which architectural model could distinguish the alternatives?</a:t>
            </a:r>
          </a:p>
          <a:p>
            <a:pPr algn="l">
              <a:spcBef>
                <a:spcPts val="150"/>
              </a:spcBef>
              <a:buNone/>
            </a:pPr>
            <a:r>
              <a:rPr lang="en-US" sz="2200" b="1" i="0" dirty="0">
                <a:solidFill>
                  <a:srgbClr val="8E6F3E"/>
                </a:solidFill>
              </a:rPr>
              <a:t xml:space="preserve">·  </a:t>
            </a:r>
            <a:r>
              <a:rPr lang="en-US" sz="2200" b="0" i="0" dirty="0">
                <a:solidFill>
                  <a:srgbClr val="000000"/>
                </a:solidFill>
              </a:rPr>
              <a:t>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There need not be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03" name="FunA0"/>
          <p:cNvCxnSpPr/>
          <p:nvPr/>
        </p:nvCxnSpPr>
        <p:spPr>
          <a:xfrm>
            <a:off x="4437000" y="1558000"/>
            <a:ext cx="0" cy="132000"/>
          </a:xfrm>
          <a:prstGeom prst="line">
            <a:avLst/>
          </a:prstGeom>
          <a:ln w="51435">
            <a:solidFill>
              <a:srgbClr val="8E6F3E"/>
            </a:solidFill>
            <a:tailEnd type="triangle" w="med" len="med"/>
          </a:ln>
        </p:spPr>
      </p:cxnSp>
      <p:cxnSp>
        <p:nvCxnSpPr>
          <p:cNvPr id="300" name="FunAa"/>
          <p:cNvCxnSpPr/>
          <p:nvPr/>
        </p:nvCxnSpPr>
        <p:spPr>
          <a:xfrm>
            <a:off x="3327000" y="1558000"/>
            <a:ext cx="0" cy="132000"/>
          </a:xfrm>
          <a:prstGeom prst="line">
            <a:avLst/>
          </a:prstGeom>
          <a:ln w="51435">
            <a:solidFill>
              <a:srgbClr val="8E6F3E"/>
            </a:solidFill>
            <a:tailEnd type="triangle" w="med" len="med"/>
          </a:ln>
        </p:spPr>
      </p:cxnSp>
      <p:cxnSp>
        <p:nvCxnSpPr>
          <p:cNvPr id="301" name="FunAc"/>
          <p:cNvCxnSpPr/>
          <p:nvPr/>
        </p:nvCxnSpPr>
        <p:spPr>
          <a:xfrm>
            <a:off x="5547000" y="1558000"/>
            <a:ext cx="0" cy="132000"/>
          </a:xfrm>
          <a:prstGeom prst="line">
            <a:avLst/>
          </a:prstGeom>
          <a:ln w="51435">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SPECIFICATION — eliminate the invalid</a:t>
            </a:r>
          </a:p>
        </p:txBody>
      </p:sp>
      <p:cxnSp>
        <p:nvCxnSpPr>
          <p:cNvPr id="105" name="FunA1"/>
          <p:cNvCxnSpPr/>
          <p:nvPr/>
        </p:nvCxnSpPr>
        <p:spPr>
          <a:xfrm>
            <a:off x="4572000" y="2086000"/>
            <a:ext cx="0" cy="132000"/>
          </a:xfrm>
          <a:prstGeom prst="line">
            <a:avLst/>
          </a:prstGeom>
          <a:ln w="51435">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DOMINANCE — eliminate the clearly worse</a:t>
            </a:r>
          </a:p>
        </p:txBody>
      </p:sp>
      <p:cxnSp>
        <p:nvCxnSpPr>
          <p:cNvPr id="107" name="FunA2"/>
          <p:cNvCxnSpPr/>
          <p:nvPr/>
        </p:nvCxnSpPr>
        <p:spPr>
          <a:xfrm>
            <a:off x="4572000" y="2614000"/>
            <a:ext cx="0" cy="132000"/>
          </a:xfrm>
          <a:prstGeom prst="line">
            <a:avLst/>
          </a:prstGeom>
          <a:ln w="51435">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WHAT DON’T WE KNOW?</a:t>
            </a:r>
          </a:p>
        </p:txBody>
      </p:sp>
      <p:cxnSp>
        <p:nvCxnSpPr>
          <p:cNvPr id="109" name="FunA3"/>
          <p:cNvCxnSpPr/>
          <p:nvPr/>
        </p:nvCxnSpPr>
        <p:spPr>
          <a:xfrm>
            <a:off x="4572000" y="3142000"/>
            <a:ext cx="0" cy="132000"/>
          </a:xfrm>
          <a:prstGeom prst="line">
            <a:avLst/>
          </a:prstGeom>
          <a:ln w="51435">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BUY INFORMATION?</a:t>
            </a:r>
          </a:p>
        </p:txBody>
      </p:sp>
      <p:cxnSp>
        <p:nvCxnSpPr>
          <p:cNvPr id="111" name="FunA4"/>
          <p:cNvCxnSpPr/>
          <p:nvPr/>
        </p:nvCxnSpPr>
        <p:spPr>
          <a:xfrm>
            <a:off x="4572000" y="3670000"/>
            <a:ext cx="0" cy="132000"/>
          </a:xfrm>
          <a:prstGeom prst="line">
            <a:avLst/>
          </a:prstGeom>
          <a:ln w="51435">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a genuine tradeoff</a:t>
            </a:r>
          </a:p>
          <a:p>
            <a:pPr algn="l">
              <a:spcBef>
                <a:spcPts val="300"/>
              </a:spcBef>
              <a:buNone/>
            </a:pPr>
            <a:r>
              <a:rPr lang="en-US" sz="1800" b="0" i="1" dirty="0">
                <a:solidFill>
                  <a:srgbClr val="555960"/>
                </a:solidFill>
              </a:rPr>
              <a:t>remains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300"/>
                                        </p:tgtEl>
                                        <p:attrNameLst>
                                          <p:attrName>style.visibility</p:attrName>
                                        </p:attrNameLst>
                                      </p:cBhvr>
                                      <p:to>
                                        <p:strVal val="visible"/>
                                      </p:to>
                                    </p:set>
                                    <p:animEffect transition="in" filter="fade">
                                      <p:cBhvr>
                                        <p:cTn id="19" dur="400"/>
                                        <p:tgtEl>
                                          <p:spTgt spid="300"/>
                                        </p:tgtEl>
                                      </p:cBhvr>
                                    </p:animEffect>
                                  </p:childTnLst>
                                </p:cTn>
                              </p:par>
                              <p:par>
                                <p:cTn id="20" presetID="10" presetClass="entr" presetSubtype="0" fill="hold" nodeType="withEffect">
                                  <p:stCondLst>
                                    <p:cond delay="0"/>
                                  </p:stCondLst>
                                  <p:childTnLst>
                                    <p:set>
                                      <p:cBhvr>
                                        <p:cTn id="21" dur="1" fill="hold">
                                          <p:stCondLst>
                                            <p:cond delay="0"/>
                                          </p:stCondLst>
                                        </p:cTn>
                                        <p:tgtEl>
                                          <p:spTgt spid="301"/>
                                        </p:tgtEl>
                                        <p:attrNameLst>
                                          <p:attrName>style.visibility</p:attrName>
                                        </p:attrNameLst>
                                      </p:cBhvr>
                                      <p:to>
                                        <p:strVal val="visible"/>
                                      </p:to>
                                    </p:set>
                                    <p:animEffect transition="in" filter="fade">
                                      <p:cBhvr>
                                        <p:cTn id="22" dur="400"/>
                                        <p:tgtEl>
                                          <p:spTgt spid="30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par>
                                <p:cTn id="28" presetID="10" presetClass="entr" presetSubtype="0" fill="hold" nodeType="withEffect">
                                  <p:stCondLst>
                                    <p:cond delay="0"/>
                                  </p:stCondLst>
                                  <p:childTnLst>
                                    <p:set>
                                      <p:cBhvr>
                                        <p:cTn id="29" dur="1" fill="hold">
                                          <p:stCondLst>
                                            <p:cond delay="0"/>
                                          </p:stCondLst>
                                        </p:cTn>
                                        <p:tgtEl>
                                          <p:spTgt spid="61">
                                            <p:txEl>
                                              <p:pRg st="0" end="0"/>
                                            </p:txEl>
                                          </p:spTgt>
                                        </p:tgtEl>
                                        <p:attrNameLst>
                                          <p:attrName>style.visibility</p:attrName>
                                        </p:attrNameLst>
                                      </p:cBhvr>
                                      <p:to>
                                        <p:strVal val="visible"/>
                                      </p:to>
                                    </p:set>
                                    <p:animEffect transition="in" filter="fade">
                                      <p:cBhvr>
                                        <p:cTn id="30" dur="400"/>
                                        <p:tgtEl>
                                          <p:spTgt spid="61">
                                            <p:txEl>
                                              <p:pRg st="0" end="0"/>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05"/>
                                        </p:tgtEl>
                                        <p:attrNameLst>
                                          <p:attrName>style.visibility</p:attrName>
                                        </p:attrNameLst>
                                      </p:cBhvr>
                                      <p:to>
                                        <p:strVal val="visible"/>
                                      </p:to>
                                    </p:set>
                                    <p:animEffect transition="in" filter="fade">
                                      <p:cBhvr>
                                        <p:cTn id="35" dur="400"/>
                                        <p:tgtEl>
                                          <p:spTgt spid="105"/>
                                        </p:tgtEl>
                                      </p:cBhvr>
                                    </p:animEffect>
                                  </p:childTnLst>
                                </p:cTn>
                              </p:par>
                              <p:par>
                                <p:cTn id="36" presetID="10" presetClass="entr" presetSubtype="0" fill="hold" nodeType="withEffect">
                                  <p:stCondLst>
                                    <p:cond delay="0"/>
                                  </p:stCondLst>
                                  <p:childTnLst>
                                    <p:set>
                                      <p:cBhvr>
                                        <p:cTn id="37" dur="1" fill="hold">
                                          <p:stCondLst>
                                            <p:cond delay="0"/>
                                          </p:stCondLst>
                                        </p:cTn>
                                        <p:tgtEl>
                                          <p:spTgt spid="106"/>
                                        </p:tgtEl>
                                        <p:attrNameLst>
                                          <p:attrName>style.visibility</p:attrName>
                                        </p:attrNameLst>
                                      </p:cBhvr>
                                      <p:to>
                                        <p:strVal val="visible"/>
                                      </p:to>
                                    </p:set>
                                    <p:animEffect transition="in" filter="fade">
                                      <p:cBhvr>
                                        <p:cTn id="38" dur="400"/>
                                        <p:tgtEl>
                                          <p:spTgt spid="106"/>
                                        </p:tgtEl>
                                      </p:cBhvr>
                                    </p:animEffect>
                                  </p:childTnLst>
                                </p:cTn>
                              </p:par>
                              <p:par>
                                <p:cTn id="39" presetID="10" presetClass="entr" presetSubtype="0" fill="hold" nodeType="withEffect">
                                  <p:stCondLst>
                                    <p:cond delay="0"/>
                                  </p:stCondLst>
                                  <p:childTnLst>
                                    <p:set>
                                      <p:cBhvr>
                                        <p:cTn id="40" dur="1" fill="hold">
                                          <p:stCondLst>
                                            <p:cond delay="0"/>
                                          </p:stCondLst>
                                        </p:cTn>
                                        <p:tgtEl>
                                          <p:spTgt spid="61">
                                            <p:txEl>
                                              <p:pRg st="1" end="1"/>
                                            </p:txEl>
                                          </p:spTgt>
                                        </p:tgtEl>
                                        <p:attrNameLst>
                                          <p:attrName>style.visibility</p:attrName>
                                        </p:attrNameLst>
                                      </p:cBhvr>
                                      <p:to>
                                        <p:strVal val="visible"/>
                                      </p:to>
                                    </p:set>
                                    <p:animEffect transition="in" filter="fade">
                                      <p:cBhvr>
                                        <p:cTn id="41" dur="400"/>
                                        <p:tgtEl>
                                          <p:spTgt spid="61">
                                            <p:txEl>
                                              <p:pRg st="1" end="1"/>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13"/>
                                        </p:tgtEl>
                                        <p:attrNameLst>
                                          <p:attrName>style.visibility</p:attrName>
                                        </p:attrNameLst>
                                      </p:cBhvr>
                                      <p:to>
                                        <p:strVal val="visible"/>
                                      </p:to>
                                    </p:set>
                                    <p:animEffect transition="in" filter="fade">
                                      <p:cBhvr>
                                        <p:cTn id="46" dur="400"/>
                                        <p:tgtEl>
                                          <p:spTgt spid="113"/>
                                        </p:tgtEl>
                                      </p:cBhvr>
                                    </p:animEffect>
                                  </p:childTnLst>
                                </p:cTn>
                              </p:par>
                              <p:par>
                                <p:cTn id="47" presetID="10" presetClass="entr" presetSubtype="0" fill="hold" nodeType="withEffect">
                                  <p:stCondLst>
                                    <p:cond delay="0"/>
                                  </p:stCondLst>
                                  <p:childTnLst>
                                    <p:set>
                                      <p:cBhvr>
                                        <p:cTn id="48" dur="1" fill="hold">
                                          <p:stCondLst>
                                            <p:cond delay="0"/>
                                          </p:stCondLst>
                                        </p:cTn>
                                        <p:tgtEl>
                                          <p:spTgt spid="61">
                                            <p:txEl>
                                              <p:pRg st="2" end="2"/>
                                            </p:txEl>
                                          </p:spTgt>
                                        </p:tgtEl>
                                        <p:attrNameLst>
                                          <p:attrName>style.visibility</p:attrName>
                                        </p:attrNameLst>
                                      </p:cBhvr>
                                      <p:to>
                                        <p:strVal val="visible"/>
                                      </p:to>
                                    </p:set>
                                    <p:animEffect transition="in" filter="fade">
                                      <p:cBhvr>
                                        <p:cTn id="49" dur="400"/>
                                        <p:tgtEl>
                                          <p:spTgt spid="61">
                                            <p:txEl>
                                              <p:pRg st="2" end="2"/>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7"/>
                                        </p:tgtEl>
                                        <p:attrNameLst>
                                          <p:attrName>style.visibility</p:attrName>
                                        </p:attrNameLst>
                                      </p:cBhvr>
                                      <p:to>
                                        <p:strVal val="visible"/>
                                      </p:to>
                                    </p:set>
                                    <p:animEffect transition="in" filter="fade">
                                      <p:cBhvr>
                                        <p:cTn id="54" dur="400"/>
                                        <p:tgtEl>
                                          <p:spTgt spid="107"/>
                                        </p:tgtEl>
                                      </p:cBhvr>
                                    </p:animEffect>
                                  </p:childTnLst>
                                </p:cTn>
                              </p:par>
                              <p:par>
                                <p:cTn id="55" presetID="10" presetClass="entr" presetSubtype="0" fill="hold" nodeType="withEffect">
                                  <p:stCondLst>
                                    <p:cond delay="0"/>
                                  </p:stCondLst>
                                  <p:childTnLst>
                                    <p:set>
                                      <p:cBhvr>
                                        <p:cTn id="56" dur="1" fill="hold">
                                          <p:stCondLst>
                                            <p:cond delay="0"/>
                                          </p:stCondLst>
                                        </p:cTn>
                                        <p:tgtEl>
                                          <p:spTgt spid="108"/>
                                        </p:tgtEl>
                                        <p:attrNameLst>
                                          <p:attrName>style.visibility</p:attrName>
                                        </p:attrNameLst>
                                      </p:cBhvr>
                                      <p:to>
                                        <p:strVal val="visible"/>
                                      </p:to>
                                    </p:set>
                                    <p:animEffect transition="in" filter="fade">
                                      <p:cBhvr>
                                        <p:cTn id="57" dur="400"/>
                                        <p:tgtEl>
                                          <p:spTgt spid="108"/>
                                        </p:tgtEl>
                                      </p:cBhvr>
                                    </p:animEffect>
                                  </p:childTnLst>
                                </p:cTn>
                              </p:par>
                              <p:par>
                                <p:cTn id="58" presetID="10" presetClass="entr" presetSubtype="0" fill="hold" nodeType="withEffect">
                                  <p:stCondLst>
                                    <p:cond delay="0"/>
                                  </p:stCondLst>
                                  <p:childTnLst>
                                    <p:set>
                                      <p:cBhvr>
                                        <p:cTn id="59" dur="1" fill="hold">
                                          <p:stCondLst>
                                            <p:cond delay="0"/>
                                          </p:stCondLst>
                                        </p:cTn>
                                        <p:tgtEl>
                                          <p:spTgt spid="61">
                                            <p:txEl>
                                              <p:pRg st="3" end="3"/>
                                            </p:txEl>
                                          </p:spTgt>
                                        </p:tgtEl>
                                        <p:attrNameLst>
                                          <p:attrName>style.visibility</p:attrName>
                                        </p:attrNameLst>
                                      </p:cBhvr>
                                      <p:to>
                                        <p:strVal val="visible"/>
                                      </p:to>
                                    </p:set>
                                    <p:animEffect transition="in" filter="fade">
                                      <p:cBhvr>
                                        <p:cTn id="60" dur="400"/>
                                        <p:tgtEl>
                                          <p:spTgt spid="61">
                                            <p:txEl>
                                              <p:pRg st="3" end="3"/>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09"/>
                                        </p:tgtEl>
                                        <p:attrNameLst>
                                          <p:attrName>style.visibility</p:attrName>
                                        </p:attrNameLst>
                                      </p:cBhvr>
                                      <p:to>
                                        <p:strVal val="visible"/>
                                      </p:to>
                                    </p:set>
                                    <p:animEffect transition="in" filter="fade">
                                      <p:cBhvr>
                                        <p:cTn id="65" dur="400"/>
                                        <p:tgtEl>
                                          <p:spTgt spid="109"/>
                                        </p:tgtEl>
                                      </p:cBhvr>
                                    </p:animEffect>
                                  </p:childTnLst>
                                </p:cTn>
                              </p:par>
                              <p:par>
                                <p:cTn id="66" presetID="10" presetClass="entr" presetSubtype="0" fill="hold" nodeType="withEffect">
                                  <p:stCondLst>
                                    <p:cond delay="0"/>
                                  </p:stCondLst>
                                  <p:childTnLst>
                                    <p:set>
                                      <p:cBhvr>
                                        <p:cTn id="67" dur="1" fill="hold">
                                          <p:stCondLst>
                                            <p:cond delay="0"/>
                                          </p:stCondLst>
                                        </p:cTn>
                                        <p:tgtEl>
                                          <p:spTgt spid="110"/>
                                        </p:tgtEl>
                                        <p:attrNameLst>
                                          <p:attrName>style.visibility</p:attrName>
                                        </p:attrNameLst>
                                      </p:cBhvr>
                                      <p:to>
                                        <p:strVal val="visible"/>
                                      </p:to>
                                    </p:set>
                                    <p:animEffect transition="in" filter="fade">
                                      <p:cBhvr>
                                        <p:cTn id="68" dur="400"/>
                                        <p:tgtEl>
                                          <p:spTgt spid="110"/>
                                        </p:tgtEl>
                                      </p:cBhvr>
                                    </p:animEffect>
                                  </p:childTnLst>
                                </p:cTn>
                              </p:par>
                              <p:par>
                                <p:cTn id="69" presetID="10" presetClass="entr" presetSubtype="0" fill="hold" nodeType="withEffect">
                                  <p:stCondLst>
                                    <p:cond delay="0"/>
                                  </p:stCondLst>
                                  <p:childTnLst>
                                    <p:set>
                                      <p:cBhvr>
                                        <p:cTn id="70" dur="1" fill="hold">
                                          <p:stCondLst>
                                            <p:cond delay="0"/>
                                          </p:stCondLst>
                                        </p:cTn>
                                        <p:tgtEl>
                                          <p:spTgt spid="61">
                                            <p:txEl>
                                              <p:pRg st="4" end="4"/>
                                            </p:txEl>
                                          </p:spTgt>
                                        </p:tgtEl>
                                        <p:attrNameLst>
                                          <p:attrName>style.visibility</p:attrName>
                                        </p:attrNameLst>
                                      </p:cBhvr>
                                      <p:to>
                                        <p:strVal val="visible"/>
                                      </p:to>
                                    </p:set>
                                    <p:animEffect transition="in" filter="fade">
                                      <p:cBhvr>
                                        <p:cTn id="71" dur="400"/>
                                        <p:tgtEl>
                                          <p:spTgt spid="61">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11"/>
                                        </p:tgtEl>
                                        <p:attrNameLst>
                                          <p:attrName>style.visibility</p:attrName>
                                        </p:attrNameLst>
                                      </p:cBhvr>
                                      <p:to>
                                        <p:strVal val="visible"/>
                                      </p:to>
                                    </p:set>
                                    <p:animEffect transition="in" filter="fade">
                                      <p:cBhvr>
                                        <p:cTn id="76" dur="400"/>
                                        <p:tgtEl>
                                          <p:spTgt spid="111"/>
                                        </p:tgtEl>
                                      </p:cBhvr>
                                    </p:animEffect>
                                  </p:childTnLst>
                                </p:cTn>
                              </p:par>
                              <p:par>
                                <p:cTn id="77" presetID="10" presetClass="entr" presetSubtype="0" fill="hold" nodeType="withEffect">
                                  <p:stCondLst>
                                    <p:cond delay="0"/>
                                  </p:stCondLst>
                                  <p:childTnLst>
                                    <p:set>
                                      <p:cBhvr>
                                        <p:cTn id="78" dur="1" fill="hold">
                                          <p:stCondLst>
                                            <p:cond delay="0"/>
                                          </p:stCondLst>
                                        </p:cTn>
                                        <p:tgtEl>
                                          <p:spTgt spid="112"/>
                                        </p:tgtEl>
                                        <p:attrNameLst>
                                          <p:attrName>style.visibility</p:attrName>
                                        </p:attrNameLst>
                                      </p:cBhvr>
                                      <p:to>
                                        <p:strVal val="visible"/>
                                      </p:to>
                                    </p:set>
                                    <p:animEffect transition="in" filter="fade">
                                      <p:cBhvr>
                                        <p:cTn id="79" dur="400"/>
                                        <p:tgtEl>
                                          <p:spTgt spid="1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fade">
                                      <p:cBhvr>
                                        <p:cTn id="84"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fontScale="92500" lnSpcReduction="10000"/>
          </a:bodyPr>
          <a:lstStyle/>
          <a:p>
            <a:pPr algn="l">
              <a:buNone/>
            </a:pPr>
            <a:r>
              <a:rPr lang="en-US" sz="2000" b="1" dirty="0">
                <a:solidFill>
                  <a:srgbClr val="8E6F3E"/>
                </a:solidFill>
              </a:rPr>
              <a:t>Specification</a:t>
            </a:r>
            <a:r>
              <a:rPr lang="en-US" sz="2000" dirty="0">
                <a:solidFill>
                  <a:srgbClr val="000000"/>
                </a:solidFill>
              </a:rPr>
              <a:t xml:space="preserve">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Architecture</a:t>
            </a:r>
            <a:r>
              <a:rPr lang="en-US" sz="2000" dirty="0">
                <a:solidFill>
                  <a:srgbClr val="000000"/>
                </a:solidFill>
              </a:rPr>
              <a:t xml:space="preserve">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Design</a:t>
            </a:r>
            <a:r>
              <a:rPr lang="en-US" sz="2000" dirty="0">
                <a:solidFill>
                  <a:srgbClr val="000000"/>
                </a:solidFill>
              </a:rPr>
              <a:t xml:space="preserve">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REQUIREMENTS</a:t>
            </a:r>
          </a:p>
        </p:txBody>
      </p:sp>
      <p:cxnSp>
        <p:nvCxnSpPr>
          <p:cNvPr id="101" name="Arr1"/>
          <p:cNvCxnSpPr/>
          <p:nvPr/>
        </p:nvCxnSpPr>
        <p:spPr>
          <a:xfrm>
            <a:off x="2950000" y="1860000"/>
            <a:ext cx="0" cy="180000"/>
          </a:xfrm>
          <a:prstGeom prst="line">
            <a:avLst/>
          </a:prstGeom>
          <a:ln w="42862">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SPECIFICATION</a:t>
            </a:r>
          </a:p>
        </p:txBody>
      </p:sp>
      <p:cxnSp>
        <p:nvCxnSpPr>
          <p:cNvPr id="103" name="Arr2"/>
          <p:cNvCxnSpPr/>
          <p:nvPr/>
        </p:nvCxnSpPr>
        <p:spPr>
          <a:xfrm>
            <a:off x="2950000" y="2600000"/>
            <a:ext cx="0" cy="180000"/>
          </a:xfrm>
          <a:prstGeom prst="line">
            <a:avLst/>
          </a:prstGeom>
          <a:ln w="42862">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C</a:t>
            </a:r>
          </a:p>
        </p:txBody>
      </p:sp>
      <p:cxnSp>
        <p:nvCxnSpPr>
          <p:cNvPr id="108" name="Arr3"/>
          <p:cNvCxnSpPr/>
          <p:nvPr/>
        </p:nvCxnSpPr>
        <p:spPr>
          <a:xfrm>
            <a:off x="2950000" y="3730000"/>
            <a:ext cx="0" cy="180000"/>
          </a:xfrm>
          <a:prstGeom prst="line">
            <a:avLst/>
          </a:prstGeom>
          <a:ln w="42862">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ARCHITECTURE</a:t>
            </a:r>
          </a:p>
        </p:txBody>
      </p:sp>
      <p:cxnSp>
        <p:nvCxnSpPr>
          <p:cNvPr id="111" name="Arr4"/>
          <p:cNvCxnSpPr/>
          <p:nvPr/>
        </p:nvCxnSpPr>
        <p:spPr>
          <a:xfrm>
            <a:off x="2950000" y="4470000"/>
            <a:ext cx="0" cy="180000"/>
          </a:xfrm>
          <a:prstGeom prst="line">
            <a:avLst/>
          </a:prstGeom>
          <a:ln w="42862">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D</a:t>
            </a:r>
          </a:p>
        </p:txBody>
      </p:sp>
      <p:cxnSp>
        <p:nvCxnSpPr>
          <p:cNvPr id="117" name="Arr5"/>
          <p:cNvCxnSpPr/>
          <p:nvPr/>
        </p:nvCxnSpPr>
        <p:spPr>
          <a:xfrm>
            <a:off x="2950000" y="5600000"/>
            <a:ext cx="0" cy="180000"/>
          </a:xfrm>
          <a:prstGeom prst="line">
            <a:avLst/>
          </a:prstGeom>
          <a:ln w="42862">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400"/>
                                        <p:tgtEl>
                                          <p:spTgt spid="101"/>
                                        </p:tgtEl>
                                      </p:cBhvr>
                                    </p:animEffect>
                                  </p:childTnLst>
                                </p:cTn>
                              </p:par>
                              <p:par>
                                <p:cTn id="13" presetID="10" presetClass="entr" presetSubtype="0" fill="hold"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4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400"/>
                                        <p:tgtEl>
                                          <p:spTgt spid="103"/>
                                        </p:tgtEl>
                                      </p:cBhvr>
                                    </p:animEffect>
                                  </p:childTnLst>
                                </p:cTn>
                              </p:par>
                              <p:par>
                                <p:cTn id="21" presetID="10" presetClass="entr" presetSubtype="0" fill="hold" nodeType="withEffect">
                                  <p:stCondLst>
                                    <p:cond delay="0"/>
                                  </p:stCondLst>
                                  <p:childTnLst>
                                    <p:set>
                                      <p:cBhvr>
                                        <p:cTn id="22" dur="1" fill="hold">
                                          <p:stCondLst>
                                            <p:cond delay="0"/>
                                          </p:stCondLst>
                                        </p:cTn>
                                        <p:tgtEl>
                                          <p:spTgt spid="104"/>
                                        </p:tgtEl>
                                        <p:attrNameLst>
                                          <p:attrName>style.visibility</p:attrName>
                                        </p:attrNameLst>
                                      </p:cBhvr>
                                      <p:to>
                                        <p:strVal val="visible"/>
                                      </p:to>
                                    </p:set>
                                    <p:animEffect transition="in" filter="fade">
                                      <p:cBhvr>
                                        <p:cTn id="23" dur="400"/>
                                        <p:tgtEl>
                                          <p:spTgt spid="104"/>
                                        </p:tgtEl>
                                      </p:cBhvr>
                                    </p:animEffect>
                                  </p:childTnLst>
                                </p:cTn>
                              </p:par>
                              <p:par>
                                <p:cTn id="24" presetID="10" presetClass="entr" presetSubtype="0" fill="hold" nodeType="with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400"/>
                                        <p:tgtEl>
                                          <p:spTgt spid="105"/>
                                        </p:tgtEl>
                                      </p:cBhvr>
                                    </p:animEffect>
                                  </p:childTnLst>
                                </p:cTn>
                              </p:par>
                              <p:par>
                                <p:cTn id="27" presetID="10" presetClass="entr" presetSubtype="0" fill="hold" nodeType="with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8"/>
                                        </p:tgtEl>
                                        <p:attrNameLst>
                                          <p:attrName>style.visibility</p:attrName>
                                        </p:attrNameLst>
                                      </p:cBhvr>
                                      <p:to>
                                        <p:strVal val="visible"/>
                                      </p:to>
                                    </p:set>
                                    <p:animEffect transition="in" filter="fade">
                                      <p:cBhvr>
                                        <p:cTn id="37" dur="400"/>
                                        <p:tgtEl>
                                          <p:spTgt spid="108"/>
                                        </p:tgtEl>
                                      </p:cBhvr>
                                    </p:animEffect>
                                  </p:childTnLst>
                                </p:cTn>
                              </p:par>
                              <p:par>
                                <p:cTn id="38" presetID="10" presetClass="entr" presetSubtype="0" fill="hold" nodeType="with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2"/>
                                        </p:tgtEl>
                                        <p:attrNameLst>
                                          <p:attrName>style.visibility</p:attrName>
                                        </p:attrNameLst>
                                      </p:cBhvr>
                                      <p:to>
                                        <p:strVal val="visible"/>
                                      </p:to>
                                    </p:set>
                                    <p:animEffect transition="in" filter="fade">
                                      <p:cBhvr>
                                        <p:cTn id="51" dur="400"/>
                                        <p:tgtEl>
                                          <p:spTgt spid="112"/>
                                        </p:tgtEl>
                                      </p:cBhvr>
                                    </p:animEffect>
                                  </p:childTnLst>
                                </p:cTn>
                              </p:par>
                              <p:par>
                                <p:cTn id="52" presetID="10" presetClass="entr" presetSubtype="0" fill="hold" nodeType="withEffect">
                                  <p:stCondLst>
                                    <p:cond delay="0"/>
                                  </p:stCondLst>
                                  <p:childTnLst>
                                    <p:set>
                                      <p:cBhvr>
                                        <p:cTn id="53" dur="1" fill="hold">
                                          <p:stCondLst>
                                            <p:cond delay="0"/>
                                          </p:stCondLst>
                                        </p:cTn>
                                        <p:tgtEl>
                                          <p:spTgt spid="113"/>
                                        </p:tgtEl>
                                        <p:attrNameLst>
                                          <p:attrName>style.visibility</p:attrName>
                                        </p:attrNameLst>
                                      </p:cBhvr>
                                      <p:to>
                                        <p:strVal val="visible"/>
                                      </p:to>
                                    </p:set>
                                    <p:animEffect transition="in" filter="fade">
                                      <p:cBhvr>
                                        <p:cTn id="54" dur="400"/>
                                        <p:tgtEl>
                                          <p:spTgt spid="113"/>
                                        </p:tgtEl>
                                      </p:cBhvr>
                                    </p:animEffect>
                                  </p:childTnLst>
                                </p:cTn>
                              </p:par>
                              <p:par>
                                <p:cTn id="55" presetID="10" presetClass="entr" presetSubtype="0" fill="hold" nodeType="withEffect">
                                  <p:stCondLst>
                                    <p:cond delay="0"/>
                                  </p:stCondLst>
                                  <p:childTnLst>
                                    <p:set>
                                      <p:cBhvr>
                                        <p:cTn id="56" dur="1" fill="hold">
                                          <p:stCondLst>
                                            <p:cond delay="0"/>
                                          </p:stCondLst>
                                        </p:cTn>
                                        <p:tgtEl>
                                          <p:spTgt spid="114"/>
                                        </p:tgtEl>
                                        <p:attrNameLst>
                                          <p:attrName>style.visibility</p:attrName>
                                        </p:attrNameLst>
                                      </p:cBhvr>
                                      <p:to>
                                        <p:strVal val="visible"/>
                                      </p:to>
                                    </p:set>
                                    <p:animEffect transition="in" filter="fade">
                                      <p:cBhvr>
                                        <p:cTn id="57" dur="400"/>
                                        <p:tgtEl>
                                          <p:spTgt spid="114"/>
                                        </p:tgtEl>
                                      </p:cBhvr>
                                    </p:animEffect>
                                  </p:childTnLst>
                                </p:cTn>
                              </p:par>
                              <p:par>
                                <p:cTn id="58" presetID="10" presetClass="entr" presetSubtype="0" fill="hold" nodeType="with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17"/>
                                        </p:tgtEl>
                                        <p:attrNameLst>
                                          <p:attrName>style.visibility</p:attrName>
                                        </p:attrNameLst>
                                      </p:cBhvr>
                                      <p:to>
                                        <p:strVal val="visible"/>
                                      </p:to>
                                    </p:set>
                                    <p:animEffect transition="in" filter="fade">
                                      <p:cBhvr>
                                        <p:cTn id="68" dur="400"/>
                                        <p:tgtEl>
                                          <p:spTgt spid="117"/>
                                        </p:tgtEl>
                                      </p:cBhvr>
                                    </p:animEffect>
                                  </p:childTnLst>
                                </p:cTn>
                              </p:par>
                              <p:par>
                                <p:cTn id="69" presetID="10" presetClass="entr" presetSubtype="0" fill="hold" nodeType="withEffect">
                                  <p:stCondLst>
                                    <p:cond delay="0"/>
                                  </p:stCondLst>
                                  <p:childTnLst>
                                    <p:set>
                                      <p:cBhvr>
                                        <p:cTn id="70" dur="1" fill="hold">
                                          <p:stCondLst>
                                            <p:cond delay="0"/>
                                          </p:stCondLst>
                                        </p:cTn>
                                        <p:tgtEl>
                                          <p:spTgt spid="118"/>
                                        </p:tgtEl>
                                        <p:attrNameLst>
                                          <p:attrName>style.visibility</p:attrName>
                                        </p:attrNameLst>
                                      </p:cBhvr>
                                      <p:to>
                                        <p:strVal val="visible"/>
                                      </p:to>
                                    </p:set>
                                    <p:animEffect transition="in" filter="fade">
                                      <p:cBhvr>
                                        <p:cTn id="71" dur="400"/>
                                        <p:tgtEl>
                                          <p:spTgt spid="118"/>
                                        </p:tgtEl>
                                      </p:cBhvr>
                                    </p:animEffect>
                                  </p:childTnLst>
                                </p:cTn>
                              </p:par>
                              <p:par>
                                <p:cTn id="72" presetID="10" presetClass="entr" presetSubtype="0" fill="hold" nodeType="withEffect">
                                  <p:stCondLst>
                                    <p:cond delay="0"/>
                                  </p:stCondLst>
                                  <p:childTnLst>
                                    <p:set>
                                      <p:cBhvr>
                                        <p:cTn id="73" dur="1" fill="hold">
                                          <p:stCondLst>
                                            <p:cond delay="0"/>
                                          </p:stCondLst>
                                        </p:cTn>
                                        <p:tgtEl>
                                          <p:spTgt spid="90"/>
                                        </p:tgtEl>
                                        <p:attrNameLst>
                                          <p:attrName>style.visibility</p:attrName>
                                        </p:attrNameLst>
                                      </p:cBhvr>
                                      <p:to>
                                        <p:strVal val="visible"/>
                                      </p:to>
                                    </p:set>
                                    <p:animEffect transition="in" filter="fade">
                                      <p:cBhvr>
                                        <p:cTn id="74" dur="400"/>
                                        <p:tgtEl>
                                          <p:spTgt spid="90"/>
                                        </p:tgtEl>
                                      </p:cBhvr>
                                    </p:animEffect>
                                  </p:childTnLst>
                                </p:cTn>
                              </p:par>
                              <p:par>
                                <p:cTn id="75" presetID="10" presetClass="entr" presetSubtype="0" fill="hold" nodeType="withEffect">
                                  <p:stCondLst>
                                    <p:cond delay="0"/>
                                  </p:stCondLst>
                                  <p:childTnLst>
                                    <p:set>
                                      <p:cBhvr>
                                        <p:cTn id="76" dur="1" fill="hold">
                                          <p:stCondLst>
                                            <p:cond delay="0"/>
                                          </p:stCondLst>
                                        </p:cTn>
                                        <p:tgtEl>
                                          <p:spTgt spid="2"/>
                                        </p:tgtEl>
                                        <p:attrNameLst>
                                          <p:attrName>style.visibility</p:attrName>
                                        </p:attrNameLst>
                                      </p:cBhvr>
                                      <p:to>
                                        <p:strVal val="visible"/>
                                      </p:to>
                                    </p:set>
                                    <p:animEffect transition="in" filter="fade">
                                      <p:cBhvr>
                                        <p:cTn id="77" dur="400"/>
                                        <p:tgtEl>
                                          <p:spTgt spid="2"/>
                                        </p:tgtEl>
                                      </p:cBhvr>
                                    </p:animEffect>
                                  </p:childTnLst>
                                </p:cTn>
                              </p:par>
                              <p:par>
                                <p:cTn id="78" presetID="10" presetClass="entr" presetSubtype="0" fill="hold" nodeType="with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400"/>
                                        <p:tgtEl>
                                          <p:spTgt spid="5"/>
                                        </p:tgtEl>
                                      </p:cBhvr>
                                    </p:animEffect>
                                  </p:childTnLst>
                                </p:cTn>
                              </p:par>
                              <p:par>
                                <p:cTn id="81" presetID="10" presetClass="entr" presetSubtype="0" fill="hold" nodeType="withEffect">
                                  <p:stCondLst>
                                    <p:cond delay="0"/>
                                  </p:stCondLst>
                                  <p:childTnLst>
                                    <p:set>
                                      <p:cBhvr>
                                        <p:cTn id="82" dur="1" fill="hold">
                                          <p:stCondLst>
                                            <p:cond delay="0"/>
                                          </p:stCondLst>
                                        </p:cTn>
                                        <p:tgtEl>
                                          <p:spTgt spid="300"/>
                                        </p:tgtEl>
                                        <p:attrNameLst>
                                          <p:attrName>style.visibility</p:attrName>
                                        </p:attrNameLst>
                                      </p:cBhvr>
                                      <p:to>
                                        <p:strVal val="visible"/>
                                      </p:to>
                                    </p:set>
                                    <p:animEffect transition="in" filter="fade">
                                      <p:cBhvr>
                                        <p:cTn id="83" dur="400"/>
                                        <p:tgtEl>
                                          <p:spTgt spid="300"/>
                                        </p:tgtEl>
                                      </p:cBhvr>
                                    </p:animEffect>
                                  </p:childTnLst>
                                </p:cTn>
                              </p:par>
                              <p:par>
                                <p:cTn id="84" presetID="10" presetClass="entr" presetSubtype="0" fill="hold" nodeType="withEffect">
                                  <p:stCondLst>
                                    <p:cond delay="0"/>
                                  </p:stCondLst>
                                  <p:childTnLst>
                                    <p:set>
                                      <p:cBhvr>
                                        <p:cTn id="85" dur="1" fill="hold">
                                          <p:stCondLst>
                                            <p:cond delay="0"/>
                                          </p:stCondLst>
                                        </p:cTn>
                                        <p:tgtEl>
                                          <p:spTgt spid="301"/>
                                        </p:tgtEl>
                                        <p:attrNameLst>
                                          <p:attrName>style.visibility</p:attrName>
                                        </p:attrNameLst>
                                      </p:cBhvr>
                                      <p:to>
                                        <p:strVal val="visible"/>
                                      </p:to>
                                    </p:set>
                                    <p:animEffect transition="in" filter="fade">
                                      <p:cBhvr>
                                        <p:cTn id="86"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is architecture?</a:t>
            </a:r>
          </a:p>
        </p:txBody>
      </p:sp>
      <p:sp>
        <p:nvSpPr>
          <p:cNvPr id="3" name="Slide Number Placeholder 2"/>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How should one acceptable system</a:t>
            </a:r>
            <a:br>
              <a:rPr lang="en-US" sz="2800"/>
            </a:br>
            <a:r>
              <a:rPr lang="en-US" sz="2800" b="0" i="0" dirty="0">
                <a:solidFill>
                  <a:srgbClr val="555960"/>
                </a:solidFill>
              </a:rPr>
              <a:t>be organized?</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8525</TotalTime>
  <Words>8514</Words>
  <Application>Microsoft Macintosh PowerPoint</Application>
  <PresentationFormat>On-screen Show (4:3)</PresentationFormat>
  <Paragraphs>915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Choosing among acceptable organizations</vt:lpstr>
      <vt:lpstr>Two architectures. Which one is better?</vt:lpstr>
      <vt:lpstr>The decision matrix says Architecture A wins, 3.95 to 3.70</vt:lpstr>
      <vt:lpstr>First eliminate unacceptable and dominated alternatives</vt:lpstr>
      <vt:lpstr>A real tradeoff requires judgment</vt:lpstr>
      <vt:lpstr>Sometimes the right decision is to “buy” more information</vt:lpstr>
      <vt:lpstr>Patterns capture recurring architectural choices</vt:lpstr>
      <vt:lpstr>Patterns: Pre-canned alternatives and expectations</vt:lpstr>
      <vt:lpstr>Layers: constrain which parts may depend on which</vt:lpstr>
      <vt:lpstr>MVC: separate model, view, and interaction logic</vt:lpstr>
      <vt:lpstr>Repository: organize around shared authoritative state</vt:lpstr>
      <vt:lpstr>Control dependencies across boundaries</vt:lpstr>
      <vt:lpstr>Events: producers need not know their consumers</vt:lpstr>
      <vt:lpstr>How much can we know before we build it?</vt:lpstr>
      <vt:lpstr>An architecture diagram is useful only if it answers a question</vt:lpstr>
      <vt:lpstr>Some claims require less betting than others</vt:lpstr>
      <vt:lpstr>Can this change remain local?</vt:lpstr>
      <vt:lpstr>What sets the latency floor?</vt:lpstr>
      <vt:lpstr>What happens when architectural evidence gets cheap?</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345</cp:revision>
  <dcterms:created xsi:type="dcterms:W3CDTF">2020-02-21T23:00:33Z</dcterms:created>
  <dcterms:modified xsi:type="dcterms:W3CDTF">2026-09-11T20:48:14Z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