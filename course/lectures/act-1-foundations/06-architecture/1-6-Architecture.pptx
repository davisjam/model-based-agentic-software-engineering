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762" r:id="rId4"/>
    <p:sldId id="761" r:id="rId5"/>
    <p:sldId id="751" r:id="rId6"/>
    <p:sldId id="763" r:id="rId36"/>
    <p:sldId id="744" r:id="rId7"/>
    <p:sldId id="651" r:id="rId8"/>
    <p:sldId id="746" r:id="rId9"/>
    <p:sldId id="747" r:id="rId10"/>
    <p:sldId id="748" r:id="rId11"/>
    <p:sldId id="749" r:id="rId12"/>
    <p:sldId id="750" r:id="rId13"/>
    <p:sldId id="701" r:id="rId14"/>
    <p:sldId id="752" r:id="rId15"/>
    <p:sldId id="731" r:id="rId16"/>
    <p:sldId id="712" r:id="rId17"/>
    <p:sldId id="713" r:id="rId18"/>
    <p:sldId id="735" r:id="rId19"/>
    <p:sldId id="753" r:id="rId20"/>
    <p:sldId id="720" r:id="rId21"/>
    <p:sldId id="754" r:id="rId22"/>
    <p:sldId id="755" r:id="rId23"/>
    <p:sldId id="638" r:id="rId24"/>
    <p:sldId id="756" r:id="rId25"/>
    <p:sldId id="740" r:id="rId26"/>
    <p:sldId id="759" r:id="rId27"/>
    <p:sldId id="757" r:id="rId28"/>
    <p:sldId id="739"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6" Type="http://schemas.openxmlformats.org/officeDocument/2006/relationships/slide" Target="slides/slide30.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Relationships xmlns="http://schemas.openxmlformats.org/package/2006/relationships">
  <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consider one acceptable realization and ask how it should be organized.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architecture can support, constrain, or frustrate latency, security, changeability, and behavior under failure.</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expectation based on prior engineering experience. Useful evidence, but substantial betting remains.</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dependency model shows the anticipated change staying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identifies the modeled critical path, and decomposition is a candidate change you can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the modeled critical path is A → B → F, 120 ms. Paths that cannot exceed that value do not determine this model's critical-path latency.</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Given the dependencies and latency assumptions represented here, the model predicts a critical-path latency of 120 milliseconds. The organization has made that path unavoidable unless we change the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the spectrum we just built: a quantitative prediction from an architectural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Think about a building. The architect need not specify the exact plumbing fittings inside this wall. But the architecture has already made consequential decisions: where the wall goes, how thick it is, which spaces may be penetrated, perhaps where the service chase runs.</a:t>
            </a:r>
          </a:p>
          <a:p>
            <a:endParaRPr dirty="0"/>
          </a:p>
          <a:p>
            <a:r>
              <a:rPr dirty="0"/>
              <a:t>Those choices do not determine the plumbing design. They create the possibilities and constraints within which the plumbing designer works.</a:t>
            </a:r>
          </a:p>
          <a:p>
            <a:endParaRPr dirty="0"/>
          </a:p>
          <a:p>
            <a:r>
              <a:rPr dirty="0"/>
              <a:t>Software architecture does the same thing. A boundary, interface, deployment decision, or interaction rule leaves many implementations possible, but it changes which implementations are easy, difficult, or impossible.</a:t>
            </a:r>
          </a:p>
          <a:p>
            <a:endParaRPr dirty="0"/>
          </a:p>
          <a:p>
            <a:r>
              <a:rPr dirty="0"/>
              <a:t>That is why architecture matters before we open the boxes and design their internals.</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Relationships xmlns="http://schemas.openxmlformats.org/package/2006/relationships">
  <Relationship Id="rId2" Type="http://schemas.openxmlformats.org/officeDocument/2006/relationships/notesSlide" Target="../notesSlides/notesSlide30.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In specification we separate obligations. 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classify</a:t>
            </a:r>
          </a:p>
        </p:txBody>
      </p:sp>
      <p:sp>
        <p:nvSpPr>
          <p:cNvPr id="75" name="SchHdr"/>
          <p:cNvSpPr/>
          <p:nvPr/>
        </p:nvSpPr>
        <p:spPr>
          <a:xfrm>
            <a:off x="917000" y="5270000"/>
            <a:ext cx="1500000" cy="330000"/>
          </a:xfrm>
          <a:prstGeom prst="rect">
            <a:avLst/>
          </a:prstGeom>
          <a:solidFill>
            <a:srgbClr val="8E6F3E"/>
          </a:solidFill>
          <a:ln w="15875">
            <a:solidFill>
              <a:srgbClr val="8E6F3E"/>
            </a:solidFill>
          </a:ln>
        </p:spPr>
        <p:txBody>
          <a:bodyPr wrap="square" lIns="54864" tIns="27432" rIns="54864" bIns="27432" anchor="ctr">
            <a:normAutofit/>
          </a:bodyPr>
          <a:lstStyle/>
          <a:p>
            <a:pPr algn="ctr">
              <a:buNone/>
            </a:pPr>
            <a:r>
              <a:rPr lang="en-US" sz="1200" b="1" i="0" dirty="0">
                <a:solidFill>
                  <a:srgbClr val="FFFFFF"/>
                </a:solidFill>
              </a:rPr>
              <a:t>NIGHT SUMMARY</a:t>
            </a:r>
          </a:p>
        </p:txBody>
      </p:sp>
      <p:sp>
        <p:nvSpPr>
          <p:cNvPr id="76" name="SchR1"/>
          <p:cNvSpPr/>
          <p:nvPr/>
        </p:nvSpPr>
        <p:spPr>
          <a:xfrm>
            <a:off x="917000" y="560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date · score</a:t>
            </a:r>
          </a:p>
        </p:txBody>
      </p:sp>
      <p:sp>
        <p:nvSpPr>
          <p:cNvPr id="77" name="SchR2"/>
          <p:cNvSpPr/>
          <p:nvPr/>
        </p:nvSpPr>
        <p:spPr>
          <a:xfrm>
            <a:off x="917000" y="593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a:bodyPr>
          <a:lstStyle/>
          <a:p>
            <a:pPr algn="ctr">
              <a:buNone/>
            </a:pPr>
            <a:r>
              <a:rPr lang="en-US" sz="1400"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2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does it mean to say that a</a:t>
            </a:r>
          </a:p>
          <a:p>
            <a:pPr algn="ctr">
              <a:buNone/>
            </a:pPr>
            <a:r>
              <a:rPr lang="en-US" sz="2800" b="0" i="0" dirty="0">
                <a:solidFill>
                  <a:srgbClr val="555960"/>
                </a:solidFill>
              </a:rPr>
              <a:t>software system is “organized”?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00"/>
            <a:ext cx="0" cy="360000"/>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060000"/>
            <a:ext cx="7772400" cy="360000"/>
          </a:xfrm>
          <a:prstGeom prst="rect">
            <a:avLst/>
          </a:prstGeom>
          <a:noFill/>
          <a:ln>
            <a:noFill/>
          </a:ln>
        </p:spPr>
        <p:txBody>
          <a:bodyPr wrap="square" lIns="0" tIns="0" rIns="0" bIns="0" anchor="t">
            <a:normAutofit lnSpcReduction="10000"/>
          </a:bodyPr>
          <a:lstStyle/>
          <a:p>
            <a:pPr algn="ctr">
              <a:buNone/>
            </a:pPr>
            <a:r>
              <a:rPr lang="en-US" sz="2600" b="0" i="1" dirty="0">
                <a:solidFill>
                  <a:srgbClr val="000000"/>
                </a:solidFill>
              </a:rPr>
              <a:t>Architecture: organizing one acceptable realization</a:t>
            </a:r>
          </a:p>
        </p:txBody>
      </p:sp>
      <p:sp>
        <p:nvSpPr>
          <p:cNvPr id="9" name="ArchDefStrip"/>
          <p:cNvSpPr/>
          <p:nvPr/>
        </p:nvSpPr>
        <p:spPr>
          <a:xfrm>
            <a:off x="2000000" y="6440000"/>
            <a:ext cx="5144000" cy="300000"/>
          </a:xfrm>
          <a:prstGeom prst="rect">
            <a:avLst/>
          </a:prstGeom>
          <a:solidFill>
            <a:srgbClr val="F5F0E6"/>
          </a:solidFill>
          <a:ln>
            <a:noFill/>
          </a:ln>
        </p:spPr>
        <p:txBody>
          <a:bodyPr wrap="square" lIns="54864" tIns="27432" rIns="54864" bIns="27432" anchor="ctr">
            <a:normAutofit/>
          </a:bodyPr>
          <a:lstStyle/>
          <a:p>
            <a:pPr algn="ctr">
              <a:buNone/>
            </a:pPr>
            <a:r>
              <a:rPr lang="en-US" sz="13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13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architectures?</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WHAT IS</a:t>
            </a:r>
          </a:p>
          <a:p>
            <a:pPr algn="ctr">
              <a:spcBef>
                <a:spcPts val="300"/>
              </a:spcBef>
              <a:buNone/>
            </a:pPr>
            <a:r>
              <a:rPr lang="en-US" sz="12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200" b="1" i="0" dirty="0">
                <a:solidFill>
                  <a:srgbClr val="B23B3B"/>
                </a:solidFill>
              </a:rPr>
              <a:t>WHY MAY COST</a:t>
            </a:r>
          </a:p>
          <a:p>
            <a:pPr algn="ctr">
              <a:spcBef>
                <a:spcPts val="300"/>
              </a:spcBef>
              <a:buNone/>
            </a:pPr>
            <a:r>
              <a:rPr lang="en-US" sz="1200" b="1" i="0" dirty="0">
                <a:solidFill>
                  <a:srgbClr val="B23B3B"/>
                </a:solidFill>
              </a:rPr>
              <a:t>COMPENSATE FOR</a:t>
            </a:r>
          </a:p>
          <a:p>
            <a:pPr algn="ctr">
              <a:spcBef>
                <a:spcPts val="300"/>
              </a:spcBef>
              <a:buNone/>
            </a:pPr>
            <a:r>
              <a:rPr lang="en-US" sz="12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625000" y="34062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a:p>
            <a:endParaRPr lang="en-US"/>
          </a:p>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500000"/>
            <a:ext cx="2700000" cy="2700000"/>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p:nvPr/>
        </p:nvCxnSpPr>
        <p:spPr>
          <a:xfrm>
            <a:off x="3300000" y="4200000"/>
            <a:ext cx="0" cy="250000"/>
          </a:xfrm>
          <a:prstGeom prst="line">
            <a:avLst/>
          </a:prstGeom>
          <a:ln w="43720">
            <a:solidFill>
              <a:srgbClr val="8E6F3E"/>
            </a:solidFill>
            <a:tailEnd type="triangle" w="med" len="med"/>
          </a:ln>
        </p:spPr>
      </p:cxnSp>
      <p:sp>
        <p:nvSpPr>
          <p:cNvPr id="104" name="NoLbl"/>
          <p:cNvSpPr txBox="1"/>
          <p:nvPr/>
        </p:nvSpPr>
        <p:spPr>
          <a:xfrm>
            <a:off x="3390000" y="418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fontScale="92500" lnSpcReduction="20000"/>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49999"/>
            <a:ext cx="7772400" cy="1589573"/>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priors about their consequences from use in other contexts</a:t>
            </a:r>
          </a:p>
          <a:p>
            <a:pPr algn="ctr">
              <a:buNone/>
            </a:pPr>
            <a:endParaRPr lang="en-US" sz="2400" b="0" i="1" dirty="0">
              <a:solidFill>
                <a:srgbClr val="000000"/>
              </a:solidFill>
            </a:endParaRPr>
          </a:p>
          <a:p>
            <a:pPr algn="ctr">
              <a:buNone/>
            </a:pPr>
            <a:r>
              <a:rPr lang="en-US" sz="2400" b="0" i="1" dirty="0">
                <a:solidFill>
                  <a:srgbClr val="000000"/>
                </a:solidFill>
              </a:rPr>
              <a:t>(though not guarantees in THIS context)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8509043" cy="638175"/>
          </a:xfrm>
        </p:spPr>
        <p:txBody>
          <a:bodyPr>
            <a:normAutofit fontScale="90000"/>
          </a:bodyPr>
          <a:lstStyle/>
          <a:p>
            <a:pPr algn="l">
              <a:buNone/>
              <a:defRPr b="0"/>
            </a:pPr>
            <a:r>
              <a:rPr lang="en-US" sz="2800" b="0" i="0" dirty="0">
                <a:solidFill>
                  <a:srgbClr val="000000"/>
                </a:solidFill>
              </a:rPr>
              <a:t>Shall we layer communication paths? How strictly?</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fontScale="92500"/>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lnSpcReduction="10000"/>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lnSpcReduction="10000"/>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6852" cy="638175"/>
          </a:xfrm>
        </p:spPr>
        <p:txBody>
          <a:bodyPr>
            <a:normAutofit fontScale="90000"/>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square" lIns="0" tIns="0" rIns="0" bIns="0" anchor="t">
            <a:normAutofit fontScale="70000" lnSpcReduction="20000"/>
          </a:bodyPr>
          <a:lstStyle/>
          <a:p>
            <a:pPr algn="ctr">
              <a:buNone/>
            </a:pPr>
            <a:r>
              <a:rPr lang="en-US" sz="20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fontScale="85000" lnSpcReduction="10000"/>
          </a:bodyPr>
          <a:lstStyle/>
          <a:p>
            <a:pPr algn="l">
              <a:buNone/>
            </a:pPr>
            <a:r>
              <a:rPr lang="en-US" sz="2000" b="1" i="0" dirty="0">
                <a:solidFill>
                  <a:srgbClr val="5C4826"/>
                </a:solidFill>
              </a:rPr>
              <a:t>buys — </a:t>
            </a:r>
            <a:r>
              <a:rPr lang="en-US" sz="2000" b="0" i="0" dirty="0">
                <a:solidFill>
                  <a:srgbClr val="000000"/>
                </a:solidFill>
              </a:rPr>
              <a:t>explicit flow, local stage dependencies, incremental processing</a:t>
            </a:r>
          </a:p>
          <a:p>
            <a:pPr algn="l">
              <a:spcBef>
                <a:spcPts val="600"/>
              </a:spcBef>
              <a:buNone/>
            </a:pPr>
            <a:r>
              <a:rPr lang="en-US" sz="2000" b="1" i="0" dirty="0">
                <a:solidFill>
                  <a:srgbClr val="555960"/>
                </a:solidFill>
              </a:rPr>
              <a:t>costs — </a:t>
            </a:r>
            <a:r>
              <a:rPr lang="en-US" sz="20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buys — </a:t>
            </a:r>
            <a:r>
              <a:rPr lang="en-US" sz="2000" b="0" i="0" dirty="0">
                <a:solidFill>
                  <a:srgbClr val="000000"/>
                </a:solidFill>
              </a:rPr>
              <a:t>authoritative shared state, integration</a:t>
            </a:r>
          </a:p>
          <a:p>
            <a:pPr algn="l">
              <a:spcBef>
                <a:spcPts val="600"/>
              </a:spcBef>
              <a:buNone/>
            </a:pPr>
            <a:r>
              <a:rPr lang="en-US" sz="2000" b="1" i="0" dirty="0">
                <a:solidFill>
                  <a:srgbClr val="555960"/>
                </a:solidFill>
              </a:rPr>
              <a:t>costs — </a:t>
            </a:r>
            <a:r>
              <a:rPr lang="en-US" sz="20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fontScale="92500"/>
          </a:bodyPr>
          <a:lstStyle/>
          <a:p>
            <a:pPr algn="l">
              <a:buNone/>
            </a:pPr>
            <a:r>
              <a:rPr lang="en-US" sz="20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immediate coordination, clear request/response semantics</a:t>
            </a:r>
          </a:p>
          <a:p>
            <a:pPr algn="l">
              <a:spcBef>
                <a:spcPts val="600"/>
              </a:spcBef>
              <a:buNone/>
            </a:pPr>
            <a:r>
              <a:rPr lang="en-US" sz="2000" b="1" i="0" dirty="0">
                <a:solidFill>
                  <a:srgbClr val="555960"/>
                </a:solidFill>
              </a:rPr>
              <a:t>costs — </a:t>
            </a:r>
            <a:r>
              <a:rPr lang="en-US" sz="20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fontScale="92500" lnSpcReduction="10000"/>
          </a:bodyPr>
          <a:lstStyle/>
          <a:p>
            <a:pPr algn="l">
              <a:buNone/>
            </a:pPr>
            <a:r>
              <a:rPr lang="en-US" sz="2000" b="1" i="0" dirty="0">
                <a:solidFill>
                  <a:srgbClr val="5C4826"/>
                </a:solidFill>
              </a:rPr>
              <a:t>buys — </a:t>
            </a:r>
            <a:r>
              <a:rPr lang="en-US" sz="2000" b="0" i="0" dirty="0">
                <a:solidFill>
                  <a:srgbClr val="000000"/>
                </a:solidFill>
              </a:rPr>
              <a:t>producer/consumer decoupling; adding consumers is easy</a:t>
            </a:r>
          </a:p>
          <a:p>
            <a:pPr algn="l">
              <a:spcBef>
                <a:spcPts val="600"/>
              </a:spcBef>
              <a:buNone/>
            </a:pPr>
            <a:r>
              <a:rPr lang="en-US" sz="2000" b="1" i="0" dirty="0">
                <a:solidFill>
                  <a:srgbClr val="555960"/>
                </a:solidFill>
              </a:rPr>
              <a:t>costs — </a:t>
            </a:r>
            <a:r>
              <a:rPr lang="en-US" sz="20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10000"/>
          </a:bodyPr>
          <a:lstStyle/>
          <a:p>
            <a:pPr algn="r">
              <a:buNone/>
            </a:pPr>
            <a:r>
              <a:rPr lang="en-US" sz="20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2852" cy="638175"/>
          </a:xfrm>
        </p:spPr>
        <p:txBody>
          <a:bodyPr>
            <a:normAutofit fontScale="90000"/>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fontScale="92500" lnSpcReduction="10000"/>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fontScale="85000" lnSpcReduction="10000"/>
          </a:bodyPr>
          <a:lstStyle/>
          <a:p>
            <a:pPr algn="ctr">
              <a:buNone/>
            </a:pPr>
            <a:r>
              <a:rPr lang="en-US" sz="20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10000"/>
          </a:bodyPr>
          <a:lstStyle/>
          <a:p>
            <a:pPr algn="r">
              <a:buNone/>
            </a:pPr>
            <a:r>
              <a:rPr lang="en-US" sz="20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fontScale="92500"/>
          </a:bodyPr>
          <a:lstStyle/>
          <a:p>
            <a:pPr algn="l">
              <a:buNone/>
            </a:pPr>
            <a:r>
              <a:rPr lang="en-US" sz="20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fontScale="85000" lnSpcReduction="10000"/>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give us expectations, not measurements</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graphicFrame>
        <p:nvGraphicFramePr>
          <p:cNvPr id="150" name="ComparisonTable"/>
          <p:cNvGraphicFramePr>
            <a:graphicFrameLocks noGrp="1"/>
          </p:cNvGraphicFramePr>
          <p:nvPr>
            <p:extLst>
              <p:ext uri="{D42A27DB-BD31-4B8C-83A1-F6EECF244321}">
                <p14:modId xmlns:p14="http://schemas.microsoft.com/office/powerpoint/2010/main" val="2967546854"/>
              </p:ext>
            </p:extLst>
          </p:nvPr>
        </p:nvGraphicFramePr>
        <p:xfrm>
          <a:off x="286992" y="1413301"/>
          <a:ext cx="8570016" cy="3580000"/>
        </p:xfrm>
        <a:graphic>
          <a:graphicData uri="http://schemas.openxmlformats.org/drawingml/2006/table">
            <a:tbl>
              <a:tblPr firstRow="1">
                <a:tableStyleId>{5C22544A-7EE6-4342-B048-85BDC9FD1C3A}</a:tableStyleId>
              </a:tblPr>
              <a:tblGrid>
                <a:gridCol w="2646291">
                  <a:extLst>
                    <a:ext uri="{9D8B030D-6E8A-4147-A177-3AD203B41FA5}">
                      <a16:colId xmlns:a16="http://schemas.microsoft.com/office/drawing/2014/main" val="20000"/>
                    </a:ext>
                  </a:extLst>
                </a:gridCol>
                <a:gridCol w="1819326">
                  <a:extLst>
                    <a:ext uri="{9D8B030D-6E8A-4147-A177-3AD203B41FA5}">
                      <a16:colId xmlns:a16="http://schemas.microsoft.com/office/drawing/2014/main" val="20001"/>
                    </a:ext>
                  </a:extLst>
                </a:gridCol>
                <a:gridCol w="1819326">
                  <a:extLst>
                    <a:ext uri="{9D8B030D-6E8A-4147-A177-3AD203B41FA5}">
                      <a16:colId xmlns:a16="http://schemas.microsoft.com/office/drawing/2014/main" val="20002"/>
                    </a:ext>
                  </a:extLst>
                </a:gridCol>
                <a:gridCol w="2285073">
                  <a:extLst>
                    <a:ext uri="{9D8B030D-6E8A-4147-A177-3AD203B41FA5}">
                      <a16:colId xmlns:a16="http://schemas.microsoft.com/office/drawing/2014/main" val="20003"/>
                    </a:ext>
                  </a:extLst>
                </a:gridCol>
              </a:tblGrid>
              <a:tr h="460000">
                <a:tc>
                  <a:txBody>
                    <a:bodyPr/>
                    <a:lstStyle/>
                    <a:p>
                      <a:pPr algn="l">
                        <a:buNone/>
                      </a:pPr>
                      <a:r>
                        <a:rPr lang="en-US" sz="1600" b="1" i="0" dirty="0">
                          <a:solidFill>
                            <a:srgbClr val="FFFFFF"/>
                          </a:solidFill>
                        </a:rPr>
                        <a:t>RECURRING PROBLEM</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A</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B</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WHAT IS TRADED</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extLst>
                  <a:ext uri="{0D108BD9-81ED-4DB2-BD59-A6C34878D82A}">
                    <a16:rowId xmlns:a16="http://schemas.microsoft.com/office/drawing/2014/main" val="10000"/>
                  </a:ext>
                </a:extLst>
              </a:tr>
              <a:tr h="780000">
                <a:tc>
                  <a:txBody>
                    <a:bodyPr/>
                    <a:lstStyle/>
                    <a:p>
                      <a:pPr algn="l">
                        <a:buNone/>
                      </a:pPr>
                      <a:r>
                        <a:rPr lang="en-US" sz="1800" b="1" i="0" dirty="0">
                          <a:solidFill>
                            <a:srgbClr val="5C4826"/>
                          </a:solidFill>
                        </a:rPr>
                        <a:t>Abstraction boundaries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Strict layering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Deliberate crossing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isolation ↔ capability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1"/>
                  </a:ext>
                </a:extLst>
              </a:tr>
              <a:tr h="780000">
                <a:tc>
                  <a:txBody>
                    <a:bodyPr/>
                    <a:lstStyle/>
                    <a:p>
                      <a:pPr algn="l">
                        <a:buNone/>
                      </a:pPr>
                      <a:r>
                        <a:rPr lang="en-US" sz="1800" b="1" i="0" dirty="0">
                          <a:solidFill>
                            <a:srgbClr val="5C4826"/>
                          </a:solidFill>
                        </a:rPr>
                        <a:t>State organization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Pipeline</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Repository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local flow ↔ shared consistency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2"/>
                  </a:ext>
                </a:extLst>
              </a:tr>
              <a:tr h="780000">
                <a:tc>
                  <a:txBody>
                    <a:bodyPr/>
                    <a:lstStyle/>
                    <a:p>
                      <a:pPr algn="l">
                        <a:buNone/>
                      </a:pPr>
                      <a:r>
                        <a:rPr lang="en-US" sz="1800" b="1" i="0" dirty="0">
                          <a:solidFill>
                            <a:srgbClr val="5C4826"/>
                          </a:solidFill>
                        </a:rPr>
                        <a:t>Communication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RPC</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Event messaging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coordination ↔ decoupling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3"/>
                  </a:ext>
                </a:extLst>
              </a:tr>
              <a:tr h="780000">
                <a:tc>
                  <a:txBody>
                    <a:bodyPr/>
                    <a:lstStyle/>
                    <a:p>
                      <a:pPr algn="l">
                        <a:buNone/>
                      </a:pPr>
                      <a:r>
                        <a:rPr lang="en-US" sz="1800" b="1" i="0" dirty="0">
                          <a:solidFill>
                            <a:srgbClr val="5C4826"/>
                          </a:solidFill>
                        </a:rPr>
                        <a:t>Infrastructure dependencies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Direct dependency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Ports &amp; adapters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directness ↔ infrastructure isolation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We learn wha</a:t>
            </a:r>
            <a:r>
              <a:rPr lang="en-US" sz="2400" i="1" dirty="0">
                <a:solidFill>
                  <a:srgbClr val="000000"/>
                </a:solidFill>
              </a:rPr>
              <a:t>t TENDS to happen…</a:t>
            </a:r>
          </a:p>
          <a:p>
            <a:pPr algn="ctr">
              <a:buNone/>
            </a:pPr>
            <a:r>
              <a:rPr lang="en-US" sz="2400" b="0" i="1" dirty="0">
                <a:solidFill>
                  <a:srgbClr val="000000"/>
                </a:solidFill>
              </a:rPr>
              <a:t>Not what WILL happen in our context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2352" y="2239645"/>
            <a:ext cx="8279296" cy="914400"/>
          </a:xfrm>
        </p:spPr>
        <p:txBody>
          <a:bodyPr>
            <a:normAutofit fontScale="90000"/>
          </a:bodyPr>
          <a:lstStyle/>
          <a:p>
            <a:pPr algn="ctr">
              <a:buNone/>
              <a:defRPr b="0"/>
            </a:pPr>
            <a:r>
              <a:rPr lang="en-US" sz="3600" b="0" i="0" dirty="0">
                <a:solidFill>
                  <a:srgbClr val="000000"/>
                </a:solidFill>
              </a:rPr>
              <a:t>How much can we know before we build?</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09" y="99809"/>
            <a:ext cx="9423441" cy="638175"/>
          </a:xfrm>
        </p:spPr>
        <p:txBody>
          <a:bodyPr>
            <a:normAutofit fontScale="90000"/>
          </a:bodyPr>
          <a:lstStyle/>
          <a:p>
            <a:pPr algn="l">
              <a:buNone/>
              <a:defRPr b="0"/>
            </a:pPr>
            <a:r>
              <a:rPr lang="en-US" sz="2600" b="0" i="0" dirty="0">
                <a:solidFill>
                  <a:srgbClr val="000000"/>
                </a:solidFill>
              </a:rPr>
              <a:t>An architecture model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model</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i="1" dirty="0">
                <a:solidFill>
                  <a:srgbClr val="555960"/>
                </a:solidFill>
              </a:rPr>
              <a:t>f</a:t>
            </a:r>
            <a:r>
              <a:rPr lang="en-US" sz="2000" b="0" i="1" dirty="0">
                <a:solidFill>
                  <a:srgbClr val="555960"/>
                </a:solidFill>
              </a:rPr>
              <a:t>low model</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model</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9224661" cy="638175"/>
          </a:xfrm>
        </p:spPr>
        <p:txBody>
          <a:bodyPr>
            <a:normAutofit fontScale="90000"/>
          </a:bodyPr>
          <a:lstStyle/>
          <a:p>
            <a:pPr algn="l">
              <a:buNone/>
              <a:defRPr b="0"/>
            </a:pPr>
            <a:r>
              <a:rPr lang="en-US" sz="2800" b="0" i="0" dirty="0">
                <a:solidFill>
                  <a:srgbClr val="000000"/>
                </a:solidFill>
              </a:rPr>
              <a:t>How strongly can we support an architectural claim?</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a:bodyPr>
          <a:lstStyle/>
          <a:p>
            <a:pPr algn="l">
              <a:buNone/>
            </a:pPr>
            <a:r>
              <a:rPr lang="en-US" sz="2000" b="1" i="0" dirty="0">
                <a:solidFill>
                  <a:srgbClr val="5C4826"/>
                </a:solidFill>
              </a:rPr>
              <a:t>Weaker</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a:bodyPr>
          <a:lstStyle/>
          <a:p>
            <a:pPr algn="r">
              <a:buNone/>
            </a:pPr>
            <a:r>
              <a:rPr lang="en-US" sz="2000" b="1" i="0" dirty="0">
                <a:solidFill>
                  <a:srgbClr val="5C4826"/>
                </a:solidFill>
              </a:rPr>
              <a:t>Stronger</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a:p>
            <a:pPr algn="ctr">
              <a:spcBef>
                <a:spcPts val="262"/>
              </a:spcBef>
              <a:buNone/>
            </a:pPr>
            <a:r>
              <a:rPr lang="en-US" sz="2100" b="1" dirty="0">
                <a:solidFill>
                  <a:srgbClr val="8E6F3E"/>
                </a:solidFill>
              </a:rPr>
              <a:t>(Pattern)</a:t>
            </a:r>
            <a:endParaRPr lang="en-US" sz="2100" b="1" i="0" dirty="0">
              <a:solidFill>
                <a:srgbClr val="8E6F3E"/>
              </a:solidFill>
            </a:endParaRP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a:p>
            <a:pPr algn="ctr">
              <a:spcBef>
                <a:spcPts val="262"/>
              </a:spcBef>
              <a:buNone/>
            </a:pPr>
            <a:r>
              <a:rPr lang="en-US" sz="2100" b="1" dirty="0">
                <a:solidFill>
                  <a:srgbClr val="8E6F3E"/>
                </a:solidFill>
              </a:rPr>
              <a:t>(Analytic model)</a:t>
            </a:r>
            <a:endParaRPr lang="en-US" sz="2100" b="1" i="0" dirty="0">
              <a:solidFill>
                <a:srgbClr val="8E6F3E"/>
              </a:solidFill>
            </a:endParaRP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a:p>
            <a:pPr algn="ctr">
              <a:spcBef>
                <a:spcPts val="262"/>
              </a:spcBef>
              <a:buNone/>
            </a:pPr>
            <a:r>
              <a:rPr lang="en-US" sz="2100" b="1" dirty="0">
                <a:solidFill>
                  <a:srgbClr val="8E6F3E"/>
                </a:solidFill>
              </a:rPr>
              <a:t>(Quant. model)</a:t>
            </a:r>
            <a:endParaRPr lang="en-US" sz="2100" b="1" i="0" dirty="0">
              <a:solidFill>
                <a:srgbClr val="8E6F3E"/>
              </a:solidFill>
            </a:endParaRP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a:p>
            <a:pPr algn="ctr">
              <a:spcBef>
                <a:spcPts val="262"/>
              </a:spcBef>
              <a:buNone/>
            </a:pPr>
            <a:r>
              <a:rPr lang="en-US" sz="2100" b="1" dirty="0">
                <a:solidFill>
                  <a:srgbClr val="8E6F3E"/>
                </a:solidFill>
              </a:rPr>
              <a:t>(Measurement)</a:t>
            </a:r>
            <a:endParaRPr lang="en-US" sz="2100" b="1" i="0" dirty="0">
              <a:solidFill>
                <a:srgbClr val="8E6F3E"/>
              </a:solidFill>
            </a:endParaRP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913" y="136525"/>
            <a:ext cx="9304174" cy="638175"/>
          </a:xfrm>
        </p:spPr>
        <p:txBody>
          <a:bodyPr>
            <a:normAutofit fontScale="90000"/>
          </a:bodyPr>
          <a:lstStyle/>
          <a:p>
            <a:pPr algn="l">
              <a:buNone/>
              <a:defRPr b="0"/>
            </a:pPr>
            <a:r>
              <a:rPr lang="en-US" sz="2800" b="0" i="0" dirty="0">
                <a:solidFill>
                  <a:srgbClr val="000000"/>
                </a:solidFill>
              </a:rPr>
              <a:t>What happens when architectural evidence gets cheaper?</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return w/in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xEl>
                                              <p:pRg st="0" end="0"/>
                                            </p:txEl>
                                          </p:spTgt>
                                        </p:tgtEl>
                                        <p:attrNameLst>
                                          <p:attrName>style.visibility</p:attrName>
                                        </p:attrNameLst>
                                      </p:cBhvr>
                                      <p:to>
                                        <p:strVal val="visible"/>
                                      </p:to>
                                    </p:set>
                                    <p:animEffect transition="in" filter="fade">
                                      <p:cBhvr>
                                        <p:cTn id="7" dur="400"/>
                                        <p:tgtEl>
                                          <p:spTgt spid="6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1">
                                            <p:txEl>
                                              <p:pRg st="1" end="1"/>
                                            </p:txEl>
                                          </p:spTgt>
                                        </p:tgtEl>
                                        <p:attrNameLst>
                                          <p:attrName>style.visibility</p:attrName>
                                        </p:attrNameLst>
                                      </p:cBhvr>
                                      <p:to>
                                        <p:strVal val="visible"/>
                                      </p:to>
                                    </p:set>
                                    <p:animEffect transition="in" filter="fade">
                                      <p:cBhvr>
                                        <p:cTn id="10" dur="400"/>
                                        <p:tgtEl>
                                          <p:spTgt spid="61">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1">
                                            <p:txEl>
                                              <p:pRg st="2" end="2"/>
                                            </p:txEl>
                                          </p:spTgt>
                                        </p:tgtEl>
                                        <p:attrNameLst>
                                          <p:attrName>style.visibility</p:attrName>
                                        </p:attrNameLst>
                                      </p:cBhvr>
                                      <p:to>
                                        <p:strVal val="visible"/>
                                      </p:to>
                                    </p:set>
                                    <p:animEffect transition="in" filter="fade">
                                      <p:cBhvr>
                                        <p:cTn id="13" dur="400"/>
                                        <p:tgtEl>
                                          <p:spTgt spid="61">
                                            <p:txEl>
                                              <p:pRg st="2" end="2"/>
                                            </p:txEl>
                                          </p:spTgt>
                                        </p:tgtEl>
                                      </p:cBhvr>
                                    </p:animEffect>
                                  </p:childTnLst>
                                </p:cTn>
                              </p:par>
                              <p:par>
                                <p:cTn id="14" presetID="1" presetClass="entr" presetSubtype="0" fill="hold" grpId="0" nodeType="withEffect">
                                  <p:stCondLst>
                                    <p:cond delay="0"/>
                                  </p:stCondLst>
                                  <p:childTnLst>
                                    <p:set>
                                      <p:cBhvr>
                                        <p:cTn id="15" dur="1" fill="hold">
                                          <p:stCondLst>
                                            <p:cond delay="0"/>
                                          </p:stCondLst>
                                        </p:cTn>
                                        <p:tgtEl>
                                          <p:spTgt spid="61">
                                            <p:bg/>
                                          </p:spTgt>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61">
                                            <p:txEl>
                                              <p:pRg st="0" end="0"/>
                                            </p:txEl>
                                          </p:spTgt>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61">
                                            <p:txEl>
                                              <p:pRg st="1" end="1"/>
                                            </p:txEl>
                                          </p:spTgt>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6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build="allAtOnce"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28</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a:t>
            </a:r>
            <a:r>
              <a:rPr lang="en-US" sz="2200" b="0" i="0" dirty="0">
                <a:solidFill>
                  <a:srgbClr val="000000"/>
                </a:solidFill>
              </a:rPr>
              <a:t>Is any candidate Pareto-dominated?</a:t>
            </a:r>
          </a:p>
          <a:p>
            <a:pPr algn="l">
              <a:spcBef>
                <a:spcPts val="150"/>
              </a:spcBef>
              <a:buNone/>
            </a:pPr>
            <a:r>
              <a:rPr lang="en-US" sz="2200" b="1" i="0" dirty="0">
                <a:solidFill>
                  <a:srgbClr val="8E6F3E"/>
                </a:solidFill>
              </a:rPr>
              <a:t>·  </a:t>
            </a:r>
            <a:r>
              <a:rPr lang="en-US" sz="2200" b="0" i="0" dirty="0">
                <a:solidFill>
                  <a:srgbClr val="000000"/>
                </a:solidFill>
              </a:rPr>
              <a:t>What genuine tradeoff remains?</a:t>
            </a:r>
          </a:p>
          <a:p>
            <a:pPr algn="l">
              <a:spcBef>
                <a:spcPts val="150"/>
              </a:spcBef>
              <a:buNone/>
            </a:pPr>
            <a:r>
              <a:rPr lang="en-US" sz="2200" b="1" i="0" dirty="0">
                <a:solidFill>
                  <a:srgbClr val="8E6F3E"/>
                </a:solidFill>
              </a:rPr>
              <a:t>·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creates possibilities and constraints</a:t>
            </a:r>
          </a:p>
        </p:txBody>
      </p:sp>
      <p:sp>
        <p:nvSpPr>
          <p:cNvPr id="3" name="Slide Number Placeholder 2"/>
          <p:cNvSpPr>
            <a:spLocks noGrp="1"/>
          </p:cNvSpPr>
          <p:nvPr>
            <p:ph type="sldNum" sz="quarter" idx="4"/>
          </p:nvPr>
        </p:nvSpPr>
        <p:spPr/>
        <p:txBody>
          <a:bodyPr/>
          <a:lstStyle/>
          <a:p>
            <a:fld id="{4E1D2A6B-8C3F-4A5D-9E7B-2F6C1D8A9B30}" type="slidenum">
              <a:rPr lang="en-US" smtClean="0"/>
              <a:t>30</a:t>
            </a:fld>
            <a:endParaRPr lang="en-US"/>
          </a:p>
        </p:txBody>
      </p:sp>
      <p:sp>
        <p:nvSpPr>
          <p:cNvPr id="100" name="SketchHeader"/>
          <p:cNvSpPr txBox="1"/>
          <p:nvPr/>
        </p:nvSpPr>
        <p:spPr>
          <a:xfrm>
            <a:off x="258318" y="1150000"/>
            <a:ext cx="4116324" cy="30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BUILDING ARCHITECTURE</a:t>
            </a:r>
          </a:p>
        </p:txBody>
      </p:sp>
      <p:sp>
        <p:nvSpPr>
          <p:cNvPr id="101" name="WallLabel"/>
          <p:cNvSpPr txBox="1"/>
          <p:nvPr/>
        </p:nvSpPr>
        <p:spPr>
          <a:xfrm>
            <a:off x="258318" y="1500000"/>
            <a:ext cx="4116324" cy="280000"/>
          </a:xfrm>
          <a:prstGeom prst="rect">
            <a:avLst/>
          </a:prstGeom>
          <a:noFill/>
          <a:ln>
            <a:noFill/>
          </a:ln>
        </p:spPr>
        <p:txBody>
          <a:bodyPr wrap="square" lIns="0" tIns="0" rIns="0" bIns="0" anchor="t">
            <a:normAutofit/>
          </a:bodyPr>
          <a:lstStyle/>
          <a:p>
            <a:pPr algn="ctr">
              <a:buNone/>
            </a:pPr>
            <a:r>
              <a:rPr lang="en-US" sz="1400" b="0" i="1" dirty="0">
                <a:solidFill>
                  <a:srgbClr val="555960"/>
                </a:solidFill>
              </a:rPr>
              <a:t>structural wall</a:t>
            </a:r>
          </a:p>
        </p:txBody>
      </p:sp>
      <p:sp>
        <p:nvSpPr>
          <p:cNvPr id="102" name="WallRect"/>
          <p:cNvSpPr/>
          <p:nvPr/>
        </p:nvSpPr>
        <p:spPr>
          <a:xfrm>
            <a:off x="1366480" y="1850000"/>
            <a:ext cx="1900000" cy="3000000"/>
          </a:xfrm>
          <a:prstGeom prst="rect">
            <a:avLst/>
          </a:prstGeom>
          <a:solidFill>
            <a:srgbClr val="C9B991"/>
          </a:solidFill>
          <a:ln w="19050">
            <a:solidFill>
              <a:srgbClr val="555960"/>
            </a:solidFill>
          </a:ln>
        </p:spPr>
        <p:txBody>
          <a:bodyPr wrap="square" lIns="0" tIns="0" rIns="0" bIns="0" anchor="ctr">
            <a:normAutofit/>
          </a:bodyPr>
          <a:lstStyle/>
          <a:p>
            <a:endParaRPr/>
          </a:p>
        </p:txBody>
      </p:sp>
      <p:sp>
        <p:nvSpPr>
          <p:cNvPr id="103" name="ServiceSpace"/>
          <p:cNvSpPr/>
          <p:nvPr/>
        </p:nvSpPr>
        <p:spPr>
          <a:xfrm>
            <a:off x="1741480" y="2750000"/>
            <a:ext cx="1150000" cy="1200000"/>
          </a:xfrm>
          <a:prstGeom prst="rect">
            <a:avLst/>
          </a:prstGeom>
          <a:solidFill>
            <a:srgbClr val="F5F1E8"/>
          </a:solidFill>
          <a:ln w="12700">
            <a:solidFill>
              <a:srgbClr val="555960"/>
            </a:solidFill>
            <a:prstDash val="dash"/>
          </a:ln>
        </p:spPr>
        <p:txBody>
          <a:bodyPr wrap="square" lIns="27432" tIns="27432" rIns="27432" bIns="27432" anchor="ctr">
            <a:normAutofit/>
          </a:bodyPr>
          <a:lstStyle/>
          <a:p>
            <a:pPr algn="ctr">
              <a:buNone/>
            </a:pPr>
            <a:r>
              <a:rPr lang="en-US" sz="1300" b="0" i="0" dirty="0">
                <a:solidFill>
                  <a:srgbClr val="555960"/>
                </a:solidFill>
              </a:rPr>
              <a:t>service space</a:t>
            </a:r>
          </a:p>
        </p:txBody>
      </p:sp>
      <p:sp>
        <p:nvSpPr>
          <p:cNvPr id="104" name="RoomLeft"/>
          <p:cNvSpPr txBox="1"/>
          <p:nvPr/>
        </p:nvSpPr>
        <p:spPr>
          <a:xfrm>
            <a:off x="258318" y="3175000"/>
            <a:ext cx="1058162" cy="350000"/>
          </a:xfrm>
          <a:prstGeom prst="rect">
            <a:avLst/>
          </a:prstGeom>
          <a:noFill/>
          <a:ln>
            <a:noFill/>
          </a:ln>
        </p:spPr>
        <p:txBody>
          <a:bodyPr wrap="square" lIns="0" tIns="0" rIns="0" bIns="0" anchor="ctr">
            <a:normAutofit/>
          </a:bodyPr>
          <a:lstStyle/>
          <a:p>
            <a:pPr algn="ctr">
              <a:buNone/>
            </a:pPr>
            <a:r>
              <a:rPr lang="en-US" sz="1500" b="0" i="1" dirty="0">
                <a:solidFill>
                  <a:srgbClr val="555960"/>
                </a:solidFill>
              </a:rPr>
              <a:t>room</a:t>
            </a:r>
          </a:p>
        </p:txBody>
      </p:sp>
      <p:sp>
        <p:nvSpPr>
          <p:cNvPr id="105" name="RoomRight"/>
          <p:cNvSpPr txBox="1"/>
          <p:nvPr/>
        </p:nvSpPr>
        <p:spPr>
          <a:xfrm>
            <a:off x="3316480" y="3175000"/>
            <a:ext cx="1058162" cy="350000"/>
          </a:xfrm>
          <a:prstGeom prst="rect">
            <a:avLst/>
          </a:prstGeom>
          <a:noFill/>
          <a:ln>
            <a:noFill/>
          </a:ln>
        </p:spPr>
        <p:txBody>
          <a:bodyPr wrap="square" lIns="0" tIns="0" rIns="0" bIns="0" anchor="ctr">
            <a:normAutofit/>
          </a:bodyPr>
          <a:lstStyle/>
          <a:p>
            <a:pPr algn="ctr">
              <a:buNone/>
            </a:pPr>
            <a:r>
              <a:rPr lang="en-US" sz="1500" b="0" i="1" dirty="0">
                <a:solidFill>
                  <a:srgbClr val="555960"/>
                </a:solidFill>
              </a:rPr>
              <a:t>room</a:t>
            </a:r>
          </a:p>
        </p:txBody>
      </p:sp>
      <p:sp>
        <p:nvSpPr>
          <p:cNvPr id="106" name="SketchCaption"/>
          <p:cNvSpPr txBox="1"/>
          <p:nvPr/>
        </p:nvSpPr>
        <p:spPr>
          <a:xfrm>
            <a:off x="258318" y="5050000"/>
            <a:ext cx="4116324" cy="320000"/>
          </a:xfrm>
          <a:prstGeom prst="rect">
            <a:avLst/>
          </a:prstGeom>
          <a:noFill/>
          <a:ln>
            <a:noFill/>
          </a:ln>
        </p:spPr>
        <p:txBody>
          <a:bodyPr wrap="square" lIns="0" tIns="0" rIns="0" bIns="0" anchor="t">
            <a:normAutofit/>
          </a:bodyPr>
          <a:lstStyle/>
          <a:p>
            <a:pPr algn="ctr">
              <a:buNone/>
            </a:pPr>
            <a:r>
              <a:rPr lang="en-US" sz="1300" b="0" i="1" dirty="0">
                <a:solidFill>
                  <a:srgbClr val="555960"/>
                </a:solidFill>
              </a:rPr>
              <a:t>wall location · available depth · permitted penetrations</a:t>
            </a:r>
          </a:p>
        </p:txBody>
      </p:sp>
      <p:sp>
        <p:nvSpPr>
          <p:cNvPr id="107" name="LineCard1"/>
          <p:cNvSpPr/>
          <p:nvPr/>
        </p:nvSpPr>
        <p:spPr>
          <a:xfrm>
            <a:off x="4769358" y="23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The architecture does not specify the plumbing</a:t>
            </a:r>
          </a:p>
        </p:txBody>
      </p:sp>
      <p:sp>
        <p:nvSpPr>
          <p:cNvPr id="108" name="LineCard2"/>
          <p:cNvSpPr/>
          <p:nvPr/>
        </p:nvSpPr>
        <p:spPr>
          <a:xfrm>
            <a:off x="4769358" y="36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It </a:t>
            </a:r>
            <a:r>
              <a:rPr lang="en-US" sz="1800" b="1" i="0" dirty="0">
                <a:solidFill>
                  <a:srgbClr val="8E6F3E"/>
                </a:solidFill>
              </a:rPr>
              <a:t>DOES</a:t>
            </a:r>
            <a:r>
              <a:rPr lang="en-US" sz="1800" b="0" i="0" dirty="0">
                <a:solidFill>
                  <a:srgbClr val="000000"/>
                </a:solidFill>
              </a:rPr>
              <a:t> constrain where the plumbing can go</a:t>
            </a:r>
          </a:p>
        </p:txBody>
      </p:sp>
      <p:sp>
        <p:nvSpPr>
          <p:cNvPr id="109" name="FooterBand"/>
          <p:cNvSpPr/>
          <p:nvPr/>
        </p:nvSpPr>
        <p:spPr>
          <a:xfrm>
            <a:off x="279400" y="5850000"/>
            <a:ext cx="8585200" cy="610000"/>
          </a:xfrm>
          <a:prstGeom prst="rect">
            <a:avLst/>
          </a:prstGeom>
          <a:solidFill>
            <a:srgbClr val="8E6F3E"/>
          </a:solidFill>
          <a:ln>
            <a:noFill/>
          </a:ln>
        </p:spPr>
        <p:txBody>
          <a:bodyPr wrap="square" lIns="109728" tIns="45720" rIns="109728" bIns="45720" anchor="ctr">
            <a:normAutofit/>
          </a:bodyPr>
          <a:lstStyle/>
          <a:p>
            <a:pPr algn="ctr">
              <a:buNone/>
            </a:pPr>
            <a:r>
              <a:rPr lang="en-US" sz="1600" b="1" i="0" dirty="0">
                <a:solidFill>
                  <a:srgbClr val="FFFFFF"/>
                </a:solidFill>
              </a:rPr>
              <a:t>Architecture creates the space within which later design must work.</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