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29.xml" ContentType="application/vnd.openxmlformats-officedocument.presentationml.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0"/>
  </p:notesMasterIdLst>
  <p:sldIdLst>
    <p:sldId id="517" r:id="rId2"/>
    <p:sldId id="738" r:id="rId3"/>
    <p:sldId id="762" r:id="rId35"/>
    <p:sldId id="761" r:id="rId4"/>
    <p:sldId id="751" r:id="rId5"/>
    <p:sldId id="744" r:id="rId6"/>
    <p:sldId id="651" r:id="rId7"/>
    <p:sldId id="746" r:id="rId8"/>
    <p:sldId id="747" r:id="rId9"/>
    <p:sldId id="748" r:id="rId10"/>
    <p:sldId id="749" r:id="rId11"/>
    <p:sldId id="750" r:id="rId12"/>
    <p:sldId id="701" r:id="rId13"/>
    <p:sldId id="752" r:id="rId14"/>
    <p:sldId id="731" r:id="rId15"/>
    <p:sldId id="712" r:id="rId16"/>
    <p:sldId id="713" r:id="rId17"/>
    <p:sldId id="735" r:id="rId18"/>
    <p:sldId id="753" r:id="rId19"/>
    <p:sldId id="720" r:id="rId20"/>
    <p:sldId id="754" r:id="rId21"/>
    <p:sldId id="755" r:id="rId22"/>
    <p:sldId id="638" r:id="rId23"/>
    <p:sldId id="756" r:id="rId24"/>
    <p:sldId id="740" r:id="rId25"/>
    <p:sldId id="759" r:id="rId26"/>
    <p:sldId id="757" r:id="rId27"/>
    <p:sldId id="739" r:id="rId28"/>
    <p:sldId id="741"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1" autoAdjust="0"/>
    <p:restoredTop sz="56164"/>
  </p:normalViewPr>
  <p:slideViewPr>
    <p:cSldViewPr snapToGrid="0" snapToObjects="1">
      <p:cViewPr varScale="1">
        <p:scale>
          <a:sx n="64" d="100"/>
          <a:sy n="64" d="100"/>
        </p:scale>
        <p:origin x="1944"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 Id="rId35" Type="http://schemas.openxmlformats.org/officeDocument/2006/relationships/slide" Target="slides/slide29.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after the opening problem has made the need for architecture concrete.</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ONE MACHINE click is the point; an optional final click draws the connectors.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modeling trick. Each representation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yesterday's acceptable-realizations argument and deliver the definition of architecture orally.</a:t>
            </a:r>
          </a:p>
          <a:p>
            <a:endParaRPr lang="en-US" dirty="0"/>
          </a:p>
          <a:p>
            <a:r>
              <a:rPr lang="en-US" dirty="0"/>
              <a:t>- The figure is yesterday's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yesterday on purpose.</a:t>
            </a:r>
          </a:p>
          <a:p>
            <a:endParaRPr lang="en-US" dirty="0"/>
          </a:p>
          <a:p>
            <a:r>
              <a:rPr lang="en-US" dirty="0"/>
              <a:t>=====</a:t>
            </a:r>
          </a:p>
          <a:p>
            <a:r>
              <a:rPr lang="en-US" dirty="0"/>
              <a:t>This is yesterday's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Today we consider one acceptable realization and ask how it should be organized. And the moment we do, yesterday's question flips: not 'is this system acceptable?' but 'how should this system be organized?'</a:t>
            </a:r>
          </a:p>
          <a:p>
            <a:endParaRPr lang="en-US" dirty="0"/>
          </a:p>
          <a:p>
            <a:r>
              <a:rPr lang="en-US"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today's map.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latency, security, change, failure are decided here, not discovered later.</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questions sound structural. The fourth explains why the structure matters. We do not draw boxes for their own sake: organization can support, constrain, or frustrate properties such as latency, security, changeability, and behavior under failure.</a:t>
            </a:r>
          </a:p>
          <a:p>
            <a:endParaRPr dirty="0"/>
          </a:p>
          <a:p>
            <a:r>
              <a:rPr dirty="0"/>
              <a:t>Of these, the boundary question is where the consequences concentrate. Let us look at it properly.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Weighted scores and verdict first, then three callout clicks, then the footer. Let students read the verdict line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ANIMATE</a:t>
            </a:r>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ANIMATE</a:t>
            </a:r>
          </a:p>
          <a:p>
            <a:r>
              <a:rPr dirty="0"/>
              <a:t>Second, dominance. Compare D with A: on every property we care about, D is no better, and on at least one it is strictly worse. Choosing D over A could never be right, under any weighting of the properties.</a:t>
            </a:r>
          </a:p>
          <a:p>
            <a:r>
              <a:rPr dirty="0"/>
              <a:t>ANIMATE</a:t>
            </a:r>
          </a:p>
          <a:p>
            <a:r>
              <a:rPr dirty="0"/>
              <a:t>So D goes — and notice we never needed a weight or a score to say so.</a:t>
            </a:r>
          </a:p>
          <a:p>
            <a:endParaRPr dirty="0"/>
          </a:p>
          <a:p>
            <a:r>
              <a:rPr dirty="0"/>
              <a:t>ANIMATE</a:t>
            </a:r>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Five clicks: strict stack,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cross-layer capability.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Five clicks: pipeline, the repository core, the components attaching,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Staged clicks: request, then response, then downstream C; producer, bus, consumers; D arrives last, then consequences and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producer/consumer decoupling.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Staged clicks: each domain, the direct dependency, then the port (the domain defines it), the adapter, the infrastructure, the source-dependency arrow,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decoupling.</a:t>
            </a:r>
          </a:p>
          <a:p>
            <a:r>
              <a:rPr dirty="0"/>
              <a:t>ANIMATE</a:t>
            </a:r>
          </a:p>
          <a:p>
            <a:r>
              <a:rPr dirty="0"/>
              <a:t>Infrastructure: depend on it directly, or make it conform to your interface — directness against infrastructure isolation.</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guess. No real evidence yet; maximum betting.</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delta stays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dependency model shows the anticipated change staying behind the seam.</a:t>
            </a:r>
          </a:p>
          <a:p>
            <a:endParaRPr dirty="0"/>
          </a:p>
          <a:p>
            <a:r>
              <a:rPr dirty="0"/>
              <a:t>Be precise about the claim. The model establishes a structural fact about the dependency graph: no dependency crosses the boundary into the model's internals. That supports a strong argument for locality, provided the model remains faithful to the implementation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sets a latency floor, and decomposition is a candidate change you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critical path A to B to F, 120 ms. Everything off the path is latency-irrelevant.</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Given the dependencies and latency assumptions represented here, the model predicts a critical-path latency of 120 milliseconds. The organization has made that path unavoidable unless we change the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the spectrum we just built: a quantitative prediction from an architectural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tradeoff has not disappeared. Better evidence can reduce uncertainty about the consequences, but it cannot tell us which consequences matter unless those preferences and obligations have been established. And responsibility for accepting the resulting architecture does not disappear because an agent helped analyze it. The betting is what we can now buy down.</a:t>
            </a:r>
          </a:p>
          <a:p>
            <a:endParaRPr dirty="0"/>
          </a:p>
          <a:p>
            <a:r>
              <a:rPr dirty="0"/>
              <a:t>That is the full toolkit. Time to use all of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five obligations aloud once: two-second advice latency, no raw-data disclosure to sharing recipients, an independently changing illness model, sharing failure must not block local advice, a consistent seven-night weekly summary.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boundary test?);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Your job is not to draw the obvious architecture. Your job is to produce two genuinely plausible organizations that satisfy all five obligations. If your second architecture is obviously stupid, it does not count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the opening section,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 xml:space="preserve">In specification we separate obligations. </a:t>
            </a:r>
            <a:r>
              <a:rPr lang="en-US" sz="1800" b="0" i="0" dirty="0">
                <a:solidFill>
                  <a:srgbClr val="000000"/>
                </a:solidFill>
              </a:rPr>
              <a:t>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STATE VIEW</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ACTIVITY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SCHEMA</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TIMING / OTHER</a:t>
            </a:r>
          </a:p>
        </p:txBody>
      </p:sp>
      <p:cxnSp>
        <p:nvCxnSpPr>
          <p:cNvPr id="64" name="Arr64"/>
          <p:cNvCxnSpPr/>
          <p:nvPr/>
        </p:nvCxnSpPr>
        <p:spPr>
          <a:xfrm>
            <a:off x="2916700" y="2522900"/>
            <a:ext cx="500000" cy="544850"/>
          </a:xfrm>
          <a:prstGeom prst="line">
            <a:avLst/>
          </a:prstGeom>
          <a:ln w="28575">
            <a:solidFill>
              <a:srgbClr val="8E6F3E"/>
            </a:solidFill>
            <a:tailEnd type="triangle" w="med" len="med"/>
          </a:ln>
        </p:spPr>
      </p:cxnSp>
      <p:cxnSp>
        <p:nvCxnSpPr>
          <p:cNvPr id="65" name="Arr65"/>
          <p:cNvCxnSpPr/>
          <p:nvPr/>
        </p:nvCxnSpPr>
        <p:spPr>
          <a:xfrm flipH="1">
            <a:off x="5727300" y="2522900"/>
            <a:ext cx="500000" cy="544850"/>
          </a:xfrm>
          <a:prstGeom prst="line">
            <a:avLst/>
          </a:prstGeom>
          <a:ln w="28575">
            <a:solidFill>
              <a:srgbClr val="8E6F3E"/>
            </a:solidFill>
            <a:tailEnd type="triangle" w="med" len="med"/>
          </a:ln>
        </p:spPr>
      </p:cxnSp>
      <p:cxnSp>
        <p:nvCxnSpPr>
          <p:cNvPr id="66" name="Arr66"/>
          <p:cNvCxnSpPr/>
          <p:nvPr/>
        </p:nvCxnSpPr>
        <p:spPr>
          <a:xfrm flipV="1">
            <a:off x="2916700" y="4567750"/>
            <a:ext cx="500000" cy="269350"/>
          </a:xfrm>
          <a:prstGeom prst="line">
            <a:avLst/>
          </a:prstGeom>
          <a:ln w="28575">
            <a:solidFill>
              <a:srgbClr val="8E6F3E"/>
            </a:solidFill>
            <a:tailEnd type="triangle" w="med" len="med"/>
          </a:ln>
        </p:spPr>
      </p:cxnSp>
      <p:cxnSp>
        <p:nvCxnSpPr>
          <p:cNvPr id="67" name="Arr67"/>
          <p:cNvCxnSpPr/>
          <p:nvPr/>
        </p:nvCxnSpPr>
        <p:spPr>
          <a:xfrm flipH="1" flipV="1">
            <a:off x="5727300" y="4567750"/>
            <a:ext cx="500000" cy="269350"/>
          </a:xfrm>
          <a:prstGeom prst="line">
            <a:avLst/>
          </a:prstGeom>
          <a:ln w="28575">
            <a:solidFill>
              <a:srgbClr val="8E6F3E"/>
            </a:solidFill>
            <a:tailEnd type="triangle" w="med" len="med"/>
          </a:ln>
        </p:spPr>
      </p:cxnSp>
      <p:sp>
        <p:nvSpPr>
          <p:cNvPr id="68" name="OneMachine"/>
          <p:cNvSpPr/>
          <p:nvPr/>
        </p:nvSpPr>
        <p:spPr>
          <a:xfrm>
            <a:off x="2622000" y="3067750"/>
            <a:ext cx="3900000" cy="1500000"/>
          </a:xfrm>
          <a:prstGeom prst="rect">
            <a:avLst/>
          </a:prstGeom>
          <a:solidFill>
            <a:srgbClr val="8E6F3E"/>
          </a:solidFill>
          <a:ln>
            <a:noFill/>
          </a:ln>
        </p:spPr>
        <p:txBody>
          <a:bodyPr wrap="square" lIns="109728" tIns="82296" rIns="109728" bIns="82296" anchor="ctr">
            <a:normAutofit fontScale="92500"/>
          </a:bodyPr>
          <a:lstStyle/>
          <a:p>
            <a:pPr algn="ctr">
              <a:buNone/>
            </a:pPr>
            <a:r>
              <a:rPr lang="en-US" sz="4600" b="1" i="0" dirty="0">
                <a:solidFill>
                  <a:srgbClr val="FFFFFF"/>
                </a:solidFill>
              </a:rPr>
              <a:t>ONE MACHINE</a:t>
            </a:r>
          </a:p>
        </p:txBody>
      </p:sp>
      <p:sp>
        <p:nvSpPr>
          <p:cNvPr id="70" name="StateN1"/>
          <p:cNvSpPr/>
          <p:nvPr/>
        </p:nvSpPr>
        <p:spPr>
          <a:xfrm>
            <a:off x="45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asleep</a:t>
            </a:r>
          </a:p>
        </p:txBody>
      </p:sp>
      <p:sp>
        <p:nvSpPr>
          <p:cNvPr id="71" name="StateN2"/>
          <p:cNvSpPr/>
          <p:nvPr/>
        </p:nvSpPr>
        <p:spPr>
          <a:xfrm>
            <a:off x="198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awake</a:t>
            </a:r>
          </a:p>
        </p:txBody>
      </p:sp>
      <p:cxnSp>
        <p:nvCxnSpPr>
          <p:cNvPr id="72" name="StateArr"/>
          <p:cNvCxnSpPr/>
          <p:nvPr/>
        </p:nvCxnSpPr>
        <p:spPr>
          <a:xfrm>
            <a:off x="1360000" y="1905000"/>
            <a:ext cx="610000" cy="0"/>
          </a:xfrm>
          <a:prstGeom prst="line">
            <a:avLst/>
          </a:prstGeom>
          <a:ln w="28575">
            <a:solidFill>
              <a:srgbClr val="8E6F3E"/>
            </a:solidFill>
            <a:tailEnd type="triangle" w="med" len="med"/>
          </a:ln>
        </p:spPr>
      </p:cxnSp>
      <p:sp>
        <p:nvSpPr>
          <p:cNvPr id="73" name="ActChev1"/>
          <p:cNvSpPr/>
          <p:nvPr/>
        </p:nvSpPr>
        <p:spPr>
          <a:xfrm>
            <a:off x="629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collect</a:t>
            </a:r>
          </a:p>
        </p:txBody>
      </p:sp>
      <p:sp>
        <p:nvSpPr>
          <p:cNvPr id="74" name="ActChev2"/>
          <p:cNvSpPr/>
          <p:nvPr/>
        </p:nvSpPr>
        <p:spPr>
          <a:xfrm>
            <a:off x="752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classify</a:t>
            </a:r>
          </a:p>
        </p:txBody>
      </p:sp>
      <p:sp>
        <p:nvSpPr>
          <p:cNvPr id="75" name="SchHdr"/>
          <p:cNvSpPr/>
          <p:nvPr/>
        </p:nvSpPr>
        <p:spPr>
          <a:xfrm>
            <a:off x="917000" y="5270000"/>
            <a:ext cx="1500000" cy="330000"/>
          </a:xfrm>
          <a:prstGeom prst="rect">
            <a:avLst/>
          </a:prstGeom>
          <a:solidFill>
            <a:srgbClr val="8E6F3E"/>
          </a:solidFill>
          <a:ln w="15875">
            <a:solidFill>
              <a:srgbClr val="8E6F3E"/>
            </a:solidFill>
          </a:ln>
        </p:spPr>
        <p:txBody>
          <a:bodyPr wrap="square" lIns="54864" tIns="27432" rIns="54864" bIns="27432" anchor="ctr">
            <a:normAutofit/>
          </a:bodyPr>
          <a:lstStyle/>
          <a:p>
            <a:pPr algn="ctr">
              <a:buNone/>
            </a:pPr>
            <a:r>
              <a:rPr lang="en-US" sz="1200" b="1" i="0" dirty="0">
                <a:solidFill>
                  <a:srgbClr val="FFFFFF"/>
                </a:solidFill>
              </a:rPr>
              <a:t>NIGHT SUMMARY</a:t>
            </a:r>
          </a:p>
        </p:txBody>
      </p:sp>
      <p:sp>
        <p:nvSpPr>
          <p:cNvPr id="76" name="SchR1"/>
          <p:cNvSpPr/>
          <p:nvPr/>
        </p:nvSpPr>
        <p:spPr>
          <a:xfrm>
            <a:off x="917000" y="560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date · score</a:t>
            </a:r>
          </a:p>
        </p:txBody>
      </p:sp>
      <p:sp>
        <p:nvSpPr>
          <p:cNvPr id="77" name="SchR2"/>
          <p:cNvSpPr/>
          <p:nvPr/>
        </p:nvSpPr>
        <p:spPr>
          <a:xfrm>
            <a:off x="917000" y="593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advice</a:t>
            </a:r>
          </a:p>
        </p:txBody>
      </p:sp>
      <p:cxnSp>
        <p:nvCxnSpPr>
          <p:cNvPr id="78" name="TimeLine"/>
          <p:cNvCxnSpPr/>
          <p:nvPr/>
        </p:nvCxnSpPr>
        <p:spPr>
          <a:xfrm>
            <a:off x="6329592" y="5760000"/>
            <a:ext cx="2295000" cy="0"/>
          </a:xfrm>
          <a:prstGeom prst="line">
            <a:avLst/>
          </a:prstGeom>
          <a:ln w="28575">
            <a:solidFill>
              <a:srgbClr val="8E6F3E"/>
            </a:solidFill>
            <a:tailEnd type="triangle" w="med" len="med"/>
          </a:ln>
        </p:spPr>
      </p:cxnSp>
      <p:cxnSp>
        <p:nvCxnSpPr>
          <p:cNvPr id="79" name="TimeTick"/>
          <p:cNvCxnSpPr/>
          <p:nvPr/>
        </p:nvCxnSpPr>
        <p:spPr>
          <a:xfrm>
            <a:off x="6329592" y="5670000"/>
            <a:ext cx="0" cy="180000"/>
          </a:xfrm>
          <a:prstGeom prst="line">
            <a:avLst/>
          </a:prstGeom>
          <a:ln w="28575">
            <a:solidFill>
              <a:srgbClr val="8E6F3E"/>
            </a:solidFill>
          </a:ln>
        </p:spPr>
      </p:cxnSp>
      <p:sp>
        <p:nvSpPr>
          <p:cNvPr id="80" name="TimeLblTop"/>
          <p:cNvSpPr/>
          <p:nvPr/>
        </p:nvSpPr>
        <p:spPr>
          <a:xfrm>
            <a:off x="6329592" y="5350000"/>
            <a:ext cx="2295000" cy="320000"/>
          </a:xfrm>
          <a:prstGeom prst="rect">
            <a:avLst/>
          </a:prstGeom>
          <a:noFill/>
          <a:ln>
            <a:noFill/>
          </a:ln>
        </p:spPr>
        <p:txBody>
          <a:bodyPr wrap="square" lIns="54864" tIns="27432" rIns="54864" bIns="27432" anchor="ctr">
            <a:normAutofit/>
          </a:bodyPr>
          <a:lstStyle/>
          <a:p>
            <a:pPr algn="ctr">
              <a:buNone/>
            </a:pPr>
            <a:r>
              <a:rPr lang="en-US" sz="1400" b="0" i="0" dirty="0">
                <a:solidFill>
                  <a:srgbClr val="000000"/>
                </a:solidFill>
              </a:rPr>
              <a:t>≤ 60 seconds</a:t>
            </a:r>
          </a:p>
        </p:txBody>
      </p:sp>
      <p:sp>
        <p:nvSpPr>
          <p:cNvPr id="81" name="TimeLblBot"/>
          <p:cNvSpPr/>
          <p:nvPr/>
        </p:nvSpPr>
        <p:spPr>
          <a:xfrm>
            <a:off x="6329592" y="5890000"/>
            <a:ext cx="2295000" cy="300000"/>
          </a:xfrm>
          <a:prstGeom prst="rect">
            <a:avLst/>
          </a:prstGeom>
          <a:noFill/>
          <a:ln>
            <a:noFill/>
          </a:ln>
        </p:spPr>
        <p:txBody>
          <a:bodyPr wrap="square" lIns="54864" tIns="27432" rIns="54864" bIns="27432" anchor="ctr">
            <a:normAutofit/>
          </a:bodyPr>
          <a:lstStyle/>
          <a:p>
            <a:pPr algn="ctr">
              <a:buNone/>
            </a:pPr>
            <a:r>
              <a:rPr lang="en-US" sz="1200" b="0" i="0" dirty="0">
                <a:solidFill>
                  <a:srgbClr val="000000"/>
                </a:solidFill>
              </a:rPr>
              <a:t>privacy · 7 nights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70"/>
                                        </p:tgtEl>
                                        <p:attrNameLst>
                                          <p:attrName>style.visibility</p:attrName>
                                        </p:attrNameLst>
                                      </p:cBhvr>
                                      <p:to>
                                        <p:strVal val="visible"/>
                                      </p:to>
                                    </p:set>
                                    <p:animEffect transition="in" filter="fade">
                                      <p:cBhvr>
                                        <p:cTn id="10" dur="400"/>
                                        <p:tgtEl>
                                          <p:spTgt spid="70"/>
                                        </p:tgtEl>
                                      </p:cBhvr>
                                    </p:animEffect>
                                  </p:childTnLst>
                                </p:cTn>
                              </p:par>
                              <p:par>
                                <p:cTn id="11" presetID="10" presetClass="entr" presetSubtype="0" fill="hold" nodeType="withEffect">
                                  <p:stCondLst>
                                    <p:cond delay="0"/>
                                  </p:stCondLst>
                                  <p:childTnLst>
                                    <p:set>
                                      <p:cBhvr>
                                        <p:cTn id="12" dur="1" fill="hold">
                                          <p:stCondLst>
                                            <p:cond delay="0"/>
                                          </p:stCondLst>
                                        </p:cTn>
                                        <p:tgtEl>
                                          <p:spTgt spid="71"/>
                                        </p:tgtEl>
                                        <p:attrNameLst>
                                          <p:attrName>style.visibility</p:attrName>
                                        </p:attrNameLst>
                                      </p:cBhvr>
                                      <p:to>
                                        <p:strVal val="visible"/>
                                      </p:to>
                                    </p:set>
                                    <p:animEffect transition="in" filter="fade">
                                      <p:cBhvr>
                                        <p:cTn id="13" dur="400"/>
                                        <p:tgtEl>
                                          <p:spTgt spid="71"/>
                                        </p:tgtEl>
                                      </p:cBhvr>
                                    </p:animEffect>
                                  </p:childTnLst>
                                </p:cTn>
                              </p:par>
                              <p:par>
                                <p:cTn id="14" presetID="10" presetClass="entr" presetSubtype="0" fill="hold"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fade">
                                      <p:cBhvr>
                                        <p:cTn id="16" dur="400"/>
                                        <p:tgtEl>
                                          <p:spTgt spid="7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400"/>
                                        <p:tgtEl>
                                          <p:spTgt spid="61"/>
                                        </p:tgtEl>
                                      </p:cBhvr>
                                    </p:animEffect>
                                  </p:childTnLst>
                                </p:cTn>
                              </p:par>
                              <p:par>
                                <p:cTn id="22" presetID="10" presetClass="entr" presetSubtype="0" fill="hold" nodeType="withEffect">
                                  <p:stCondLst>
                                    <p:cond delay="0"/>
                                  </p:stCondLst>
                                  <p:childTnLst>
                                    <p:set>
                                      <p:cBhvr>
                                        <p:cTn id="23" dur="1" fill="hold">
                                          <p:stCondLst>
                                            <p:cond delay="0"/>
                                          </p:stCondLst>
                                        </p:cTn>
                                        <p:tgtEl>
                                          <p:spTgt spid="73"/>
                                        </p:tgtEl>
                                        <p:attrNameLst>
                                          <p:attrName>style.visibility</p:attrName>
                                        </p:attrNameLst>
                                      </p:cBhvr>
                                      <p:to>
                                        <p:strVal val="visible"/>
                                      </p:to>
                                    </p:set>
                                    <p:animEffect transition="in" filter="fade">
                                      <p:cBhvr>
                                        <p:cTn id="24" dur="400"/>
                                        <p:tgtEl>
                                          <p:spTgt spid="73"/>
                                        </p:tgtEl>
                                      </p:cBhvr>
                                    </p:animEffect>
                                  </p:childTnLst>
                                </p:cTn>
                              </p:par>
                              <p:par>
                                <p:cTn id="25" presetID="10" presetClass="entr" presetSubtype="0" fill="hold" nodeType="with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4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400"/>
                                        <p:tgtEl>
                                          <p:spTgt spid="62"/>
                                        </p:tgtEl>
                                      </p:cBhvr>
                                    </p:animEffect>
                                  </p:childTnLst>
                                </p:cTn>
                              </p:par>
                              <p:par>
                                <p:cTn id="33" presetID="10" presetClass="entr" presetSubtype="0" fill="hold" nodeType="withEffect">
                                  <p:stCondLst>
                                    <p:cond delay="0"/>
                                  </p:stCondLst>
                                  <p:childTnLst>
                                    <p:set>
                                      <p:cBhvr>
                                        <p:cTn id="34" dur="1" fill="hold">
                                          <p:stCondLst>
                                            <p:cond delay="0"/>
                                          </p:stCondLst>
                                        </p:cTn>
                                        <p:tgtEl>
                                          <p:spTgt spid="75"/>
                                        </p:tgtEl>
                                        <p:attrNameLst>
                                          <p:attrName>style.visibility</p:attrName>
                                        </p:attrNameLst>
                                      </p:cBhvr>
                                      <p:to>
                                        <p:strVal val="visible"/>
                                      </p:to>
                                    </p:set>
                                    <p:animEffect transition="in" filter="fade">
                                      <p:cBhvr>
                                        <p:cTn id="35" dur="400"/>
                                        <p:tgtEl>
                                          <p:spTgt spid="75"/>
                                        </p:tgtEl>
                                      </p:cBhvr>
                                    </p:animEffect>
                                  </p:childTnLst>
                                </p:cTn>
                              </p:par>
                              <p:par>
                                <p:cTn id="36" presetID="10" presetClass="entr" presetSubtype="0" fill="hold" nodeType="with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400"/>
                                        <p:tgtEl>
                                          <p:spTgt spid="76"/>
                                        </p:tgtEl>
                                      </p:cBhvr>
                                    </p:animEffect>
                                  </p:childTnLst>
                                </p:cTn>
                              </p:par>
                              <p:par>
                                <p:cTn id="39" presetID="10" presetClass="entr" presetSubtype="0" fill="hold" nodeType="withEffect">
                                  <p:stCondLst>
                                    <p:cond delay="0"/>
                                  </p:stCondLst>
                                  <p:childTnLst>
                                    <p:set>
                                      <p:cBhvr>
                                        <p:cTn id="40" dur="1" fill="hold">
                                          <p:stCondLst>
                                            <p:cond delay="0"/>
                                          </p:stCondLst>
                                        </p:cTn>
                                        <p:tgtEl>
                                          <p:spTgt spid="77"/>
                                        </p:tgtEl>
                                        <p:attrNameLst>
                                          <p:attrName>style.visibility</p:attrName>
                                        </p:attrNameLst>
                                      </p:cBhvr>
                                      <p:to>
                                        <p:strVal val="visible"/>
                                      </p:to>
                                    </p:set>
                                    <p:animEffect transition="in" filter="fade">
                                      <p:cBhvr>
                                        <p:cTn id="41" dur="400"/>
                                        <p:tgtEl>
                                          <p:spTgt spid="7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0"/>
                                  </p:stCondLst>
                                  <p:childTnLst>
                                    <p:set>
                                      <p:cBhvr>
                                        <p:cTn id="48" dur="1" fill="hold">
                                          <p:stCondLst>
                                            <p:cond delay="0"/>
                                          </p:stCondLst>
                                        </p:cTn>
                                        <p:tgtEl>
                                          <p:spTgt spid="78"/>
                                        </p:tgtEl>
                                        <p:attrNameLst>
                                          <p:attrName>style.visibility</p:attrName>
                                        </p:attrNameLst>
                                      </p:cBhvr>
                                      <p:to>
                                        <p:strVal val="visible"/>
                                      </p:to>
                                    </p:set>
                                    <p:animEffect transition="in" filter="fade">
                                      <p:cBhvr>
                                        <p:cTn id="49" dur="400"/>
                                        <p:tgtEl>
                                          <p:spTgt spid="78"/>
                                        </p:tgtEl>
                                      </p:cBhvr>
                                    </p:animEffect>
                                  </p:childTnLst>
                                </p:cTn>
                              </p:par>
                              <p:par>
                                <p:cTn id="50" presetID="10" presetClass="entr" presetSubtype="0" fill="hold" nodeType="withEffect">
                                  <p:stCondLst>
                                    <p:cond delay="0"/>
                                  </p:stCondLst>
                                  <p:childTnLst>
                                    <p:set>
                                      <p:cBhvr>
                                        <p:cTn id="51" dur="1" fill="hold">
                                          <p:stCondLst>
                                            <p:cond delay="0"/>
                                          </p:stCondLst>
                                        </p:cTn>
                                        <p:tgtEl>
                                          <p:spTgt spid="79"/>
                                        </p:tgtEl>
                                        <p:attrNameLst>
                                          <p:attrName>style.visibility</p:attrName>
                                        </p:attrNameLst>
                                      </p:cBhvr>
                                      <p:to>
                                        <p:strVal val="visible"/>
                                      </p:to>
                                    </p:set>
                                    <p:animEffect transition="in" filter="fade">
                                      <p:cBhvr>
                                        <p:cTn id="52" dur="400"/>
                                        <p:tgtEl>
                                          <p:spTgt spid="79"/>
                                        </p:tgtEl>
                                      </p:cBhvr>
                                    </p:animEffect>
                                  </p:childTnLst>
                                </p:cTn>
                              </p:par>
                              <p:par>
                                <p:cTn id="53" presetID="10" presetClass="entr" presetSubtype="0" fill="hold" nodeType="withEffect">
                                  <p:stCondLst>
                                    <p:cond delay="0"/>
                                  </p:stCondLst>
                                  <p:childTnLst>
                                    <p:set>
                                      <p:cBhvr>
                                        <p:cTn id="54" dur="1" fill="hold">
                                          <p:stCondLst>
                                            <p:cond delay="0"/>
                                          </p:stCondLst>
                                        </p:cTn>
                                        <p:tgtEl>
                                          <p:spTgt spid="80"/>
                                        </p:tgtEl>
                                        <p:attrNameLst>
                                          <p:attrName>style.visibility</p:attrName>
                                        </p:attrNameLst>
                                      </p:cBhvr>
                                      <p:to>
                                        <p:strVal val="visible"/>
                                      </p:to>
                                    </p:set>
                                    <p:animEffect transition="in" filter="fade">
                                      <p:cBhvr>
                                        <p:cTn id="55" dur="400"/>
                                        <p:tgtEl>
                                          <p:spTgt spid="80"/>
                                        </p:tgtEl>
                                      </p:cBhvr>
                                    </p:animEffect>
                                  </p:childTnLst>
                                </p:cTn>
                              </p:par>
                              <p:par>
                                <p:cTn id="56" presetID="10" presetClass="entr" presetSubtype="0" fill="hold" nodeType="withEffect">
                                  <p:stCondLst>
                                    <p:cond delay="0"/>
                                  </p:stCondLst>
                                  <p:childTnLst>
                                    <p:set>
                                      <p:cBhvr>
                                        <p:cTn id="57" dur="1" fill="hold">
                                          <p:stCondLst>
                                            <p:cond delay="0"/>
                                          </p:stCondLst>
                                        </p:cTn>
                                        <p:tgtEl>
                                          <p:spTgt spid="81"/>
                                        </p:tgtEl>
                                        <p:attrNameLst>
                                          <p:attrName>style.visibility</p:attrName>
                                        </p:attrNameLst>
                                      </p:cBhvr>
                                      <p:to>
                                        <p:strVal val="visible"/>
                                      </p:to>
                                    </p:set>
                                    <p:animEffect transition="in" filter="fade">
                                      <p:cBhvr>
                                        <p:cTn id="58" dur="400"/>
                                        <p:tgtEl>
                                          <p:spTgt spid="8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8"/>
                                        </p:tgtEl>
                                        <p:attrNameLst>
                                          <p:attrName>style.visibility</p:attrName>
                                        </p:attrNameLst>
                                      </p:cBhvr>
                                      <p:to>
                                        <p:strVal val="visible"/>
                                      </p:to>
                                    </p:set>
                                    <p:animEffect transition="in" filter="fade">
                                      <p:cBhvr>
                                        <p:cTn id="63" dur="400"/>
                                        <p:tgtEl>
                                          <p:spTgt spid="6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64"/>
                                        </p:tgtEl>
                                        <p:attrNameLst>
                                          <p:attrName>style.visibility</p:attrName>
                                        </p:attrNameLst>
                                      </p:cBhvr>
                                      <p:to>
                                        <p:strVal val="visible"/>
                                      </p:to>
                                    </p:set>
                                    <p:animEffect transition="in" filter="fade">
                                      <p:cBhvr>
                                        <p:cTn id="68" dur="400"/>
                                        <p:tgtEl>
                                          <p:spTgt spid="64"/>
                                        </p:tgtEl>
                                      </p:cBhvr>
                                    </p:animEffect>
                                  </p:childTnLst>
                                </p:cTn>
                              </p:par>
                              <p:par>
                                <p:cTn id="69" presetID="10" presetClass="entr" presetSubtype="0" fill="hold" nodeType="withEffect">
                                  <p:stCondLst>
                                    <p:cond delay="0"/>
                                  </p:stCondLst>
                                  <p:childTnLst>
                                    <p:set>
                                      <p:cBhvr>
                                        <p:cTn id="70" dur="1" fill="hold">
                                          <p:stCondLst>
                                            <p:cond delay="0"/>
                                          </p:stCondLst>
                                        </p:cTn>
                                        <p:tgtEl>
                                          <p:spTgt spid="65"/>
                                        </p:tgtEl>
                                        <p:attrNameLst>
                                          <p:attrName>style.visibility</p:attrName>
                                        </p:attrNameLst>
                                      </p:cBhvr>
                                      <p:to>
                                        <p:strVal val="visible"/>
                                      </p:to>
                                    </p:set>
                                    <p:animEffect transition="in" filter="fade">
                                      <p:cBhvr>
                                        <p:cTn id="71" dur="400"/>
                                        <p:tgtEl>
                                          <p:spTgt spid="65"/>
                                        </p:tgtEl>
                                      </p:cBhvr>
                                    </p:animEffect>
                                  </p:childTnLst>
                                </p:cTn>
                              </p:par>
                              <p:par>
                                <p:cTn id="72" presetID="10" presetClass="entr" presetSubtype="0" fill="hold" nodeType="withEffect">
                                  <p:stCondLst>
                                    <p:cond delay="0"/>
                                  </p:stCondLst>
                                  <p:childTnLst>
                                    <p:set>
                                      <p:cBhvr>
                                        <p:cTn id="73" dur="1" fill="hold">
                                          <p:stCondLst>
                                            <p:cond delay="0"/>
                                          </p:stCondLst>
                                        </p:cTn>
                                        <p:tgtEl>
                                          <p:spTgt spid="66"/>
                                        </p:tgtEl>
                                        <p:attrNameLst>
                                          <p:attrName>style.visibility</p:attrName>
                                        </p:attrNameLst>
                                      </p:cBhvr>
                                      <p:to>
                                        <p:strVal val="visible"/>
                                      </p:to>
                                    </p:set>
                                    <p:animEffect transition="in" filter="fade">
                                      <p:cBhvr>
                                        <p:cTn id="74" dur="400"/>
                                        <p:tgtEl>
                                          <p:spTgt spid="66"/>
                                        </p:tgtEl>
                                      </p:cBhvr>
                                    </p:animEffect>
                                  </p:childTnLst>
                                </p:cTn>
                              </p:par>
                              <p:par>
                                <p:cTn id="75" presetID="10" presetClass="entr" presetSubtype="0" fill="hold" nodeType="withEffect">
                                  <p:stCondLst>
                                    <p:cond delay="0"/>
                                  </p:stCondLst>
                                  <p:childTnLst>
                                    <p:set>
                                      <p:cBhvr>
                                        <p:cTn id="76" dur="1" fill="hold">
                                          <p:stCondLst>
                                            <p:cond delay="0"/>
                                          </p:stCondLst>
                                        </p:cTn>
                                        <p:tgtEl>
                                          <p:spTgt spid="67"/>
                                        </p:tgtEl>
                                        <p:attrNameLst>
                                          <p:attrName>style.visibility</p:attrName>
                                        </p:attrNameLst>
                                      </p:cBhvr>
                                      <p:to>
                                        <p:strVal val="visible"/>
                                      </p:to>
                                    </p:set>
                                    <p:animEffect transition="in" filter="fade">
                                      <p:cBhvr>
                                        <p:cTn id="77"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a:endCxn id="2" idx="2"/>
          </p:cNvCxnSpPr>
          <p:nvPr/>
        </p:nvCxnSpPr>
        <p:spPr>
          <a:xfrm flipV="1">
            <a:off x="4559300" y="5673000"/>
            <a:ext cx="0" cy="360000"/>
          </a:xfrm>
          <a:prstGeom prst="straightConnector1">
            <a:avLst/>
          </a:prstGeom>
          <a:ln w="10668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6060000"/>
            <a:ext cx="7772400" cy="36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Architecture: organizing one acceptable realization</a:t>
            </a:r>
          </a:p>
        </p:txBody>
      </p:sp>
      <p:sp>
        <p:nvSpPr>
          <p:cNvPr id="9" name="ArchDefStrip"/>
          <p:cNvSpPr/>
          <p:nvPr/>
        </p:nvSpPr>
        <p:spPr>
          <a:xfrm>
            <a:off x="2000000" y="6440000"/>
            <a:ext cx="5144000" cy="300000"/>
          </a:xfrm>
          <a:prstGeom prst="rect">
            <a:avLst/>
          </a:prstGeom>
          <a:solidFill>
            <a:srgbClr val="F5F0E6"/>
          </a:solidFill>
          <a:ln>
            <a:noFill/>
          </a:ln>
        </p:spPr>
        <p:txBody>
          <a:bodyPr wrap="square" lIns="54864" tIns="27432" rIns="54864" bIns="27432" anchor="ctr">
            <a:normAutofit/>
          </a:bodyPr>
          <a:lstStyle/>
          <a:p>
            <a:pPr algn="ctr">
              <a:buNone/>
            </a:pPr>
            <a:r>
              <a:rPr lang="en-US" sz="1300" b="0" i="0" dirty="0">
                <a:solidFill>
                  <a:srgbClr val="8E6F3E"/>
                </a:solidFill>
              </a:rPr>
              <a:t>major parts · responsibilities · interfaces · interaction rules</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par>
                                <p:cTn id="8" presetID="10" presetClass="entr" presetSubtype="0" fill="hold"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400"/>
                                        <p:tgtEl>
                                          <p:spTgt spid="6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4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fade">
                                      <p:cBhvr>
                                        <p:cTn id="18" dur="400"/>
                                        <p:tgtEl>
                                          <p:spTgt spid="64"/>
                                        </p:tgtEl>
                                      </p:cBhvr>
                                    </p:animEffect>
                                  </p:childTnLst>
                                </p:cTn>
                              </p:par>
                              <p:par>
                                <p:cTn id="19" presetID="10" presetClass="entr" presetSubtype="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fade">
                                      <p:cBhvr>
                                        <p:cTn id="21" dur="400"/>
                                        <p:tgtEl>
                                          <p:spTgt spid="65"/>
                                        </p:tgtEl>
                                      </p:cBhvr>
                                    </p:animEffect>
                                  </p:childTnLst>
                                </p:cTn>
                              </p:par>
                              <p:par>
                                <p:cTn id="22" presetID="10" presetClass="entr" presetSubtype="0" fill="hold"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fade">
                                      <p:cBhvr>
                                        <p:cTn id="24" dur="400"/>
                                        <p:tgtEl>
                                          <p:spTgt spid="6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7"/>
                                        </p:tgtEl>
                                        <p:attrNameLst>
                                          <p:attrName>style.visibility</p:attrName>
                                        </p:attrNameLst>
                                      </p:cBhvr>
                                      <p:to>
                                        <p:strVal val="visible"/>
                                      </p:to>
                                    </p:set>
                                    <p:animEffect transition="in" filter="fade">
                                      <p:cBhvr>
                                        <p:cTn id="29" dur="400"/>
                                        <p:tgtEl>
                                          <p:spTgt spid="67"/>
                                        </p:tgtEl>
                                      </p:cBhvr>
                                    </p:animEffect>
                                  </p:childTnLst>
                                </p:cTn>
                              </p:par>
                              <p:par>
                                <p:cTn id="30" presetID="10" presetClass="entr" presetSubtype="0" fill="hold" nodeType="with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fade">
                                      <p:cBhvr>
                                        <p:cTn id="32" dur="400"/>
                                        <p:tgtEl>
                                          <p:spTgt spid="68"/>
                                        </p:tgtEl>
                                      </p:cBhvr>
                                    </p:animEffect>
                                  </p:childTnLst>
                                </p:cTn>
                              </p:par>
                              <p:par>
                                <p:cTn id="33" presetID="10" presetClass="entr" presetSubtype="0" fill="hold" nodeType="withEffect">
                                  <p:stCondLst>
                                    <p:cond delay="0"/>
                                  </p:stCondLst>
                                  <p:childTnLst>
                                    <p:set>
                                      <p:cBhvr>
                                        <p:cTn id="34" dur="1" fill="hold">
                                          <p:stCondLst>
                                            <p:cond delay="0"/>
                                          </p:stCondLst>
                                        </p:cTn>
                                        <p:tgtEl>
                                          <p:spTgt spid="69"/>
                                        </p:tgtEl>
                                        <p:attrNameLst>
                                          <p:attrName>style.visibility</p:attrName>
                                        </p:attrNameLst>
                                      </p:cBhvr>
                                      <p:to>
                                        <p:strVal val="visible"/>
                                      </p:to>
                                    </p:set>
                                    <p:animEffect transition="in" filter="fade">
                                      <p:cBhvr>
                                        <p:cTn id="35" dur="400"/>
                                        <p:tgtEl>
                                          <p:spTgt spid="69"/>
                                        </p:tgtEl>
                                      </p:cBhvr>
                                    </p:animEffect>
                                  </p:childTnLst>
                                </p:cTn>
                              </p:par>
                              <p:par>
                                <p:cTn id="36" presetID="10" presetClass="entr" presetSubtype="0" fill="hold" nodeType="withEffect">
                                  <p:stCondLst>
                                    <p:cond delay="0"/>
                                  </p:stCondLst>
                                  <p:childTnLst>
                                    <p:set>
                                      <p:cBhvr>
                                        <p:cTn id="37" dur="1" fill="hold">
                                          <p:stCondLst>
                                            <p:cond delay="0"/>
                                          </p:stCondLst>
                                        </p:cTn>
                                        <p:tgtEl>
                                          <p:spTgt spid="70"/>
                                        </p:tgtEl>
                                        <p:attrNameLst>
                                          <p:attrName>style.visibility</p:attrName>
                                        </p:attrNameLst>
                                      </p:cBhvr>
                                      <p:to>
                                        <p:strVal val="visible"/>
                                      </p:to>
                                    </p:set>
                                    <p:animEffect transition="in" filter="fade">
                                      <p:cBhvr>
                                        <p:cTn id="38" dur="400"/>
                                        <p:tgtEl>
                                          <p:spTgt spid="70"/>
                                        </p:tgtEl>
                                      </p:cBhvr>
                                    </p:animEffect>
                                  </p:childTnLst>
                                </p:cTn>
                              </p:par>
                              <p:par>
                                <p:cTn id="39" presetID="10" presetClass="entr" presetSubtype="0" fill="hold" nodeType="withEffect">
                                  <p:stCondLst>
                                    <p:cond delay="0"/>
                                  </p:stCondLst>
                                  <p:childTnLst>
                                    <p:set>
                                      <p:cBhvr>
                                        <p:cTn id="40" dur="1" fill="hold">
                                          <p:stCondLst>
                                            <p:cond delay="0"/>
                                          </p:stCondLst>
                                        </p:cTn>
                                        <p:tgtEl>
                                          <p:spTgt spid="71"/>
                                        </p:tgtEl>
                                        <p:attrNameLst>
                                          <p:attrName>style.visibility</p:attrName>
                                        </p:attrNameLst>
                                      </p:cBhvr>
                                      <p:to>
                                        <p:strVal val="visible"/>
                                      </p:to>
                                    </p:set>
                                    <p:animEffect transition="in" filter="fade">
                                      <p:cBhvr>
                                        <p:cTn id="41" dur="400"/>
                                        <p:tgtEl>
                                          <p:spTgt spid="71"/>
                                        </p:tgtEl>
                                      </p:cBhvr>
                                    </p:animEffect>
                                  </p:childTnLst>
                                </p:cTn>
                              </p:par>
                              <p:par>
                                <p:cTn id="42" presetID="10" presetClass="entr" presetSubtype="0" fill="hold" nodeType="withEffect">
                                  <p:stCondLst>
                                    <p:cond delay="0"/>
                                  </p:stCondLst>
                                  <p:childTnLst>
                                    <p:set>
                                      <p:cBhvr>
                                        <p:cTn id="43" dur="1" fill="hold">
                                          <p:stCondLst>
                                            <p:cond delay="0"/>
                                          </p:stCondLst>
                                        </p:cTn>
                                        <p:tgtEl>
                                          <p:spTgt spid="72"/>
                                        </p:tgtEl>
                                        <p:attrNameLst>
                                          <p:attrName>style.visibility</p:attrName>
                                        </p:attrNameLst>
                                      </p:cBhvr>
                                      <p:to>
                                        <p:strVal val="visible"/>
                                      </p:to>
                                    </p:set>
                                    <p:animEffect transition="in" filter="fade">
                                      <p:cBhvr>
                                        <p:cTn id="44" dur="400"/>
                                        <p:tgtEl>
                                          <p:spTgt spid="72"/>
                                        </p:tgtEl>
                                      </p:cBhvr>
                                    </p:animEffect>
                                  </p:childTnLst>
                                </p:cTn>
                              </p:par>
                              <p:par>
                                <p:cTn id="45" presetID="10" presetClass="entr" presetSubtype="0" fill="hold" nodeType="withEffect">
                                  <p:stCondLst>
                                    <p:cond delay="0"/>
                                  </p:stCondLst>
                                  <p:childTnLst>
                                    <p:set>
                                      <p:cBhvr>
                                        <p:cTn id="46" dur="1" fill="hold">
                                          <p:stCondLst>
                                            <p:cond delay="0"/>
                                          </p:stCondLst>
                                        </p:cTn>
                                        <p:tgtEl>
                                          <p:spTgt spid="73"/>
                                        </p:tgtEl>
                                        <p:attrNameLst>
                                          <p:attrName>style.visibility</p:attrName>
                                        </p:attrNameLst>
                                      </p:cBhvr>
                                      <p:to>
                                        <p:strVal val="visible"/>
                                      </p:to>
                                    </p:set>
                                    <p:animEffect transition="in" filter="fade">
                                      <p:cBhvr>
                                        <p:cTn id="47" dur="400"/>
                                        <p:tgtEl>
                                          <p:spTgt spid="7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
                                        </p:tgtEl>
                                        <p:attrNameLst>
                                          <p:attrName>style.visibility</p:attrName>
                                        </p:attrNameLst>
                                      </p:cBhvr>
                                      <p:to>
                                        <p:strVal val="visible"/>
                                      </p:to>
                                    </p:set>
                                    <p:animEffect transition="in" filter="fade">
                                      <p:cBhvr>
                                        <p:cTn id="52" dur="400"/>
                                        <p:tgtEl>
                                          <p:spTgt spid="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fade">
                                      <p:cBhvr>
                                        <p:cTn id="57" dur="400"/>
                                        <p:tgtEl>
                                          <p:spTgt spid="6"/>
                                        </p:tgtEl>
                                      </p:cBhvr>
                                    </p:animEffect>
                                  </p:childTnLst>
                                </p:cTn>
                              </p:par>
                              <p:par>
                                <p:cTn id="58" presetID="10" presetClass="entr" presetSubtype="0" fill="hold" nodeType="with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400"/>
                                        <p:tgtEl>
                                          <p:spTgt spid="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
                                        </p:tgtEl>
                                        <p:attrNameLst>
                                          <p:attrName>style.visibility</p:attrName>
                                        </p:attrNameLst>
                                      </p:cBhvr>
                                      <p:to>
                                        <p:strVal val="visible"/>
                                      </p:to>
                                    </p:set>
                                    <p:animEffect transition="in" filter="fade">
                                      <p:cBhvr>
                                        <p:cTn id="6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4</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400"/>
                                        <p:tgtEl>
                                          <p:spTgt spid="103"/>
                                        </p:tgtEl>
                                      </p:cBhvr>
                                    </p:animEffect>
                                  </p:childTnLst>
                                </p:cTn>
                              </p:par>
                              <p:par>
                                <p:cTn id="25" presetID="10" presetClass="entr" presetSubtype="0" fill="hold" nodeType="withEffect">
                                  <p:stCondLst>
                                    <p:cond delay="0"/>
                                  </p:stCondLst>
                                  <p:childTnLst>
                                    <p:set>
                                      <p:cBhvr>
                                        <p:cTn id="26" dur="1" fill="hold">
                                          <p:stCondLst>
                                            <p:cond delay="0"/>
                                          </p:stCondLst>
                                        </p:cTn>
                                        <p:tgtEl>
                                          <p:spTgt spid="110"/>
                                        </p:tgtEl>
                                        <p:attrNameLst>
                                          <p:attrName>style.visibility</p:attrName>
                                        </p:attrNameLst>
                                      </p:cBhvr>
                                      <p:to>
                                        <p:strVal val="visible"/>
                                      </p:to>
                                    </p:set>
                                    <p:animEffect transition="in" filter="fade">
                                      <p:cBhvr>
                                        <p:cTn id="27" dur="400"/>
                                        <p:tgtEl>
                                          <p:spTgt spid="110"/>
                                        </p:tgtEl>
                                      </p:cBhvr>
                                    </p:animEffect>
                                  </p:childTnLst>
                                </p:cTn>
                              </p:par>
                              <p:par>
                                <p:cTn id="28" presetID="10" presetClass="entr" presetSubtype="0" fill="hold" nodeType="withEffect">
                                  <p:stCondLst>
                                    <p:cond delay="0"/>
                                  </p:stCondLst>
                                  <p:childTnLst>
                                    <p:set>
                                      <p:cBhvr>
                                        <p:cTn id="29" dur="1" fill="hold">
                                          <p:stCondLst>
                                            <p:cond delay="0"/>
                                          </p:stCondLst>
                                        </p:cTn>
                                        <p:tgtEl>
                                          <p:spTgt spid="111"/>
                                        </p:tgtEl>
                                        <p:attrNameLst>
                                          <p:attrName>style.visibility</p:attrName>
                                        </p:attrNameLst>
                                      </p:cBhvr>
                                      <p:to>
                                        <p:strVal val="visible"/>
                                      </p:to>
                                    </p:set>
                                    <p:animEffect transition="in" filter="fade">
                                      <p:cBhvr>
                                        <p:cTn id="30" dur="400"/>
                                        <p:tgtEl>
                                          <p:spTgt spid="111"/>
                                        </p:tgtEl>
                                      </p:cBhvr>
                                    </p:animEffect>
                                  </p:childTnLst>
                                </p:cTn>
                              </p:par>
                              <p:par>
                                <p:cTn id="31" presetID="10" presetClass="entr" presetSubtype="0" fill="hold" nodeType="withEffect">
                                  <p:stCondLst>
                                    <p:cond delay="0"/>
                                  </p:stCondLst>
                                  <p:childTnLst>
                                    <p:set>
                                      <p:cBhvr>
                                        <p:cTn id="32" dur="1" fill="hold">
                                          <p:stCondLst>
                                            <p:cond delay="0"/>
                                          </p:stCondLst>
                                        </p:cTn>
                                        <p:tgtEl>
                                          <p:spTgt spid="112"/>
                                        </p:tgtEl>
                                        <p:attrNameLst>
                                          <p:attrName>style.visibility</p:attrName>
                                        </p:attrNameLst>
                                      </p:cBhvr>
                                      <p:to>
                                        <p:strVal val="visible"/>
                                      </p:to>
                                    </p:set>
                                    <p:animEffect transition="in" filter="fade">
                                      <p:cBhvr>
                                        <p:cTn id="33" dur="400"/>
                                        <p:tgtEl>
                                          <p:spTgt spid="112"/>
                                        </p:tgtEl>
                                      </p:cBhvr>
                                    </p:animEffect>
                                  </p:childTnLst>
                                </p:cTn>
                              </p:par>
                              <p:par>
                                <p:cTn id="34" presetID="10" presetClass="entr" presetSubtype="0" fill="hold" nodeType="withEffect">
                                  <p:stCondLst>
                                    <p:cond delay="0"/>
                                  </p:stCondLst>
                                  <p:childTnLst>
                                    <p:set>
                                      <p:cBhvr>
                                        <p:cTn id="35" dur="1" fill="hold">
                                          <p:stCondLst>
                                            <p:cond delay="0"/>
                                          </p:stCondLst>
                                        </p:cTn>
                                        <p:tgtEl>
                                          <p:spTgt spid="113"/>
                                        </p:tgtEl>
                                        <p:attrNameLst>
                                          <p:attrName>style.visibility</p:attrName>
                                        </p:attrNameLst>
                                      </p:cBhvr>
                                      <p:to>
                                        <p:strVal val="visible"/>
                                      </p:to>
                                    </p:set>
                                    <p:animEffect transition="in" filter="fade">
                                      <p:cBhvr>
                                        <p:cTn id="36" dur="400"/>
                                        <p:tgtEl>
                                          <p:spTgt spid="1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4"/>
                                        </p:tgtEl>
                                        <p:attrNameLst>
                                          <p:attrName>style.visibility</p:attrName>
                                        </p:attrNameLst>
                                      </p:cBhvr>
                                      <p:to>
                                        <p:strVal val="visible"/>
                                      </p:to>
                                    </p:set>
                                    <p:animEffect transition="in" filter="fade">
                                      <p:cBhvr>
                                        <p:cTn id="41" dur="400"/>
                                        <p:tgtEl>
                                          <p:spTgt spid="104"/>
                                        </p:tgtEl>
                                      </p:cBhvr>
                                    </p:animEffect>
                                  </p:childTnLst>
                                </p:cTn>
                              </p:par>
                              <p:par>
                                <p:cTn id="42" presetID="10" presetClass="entr" presetSubtype="0" fill="hold" nodeType="withEffect">
                                  <p:stCondLst>
                                    <p:cond delay="0"/>
                                  </p:stCondLst>
                                  <p:childTnLst>
                                    <p:set>
                                      <p:cBhvr>
                                        <p:cTn id="43" dur="1" fill="hold">
                                          <p:stCondLst>
                                            <p:cond delay="0"/>
                                          </p:stCondLst>
                                        </p:cTn>
                                        <p:tgtEl>
                                          <p:spTgt spid="105"/>
                                        </p:tgtEl>
                                        <p:attrNameLst>
                                          <p:attrName>style.visibility</p:attrName>
                                        </p:attrNameLst>
                                      </p:cBhvr>
                                      <p:to>
                                        <p:strVal val="visible"/>
                                      </p:to>
                                    </p:set>
                                    <p:animEffect transition="in" filter="fade">
                                      <p:cBhvr>
                                        <p:cTn id="44" dur="400"/>
                                        <p:tgtEl>
                                          <p:spTgt spid="105"/>
                                        </p:tgtEl>
                                      </p:cBhvr>
                                    </p:animEffect>
                                  </p:childTnLst>
                                </p:cTn>
                              </p:par>
                              <p:par>
                                <p:cTn id="45" presetID="10" presetClass="entr" presetSubtype="0" fill="hold" nodeType="withEffect">
                                  <p:stCondLst>
                                    <p:cond delay="0"/>
                                  </p:stCondLst>
                                  <p:childTnLst>
                                    <p:set>
                                      <p:cBhvr>
                                        <p:cTn id="46" dur="1" fill="hold">
                                          <p:stCondLst>
                                            <p:cond delay="0"/>
                                          </p:stCondLst>
                                        </p:cTn>
                                        <p:tgtEl>
                                          <p:spTgt spid="114"/>
                                        </p:tgtEl>
                                        <p:attrNameLst>
                                          <p:attrName>style.visibility</p:attrName>
                                        </p:attrNameLst>
                                      </p:cBhvr>
                                      <p:to>
                                        <p:strVal val="visible"/>
                                      </p:to>
                                    </p:set>
                                    <p:animEffect transition="in" filter="fade">
                                      <p:cBhvr>
                                        <p:cTn id="47" dur="400"/>
                                        <p:tgtEl>
                                          <p:spTgt spid="114"/>
                                        </p:tgtEl>
                                      </p:cBhvr>
                                    </p:animEffect>
                                  </p:childTnLst>
                                </p:cTn>
                              </p:par>
                              <p:par>
                                <p:cTn id="48" presetID="10" presetClass="entr" presetSubtype="0" fill="hold" nodeType="withEffect">
                                  <p:stCondLst>
                                    <p:cond delay="0"/>
                                  </p:stCondLst>
                                  <p:childTnLst>
                                    <p:set>
                                      <p:cBhvr>
                                        <p:cTn id="49" dur="1" fill="hold">
                                          <p:stCondLst>
                                            <p:cond delay="0"/>
                                          </p:stCondLst>
                                        </p:cTn>
                                        <p:tgtEl>
                                          <p:spTgt spid="115"/>
                                        </p:tgtEl>
                                        <p:attrNameLst>
                                          <p:attrName>style.visibility</p:attrName>
                                        </p:attrNameLst>
                                      </p:cBhvr>
                                      <p:to>
                                        <p:strVal val="visible"/>
                                      </p:to>
                                    </p:set>
                                    <p:animEffect transition="in" filter="fade">
                                      <p:cBhvr>
                                        <p:cTn id="50" dur="400"/>
                                        <p:tgtEl>
                                          <p:spTgt spid="115"/>
                                        </p:tgtEl>
                                      </p:cBhvr>
                                    </p:animEffect>
                                  </p:childTnLst>
                                </p:cTn>
                              </p:par>
                              <p:par>
                                <p:cTn id="51" presetID="10" presetClass="entr" presetSubtype="0" fill="hold" nodeType="withEffect">
                                  <p:stCondLst>
                                    <p:cond delay="0"/>
                                  </p:stCondLst>
                                  <p:childTnLst>
                                    <p:set>
                                      <p:cBhvr>
                                        <p:cTn id="52" dur="1" fill="hold">
                                          <p:stCondLst>
                                            <p:cond delay="0"/>
                                          </p:stCondLst>
                                        </p:cTn>
                                        <p:tgtEl>
                                          <p:spTgt spid="116"/>
                                        </p:tgtEl>
                                        <p:attrNameLst>
                                          <p:attrName>style.visibility</p:attrName>
                                        </p:attrNameLst>
                                      </p:cBhvr>
                                      <p:to>
                                        <p:strVal val="visible"/>
                                      </p:to>
                                    </p:set>
                                    <p:animEffect transition="in" filter="fade">
                                      <p:cBhvr>
                                        <p:cTn id="53" dur="400"/>
                                        <p:tgtEl>
                                          <p:spTgt spid="11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06"/>
                                        </p:tgtEl>
                                        <p:attrNameLst>
                                          <p:attrName>style.visibility</p:attrName>
                                        </p:attrNameLst>
                                      </p:cBhvr>
                                      <p:to>
                                        <p:strVal val="visible"/>
                                      </p:to>
                                    </p:set>
                                    <p:animEffect transition="in" filter="fade">
                                      <p:cBhvr>
                                        <p:cTn id="58" dur="400"/>
                                        <p:tgtEl>
                                          <p:spTgt spid="106"/>
                                        </p:tgtEl>
                                      </p:cBhvr>
                                    </p:animEffect>
                                  </p:childTnLst>
                                </p:cTn>
                              </p:par>
                              <p:par>
                                <p:cTn id="59" presetID="10" presetClass="entr" presetSubtype="0" fill="hold" nodeType="withEffect">
                                  <p:stCondLst>
                                    <p:cond delay="0"/>
                                  </p:stCondLst>
                                  <p:childTnLst>
                                    <p:set>
                                      <p:cBhvr>
                                        <p:cTn id="60" dur="1" fill="hold">
                                          <p:stCondLst>
                                            <p:cond delay="0"/>
                                          </p:stCondLst>
                                        </p:cTn>
                                        <p:tgtEl>
                                          <p:spTgt spid="107"/>
                                        </p:tgtEl>
                                        <p:attrNameLst>
                                          <p:attrName>style.visibility</p:attrName>
                                        </p:attrNameLst>
                                      </p:cBhvr>
                                      <p:to>
                                        <p:strVal val="visible"/>
                                      </p:to>
                                    </p:set>
                                    <p:animEffect transition="in" filter="fade">
                                      <p:cBhvr>
                                        <p:cTn id="61" dur="400"/>
                                        <p:tgtEl>
                                          <p:spTgt spid="107"/>
                                        </p:tgtEl>
                                      </p:cBhvr>
                                    </p:animEffect>
                                  </p:childTnLst>
                                </p:cTn>
                              </p:par>
                              <p:par>
                                <p:cTn id="62" presetID="10" presetClass="entr" presetSubtype="0" fill="hold" nodeType="withEffect">
                                  <p:stCondLst>
                                    <p:cond delay="0"/>
                                  </p:stCondLst>
                                  <p:childTnLst>
                                    <p:set>
                                      <p:cBhvr>
                                        <p:cTn id="63" dur="1" fill="hold">
                                          <p:stCondLst>
                                            <p:cond delay="0"/>
                                          </p:stCondLst>
                                        </p:cTn>
                                        <p:tgtEl>
                                          <p:spTgt spid="117"/>
                                        </p:tgtEl>
                                        <p:attrNameLst>
                                          <p:attrName>style.visibility</p:attrName>
                                        </p:attrNameLst>
                                      </p:cBhvr>
                                      <p:to>
                                        <p:strVal val="visible"/>
                                      </p:to>
                                    </p:set>
                                    <p:animEffect transition="in" filter="fade">
                                      <p:cBhvr>
                                        <p:cTn id="64" dur="400"/>
                                        <p:tgtEl>
                                          <p:spTgt spid="117"/>
                                        </p:tgtEl>
                                      </p:cBhvr>
                                    </p:animEffect>
                                  </p:childTnLst>
                                </p:cTn>
                              </p:par>
                              <p:par>
                                <p:cTn id="65" presetID="10" presetClass="entr" presetSubtype="0" fill="hold" nodeType="withEffect">
                                  <p:stCondLst>
                                    <p:cond delay="0"/>
                                  </p:stCondLst>
                                  <p:childTnLst>
                                    <p:set>
                                      <p:cBhvr>
                                        <p:cTn id="66" dur="1" fill="hold">
                                          <p:stCondLst>
                                            <p:cond delay="0"/>
                                          </p:stCondLst>
                                        </p:cTn>
                                        <p:tgtEl>
                                          <p:spTgt spid="118"/>
                                        </p:tgtEl>
                                        <p:attrNameLst>
                                          <p:attrName>style.visibility</p:attrName>
                                        </p:attrNameLst>
                                      </p:cBhvr>
                                      <p:to>
                                        <p:strVal val="visible"/>
                                      </p:to>
                                    </p:set>
                                    <p:animEffect transition="in" filter="fade">
                                      <p:cBhvr>
                                        <p:cTn id="67" dur="400"/>
                                        <p:tgtEl>
                                          <p:spTgt spid="118"/>
                                        </p:tgtEl>
                                      </p:cBhvr>
                                    </p:animEffect>
                                  </p:childTnLst>
                                </p:cTn>
                              </p:par>
                              <p:par>
                                <p:cTn id="68" presetID="10" presetClass="entr" presetSubtype="0" fill="hold" nodeType="withEffect">
                                  <p:stCondLst>
                                    <p:cond delay="0"/>
                                  </p:stCondLst>
                                  <p:childTnLst>
                                    <p:set>
                                      <p:cBhvr>
                                        <p:cTn id="69" dur="1" fill="hold">
                                          <p:stCondLst>
                                            <p:cond delay="0"/>
                                          </p:stCondLst>
                                        </p:cTn>
                                        <p:tgtEl>
                                          <p:spTgt spid="119"/>
                                        </p:tgtEl>
                                        <p:attrNameLst>
                                          <p:attrName>style.visibility</p:attrName>
                                        </p:attrNameLst>
                                      </p:cBhvr>
                                      <p:to>
                                        <p:strVal val="visible"/>
                                      </p:to>
                                    </p:set>
                                    <p:animEffect transition="in" filter="fade">
                                      <p:cBhvr>
                                        <p:cTn id="70" dur="400"/>
                                        <p:tgtEl>
                                          <p:spTgt spid="119"/>
                                        </p:tgtEl>
                                      </p:cBhvr>
                                    </p:animEffect>
                                  </p:childTnLst>
                                </p:cTn>
                              </p:par>
                              <p:par>
                                <p:cTn id="71" presetID="10"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animEffect transition="in" filter="fade">
                                      <p:cBhvr>
                                        <p:cTn id="73" dur="400"/>
                                        <p:tgtEl>
                                          <p:spTgt spid="120"/>
                                        </p:tgtEl>
                                      </p:cBhvr>
                                    </p:animEffect>
                                  </p:childTnLst>
                                </p:cTn>
                              </p:par>
                              <p:par>
                                <p:cTn id="74" presetID="10" presetClass="entr" presetSubtype="0" fill="hold" nodeType="withEffect">
                                  <p:stCondLst>
                                    <p:cond delay="0"/>
                                  </p:stCondLst>
                                  <p:childTnLst>
                                    <p:set>
                                      <p:cBhvr>
                                        <p:cTn id="75" dur="1" fill="hold">
                                          <p:stCondLst>
                                            <p:cond delay="0"/>
                                          </p:stCondLst>
                                        </p:cTn>
                                        <p:tgtEl>
                                          <p:spTgt spid="121"/>
                                        </p:tgtEl>
                                        <p:attrNameLst>
                                          <p:attrName>style.visibility</p:attrName>
                                        </p:attrNameLst>
                                      </p:cBhvr>
                                      <p:to>
                                        <p:strVal val="visible"/>
                                      </p:to>
                                    </p:set>
                                    <p:animEffect transition="in" filter="fade">
                                      <p:cBhvr>
                                        <p:cTn id="76" dur="400"/>
                                        <p:tgtEl>
                                          <p:spTgt spid="121"/>
                                        </p:tgtEl>
                                      </p:cBhvr>
                                    </p:animEffect>
                                  </p:childTnLst>
                                </p:cTn>
                              </p:par>
                              <p:par>
                                <p:cTn id="77" presetID="10" presetClass="entr" presetSubtype="0" fill="hold" nodeType="withEffect">
                                  <p:stCondLst>
                                    <p:cond delay="0"/>
                                  </p:stCondLst>
                                  <p:childTnLst>
                                    <p:set>
                                      <p:cBhvr>
                                        <p:cTn id="78" dur="1" fill="hold">
                                          <p:stCondLst>
                                            <p:cond delay="0"/>
                                          </p:stCondLst>
                                        </p:cTn>
                                        <p:tgtEl>
                                          <p:spTgt spid="122"/>
                                        </p:tgtEl>
                                        <p:attrNameLst>
                                          <p:attrName>style.visibility</p:attrName>
                                        </p:attrNameLst>
                                      </p:cBhvr>
                                      <p:to>
                                        <p:strVal val="visible"/>
                                      </p:to>
                                    </p:set>
                                    <p:animEffect transition="in" filter="fade">
                                      <p:cBhvr>
                                        <p:cTn id="79" dur="400"/>
                                        <p:tgtEl>
                                          <p:spTgt spid="122"/>
                                        </p:tgtEl>
                                      </p:cBhvr>
                                    </p:animEffect>
                                  </p:childTnLst>
                                </p:cTn>
                              </p:par>
                              <p:par>
                                <p:cTn id="80" presetID="10" presetClass="entr" presetSubtype="0" fill="hold" nodeType="withEffect">
                                  <p:stCondLst>
                                    <p:cond delay="0"/>
                                  </p:stCondLst>
                                  <p:childTnLst>
                                    <p:set>
                                      <p:cBhvr>
                                        <p:cTn id="81" dur="1" fill="hold">
                                          <p:stCondLst>
                                            <p:cond delay="0"/>
                                          </p:stCondLst>
                                        </p:cTn>
                                        <p:tgtEl>
                                          <p:spTgt spid="123"/>
                                        </p:tgtEl>
                                        <p:attrNameLst>
                                          <p:attrName>style.visibility</p:attrName>
                                        </p:attrNameLst>
                                      </p:cBhvr>
                                      <p:to>
                                        <p:strVal val="visible"/>
                                      </p:to>
                                    </p:set>
                                    <p:animEffect transition="in" filter="fade">
                                      <p:cBhvr>
                                        <p:cTn id="82" dur="400"/>
                                        <p:tgtEl>
                                          <p:spTgt spid="123"/>
                                        </p:tgtEl>
                                      </p:cBhvr>
                                    </p:animEffect>
                                  </p:childTnLst>
                                </p:cTn>
                              </p:par>
                              <p:par>
                                <p:cTn id="83" presetID="10" presetClass="entr" presetSubtype="0" fill="hold" nodeType="withEffect">
                                  <p:stCondLst>
                                    <p:cond delay="0"/>
                                  </p:stCondLst>
                                  <p:childTnLst>
                                    <p:set>
                                      <p:cBhvr>
                                        <p:cTn id="84" dur="1" fill="hold">
                                          <p:stCondLst>
                                            <p:cond delay="0"/>
                                          </p:stCondLst>
                                        </p:cTn>
                                        <p:tgtEl>
                                          <p:spTgt spid="140"/>
                                        </p:tgtEl>
                                        <p:attrNameLst>
                                          <p:attrName>style.visibility</p:attrName>
                                        </p:attrNameLst>
                                      </p:cBhvr>
                                      <p:to>
                                        <p:strVal val="visible"/>
                                      </p:to>
                                    </p:set>
                                    <p:animEffect transition="in" filter="fade">
                                      <p:cBhvr>
                                        <p:cTn id="85" dur="400"/>
                                        <p:tgtEl>
                                          <p:spTgt spid="140"/>
                                        </p:tgtEl>
                                      </p:cBhvr>
                                    </p:animEffect>
                                  </p:childTnLst>
                                </p:cTn>
                              </p:par>
                              <p:par>
                                <p:cTn id="86" presetID="10" presetClass="entr" presetSubtype="0" fill="hold" nodeType="withEffect">
                                  <p:stCondLst>
                                    <p:cond delay="0"/>
                                  </p:stCondLst>
                                  <p:childTnLst>
                                    <p:set>
                                      <p:cBhvr>
                                        <p:cTn id="87" dur="1" fill="hold">
                                          <p:stCondLst>
                                            <p:cond delay="0"/>
                                          </p:stCondLst>
                                        </p:cTn>
                                        <p:tgtEl>
                                          <p:spTgt spid="124"/>
                                        </p:tgtEl>
                                        <p:attrNameLst>
                                          <p:attrName>style.visibility</p:attrName>
                                        </p:attrNameLst>
                                      </p:cBhvr>
                                      <p:to>
                                        <p:strVal val="visible"/>
                                      </p:to>
                                    </p:set>
                                    <p:animEffect transition="in" filter="fade">
                                      <p:cBhvr>
                                        <p:cTn id="88" dur="4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61" name="Band61"/>
          <p:cNvSpPr/>
          <p:nvPr/>
        </p:nvSpPr>
        <p:spPr>
          <a:xfrm>
            <a:off x="279400" y="4560000"/>
            <a:ext cx="8585200" cy="560000"/>
          </a:xfrm>
          <a:prstGeom prst="rect">
            <a:avLst/>
          </a:prstGeom>
          <a:solidFill>
            <a:srgbClr val="F5F1E8"/>
          </a:solidFill>
          <a:ln>
            <a:noFill/>
          </a:ln>
        </p:spPr>
        <p:txBody>
          <a:bodyPr wrap="square" lIns="109728" tIns="82296" rIns="109728" bIns="82296" anchor="ctr">
            <a:normAutofit lnSpcReduction="10000"/>
          </a:bodyPr>
          <a:lstStyle/>
          <a:p>
            <a:pPr algn="ctr">
              <a:buNone/>
            </a:pPr>
            <a:r>
              <a:rPr lang="en-US" sz="1300" b="1" i="0" dirty="0">
                <a:solidFill>
                  <a:srgbClr val="8E6F3E"/>
                </a:solidFill>
              </a:rPr>
              <a:t>CHANGE TOGETHER? · FAIL TOGETHER? · SCALE TOGETHER? · CONSISTENT TOGETHER? · SECURE TOGETHER? · OWNED TOGETHER?</a:t>
            </a:r>
          </a:p>
        </p:txBody>
      </p:sp>
      <p:sp>
        <p:nvSpPr>
          <p:cNvPr id="62" name="T62"/>
          <p:cNvSpPr txBox="1"/>
          <p:nvPr/>
        </p:nvSpPr>
        <p:spPr>
          <a:xfrm>
            <a:off x="685800" y="5170000"/>
            <a:ext cx="7772400" cy="36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046000" y="12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046000" y="19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046000" y="26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046000" y="33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046000" y="1250000"/>
            <a:ext cx="2600000" cy="28000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00000"/>
            <a:ext cx="0" cy="3050000"/>
          </a:xfrm>
          <a:prstGeom prst="line">
            <a:avLst/>
          </a:prstGeom>
          <a:ln w="28575">
            <a:solidFill>
              <a:srgbClr val="C9B991"/>
            </a:solidFill>
            <a:prstDash val="dash"/>
          </a:ln>
        </p:spPr>
      </p:cxnSp>
      <p:sp>
        <p:nvSpPr>
          <p:cNvPr id="107" name="OrgBLbl"/>
          <p:cNvSpPr txBox="1"/>
          <p:nvPr/>
        </p:nvSpPr>
        <p:spPr>
          <a:xfrm>
            <a:off x="459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2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6970000" y="1300000"/>
            <a:ext cx="2050000" cy="800000"/>
          </a:xfrm>
          <a:prstGeom prst="rect">
            <a:avLst/>
          </a:prstGeom>
          <a:solidFill>
            <a:srgbClr val="F5F1E8"/>
          </a:solidFill>
          <a:ln w="17526">
            <a:solidFill>
              <a:srgbClr val="C9B991"/>
            </a:solidFill>
          </a:ln>
        </p:spPr>
        <p:txBody>
          <a:bodyPr wrap="square" lIns="54864" tIns="27432" rIns="54864" bIns="27432" anchor="ctr">
            <a:normAutofit fontScale="92500"/>
          </a:bodyPr>
          <a:lstStyle/>
          <a:p>
            <a:pPr algn="ctr">
              <a:buNone/>
            </a:pPr>
            <a:r>
              <a:rPr lang="en-US" sz="2400" b="0" i="0" dirty="0">
                <a:solidFill>
                  <a:srgbClr val="5C4826"/>
                </a:solidFill>
              </a:rPr>
              <a:t>model · advise</a:t>
            </a:r>
          </a:p>
        </p:txBody>
      </p:sp>
      <p:sp>
        <p:nvSpPr>
          <p:cNvPr id="110" name="OrgBShare"/>
          <p:cNvSpPr/>
          <p:nvPr/>
        </p:nvSpPr>
        <p:spPr>
          <a:xfrm>
            <a:off x="5845000" y="2950000"/>
            <a:ext cx="2050000" cy="80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d111"/>
          <p:cNvCxnSpPr/>
          <p:nvPr/>
        </p:nvCxnSpPr>
        <p:spPr>
          <a:xfrm>
            <a:off x="5745000" y="2100000"/>
            <a:ext cx="0" cy="620000"/>
          </a:xfrm>
          <a:prstGeom prst="line">
            <a:avLst/>
          </a:prstGeom>
          <a:ln w="44450">
            <a:solidFill>
              <a:srgbClr val="8E6F3E"/>
            </a:solidFill>
          </a:ln>
        </p:spPr>
      </p:cxnSp>
      <p:cxnSp>
        <p:nvCxnSpPr>
          <p:cNvPr id="112" name="OrgBd112"/>
          <p:cNvCxnSpPr/>
          <p:nvPr/>
        </p:nvCxnSpPr>
        <p:spPr>
          <a:xfrm>
            <a:off x="7995000" y="2100000"/>
            <a:ext cx="0" cy="620000"/>
          </a:xfrm>
          <a:prstGeom prst="line">
            <a:avLst/>
          </a:prstGeom>
          <a:ln w="44450">
            <a:solidFill>
              <a:srgbClr val="8E6F3E"/>
            </a:solidFill>
          </a:ln>
        </p:spPr>
      </p:cxnSp>
      <p:sp>
        <p:nvSpPr>
          <p:cNvPr id="113" name="Cap"/>
          <p:cNvSpPr txBox="1"/>
          <p:nvPr/>
        </p:nvSpPr>
        <p:spPr>
          <a:xfrm>
            <a:off x="685800" y="409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cxnSp>
        <p:nvCxnSpPr>
          <p:cNvPr id="114" name="OrgBh1"/>
          <p:cNvCxnSpPr/>
          <p:nvPr/>
        </p:nvCxnSpPr>
        <p:spPr>
          <a:xfrm>
            <a:off x="5745000" y="2700000"/>
            <a:ext cx="725000" cy="0"/>
          </a:xfrm>
          <a:prstGeom prst="line">
            <a:avLst/>
          </a:prstGeom>
          <a:ln w="44450">
            <a:solidFill>
              <a:srgbClr val="8E6F3E"/>
            </a:solidFill>
          </a:ln>
        </p:spPr>
      </p:cxnSp>
      <p:cxnSp>
        <p:nvCxnSpPr>
          <p:cNvPr id="115" name="OrgBv1"/>
          <p:cNvCxnSpPr/>
          <p:nvPr/>
        </p:nvCxnSpPr>
        <p:spPr>
          <a:xfrm>
            <a:off x="6470000" y="2700000"/>
            <a:ext cx="0" cy="250000"/>
          </a:xfrm>
          <a:prstGeom prst="line">
            <a:avLst/>
          </a:prstGeom>
          <a:ln w="44450">
            <a:solidFill>
              <a:srgbClr val="8E6F3E"/>
            </a:solidFill>
            <a:tailEnd type="triangle" w="med" len="med"/>
          </a:ln>
        </p:spPr>
      </p:cxnSp>
      <p:cxnSp>
        <p:nvCxnSpPr>
          <p:cNvPr id="116" name="OrgBh2"/>
          <p:cNvCxnSpPr/>
          <p:nvPr/>
        </p:nvCxnSpPr>
        <p:spPr>
          <a:xfrm>
            <a:off x="7270000" y="2700000"/>
            <a:ext cx="725000" cy="0"/>
          </a:xfrm>
          <a:prstGeom prst="line">
            <a:avLst/>
          </a:prstGeom>
          <a:ln w="44450">
            <a:solidFill>
              <a:srgbClr val="8E6F3E"/>
            </a:solidFill>
          </a:ln>
        </p:spPr>
      </p:cxnSp>
      <p:cxnSp>
        <p:nvCxnSpPr>
          <p:cNvPr id="117" name="OrgBv2"/>
          <p:cNvCxnSpPr/>
          <p:nvPr/>
        </p:nvCxnSpPr>
        <p:spPr>
          <a:xfrm>
            <a:off x="7270000" y="2700000"/>
            <a:ext cx="0" cy="250000"/>
          </a:xfrm>
          <a:prstGeom prst="line">
            <a:avLst/>
          </a:prstGeom>
          <a:ln w="4445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
                                        </p:tgtEl>
                                        <p:attrNameLst>
                                          <p:attrName>style.visibility</p:attrName>
                                        </p:attrNameLst>
                                      </p:cBhvr>
                                      <p:to>
                                        <p:strVal val="visible"/>
                                      </p:to>
                                    </p:set>
                                    <p:animEffect transition="in" filter="fade">
                                      <p:cBhvr>
                                        <p:cTn id="12" dur="400"/>
                                        <p:tgtEl>
                                          <p:spTgt spid="100"/>
                                        </p:tgtEl>
                                      </p:cBhvr>
                                    </p:animEffect>
                                  </p:childTnLst>
                                </p:cTn>
                              </p:par>
                              <p:par>
                                <p:cTn id="13" presetID="10" presetClass="entr" presetSubtype="0" fill="hold"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4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4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400"/>
                                        <p:tgtEl>
                                          <p:spTgt spid="104"/>
                                        </p:tgtEl>
                                      </p:cBhvr>
                                    </p:animEffect>
                                  </p:childTnLst>
                                </p:cTn>
                              </p:par>
                              <p:par>
                                <p:cTn id="25" presetID="10" presetClass="entr" presetSubtype="0" fill="hold" nodeType="withEffect">
                                  <p:stCondLst>
                                    <p:cond delay="0"/>
                                  </p:stCondLst>
                                  <p:childTnLst>
                                    <p:set>
                                      <p:cBhvr>
                                        <p:cTn id="26" dur="1" fill="hold">
                                          <p:stCondLst>
                                            <p:cond delay="0"/>
                                          </p:stCondLst>
                                        </p:cTn>
                                        <p:tgtEl>
                                          <p:spTgt spid="105"/>
                                        </p:tgtEl>
                                        <p:attrNameLst>
                                          <p:attrName>style.visibility</p:attrName>
                                        </p:attrNameLst>
                                      </p:cBhvr>
                                      <p:to>
                                        <p:strVal val="visible"/>
                                      </p:to>
                                    </p:set>
                                    <p:animEffect transition="in" filter="fade">
                                      <p:cBhvr>
                                        <p:cTn id="27" dur="400"/>
                                        <p:tgtEl>
                                          <p:spTgt spid="1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par>
                                <p:cTn id="39" presetID="10" presetClass="entr" presetSubtype="0" fill="hold" nodeType="withEffect">
                                  <p:stCondLst>
                                    <p:cond delay="0"/>
                                  </p:stCondLst>
                                  <p:childTnLst>
                                    <p:set>
                                      <p:cBhvr>
                                        <p:cTn id="40" dur="1" fill="hold">
                                          <p:stCondLst>
                                            <p:cond delay="0"/>
                                          </p:stCondLst>
                                        </p:cTn>
                                        <p:tgtEl>
                                          <p:spTgt spid="110"/>
                                        </p:tgtEl>
                                        <p:attrNameLst>
                                          <p:attrName>style.visibility</p:attrName>
                                        </p:attrNameLst>
                                      </p:cBhvr>
                                      <p:to>
                                        <p:strVal val="visible"/>
                                      </p:to>
                                    </p:set>
                                    <p:animEffect transition="in" filter="fade">
                                      <p:cBhvr>
                                        <p:cTn id="41" dur="400"/>
                                        <p:tgtEl>
                                          <p:spTgt spid="110"/>
                                        </p:tgtEl>
                                      </p:cBhvr>
                                    </p:animEffect>
                                  </p:childTnLst>
                                </p:cTn>
                              </p:par>
                              <p:par>
                                <p:cTn id="42" presetID="10" presetClass="entr" presetSubtype="0" fill="hold" nodeType="with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4"/>
                                        </p:tgtEl>
                                        <p:attrNameLst>
                                          <p:attrName>style.visibility</p:attrName>
                                        </p:attrNameLst>
                                      </p:cBhvr>
                                      <p:to>
                                        <p:strVal val="visible"/>
                                      </p:to>
                                    </p:set>
                                    <p:animEffect transition="in" filter="fade">
                                      <p:cBhvr>
                                        <p:cTn id="50" dur="400"/>
                                        <p:tgtEl>
                                          <p:spTgt spid="114"/>
                                        </p:tgtEl>
                                      </p:cBhvr>
                                    </p:animEffect>
                                  </p:childTnLst>
                                </p:cTn>
                              </p:par>
                              <p:par>
                                <p:cTn id="51" presetID="10" presetClass="entr" presetSubtype="0" fill="hold" nodeType="withEffect">
                                  <p:stCondLst>
                                    <p:cond delay="0"/>
                                  </p:stCondLst>
                                  <p:childTnLst>
                                    <p:set>
                                      <p:cBhvr>
                                        <p:cTn id="52" dur="1" fill="hold">
                                          <p:stCondLst>
                                            <p:cond delay="0"/>
                                          </p:stCondLst>
                                        </p:cTn>
                                        <p:tgtEl>
                                          <p:spTgt spid="115"/>
                                        </p:tgtEl>
                                        <p:attrNameLst>
                                          <p:attrName>style.visibility</p:attrName>
                                        </p:attrNameLst>
                                      </p:cBhvr>
                                      <p:to>
                                        <p:strVal val="visible"/>
                                      </p:to>
                                    </p:set>
                                    <p:animEffect transition="in" filter="fade">
                                      <p:cBhvr>
                                        <p:cTn id="53" dur="400"/>
                                        <p:tgtEl>
                                          <p:spTgt spid="115"/>
                                        </p:tgtEl>
                                      </p:cBhvr>
                                    </p:animEffect>
                                  </p:childTnLst>
                                </p:cTn>
                              </p:par>
                              <p:par>
                                <p:cTn id="54" presetID="10" presetClass="entr" presetSubtype="0" fill="hold" nodeType="withEffect">
                                  <p:stCondLst>
                                    <p:cond delay="0"/>
                                  </p:stCondLst>
                                  <p:childTnLst>
                                    <p:set>
                                      <p:cBhvr>
                                        <p:cTn id="55" dur="1" fill="hold">
                                          <p:stCondLst>
                                            <p:cond delay="0"/>
                                          </p:stCondLst>
                                        </p:cTn>
                                        <p:tgtEl>
                                          <p:spTgt spid="116"/>
                                        </p:tgtEl>
                                        <p:attrNameLst>
                                          <p:attrName>style.visibility</p:attrName>
                                        </p:attrNameLst>
                                      </p:cBhvr>
                                      <p:to>
                                        <p:strVal val="visible"/>
                                      </p:to>
                                    </p:set>
                                    <p:animEffect transition="in" filter="fade">
                                      <p:cBhvr>
                                        <p:cTn id="56" dur="400"/>
                                        <p:tgtEl>
                                          <p:spTgt spid="116"/>
                                        </p:tgtEl>
                                      </p:cBhvr>
                                    </p:animEffect>
                                  </p:childTnLst>
                                </p:cTn>
                              </p:par>
                              <p:par>
                                <p:cTn id="57" presetID="10" presetClass="entr" presetSubtype="0" fill="hold" nodeType="withEffect">
                                  <p:stCondLst>
                                    <p:cond delay="0"/>
                                  </p:stCondLst>
                                  <p:childTnLst>
                                    <p:set>
                                      <p:cBhvr>
                                        <p:cTn id="58" dur="1" fill="hold">
                                          <p:stCondLst>
                                            <p:cond delay="0"/>
                                          </p:stCondLst>
                                        </p:cTn>
                                        <p:tgtEl>
                                          <p:spTgt spid="117"/>
                                        </p:tgtEl>
                                        <p:attrNameLst>
                                          <p:attrName>style.visibility</p:attrName>
                                        </p:attrNameLst>
                                      </p:cBhvr>
                                      <p:to>
                                        <p:strVal val="visible"/>
                                      </p:to>
                                    </p:set>
                                    <p:animEffect transition="in" filter="fade">
                                      <p:cBhvr>
                                        <p:cTn id="59" dur="400"/>
                                        <p:tgtEl>
                                          <p:spTgt spid="11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3"/>
                                        </p:tgtEl>
                                        <p:attrNameLst>
                                          <p:attrName>style.visibility</p:attrName>
                                        </p:attrNameLst>
                                      </p:cBhvr>
                                      <p:to>
                                        <p:strVal val="visible"/>
                                      </p:to>
                                    </p:set>
                                    <p:animEffect transition="in" filter="fade">
                                      <p:cBhvr>
                                        <p:cTn id="64" dur="400"/>
                                        <p:tgtEl>
                                          <p:spTgt spid="11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62"/>
                                        </p:tgtEl>
                                        <p:attrNameLst>
                                          <p:attrName>style.visibility</p:attrName>
                                        </p:attrNameLst>
                                      </p:cBhvr>
                                      <p:to>
                                        <p:strVal val="visible"/>
                                      </p:to>
                                    </p:set>
                                    <p:animEffect transition="in" filter="fade">
                                      <p:cBhvr>
                                        <p:cTn id="69" dur="400"/>
                                        <p:tgtEl>
                                          <p:spTgt spid="62"/>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3"/>
                                        </p:tgtEl>
                                        <p:attrNameLst>
                                          <p:attrName>style.visibility</p:attrName>
                                        </p:attrNameLst>
                                      </p:cBhvr>
                                      <p:to>
                                        <p:strVal val="visible"/>
                                      </p:to>
                                    </p:set>
                                    <p:animEffect transition="in" filter="fade">
                                      <p:cBhvr>
                                        <p:cTn id="74"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82500"/>
          </a:bodyPr>
          <a:lstStyle/>
          <a:p>
            <a:pPr algn="ctr">
              <a:buNone/>
              <a:defRPr b="0"/>
            </a:pPr>
            <a:r>
              <a:rPr lang="en-US" sz="3600" b="0" i="0" dirty="0">
                <a:solidFill>
                  <a:srgbClr val="000000"/>
                </a:solidFill>
              </a:rPr>
              <a:t>How do we choose among</a:t>
            </a:r>
            <a:br>
              <a:rPr lang="en-US" sz="3600" b="0" i="0" dirty="0"/>
            </a:br>
            <a:r>
              <a:rPr lang="en-US" sz="3600" b="0" i="0" dirty="0">
                <a:solidFill>
                  <a:srgbClr val="000000"/>
                </a:solidFill>
              </a:rPr>
              <a:t>acceptable organizations?</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under tradeoffs.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7</a:t>
            </a:fld>
            <a:endParaRPr lang="en-US"/>
          </a:p>
        </p:txBody>
      </p:sp>
      <p:sp>
        <p:nvSpPr>
          <p:cNvPr id="101" name="C101"/>
          <p:cNvSpPr/>
          <p:nvPr/>
        </p:nvSpPr>
        <p:spPr>
          <a:xfrm>
            <a:off x="3634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0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26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3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39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xml:space="preserve">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par>
                                <p:cTn id="35" presetID="10" presetClass="entr" presetSubtype="0" fill="hold" nodeType="withEffect">
                                  <p:stCondLst>
                                    <p:cond delay="0"/>
                                  </p:stCondLst>
                                  <p:childTnLst>
                                    <p:set>
                                      <p:cBhvr>
                                        <p:cTn id="36" dur="1" fill="hold">
                                          <p:stCondLst>
                                            <p:cond delay="0"/>
                                          </p:stCondLst>
                                        </p:cTn>
                                        <p:tgtEl>
                                          <p:spTgt spid="111"/>
                                        </p:tgtEl>
                                        <p:attrNameLst>
                                          <p:attrName>style.visibility</p:attrName>
                                        </p:attrNameLst>
                                      </p:cBhvr>
                                      <p:to>
                                        <p:strVal val="visible"/>
                                      </p:to>
                                    </p:set>
                                    <p:animEffect transition="in" filter="fade">
                                      <p:cBhvr>
                                        <p:cTn id="37" dur="400"/>
                                        <p:tgtEl>
                                          <p:spTgt spid="111"/>
                                        </p:tgtEl>
                                      </p:cBhvr>
                                    </p:animEffect>
                                  </p:childTnLst>
                                </p:cTn>
                              </p:par>
                              <p:par>
                                <p:cTn id="38" presetID="10" presetClass="entr" presetSubtype="0" fill="hold" nodeType="with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2"/>
                                        </p:tgtEl>
                                        <p:attrNameLst>
                                          <p:attrName>style.visibility</p:attrName>
                                        </p:attrNameLst>
                                      </p:cBhvr>
                                      <p:to>
                                        <p:strVal val="visible"/>
                                      </p:to>
                                    </p:set>
                                    <p:animEffect transition="in" filter="fade">
                                      <p:cBhvr>
                                        <p:cTn id="51" dur="400"/>
                                        <p:tgtEl>
                                          <p:spTgt spid="8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0"/>
                                        </p:tgtEl>
                                        <p:attrNameLst>
                                          <p:attrName>style.visibility</p:attrName>
                                        </p:attrNameLst>
                                      </p:cBhvr>
                                      <p:to>
                                        <p:strVal val="visible"/>
                                      </p:to>
                                    </p:set>
                                    <p:animEffect transition="in" filter="fade">
                                      <p:cBhvr>
                                        <p:cTn id="56" dur="400"/>
                                        <p:tgtEl>
                                          <p:spTgt spid="80"/>
                                        </p:tgtEl>
                                      </p:cBhvr>
                                    </p:animEffect>
                                  </p:childTnLst>
                                </p:cTn>
                              </p:par>
                              <p:par>
                                <p:cTn id="57" presetID="10" presetClass="entr" presetSubtype="0" fill="hold" nodeType="withEffect">
                                  <p:stCondLst>
                                    <p:cond delay="0"/>
                                  </p:stCondLst>
                                  <p:childTnLst>
                                    <p:set>
                                      <p:cBhvr>
                                        <p:cTn id="58" dur="1" fill="hold">
                                          <p:stCondLst>
                                            <p:cond delay="0"/>
                                          </p:stCondLst>
                                        </p:cTn>
                                        <p:tgtEl>
                                          <p:spTgt spid="81"/>
                                        </p:tgtEl>
                                        <p:attrNameLst>
                                          <p:attrName>style.visibility</p:attrName>
                                        </p:attrNameLst>
                                      </p:cBhvr>
                                      <p:to>
                                        <p:strVal val="visible"/>
                                      </p:to>
                                    </p:set>
                                    <p:animEffect transition="in" filter="fade">
                                      <p:cBhvr>
                                        <p:cTn id="59"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8</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A WINS</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fontScale="85000" lnSpcReduction="20000"/>
          </a:bodyPr>
          <a:lstStyle/>
          <a:p>
            <a:pPr algn="ctr">
              <a:buNone/>
            </a:pPr>
            <a:r>
              <a:rPr lang="en-US" sz="2300" b="0" i="1" dirty="0">
                <a:solidFill>
                  <a:srgbClr val="000000"/>
                </a:solidFill>
              </a:rPr>
              <a:t>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WHY .30?</a:t>
            </a:r>
          </a:p>
        </p:txBody>
      </p:sp>
      <p:cxnSp>
        <p:nvCxnSpPr>
          <p:cNvPr id="121" name="CalloutArw1"/>
          <p:cNvCxnSpPr/>
          <p:nvPr/>
        </p:nvCxnSpPr>
        <p:spPr>
          <a:xfrm>
            <a:off x="1270000" y="1620000"/>
            <a:ext cx="2100000" cy="380000"/>
          </a:xfrm>
          <a:prstGeom prst="line">
            <a:avLst/>
          </a:prstGeom>
          <a:ln w="12700">
            <a:solidFill>
              <a:srgbClr val="B23B3B"/>
            </a:solidFill>
            <a:tailEnd type="triangle" w="sm" len="sm"/>
          </a:ln>
        </p:spPr>
      </p:cxnSp>
      <p:sp>
        <p:nvSpPr>
          <p:cNvPr id="122" name="Callout2"/>
          <p:cNvSpPr/>
          <p:nvPr/>
        </p:nvSpPr>
        <p:spPr>
          <a:xfrm>
            <a:off x="7560000" y="1150000"/>
            <a:ext cx="1520000" cy="640000"/>
          </a:xfrm>
          <a:prstGeom prst="roundRect">
            <a:avLst/>
          </a:prstGeom>
          <a:solidFill>
            <a:srgbClr val="F5F0E6"/>
          </a:solidFill>
          <a:ln w="12700">
            <a:solidFill>
              <a:srgbClr val="B23B3B"/>
            </a:solidFill>
          </a:ln>
        </p:spPr>
        <p:txBody>
          <a:bodyPr wrap="square" lIns="54864" tIns="27432" rIns="54864" bIns="27432" anchor="ctr">
            <a:normAutofit lnSpcReduction="10000"/>
          </a:bodyPr>
          <a:lstStyle/>
          <a:p>
            <a:pPr algn="ctr">
              <a:buNone/>
            </a:pPr>
            <a:r>
              <a:rPr lang="en-US" sz="1200" b="1" i="0" dirty="0">
                <a:solidFill>
                  <a:srgbClr val="B23B3B"/>
                </a:solidFill>
              </a:rPr>
              <a:t>WHAT IS</a:t>
            </a:r>
          </a:p>
          <a:p>
            <a:pPr algn="ctr">
              <a:spcBef>
                <a:spcPts val="300"/>
              </a:spcBef>
              <a:buNone/>
            </a:pPr>
            <a:r>
              <a:rPr lang="en-US" sz="1200" b="1" i="0" dirty="0">
                <a:solidFill>
                  <a:srgbClr val="B23B3B"/>
                </a:solidFill>
              </a:rPr>
              <a:t>A “5”?</a:t>
            </a:r>
          </a:p>
        </p:txBody>
      </p:sp>
      <p:cxnSp>
        <p:nvCxnSpPr>
          <p:cNvPr id="123" name="CalloutArw2"/>
          <p:cNvCxnSpPr/>
          <p:nvPr/>
        </p:nvCxnSpPr>
        <p:spPr>
          <a:xfrm flipH="1">
            <a:off x="6040000" y="1785000"/>
            <a:ext cx="1620000" cy="55000"/>
          </a:xfrm>
          <a:prstGeom prst="line">
            <a:avLst/>
          </a:prstGeom>
          <a:ln w="12700">
            <a:solidFill>
              <a:srgbClr val="B23B3B"/>
            </a:solidFill>
            <a:tailEnd type="triangle" w="sm" len="sm"/>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700000"/>
            <a:ext cx="1420000" cy="1250000"/>
          </a:xfrm>
          <a:prstGeom prst="roundRect">
            <a:avLst/>
          </a:prstGeom>
          <a:solidFill>
            <a:srgbClr val="F5F0E6"/>
          </a:solidFill>
          <a:ln w="12700">
            <a:solidFill>
              <a:srgbClr val="B23B3B"/>
            </a:solidFill>
          </a:ln>
        </p:spPr>
        <p:txBody>
          <a:bodyPr wrap="square" lIns="45720" tIns="27432" rIns="45720" bIns="27432" anchor="ctr">
            <a:normAutofit/>
          </a:bodyPr>
          <a:lstStyle/>
          <a:p>
            <a:pPr algn="ctr">
              <a:buNone/>
            </a:pPr>
            <a:r>
              <a:rPr lang="en-US" sz="1200" b="1" i="0" dirty="0">
                <a:solidFill>
                  <a:srgbClr val="B23B3B"/>
                </a:solidFill>
              </a:rPr>
              <a:t>WHY MAY COST</a:t>
            </a:r>
          </a:p>
          <a:p>
            <a:pPr algn="ctr">
              <a:spcBef>
                <a:spcPts val="300"/>
              </a:spcBef>
              <a:buNone/>
            </a:pPr>
            <a:r>
              <a:rPr lang="en-US" sz="1200" b="1" i="0" dirty="0">
                <a:solidFill>
                  <a:srgbClr val="B23B3B"/>
                </a:solidFill>
              </a:rPr>
              <a:t>COMPENSATE FOR</a:t>
            </a:r>
          </a:p>
          <a:p>
            <a:pPr algn="ctr">
              <a:spcBef>
                <a:spcPts val="300"/>
              </a:spcBef>
              <a:buNone/>
            </a:pPr>
            <a:r>
              <a:rPr lang="en-US" sz="12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2"/>
                                        </p:tgtEl>
                                        <p:attrNameLst>
                                          <p:attrName>style.visibility</p:attrName>
                                        </p:attrNameLst>
                                      </p:cBhvr>
                                      <p:to>
                                        <p:strVal val="visible"/>
                                      </p:to>
                                    </p:set>
                                    <p:animEffect transition="in" filter="fade">
                                      <p:cBhvr>
                                        <p:cTn id="10" dur="400"/>
                                        <p:tgtEl>
                                          <p:spTgt spid="82"/>
                                        </p:tgtEl>
                                      </p:cBhvr>
                                    </p:animEffect>
                                  </p:childTnLst>
                                </p:cTn>
                              </p:par>
                              <p:par>
                                <p:cTn id="11" presetID="10" presetClass="entr" presetSubtype="0" fill="hold" nodeType="withEffect">
                                  <p:stCondLst>
                                    <p:cond delay="0"/>
                                  </p:stCondLst>
                                  <p:childTnLst>
                                    <p:set>
                                      <p:cBhvr>
                                        <p:cTn id="12" dur="1" fill="hold">
                                          <p:stCondLst>
                                            <p:cond delay="0"/>
                                          </p:stCondLst>
                                        </p:cTn>
                                        <p:tgtEl>
                                          <p:spTgt spid="83"/>
                                        </p:tgtEl>
                                        <p:attrNameLst>
                                          <p:attrName>style.visibility</p:attrName>
                                        </p:attrNameLst>
                                      </p:cBhvr>
                                      <p:to>
                                        <p:strVal val="visible"/>
                                      </p:to>
                                    </p:set>
                                    <p:animEffect transition="in" filter="fade">
                                      <p:cBhvr>
                                        <p:cTn id="13" dur="400"/>
                                        <p:tgtEl>
                                          <p:spTgt spid="83"/>
                                        </p:tgtEl>
                                      </p:cBhvr>
                                    </p:animEffect>
                                  </p:childTnLst>
                                </p:cTn>
                              </p:par>
                              <p:par>
                                <p:cTn id="14" presetID="10" presetClass="entr" presetSubtype="0" fill="hold" nodeType="withEffect">
                                  <p:stCondLst>
                                    <p:cond delay="0"/>
                                  </p:stCondLst>
                                  <p:childTnLst>
                                    <p:set>
                                      <p:cBhvr>
                                        <p:cTn id="15" dur="1" fill="hold">
                                          <p:stCondLst>
                                            <p:cond delay="0"/>
                                          </p:stCondLst>
                                        </p:cTn>
                                        <p:tgtEl>
                                          <p:spTgt spid="90"/>
                                        </p:tgtEl>
                                        <p:attrNameLst>
                                          <p:attrName>style.visibility</p:attrName>
                                        </p:attrNameLst>
                                      </p:cBhvr>
                                      <p:to>
                                        <p:strVal val="visible"/>
                                      </p:to>
                                    </p:set>
                                    <p:animEffect transition="in" filter="fade">
                                      <p:cBhvr>
                                        <p:cTn id="16" dur="4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4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400"/>
                                        <p:tgtEl>
                                          <p:spTgt spid="1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4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400"/>
                                        <p:tgtEl>
                                          <p:spTgt spid="1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4"/>
                                        </p:tgtEl>
                                        <p:attrNameLst>
                                          <p:attrName>style.visibility</p:attrName>
                                        </p:attrNameLst>
                                      </p:cBhvr>
                                      <p:to>
                                        <p:strVal val="visible"/>
                                      </p:to>
                                    </p:set>
                                    <p:animEffect transition="in" filter="fade">
                                      <p:cBhvr>
                                        <p:cTn id="37" dur="400"/>
                                        <p:tgtEl>
                                          <p:spTgt spid="124"/>
                                        </p:tgtEl>
                                      </p:cBhvr>
                                    </p:animEffect>
                                  </p:childTnLst>
                                </p:cTn>
                              </p:par>
                              <p:par>
                                <p:cTn id="38" presetID="10" presetClass="entr" presetSubtype="0" fill="hold" nodeType="withEffect">
                                  <p:stCondLst>
                                    <p:cond delay="0"/>
                                  </p:stCondLst>
                                  <p:childTnLst>
                                    <p:set>
                                      <p:cBhvr>
                                        <p:cTn id="39" dur="1" fill="hold">
                                          <p:stCondLst>
                                            <p:cond delay="0"/>
                                          </p:stCondLst>
                                        </p:cTn>
                                        <p:tgtEl>
                                          <p:spTgt spid="125"/>
                                        </p:tgtEl>
                                        <p:attrNameLst>
                                          <p:attrName>style.visibility</p:attrName>
                                        </p:attrNameLst>
                                      </p:cBhvr>
                                      <p:to>
                                        <p:strVal val="visible"/>
                                      </p:to>
                                    </p:set>
                                    <p:animEffect transition="in" filter="fade">
                                      <p:cBhvr>
                                        <p:cTn id="40" dur="400"/>
                                        <p:tgtEl>
                                          <p:spTgt spid="12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92"/>
                                        </p:tgtEl>
                                        <p:attrNameLst>
                                          <p:attrName>style.visibility</p:attrName>
                                        </p:attrNameLst>
                                      </p:cBhvr>
                                      <p:to>
                                        <p:strVal val="visible"/>
                                      </p:to>
                                    </p:set>
                                    <p:animEffect transition="in" filter="fade">
                                      <p:cBhvr>
                                        <p:cTn id="45"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fontScale="92500" lnSpcReduction="20000"/>
          </a:bodyPr>
          <a:lstStyle/>
          <a:p>
            <a:pPr algn="ctr">
              <a:buNone/>
            </a:pPr>
            <a:r>
              <a:rPr lang="en-US" sz="2500" b="1" i="0" dirty="0">
                <a:solidFill>
                  <a:srgbClr val="000000"/>
                </a:solidFill>
              </a:rPr>
              <a:t>Constraints are not objectives.</a:t>
            </a:r>
          </a:p>
          <a:p>
            <a:pPr algn="ctr">
              <a:spcBef>
                <a:spcPts val="230"/>
              </a:spcBef>
              <a:buNone/>
            </a:pPr>
            <a:r>
              <a:rPr lang="en-US" sz="2400" b="0" i="1" dirty="0">
                <a:solidFill>
                  <a:srgbClr val="000000"/>
                </a:solidFill>
              </a:rPr>
              <a:t>Neither operation required us to decide what we prefer.</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B</a:t>
            </a:r>
          </a:p>
          <a:p>
            <a:pPr algn="ctr">
              <a:buNone/>
            </a:pPr>
            <a:endParaRPr lang="en-US" sz="2800"/>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600000" y="1350000"/>
            <a:ext cx="0" cy="2950000"/>
          </a:xfrm>
          <a:prstGeom prst="line">
            <a:avLst/>
          </a:prstGeom>
          <a:ln w="28575">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868750" y="4525000"/>
            <a:ext cx="4062500" cy="0"/>
          </a:xfrm>
          <a:prstGeom prst="line">
            <a:avLst/>
          </a:prstGeom>
          <a:ln w="53577">
            <a:solidFill>
              <a:srgbClr val="8E6F3E"/>
            </a:solidFill>
            <a:tailEnd type="triangle" w="med" len="med"/>
          </a:ln>
        </p:spPr>
      </p:cxnSp>
      <p:cxnSp>
        <p:nvCxnSpPr>
          <p:cNvPr id="109" name="AxY"/>
          <p:cNvCxnSpPr/>
          <p:nvPr/>
        </p:nvCxnSpPr>
        <p:spPr>
          <a:xfrm flipV="1">
            <a:off x="4868750" y="1587500"/>
            <a:ext cx="0" cy="2937500"/>
          </a:xfrm>
          <a:prstGeom prst="line">
            <a:avLst/>
          </a:prstGeom>
          <a:ln w="53577">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20" name="PtDBase"/>
          <p:cNvSpPr/>
          <p:nvPr/>
        </p:nvSpPr>
        <p:spPr>
          <a:xfrm>
            <a:off x="6625000" y="34062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21" name="PtLblDBase"/>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D</a:t>
            </a: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
        <p:nvSpPr>
          <p:cNvPr id="130" name="S1BRejectRing"/>
          <p:cNvSpPr/>
          <p:nvPr/>
        </p:nvSpPr>
        <p:spPr>
          <a:xfrm>
            <a:off x="1354000" y="1880000"/>
            <a:ext cx="936000" cy="1020000"/>
          </a:xfrm>
          <a:prstGeom prst="rect">
            <a:avLst/>
          </a:prstGeom>
          <a:noFill/>
          <a:ln w="22860">
            <a:solidFill>
              <a:srgbClr val="B23B3B"/>
            </a:solidFill>
          </a:ln>
        </p:spPr>
        <p:txBody>
          <a:bodyPr wrap="square" lIns="54864" tIns="27432" rIns="54864" bIns="27432" anchor="ctr">
            <a:normAutofit/>
          </a:bodyPr>
          <a:lstStyle/>
        </p:txBody>
      </p:sp>
      <p:sp>
        <p:nvSpPr>
          <p:cNvPr id="131" name="S1BRejectX"/>
          <p:cNvSpPr txBox="1"/>
          <p:nvPr/>
        </p:nvSpPr>
        <p:spPr>
          <a:xfrm>
            <a:off x="1354000" y="2280000"/>
            <a:ext cx="936000" cy="560000"/>
          </a:xfrm>
          <a:prstGeom prst="rect">
            <a:avLst/>
          </a:prstGeom>
          <a:noFill/>
          <a:ln>
            <a:noFill/>
          </a:ln>
        </p:spPr>
        <p:txBody>
          <a:bodyPr wrap="square" lIns="0" tIns="0" rIns="0" bIns="0" anchor="ctr">
            <a:normAutofit/>
          </a:bodyPr>
          <a:lstStyle/>
          <a:p>
            <a:pPr algn="ctr">
              <a:spcBef>
                <a:spcPts val="480"/>
              </a:spcBef>
              <a:buNone/>
            </a:pPr>
            <a:r>
              <a:rPr lang="en-US" sz="2600" b="1" i="0" dirty="0">
                <a:solidFill>
                  <a:srgbClr val="B23B3B"/>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400"/>
                                        <p:tgtEl>
                                          <p:spTgt spid="130"/>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400"/>
                                        <p:tgtEl>
                                          <p:spTgt spid="1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6"/>
                                        </p:tgtEl>
                                        <p:attrNameLst>
                                          <p:attrName>style.visibility</p:attrName>
                                        </p:attrNameLst>
                                      </p:cBhvr>
                                      <p:to>
                                        <p:strVal val="visible"/>
                                      </p:to>
                                    </p:set>
                                    <p:animEffect transition="in" filter="fade">
                                      <p:cBhvr>
                                        <p:cTn id="37" dur="400"/>
                                        <p:tgtEl>
                                          <p:spTgt spid="106"/>
                                        </p:tgtEl>
                                      </p:cBhvr>
                                    </p:animEffect>
                                  </p:childTnLst>
                                </p:cTn>
                              </p:par>
                              <p:par>
                                <p:cTn id="38" presetID="10" presetClass="entr" presetSubtype="0" fill="hold" nodeType="withEffect">
                                  <p:stCondLst>
                                    <p:cond delay="0"/>
                                  </p:stCondLst>
                                  <p:childTnLst>
                                    <p:set>
                                      <p:cBhvr>
                                        <p:cTn id="39" dur="1" fill="hold">
                                          <p:stCondLst>
                                            <p:cond delay="0"/>
                                          </p:stCondLst>
                                        </p:cTn>
                                        <p:tgtEl>
                                          <p:spTgt spid="107"/>
                                        </p:tgtEl>
                                        <p:attrNameLst>
                                          <p:attrName>style.visibility</p:attrName>
                                        </p:attrNameLst>
                                      </p:cBhvr>
                                      <p:to>
                                        <p:strVal val="visible"/>
                                      </p:to>
                                    </p:set>
                                    <p:animEffect transition="in" filter="fade">
                                      <p:cBhvr>
                                        <p:cTn id="40" dur="400"/>
                                        <p:tgtEl>
                                          <p:spTgt spid="107"/>
                                        </p:tgtEl>
                                      </p:cBhvr>
                                    </p:animEffect>
                                  </p:childTnLst>
                                </p:cTn>
                              </p:par>
                              <p:par>
                                <p:cTn id="41" presetID="10" presetClass="entr" presetSubtype="0" fill="hold" nodeType="withEffect">
                                  <p:stCondLst>
                                    <p:cond delay="0"/>
                                  </p:stCondLst>
                                  <p:childTnLst>
                                    <p:set>
                                      <p:cBhvr>
                                        <p:cTn id="42" dur="1" fill="hold">
                                          <p:stCondLst>
                                            <p:cond delay="0"/>
                                          </p:stCondLst>
                                        </p:cTn>
                                        <p:tgtEl>
                                          <p:spTgt spid="108"/>
                                        </p:tgtEl>
                                        <p:attrNameLst>
                                          <p:attrName>style.visibility</p:attrName>
                                        </p:attrNameLst>
                                      </p:cBhvr>
                                      <p:to>
                                        <p:strVal val="visible"/>
                                      </p:to>
                                    </p:set>
                                    <p:animEffect transition="in" filter="fade">
                                      <p:cBhvr>
                                        <p:cTn id="43" dur="400"/>
                                        <p:tgtEl>
                                          <p:spTgt spid="108"/>
                                        </p:tgtEl>
                                      </p:cBhvr>
                                    </p:animEffect>
                                  </p:childTnLst>
                                </p:cTn>
                              </p:par>
                              <p:par>
                                <p:cTn id="44" presetID="10" presetClass="entr" presetSubtype="0" fill="hold" nodeType="withEffect">
                                  <p:stCondLst>
                                    <p:cond delay="0"/>
                                  </p:stCondLst>
                                  <p:childTnLst>
                                    <p:set>
                                      <p:cBhvr>
                                        <p:cTn id="45" dur="1" fill="hold">
                                          <p:stCondLst>
                                            <p:cond delay="0"/>
                                          </p:stCondLst>
                                        </p:cTn>
                                        <p:tgtEl>
                                          <p:spTgt spid="109"/>
                                        </p:tgtEl>
                                        <p:attrNameLst>
                                          <p:attrName>style.visibility</p:attrName>
                                        </p:attrNameLst>
                                      </p:cBhvr>
                                      <p:to>
                                        <p:strVal val="visible"/>
                                      </p:to>
                                    </p:set>
                                    <p:animEffect transition="in" filter="fade">
                                      <p:cBhvr>
                                        <p:cTn id="46" dur="400"/>
                                        <p:tgtEl>
                                          <p:spTgt spid="109"/>
                                        </p:tgtEl>
                                      </p:cBhvr>
                                    </p:animEffect>
                                  </p:childTnLst>
                                </p:cTn>
                              </p:par>
                              <p:par>
                                <p:cTn id="47" presetID="10" presetClass="entr" presetSubtype="0" fill="hold" nodeType="withEffect">
                                  <p:stCondLst>
                                    <p:cond delay="0"/>
                                  </p:stCondLst>
                                  <p:childTnLst>
                                    <p:set>
                                      <p:cBhvr>
                                        <p:cTn id="48" dur="1" fill="hold">
                                          <p:stCondLst>
                                            <p:cond delay="0"/>
                                          </p:stCondLst>
                                        </p:cTn>
                                        <p:tgtEl>
                                          <p:spTgt spid="110"/>
                                        </p:tgtEl>
                                        <p:attrNameLst>
                                          <p:attrName>style.visibility</p:attrName>
                                        </p:attrNameLst>
                                      </p:cBhvr>
                                      <p:to>
                                        <p:strVal val="visible"/>
                                      </p:to>
                                    </p:set>
                                    <p:animEffect transition="in" filter="fade">
                                      <p:cBhvr>
                                        <p:cTn id="49" dur="400"/>
                                        <p:tgtEl>
                                          <p:spTgt spid="110"/>
                                        </p:tgtEl>
                                      </p:cBhvr>
                                    </p:animEffect>
                                  </p:childTnLst>
                                </p:cTn>
                              </p:par>
                              <p:par>
                                <p:cTn id="50" presetID="10" presetClass="entr" presetSubtype="0" fill="hold" nodeType="with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4" dur="1" fill="hold">
                                          <p:stCondLst>
                                            <p:cond delay="0"/>
                                          </p:stCondLst>
                                        </p:cTn>
                                        <p:tgtEl>
                                          <p:spTgt spid="113"/>
                                        </p:tgtEl>
                                        <p:attrNameLst>
                                          <p:attrName>style.visibility</p:attrName>
                                        </p:attrNameLst>
                                      </p:cBhvr>
                                      <p:to>
                                        <p:strVal val="visible"/>
                                      </p:to>
                                    </p:set>
                                    <p:animEffect transition="in" filter="fade">
                                      <p:cBhvr>
                                        <p:cTn id="55" dur="400"/>
                                        <p:tgtEl>
                                          <p:spTgt spid="113"/>
                                        </p:tgtEl>
                                      </p:cBhvr>
                                    </p:animEffect>
                                  </p:childTnLst>
                                </p:cTn>
                              </p:par>
                              <p:par>
                                <p:cTn id="56" presetID="10" presetClass="entr" presetSubtype="0" fill="hold" nodeType="withEffect">
                                  <p:stCondLst>
                                    <p:cond delay="0"/>
                                  </p:stCondLst>
                                  <p:childTnLst>
                                    <p:set>
                                      <p:cBhvr>
                                        <p:cTn id="57" dur="1" fill="hold">
                                          <p:stCondLst>
                                            <p:cond delay="0"/>
                                          </p:stCondLst>
                                        </p:cTn>
                                        <p:tgtEl>
                                          <p:spTgt spid="114"/>
                                        </p:tgtEl>
                                        <p:attrNameLst>
                                          <p:attrName>style.visibility</p:attrName>
                                        </p:attrNameLst>
                                      </p:cBhvr>
                                      <p:to>
                                        <p:strVal val="visible"/>
                                      </p:to>
                                    </p:set>
                                    <p:animEffect transition="in" filter="fade">
                                      <p:cBhvr>
                                        <p:cTn id="58" dur="400"/>
                                        <p:tgtEl>
                                          <p:spTgt spid="114"/>
                                        </p:tgtEl>
                                      </p:cBhvr>
                                    </p:animEffect>
                                  </p:childTnLst>
                                </p:cTn>
                              </p:par>
                              <p:par>
                                <p:cTn id="59" presetID="10" presetClass="entr" presetSubtype="0" fill="hold" nodeType="withEffect">
                                  <p:stCondLst>
                                    <p:cond delay="0"/>
                                  </p:stCondLst>
                                  <p:childTnLst>
                                    <p:set>
                                      <p:cBhvr>
                                        <p:cTn id="60" dur="1" fill="hold">
                                          <p:stCondLst>
                                            <p:cond delay="0"/>
                                          </p:stCondLst>
                                        </p:cTn>
                                        <p:tgtEl>
                                          <p:spTgt spid="115"/>
                                        </p:tgtEl>
                                        <p:attrNameLst>
                                          <p:attrName>style.visibility</p:attrName>
                                        </p:attrNameLst>
                                      </p:cBhvr>
                                      <p:to>
                                        <p:strVal val="visible"/>
                                      </p:to>
                                    </p:set>
                                    <p:animEffect transition="in" filter="fade">
                                      <p:cBhvr>
                                        <p:cTn id="61" dur="400"/>
                                        <p:tgtEl>
                                          <p:spTgt spid="115"/>
                                        </p:tgtEl>
                                      </p:cBhvr>
                                    </p:animEffect>
                                  </p:childTnLst>
                                </p:cTn>
                              </p:par>
                              <p:par>
                                <p:cTn id="62" presetID="10" presetClass="entr" presetSubtype="0" fill="hold" nodeType="withEffect">
                                  <p:stCondLst>
                                    <p:cond delay="0"/>
                                  </p:stCondLst>
                                  <p:childTnLst>
                                    <p:set>
                                      <p:cBhvr>
                                        <p:cTn id="63" dur="1" fill="hold">
                                          <p:stCondLst>
                                            <p:cond delay="0"/>
                                          </p:stCondLst>
                                        </p:cTn>
                                        <p:tgtEl>
                                          <p:spTgt spid="116"/>
                                        </p:tgtEl>
                                        <p:attrNameLst>
                                          <p:attrName>style.visibility</p:attrName>
                                        </p:attrNameLst>
                                      </p:cBhvr>
                                      <p:to>
                                        <p:strVal val="visible"/>
                                      </p:to>
                                    </p:set>
                                    <p:animEffect transition="in" filter="fade">
                                      <p:cBhvr>
                                        <p:cTn id="64" dur="400"/>
                                        <p:tgtEl>
                                          <p:spTgt spid="116"/>
                                        </p:tgtEl>
                                      </p:cBhvr>
                                    </p:animEffect>
                                  </p:childTnLst>
                                </p:cTn>
                              </p:par>
                              <p:par>
                                <p:cTn id="65" presetID="10" presetClass="entr" presetSubtype="0" fill="hold" nodeType="withEffect">
                                  <p:stCondLst>
                                    <p:cond delay="0"/>
                                  </p:stCondLst>
                                  <p:childTnLst>
                                    <p:set>
                                      <p:cBhvr>
                                        <p:cTn id="66" dur="1" fill="hold">
                                          <p:stCondLst>
                                            <p:cond delay="0"/>
                                          </p:stCondLst>
                                        </p:cTn>
                                        <p:tgtEl>
                                          <p:spTgt spid="120"/>
                                        </p:tgtEl>
                                        <p:attrNameLst>
                                          <p:attrName>style.visibility</p:attrName>
                                        </p:attrNameLst>
                                      </p:cBhvr>
                                      <p:to>
                                        <p:strVal val="visible"/>
                                      </p:to>
                                    </p:set>
                                    <p:animEffect transition="in" filter="fade">
                                      <p:cBhvr>
                                        <p:cTn id="67" dur="400"/>
                                        <p:tgtEl>
                                          <p:spTgt spid="120"/>
                                        </p:tgtEl>
                                      </p:cBhvr>
                                    </p:animEffect>
                                  </p:childTnLst>
                                </p:cTn>
                              </p:par>
                              <p:par>
                                <p:cTn id="68" presetID="10" presetClass="entr" presetSubtype="0" fill="hold" nodeType="withEffect">
                                  <p:stCondLst>
                                    <p:cond delay="0"/>
                                  </p:stCondLst>
                                  <p:childTnLst>
                                    <p:set>
                                      <p:cBhvr>
                                        <p:cTn id="69" dur="1" fill="hold">
                                          <p:stCondLst>
                                            <p:cond delay="0"/>
                                          </p:stCondLst>
                                        </p:cTn>
                                        <p:tgtEl>
                                          <p:spTgt spid="121"/>
                                        </p:tgtEl>
                                        <p:attrNameLst>
                                          <p:attrName>style.visibility</p:attrName>
                                        </p:attrNameLst>
                                      </p:cBhvr>
                                      <p:to>
                                        <p:strVal val="visible"/>
                                      </p:to>
                                    </p:set>
                                    <p:animEffect transition="in" filter="fade">
                                      <p:cBhvr>
                                        <p:cTn id="70" dur="4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12"/>
                                        </p:tgtEl>
                                        <p:attrNameLst>
                                          <p:attrName>style.visibility</p:attrName>
                                        </p:attrNameLst>
                                      </p:cBhvr>
                                      <p:to>
                                        <p:strVal val="visible"/>
                                      </p:to>
                                    </p:set>
                                    <p:animEffect transition="in" filter="fade">
                                      <p:cBhvr>
                                        <p:cTn id="75" dur="400"/>
                                        <p:tgtEl>
                                          <p:spTgt spid="112"/>
                                        </p:tgtEl>
                                      </p:cBhvr>
                                    </p:animEffect>
                                  </p:childTnLst>
                                </p:cTn>
                              </p:par>
                              <p:par>
                                <p:cTn id="76" presetID="10" presetClass="entr" presetSubtype="0" fill="hold" nodeType="with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0" dur="1" fill="hold">
                                          <p:stCondLst>
                                            <p:cond delay="0"/>
                                          </p:stCondLst>
                                        </p:cTn>
                                        <p:tgtEl>
                                          <p:spTgt spid="118"/>
                                        </p:tgtEl>
                                        <p:attrNameLst>
                                          <p:attrName>style.visibility</p:attrName>
                                        </p:attrNameLst>
                                      </p:cBhvr>
                                      <p:to>
                                        <p:strVal val="visible"/>
                                      </p:to>
                                    </p:set>
                                    <p:animEffect transition="in" filter="fade">
                                      <p:cBhvr>
                                        <p:cTn id="81" dur="400"/>
                                        <p:tgtEl>
                                          <p:spTgt spid="11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9"/>
                                        </p:tgtEl>
                                        <p:attrNameLst>
                                          <p:attrName>style.visibility</p:attrName>
                                        </p:attrNameLst>
                                      </p:cBhvr>
                                      <p:to>
                                        <p:strVal val="visible"/>
                                      </p:to>
                                    </p:set>
                                    <p:animEffect transition="in" filter="fade">
                                      <p:cBhvr>
                                        <p:cTn id="86" dur="400"/>
                                        <p:tgtEl>
                                          <p:spTgt spid="11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Pareto tradeoffs require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has not chosen for us.</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6750000" y="5073400"/>
            <a:ext cx="205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1"/>
                                        </p:tgtEl>
                                        <p:attrNameLst>
                                          <p:attrName>style.visibility</p:attrName>
                                        </p:attrNameLst>
                                      </p:cBhvr>
                                      <p:to>
                                        <p:strVal val="visible"/>
                                      </p:to>
                                    </p:set>
                                    <p:animEffect transition="in" filter="fade">
                                      <p:cBhvr>
                                        <p:cTn id="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UNCERTAIN CHOICE</a:t>
            </a:r>
          </a:p>
        </p:txBody>
      </p:sp>
      <p:cxnSp>
        <p:nvCxnSpPr>
          <p:cNvPr id="101" name="A1"/>
          <p:cNvCxnSpPr/>
          <p:nvPr/>
        </p:nvCxnSpPr>
        <p:spPr>
          <a:xfrm>
            <a:off x="1780000" y="2850000"/>
            <a:ext cx="170000" cy="0"/>
          </a:xfrm>
          <a:prstGeom prst="line">
            <a:avLst/>
          </a:prstGeom>
          <a:ln w="43720">
            <a:solidFill>
              <a:srgbClr val="8E6F3E"/>
            </a:solidFill>
            <a:tailEnd type="triangle" w="med" len="med"/>
          </a:ln>
        </p:spPr>
      </p:cxnSp>
      <p:sp>
        <p:nvSpPr>
          <p:cNvPr id="102" name="Diamond"/>
          <p:cNvSpPr/>
          <p:nvPr/>
        </p:nvSpPr>
        <p:spPr>
          <a:xfrm>
            <a:off x="1950000" y="1500000"/>
            <a:ext cx="2700000" cy="2700000"/>
          </a:xfrm>
          <a:prstGeom prst="diamond">
            <a:avLst/>
          </a:prstGeom>
          <a:solidFill>
            <a:srgbClr val="FFFFFF"/>
          </a:solidFill>
          <a:ln w="19431">
            <a:solidFill>
              <a:srgbClr val="8E6F3E"/>
            </a:solidFill>
          </a:ln>
        </p:spPr>
        <p:txBody>
          <a:bodyPr wrap="none" lIns="0" tIns="0" rIns="0" bIns="0" anchor="ctr">
            <a:noAutofit/>
          </a:bodyPr>
          <a:lstStyle/>
          <a:p>
            <a:pPr algn="ctr">
              <a:buNone/>
            </a:pPr>
            <a:r>
              <a:rPr lang="en-US" sz="2000" b="1" dirty="0">
                <a:solidFill>
                  <a:srgbClr val="5C4826"/>
                </a:solidFill>
              </a:rPr>
              <a:t>Could knowing</a:t>
            </a:r>
          </a:p>
          <a:p>
            <a:pPr algn="ctr">
              <a:spcBef>
                <a:spcPts val="300"/>
              </a:spcBef>
              <a:buNone/>
            </a:pPr>
            <a:r>
              <a:rPr lang="en-US" sz="2000" b="1" dirty="0">
                <a:solidFill>
                  <a:srgbClr val="5C4826"/>
                </a:solidFill>
              </a:rPr>
              <a:t>more change</a:t>
            </a:r>
          </a:p>
          <a:p>
            <a:pPr algn="ctr">
              <a:spcBef>
                <a:spcPts val="300"/>
              </a:spcBef>
              <a:buNone/>
            </a:pPr>
            <a:r>
              <a:rPr lang="en-US" sz="2000" b="1" dirty="0">
                <a:solidFill>
                  <a:srgbClr val="5C4826"/>
                </a:solidFill>
              </a:rPr>
              <a:t>the decision?</a:t>
            </a:r>
          </a:p>
        </p:txBody>
      </p:sp>
      <p:cxnSp>
        <p:nvCxnSpPr>
          <p:cNvPr id="103" name="ANo"/>
          <p:cNvCxnSpPr/>
          <p:nvPr/>
        </p:nvCxnSpPr>
        <p:spPr>
          <a:xfrm>
            <a:off x="3300000" y="4200000"/>
            <a:ext cx="0" cy="250000"/>
          </a:xfrm>
          <a:prstGeom prst="line">
            <a:avLst/>
          </a:prstGeom>
          <a:ln w="43720">
            <a:solidFill>
              <a:srgbClr val="8E6F3E"/>
            </a:solidFill>
            <a:tailEnd type="triangle" w="med" len="med"/>
          </a:ln>
        </p:spPr>
      </p:cxnSp>
      <p:sp>
        <p:nvSpPr>
          <p:cNvPr id="104" name="NoLbl"/>
          <p:cNvSpPr txBox="1"/>
          <p:nvPr/>
        </p:nvSpPr>
        <p:spPr>
          <a:xfrm>
            <a:off x="3390000" y="418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p:nvPr/>
        </p:nvCxnSpPr>
        <p:spPr>
          <a:xfrm>
            <a:off x="4650000" y="2850000"/>
            <a:ext cx="350000" cy="0"/>
          </a:xfrm>
          <a:prstGeom prst="line">
            <a:avLst/>
          </a:prstGeom>
          <a:ln w="43720">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lnSpcReduction="10000"/>
          </a:bodyPr>
          <a:lstStyle/>
          <a:p>
            <a:pPr algn="ctr">
              <a:buNone/>
            </a:pPr>
            <a:r>
              <a:rPr lang="en-US" sz="23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fontScale="92500"/>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p:nvPr/>
        </p:nvCxnSpPr>
        <p:spPr>
          <a:xfrm>
            <a:off x="7900000" y="2850000"/>
            <a:ext cx="150000" cy="0"/>
          </a:xfrm>
          <a:prstGeom prst="line">
            <a:avLst/>
          </a:prstGeom>
          <a:ln w="43720">
            <a:solidFill>
              <a:srgbClr val="8E6F3E"/>
            </a:solidFill>
            <a:tailEnd type="triangle" w="med" len="med"/>
          </a:ln>
        </p:spPr>
      </p:cxnSp>
      <p:cxnSp>
        <p:nvCxnSpPr>
          <p:cNvPr id="118" name="CA2"/>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14"/>
                                        </p:tgtEl>
                                        <p:attrNameLst>
                                          <p:attrName>style.visibility</p:attrName>
                                        </p:attrNameLst>
                                      </p:cBhvr>
                                      <p:to>
                                        <p:strVal val="visible"/>
                                      </p:to>
                                    </p:set>
                                    <p:animEffect transition="in" filter="fade">
                                      <p:cBhvr>
                                        <p:cTn id="55" dur="400"/>
                                        <p:tgtEl>
                                          <p:spTgt spid="11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par>
                                <p:cTn id="64" presetID="10" presetClass="entr" presetSubtype="0" fill="hold" nodeType="withEffect">
                                  <p:stCondLst>
                                    <p:cond delay="0"/>
                                  </p:stCondLst>
                                  <p:childTnLst>
                                    <p:set>
                                      <p:cBhvr>
                                        <p:cTn id="65" dur="1" fill="hold">
                                          <p:stCondLst>
                                            <p:cond delay="0"/>
                                          </p:stCondLst>
                                        </p:cTn>
                                        <p:tgtEl>
                                          <p:spTgt spid="117"/>
                                        </p:tgtEl>
                                        <p:attrNameLst>
                                          <p:attrName>style.visibility</p:attrName>
                                        </p:attrNameLst>
                                      </p:cBhvr>
                                      <p:to>
                                        <p:strVal val="visible"/>
                                      </p:to>
                                    </p:set>
                                    <p:animEffect transition="in" filter="fade">
                                      <p:cBhvr>
                                        <p:cTn id="66" dur="400"/>
                                        <p:tgtEl>
                                          <p:spTgt spid="117"/>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Patterns capture recurring choices and expected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50000"/>
            <a:ext cx="7772400" cy="7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priors about their consequences, not guarantees.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strictly should dependencies follow the layers?</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cross-layer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116"/>
                                        </p:tgtEl>
                                        <p:attrNameLst>
                                          <p:attrName>style.visibility</p:attrName>
                                        </p:attrNameLst>
                                      </p:cBhvr>
                                      <p:to>
                                        <p:strVal val="visible"/>
                                      </p:to>
                                    </p:set>
                                    <p:animEffect transition="in" filter="fade">
                                      <p:cBhvr>
                                        <p:cTn id="57" dur="400"/>
                                        <p:tgtEl>
                                          <p:spTgt spid="11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4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400"/>
                                        <p:tgtEl>
                                          <p:spTgt spid="121"/>
                                        </p:tgtEl>
                                      </p:cBhvr>
                                    </p:animEffect>
                                  </p:childTnLst>
                                </p:cTn>
                              </p:par>
                              <p:par>
                                <p:cTn id="66" presetID="10" presetClass="entr" presetSubtype="0" fill="hold" nodeType="withEffect">
                                  <p:stCondLst>
                                    <p:cond delay="0"/>
                                  </p:stCondLst>
                                  <p:childTnLst>
                                    <p:set>
                                      <p:cBhvr>
                                        <p:cTn id="67" dur="1" fill="hold">
                                          <p:stCondLst>
                                            <p:cond delay="0"/>
                                          </p:stCondLst>
                                        </p:cTn>
                                        <p:tgtEl>
                                          <p:spTgt spid="122"/>
                                        </p:tgtEl>
                                        <p:attrNameLst>
                                          <p:attrName>style.visibility</p:attrName>
                                        </p:attrNameLst>
                                      </p:cBhvr>
                                      <p:to>
                                        <p:strVal val="visible"/>
                                      </p:to>
                                    </p:set>
                                    <p:animEffect transition="in" filter="fade">
                                      <p:cBhvr>
                                        <p:cTn id="68" dur="400"/>
                                        <p:tgtEl>
                                          <p:spTgt spid="122"/>
                                        </p:tgtEl>
                                      </p:cBhvr>
                                    </p:animEffect>
                                  </p:childTnLst>
                                </p:cTn>
                              </p:par>
                              <p:par>
                                <p:cTn id="69" presetID="10" presetClass="entr" presetSubtype="0" fill="hold" nodeType="withEffect">
                                  <p:stCondLst>
                                    <p:cond delay="0"/>
                                  </p:stCondLst>
                                  <p:childTnLst>
                                    <p:set>
                                      <p:cBhvr>
                                        <p:cTn id="70" dur="1" fill="hold">
                                          <p:stCondLst>
                                            <p:cond delay="0"/>
                                          </p:stCondLst>
                                        </p:cTn>
                                        <p:tgtEl>
                                          <p:spTgt spid="123"/>
                                        </p:tgtEl>
                                        <p:attrNameLst>
                                          <p:attrName>style.visibility</p:attrName>
                                        </p:attrNameLst>
                                      </p:cBhvr>
                                      <p:to>
                                        <p:strVal val="visible"/>
                                      </p:to>
                                    </p:set>
                                    <p:animEffect transition="in" filter="fade">
                                      <p:cBhvr>
                                        <p:cTn id="71" dur="400"/>
                                        <p:tgtEl>
                                          <p:spTgt spid="123"/>
                                        </p:tgtEl>
                                      </p:cBhvr>
                                    </p:animEffect>
                                  </p:childTnLst>
                                </p:cTn>
                              </p:par>
                              <p:par>
                                <p:cTn id="72" presetID="10" presetClass="entr" presetSubtype="0" fill="hold" nodeType="withEffect">
                                  <p:stCondLst>
                                    <p:cond delay="0"/>
                                  </p:stCondLst>
                                  <p:childTnLst>
                                    <p:set>
                                      <p:cBhvr>
                                        <p:cTn id="73" dur="1" fill="hold">
                                          <p:stCondLst>
                                            <p:cond delay="0"/>
                                          </p:stCondLst>
                                        </p:cTn>
                                        <p:tgtEl>
                                          <p:spTgt spid="124"/>
                                        </p:tgtEl>
                                        <p:attrNameLst>
                                          <p:attrName>style.visibility</p:attrName>
                                        </p:attrNameLst>
                                      </p:cBhvr>
                                      <p:to>
                                        <p:strVal val="visible"/>
                                      </p:to>
                                    </p:set>
                                    <p:animEffect transition="in" filter="fade">
                                      <p:cBhvr>
                                        <p:cTn id="74" dur="400"/>
                                        <p:tgtEl>
                                          <p:spTgt spid="124"/>
                                        </p:tgtEl>
                                      </p:cBhvr>
                                    </p:animEffect>
                                  </p:childTnLst>
                                </p:cTn>
                              </p:par>
                              <p:par>
                                <p:cTn id="75" presetID="10" presetClass="entr" presetSubtype="0" fill="hold" nodeType="withEffect">
                                  <p:stCondLst>
                                    <p:cond delay="0"/>
                                  </p:stCondLst>
                                  <p:childTnLst>
                                    <p:set>
                                      <p:cBhvr>
                                        <p:cTn id="76" dur="1" fill="hold">
                                          <p:stCondLst>
                                            <p:cond delay="0"/>
                                          </p:stCondLst>
                                        </p:cTn>
                                        <p:tgtEl>
                                          <p:spTgt spid="94"/>
                                        </p:tgtEl>
                                        <p:attrNameLst>
                                          <p:attrName>style.visibility</p:attrName>
                                        </p:attrNameLst>
                                      </p:cBhvr>
                                      <p:to>
                                        <p:strVal val="visible"/>
                                      </p:to>
                                    </p:set>
                                    <p:animEffect transition="in" filter="fade">
                                      <p:cBhvr>
                                        <p:cTn id="77" dur="400"/>
                                        <p:tgtEl>
                                          <p:spTgt spid="9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95"/>
                                        </p:tgtEl>
                                        <p:attrNameLst>
                                          <p:attrName>style.visibility</p:attrName>
                                        </p:attrNameLst>
                                      </p:cBhvr>
                                      <p:to>
                                        <p:strVal val="visible"/>
                                      </p:to>
                                    </p:set>
                                    <p:animEffect transition="in" filter="fade">
                                      <p:cBhvr>
                                        <p:cTn id="82" dur="400"/>
                                        <p:tgtEl>
                                          <p:spTgt spid="95"/>
                                        </p:tgtEl>
                                      </p:cBhvr>
                                    </p:animEffect>
                                  </p:childTnLst>
                                </p:cTn>
                              </p:par>
                              <p:par>
                                <p:cTn id="83" presetID="10" presetClass="entr" presetSubtype="0" fill="hold" nodeType="withEffect">
                                  <p:stCondLst>
                                    <p:cond delay="0"/>
                                  </p:stCondLst>
                                  <p:childTnLst>
                                    <p:set>
                                      <p:cBhvr>
                                        <p:cTn id="84" dur="1" fill="hold">
                                          <p:stCondLst>
                                            <p:cond delay="0"/>
                                          </p:stCondLst>
                                        </p:cTn>
                                        <p:tgtEl>
                                          <p:spTgt spid="96"/>
                                        </p:tgtEl>
                                        <p:attrNameLst>
                                          <p:attrName>style.visibility</p:attrName>
                                        </p:attrNameLst>
                                      </p:cBhvr>
                                      <p:to>
                                        <p:strVal val="visible"/>
                                      </p:to>
                                    </p:set>
                                    <p:animEffect transition="in" filter="fade">
                                      <p:cBhvr>
                                        <p:cTn id="85" dur="400"/>
                                        <p:tgtEl>
                                          <p:spTgt spid="96"/>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97"/>
                                        </p:tgtEl>
                                        <p:attrNameLst>
                                          <p:attrName>style.visibility</p:attrName>
                                        </p:attrNameLst>
                                      </p:cBhvr>
                                      <p:to>
                                        <p:strVal val="visible"/>
                                      </p:to>
                                    </p:set>
                                    <p:animEffect transition="in" filter="fade">
                                      <p:cBhvr>
                                        <p:cTn id="90" dur="400"/>
                                        <p:tgtEl>
                                          <p:spTgt spid="97"/>
                                        </p:tgtEl>
                                      </p:cBhvr>
                                    </p:animEffect>
                                  </p:childTnLst>
                                </p:cTn>
                              </p:par>
                              <p:par>
                                <p:cTn id="91" presetID="10" presetClass="entr" presetSubtype="0" fill="hold" nodeType="withEffect">
                                  <p:stCondLst>
                                    <p:cond delay="0"/>
                                  </p:stCondLst>
                                  <p:childTnLst>
                                    <p:set>
                                      <p:cBhvr>
                                        <p:cTn id="92" dur="1" fill="hold">
                                          <p:stCondLst>
                                            <p:cond delay="0"/>
                                          </p:stCondLst>
                                        </p:cTn>
                                        <p:tgtEl>
                                          <p:spTgt spid="98"/>
                                        </p:tgtEl>
                                        <p:attrNameLst>
                                          <p:attrName>style.visibility</p:attrName>
                                        </p:attrNameLst>
                                      </p:cBhvr>
                                      <p:to>
                                        <p:strVal val="visible"/>
                                      </p:to>
                                    </p:set>
                                    <p:animEffect transition="in" filter="fade">
                                      <p:cBhvr>
                                        <p:cTn id="93" dur="400"/>
                                        <p:tgtEl>
                                          <p:spTgt spid="98"/>
                                        </p:tgtEl>
                                      </p:cBhvr>
                                    </p:animEffect>
                                  </p:childTnLst>
                                </p:cTn>
                              </p:par>
                              <p:par>
                                <p:cTn id="94" presetID="10" presetClass="entr" presetSubtype="0" fill="hold" nodeType="withEffect">
                                  <p:stCondLst>
                                    <p:cond delay="0"/>
                                  </p:stCondLst>
                                  <p:childTnLst>
                                    <p:set>
                                      <p:cBhvr>
                                        <p:cTn id="95" dur="1" fill="hold">
                                          <p:stCondLst>
                                            <p:cond delay="0"/>
                                          </p:stCondLst>
                                        </p:cTn>
                                        <p:tgtEl>
                                          <p:spTgt spid="99"/>
                                        </p:tgtEl>
                                        <p:attrNameLst>
                                          <p:attrName>style.visibility</p:attrName>
                                        </p:attrNameLst>
                                      </p:cBhvr>
                                      <p:to>
                                        <p:strVal val="visible"/>
                                      </p:to>
                                    </p:set>
                                    <p:animEffect transition="in" filter="fade">
                                      <p:cBhvr>
                                        <p:cTn id="96" dur="400"/>
                                        <p:tgtEl>
                                          <p:spTgt spid="99"/>
                                        </p:tgtEl>
                                      </p:cBhvr>
                                    </p:animEffect>
                                  </p:childTnLst>
                                </p:cTn>
                              </p:par>
                              <p:par>
                                <p:cTn id="97" presetID="10" presetClass="entr" presetSubtype="0" fill="hold" nodeType="withEffect">
                                  <p:stCondLst>
                                    <p:cond delay="0"/>
                                  </p:stCondLst>
                                  <p:childTnLst>
                                    <p:set>
                                      <p:cBhvr>
                                        <p:cTn id="98" dur="1" fill="hold">
                                          <p:stCondLst>
                                            <p:cond delay="0"/>
                                          </p:stCondLst>
                                        </p:cTn>
                                        <p:tgtEl>
                                          <p:spTgt spid="125"/>
                                        </p:tgtEl>
                                        <p:attrNameLst>
                                          <p:attrName>style.visibility</p:attrName>
                                        </p:attrNameLst>
                                      </p:cBhvr>
                                      <p:to>
                                        <p:strVal val="visible"/>
                                      </p:to>
                                    </p:set>
                                    <p:animEffect transition="in" filter="fade">
                                      <p:cBhvr>
                                        <p:cTn id="99"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Pipeline vs. repository: same computations, different organization of state</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PIPELINE</a:t>
            </a:r>
          </a:p>
        </p:txBody>
      </p:sp>
      <p:sp>
        <p:nvSpPr>
          <p:cNvPr id="100" name="P100"/>
          <p:cNvSpPr/>
          <p:nvPr/>
        </p:nvSpPr>
        <p:spPr>
          <a:xfrm>
            <a:off x="1288000" y="14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288000" y="22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288000" y="30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288000" y="38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000" y="2070000"/>
            <a:ext cx="0" cy="20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000" y="2870000"/>
            <a:ext cx="0" cy="20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000" y="3670000"/>
            <a:ext cx="0" cy="200000"/>
          </a:xfrm>
          <a:prstGeom prst="line">
            <a:avLst/>
          </a:prstGeom>
          <a:ln w="53577">
            <a:solidFill>
              <a:srgbClr val="8E6F3E"/>
            </a:solidFill>
            <a:tailEnd type="triangle" w="med" len="med"/>
          </a:ln>
        </p:spPr>
      </p:cxnSp>
      <p:sp>
        <p:nvSpPr>
          <p:cNvPr id="92" name="CapL"/>
          <p:cNvSpPr txBox="1"/>
          <p:nvPr/>
        </p:nvSpPr>
        <p:spPr>
          <a:xfrm>
            <a:off x="685800" y="456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REPOSITORY</a:t>
            </a:r>
          </a:p>
        </p:txBody>
      </p:sp>
      <p:sp>
        <p:nvSpPr>
          <p:cNvPr id="110" name="Repo"/>
          <p:cNvSpPr/>
          <p:nvPr/>
        </p:nvSpPr>
        <p:spPr>
          <a:xfrm>
            <a:off x="5850000" y="2600000"/>
            <a:ext cx="1500000" cy="7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875000" y="148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875000" y="380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64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75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600000" y="210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600000" y="3340000"/>
            <a:ext cx="0" cy="46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500000" y="2970000"/>
            <a:ext cx="3500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350000" y="2970000"/>
            <a:ext cx="400000" cy="0"/>
          </a:xfrm>
          <a:prstGeom prst="line">
            <a:avLst/>
          </a:prstGeom>
          <a:ln w="53577">
            <a:solidFill>
              <a:srgbClr val="8E6F3E"/>
            </a:solidFill>
            <a:headEnd type="triangle" w="med" len="med"/>
            <a:tailEnd type="triangle" w="med" len="med"/>
          </a:ln>
        </p:spPr>
      </p:cxnSp>
      <p:sp>
        <p:nvSpPr>
          <p:cNvPr id="94" name="CapR"/>
          <p:cNvSpPr txBox="1"/>
          <p:nvPr/>
        </p:nvSpPr>
        <p:spPr>
          <a:xfrm>
            <a:off x="4722000" y="456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computations meet at one authoritative state</a:t>
            </a:r>
          </a:p>
        </p:txBody>
      </p:sp>
      <p:sp>
        <p:nvSpPr>
          <p:cNvPr id="95" name="BuysL"/>
          <p:cNvSpPr txBox="1"/>
          <p:nvPr/>
        </p:nvSpPr>
        <p:spPr>
          <a:xfrm>
            <a:off x="685800" y="4900000"/>
            <a:ext cx="3736200" cy="110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explicit flow, local stage dependencies, incremental processing</a:t>
            </a:r>
          </a:p>
          <a:p>
            <a:pPr algn="l">
              <a:spcBef>
                <a:spcPts val="600"/>
              </a:spcBef>
              <a:buNone/>
            </a:pPr>
            <a:r>
              <a:rPr lang="en-US" sz="2000" b="1" i="0" dirty="0">
                <a:solidFill>
                  <a:srgbClr val="555960"/>
                </a:solidFill>
              </a:rPr>
              <a:t>costs — </a:t>
            </a:r>
            <a:r>
              <a:rPr lang="en-US" sz="2000" b="0" i="0" dirty="0">
                <a:solidFill>
                  <a:srgbClr val="000000"/>
                </a:solidFill>
              </a:rPr>
              <a:t>shared state across stages is harder</a:t>
            </a:r>
          </a:p>
        </p:txBody>
      </p:sp>
      <p:sp>
        <p:nvSpPr>
          <p:cNvPr id="96" name="BuysR"/>
          <p:cNvSpPr txBox="1"/>
          <p:nvPr/>
        </p:nvSpPr>
        <p:spPr>
          <a:xfrm>
            <a:off x="4722000" y="4900000"/>
            <a:ext cx="3736200" cy="110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authoritative shared state, integration</a:t>
            </a:r>
          </a:p>
          <a:p>
            <a:pPr algn="l">
              <a:spcBef>
                <a:spcPts val="600"/>
              </a:spcBef>
              <a:buNone/>
            </a:pPr>
            <a:r>
              <a:rPr lang="en-US" sz="2000" b="1" i="0" dirty="0">
                <a:solidFill>
                  <a:srgbClr val="555960"/>
                </a:solidFill>
              </a:rPr>
              <a:t>costs — </a:t>
            </a:r>
            <a:r>
              <a:rPr lang="en-US" sz="2000" b="0" i="0" dirty="0">
                <a:solidFill>
                  <a:srgbClr val="000000"/>
                </a:solidFill>
              </a:rPr>
              <a:t>central schema coupling,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400"/>
                                        <p:tgtEl>
                                          <p:spTgt spid="113"/>
                                        </p:tgtEl>
                                      </p:cBhvr>
                                    </p:animEffect>
                                  </p:childTnLst>
                                </p:cTn>
                              </p:par>
                              <p:par>
                                <p:cTn id="51" presetID="10" presetClass="entr" presetSubtype="0" fill="hold" nodeType="withEffect">
                                  <p:stCondLst>
                                    <p:cond delay="0"/>
                                  </p:stCondLst>
                                  <p:childTnLst>
                                    <p:set>
                                      <p:cBhvr>
                                        <p:cTn id="52" dur="1" fill="hold">
                                          <p:stCondLst>
                                            <p:cond delay="0"/>
                                          </p:stCondLst>
                                        </p:cTn>
                                        <p:tgtEl>
                                          <p:spTgt spid="114"/>
                                        </p:tgtEl>
                                        <p:attrNameLst>
                                          <p:attrName>style.visibility</p:attrName>
                                        </p:attrNameLst>
                                      </p:cBhvr>
                                      <p:to>
                                        <p:strVal val="visible"/>
                                      </p:to>
                                    </p:set>
                                    <p:animEffect transition="in" filter="fade">
                                      <p:cBhvr>
                                        <p:cTn id="53" dur="400"/>
                                        <p:tgtEl>
                                          <p:spTgt spid="114"/>
                                        </p:tgtEl>
                                      </p:cBhvr>
                                    </p:animEffect>
                                  </p:childTnLst>
                                </p:cTn>
                              </p:par>
                              <p:par>
                                <p:cTn id="54" presetID="10" presetClass="entr" presetSubtype="0" fill="hold" nodeType="with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par>
                                <p:cTn id="57" presetID="10" presetClass="entr" presetSubtype="0" fill="hold" nodeType="withEffect">
                                  <p:stCondLst>
                                    <p:cond delay="0"/>
                                  </p:stCondLst>
                                  <p:childTnLst>
                                    <p:set>
                                      <p:cBhvr>
                                        <p:cTn id="58" dur="1" fill="hold">
                                          <p:stCondLst>
                                            <p:cond delay="0"/>
                                          </p:stCondLst>
                                        </p:cTn>
                                        <p:tgtEl>
                                          <p:spTgt spid="116"/>
                                        </p:tgtEl>
                                        <p:attrNameLst>
                                          <p:attrName>style.visibility</p:attrName>
                                        </p:attrNameLst>
                                      </p:cBhvr>
                                      <p:to>
                                        <p:strVal val="visible"/>
                                      </p:to>
                                    </p:set>
                                    <p:animEffect transition="in" filter="fade">
                                      <p:cBhvr>
                                        <p:cTn id="59" dur="400"/>
                                        <p:tgtEl>
                                          <p:spTgt spid="116"/>
                                        </p:tgtEl>
                                      </p:cBhvr>
                                    </p:animEffect>
                                  </p:childTnLst>
                                </p:cTn>
                              </p:par>
                              <p:par>
                                <p:cTn id="60" presetID="10" presetClass="entr" presetSubtype="0" fill="hold" nodeType="withEffect">
                                  <p:stCondLst>
                                    <p:cond delay="0"/>
                                  </p:stCondLst>
                                  <p:childTnLst>
                                    <p:set>
                                      <p:cBhvr>
                                        <p:cTn id="61" dur="1" fill="hold">
                                          <p:stCondLst>
                                            <p:cond delay="0"/>
                                          </p:stCondLst>
                                        </p:cTn>
                                        <p:tgtEl>
                                          <p:spTgt spid="117"/>
                                        </p:tgtEl>
                                        <p:attrNameLst>
                                          <p:attrName>style.visibility</p:attrName>
                                        </p:attrNameLst>
                                      </p:cBhvr>
                                      <p:to>
                                        <p:strVal val="visible"/>
                                      </p:to>
                                    </p:set>
                                    <p:animEffect transition="in" filter="fade">
                                      <p:cBhvr>
                                        <p:cTn id="62" dur="400"/>
                                        <p:tgtEl>
                                          <p:spTgt spid="117"/>
                                        </p:tgtEl>
                                      </p:cBhvr>
                                    </p:animEffect>
                                  </p:childTnLst>
                                </p:cTn>
                              </p:par>
                              <p:par>
                                <p:cTn id="63" presetID="10" presetClass="entr" presetSubtype="0" fill="hold" nodeType="withEffect">
                                  <p:stCondLst>
                                    <p:cond delay="0"/>
                                  </p:stCondLst>
                                  <p:childTnLst>
                                    <p:set>
                                      <p:cBhvr>
                                        <p:cTn id="64" dur="1" fill="hold">
                                          <p:stCondLst>
                                            <p:cond delay="0"/>
                                          </p:stCondLst>
                                        </p:cTn>
                                        <p:tgtEl>
                                          <p:spTgt spid="118"/>
                                        </p:tgtEl>
                                        <p:attrNameLst>
                                          <p:attrName>style.visibility</p:attrName>
                                        </p:attrNameLst>
                                      </p:cBhvr>
                                      <p:to>
                                        <p:strVal val="visible"/>
                                      </p:to>
                                    </p:set>
                                    <p:animEffect transition="in" filter="fade">
                                      <p:cBhvr>
                                        <p:cTn id="65" dur="400"/>
                                        <p:tgtEl>
                                          <p:spTgt spid="118"/>
                                        </p:tgtEl>
                                      </p:cBhvr>
                                    </p:animEffect>
                                  </p:childTnLst>
                                </p:cTn>
                              </p:par>
                              <p:par>
                                <p:cTn id="66" presetID="10" presetClass="entr" presetSubtype="0" fill="hold" nodeType="withEffect">
                                  <p:stCondLst>
                                    <p:cond delay="0"/>
                                  </p:stCondLst>
                                  <p:childTnLst>
                                    <p:set>
                                      <p:cBhvr>
                                        <p:cTn id="67" dur="1" fill="hold">
                                          <p:stCondLst>
                                            <p:cond delay="0"/>
                                          </p:stCondLst>
                                        </p:cTn>
                                        <p:tgtEl>
                                          <p:spTgt spid="94"/>
                                        </p:tgtEl>
                                        <p:attrNameLst>
                                          <p:attrName>style.visibility</p:attrName>
                                        </p:attrNameLst>
                                      </p:cBhvr>
                                      <p:to>
                                        <p:strVal val="visible"/>
                                      </p:to>
                                    </p:set>
                                    <p:animEffect transition="in" filter="fade">
                                      <p:cBhvr>
                                        <p:cTn id="68" dur="400"/>
                                        <p:tgtEl>
                                          <p:spTgt spid="94"/>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5"/>
                                        </p:tgtEl>
                                        <p:attrNameLst>
                                          <p:attrName>style.visibility</p:attrName>
                                        </p:attrNameLst>
                                      </p:cBhvr>
                                      <p:to>
                                        <p:strVal val="visible"/>
                                      </p:to>
                                    </p:set>
                                    <p:animEffect transition="in" filter="fade">
                                      <p:cBhvr>
                                        <p:cTn id="73" dur="400"/>
                                        <p:tgtEl>
                                          <p:spTgt spid="95"/>
                                        </p:tgtEl>
                                      </p:cBhvr>
                                    </p:animEffect>
                                  </p:childTnLst>
                                </p:cTn>
                              </p:par>
                              <p:par>
                                <p:cTn id="74" presetID="10" presetClass="entr" presetSubtype="0" fill="hold" nodeType="withEffect">
                                  <p:stCondLst>
                                    <p:cond delay="0"/>
                                  </p:stCondLst>
                                  <p:childTnLst>
                                    <p:set>
                                      <p:cBhvr>
                                        <p:cTn id="75" dur="1" fill="hold">
                                          <p:stCondLst>
                                            <p:cond delay="0"/>
                                          </p:stCondLst>
                                        </p:cTn>
                                        <p:tgtEl>
                                          <p:spTgt spid="96"/>
                                        </p:tgtEl>
                                        <p:attrNameLst>
                                          <p:attrName>style.visibility</p:attrName>
                                        </p:attrNameLst>
                                      </p:cBhvr>
                                      <p:to>
                                        <p:strVal val="visible"/>
                                      </p:to>
                                    </p:set>
                                    <p:animEffect transition="in" filter="fade">
                                      <p:cBhvr>
                                        <p:cTn id="76" dur="400"/>
                                        <p:tgtEl>
                                          <p:spTgt spid="9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97"/>
                                        </p:tgtEl>
                                        <p:attrNameLst>
                                          <p:attrName>style.visibility</p:attrName>
                                        </p:attrNameLst>
                                      </p:cBhvr>
                                      <p:to>
                                        <p:strVal val="visible"/>
                                      </p:to>
                                    </p:set>
                                    <p:animEffect transition="in" filter="fade">
                                      <p:cBhvr>
                                        <p:cTn id="81" dur="400"/>
                                        <p:tgtEl>
                                          <p:spTgt spid="97"/>
                                        </p:tgtEl>
                                      </p:cBhvr>
                                    </p:animEffect>
                                  </p:childTnLst>
                                </p:cTn>
                              </p:par>
                              <p:par>
                                <p:cTn id="82" presetID="10" presetClass="entr" presetSubtype="0" fill="hold" nodeType="withEffect">
                                  <p:stCondLst>
                                    <p:cond delay="0"/>
                                  </p:stCondLst>
                                  <p:childTnLst>
                                    <p:set>
                                      <p:cBhvr>
                                        <p:cTn id="83" dur="1" fill="hold">
                                          <p:stCondLst>
                                            <p:cond delay="0"/>
                                          </p:stCondLst>
                                        </p:cTn>
                                        <p:tgtEl>
                                          <p:spTgt spid="98"/>
                                        </p:tgtEl>
                                        <p:attrNameLst>
                                          <p:attrName>style.visibility</p:attrName>
                                        </p:attrNameLst>
                                      </p:cBhvr>
                                      <p:to>
                                        <p:strVal val="visible"/>
                                      </p:to>
                                    </p:set>
                                    <p:animEffect transition="in" filter="fade">
                                      <p:cBhvr>
                                        <p:cTn id="84" dur="400"/>
                                        <p:tgtEl>
                                          <p:spTgt spid="98"/>
                                        </p:tgtEl>
                                      </p:cBhvr>
                                    </p:animEffect>
                                  </p:childTnLst>
                                </p:cTn>
                              </p:par>
                              <p:par>
                                <p:cTn id="85" presetID="10" presetClass="entr" presetSubtype="0" fill="hold" nodeType="withEffect">
                                  <p:stCondLst>
                                    <p:cond delay="0"/>
                                  </p:stCondLst>
                                  <p:childTnLst>
                                    <p:set>
                                      <p:cBhvr>
                                        <p:cTn id="86" dur="1" fill="hold">
                                          <p:stCondLst>
                                            <p:cond delay="0"/>
                                          </p:stCondLst>
                                        </p:cTn>
                                        <p:tgtEl>
                                          <p:spTgt spid="99"/>
                                        </p:tgtEl>
                                        <p:attrNameLst>
                                          <p:attrName>style.visibility</p:attrName>
                                        </p:attrNameLst>
                                      </p:cBhvr>
                                      <p:to>
                                        <p:strVal val="visible"/>
                                      </p:to>
                                    </p:set>
                                    <p:animEffect transition="in" filter="fade">
                                      <p:cBhvr>
                                        <p:cTn id="87" dur="400"/>
                                        <p:tgtEl>
                                          <p:spTgt spid="99"/>
                                        </p:tgtEl>
                                      </p:cBhvr>
                                    </p:animEffect>
                                  </p:childTnLst>
                                </p:cTn>
                              </p:par>
                              <p:par>
                                <p:cTn id="88" presetID="10" presetClass="entr" presetSubtype="0" fill="hold" nodeType="withEffect">
                                  <p:stCondLst>
                                    <p:cond delay="0"/>
                                  </p:stCondLst>
                                  <p:childTnLst>
                                    <p:set>
                                      <p:cBhvr>
                                        <p:cTn id="89" dur="1" fill="hold">
                                          <p:stCondLst>
                                            <p:cond delay="0"/>
                                          </p:stCondLst>
                                        </p:cTn>
                                        <p:tgtEl>
                                          <p:spTgt spid="120"/>
                                        </p:tgtEl>
                                        <p:attrNameLst>
                                          <p:attrName>style.visibility</p:attrName>
                                        </p:attrNameLst>
                                      </p:cBhvr>
                                      <p:to>
                                        <p:strVal val="visible"/>
                                      </p:to>
                                    </p:set>
                                    <p:animEffect transition="in" filter="fade">
                                      <p:cBhvr>
                                        <p:cTn id="90"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RPC vs. event-driven messaging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Arr"/>
          <p:cNvCxnSpPr/>
          <p:nvPr/>
        </p:nvCxnSpPr>
        <p:spPr>
          <a:xfrm>
            <a:off x="2135800" y="2040000"/>
            <a:ext cx="900000" cy="0"/>
          </a:xfrm>
          <a:prstGeom prst="line">
            <a:avLst/>
          </a:prstGeom>
          <a:ln w="53577">
            <a:solidFill>
              <a:srgbClr val="8E6F3E"/>
            </a:solidFill>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request</a:t>
            </a:r>
          </a:p>
        </p:txBody>
      </p:sp>
      <p:sp>
        <p:nvSpPr>
          <p:cNvPr id="104" name="RespLbl"/>
          <p:cNvSpPr txBox="1"/>
          <p:nvPr/>
        </p:nvSpPr>
        <p:spPr>
          <a:xfrm>
            <a:off x="2135800" y="2320000"/>
            <a:ext cx="900000" cy="26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immediate coordination, clear request/response semantics</a:t>
            </a:r>
          </a:p>
          <a:p>
            <a:pPr algn="l">
              <a:spcBef>
                <a:spcPts val="600"/>
              </a:spcBef>
              <a:buNone/>
            </a:pPr>
            <a:r>
              <a:rPr lang="en-US" sz="2000" b="1" i="0" dirty="0">
                <a:solidFill>
                  <a:srgbClr val="555960"/>
                </a:solidFill>
              </a:rPr>
              <a:t>costs — </a:t>
            </a:r>
            <a:r>
              <a:rPr lang="en-US" sz="20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producer/consumer decoupling; adding consumers is easy</a:t>
            </a:r>
          </a:p>
          <a:p>
            <a:pPr algn="l">
              <a:spcBef>
                <a:spcPts val="600"/>
              </a:spcBef>
              <a:buNone/>
            </a:pPr>
            <a:r>
              <a:rPr lang="en-US" sz="2000" b="1" i="0" dirty="0">
                <a:solidFill>
                  <a:srgbClr val="555960"/>
                </a:solidFill>
              </a:rPr>
              <a:t>costs — </a:t>
            </a:r>
            <a:r>
              <a:rPr lang="en-US" sz="20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producer/consumer decoupling</a:t>
            </a:r>
          </a:p>
        </p:txBody>
      </p:sp>
      <p:cxnSp>
        <p:nvCxnSpPr>
          <p:cNvPr id="126" name="RespArr"/>
          <p:cNvCxnSpPr/>
          <p:nvPr/>
        </p:nvCxnSpPr>
        <p:spPr>
          <a:xfrm flipH="1">
            <a:off x="2135800" y="2260000"/>
            <a:ext cx="900000" cy="0"/>
          </a:xfrm>
          <a:prstGeom prst="line">
            <a:avLst/>
          </a:prstGeom>
          <a:ln w="53577">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4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6"/>
                                        </p:tgtEl>
                                        <p:attrNameLst>
                                          <p:attrName>style.visibility</p:attrName>
                                        </p:attrNameLst>
                                      </p:cBhvr>
                                      <p:to>
                                        <p:strVal val="visible"/>
                                      </p:to>
                                    </p:set>
                                    <p:animEffect transition="in" filter="fade">
                                      <p:cBhvr>
                                        <p:cTn id="24" dur="400"/>
                                        <p:tgtEl>
                                          <p:spTgt spid="126"/>
                                        </p:tgtEl>
                                      </p:cBhvr>
                                    </p:animEffect>
                                  </p:childTnLst>
                                </p:cTn>
                              </p:par>
                              <p:par>
                                <p:cTn id="25" presetID="10" presetClass="entr" presetSubtype="0" fill="hold" nodeType="with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400"/>
                                        <p:tgtEl>
                                          <p:spTgt spid="106"/>
                                        </p:tgtEl>
                                      </p:cBhvr>
                                    </p:animEffect>
                                  </p:childTnLst>
                                </p:cTn>
                              </p:par>
                              <p:par>
                                <p:cTn id="36" presetID="10" presetClass="entr" presetSubtype="0" fill="hold" nodeType="withEffect">
                                  <p:stCondLst>
                                    <p:cond delay="0"/>
                                  </p:stCondLst>
                                  <p:childTnLst>
                                    <p:set>
                                      <p:cBhvr>
                                        <p:cTn id="37" dur="1" fill="hold">
                                          <p:stCondLst>
                                            <p:cond delay="0"/>
                                          </p:stCondLst>
                                        </p:cTn>
                                        <p:tgtEl>
                                          <p:spTgt spid="92"/>
                                        </p:tgtEl>
                                        <p:attrNameLst>
                                          <p:attrName>style.visibility</p:attrName>
                                        </p:attrNameLst>
                                      </p:cBhvr>
                                      <p:to>
                                        <p:strVal val="visible"/>
                                      </p:to>
                                    </p:set>
                                    <p:animEffect transition="in" filter="fade">
                                      <p:cBhvr>
                                        <p:cTn id="38" dur="400"/>
                                        <p:tgtEl>
                                          <p:spTgt spid="9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93"/>
                                        </p:tgtEl>
                                        <p:attrNameLst>
                                          <p:attrName>style.visibility</p:attrName>
                                        </p:attrNameLst>
                                      </p:cBhvr>
                                      <p:to>
                                        <p:strVal val="visible"/>
                                      </p:to>
                                    </p:set>
                                    <p:animEffect transition="in" filter="fade">
                                      <p:cBhvr>
                                        <p:cTn id="43" dur="400"/>
                                        <p:tgtEl>
                                          <p:spTgt spid="93"/>
                                        </p:tgtEl>
                                      </p:cBhvr>
                                    </p:animEffect>
                                  </p:childTnLst>
                                </p:cTn>
                              </p:par>
                              <p:par>
                                <p:cTn id="44"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1"/>
                                        </p:tgtEl>
                                        <p:attrNameLst>
                                          <p:attrName>style.visibility</p:attrName>
                                        </p:attrNameLst>
                                      </p:cBhvr>
                                      <p:to>
                                        <p:strVal val="visible"/>
                                      </p:to>
                                    </p:set>
                                    <p:animEffect transition="in" filter="fade">
                                      <p:cBhvr>
                                        <p:cTn id="51" dur="400"/>
                                        <p:tgtEl>
                                          <p:spTgt spid="111"/>
                                        </p:tgtEl>
                                      </p:cBhvr>
                                    </p:animEffect>
                                  </p:childTnLst>
                                </p:cTn>
                              </p:par>
                              <p:par>
                                <p:cTn id="52" presetID="10" presetClass="entr" presetSubtype="0" fill="hold"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400"/>
                                        <p:tgtEl>
                                          <p:spTgt spid="112"/>
                                        </p:tgtEl>
                                      </p:cBhvr>
                                    </p:animEffect>
                                  </p:childTnLst>
                                </p:cTn>
                              </p:par>
                              <p:par>
                                <p:cTn id="55" presetID="10" presetClass="entr" presetSubtype="0" fill="hold" nodeType="withEffect">
                                  <p:stCondLst>
                                    <p:cond delay="0"/>
                                  </p:stCondLst>
                                  <p:childTnLst>
                                    <p:set>
                                      <p:cBhvr>
                                        <p:cTn id="56" dur="1" fill="hold">
                                          <p:stCondLst>
                                            <p:cond delay="0"/>
                                          </p:stCondLst>
                                        </p:cTn>
                                        <p:tgtEl>
                                          <p:spTgt spid="113"/>
                                        </p:tgtEl>
                                        <p:attrNameLst>
                                          <p:attrName>style.visibility</p:attrName>
                                        </p:attrNameLst>
                                      </p:cBhvr>
                                      <p:to>
                                        <p:strVal val="visible"/>
                                      </p:to>
                                    </p:set>
                                    <p:animEffect transition="in" filter="fade">
                                      <p:cBhvr>
                                        <p:cTn id="57" dur="400"/>
                                        <p:tgtEl>
                                          <p:spTgt spid="11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4"/>
                                        </p:tgtEl>
                                        <p:attrNameLst>
                                          <p:attrName>style.visibility</p:attrName>
                                        </p:attrNameLst>
                                      </p:cBhvr>
                                      <p:to>
                                        <p:strVal val="visible"/>
                                      </p:to>
                                    </p:set>
                                    <p:animEffect transition="in" filter="fade">
                                      <p:cBhvr>
                                        <p:cTn id="62" dur="400"/>
                                        <p:tgtEl>
                                          <p:spTgt spid="114"/>
                                        </p:tgtEl>
                                      </p:cBhvr>
                                    </p:animEffect>
                                  </p:childTnLst>
                                </p:cTn>
                              </p:par>
                              <p:par>
                                <p:cTn id="63" presetID="10" presetClass="entr" presetSubtype="0" fill="hold" nodeType="withEffect">
                                  <p:stCondLst>
                                    <p:cond delay="0"/>
                                  </p:stCondLst>
                                  <p:childTnLst>
                                    <p:set>
                                      <p:cBhvr>
                                        <p:cTn id="64" dur="1" fill="hold">
                                          <p:stCondLst>
                                            <p:cond delay="0"/>
                                          </p:stCondLst>
                                        </p:cTn>
                                        <p:tgtEl>
                                          <p:spTgt spid="115"/>
                                        </p:tgtEl>
                                        <p:attrNameLst>
                                          <p:attrName>style.visibility</p:attrName>
                                        </p:attrNameLst>
                                      </p:cBhvr>
                                      <p:to>
                                        <p:strVal val="visible"/>
                                      </p:to>
                                    </p:set>
                                    <p:animEffect transition="in" filter="fade">
                                      <p:cBhvr>
                                        <p:cTn id="65" dur="400"/>
                                        <p:tgtEl>
                                          <p:spTgt spid="115"/>
                                        </p:tgtEl>
                                      </p:cBhvr>
                                    </p:animEffect>
                                  </p:childTnLst>
                                </p:cTn>
                              </p:par>
                              <p:par>
                                <p:cTn id="66" presetID="10" presetClass="entr" presetSubtype="0" fill="hold" nodeType="withEffect">
                                  <p:stCondLst>
                                    <p:cond delay="0"/>
                                  </p:stCondLst>
                                  <p:childTnLst>
                                    <p:set>
                                      <p:cBhvr>
                                        <p:cTn id="67" dur="1" fill="hold">
                                          <p:stCondLst>
                                            <p:cond delay="0"/>
                                          </p:stCondLst>
                                        </p:cTn>
                                        <p:tgtEl>
                                          <p:spTgt spid="116"/>
                                        </p:tgtEl>
                                        <p:attrNameLst>
                                          <p:attrName>style.visibility</p:attrName>
                                        </p:attrNameLst>
                                      </p:cBhvr>
                                      <p:to>
                                        <p:strVal val="visible"/>
                                      </p:to>
                                    </p:set>
                                    <p:animEffect transition="in" filter="fade">
                                      <p:cBhvr>
                                        <p:cTn id="68" dur="400"/>
                                        <p:tgtEl>
                                          <p:spTgt spid="116"/>
                                        </p:tgtEl>
                                      </p:cBhvr>
                                    </p:animEffect>
                                  </p:childTnLst>
                                </p:cTn>
                              </p:par>
                              <p:par>
                                <p:cTn id="69" presetID="10" presetClass="entr" presetSubtype="0"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fade">
                                      <p:cBhvr>
                                        <p:cTn id="71" dur="400"/>
                                        <p:tgtEl>
                                          <p:spTgt spid="117"/>
                                        </p:tgtEl>
                                      </p:cBhvr>
                                    </p:animEffect>
                                  </p:childTnLst>
                                </p:cTn>
                              </p:par>
                              <p:par>
                                <p:cTn id="72" presetID="10" presetClass="entr" presetSubtype="0"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fade">
                                      <p:cBhvr>
                                        <p:cTn id="74" dur="400"/>
                                        <p:tgtEl>
                                          <p:spTgt spid="119"/>
                                        </p:tgtEl>
                                      </p:cBhvr>
                                    </p:animEffect>
                                  </p:childTnLst>
                                </p:cTn>
                              </p:par>
                              <p:par>
                                <p:cTn id="75" presetID="10" presetClass="entr" presetSubtype="0" fill="hold" nodeType="withEffect">
                                  <p:stCondLst>
                                    <p:cond delay="0"/>
                                  </p:stCondLst>
                                  <p:childTnLst>
                                    <p:set>
                                      <p:cBhvr>
                                        <p:cTn id="76" dur="1" fill="hold">
                                          <p:stCondLst>
                                            <p:cond delay="0"/>
                                          </p:stCondLst>
                                        </p:cTn>
                                        <p:tgtEl>
                                          <p:spTgt spid="120"/>
                                        </p:tgtEl>
                                        <p:attrNameLst>
                                          <p:attrName>style.visibility</p:attrName>
                                        </p:attrNameLst>
                                      </p:cBhvr>
                                      <p:to>
                                        <p:strVal val="visible"/>
                                      </p:to>
                                    </p:set>
                                    <p:animEffect transition="in" filter="fade">
                                      <p:cBhvr>
                                        <p:cTn id="77" dur="400"/>
                                        <p:tgtEl>
                                          <p:spTgt spid="12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par>
                                <p:cTn id="83" presetID="10" presetClass="entr" presetSubtype="0" fill="hold" nodeType="withEffect">
                                  <p:stCondLst>
                                    <p:cond delay="0"/>
                                  </p:stCondLst>
                                  <p:childTnLst>
                                    <p:set>
                                      <p:cBhvr>
                                        <p:cTn id="84" dur="1" fill="hold">
                                          <p:stCondLst>
                                            <p:cond delay="0"/>
                                          </p:stCondLst>
                                        </p:cTn>
                                        <p:tgtEl>
                                          <p:spTgt spid="121"/>
                                        </p:tgtEl>
                                        <p:attrNameLst>
                                          <p:attrName>style.visibility</p:attrName>
                                        </p:attrNameLst>
                                      </p:cBhvr>
                                      <p:to>
                                        <p:strVal val="visible"/>
                                      </p:to>
                                    </p:set>
                                    <p:animEffect transition="in" filter="fade">
                                      <p:cBhvr>
                                        <p:cTn id="85" dur="400"/>
                                        <p:tgtEl>
                                          <p:spTgt spid="121"/>
                                        </p:tgtEl>
                                      </p:cBhvr>
                                    </p:animEffect>
                                  </p:childTnLst>
                                </p:cTn>
                              </p:par>
                              <p:par>
                                <p:cTn id="86" presetID="10" presetClass="entr" presetSubtype="0" fill="hold" nodeType="withEffect">
                                  <p:stCondLst>
                                    <p:cond delay="0"/>
                                  </p:stCondLst>
                                  <p:childTnLst>
                                    <p:set>
                                      <p:cBhvr>
                                        <p:cTn id="87" dur="1" fill="hold">
                                          <p:stCondLst>
                                            <p:cond delay="0"/>
                                          </p:stCondLst>
                                        </p:cTn>
                                        <p:tgtEl>
                                          <p:spTgt spid="94"/>
                                        </p:tgtEl>
                                        <p:attrNameLst>
                                          <p:attrName>style.visibility</p:attrName>
                                        </p:attrNameLst>
                                      </p:cBhvr>
                                      <p:to>
                                        <p:strVal val="visible"/>
                                      </p:to>
                                    </p:set>
                                    <p:animEffect transition="in" filter="fade">
                                      <p:cBhvr>
                                        <p:cTn id="88" dur="400"/>
                                        <p:tgtEl>
                                          <p:spTgt spid="9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95"/>
                                        </p:tgtEl>
                                        <p:attrNameLst>
                                          <p:attrName>style.visibility</p:attrName>
                                        </p:attrNameLst>
                                      </p:cBhvr>
                                      <p:to>
                                        <p:strVal val="visible"/>
                                      </p:to>
                                    </p:set>
                                    <p:animEffect transition="in" filter="fade">
                                      <p:cBhvr>
                                        <p:cTn id="93" dur="400"/>
                                        <p:tgtEl>
                                          <p:spTgt spid="95"/>
                                        </p:tgtEl>
                                      </p:cBhvr>
                                    </p:animEffect>
                                  </p:childTnLst>
                                </p:cTn>
                              </p:par>
                              <p:par>
                                <p:cTn id="94" presetID="10" presetClass="entr" presetSubtype="0" fill="hold" nodeType="withEffect">
                                  <p:stCondLst>
                                    <p:cond delay="0"/>
                                  </p:stCondLst>
                                  <p:childTnLst>
                                    <p:set>
                                      <p:cBhvr>
                                        <p:cTn id="95" dur="1" fill="hold">
                                          <p:stCondLst>
                                            <p:cond delay="0"/>
                                          </p:stCondLst>
                                        </p:cTn>
                                        <p:tgtEl>
                                          <p:spTgt spid="96"/>
                                        </p:tgtEl>
                                        <p:attrNameLst>
                                          <p:attrName>style.visibility</p:attrName>
                                        </p:attrNameLst>
                                      </p:cBhvr>
                                      <p:to>
                                        <p:strVal val="visible"/>
                                      </p:to>
                                    </p:set>
                                    <p:animEffect transition="in" filter="fade">
                                      <p:cBhvr>
                                        <p:cTn id="96" dur="400"/>
                                        <p:tgtEl>
                                          <p:spTgt spid="96"/>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97"/>
                                        </p:tgtEl>
                                        <p:attrNameLst>
                                          <p:attrName>style.visibility</p:attrName>
                                        </p:attrNameLst>
                                      </p:cBhvr>
                                      <p:to>
                                        <p:strVal val="visible"/>
                                      </p:to>
                                    </p:set>
                                    <p:animEffect transition="in" filter="fade">
                                      <p:cBhvr>
                                        <p:cTn id="101" dur="400"/>
                                        <p:tgtEl>
                                          <p:spTgt spid="97"/>
                                        </p:tgtEl>
                                      </p:cBhvr>
                                    </p:animEffect>
                                  </p:childTnLst>
                                </p:cTn>
                              </p:par>
                              <p:par>
                                <p:cTn id="102" presetID="10" presetClass="entr" presetSubtype="0" fill="hold" nodeType="withEffect">
                                  <p:stCondLst>
                                    <p:cond delay="0"/>
                                  </p:stCondLst>
                                  <p:childTnLst>
                                    <p:set>
                                      <p:cBhvr>
                                        <p:cTn id="103" dur="1" fill="hold">
                                          <p:stCondLst>
                                            <p:cond delay="0"/>
                                          </p:stCondLst>
                                        </p:cTn>
                                        <p:tgtEl>
                                          <p:spTgt spid="98"/>
                                        </p:tgtEl>
                                        <p:attrNameLst>
                                          <p:attrName>style.visibility</p:attrName>
                                        </p:attrNameLst>
                                      </p:cBhvr>
                                      <p:to>
                                        <p:strVal val="visible"/>
                                      </p:to>
                                    </p:set>
                                    <p:animEffect transition="in" filter="fade">
                                      <p:cBhvr>
                                        <p:cTn id="104" dur="400"/>
                                        <p:tgtEl>
                                          <p:spTgt spid="98"/>
                                        </p:tgtEl>
                                      </p:cBhvr>
                                    </p:animEffect>
                                  </p:childTnLst>
                                </p:cTn>
                              </p:par>
                              <p:par>
                                <p:cTn id="105" presetID="10" presetClass="entr" presetSubtype="0" fill="hold" nodeType="withEffect">
                                  <p:stCondLst>
                                    <p:cond delay="0"/>
                                  </p:stCondLst>
                                  <p:childTnLst>
                                    <p:set>
                                      <p:cBhvr>
                                        <p:cTn id="106" dur="1" fill="hold">
                                          <p:stCondLst>
                                            <p:cond delay="0"/>
                                          </p:stCondLst>
                                        </p:cTn>
                                        <p:tgtEl>
                                          <p:spTgt spid="99"/>
                                        </p:tgtEl>
                                        <p:attrNameLst>
                                          <p:attrName>style.visibility</p:attrName>
                                        </p:attrNameLst>
                                      </p:cBhvr>
                                      <p:to>
                                        <p:strVal val="visible"/>
                                      </p:to>
                                    </p:set>
                                    <p:animEffect transition="in" filter="fade">
                                      <p:cBhvr>
                                        <p:cTn id="107" dur="400"/>
                                        <p:tgtEl>
                                          <p:spTgt spid="99"/>
                                        </p:tgtEl>
                                      </p:cBhvr>
                                    </p:animEffect>
                                  </p:childTnLst>
                                </p:cTn>
                              </p:par>
                              <p:par>
                                <p:cTn id="108" presetID="10" presetClass="entr" presetSubtype="0" fill="hold" nodeType="withEffect">
                                  <p:stCondLst>
                                    <p:cond delay="0"/>
                                  </p:stCondLst>
                                  <p:childTnLst>
                                    <p:set>
                                      <p:cBhvr>
                                        <p:cTn id="109" dur="1" fill="hold">
                                          <p:stCondLst>
                                            <p:cond delay="0"/>
                                          </p:stCondLst>
                                        </p:cTn>
                                        <p:tgtEl>
                                          <p:spTgt spid="125"/>
                                        </p:tgtEl>
                                        <p:attrNameLst>
                                          <p:attrName>style.visibility</p:attrName>
                                        </p:attrNameLst>
                                      </p:cBhvr>
                                      <p:to>
                                        <p:strVal val="visible"/>
                                      </p:to>
                                    </p:set>
                                    <p:animEffect transition="in" filter="fade">
                                      <p:cBhvr>
                                        <p:cTn id="11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76200">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PORTS &amp; ADAPTERS</a:t>
            </a:r>
          </a:p>
        </p:txBody>
      </p:sp>
      <p:sp>
        <p:nvSpPr>
          <p:cNvPr id="110" name="DomR"/>
          <p:cNvSpPr/>
          <p:nvPr/>
        </p:nvSpPr>
        <p:spPr>
          <a:xfrm>
            <a:off x="5590100" y="1500000"/>
            <a:ext cx="2000000" cy="5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240000"/>
            <a:ext cx="900000" cy="320000"/>
          </a:xfrm>
          <a:prstGeom prst="rect">
            <a:avLst/>
          </a:prstGeom>
          <a:solidFill>
            <a:srgbClr val="FFFFFF"/>
          </a:solidFill>
          <a:ln w="15875">
            <a:solidFill>
              <a:srgbClr val="8E6F3E"/>
            </a:solidFill>
          </a:ln>
        </p:spPr>
        <p:txBody>
          <a:bodyPr wrap="square" lIns="18288" tIns="27432" rIns="18288" bIns="27432" anchor="ctr">
            <a:normAutofit/>
          </a:bodyPr>
          <a:lstStyle/>
          <a:p>
            <a:pPr algn="ctr">
              <a:buNone/>
            </a:pPr>
            <a:r>
              <a:rPr lang="en-US" sz="2000" b="1" i="0" dirty="0">
                <a:solidFill>
                  <a:srgbClr val="5C4826"/>
                </a:solidFill>
              </a:rPr>
              <a:t>PORT</a:t>
            </a:r>
          </a:p>
        </p:txBody>
      </p:sp>
      <p:sp>
        <p:nvSpPr>
          <p:cNvPr id="112" name="Adap"/>
          <p:cNvSpPr/>
          <p:nvPr/>
        </p:nvSpPr>
        <p:spPr>
          <a:xfrm>
            <a:off x="5690100" y="3060000"/>
            <a:ext cx="1800000" cy="48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560000"/>
            <a:ext cx="0" cy="500000"/>
          </a:xfrm>
          <a:prstGeom prst="line">
            <a:avLst/>
          </a:prstGeom>
          <a:ln w="76200">
            <a:solidFill>
              <a:srgbClr val="8E6F3E"/>
            </a:solidFill>
            <a:prstDash val="dash"/>
            <a:tailEnd type="triangle" w="med" len="med"/>
          </a:ln>
        </p:spPr>
      </p:cxnSp>
      <p:sp>
        <p:nvSpPr>
          <p:cNvPr id="114" name="ImplLbl"/>
          <p:cNvSpPr txBox="1"/>
          <p:nvPr/>
        </p:nvSpPr>
        <p:spPr>
          <a:xfrm>
            <a:off x="6720100" y="2680000"/>
            <a:ext cx="150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implements</a:t>
            </a:r>
          </a:p>
        </p:txBody>
      </p:sp>
      <p:sp>
        <p:nvSpPr>
          <p:cNvPr id="115" name="Db"/>
          <p:cNvSpPr/>
          <p:nvPr/>
        </p:nvSpPr>
        <p:spPr>
          <a:xfrm>
            <a:off x="5690100" y="3920000"/>
            <a:ext cx="1800000" cy="4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540000"/>
            <a:ext cx="0" cy="380000"/>
          </a:xfrm>
          <a:prstGeom prst="line">
            <a:avLst/>
          </a:prstGeom>
          <a:ln w="76200">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isolation from infrastructure change</a:t>
            </a:r>
          </a:p>
        </p:txBody>
      </p:sp>
      <p:cxnSp>
        <p:nvCxnSpPr>
          <p:cNvPr id="130" name="Defines"/>
          <p:cNvCxnSpPr/>
          <p:nvPr/>
        </p:nvCxnSpPr>
        <p:spPr>
          <a:xfrm>
            <a:off x="6590100" y="2040000"/>
            <a:ext cx="0" cy="200000"/>
          </a:xfrm>
          <a:prstGeom prst="line">
            <a:avLst/>
          </a:prstGeom>
          <a:ln w="28575">
            <a:solidFill>
              <a:srgbClr val="8E6F3E"/>
            </a:solidFill>
            <a:tailEnd type="triangle" w="med" len="med"/>
          </a:ln>
        </p:spPr>
      </p:cxnSp>
      <p:sp>
        <p:nvSpPr>
          <p:cNvPr id="131" name="DefinesLbl"/>
          <p:cNvSpPr/>
          <p:nvPr/>
        </p:nvSpPr>
        <p:spPr>
          <a:xfrm>
            <a:off x="5290100" y="2020000"/>
            <a:ext cx="1200000" cy="260000"/>
          </a:xfrm>
          <a:prstGeom prst="rect">
            <a:avLst/>
          </a:prstGeom>
          <a:noFill/>
          <a:ln>
            <a:noFill/>
          </a:ln>
        </p:spPr>
        <p:txBody>
          <a:bodyPr wrap="square" lIns="54864" tIns="27432" rIns="54864" bIns="27432" anchor="ctr">
            <a:normAutofit/>
          </a:bodyPr>
          <a:lstStyle/>
          <a:p>
            <a:pPr algn="r">
              <a:buNone/>
            </a:pPr>
            <a:r>
              <a:rPr lang="en-US" sz="1300" b="0" i="1" dirty="0">
                <a:solidFill>
                  <a:srgbClr val="555960"/>
                </a:solidFill>
              </a:rPr>
              <a:t>defines</a:t>
            </a:r>
          </a:p>
        </p:txBody>
      </p:sp>
      <p:sp>
        <p:nvSpPr>
          <p:cNvPr id="132" name="SrcDepLbl"/>
          <p:cNvSpPr/>
          <p:nvPr/>
        </p:nvSpPr>
        <p:spPr>
          <a:xfrm>
            <a:off x="7590000" y="3120000"/>
            <a:ext cx="1550000" cy="320000"/>
          </a:xfrm>
          <a:prstGeom prst="rect">
            <a:avLst/>
          </a:prstGeom>
          <a:noFill/>
          <a:ln>
            <a:noFill/>
          </a:ln>
        </p:spPr>
        <p:txBody>
          <a:bodyPr wrap="square" lIns="54864" tIns="27432" rIns="54864" bIns="27432" anchor="ctr">
            <a:normAutofit/>
          </a:bodyPr>
          <a:lstStyle/>
          <a:p>
            <a:pPr algn="l">
              <a:buNone/>
            </a:pPr>
            <a:r>
              <a:rPr lang="en-US" sz="1400" b="1" i="0" dirty="0">
                <a:solidFill>
                  <a:srgbClr val="8E6F3E"/>
                </a:solidFill>
              </a:rPr>
              <a:t>↑ source dependency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400"/>
                                        <p:tgtEl>
                                          <p:spTgt spid="9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3"/>
                                        </p:tgtEl>
                                        <p:attrNameLst>
                                          <p:attrName>style.visibility</p:attrName>
                                        </p:attrNameLst>
                                      </p:cBhvr>
                                      <p:to>
                                        <p:strVal val="visible"/>
                                      </p:to>
                                    </p:set>
                                    <p:animEffect transition="in" filter="fade">
                                      <p:cBhvr>
                                        <p:cTn id="29" dur="400"/>
                                        <p:tgtEl>
                                          <p:spTgt spid="93"/>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0"/>
                                        </p:tgtEl>
                                        <p:attrNameLst>
                                          <p:attrName>style.visibility</p:attrName>
                                        </p:attrNameLst>
                                      </p:cBhvr>
                                      <p:to>
                                        <p:strVal val="visible"/>
                                      </p:to>
                                    </p:set>
                                    <p:animEffect transition="in" filter="fade">
                                      <p:cBhvr>
                                        <p:cTn id="37" dur="400"/>
                                        <p:tgtEl>
                                          <p:spTgt spid="130"/>
                                        </p:tgtEl>
                                      </p:cBhvr>
                                    </p:animEffect>
                                  </p:childTnLst>
                                </p:cTn>
                              </p:par>
                              <p:par>
                                <p:cTn id="38" presetID="10" presetClass="entr" presetSubtype="0" fill="hold" nodeType="withEffect">
                                  <p:stCondLst>
                                    <p:cond delay="0"/>
                                  </p:stCondLst>
                                  <p:childTnLst>
                                    <p:set>
                                      <p:cBhvr>
                                        <p:cTn id="39" dur="1" fill="hold">
                                          <p:stCondLst>
                                            <p:cond delay="0"/>
                                          </p:stCondLst>
                                        </p:cTn>
                                        <p:tgtEl>
                                          <p:spTgt spid="131"/>
                                        </p:tgtEl>
                                        <p:attrNameLst>
                                          <p:attrName>style.visibility</p:attrName>
                                        </p:attrNameLst>
                                      </p:cBhvr>
                                      <p:to>
                                        <p:strVal val="visible"/>
                                      </p:to>
                                    </p:set>
                                    <p:animEffect transition="in" filter="fade">
                                      <p:cBhvr>
                                        <p:cTn id="40" dur="400"/>
                                        <p:tgtEl>
                                          <p:spTgt spid="131"/>
                                        </p:tgtEl>
                                      </p:cBhvr>
                                    </p:animEffect>
                                  </p:childTnLst>
                                </p:cTn>
                              </p:par>
                              <p:par>
                                <p:cTn id="41" presetID="10" presetClass="entr" presetSubtype="0" fill="hold" nodeType="with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2"/>
                                        </p:tgtEl>
                                        <p:attrNameLst>
                                          <p:attrName>style.visibility</p:attrName>
                                        </p:attrNameLst>
                                      </p:cBhvr>
                                      <p:to>
                                        <p:strVal val="visible"/>
                                      </p:to>
                                    </p:set>
                                    <p:animEffect transition="in" filter="fade">
                                      <p:cBhvr>
                                        <p:cTn id="48" dur="400"/>
                                        <p:tgtEl>
                                          <p:spTgt spid="112"/>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400"/>
                                        <p:tgtEl>
                                          <p:spTgt spid="11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5"/>
                                        </p:tgtEl>
                                        <p:attrNameLst>
                                          <p:attrName>style.visibility</p:attrName>
                                        </p:attrNameLst>
                                      </p:cBhvr>
                                      <p:to>
                                        <p:strVal val="visible"/>
                                      </p:to>
                                    </p:set>
                                    <p:animEffect transition="in" filter="fade">
                                      <p:cBhvr>
                                        <p:cTn id="59" dur="400"/>
                                        <p:tgtEl>
                                          <p:spTgt spid="115"/>
                                        </p:tgtEl>
                                      </p:cBhvr>
                                    </p:animEffect>
                                  </p:childTnLst>
                                </p:cTn>
                              </p:par>
                              <p:par>
                                <p:cTn id="60" presetID="10" presetClass="entr" presetSubtype="0" fill="hold" nodeType="withEffect">
                                  <p:stCondLst>
                                    <p:cond delay="0"/>
                                  </p:stCondLst>
                                  <p:childTnLst>
                                    <p:set>
                                      <p:cBhvr>
                                        <p:cTn id="61" dur="1" fill="hold">
                                          <p:stCondLst>
                                            <p:cond delay="0"/>
                                          </p:stCondLst>
                                        </p:cTn>
                                        <p:tgtEl>
                                          <p:spTgt spid="116"/>
                                        </p:tgtEl>
                                        <p:attrNameLst>
                                          <p:attrName>style.visibility</p:attrName>
                                        </p:attrNameLst>
                                      </p:cBhvr>
                                      <p:to>
                                        <p:strVal val="visible"/>
                                      </p:to>
                                    </p:set>
                                    <p:animEffect transition="in" filter="fade">
                                      <p:cBhvr>
                                        <p:cTn id="62" dur="400"/>
                                        <p:tgtEl>
                                          <p:spTgt spid="116"/>
                                        </p:tgtEl>
                                      </p:cBhvr>
                                    </p:animEffect>
                                  </p:childTnLst>
                                </p:cTn>
                              </p:par>
                              <p:par>
                                <p:cTn id="63" presetID="10"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animEffect transition="in" filter="fade">
                                      <p:cBhvr>
                                        <p:cTn id="65" dur="400"/>
                                        <p:tgtEl>
                                          <p:spTgt spid="9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2"/>
                                        </p:tgtEl>
                                        <p:attrNameLst>
                                          <p:attrName>style.visibility</p:attrName>
                                        </p:attrNameLst>
                                      </p:cBhvr>
                                      <p:to>
                                        <p:strVal val="visible"/>
                                      </p:to>
                                    </p:set>
                                    <p:animEffect transition="in" filter="fade">
                                      <p:cBhvr>
                                        <p:cTn id="70" dur="400"/>
                                        <p:tgtEl>
                                          <p:spTgt spid="13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95"/>
                                        </p:tgtEl>
                                        <p:attrNameLst>
                                          <p:attrName>style.visibility</p:attrName>
                                        </p:attrNameLst>
                                      </p:cBhvr>
                                      <p:to>
                                        <p:strVal val="visible"/>
                                      </p:to>
                                    </p:set>
                                    <p:animEffect transition="in" filter="fade">
                                      <p:cBhvr>
                                        <p:cTn id="75" dur="400"/>
                                        <p:tgtEl>
                                          <p:spTgt spid="95"/>
                                        </p:tgtEl>
                                      </p:cBhvr>
                                    </p:animEffect>
                                  </p:childTnLst>
                                </p:cTn>
                              </p:par>
                              <p:par>
                                <p:cTn id="76" presetID="10" presetClass="entr" presetSubtype="0" fill="hold" nodeType="withEffect">
                                  <p:stCondLst>
                                    <p:cond delay="0"/>
                                  </p:stCondLst>
                                  <p:childTnLst>
                                    <p:set>
                                      <p:cBhvr>
                                        <p:cTn id="77" dur="1" fill="hold">
                                          <p:stCondLst>
                                            <p:cond delay="0"/>
                                          </p:stCondLst>
                                        </p:cTn>
                                        <p:tgtEl>
                                          <p:spTgt spid="96"/>
                                        </p:tgtEl>
                                        <p:attrNameLst>
                                          <p:attrName>style.visibility</p:attrName>
                                        </p:attrNameLst>
                                      </p:cBhvr>
                                      <p:to>
                                        <p:strVal val="visible"/>
                                      </p:to>
                                    </p:set>
                                    <p:animEffect transition="in" filter="fade">
                                      <p:cBhvr>
                                        <p:cTn id="78" dur="400"/>
                                        <p:tgtEl>
                                          <p:spTgt spid="96"/>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97"/>
                                        </p:tgtEl>
                                        <p:attrNameLst>
                                          <p:attrName>style.visibility</p:attrName>
                                        </p:attrNameLst>
                                      </p:cBhvr>
                                      <p:to>
                                        <p:strVal val="visible"/>
                                      </p:to>
                                    </p:set>
                                    <p:animEffect transition="in" filter="fade">
                                      <p:cBhvr>
                                        <p:cTn id="83" dur="400"/>
                                        <p:tgtEl>
                                          <p:spTgt spid="97"/>
                                        </p:tgtEl>
                                      </p:cBhvr>
                                    </p:animEffect>
                                  </p:childTnLst>
                                </p:cTn>
                              </p:par>
                              <p:par>
                                <p:cTn id="84" presetID="10" presetClass="entr" presetSubtype="0" fill="hold" nodeType="withEffect">
                                  <p:stCondLst>
                                    <p:cond delay="0"/>
                                  </p:stCondLst>
                                  <p:childTnLst>
                                    <p:set>
                                      <p:cBhvr>
                                        <p:cTn id="85" dur="1" fill="hold">
                                          <p:stCondLst>
                                            <p:cond delay="0"/>
                                          </p:stCondLst>
                                        </p:cTn>
                                        <p:tgtEl>
                                          <p:spTgt spid="98"/>
                                        </p:tgtEl>
                                        <p:attrNameLst>
                                          <p:attrName>style.visibility</p:attrName>
                                        </p:attrNameLst>
                                      </p:cBhvr>
                                      <p:to>
                                        <p:strVal val="visible"/>
                                      </p:to>
                                    </p:set>
                                    <p:animEffect transition="in" filter="fade">
                                      <p:cBhvr>
                                        <p:cTn id="86" dur="400"/>
                                        <p:tgtEl>
                                          <p:spTgt spid="98"/>
                                        </p:tgtEl>
                                      </p:cBhvr>
                                    </p:animEffect>
                                  </p:childTnLst>
                                </p:cTn>
                              </p:par>
                              <p:par>
                                <p:cTn id="87" presetID="10" presetClass="entr" presetSubtype="0" fill="hold" nodeType="withEffect">
                                  <p:stCondLst>
                                    <p:cond delay="0"/>
                                  </p:stCondLst>
                                  <p:childTnLst>
                                    <p:set>
                                      <p:cBhvr>
                                        <p:cTn id="88" dur="1" fill="hold">
                                          <p:stCondLst>
                                            <p:cond delay="0"/>
                                          </p:stCondLst>
                                        </p:cTn>
                                        <p:tgtEl>
                                          <p:spTgt spid="99"/>
                                        </p:tgtEl>
                                        <p:attrNameLst>
                                          <p:attrName>style.visibility</p:attrName>
                                        </p:attrNameLst>
                                      </p:cBhvr>
                                      <p:to>
                                        <p:strVal val="visible"/>
                                      </p:to>
                                    </p:set>
                                    <p:animEffect transition="in" filter="fade">
                                      <p:cBhvr>
                                        <p:cTn id="89" dur="400"/>
                                        <p:tgtEl>
                                          <p:spTgt spid="99"/>
                                        </p:tgtEl>
                                      </p:cBhvr>
                                    </p:animEffect>
                                  </p:childTnLst>
                                </p:cTn>
                              </p:par>
                              <p:par>
                                <p:cTn id="90" presetID="10" presetClass="entr" presetSubtype="0" fill="hold" nodeType="withEffect">
                                  <p:stCondLst>
                                    <p:cond delay="0"/>
                                  </p:stCondLst>
                                  <p:childTnLst>
                                    <p:set>
                                      <p:cBhvr>
                                        <p:cTn id="91" dur="1" fill="hold">
                                          <p:stCondLst>
                                            <p:cond delay="0"/>
                                          </p:stCondLst>
                                        </p:cTn>
                                        <p:tgtEl>
                                          <p:spTgt spid="120"/>
                                        </p:tgtEl>
                                        <p:attrNameLst>
                                          <p:attrName>style.visibility</p:attrName>
                                        </p:attrNameLst>
                                      </p:cBhvr>
                                      <p:to>
                                        <p:strVal val="visible"/>
                                      </p:to>
                                    </p:set>
                                    <p:animEffect transition="in" filter="fade">
                                      <p:cBhvr>
                                        <p:cTn id="92"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Patterns give us alternatives, not answers</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100" name="H100"/>
          <p:cNvSpPr txBox="1"/>
          <p:nvPr/>
        </p:nvSpPr>
        <p:spPr>
          <a:xfrm>
            <a:off x="685800" y="1250000"/>
            <a:ext cx="228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RECURRING PROBLEM</a:t>
            </a:r>
          </a:p>
        </p:txBody>
      </p:sp>
      <p:sp>
        <p:nvSpPr>
          <p:cNvPr id="101" name="H101"/>
          <p:cNvSpPr txBox="1"/>
          <p:nvPr/>
        </p:nvSpPr>
        <p:spPr>
          <a:xfrm>
            <a:off x="3085800" y="1250000"/>
            <a:ext cx="153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OPTION A</a:t>
            </a:r>
          </a:p>
        </p:txBody>
      </p:sp>
      <p:sp>
        <p:nvSpPr>
          <p:cNvPr id="102" name="H102"/>
          <p:cNvSpPr txBox="1"/>
          <p:nvPr/>
        </p:nvSpPr>
        <p:spPr>
          <a:xfrm>
            <a:off x="4735800" y="1250000"/>
            <a:ext cx="153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OPTION B</a:t>
            </a:r>
          </a:p>
        </p:txBody>
      </p:sp>
      <p:sp>
        <p:nvSpPr>
          <p:cNvPr id="103" name="H103"/>
          <p:cNvSpPr txBox="1"/>
          <p:nvPr/>
        </p:nvSpPr>
        <p:spPr>
          <a:xfrm>
            <a:off x="6385800" y="1250000"/>
            <a:ext cx="19524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WHAT IS TRADED</a:t>
            </a:r>
          </a:p>
        </p:txBody>
      </p:sp>
      <p:cxnSp>
        <p:nvCxnSpPr>
          <p:cNvPr id="104" name="HdrRule"/>
          <p:cNvCxnSpPr/>
          <p:nvPr/>
        </p:nvCxnSpPr>
        <p:spPr>
          <a:xfrm>
            <a:off x="685800" y="1710000"/>
            <a:ext cx="7772400" cy="0"/>
          </a:xfrm>
          <a:prstGeom prst="line">
            <a:avLst/>
          </a:prstGeom>
          <a:ln w="25400">
            <a:solidFill>
              <a:srgbClr val="8E6F3E"/>
            </a:solidFill>
          </a:ln>
        </p:spPr>
      </p:cxnSp>
      <p:sp>
        <p:nvSpPr>
          <p:cNvPr id="110" name="R0C0"/>
          <p:cNvSpPr txBox="1"/>
          <p:nvPr/>
        </p:nvSpPr>
        <p:spPr>
          <a:xfrm>
            <a:off x="685800" y="177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Abstraction boundaries</a:t>
            </a:r>
          </a:p>
        </p:txBody>
      </p:sp>
      <p:sp>
        <p:nvSpPr>
          <p:cNvPr id="111" name="R0C1"/>
          <p:cNvSpPr txBox="1"/>
          <p:nvPr/>
        </p:nvSpPr>
        <p:spPr>
          <a:xfrm>
            <a:off x="3085800" y="177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Strict layering</a:t>
            </a:r>
          </a:p>
        </p:txBody>
      </p:sp>
      <p:sp>
        <p:nvSpPr>
          <p:cNvPr id="112" name="R0C2"/>
          <p:cNvSpPr txBox="1"/>
          <p:nvPr/>
        </p:nvSpPr>
        <p:spPr>
          <a:xfrm>
            <a:off x="4735800" y="177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Deliberate crossing</a:t>
            </a:r>
          </a:p>
        </p:txBody>
      </p:sp>
      <p:sp>
        <p:nvSpPr>
          <p:cNvPr id="113" name="R0C3"/>
          <p:cNvSpPr txBox="1"/>
          <p:nvPr/>
        </p:nvSpPr>
        <p:spPr>
          <a:xfrm>
            <a:off x="6385800" y="177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isolation ↔ capability</a:t>
            </a:r>
          </a:p>
        </p:txBody>
      </p:sp>
      <p:cxnSp>
        <p:nvCxnSpPr>
          <p:cNvPr id="114" name="Rule0"/>
          <p:cNvCxnSpPr/>
          <p:nvPr/>
        </p:nvCxnSpPr>
        <p:spPr>
          <a:xfrm>
            <a:off x="685800" y="2560000"/>
            <a:ext cx="7772400" cy="0"/>
          </a:xfrm>
          <a:prstGeom prst="line">
            <a:avLst/>
          </a:prstGeom>
          <a:ln w="12700">
            <a:solidFill>
              <a:srgbClr val="C9B991"/>
            </a:solidFill>
          </a:ln>
        </p:spPr>
      </p:cxnSp>
      <p:sp>
        <p:nvSpPr>
          <p:cNvPr id="115" name="R1C0"/>
          <p:cNvSpPr txBox="1"/>
          <p:nvPr/>
        </p:nvSpPr>
        <p:spPr>
          <a:xfrm>
            <a:off x="685800" y="259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State organization</a:t>
            </a:r>
          </a:p>
        </p:txBody>
      </p:sp>
      <p:sp>
        <p:nvSpPr>
          <p:cNvPr id="116" name="R1C1"/>
          <p:cNvSpPr txBox="1"/>
          <p:nvPr/>
        </p:nvSpPr>
        <p:spPr>
          <a:xfrm>
            <a:off x="3085800" y="259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Pipeline</a:t>
            </a:r>
          </a:p>
        </p:txBody>
      </p:sp>
      <p:sp>
        <p:nvSpPr>
          <p:cNvPr id="117" name="R1C2"/>
          <p:cNvSpPr txBox="1"/>
          <p:nvPr/>
        </p:nvSpPr>
        <p:spPr>
          <a:xfrm>
            <a:off x="4735800" y="259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Repository</a:t>
            </a:r>
          </a:p>
        </p:txBody>
      </p:sp>
      <p:sp>
        <p:nvSpPr>
          <p:cNvPr id="118" name="R1C3"/>
          <p:cNvSpPr txBox="1"/>
          <p:nvPr/>
        </p:nvSpPr>
        <p:spPr>
          <a:xfrm>
            <a:off x="6385800" y="259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local flow ↔ shared consistency</a:t>
            </a:r>
          </a:p>
        </p:txBody>
      </p:sp>
      <p:cxnSp>
        <p:nvCxnSpPr>
          <p:cNvPr id="119" name="Rule1"/>
          <p:cNvCxnSpPr/>
          <p:nvPr/>
        </p:nvCxnSpPr>
        <p:spPr>
          <a:xfrm>
            <a:off x="685800" y="3380000"/>
            <a:ext cx="7772400" cy="0"/>
          </a:xfrm>
          <a:prstGeom prst="line">
            <a:avLst/>
          </a:prstGeom>
          <a:ln w="12700">
            <a:solidFill>
              <a:srgbClr val="C9B991"/>
            </a:solidFill>
          </a:ln>
        </p:spPr>
      </p:cxnSp>
      <p:sp>
        <p:nvSpPr>
          <p:cNvPr id="120" name="R2C0"/>
          <p:cNvSpPr txBox="1"/>
          <p:nvPr/>
        </p:nvSpPr>
        <p:spPr>
          <a:xfrm>
            <a:off x="685800" y="341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Communication</a:t>
            </a:r>
          </a:p>
        </p:txBody>
      </p:sp>
      <p:sp>
        <p:nvSpPr>
          <p:cNvPr id="121" name="R2C1"/>
          <p:cNvSpPr txBox="1"/>
          <p:nvPr/>
        </p:nvSpPr>
        <p:spPr>
          <a:xfrm>
            <a:off x="3085800" y="341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RPC</a:t>
            </a:r>
          </a:p>
        </p:txBody>
      </p:sp>
      <p:sp>
        <p:nvSpPr>
          <p:cNvPr id="122" name="R2C2"/>
          <p:cNvSpPr txBox="1"/>
          <p:nvPr/>
        </p:nvSpPr>
        <p:spPr>
          <a:xfrm>
            <a:off x="4735800" y="341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Event messaging</a:t>
            </a:r>
          </a:p>
        </p:txBody>
      </p:sp>
      <p:sp>
        <p:nvSpPr>
          <p:cNvPr id="123" name="R2C3"/>
          <p:cNvSpPr txBox="1"/>
          <p:nvPr/>
        </p:nvSpPr>
        <p:spPr>
          <a:xfrm>
            <a:off x="6385800" y="341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coordination ↔ decoupling</a:t>
            </a:r>
          </a:p>
        </p:txBody>
      </p:sp>
      <p:cxnSp>
        <p:nvCxnSpPr>
          <p:cNvPr id="124" name="Rule2"/>
          <p:cNvCxnSpPr/>
          <p:nvPr/>
        </p:nvCxnSpPr>
        <p:spPr>
          <a:xfrm>
            <a:off x="685800" y="4200000"/>
            <a:ext cx="7772400" cy="0"/>
          </a:xfrm>
          <a:prstGeom prst="line">
            <a:avLst/>
          </a:prstGeom>
          <a:ln w="12700">
            <a:solidFill>
              <a:srgbClr val="C9B991"/>
            </a:solidFill>
          </a:ln>
        </p:spPr>
      </p:cxnSp>
      <p:sp>
        <p:nvSpPr>
          <p:cNvPr id="125" name="R3C0"/>
          <p:cNvSpPr txBox="1"/>
          <p:nvPr/>
        </p:nvSpPr>
        <p:spPr>
          <a:xfrm>
            <a:off x="685800" y="423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Infrastructure dependencies</a:t>
            </a:r>
          </a:p>
        </p:txBody>
      </p:sp>
      <p:sp>
        <p:nvSpPr>
          <p:cNvPr id="126" name="R3C1"/>
          <p:cNvSpPr txBox="1"/>
          <p:nvPr/>
        </p:nvSpPr>
        <p:spPr>
          <a:xfrm>
            <a:off x="3085800" y="423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Direct dependency</a:t>
            </a:r>
          </a:p>
        </p:txBody>
      </p:sp>
      <p:sp>
        <p:nvSpPr>
          <p:cNvPr id="127" name="R3C2"/>
          <p:cNvSpPr txBox="1"/>
          <p:nvPr/>
        </p:nvSpPr>
        <p:spPr>
          <a:xfrm>
            <a:off x="4735800" y="423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Ports &amp; adapters</a:t>
            </a:r>
          </a:p>
        </p:txBody>
      </p:sp>
      <p:sp>
        <p:nvSpPr>
          <p:cNvPr id="128" name="R3C3"/>
          <p:cNvSpPr txBox="1"/>
          <p:nvPr/>
        </p:nvSpPr>
        <p:spPr>
          <a:xfrm>
            <a:off x="6385800" y="423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directness ↔ infrastructure isolation</a:t>
            </a:r>
          </a:p>
        </p:txBody>
      </p:sp>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A pattern tells us what tends to happen. It does not tell us which consequence matters more here.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4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4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4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400"/>
                                        <p:tgtEl>
                                          <p:spTgt spid="113"/>
                                        </p:tgtEl>
                                      </p:cBhvr>
                                    </p:animEffect>
                                  </p:childTnLst>
                                </p:cTn>
                              </p:par>
                              <p:par>
                                <p:cTn id="17" presetID="10"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400"/>
                                        <p:tgtEl>
                                          <p:spTgt spid="11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400"/>
                                        <p:tgtEl>
                                          <p:spTgt spid="115"/>
                                        </p:tgtEl>
                                      </p:cBhvr>
                                    </p:animEffect>
                                  </p:childTnLst>
                                </p:cTn>
                              </p:par>
                              <p:par>
                                <p:cTn id="25" presetID="10" presetClass="entr" presetSubtype="0" fill="hold" nodeType="withEffect">
                                  <p:stCondLst>
                                    <p:cond delay="0"/>
                                  </p:stCondLst>
                                  <p:childTnLst>
                                    <p:set>
                                      <p:cBhvr>
                                        <p:cTn id="26" dur="1" fill="hold">
                                          <p:stCondLst>
                                            <p:cond delay="0"/>
                                          </p:stCondLst>
                                        </p:cTn>
                                        <p:tgtEl>
                                          <p:spTgt spid="116"/>
                                        </p:tgtEl>
                                        <p:attrNameLst>
                                          <p:attrName>style.visibility</p:attrName>
                                        </p:attrNameLst>
                                      </p:cBhvr>
                                      <p:to>
                                        <p:strVal val="visible"/>
                                      </p:to>
                                    </p:set>
                                    <p:animEffect transition="in" filter="fade">
                                      <p:cBhvr>
                                        <p:cTn id="27" dur="400"/>
                                        <p:tgtEl>
                                          <p:spTgt spid="116"/>
                                        </p:tgtEl>
                                      </p:cBhvr>
                                    </p:animEffect>
                                  </p:childTnLst>
                                </p:cTn>
                              </p:par>
                              <p:par>
                                <p:cTn id="28" presetID="10" presetClass="entr" presetSubtype="0" fill="hold" nodeType="withEffect">
                                  <p:stCondLst>
                                    <p:cond delay="0"/>
                                  </p:stCondLst>
                                  <p:childTnLst>
                                    <p:set>
                                      <p:cBhvr>
                                        <p:cTn id="29" dur="1" fill="hold">
                                          <p:stCondLst>
                                            <p:cond delay="0"/>
                                          </p:stCondLst>
                                        </p:cTn>
                                        <p:tgtEl>
                                          <p:spTgt spid="117"/>
                                        </p:tgtEl>
                                        <p:attrNameLst>
                                          <p:attrName>style.visibility</p:attrName>
                                        </p:attrNameLst>
                                      </p:cBhvr>
                                      <p:to>
                                        <p:strVal val="visible"/>
                                      </p:to>
                                    </p:set>
                                    <p:animEffect transition="in" filter="fade">
                                      <p:cBhvr>
                                        <p:cTn id="30" dur="400"/>
                                        <p:tgtEl>
                                          <p:spTgt spid="117"/>
                                        </p:tgtEl>
                                      </p:cBhvr>
                                    </p:animEffect>
                                  </p:childTnLst>
                                </p:cTn>
                              </p:par>
                              <p:par>
                                <p:cTn id="31" presetID="10" presetClass="entr" presetSubtype="0" fill="hold" nodeType="withEffect">
                                  <p:stCondLst>
                                    <p:cond delay="0"/>
                                  </p:stCondLst>
                                  <p:childTnLst>
                                    <p:set>
                                      <p:cBhvr>
                                        <p:cTn id="32" dur="1" fill="hold">
                                          <p:stCondLst>
                                            <p:cond delay="0"/>
                                          </p:stCondLst>
                                        </p:cTn>
                                        <p:tgtEl>
                                          <p:spTgt spid="118"/>
                                        </p:tgtEl>
                                        <p:attrNameLst>
                                          <p:attrName>style.visibility</p:attrName>
                                        </p:attrNameLst>
                                      </p:cBhvr>
                                      <p:to>
                                        <p:strVal val="visible"/>
                                      </p:to>
                                    </p:set>
                                    <p:animEffect transition="in" filter="fade">
                                      <p:cBhvr>
                                        <p:cTn id="33" dur="400"/>
                                        <p:tgtEl>
                                          <p:spTgt spid="118"/>
                                        </p:tgtEl>
                                      </p:cBhvr>
                                    </p:animEffect>
                                  </p:childTnLst>
                                </p:cTn>
                              </p:par>
                              <p:par>
                                <p:cTn id="34" presetID="10" presetClass="entr" presetSubtype="0" fill="hold" nodeType="withEffect">
                                  <p:stCondLst>
                                    <p:cond delay="0"/>
                                  </p:stCondLst>
                                  <p:childTnLst>
                                    <p:set>
                                      <p:cBhvr>
                                        <p:cTn id="35" dur="1" fill="hold">
                                          <p:stCondLst>
                                            <p:cond delay="0"/>
                                          </p:stCondLst>
                                        </p:cTn>
                                        <p:tgtEl>
                                          <p:spTgt spid="119"/>
                                        </p:tgtEl>
                                        <p:attrNameLst>
                                          <p:attrName>style.visibility</p:attrName>
                                        </p:attrNameLst>
                                      </p:cBhvr>
                                      <p:to>
                                        <p:strVal val="visible"/>
                                      </p:to>
                                    </p:set>
                                    <p:animEffect transition="in" filter="fade">
                                      <p:cBhvr>
                                        <p:cTn id="36" dur="400"/>
                                        <p:tgtEl>
                                          <p:spTgt spid="119"/>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20"/>
                                        </p:tgtEl>
                                        <p:attrNameLst>
                                          <p:attrName>style.visibility</p:attrName>
                                        </p:attrNameLst>
                                      </p:cBhvr>
                                      <p:to>
                                        <p:strVal val="visible"/>
                                      </p:to>
                                    </p:set>
                                    <p:animEffect transition="in" filter="fade">
                                      <p:cBhvr>
                                        <p:cTn id="41" dur="400"/>
                                        <p:tgtEl>
                                          <p:spTgt spid="120"/>
                                        </p:tgtEl>
                                      </p:cBhvr>
                                    </p:animEffect>
                                  </p:childTnLst>
                                </p:cTn>
                              </p:par>
                              <p:par>
                                <p:cTn id="42" presetID="10" presetClass="entr" presetSubtype="0" fill="hold" nodeType="withEffect">
                                  <p:stCondLst>
                                    <p:cond delay="0"/>
                                  </p:stCondLst>
                                  <p:childTnLst>
                                    <p:set>
                                      <p:cBhvr>
                                        <p:cTn id="43" dur="1" fill="hold">
                                          <p:stCondLst>
                                            <p:cond delay="0"/>
                                          </p:stCondLst>
                                        </p:cTn>
                                        <p:tgtEl>
                                          <p:spTgt spid="121"/>
                                        </p:tgtEl>
                                        <p:attrNameLst>
                                          <p:attrName>style.visibility</p:attrName>
                                        </p:attrNameLst>
                                      </p:cBhvr>
                                      <p:to>
                                        <p:strVal val="visible"/>
                                      </p:to>
                                    </p:set>
                                    <p:animEffect transition="in" filter="fade">
                                      <p:cBhvr>
                                        <p:cTn id="44" dur="400"/>
                                        <p:tgtEl>
                                          <p:spTgt spid="121"/>
                                        </p:tgtEl>
                                      </p:cBhvr>
                                    </p:animEffect>
                                  </p:childTnLst>
                                </p:cTn>
                              </p:par>
                              <p:par>
                                <p:cTn id="45" presetID="10" presetClass="entr" presetSubtype="0" fill="hold" nodeType="withEffect">
                                  <p:stCondLst>
                                    <p:cond delay="0"/>
                                  </p:stCondLst>
                                  <p:childTnLst>
                                    <p:set>
                                      <p:cBhvr>
                                        <p:cTn id="46" dur="1" fill="hold">
                                          <p:stCondLst>
                                            <p:cond delay="0"/>
                                          </p:stCondLst>
                                        </p:cTn>
                                        <p:tgtEl>
                                          <p:spTgt spid="122"/>
                                        </p:tgtEl>
                                        <p:attrNameLst>
                                          <p:attrName>style.visibility</p:attrName>
                                        </p:attrNameLst>
                                      </p:cBhvr>
                                      <p:to>
                                        <p:strVal val="visible"/>
                                      </p:to>
                                    </p:set>
                                    <p:animEffect transition="in" filter="fade">
                                      <p:cBhvr>
                                        <p:cTn id="47" dur="400"/>
                                        <p:tgtEl>
                                          <p:spTgt spid="122"/>
                                        </p:tgtEl>
                                      </p:cBhvr>
                                    </p:animEffect>
                                  </p:childTnLst>
                                </p:cTn>
                              </p:par>
                              <p:par>
                                <p:cTn id="48" presetID="10" presetClass="entr" presetSubtype="0" fill="hold" nodeType="withEffect">
                                  <p:stCondLst>
                                    <p:cond delay="0"/>
                                  </p:stCondLst>
                                  <p:childTnLst>
                                    <p:set>
                                      <p:cBhvr>
                                        <p:cTn id="49" dur="1" fill="hold">
                                          <p:stCondLst>
                                            <p:cond delay="0"/>
                                          </p:stCondLst>
                                        </p:cTn>
                                        <p:tgtEl>
                                          <p:spTgt spid="123"/>
                                        </p:tgtEl>
                                        <p:attrNameLst>
                                          <p:attrName>style.visibility</p:attrName>
                                        </p:attrNameLst>
                                      </p:cBhvr>
                                      <p:to>
                                        <p:strVal val="visible"/>
                                      </p:to>
                                    </p:set>
                                    <p:animEffect transition="in" filter="fade">
                                      <p:cBhvr>
                                        <p:cTn id="50" dur="400"/>
                                        <p:tgtEl>
                                          <p:spTgt spid="123"/>
                                        </p:tgtEl>
                                      </p:cBhvr>
                                    </p:animEffect>
                                  </p:childTnLst>
                                </p:cTn>
                              </p:par>
                              <p:par>
                                <p:cTn id="51" presetID="10" presetClass="entr" presetSubtype="0" fill="hold" nodeType="withEffect">
                                  <p:stCondLst>
                                    <p:cond delay="0"/>
                                  </p:stCondLst>
                                  <p:childTnLst>
                                    <p:set>
                                      <p:cBhvr>
                                        <p:cTn id="52" dur="1" fill="hold">
                                          <p:stCondLst>
                                            <p:cond delay="0"/>
                                          </p:stCondLst>
                                        </p:cTn>
                                        <p:tgtEl>
                                          <p:spTgt spid="124"/>
                                        </p:tgtEl>
                                        <p:attrNameLst>
                                          <p:attrName>style.visibility</p:attrName>
                                        </p:attrNameLst>
                                      </p:cBhvr>
                                      <p:to>
                                        <p:strVal val="visible"/>
                                      </p:to>
                                    </p:set>
                                    <p:animEffect transition="in" filter="fade">
                                      <p:cBhvr>
                                        <p:cTn id="53" dur="400"/>
                                        <p:tgtEl>
                                          <p:spTgt spid="12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25"/>
                                        </p:tgtEl>
                                        <p:attrNameLst>
                                          <p:attrName>style.visibility</p:attrName>
                                        </p:attrNameLst>
                                      </p:cBhvr>
                                      <p:to>
                                        <p:strVal val="visible"/>
                                      </p:to>
                                    </p:set>
                                    <p:animEffect transition="in" filter="fade">
                                      <p:cBhvr>
                                        <p:cTn id="58" dur="400"/>
                                        <p:tgtEl>
                                          <p:spTgt spid="125"/>
                                        </p:tgtEl>
                                      </p:cBhvr>
                                    </p:animEffect>
                                  </p:childTnLst>
                                </p:cTn>
                              </p:par>
                              <p:par>
                                <p:cTn id="59" presetID="10" presetClass="entr" presetSubtype="0" fill="hold" nodeType="withEffect">
                                  <p:stCondLst>
                                    <p:cond delay="0"/>
                                  </p:stCondLst>
                                  <p:childTnLst>
                                    <p:set>
                                      <p:cBhvr>
                                        <p:cTn id="60" dur="1" fill="hold">
                                          <p:stCondLst>
                                            <p:cond delay="0"/>
                                          </p:stCondLst>
                                        </p:cTn>
                                        <p:tgtEl>
                                          <p:spTgt spid="126"/>
                                        </p:tgtEl>
                                        <p:attrNameLst>
                                          <p:attrName>style.visibility</p:attrName>
                                        </p:attrNameLst>
                                      </p:cBhvr>
                                      <p:to>
                                        <p:strVal val="visible"/>
                                      </p:to>
                                    </p:set>
                                    <p:animEffect transition="in" filter="fade">
                                      <p:cBhvr>
                                        <p:cTn id="61" dur="400"/>
                                        <p:tgtEl>
                                          <p:spTgt spid="126"/>
                                        </p:tgtEl>
                                      </p:cBhvr>
                                    </p:animEffect>
                                  </p:childTnLst>
                                </p:cTn>
                              </p:par>
                              <p:par>
                                <p:cTn id="62" presetID="10" presetClass="entr" presetSubtype="0" fill="hold" nodeType="withEffect">
                                  <p:stCondLst>
                                    <p:cond delay="0"/>
                                  </p:stCondLst>
                                  <p:childTnLst>
                                    <p:set>
                                      <p:cBhvr>
                                        <p:cTn id="63" dur="1" fill="hold">
                                          <p:stCondLst>
                                            <p:cond delay="0"/>
                                          </p:stCondLst>
                                        </p:cTn>
                                        <p:tgtEl>
                                          <p:spTgt spid="127"/>
                                        </p:tgtEl>
                                        <p:attrNameLst>
                                          <p:attrName>style.visibility</p:attrName>
                                        </p:attrNameLst>
                                      </p:cBhvr>
                                      <p:to>
                                        <p:strVal val="visible"/>
                                      </p:to>
                                    </p:set>
                                    <p:animEffect transition="in" filter="fade">
                                      <p:cBhvr>
                                        <p:cTn id="64" dur="400"/>
                                        <p:tgtEl>
                                          <p:spTgt spid="127"/>
                                        </p:tgtEl>
                                      </p:cBhvr>
                                    </p:animEffect>
                                  </p:childTnLst>
                                </p:cTn>
                              </p:par>
                              <p:par>
                                <p:cTn id="65" presetID="10" presetClass="entr" presetSubtype="0" fill="hold" nodeType="withEffect">
                                  <p:stCondLst>
                                    <p:cond delay="0"/>
                                  </p:stCondLst>
                                  <p:childTnLst>
                                    <p:set>
                                      <p:cBhvr>
                                        <p:cTn id="66" dur="1" fill="hold">
                                          <p:stCondLst>
                                            <p:cond delay="0"/>
                                          </p:stCondLst>
                                        </p:cTn>
                                        <p:tgtEl>
                                          <p:spTgt spid="128"/>
                                        </p:tgtEl>
                                        <p:attrNameLst>
                                          <p:attrName>style.visibility</p:attrName>
                                        </p:attrNameLst>
                                      </p:cBhvr>
                                      <p:to>
                                        <p:strVal val="visible"/>
                                      </p:to>
                                    </p:set>
                                    <p:animEffect transition="in" filter="fade">
                                      <p:cBhvr>
                                        <p:cTn id="67" dur="400"/>
                                        <p:tgtEl>
                                          <p:spTgt spid="128"/>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40"/>
                                        </p:tgtEl>
                                        <p:attrNameLst>
                                          <p:attrName>style.visibility</p:attrName>
                                        </p:attrNameLst>
                                      </p:cBhvr>
                                      <p:to>
                                        <p:strVal val="visible"/>
                                      </p:to>
                                    </p:set>
                                    <p:animEffect transition="in" filter="fade">
                                      <p:cBhvr>
                                        <p:cTn id="72" dur="4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much can we know before we build it?</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An architecture diagram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view</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weighted flow</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view</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par>
                                <p:cTn id="17" presetID="10"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fade">
                                      <p:cBhvr>
                                        <p:cTn id="19" dur="400"/>
                                        <p:tgtEl>
                                          <p:spTgt spid="110"/>
                                        </p:tgtEl>
                                      </p:cBhvr>
                                    </p:animEffect>
                                  </p:childTnLst>
                                </p:cTn>
                              </p:par>
                              <p:par>
                                <p:cTn id="20" presetID="10" presetClass="entr" presetSubtype="0" fill="hold" nodeType="with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400"/>
                                        <p:tgtEl>
                                          <p:spTgt spid="111"/>
                                        </p:tgtEl>
                                      </p:cBhvr>
                                    </p:animEffect>
                                  </p:childTnLst>
                                </p:cTn>
                              </p:par>
                              <p:par>
                                <p:cTn id="23" presetID="10" presetClass="entr" presetSubtype="0" fill="hold" nodeType="withEffect">
                                  <p:stCondLst>
                                    <p:cond delay="0"/>
                                  </p:stCondLst>
                                  <p:childTnLst>
                                    <p:set>
                                      <p:cBhvr>
                                        <p:cTn id="24" dur="1" fill="hold">
                                          <p:stCondLst>
                                            <p:cond delay="0"/>
                                          </p:stCondLst>
                                        </p:cTn>
                                        <p:tgtEl>
                                          <p:spTgt spid="112"/>
                                        </p:tgtEl>
                                        <p:attrNameLst>
                                          <p:attrName>style.visibility</p:attrName>
                                        </p:attrNameLst>
                                      </p:cBhvr>
                                      <p:to>
                                        <p:strVal val="visible"/>
                                      </p:to>
                                    </p:set>
                                    <p:animEffect transition="in" filter="fade">
                                      <p:cBhvr>
                                        <p:cTn id="25" dur="400"/>
                                        <p:tgtEl>
                                          <p:spTgt spid="112"/>
                                        </p:tgtEl>
                                      </p:cBhvr>
                                    </p:animEffect>
                                  </p:childTnLst>
                                </p:cTn>
                              </p:par>
                              <p:par>
                                <p:cTn id="26" presetID="10" presetClass="entr" presetSubtype="0" fill="hold" nodeType="withEffect">
                                  <p:stCondLst>
                                    <p:cond delay="0"/>
                                  </p:stCondLst>
                                  <p:childTnLst>
                                    <p:set>
                                      <p:cBhvr>
                                        <p:cTn id="27" dur="1" fill="hold">
                                          <p:stCondLst>
                                            <p:cond delay="0"/>
                                          </p:stCondLst>
                                        </p:cTn>
                                        <p:tgtEl>
                                          <p:spTgt spid="113"/>
                                        </p:tgtEl>
                                        <p:attrNameLst>
                                          <p:attrName>style.visibility</p:attrName>
                                        </p:attrNameLst>
                                      </p:cBhvr>
                                      <p:to>
                                        <p:strVal val="visible"/>
                                      </p:to>
                                    </p:set>
                                    <p:animEffect transition="in" filter="fade">
                                      <p:cBhvr>
                                        <p:cTn id="28" dur="400"/>
                                        <p:tgtEl>
                                          <p:spTgt spid="113"/>
                                        </p:tgtEl>
                                      </p:cBhvr>
                                    </p:animEffect>
                                  </p:childTnLst>
                                </p:cTn>
                              </p:par>
                              <p:par>
                                <p:cTn id="29" presetID="10" presetClass="entr" presetSubtype="0" fill="hold" nodeType="withEffect">
                                  <p:stCondLst>
                                    <p:cond delay="0"/>
                                  </p:stCondLst>
                                  <p:childTnLst>
                                    <p:set>
                                      <p:cBhvr>
                                        <p:cTn id="30" dur="1" fill="hold">
                                          <p:stCondLst>
                                            <p:cond delay="0"/>
                                          </p:stCondLst>
                                        </p:cTn>
                                        <p:tgtEl>
                                          <p:spTgt spid="114"/>
                                        </p:tgtEl>
                                        <p:attrNameLst>
                                          <p:attrName>style.visibility</p:attrName>
                                        </p:attrNameLst>
                                      </p:cBhvr>
                                      <p:to>
                                        <p:strVal val="visible"/>
                                      </p:to>
                                    </p:set>
                                    <p:animEffect transition="in" filter="fade">
                                      <p:cBhvr>
                                        <p:cTn id="31" dur="400"/>
                                        <p:tgtEl>
                                          <p:spTgt spid="1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400"/>
                                        <p:tgtEl>
                                          <p:spTgt spid="104"/>
                                        </p:tgtEl>
                                      </p:cBhvr>
                                    </p:animEffect>
                                  </p:childTnLst>
                                </p:cTn>
                              </p:par>
                              <p:par>
                                <p:cTn id="37" presetID="10" presetClass="entr" presetSubtype="0" fill="hold" nodeType="withEffect">
                                  <p:stCondLst>
                                    <p:cond delay="0"/>
                                  </p:stCondLst>
                                  <p:childTnLst>
                                    <p:set>
                                      <p:cBhvr>
                                        <p:cTn id="38" dur="1" fill="hold">
                                          <p:stCondLst>
                                            <p:cond delay="0"/>
                                          </p:stCondLst>
                                        </p:cTn>
                                        <p:tgtEl>
                                          <p:spTgt spid="102"/>
                                        </p:tgtEl>
                                        <p:attrNameLst>
                                          <p:attrName>style.visibility</p:attrName>
                                        </p:attrNameLst>
                                      </p:cBhvr>
                                      <p:to>
                                        <p:strVal val="visible"/>
                                      </p:to>
                                    </p:set>
                                    <p:animEffect transition="in" filter="fade">
                                      <p:cBhvr>
                                        <p:cTn id="39" dur="400"/>
                                        <p:tgtEl>
                                          <p:spTgt spid="102"/>
                                        </p:tgtEl>
                                      </p:cBhvr>
                                    </p:animEffect>
                                  </p:childTnLst>
                                </p:cTn>
                              </p:par>
                              <p:par>
                                <p:cTn id="40" presetID="10" presetClass="entr" presetSubtype="0" fill="hold" nodeType="withEffect">
                                  <p:stCondLst>
                                    <p:cond delay="0"/>
                                  </p:stCondLst>
                                  <p:childTnLst>
                                    <p:set>
                                      <p:cBhvr>
                                        <p:cTn id="41" dur="1" fill="hold">
                                          <p:stCondLst>
                                            <p:cond delay="0"/>
                                          </p:stCondLst>
                                        </p:cTn>
                                        <p:tgtEl>
                                          <p:spTgt spid="103"/>
                                        </p:tgtEl>
                                        <p:attrNameLst>
                                          <p:attrName>style.visibility</p:attrName>
                                        </p:attrNameLst>
                                      </p:cBhvr>
                                      <p:to>
                                        <p:strVal val="visible"/>
                                      </p:to>
                                    </p:set>
                                    <p:animEffect transition="in" filter="fade">
                                      <p:cBhvr>
                                        <p:cTn id="42" dur="400"/>
                                        <p:tgtEl>
                                          <p:spTgt spid="103"/>
                                        </p:tgtEl>
                                      </p:cBhvr>
                                    </p:animEffect>
                                  </p:childTnLst>
                                </p:cTn>
                              </p:par>
                              <p:par>
                                <p:cTn id="43" presetID="10" presetClass="entr" presetSubtype="0" fill="hold" nodeType="withEffect">
                                  <p:stCondLst>
                                    <p:cond delay="0"/>
                                  </p:stCondLst>
                                  <p:childTnLst>
                                    <p:set>
                                      <p:cBhvr>
                                        <p:cTn id="44" dur="1" fill="hold">
                                          <p:stCondLst>
                                            <p:cond delay="0"/>
                                          </p:stCondLst>
                                        </p:cTn>
                                        <p:tgtEl>
                                          <p:spTgt spid="115"/>
                                        </p:tgtEl>
                                        <p:attrNameLst>
                                          <p:attrName>style.visibility</p:attrName>
                                        </p:attrNameLst>
                                      </p:cBhvr>
                                      <p:to>
                                        <p:strVal val="visible"/>
                                      </p:to>
                                    </p:set>
                                    <p:animEffect transition="in" filter="fade">
                                      <p:cBhvr>
                                        <p:cTn id="45" dur="400"/>
                                        <p:tgtEl>
                                          <p:spTgt spid="115"/>
                                        </p:tgtEl>
                                      </p:cBhvr>
                                    </p:animEffect>
                                  </p:childTnLst>
                                </p:cTn>
                              </p:par>
                              <p:par>
                                <p:cTn id="46" presetID="10" presetClass="entr" presetSubtype="0" fill="hold" nodeType="withEffect">
                                  <p:stCondLst>
                                    <p:cond delay="0"/>
                                  </p:stCondLst>
                                  <p:childTnLst>
                                    <p:set>
                                      <p:cBhvr>
                                        <p:cTn id="47" dur="1" fill="hold">
                                          <p:stCondLst>
                                            <p:cond delay="0"/>
                                          </p:stCondLst>
                                        </p:cTn>
                                        <p:tgtEl>
                                          <p:spTgt spid="116"/>
                                        </p:tgtEl>
                                        <p:attrNameLst>
                                          <p:attrName>style.visibility</p:attrName>
                                        </p:attrNameLst>
                                      </p:cBhvr>
                                      <p:to>
                                        <p:strVal val="visible"/>
                                      </p:to>
                                    </p:set>
                                    <p:animEffect transition="in" filter="fade">
                                      <p:cBhvr>
                                        <p:cTn id="48" dur="400"/>
                                        <p:tgtEl>
                                          <p:spTgt spid="116"/>
                                        </p:tgtEl>
                                      </p:cBhvr>
                                    </p:animEffect>
                                  </p:childTnLst>
                                </p:cTn>
                              </p:par>
                              <p:par>
                                <p:cTn id="49" presetID="10" presetClass="entr" presetSubtype="0" fill="hold"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400"/>
                                        <p:tgtEl>
                                          <p:spTgt spid="117"/>
                                        </p:tgtEl>
                                      </p:cBhvr>
                                    </p:animEffect>
                                  </p:childTnLst>
                                </p:cTn>
                              </p:par>
                              <p:par>
                                <p:cTn id="52" presetID="10" presetClass="entr" presetSubtype="0" fill="hold" nodeType="withEffect">
                                  <p:stCondLst>
                                    <p:cond delay="0"/>
                                  </p:stCondLst>
                                  <p:childTnLst>
                                    <p:set>
                                      <p:cBhvr>
                                        <p:cTn id="53" dur="1" fill="hold">
                                          <p:stCondLst>
                                            <p:cond delay="0"/>
                                          </p:stCondLst>
                                        </p:cTn>
                                        <p:tgtEl>
                                          <p:spTgt spid="118"/>
                                        </p:tgtEl>
                                        <p:attrNameLst>
                                          <p:attrName>style.visibility</p:attrName>
                                        </p:attrNameLst>
                                      </p:cBhvr>
                                      <p:to>
                                        <p:strVal val="visible"/>
                                      </p:to>
                                    </p:set>
                                    <p:animEffect transition="in" filter="fade">
                                      <p:cBhvr>
                                        <p:cTn id="54" dur="400"/>
                                        <p:tgtEl>
                                          <p:spTgt spid="118"/>
                                        </p:tgtEl>
                                      </p:cBhvr>
                                    </p:animEffect>
                                  </p:childTnLst>
                                </p:cTn>
                              </p:par>
                              <p:par>
                                <p:cTn id="55" presetID="10" presetClass="entr" presetSubtype="0" fill="hold" nodeType="withEffect">
                                  <p:stCondLst>
                                    <p:cond delay="0"/>
                                  </p:stCondLst>
                                  <p:childTnLst>
                                    <p:set>
                                      <p:cBhvr>
                                        <p:cTn id="56" dur="1" fill="hold">
                                          <p:stCondLst>
                                            <p:cond delay="0"/>
                                          </p:stCondLst>
                                        </p:cTn>
                                        <p:tgtEl>
                                          <p:spTgt spid="119"/>
                                        </p:tgtEl>
                                        <p:attrNameLst>
                                          <p:attrName>style.visibility</p:attrName>
                                        </p:attrNameLst>
                                      </p:cBhvr>
                                      <p:to>
                                        <p:strVal val="visible"/>
                                      </p:to>
                                    </p:set>
                                    <p:animEffect transition="in" filter="fade">
                                      <p:cBhvr>
                                        <p:cTn id="57" dur="400"/>
                                        <p:tgtEl>
                                          <p:spTgt spid="119"/>
                                        </p:tgtEl>
                                      </p:cBhvr>
                                    </p:animEffect>
                                  </p:childTnLst>
                                </p:cTn>
                              </p:par>
                              <p:par>
                                <p:cTn id="58" presetID="10" presetClass="entr" presetSubtype="0" fill="hold" nodeType="withEffect">
                                  <p:stCondLst>
                                    <p:cond delay="0"/>
                                  </p:stCondLst>
                                  <p:childTnLst>
                                    <p:set>
                                      <p:cBhvr>
                                        <p:cTn id="59" dur="1" fill="hold">
                                          <p:stCondLst>
                                            <p:cond delay="0"/>
                                          </p:stCondLst>
                                        </p:cTn>
                                        <p:tgtEl>
                                          <p:spTgt spid="120"/>
                                        </p:tgtEl>
                                        <p:attrNameLst>
                                          <p:attrName>style.visibility</p:attrName>
                                        </p:attrNameLst>
                                      </p:cBhvr>
                                      <p:to>
                                        <p:strVal val="visible"/>
                                      </p:to>
                                    </p:set>
                                    <p:animEffect transition="in" filter="fade">
                                      <p:cBhvr>
                                        <p:cTn id="60" dur="400"/>
                                        <p:tgtEl>
                                          <p:spTgt spid="120"/>
                                        </p:tgtEl>
                                      </p:cBhvr>
                                    </p:animEffect>
                                  </p:childTnLst>
                                </p:cTn>
                              </p:par>
                              <p:par>
                                <p:cTn id="61" presetID="10" presetClass="entr" presetSubtype="0" fill="hold" nodeType="withEffect">
                                  <p:stCondLst>
                                    <p:cond delay="0"/>
                                  </p:stCondLst>
                                  <p:childTnLst>
                                    <p:set>
                                      <p:cBhvr>
                                        <p:cTn id="62" dur="1" fill="hold">
                                          <p:stCondLst>
                                            <p:cond delay="0"/>
                                          </p:stCondLst>
                                        </p:cTn>
                                        <p:tgtEl>
                                          <p:spTgt spid="121"/>
                                        </p:tgtEl>
                                        <p:attrNameLst>
                                          <p:attrName>style.visibility</p:attrName>
                                        </p:attrNameLst>
                                      </p:cBhvr>
                                      <p:to>
                                        <p:strVal val="visible"/>
                                      </p:to>
                                    </p:set>
                                    <p:animEffect transition="in" filter="fade">
                                      <p:cBhvr>
                                        <p:cTn id="63" dur="400"/>
                                        <p:tgtEl>
                                          <p:spTgt spid="121"/>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07"/>
                                        </p:tgtEl>
                                        <p:attrNameLst>
                                          <p:attrName>style.visibility</p:attrName>
                                        </p:attrNameLst>
                                      </p:cBhvr>
                                      <p:to>
                                        <p:strVal val="visible"/>
                                      </p:to>
                                    </p:set>
                                    <p:animEffect transition="in" filter="fade">
                                      <p:cBhvr>
                                        <p:cTn id="68" dur="400"/>
                                        <p:tgtEl>
                                          <p:spTgt spid="107"/>
                                        </p:tgtEl>
                                      </p:cBhvr>
                                    </p:animEffect>
                                  </p:childTnLst>
                                </p:cTn>
                              </p:par>
                              <p:par>
                                <p:cTn id="69" presetID="10" presetClass="entr" presetSubtype="0" fill="hold" nodeType="withEffect">
                                  <p:stCondLst>
                                    <p:cond delay="0"/>
                                  </p:stCondLst>
                                  <p:childTnLst>
                                    <p:set>
                                      <p:cBhvr>
                                        <p:cTn id="70" dur="1" fill="hold">
                                          <p:stCondLst>
                                            <p:cond delay="0"/>
                                          </p:stCondLst>
                                        </p:cTn>
                                        <p:tgtEl>
                                          <p:spTgt spid="105"/>
                                        </p:tgtEl>
                                        <p:attrNameLst>
                                          <p:attrName>style.visibility</p:attrName>
                                        </p:attrNameLst>
                                      </p:cBhvr>
                                      <p:to>
                                        <p:strVal val="visible"/>
                                      </p:to>
                                    </p:set>
                                    <p:animEffect transition="in" filter="fade">
                                      <p:cBhvr>
                                        <p:cTn id="71" dur="400"/>
                                        <p:tgtEl>
                                          <p:spTgt spid="105"/>
                                        </p:tgtEl>
                                      </p:cBhvr>
                                    </p:animEffect>
                                  </p:childTnLst>
                                </p:cTn>
                              </p:par>
                              <p:par>
                                <p:cTn id="72" presetID="10" presetClass="entr" presetSubtype="0" fill="hold" nodeType="withEffect">
                                  <p:stCondLst>
                                    <p:cond delay="0"/>
                                  </p:stCondLst>
                                  <p:childTnLst>
                                    <p:set>
                                      <p:cBhvr>
                                        <p:cTn id="73" dur="1" fill="hold">
                                          <p:stCondLst>
                                            <p:cond delay="0"/>
                                          </p:stCondLst>
                                        </p:cTn>
                                        <p:tgtEl>
                                          <p:spTgt spid="106"/>
                                        </p:tgtEl>
                                        <p:attrNameLst>
                                          <p:attrName>style.visibility</p:attrName>
                                        </p:attrNameLst>
                                      </p:cBhvr>
                                      <p:to>
                                        <p:strVal val="visible"/>
                                      </p:to>
                                    </p:set>
                                    <p:animEffect transition="in" filter="fade">
                                      <p:cBhvr>
                                        <p:cTn id="74" dur="400"/>
                                        <p:tgtEl>
                                          <p:spTgt spid="106"/>
                                        </p:tgtEl>
                                      </p:cBhvr>
                                    </p:animEffect>
                                  </p:childTnLst>
                                </p:cTn>
                              </p:par>
                              <p:par>
                                <p:cTn id="75" presetID="10" presetClass="entr" presetSubtype="0" fill="hold" nodeType="withEffect">
                                  <p:stCondLst>
                                    <p:cond delay="0"/>
                                  </p:stCondLst>
                                  <p:childTnLst>
                                    <p:set>
                                      <p:cBhvr>
                                        <p:cTn id="76" dur="1" fill="hold">
                                          <p:stCondLst>
                                            <p:cond delay="0"/>
                                          </p:stCondLst>
                                        </p:cTn>
                                        <p:tgtEl>
                                          <p:spTgt spid="122"/>
                                        </p:tgtEl>
                                        <p:attrNameLst>
                                          <p:attrName>style.visibility</p:attrName>
                                        </p:attrNameLst>
                                      </p:cBhvr>
                                      <p:to>
                                        <p:strVal val="visible"/>
                                      </p:to>
                                    </p:set>
                                    <p:animEffect transition="in" filter="fade">
                                      <p:cBhvr>
                                        <p:cTn id="77" dur="400"/>
                                        <p:tgtEl>
                                          <p:spTgt spid="122"/>
                                        </p:tgtEl>
                                      </p:cBhvr>
                                    </p:animEffect>
                                  </p:childTnLst>
                                </p:cTn>
                              </p:par>
                              <p:par>
                                <p:cTn id="78" presetID="10" presetClass="entr" presetSubtype="0" fill="hold" nodeType="withEffect">
                                  <p:stCondLst>
                                    <p:cond delay="0"/>
                                  </p:stCondLst>
                                  <p:childTnLst>
                                    <p:set>
                                      <p:cBhvr>
                                        <p:cTn id="79" dur="1" fill="hold">
                                          <p:stCondLst>
                                            <p:cond delay="0"/>
                                          </p:stCondLst>
                                        </p:cTn>
                                        <p:tgtEl>
                                          <p:spTgt spid="123"/>
                                        </p:tgtEl>
                                        <p:attrNameLst>
                                          <p:attrName>style.visibility</p:attrName>
                                        </p:attrNameLst>
                                      </p:cBhvr>
                                      <p:to>
                                        <p:strVal val="visible"/>
                                      </p:to>
                                    </p:set>
                                    <p:animEffect transition="in" filter="fade">
                                      <p:cBhvr>
                                        <p:cTn id="80" dur="400"/>
                                        <p:tgtEl>
                                          <p:spTgt spid="123"/>
                                        </p:tgtEl>
                                      </p:cBhvr>
                                    </p:animEffect>
                                  </p:childTnLst>
                                </p:cTn>
                              </p:par>
                              <p:par>
                                <p:cTn id="81" presetID="10" presetClass="entr" presetSubtype="0" fill="hold" nodeType="withEffect">
                                  <p:stCondLst>
                                    <p:cond delay="0"/>
                                  </p:stCondLst>
                                  <p:childTnLst>
                                    <p:set>
                                      <p:cBhvr>
                                        <p:cTn id="82" dur="1" fill="hold">
                                          <p:stCondLst>
                                            <p:cond delay="0"/>
                                          </p:stCondLst>
                                        </p:cTn>
                                        <p:tgtEl>
                                          <p:spTgt spid="124"/>
                                        </p:tgtEl>
                                        <p:attrNameLst>
                                          <p:attrName>style.visibility</p:attrName>
                                        </p:attrNameLst>
                                      </p:cBhvr>
                                      <p:to>
                                        <p:strVal val="visible"/>
                                      </p:to>
                                    </p:set>
                                    <p:animEffect transition="in" filter="fade">
                                      <p:cBhvr>
                                        <p:cTn id="83" dur="400"/>
                                        <p:tgtEl>
                                          <p:spTgt spid="124"/>
                                        </p:tgtEl>
                                      </p:cBhvr>
                                    </p:animEffect>
                                  </p:childTnLst>
                                </p:cTn>
                              </p:par>
                              <p:par>
                                <p:cTn id="84" presetID="10" presetClass="entr" presetSubtype="0" fill="hold" nodeType="withEffect">
                                  <p:stCondLst>
                                    <p:cond delay="0"/>
                                  </p:stCondLst>
                                  <p:childTnLst>
                                    <p:set>
                                      <p:cBhvr>
                                        <p:cTn id="85" dur="1" fill="hold">
                                          <p:stCondLst>
                                            <p:cond delay="0"/>
                                          </p:stCondLst>
                                        </p:cTn>
                                        <p:tgtEl>
                                          <p:spTgt spid="125"/>
                                        </p:tgtEl>
                                        <p:attrNameLst>
                                          <p:attrName>style.visibility</p:attrName>
                                        </p:attrNameLst>
                                      </p:cBhvr>
                                      <p:to>
                                        <p:strVal val="visible"/>
                                      </p:to>
                                    </p:set>
                                    <p:animEffect transition="in" filter="fade">
                                      <p:cBhvr>
                                        <p:cTn id="86" dur="400"/>
                                        <p:tgtEl>
                                          <p:spTgt spid="125"/>
                                        </p:tgtEl>
                                      </p:cBhvr>
                                    </p:animEffect>
                                  </p:childTnLst>
                                </p:cTn>
                              </p:par>
                              <p:par>
                                <p:cTn id="87" presetID="10" presetClass="entr" presetSubtype="0" fill="hold" nodeType="withEffect">
                                  <p:stCondLst>
                                    <p:cond delay="0"/>
                                  </p:stCondLst>
                                  <p:childTnLst>
                                    <p:set>
                                      <p:cBhvr>
                                        <p:cTn id="88" dur="1" fill="hold">
                                          <p:stCondLst>
                                            <p:cond delay="0"/>
                                          </p:stCondLst>
                                        </p:cTn>
                                        <p:tgtEl>
                                          <p:spTgt spid="126"/>
                                        </p:tgtEl>
                                        <p:attrNameLst>
                                          <p:attrName>style.visibility</p:attrName>
                                        </p:attrNameLst>
                                      </p:cBhvr>
                                      <p:to>
                                        <p:strVal val="visible"/>
                                      </p:to>
                                    </p:set>
                                    <p:animEffect transition="in" filter="fade">
                                      <p:cBhvr>
                                        <p:cTn id="89" dur="400"/>
                                        <p:tgtEl>
                                          <p:spTgt spid="126"/>
                                        </p:tgtEl>
                                      </p:cBhvr>
                                    </p:animEffect>
                                  </p:childTnLst>
                                </p:cTn>
                              </p:par>
                              <p:par>
                                <p:cTn id="90" presetID="10" presetClass="entr" presetSubtype="0" fill="hold" nodeType="withEffect">
                                  <p:stCondLst>
                                    <p:cond delay="0"/>
                                  </p:stCondLst>
                                  <p:childTnLst>
                                    <p:set>
                                      <p:cBhvr>
                                        <p:cTn id="91" dur="1" fill="hold">
                                          <p:stCondLst>
                                            <p:cond delay="0"/>
                                          </p:stCondLst>
                                        </p:cTn>
                                        <p:tgtEl>
                                          <p:spTgt spid="127"/>
                                        </p:tgtEl>
                                        <p:attrNameLst>
                                          <p:attrName>style.visibility</p:attrName>
                                        </p:attrNameLst>
                                      </p:cBhvr>
                                      <p:to>
                                        <p:strVal val="visible"/>
                                      </p:to>
                                    </p:set>
                                    <p:animEffect transition="in" filter="fade">
                                      <p:cBhvr>
                                        <p:cTn id="92" dur="400"/>
                                        <p:tgtEl>
                                          <p:spTgt spid="12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Some claims require less betting than others</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5C4826"/>
                </a:solidFill>
              </a:rPr>
              <a:t>MORE BETTING</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fontScale="92500" lnSpcReduction="20000"/>
          </a:bodyPr>
          <a:lstStyle/>
          <a:p>
            <a:pPr algn="r">
              <a:buNone/>
            </a:pPr>
            <a:r>
              <a:rPr lang="en-US" sz="2000" b="1" i="0" dirty="0">
                <a:solidFill>
                  <a:srgbClr val="5C4826"/>
                </a:solidFill>
              </a:rPr>
              <a:t>LESS BETTING</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4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4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400"/>
                                        <p:tgtEl>
                                          <p:spTgt spid="10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400"/>
                                        <p:tgtEl>
                                          <p:spTgt spid="106"/>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400"/>
                                        <p:tgtEl>
                                          <p:spTgt spid="107"/>
                                        </p:tgtEl>
                                      </p:cBhvr>
                                    </p:animEffect>
                                  </p:childTnLst>
                                </p:cTn>
                              </p:par>
                              <p:par>
                                <p:cTn id="22" presetID="10" presetClass="entr" presetSubtype="0" fill="hold" nodeType="withEffect">
                                  <p:stCondLst>
                                    <p:cond delay="0"/>
                                  </p:stCondLst>
                                  <p:childTnLst>
                                    <p:set>
                                      <p:cBhvr>
                                        <p:cTn id="23" dur="1" fill="hold">
                                          <p:stCondLst>
                                            <p:cond delay="0"/>
                                          </p:stCondLst>
                                        </p:cTn>
                                        <p:tgtEl>
                                          <p:spTgt spid="108"/>
                                        </p:tgtEl>
                                        <p:attrNameLst>
                                          <p:attrName>style.visibility</p:attrName>
                                        </p:attrNameLst>
                                      </p:cBhvr>
                                      <p:to>
                                        <p:strVal val="visible"/>
                                      </p:to>
                                    </p:set>
                                    <p:animEffect transition="in" filter="fade">
                                      <p:cBhvr>
                                        <p:cTn id="24" dur="400"/>
                                        <p:tgtEl>
                                          <p:spTgt spid="10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9"/>
                                        </p:tgtEl>
                                        <p:attrNameLst>
                                          <p:attrName>style.visibility</p:attrName>
                                        </p:attrNameLst>
                                      </p:cBhvr>
                                      <p:to>
                                        <p:strVal val="visible"/>
                                      </p:to>
                                    </p:set>
                                    <p:animEffect transition="in" filter="fade">
                                      <p:cBhvr>
                                        <p:cTn id="29" dur="400"/>
                                        <p:tgtEl>
                                          <p:spTgt spid="109"/>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par>
                                <p:cTn id="33" presetID="10" presetClass="entr" presetSubtype="0" fill="hold" nodeType="withEffect">
                                  <p:stCondLst>
                                    <p:cond delay="0"/>
                                  </p:stCondLst>
                                  <p:childTnLst>
                                    <p:set>
                                      <p:cBhvr>
                                        <p:cTn id="34" dur="1" fill="hold">
                                          <p:stCondLst>
                                            <p:cond delay="0"/>
                                          </p:stCondLst>
                                        </p:cTn>
                                        <p:tgtEl>
                                          <p:spTgt spid="111"/>
                                        </p:tgtEl>
                                        <p:attrNameLst>
                                          <p:attrName>style.visibility</p:attrName>
                                        </p:attrNameLst>
                                      </p:cBhvr>
                                      <p:to>
                                        <p:strVal val="visible"/>
                                      </p:to>
                                    </p:set>
                                    <p:animEffect transition="in" filter="fade">
                                      <p:cBhvr>
                                        <p:cTn id="35" dur="400"/>
                                        <p:tgtEl>
                                          <p:spTgt spid="1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fade">
                                      <p:cBhvr>
                                        <p:cTn id="5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350000" y="2550000"/>
            <a:ext cx="2000000" cy="95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180000" y="2380000"/>
            <a:ext cx="380000" cy="380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sp>
        <p:nvSpPr>
          <p:cNvPr id="103" name="BUI"/>
          <p:cNvSpPr/>
          <p:nvPr/>
        </p:nvSpPr>
        <p:spPr>
          <a:xfrm>
            <a:off x="3100000" y="155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104"/>
          <p:cNvCxnSpPr/>
          <p:nvPr/>
        </p:nvCxnSpPr>
        <p:spPr>
          <a:xfrm flipV="1">
            <a:off x="2350000" y="1890000"/>
            <a:ext cx="750000" cy="890000"/>
          </a:xfrm>
          <a:prstGeom prst="line">
            <a:avLst/>
          </a:prstGeom>
          <a:ln w="28575">
            <a:solidFill>
              <a:srgbClr val="B23B3B"/>
            </a:solidFill>
            <a:prstDash val="dash"/>
            <a:headEnd type="triangle" w="med" len="med"/>
          </a:ln>
        </p:spPr>
      </p:cxnSp>
      <p:sp>
        <p:nvSpPr>
          <p:cNvPr id="105" name="BADVICE"/>
          <p:cNvSpPr/>
          <p:nvPr/>
        </p:nvSpPr>
        <p:spPr>
          <a:xfrm>
            <a:off x="3100000" y="268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06"/>
          <p:cNvCxnSpPr/>
          <p:nvPr/>
        </p:nvCxnSpPr>
        <p:spPr>
          <a:xfrm>
            <a:off x="2350000" y="3020000"/>
            <a:ext cx="750000" cy="0"/>
          </a:xfrm>
          <a:prstGeom prst="line">
            <a:avLst/>
          </a:prstGeom>
          <a:ln w="28575">
            <a:solidFill>
              <a:srgbClr val="B23B3B"/>
            </a:solidFill>
            <a:prstDash val="dash"/>
            <a:headEnd type="triangle" w="med" len="med"/>
          </a:ln>
        </p:spPr>
      </p:cxnSp>
      <p:sp>
        <p:nvSpPr>
          <p:cNvPr id="107" name="BSTORAGE"/>
          <p:cNvSpPr/>
          <p:nvPr/>
        </p:nvSpPr>
        <p:spPr>
          <a:xfrm>
            <a:off x="3100000" y="381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108"/>
          <p:cNvCxnSpPr/>
          <p:nvPr/>
        </p:nvCxnSpPr>
        <p:spPr>
          <a:xfrm>
            <a:off x="2350000" y="3260000"/>
            <a:ext cx="750000" cy="890000"/>
          </a:xfrm>
          <a:prstGeom prst="line">
            <a:avLst/>
          </a:prstGeom>
          <a:ln w="28575">
            <a:solidFill>
              <a:srgbClr val="B23B3B"/>
            </a:solidFill>
            <a:prstDash val="dash"/>
            <a:headEnd type="triangle" w="med" len="med"/>
          </a:ln>
        </p:spPr>
      </p:cxnSp>
      <p:sp>
        <p:nvSpPr>
          <p:cNvPr id="109" name="BCap"/>
          <p:cNvSpPr txBox="1"/>
          <p:nvPr/>
        </p:nvSpPr>
        <p:spPr>
          <a:xfrm>
            <a:off x="350000" y="4700000"/>
            <a:ext cx="4170000" cy="3240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720000" y="16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720000" y="250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350000" y="1500000"/>
            <a:ext cx="160000" cy="260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30000" y="1180000"/>
            <a:ext cx="3300000" cy="3000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850000" y="2350000"/>
            <a:ext cx="1900000" cy="90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60000" y="21900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18"/>
          <p:cNvCxnSpPr/>
          <p:nvPr/>
        </p:nvCxnSpPr>
        <p:spPr>
          <a:xfrm>
            <a:off x="5970000" y="1940000"/>
            <a:ext cx="380000" cy="0"/>
          </a:xfrm>
          <a:prstGeom prst="line">
            <a:avLst/>
          </a:prstGeom>
          <a:ln w="41275">
            <a:solidFill>
              <a:srgbClr val="8E6F3E"/>
            </a:solidFill>
            <a:tailEnd type="triangle" w="med" len="med"/>
          </a:ln>
        </p:spPr>
      </p:cxnSp>
      <p:cxnSp>
        <p:nvCxnSpPr>
          <p:cNvPr id="119" name="AA119"/>
          <p:cNvCxnSpPr/>
          <p:nvPr/>
        </p:nvCxnSpPr>
        <p:spPr>
          <a:xfrm>
            <a:off x="5970000" y="2790000"/>
            <a:ext cx="380000" cy="0"/>
          </a:xfrm>
          <a:prstGeom prst="line">
            <a:avLst/>
          </a:prstGeom>
          <a:ln w="41275">
            <a:solidFill>
              <a:srgbClr val="8E6F3E"/>
            </a:solidFill>
            <a:tailEnd type="triangle" w="med" len="med"/>
          </a:ln>
        </p:spPr>
      </p:cxnSp>
      <p:sp>
        <p:nvSpPr>
          <p:cNvPr id="120" name="ACap"/>
          <p:cNvSpPr txBox="1"/>
          <p:nvPr/>
        </p:nvSpPr>
        <p:spPr>
          <a:xfrm>
            <a:off x="4720000" y="4700000"/>
            <a:ext cx="4100000" cy="324000"/>
          </a:xfrm>
          <a:prstGeom prst="rect">
            <a:avLst/>
          </a:prstGeom>
          <a:noFill/>
          <a:ln>
            <a:noFill/>
          </a:ln>
        </p:spPr>
        <p:txBody>
          <a:bodyPr wrap="square" lIns="0" tIns="0" rIns="0" bIns="0" anchor="t">
            <a:normAutofit/>
          </a:bodyPr>
          <a:lstStyle/>
          <a:p>
            <a:pPr algn="l">
              <a:buNone/>
            </a:pPr>
            <a:r>
              <a:rPr lang="en-US" sz="1900" b="0" i="1" dirty="0">
                <a:solidFill>
                  <a:srgbClr val="1F7A4D"/>
                </a:solidFill>
              </a:rPr>
              <a:t>anticipated change stays behind the seam</a:t>
            </a:r>
          </a:p>
        </p:txBody>
      </p:sp>
      <p:sp>
        <p:nvSpPr>
          <p:cNvPr id="130" name="AStorage"/>
          <p:cNvSpPr/>
          <p:nvPr/>
        </p:nvSpPr>
        <p:spPr>
          <a:xfrm>
            <a:off x="4720000" y="33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31" name="AA131"/>
          <p:cNvCxnSpPr/>
          <p:nvPr/>
        </p:nvCxnSpPr>
        <p:spPr>
          <a:xfrm>
            <a:off x="5970000" y="3640000"/>
            <a:ext cx="380000" cy="0"/>
          </a:xfrm>
          <a:prstGeom prst="line">
            <a:avLst/>
          </a:prstGeom>
          <a:ln w="41275">
            <a:solidFill>
              <a:srgbClr val="8E6F3E"/>
            </a:solidFill>
            <a:tailEnd type="triangle" w="med" len="med"/>
          </a:ln>
        </p:spPr>
      </p:cxnSp>
      <p:cxnSp>
        <p:nvCxnSpPr>
          <p:cNvPr id="132" name="SeamToModel"/>
          <p:cNvCxnSpPr/>
          <p:nvPr/>
        </p:nvCxnSpPr>
        <p:spPr>
          <a:xfrm>
            <a:off x="6510000" y="2800000"/>
            <a:ext cx="340000" cy="0"/>
          </a:xfrm>
          <a:prstGeom prst="line">
            <a:avLst/>
          </a:prstGeom>
          <a:ln w="41275">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5"/>
                                        </p:tgtEl>
                                        <p:attrNameLst>
                                          <p:attrName>style.visibility</p:attrName>
                                        </p:attrNameLst>
                                      </p:cBhvr>
                                      <p:to>
                                        <p:strVal val="visible"/>
                                      </p:to>
                                    </p:set>
                                    <p:animEffect transition="in" filter="fade">
                                      <p:cBhvr>
                                        <p:cTn id="16" dur="400"/>
                                        <p:tgtEl>
                                          <p:spTgt spid="105"/>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400"/>
                                        <p:tgtEl>
                                          <p:spTgt spid="1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2"/>
                                        </p:tgtEl>
                                        <p:attrNameLst>
                                          <p:attrName>style.visibility</p:attrName>
                                        </p:attrNameLst>
                                      </p:cBhvr>
                                      <p:to>
                                        <p:strVal val="visible"/>
                                      </p:to>
                                    </p:set>
                                    <p:animEffect transition="in" filter="fade">
                                      <p:cBhvr>
                                        <p:cTn id="24" dur="400"/>
                                        <p:tgtEl>
                                          <p:spTgt spid="10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4"/>
                                        </p:tgtEl>
                                        <p:attrNameLst>
                                          <p:attrName>style.visibility</p:attrName>
                                        </p:attrNameLst>
                                      </p:cBhvr>
                                      <p:to>
                                        <p:strVal val="visible"/>
                                      </p:to>
                                    </p:set>
                                    <p:animEffect transition="in" filter="fade">
                                      <p:cBhvr>
                                        <p:cTn id="29" dur="400"/>
                                        <p:tgtEl>
                                          <p:spTgt spid="104"/>
                                        </p:tgtEl>
                                      </p:cBhvr>
                                    </p:animEffect>
                                  </p:childTnLst>
                                </p:cTn>
                              </p:par>
                              <p:par>
                                <p:cTn id="30" presetID="10" presetClass="entr" presetSubtype="0" fill="hold" nodeType="withEffect">
                                  <p:stCondLst>
                                    <p:cond delay="0"/>
                                  </p:stCondLst>
                                  <p:childTnLst>
                                    <p:set>
                                      <p:cBhvr>
                                        <p:cTn id="31" dur="1" fill="hold">
                                          <p:stCondLst>
                                            <p:cond delay="0"/>
                                          </p:stCondLst>
                                        </p:cTn>
                                        <p:tgtEl>
                                          <p:spTgt spid="106"/>
                                        </p:tgtEl>
                                        <p:attrNameLst>
                                          <p:attrName>style.visibility</p:attrName>
                                        </p:attrNameLst>
                                      </p:cBhvr>
                                      <p:to>
                                        <p:strVal val="visible"/>
                                      </p:to>
                                    </p:set>
                                    <p:animEffect transition="in" filter="fade">
                                      <p:cBhvr>
                                        <p:cTn id="32" dur="400"/>
                                        <p:tgtEl>
                                          <p:spTgt spid="106"/>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Effect transition="in" filter="fade">
                                      <p:cBhvr>
                                        <p:cTn id="55" dur="400"/>
                                        <p:tgtEl>
                                          <p:spTgt spid="130"/>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4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15"/>
                                        </p:tgtEl>
                                        <p:attrNameLst>
                                          <p:attrName>style.visibility</p:attrName>
                                        </p:attrNameLst>
                                      </p:cBhvr>
                                      <p:to>
                                        <p:strVal val="visible"/>
                                      </p:to>
                                    </p:set>
                                    <p:animEffect transition="in" filter="fade">
                                      <p:cBhvr>
                                        <p:cTn id="66" dur="400"/>
                                        <p:tgtEl>
                                          <p:spTgt spid="115"/>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par>
                                <p:cTn id="70" presetID="10" presetClass="entr" presetSubtype="0" fill="hold" nodeType="withEffect">
                                  <p:stCondLst>
                                    <p:cond delay="0"/>
                                  </p:stCondLst>
                                  <p:childTnLst>
                                    <p:set>
                                      <p:cBhvr>
                                        <p:cTn id="71" dur="1" fill="hold">
                                          <p:stCondLst>
                                            <p:cond delay="0"/>
                                          </p:stCondLst>
                                        </p:cTn>
                                        <p:tgtEl>
                                          <p:spTgt spid="119"/>
                                        </p:tgtEl>
                                        <p:attrNameLst>
                                          <p:attrName>style.visibility</p:attrName>
                                        </p:attrNameLst>
                                      </p:cBhvr>
                                      <p:to>
                                        <p:strVal val="visible"/>
                                      </p:to>
                                    </p:set>
                                    <p:animEffect transition="in" filter="fade">
                                      <p:cBhvr>
                                        <p:cTn id="72" dur="400"/>
                                        <p:tgtEl>
                                          <p:spTgt spid="119"/>
                                        </p:tgtEl>
                                      </p:cBhvr>
                                    </p:animEffect>
                                  </p:childTnLst>
                                </p:cTn>
                              </p:par>
                              <p:par>
                                <p:cTn id="73" presetID="10" presetClass="entr" presetSubtype="0" fill="hold" nodeType="withEffect">
                                  <p:stCondLst>
                                    <p:cond delay="0"/>
                                  </p:stCondLst>
                                  <p:childTnLst>
                                    <p:set>
                                      <p:cBhvr>
                                        <p:cTn id="74" dur="1" fill="hold">
                                          <p:stCondLst>
                                            <p:cond delay="0"/>
                                          </p:stCondLst>
                                        </p:cTn>
                                        <p:tgtEl>
                                          <p:spTgt spid="131"/>
                                        </p:tgtEl>
                                        <p:attrNameLst>
                                          <p:attrName>style.visibility</p:attrName>
                                        </p:attrNameLst>
                                      </p:cBhvr>
                                      <p:to>
                                        <p:strVal val="visible"/>
                                      </p:to>
                                    </p:set>
                                    <p:animEffect transition="in" filter="fade">
                                      <p:cBhvr>
                                        <p:cTn id="75" dur="400"/>
                                        <p:tgtEl>
                                          <p:spTgt spid="131"/>
                                        </p:tgtEl>
                                      </p:cBhvr>
                                    </p:animEffect>
                                  </p:childTnLst>
                                </p:cTn>
                              </p:par>
                              <p:par>
                                <p:cTn id="76" presetID="10" presetClass="entr" presetSubtype="0" fill="hold" nodeType="withEffect">
                                  <p:stCondLst>
                                    <p:cond delay="0"/>
                                  </p:stCondLst>
                                  <p:childTnLst>
                                    <p:set>
                                      <p:cBhvr>
                                        <p:cTn id="77" dur="1" fill="hold">
                                          <p:stCondLst>
                                            <p:cond delay="0"/>
                                          </p:stCondLst>
                                        </p:cTn>
                                        <p:tgtEl>
                                          <p:spTgt spid="132"/>
                                        </p:tgtEl>
                                        <p:attrNameLst>
                                          <p:attrName>style.visibility</p:attrName>
                                        </p:attrNameLst>
                                      </p:cBhvr>
                                      <p:to>
                                        <p:strVal val="visible"/>
                                      </p:to>
                                    </p:set>
                                    <p:animEffect transition="in" filter="fade">
                                      <p:cBhvr>
                                        <p:cTn id="78" dur="400"/>
                                        <p:tgtEl>
                                          <p:spTgt spid="132"/>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17"/>
                                        </p:tgtEl>
                                        <p:attrNameLst>
                                          <p:attrName>style.visibility</p:attrName>
                                        </p:attrNameLst>
                                      </p:cBhvr>
                                      <p:to>
                                        <p:strVal val="visible"/>
                                      </p:to>
                                    </p:set>
                                    <p:animEffect transition="in" filter="fade">
                                      <p:cBhvr>
                                        <p:cTn id="83" dur="400"/>
                                        <p:tgtEl>
                                          <p:spTgt spid="117"/>
                                        </p:tgtEl>
                                      </p:cBhvr>
                                    </p:animEffect>
                                  </p:childTnLst>
                                </p:cTn>
                              </p:par>
                              <p:par>
                                <p:cTn id="84" presetID="10" presetClass="entr" presetSubtype="0" fill="hold" nodeType="withEffect">
                                  <p:stCondLst>
                                    <p:cond delay="0"/>
                                  </p:stCondLst>
                                  <p:childTnLst>
                                    <p:set>
                                      <p:cBhvr>
                                        <p:cTn id="85" dur="1" fill="hold">
                                          <p:stCondLst>
                                            <p:cond delay="0"/>
                                          </p:stCondLst>
                                        </p:cTn>
                                        <p:tgtEl>
                                          <p:spTgt spid="120"/>
                                        </p:tgtEl>
                                        <p:attrNameLst>
                                          <p:attrName>style.visibility</p:attrName>
                                        </p:attrNameLst>
                                      </p:cBhvr>
                                      <p:to>
                                        <p:strVal val="visible"/>
                                      </p:to>
                                    </p:set>
                                    <p:animEffect transition="in" filter="fade">
                                      <p:cBhvr>
                                        <p:cTn id="86" dur="400"/>
                                        <p:tgtEl>
                                          <p:spTgt spid="120"/>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a:bodyPr>
          <a:lstStyle/>
          <a:p>
            <a:pPr algn="l">
              <a:buNone/>
            </a:pPr>
            <a:r>
              <a:rPr lang="en-US" sz="2000" b="1" i="0" dirty="0">
                <a:solidFill>
                  <a:srgbClr val="8E6F3E"/>
                </a:solidFill>
              </a:rPr>
              <a:t>modeled 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par>
                                <p:cTn id="20" presetID="10" presetClass="entr" presetSubtype="0" fill="hold" nodeType="withEffect">
                                  <p:stCondLst>
                                    <p:cond delay="0"/>
                                  </p:stCondLst>
                                  <p:childTnLst>
                                    <p:set>
                                      <p:cBhvr>
                                        <p:cTn id="21" dur="1" fill="hold">
                                          <p:stCondLst>
                                            <p:cond delay="0"/>
                                          </p:stCondLst>
                                        </p:cTn>
                                        <p:tgtEl>
                                          <p:spTgt spid="105"/>
                                        </p:tgtEl>
                                        <p:attrNameLst>
                                          <p:attrName>style.visibility</p:attrName>
                                        </p:attrNameLst>
                                      </p:cBhvr>
                                      <p:to>
                                        <p:strVal val="visible"/>
                                      </p:to>
                                    </p:set>
                                    <p:animEffect transition="in" filter="fade">
                                      <p:cBhvr>
                                        <p:cTn id="22" dur="400"/>
                                        <p:tgtEl>
                                          <p:spTgt spid="105"/>
                                        </p:tgtEl>
                                      </p:cBhvr>
                                    </p:animEffect>
                                  </p:childTnLst>
                                </p:cTn>
                              </p:par>
                              <p:par>
                                <p:cTn id="23" presetID="10" presetClass="entr" presetSubtype="0" fill="hold"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400"/>
                                        <p:tgtEl>
                                          <p:spTgt spid="106"/>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10"/>
                                        </p:tgtEl>
                                        <p:attrNameLst>
                                          <p:attrName>style.visibility</p:attrName>
                                        </p:attrNameLst>
                                      </p:cBhvr>
                                      <p:to>
                                        <p:strVal val="visible"/>
                                      </p:to>
                                    </p:set>
                                    <p:animEffect transition="in" filter="fade">
                                      <p:cBhvr>
                                        <p:cTn id="31" dur="400"/>
                                        <p:tgtEl>
                                          <p:spTgt spid="110"/>
                                        </p:tgtEl>
                                      </p:cBhvr>
                                    </p:animEffect>
                                  </p:childTnLst>
                                </p:cTn>
                              </p:par>
                              <p:par>
                                <p:cTn id="32" presetID="10" presetClass="entr" presetSubtype="0" fill="hold" nodeType="withEffect">
                                  <p:stCondLst>
                                    <p:cond delay="0"/>
                                  </p:stCondLst>
                                  <p:childTnLst>
                                    <p:set>
                                      <p:cBhvr>
                                        <p:cTn id="33" dur="1" fill="hold">
                                          <p:stCondLst>
                                            <p:cond delay="0"/>
                                          </p:stCondLst>
                                        </p:cTn>
                                        <p:tgtEl>
                                          <p:spTgt spid="112"/>
                                        </p:tgtEl>
                                        <p:attrNameLst>
                                          <p:attrName>style.visibility</p:attrName>
                                        </p:attrNameLst>
                                      </p:cBhvr>
                                      <p:to>
                                        <p:strVal val="visible"/>
                                      </p:to>
                                    </p:set>
                                    <p:animEffect transition="in" filter="fade">
                                      <p:cBhvr>
                                        <p:cTn id="34" dur="400"/>
                                        <p:tgtEl>
                                          <p:spTgt spid="112"/>
                                        </p:tgtEl>
                                      </p:cBhvr>
                                    </p:animEffect>
                                  </p:childTnLst>
                                </p:cTn>
                              </p:par>
                              <p:par>
                                <p:cTn id="35" presetID="10" presetClass="entr" presetSubtype="0" fill="hold" nodeType="withEffect">
                                  <p:stCondLst>
                                    <p:cond delay="0"/>
                                  </p:stCondLst>
                                  <p:childTnLst>
                                    <p:set>
                                      <p:cBhvr>
                                        <p:cTn id="36" dur="1" fill="hold">
                                          <p:stCondLst>
                                            <p:cond delay="0"/>
                                          </p:stCondLst>
                                        </p:cTn>
                                        <p:tgtEl>
                                          <p:spTgt spid="114"/>
                                        </p:tgtEl>
                                        <p:attrNameLst>
                                          <p:attrName>style.visibility</p:attrName>
                                        </p:attrNameLst>
                                      </p:cBhvr>
                                      <p:to>
                                        <p:strVal val="visible"/>
                                      </p:to>
                                    </p:set>
                                    <p:animEffect transition="in" filter="fade">
                                      <p:cBhvr>
                                        <p:cTn id="37" dur="400"/>
                                        <p:tgtEl>
                                          <p:spTgt spid="11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400"/>
                                        <p:tgtEl>
                                          <p:spTgt spid="107"/>
                                        </p:tgtEl>
                                      </p:cBhvr>
                                    </p:animEffect>
                                  </p:childTnLst>
                                </p:cTn>
                              </p:par>
                              <p:par>
                                <p:cTn id="43" presetID="10"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animEffect transition="in" filter="fade">
                                      <p:cBhvr>
                                        <p:cTn id="45" dur="400"/>
                                        <p:tgtEl>
                                          <p:spTgt spid="109"/>
                                        </p:tgtEl>
                                      </p:cBhvr>
                                    </p:animEffect>
                                  </p:childTnLst>
                                </p:cTn>
                              </p:par>
                              <p:par>
                                <p:cTn id="46" presetID="10" presetClass="entr" presetSubtype="0" fill="hold" nodeType="with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400"/>
                                        </p:tgtEl>
                                        <p:attrNameLst>
                                          <p:attrName>style.visibility</p:attrName>
                                        </p:attrNameLst>
                                      </p:cBhvr>
                                      <p:to>
                                        <p:strVal val="visible"/>
                                      </p:to>
                                    </p:set>
                                    <p:animEffect transition="in" filter="fade">
                                      <p:cBhvr>
                                        <p:cTn id="57" dur="400"/>
                                        <p:tgtEl>
                                          <p:spTgt spid="40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6">
                                            <p:txEl>
                                              <p:pRg st="0" end="0"/>
                                            </p:txEl>
                                          </p:spTgt>
                                        </p:tgtEl>
                                        <p:attrNameLst>
                                          <p:attrName>style.visibility</p:attrName>
                                        </p:attrNameLst>
                                      </p:cBhvr>
                                      <p:to>
                                        <p:strVal val="visible"/>
                                      </p:to>
                                    </p:set>
                                    <p:animEffect transition="in" filter="fade">
                                      <p:cBhvr>
                                        <p:cTn id="62" dur="400"/>
                                        <p:tgtEl>
                                          <p:spTgt spid="116">
                                            <p:txEl>
                                              <p:pRg st="0" end="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6">
                                            <p:txEl>
                                              <p:pRg st="1" end="1"/>
                                            </p:txEl>
                                          </p:spTgt>
                                        </p:tgtEl>
                                        <p:attrNameLst>
                                          <p:attrName>style.visibility</p:attrName>
                                        </p:attrNameLst>
                                      </p:cBhvr>
                                      <p:to>
                                        <p:strVal val="visible"/>
                                      </p:to>
                                    </p:set>
                                    <p:animEffect transition="in" filter="fade">
                                      <p:cBhvr>
                                        <p:cTn id="67" dur="400"/>
                                        <p:tgtEl>
                                          <p:spTgt spid="116">
                                            <p:txEl>
                                              <p:pRg st="1" end="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7"/>
                                        </p:tgtEl>
                                        <p:attrNameLst>
                                          <p:attrName>style.visibility</p:attrName>
                                        </p:attrNameLst>
                                      </p:cBhvr>
                                      <p:to>
                                        <p:strVal val="visible"/>
                                      </p:to>
                                    </p:set>
                                    <p:animEffect transition="in" filter="fade">
                                      <p:cBhvr>
                                        <p:cTn id="72" dur="400"/>
                                        <p:tgtEl>
                                          <p:spTgt spid="117"/>
                                        </p:tgtEl>
                                      </p:cBhvr>
                                    </p:animEffect>
                                  </p:childTnLst>
                                </p:cTn>
                              </p:par>
                              <p:par>
                                <p:cTn id="73" presetID="10" presetClass="entr" presetSubtype="0" fill="hold" nodeType="withEffect">
                                  <p:stCondLst>
                                    <p:cond delay="0"/>
                                  </p:stCondLst>
                                  <p:childTnLst>
                                    <p:set>
                                      <p:cBhvr>
                                        <p:cTn id="74" dur="1" fill="hold">
                                          <p:stCondLst>
                                            <p:cond delay="0"/>
                                          </p:stCondLst>
                                        </p:cTn>
                                        <p:tgtEl>
                                          <p:spTgt spid="118"/>
                                        </p:tgtEl>
                                        <p:attrNameLst>
                                          <p:attrName>style.visibility</p:attrName>
                                        </p:attrNameLst>
                                      </p:cBhvr>
                                      <p:to>
                                        <p:strVal val="visible"/>
                                      </p:to>
                                    </p:set>
                                    <p:animEffect transition="in" filter="fade">
                                      <p:cBhvr>
                                        <p:cTn id="75" dur="400"/>
                                        <p:tgtEl>
                                          <p:spTgt spid="118"/>
                                        </p:tgtEl>
                                      </p:cBhvr>
                                    </p:animEffect>
                                  </p:childTnLst>
                                </p:cTn>
                              </p:par>
                              <p:par>
                                <p:cTn id="76" presetID="10" presetClass="entr" presetSubtype="0" fill="hold" nodeType="withEffect">
                                  <p:stCondLst>
                                    <p:cond delay="0"/>
                                  </p:stCondLst>
                                  <p:childTnLst>
                                    <p:set>
                                      <p:cBhvr>
                                        <p:cTn id="77" dur="1" fill="hold">
                                          <p:stCondLst>
                                            <p:cond delay="0"/>
                                          </p:stCondLst>
                                        </p:cTn>
                                        <p:tgtEl>
                                          <p:spTgt spid="119"/>
                                        </p:tgtEl>
                                        <p:attrNameLst>
                                          <p:attrName>style.visibility</p:attrName>
                                        </p:attrNameLst>
                                      </p:cBhvr>
                                      <p:to>
                                        <p:strVal val="visible"/>
                                      </p:to>
                                    </p:set>
                                    <p:animEffect transition="in" filter="fade">
                                      <p:cBhvr>
                                        <p:cTn id="78" dur="400"/>
                                        <p:tgtEl>
                                          <p:spTgt spid="119"/>
                                        </p:tgtEl>
                                      </p:cBhvr>
                                    </p:animEffect>
                                  </p:childTnLst>
                                </p:cTn>
                              </p:par>
                              <p:par>
                                <p:cTn id="79" presetID="10" presetClass="entr" presetSubtype="0" fill="hold" nodeType="withEffect">
                                  <p:stCondLst>
                                    <p:cond delay="0"/>
                                  </p:stCondLst>
                                  <p:childTnLst>
                                    <p:set>
                                      <p:cBhvr>
                                        <p:cTn id="80" dur="1" fill="hold">
                                          <p:stCondLst>
                                            <p:cond delay="0"/>
                                          </p:stCondLst>
                                        </p:cTn>
                                        <p:tgtEl>
                                          <p:spTgt spid="120"/>
                                        </p:tgtEl>
                                        <p:attrNameLst>
                                          <p:attrName>style.visibility</p:attrName>
                                        </p:attrNameLst>
                                      </p:cBhvr>
                                      <p:to>
                                        <p:strVal val="visible"/>
                                      </p:to>
                                    </p:set>
                                    <p:animEffect transition="in" filter="fade">
                                      <p:cBhvr>
                                        <p:cTn id="81" dur="400"/>
                                        <p:tgtEl>
                                          <p:spTgt spid="120"/>
                                        </p:tgtEl>
                                      </p:cBhvr>
                                    </p:animEffect>
                                  </p:childTnLst>
                                </p:cTn>
                              </p:par>
                              <p:par>
                                <p:cTn id="82" presetID="10" presetClass="entr" presetSubtype="0" fill="hold" nodeType="withEffect">
                                  <p:stCondLst>
                                    <p:cond delay="0"/>
                                  </p:stCondLst>
                                  <p:childTnLst>
                                    <p:set>
                                      <p:cBhvr>
                                        <p:cTn id="83" dur="1" fill="hold">
                                          <p:stCondLst>
                                            <p:cond delay="0"/>
                                          </p:stCondLst>
                                        </p:cTn>
                                        <p:tgtEl>
                                          <p:spTgt spid="121"/>
                                        </p:tgtEl>
                                        <p:attrNameLst>
                                          <p:attrName>style.visibility</p:attrName>
                                        </p:attrNameLst>
                                      </p:cBhvr>
                                      <p:to>
                                        <p:strVal val="visible"/>
                                      </p:to>
                                    </p:set>
                                    <p:animEffect transition="in" filter="fade">
                                      <p:cBhvr>
                                        <p:cTn id="84" dur="400"/>
                                        <p:tgtEl>
                                          <p:spTgt spid="121"/>
                                        </p:tgtEl>
                                      </p:cBhvr>
                                    </p:animEffect>
                                  </p:childTnLst>
                                </p:cTn>
                              </p:par>
                              <p:par>
                                <p:cTn id="85" presetID="10" presetClass="entr" presetSubtype="0" fill="hold" nodeType="withEffect">
                                  <p:stCondLst>
                                    <p:cond delay="0"/>
                                  </p:stCondLst>
                                  <p:childTnLst>
                                    <p:set>
                                      <p:cBhvr>
                                        <p:cTn id="86" dur="1" fill="hold">
                                          <p:stCondLst>
                                            <p:cond delay="0"/>
                                          </p:stCondLst>
                                        </p:cTn>
                                        <p:tgtEl>
                                          <p:spTgt spid="122"/>
                                        </p:tgtEl>
                                        <p:attrNameLst>
                                          <p:attrName>style.visibility</p:attrName>
                                        </p:attrNameLst>
                                      </p:cBhvr>
                                      <p:to>
                                        <p:strVal val="visible"/>
                                      </p:to>
                                    </p:set>
                                    <p:animEffect transition="in" filter="fade">
                                      <p:cBhvr>
                                        <p:cTn id="87" dur="4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happens when architectural evidence gets cheap?</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xml:space="preserve">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825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50000"/>
            <a:ext cx="345600" cy="0"/>
          </a:xfrm>
          <a:prstGeom prst="line">
            <a:avLst/>
          </a:prstGeom>
          <a:ln w="45004">
            <a:solidFill>
              <a:srgbClr val="8E6F3E"/>
            </a:solidFill>
            <a:tailEnd type="triangle" w="med" len="med"/>
          </a:ln>
        </p:spPr>
      </p:cxnSp>
      <p:sp>
        <p:nvSpPr>
          <p:cNvPr id="102" name="BuyInfo"/>
          <p:cNvSpPr/>
          <p:nvPr/>
        </p:nvSpPr>
        <p:spPr>
          <a:xfrm>
            <a:off x="2381600" y="16350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6090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50000"/>
            <a:ext cx="626400" cy="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50000"/>
            <a:ext cx="626400" cy="609000"/>
          </a:xfrm>
          <a:prstGeom prst="line">
            <a:avLst/>
          </a:prstGeom>
          <a:ln w="45004">
            <a:solidFill>
              <a:srgbClr val="8E6F3E"/>
            </a:solidFill>
            <a:tailEnd type="triangle" w="med" len="med"/>
          </a:ln>
        </p:spPr>
      </p:cxnSp>
      <p:sp>
        <p:nvSpPr>
          <p:cNvPr id="109" name="CostBox"/>
          <p:cNvSpPr/>
          <p:nvPr/>
        </p:nvSpPr>
        <p:spPr>
          <a:xfrm>
            <a:off x="6842000" y="16245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09000"/>
          </a:xfrm>
          <a:prstGeom prst="line">
            <a:avLst/>
          </a:prstGeom>
          <a:ln w="45004">
            <a:solidFill>
              <a:srgbClr val="8E6F3E"/>
            </a:solidFill>
            <a:tailEnd type="triangle" w="med" len="med"/>
          </a:ln>
        </p:spPr>
      </p:cxnSp>
      <p:cxnSp>
        <p:nvCxnSpPr>
          <p:cNvPr id="111" name="CA1"/>
          <p:cNvCxnSpPr/>
          <p:nvPr/>
        </p:nvCxnSpPr>
        <p:spPr>
          <a:xfrm>
            <a:off x="6086000" y="1950000"/>
            <a:ext cx="756000" cy="0"/>
          </a:xfrm>
          <a:prstGeom prst="line">
            <a:avLst/>
          </a:prstGeom>
          <a:ln w="45004">
            <a:solidFill>
              <a:srgbClr val="8E6F3E"/>
            </a:solidFill>
            <a:tailEnd type="triangle" w="med" len="med"/>
          </a:ln>
        </p:spPr>
      </p:cxnSp>
      <p:cxnSp>
        <p:nvCxnSpPr>
          <p:cNvPr id="112" name="CA2"/>
          <p:cNvCxnSpPr/>
          <p:nvPr/>
        </p:nvCxnSpPr>
        <p:spPr>
          <a:xfrm flipV="1">
            <a:off x="6086000" y="1950000"/>
            <a:ext cx="756000" cy="6090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400"/>
                                        <p:tgtEl>
                                          <p:spTgt spid="150"/>
                                        </p:tgtEl>
                                      </p:cBhvr>
                                    </p:animEffect>
                                  </p:childTnLst>
                                </p:cTn>
                              </p:par>
                              <p:par>
                                <p:cTn id="51" presetID="10" presetClass="entr" presetSubtype="0" fill="hold" nodeType="withEffect">
                                  <p:stCondLst>
                                    <p:cond delay="0"/>
                                  </p:stCondLst>
                                  <p:childTnLst>
                                    <p:set>
                                      <p:cBhvr>
                                        <p:cTn id="52" dur="1" fill="hold">
                                          <p:stCondLst>
                                            <p:cond delay="0"/>
                                          </p:stCondLst>
                                        </p:cTn>
                                        <p:tgtEl>
                                          <p:spTgt spid="151"/>
                                        </p:tgtEl>
                                        <p:attrNameLst>
                                          <p:attrName>style.visibility</p:attrName>
                                        </p:attrNameLst>
                                      </p:cBhvr>
                                      <p:to>
                                        <p:strVal val="visible"/>
                                      </p:to>
                                    </p:set>
                                    <p:animEffect transition="in" filter="fade">
                                      <p:cBhvr>
                                        <p:cTn id="53" dur="400"/>
                                        <p:tgtEl>
                                          <p:spTgt spid="15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2"/>
                                        </p:tgtEl>
                                        <p:attrNameLst>
                                          <p:attrName>style.visibility</p:attrName>
                                        </p:attrNameLst>
                                      </p:cBhvr>
                                      <p:to>
                                        <p:strVal val="visible"/>
                                      </p:to>
                                    </p:set>
                                    <p:animEffect transition="in" filter="fade">
                                      <p:cBhvr>
                                        <p:cTn id="58" dur="400"/>
                                        <p:tgtEl>
                                          <p:spTgt spid="152"/>
                                        </p:tgtEl>
                                      </p:cBhvr>
                                    </p:animEffect>
                                  </p:childTnLst>
                                </p:cTn>
                              </p:par>
                              <p:par>
                                <p:cTn id="59" presetID="10" presetClass="entr" presetSubtype="0" fill="hold" nodeType="withEffect">
                                  <p:stCondLst>
                                    <p:cond delay="0"/>
                                  </p:stCondLst>
                                  <p:childTnLst>
                                    <p:set>
                                      <p:cBhvr>
                                        <p:cTn id="60" dur="1" fill="hold">
                                          <p:stCondLst>
                                            <p:cond delay="0"/>
                                          </p:stCondLst>
                                        </p:cTn>
                                        <p:tgtEl>
                                          <p:spTgt spid="153"/>
                                        </p:tgtEl>
                                        <p:attrNameLst>
                                          <p:attrName>style.visibility</p:attrName>
                                        </p:attrNameLst>
                                      </p:cBhvr>
                                      <p:to>
                                        <p:strVal val="visible"/>
                                      </p:to>
                                    </p:set>
                                    <p:animEffect transition="in" filter="fade">
                                      <p:cBhvr>
                                        <p:cTn id="61" dur="400"/>
                                        <p:tgtEl>
                                          <p:spTgt spid="15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4"/>
                                        </p:tgtEl>
                                        <p:attrNameLst>
                                          <p:attrName>style.visibility</p:attrName>
                                        </p:attrNameLst>
                                      </p:cBhvr>
                                      <p:to>
                                        <p:strVal val="visible"/>
                                      </p:to>
                                    </p:set>
                                    <p:animEffect transition="in" filter="fade">
                                      <p:cBhvr>
                                        <p:cTn id="66" dur="400"/>
                                        <p:tgtEl>
                                          <p:spTgt spid="154"/>
                                        </p:tgtEl>
                                      </p:cBhvr>
                                    </p:animEffect>
                                  </p:childTnLst>
                                </p:cTn>
                              </p:par>
                              <p:par>
                                <p:cTn id="67" presetID="10"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animEffect transition="in" filter="fade">
                                      <p:cBhvr>
                                        <p:cTn id="69" dur="400"/>
                                        <p:tgtEl>
                                          <p:spTgt spid="6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400"/>
                                        <p:tgtEl>
                                          <p:spTgt spid="6"/>
                                        </p:tgtEl>
                                      </p:cBhvr>
                                    </p:animEffect>
                                  </p:childTnLst>
                                </p:cTn>
                              </p:par>
                              <p:par>
                                <p:cTn id="75" presetID="10"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fade">
                                      <p:cBhvr>
                                        <p:cTn id="7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61" name="Band61"/>
          <p:cNvSpPr/>
          <p:nvPr/>
        </p:nvSpPr>
        <p:spPr>
          <a:xfrm>
            <a:off x="279400" y="4700000"/>
            <a:ext cx="8585200" cy="1250000"/>
          </a:xfrm>
          <a:prstGeom prst="rect">
            <a:avLst/>
          </a:prstGeom>
          <a:solidFill>
            <a:srgbClr val="F5F1E8"/>
          </a:solidFill>
          <a:ln>
            <a:noFill/>
          </a:ln>
        </p:spPr>
        <p:txBody>
          <a:bodyPr wrap="square" lIns="109728" tIns="82296" rIns="109728" bIns="82296" anchor="ctr">
            <a:normAutofit/>
          </a:bodyPr>
          <a:lstStyle/>
          <a:p>
            <a:pPr algn="l">
              <a:buNone/>
            </a:pPr>
            <a:r>
              <a:rPr lang="en-US" sz="1800" b="1" i="0" dirty="0">
                <a:solidFill>
                  <a:srgbClr val="3F3121"/>
                </a:solidFill>
              </a:rPr>
              <a:t>Sketch the major parts, boundaries, and interactions</a:t>
            </a:r>
          </a:p>
          <a:p>
            <a:pPr algn="l">
              <a:spcBef>
                <a:spcPts val="400"/>
              </a:spcBef>
              <a:buNone/>
            </a:pPr>
            <a:r>
              <a:rPr lang="en-US" sz="1800" b="0" i="0" dirty="0">
                <a:solidFill>
                  <a:srgbClr val="3F3121"/>
                </a:solidFill>
              </a:rPr>
              <a:t>Produce TWO plausible organizations</a:t>
            </a:r>
          </a:p>
          <a:p>
            <a:pPr algn="l">
              <a:spcBef>
                <a:spcPts val="400"/>
              </a:spcBef>
              <a:buNone/>
            </a:pPr>
            <a:r>
              <a:rPr lang="en-US" sz="1800" b="0" i="1" dirty="0">
                <a:solidFill>
                  <a:srgbClr val="3F3121"/>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322000" y="1000000"/>
            <a:ext cx="2500000" cy="8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Advice must be returned within 2 seconds</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350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Raw sleep data must not be disclosed to sharing recipients</a:t>
            </a:r>
          </a:p>
        </p:txBody>
      </p:sp>
      <p:cxnSp>
        <p:nvCxnSpPr>
          <p:cNvPr id="104" name="OblA1"/>
          <p:cNvCxnSpPr/>
          <p:nvPr/>
        </p:nvCxnSpPr>
        <p:spPr>
          <a:xfrm>
            <a:off x="2870000" y="2050000"/>
            <a:ext cx="255000" cy="250000"/>
          </a:xfrm>
          <a:prstGeom prst="line">
            <a:avLst/>
          </a:prstGeom>
          <a:ln w="42862">
            <a:solidFill>
              <a:srgbClr val="C9B991"/>
            </a:solidFill>
            <a:tailEnd type="triangle" w="med" len="med"/>
          </a:ln>
        </p:spPr>
      </p:cxnSp>
      <p:sp>
        <p:nvSpPr>
          <p:cNvPr id="105" name="Obl2"/>
          <p:cNvSpPr/>
          <p:nvPr/>
        </p:nvSpPr>
        <p:spPr>
          <a:xfrm>
            <a:off x="6294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The illness model is expected to change independently</a:t>
            </a:r>
          </a:p>
        </p:txBody>
      </p:sp>
      <p:cxnSp>
        <p:nvCxnSpPr>
          <p:cNvPr id="106" name="OblA2"/>
          <p:cNvCxnSpPr/>
          <p:nvPr/>
        </p:nvCxnSpPr>
        <p:spPr>
          <a:xfrm flipH="1">
            <a:off x="6039000" y="2050000"/>
            <a:ext cx="255000" cy="250000"/>
          </a:xfrm>
          <a:prstGeom prst="line">
            <a:avLst/>
          </a:prstGeom>
          <a:ln w="42862">
            <a:solidFill>
              <a:srgbClr val="C9B991"/>
            </a:solidFill>
            <a:tailEnd type="triangle" w="med" len="med"/>
          </a:ln>
        </p:spPr>
      </p:cxnSp>
      <p:sp>
        <p:nvSpPr>
          <p:cNvPr id="107" name="Obl3"/>
          <p:cNvSpPr/>
          <p:nvPr/>
        </p:nvSpPr>
        <p:spPr>
          <a:xfrm>
            <a:off x="700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Failure of sharing must not prevent local advice</a:t>
            </a:r>
          </a:p>
        </p:txBody>
      </p:sp>
      <p:cxnSp>
        <p:nvCxnSpPr>
          <p:cNvPr id="108" name="OblA3"/>
          <p:cNvCxnSpPr/>
          <p:nvPr/>
        </p:nvCxnSpPr>
        <p:spPr>
          <a:xfrm flipV="1">
            <a:off x="3200000" y="3550000"/>
            <a:ext cx="200000" cy="150000"/>
          </a:xfrm>
          <a:prstGeom prst="line">
            <a:avLst/>
          </a:prstGeom>
          <a:ln w="42862">
            <a:solidFill>
              <a:srgbClr val="C9B991"/>
            </a:solidFill>
            <a:tailEnd type="triangle" w="med" len="med"/>
          </a:ln>
        </p:spPr>
      </p:cxnSp>
      <p:sp>
        <p:nvSpPr>
          <p:cNvPr id="109" name="Obl4"/>
          <p:cNvSpPr/>
          <p:nvPr/>
        </p:nvSpPr>
        <p:spPr>
          <a:xfrm>
            <a:off x="5944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 weekly summary must reflect a consistent 7-night window</a:t>
            </a:r>
          </a:p>
        </p:txBody>
      </p:sp>
      <p:cxnSp>
        <p:nvCxnSpPr>
          <p:cNvPr id="110" name="OblA4"/>
          <p:cNvCxnSpPr/>
          <p:nvPr/>
        </p:nvCxnSpPr>
        <p:spPr>
          <a:xfrm flipH="1" flipV="1">
            <a:off x="5744000" y="3550000"/>
            <a:ext cx="200000" cy="150000"/>
          </a:xfrm>
          <a:prstGeom prst="line">
            <a:avLst/>
          </a:prstGeom>
          <a:ln w="42862">
            <a:solidFill>
              <a:srgbClr val="C9B991"/>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61">
                                            <p:txEl>
                                              <p:pRg st="0" end="0"/>
                                            </p:txEl>
                                          </p:spTgt>
                                        </p:tgtEl>
                                        <p:attrNameLst>
                                          <p:attrName>style.visibility</p:attrName>
                                        </p:attrNameLst>
                                      </p:cBhvr>
                                      <p:to>
                                        <p:strVal val="visible"/>
                                      </p:to>
                                    </p:set>
                                    <p:animEffect transition="in" filter="fade">
                                      <p:cBhvr>
                                        <p:cTn id="39" dur="400"/>
                                        <p:tgtEl>
                                          <p:spTgt spid="61">
                                            <p:txEl>
                                              <p:pRg st="0" end="0"/>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61">
                                            <p:txEl>
                                              <p:pRg st="1" end="1"/>
                                            </p:txEl>
                                          </p:spTgt>
                                        </p:tgtEl>
                                        <p:attrNameLst>
                                          <p:attrName>style.visibility</p:attrName>
                                        </p:attrNameLst>
                                      </p:cBhvr>
                                      <p:to>
                                        <p:strVal val="visible"/>
                                      </p:to>
                                    </p:set>
                                    <p:animEffect transition="in" filter="fade">
                                      <p:cBhvr>
                                        <p:cTn id="44" dur="400"/>
                                        <p:tgtEl>
                                          <p:spTgt spid="61">
                                            <p:txEl>
                                              <p:pRg st="1" end="1"/>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xml:space="preserve">·  </a:t>
            </a:r>
            <a:r>
              <a:rPr lang="en-US" sz="2200" b="0" i="0" dirty="0">
                <a:solidFill>
                  <a:srgbClr val="000000"/>
                </a:solidFill>
              </a:rPr>
              <a:t>Which candidates violate the specification?</a:t>
            </a:r>
          </a:p>
          <a:p>
            <a:pPr algn="l">
              <a:spcBef>
                <a:spcPts val="150"/>
              </a:spcBef>
              <a:buNone/>
            </a:pPr>
            <a:r>
              <a:rPr lang="en-US" sz="2200" b="1" i="0" dirty="0">
                <a:solidFill>
                  <a:srgbClr val="8E6F3E"/>
                </a:solidFill>
              </a:rPr>
              <a:t xml:space="preserve">·  </a:t>
            </a:r>
            <a:r>
              <a:rPr lang="en-US" sz="2200" b="0" i="0" dirty="0">
                <a:solidFill>
                  <a:srgbClr val="000000"/>
                </a:solidFill>
              </a:rPr>
              <a:t>Is any candidate Pareto-dominated?</a:t>
            </a:r>
          </a:p>
          <a:p>
            <a:pPr algn="l">
              <a:spcBef>
                <a:spcPts val="150"/>
              </a:spcBef>
              <a:buNone/>
            </a:pPr>
            <a:r>
              <a:rPr lang="en-US" sz="2200" b="1" i="0" dirty="0">
                <a:solidFill>
                  <a:srgbClr val="8E6F3E"/>
                </a:solidFill>
              </a:rPr>
              <a:t xml:space="preserve">·  </a:t>
            </a:r>
            <a:r>
              <a:rPr lang="en-US" sz="2200" b="0" i="0" dirty="0">
                <a:solidFill>
                  <a:srgbClr val="000000"/>
                </a:solidFill>
              </a:rPr>
              <a:t>What genuine tradeoff remains?</a:t>
            </a:r>
          </a:p>
          <a:p>
            <a:pPr algn="l">
              <a:spcBef>
                <a:spcPts val="150"/>
              </a:spcBef>
              <a:buNone/>
            </a:pPr>
            <a:r>
              <a:rPr lang="en-US" sz="2200" b="1" i="0" dirty="0">
                <a:solidFill>
                  <a:srgbClr val="8E6F3E"/>
                </a:solidFill>
              </a:rPr>
              <a:t xml:space="preserve">·  </a:t>
            </a:r>
            <a:r>
              <a:rPr lang="en-US" sz="2200" b="0" i="0" dirty="0">
                <a:solidFill>
                  <a:srgbClr val="000000"/>
                </a:solidFill>
              </a:rPr>
              <a:t>Which architectural model could distinguish the alternatives?</a:t>
            </a:r>
          </a:p>
          <a:p>
            <a:pPr algn="l">
              <a:spcBef>
                <a:spcPts val="150"/>
              </a:spcBef>
              <a:buNone/>
            </a:pPr>
            <a:r>
              <a:rPr lang="en-US" sz="2200" b="1" i="0" dirty="0">
                <a:solidFill>
                  <a:srgbClr val="8E6F3E"/>
                </a:solidFill>
              </a:rPr>
              <a:t xml:space="preserve">·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300"/>
                                        </p:tgtEl>
                                        <p:attrNameLst>
                                          <p:attrName>style.visibility</p:attrName>
                                        </p:attrNameLst>
                                      </p:cBhvr>
                                      <p:to>
                                        <p:strVal val="visible"/>
                                      </p:to>
                                    </p:set>
                                    <p:animEffect transition="in" filter="fade">
                                      <p:cBhvr>
                                        <p:cTn id="19" dur="400"/>
                                        <p:tgtEl>
                                          <p:spTgt spid="300"/>
                                        </p:tgtEl>
                                      </p:cBhvr>
                                    </p:animEffect>
                                  </p:childTnLst>
                                </p:cTn>
                              </p:par>
                              <p:par>
                                <p:cTn id="20" presetID="10" presetClass="entr" presetSubtype="0" fill="hold" nodeType="withEffect">
                                  <p:stCondLst>
                                    <p:cond delay="0"/>
                                  </p:stCondLst>
                                  <p:childTnLst>
                                    <p:set>
                                      <p:cBhvr>
                                        <p:cTn id="21" dur="1" fill="hold">
                                          <p:stCondLst>
                                            <p:cond delay="0"/>
                                          </p:stCondLst>
                                        </p:cTn>
                                        <p:tgtEl>
                                          <p:spTgt spid="301"/>
                                        </p:tgtEl>
                                        <p:attrNameLst>
                                          <p:attrName>style.visibility</p:attrName>
                                        </p:attrNameLst>
                                      </p:cBhvr>
                                      <p:to>
                                        <p:strVal val="visible"/>
                                      </p:to>
                                    </p:set>
                                    <p:animEffect transition="in" filter="fade">
                                      <p:cBhvr>
                                        <p:cTn id="22" dur="400"/>
                                        <p:tgtEl>
                                          <p:spTgt spid="30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par>
                                <p:cTn id="28" presetID="10" presetClass="entr" presetSubtype="0" fill="hold" nodeType="withEffect">
                                  <p:stCondLst>
                                    <p:cond delay="0"/>
                                  </p:stCondLst>
                                  <p:childTnLst>
                                    <p:set>
                                      <p:cBhvr>
                                        <p:cTn id="29" dur="1" fill="hold">
                                          <p:stCondLst>
                                            <p:cond delay="0"/>
                                          </p:stCondLst>
                                        </p:cTn>
                                        <p:tgtEl>
                                          <p:spTgt spid="61">
                                            <p:txEl>
                                              <p:pRg st="0" end="0"/>
                                            </p:txEl>
                                          </p:spTgt>
                                        </p:tgtEl>
                                        <p:attrNameLst>
                                          <p:attrName>style.visibility</p:attrName>
                                        </p:attrNameLst>
                                      </p:cBhvr>
                                      <p:to>
                                        <p:strVal val="visible"/>
                                      </p:to>
                                    </p:set>
                                    <p:animEffect transition="in" filter="fade">
                                      <p:cBhvr>
                                        <p:cTn id="30" dur="400"/>
                                        <p:tgtEl>
                                          <p:spTgt spid="6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05"/>
                                        </p:tgtEl>
                                        <p:attrNameLst>
                                          <p:attrName>style.visibility</p:attrName>
                                        </p:attrNameLst>
                                      </p:cBhvr>
                                      <p:to>
                                        <p:strVal val="visible"/>
                                      </p:to>
                                    </p:set>
                                    <p:animEffect transition="in" filter="fade">
                                      <p:cBhvr>
                                        <p:cTn id="35" dur="400"/>
                                        <p:tgtEl>
                                          <p:spTgt spid="105"/>
                                        </p:tgtEl>
                                      </p:cBhvr>
                                    </p:animEffect>
                                  </p:childTnLst>
                                </p:cTn>
                              </p:par>
                              <p:par>
                                <p:cTn id="36" presetID="10" presetClass="entr" presetSubtype="0" fill="hold" nodeType="withEffect">
                                  <p:stCondLst>
                                    <p:cond delay="0"/>
                                  </p:stCondLst>
                                  <p:childTnLst>
                                    <p:set>
                                      <p:cBhvr>
                                        <p:cTn id="37" dur="1" fill="hold">
                                          <p:stCondLst>
                                            <p:cond delay="0"/>
                                          </p:stCondLst>
                                        </p:cTn>
                                        <p:tgtEl>
                                          <p:spTgt spid="106"/>
                                        </p:tgtEl>
                                        <p:attrNameLst>
                                          <p:attrName>style.visibility</p:attrName>
                                        </p:attrNameLst>
                                      </p:cBhvr>
                                      <p:to>
                                        <p:strVal val="visible"/>
                                      </p:to>
                                    </p:set>
                                    <p:animEffect transition="in" filter="fade">
                                      <p:cBhvr>
                                        <p:cTn id="38" dur="400"/>
                                        <p:tgtEl>
                                          <p:spTgt spid="106"/>
                                        </p:tgtEl>
                                      </p:cBhvr>
                                    </p:animEffect>
                                  </p:childTnLst>
                                </p:cTn>
                              </p:par>
                              <p:par>
                                <p:cTn id="39" presetID="10" presetClass="entr" presetSubtype="0" fill="hold" nodeType="withEffect">
                                  <p:stCondLst>
                                    <p:cond delay="0"/>
                                  </p:stCondLst>
                                  <p:childTnLst>
                                    <p:set>
                                      <p:cBhvr>
                                        <p:cTn id="40" dur="1" fill="hold">
                                          <p:stCondLst>
                                            <p:cond delay="0"/>
                                          </p:stCondLst>
                                        </p:cTn>
                                        <p:tgtEl>
                                          <p:spTgt spid="61">
                                            <p:txEl>
                                              <p:pRg st="1" end="1"/>
                                            </p:txEl>
                                          </p:spTgt>
                                        </p:tgtEl>
                                        <p:attrNameLst>
                                          <p:attrName>style.visibility</p:attrName>
                                        </p:attrNameLst>
                                      </p:cBhvr>
                                      <p:to>
                                        <p:strVal val="visible"/>
                                      </p:to>
                                    </p:set>
                                    <p:animEffect transition="in" filter="fade">
                                      <p:cBhvr>
                                        <p:cTn id="41" dur="400"/>
                                        <p:tgtEl>
                                          <p:spTgt spid="61">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3"/>
                                        </p:tgtEl>
                                        <p:attrNameLst>
                                          <p:attrName>style.visibility</p:attrName>
                                        </p:attrNameLst>
                                      </p:cBhvr>
                                      <p:to>
                                        <p:strVal val="visible"/>
                                      </p:to>
                                    </p:set>
                                    <p:animEffect transition="in" filter="fade">
                                      <p:cBhvr>
                                        <p:cTn id="46" dur="400"/>
                                        <p:tgtEl>
                                          <p:spTgt spid="113"/>
                                        </p:tgtEl>
                                      </p:cBhvr>
                                    </p:animEffect>
                                  </p:childTnLst>
                                </p:cTn>
                              </p:par>
                              <p:par>
                                <p:cTn id="47" presetID="10" presetClass="entr" presetSubtype="0" fill="hold" nodeType="with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7"/>
                                        </p:tgtEl>
                                        <p:attrNameLst>
                                          <p:attrName>style.visibility</p:attrName>
                                        </p:attrNameLst>
                                      </p:cBhvr>
                                      <p:to>
                                        <p:strVal val="visible"/>
                                      </p:to>
                                    </p:set>
                                    <p:animEffect transition="in" filter="fade">
                                      <p:cBhvr>
                                        <p:cTn id="54" dur="400"/>
                                        <p:tgtEl>
                                          <p:spTgt spid="107"/>
                                        </p:tgtEl>
                                      </p:cBhvr>
                                    </p:animEffect>
                                  </p:childTnLst>
                                </p:cTn>
                              </p:par>
                              <p:par>
                                <p:cTn id="55" presetID="10" presetClass="entr" presetSubtype="0" fill="hold" nodeType="withEffect">
                                  <p:stCondLst>
                                    <p:cond delay="0"/>
                                  </p:stCondLst>
                                  <p:childTnLst>
                                    <p:set>
                                      <p:cBhvr>
                                        <p:cTn id="56" dur="1" fill="hold">
                                          <p:stCondLst>
                                            <p:cond delay="0"/>
                                          </p:stCondLst>
                                        </p:cTn>
                                        <p:tgtEl>
                                          <p:spTgt spid="108"/>
                                        </p:tgtEl>
                                        <p:attrNameLst>
                                          <p:attrName>style.visibility</p:attrName>
                                        </p:attrNameLst>
                                      </p:cBhvr>
                                      <p:to>
                                        <p:strVal val="visible"/>
                                      </p:to>
                                    </p:set>
                                    <p:animEffect transition="in" filter="fade">
                                      <p:cBhvr>
                                        <p:cTn id="57" dur="400"/>
                                        <p:tgtEl>
                                          <p:spTgt spid="108"/>
                                        </p:tgtEl>
                                      </p:cBhvr>
                                    </p:animEffect>
                                  </p:childTnLst>
                                </p:cTn>
                              </p:par>
                              <p:par>
                                <p:cTn id="58" presetID="10" presetClass="entr" presetSubtype="0" fill="hold" nodeType="withEffect">
                                  <p:stCondLst>
                                    <p:cond delay="0"/>
                                  </p:stCondLst>
                                  <p:childTnLst>
                                    <p:set>
                                      <p:cBhvr>
                                        <p:cTn id="59" dur="1" fill="hold">
                                          <p:stCondLst>
                                            <p:cond delay="0"/>
                                          </p:stCondLst>
                                        </p:cTn>
                                        <p:tgtEl>
                                          <p:spTgt spid="61">
                                            <p:txEl>
                                              <p:pRg st="3" end="3"/>
                                            </p:txEl>
                                          </p:spTgt>
                                        </p:tgtEl>
                                        <p:attrNameLst>
                                          <p:attrName>style.visibility</p:attrName>
                                        </p:attrNameLst>
                                      </p:cBhvr>
                                      <p:to>
                                        <p:strVal val="visible"/>
                                      </p:to>
                                    </p:set>
                                    <p:animEffect transition="in" filter="fade">
                                      <p:cBhvr>
                                        <p:cTn id="60" dur="400"/>
                                        <p:tgtEl>
                                          <p:spTgt spid="61">
                                            <p:txEl>
                                              <p:pRg st="3" end="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09"/>
                                        </p:tgtEl>
                                        <p:attrNameLst>
                                          <p:attrName>style.visibility</p:attrName>
                                        </p:attrNameLst>
                                      </p:cBhvr>
                                      <p:to>
                                        <p:strVal val="visible"/>
                                      </p:to>
                                    </p:set>
                                    <p:animEffect transition="in" filter="fade">
                                      <p:cBhvr>
                                        <p:cTn id="65" dur="400"/>
                                        <p:tgtEl>
                                          <p:spTgt spid="109"/>
                                        </p:tgtEl>
                                      </p:cBhvr>
                                    </p:animEffect>
                                  </p:childTnLst>
                                </p:cTn>
                              </p:par>
                              <p:par>
                                <p:cTn id="66" presetID="10" presetClass="entr" presetSubtype="0" fill="hold" nodeType="with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400"/>
                                        <p:tgtEl>
                                          <p:spTgt spid="110"/>
                                        </p:tgtEl>
                                      </p:cBhvr>
                                    </p:animEffect>
                                  </p:childTnLst>
                                </p:cTn>
                              </p:par>
                              <p:par>
                                <p:cTn id="69" presetID="10" presetClass="entr" presetSubtype="0" fill="hold" nodeType="withEffect">
                                  <p:stCondLst>
                                    <p:cond delay="0"/>
                                  </p:stCondLst>
                                  <p:childTnLst>
                                    <p:set>
                                      <p:cBhvr>
                                        <p:cTn id="70" dur="1" fill="hold">
                                          <p:stCondLst>
                                            <p:cond delay="0"/>
                                          </p:stCondLst>
                                        </p:cTn>
                                        <p:tgtEl>
                                          <p:spTgt spid="61">
                                            <p:txEl>
                                              <p:pRg st="4" end="4"/>
                                            </p:txEl>
                                          </p:spTgt>
                                        </p:tgtEl>
                                        <p:attrNameLst>
                                          <p:attrName>style.visibility</p:attrName>
                                        </p:attrNameLst>
                                      </p:cBhvr>
                                      <p:to>
                                        <p:strVal val="visible"/>
                                      </p:to>
                                    </p:set>
                                    <p:animEffect transition="in" filter="fade">
                                      <p:cBhvr>
                                        <p:cTn id="71" dur="400"/>
                                        <p:tgtEl>
                                          <p:spTgt spid="61">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11"/>
                                        </p:tgtEl>
                                        <p:attrNameLst>
                                          <p:attrName>style.visibility</p:attrName>
                                        </p:attrNameLst>
                                      </p:cBhvr>
                                      <p:to>
                                        <p:strVal val="visible"/>
                                      </p:to>
                                    </p:set>
                                    <p:animEffect transition="in" filter="fade">
                                      <p:cBhvr>
                                        <p:cTn id="76" dur="400"/>
                                        <p:tgtEl>
                                          <p:spTgt spid="111"/>
                                        </p:tgtEl>
                                      </p:cBhvr>
                                    </p:animEffect>
                                  </p:childTnLst>
                                </p:cTn>
                              </p:par>
                              <p:par>
                                <p:cTn id="77" presetID="10" presetClass="entr" presetSubtype="0" fill="hold" nodeType="withEffect">
                                  <p:stCondLst>
                                    <p:cond delay="0"/>
                                  </p:stCondLst>
                                  <p:childTnLst>
                                    <p:set>
                                      <p:cBhvr>
                                        <p:cTn id="78" dur="1" fill="hold">
                                          <p:stCondLst>
                                            <p:cond delay="0"/>
                                          </p:stCondLst>
                                        </p:cTn>
                                        <p:tgtEl>
                                          <p:spTgt spid="112"/>
                                        </p:tgtEl>
                                        <p:attrNameLst>
                                          <p:attrName>style.visibility</p:attrName>
                                        </p:attrNameLst>
                                      </p:cBhvr>
                                      <p:to>
                                        <p:strVal val="visible"/>
                                      </p:to>
                                    </p:set>
                                    <p:animEffect transition="in" filter="fade">
                                      <p:cBhvr>
                                        <p:cTn id="79" dur="400"/>
                                        <p:tgtEl>
                                          <p:spTgt spid="1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fade">
                                      <p:cBhvr>
                                        <p:cTn id="8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xml:space="preserve">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xml:space="preserve">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xml:space="preserve">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400"/>
                                        <p:tgtEl>
                                          <p:spTgt spid="101"/>
                                        </p:tgtEl>
                                      </p:cBhvr>
                                    </p:animEffect>
                                  </p:childTnLst>
                                </p:cTn>
                              </p:par>
                              <p:par>
                                <p:cTn id="13" presetID="10" presetClass="entr" presetSubtype="0" fill="hold"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4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400"/>
                                        <p:tgtEl>
                                          <p:spTgt spid="103"/>
                                        </p:tgtEl>
                                      </p:cBhvr>
                                    </p:animEffect>
                                  </p:childTnLst>
                                </p:cTn>
                              </p:par>
                              <p:par>
                                <p:cTn id="21" presetID="10" presetClass="entr" presetSubtype="0" fill="hold"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400"/>
                                        <p:tgtEl>
                                          <p:spTgt spid="104"/>
                                        </p:tgtEl>
                                      </p:cBhvr>
                                    </p:animEffect>
                                  </p:childTnLst>
                                </p:cTn>
                              </p:par>
                              <p:par>
                                <p:cTn id="24" presetID="10" presetClass="entr" presetSubtype="0" fill="hold" nodeType="with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400"/>
                                        <p:tgtEl>
                                          <p:spTgt spid="105"/>
                                        </p:tgtEl>
                                      </p:cBhvr>
                                    </p:animEffect>
                                  </p:childTnLst>
                                </p:cTn>
                              </p:par>
                              <p:par>
                                <p:cTn id="27" presetID="10" presetClass="entr" presetSubtype="0" fill="hold" nodeType="with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8"/>
                                        </p:tgtEl>
                                        <p:attrNameLst>
                                          <p:attrName>style.visibility</p:attrName>
                                        </p:attrNameLst>
                                      </p:cBhvr>
                                      <p:to>
                                        <p:strVal val="visible"/>
                                      </p:to>
                                    </p:set>
                                    <p:animEffect transition="in" filter="fade">
                                      <p:cBhvr>
                                        <p:cTn id="37" dur="400"/>
                                        <p:tgtEl>
                                          <p:spTgt spid="108"/>
                                        </p:tgtEl>
                                      </p:cBhvr>
                                    </p:animEffect>
                                  </p:childTnLst>
                                </p:cTn>
                              </p:par>
                              <p:par>
                                <p:cTn id="38" presetID="10" presetClass="entr" presetSubtype="0" fill="hold" nodeType="with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2"/>
                                        </p:tgtEl>
                                        <p:attrNameLst>
                                          <p:attrName>style.visibility</p:attrName>
                                        </p:attrNameLst>
                                      </p:cBhvr>
                                      <p:to>
                                        <p:strVal val="visible"/>
                                      </p:to>
                                    </p:set>
                                    <p:animEffect transition="in" filter="fade">
                                      <p:cBhvr>
                                        <p:cTn id="51" dur="400"/>
                                        <p:tgtEl>
                                          <p:spTgt spid="112"/>
                                        </p:tgtEl>
                                      </p:cBhvr>
                                    </p:animEffect>
                                  </p:childTnLst>
                                </p:cTn>
                              </p:par>
                              <p:par>
                                <p:cTn id="52" presetID="10" presetClass="entr" presetSubtype="0" fill="hold" nodeType="withEffect">
                                  <p:stCondLst>
                                    <p:cond delay="0"/>
                                  </p:stCondLst>
                                  <p:childTnLst>
                                    <p:set>
                                      <p:cBhvr>
                                        <p:cTn id="53" dur="1" fill="hold">
                                          <p:stCondLst>
                                            <p:cond delay="0"/>
                                          </p:stCondLst>
                                        </p:cTn>
                                        <p:tgtEl>
                                          <p:spTgt spid="113"/>
                                        </p:tgtEl>
                                        <p:attrNameLst>
                                          <p:attrName>style.visibility</p:attrName>
                                        </p:attrNameLst>
                                      </p:cBhvr>
                                      <p:to>
                                        <p:strVal val="visible"/>
                                      </p:to>
                                    </p:set>
                                    <p:animEffect transition="in" filter="fade">
                                      <p:cBhvr>
                                        <p:cTn id="54" dur="400"/>
                                        <p:tgtEl>
                                          <p:spTgt spid="113"/>
                                        </p:tgtEl>
                                      </p:cBhvr>
                                    </p:animEffect>
                                  </p:childTnLst>
                                </p:cTn>
                              </p:par>
                              <p:par>
                                <p:cTn id="55" presetID="10" presetClass="entr" presetSubtype="0" fill="hold" nodeType="withEffect">
                                  <p:stCondLst>
                                    <p:cond delay="0"/>
                                  </p:stCondLst>
                                  <p:childTnLst>
                                    <p:set>
                                      <p:cBhvr>
                                        <p:cTn id="56" dur="1" fill="hold">
                                          <p:stCondLst>
                                            <p:cond delay="0"/>
                                          </p:stCondLst>
                                        </p:cTn>
                                        <p:tgtEl>
                                          <p:spTgt spid="114"/>
                                        </p:tgtEl>
                                        <p:attrNameLst>
                                          <p:attrName>style.visibility</p:attrName>
                                        </p:attrNameLst>
                                      </p:cBhvr>
                                      <p:to>
                                        <p:strVal val="visible"/>
                                      </p:to>
                                    </p:set>
                                    <p:animEffect transition="in" filter="fade">
                                      <p:cBhvr>
                                        <p:cTn id="57" dur="400"/>
                                        <p:tgtEl>
                                          <p:spTgt spid="114"/>
                                        </p:tgtEl>
                                      </p:cBhvr>
                                    </p:animEffect>
                                  </p:childTnLst>
                                </p:cTn>
                              </p:par>
                              <p:par>
                                <p:cTn id="58" presetID="10" presetClass="entr" presetSubtype="0" fill="hold" nodeType="with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7"/>
                                        </p:tgtEl>
                                        <p:attrNameLst>
                                          <p:attrName>style.visibility</p:attrName>
                                        </p:attrNameLst>
                                      </p:cBhvr>
                                      <p:to>
                                        <p:strVal val="visible"/>
                                      </p:to>
                                    </p:set>
                                    <p:animEffect transition="in" filter="fade">
                                      <p:cBhvr>
                                        <p:cTn id="68" dur="400"/>
                                        <p:tgtEl>
                                          <p:spTgt spid="117"/>
                                        </p:tgtEl>
                                      </p:cBhvr>
                                    </p:animEffect>
                                  </p:childTnLst>
                                </p:cTn>
                              </p:par>
                              <p:par>
                                <p:cTn id="69" presetID="10" presetClass="entr" presetSubtype="0" fill="hold" nodeType="withEffect">
                                  <p:stCondLst>
                                    <p:cond delay="0"/>
                                  </p:stCondLst>
                                  <p:childTnLst>
                                    <p:set>
                                      <p:cBhvr>
                                        <p:cTn id="70" dur="1" fill="hold">
                                          <p:stCondLst>
                                            <p:cond delay="0"/>
                                          </p:stCondLst>
                                        </p:cTn>
                                        <p:tgtEl>
                                          <p:spTgt spid="118"/>
                                        </p:tgtEl>
                                        <p:attrNameLst>
                                          <p:attrName>style.visibility</p:attrName>
                                        </p:attrNameLst>
                                      </p:cBhvr>
                                      <p:to>
                                        <p:strVal val="visible"/>
                                      </p:to>
                                    </p:set>
                                    <p:animEffect transition="in" filter="fade">
                                      <p:cBhvr>
                                        <p:cTn id="71" dur="400"/>
                                        <p:tgtEl>
                                          <p:spTgt spid="118"/>
                                        </p:tgtEl>
                                      </p:cBhvr>
                                    </p:animEffect>
                                  </p:childTnLst>
                                </p:cTn>
                              </p:par>
                              <p:par>
                                <p:cTn id="72" presetID="10" presetClass="entr" presetSubtype="0" fill="hold" nodeType="withEffect">
                                  <p:stCondLst>
                                    <p:cond delay="0"/>
                                  </p:stCondLst>
                                  <p:childTnLst>
                                    <p:set>
                                      <p:cBhvr>
                                        <p:cTn id="73" dur="1" fill="hold">
                                          <p:stCondLst>
                                            <p:cond delay="0"/>
                                          </p:stCondLst>
                                        </p:cTn>
                                        <p:tgtEl>
                                          <p:spTgt spid="90"/>
                                        </p:tgtEl>
                                        <p:attrNameLst>
                                          <p:attrName>style.visibility</p:attrName>
                                        </p:attrNameLst>
                                      </p:cBhvr>
                                      <p:to>
                                        <p:strVal val="visible"/>
                                      </p:to>
                                    </p:set>
                                    <p:animEffect transition="in" filter="fade">
                                      <p:cBhvr>
                                        <p:cTn id="74" dur="400"/>
                                        <p:tgtEl>
                                          <p:spTgt spid="90"/>
                                        </p:tgtEl>
                                      </p:cBhvr>
                                    </p:animEffect>
                                  </p:childTnLst>
                                </p:cTn>
                              </p:par>
                              <p:par>
                                <p:cTn id="75" presetID="10" presetClass="entr" presetSubtype="0" fill="hold" nodeType="withEffect">
                                  <p:stCondLst>
                                    <p:cond delay="0"/>
                                  </p:stCondLst>
                                  <p:childTnLst>
                                    <p:set>
                                      <p:cBhvr>
                                        <p:cTn id="76" dur="1" fill="hold">
                                          <p:stCondLst>
                                            <p:cond delay="0"/>
                                          </p:stCondLst>
                                        </p:cTn>
                                        <p:tgtEl>
                                          <p:spTgt spid="2"/>
                                        </p:tgtEl>
                                        <p:attrNameLst>
                                          <p:attrName>style.visibility</p:attrName>
                                        </p:attrNameLst>
                                      </p:cBhvr>
                                      <p:to>
                                        <p:strVal val="visible"/>
                                      </p:to>
                                    </p:set>
                                    <p:animEffect transition="in" filter="fade">
                                      <p:cBhvr>
                                        <p:cTn id="77" dur="400"/>
                                        <p:tgtEl>
                                          <p:spTgt spid="2"/>
                                        </p:tgtEl>
                                      </p:cBhvr>
                                    </p:animEffect>
                                  </p:childTnLst>
                                </p:cTn>
                              </p:par>
                              <p:par>
                                <p:cTn id="78" presetID="10" presetClass="entr" presetSubtype="0" fill="hold" nodeType="with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400"/>
                                        <p:tgtEl>
                                          <p:spTgt spid="5"/>
                                        </p:tgtEl>
                                      </p:cBhvr>
                                    </p:animEffect>
                                  </p:childTnLst>
                                </p:cTn>
                              </p:par>
                              <p:par>
                                <p:cTn id="81" presetID="10" presetClass="entr" presetSubtype="0" fill="hold" nodeType="withEffect">
                                  <p:stCondLst>
                                    <p:cond delay="0"/>
                                  </p:stCondLst>
                                  <p:childTnLst>
                                    <p:set>
                                      <p:cBhvr>
                                        <p:cTn id="82" dur="1" fill="hold">
                                          <p:stCondLst>
                                            <p:cond delay="0"/>
                                          </p:stCondLst>
                                        </p:cTn>
                                        <p:tgtEl>
                                          <p:spTgt spid="300"/>
                                        </p:tgtEl>
                                        <p:attrNameLst>
                                          <p:attrName>style.visibility</p:attrName>
                                        </p:attrNameLst>
                                      </p:cBhvr>
                                      <p:to>
                                        <p:strVal val="visible"/>
                                      </p:to>
                                    </p:set>
                                    <p:animEffect transition="in" filter="fade">
                                      <p:cBhvr>
                                        <p:cTn id="83" dur="400"/>
                                        <p:tgtEl>
                                          <p:spTgt spid="300"/>
                                        </p:tgtEl>
                                      </p:cBhvr>
                                    </p:animEffect>
                                  </p:childTnLst>
                                </p:cTn>
                              </p:par>
                              <p:par>
                                <p:cTn id="84" presetID="10" presetClass="entr" presetSubtype="0" fill="hold" nodeType="withEffect">
                                  <p:stCondLst>
                                    <p:cond delay="0"/>
                                  </p:stCondLst>
                                  <p:childTnLst>
                                    <p:set>
                                      <p:cBhvr>
                                        <p:cTn id="85" dur="1" fill="hold">
                                          <p:stCondLst>
                                            <p:cond delay="0"/>
                                          </p:stCondLst>
                                        </p:cTn>
                                        <p:tgtEl>
                                          <p:spTgt spid="301"/>
                                        </p:tgtEl>
                                        <p:attrNameLst>
                                          <p:attrName>style.visibility</p:attrName>
                                        </p:attrNameLst>
                                      </p:cBhvr>
                                      <p:to>
                                        <p:strVal val="visible"/>
                                      </p:to>
                                    </p:set>
                                    <p:animEffect transition="in" filter="fade">
                                      <p:cBhvr>
                                        <p:cTn id="8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How should one acceptable system</a:t>
            </a:r>
            <a:br>
              <a:rPr lang="en-US" sz="2800"/>
            </a:br>
            <a:r>
              <a:rPr lang="en-US" sz="2800" b="0" i="0" dirty="0">
                <a:solidFill>
                  <a:srgbClr val="555960"/>
                </a:solidFill>
              </a:rPr>
              <a:t>be organized?</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8525</TotalTime>
  <Words>8514</Words>
  <Application>Microsoft Macintosh PowerPoint</Application>
  <PresentationFormat>On-screen Show (4:3)</PresentationFormat>
  <Paragraphs>915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Choosing among acceptable organizations</vt:lpstr>
      <vt:lpstr>Two architectures. Which one is better?</vt:lpstr>
      <vt:lpstr>The decision matrix says Architecture A wins, 3.95 to 3.70</vt:lpstr>
      <vt:lpstr>First eliminate unacceptable and dominated alternatives</vt:lpstr>
      <vt:lpstr>A real tradeoff requires judgment</vt:lpstr>
      <vt:lpstr>Sometimes the right decision is to “buy” more information</vt:lpstr>
      <vt:lpstr>Patterns capture recurring architectural choices</vt:lpstr>
      <vt:lpstr>Patterns: Pre-canned alternatives and expectations</vt:lpstr>
      <vt:lpstr>Layers: constrain which parts may depend on which</vt:lpstr>
      <vt:lpstr>MVC: separate model, view, and interaction logic</vt:lpstr>
      <vt:lpstr>Repository: organize around shared authoritative state</vt:lpstr>
      <vt:lpstr>Control dependencies across boundaries</vt:lpstr>
      <vt:lpstr>Events: producers need not know their consumers</vt:lpstr>
      <vt:lpstr>How much can we know before we build it?</vt:lpstr>
      <vt:lpstr>An architecture diagram is useful only if it answers a question</vt:lpstr>
      <vt:lpstr>Some claims require less betting than others</vt:lpstr>
      <vt:lpstr>Can this change remain local?</vt:lpstr>
      <vt:lpstr>What sets the latency floor?</vt:lpstr>
      <vt:lpstr>What happens when architectural evidence gets cheap?</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345</cp:revision>
  <dcterms:created xsi:type="dcterms:W3CDTF">2020-02-21T23:00:33Z</dcterms:created>
  <dcterms:modified xsi:type="dcterms:W3CDTF">2026-09-11T20:48:14Z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